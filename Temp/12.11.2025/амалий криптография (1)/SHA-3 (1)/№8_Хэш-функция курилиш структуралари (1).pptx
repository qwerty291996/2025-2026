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14"/>
  </p:notesMasterIdLst>
  <p:sldIdLst>
    <p:sldId id="256" r:id="rId2"/>
    <p:sldId id="297" r:id="rId3"/>
    <p:sldId id="298" r:id="rId4"/>
    <p:sldId id="312" r:id="rId5"/>
    <p:sldId id="313" r:id="rId6"/>
    <p:sldId id="314" r:id="rId7"/>
    <p:sldId id="315" r:id="rId8"/>
    <p:sldId id="316" r:id="rId9"/>
    <p:sldId id="299" r:id="rId10"/>
    <p:sldId id="300" r:id="rId11"/>
    <p:sldId id="306" r:id="rId12"/>
    <p:sldId id="307" r:id="rId13"/>
  </p:sldIdLst>
  <p:sldSz cx="9144000" cy="6858000" type="screen4x3"/>
  <p:notesSz cx="6858000" cy="9144000"/>
  <p:defaultTextStyle>
    <a:defPPr>
      <a:defRPr lang="ru-RU"/>
    </a:defPPr>
    <a:lvl1pPr algn="l" rtl="0" fontAlgn="base">
      <a:spcBef>
        <a:spcPct val="0"/>
      </a:spcBef>
      <a:spcAft>
        <a:spcPct val="0"/>
      </a:spcAft>
      <a:defRPr kern="1200">
        <a:solidFill>
          <a:schemeClr val="tx1"/>
        </a:solidFill>
        <a:latin typeface="Calibri" pitchFamily="34" charset="0"/>
        <a:ea typeface="+mn-ea"/>
        <a:cs typeface="Arial" pitchFamily="34" charset="0"/>
      </a:defRPr>
    </a:lvl1pPr>
    <a:lvl2pPr marL="457200" algn="l" rtl="0" fontAlgn="base">
      <a:spcBef>
        <a:spcPct val="0"/>
      </a:spcBef>
      <a:spcAft>
        <a:spcPct val="0"/>
      </a:spcAft>
      <a:defRPr kern="1200">
        <a:solidFill>
          <a:schemeClr val="tx1"/>
        </a:solidFill>
        <a:latin typeface="Calibri" pitchFamily="34" charset="0"/>
        <a:ea typeface="+mn-ea"/>
        <a:cs typeface="Arial" pitchFamily="34" charset="0"/>
      </a:defRPr>
    </a:lvl2pPr>
    <a:lvl3pPr marL="914400" algn="l" rtl="0" fontAlgn="base">
      <a:spcBef>
        <a:spcPct val="0"/>
      </a:spcBef>
      <a:spcAft>
        <a:spcPct val="0"/>
      </a:spcAft>
      <a:defRPr kern="1200">
        <a:solidFill>
          <a:schemeClr val="tx1"/>
        </a:solidFill>
        <a:latin typeface="Calibri" pitchFamily="34" charset="0"/>
        <a:ea typeface="+mn-ea"/>
        <a:cs typeface="Arial" pitchFamily="34" charset="0"/>
      </a:defRPr>
    </a:lvl3pPr>
    <a:lvl4pPr marL="1371600" algn="l" rtl="0" fontAlgn="base">
      <a:spcBef>
        <a:spcPct val="0"/>
      </a:spcBef>
      <a:spcAft>
        <a:spcPct val="0"/>
      </a:spcAft>
      <a:defRPr kern="1200">
        <a:solidFill>
          <a:schemeClr val="tx1"/>
        </a:solidFill>
        <a:latin typeface="Calibri" pitchFamily="34" charset="0"/>
        <a:ea typeface="+mn-ea"/>
        <a:cs typeface="Arial" pitchFamily="34" charset="0"/>
      </a:defRPr>
    </a:lvl4pPr>
    <a:lvl5pPr marL="1828800" algn="l" rtl="0" fontAlgn="base">
      <a:spcBef>
        <a:spcPct val="0"/>
      </a:spcBef>
      <a:spcAft>
        <a:spcPct val="0"/>
      </a:spcAft>
      <a:defRPr kern="1200">
        <a:solidFill>
          <a:schemeClr val="tx1"/>
        </a:solidFill>
        <a:latin typeface="Calibri" pitchFamily="34" charset="0"/>
        <a:ea typeface="+mn-ea"/>
        <a:cs typeface="Arial" pitchFamily="34" charset="0"/>
      </a:defRPr>
    </a:lvl5pPr>
    <a:lvl6pPr marL="2286000" algn="l" defTabSz="914400" rtl="0" eaLnBrk="1" latinLnBrk="0" hangingPunct="1">
      <a:defRPr kern="1200">
        <a:solidFill>
          <a:schemeClr val="tx1"/>
        </a:solidFill>
        <a:latin typeface="Calibri" pitchFamily="34" charset="0"/>
        <a:ea typeface="+mn-ea"/>
        <a:cs typeface="Arial" pitchFamily="34" charset="0"/>
      </a:defRPr>
    </a:lvl6pPr>
    <a:lvl7pPr marL="2743200" algn="l" defTabSz="914400" rtl="0" eaLnBrk="1" latinLnBrk="0" hangingPunct="1">
      <a:defRPr kern="1200">
        <a:solidFill>
          <a:schemeClr val="tx1"/>
        </a:solidFill>
        <a:latin typeface="Calibri" pitchFamily="34" charset="0"/>
        <a:ea typeface="+mn-ea"/>
        <a:cs typeface="Arial" pitchFamily="34" charset="0"/>
      </a:defRPr>
    </a:lvl7pPr>
    <a:lvl8pPr marL="3200400" algn="l" defTabSz="914400" rtl="0" eaLnBrk="1" latinLnBrk="0" hangingPunct="1">
      <a:defRPr kern="1200">
        <a:solidFill>
          <a:schemeClr val="tx1"/>
        </a:solidFill>
        <a:latin typeface="Calibri" pitchFamily="34" charset="0"/>
        <a:ea typeface="+mn-ea"/>
        <a:cs typeface="Arial" pitchFamily="34" charset="0"/>
      </a:defRPr>
    </a:lvl8pPr>
    <a:lvl9pPr marL="3657600" algn="l" defTabSz="914400" rtl="0" eaLnBrk="1" latinLnBrk="0" hangingPunct="1">
      <a:defRPr kern="1200">
        <a:solidFill>
          <a:schemeClr val="tx1"/>
        </a:solidFill>
        <a:latin typeface="Calibri" pitchFamily="34" charset="0"/>
        <a:ea typeface="+mn-ea"/>
        <a:cs typeface="Arial" pitchFamily="34"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ABFCF23-3B69-468F-B69F-88F6DE6A72F2}" styleName="Средний стиль 1 - акцент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0505E3EF-67EA-436B-97B2-0124C06EBD24}" styleName="Средний стиль 4 - акцент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A107856-5554-42FB-B03E-39F5DBC370BA}" styleName="Средний стиль 4 - акцент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69CF1AB2-1976-4502-BF36-3FF5EA218861}" styleName="Средний стиль 4 - акцент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C89EF96-8CEA-46FF-86C4-4CE0E7609802}" styleName="Светлый стиль 3 - акцент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873" autoAdjust="0"/>
    <p:restoredTop sz="94660"/>
  </p:normalViewPr>
  <p:slideViewPr>
    <p:cSldViewPr>
      <p:cViewPr varScale="1">
        <p:scale>
          <a:sx n="107" d="100"/>
          <a:sy n="107" d="100"/>
        </p:scale>
        <p:origin x="-1896" y="-84"/>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109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dirty="0">
                <a:latin typeface="+mn-lt"/>
                <a:cs typeface="+mn-cs"/>
              </a:defRPr>
            </a:lvl1pPr>
          </a:lstStyle>
          <a:p>
            <a:pPr>
              <a:defRPr/>
            </a:pPr>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cs typeface="+mn-cs"/>
              </a:defRPr>
            </a:lvl1pPr>
          </a:lstStyle>
          <a:p>
            <a:pPr>
              <a:defRPr/>
            </a:pPr>
            <a:fld id="{CDCDB5C0-4403-4A25-A4E1-30E0EE6CD811}" type="datetimeFigureOut">
              <a:rPr lang="ru-RU"/>
              <a:pPr>
                <a:defRPr/>
              </a:pPr>
              <a:t>21.08.2019</a:t>
            </a:fld>
            <a:endParaRPr lang="ru-RU" dirty="0"/>
          </a:p>
        </p:txBody>
      </p:sp>
      <p:sp>
        <p:nvSpPr>
          <p:cNvPr id="4" name="Образ слайда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ru-RU" noProof="0" dirty="0"/>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ru-RU" noProof="0" smtClean="0"/>
              <a:t>Образец текста</a:t>
            </a:r>
          </a:p>
          <a:p>
            <a:pPr lvl="1"/>
            <a:r>
              <a:rPr lang="ru-RU" noProof="0" smtClean="0"/>
              <a:t>Второй уровень</a:t>
            </a:r>
          </a:p>
          <a:p>
            <a:pPr lvl="2"/>
            <a:r>
              <a:rPr lang="ru-RU" noProof="0" smtClean="0"/>
              <a:t>Третий уровень</a:t>
            </a:r>
          </a:p>
          <a:p>
            <a:pPr lvl="3"/>
            <a:r>
              <a:rPr lang="ru-RU" noProof="0" smtClean="0"/>
              <a:t>Четвертый уровень</a:t>
            </a:r>
          </a:p>
          <a:p>
            <a:pPr lvl="4"/>
            <a:r>
              <a:rPr lang="ru-RU" noProof="0" smtClean="0"/>
              <a:t>Пятый уровень</a:t>
            </a:r>
            <a:endParaRPr lang="ru-RU" noProof="0"/>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dirty="0">
                <a:latin typeface="+mn-lt"/>
                <a:cs typeface="+mn-cs"/>
              </a:defRPr>
            </a:lvl1pPr>
          </a:lstStyle>
          <a:p>
            <a:pPr>
              <a:defRPr/>
            </a:pPr>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cs typeface="+mn-cs"/>
              </a:defRPr>
            </a:lvl1pPr>
          </a:lstStyle>
          <a:p>
            <a:pPr>
              <a:defRPr/>
            </a:pPr>
            <a:fld id="{D3E4F403-D027-4523-856E-8F275ACB31CE}" type="slidenum">
              <a:rPr lang="ru-RU"/>
              <a:pPr>
                <a:defRPr/>
              </a:pPr>
              <a:t>‹#›</a:t>
            </a:fld>
            <a:endParaRPr lang="ru-RU" dirty="0"/>
          </a:p>
        </p:txBody>
      </p:sp>
    </p:spTree>
    <p:extLst>
      <p:ext uri="{BB962C8B-B14F-4D97-AF65-F5344CB8AC3E}">
        <p14:creationId xmlns:p14="http://schemas.microsoft.com/office/powerpoint/2010/main" val="895969130"/>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lvl1pPr>
              <a:defRPr/>
            </a:lvl1pPr>
          </a:lstStyle>
          <a:p>
            <a:pPr>
              <a:defRPr/>
            </a:pPr>
            <a:fld id="{550B8731-032B-4954-825B-3EE842A7D40B}" type="datetimeFigureOut">
              <a:rPr lang="ru-RU"/>
              <a:pPr>
                <a:defRPr/>
              </a:pPr>
              <a:t>21.08.2019</a:t>
            </a:fld>
            <a:endParaRPr lang="ru-RU" dirty="0"/>
          </a:p>
        </p:txBody>
      </p:sp>
      <p:sp>
        <p:nvSpPr>
          <p:cNvPr id="5" name="Нижний колонтитул 4"/>
          <p:cNvSpPr>
            <a:spLocks noGrp="1"/>
          </p:cNvSpPr>
          <p:nvPr>
            <p:ph type="ftr" sz="quarter" idx="11"/>
          </p:nvPr>
        </p:nvSpPr>
        <p:spPr/>
        <p:txBody>
          <a:bodyPr/>
          <a:lstStyle>
            <a:lvl1pPr>
              <a:defRPr/>
            </a:lvl1pPr>
          </a:lstStyle>
          <a:p>
            <a:pPr>
              <a:defRPr/>
            </a:pPr>
            <a:endParaRPr lang="ru-RU"/>
          </a:p>
        </p:txBody>
      </p:sp>
      <p:sp>
        <p:nvSpPr>
          <p:cNvPr id="6" name="Номер слайда 5"/>
          <p:cNvSpPr>
            <a:spLocks noGrp="1"/>
          </p:cNvSpPr>
          <p:nvPr>
            <p:ph type="sldNum" sz="quarter" idx="12"/>
          </p:nvPr>
        </p:nvSpPr>
        <p:spPr/>
        <p:txBody>
          <a:bodyPr/>
          <a:lstStyle>
            <a:lvl1pPr>
              <a:defRPr/>
            </a:lvl1pPr>
          </a:lstStyle>
          <a:p>
            <a:pPr>
              <a:defRPr/>
            </a:pPr>
            <a:fld id="{B87C7E1B-1098-4D7E-AFDF-170C59C9A753}" type="slidenum">
              <a:rPr lang="ru-RU"/>
              <a:pPr>
                <a:defRPr/>
              </a:pPr>
              <a:t>‹#›</a:t>
            </a:fld>
            <a:endParaRPr lang="ru-RU" dirty="0"/>
          </a:p>
        </p:txBody>
      </p:sp>
    </p:spTree>
    <p:extLst>
      <p:ext uri="{BB962C8B-B14F-4D97-AF65-F5344CB8AC3E}">
        <p14:creationId xmlns:p14="http://schemas.microsoft.com/office/powerpoint/2010/main" val="33928270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lvl1pPr>
              <a:defRPr/>
            </a:lvl1pPr>
          </a:lstStyle>
          <a:p>
            <a:pPr>
              <a:defRPr/>
            </a:pPr>
            <a:fld id="{CAA1B145-B888-4DBE-B23D-6D2C3CDC2E9E}" type="datetimeFigureOut">
              <a:rPr lang="ru-RU"/>
              <a:pPr>
                <a:defRPr/>
              </a:pPr>
              <a:t>21.08.2019</a:t>
            </a:fld>
            <a:endParaRPr lang="ru-RU" dirty="0"/>
          </a:p>
        </p:txBody>
      </p:sp>
      <p:sp>
        <p:nvSpPr>
          <p:cNvPr id="5" name="Нижний колонтитул 4"/>
          <p:cNvSpPr>
            <a:spLocks noGrp="1"/>
          </p:cNvSpPr>
          <p:nvPr>
            <p:ph type="ftr" sz="quarter" idx="11"/>
          </p:nvPr>
        </p:nvSpPr>
        <p:spPr/>
        <p:txBody>
          <a:bodyPr/>
          <a:lstStyle>
            <a:lvl1pPr>
              <a:defRPr/>
            </a:lvl1pPr>
          </a:lstStyle>
          <a:p>
            <a:pPr>
              <a:defRPr/>
            </a:pPr>
            <a:endParaRPr lang="ru-RU"/>
          </a:p>
        </p:txBody>
      </p:sp>
      <p:sp>
        <p:nvSpPr>
          <p:cNvPr id="6" name="Номер слайда 5"/>
          <p:cNvSpPr>
            <a:spLocks noGrp="1"/>
          </p:cNvSpPr>
          <p:nvPr>
            <p:ph type="sldNum" sz="quarter" idx="12"/>
          </p:nvPr>
        </p:nvSpPr>
        <p:spPr/>
        <p:txBody>
          <a:bodyPr/>
          <a:lstStyle>
            <a:lvl1pPr>
              <a:defRPr/>
            </a:lvl1pPr>
          </a:lstStyle>
          <a:p>
            <a:pPr>
              <a:defRPr/>
            </a:pPr>
            <a:fld id="{B43D94C5-08CF-4D66-9193-E69D1F726A5F}" type="slidenum">
              <a:rPr lang="ru-RU"/>
              <a:pPr>
                <a:defRPr/>
              </a:pPr>
              <a:t>‹#›</a:t>
            </a:fld>
            <a:endParaRPr lang="ru-RU" dirty="0"/>
          </a:p>
        </p:txBody>
      </p:sp>
    </p:spTree>
    <p:extLst>
      <p:ext uri="{BB962C8B-B14F-4D97-AF65-F5344CB8AC3E}">
        <p14:creationId xmlns:p14="http://schemas.microsoft.com/office/powerpoint/2010/main" val="28574755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lvl1pPr>
              <a:defRPr/>
            </a:lvl1pPr>
          </a:lstStyle>
          <a:p>
            <a:pPr>
              <a:defRPr/>
            </a:pPr>
            <a:fld id="{A8BFE32E-06F6-4EAC-90EE-A93B17209068}" type="datetimeFigureOut">
              <a:rPr lang="ru-RU"/>
              <a:pPr>
                <a:defRPr/>
              </a:pPr>
              <a:t>21.08.2019</a:t>
            </a:fld>
            <a:endParaRPr lang="ru-RU" dirty="0"/>
          </a:p>
        </p:txBody>
      </p:sp>
      <p:sp>
        <p:nvSpPr>
          <p:cNvPr id="5" name="Нижний колонтитул 4"/>
          <p:cNvSpPr>
            <a:spLocks noGrp="1"/>
          </p:cNvSpPr>
          <p:nvPr>
            <p:ph type="ftr" sz="quarter" idx="11"/>
          </p:nvPr>
        </p:nvSpPr>
        <p:spPr/>
        <p:txBody>
          <a:bodyPr/>
          <a:lstStyle>
            <a:lvl1pPr>
              <a:defRPr/>
            </a:lvl1pPr>
          </a:lstStyle>
          <a:p>
            <a:pPr>
              <a:defRPr/>
            </a:pPr>
            <a:endParaRPr lang="ru-RU"/>
          </a:p>
        </p:txBody>
      </p:sp>
      <p:sp>
        <p:nvSpPr>
          <p:cNvPr id="6" name="Номер слайда 5"/>
          <p:cNvSpPr>
            <a:spLocks noGrp="1"/>
          </p:cNvSpPr>
          <p:nvPr>
            <p:ph type="sldNum" sz="quarter" idx="12"/>
          </p:nvPr>
        </p:nvSpPr>
        <p:spPr/>
        <p:txBody>
          <a:bodyPr/>
          <a:lstStyle>
            <a:lvl1pPr>
              <a:defRPr/>
            </a:lvl1pPr>
          </a:lstStyle>
          <a:p>
            <a:pPr>
              <a:defRPr/>
            </a:pPr>
            <a:fld id="{9F9E527A-C766-4B5F-8C9B-9A4AAECE9ACA}" type="slidenum">
              <a:rPr lang="ru-RU"/>
              <a:pPr>
                <a:defRPr/>
              </a:pPr>
              <a:t>‹#›</a:t>
            </a:fld>
            <a:endParaRPr lang="ru-RU" dirty="0"/>
          </a:p>
        </p:txBody>
      </p:sp>
    </p:spTree>
    <p:extLst>
      <p:ext uri="{BB962C8B-B14F-4D97-AF65-F5344CB8AC3E}">
        <p14:creationId xmlns:p14="http://schemas.microsoft.com/office/powerpoint/2010/main" val="20873849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3"/>
          <p:cNvSpPr>
            <a:spLocks noGrp="1"/>
          </p:cNvSpPr>
          <p:nvPr>
            <p:ph type="dt" sz="half" idx="10"/>
          </p:nvPr>
        </p:nvSpPr>
        <p:spPr/>
        <p:txBody>
          <a:bodyPr/>
          <a:lstStyle>
            <a:lvl1pPr>
              <a:defRPr/>
            </a:lvl1pPr>
          </a:lstStyle>
          <a:p>
            <a:pPr>
              <a:defRPr/>
            </a:pPr>
            <a:fld id="{250FDD2F-EC39-4EAF-967F-7AADFA4742AD}" type="datetimeFigureOut">
              <a:rPr lang="ru-RU"/>
              <a:pPr>
                <a:defRPr/>
              </a:pPr>
              <a:t>21.08.2019</a:t>
            </a:fld>
            <a:endParaRPr lang="ru-RU" dirty="0"/>
          </a:p>
        </p:txBody>
      </p:sp>
      <p:sp>
        <p:nvSpPr>
          <p:cNvPr id="6" name="Нижний колонтитул 4"/>
          <p:cNvSpPr>
            <a:spLocks noGrp="1"/>
          </p:cNvSpPr>
          <p:nvPr>
            <p:ph type="ftr" sz="quarter" idx="11"/>
          </p:nvPr>
        </p:nvSpPr>
        <p:spPr/>
        <p:txBody>
          <a:bodyPr/>
          <a:lstStyle>
            <a:lvl1pPr>
              <a:defRPr/>
            </a:lvl1pPr>
          </a:lstStyle>
          <a:p>
            <a:pPr>
              <a:defRPr/>
            </a:pPr>
            <a:endParaRPr lang="ru-RU"/>
          </a:p>
        </p:txBody>
      </p:sp>
      <p:sp>
        <p:nvSpPr>
          <p:cNvPr id="7" name="Номер слайда 5"/>
          <p:cNvSpPr>
            <a:spLocks noGrp="1"/>
          </p:cNvSpPr>
          <p:nvPr>
            <p:ph type="sldNum" sz="quarter" idx="12"/>
          </p:nvPr>
        </p:nvSpPr>
        <p:spPr/>
        <p:txBody>
          <a:bodyPr/>
          <a:lstStyle>
            <a:lvl1pPr>
              <a:defRPr/>
            </a:lvl1pPr>
          </a:lstStyle>
          <a:p>
            <a:pPr>
              <a:defRPr/>
            </a:pPr>
            <a:fld id="{0060444A-C980-4AC4-A536-F49397FD5BB7}" type="slidenum">
              <a:rPr lang="ru-RU"/>
              <a:pPr>
                <a:defRPr/>
              </a:pPr>
              <a:t>‹#›</a:t>
            </a:fld>
            <a:endParaRPr lang="ru-RU" dirty="0"/>
          </a:p>
        </p:txBody>
      </p:sp>
    </p:spTree>
    <p:extLst>
      <p:ext uri="{BB962C8B-B14F-4D97-AF65-F5344CB8AC3E}">
        <p14:creationId xmlns:p14="http://schemas.microsoft.com/office/powerpoint/2010/main" val="19823671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3"/>
          <p:cNvSpPr>
            <a:spLocks noGrp="1"/>
          </p:cNvSpPr>
          <p:nvPr>
            <p:ph type="dt" sz="half" idx="10"/>
          </p:nvPr>
        </p:nvSpPr>
        <p:spPr/>
        <p:txBody>
          <a:bodyPr/>
          <a:lstStyle>
            <a:lvl1pPr>
              <a:defRPr/>
            </a:lvl1pPr>
          </a:lstStyle>
          <a:p>
            <a:pPr>
              <a:defRPr/>
            </a:pPr>
            <a:fld id="{CDAD9109-B877-4897-A3DC-7AC947B00D2A}" type="datetimeFigureOut">
              <a:rPr lang="ru-RU"/>
              <a:pPr>
                <a:defRPr/>
              </a:pPr>
              <a:t>21.08.2019</a:t>
            </a:fld>
            <a:endParaRPr lang="ru-RU" dirty="0"/>
          </a:p>
        </p:txBody>
      </p:sp>
      <p:sp>
        <p:nvSpPr>
          <p:cNvPr id="8" name="Нижний колонтитул 4"/>
          <p:cNvSpPr>
            <a:spLocks noGrp="1"/>
          </p:cNvSpPr>
          <p:nvPr>
            <p:ph type="ftr" sz="quarter" idx="11"/>
          </p:nvPr>
        </p:nvSpPr>
        <p:spPr/>
        <p:txBody>
          <a:bodyPr/>
          <a:lstStyle>
            <a:lvl1pPr>
              <a:defRPr/>
            </a:lvl1pPr>
          </a:lstStyle>
          <a:p>
            <a:pPr>
              <a:defRPr/>
            </a:pPr>
            <a:endParaRPr lang="ru-RU"/>
          </a:p>
        </p:txBody>
      </p:sp>
      <p:sp>
        <p:nvSpPr>
          <p:cNvPr id="9" name="Номер слайда 5"/>
          <p:cNvSpPr>
            <a:spLocks noGrp="1"/>
          </p:cNvSpPr>
          <p:nvPr>
            <p:ph type="sldNum" sz="quarter" idx="12"/>
          </p:nvPr>
        </p:nvSpPr>
        <p:spPr/>
        <p:txBody>
          <a:bodyPr/>
          <a:lstStyle>
            <a:lvl1pPr>
              <a:defRPr/>
            </a:lvl1pPr>
          </a:lstStyle>
          <a:p>
            <a:pPr>
              <a:defRPr/>
            </a:pPr>
            <a:fld id="{9EE34A71-F0C1-4EF1-B120-8344472D9C27}" type="slidenum">
              <a:rPr lang="ru-RU"/>
              <a:pPr>
                <a:defRPr/>
              </a:pPr>
              <a:t>‹#›</a:t>
            </a:fld>
            <a:endParaRPr lang="ru-RU" dirty="0"/>
          </a:p>
        </p:txBody>
      </p:sp>
    </p:spTree>
    <p:extLst>
      <p:ext uri="{BB962C8B-B14F-4D97-AF65-F5344CB8AC3E}">
        <p14:creationId xmlns:p14="http://schemas.microsoft.com/office/powerpoint/2010/main" val="8527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3"/>
          <p:cNvSpPr>
            <a:spLocks noGrp="1"/>
          </p:cNvSpPr>
          <p:nvPr>
            <p:ph type="dt" sz="half" idx="10"/>
          </p:nvPr>
        </p:nvSpPr>
        <p:spPr/>
        <p:txBody>
          <a:bodyPr/>
          <a:lstStyle>
            <a:lvl1pPr>
              <a:defRPr/>
            </a:lvl1pPr>
          </a:lstStyle>
          <a:p>
            <a:pPr>
              <a:defRPr/>
            </a:pPr>
            <a:fld id="{B85A5325-532F-4B35-94FB-B7DC7B960DEF}" type="datetimeFigureOut">
              <a:rPr lang="ru-RU"/>
              <a:pPr>
                <a:defRPr/>
              </a:pPr>
              <a:t>21.08.2019</a:t>
            </a:fld>
            <a:endParaRPr lang="ru-RU" dirty="0"/>
          </a:p>
        </p:txBody>
      </p:sp>
      <p:sp>
        <p:nvSpPr>
          <p:cNvPr id="4" name="Нижний колонтитул 4"/>
          <p:cNvSpPr>
            <a:spLocks noGrp="1"/>
          </p:cNvSpPr>
          <p:nvPr>
            <p:ph type="ftr" sz="quarter" idx="11"/>
          </p:nvPr>
        </p:nvSpPr>
        <p:spPr/>
        <p:txBody>
          <a:bodyPr/>
          <a:lstStyle>
            <a:lvl1pPr>
              <a:defRPr/>
            </a:lvl1pPr>
          </a:lstStyle>
          <a:p>
            <a:pPr>
              <a:defRPr/>
            </a:pPr>
            <a:endParaRPr lang="ru-RU"/>
          </a:p>
        </p:txBody>
      </p:sp>
      <p:sp>
        <p:nvSpPr>
          <p:cNvPr id="5" name="Номер слайда 5"/>
          <p:cNvSpPr>
            <a:spLocks noGrp="1"/>
          </p:cNvSpPr>
          <p:nvPr>
            <p:ph type="sldNum" sz="quarter" idx="12"/>
          </p:nvPr>
        </p:nvSpPr>
        <p:spPr/>
        <p:txBody>
          <a:bodyPr/>
          <a:lstStyle>
            <a:lvl1pPr>
              <a:defRPr/>
            </a:lvl1pPr>
          </a:lstStyle>
          <a:p>
            <a:pPr>
              <a:defRPr/>
            </a:pPr>
            <a:fld id="{90C84B29-FDAB-4F2D-B904-6A85493E34AF}" type="slidenum">
              <a:rPr lang="ru-RU"/>
              <a:pPr>
                <a:defRPr/>
              </a:pPr>
              <a:t>‹#›</a:t>
            </a:fld>
            <a:endParaRPr lang="ru-RU" dirty="0"/>
          </a:p>
        </p:txBody>
      </p:sp>
    </p:spTree>
    <p:extLst>
      <p:ext uri="{BB962C8B-B14F-4D97-AF65-F5344CB8AC3E}">
        <p14:creationId xmlns:p14="http://schemas.microsoft.com/office/powerpoint/2010/main" val="40724283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3"/>
          <p:cNvSpPr>
            <a:spLocks noGrp="1"/>
          </p:cNvSpPr>
          <p:nvPr>
            <p:ph type="dt" sz="half" idx="10"/>
          </p:nvPr>
        </p:nvSpPr>
        <p:spPr/>
        <p:txBody>
          <a:bodyPr/>
          <a:lstStyle>
            <a:lvl1pPr>
              <a:defRPr/>
            </a:lvl1pPr>
          </a:lstStyle>
          <a:p>
            <a:pPr>
              <a:defRPr/>
            </a:pPr>
            <a:fld id="{D59E7D38-A74D-48DB-BACC-49416E40B931}" type="datetimeFigureOut">
              <a:rPr lang="ru-RU"/>
              <a:pPr>
                <a:defRPr/>
              </a:pPr>
              <a:t>21.08.2019</a:t>
            </a:fld>
            <a:endParaRPr lang="ru-RU" dirty="0"/>
          </a:p>
        </p:txBody>
      </p:sp>
      <p:sp>
        <p:nvSpPr>
          <p:cNvPr id="3" name="Нижний колонтитул 4"/>
          <p:cNvSpPr>
            <a:spLocks noGrp="1"/>
          </p:cNvSpPr>
          <p:nvPr>
            <p:ph type="ftr" sz="quarter" idx="11"/>
          </p:nvPr>
        </p:nvSpPr>
        <p:spPr/>
        <p:txBody>
          <a:bodyPr/>
          <a:lstStyle>
            <a:lvl1pPr>
              <a:defRPr/>
            </a:lvl1pPr>
          </a:lstStyle>
          <a:p>
            <a:pPr>
              <a:defRPr/>
            </a:pPr>
            <a:endParaRPr lang="ru-RU"/>
          </a:p>
        </p:txBody>
      </p:sp>
      <p:sp>
        <p:nvSpPr>
          <p:cNvPr id="4" name="Номер слайда 5"/>
          <p:cNvSpPr>
            <a:spLocks noGrp="1"/>
          </p:cNvSpPr>
          <p:nvPr>
            <p:ph type="sldNum" sz="quarter" idx="12"/>
          </p:nvPr>
        </p:nvSpPr>
        <p:spPr/>
        <p:txBody>
          <a:bodyPr/>
          <a:lstStyle>
            <a:lvl1pPr>
              <a:defRPr/>
            </a:lvl1pPr>
          </a:lstStyle>
          <a:p>
            <a:pPr>
              <a:defRPr/>
            </a:pPr>
            <a:fld id="{BBBFAA3A-91BB-42C4-AAB5-25B767363626}" type="slidenum">
              <a:rPr lang="ru-RU"/>
              <a:pPr>
                <a:defRPr/>
              </a:pPr>
              <a:t>‹#›</a:t>
            </a:fld>
            <a:endParaRPr lang="ru-RU" dirty="0"/>
          </a:p>
        </p:txBody>
      </p:sp>
    </p:spTree>
    <p:extLst>
      <p:ext uri="{BB962C8B-B14F-4D97-AF65-F5344CB8AC3E}">
        <p14:creationId xmlns:p14="http://schemas.microsoft.com/office/powerpoint/2010/main" val="16873625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Объект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3"/>
          <p:cNvSpPr>
            <a:spLocks noGrp="1"/>
          </p:cNvSpPr>
          <p:nvPr>
            <p:ph type="dt" sz="half" idx="10"/>
          </p:nvPr>
        </p:nvSpPr>
        <p:spPr/>
        <p:txBody>
          <a:bodyPr/>
          <a:lstStyle>
            <a:lvl1pPr>
              <a:defRPr/>
            </a:lvl1pPr>
          </a:lstStyle>
          <a:p>
            <a:pPr>
              <a:defRPr/>
            </a:pPr>
            <a:fld id="{CD5BDE10-B1C9-4756-BED0-C3E194919B3A}" type="datetimeFigureOut">
              <a:rPr lang="ru-RU"/>
              <a:pPr>
                <a:defRPr/>
              </a:pPr>
              <a:t>21.08.2019</a:t>
            </a:fld>
            <a:endParaRPr lang="ru-RU" dirty="0"/>
          </a:p>
        </p:txBody>
      </p:sp>
      <p:sp>
        <p:nvSpPr>
          <p:cNvPr id="6" name="Нижний колонтитул 4"/>
          <p:cNvSpPr>
            <a:spLocks noGrp="1"/>
          </p:cNvSpPr>
          <p:nvPr>
            <p:ph type="ftr" sz="quarter" idx="11"/>
          </p:nvPr>
        </p:nvSpPr>
        <p:spPr/>
        <p:txBody>
          <a:bodyPr/>
          <a:lstStyle>
            <a:lvl1pPr>
              <a:defRPr/>
            </a:lvl1pPr>
          </a:lstStyle>
          <a:p>
            <a:pPr>
              <a:defRPr/>
            </a:pPr>
            <a:endParaRPr lang="ru-RU"/>
          </a:p>
        </p:txBody>
      </p:sp>
      <p:sp>
        <p:nvSpPr>
          <p:cNvPr id="7" name="Номер слайда 5"/>
          <p:cNvSpPr>
            <a:spLocks noGrp="1"/>
          </p:cNvSpPr>
          <p:nvPr>
            <p:ph type="sldNum" sz="quarter" idx="12"/>
          </p:nvPr>
        </p:nvSpPr>
        <p:spPr/>
        <p:txBody>
          <a:bodyPr/>
          <a:lstStyle>
            <a:lvl1pPr>
              <a:defRPr/>
            </a:lvl1pPr>
          </a:lstStyle>
          <a:p>
            <a:pPr>
              <a:defRPr/>
            </a:pPr>
            <a:fld id="{64BC4B83-22A5-455B-988F-D93D46D17342}" type="slidenum">
              <a:rPr lang="ru-RU"/>
              <a:pPr>
                <a:defRPr/>
              </a:pPr>
              <a:t>‹#›</a:t>
            </a:fld>
            <a:endParaRPr lang="ru-RU" dirty="0"/>
          </a:p>
        </p:txBody>
      </p:sp>
    </p:spTree>
    <p:extLst>
      <p:ext uri="{BB962C8B-B14F-4D97-AF65-F5344CB8AC3E}">
        <p14:creationId xmlns:p14="http://schemas.microsoft.com/office/powerpoint/2010/main" val="6680468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ru-RU" noProof="0" dirty="0"/>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3"/>
          <p:cNvSpPr>
            <a:spLocks noGrp="1"/>
          </p:cNvSpPr>
          <p:nvPr>
            <p:ph type="dt" sz="half" idx="10"/>
          </p:nvPr>
        </p:nvSpPr>
        <p:spPr/>
        <p:txBody>
          <a:bodyPr/>
          <a:lstStyle>
            <a:lvl1pPr>
              <a:defRPr/>
            </a:lvl1pPr>
          </a:lstStyle>
          <a:p>
            <a:pPr>
              <a:defRPr/>
            </a:pPr>
            <a:fld id="{6366A3EA-40CC-43B9-97DD-1CA2BE83630C}" type="datetimeFigureOut">
              <a:rPr lang="ru-RU"/>
              <a:pPr>
                <a:defRPr/>
              </a:pPr>
              <a:t>21.08.2019</a:t>
            </a:fld>
            <a:endParaRPr lang="ru-RU" dirty="0"/>
          </a:p>
        </p:txBody>
      </p:sp>
      <p:sp>
        <p:nvSpPr>
          <p:cNvPr id="6" name="Нижний колонтитул 4"/>
          <p:cNvSpPr>
            <a:spLocks noGrp="1"/>
          </p:cNvSpPr>
          <p:nvPr>
            <p:ph type="ftr" sz="quarter" idx="11"/>
          </p:nvPr>
        </p:nvSpPr>
        <p:spPr/>
        <p:txBody>
          <a:bodyPr/>
          <a:lstStyle>
            <a:lvl1pPr>
              <a:defRPr/>
            </a:lvl1pPr>
          </a:lstStyle>
          <a:p>
            <a:pPr>
              <a:defRPr/>
            </a:pPr>
            <a:endParaRPr lang="ru-RU"/>
          </a:p>
        </p:txBody>
      </p:sp>
      <p:sp>
        <p:nvSpPr>
          <p:cNvPr id="7" name="Номер слайда 5"/>
          <p:cNvSpPr>
            <a:spLocks noGrp="1"/>
          </p:cNvSpPr>
          <p:nvPr>
            <p:ph type="sldNum" sz="quarter" idx="12"/>
          </p:nvPr>
        </p:nvSpPr>
        <p:spPr/>
        <p:txBody>
          <a:bodyPr/>
          <a:lstStyle>
            <a:lvl1pPr>
              <a:defRPr/>
            </a:lvl1pPr>
          </a:lstStyle>
          <a:p>
            <a:pPr>
              <a:defRPr/>
            </a:pPr>
            <a:fld id="{7EBB6A9B-CBB3-4918-B207-74917385711F}" type="slidenum">
              <a:rPr lang="ru-RU"/>
              <a:pPr>
                <a:defRPr/>
              </a:pPr>
              <a:t>‹#›</a:t>
            </a:fld>
            <a:endParaRPr lang="ru-RU" dirty="0"/>
          </a:p>
        </p:txBody>
      </p:sp>
    </p:spTree>
    <p:extLst>
      <p:ext uri="{BB962C8B-B14F-4D97-AF65-F5344CB8AC3E}">
        <p14:creationId xmlns:p14="http://schemas.microsoft.com/office/powerpoint/2010/main" val="2344733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lvl1pPr>
              <a:defRPr/>
            </a:lvl1pPr>
          </a:lstStyle>
          <a:p>
            <a:pPr>
              <a:defRPr/>
            </a:pPr>
            <a:fld id="{A881261F-27C8-4858-840C-C8A484EFBEE4}" type="datetimeFigureOut">
              <a:rPr lang="ru-RU"/>
              <a:pPr>
                <a:defRPr/>
              </a:pPr>
              <a:t>21.08.2019</a:t>
            </a:fld>
            <a:endParaRPr lang="ru-RU" dirty="0"/>
          </a:p>
        </p:txBody>
      </p:sp>
      <p:sp>
        <p:nvSpPr>
          <p:cNvPr id="5" name="Нижний колонтитул 4"/>
          <p:cNvSpPr>
            <a:spLocks noGrp="1"/>
          </p:cNvSpPr>
          <p:nvPr>
            <p:ph type="ftr" sz="quarter" idx="11"/>
          </p:nvPr>
        </p:nvSpPr>
        <p:spPr/>
        <p:txBody>
          <a:bodyPr/>
          <a:lstStyle>
            <a:lvl1pPr>
              <a:defRPr/>
            </a:lvl1pPr>
          </a:lstStyle>
          <a:p>
            <a:pPr>
              <a:defRPr/>
            </a:pPr>
            <a:endParaRPr lang="ru-RU"/>
          </a:p>
        </p:txBody>
      </p:sp>
      <p:sp>
        <p:nvSpPr>
          <p:cNvPr id="6" name="Номер слайда 5"/>
          <p:cNvSpPr>
            <a:spLocks noGrp="1"/>
          </p:cNvSpPr>
          <p:nvPr>
            <p:ph type="sldNum" sz="quarter" idx="12"/>
          </p:nvPr>
        </p:nvSpPr>
        <p:spPr/>
        <p:txBody>
          <a:bodyPr/>
          <a:lstStyle>
            <a:lvl1pPr>
              <a:defRPr/>
            </a:lvl1pPr>
          </a:lstStyle>
          <a:p>
            <a:pPr>
              <a:defRPr/>
            </a:pPr>
            <a:fld id="{5135364A-7F72-428F-ABB3-75B540B06D47}" type="slidenum">
              <a:rPr lang="ru-RU"/>
              <a:pPr>
                <a:defRPr/>
              </a:pPr>
              <a:t>‹#›</a:t>
            </a:fld>
            <a:endParaRPr lang="ru-RU" dirty="0"/>
          </a:p>
        </p:txBody>
      </p:sp>
    </p:spTree>
    <p:extLst>
      <p:ext uri="{BB962C8B-B14F-4D97-AF65-F5344CB8AC3E}">
        <p14:creationId xmlns:p14="http://schemas.microsoft.com/office/powerpoint/2010/main" val="526679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lvl1pPr>
              <a:defRPr/>
            </a:lvl1pPr>
          </a:lstStyle>
          <a:p>
            <a:pPr>
              <a:defRPr/>
            </a:pPr>
            <a:fld id="{B235B09B-65D5-433C-B929-499B1DE50C77}" type="datetimeFigureOut">
              <a:rPr lang="ru-RU"/>
              <a:pPr>
                <a:defRPr/>
              </a:pPr>
              <a:t>21.08.2019</a:t>
            </a:fld>
            <a:endParaRPr lang="ru-RU" dirty="0"/>
          </a:p>
        </p:txBody>
      </p:sp>
      <p:sp>
        <p:nvSpPr>
          <p:cNvPr id="5" name="Нижний колонтитул 4"/>
          <p:cNvSpPr>
            <a:spLocks noGrp="1"/>
          </p:cNvSpPr>
          <p:nvPr>
            <p:ph type="ftr" sz="quarter" idx="11"/>
          </p:nvPr>
        </p:nvSpPr>
        <p:spPr/>
        <p:txBody>
          <a:bodyPr/>
          <a:lstStyle>
            <a:lvl1pPr>
              <a:defRPr/>
            </a:lvl1pPr>
          </a:lstStyle>
          <a:p>
            <a:pPr>
              <a:defRPr/>
            </a:pPr>
            <a:endParaRPr lang="ru-RU"/>
          </a:p>
        </p:txBody>
      </p:sp>
      <p:sp>
        <p:nvSpPr>
          <p:cNvPr id="6" name="Номер слайда 5"/>
          <p:cNvSpPr>
            <a:spLocks noGrp="1"/>
          </p:cNvSpPr>
          <p:nvPr>
            <p:ph type="sldNum" sz="quarter" idx="12"/>
          </p:nvPr>
        </p:nvSpPr>
        <p:spPr/>
        <p:txBody>
          <a:bodyPr/>
          <a:lstStyle>
            <a:lvl1pPr>
              <a:defRPr/>
            </a:lvl1pPr>
          </a:lstStyle>
          <a:p>
            <a:pPr>
              <a:defRPr/>
            </a:pPr>
            <a:fld id="{C3C24E8E-4A0E-4BA9-AF20-19A0ADD549C2}" type="slidenum">
              <a:rPr lang="ru-RU"/>
              <a:pPr>
                <a:defRPr/>
              </a:pPr>
              <a:t>‹#›</a:t>
            </a:fld>
            <a:endParaRPr lang="ru-RU" dirty="0"/>
          </a:p>
        </p:txBody>
      </p:sp>
    </p:spTree>
    <p:extLst>
      <p:ext uri="{BB962C8B-B14F-4D97-AF65-F5344CB8AC3E}">
        <p14:creationId xmlns:p14="http://schemas.microsoft.com/office/powerpoint/2010/main" val="33629684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Заголовок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ru-RU" smtClean="0"/>
              <a:t>Образец заголовка</a:t>
            </a:r>
          </a:p>
        </p:txBody>
      </p:sp>
      <p:sp>
        <p:nvSpPr>
          <p:cNvPr id="1027" name="Текст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cs typeface="+mn-cs"/>
              </a:defRPr>
            </a:lvl1pPr>
          </a:lstStyle>
          <a:p>
            <a:pPr>
              <a:defRPr/>
            </a:pPr>
            <a:fld id="{79D06966-C9B1-4BFD-8B28-AD6A29C7CCA7}" type="datetimeFigureOut">
              <a:rPr lang="ru-RU"/>
              <a:pPr>
                <a:defRPr/>
              </a:pPr>
              <a:t>21.08.2019</a:t>
            </a:fld>
            <a:endParaRPr lang="ru-RU" dirty="0"/>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dirty="0">
                <a:solidFill>
                  <a:schemeClr val="tx1">
                    <a:tint val="75000"/>
                  </a:schemeClr>
                </a:solidFill>
                <a:latin typeface="+mn-lt"/>
                <a:cs typeface="+mn-cs"/>
              </a:defRPr>
            </a:lvl1pPr>
          </a:lstStyle>
          <a:p>
            <a:pPr>
              <a:defRPr/>
            </a:pPr>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cs typeface="+mn-cs"/>
              </a:defRPr>
            </a:lvl1pPr>
          </a:lstStyle>
          <a:p>
            <a:pPr>
              <a:defRPr/>
            </a:pPr>
            <a:fld id="{F9F5266C-34C7-4F6E-B644-A6A1D5440C9F}" type="slidenum">
              <a:rPr lang="ru-RU"/>
              <a:pPr>
                <a:defRPr/>
              </a:pPr>
              <a:t>‹#›</a:t>
            </a:fld>
            <a:endParaRPr lang="ru-RU"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defRPr>
      </a:lvl2pPr>
      <a:lvl3pPr algn="ctr" rtl="0" fontAlgn="base">
        <a:spcBef>
          <a:spcPct val="0"/>
        </a:spcBef>
        <a:spcAft>
          <a:spcPct val="0"/>
        </a:spcAft>
        <a:defRPr sz="4400">
          <a:solidFill>
            <a:schemeClr val="tx1"/>
          </a:solidFill>
          <a:latin typeface="Calibri" pitchFamily="34" charset="0"/>
        </a:defRPr>
      </a:lvl3pPr>
      <a:lvl4pPr algn="ctr" rtl="0" fontAlgn="base">
        <a:spcBef>
          <a:spcPct val="0"/>
        </a:spcBef>
        <a:spcAft>
          <a:spcPct val="0"/>
        </a:spcAft>
        <a:defRPr sz="4400">
          <a:solidFill>
            <a:schemeClr val="tx1"/>
          </a:solidFill>
          <a:latin typeface="Calibri" pitchFamily="34" charset="0"/>
        </a:defRPr>
      </a:lvl4pPr>
      <a:lvl5pPr algn="ctr" rtl="0" fontAlgn="base">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fontAlgn="base">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1&#1073;&#1086;&#1073;30.10.2013.pptx#-1,18,&#1055;&#1088;&#1077;&#1079;&#1077;&#1085;&#1090;&#1072;&#1094;&#1080;&#1103; PowerPoint" TargetMode="External"/><Relationship Id="rId3" Type="http://schemas.openxmlformats.org/officeDocument/2006/relationships/hyperlink" Target="1&#1073;&#1086;&#1073;30.10.2013.pptx#-1,13,&#1055;&#1088;&#1077;&#1079;&#1077;&#1085;&#1090;&#1072;&#1094;&#1080;&#1103; PowerPoint" TargetMode="External"/><Relationship Id="rId7" Type="http://schemas.openxmlformats.org/officeDocument/2006/relationships/hyperlink" Target="1&#1073;&#1086;&#1073;30.10.2013.pptx#-1,17,&#1055;&#1088;&#1077;&#1079;&#1077;&#1085;&#1090;&#1072;&#1094;&#1080;&#1103; PowerPoint" TargetMode="External"/><Relationship Id="rId2" Type="http://schemas.openxmlformats.org/officeDocument/2006/relationships/hyperlink" Target="1&#1073;&#1086;&#1073;30.10.2013.pptx#-1,12,&#1055;&#1088;&#1077;&#1079;&#1077;&#1085;&#1090;&#1072;&#1094;&#1080;&#1103; PowerPoint" TargetMode="External"/><Relationship Id="rId1" Type="http://schemas.openxmlformats.org/officeDocument/2006/relationships/slideLayout" Target="../slideLayouts/slideLayout2.xml"/><Relationship Id="rId6" Type="http://schemas.openxmlformats.org/officeDocument/2006/relationships/hyperlink" Target="1&#1073;&#1086;&#1073;30.10.2013.pptx#-1,16,&#1055;&#1088;&#1077;&#1079;&#1077;&#1085;&#1090;&#1072;&#1094;&#1080;&#1103; PowerPoint" TargetMode="External"/><Relationship Id="rId5" Type="http://schemas.openxmlformats.org/officeDocument/2006/relationships/hyperlink" Target="1&#1073;&#1086;&#1073;30.10.2013.pptx#-1,15,&#1055;&#1088;&#1077;&#1079;&#1077;&#1085;&#1090;&#1072;&#1094;&#1080;&#1103; PowerPoint" TargetMode="External"/><Relationship Id="rId4" Type="http://schemas.openxmlformats.org/officeDocument/2006/relationships/hyperlink" Target="1&#1073;&#1086;&#1073;30.10.2013.pptx#-1,14,&#1055;&#1088;&#1077;&#1079;&#1077;&#1085;&#1090;&#1072;&#1094;&#1080;&#1103; PowerPoint" TargetMode="External"/></Relationships>
</file>

<file path=ppt/slides/_rels/slide3.xml.rels><?xml version="1.0" encoding="UTF-8" standalone="yes"?>
<Relationships xmlns="http://schemas.openxmlformats.org/package/2006/relationships"><Relationship Id="rId2" Type="http://schemas.openxmlformats.org/officeDocument/2006/relationships/hyperlink" Target="1&#1073;&#1086;&#1073;30.10.2013.pptx#-1,11,&#1055;&#1088;&#1077;&#1079;&#1077;&#1085;&#1090;&#1072;&#1094;&#1080;&#1103; PowerPoint"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1&#1073;&#1086;&#1073;30.10.2013.pptx#-1,11,&#1055;&#1088;&#1077;&#1079;&#1077;&#1085;&#1090;&#1072;&#1094;&#1080;&#1103; PowerPoint"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1&#1073;&#1086;&#1073;30.10.2013.pptx#-1,11,&#1055;&#1088;&#1077;&#1079;&#1077;&#1085;&#1090;&#1072;&#1094;&#1080;&#1103; PowerPoint"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1&#1073;&#1086;&#1073;30.10.2013.pptx#-1,11,&#1055;&#1088;&#1077;&#1079;&#1077;&#1085;&#1090;&#1072;&#1094;&#1080;&#1103; PowerPoint"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1&#1073;&#1086;&#1073;30.10.2013.pptx#-1,11,&#1055;&#1088;&#1077;&#1079;&#1077;&#1085;&#1090;&#1072;&#1094;&#1080;&#1103; PowerPoint"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1&#1073;&#1086;&#1073;30.10.2013.pptx#-1,11,&#1055;&#1088;&#1077;&#1079;&#1077;&#1085;&#1090;&#1072;&#1094;&#1080;&#1103; PowerPoint"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Скругленный прямоугольник 6"/>
          <p:cNvSpPr/>
          <p:nvPr/>
        </p:nvSpPr>
        <p:spPr>
          <a:xfrm>
            <a:off x="381000" y="228600"/>
            <a:ext cx="8534400" cy="6400800"/>
          </a:xfrm>
          <a:prstGeom prst="roundRect">
            <a:avLst/>
          </a:prstGeom>
          <a:solidFill>
            <a:schemeClr val="accent4">
              <a:lumMod val="20000"/>
              <a:lumOff val="80000"/>
            </a:schemeClr>
          </a:solidFill>
          <a:ln>
            <a:solidFill>
              <a:schemeClr val="tx2">
                <a:lumMod val="75000"/>
              </a:schemeClr>
            </a:solidFill>
          </a:ln>
        </p:spPr>
        <p:style>
          <a:lnRef idx="2">
            <a:schemeClr val="accent6"/>
          </a:lnRef>
          <a:fillRef idx="1">
            <a:schemeClr val="lt1"/>
          </a:fillRef>
          <a:effectRef idx="0">
            <a:schemeClr val="accent6"/>
          </a:effectRef>
          <a:fontRef idx="minor">
            <a:schemeClr val="dk1"/>
          </a:fontRef>
        </p:style>
        <p:txBody>
          <a:bodyPr anchor="ctr"/>
          <a:lstStyle/>
          <a:p>
            <a:pPr algn="ctr" fontAlgn="auto">
              <a:spcBef>
                <a:spcPts val="0"/>
              </a:spcBef>
              <a:spcAft>
                <a:spcPts val="0"/>
              </a:spcAft>
              <a:defRPr/>
            </a:pPr>
            <a:endParaRPr lang="ru-RU" dirty="0">
              <a:solidFill>
                <a:schemeClr val="tx1"/>
              </a:solidFill>
            </a:endParaRPr>
          </a:p>
        </p:txBody>
      </p:sp>
      <p:sp>
        <p:nvSpPr>
          <p:cNvPr id="8" name="Прямоугольник 7"/>
          <p:cNvSpPr/>
          <p:nvPr/>
        </p:nvSpPr>
        <p:spPr>
          <a:xfrm>
            <a:off x="1219200" y="457200"/>
            <a:ext cx="6934200" cy="533400"/>
          </a:xfrm>
          <a:prstGeom prst="rect">
            <a:avLst/>
          </a:prstGeom>
          <a:solidFill>
            <a:schemeClr val="accent4">
              <a:lumMod val="20000"/>
              <a:lumOff val="80000"/>
            </a:schemeClr>
          </a:solidFill>
          <a:ln>
            <a:noFill/>
          </a:ln>
          <a:effectLst>
            <a:outerShdw blurRad="152400" dist="317500" dir="5400000" sx="90000" sy="-19000" rotWithShape="0">
              <a:prstClr val="black">
                <a:alpha val="15000"/>
              </a:prstClr>
            </a:outerShdw>
          </a:effectLst>
        </p:spPr>
        <p:style>
          <a:lnRef idx="2">
            <a:schemeClr val="accent6"/>
          </a:lnRef>
          <a:fillRef idx="1">
            <a:schemeClr val="lt1"/>
          </a:fillRef>
          <a:effectRef idx="0">
            <a:schemeClr val="accent6"/>
          </a:effectRef>
          <a:fontRef idx="minor">
            <a:schemeClr val="dk1"/>
          </a:fontRef>
        </p:style>
        <p:txBody>
          <a:bodyPr anchor="ctr"/>
          <a:lstStyle/>
          <a:p>
            <a:pPr algn="ctr" fontAlgn="auto">
              <a:spcBef>
                <a:spcPts val="0"/>
              </a:spcBef>
              <a:spcAft>
                <a:spcPts val="0"/>
              </a:spcAft>
              <a:defRPr/>
            </a:pPr>
            <a:r>
              <a:rPr lang="uz-Cyrl-UZ" b="1" dirty="0">
                <a:solidFill>
                  <a:srgbClr val="000000"/>
                </a:solidFill>
                <a:latin typeface="Times New Roman" pitchFamily="18" charset="0"/>
              </a:rPr>
              <a:t>Радиоэлектрон тизимлар ва ахборот</a:t>
            </a:r>
            <a:r>
              <a:rPr lang="en-US" b="1" dirty="0">
                <a:solidFill>
                  <a:srgbClr val="000000"/>
                </a:solidFill>
                <a:latin typeface="Times New Roman" pitchFamily="18" charset="0"/>
              </a:rPr>
              <a:t> </a:t>
            </a:r>
            <a:r>
              <a:rPr lang="ru-RU" b="1" dirty="0">
                <a:solidFill>
                  <a:srgbClr val="000000"/>
                </a:solidFill>
                <a:latin typeface="Times New Roman" pitchFamily="18" charset="0"/>
              </a:rPr>
              <a:t>т</a:t>
            </a:r>
            <a:r>
              <a:rPr lang="uz-Cyrl-UZ" b="1" dirty="0">
                <a:solidFill>
                  <a:srgbClr val="000000"/>
                </a:solidFill>
                <a:latin typeface="Times New Roman" pitchFamily="18" charset="0"/>
              </a:rPr>
              <a:t>ехнологиялари</a:t>
            </a:r>
            <a:r>
              <a:rPr lang="en-US" b="1" dirty="0">
                <a:solidFill>
                  <a:srgbClr val="000000"/>
                </a:solidFill>
                <a:latin typeface="Times New Roman" pitchFamily="18" charset="0"/>
              </a:rPr>
              <a:t> </a:t>
            </a:r>
            <a:r>
              <a:rPr lang="ru-RU" b="1" dirty="0">
                <a:solidFill>
                  <a:srgbClr val="000000"/>
                </a:solidFill>
                <a:latin typeface="Times New Roman" pitchFamily="18" charset="0"/>
              </a:rPr>
              <a:t>м</a:t>
            </a:r>
            <a:r>
              <a:rPr lang="uz-Cyrl-UZ" b="1" dirty="0">
                <a:solidFill>
                  <a:srgbClr val="000000"/>
                </a:solidFill>
                <a:latin typeface="Times New Roman" pitchFamily="18" charset="0"/>
              </a:rPr>
              <a:t>аркази </a:t>
            </a:r>
            <a:endParaRPr lang="ru-RU" b="1" dirty="0">
              <a:ln w="18000">
                <a:solidFill>
                  <a:schemeClr val="accent2">
                    <a:satMod val="140000"/>
                  </a:schemeClr>
                </a:solidFill>
                <a:prstDash val="solid"/>
                <a:miter lim="800000"/>
              </a:ln>
              <a:solidFill>
                <a:srgbClr val="FF0000"/>
              </a:solidFill>
              <a:effectLst>
                <a:outerShdw blurRad="25500" dist="23000" dir="7020000" algn="tl">
                  <a:srgbClr val="000000">
                    <a:alpha val="50000"/>
                  </a:srgbClr>
                </a:outerShdw>
              </a:effectLst>
            </a:endParaRPr>
          </a:p>
        </p:txBody>
      </p:sp>
      <p:sp>
        <p:nvSpPr>
          <p:cNvPr id="11" name="Прямоугольник 10"/>
          <p:cNvSpPr/>
          <p:nvPr/>
        </p:nvSpPr>
        <p:spPr>
          <a:xfrm>
            <a:off x="914400" y="3200400"/>
            <a:ext cx="7315200" cy="1219200"/>
          </a:xfrm>
          <a:prstGeom prst="rect">
            <a:avLst/>
          </a:prstGeom>
          <a:solidFill>
            <a:schemeClr val="bg1"/>
          </a:solidFill>
          <a:ln>
            <a:solidFill>
              <a:schemeClr val="bg2"/>
            </a:solidFill>
            <a:prstDash val="dashDot"/>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uz-Cyrl-UZ" sz="2800" b="1" dirty="0" smtClean="0">
                <a:solidFill>
                  <a:srgbClr val="C00000"/>
                </a:solidFill>
                <a:latin typeface="Times New Roman" pitchFamily="18" charset="0"/>
                <a:cs typeface="Times New Roman" pitchFamily="18" charset="0"/>
              </a:rPr>
              <a:t>Замонавий х</a:t>
            </a:r>
            <a:r>
              <a:rPr lang="uz-Cyrl-UZ" sz="2800" b="1" dirty="0" smtClean="0">
                <a:solidFill>
                  <a:srgbClr val="C00000"/>
                </a:solidFill>
                <a:latin typeface="Times New Roman" pitchFamily="18" charset="0"/>
                <a:cs typeface="Times New Roman" pitchFamily="18" charset="0"/>
              </a:rPr>
              <a:t>эш-функция қурилиш структуралари таҳлили</a:t>
            </a:r>
            <a:endParaRPr lang="ru-RU" sz="2800" b="1" dirty="0">
              <a:solidFill>
                <a:srgbClr val="C00000"/>
              </a:solidFill>
              <a:latin typeface="Times New Roman" pitchFamily="18" charset="0"/>
              <a:cs typeface="Times New Roman" pitchFamily="18" charset="0"/>
            </a:endParaRPr>
          </a:p>
        </p:txBody>
      </p:sp>
      <p:sp>
        <p:nvSpPr>
          <p:cNvPr id="14" name="Text Box 154"/>
          <p:cNvSpPr txBox="1">
            <a:spLocks noChangeArrowheads="1"/>
          </p:cNvSpPr>
          <p:nvPr/>
        </p:nvSpPr>
        <p:spPr bwMode="auto">
          <a:xfrm>
            <a:off x="3779912" y="6156012"/>
            <a:ext cx="2133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ctr"/>
            <a:r>
              <a:rPr lang="ru-RU" b="1" dirty="0" err="1" smtClean="0">
                <a:solidFill>
                  <a:srgbClr val="000000"/>
                </a:solidFill>
                <a:latin typeface="Times New Roman" pitchFamily="18" charset="0"/>
                <a:cs typeface="Times New Roman" pitchFamily="18" charset="0"/>
              </a:rPr>
              <a:t>Тошкент</a:t>
            </a:r>
            <a:r>
              <a:rPr lang="ru-RU" b="1" dirty="0" smtClean="0">
                <a:solidFill>
                  <a:srgbClr val="000000"/>
                </a:solidFill>
                <a:latin typeface="Times New Roman" pitchFamily="18" charset="0"/>
                <a:cs typeface="Times New Roman" pitchFamily="18" charset="0"/>
              </a:rPr>
              <a:t> </a:t>
            </a:r>
            <a:r>
              <a:rPr lang="ru-RU" b="1" dirty="0">
                <a:solidFill>
                  <a:srgbClr val="000000"/>
                </a:solidFill>
                <a:latin typeface="Times New Roman" pitchFamily="18" charset="0"/>
                <a:cs typeface="Times New Roman" pitchFamily="18" charset="0"/>
              </a:rPr>
              <a:t>- 20</a:t>
            </a:r>
            <a:r>
              <a:rPr lang="en-US" b="1" dirty="0" smtClean="0">
                <a:solidFill>
                  <a:srgbClr val="000000"/>
                </a:solidFill>
                <a:latin typeface="Times New Roman" pitchFamily="18" charset="0"/>
                <a:cs typeface="Times New Roman" pitchFamily="18" charset="0"/>
              </a:rPr>
              <a:t>19</a:t>
            </a:r>
            <a:endParaRPr lang="ru-RU" b="1" dirty="0">
              <a:solidFill>
                <a:srgbClr val="3B0076"/>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4" presetClass="entr" presetSubtype="16"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ox(in)">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428596" y="228600"/>
            <a:ext cx="8501122" cy="914400"/>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t="100000" r="100000"/>
            </a:path>
            <a:tileRect l="-100000" b="-100000"/>
          </a:gradFill>
          <a:ln>
            <a:solidFill>
              <a:schemeClr val="tx1"/>
            </a:solidFill>
          </a:ln>
          <a:effectLst>
            <a:glow rad="101600">
              <a:schemeClr val="accent4">
                <a:satMod val="175000"/>
                <a:alpha val="40000"/>
              </a:schemeClr>
            </a:glow>
            <a:softEdge rad="12700"/>
          </a:effectLst>
        </p:spPr>
        <p:style>
          <a:lnRef idx="2">
            <a:schemeClr val="dk1"/>
          </a:lnRef>
          <a:fillRef idx="1">
            <a:schemeClr val="lt1"/>
          </a:fillRef>
          <a:effectRef idx="0">
            <a:schemeClr val="dk1"/>
          </a:effectRef>
          <a:fontRef idx="minor">
            <a:schemeClr val="dk1"/>
          </a:fontRef>
        </p:style>
        <p:txBody>
          <a:bodyPr anchor="ctr"/>
          <a:lstStyle/>
          <a:p>
            <a:pPr algn="ctr" fontAlgn="auto">
              <a:spcBef>
                <a:spcPts val="0"/>
              </a:spcBef>
              <a:spcAft>
                <a:spcPts val="0"/>
              </a:spcAft>
              <a:defRPr/>
            </a:pPr>
            <a:r>
              <a:rPr lang="ru-RU" sz="2000" b="1" dirty="0" err="1">
                <a:latin typeface="Times New Roman" pitchFamily="18" charset="0"/>
                <a:cs typeface="Times New Roman" pitchFamily="18" charset="0"/>
              </a:rPr>
              <a:t>Хэш</a:t>
            </a:r>
            <a:r>
              <a:rPr lang="ru-RU" sz="2000" b="1" dirty="0">
                <a:latin typeface="Times New Roman" pitchFamily="18" charset="0"/>
                <a:cs typeface="Times New Roman" pitchFamily="18" charset="0"/>
              </a:rPr>
              <a:t> функция </a:t>
            </a:r>
            <a:r>
              <a:rPr lang="ru-RU" sz="2000" b="1" dirty="0" err="1">
                <a:latin typeface="Times New Roman" pitchFamily="18" charset="0"/>
                <a:cs typeface="Times New Roman" pitchFamily="18" charset="0"/>
              </a:rPr>
              <a:t>қуриш</a:t>
            </a:r>
            <a:r>
              <a:rPr lang="ru-RU" sz="2000" b="1" dirty="0">
                <a:latin typeface="Times New Roman" pitchFamily="18" charset="0"/>
                <a:cs typeface="Times New Roman" pitchFamily="18" charset="0"/>
              </a:rPr>
              <a:t> (конструктив </a:t>
            </a:r>
            <a:r>
              <a:rPr lang="ru-RU" sz="2000" b="1" dirty="0" err="1">
                <a:latin typeface="Times New Roman" pitchFamily="18" charset="0"/>
                <a:cs typeface="Times New Roman" pitchFamily="18" charset="0"/>
              </a:rPr>
              <a:t>схемасини</a:t>
            </a:r>
            <a:r>
              <a:rPr lang="ru-RU" sz="2000" b="1" dirty="0">
                <a:latin typeface="Times New Roman" pitchFamily="18" charset="0"/>
                <a:cs typeface="Times New Roman" pitchFamily="18" charset="0"/>
              </a:rPr>
              <a:t>) </a:t>
            </a:r>
            <a:r>
              <a:rPr lang="ru-RU" sz="2000" b="1" dirty="0" err="1">
                <a:latin typeface="Times New Roman" pitchFamily="18" charset="0"/>
                <a:cs typeface="Times New Roman" pitchFamily="18" charset="0"/>
              </a:rPr>
              <a:t>принципини</a:t>
            </a:r>
            <a:r>
              <a:rPr lang="ru-RU" sz="2000" b="1" dirty="0">
                <a:latin typeface="Times New Roman" pitchFamily="18" charset="0"/>
                <a:cs typeface="Times New Roman" pitchFamily="18" charset="0"/>
              </a:rPr>
              <a:t> </a:t>
            </a:r>
            <a:r>
              <a:rPr lang="ru-RU" sz="2000" b="1" dirty="0" err="1">
                <a:latin typeface="Times New Roman" pitchFamily="18" charset="0"/>
                <a:cs typeface="Times New Roman" pitchFamily="18" charset="0"/>
              </a:rPr>
              <a:t>танлаш</a:t>
            </a:r>
            <a:endParaRPr lang="ru-RU" sz="2000" b="1" dirty="0">
              <a:latin typeface="Times New Roman" pitchFamily="18" charset="0"/>
              <a:cs typeface="Times New Roman" pitchFamily="18" charset="0"/>
            </a:endParaRPr>
          </a:p>
        </p:txBody>
      </p:sp>
      <p:sp>
        <p:nvSpPr>
          <p:cNvPr id="5" name="Прямоугольник 4"/>
          <p:cNvSpPr/>
          <p:nvPr/>
        </p:nvSpPr>
        <p:spPr>
          <a:xfrm>
            <a:off x="381000" y="1295400"/>
            <a:ext cx="8534400" cy="5410200"/>
          </a:xfrm>
          <a:prstGeom prst="rect">
            <a:avLst/>
          </a:prstGeom>
          <a:solidFill>
            <a:schemeClr val="bg2"/>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fontAlgn="auto">
              <a:spcBef>
                <a:spcPts val="0"/>
              </a:spcBef>
              <a:spcAft>
                <a:spcPts val="0"/>
              </a:spcAft>
              <a:defRPr/>
            </a:pPr>
            <a:endParaRPr lang="ru-RU" b="1" dirty="0">
              <a:solidFill>
                <a:schemeClr val="tx1"/>
              </a:solidFill>
              <a:latin typeface="Times New Roman" pitchFamily="18" charset="0"/>
              <a:cs typeface="Times New Roman" pitchFamily="18" charset="0"/>
            </a:endParaRPr>
          </a:p>
        </p:txBody>
      </p:sp>
      <p:sp>
        <p:nvSpPr>
          <p:cNvPr id="2" name="TextBox 1"/>
          <p:cNvSpPr txBox="1">
            <a:spLocks noChangeArrowheads="1"/>
          </p:cNvSpPr>
          <p:nvPr/>
        </p:nvSpPr>
        <p:spPr bwMode="auto">
          <a:xfrm>
            <a:off x="900113" y="1490663"/>
            <a:ext cx="7848600" cy="258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just"/>
            <a:r>
              <a:rPr lang="uz-Cyrl-UZ">
                <a:latin typeface="Times New Roman" pitchFamily="18" charset="0"/>
                <a:cs typeface="Times New Roman" pitchFamily="18" charset="0"/>
              </a:rPr>
              <a:t>Янги хэш функция алгоритмини яратишда унинг </a:t>
            </a:r>
            <a:r>
              <a:rPr lang="uz-Cyrl-UZ" b="1">
                <a:solidFill>
                  <a:srgbClr val="FF0000"/>
                </a:solidFill>
                <a:latin typeface="Times New Roman" pitchFamily="18" charset="0"/>
                <a:cs typeface="Times New Roman" pitchFamily="18" charset="0"/>
              </a:rPr>
              <a:t>қурилиш (принципи) конструкцияси</a:t>
            </a:r>
            <a:r>
              <a:rPr lang="uz-Cyrl-UZ">
                <a:latin typeface="Times New Roman" pitchFamily="18" charset="0"/>
                <a:cs typeface="Times New Roman" pitchFamily="18" charset="0"/>
              </a:rPr>
              <a:t>, </a:t>
            </a:r>
            <a:r>
              <a:rPr lang="uz-Cyrl-UZ" b="1">
                <a:solidFill>
                  <a:srgbClr val="FF0000"/>
                </a:solidFill>
                <a:latin typeface="Times New Roman" pitchFamily="18" charset="0"/>
                <a:cs typeface="Times New Roman" pitchFamily="18" charset="0"/>
              </a:rPr>
              <a:t>сиқиш функцияси</a:t>
            </a:r>
            <a:r>
              <a:rPr lang="uz-Cyrl-UZ" b="1">
                <a:latin typeface="Times New Roman" pitchFamily="18" charset="0"/>
                <a:cs typeface="Times New Roman" pitchFamily="18" charset="0"/>
              </a:rPr>
              <a:t> </a:t>
            </a:r>
            <a:r>
              <a:rPr lang="uz-Cyrl-UZ">
                <a:latin typeface="Times New Roman" pitchFamily="18" charset="0"/>
                <a:cs typeface="Times New Roman" pitchFamily="18" charset="0"/>
              </a:rPr>
              <a:t>ва унда қўлланиладиган </a:t>
            </a:r>
            <a:r>
              <a:rPr lang="uz-Cyrl-UZ" b="1">
                <a:solidFill>
                  <a:srgbClr val="FF0000"/>
                </a:solidFill>
                <a:latin typeface="Times New Roman" pitchFamily="18" charset="0"/>
                <a:cs typeface="Times New Roman" pitchFamily="18" charset="0"/>
              </a:rPr>
              <a:t>акслантиришлар</a:t>
            </a:r>
            <a:r>
              <a:rPr lang="uz-Cyrl-UZ">
                <a:latin typeface="Times New Roman" pitchFamily="18" charset="0"/>
                <a:cs typeface="Times New Roman" pitchFamily="18" charset="0"/>
              </a:rPr>
              <a:t> ҳамда </a:t>
            </a:r>
            <a:r>
              <a:rPr lang="uz-Cyrl-UZ" b="1">
                <a:solidFill>
                  <a:srgbClr val="FF0000"/>
                </a:solidFill>
                <a:latin typeface="Times New Roman" pitchFamily="18" charset="0"/>
                <a:cs typeface="Times New Roman" pitchFamily="18" charset="0"/>
              </a:rPr>
              <a:t>раундлар сони</a:t>
            </a:r>
            <a:r>
              <a:rPr lang="uz-Cyrl-UZ">
                <a:latin typeface="Times New Roman" pitchFamily="18" charset="0"/>
                <a:cs typeface="Times New Roman" pitchFamily="18" charset="0"/>
              </a:rPr>
              <a:t>ни тўғри танлаш, хэш функция алгоритмининг </a:t>
            </a:r>
            <a:r>
              <a:rPr lang="uz-Cyrl-UZ" b="1">
                <a:solidFill>
                  <a:schemeClr val="tx2"/>
                </a:solidFill>
                <a:latin typeface="Times New Roman" pitchFamily="18" charset="0"/>
                <a:cs typeface="Times New Roman" pitchFamily="18" charset="0"/>
              </a:rPr>
              <a:t>бардошлилиги</a:t>
            </a:r>
            <a:r>
              <a:rPr lang="uz-Cyrl-UZ">
                <a:latin typeface="Times New Roman" pitchFamily="18" charset="0"/>
                <a:cs typeface="Times New Roman" pitchFamily="18" charset="0"/>
              </a:rPr>
              <a:t>, </a:t>
            </a:r>
            <a:r>
              <a:rPr lang="uz-Cyrl-UZ" b="1">
                <a:solidFill>
                  <a:schemeClr val="tx2"/>
                </a:solidFill>
                <a:latin typeface="Times New Roman" pitchFamily="18" charset="0"/>
                <a:cs typeface="Times New Roman" pitchFamily="18" charset="0"/>
              </a:rPr>
              <a:t>аппарат реализацияси </a:t>
            </a:r>
            <a:r>
              <a:rPr lang="uz-Cyrl-UZ">
                <a:latin typeface="Times New Roman" pitchFamily="18" charset="0"/>
                <a:cs typeface="Times New Roman" pitchFamily="18" charset="0"/>
              </a:rPr>
              <a:t>ва </a:t>
            </a:r>
            <a:r>
              <a:rPr lang="uz-Cyrl-UZ" b="1">
                <a:solidFill>
                  <a:schemeClr val="tx2"/>
                </a:solidFill>
                <a:latin typeface="Times New Roman" pitchFamily="18" charset="0"/>
                <a:cs typeface="Times New Roman" pitchFamily="18" charset="0"/>
              </a:rPr>
              <a:t>тезлиги</a:t>
            </a:r>
            <a:r>
              <a:rPr lang="uz-Cyrl-UZ">
                <a:latin typeface="Times New Roman" pitchFamily="18" charset="0"/>
                <a:cs typeface="Times New Roman" pitchFamily="18" charset="0"/>
              </a:rPr>
              <a:t>ни таъминлашда таъсир кўрсатувчи асосий омил ҳисобланади. Бундан ташқари албатта маълумотни тўлдириш қоидаси  бўлиши лозим. Агар ушбу параметрлар тўғри танланса юқорида келтирилган талабларга жавоб берадиган хэш функция алгоритмини қуриш мумкин.</a:t>
            </a:r>
            <a:endParaRPr lang="ru-RU" b="1">
              <a:latin typeface="Times New Roman" pitchFamily="18" charset="0"/>
              <a:cs typeface="Times New Roman" pitchFamily="18" charset="0"/>
            </a:endParaRPr>
          </a:p>
          <a:p>
            <a:endParaRPr lang="ru-RU"/>
          </a:p>
        </p:txBody>
      </p:sp>
      <p:sp>
        <p:nvSpPr>
          <p:cNvPr id="6" name="TextBox 5"/>
          <p:cNvSpPr txBox="1">
            <a:spLocks noChangeArrowheads="1"/>
          </p:cNvSpPr>
          <p:nvPr/>
        </p:nvSpPr>
        <p:spPr bwMode="auto">
          <a:xfrm>
            <a:off x="555625" y="1490663"/>
            <a:ext cx="80295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ctr"/>
            <a:r>
              <a:rPr lang="uz-Cyrl-UZ" b="1">
                <a:solidFill>
                  <a:srgbClr val="C00000"/>
                </a:solidFill>
                <a:latin typeface="Times New Roman" pitchFamily="18" charset="0"/>
                <a:cs typeface="Times New Roman" pitchFamily="18" charset="0"/>
              </a:rPr>
              <a:t>Бугунги кунда энг кўп тарқалган хэш функция қуриш схемалари қуйидагилар:</a:t>
            </a:r>
            <a:endParaRPr lang="ru-RU" b="1">
              <a:solidFill>
                <a:srgbClr val="C00000"/>
              </a:solidFill>
              <a:latin typeface="Times New Roman" pitchFamily="18" charset="0"/>
              <a:cs typeface="Times New Roman" pitchFamily="18" charset="0"/>
            </a:endParaRPr>
          </a:p>
        </p:txBody>
      </p:sp>
      <p:sp>
        <p:nvSpPr>
          <p:cNvPr id="7" name="TextBox 6"/>
          <p:cNvSpPr txBox="1"/>
          <p:nvPr/>
        </p:nvSpPr>
        <p:spPr>
          <a:xfrm>
            <a:off x="1331913" y="2276475"/>
            <a:ext cx="5688012" cy="3970338"/>
          </a:xfrm>
          <a:prstGeom prst="rect">
            <a:avLst/>
          </a:prstGeom>
          <a:noFill/>
        </p:spPr>
        <p:txBody>
          <a:bodyPr>
            <a:spAutoFit/>
          </a:bodyPr>
          <a:lstStyle/>
          <a:p>
            <a:pPr marL="285750" indent="-285750" fontAlgn="auto">
              <a:spcBef>
                <a:spcPts val="0"/>
              </a:spcBef>
              <a:spcAft>
                <a:spcPts val="0"/>
              </a:spcAft>
              <a:buFont typeface="Arial" pitchFamily="34" charset="0"/>
              <a:buChar char="•"/>
              <a:defRPr/>
            </a:pPr>
            <a:r>
              <a:rPr lang="uz-Cyrl-UZ" b="1" dirty="0">
                <a:latin typeface="Times New Roman" pitchFamily="18" charset="0"/>
                <a:cs typeface="Times New Roman" pitchFamily="18" charset="0"/>
                <a:hlinkClick r:id="rId2" action="ppaction://hlinkpres?slideindex=12&amp;slidetitle=Презентация PowerPoint"/>
              </a:rPr>
              <a:t>Меркл Дамгард схемаси;</a:t>
            </a:r>
            <a:endParaRPr lang="uz-Cyrl-UZ" b="1" dirty="0">
              <a:latin typeface="Times New Roman" pitchFamily="18" charset="0"/>
              <a:cs typeface="Times New Roman" pitchFamily="18" charset="0"/>
            </a:endParaRPr>
          </a:p>
          <a:p>
            <a:pPr fontAlgn="auto">
              <a:spcBef>
                <a:spcPts val="0"/>
              </a:spcBef>
              <a:spcAft>
                <a:spcPts val="0"/>
              </a:spcAft>
              <a:defRPr/>
            </a:pPr>
            <a:endParaRPr lang="ru-RU" b="1" dirty="0">
              <a:latin typeface="Times New Roman" pitchFamily="18" charset="0"/>
              <a:cs typeface="Times New Roman" pitchFamily="18" charset="0"/>
            </a:endParaRPr>
          </a:p>
          <a:p>
            <a:pPr marL="285750" indent="-285750" fontAlgn="auto">
              <a:spcBef>
                <a:spcPts val="0"/>
              </a:spcBef>
              <a:spcAft>
                <a:spcPts val="0"/>
              </a:spcAft>
              <a:buFont typeface="Arial" pitchFamily="34" charset="0"/>
              <a:buChar char="•"/>
              <a:defRPr/>
            </a:pPr>
            <a:r>
              <a:rPr lang="uz-Cyrl-UZ" b="1" dirty="0">
                <a:latin typeface="Times New Roman" pitchFamily="18" charset="0"/>
                <a:cs typeface="Times New Roman" pitchFamily="18" charset="0"/>
                <a:hlinkClick r:id="rId3" action="ppaction://hlinkpres?slideindex=13&amp;slidetitle=Презентация PowerPoint"/>
              </a:rPr>
              <a:t>Рабин схемаси;</a:t>
            </a:r>
            <a:endParaRPr lang="uz-Cyrl-UZ" b="1" dirty="0">
              <a:latin typeface="Times New Roman" pitchFamily="18" charset="0"/>
              <a:cs typeface="Times New Roman" pitchFamily="18" charset="0"/>
            </a:endParaRPr>
          </a:p>
          <a:p>
            <a:pPr fontAlgn="auto">
              <a:spcBef>
                <a:spcPts val="0"/>
              </a:spcBef>
              <a:spcAft>
                <a:spcPts val="0"/>
              </a:spcAft>
              <a:defRPr/>
            </a:pPr>
            <a:endParaRPr lang="ru-RU" b="1" dirty="0">
              <a:latin typeface="Times New Roman" pitchFamily="18" charset="0"/>
              <a:cs typeface="Times New Roman" pitchFamily="18" charset="0"/>
            </a:endParaRPr>
          </a:p>
          <a:p>
            <a:pPr marL="285750" indent="-285750" fontAlgn="auto">
              <a:spcBef>
                <a:spcPts val="0"/>
              </a:spcBef>
              <a:spcAft>
                <a:spcPts val="0"/>
              </a:spcAft>
              <a:buFont typeface="Arial" pitchFamily="34" charset="0"/>
              <a:buChar char="•"/>
              <a:defRPr/>
            </a:pPr>
            <a:r>
              <a:rPr lang="uz-Cyrl-UZ" b="1" dirty="0">
                <a:latin typeface="Times New Roman" pitchFamily="18" charset="0"/>
                <a:cs typeface="Times New Roman" pitchFamily="18" charset="0"/>
                <a:hlinkClick r:id="rId4" action="ppaction://hlinkpres?slideindex=14&amp;slidetitle=Презентация PowerPoint"/>
              </a:rPr>
              <a:t>Давийес Майер схемаси;</a:t>
            </a:r>
            <a:endParaRPr lang="uz-Cyrl-UZ" b="1" dirty="0">
              <a:latin typeface="Times New Roman" pitchFamily="18" charset="0"/>
              <a:cs typeface="Times New Roman" pitchFamily="18" charset="0"/>
            </a:endParaRPr>
          </a:p>
          <a:p>
            <a:pPr fontAlgn="auto">
              <a:spcBef>
                <a:spcPts val="0"/>
              </a:spcBef>
              <a:spcAft>
                <a:spcPts val="0"/>
              </a:spcAft>
              <a:defRPr/>
            </a:pPr>
            <a:endParaRPr lang="ru-RU" b="1" dirty="0">
              <a:latin typeface="Times New Roman" pitchFamily="18" charset="0"/>
              <a:cs typeface="Times New Roman" pitchFamily="18" charset="0"/>
            </a:endParaRPr>
          </a:p>
          <a:p>
            <a:pPr marL="285750" indent="-285750" fontAlgn="auto">
              <a:spcBef>
                <a:spcPts val="0"/>
              </a:spcBef>
              <a:spcAft>
                <a:spcPts val="0"/>
              </a:spcAft>
              <a:buFont typeface="Arial" pitchFamily="34" charset="0"/>
              <a:buChar char="•"/>
              <a:defRPr/>
            </a:pPr>
            <a:r>
              <a:rPr lang="uz-Cyrl-UZ" b="1" dirty="0">
                <a:latin typeface="Times New Roman" pitchFamily="18" charset="0"/>
                <a:cs typeface="Times New Roman" pitchFamily="18" charset="0"/>
                <a:hlinkClick r:id="rId5" action="ppaction://hlinkpres?slideindex=15&amp;slidetitle=Презентация PowerPoint"/>
              </a:rPr>
              <a:t>Матяс Майер Осеас схемаси;</a:t>
            </a:r>
            <a:endParaRPr lang="uz-Cyrl-UZ" b="1" dirty="0">
              <a:latin typeface="Times New Roman" pitchFamily="18" charset="0"/>
              <a:cs typeface="Times New Roman" pitchFamily="18" charset="0"/>
            </a:endParaRPr>
          </a:p>
          <a:p>
            <a:pPr fontAlgn="auto">
              <a:spcBef>
                <a:spcPts val="0"/>
              </a:spcBef>
              <a:spcAft>
                <a:spcPts val="0"/>
              </a:spcAft>
              <a:defRPr/>
            </a:pPr>
            <a:endParaRPr lang="ru-RU" b="1" dirty="0">
              <a:latin typeface="Times New Roman" pitchFamily="18" charset="0"/>
              <a:cs typeface="Times New Roman" pitchFamily="18" charset="0"/>
            </a:endParaRPr>
          </a:p>
          <a:p>
            <a:pPr marL="285750" indent="-285750" fontAlgn="auto">
              <a:spcBef>
                <a:spcPts val="0"/>
              </a:spcBef>
              <a:spcAft>
                <a:spcPts val="0"/>
              </a:spcAft>
              <a:buFont typeface="Arial" pitchFamily="34" charset="0"/>
              <a:buChar char="•"/>
              <a:defRPr/>
            </a:pPr>
            <a:r>
              <a:rPr lang="uz-Cyrl-UZ" b="1" dirty="0">
                <a:latin typeface="Times New Roman" pitchFamily="18" charset="0"/>
                <a:cs typeface="Times New Roman" pitchFamily="18" charset="0"/>
                <a:hlinkClick r:id="rId6" action="ppaction://hlinkpres?slideindex=16&amp;slidetitle=Презентация PowerPoint"/>
              </a:rPr>
              <a:t>Миагучи Принел схемаси;</a:t>
            </a:r>
            <a:endParaRPr lang="uz-Cyrl-UZ" b="1" dirty="0">
              <a:latin typeface="Times New Roman" pitchFamily="18" charset="0"/>
              <a:cs typeface="Times New Roman" pitchFamily="18" charset="0"/>
            </a:endParaRPr>
          </a:p>
          <a:p>
            <a:pPr fontAlgn="auto">
              <a:spcBef>
                <a:spcPts val="0"/>
              </a:spcBef>
              <a:spcAft>
                <a:spcPts val="0"/>
              </a:spcAft>
              <a:defRPr/>
            </a:pPr>
            <a:endParaRPr lang="ru-RU" b="1" dirty="0">
              <a:latin typeface="Times New Roman" pitchFamily="18" charset="0"/>
              <a:cs typeface="Times New Roman" pitchFamily="18" charset="0"/>
            </a:endParaRPr>
          </a:p>
          <a:p>
            <a:pPr marL="285750" indent="-285750" fontAlgn="auto">
              <a:spcBef>
                <a:spcPts val="0"/>
              </a:spcBef>
              <a:spcAft>
                <a:spcPts val="0"/>
              </a:spcAft>
              <a:buFont typeface="Arial" pitchFamily="34" charset="0"/>
              <a:buChar char="•"/>
              <a:defRPr/>
            </a:pPr>
            <a:r>
              <a:rPr lang="uz-Cyrl-UZ" b="1" dirty="0">
                <a:latin typeface="Times New Roman" pitchFamily="18" charset="0"/>
                <a:cs typeface="Times New Roman" pitchFamily="18" charset="0"/>
                <a:hlinkClick r:id="rId7" action="ppaction://hlinkpres?slideindex=17&amp;slidetitle=Презентация PowerPoint"/>
              </a:rPr>
              <a:t>Кенг каналли Меркл Дамгард схемаси;</a:t>
            </a:r>
            <a:endParaRPr lang="uz-Cyrl-UZ" b="1" dirty="0">
              <a:latin typeface="Times New Roman" pitchFamily="18" charset="0"/>
              <a:cs typeface="Times New Roman" pitchFamily="18" charset="0"/>
            </a:endParaRPr>
          </a:p>
          <a:p>
            <a:pPr fontAlgn="auto">
              <a:spcBef>
                <a:spcPts val="0"/>
              </a:spcBef>
              <a:spcAft>
                <a:spcPts val="0"/>
              </a:spcAft>
              <a:defRPr/>
            </a:pPr>
            <a:endParaRPr lang="ru-RU" b="1" dirty="0">
              <a:latin typeface="Times New Roman" pitchFamily="18" charset="0"/>
              <a:cs typeface="Times New Roman" pitchFamily="18" charset="0"/>
            </a:endParaRPr>
          </a:p>
          <a:p>
            <a:pPr marL="285750" indent="-285750" fontAlgn="auto">
              <a:spcBef>
                <a:spcPts val="0"/>
              </a:spcBef>
              <a:spcAft>
                <a:spcPts val="0"/>
              </a:spcAft>
              <a:buFont typeface="Arial" pitchFamily="34" charset="0"/>
              <a:buChar char="•"/>
              <a:defRPr/>
            </a:pPr>
            <a:r>
              <a:rPr lang="ru-RU" b="1" dirty="0">
                <a:latin typeface="Times New Roman" pitchFamily="18" charset="0"/>
                <a:cs typeface="Times New Roman" pitchFamily="18" charset="0"/>
                <a:hlinkClick r:id="rId8" action="ppaction://hlinkpres?slideindex=18&amp;slidetitle=Презентация PowerPoint"/>
              </a:rPr>
              <a:t>Губка </a:t>
            </a:r>
            <a:r>
              <a:rPr lang="en-US" b="1" dirty="0">
                <a:latin typeface="Times New Roman" pitchFamily="18" charset="0"/>
                <a:cs typeface="Times New Roman" pitchFamily="18" charset="0"/>
                <a:hlinkClick r:id="rId8" action="ppaction://hlinkpres?slideindex=18&amp;slidetitle=Презентация PowerPoint"/>
              </a:rPr>
              <a:t>(</a:t>
            </a:r>
            <a:r>
              <a:rPr lang="ru-RU" b="1" dirty="0">
                <a:latin typeface="Times New Roman" pitchFamily="18" charset="0"/>
                <a:cs typeface="Times New Roman" pitchFamily="18" charset="0"/>
                <a:hlinkClick r:id="rId8" action="ppaction://hlinkpres?slideindex=18&amp;slidetitle=Презентация PowerPoint"/>
              </a:rPr>
              <a:t>“</a:t>
            </a:r>
            <a:r>
              <a:rPr lang="en-US" b="1" dirty="0">
                <a:latin typeface="Times New Roman" pitchFamily="18" charset="0"/>
                <a:cs typeface="Times New Roman" pitchFamily="18" charset="0"/>
                <a:hlinkClick r:id="rId8" action="ppaction://hlinkpres?slideindex=18&amp;slidetitle=Презентация PowerPoint"/>
              </a:rPr>
              <a:t>Sponge</a:t>
            </a:r>
            <a:r>
              <a:rPr lang="ru-RU" b="1" dirty="0">
                <a:latin typeface="Times New Roman" pitchFamily="18" charset="0"/>
                <a:cs typeface="Times New Roman" pitchFamily="18" charset="0"/>
                <a:hlinkClick r:id="rId8" action="ppaction://hlinkpres?slideindex=18&amp;slidetitle=Презентация PowerPoint"/>
              </a:rPr>
              <a:t>”</a:t>
            </a:r>
            <a:r>
              <a:rPr lang="en-US" b="1" dirty="0">
                <a:latin typeface="Times New Roman" pitchFamily="18" charset="0"/>
                <a:cs typeface="Times New Roman" pitchFamily="18" charset="0"/>
                <a:hlinkClick r:id="rId8" action="ppaction://hlinkpres?slideindex=18&amp;slidetitle=Презентация PowerPoint"/>
              </a:rPr>
              <a:t>) </a:t>
            </a:r>
            <a:r>
              <a:rPr lang="ru-RU" b="1" dirty="0" err="1">
                <a:latin typeface="Times New Roman" pitchFamily="18" charset="0"/>
                <a:cs typeface="Times New Roman" pitchFamily="18" charset="0"/>
                <a:hlinkClick r:id="rId8" action="ppaction://hlinkpres?slideindex=18&amp;slidetitle=Презентация PowerPoint"/>
              </a:rPr>
              <a:t>принципи</a:t>
            </a:r>
            <a:r>
              <a:rPr lang="ru-RU" b="1" dirty="0">
                <a:latin typeface="Times New Roman" pitchFamily="18" charset="0"/>
                <a:cs typeface="Times New Roman" pitchFamily="18" charset="0"/>
                <a:hlinkClick r:id="rId8" action="ppaction://hlinkpres?slideindex=18&amp;slidetitle=Презентация PowerPoint"/>
              </a:rPr>
              <a:t>.</a:t>
            </a:r>
            <a:endParaRPr lang="ru-RU" b="1" dirty="0">
              <a:latin typeface="Times New Roman" pitchFamily="18" charset="0"/>
              <a:cs typeface="Times New Roman" pitchFamily="18" charset="0"/>
            </a:endParaRPr>
          </a:p>
          <a:p>
            <a:pPr fontAlgn="auto">
              <a:spcBef>
                <a:spcPts val="0"/>
              </a:spcBef>
              <a:spcAft>
                <a:spcPts val="0"/>
              </a:spcAft>
              <a:defRPr/>
            </a:pPr>
            <a:endParaRPr lang="ru-RU" dirty="0">
              <a:latin typeface="+mn-lt"/>
              <a:cs typeface="+mn-cs"/>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xit" presetSubtype="32" fill="hold" grpId="0" nodeType="clickEffect">
                                  <p:stCondLst>
                                    <p:cond delay="0"/>
                                  </p:stCondLst>
                                  <p:childTnLst>
                                    <p:anim calcmode="lin" valueType="num">
                                      <p:cBhvr>
                                        <p:cTn id="6" dur="500"/>
                                        <p:tgtEl>
                                          <p:spTgt spid="2"/>
                                        </p:tgtEl>
                                        <p:attrNameLst>
                                          <p:attrName>ppt_w</p:attrName>
                                        </p:attrNameLst>
                                      </p:cBhvr>
                                      <p:tavLst>
                                        <p:tav tm="0">
                                          <p:val>
                                            <p:strVal val="ppt_w"/>
                                          </p:val>
                                        </p:tav>
                                        <p:tav tm="100000">
                                          <p:val>
                                            <p:fltVal val="0"/>
                                          </p:val>
                                        </p:tav>
                                      </p:tavLst>
                                    </p:anim>
                                    <p:anim calcmode="lin" valueType="num">
                                      <p:cBhvr>
                                        <p:cTn id="7" dur="500"/>
                                        <p:tgtEl>
                                          <p:spTgt spid="2"/>
                                        </p:tgtEl>
                                        <p:attrNameLst>
                                          <p:attrName>ppt_h</p:attrName>
                                        </p:attrNameLst>
                                      </p:cBhvr>
                                      <p:tavLst>
                                        <p:tav tm="0">
                                          <p:val>
                                            <p:strVal val="ppt_h"/>
                                          </p:val>
                                        </p:tav>
                                        <p:tav tm="100000">
                                          <p:val>
                                            <p:fltVal val="0"/>
                                          </p:val>
                                        </p:tav>
                                      </p:tavLst>
                                    </p:anim>
                                    <p:animEffect transition="out" filter="fade">
                                      <p:cBhvr>
                                        <p:cTn id="8" dur="500"/>
                                        <p:tgtEl>
                                          <p:spTgt spid="2"/>
                                        </p:tgtEl>
                                      </p:cBhvr>
                                    </p:animEffect>
                                    <p:set>
                                      <p:cBhvr>
                                        <p:cTn id="9" dur="1" fill="hold">
                                          <p:stCondLst>
                                            <p:cond delay="499"/>
                                          </p:stCondLst>
                                        </p:cTn>
                                        <p:tgtEl>
                                          <p:spTgt spid="2"/>
                                        </p:tgtEl>
                                        <p:attrNameLst>
                                          <p:attrName>style.visibility</p:attrName>
                                        </p:attrNameLst>
                                      </p:cBhvr>
                                      <p:to>
                                        <p:strVal val="hidden"/>
                                      </p:to>
                                    </p:set>
                                  </p:childTnLst>
                                </p:cTn>
                              </p:par>
                            </p:childTnLst>
                          </p:cTn>
                        </p:par>
                        <p:par>
                          <p:cTn id="10" fill="hold" nodeType="afterGroup">
                            <p:stCondLst>
                              <p:cond delay="500"/>
                            </p:stCondLst>
                            <p:childTnLst>
                              <p:par>
                                <p:cTn id="11" presetID="1"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par>
                          <p:cTn id="13" fill="hold" nodeType="afterGroup">
                            <p:stCondLst>
                              <p:cond delay="500"/>
                            </p:stCondLst>
                            <p:childTnLst>
                              <p:par>
                                <p:cTn id="14" presetID="1" presetClass="entr" presetSubtype="0"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428596" y="228600"/>
            <a:ext cx="8501122" cy="914400"/>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t="100000" r="100000"/>
            </a:path>
            <a:tileRect l="-100000" b="-100000"/>
          </a:gradFill>
          <a:ln>
            <a:solidFill>
              <a:schemeClr val="tx1"/>
            </a:solidFill>
          </a:ln>
          <a:effectLst>
            <a:glow rad="101600">
              <a:schemeClr val="accent4">
                <a:satMod val="175000"/>
                <a:alpha val="40000"/>
              </a:schemeClr>
            </a:glow>
            <a:softEdge rad="12700"/>
          </a:effectLst>
        </p:spPr>
        <p:style>
          <a:lnRef idx="2">
            <a:schemeClr val="dk1"/>
          </a:lnRef>
          <a:fillRef idx="1">
            <a:schemeClr val="lt1"/>
          </a:fillRef>
          <a:effectRef idx="0">
            <a:schemeClr val="dk1"/>
          </a:effectRef>
          <a:fontRef idx="minor">
            <a:schemeClr val="dk1"/>
          </a:fontRef>
        </p:style>
        <p:txBody>
          <a:bodyPr anchor="ctr"/>
          <a:lstStyle/>
          <a:p>
            <a:pPr algn="ctr" fontAlgn="auto">
              <a:spcBef>
                <a:spcPts val="0"/>
              </a:spcBef>
              <a:spcAft>
                <a:spcPts val="0"/>
              </a:spcAft>
              <a:defRPr/>
            </a:pPr>
            <a:r>
              <a:rPr lang="ru-RU" sz="2000" b="1" dirty="0" err="1">
                <a:latin typeface="Times New Roman" pitchFamily="18" charset="0"/>
                <a:cs typeface="Times New Roman" pitchFamily="18" charset="0"/>
              </a:rPr>
              <a:t>Хэш</a:t>
            </a:r>
            <a:r>
              <a:rPr lang="ru-RU" sz="2000" b="1" dirty="0">
                <a:latin typeface="Times New Roman" pitchFamily="18" charset="0"/>
                <a:cs typeface="Times New Roman" pitchFamily="18" charset="0"/>
              </a:rPr>
              <a:t> функция </a:t>
            </a:r>
            <a:r>
              <a:rPr lang="ru-RU" sz="2000" b="1" dirty="0" err="1">
                <a:latin typeface="Times New Roman" pitchFamily="18" charset="0"/>
                <a:cs typeface="Times New Roman" pitchFamily="18" charset="0"/>
              </a:rPr>
              <a:t>қуриш</a:t>
            </a:r>
            <a:r>
              <a:rPr lang="ru-RU" sz="2000" b="1" dirty="0">
                <a:latin typeface="Times New Roman" pitchFamily="18" charset="0"/>
                <a:cs typeface="Times New Roman" pitchFamily="18" charset="0"/>
              </a:rPr>
              <a:t> (конструктив </a:t>
            </a:r>
            <a:r>
              <a:rPr lang="ru-RU" sz="2000" b="1" dirty="0" err="1">
                <a:latin typeface="Times New Roman" pitchFamily="18" charset="0"/>
                <a:cs typeface="Times New Roman" pitchFamily="18" charset="0"/>
              </a:rPr>
              <a:t>схемасини</a:t>
            </a:r>
            <a:r>
              <a:rPr lang="ru-RU" sz="2000" b="1" dirty="0">
                <a:latin typeface="Times New Roman" pitchFamily="18" charset="0"/>
                <a:cs typeface="Times New Roman" pitchFamily="18" charset="0"/>
              </a:rPr>
              <a:t>) </a:t>
            </a:r>
            <a:r>
              <a:rPr lang="ru-RU" sz="2000" b="1" dirty="0" err="1">
                <a:latin typeface="Times New Roman" pitchFamily="18" charset="0"/>
                <a:cs typeface="Times New Roman" pitchFamily="18" charset="0"/>
              </a:rPr>
              <a:t>принципини</a:t>
            </a:r>
            <a:r>
              <a:rPr lang="ru-RU" sz="2000" b="1" dirty="0">
                <a:latin typeface="Times New Roman" pitchFamily="18" charset="0"/>
                <a:cs typeface="Times New Roman" pitchFamily="18" charset="0"/>
              </a:rPr>
              <a:t> </a:t>
            </a:r>
            <a:r>
              <a:rPr lang="ru-RU" sz="2000" b="1" dirty="0" err="1">
                <a:latin typeface="Times New Roman" pitchFamily="18" charset="0"/>
                <a:cs typeface="Times New Roman" pitchFamily="18" charset="0"/>
              </a:rPr>
              <a:t>танлаш</a:t>
            </a:r>
            <a:endParaRPr lang="ru-RU" sz="2000" b="1" dirty="0">
              <a:latin typeface="Times New Roman" pitchFamily="18" charset="0"/>
              <a:cs typeface="Times New Roman" pitchFamily="18" charset="0"/>
            </a:endParaRPr>
          </a:p>
        </p:txBody>
      </p:sp>
      <p:sp>
        <p:nvSpPr>
          <p:cNvPr id="5" name="Прямоугольник 4"/>
          <p:cNvSpPr/>
          <p:nvPr/>
        </p:nvSpPr>
        <p:spPr>
          <a:xfrm>
            <a:off x="381000" y="1295400"/>
            <a:ext cx="8534400" cy="5410200"/>
          </a:xfrm>
          <a:prstGeom prst="rect">
            <a:avLst/>
          </a:prstGeom>
          <a:solidFill>
            <a:schemeClr val="bg2"/>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fontAlgn="auto">
              <a:spcBef>
                <a:spcPts val="0"/>
              </a:spcBef>
              <a:spcAft>
                <a:spcPts val="0"/>
              </a:spcAft>
              <a:defRPr/>
            </a:pPr>
            <a:endParaRPr lang="ru-RU" b="1" dirty="0">
              <a:solidFill>
                <a:schemeClr val="tx1"/>
              </a:solidFill>
              <a:latin typeface="Times New Roman" pitchFamily="18" charset="0"/>
              <a:cs typeface="Times New Roman" pitchFamily="18" charset="0"/>
            </a:endParaRPr>
          </a:p>
        </p:txBody>
      </p:sp>
      <p:sp>
        <p:nvSpPr>
          <p:cNvPr id="6" name="Скругленный прямоугольник 5"/>
          <p:cNvSpPr/>
          <p:nvPr/>
        </p:nvSpPr>
        <p:spPr>
          <a:xfrm>
            <a:off x="1042988" y="1484313"/>
            <a:ext cx="7200900" cy="504825"/>
          </a:xfrm>
          <a:prstGeom prst="roundRect">
            <a:avLst/>
          </a:prstGeom>
        </p:spPr>
        <p:style>
          <a:lnRef idx="2">
            <a:schemeClr val="accent6"/>
          </a:lnRef>
          <a:fillRef idx="1">
            <a:schemeClr val="lt1"/>
          </a:fillRef>
          <a:effectRef idx="0">
            <a:schemeClr val="accent6"/>
          </a:effectRef>
          <a:fontRef idx="minor">
            <a:schemeClr val="dk1"/>
          </a:fontRef>
        </p:style>
        <p:txBody>
          <a:bodyPr anchor="ctr"/>
          <a:lstStyle/>
          <a:p>
            <a:pPr algn="ctr" fontAlgn="auto">
              <a:spcBef>
                <a:spcPts val="0"/>
              </a:spcBef>
              <a:spcAft>
                <a:spcPts val="0"/>
              </a:spcAft>
              <a:defRPr/>
            </a:pPr>
            <a:r>
              <a:rPr lang="uz-Cyrl-UZ" b="1" dirty="0">
                <a:latin typeface="Times New Roman" pitchFamily="18" charset="0"/>
                <a:cs typeface="Times New Roman" pitchFamily="18" charset="0"/>
              </a:rPr>
              <a:t>Меркл Дамгард схемаси</a:t>
            </a:r>
          </a:p>
        </p:txBody>
      </p:sp>
      <p:sp>
        <p:nvSpPr>
          <p:cNvPr id="2" name="TextBox 1"/>
          <p:cNvSpPr txBox="1">
            <a:spLocks noChangeArrowheads="1"/>
          </p:cNvSpPr>
          <p:nvPr/>
        </p:nvSpPr>
        <p:spPr bwMode="auto">
          <a:xfrm>
            <a:off x="646113" y="2200275"/>
            <a:ext cx="806608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just"/>
            <a:r>
              <a:rPr lang="uz-Cyrl-UZ">
                <a:latin typeface="Times New Roman" pitchFamily="18" charset="0"/>
                <a:cs typeface="Times New Roman" pitchFamily="18" charset="0"/>
              </a:rPr>
              <a:t>     Хэш функция алгоритмлари қуришнинг Меркл-Дамгард схемаси ихтиёрий узунликдаги </a:t>
            </a:r>
            <a:r>
              <a:rPr lang="uz-Cyrl-UZ" i="1">
                <a:latin typeface="Times New Roman" pitchFamily="18" charset="0"/>
                <a:cs typeface="Times New Roman" pitchFamily="18" charset="0"/>
              </a:rPr>
              <a:t>М</a:t>
            </a:r>
            <a:r>
              <a:rPr lang="uz-Cyrl-UZ">
                <a:latin typeface="Times New Roman" pitchFamily="18" charset="0"/>
                <a:cs typeface="Times New Roman" pitchFamily="18" charset="0"/>
              </a:rPr>
              <a:t> маълумотни фиксирланган N узунликдаги маълумотга (N&lt;</a:t>
            </a:r>
            <a:r>
              <a:rPr lang="uz-Cyrl-UZ" i="1">
                <a:latin typeface="Times New Roman" pitchFamily="18" charset="0"/>
                <a:cs typeface="Times New Roman" pitchFamily="18" charset="0"/>
              </a:rPr>
              <a:t>M</a:t>
            </a:r>
            <a:r>
              <a:rPr lang="uz-Cyrl-UZ">
                <a:latin typeface="Times New Roman" pitchFamily="18" charset="0"/>
                <a:cs typeface="Times New Roman" pitchFamily="18" charset="0"/>
              </a:rPr>
              <a:t>) итератив сиқиш функцияси ёрдамида акслантиради. Сиқиш функцияси бир томонлама функция ёки блокли шифрлаш алгоритми бўлиши мумкин.</a:t>
            </a:r>
            <a:endParaRPr lang="ru-RU">
              <a:latin typeface="Times New Roman" pitchFamily="18" charset="0"/>
              <a:cs typeface="Times New Roman" pitchFamily="18" charset="0"/>
            </a:endParaRPr>
          </a:p>
        </p:txBody>
      </p:sp>
      <p:grpSp>
        <p:nvGrpSpPr>
          <p:cNvPr id="13320" name="Group 2"/>
          <p:cNvGrpSpPr>
            <a:grpSpLocks/>
          </p:cNvGrpSpPr>
          <p:nvPr/>
        </p:nvGrpSpPr>
        <p:grpSpPr bwMode="auto">
          <a:xfrm>
            <a:off x="1547813" y="3517900"/>
            <a:ext cx="6192837" cy="2538413"/>
            <a:chOff x="2198" y="4877"/>
            <a:chExt cx="8196" cy="3456"/>
          </a:xfrm>
        </p:grpSpPr>
        <p:grpSp>
          <p:nvGrpSpPr>
            <p:cNvPr id="13325" name="Group 3"/>
            <p:cNvGrpSpPr>
              <a:grpSpLocks/>
            </p:cNvGrpSpPr>
            <p:nvPr/>
          </p:nvGrpSpPr>
          <p:grpSpPr bwMode="auto">
            <a:xfrm>
              <a:off x="3749" y="5790"/>
              <a:ext cx="5760" cy="2543"/>
              <a:chOff x="4338" y="4797"/>
              <a:chExt cx="5760" cy="2543"/>
            </a:xfrm>
          </p:grpSpPr>
          <p:grpSp>
            <p:nvGrpSpPr>
              <p:cNvPr id="13340" name="Group 4"/>
              <p:cNvGrpSpPr>
                <a:grpSpLocks/>
              </p:cNvGrpSpPr>
              <p:nvPr/>
            </p:nvGrpSpPr>
            <p:grpSpPr bwMode="auto">
              <a:xfrm>
                <a:off x="4338" y="4797"/>
                <a:ext cx="3179" cy="2543"/>
                <a:chOff x="3142" y="4704"/>
                <a:chExt cx="3179" cy="2543"/>
              </a:xfrm>
            </p:grpSpPr>
            <p:sp>
              <p:nvSpPr>
                <p:cNvPr id="13342" name="Rectangle 5"/>
                <p:cNvSpPr>
                  <a:spLocks noChangeArrowheads="1"/>
                </p:cNvSpPr>
                <p:nvPr/>
              </p:nvSpPr>
              <p:spPr bwMode="auto">
                <a:xfrm>
                  <a:off x="3142" y="5536"/>
                  <a:ext cx="683" cy="533"/>
                </a:xfrm>
                <a:prstGeom prst="rect">
                  <a:avLst/>
                </a:prstGeom>
                <a:solidFill>
                  <a:srgbClr val="FFFFFF"/>
                </a:solidFill>
                <a:ln w="9525">
                  <a:solidFill>
                    <a:srgbClr val="000000"/>
                  </a:solidFill>
                  <a:miter lim="800000"/>
                  <a:headEnd/>
                  <a:tailEnd/>
                </a:ln>
              </p:spPr>
              <p:txBody>
                <a:bodyPr/>
                <a:lstStyle/>
                <a:p>
                  <a:r>
                    <a:rPr lang="en-US" sz="1200">
                      <a:latin typeface="Times New Roman" pitchFamily="18" charset="0"/>
                      <a:cs typeface="Times New Roman" pitchFamily="18" charset="0"/>
                    </a:rPr>
                    <a:t>H</a:t>
                  </a:r>
                  <a:r>
                    <a:rPr lang="en-US" sz="1200" baseline="-25000">
                      <a:latin typeface="Times New Roman" pitchFamily="18" charset="0"/>
                      <a:cs typeface="Times New Roman" pitchFamily="18" charset="0"/>
                    </a:rPr>
                    <a:t>i-1</a:t>
                  </a:r>
                  <a:endParaRPr lang="ru-RU" sz="1200">
                    <a:latin typeface="Times New Roman" pitchFamily="18" charset="0"/>
                    <a:cs typeface="Times New Roman" pitchFamily="18" charset="0"/>
                  </a:endParaRPr>
                </a:p>
              </p:txBody>
            </p:sp>
            <p:cxnSp>
              <p:nvCxnSpPr>
                <p:cNvPr id="13343" name="AutoShape 6"/>
                <p:cNvCxnSpPr>
                  <a:cxnSpLocks noChangeShapeType="1"/>
                </p:cNvCxnSpPr>
                <p:nvPr/>
              </p:nvCxnSpPr>
              <p:spPr bwMode="auto">
                <a:xfrm>
                  <a:off x="3825" y="5816"/>
                  <a:ext cx="654" cy="9"/>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3344" name="Rectangle 7"/>
                <p:cNvSpPr>
                  <a:spLocks noChangeArrowheads="1"/>
                </p:cNvSpPr>
                <p:nvPr/>
              </p:nvSpPr>
              <p:spPr bwMode="auto">
                <a:xfrm>
                  <a:off x="4479" y="5621"/>
                  <a:ext cx="1842" cy="448"/>
                </a:xfrm>
                <a:prstGeom prst="rect">
                  <a:avLst/>
                </a:prstGeom>
                <a:solidFill>
                  <a:srgbClr val="FFFFFF"/>
                </a:solidFill>
                <a:ln w="9525">
                  <a:solidFill>
                    <a:srgbClr val="000000"/>
                  </a:solidFill>
                  <a:miter lim="800000"/>
                  <a:headEnd/>
                  <a:tailEnd/>
                </a:ln>
              </p:spPr>
              <p:txBody>
                <a:bodyPr/>
                <a:lstStyle/>
                <a:p>
                  <a:r>
                    <a:rPr lang="uz-Cyrl-UZ" sz="1000">
                      <a:latin typeface="Times New Roman" pitchFamily="18" charset="0"/>
                      <a:cs typeface="Times New Roman" pitchFamily="18" charset="0"/>
                    </a:rPr>
                    <a:t>Сиқиш функция</a:t>
                  </a:r>
                  <a:endParaRPr lang="ru-RU" sz="1200">
                    <a:latin typeface="Times New Roman" pitchFamily="18" charset="0"/>
                    <a:cs typeface="Times New Roman" pitchFamily="18" charset="0"/>
                  </a:endParaRPr>
                </a:p>
              </p:txBody>
            </p:sp>
            <p:cxnSp>
              <p:nvCxnSpPr>
                <p:cNvPr id="13345" name="AutoShape 8"/>
                <p:cNvCxnSpPr>
                  <a:cxnSpLocks noChangeShapeType="1"/>
                </p:cNvCxnSpPr>
                <p:nvPr/>
              </p:nvCxnSpPr>
              <p:spPr bwMode="auto">
                <a:xfrm>
                  <a:off x="5330" y="5237"/>
                  <a:ext cx="0" cy="384"/>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3346" name="Rectangle 9"/>
                <p:cNvSpPr>
                  <a:spLocks noChangeArrowheads="1"/>
                </p:cNvSpPr>
                <p:nvPr/>
              </p:nvSpPr>
              <p:spPr bwMode="auto">
                <a:xfrm>
                  <a:off x="4965" y="4704"/>
                  <a:ext cx="683" cy="533"/>
                </a:xfrm>
                <a:prstGeom prst="rect">
                  <a:avLst/>
                </a:prstGeom>
                <a:solidFill>
                  <a:srgbClr val="FFFFFF"/>
                </a:solidFill>
                <a:ln w="9525">
                  <a:solidFill>
                    <a:srgbClr val="000000"/>
                  </a:solidFill>
                  <a:miter lim="800000"/>
                  <a:headEnd/>
                  <a:tailEnd/>
                </a:ln>
              </p:spPr>
              <p:txBody>
                <a:bodyPr/>
                <a:lstStyle/>
                <a:p>
                  <a:r>
                    <a:rPr lang="uz-Cyrl-UZ" sz="1200">
                      <a:latin typeface="Times New Roman" pitchFamily="18" charset="0"/>
                      <a:cs typeface="Times New Roman" pitchFamily="18" charset="0"/>
                    </a:rPr>
                    <a:t>М</a:t>
                  </a:r>
                  <a:r>
                    <a:rPr lang="en-US" sz="1200" baseline="-25000">
                      <a:latin typeface="Times New Roman" pitchFamily="18" charset="0"/>
                      <a:cs typeface="Times New Roman" pitchFamily="18" charset="0"/>
                    </a:rPr>
                    <a:t>i</a:t>
                  </a:r>
                  <a:endParaRPr lang="ru-RU" sz="1200">
                    <a:latin typeface="Times New Roman" pitchFamily="18" charset="0"/>
                    <a:cs typeface="Times New Roman" pitchFamily="18" charset="0"/>
                  </a:endParaRPr>
                </a:p>
              </p:txBody>
            </p:sp>
            <p:sp>
              <p:nvSpPr>
                <p:cNvPr id="13347" name="Rectangle 10"/>
                <p:cNvSpPr>
                  <a:spLocks noChangeArrowheads="1"/>
                </p:cNvSpPr>
                <p:nvPr/>
              </p:nvSpPr>
              <p:spPr bwMode="auto">
                <a:xfrm>
                  <a:off x="5049" y="6714"/>
                  <a:ext cx="683" cy="533"/>
                </a:xfrm>
                <a:prstGeom prst="rect">
                  <a:avLst/>
                </a:prstGeom>
                <a:solidFill>
                  <a:srgbClr val="FFFFFF"/>
                </a:solidFill>
                <a:ln w="9525">
                  <a:solidFill>
                    <a:srgbClr val="000000"/>
                  </a:solidFill>
                  <a:miter lim="800000"/>
                  <a:headEnd/>
                  <a:tailEnd/>
                </a:ln>
              </p:spPr>
              <p:txBody>
                <a:bodyPr/>
                <a:lstStyle/>
                <a:p>
                  <a:r>
                    <a:rPr lang="en-US" sz="1200">
                      <a:latin typeface="Times New Roman" pitchFamily="18" charset="0"/>
                      <a:cs typeface="Times New Roman" pitchFamily="18" charset="0"/>
                    </a:rPr>
                    <a:t>H</a:t>
                  </a:r>
                  <a:r>
                    <a:rPr lang="en-US" sz="1200" baseline="-25000">
                      <a:latin typeface="Times New Roman" pitchFamily="18" charset="0"/>
                      <a:cs typeface="Times New Roman" pitchFamily="18" charset="0"/>
                    </a:rPr>
                    <a:t>i</a:t>
                  </a:r>
                  <a:endParaRPr lang="ru-RU" sz="1200">
                    <a:latin typeface="Times New Roman" pitchFamily="18" charset="0"/>
                    <a:cs typeface="Times New Roman" pitchFamily="18" charset="0"/>
                  </a:endParaRPr>
                </a:p>
              </p:txBody>
            </p:sp>
            <p:cxnSp>
              <p:nvCxnSpPr>
                <p:cNvPr id="13348" name="AutoShape 11"/>
                <p:cNvCxnSpPr>
                  <a:cxnSpLocks noChangeShapeType="1"/>
                </p:cNvCxnSpPr>
                <p:nvPr/>
              </p:nvCxnSpPr>
              <p:spPr bwMode="auto">
                <a:xfrm>
                  <a:off x="5330" y="6069"/>
                  <a:ext cx="0" cy="64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grpSp>
          <p:sp>
            <p:nvSpPr>
              <p:cNvPr id="13341" name="AutoShape 12"/>
              <p:cNvSpPr>
                <a:spLocks/>
              </p:cNvSpPr>
              <p:nvPr/>
            </p:nvSpPr>
            <p:spPr bwMode="auto">
              <a:xfrm>
                <a:off x="8658" y="4958"/>
                <a:ext cx="1440" cy="960"/>
              </a:xfrm>
              <a:prstGeom prst="borderCallout1">
                <a:avLst>
                  <a:gd name="adj1" fmla="val 18750"/>
                  <a:gd name="adj2" fmla="val -8333"/>
                  <a:gd name="adj3" fmla="val 75523"/>
                  <a:gd name="adj4" fmla="val -111667"/>
                </a:avLst>
              </a:prstGeom>
              <a:solidFill>
                <a:srgbClr val="FFFFFF"/>
              </a:solidFill>
              <a:ln w="9525">
                <a:solidFill>
                  <a:srgbClr val="000000"/>
                </a:solidFill>
                <a:miter lim="800000"/>
                <a:headEnd/>
                <a:tailEnd/>
              </a:ln>
            </p:spPr>
            <p:txBody>
              <a:bodyPr/>
              <a:lstStyle/>
              <a:p>
                <a:pPr algn="ctr"/>
                <a:r>
                  <a:rPr lang="uz-Cyrl-UZ" sz="1200">
                    <a:latin typeface="Times New Roman" pitchFamily="18" charset="0"/>
                    <a:cs typeface="Times New Roman" pitchFamily="18" charset="0"/>
                  </a:rPr>
                  <a:t>Бир томонлама функция</a:t>
                </a:r>
                <a:endParaRPr lang="ru-RU" sz="1200">
                  <a:latin typeface="Times New Roman" pitchFamily="18" charset="0"/>
                  <a:cs typeface="Times New Roman" pitchFamily="18" charset="0"/>
                </a:endParaRPr>
              </a:p>
            </p:txBody>
          </p:sp>
        </p:grpSp>
        <p:grpSp>
          <p:nvGrpSpPr>
            <p:cNvPr id="13326" name="Group 13"/>
            <p:cNvGrpSpPr>
              <a:grpSpLocks/>
            </p:cNvGrpSpPr>
            <p:nvPr/>
          </p:nvGrpSpPr>
          <p:grpSpPr bwMode="auto">
            <a:xfrm>
              <a:off x="2198" y="4877"/>
              <a:ext cx="8196" cy="533"/>
              <a:chOff x="2283" y="1967"/>
              <a:chExt cx="8196" cy="533"/>
            </a:xfrm>
          </p:grpSpPr>
          <p:sp>
            <p:nvSpPr>
              <p:cNvPr id="13328" name="Rectangle 14"/>
              <p:cNvSpPr>
                <a:spLocks noChangeArrowheads="1"/>
              </p:cNvSpPr>
              <p:nvPr/>
            </p:nvSpPr>
            <p:spPr bwMode="auto">
              <a:xfrm>
                <a:off x="2283" y="1967"/>
                <a:ext cx="683" cy="533"/>
              </a:xfrm>
              <a:prstGeom prst="rect">
                <a:avLst/>
              </a:prstGeom>
              <a:solidFill>
                <a:srgbClr val="FFFFFF"/>
              </a:solidFill>
              <a:ln w="9525">
                <a:solidFill>
                  <a:srgbClr val="000000"/>
                </a:solidFill>
                <a:miter lim="800000"/>
                <a:headEnd/>
                <a:tailEnd/>
              </a:ln>
            </p:spPr>
            <p:txBody>
              <a:bodyPr/>
              <a:lstStyle/>
              <a:p>
                <a:r>
                  <a:rPr lang="uz-Cyrl-UZ" sz="1200">
                    <a:latin typeface="Times New Roman" pitchFamily="18" charset="0"/>
                    <a:cs typeface="Times New Roman" pitchFamily="18" charset="0"/>
                  </a:rPr>
                  <a:t>М</a:t>
                </a:r>
                <a:r>
                  <a:rPr lang="en-US" sz="1200" baseline="-25000">
                    <a:latin typeface="Times New Roman" pitchFamily="18" charset="0"/>
                    <a:cs typeface="Times New Roman" pitchFamily="18" charset="0"/>
                  </a:rPr>
                  <a:t>0</a:t>
                </a:r>
                <a:endParaRPr lang="ru-RU" sz="1200">
                  <a:latin typeface="Times New Roman" pitchFamily="18" charset="0"/>
                  <a:cs typeface="Times New Roman" pitchFamily="18" charset="0"/>
                </a:endParaRPr>
              </a:p>
            </p:txBody>
          </p:sp>
          <p:sp>
            <p:nvSpPr>
              <p:cNvPr id="13329" name="Rectangle 15"/>
              <p:cNvSpPr>
                <a:spLocks noChangeArrowheads="1"/>
              </p:cNvSpPr>
              <p:nvPr/>
            </p:nvSpPr>
            <p:spPr bwMode="auto">
              <a:xfrm>
                <a:off x="2966" y="1967"/>
                <a:ext cx="683" cy="533"/>
              </a:xfrm>
              <a:prstGeom prst="rect">
                <a:avLst/>
              </a:prstGeom>
              <a:solidFill>
                <a:srgbClr val="FFFFFF"/>
              </a:solidFill>
              <a:ln w="9525">
                <a:solidFill>
                  <a:srgbClr val="000000"/>
                </a:solidFill>
                <a:miter lim="800000"/>
                <a:headEnd/>
                <a:tailEnd/>
              </a:ln>
            </p:spPr>
            <p:txBody>
              <a:bodyPr/>
              <a:lstStyle/>
              <a:p>
                <a:r>
                  <a:rPr lang="uz-Cyrl-UZ" sz="1200">
                    <a:latin typeface="Times New Roman" pitchFamily="18" charset="0"/>
                    <a:cs typeface="Times New Roman" pitchFamily="18" charset="0"/>
                  </a:rPr>
                  <a:t>М</a:t>
                </a:r>
                <a:r>
                  <a:rPr lang="en-US" sz="1200" baseline="-25000">
                    <a:latin typeface="Times New Roman" pitchFamily="18" charset="0"/>
                    <a:cs typeface="Times New Roman" pitchFamily="18" charset="0"/>
                  </a:rPr>
                  <a:t>1</a:t>
                </a:r>
                <a:endParaRPr lang="ru-RU" sz="1200">
                  <a:latin typeface="Times New Roman" pitchFamily="18" charset="0"/>
                  <a:cs typeface="Times New Roman" pitchFamily="18" charset="0"/>
                </a:endParaRPr>
              </a:p>
            </p:txBody>
          </p:sp>
          <p:sp>
            <p:nvSpPr>
              <p:cNvPr id="13330" name="Rectangle 16"/>
              <p:cNvSpPr>
                <a:spLocks noChangeArrowheads="1"/>
              </p:cNvSpPr>
              <p:nvPr/>
            </p:nvSpPr>
            <p:spPr bwMode="auto">
              <a:xfrm>
                <a:off x="3649" y="1967"/>
                <a:ext cx="683" cy="533"/>
              </a:xfrm>
              <a:prstGeom prst="rect">
                <a:avLst/>
              </a:prstGeom>
              <a:solidFill>
                <a:srgbClr val="FFFFFF"/>
              </a:solidFill>
              <a:ln w="9525">
                <a:solidFill>
                  <a:srgbClr val="000000"/>
                </a:solidFill>
                <a:miter lim="800000"/>
                <a:headEnd/>
                <a:tailEnd/>
              </a:ln>
            </p:spPr>
            <p:txBody>
              <a:bodyPr/>
              <a:lstStyle/>
              <a:p>
                <a:r>
                  <a:rPr lang="uz-Cyrl-UZ" sz="1200">
                    <a:latin typeface="Times New Roman" pitchFamily="18" charset="0"/>
                    <a:cs typeface="Times New Roman" pitchFamily="18" charset="0"/>
                  </a:rPr>
                  <a:t>М</a:t>
                </a:r>
                <a:r>
                  <a:rPr lang="en-US" sz="1200" baseline="-25000">
                    <a:latin typeface="Times New Roman" pitchFamily="18" charset="0"/>
                    <a:cs typeface="Times New Roman" pitchFamily="18" charset="0"/>
                  </a:rPr>
                  <a:t>2</a:t>
                </a:r>
                <a:endParaRPr lang="ru-RU" sz="1200">
                  <a:latin typeface="Times New Roman" pitchFamily="18" charset="0"/>
                  <a:cs typeface="Times New Roman" pitchFamily="18" charset="0"/>
                </a:endParaRPr>
              </a:p>
            </p:txBody>
          </p:sp>
          <p:sp>
            <p:nvSpPr>
              <p:cNvPr id="13331" name="Rectangle 17"/>
              <p:cNvSpPr>
                <a:spLocks noChangeArrowheads="1"/>
              </p:cNvSpPr>
              <p:nvPr/>
            </p:nvSpPr>
            <p:spPr bwMode="auto">
              <a:xfrm>
                <a:off x="4332" y="1967"/>
                <a:ext cx="683" cy="533"/>
              </a:xfrm>
              <a:prstGeom prst="rect">
                <a:avLst/>
              </a:prstGeom>
              <a:solidFill>
                <a:srgbClr val="FFFFFF"/>
              </a:solidFill>
              <a:ln w="9525">
                <a:solidFill>
                  <a:srgbClr val="000000"/>
                </a:solidFill>
                <a:miter lim="800000"/>
                <a:headEnd/>
                <a:tailEnd/>
              </a:ln>
            </p:spPr>
            <p:txBody>
              <a:bodyPr/>
              <a:lstStyle/>
              <a:p>
                <a:r>
                  <a:rPr lang="uz-Cyrl-UZ" sz="1200">
                    <a:latin typeface="Times New Roman" pitchFamily="18" charset="0"/>
                    <a:cs typeface="Times New Roman" pitchFamily="18" charset="0"/>
                  </a:rPr>
                  <a:t>М</a:t>
                </a:r>
                <a:r>
                  <a:rPr lang="en-US" sz="1200" baseline="-25000">
                    <a:latin typeface="Times New Roman" pitchFamily="18" charset="0"/>
                    <a:cs typeface="Times New Roman" pitchFamily="18" charset="0"/>
                  </a:rPr>
                  <a:t>3</a:t>
                </a:r>
                <a:endParaRPr lang="ru-RU" sz="1200">
                  <a:latin typeface="Times New Roman" pitchFamily="18" charset="0"/>
                  <a:cs typeface="Times New Roman" pitchFamily="18" charset="0"/>
                </a:endParaRPr>
              </a:p>
            </p:txBody>
          </p:sp>
          <p:sp>
            <p:nvSpPr>
              <p:cNvPr id="13332" name="Rectangle 18"/>
              <p:cNvSpPr>
                <a:spLocks noChangeArrowheads="1"/>
              </p:cNvSpPr>
              <p:nvPr/>
            </p:nvSpPr>
            <p:spPr bwMode="auto">
              <a:xfrm>
                <a:off x="5015" y="1967"/>
                <a:ext cx="683" cy="533"/>
              </a:xfrm>
              <a:prstGeom prst="rect">
                <a:avLst/>
              </a:prstGeom>
              <a:solidFill>
                <a:srgbClr val="FFFFFF"/>
              </a:solidFill>
              <a:ln w="9525">
                <a:solidFill>
                  <a:srgbClr val="000000"/>
                </a:solidFill>
                <a:miter lim="800000"/>
                <a:headEnd/>
                <a:tailEnd/>
              </a:ln>
            </p:spPr>
            <p:txBody>
              <a:bodyPr/>
              <a:lstStyle/>
              <a:p>
                <a:r>
                  <a:rPr lang="uz-Cyrl-UZ" sz="1200">
                    <a:latin typeface="Times New Roman" pitchFamily="18" charset="0"/>
                    <a:cs typeface="Times New Roman" pitchFamily="18" charset="0"/>
                  </a:rPr>
                  <a:t>М</a:t>
                </a:r>
                <a:r>
                  <a:rPr lang="en-US" sz="1200" baseline="-25000">
                    <a:latin typeface="Times New Roman" pitchFamily="18" charset="0"/>
                    <a:cs typeface="Times New Roman" pitchFamily="18" charset="0"/>
                  </a:rPr>
                  <a:t>4</a:t>
                </a:r>
                <a:endParaRPr lang="ru-RU" sz="1200">
                  <a:latin typeface="Times New Roman" pitchFamily="18" charset="0"/>
                  <a:cs typeface="Times New Roman" pitchFamily="18" charset="0"/>
                </a:endParaRPr>
              </a:p>
            </p:txBody>
          </p:sp>
          <p:sp>
            <p:nvSpPr>
              <p:cNvPr id="13333" name="Rectangle 19"/>
              <p:cNvSpPr>
                <a:spLocks noChangeArrowheads="1"/>
              </p:cNvSpPr>
              <p:nvPr/>
            </p:nvSpPr>
            <p:spPr bwMode="auto">
              <a:xfrm>
                <a:off x="5698" y="1967"/>
                <a:ext cx="683" cy="533"/>
              </a:xfrm>
              <a:prstGeom prst="rect">
                <a:avLst/>
              </a:prstGeom>
              <a:solidFill>
                <a:srgbClr val="FFFFFF"/>
              </a:solidFill>
              <a:ln w="9525">
                <a:solidFill>
                  <a:srgbClr val="000000"/>
                </a:solidFill>
                <a:miter lim="800000"/>
                <a:headEnd/>
                <a:tailEnd/>
              </a:ln>
            </p:spPr>
            <p:txBody>
              <a:bodyPr/>
              <a:lstStyle/>
              <a:p>
                <a:r>
                  <a:rPr lang="en-US" sz="1200">
                    <a:latin typeface="Times New Roman" pitchFamily="18" charset="0"/>
                    <a:cs typeface="Times New Roman" pitchFamily="18" charset="0"/>
                  </a:rPr>
                  <a:t>…</a:t>
                </a:r>
                <a:endParaRPr lang="ru-RU" sz="1200">
                  <a:latin typeface="Times New Roman" pitchFamily="18" charset="0"/>
                  <a:cs typeface="Times New Roman" pitchFamily="18" charset="0"/>
                </a:endParaRPr>
              </a:p>
              <a:p>
                <a:r>
                  <a:rPr lang="en-US" sz="1200" baseline="-25000">
                    <a:latin typeface="Times New Roman" pitchFamily="18" charset="0"/>
                    <a:cs typeface="Times New Roman" pitchFamily="18" charset="0"/>
                  </a:rPr>
                  <a:t> </a:t>
                </a:r>
                <a:endParaRPr lang="ru-RU" sz="1200">
                  <a:latin typeface="Times New Roman" pitchFamily="18" charset="0"/>
                  <a:cs typeface="Times New Roman" pitchFamily="18" charset="0"/>
                </a:endParaRPr>
              </a:p>
            </p:txBody>
          </p:sp>
          <p:sp>
            <p:nvSpPr>
              <p:cNvPr id="13334" name="Rectangle 20"/>
              <p:cNvSpPr>
                <a:spLocks noChangeArrowheads="1"/>
              </p:cNvSpPr>
              <p:nvPr/>
            </p:nvSpPr>
            <p:spPr bwMode="auto">
              <a:xfrm>
                <a:off x="6381" y="1967"/>
                <a:ext cx="683" cy="533"/>
              </a:xfrm>
              <a:prstGeom prst="rect">
                <a:avLst/>
              </a:prstGeom>
              <a:solidFill>
                <a:srgbClr val="FFFFFF"/>
              </a:solidFill>
              <a:ln w="9525">
                <a:solidFill>
                  <a:srgbClr val="000000"/>
                </a:solidFill>
                <a:miter lim="800000"/>
                <a:headEnd/>
                <a:tailEnd/>
              </a:ln>
            </p:spPr>
            <p:txBody>
              <a:bodyPr/>
              <a:lstStyle/>
              <a:p>
                <a:r>
                  <a:rPr lang="en-US" sz="1200">
                    <a:latin typeface="Times New Roman" pitchFamily="18" charset="0"/>
                    <a:cs typeface="Times New Roman" pitchFamily="18" charset="0"/>
                  </a:rPr>
                  <a:t>…</a:t>
                </a:r>
                <a:endParaRPr lang="ru-RU" sz="1200">
                  <a:latin typeface="Times New Roman" pitchFamily="18" charset="0"/>
                  <a:cs typeface="Times New Roman" pitchFamily="18" charset="0"/>
                </a:endParaRPr>
              </a:p>
            </p:txBody>
          </p:sp>
          <p:sp>
            <p:nvSpPr>
              <p:cNvPr id="13335" name="Rectangle 21"/>
              <p:cNvSpPr>
                <a:spLocks noChangeArrowheads="1"/>
              </p:cNvSpPr>
              <p:nvPr/>
            </p:nvSpPr>
            <p:spPr bwMode="auto">
              <a:xfrm>
                <a:off x="7064" y="1967"/>
                <a:ext cx="683" cy="533"/>
              </a:xfrm>
              <a:prstGeom prst="rect">
                <a:avLst/>
              </a:prstGeom>
              <a:solidFill>
                <a:srgbClr val="FFFFFF"/>
              </a:solidFill>
              <a:ln w="9525">
                <a:solidFill>
                  <a:srgbClr val="000000"/>
                </a:solidFill>
                <a:miter lim="800000"/>
                <a:headEnd/>
                <a:tailEnd/>
              </a:ln>
            </p:spPr>
            <p:txBody>
              <a:bodyPr/>
              <a:lstStyle/>
              <a:p>
                <a:r>
                  <a:rPr lang="en-US" sz="1200">
                    <a:latin typeface="Times New Roman" pitchFamily="18" charset="0"/>
                    <a:cs typeface="Times New Roman" pitchFamily="18" charset="0"/>
                  </a:rPr>
                  <a:t>…</a:t>
                </a:r>
                <a:endParaRPr lang="ru-RU" sz="1200">
                  <a:latin typeface="Times New Roman" pitchFamily="18" charset="0"/>
                  <a:cs typeface="Times New Roman" pitchFamily="18" charset="0"/>
                </a:endParaRPr>
              </a:p>
            </p:txBody>
          </p:sp>
          <p:sp>
            <p:nvSpPr>
              <p:cNvPr id="13336" name="Rectangle 22"/>
              <p:cNvSpPr>
                <a:spLocks noChangeArrowheads="1"/>
              </p:cNvSpPr>
              <p:nvPr/>
            </p:nvSpPr>
            <p:spPr bwMode="auto">
              <a:xfrm>
                <a:off x="7747" y="1967"/>
                <a:ext cx="683" cy="533"/>
              </a:xfrm>
              <a:prstGeom prst="rect">
                <a:avLst/>
              </a:prstGeom>
              <a:solidFill>
                <a:srgbClr val="FFFFFF"/>
              </a:solidFill>
              <a:ln w="9525">
                <a:solidFill>
                  <a:srgbClr val="000000"/>
                </a:solidFill>
                <a:miter lim="800000"/>
                <a:headEnd/>
                <a:tailEnd/>
              </a:ln>
            </p:spPr>
            <p:txBody>
              <a:bodyPr/>
              <a:lstStyle/>
              <a:p>
                <a:r>
                  <a:rPr lang="en-US" sz="1200">
                    <a:latin typeface="Times New Roman" pitchFamily="18" charset="0"/>
                    <a:cs typeface="Times New Roman" pitchFamily="18" charset="0"/>
                  </a:rPr>
                  <a:t>...</a:t>
                </a:r>
                <a:endParaRPr lang="ru-RU" sz="1200">
                  <a:latin typeface="Times New Roman" pitchFamily="18" charset="0"/>
                  <a:cs typeface="Times New Roman" pitchFamily="18" charset="0"/>
                </a:endParaRPr>
              </a:p>
            </p:txBody>
          </p:sp>
          <p:sp>
            <p:nvSpPr>
              <p:cNvPr id="13337" name="Rectangle 23"/>
              <p:cNvSpPr>
                <a:spLocks noChangeArrowheads="1"/>
              </p:cNvSpPr>
              <p:nvPr/>
            </p:nvSpPr>
            <p:spPr bwMode="auto">
              <a:xfrm>
                <a:off x="8359" y="1967"/>
                <a:ext cx="754" cy="533"/>
              </a:xfrm>
              <a:prstGeom prst="rect">
                <a:avLst/>
              </a:prstGeom>
              <a:solidFill>
                <a:srgbClr val="FFFFFF"/>
              </a:solidFill>
              <a:ln w="9525">
                <a:solidFill>
                  <a:srgbClr val="000000"/>
                </a:solidFill>
                <a:miter lim="800000"/>
                <a:headEnd/>
                <a:tailEnd/>
              </a:ln>
            </p:spPr>
            <p:txBody>
              <a:bodyPr/>
              <a:lstStyle/>
              <a:p>
                <a:r>
                  <a:rPr lang="en-US" sz="1200" baseline="-25000">
                    <a:latin typeface="Times New Roman" pitchFamily="18" charset="0"/>
                    <a:cs typeface="Times New Roman" pitchFamily="18" charset="0"/>
                  </a:rPr>
                  <a:t> </a:t>
                </a:r>
                <a:endParaRPr lang="ru-RU" sz="1200">
                  <a:latin typeface="Times New Roman" pitchFamily="18" charset="0"/>
                  <a:cs typeface="Times New Roman" pitchFamily="18" charset="0"/>
                </a:endParaRPr>
              </a:p>
            </p:txBody>
          </p:sp>
          <p:sp>
            <p:nvSpPr>
              <p:cNvPr id="13338" name="Rectangle 24"/>
              <p:cNvSpPr>
                <a:spLocks noChangeArrowheads="1"/>
              </p:cNvSpPr>
              <p:nvPr/>
            </p:nvSpPr>
            <p:spPr bwMode="auto">
              <a:xfrm>
                <a:off x="8993" y="1967"/>
                <a:ext cx="803" cy="533"/>
              </a:xfrm>
              <a:prstGeom prst="rect">
                <a:avLst/>
              </a:prstGeom>
              <a:solidFill>
                <a:srgbClr val="FFFFFF"/>
              </a:solidFill>
              <a:ln w="9525">
                <a:solidFill>
                  <a:srgbClr val="000000"/>
                </a:solidFill>
                <a:miter lim="800000"/>
                <a:headEnd/>
                <a:tailEnd/>
              </a:ln>
            </p:spPr>
            <p:txBody>
              <a:bodyPr/>
              <a:lstStyle/>
              <a:p>
                <a:r>
                  <a:rPr lang="uz-Cyrl-UZ" sz="1200">
                    <a:latin typeface="Times New Roman" pitchFamily="18" charset="0"/>
                    <a:cs typeface="Times New Roman" pitchFamily="18" charset="0"/>
                  </a:rPr>
                  <a:t>М</a:t>
                </a:r>
                <a:r>
                  <a:rPr lang="en-US" sz="1200" baseline="-25000">
                    <a:latin typeface="Times New Roman" pitchFamily="18" charset="0"/>
                    <a:cs typeface="Times New Roman" pitchFamily="18" charset="0"/>
                  </a:rPr>
                  <a:t>n-1</a:t>
                </a:r>
                <a:endParaRPr lang="ru-RU" sz="1200">
                  <a:latin typeface="Times New Roman" pitchFamily="18" charset="0"/>
                  <a:cs typeface="Times New Roman" pitchFamily="18" charset="0"/>
                </a:endParaRPr>
              </a:p>
              <a:p>
                <a:r>
                  <a:rPr lang="en-US" sz="1200" baseline="-25000">
                    <a:latin typeface="Times New Roman" pitchFamily="18" charset="0"/>
                    <a:cs typeface="Times New Roman" pitchFamily="18" charset="0"/>
                  </a:rPr>
                  <a:t> </a:t>
                </a:r>
                <a:endParaRPr lang="ru-RU" sz="1200">
                  <a:latin typeface="Times New Roman" pitchFamily="18" charset="0"/>
                  <a:cs typeface="Times New Roman" pitchFamily="18" charset="0"/>
                </a:endParaRPr>
              </a:p>
            </p:txBody>
          </p:sp>
          <p:sp>
            <p:nvSpPr>
              <p:cNvPr id="13339" name="Rectangle 25"/>
              <p:cNvSpPr>
                <a:spLocks noChangeArrowheads="1"/>
              </p:cNvSpPr>
              <p:nvPr/>
            </p:nvSpPr>
            <p:spPr bwMode="auto">
              <a:xfrm>
                <a:off x="9796" y="1967"/>
                <a:ext cx="683" cy="533"/>
              </a:xfrm>
              <a:prstGeom prst="rect">
                <a:avLst/>
              </a:prstGeom>
              <a:solidFill>
                <a:srgbClr val="FFFFFF"/>
              </a:solidFill>
              <a:ln w="9525">
                <a:solidFill>
                  <a:srgbClr val="000000"/>
                </a:solidFill>
                <a:miter lim="800000"/>
                <a:headEnd/>
                <a:tailEnd/>
              </a:ln>
            </p:spPr>
            <p:txBody>
              <a:bodyPr/>
              <a:lstStyle/>
              <a:p>
                <a:r>
                  <a:rPr lang="uz-Cyrl-UZ" sz="1200">
                    <a:latin typeface="Times New Roman" pitchFamily="18" charset="0"/>
                    <a:cs typeface="Times New Roman" pitchFamily="18" charset="0"/>
                  </a:rPr>
                  <a:t>М</a:t>
                </a:r>
                <a:r>
                  <a:rPr lang="en-US" sz="1200" baseline="-25000">
                    <a:latin typeface="Times New Roman" pitchFamily="18" charset="0"/>
                    <a:cs typeface="Times New Roman" pitchFamily="18" charset="0"/>
                  </a:rPr>
                  <a:t>n</a:t>
                </a:r>
                <a:endParaRPr lang="ru-RU" sz="1200">
                  <a:latin typeface="Times New Roman" pitchFamily="18" charset="0"/>
                  <a:cs typeface="Times New Roman" pitchFamily="18" charset="0"/>
                </a:endParaRPr>
              </a:p>
            </p:txBody>
          </p:sp>
        </p:grpSp>
        <p:cxnSp>
          <p:nvCxnSpPr>
            <p:cNvPr id="13327" name="AutoShape 26"/>
            <p:cNvCxnSpPr>
              <a:cxnSpLocks noChangeShapeType="1"/>
            </p:cNvCxnSpPr>
            <p:nvPr/>
          </p:nvCxnSpPr>
          <p:spPr bwMode="auto">
            <a:xfrm>
              <a:off x="5937" y="5410"/>
              <a:ext cx="1" cy="38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grpSp>
      <p:sp>
        <p:nvSpPr>
          <p:cNvPr id="13321" name="TextBox 2"/>
          <p:cNvSpPr txBox="1">
            <a:spLocks noChangeArrowheads="1"/>
          </p:cNvSpPr>
          <p:nvPr/>
        </p:nvSpPr>
        <p:spPr bwMode="auto">
          <a:xfrm>
            <a:off x="2505075" y="6237288"/>
            <a:ext cx="409416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ctr"/>
            <a:r>
              <a:rPr lang="uz-Cyrl-UZ" sz="1600">
                <a:latin typeface="Times New Roman" pitchFamily="18" charset="0"/>
                <a:cs typeface="Times New Roman" pitchFamily="18" charset="0"/>
              </a:rPr>
              <a:t>2.1. расм. Меркл-Дамгард схемаси</a:t>
            </a:r>
            <a:endParaRPr lang="ru-RU" sz="1600">
              <a:latin typeface="Times New Roman" pitchFamily="18" charset="0"/>
              <a:cs typeface="Times New Roman" pitchFamily="18" charset="0"/>
            </a:endParaRPr>
          </a:p>
        </p:txBody>
      </p:sp>
      <p:sp>
        <p:nvSpPr>
          <p:cNvPr id="33" name="TextBox 32"/>
          <p:cNvSpPr txBox="1">
            <a:spLocks noChangeArrowheads="1"/>
          </p:cNvSpPr>
          <p:nvPr/>
        </p:nvSpPr>
        <p:spPr bwMode="auto">
          <a:xfrm>
            <a:off x="536575" y="2062163"/>
            <a:ext cx="792321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ru-RU" b="1">
                <a:latin typeface="Times New Roman" pitchFamily="18" charset="0"/>
                <a:cs typeface="Times New Roman" pitchFamily="18" charset="0"/>
              </a:rPr>
              <a:t>Устунлиги:</a:t>
            </a:r>
          </a:p>
          <a:p>
            <a:pPr algn="just"/>
            <a:r>
              <a:rPr lang="uz-Cyrl-UZ">
                <a:latin typeface="Times New Roman" pitchFamily="18" charset="0"/>
                <a:cs typeface="Times New Roman" pitchFamily="18" charset="0"/>
              </a:rPr>
              <a:t>     Меркл-Дамгард схемасида агар f сиқиш функцияси коллизияга бардошли бўлса, ушбу принцип асосида қурилган хэш функция алгоритмлари ҳам коллизияга бардошли бўлади.</a:t>
            </a:r>
            <a:endParaRPr lang="ru-RU">
              <a:latin typeface="Times New Roman" pitchFamily="18" charset="0"/>
              <a:cs typeface="Times New Roman" pitchFamily="18" charset="0"/>
            </a:endParaRPr>
          </a:p>
        </p:txBody>
      </p:sp>
      <p:sp>
        <p:nvSpPr>
          <p:cNvPr id="34" name="TextBox 33"/>
          <p:cNvSpPr txBox="1"/>
          <p:nvPr/>
        </p:nvSpPr>
        <p:spPr>
          <a:xfrm>
            <a:off x="465138" y="2047875"/>
            <a:ext cx="8355012" cy="1476375"/>
          </a:xfrm>
          <a:prstGeom prst="rect">
            <a:avLst/>
          </a:prstGeom>
          <a:noFill/>
        </p:spPr>
        <p:txBody>
          <a:bodyPr>
            <a:spAutoFit/>
          </a:bodyPr>
          <a:lstStyle/>
          <a:p>
            <a:pPr fontAlgn="auto">
              <a:spcBef>
                <a:spcPts val="0"/>
              </a:spcBef>
              <a:spcAft>
                <a:spcPts val="0"/>
              </a:spcAft>
              <a:defRPr/>
            </a:pPr>
            <a:r>
              <a:rPr lang="uz-Cyrl-UZ" b="1" dirty="0">
                <a:latin typeface="Times New Roman" pitchFamily="18" charset="0"/>
                <a:cs typeface="Times New Roman" pitchFamily="18" charset="0"/>
              </a:rPr>
              <a:t>Схеманинг заиф томонлари:</a:t>
            </a:r>
            <a:endParaRPr lang="ru-RU" dirty="0">
              <a:latin typeface="Times New Roman" pitchFamily="18" charset="0"/>
              <a:cs typeface="Times New Roman" pitchFamily="18" charset="0"/>
            </a:endParaRPr>
          </a:p>
          <a:p>
            <a:pPr marL="285750" indent="-285750" fontAlgn="auto">
              <a:spcBef>
                <a:spcPts val="0"/>
              </a:spcBef>
              <a:spcAft>
                <a:spcPts val="0"/>
              </a:spcAft>
              <a:buFont typeface="Arial" pitchFamily="34" charset="0"/>
              <a:buChar char="•"/>
              <a:defRPr/>
            </a:pPr>
            <a:r>
              <a:rPr lang="uz-Cyrl-UZ" dirty="0">
                <a:latin typeface="Times New Roman" pitchFamily="18" charset="0"/>
                <a:cs typeface="Times New Roman" pitchFamily="18" charset="0"/>
              </a:rPr>
              <a:t>Малумотни керакли узунликкача тўлдириш, яъни агар криптоаналитик битта коллизия топса бошқа коллизияларни топиш осон.</a:t>
            </a:r>
            <a:endParaRPr lang="ru-RU" dirty="0">
              <a:latin typeface="Times New Roman" pitchFamily="18" charset="0"/>
              <a:cs typeface="Times New Roman" pitchFamily="18" charset="0"/>
            </a:endParaRPr>
          </a:p>
          <a:p>
            <a:pPr marL="285750" indent="-285750" fontAlgn="auto">
              <a:spcBef>
                <a:spcPts val="0"/>
              </a:spcBef>
              <a:spcAft>
                <a:spcPts val="0"/>
              </a:spcAft>
              <a:buFont typeface="Arial" pitchFamily="34" charset="0"/>
              <a:buChar char="•"/>
              <a:defRPr/>
            </a:pPr>
            <a:r>
              <a:rPr lang="uz-Cyrl-UZ" dirty="0">
                <a:latin typeface="Times New Roman" pitchFamily="18" charset="0"/>
                <a:cs typeface="Times New Roman" pitchFamily="18" charset="0"/>
              </a:rPr>
              <a:t>Хэш қийматни берувчи иккинчи бир маълумотни (иккинчи прообразни) топиш узун маълумотлар учун переборга нисбатан эффектив хисобланади. </a:t>
            </a:r>
            <a:endParaRPr lang="ru-RU" dirty="0">
              <a:latin typeface="Times New Roman" pitchFamily="18" charset="0"/>
              <a:cs typeface="Times New Roman" pitchFamily="18" charset="0"/>
            </a:endParaRPr>
          </a:p>
        </p:txBody>
      </p:sp>
      <p:sp>
        <p:nvSpPr>
          <p:cNvPr id="7" name="Стрелка влево 6">
            <a:hlinkClick r:id="rId2" action="ppaction://hlinkpres?slideindex=11&amp;slidetitle=Презентация PowerPoint"/>
          </p:cNvPr>
          <p:cNvSpPr/>
          <p:nvPr/>
        </p:nvSpPr>
        <p:spPr>
          <a:xfrm>
            <a:off x="460375" y="6407150"/>
            <a:ext cx="558800" cy="298450"/>
          </a:xfrm>
          <a:prstGeom prst="leftArrow">
            <a:avLst/>
          </a:prstGeom>
        </p:spPr>
        <p:style>
          <a:lnRef idx="2">
            <a:schemeClr val="accent6"/>
          </a:lnRef>
          <a:fillRef idx="1">
            <a:schemeClr val="lt1"/>
          </a:fillRef>
          <a:effectRef idx="0">
            <a:schemeClr val="accent6"/>
          </a:effectRef>
          <a:fontRef idx="minor">
            <a:schemeClr val="dk1"/>
          </a:fontRef>
        </p:style>
        <p:txBody>
          <a:bodyPr anchor="ctr"/>
          <a:lstStyle/>
          <a:p>
            <a:pPr algn="ctr" fontAlgn="auto">
              <a:spcBef>
                <a:spcPts val="0"/>
              </a:spcBef>
              <a:spcAft>
                <a:spcPts val="0"/>
              </a:spcAft>
              <a:defRPr/>
            </a:pPr>
            <a:endParaRPr lang="ru-RU"/>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xit" presetSubtype="32" fill="hold" grpId="0" nodeType="clickEffect">
                                  <p:stCondLst>
                                    <p:cond delay="0"/>
                                  </p:stCondLst>
                                  <p:childTnLst>
                                    <p:anim calcmode="lin" valueType="num">
                                      <p:cBhvr>
                                        <p:cTn id="6" dur="500"/>
                                        <p:tgtEl>
                                          <p:spTgt spid="2"/>
                                        </p:tgtEl>
                                        <p:attrNameLst>
                                          <p:attrName>ppt_w</p:attrName>
                                        </p:attrNameLst>
                                      </p:cBhvr>
                                      <p:tavLst>
                                        <p:tav tm="0">
                                          <p:val>
                                            <p:strVal val="ppt_w"/>
                                          </p:val>
                                        </p:tav>
                                        <p:tav tm="100000">
                                          <p:val>
                                            <p:fltVal val="0"/>
                                          </p:val>
                                        </p:tav>
                                      </p:tavLst>
                                    </p:anim>
                                    <p:anim calcmode="lin" valueType="num">
                                      <p:cBhvr>
                                        <p:cTn id="7" dur="500"/>
                                        <p:tgtEl>
                                          <p:spTgt spid="2"/>
                                        </p:tgtEl>
                                        <p:attrNameLst>
                                          <p:attrName>ppt_h</p:attrName>
                                        </p:attrNameLst>
                                      </p:cBhvr>
                                      <p:tavLst>
                                        <p:tav tm="0">
                                          <p:val>
                                            <p:strVal val="ppt_h"/>
                                          </p:val>
                                        </p:tav>
                                        <p:tav tm="100000">
                                          <p:val>
                                            <p:fltVal val="0"/>
                                          </p:val>
                                        </p:tav>
                                      </p:tavLst>
                                    </p:anim>
                                    <p:animEffect transition="out" filter="fade">
                                      <p:cBhvr>
                                        <p:cTn id="8" dur="500"/>
                                        <p:tgtEl>
                                          <p:spTgt spid="2"/>
                                        </p:tgtEl>
                                      </p:cBhvr>
                                    </p:animEffect>
                                    <p:set>
                                      <p:cBhvr>
                                        <p:cTn id="9" dur="1" fill="hold">
                                          <p:stCondLst>
                                            <p:cond delay="499"/>
                                          </p:stCondLst>
                                        </p:cTn>
                                        <p:tgtEl>
                                          <p:spTgt spid="2"/>
                                        </p:tgtEl>
                                        <p:attrNameLst>
                                          <p:attrName>style.visibility</p:attrName>
                                        </p:attrNameLst>
                                      </p:cBhvr>
                                      <p:to>
                                        <p:strVal val="hidden"/>
                                      </p:to>
                                    </p:set>
                                  </p:childTnLst>
                                </p:cTn>
                              </p:par>
                            </p:childTnLst>
                          </p:cTn>
                        </p:par>
                        <p:par>
                          <p:cTn id="10" fill="hold" nodeType="afterGroup">
                            <p:stCondLst>
                              <p:cond delay="500"/>
                            </p:stCondLst>
                            <p:childTnLst>
                              <p:par>
                                <p:cTn id="11" presetID="2" presetClass="entr" presetSubtype="4" fill="hold" grpId="0" nodeType="afterEffect">
                                  <p:stCondLst>
                                    <p:cond delay="0"/>
                                  </p:stCondLst>
                                  <p:childTnLst>
                                    <p:set>
                                      <p:cBhvr>
                                        <p:cTn id="12" dur="1" fill="hold">
                                          <p:stCondLst>
                                            <p:cond delay="0"/>
                                          </p:stCondLst>
                                        </p:cTn>
                                        <p:tgtEl>
                                          <p:spTgt spid="33"/>
                                        </p:tgtEl>
                                        <p:attrNameLst>
                                          <p:attrName>style.visibility</p:attrName>
                                        </p:attrNameLst>
                                      </p:cBhvr>
                                      <p:to>
                                        <p:strVal val="visible"/>
                                      </p:to>
                                    </p:set>
                                    <p:anim calcmode="lin" valueType="num">
                                      <p:cBhvr additive="base">
                                        <p:cTn id="13" dur="500" fill="hold"/>
                                        <p:tgtEl>
                                          <p:spTgt spid="33"/>
                                        </p:tgtEl>
                                        <p:attrNameLst>
                                          <p:attrName>ppt_x</p:attrName>
                                        </p:attrNameLst>
                                      </p:cBhvr>
                                      <p:tavLst>
                                        <p:tav tm="0">
                                          <p:val>
                                            <p:strVal val="#ppt_x"/>
                                          </p:val>
                                        </p:tav>
                                        <p:tav tm="100000">
                                          <p:val>
                                            <p:strVal val="#ppt_x"/>
                                          </p:val>
                                        </p:tav>
                                      </p:tavLst>
                                    </p:anim>
                                    <p:anim calcmode="lin" valueType="num">
                                      <p:cBhvr additive="base">
                                        <p:cTn id="14"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xit" presetSubtype="32" fill="hold" grpId="1" nodeType="clickEffect">
                                  <p:stCondLst>
                                    <p:cond delay="0"/>
                                  </p:stCondLst>
                                  <p:childTnLst>
                                    <p:anim calcmode="lin" valueType="num">
                                      <p:cBhvr>
                                        <p:cTn id="18" dur="500"/>
                                        <p:tgtEl>
                                          <p:spTgt spid="33"/>
                                        </p:tgtEl>
                                        <p:attrNameLst>
                                          <p:attrName>ppt_w</p:attrName>
                                        </p:attrNameLst>
                                      </p:cBhvr>
                                      <p:tavLst>
                                        <p:tav tm="0">
                                          <p:val>
                                            <p:strVal val="ppt_w"/>
                                          </p:val>
                                        </p:tav>
                                        <p:tav tm="100000">
                                          <p:val>
                                            <p:fltVal val="0"/>
                                          </p:val>
                                        </p:tav>
                                      </p:tavLst>
                                    </p:anim>
                                    <p:anim calcmode="lin" valueType="num">
                                      <p:cBhvr>
                                        <p:cTn id="19" dur="500"/>
                                        <p:tgtEl>
                                          <p:spTgt spid="33"/>
                                        </p:tgtEl>
                                        <p:attrNameLst>
                                          <p:attrName>ppt_h</p:attrName>
                                        </p:attrNameLst>
                                      </p:cBhvr>
                                      <p:tavLst>
                                        <p:tav tm="0">
                                          <p:val>
                                            <p:strVal val="ppt_h"/>
                                          </p:val>
                                        </p:tav>
                                        <p:tav tm="100000">
                                          <p:val>
                                            <p:fltVal val="0"/>
                                          </p:val>
                                        </p:tav>
                                      </p:tavLst>
                                    </p:anim>
                                    <p:animEffect transition="out" filter="fade">
                                      <p:cBhvr>
                                        <p:cTn id="20" dur="500"/>
                                        <p:tgtEl>
                                          <p:spTgt spid="33"/>
                                        </p:tgtEl>
                                      </p:cBhvr>
                                    </p:animEffect>
                                    <p:set>
                                      <p:cBhvr>
                                        <p:cTn id="21" dur="1" fill="hold">
                                          <p:stCondLst>
                                            <p:cond delay="499"/>
                                          </p:stCondLst>
                                        </p:cTn>
                                        <p:tgtEl>
                                          <p:spTgt spid="33"/>
                                        </p:tgtEl>
                                        <p:attrNameLst>
                                          <p:attrName>style.visibility</p:attrName>
                                        </p:attrNameLst>
                                      </p:cBhvr>
                                      <p:to>
                                        <p:strVal val="hidden"/>
                                      </p:to>
                                    </p:set>
                                  </p:childTnLst>
                                </p:cTn>
                              </p:par>
                              <p:par>
                                <p:cTn id="22" presetID="2" presetClass="entr" presetSubtype="4" fill="hold" grpId="0" nodeType="withEffect">
                                  <p:stCondLst>
                                    <p:cond delay="0"/>
                                  </p:stCondLst>
                                  <p:childTnLst>
                                    <p:set>
                                      <p:cBhvr>
                                        <p:cTn id="23" dur="1" fill="hold">
                                          <p:stCondLst>
                                            <p:cond delay="0"/>
                                          </p:stCondLst>
                                        </p:cTn>
                                        <p:tgtEl>
                                          <p:spTgt spid="34"/>
                                        </p:tgtEl>
                                        <p:attrNameLst>
                                          <p:attrName>style.visibility</p:attrName>
                                        </p:attrNameLst>
                                      </p:cBhvr>
                                      <p:to>
                                        <p:strVal val="visible"/>
                                      </p:to>
                                    </p:set>
                                    <p:anim calcmode="lin" valueType="num">
                                      <p:cBhvr additive="base">
                                        <p:cTn id="24" dur="500" fill="hold"/>
                                        <p:tgtEl>
                                          <p:spTgt spid="34"/>
                                        </p:tgtEl>
                                        <p:attrNameLst>
                                          <p:attrName>ppt_x</p:attrName>
                                        </p:attrNameLst>
                                      </p:cBhvr>
                                      <p:tavLst>
                                        <p:tav tm="0">
                                          <p:val>
                                            <p:strVal val="#ppt_x"/>
                                          </p:val>
                                        </p:tav>
                                        <p:tav tm="100000">
                                          <p:val>
                                            <p:strVal val="#ppt_x"/>
                                          </p:val>
                                        </p:tav>
                                      </p:tavLst>
                                    </p:anim>
                                    <p:anim calcmode="lin" valueType="num">
                                      <p:cBhvr additive="base">
                                        <p:cTn id="25"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3" grpId="0"/>
      <p:bldP spid="33" grpId="1"/>
      <p:bldP spid="3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428596" y="228600"/>
            <a:ext cx="8501122" cy="914400"/>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t="100000" r="100000"/>
            </a:path>
            <a:tileRect l="-100000" b="-100000"/>
          </a:gradFill>
          <a:ln>
            <a:solidFill>
              <a:schemeClr val="tx1"/>
            </a:solidFill>
          </a:ln>
          <a:effectLst>
            <a:glow rad="101600">
              <a:schemeClr val="accent4">
                <a:satMod val="175000"/>
                <a:alpha val="40000"/>
              </a:schemeClr>
            </a:glow>
            <a:softEdge rad="12700"/>
          </a:effectLst>
        </p:spPr>
        <p:style>
          <a:lnRef idx="2">
            <a:schemeClr val="dk1"/>
          </a:lnRef>
          <a:fillRef idx="1">
            <a:schemeClr val="lt1"/>
          </a:fillRef>
          <a:effectRef idx="0">
            <a:schemeClr val="dk1"/>
          </a:effectRef>
          <a:fontRef idx="minor">
            <a:schemeClr val="dk1"/>
          </a:fontRef>
        </p:style>
        <p:txBody>
          <a:bodyPr anchor="ctr"/>
          <a:lstStyle/>
          <a:p>
            <a:pPr algn="ctr" fontAlgn="auto">
              <a:spcBef>
                <a:spcPts val="0"/>
              </a:spcBef>
              <a:spcAft>
                <a:spcPts val="0"/>
              </a:spcAft>
              <a:defRPr/>
            </a:pPr>
            <a:r>
              <a:rPr lang="ru-RU" sz="2000" b="1" dirty="0" err="1">
                <a:latin typeface="Times New Roman" pitchFamily="18" charset="0"/>
                <a:cs typeface="Times New Roman" pitchFamily="18" charset="0"/>
              </a:rPr>
              <a:t>Хэш</a:t>
            </a:r>
            <a:r>
              <a:rPr lang="ru-RU" sz="2000" b="1" dirty="0">
                <a:latin typeface="Times New Roman" pitchFamily="18" charset="0"/>
                <a:cs typeface="Times New Roman" pitchFamily="18" charset="0"/>
              </a:rPr>
              <a:t> функция </a:t>
            </a:r>
            <a:r>
              <a:rPr lang="ru-RU" sz="2000" b="1" dirty="0" err="1">
                <a:latin typeface="Times New Roman" pitchFamily="18" charset="0"/>
                <a:cs typeface="Times New Roman" pitchFamily="18" charset="0"/>
              </a:rPr>
              <a:t>қуриш</a:t>
            </a:r>
            <a:r>
              <a:rPr lang="ru-RU" sz="2000" b="1" dirty="0">
                <a:latin typeface="Times New Roman" pitchFamily="18" charset="0"/>
                <a:cs typeface="Times New Roman" pitchFamily="18" charset="0"/>
              </a:rPr>
              <a:t> (конструктив </a:t>
            </a:r>
            <a:r>
              <a:rPr lang="ru-RU" sz="2000" b="1" dirty="0" err="1">
                <a:latin typeface="Times New Roman" pitchFamily="18" charset="0"/>
                <a:cs typeface="Times New Roman" pitchFamily="18" charset="0"/>
              </a:rPr>
              <a:t>схемасини</a:t>
            </a:r>
            <a:r>
              <a:rPr lang="ru-RU" sz="2000" b="1" dirty="0">
                <a:latin typeface="Times New Roman" pitchFamily="18" charset="0"/>
                <a:cs typeface="Times New Roman" pitchFamily="18" charset="0"/>
              </a:rPr>
              <a:t>) </a:t>
            </a:r>
            <a:r>
              <a:rPr lang="ru-RU" sz="2000" b="1" dirty="0" err="1">
                <a:latin typeface="Times New Roman" pitchFamily="18" charset="0"/>
                <a:cs typeface="Times New Roman" pitchFamily="18" charset="0"/>
              </a:rPr>
              <a:t>принципини</a:t>
            </a:r>
            <a:r>
              <a:rPr lang="ru-RU" sz="2000" b="1" dirty="0">
                <a:latin typeface="Times New Roman" pitchFamily="18" charset="0"/>
                <a:cs typeface="Times New Roman" pitchFamily="18" charset="0"/>
              </a:rPr>
              <a:t> </a:t>
            </a:r>
            <a:r>
              <a:rPr lang="ru-RU" sz="2000" b="1" dirty="0" err="1">
                <a:latin typeface="Times New Roman" pitchFamily="18" charset="0"/>
                <a:cs typeface="Times New Roman" pitchFamily="18" charset="0"/>
              </a:rPr>
              <a:t>танлаш</a:t>
            </a:r>
            <a:endParaRPr lang="ru-RU" sz="2000" b="1" dirty="0">
              <a:latin typeface="Times New Roman" pitchFamily="18" charset="0"/>
              <a:cs typeface="Times New Roman" pitchFamily="18" charset="0"/>
            </a:endParaRPr>
          </a:p>
        </p:txBody>
      </p:sp>
      <p:sp>
        <p:nvSpPr>
          <p:cNvPr id="5" name="Прямоугольник 4"/>
          <p:cNvSpPr/>
          <p:nvPr/>
        </p:nvSpPr>
        <p:spPr>
          <a:xfrm>
            <a:off x="381000" y="1295400"/>
            <a:ext cx="8534400" cy="5410200"/>
          </a:xfrm>
          <a:prstGeom prst="rect">
            <a:avLst/>
          </a:prstGeom>
          <a:solidFill>
            <a:schemeClr val="bg2"/>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fontAlgn="auto">
              <a:spcBef>
                <a:spcPts val="0"/>
              </a:spcBef>
              <a:spcAft>
                <a:spcPts val="0"/>
              </a:spcAft>
              <a:defRPr/>
            </a:pPr>
            <a:endParaRPr lang="ru-RU" b="1" dirty="0">
              <a:solidFill>
                <a:schemeClr val="tx1"/>
              </a:solidFill>
              <a:latin typeface="Times New Roman" pitchFamily="18" charset="0"/>
              <a:cs typeface="Times New Roman" pitchFamily="18" charset="0"/>
            </a:endParaRPr>
          </a:p>
        </p:txBody>
      </p:sp>
      <p:sp>
        <p:nvSpPr>
          <p:cNvPr id="6" name="Скругленный прямоугольник 5"/>
          <p:cNvSpPr/>
          <p:nvPr/>
        </p:nvSpPr>
        <p:spPr>
          <a:xfrm>
            <a:off x="1042988" y="1412875"/>
            <a:ext cx="7200900" cy="503238"/>
          </a:xfrm>
          <a:prstGeom prst="roundRect">
            <a:avLst/>
          </a:prstGeom>
        </p:spPr>
        <p:style>
          <a:lnRef idx="2">
            <a:schemeClr val="accent6"/>
          </a:lnRef>
          <a:fillRef idx="1">
            <a:schemeClr val="lt1"/>
          </a:fillRef>
          <a:effectRef idx="0">
            <a:schemeClr val="accent6"/>
          </a:effectRef>
          <a:fontRef idx="minor">
            <a:schemeClr val="dk1"/>
          </a:fontRef>
        </p:style>
        <p:txBody>
          <a:bodyPr anchor="ctr"/>
          <a:lstStyle/>
          <a:p>
            <a:pPr algn="ctr" fontAlgn="auto">
              <a:spcBef>
                <a:spcPts val="0"/>
              </a:spcBef>
              <a:spcAft>
                <a:spcPts val="0"/>
              </a:spcAft>
              <a:defRPr/>
            </a:pPr>
            <a:r>
              <a:rPr lang="uz-Cyrl-UZ" b="1" dirty="0">
                <a:latin typeface="Times New Roman" pitchFamily="18" charset="0"/>
                <a:cs typeface="Times New Roman" pitchFamily="18" charset="0"/>
              </a:rPr>
              <a:t>Рабин схемаси</a:t>
            </a:r>
          </a:p>
        </p:txBody>
      </p:sp>
      <p:sp>
        <p:nvSpPr>
          <p:cNvPr id="2" name="TextBox 1"/>
          <p:cNvSpPr txBox="1">
            <a:spLocks noChangeArrowheads="1"/>
          </p:cNvSpPr>
          <p:nvPr/>
        </p:nvSpPr>
        <p:spPr bwMode="auto">
          <a:xfrm>
            <a:off x="611188" y="2060575"/>
            <a:ext cx="80645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just"/>
            <a:r>
              <a:rPr lang="uz-Cyrl-UZ">
                <a:latin typeface="Times New Roman" pitchFamily="18" charset="0"/>
                <a:cs typeface="Times New Roman" pitchFamily="18" charset="0"/>
              </a:rPr>
              <a:t>     Хэш функция алгоритмлари қуришнинг Рабин схемаси ихтиёрий узунликдаги </a:t>
            </a:r>
            <a:r>
              <a:rPr lang="uz-Cyrl-UZ" i="1">
                <a:latin typeface="Times New Roman" pitchFamily="18" charset="0"/>
                <a:cs typeface="Times New Roman" pitchFamily="18" charset="0"/>
              </a:rPr>
              <a:t>М</a:t>
            </a:r>
            <a:r>
              <a:rPr lang="uz-Cyrl-UZ">
                <a:latin typeface="Times New Roman" pitchFamily="18" charset="0"/>
                <a:cs typeface="Times New Roman" pitchFamily="18" charset="0"/>
              </a:rPr>
              <a:t> маълумотни фиксирланган N узунликдаги маълумотга (N&lt;</a:t>
            </a:r>
            <a:r>
              <a:rPr lang="uz-Cyrl-UZ" i="1">
                <a:latin typeface="Times New Roman" pitchFamily="18" charset="0"/>
                <a:cs typeface="Times New Roman" pitchFamily="18" charset="0"/>
              </a:rPr>
              <a:t>M</a:t>
            </a:r>
            <a:r>
              <a:rPr lang="uz-Cyrl-UZ">
                <a:latin typeface="Times New Roman" pitchFamily="18" charset="0"/>
                <a:cs typeface="Times New Roman" pitchFamily="18" charset="0"/>
              </a:rPr>
              <a:t>) блокли шифрлаш алгоритми ёрдамида акслантиради. Сиқиш функцияси вазифасини </a:t>
            </a:r>
            <a:r>
              <a:rPr lang="uz-Cyrl-UZ" b="1">
                <a:solidFill>
                  <a:srgbClr val="FF0000"/>
                </a:solidFill>
                <a:latin typeface="Times New Roman" pitchFamily="18" charset="0"/>
                <a:cs typeface="Times New Roman" pitchFamily="18" charset="0"/>
              </a:rPr>
              <a:t>блокли шифрлаш алгоритми </a:t>
            </a:r>
            <a:r>
              <a:rPr lang="uz-Cyrl-UZ">
                <a:latin typeface="Times New Roman" pitchFamily="18" charset="0"/>
                <a:cs typeface="Times New Roman" pitchFamily="18" charset="0"/>
              </a:rPr>
              <a:t>бажаради.</a:t>
            </a:r>
            <a:endParaRPr lang="ru-RU">
              <a:latin typeface="Times New Roman" pitchFamily="18" charset="0"/>
              <a:cs typeface="Times New Roman" pitchFamily="18" charset="0"/>
            </a:endParaRPr>
          </a:p>
        </p:txBody>
      </p:sp>
      <p:grpSp>
        <p:nvGrpSpPr>
          <p:cNvPr id="14344" name="Group 2"/>
          <p:cNvGrpSpPr>
            <a:grpSpLocks/>
          </p:cNvGrpSpPr>
          <p:nvPr/>
        </p:nvGrpSpPr>
        <p:grpSpPr bwMode="auto">
          <a:xfrm>
            <a:off x="1516063" y="3814763"/>
            <a:ext cx="6192837" cy="2449512"/>
            <a:chOff x="2198" y="4877"/>
            <a:chExt cx="8196" cy="3456"/>
          </a:xfrm>
        </p:grpSpPr>
        <p:grpSp>
          <p:nvGrpSpPr>
            <p:cNvPr id="14350" name="Group 3"/>
            <p:cNvGrpSpPr>
              <a:grpSpLocks/>
            </p:cNvGrpSpPr>
            <p:nvPr/>
          </p:nvGrpSpPr>
          <p:grpSpPr bwMode="auto">
            <a:xfrm>
              <a:off x="3749" y="5790"/>
              <a:ext cx="6303" cy="2543"/>
              <a:chOff x="4338" y="4797"/>
              <a:chExt cx="6303" cy="2543"/>
            </a:xfrm>
          </p:grpSpPr>
          <p:grpSp>
            <p:nvGrpSpPr>
              <p:cNvPr id="14365" name="Group 4"/>
              <p:cNvGrpSpPr>
                <a:grpSpLocks/>
              </p:cNvGrpSpPr>
              <p:nvPr/>
            </p:nvGrpSpPr>
            <p:grpSpPr bwMode="auto">
              <a:xfrm>
                <a:off x="4338" y="4797"/>
                <a:ext cx="3179" cy="2543"/>
                <a:chOff x="3142" y="4704"/>
                <a:chExt cx="3179" cy="2543"/>
              </a:xfrm>
            </p:grpSpPr>
            <p:sp>
              <p:nvSpPr>
                <p:cNvPr id="14367" name="Rectangle 5"/>
                <p:cNvSpPr>
                  <a:spLocks noChangeArrowheads="1"/>
                </p:cNvSpPr>
                <p:nvPr/>
              </p:nvSpPr>
              <p:spPr bwMode="auto">
                <a:xfrm>
                  <a:off x="3142" y="5536"/>
                  <a:ext cx="683" cy="533"/>
                </a:xfrm>
                <a:prstGeom prst="rect">
                  <a:avLst/>
                </a:prstGeom>
                <a:solidFill>
                  <a:srgbClr val="FFFFFF"/>
                </a:solidFill>
                <a:ln w="9525">
                  <a:solidFill>
                    <a:srgbClr val="000000"/>
                  </a:solidFill>
                  <a:miter lim="800000"/>
                  <a:headEnd/>
                  <a:tailEnd/>
                </a:ln>
              </p:spPr>
              <p:txBody>
                <a:bodyPr/>
                <a:lstStyle/>
                <a:p>
                  <a:pPr algn="ctr"/>
                  <a:r>
                    <a:rPr lang="en-US" sz="1200">
                      <a:latin typeface="Times New Roman" pitchFamily="18" charset="0"/>
                      <a:cs typeface="Times New Roman" pitchFamily="18" charset="0"/>
                    </a:rPr>
                    <a:t>H</a:t>
                  </a:r>
                  <a:r>
                    <a:rPr lang="en-US" sz="1200" baseline="-25000">
                      <a:latin typeface="Times New Roman" pitchFamily="18" charset="0"/>
                      <a:cs typeface="Times New Roman" pitchFamily="18" charset="0"/>
                    </a:rPr>
                    <a:t>i-1</a:t>
                  </a:r>
                  <a:endParaRPr lang="ru-RU" sz="1200">
                    <a:latin typeface="Times New Roman" pitchFamily="18" charset="0"/>
                    <a:cs typeface="Times New Roman" pitchFamily="18" charset="0"/>
                  </a:endParaRPr>
                </a:p>
              </p:txBody>
            </p:sp>
            <p:cxnSp>
              <p:nvCxnSpPr>
                <p:cNvPr id="14368" name="AutoShape 6"/>
                <p:cNvCxnSpPr>
                  <a:cxnSpLocks noChangeShapeType="1"/>
                </p:cNvCxnSpPr>
                <p:nvPr/>
              </p:nvCxnSpPr>
              <p:spPr bwMode="auto">
                <a:xfrm>
                  <a:off x="3825" y="5816"/>
                  <a:ext cx="654" cy="9"/>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4369" name="Rectangle 7"/>
                <p:cNvSpPr>
                  <a:spLocks noChangeArrowheads="1"/>
                </p:cNvSpPr>
                <p:nvPr/>
              </p:nvSpPr>
              <p:spPr bwMode="auto">
                <a:xfrm>
                  <a:off x="4479" y="5621"/>
                  <a:ext cx="1842" cy="448"/>
                </a:xfrm>
                <a:prstGeom prst="rect">
                  <a:avLst/>
                </a:prstGeom>
                <a:solidFill>
                  <a:srgbClr val="FFFFFF"/>
                </a:solidFill>
                <a:ln w="9525">
                  <a:solidFill>
                    <a:srgbClr val="000000"/>
                  </a:solidFill>
                  <a:miter lim="800000"/>
                  <a:headEnd/>
                  <a:tailEnd/>
                </a:ln>
              </p:spPr>
              <p:txBody>
                <a:bodyPr/>
                <a:lstStyle/>
                <a:p>
                  <a:pPr algn="ctr"/>
                  <a:r>
                    <a:rPr lang="uz-Cyrl-UZ" sz="1000">
                      <a:latin typeface="Times New Roman" pitchFamily="18" charset="0"/>
                      <a:cs typeface="Times New Roman" pitchFamily="18" charset="0"/>
                    </a:rPr>
                    <a:t>Шифрлаш алгоритми</a:t>
                  </a:r>
                  <a:endParaRPr lang="ru-RU" sz="1200">
                    <a:latin typeface="Times New Roman" pitchFamily="18" charset="0"/>
                    <a:cs typeface="Times New Roman" pitchFamily="18" charset="0"/>
                  </a:endParaRPr>
                </a:p>
              </p:txBody>
            </p:sp>
            <p:cxnSp>
              <p:nvCxnSpPr>
                <p:cNvPr id="14370" name="AutoShape 8"/>
                <p:cNvCxnSpPr>
                  <a:cxnSpLocks noChangeShapeType="1"/>
                </p:cNvCxnSpPr>
                <p:nvPr/>
              </p:nvCxnSpPr>
              <p:spPr bwMode="auto">
                <a:xfrm>
                  <a:off x="5330" y="5237"/>
                  <a:ext cx="0" cy="384"/>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4371" name="Rectangle 9"/>
                <p:cNvSpPr>
                  <a:spLocks noChangeArrowheads="1"/>
                </p:cNvSpPr>
                <p:nvPr/>
              </p:nvSpPr>
              <p:spPr bwMode="auto">
                <a:xfrm>
                  <a:off x="4965" y="4704"/>
                  <a:ext cx="683" cy="533"/>
                </a:xfrm>
                <a:prstGeom prst="rect">
                  <a:avLst/>
                </a:prstGeom>
                <a:solidFill>
                  <a:srgbClr val="FFFFFF"/>
                </a:solidFill>
                <a:ln w="9525">
                  <a:solidFill>
                    <a:srgbClr val="000000"/>
                  </a:solidFill>
                  <a:miter lim="800000"/>
                  <a:headEnd/>
                  <a:tailEnd/>
                </a:ln>
              </p:spPr>
              <p:txBody>
                <a:bodyPr/>
                <a:lstStyle/>
                <a:p>
                  <a:pPr algn="ctr"/>
                  <a:r>
                    <a:rPr lang="uz-Cyrl-UZ" sz="1200">
                      <a:latin typeface="Times New Roman" pitchFamily="18" charset="0"/>
                      <a:cs typeface="Times New Roman" pitchFamily="18" charset="0"/>
                    </a:rPr>
                    <a:t>М</a:t>
                  </a:r>
                  <a:r>
                    <a:rPr lang="en-US" sz="1200" baseline="-25000">
                      <a:latin typeface="Times New Roman" pitchFamily="18" charset="0"/>
                      <a:cs typeface="Times New Roman" pitchFamily="18" charset="0"/>
                    </a:rPr>
                    <a:t>i</a:t>
                  </a:r>
                  <a:endParaRPr lang="ru-RU" sz="1200">
                    <a:latin typeface="Times New Roman" pitchFamily="18" charset="0"/>
                    <a:cs typeface="Times New Roman" pitchFamily="18" charset="0"/>
                  </a:endParaRPr>
                </a:p>
              </p:txBody>
            </p:sp>
            <p:sp>
              <p:nvSpPr>
                <p:cNvPr id="14372" name="Rectangle 10"/>
                <p:cNvSpPr>
                  <a:spLocks noChangeArrowheads="1"/>
                </p:cNvSpPr>
                <p:nvPr/>
              </p:nvSpPr>
              <p:spPr bwMode="auto">
                <a:xfrm>
                  <a:off x="5049" y="6714"/>
                  <a:ext cx="683" cy="533"/>
                </a:xfrm>
                <a:prstGeom prst="rect">
                  <a:avLst/>
                </a:prstGeom>
                <a:solidFill>
                  <a:srgbClr val="FFFFFF"/>
                </a:solidFill>
                <a:ln w="9525">
                  <a:solidFill>
                    <a:srgbClr val="000000"/>
                  </a:solidFill>
                  <a:miter lim="800000"/>
                  <a:headEnd/>
                  <a:tailEnd/>
                </a:ln>
              </p:spPr>
              <p:txBody>
                <a:bodyPr/>
                <a:lstStyle/>
                <a:p>
                  <a:pPr algn="ctr"/>
                  <a:r>
                    <a:rPr lang="en-US" sz="1200">
                      <a:latin typeface="Times New Roman" pitchFamily="18" charset="0"/>
                      <a:cs typeface="Times New Roman" pitchFamily="18" charset="0"/>
                    </a:rPr>
                    <a:t>H</a:t>
                  </a:r>
                  <a:r>
                    <a:rPr lang="en-US" sz="1200" baseline="-25000">
                      <a:latin typeface="Times New Roman" pitchFamily="18" charset="0"/>
                      <a:cs typeface="Times New Roman" pitchFamily="18" charset="0"/>
                    </a:rPr>
                    <a:t>i</a:t>
                  </a:r>
                  <a:endParaRPr lang="ru-RU" sz="1200">
                    <a:latin typeface="Times New Roman" pitchFamily="18" charset="0"/>
                    <a:cs typeface="Times New Roman" pitchFamily="18" charset="0"/>
                  </a:endParaRPr>
                </a:p>
              </p:txBody>
            </p:sp>
            <p:cxnSp>
              <p:nvCxnSpPr>
                <p:cNvPr id="14373" name="AutoShape 11"/>
                <p:cNvCxnSpPr>
                  <a:cxnSpLocks noChangeShapeType="1"/>
                </p:cNvCxnSpPr>
                <p:nvPr/>
              </p:nvCxnSpPr>
              <p:spPr bwMode="auto">
                <a:xfrm>
                  <a:off x="5330" y="6069"/>
                  <a:ext cx="0" cy="64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grpSp>
          <p:sp>
            <p:nvSpPr>
              <p:cNvPr id="14366" name="AutoShape 12"/>
              <p:cNvSpPr>
                <a:spLocks/>
              </p:cNvSpPr>
              <p:nvPr/>
            </p:nvSpPr>
            <p:spPr bwMode="auto">
              <a:xfrm>
                <a:off x="8658" y="4958"/>
                <a:ext cx="1983" cy="1660"/>
              </a:xfrm>
              <a:prstGeom prst="borderCallout1">
                <a:avLst>
                  <a:gd name="adj1" fmla="val 18750"/>
                  <a:gd name="adj2" fmla="val -8333"/>
                  <a:gd name="adj3" fmla="val 41583"/>
                  <a:gd name="adj4" fmla="val -77894"/>
                </a:avLst>
              </a:prstGeom>
              <a:solidFill>
                <a:srgbClr val="FFFFFF"/>
              </a:solidFill>
              <a:ln w="9525">
                <a:solidFill>
                  <a:srgbClr val="000000"/>
                </a:solidFill>
                <a:miter lim="800000"/>
                <a:headEnd/>
                <a:tailEnd/>
              </a:ln>
            </p:spPr>
            <p:txBody>
              <a:bodyPr/>
              <a:lstStyle/>
              <a:p>
                <a:pPr algn="ctr"/>
                <a:r>
                  <a:rPr lang="uz-Cyrl-UZ" sz="1200">
                    <a:latin typeface="Times New Roman" pitchFamily="18" charset="0"/>
                    <a:cs typeface="Times New Roman" pitchFamily="18" charset="0"/>
                  </a:rPr>
                  <a:t>Блокли шифрлаш алгоритми, </a:t>
                </a:r>
                <a:r>
                  <a:rPr lang="en-US" sz="1200">
                    <a:latin typeface="Times New Roman" pitchFamily="18" charset="0"/>
                    <a:cs typeface="Times New Roman" pitchFamily="18" charset="0"/>
                  </a:rPr>
                  <a:t>M</a:t>
                </a:r>
                <a:r>
                  <a:rPr lang="en-US" sz="1200" baseline="-25000">
                    <a:latin typeface="Times New Roman" pitchFamily="18" charset="0"/>
                    <a:cs typeface="Times New Roman" pitchFamily="18" charset="0"/>
                  </a:rPr>
                  <a:t>i</a:t>
                </a:r>
                <a:r>
                  <a:rPr lang="en-US" sz="1200">
                    <a:latin typeface="Times New Roman" pitchFamily="18" charset="0"/>
                    <a:cs typeface="Times New Roman" pitchFamily="18" charset="0"/>
                  </a:rPr>
                  <a:t>-</a:t>
                </a:r>
                <a:r>
                  <a:rPr lang="uz-Cyrl-UZ" sz="1200">
                    <a:latin typeface="Times New Roman" pitchFamily="18" charset="0"/>
                    <a:cs typeface="Times New Roman" pitchFamily="18" charset="0"/>
                  </a:rPr>
                  <a:t>калит,</a:t>
                </a:r>
                <a:r>
                  <a:rPr lang="en-US" sz="1200">
                    <a:latin typeface="Times New Roman" pitchFamily="18" charset="0"/>
                    <a:cs typeface="Times New Roman" pitchFamily="18" charset="0"/>
                  </a:rPr>
                  <a:t> H</a:t>
                </a:r>
                <a:r>
                  <a:rPr lang="en-US" sz="1200" baseline="-25000">
                    <a:latin typeface="Times New Roman" pitchFamily="18" charset="0"/>
                    <a:cs typeface="Times New Roman" pitchFamily="18" charset="0"/>
                  </a:rPr>
                  <a:t>i-1</a:t>
                </a:r>
                <a:r>
                  <a:rPr lang="uz-Cyrl-UZ" sz="1200">
                    <a:latin typeface="Times New Roman" pitchFamily="18" charset="0"/>
                    <a:cs typeface="Times New Roman" pitchFamily="18" charset="0"/>
                  </a:rPr>
                  <a:t>-очиқ матн, </a:t>
                </a:r>
                <a:r>
                  <a:rPr lang="en-US" sz="1200">
                    <a:latin typeface="Times New Roman" pitchFamily="18" charset="0"/>
                    <a:cs typeface="Times New Roman" pitchFamily="18" charset="0"/>
                  </a:rPr>
                  <a:t>H</a:t>
                </a:r>
                <a:r>
                  <a:rPr lang="en-US" sz="1200" baseline="-25000">
                    <a:latin typeface="Times New Roman" pitchFamily="18" charset="0"/>
                    <a:cs typeface="Times New Roman" pitchFamily="18" charset="0"/>
                  </a:rPr>
                  <a:t>i</a:t>
                </a:r>
                <a:r>
                  <a:rPr lang="uz-Cyrl-UZ" sz="1200">
                    <a:latin typeface="Times New Roman" pitchFamily="18" charset="0"/>
                    <a:cs typeface="Times New Roman" pitchFamily="18" charset="0"/>
                  </a:rPr>
                  <a:t>-шифр матн вазифасини бажаради  </a:t>
                </a:r>
                <a:endParaRPr lang="ru-RU" sz="1200">
                  <a:latin typeface="Times New Roman" pitchFamily="18" charset="0"/>
                  <a:cs typeface="Times New Roman" pitchFamily="18" charset="0"/>
                </a:endParaRPr>
              </a:p>
            </p:txBody>
          </p:sp>
        </p:grpSp>
        <p:grpSp>
          <p:nvGrpSpPr>
            <p:cNvPr id="14351" name="Group 13"/>
            <p:cNvGrpSpPr>
              <a:grpSpLocks/>
            </p:cNvGrpSpPr>
            <p:nvPr/>
          </p:nvGrpSpPr>
          <p:grpSpPr bwMode="auto">
            <a:xfrm>
              <a:off x="2198" y="4877"/>
              <a:ext cx="8196" cy="533"/>
              <a:chOff x="2283" y="1967"/>
              <a:chExt cx="8196" cy="533"/>
            </a:xfrm>
          </p:grpSpPr>
          <p:sp>
            <p:nvSpPr>
              <p:cNvPr id="14353" name="Rectangle 14"/>
              <p:cNvSpPr>
                <a:spLocks noChangeArrowheads="1"/>
              </p:cNvSpPr>
              <p:nvPr/>
            </p:nvSpPr>
            <p:spPr bwMode="auto">
              <a:xfrm>
                <a:off x="2283" y="1967"/>
                <a:ext cx="683" cy="533"/>
              </a:xfrm>
              <a:prstGeom prst="rect">
                <a:avLst/>
              </a:prstGeom>
              <a:solidFill>
                <a:srgbClr val="FFFFFF"/>
              </a:solidFill>
              <a:ln w="9525">
                <a:solidFill>
                  <a:srgbClr val="000000"/>
                </a:solidFill>
                <a:miter lim="800000"/>
                <a:headEnd/>
                <a:tailEnd/>
              </a:ln>
            </p:spPr>
            <p:txBody>
              <a:bodyPr/>
              <a:lstStyle/>
              <a:p>
                <a:pPr algn="ctr"/>
                <a:r>
                  <a:rPr lang="uz-Cyrl-UZ" sz="1200">
                    <a:latin typeface="Times New Roman" pitchFamily="18" charset="0"/>
                    <a:cs typeface="Times New Roman" pitchFamily="18" charset="0"/>
                  </a:rPr>
                  <a:t>М</a:t>
                </a:r>
                <a:r>
                  <a:rPr lang="en-US" sz="1200" baseline="-25000">
                    <a:latin typeface="Times New Roman" pitchFamily="18" charset="0"/>
                    <a:cs typeface="Times New Roman" pitchFamily="18" charset="0"/>
                  </a:rPr>
                  <a:t>0</a:t>
                </a:r>
                <a:endParaRPr lang="ru-RU" sz="1200">
                  <a:latin typeface="Times New Roman" pitchFamily="18" charset="0"/>
                  <a:cs typeface="Times New Roman" pitchFamily="18" charset="0"/>
                </a:endParaRPr>
              </a:p>
            </p:txBody>
          </p:sp>
          <p:sp>
            <p:nvSpPr>
              <p:cNvPr id="14354" name="Rectangle 15"/>
              <p:cNvSpPr>
                <a:spLocks noChangeArrowheads="1"/>
              </p:cNvSpPr>
              <p:nvPr/>
            </p:nvSpPr>
            <p:spPr bwMode="auto">
              <a:xfrm>
                <a:off x="2966" y="1967"/>
                <a:ext cx="683" cy="533"/>
              </a:xfrm>
              <a:prstGeom prst="rect">
                <a:avLst/>
              </a:prstGeom>
              <a:solidFill>
                <a:srgbClr val="FFFFFF"/>
              </a:solidFill>
              <a:ln w="9525">
                <a:solidFill>
                  <a:srgbClr val="000000"/>
                </a:solidFill>
                <a:miter lim="800000"/>
                <a:headEnd/>
                <a:tailEnd/>
              </a:ln>
            </p:spPr>
            <p:txBody>
              <a:bodyPr/>
              <a:lstStyle/>
              <a:p>
                <a:pPr algn="ctr"/>
                <a:r>
                  <a:rPr lang="uz-Cyrl-UZ" sz="1200">
                    <a:latin typeface="Times New Roman" pitchFamily="18" charset="0"/>
                    <a:cs typeface="Times New Roman" pitchFamily="18" charset="0"/>
                  </a:rPr>
                  <a:t>М</a:t>
                </a:r>
                <a:r>
                  <a:rPr lang="en-US" sz="1200" baseline="-25000">
                    <a:latin typeface="Times New Roman" pitchFamily="18" charset="0"/>
                    <a:cs typeface="Times New Roman" pitchFamily="18" charset="0"/>
                  </a:rPr>
                  <a:t>1</a:t>
                </a:r>
                <a:endParaRPr lang="ru-RU" sz="1200">
                  <a:latin typeface="Times New Roman" pitchFamily="18" charset="0"/>
                  <a:cs typeface="Times New Roman" pitchFamily="18" charset="0"/>
                </a:endParaRPr>
              </a:p>
            </p:txBody>
          </p:sp>
          <p:sp>
            <p:nvSpPr>
              <p:cNvPr id="14355" name="Rectangle 16"/>
              <p:cNvSpPr>
                <a:spLocks noChangeArrowheads="1"/>
              </p:cNvSpPr>
              <p:nvPr/>
            </p:nvSpPr>
            <p:spPr bwMode="auto">
              <a:xfrm>
                <a:off x="3649" y="1967"/>
                <a:ext cx="683" cy="533"/>
              </a:xfrm>
              <a:prstGeom prst="rect">
                <a:avLst/>
              </a:prstGeom>
              <a:solidFill>
                <a:srgbClr val="FFFFFF"/>
              </a:solidFill>
              <a:ln w="9525">
                <a:solidFill>
                  <a:srgbClr val="000000"/>
                </a:solidFill>
                <a:miter lim="800000"/>
                <a:headEnd/>
                <a:tailEnd/>
              </a:ln>
            </p:spPr>
            <p:txBody>
              <a:bodyPr/>
              <a:lstStyle/>
              <a:p>
                <a:pPr algn="ctr"/>
                <a:r>
                  <a:rPr lang="uz-Cyrl-UZ" sz="1200">
                    <a:latin typeface="Times New Roman" pitchFamily="18" charset="0"/>
                    <a:cs typeface="Times New Roman" pitchFamily="18" charset="0"/>
                  </a:rPr>
                  <a:t>М</a:t>
                </a:r>
                <a:r>
                  <a:rPr lang="en-US" sz="1200" baseline="-25000">
                    <a:latin typeface="Times New Roman" pitchFamily="18" charset="0"/>
                    <a:cs typeface="Times New Roman" pitchFamily="18" charset="0"/>
                  </a:rPr>
                  <a:t>2</a:t>
                </a:r>
                <a:endParaRPr lang="ru-RU" sz="1200">
                  <a:latin typeface="Times New Roman" pitchFamily="18" charset="0"/>
                  <a:cs typeface="Times New Roman" pitchFamily="18" charset="0"/>
                </a:endParaRPr>
              </a:p>
            </p:txBody>
          </p:sp>
          <p:sp>
            <p:nvSpPr>
              <p:cNvPr id="14356" name="Rectangle 17"/>
              <p:cNvSpPr>
                <a:spLocks noChangeArrowheads="1"/>
              </p:cNvSpPr>
              <p:nvPr/>
            </p:nvSpPr>
            <p:spPr bwMode="auto">
              <a:xfrm>
                <a:off x="4332" y="1967"/>
                <a:ext cx="683" cy="533"/>
              </a:xfrm>
              <a:prstGeom prst="rect">
                <a:avLst/>
              </a:prstGeom>
              <a:solidFill>
                <a:srgbClr val="FFFFFF"/>
              </a:solidFill>
              <a:ln w="9525">
                <a:solidFill>
                  <a:srgbClr val="000000"/>
                </a:solidFill>
                <a:miter lim="800000"/>
                <a:headEnd/>
                <a:tailEnd/>
              </a:ln>
            </p:spPr>
            <p:txBody>
              <a:bodyPr/>
              <a:lstStyle/>
              <a:p>
                <a:pPr algn="ctr"/>
                <a:r>
                  <a:rPr lang="uz-Cyrl-UZ" sz="1200">
                    <a:latin typeface="Times New Roman" pitchFamily="18" charset="0"/>
                    <a:cs typeface="Times New Roman" pitchFamily="18" charset="0"/>
                  </a:rPr>
                  <a:t>М</a:t>
                </a:r>
                <a:r>
                  <a:rPr lang="en-US" sz="1200" baseline="-25000">
                    <a:latin typeface="Times New Roman" pitchFamily="18" charset="0"/>
                    <a:cs typeface="Times New Roman" pitchFamily="18" charset="0"/>
                  </a:rPr>
                  <a:t>3</a:t>
                </a:r>
                <a:endParaRPr lang="ru-RU" sz="1200">
                  <a:latin typeface="Times New Roman" pitchFamily="18" charset="0"/>
                  <a:cs typeface="Times New Roman" pitchFamily="18" charset="0"/>
                </a:endParaRPr>
              </a:p>
            </p:txBody>
          </p:sp>
          <p:sp>
            <p:nvSpPr>
              <p:cNvPr id="14357" name="Rectangle 18"/>
              <p:cNvSpPr>
                <a:spLocks noChangeArrowheads="1"/>
              </p:cNvSpPr>
              <p:nvPr/>
            </p:nvSpPr>
            <p:spPr bwMode="auto">
              <a:xfrm>
                <a:off x="5015" y="1967"/>
                <a:ext cx="683" cy="533"/>
              </a:xfrm>
              <a:prstGeom prst="rect">
                <a:avLst/>
              </a:prstGeom>
              <a:solidFill>
                <a:srgbClr val="FFFFFF"/>
              </a:solidFill>
              <a:ln w="9525">
                <a:solidFill>
                  <a:srgbClr val="000000"/>
                </a:solidFill>
                <a:miter lim="800000"/>
                <a:headEnd/>
                <a:tailEnd/>
              </a:ln>
            </p:spPr>
            <p:txBody>
              <a:bodyPr/>
              <a:lstStyle/>
              <a:p>
                <a:pPr algn="ctr"/>
                <a:r>
                  <a:rPr lang="uz-Cyrl-UZ" sz="1200">
                    <a:latin typeface="Times New Roman" pitchFamily="18" charset="0"/>
                    <a:cs typeface="Times New Roman" pitchFamily="18" charset="0"/>
                  </a:rPr>
                  <a:t>М</a:t>
                </a:r>
                <a:r>
                  <a:rPr lang="en-US" sz="1200" baseline="-25000">
                    <a:latin typeface="Times New Roman" pitchFamily="18" charset="0"/>
                    <a:cs typeface="Times New Roman" pitchFamily="18" charset="0"/>
                  </a:rPr>
                  <a:t>4</a:t>
                </a:r>
                <a:endParaRPr lang="ru-RU" sz="1200">
                  <a:latin typeface="Times New Roman" pitchFamily="18" charset="0"/>
                  <a:cs typeface="Times New Roman" pitchFamily="18" charset="0"/>
                </a:endParaRPr>
              </a:p>
            </p:txBody>
          </p:sp>
          <p:sp>
            <p:nvSpPr>
              <p:cNvPr id="14358" name="Rectangle 19"/>
              <p:cNvSpPr>
                <a:spLocks noChangeArrowheads="1"/>
              </p:cNvSpPr>
              <p:nvPr/>
            </p:nvSpPr>
            <p:spPr bwMode="auto">
              <a:xfrm>
                <a:off x="5698" y="1967"/>
                <a:ext cx="683" cy="533"/>
              </a:xfrm>
              <a:prstGeom prst="rect">
                <a:avLst/>
              </a:prstGeom>
              <a:solidFill>
                <a:srgbClr val="FFFFFF"/>
              </a:solidFill>
              <a:ln w="9525">
                <a:solidFill>
                  <a:srgbClr val="000000"/>
                </a:solidFill>
                <a:miter lim="800000"/>
                <a:headEnd/>
                <a:tailEnd/>
              </a:ln>
            </p:spPr>
            <p:txBody>
              <a:bodyPr/>
              <a:lstStyle/>
              <a:p>
                <a:r>
                  <a:rPr lang="en-US" sz="1200">
                    <a:latin typeface="Times New Roman" pitchFamily="18" charset="0"/>
                    <a:cs typeface="Times New Roman" pitchFamily="18" charset="0"/>
                  </a:rPr>
                  <a:t>…</a:t>
                </a:r>
                <a:endParaRPr lang="ru-RU" sz="1200">
                  <a:latin typeface="Times New Roman" pitchFamily="18" charset="0"/>
                  <a:cs typeface="Times New Roman" pitchFamily="18" charset="0"/>
                </a:endParaRPr>
              </a:p>
              <a:p>
                <a:r>
                  <a:rPr lang="en-US" sz="1200" baseline="-25000">
                    <a:latin typeface="Times New Roman" pitchFamily="18" charset="0"/>
                    <a:cs typeface="Times New Roman" pitchFamily="18" charset="0"/>
                  </a:rPr>
                  <a:t> </a:t>
                </a:r>
                <a:endParaRPr lang="ru-RU" sz="1200">
                  <a:latin typeface="Times New Roman" pitchFamily="18" charset="0"/>
                  <a:cs typeface="Times New Roman" pitchFamily="18" charset="0"/>
                </a:endParaRPr>
              </a:p>
            </p:txBody>
          </p:sp>
          <p:sp>
            <p:nvSpPr>
              <p:cNvPr id="14359" name="Rectangle 20"/>
              <p:cNvSpPr>
                <a:spLocks noChangeArrowheads="1"/>
              </p:cNvSpPr>
              <p:nvPr/>
            </p:nvSpPr>
            <p:spPr bwMode="auto">
              <a:xfrm>
                <a:off x="6381" y="1967"/>
                <a:ext cx="683" cy="533"/>
              </a:xfrm>
              <a:prstGeom prst="rect">
                <a:avLst/>
              </a:prstGeom>
              <a:solidFill>
                <a:srgbClr val="FFFFFF"/>
              </a:solidFill>
              <a:ln w="9525">
                <a:solidFill>
                  <a:srgbClr val="000000"/>
                </a:solidFill>
                <a:miter lim="800000"/>
                <a:headEnd/>
                <a:tailEnd/>
              </a:ln>
            </p:spPr>
            <p:txBody>
              <a:bodyPr/>
              <a:lstStyle/>
              <a:p>
                <a:r>
                  <a:rPr lang="en-US" sz="1200">
                    <a:latin typeface="Times New Roman" pitchFamily="18" charset="0"/>
                    <a:cs typeface="Times New Roman" pitchFamily="18" charset="0"/>
                  </a:rPr>
                  <a:t>…</a:t>
                </a:r>
                <a:endParaRPr lang="ru-RU" sz="1200">
                  <a:latin typeface="Times New Roman" pitchFamily="18" charset="0"/>
                  <a:cs typeface="Times New Roman" pitchFamily="18" charset="0"/>
                </a:endParaRPr>
              </a:p>
            </p:txBody>
          </p:sp>
          <p:sp>
            <p:nvSpPr>
              <p:cNvPr id="14360" name="Rectangle 21"/>
              <p:cNvSpPr>
                <a:spLocks noChangeArrowheads="1"/>
              </p:cNvSpPr>
              <p:nvPr/>
            </p:nvSpPr>
            <p:spPr bwMode="auto">
              <a:xfrm>
                <a:off x="7064" y="1967"/>
                <a:ext cx="683" cy="533"/>
              </a:xfrm>
              <a:prstGeom prst="rect">
                <a:avLst/>
              </a:prstGeom>
              <a:solidFill>
                <a:srgbClr val="FFFFFF"/>
              </a:solidFill>
              <a:ln w="9525">
                <a:solidFill>
                  <a:srgbClr val="000000"/>
                </a:solidFill>
                <a:miter lim="800000"/>
                <a:headEnd/>
                <a:tailEnd/>
              </a:ln>
            </p:spPr>
            <p:txBody>
              <a:bodyPr/>
              <a:lstStyle/>
              <a:p>
                <a:r>
                  <a:rPr lang="en-US" sz="1200">
                    <a:latin typeface="Times New Roman" pitchFamily="18" charset="0"/>
                    <a:cs typeface="Times New Roman" pitchFamily="18" charset="0"/>
                  </a:rPr>
                  <a:t>…</a:t>
                </a:r>
                <a:endParaRPr lang="ru-RU" sz="1200">
                  <a:latin typeface="Times New Roman" pitchFamily="18" charset="0"/>
                  <a:cs typeface="Times New Roman" pitchFamily="18" charset="0"/>
                </a:endParaRPr>
              </a:p>
            </p:txBody>
          </p:sp>
          <p:sp>
            <p:nvSpPr>
              <p:cNvPr id="14361" name="Rectangle 22"/>
              <p:cNvSpPr>
                <a:spLocks noChangeArrowheads="1"/>
              </p:cNvSpPr>
              <p:nvPr/>
            </p:nvSpPr>
            <p:spPr bwMode="auto">
              <a:xfrm>
                <a:off x="7747" y="1967"/>
                <a:ext cx="683" cy="533"/>
              </a:xfrm>
              <a:prstGeom prst="rect">
                <a:avLst/>
              </a:prstGeom>
              <a:solidFill>
                <a:srgbClr val="FFFFFF"/>
              </a:solidFill>
              <a:ln w="9525">
                <a:solidFill>
                  <a:srgbClr val="000000"/>
                </a:solidFill>
                <a:miter lim="800000"/>
                <a:headEnd/>
                <a:tailEnd/>
              </a:ln>
            </p:spPr>
            <p:txBody>
              <a:bodyPr/>
              <a:lstStyle/>
              <a:p>
                <a:r>
                  <a:rPr lang="en-US" sz="1200">
                    <a:latin typeface="Times New Roman" pitchFamily="18" charset="0"/>
                    <a:cs typeface="Times New Roman" pitchFamily="18" charset="0"/>
                  </a:rPr>
                  <a:t>...</a:t>
                </a:r>
                <a:endParaRPr lang="ru-RU" sz="1200">
                  <a:latin typeface="Times New Roman" pitchFamily="18" charset="0"/>
                  <a:cs typeface="Times New Roman" pitchFamily="18" charset="0"/>
                </a:endParaRPr>
              </a:p>
            </p:txBody>
          </p:sp>
          <p:sp>
            <p:nvSpPr>
              <p:cNvPr id="14362" name="Rectangle 23"/>
              <p:cNvSpPr>
                <a:spLocks noChangeArrowheads="1"/>
              </p:cNvSpPr>
              <p:nvPr/>
            </p:nvSpPr>
            <p:spPr bwMode="auto">
              <a:xfrm>
                <a:off x="8359" y="1967"/>
                <a:ext cx="754" cy="533"/>
              </a:xfrm>
              <a:prstGeom prst="rect">
                <a:avLst/>
              </a:prstGeom>
              <a:solidFill>
                <a:srgbClr val="FFFFFF"/>
              </a:solidFill>
              <a:ln w="9525">
                <a:solidFill>
                  <a:srgbClr val="000000"/>
                </a:solidFill>
                <a:miter lim="800000"/>
                <a:headEnd/>
                <a:tailEnd/>
              </a:ln>
            </p:spPr>
            <p:txBody>
              <a:bodyPr/>
              <a:lstStyle/>
              <a:p>
                <a:r>
                  <a:rPr lang="en-US" sz="1200" baseline="-25000">
                    <a:latin typeface="Times New Roman" pitchFamily="18" charset="0"/>
                    <a:cs typeface="Times New Roman" pitchFamily="18" charset="0"/>
                  </a:rPr>
                  <a:t> </a:t>
                </a:r>
                <a:endParaRPr lang="ru-RU" sz="1200">
                  <a:latin typeface="Times New Roman" pitchFamily="18" charset="0"/>
                  <a:cs typeface="Times New Roman" pitchFamily="18" charset="0"/>
                </a:endParaRPr>
              </a:p>
            </p:txBody>
          </p:sp>
          <p:sp>
            <p:nvSpPr>
              <p:cNvPr id="14363" name="Rectangle 24"/>
              <p:cNvSpPr>
                <a:spLocks noChangeArrowheads="1"/>
              </p:cNvSpPr>
              <p:nvPr/>
            </p:nvSpPr>
            <p:spPr bwMode="auto">
              <a:xfrm>
                <a:off x="8993" y="1967"/>
                <a:ext cx="803" cy="533"/>
              </a:xfrm>
              <a:prstGeom prst="rect">
                <a:avLst/>
              </a:prstGeom>
              <a:solidFill>
                <a:srgbClr val="FFFFFF"/>
              </a:solidFill>
              <a:ln w="9525">
                <a:solidFill>
                  <a:srgbClr val="000000"/>
                </a:solidFill>
                <a:miter lim="800000"/>
                <a:headEnd/>
                <a:tailEnd/>
              </a:ln>
            </p:spPr>
            <p:txBody>
              <a:bodyPr/>
              <a:lstStyle/>
              <a:p>
                <a:pPr algn="ctr"/>
                <a:r>
                  <a:rPr lang="uz-Cyrl-UZ" sz="1200">
                    <a:latin typeface="Times New Roman" pitchFamily="18" charset="0"/>
                    <a:cs typeface="Times New Roman" pitchFamily="18" charset="0"/>
                  </a:rPr>
                  <a:t>М</a:t>
                </a:r>
                <a:r>
                  <a:rPr lang="en-US" sz="1200" baseline="-25000">
                    <a:latin typeface="Times New Roman" pitchFamily="18" charset="0"/>
                    <a:cs typeface="Times New Roman" pitchFamily="18" charset="0"/>
                  </a:rPr>
                  <a:t>n-1</a:t>
                </a:r>
                <a:endParaRPr lang="ru-RU" sz="1200">
                  <a:latin typeface="Times New Roman" pitchFamily="18" charset="0"/>
                  <a:cs typeface="Times New Roman" pitchFamily="18" charset="0"/>
                </a:endParaRPr>
              </a:p>
              <a:p>
                <a:r>
                  <a:rPr lang="en-US" sz="1200" baseline="-25000">
                    <a:latin typeface="Times New Roman" pitchFamily="18" charset="0"/>
                    <a:cs typeface="Times New Roman" pitchFamily="18" charset="0"/>
                  </a:rPr>
                  <a:t> </a:t>
                </a:r>
                <a:endParaRPr lang="ru-RU" sz="1200">
                  <a:latin typeface="Times New Roman" pitchFamily="18" charset="0"/>
                  <a:cs typeface="Times New Roman" pitchFamily="18" charset="0"/>
                </a:endParaRPr>
              </a:p>
            </p:txBody>
          </p:sp>
          <p:sp>
            <p:nvSpPr>
              <p:cNvPr id="14364" name="Rectangle 25"/>
              <p:cNvSpPr>
                <a:spLocks noChangeArrowheads="1"/>
              </p:cNvSpPr>
              <p:nvPr/>
            </p:nvSpPr>
            <p:spPr bwMode="auto">
              <a:xfrm>
                <a:off x="9796" y="1967"/>
                <a:ext cx="683" cy="533"/>
              </a:xfrm>
              <a:prstGeom prst="rect">
                <a:avLst/>
              </a:prstGeom>
              <a:solidFill>
                <a:srgbClr val="FFFFFF"/>
              </a:solidFill>
              <a:ln w="9525">
                <a:solidFill>
                  <a:srgbClr val="000000"/>
                </a:solidFill>
                <a:miter lim="800000"/>
                <a:headEnd/>
                <a:tailEnd/>
              </a:ln>
            </p:spPr>
            <p:txBody>
              <a:bodyPr/>
              <a:lstStyle/>
              <a:p>
                <a:pPr algn="ctr"/>
                <a:r>
                  <a:rPr lang="uz-Cyrl-UZ" sz="1200">
                    <a:latin typeface="Times New Roman" pitchFamily="18" charset="0"/>
                    <a:cs typeface="Times New Roman" pitchFamily="18" charset="0"/>
                  </a:rPr>
                  <a:t>М</a:t>
                </a:r>
                <a:r>
                  <a:rPr lang="en-US" sz="1200" baseline="-25000">
                    <a:latin typeface="Times New Roman" pitchFamily="18" charset="0"/>
                    <a:cs typeface="Times New Roman" pitchFamily="18" charset="0"/>
                  </a:rPr>
                  <a:t>n</a:t>
                </a:r>
                <a:endParaRPr lang="ru-RU" sz="1200">
                  <a:latin typeface="Times New Roman" pitchFamily="18" charset="0"/>
                  <a:cs typeface="Times New Roman" pitchFamily="18" charset="0"/>
                </a:endParaRPr>
              </a:p>
            </p:txBody>
          </p:sp>
        </p:grpSp>
        <p:cxnSp>
          <p:nvCxnSpPr>
            <p:cNvPr id="14352" name="AutoShape 26"/>
            <p:cNvCxnSpPr>
              <a:cxnSpLocks noChangeShapeType="1"/>
            </p:cNvCxnSpPr>
            <p:nvPr/>
          </p:nvCxnSpPr>
          <p:spPr bwMode="auto">
            <a:xfrm>
              <a:off x="5937" y="5410"/>
              <a:ext cx="1" cy="38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grpSp>
      <p:sp>
        <p:nvSpPr>
          <p:cNvPr id="14345" name="TextBox 2"/>
          <p:cNvSpPr txBox="1">
            <a:spLocks noChangeArrowheads="1"/>
          </p:cNvSpPr>
          <p:nvPr/>
        </p:nvSpPr>
        <p:spPr bwMode="auto">
          <a:xfrm>
            <a:off x="2505075" y="6237288"/>
            <a:ext cx="409416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ctr"/>
            <a:r>
              <a:rPr lang="uz-Cyrl-UZ" sz="1600">
                <a:latin typeface="Times New Roman" pitchFamily="18" charset="0"/>
                <a:cs typeface="Times New Roman" pitchFamily="18" charset="0"/>
              </a:rPr>
              <a:t>2.2. расм. Рабин схемаси</a:t>
            </a:r>
            <a:endParaRPr lang="ru-RU" sz="1600">
              <a:latin typeface="Times New Roman" pitchFamily="18" charset="0"/>
              <a:cs typeface="Times New Roman" pitchFamily="18" charset="0"/>
            </a:endParaRPr>
          </a:p>
        </p:txBody>
      </p:sp>
      <p:sp>
        <p:nvSpPr>
          <p:cNvPr id="34" name="TextBox 33"/>
          <p:cNvSpPr txBox="1">
            <a:spLocks noChangeArrowheads="1"/>
          </p:cNvSpPr>
          <p:nvPr/>
        </p:nvSpPr>
        <p:spPr bwMode="auto">
          <a:xfrm>
            <a:off x="428625" y="1916113"/>
            <a:ext cx="8355013" cy="175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uz-Cyrl-UZ" b="1">
                <a:latin typeface="Times New Roman" pitchFamily="18" charset="0"/>
                <a:cs typeface="Times New Roman" pitchFamily="18" charset="0"/>
              </a:rPr>
              <a:t>Схеманинг камчилиги:</a:t>
            </a:r>
            <a:endParaRPr lang="ru-RU">
              <a:latin typeface="Times New Roman" pitchFamily="18" charset="0"/>
              <a:cs typeface="Times New Roman" pitchFamily="18" charset="0"/>
            </a:endParaRPr>
          </a:p>
          <a:p>
            <a:pPr algn="just"/>
            <a:r>
              <a:rPr lang="uz-Cyrl-UZ">
                <a:latin typeface="Times New Roman" pitchFamily="18" charset="0"/>
                <a:cs typeface="Times New Roman" pitchFamily="18" charset="0"/>
              </a:rPr>
              <a:t>Ушбу усулда хэш қиймат узунлиги шифрланган блок узунлиги билан тенг бўлади. Масалан сиқиш функцияси ўрнида DES шифрлаш алгоритмидан  фойдаланилса,  хэш қиймат 64 бит узунликка эга бўлади. Ушбу хэш қийматни "Матнлар тўқнашуви" деб номланувчи криптоҳужум усули билан коллизияга учратиш мумкин. </a:t>
            </a:r>
            <a:endParaRPr lang="ru-RU">
              <a:latin typeface="Times New Roman" pitchFamily="18" charset="0"/>
              <a:cs typeface="Times New Roman" pitchFamily="18" charset="0"/>
            </a:endParaRPr>
          </a:p>
        </p:txBody>
      </p:sp>
      <p:sp>
        <p:nvSpPr>
          <p:cNvPr id="65" name="TextBox 64"/>
          <p:cNvSpPr txBox="1">
            <a:spLocks noChangeArrowheads="1"/>
          </p:cNvSpPr>
          <p:nvPr/>
        </p:nvSpPr>
        <p:spPr bwMode="auto">
          <a:xfrm>
            <a:off x="501650" y="2055813"/>
            <a:ext cx="8355013"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just"/>
            <a:r>
              <a:rPr lang="uz-Cyrl-UZ">
                <a:latin typeface="Times New Roman" pitchFamily="18" charset="0"/>
                <a:cs typeface="Times New Roman" pitchFamily="18" charset="0"/>
              </a:rPr>
              <a:t>Очиқ маълумотдан генерация қилинган калитларнинг бардошли бўлмаслиги, яъни ҳар хил очиқ маълумотдан бир хил қоида асосида генерация қилинган раунд калитларида 0 ва 1 ларнинг баланслашмаганлиги, ёки даврий қайтарилувчи бўлиши шифраш алгоритмининг хусусиятидан келиб чиққан холда коллизия топиш имкониятини беради. </a:t>
            </a:r>
            <a:endParaRPr lang="ru-RU">
              <a:latin typeface="Times New Roman" pitchFamily="18" charset="0"/>
              <a:cs typeface="Times New Roman" pitchFamily="18" charset="0"/>
            </a:endParaRPr>
          </a:p>
        </p:txBody>
      </p:sp>
      <p:sp>
        <p:nvSpPr>
          <p:cNvPr id="66" name="TextBox 65"/>
          <p:cNvSpPr txBox="1">
            <a:spLocks noChangeArrowheads="1"/>
          </p:cNvSpPr>
          <p:nvPr/>
        </p:nvSpPr>
        <p:spPr bwMode="auto">
          <a:xfrm>
            <a:off x="501650" y="2295525"/>
            <a:ext cx="8355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just"/>
            <a:r>
              <a:rPr lang="uz-Cyrl-UZ">
                <a:latin typeface="Times New Roman" pitchFamily="18" charset="0"/>
                <a:cs typeface="Times New Roman" pitchFamily="18" charset="0"/>
              </a:rPr>
              <a:t>Хэш-функция алгоритмининг тезлиги шифрлаш алгоритмининг тезлигига боғлиқ. </a:t>
            </a:r>
            <a:endParaRPr lang="ru-RU">
              <a:latin typeface="Times New Roman" pitchFamily="18" charset="0"/>
              <a:cs typeface="Times New Roman" pitchFamily="18" charset="0"/>
            </a:endParaRPr>
          </a:p>
        </p:txBody>
      </p:sp>
      <p:sp>
        <p:nvSpPr>
          <p:cNvPr id="35" name="Стрелка влево 34">
            <a:hlinkClick r:id="rId2" action="ppaction://hlinkpres?slideindex=11&amp;slidetitle=Презентация PowerPoint"/>
          </p:cNvPr>
          <p:cNvSpPr/>
          <p:nvPr/>
        </p:nvSpPr>
        <p:spPr>
          <a:xfrm>
            <a:off x="460375" y="6407150"/>
            <a:ext cx="558800" cy="298450"/>
          </a:xfrm>
          <a:prstGeom prst="leftArrow">
            <a:avLst/>
          </a:prstGeom>
        </p:spPr>
        <p:style>
          <a:lnRef idx="2">
            <a:schemeClr val="accent6"/>
          </a:lnRef>
          <a:fillRef idx="1">
            <a:schemeClr val="lt1"/>
          </a:fillRef>
          <a:effectRef idx="0">
            <a:schemeClr val="accent6"/>
          </a:effectRef>
          <a:fontRef idx="minor">
            <a:schemeClr val="dk1"/>
          </a:fontRef>
        </p:style>
        <p:txBody>
          <a:bodyPr anchor="ctr"/>
          <a:lstStyle/>
          <a:p>
            <a:pPr algn="ctr" fontAlgn="auto">
              <a:spcBef>
                <a:spcPts val="0"/>
              </a:spcBef>
              <a:spcAft>
                <a:spcPts val="0"/>
              </a:spcAft>
              <a:defRPr/>
            </a:pPr>
            <a:endParaRPr lang="ru-RU"/>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xit" presetSubtype="32" fill="hold" grpId="0" nodeType="clickEffect">
                                  <p:stCondLst>
                                    <p:cond delay="0"/>
                                  </p:stCondLst>
                                  <p:childTnLst>
                                    <p:anim calcmode="lin" valueType="num">
                                      <p:cBhvr>
                                        <p:cTn id="6" dur="500"/>
                                        <p:tgtEl>
                                          <p:spTgt spid="2"/>
                                        </p:tgtEl>
                                        <p:attrNameLst>
                                          <p:attrName>ppt_w</p:attrName>
                                        </p:attrNameLst>
                                      </p:cBhvr>
                                      <p:tavLst>
                                        <p:tav tm="0">
                                          <p:val>
                                            <p:strVal val="ppt_w"/>
                                          </p:val>
                                        </p:tav>
                                        <p:tav tm="100000">
                                          <p:val>
                                            <p:fltVal val="0"/>
                                          </p:val>
                                        </p:tav>
                                      </p:tavLst>
                                    </p:anim>
                                    <p:anim calcmode="lin" valueType="num">
                                      <p:cBhvr>
                                        <p:cTn id="7" dur="500"/>
                                        <p:tgtEl>
                                          <p:spTgt spid="2"/>
                                        </p:tgtEl>
                                        <p:attrNameLst>
                                          <p:attrName>ppt_h</p:attrName>
                                        </p:attrNameLst>
                                      </p:cBhvr>
                                      <p:tavLst>
                                        <p:tav tm="0">
                                          <p:val>
                                            <p:strVal val="ppt_h"/>
                                          </p:val>
                                        </p:tav>
                                        <p:tav tm="100000">
                                          <p:val>
                                            <p:fltVal val="0"/>
                                          </p:val>
                                        </p:tav>
                                      </p:tavLst>
                                    </p:anim>
                                    <p:animEffect transition="out" filter="fade">
                                      <p:cBhvr>
                                        <p:cTn id="8" dur="500"/>
                                        <p:tgtEl>
                                          <p:spTgt spid="2"/>
                                        </p:tgtEl>
                                      </p:cBhvr>
                                    </p:animEffect>
                                    <p:set>
                                      <p:cBhvr>
                                        <p:cTn id="9" dur="1" fill="hold">
                                          <p:stCondLst>
                                            <p:cond delay="499"/>
                                          </p:stCondLst>
                                        </p:cTn>
                                        <p:tgtEl>
                                          <p:spTgt spid="2"/>
                                        </p:tgtEl>
                                        <p:attrNameLst>
                                          <p:attrName>style.visibility</p:attrName>
                                        </p:attrNameLst>
                                      </p:cBhvr>
                                      <p:to>
                                        <p:strVal val="hidden"/>
                                      </p:to>
                                    </p:set>
                                  </p:childTnLst>
                                </p:cTn>
                              </p:par>
                              <p:par>
                                <p:cTn id="10" presetID="2" presetClass="entr" presetSubtype="4" fill="hold" grpId="0" nodeType="withEffect">
                                  <p:stCondLst>
                                    <p:cond delay="0"/>
                                  </p:stCondLst>
                                  <p:childTnLst>
                                    <p:set>
                                      <p:cBhvr>
                                        <p:cTn id="11" dur="1" fill="hold">
                                          <p:stCondLst>
                                            <p:cond delay="0"/>
                                          </p:stCondLst>
                                        </p:cTn>
                                        <p:tgtEl>
                                          <p:spTgt spid="34"/>
                                        </p:tgtEl>
                                        <p:attrNameLst>
                                          <p:attrName>style.visibility</p:attrName>
                                        </p:attrNameLst>
                                      </p:cBhvr>
                                      <p:to>
                                        <p:strVal val="visible"/>
                                      </p:to>
                                    </p:set>
                                    <p:anim calcmode="lin" valueType="num">
                                      <p:cBhvr additive="base">
                                        <p:cTn id="12" dur="500" fill="hold"/>
                                        <p:tgtEl>
                                          <p:spTgt spid="34"/>
                                        </p:tgtEl>
                                        <p:attrNameLst>
                                          <p:attrName>ppt_x</p:attrName>
                                        </p:attrNameLst>
                                      </p:cBhvr>
                                      <p:tavLst>
                                        <p:tav tm="0">
                                          <p:val>
                                            <p:strVal val="#ppt_x"/>
                                          </p:val>
                                        </p:tav>
                                        <p:tav tm="100000">
                                          <p:val>
                                            <p:strVal val="#ppt_x"/>
                                          </p:val>
                                        </p:tav>
                                      </p:tavLst>
                                    </p:anim>
                                    <p:anim calcmode="lin" valueType="num">
                                      <p:cBhvr additive="base">
                                        <p:cTn id="13"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0" presetClass="exit" presetSubtype="0" fill="hold" grpId="1" nodeType="clickEffect">
                                  <p:stCondLst>
                                    <p:cond delay="0"/>
                                  </p:stCondLst>
                                  <p:childTnLst>
                                    <p:animEffect transition="out" filter="fade">
                                      <p:cBhvr>
                                        <p:cTn id="17" dur="500"/>
                                        <p:tgtEl>
                                          <p:spTgt spid="34"/>
                                        </p:tgtEl>
                                      </p:cBhvr>
                                    </p:animEffect>
                                    <p:set>
                                      <p:cBhvr>
                                        <p:cTn id="18" dur="1" fill="hold">
                                          <p:stCondLst>
                                            <p:cond delay="499"/>
                                          </p:stCondLst>
                                        </p:cTn>
                                        <p:tgtEl>
                                          <p:spTgt spid="34"/>
                                        </p:tgtEl>
                                        <p:attrNameLst>
                                          <p:attrName>style.visibility</p:attrName>
                                        </p:attrNameLst>
                                      </p:cBhvr>
                                      <p:to>
                                        <p:strVal val="hidden"/>
                                      </p:to>
                                    </p:set>
                                  </p:childTnLst>
                                </p:cTn>
                              </p:par>
                              <p:par>
                                <p:cTn id="19" presetID="2" presetClass="entr" presetSubtype="4" fill="hold" grpId="0" nodeType="withEffect">
                                  <p:stCondLst>
                                    <p:cond delay="0"/>
                                  </p:stCondLst>
                                  <p:childTnLst>
                                    <p:set>
                                      <p:cBhvr>
                                        <p:cTn id="20" dur="1" fill="hold">
                                          <p:stCondLst>
                                            <p:cond delay="0"/>
                                          </p:stCondLst>
                                        </p:cTn>
                                        <p:tgtEl>
                                          <p:spTgt spid="65"/>
                                        </p:tgtEl>
                                        <p:attrNameLst>
                                          <p:attrName>style.visibility</p:attrName>
                                        </p:attrNameLst>
                                      </p:cBhvr>
                                      <p:to>
                                        <p:strVal val="visible"/>
                                      </p:to>
                                    </p:set>
                                    <p:anim calcmode="lin" valueType="num">
                                      <p:cBhvr additive="base">
                                        <p:cTn id="21" dur="500" fill="hold"/>
                                        <p:tgtEl>
                                          <p:spTgt spid="65"/>
                                        </p:tgtEl>
                                        <p:attrNameLst>
                                          <p:attrName>ppt_x</p:attrName>
                                        </p:attrNameLst>
                                      </p:cBhvr>
                                      <p:tavLst>
                                        <p:tav tm="0">
                                          <p:val>
                                            <p:strVal val="#ppt_x"/>
                                          </p:val>
                                        </p:tav>
                                        <p:tav tm="100000">
                                          <p:val>
                                            <p:strVal val="#ppt_x"/>
                                          </p:val>
                                        </p:tav>
                                      </p:tavLst>
                                    </p:anim>
                                    <p:anim calcmode="lin" valueType="num">
                                      <p:cBhvr additive="base">
                                        <p:cTn id="22" dur="500" fill="hold"/>
                                        <p:tgtEl>
                                          <p:spTgt spid="65"/>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xit" presetSubtype="0" fill="hold" grpId="1" nodeType="clickEffect">
                                  <p:stCondLst>
                                    <p:cond delay="0"/>
                                  </p:stCondLst>
                                  <p:childTnLst>
                                    <p:animEffect transition="out" filter="fade">
                                      <p:cBhvr>
                                        <p:cTn id="26" dur="500"/>
                                        <p:tgtEl>
                                          <p:spTgt spid="65"/>
                                        </p:tgtEl>
                                      </p:cBhvr>
                                    </p:animEffect>
                                    <p:set>
                                      <p:cBhvr>
                                        <p:cTn id="27" dur="1" fill="hold">
                                          <p:stCondLst>
                                            <p:cond delay="499"/>
                                          </p:stCondLst>
                                        </p:cTn>
                                        <p:tgtEl>
                                          <p:spTgt spid="65"/>
                                        </p:tgtEl>
                                        <p:attrNameLst>
                                          <p:attrName>style.visibility</p:attrName>
                                        </p:attrNameLst>
                                      </p:cBhvr>
                                      <p:to>
                                        <p:strVal val="hidden"/>
                                      </p:to>
                                    </p:set>
                                  </p:childTnLst>
                                </p:cTn>
                              </p:par>
                            </p:childTnLst>
                          </p:cTn>
                        </p:par>
                        <p:par>
                          <p:cTn id="28" fill="hold" nodeType="afterGroup">
                            <p:stCondLst>
                              <p:cond delay="500"/>
                            </p:stCondLst>
                            <p:childTnLst>
                              <p:par>
                                <p:cTn id="29" presetID="2" presetClass="entr" presetSubtype="4" fill="hold" grpId="0" nodeType="afterEffect">
                                  <p:stCondLst>
                                    <p:cond delay="0"/>
                                  </p:stCondLst>
                                  <p:childTnLst>
                                    <p:set>
                                      <p:cBhvr>
                                        <p:cTn id="30" dur="1" fill="hold">
                                          <p:stCondLst>
                                            <p:cond delay="0"/>
                                          </p:stCondLst>
                                        </p:cTn>
                                        <p:tgtEl>
                                          <p:spTgt spid="66"/>
                                        </p:tgtEl>
                                        <p:attrNameLst>
                                          <p:attrName>style.visibility</p:attrName>
                                        </p:attrNameLst>
                                      </p:cBhvr>
                                      <p:to>
                                        <p:strVal val="visible"/>
                                      </p:to>
                                    </p:set>
                                    <p:anim calcmode="lin" valueType="num">
                                      <p:cBhvr additive="base">
                                        <p:cTn id="31" dur="500" fill="hold"/>
                                        <p:tgtEl>
                                          <p:spTgt spid="66"/>
                                        </p:tgtEl>
                                        <p:attrNameLst>
                                          <p:attrName>ppt_x</p:attrName>
                                        </p:attrNameLst>
                                      </p:cBhvr>
                                      <p:tavLst>
                                        <p:tav tm="0">
                                          <p:val>
                                            <p:strVal val="#ppt_x"/>
                                          </p:val>
                                        </p:tav>
                                        <p:tav tm="100000">
                                          <p:val>
                                            <p:strVal val="#ppt_x"/>
                                          </p:val>
                                        </p:tav>
                                      </p:tavLst>
                                    </p:anim>
                                    <p:anim calcmode="lin" valueType="num">
                                      <p:cBhvr additive="base">
                                        <p:cTn id="32" dur="500" fill="hold"/>
                                        <p:tgtEl>
                                          <p:spTgt spid="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4" grpId="0"/>
      <p:bldP spid="34" grpId="1"/>
      <p:bldP spid="65" grpId="0"/>
      <p:bldP spid="65" grpId="1"/>
      <p:bldP spid="6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428596" y="228600"/>
            <a:ext cx="8501122" cy="914400"/>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t="100000" r="100000"/>
            </a:path>
            <a:tileRect l="-100000" b="-100000"/>
          </a:gradFill>
          <a:ln>
            <a:solidFill>
              <a:schemeClr val="tx1"/>
            </a:solidFill>
          </a:ln>
          <a:effectLst>
            <a:glow rad="101600">
              <a:schemeClr val="accent4">
                <a:satMod val="175000"/>
                <a:alpha val="40000"/>
              </a:schemeClr>
            </a:glow>
            <a:softEdge rad="12700"/>
          </a:effectLst>
        </p:spPr>
        <p:style>
          <a:lnRef idx="2">
            <a:schemeClr val="dk1"/>
          </a:lnRef>
          <a:fillRef idx="1">
            <a:schemeClr val="lt1"/>
          </a:fillRef>
          <a:effectRef idx="0">
            <a:schemeClr val="dk1"/>
          </a:effectRef>
          <a:fontRef idx="minor">
            <a:schemeClr val="dk1"/>
          </a:fontRef>
        </p:style>
        <p:txBody>
          <a:bodyPr anchor="ctr"/>
          <a:lstStyle/>
          <a:p>
            <a:pPr algn="ctr" fontAlgn="auto">
              <a:spcBef>
                <a:spcPts val="0"/>
              </a:spcBef>
              <a:spcAft>
                <a:spcPts val="0"/>
              </a:spcAft>
              <a:defRPr/>
            </a:pPr>
            <a:r>
              <a:rPr lang="ru-RU" sz="2000" b="1" dirty="0" err="1">
                <a:latin typeface="Times New Roman" pitchFamily="18" charset="0"/>
                <a:cs typeface="Times New Roman" pitchFamily="18" charset="0"/>
              </a:rPr>
              <a:t>Хэш</a:t>
            </a:r>
            <a:r>
              <a:rPr lang="ru-RU" sz="2000" b="1" dirty="0">
                <a:latin typeface="Times New Roman" pitchFamily="18" charset="0"/>
                <a:cs typeface="Times New Roman" pitchFamily="18" charset="0"/>
              </a:rPr>
              <a:t> функция </a:t>
            </a:r>
            <a:r>
              <a:rPr lang="ru-RU" sz="2000" b="1" dirty="0" err="1">
                <a:latin typeface="Times New Roman" pitchFamily="18" charset="0"/>
                <a:cs typeface="Times New Roman" pitchFamily="18" charset="0"/>
              </a:rPr>
              <a:t>қуриш</a:t>
            </a:r>
            <a:r>
              <a:rPr lang="ru-RU" sz="2000" b="1" dirty="0">
                <a:latin typeface="Times New Roman" pitchFamily="18" charset="0"/>
                <a:cs typeface="Times New Roman" pitchFamily="18" charset="0"/>
              </a:rPr>
              <a:t> (конструктив </a:t>
            </a:r>
            <a:r>
              <a:rPr lang="ru-RU" sz="2000" b="1" dirty="0" err="1">
                <a:latin typeface="Times New Roman" pitchFamily="18" charset="0"/>
                <a:cs typeface="Times New Roman" pitchFamily="18" charset="0"/>
              </a:rPr>
              <a:t>схемасини</a:t>
            </a:r>
            <a:r>
              <a:rPr lang="ru-RU" sz="2000" b="1" dirty="0">
                <a:latin typeface="Times New Roman" pitchFamily="18" charset="0"/>
                <a:cs typeface="Times New Roman" pitchFamily="18" charset="0"/>
              </a:rPr>
              <a:t>) </a:t>
            </a:r>
            <a:r>
              <a:rPr lang="ru-RU" sz="2000" b="1" dirty="0" err="1">
                <a:latin typeface="Times New Roman" pitchFamily="18" charset="0"/>
                <a:cs typeface="Times New Roman" pitchFamily="18" charset="0"/>
              </a:rPr>
              <a:t>принципини</a:t>
            </a:r>
            <a:r>
              <a:rPr lang="ru-RU" sz="2000" b="1" dirty="0">
                <a:latin typeface="Times New Roman" pitchFamily="18" charset="0"/>
                <a:cs typeface="Times New Roman" pitchFamily="18" charset="0"/>
              </a:rPr>
              <a:t> </a:t>
            </a:r>
            <a:r>
              <a:rPr lang="ru-RU" sz="2000" b="1" dirty="0" err="1">
                <a:latin typeface="Times New Roman" pitchFamily="18" charset="0"/>
                <a:cs typeface="Times New Roman" pitchFamily="18" charset="0"/>
              </a:rPr>
              <a:t>танлаш</a:t>
            </a:r>
            <a:endParaRPr lang="ru-RU" sz="2000" b="1" dirty="0">
              <a:latin typeface="Times New Roman" pitchFamily="18" charset="0"/>
              <a:cs typeface="Times New Roman" pitchFamily="18" charset="0"/>
            </a:endParaRPr>
          </a:p>
        </p:txBody>
      </p:sp>
      <p:sp>
        <p:nvSpPr>
          <p:cNvPr id="5" name="Прямоугольник 4"/>
          <p:cNvSpPr/>
          <p:nvPr/>
        </p:nvSpPr>
        <p:spPr>
          <a:xfrm>
            <a:off x="381000" y="1295400"/>
            <a:ext cx="8534400" cy="5410200"/>
          </a:xfrm>
          <a:prstGeom prst="rect">
            <a:avLst/>
          </a:prstGeom>
          <a:solidFill>
            <a:schemeClr val="bg2"/>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fontAlgn="auto">
              <a:spcBef>
                <a:spcPts val="0"/>
              </a:spcBef>
              <a:spcAft>
                <a:spcPts val="0"/>
              </a:spcAft>
              <a:defRPr/>
            </a:pPr>
            <a:endParaRPr lang="ru-RU" b="1" dirty="0">
              <a:solidFill>
                <a:schemeClr val="tx1"/>
              </a:solidFill>
              <a:latin typeface="Times New Roman" pitchFamily="18" charset="0"/>
              <a:cs typeface="Times New Roman" pitchFamily="18" charset="0"/>
            </a:endParaRPr>
          </a:p>
        </p:txBody>
      </p:sp>
      <p:sp>
        <p:nvSpPr>
          <p:cNvPr id="6" name="Скругленный прямоугольник 5"/>
          <p:cNvSpPr/>
          <p:nvPr/>
        </p:nvSpPr>
        <p:spPr>
          <a:xfrm>
            <a:off x="1042988" y="1412875"/>
            <a:ext cx="7200900" cy="503238"/>
          </a:xfrm>
          <a:prstGeom prst="roundRect">
            <a:avLst/>
          </a:prstGeom>
        </p:spPr>
        <p:style>
          <a:lnRef idx="2">
            <a:schemeClr val="accent6"/>
          </a:lnRef>
          <a:fillRef idx="1">
            <a:schemeClr val="lt1"/>
          </a:fillRef>
          <a:effectRef idx="0">
            <a:schemeClr val="accent6"/>
          </a:effectRef>
          <a:fontRef idx="minor">
            <a:schemeClr val="dk1"/>
          </a:fontRef>
        </p:style>
        <p:txBody>
          <a:bodyPr anchor="ctr"/>
          <a:lstStyle/>
          <a:p>
            <a:pPr algn="ctr" fontAlgn="auto">
              <a:spcBef>
                <a:spcPts val="0"/>
              </a:spcBef>
              <a:spcAft>
                <a:spcPts val="0"/>
              </a:spcAft>
              <a:defRPr/>
            </a:pPr>
            <a:r>
              <a:rPr lang="uz-Cyrl-UZ" b="1" dirty="0">
                <a:latin typeface="Times New Roman" pitchFamily="18" charset="0"/>
                <a:cs typeface="Times New Roman" pitchFamily="18" charset="0"/>
              </a:rPr>
              <a:t>Девис-Мейер схемаси</a:t>
            </a:r>
          </a:p>
        </p:txBody>
      </p:sp>
      <p:sp>
        <p:nvSpPr>
          <p:cNvPr id="15367" name="TextBox 2"/>
          <p:cNvSpPr txBox="1">
            <a:spLocks noChangeArrowheads="1"/>
          </p:cNvSpPr>
          <p:nvPr/>
        </p:nvSpPr>
        <p:spPr bwMode="auto">
          <a:xfrm>
            <a:off x="2505075" y="6237288"/>
            <a:ext cx="409416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ctr"/>
            <a:r>
              <a:rPr lang="uz-Cyrl-UZ" sz="1600"/>
              <a:t>2.3. расм. Девис-Мейер схемаси</a:t>
            </a:r>
            <a:endParaRPr lang="ru-RU" sz="1600">
              <a:latin typeface="Times New Roman" pitchFamily="18" charset="0"/>
              <a:cs typeface="Times New Roman" pitchFamily="18" charset="0"/>
            </a:endParaRPr>
          </a:p>
        </p:txBody>
      </p:sp>
      <p:grpSp>
        <p:nvGrpSpPr>
          <p:cNvPr id="15368" name="Группа 2059"/>
          <p:cNvGrpSpPr>
            <a:grpSpLocks/>
          </p:cNvGrpSpPr>
          <p:nvPr/>
        </p:nvGrpSpPr>
        <p:grpSpPr bwMode="auto">
          <a:xfrm>
            <a:off x="1357313" y="3132138"/>
            <a:ext cx="6572250" cy="3032125"/>
            <a:chOff x="1187624" y="2577354"/>
            <a:chExt cx="6490769" cy="2989877"/>
          </a:xfrm>
        </p:grpSpPr>
        <p:grpSp>
          <p:nvGrpSpPr>
            <p:cNvPr id="15371" name="Group 2"/>
            <p:cNvGrpSpPr>
              <a:grpSpLocks/>
            </p:cNvGrpSpPr>
            <p:nvPr/>
          </p:nvGrpSpPr>
          <p:grpSpPr bwMode="auto">
            <a:xfrm>
              <a:off x="1187624" y="2577354"/>
              <a:ext cx="6490769" cy="2989877"/>
              <a:chOff x="2198" y="4877"/>
              <a:chExt cx="8196" cy="3541"/>
            </a:xfrm>
          </p:grpSpPr>
          <p:grpSp>
            <p:nvGrpSpPr>
              <p:cNvPr id="15375" name="Group 3"/>
              <p:cNvGrpSpPr>
                <a:grpSpLocks/>
              </p:cNvGrpSpPr>
              <p:nvPr/>
            </p:nvGrpSpPr>
            <p:grpSpPr bwMode="auto">
              <a:xfrm>
                <a:off x="3749" y="5790"/>
                <a:ext cx="6303" cy="2628"/>
                <a:chOff x="4338" y="4797"/>
                <a:chExt cx="6303" cy="2628"/>
              </a:xfrm>
            </p:grpSpPr>
            <p:grpSp>
              <p:nvGrpSpPr>
                <p:cNvPr id="15390" name="Group 4"/>
                <p:cNvGrpSpPr>
                  <a:grpSpLocks/>
                </p:cNvGrpSpPr>
                <p:nvPr/>
              </p:nvGrpSpPr>
              <p:grpSpPr bwMode="auto">
                <a:xfrm>
                  <a:off x="4338" y="4797"/>
                  <a:ext cx="3179" cy="2628"/>
                  <a:chOff x="3142" y="4704"/>
                  <a:chExt cx="3179" cy="2628"/>
                </a:xfrm>
              </p:grpSpPr>
              <p:sp>
                <p:nvSpPr>
                  <p:cNvPr id="15392" name="Rectangle 5"/>
                  <p:cNvSpPr>
                    <a:spLocks noChangeArrowheads="1"/>
                  </p:cNvSpPr>
                  <p:nvPr/>
                </p:nvSpPr>
                <p:spPr bwMode="auto">
                  <a:xfrm>
                    <a:off x="3142" y="5536"/>
                    <a:ext cx="683" cy="533"/>
                  </a:xfrm>
                  <a:prstGeom prst="rect">
                    <a:avLst/>
                  </a:prstGeom>
                  <a:solidFill>
                    <a:srgbClr val="FFFFFF"/>
                  </a:solidFill>
                  <a:ln w="9525">
                    <a:solidFill>
                      <a:srgbClr val="000000"/>
                    </a:solidFill>
                    <a:miter lim="800000"/>
                    <a:headEnd/>
                    <a:tailEnd/>
                  </a:ln>
                </p:spPr>
                <p:txBody>
                  <a:bodyPr/>
                  <a:lstStyle/>
                  <a:p>
                    <a:pPr algn="ctr"/>
                    <a:r>
                      <a:rPr lang="en-US" sz="1200">
                        <a:latin typeface="Times New Roman" pitchFamily="18" charset="0"/>
                        <a:cs typeface="Times New Roman" pitchFamily="18" charset="0"/>
                      </a:rPr>
                      <a:t>H</a:t>
                    </a:r>
                    <a:r>
                      <a:rPr lang="en-US" sz="1200" baseline="-25000">
                        <a:latin typeface="Times New Roman" pitchFamily="18" charset="0"/>
                        <a:cs typeface="Times New Roman" pitchFamily="18" charset="0"/>
                      </a:rPr>
                      <a:t>i-1</a:t>
                    </a:r>
                    <a:endParaRPr lang="ru-RU" sz="1200">
                      <a:latin typeface="Times New Roman" pitchFamily="18" charset="0"/>
                      <a:cs typeface="Times New Roman" pitchFamily="18" charset="0"/>
                    </a:endParaRPr>
                  </a:p>
                </p:txBody>
              </p:sp>
              <p:cxnSp>
                <p:nvCxnSpPr>
                  <p:cNvPr id="15393" name="AutoShape 6"/>
                  <p:cNvCxnSpPr>
                    <a:cxnSpLocks noChangeShapeType="1"/>
                  </p:cNvCxnSpPr>
                  <p:nvPr/>
                </p:nvCxnSpPr>
                <p:spPr bwMode="auto">
                  <a:xfrm>
                    <a:off x="3825" y="5816"/>
                    <a:ext cx="654" cy="9"/>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5394" name="Rectangle 7"/>
                  <p:cNvSpPr>
                    <a:spLocks noChangeArrowheads="1"/>
                  </p:cNvSpPr>
                  <p:nvPr/>
                </p:nvSpPr>
                <p:spPr bwMode="auto">
                  <a:xfrm>
                    <a:off x="4479" y="5621"/>
                    <a:ext cx="1842" cy="448"/>
                  </a:xfrm>
                  <a:prstGeom prst="rect">
                    <a:avLst/>
                  </a:prstGeom>
                  <a:solidFill>
                    <a:srgbClr val="FFFFFF"/>
                  </a:solidFill>
                  <a:ln w="9525">
                    <a:solidFill>
                      <a:srgbClr val="000000"/>
                    </a:solidFill>
                    <a:miter lim="800000"/>
                    <a:headEnd/>
                    <a:tailEnd/>
                  </a:ln>
                </p:spPr>
                <p:txBody>
                  <a:bodyPr/>
                  <a:lstStyle/>
                  <a:p>
                    <a:pPr algn="ctr"/>
                    <a:r>
                      <a:rPr lang="uz-Cyrl-UZ" sz="1000">
                        <a:latin typeface="Times New Roman" pitchFamily="18" charset="0"/>
                        <a:cs typeface="Times New Roman" pitchFamily="18" charset="0"/>
                      </a:rPr>
                      <a:t>Шифрлаш алгоритми</a:t>
                    </a:r>
                    <a:endParaRPr lang="ru-RU" sz="1200">
                      <a:latin typeface="Times New Roman" pitchFamily="18" charset="0"/>
                      <a:cs typeface="Times New Roman" pitchFamily="18" charset="0"/>
                    </a:endParaRPr>
                  </a:p>
                </p:txBody>
              </p:sp>
              <p:cxnSp>
                <p:nvCxnSpPr>
                  <p:cNvPr id="15395" name="AutoShape 8"/>
                  <p:cNvCxnSpPr>
                    <a:cxnSpLocks noChangeShapeType="1"/>
                  </p:cNvCxnSpPr>
                  <p:nvPr/>
                </p:nvCxnSpPr>
                <p:spPr bwMode="auto">
                  <a:xfrm>
                    <a:off x="5304" y="5237"/>
                    <a:ext cx="0" cy="384"/>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5396" name="Rectangle 9"/>
                  <p:cNvSpPr>
                    <a:spLocks noChangeArrowheads="1"/>
                  </p:cNvSpPr>
                  <p:nvPr/>
                </p:nvSpPr>
                <p:spPr bwMode="auto">
                  <a:xfrm>
                    <a:off x="4965" y="4704"/>
                    <a:ext cx="683" cy="533"/>
                  </a:xfrm>
                  <a:prstGeom prst="rect">
                    <a:avLst/>
                  </a:prstGeom>
                  <a:solidFill>
                    <a:srgbClr val="FFFFFF"/>
                  </a:solidFill>
                  <a:ln w="9525">
                    <a:solidFill>
                      <a:srgbClr val="000000"/>
                    </a:solidFill>
                    <a:miter lim="800000"/>
                    <a:headEnd/>
                    <a:tailEnd/>
                  </a:ln>
                </p:spPr>
                <p:txBody>
                  <a:bodyPr/>
                  <a:lstStyle/>
                  <a:p>
                    <a:pPr algn="ctr"/>
                    <a:r>
                      <a:rPr lang="uz-Cyrl-UZ" sz="1200">
                        <a:latin typeface="Times New Roman" pitchFamily="18" charset="0"/>
                        <a:cs typeface="Times New Roman" pitchFamily="18" charset="0"/>
                      </a:rPr>
                      <a:t>М</a:t>
                    </a:r>
                    <a:r>
                      <a:rPr lang="en-US" sz="1200" baseline="-25000">
                        <a:latin typeface="Times New Roman" pitchFamily="18" charset="0"/>
                        <a:cs typeface="Times New Roman" pitchFamily="18" charset="0"/>
                      </a:rPr>
                      <a:t>i</a:t>
                    </a:r>
                    <a:endParaRPr lang="ru-RU" sz="1200">
                      <a:latin typeface="Times New Roman" pitchFamily="18" charset="0"/>
                      <a:cs typeface="Times New Roman" pitchFamily="18" charset="0"/>
                    </a:endParaRPr>
                  </a:p>
                </p:txBody>
              </p:sp>
              <p:sp>
                <p:nvSpPr>
                  <p:cNvPr id="15397" name="Rectangle 10"/>
                  <p:cNvSpPr>
                    <a:spLocks noChangeArrowheads="1"/>
                  </p:cNvSpPr>
                  <p:nvPr/>
                </p:nvSpPr>
                <p:spPr bwMode="auto">
                  <a:xfrm>
                    <a:off x="5079" y="6948"/>
                    <a:ext cx="467" cy="384"/>
                  </a:xfrm>
                  <a:prstGeom prst="rect">
                    <a:avLst/>
                  </a:prstGeom>
                  <a:solidFill>
                    <a:srgbClr val="FFFFFF"/>
                  </a:solidFill>
                  <a:ln w="9525">
                    <a:solidFill>
                      <a:srgbClr val="000000"/>
                    </a:solidFill>
                    <a:miter lim="800000"/>
                    <a:headEnd/>
                    <a:tailEnd/>
                  </a:ln>
                </p:spPr>
                <p:txBody>
                  <a:bodyPr/>
                  <a:lstStyle/>
                  <a:p>
                    <a:pPr algn="ctr"/>
                    <a:r>
                      <a:rPr lang="en-US" sz="1200">
                        <a:latin typeface="Times New Roman" pitchFamily="18" charset="0"/>
                        <a:cs typeface="Times New Roman" pitchFamily="18" charset="0"/>
                      </a:rPr>
                      <a:t>H</a:t>
                    </a:r>
                    <a:r>
                      <a:rPr lang="en-US" sz="1200" baseline="-25000">
                        <a:latin typeface="Times New Roman" pitchFamily="18" charset="0"/>
                        <a:cs typeface="Times New Roman" pitchFamily="18" charset="0"/>
                      </a:rPr>
                      <a:t>i</a:t>
                    </a:r>
                    <a:endParaRPr lang="ru-RU" sz="1200">
                      <a:latin typeface="Times New Roman" pitchFamily="18" charset="0"/>
                      <a:cs typeface="Times New Roman" pitchFamily="18" charset="0"/>
                    </a:endParaRPr>
                  </a:p>
                </p:txBody>
              </p:sp>
              <p:cxnSp>
                <p:nvCxnSpPr>
                  <p:cNvPr id="15398" name="AutoShape 11"/>
                  <p:cNvCxnSpPr>
                    <a:cxnSpLocks noChangeShapeType="1"/>
                  </p:cNvCxnSpPr>
                  <p:nvPr/>
                </p:nvCxnSpPr>
                <p:spPr bwMode="auto">
                  <a:xfrm flipH="1">
                    <a:off x="5304" y="6046"/>
                    <a:ext cx="8" cy="368"/>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5399" name="AutoShape 11"/>
                  <p:cNvCxnSpPr>
                    <a:cxnSpLocks noChangeShapeType="1"/>
                  </p:cNvCxnSpPr>
                  <p:nvPr/>
                </p:nvCxnSpPr>
                <p:spPr bwMode="auto">
                  <a:xfrm>
                    <a:off x="5304" y="6627"/>
                    <a:ext cx="0" cy="32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grpSp>
            <p:sp>
              <p:nvSpPr>
                <p:cNvPr id="15391" name="AutoShape 12"/>
                <p:cNvSpPr>
                  <a:spLocks/>
                </p:cNvSpPr>
                <p:nvPr/>
              </p:nvSpPr>
              <p:spPr bwMode="auto">
                <a:xfrm>
                  <a:off x="8658" y="4958"/>
                  <a:ext cx="1983" cy="1660"/>
                </a:xfrm>
                <a:prstGeom prst="borderCallout1">
                  <a:avLst>
                    <a:gd name="adj1" fmla="val 18750"/>
                    <a:gd name="adj2" fmla="val -8333"/>
                    <a:gd name="adj3" fmla="val 41583"/>
                    <a:gd name="adj4" fmla="val -77894"/>
                  </a:avLst>
                </a:prstGeom>
                <a:solidFill>
                  <a:srgbClr val="FFFFFF"/>
                </a:solidFill>
                <a:ln w="9525">
                  <a:solidFill>
                    <a:srgbClr val="000000"/>
                  </a:solidFill>
                  <a:miter lim="800000"/>
                  <a:headEnd/>
                  <a:tailEnd/>
                </a:ln>
              </p:spPr>
              <p:txBody>
                <a:bodyPr/>
                <a:lstStyle/>
                <a:p>
                  <a:pPr algn="ctr"/>
                  <a:r>
                    <a:rPr lang="uz-Cyrl-UZ" sz="1200">
                      <a:latin typeface="Times New Roman" pitchFamily="18" charset="0"/>
                      <a:cs typeface="Times New Roman" pitchFamily="18" charset="0"/>
                    </a:rPr>
                    <a:t>Блокли шифрлаш алгоритми, </a:t>
                  </a:r>
                  <a:r>
                    <a:rPr lang="en-US" sz="1200">
                      <a:latin typeface="Times New Roman" pitchFamily="18" charset="0"/>
                      <a:cs typeface="Times New Roman" pitchFamily="18" charset="0"/>
                    </a:rPr>
                    <a:t>M</a:t>
                  </a:r>
                  <a:r>
                    <a:rPr lang="en-US" sz="1200" baseline="-25000">
                      <a:latin typeface="Times New Roman" pitchFamily="18" charset="0"/>
                      <a:cs typeface="Times New Roman" pitchFamily="18" charset="0"/>
                    </a:rPr>
                    <a:t>i</a:t>
                  </a:r>
                  <a:r>
                    <a:rPr lang="en-US" sz="1200">
                      <a:latin typeface="Times New Roman" pitchFamily="18" charset="0"/>
                      <a:cs typeface="Times New Roman" pitchFamily="18" charset="0"/>
                    </a:rPr>
                    <a:t>-</a:t>
                  </a:r>
                  <a:r>
                    <a:rPr lang="uz-Cyrl-UZ" sz="1200">
                      <a:latin typeface="Times New Roman" pitchFamily="18" charset="0"/>
                      <a:cs typeface="Times New Roman" pitchFamily="18" charset="0"/>
                    </a:rPr>
                    <a:t>калит,</a:t>
                  </a:r>
                  <a:r>
                    <a:rPr lang="en-US" sz="1200">
                      <a:latin typeface="Times New Roman" pitchFamily="18" charset="0"/>
                      <a:cs typeface="Times New Roman" pitchFamily="18" charset="0"/>
                    </a:rPr>
                    <a:t> H</a:t>
                  </a:r>
                  <a:r>
                    <a:rPr lang="en-US" sz="1200" baseline="-25000">
                      <a:latin typeface="Times New Roman" pitchFamily="18" charset="0"/>
                      <a:cs typeface="Times New Roman" pitchFamily="18" charset="0"/>
                    </a:rPr>
                    <a:t>i-1</a:t>
                  </a:r>
                  <a:r>
                    <a:rPr lang="uz-Cyrl-UZ" sz="1200">
                      <a:latin typeface="Times New Roman" pitchFamily="18" charset="0"/>
                      <a:cs typeface="Times New Roman" pitchFamily="18" charset="0"/>
                    </a:rPr>
                    <a:t>-очиқ матн, </a:t>
                  </a:r>
                  <a:r>
                    <a:rPr lang="en-US" sz="1200">
                      <a:latin typeface="Times New Roman" pitchFamily="18" charset="0"/>
                      <a:cs typeface="Times New Roman" pitchFamily="18" charset="0"/>
                    </a:rPr>
                    <a:t>H</a:t>
                  </a:r>
                  <a:r>
                    <a:rPr lang="en-US" sz="1200" baseline="-25000">
                      <a:latin typeface="Times New Roman" pitchFamily="18" charset="0"/>
                      <a:cs typeface="Times New Roman" pitchFamily="18" charset="0"/>
                    </a:rPr>
                    <a:t>i</a:t>
                  </a:r>
                  <a:r>
                    <a:rPr lang="uz-Cyrl-UZ" sz="1200">
                      <a:latin typeface="Times New Roman" pitchFamily="18" charset="0"/>
                      <a:cs typeface="Times New Roman" pitchFamily="18" charset="0"/>
                    </a:rPr>
                    <a:t>-шифр матн вазифасини бажаради  </a:t>
                  </a:r>
                  <a:endParaRPr lang="ru-RU" sz="1200">
                    <a:latin typeface="Times New Roman" pitchFamily="18" charset="0"/>
                    <a:cs typeface="Times New Roman" pitchFamily="18" charset="0"/>
                  </a:endParaRPr>
                </a:p>
              </p:txBody>
            </p:sp>
          </p:grpSp>
          <p:grpSp>
            <p:nvGrpSpPr>
              <p:cNvPr id="15376" name="Group 13"/>
              <p:cNvGrpSpPr>
                <a:grpSpLocks/>
              </p:cNvGrpSpPr>
              <p:nvPr/>
            </p:nvGrpSpPr>
            <p:grpSpPr bwMode="auto">
              <a:xfrm>
                <a:off x="2198" y="4877"/>
                <a:ext cx="8196" cy="533"/>
                <a:chOff x="2283" y="1967"/>
                <a:chExt cx="8196" cy="533"/>
              </a:xfrm>
            </p:grpSpPr>
            <p:sp>
              <p:nvSpPr>
                <p:cNvPr id="15378" name="Rectangle 14"/>
                <p:cNvSpPr>
                  <a:spLocks noChangeArrowheads="1"/>
                </p:cNvSpPr>
                <p:nvPr/>
              </p:nvSpPr>
              <p:spPr bwMode="auto">
                <a:xfrm>
                  <a:off x="2283" y="1967"/>
                  <a:ext cx="683" cy="533"/>
                </a:xfrm>
                <a:prstGeom prst="rect">
                  <a:avLst/>
                </a:prstGeom>
                <a:solidFill>
                  <a:srgbClr val="FFFFFF"/>
                </a:solidFill>
                <a:ln w="9525">
                  <a:solidFill>
                    <a:srgbClr val="000000"/>
                  </a:solidFill>
                  <a:miter lim="800000"/>
                  <a:headEnd/>
                  <a:tailEnd/>
                </a:ln>
              </p:spPr>
              <p:txBody>
                <a:bodyPr/>
                <a:lstStyle/>
                <a:p>
                  <a:pPr algn="ctr"/>
                  <a:r>
                    <a:rPr lang="uz-Cyrl-UZ" sz="1200">
                      <a:latin typeface="Times New Roman" pitchFamily="18" charset="0"/>
                      <a:cs typeface="Times New Roman" pitchFamily="18" charset="0"/>
                    </a:rPr>
                    <a:t>М</a:t>
                  </a:r>
                  <a:r>
                    <a:rPr lang="en-US" sz="1200" baseline="-25000">
                      <a:latin typeface="Times New Roman" pitchFamily="18" charset="0"/>
                      <a:cs typeface="Times New Roman" pitchFamily="18" charset="0"/>
                    </a:rPr>
                    <a:t>0</a:t>
                  </a:r>
                  <a:endParaRPr lang="ru-RU" sz="1200">
                    <a:latin typeface="Times New Roman" pitchFamily="18" charset="0"/>
                    <a:cs typeface="Times New Roman" pitchFamily="18" charset="0"/>
                  </a:endParaRPr>
                </a:p>
              </p:txBody>
            </p:sp>
            <p:sp>
              <p:nvSpPr>
                <p:cNvPr id="15379" name="Rectangle 15"/>
                <p:cNvSpPr>
                  <a:spLocks noChangeArrowheads="1"/>
                </p:cNvSpPr>
                <p:nvPr/>
              </p:nvSpPr>
              <p:spPr bwMode="auto">
                <a:xfrm>
                  <a:off x="2966" y="1967"/>
                  <a:ext cx="683" cy="533"/>
                </a:xfrm>
                <a:prstGeom prst="rect">
                  <a:avLst/>
                </a:prstGeom>
                <a:solidFill>
                  <a:srgbClr val="FFFFFF"/>
                </a:solidFill>
                <a:ln w="9525">
                  <a:solidFill>
                    <a:srgbClr val="000000"/>
                  </a:solidFill>
                  <a:miter lim="800000"/>
                  <a:headEnd/>
                  <a:tailEnd/>
                </a:ln>
              </p:spPr>
              <p:txBody>
                <a:bodyPr/>
                <a:lstStyle/>
                <a:p>
                  <a:pPr algn="ctr"/>
                  <a:r>
                    <a:rPr lang="uz-Cyrl-UZ" sz="1200">
                      <a:latin typeface="Times New Roman" pitchFamily="18" charset="0"/>
                      <a:cs typeface="Times New Roman" pitchFamily="18" charset="0"/>
                    </a:rPr>
                    <a:t>М</a:t>
                  </a:r>
                  <a:r>
                    <a:rPr lang="en-US" sz="1200" baseline="-25000">
                      <a:latin typeface="Times New Roman" pitchFamily="18" charset="0"/>
                      <a:cs typeface="Times New Roman" pitchFamily="18" charset="0"/>
                    </a:rPr>
                    <a:t>1</a:t>
                  </a:r>
                  <a:endParaRPr lang="ru-RU" sz="1200">
                    <a:latin typeface="Times New Roman" pitchFamily="18" charset="0"/>
                    <a:cs typeface="Times New Roman" pitchFamily="18" charset="0"/>
                  </a:endParaRPr>
                </a:p>
              </p:txBody>
            </p:sp>
            <p:sp>
              <p:nvSpPr>
                <p:cNvPr id="15380" name="Rectangle 16"/>
                <p:cNvSpPr>
                  <a:spLocks noChangeArrowheads="1"/>
                </p:cNvSpPr>
                <p:nvPr/>
              </p:nvSpPr>
              <p:spPr bwMode="auto">
                <a:xfrm>
                  <a:off x="3649" y="1967"/>
                  <a:ext cx="683" cy="533"/>
                </a:xfrm>
                <a:prstGeom prst="rect">
                  <a:avLst/>
                </a:prstGeom>
                <a:solidFill>
                  <a:srgbClr val="FFFFFF"/>
                </a:solidFill>
                <a:ln w="9525">
                  <a:solidFill>
                    <a:srgbClr val="000000"/>
                  </a:solidFill>
                  <a:miter lim="800000"/>
                  <a:headEnd/>
                  <a:tailEnd/>
                </a:ln>
              </p:spPr>
              <p:txBody>
                <a:bodyPr/>
                <a:lstStyle/>
                <a:p>
                  <a:pPr algn="ctr"/>
                  <a:r>
                    <a:rPr lang="uz-Cyrl-UZ" sz="1200">
                      <a:latin typeface="Times New Roman" pitchFamily="18" charset="0"/>
                      <a:cs typeface="Times New Roman" pitchFamily="18" charset="0"/>
                    </a:rPr>
                    <a:t>М</a:t>
                  </a:r>
                  <a:r>
                    <a:rPr lang="en-US" sz="1200" baseline="-25000">
                      <a:latin typeface="Times New Roman" pitchFamily="18" charset="0"/>
                      <a:cs typeface="Times New Roman" pitchFamily="18" charset="0"/>
                    </a:rPr>
                    <a:t>2</a:t>
                  </a:r>
                  <a:endParaRPr lang="ru-RU" sz="1200">
                    <a:latin typeface="Times New Roman" pitchFamily="18" charset="0"/>
                    <a:cs typeface="Times New Roman" pitchFamily="18" charset="0"/>
                  </a:endParaRPr>
                </a:p>
              </p:txBody>
            </p:sp>
            <p:sp>
              <p:nvSpPr>
                <p:cNvPr id="15381" name="Rectangle 17"/>
                <p:cNvSpPr>
                  <a:spLocks noChangeArrowheads="1"/>
                </p:cNvSpPr>
                <p:nvPr/>
              </p:nvSpPr>
              <p:spPr bwMode="auto">
                <a:xfrm>
                  <a:off x="4332" y="1967"/>
                  <a:ext cx="683" cy="533"/>
                </a:xfrm>
                <a:prstGeom prst="rect">
                  <a:avLst/>
                </a:prstGeom>
                <a:solidFill>
                  <a:srgbClr val="FFFFFF"/>
                </a:solidFill>
                <a:ln w="9525">
                  <a:solidFill>
                    <a:srgbClr val="000000"/>
                  </a:solidFill>
                  <a:miter lim="800000"/>
                  <a:headEnd/>
                  <a:tailEnd/>
                </a:ln>
              </p:spPr>
              <p:txBody>
                <a:bodyPr/>
                <a:lstStyle/>
                <a:p>
                  <a:pPr algn="ctr"/>
                  <a:r>
                    <a:rPr lang="uz-Cyrl-UZ" sz="1200">
                      <a:latin typeface="Times New Roman" pitchFamily="18" charset="0"/>
                      <a:cs typeface="Times New Roman" pitchFamily="18" charset="0"/>
                    </a:rPr>
                    <a:t>М</a:t>
                  </a:r>
                  <a:r>
                    <a:rPr lang="en-US" sz="1200" baseline="-25000">
                      <a:latin typeface="Times New Roman" pitchFamily="18" charset="0"/>
                      <a:cs typeface="Times New Roman" pitchFamily="18" charset="0"/>
                    </a:rPr>
                    <a:t>3</a:t>
                  </a:r>
                  <a:endParaRPr lang="ru-RU" sz="1200">
                    <a:latin typeface="Times New Roman" pitchFamily="18" charset="0"/>
                    <a:cs typeface="Times New Roman" pitchFamily="18" charset="0"/>
                  </a:endParaRPr>
                </a:p>
              </p:txBody>
            </p:sp>
            <p:sp>
              <p:nvSpPr>
                <p:cNvPr id="15382" name="Rectangle 18"/>
                <p:cNvSpPr>
                  <a:spLocks noChangeArrowheads="1"/>
                </p:cNvSpPr>
                <p:nvPr/>
              </p:nvSpPr>
              <p:spPr bwMode="auto">
                <a:xfrm>
                  <a:off x="5015" y="1967"/>
                  <a:ext cx="683" cy="533"/>
                </a:xfrm>
                <a:prstGeom prst="rect">
                  <a:avLst/>
                </a:prstGeom>
                <a:solidFill>
                  <a:srgbClr val="FFFFFF"/>
                </a:solidFill>
                <a:ln w="9525">
                  <a:solidFill>
                    <a:srgbClr val="000000"/>
                  </a:solidFill>
                  <a:miter lim="800000"/>
                  <a:headEnd/>
                  <a:tailEnd/>
                </a:ln>
              </p:spPr>
              <p:txBody>
                <a:bodyPr/>
                <a:lstStyle/>
                <a:p>
                  <a:pPr algn="ctr"/>
                  <a:r>
                    <a:rPr lang="uz-Cyrl-UZ" sz="1200">
                      <a:latin typeface="Times New Roman" pitchFamily="18" charset="0"/>
                      <a:cs typeface="Times New Roman" pitchFamily="18" charset="0"/>
                    </a:rPr>
                    <a:t>М</a:t>
                  </a:r>
                  <a:r>
                    <a:rPr lang="en-US" sz="1200" baseline="-25000">
                      <a:latin typeface="Times New Roman" pitchFamily="18" charset="0"/>
                      <a:cs typeface="Times New Roman" pitchFamily="18" charset="0"/>
                    </a:rPr>
                    <a:t>4</a:t>
                  </a:r>
                  <a:endParaRPr lang="ru-RU" sz="1200">
                    <a:latin typeface="Times New Roman" pitchFamily="18" charset="0"/>
                    <a:cs typeface="Times New Roman" pitchFamily="18" charset="0"/>
                  </a:endParaRPr>
                </a:p>
              </p:txBody>
            </p:sp>
            <p:sp>
              <p:nvSpPr>
                <p:cNvPr id="15383" name="Rectangle 19"/>
                <p:cNvSpPr>
                  <a:spLocks noChangeArrowheads="1"/>
                </p:cNvSpPr>
                <p:nvPr/>
              </p:nvSpPr>
              <p:spPr bwMode="auto">
                <a:xfrm>
                  <a:off x="5698" y="1967"/>
                  <a:ext cx="683" cy="533"/>
                </a:xfrm>
                <a:prstGeom prst="rect">
                  <a:avLst/>
                </a:prstGeom>
                <a:solidFill>
                  <a:srgbClr val="FFFFFF"/>
                </a:solidFill>
                <a:ln w="9525">
                  <a:solidFill>
                    <a:srgbClr val="000000"/>
                  </a:solidFill>
                  <a:miter lim="800000"/>
                  <a:headEnd/>
                  <a:tailEnd/>
                </a:ln>
              </p:spPr>
              <p:txBody>
                <a:bodyPr/>
                <a:lstStyle/>
                <a:p>
                  <a:r>
                    <a:rPr lang="en-US" sz="1200">
                      <a:latin typeface="Times New Roman" pitchFamily="18" charset="0"/>
                      <a:cs typeface="Times New Roman" pitchFamily="18" charset="0"/>
                    </a:rPr>
                    <a:t>…</a:t>
                  </a:r>
                  <a:endParaRPr lang="ru-RU" sz="1200">
                    <a:latin typeface="Times New Roman" pitchFamily="18" charset="0"/>
                    <a:cs typeface="Times New Roman" pitchFamily="18" charset="0"/>
                  </a:endParaRPr>
                </a:p>
                <a:p>
                  <a:r>
                    <a:rPr lang="en-US" sz="1200" baseline="-25000">
                      <a:latin typeface="Times New Roman" pitchFamily="18" charset="0"/>
                      <a:cs typeface="Times New Roman" pitchFamily="18" charset="0"/>
                    </a:rPr>
                    <a:t> </a:t>
                  </a:r>
                  <a:endParaRPr lang="ru-RU" sz="1200">
                    <a:latin typeface="Times New Roman" pitchFamily="18" charset="0"/>
                    <a:cs typeface="Times New Roman" pitchFamily="18" charset="0"/>
                  </a:endParaRPr>
                </a:p>
              </p:txBody>
            </p:sp>
            <p:sp>
              <p:nvSpPr>
                <p:cNvPr id="15384" name="Rectangle 20"/>
                <p:cNvSpPr>
                  <a:spLocks noChangeArrowheads="1"/>
                </p:cNvSpPr>
                <p:nvPr/>
              </p:nvSpPr>
              <p:spPr bwMode="auto">
                <a:xfrm>
                  <a:off x="6381" y="1967"/>
                  <a:ext cx="683" cy="533"/>
                </a:xfrm>
                <a:prstGeom prst="rect">
                  <a:avLst/>
                </a:prstGeom>
                <a:solidFill>
                  <a:srgbClr val="FFFFFF"/>
                </a:solidFill>
                <a:ln w="9525">
                  <a:solidFill>
                    <a:srgbClr val="000000"/>
                  </a:solidFill>
                  <a:miter lim="800000"/>
                  <a:headEnd/>
                  <a:tailEnd/>
                </a:ln>
              </p:spPr>
              <p:txBody>
                <a:bodyPr/>
                <a:lstStyle/>
                <a:p>
                  <a:r>
                    <a:rPr lang="en-US" sz="1200">
                      <a:latin typeface="Times New Roman" pitchFamily="18" charset="0"/>
                      <a:cs typeface="Times New Roman" pitchFamily="18" charset="0"/>
                    </a:rPr>
                    <a:t>…</a:t>
                  </a:r>
                  <a:endParaRPr lang="ru-RU" sz="1200">
                    <a:latin typeface="Times New Roman" pitchFamily="18" charset="0"/>
                    <a:cs typeface="Times New Roman" pitchFamily="18" charset="0"/>
                  </a:endParaRPr>
                </a:p>
              </p:txBody>
            </p:sp>
            <p:sp>
              <p:nvSpPr>
                <p:cNvPr id="15385" name="Rectangle 21"/>
                <p:cNvSpPr>
                  <a:spLocks noChangeArrowheads="1"/>
                </p:cNvSpPr>
                <p:nvPr/>
              </p:nvSpPr>
              <p:spPr bwMode="auto">
                <a:xfrm>
                  <a:off x="7064" y="1967"/>
                  <a:ext cx="683" cy="533"/>
                </a:xfrm>
                <a:prstGeom prst="rect">
                  <a:avLst/>
                </a:prstGeom>
                <a:solidFill>
                  <a:srgbClr val="FFFFFF"/>
                </a:solidFill>
                <a:ln w="9525">
                  <a:solidFill>
                    <a:srgbClr val="000000"/>
                  </a:solidFill>
                  <a:miter lim="800000"/>
                  <a:headEnd/>
                  <a:tailEnd/>
                </a:ln>
              </p:spPr>
              <p:txBody>
                <a:bodyPr/>
                <a:lstStyle/>
                <a:p>
                  <a:r>
                    <a:rPr lang="en-US" sz="1200">
                      <a:latin typeface="Times New Roman" pitchFamily="18" charset="0"/>
                      <a:cs typeface="Times New Roman" pitchFamily="18" charset="0"/>
                    </a:rPr>
                    <a:t>…</a:t>
                  </a:r>
                  <a:endParaRPr lang="ru-RU" sz="1200">
                    <a:latin typeface="Times New Roman" pitchFamily="18" charset="0"/>
                    <a:cs typeface="Times New Roman" pitchFamily="18" charset="0"/>
                  </a:endParaRPr>
                </a:p>
              </p:txBody>
            </p:sp>
            <p:sp>
              <p:nvSpPr>
                <p:cNvPr id="15386" name="Rectangle 22"/>
                <p:cNvSpPr>
                  <a:spLocks noChangeArrowheads="1"/>
                </p:cNvSpPr>
                <p:nvPr/>
              </p:nvSpPr>
              <p:spPr bwMode="auto">
                <a:xfrm>
                  <a:off x="7747" y="1967"/>
                  <a:ext cx="683" cy="533"/>
                </a:xfrm>
                <a:prstGeom prst="rect">
                  <a:avLst/>
                </a:prstGeom>
                <a:solidFill>
                  <a:srgbClr val="FFFFFF"/>
                </a:solidFill>
                <a:ln w="9525">
                  <a:solidFill>
                    <a:srgbClr val="000000"/>
                  </a:solidFill>
                  <a:miter lim="800000"/>
                  <a:headEnd/>
                  <a:tailEnd/>
                </a:ln>
              </p:spPr>
              <p:txBody>
                <a:bodyPr/>
                <a:lstStyle/>
                <a:p>
                  <a:r>
                    <a:rPr lang="en-US" sz="1200">
                      <a:latin typeface="Times New Roman" pitchFamily="18" charset="0"/>
                      <a:cs typeface="Times New Roman" pitchFamily="18" charset="0"/>
                    </a:rPr>
                    <a:t>...</a:t>
                  </a:r>
                  <a:endParaRPr lang="ru-RU" sz="1200">
                    <a:latin typeface="Times New Roman" pitchFamily="18" charset="0"/>
                    <a:cs typeface="Times New Roman" pitchFamily="18" charset="0"/>
                  </a:endParaRPr>
                </a:p>
              </p:txBody>
            </p:sp>
            <p:sp>
              <p:nvSpPr>
                <p:cNvPr id="15387" name="Rectangle 23"/>
                <p:cNvSpPr>
                  <a:spLocks noChangeArrowheads="1"/>
                </p:cNvSpPr>
                <p:nvPr/>
              </p:nvSpPr>
              <p:spPr bwMode="auto">
                <a:xfrm>
                  <a:off x="8359" y="1967"/>
                  <a:ext cx="754" cy="533"/>
                </a:xfrm>
                <a:prstGeom prst="rect">
                  <a:avLst/>
                </a:prstGeom>
                <a:solidFill>
                  <a:srgbClr val="FFFFFF"/>
                </a:solidFill>
                <a:ln w="9525">
                  <a:solidFill>
                    <a:srgbClr val="000000"/>
                  </a:solidFill>
                  <a:miter lim="800000"/>
                  <a:headEnd/>
                  <a:tailEnd/>
                </a:ln>
              </p:spPr>
              <p:txBody>
                <a:bodyPr/>
                <a:lstStyle/>
                <a:p>
                  <a:r>
                    <a:rPr lang="en-US" sz="1200" baseline="-25000">
                      <a:latin typeface="Times New Roman" pitchFamily="18" charset="0"/>
                      <a:cs typeface="Times New Roman" pitchFamily="18" charset="0"/>
                    </a:rPr>
                    <a:t> </a:t>
                  </a:r>
                  <a:endParaRPr lang="ru-RU" sz="1200">
                    <a:latin typeface="Times New Roman" pitchFamily="18" charset="0"/>
                    <a:cs typeface="Times New Roman" pitchFamily="18" charset="0"/>
                  </a:endParaRPr>
                </a:p>
              </p:txBody>
            </p:sp>
            <p:sp>
              <p:nvSpPr>
                <p:cNvPr id="15388" name="Rectangle 24"/>
                <p:cNvSpPr>
                  <a:spLocks noChangeArrowheads="1"/>
                </p:cNvSpPr>
                <p:nvPr/>
              </p:nvSpPr>
              <p:spPr bwMode="auto">
                <a:xfrm>
                  <a:off x="8993" y="1967"/>
                  <a:ext cx="803" cy="533"/>
                </a:xfrm>
                <a:prstGeom prst="rect">
                  <a:avLst/>
                </a:prstGeom>
                <a:solidFill>
                  <a:srgbClr val="FFFFFF"/>
                </a:solidFill>
                <a:ln w="9525">
                  <a:solidFill>
                    <a:srgbClr val="000000"/>
                  </a:solidFill>
                  <a:miter lim="800000"/>
                  <a:headEnd/>
                  <a:tailEnd/>
                </a:ln>
              </p:spPr>
              <p:txBody>
                <a:bodyPr/>
                <a:lstStyle/>
                <a:p>
                  <a:pPr algn="ctr"/>
                  <a:r>
                    <a:rPr lang="uz-Cyrl-UZ" sz="1200">
                      <a:latin typeface="Times New Roman" pitchFamily="18" charset="0"/>
                      <a:cs typeface="Times New Roman" pitchFamily="18" charset="0"/>
                    </a:rPr>
                    <a:t>М</a:t>
                  </a:r>
                  <a:r>
                    <a:rPr lang="en-US" sz="1200" baseline="-25000">
                      <a:latin typeface="Times New Roman" pitchFamily="18" charset="0"/>
                      <a:cs typeface="Times New Roman" pitchFamily="18" charset="0"/>
                    </a:rPr>
                    <a:t>n-1</a:t>
                  </a:r>
                  <a:endParaRPr lang="ru-RU" sz="1200">
                    <a:latin typeface="Times New Roman" pitchFamily="18" charset="0"/>
                    <a:cs typeface="Times New Roman" pitchFamily="18" charset="0"/>
                  </a:endParaRPr>
                </a:p>
                <a:p>
                  <a:r>
                    <a:rPr lang="en-US" sz="1200" baseline="-25000">
                      <a:latin typeface="Times New Roman" pitchFamily="18" charset="0"/>
                      <a:cs typeface="Times New Roman" pitchFamily="18" charset="0"/>
                    </a:rPr>
                    <a:t> </a:t>
                  </a:r>
                  <a:endParaRPr lang="ru-RU" sz="1200">
                    <a:latin typeface="Times New Roman" pitchFamily="18" charset="0"/>
                    <a:cs typeface="Times New Roman" pitchFamily="18" charset="0"/>
                  </a:endParaRPr>
                </a:p>
              </p:txBody>
            </p:sp>
            <p:sp>
              <p:nvSpPr>
                <p:cNvPr id="15389" name="Rectangle 25"/>
                <p:cNvSpPr>
                  <a:spLocks noChangeArrowheads="1"/>
                </p:cNvSpPr>
                <p:nvPr/>
              </p:nvSpPr>
              <p:spPr bwMode="auto">
                <a:xfrm>
                  <a:off x="9796" y="1967"/>
                  <a:ext cx="683" cy="533"/>
                </a:xfrm>
                <a:prstGeom prst="rect">
                  <a:avLst/>
                </a:prstGeom>
                <a:solidFill>
                  <a:srgbClr val="FFFFFF"/>
                </a:solidFill>
                <a:ln w="9525">
                  <a:solidFill>
                    <a:srgbClr val="000000"/>
                  </a:solidFill>
                  <a:miter lim="800000"/>
                  <a:headEnd/>
                  <a:tailEnd/>
                </a:ln>
              </p:spPr>
              <p:txBody>
                <a:bodyPr/>
                <a:lstStyle/>
                <a:p>
                  <a:pPr algn="ctr"/>
                  <a:r>
                    <a:rPr lang="uz-Cyrl-UZ" sz="1200">
                      <a:latin typeface="Times New Roman" pitchFamily="18" charset="0"/>
                      <a:cs typeface="Times New Roman" pitchFamily="18" charset="0"/>
                    </a:rPr>
                    <a:t>М</a:t>
                  </a:r>
                  <a:r>
                    <a:rPr lang="en-US" sz="1200" baseline="-25000">
                      <a:latin typeface="Times New Roman" pitchFamily="18" charset="0"/>
                      <a:cs typeface="Times New Roman" pitchFamily="18" charset="0"/>
                    </a:rPr>
                    <a:t>n</a:t>
                  </a:r>
                  <a:endParaRPr lang="ru-RU" sz="1200">
                    <a:latin typeface="Times New Roman" pitchFamily="18" charset="0"/>
                    <a:cs typeface="Times New Roman" pitchFamily="18" charset="0"/>
                  </a:endParaRPr>
                </a:p>
              </p:txBody>
            </p:sp>
          </p:grpSp>
          <p:cxnSp>
            <p:nvCxnSpPr>
              <p:cNvPr id="15377" name="AutoShape 26"/>
              <p:cNvCxnSpPr>
                <a:cxnSpLocks noChangeShapeType="1"/>
              </p:cNvCxnSpPr>
              <p:nvPr/>
            </p:nvCxnSpPr>
            <p:spPr bwMode="auto">
              <a:xfrm>
                <a:off x="5937" y="5410"/>
                <a:ext cx="1" cy="38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grpSp>
        <p:cxnSp>
          <p:nvCxnSpPr>
            <p:cNvPr id="35" name="Прямая соединительная линия 34"/>
            <p:cNvCxnSpPr/>
            <p:nvPr/>
          </p:nvCxnSpPr>
          <p:spPr>
            <a:xfrm flipH="1">
              <a:off x="3213246" y="4294576"/>
              <a:ext cx="3136" cy="59171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Прямая соединительная линия 66"/>
            <p:cNvCxnSpPr/>
            <p:nvPr/>
          </p:nvCxnSpPr>
          <p:spPr>
            <a:xfrm>
              <a:off x="3210110" y="4872202"/>
              <a:ext cx="835647" cy="9392"/>
            </a:xfrm>
            <a:prstGeom prst="line">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49" name="Блок-схема: ИЛИ 2048"/>
            <p:cNvSpPr/>
            <p:nvPr/>
          </p:nvSpPr>
          <p:spPr>
            <a:xfrm>
              <a:off x="4023807" y="4792367"/>
              <a:ext cx="208520" cy="180019"/>
            </a:xfrm>
            <a:prstGeom prst="flowChartOr">
              <a:avLst/>
            </a:prstGeom>
            <a:ln w="15875"/>
          </p:spPr>
          <p:style>
            <a:lnRef idx="2">
              <a:schemeClr val="dk1"/>
            </a:lnRef>
            <a:fillRef idx="1">
              <a:schemeClr val="lt1"/>
            </a:fillRef>
            <a:effectRef idx="0">
              <a:schemeClr val="dk1"/>
            </a:effectRef>
            <a:fontRef idx="minor">
              <a:schemeClr val="dk1"/>
            </a:fontRef>
          </p:style>
          <p:txBody>
            <a:bodyPr anchor="ctr"/>
            <a:lstStyle/>
            <a:p>
              <a:pPr algn="ctr" fontAlgn="auto">
                <a:spcBef>
                  <a:spcPts val="0"/>
                </a:spcBef>
                <a:spcAft>
                  <a:spcPts val="0"/>
                </a:spcAft>
                <a:defRPr/>
              </a:pPr>
              <a:endParaRPr lang="ru-RU"/>
            </a:p>
          </p:txBody>
        </p:sp>
      </p:grpSp>
      <p:sp>
        <p:nvSpPr>
          <p:cNvPr id="15369" name="TextBox 2060"/>
          <p:cNvSpPr txBox="1">
            <a:spLocks noChangeArrowheads="1"/>
          </p:cNvSpPr>
          <p:nvPr/>
        </p:nvSpPr>
        <p:spPr bwMode="auto">
          <a:xfrm>
            <a:off x="428625" y="1930400"/>
            <a:ext cx="8391525" cy="1201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just"/>
            <a:r>
              <a:rPr lang="uz-Cyrl-UZ">
                <a:latin typeface="Times New Roman" pitchFamily="18" charset="0"/>
                <a:cs typeface="Times New Roman" pitchFamily="18" charset="0"/>
              </a:rPr>
              <a:t>Девис-Мейер схемаси Рабин схемасига ўхшаш бўлиб, </a:t>
            </a:r>
            <a:r>
              <a:rPr lang="uz-Cyrl-UZ" b="1">
                <a:latin typeface="Times New Roman" pitchFamily="18" charset="0"/>
                <a:cs typeface="Times New Roman" pitchFamily="18" charset="0"/>
              </a:rPr>
              <a:t>"Матнлар тўқнашуви" </a:t>
            </a:r>
            <a:r>
              <a:rPr lang="uz-Cyrl-UZ">
                <a:latin typeface="Times New Roman" pitchFamily="18" charset="0"/>
                <a:cs typeface="Times New Roman" pitchFamily="18" charset="0"/>
              </a:rPr>
              <a:t>деб номланувчи криптоҳужум усулига </a:t>
            </a:r>
            <a:r>
              <a:rPr lang="uz-Cyrl-UZ" b="1">
                <a:latin typeface="Times New Roman" pitchFamily="18" charset="0"/>
                <a:cs typeface="Times New Roman" pitchFamily="18" charset="0"/>
              </a:rPr>
              <a:t>бардошлилигини таъминлаш </a:t>
            </a:r>
            <a:r>
              <a:rPr lang="uz-Cyrl-UZ">
                <a:latin typeface="Times New Roman" pitchFamily="18" charset="0"/>
                <a:cs typeface="Times New Roman" pitchFamily="18" charset="0"/>
              </a:rPr>
              <a:t>мақсадида </a:t>
            </a:r>
            <a:r>
              <a:rPr lang="uz-Cyrl-UZ" b="1">
                <a:latin typeface="Times New Roman" pitchFamily="18" charset="0"/>
                <a:cs typeface="Times New Roman" pitchFamily="18" charset="0"/>
              </a:rPr>
              <a:t>ҳар бир блокдан чиққан хэш</a:t>
            </a:r>
            <a:r>
              <a:rPr lang="uz-Cyrl-UZ">
                <a:latin typeface="Times New Roman" pitchFamily="18" charset="0"/>
                <a:cs typeface="Times New Roman" pitchFamily="18" charset="0"/>
              </a:rPr>
              <a:t> қийматга </a:t>
            </a:r>
            <a:r>
              <a:rPr lang="uz-Cyrl-UZ" b="1">
                <a:latin typeface="Times New Roman" pitchFamily="18" charset="0"/>
                <a:cs typeface="Times New Roman" pitchFamily="18" charset="0"/>
              </a:rPr>
              <a:t>ўзидан битта олдинги </a:t>
            </a:r>
            <a:r>
              <a:rPr lang="uz-Cyrl-UZ">
                <a:latin typeface="Times New Roman" pitchFamily="18" charset="0"/>
                <a:cs typeface="Times New Roman" pitchFamily="18" charset="0"/>
              </a:rPr>
              <a:t>блокнинг хэш қиймати mod 2 амали бўйича қўшилади. </a:t>
            </a:r>
            <a:endParaRPr lang="ru-RU">
              <a:latin typeface="Times New Roman" pitchFamily="18" charset="0"/>
              <a:cs typeface="Times New Roman" pitchFamily="18" charset="0"/>
            </a:endParaRPr>
          </a:p>
        </p:txBody>
      </p:sp>
      <p:sp>
        <p:nvSpPr>
          <p:cNvPr id="37" name="Стрелка влево 36">
            <a:hlinkClick r:id="rId2" action="ppaction://hlinkpres?slideindex=11&amp;slidetitle=Презентация PowerPoint"/>
          </p:cNvPr>
          <p:cNvSpPr/>
          <p:nvPr/>
        </p:nvSpPr>
        <p:spPr>
          <a:xfrm>
            <a:off x="460375" y="6407150"/>
            <a:ext cx="558800" cy="298450"/>
          </a:xfrm>
          <a:prstGeom prst="leftArrow">
            <a:avLst/>
          </a:prstGeom>
        </p:spPr>
        <p:style>
          <a:lnRef idx="2">
            <a:schemeClr val="accent6"/>
          </a:lnRef>
          <a:fillRef idx="1">
            <a:schemeClr val="lt1"/>
          </a:fillRef>
          <a:effectRef idx="0">
            <a:schemeClr val="accent6"/>
          </a:effectRef>
          <a:fontRef idx="minor">
            <a:schemeClr val="dk1"/>
          </a:fontRef>
        </p:style>
        <p:txBody>
          <a:bodyPr anchor="ctr"/>
          <a:lstStyle/>
          <a:p>
            <a:pPr algn="ctr" fontAlgn="auto">
              <a:spcBef>
                <a:spcPts val="0"/>
              </a:spcBef>
              <a:spcAft>
                <a:spcPts val="0"/>
              </a:spcAft>
              <a:defRPr/>
            </a:pPr>
            <a:endParaRPr lang="ru-RU"/>
          </a:p>
        </p:txBody>
      </p:sp>
    </p:spTree>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428596" y="228600"/>
            <a:ext cx="8501122" cy="914400"/>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t="100000" r="100000"/>
            </a:path>
            <a:tileRect l="-100000" b="-100000"/>
          </a:gradFill>
          <a:ln>
            <a:solidFill>
              <a:schemeClr val="tx1"/>
            </a:solidFill>
          </a:ln>
          <a:effectLst>
            <a:glow rad="101600">
              <a:schemeClr val="accent4">
                <a:satMod val="175000"/>
                <a:alpha val="40000"/>
              </a:schemeClr>
            </a:glow>
            <a:softEdge rad="12700"/>
          </a:effectLst>
        </p:spPr>
        <p:style>
          <a:lnRef idx="2">
            <a:schemeClr val="dk1"/>
          </a:lnRef>
          <a:fillRef idx="1">
            <a:schemeClr val="lt1"/>
          </a:fillRef>
          <a:effectRef idx="0">
            <a:schemeClr val="dk1"/>
          </a:effectRef>
          <a:fontRef idx="minor">
            <a:schemeClr val="dk1"/>
          </a:fontRef>
        </p:style>
        <p:txBody>
          <a:bodyPr anchor="ctr"/>
          <a:lstStyle/>
          <a:p>
            <a:pPr algn="ctr" fontAlgn="auto">
              <a:spcBef>
                <a:spcPts val="0"/>
              </a:spcBef>
              <a:spcAft>
                <a:spcPts val="0"/>
              </a:spcAft>
              <a:defRPr/>
            </a:pPr>
            <a:r>
              <a:rPr lang="ru-RU" sz="2000" b="1" dirty="0" err="1">
                <a:latin typeface="Times New Roman" pitchFamily="18" charset="0"/>
                <a:cs typeface="Times New Roman" pitchFamily="18" charset="0"/>
              </a:rPr>
              <a:t>Хэш</a:t>
            </a:r>
            <a:r>
              <a:rPr lang="ru-RU" sz="2000" b="1" dirty="0">
                <a:latin typeface="Times New Roman" pitchFamily="18" charset="0"/>
                <a:cs typeface="Times New Roman" pitchFamily="18" charset="0"/>
              </a:rPr>
              <a:t> функция </a:t>
            </a:r>
            <a:r>
              <a:rPr lang="ru-RU" sz="2000" b="1" dirty="0" err="1">
                <a:latin typeface="Times New Roman" pitchFamily="18" charset="0"/>
                <a:cs typeface="Times New Roman" pitchFamily="18" charset="0"/>
              </a:rPr>
              <a:t>қуриш</a:t>
            </a:r>
            <a:r>
              <a:rPr lang="ru-RU" sz="2000" b="1" dirty="0">
                <a:latin typeface="Times New Roman" pitchFamily="18" charset="0"/>
                <a:cs typeface="Times New Roman" pitchFamily="18" charset="0"/>
              </a:rPr>
              <a:t> (конструктив </a:t>
            </a:r>
            <a:r>
              <a:rPr lang="ru-RU" sz="2000" b="1" dirty="0" err="1">
                <a:latin typeface="Times New Roman" pitchFamily="18" charset="0"/>
                <a:cs typeface="Times New Roman" pitchFamily="18" charset="0"/>
              </a:rPr>
              <a:t>схемасини</a:t>
            </a:r>
            <a:r>
              <a:rPr lang="ru-RU" sz="2000" b="1" dirty="0">
                <a:latin typeface="Times New Roman" pitchFamily="18" charset="0"/>
                <a:cs typeface="Times New Roman" pitchFamily="18" charset="0"/>
              </a:rPr>
              <a:t>) </a:t>
            </a:r>
            <a:r>
              <a:rPr lang="ru-RU" sz="2000" b="1" dirty="0" err="1">
                <a:latin typeface="Times New Roman" pitchFamily="18" charset="0"/>
                <a:cs typeface="Times New Roman" pitchFamily="18" charset="0"/>
              </a:rPr>
              <a:t>принципини</a:t>
            </a:r>
            <a:r>
              <a:rPr lang="ru-RU" sz="2000" b="1" dirty="0">
                <a:latin typeface="Times New Roman" pitchFamily="18" charset="0"/>
                <a:cs typeface="Times New Roman" pitchFamily="18" charset="0"/>
              </a:rPr>
              <a:t> </a:t>
            </a:r>
            <a:r>
              <a:rPr lang="ru-RU" sz="2000" b="1" dirty="0" err="1">
                <a:latin typeface="Times New Roman" pitchFamily="18" charset="0"/>
                <a:cs typeface="Times New Roman" pitchFamily="18" charset="0"/>
              </a:rPr>
              <a:t>танлаш</a:t>
            </a:r>
            <a:endParaRPr lang="ru-RU" sz="2000" b="1" dirty="0">
              <a:latin typeface="Times New Roman" pitchFamily="18" charset="0"/>
              <a:cs typeface="Times New Roman" pitchFamily="18" charset="0"/>
            </a:endParaRPr>
          </a:p>
        </p:txBody>
      </p:sp>
      <p:sp>
        <p:nvSpPr>
          <p:cNvPr id="5" name="Прямоугольник 4"/>
          <p:cNvSpPr/>
          <p:nvPr/>
        </p:nvSpPr>
        <p:spPr>
          <a:xfrm>
            <a:off x="381000" y="1295400"/>
            <a:ext cx="8534400" cy="5410200"/>
          </a:xfrm>
          <a:prstGeom prst="rect">
            <a:avLst/>
          </a:prstGeom>
          <a:solidFill>
            <a:schemeClr val="bg2"/>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fontAlgn="auto">
              <a:spcBef>
                <a:spcPts val="0"/>
              </a:spcBef>
              <a:spcAft>
                <a:spcPts val="0"/>
              </a:spcAft>
              <a:defRPr/>
            </a:pPr>
            <a:endParaRPr lang="ru-RU" b="1" dirty="0">
              <a:solidFill>
                <a:schemeClr val="tx1"/>
              </a:solidFill>
              <a:latin typeface="Times New Roman" pitchFamily="18" charset="0"/>
              <a:cs typeface="Times New Roman" pitchFamily="18" charset="0"/>
            </a:endParaRPr>
          </a:p>
        </p:txBody>
      </p:sp>
      <p:sp>
        <p:nvSpPr>
          <p:cNvPr id="6" name="Скругленный прямоугольник 5"/>
          <p:cNvSpPr/>
          <p:nvPr/>
        </p:nvSpPr>
        <p:spPr>
          <a:xfrm>
            <a:off x="1042988" y="1412875"/>
            <a:ext cx="7200900" cy="503238"/>
          </a:xfrm>
          <a:prstGeom prst="roundRect">
            <a:avLst/>
          </a:prstGeom>
        </p:spPr>
        <p:style>
          <a:lnRef idx="2">
            <a:schemeClr val="accent6"/>
          </a:lnRef>
          <a:fillRef idx="1">
            <a:schemeClr val="lt1"/>
          </a:fillRef>
          <a:effectRef idx="0">
            <a:schemeClr val="accent6"/>
          </a:effectRef>
          <a:fontRef idx="minor">
            <a:schemeClr val="dk1"/>
          </a:fontRef>
        </p:style>
        <p:txBody>
          <a:bodyPr anchor="ctr"/>
          <a:lstStyle/>
          <a:p>
            <a:pPr algn="ctr" fontAlgn="auto">
              <a:spcBef>
                <a:spcPts val="0"/>
              </a:spcBef>
              <a:spcAft>
                <a:spcPts val="0"/>
              </a:spcAft>
              <a:defRPr/>
            </a:pPr>
            <a:r>
              <a:rPr lang="uz-Cyrl-UZ" b="1" dirty="0">
                <a:latin typeface="Times New Roman" pitchFamily="18" charset="0"/>
                <a:cs typeface="Times New Roman" pitchFamily="18" charset="0"/>
              </a:rPr>
              <a:t>Матис-Мейер-Осеасе схемаси</a:t>
            </a:r>
          </a:p>
        </p:txBody>
      </p:sp>
      <p:sp>
        <p:nvSpPr>
          <p:cNvPr id="16391" name="TextBox 2"/>
          <p:cNvSpPr txBox="1">
            <a:spLocks noChangeArrowheads="1"/>
          </p:cNvSpPr>
          <p:nvPr/>
        </p:nvSpPr>
        <p:spPr bwMode="auto">
          <a:xfrm>
            <a:off x="2505075" y="6237288"/>
            <a:ext cx="409416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ctr"/>
            <a:r>
              <a:rPr lang="uz-Cyrl-UZ" sz="1600"/>
              <a:t>2.</a:t>
            </a:r>
            <a:r>
              <a:rPr lang="en-US" sz="1600"/>
              <a:t>4</a:t>
            </a:r>
            <a:r>
              <a:rPr lang="uz-Cyrl-UZ" sz="1600"/>
              <a:t>. расм. Матис-Мейер-Осеасе схемаси</a:t>
            </a:r>
            <a:endParaRPr lang="ru-RU" sz="1600">
              <a:latin typeface="Times New Roman" pitchFamily="18" charset="0"/>
              <a:cs typeface="Times New Roman" pitchFamily="18" charset="0"/>
            </a:endParaRPr>
          </a:p>
        </p:txBody>
      </p:sp>
      <p:grpSp>
        <p:nvGrpSpPr>
          <p:cNvPr id="16392" name="Группа 2059"/>
          <p:cNvGrpSpPr>
            <a:grpSpLocks/>
          </p:cNvGrpSpPr>
          <p:nvPr/>
        </p:nvGrpSpPr>
        <p:grpSpPr bwMode="auto">
          <a:xfrm>
            <a:off x="1374775" y="3148013"/>
            <a:ext cx="6572250" cy="3033712"/>
            <a:chOff x="1187624" y="2577354"/>
            <a:chExt cx="6490769" cy="2989877"/>
          </a:xfrm>
        </p:grpSpPr>
        <p:grpSp>
          <p:nvGrpSpPr>
            <p:cNvPr id="16395" name="Group 2"/>
            <p:cNvGrpSpPr>
              <a:grpSpLocks/>
            </p:cNvGrpSpPr>
            <p:nvPr/>
          </p:nvGrpSpPr>
          <p:grpSpPr bwMode="auto">
            <a:xfrm>
              <a:off x="1187624" y="2577354"/>
              <a:ext cx="6490769" cy="2989877"/>
              <a:chOff x="2198" y="4877"/>
              <a:chExt cx="8196" cy="3541"/>
            </a:xfrm>
          </p:grpSpPr>
          <p:grpSp>
            <p:nvGrpSpPr>
              <p:cNvPr id="16400" name="Group 3"/>
              <p:cNvGrpSpPr>
                <a:grpSpLocks/>
              </p:cNvGrpSpPr>
              <p:nvPr/>
            </p:nvGrpSpPr>
            <p:grpSpPr bwMode="auto">
              <a:xfrm>
                <a:off x="2772" y="5790"/>
                <a:ext cx="7280" cy="2628"/>
                <a:chOff x="3361" y="4797"/>
                <a:chExt cx="7280" cy="2628"/>
              </a:xfrm>
            </p:grpSpPr>
            <p:grpSp>
              <p:nvGrpSpPr>
                <p:cNvPr id="16415" name="Group 4"/>
                <p:cNvGrpSpPr>
                  <a:grpSpLocks/>
                </p:cNvGrpSpPr>
                <p:nvPr/>
              </p:nvGrpSpPr>
              <p:grpSpPr bwMode="auto">
                <a:xfrm>
                  <a:off x="3361" y="4797"/>
                  <a:ext cx="4156" cy="2628"/>
                  <a:chOff x="2165" y="4704"/>
                  <a:chExt cx="4156" cy="2628"/>
                </a:xfrm>
              </p:grpSpPr>
              <p:sp>
                <p:nvSpPr>
                  <p:cNvPr id="16417" name="Rectangle 5"/>
                  <p:cNvSpPr>
                    <a:spLocks noChangeArrowheads="1"/>
                  </p:cNvSpPr>
                  <p:nvPr/>
                </p:nvSpPr>
                <p:spPr bwMode="auto">
                  <a:xfrm>
                    <a:off x="3073" y="5536"/>
                    <a:ext cx="908" cy="533"/>
                  </a:xfrm>
                  <a:prstGeom prst="rect">
                    <a:avLst/>
                  </a:prstGeom>
                  <a:solidFill>
                    <a:srgbClr val="FFFFFF"/>
                  </a:solidFill>
                  <a:ln w="9525">
                    <a:solidFill>
                      <a:srgbClr val="000000"/>
                    </a:solidFill>
                    <a:miter lim="800000"/>
                    <a:headEnd/>
                    <a:tailEnd/>
                  </a:ln>
                </p:spPr>
                <p:txBody>
                  <a:bodyPr/>
                  <a:lstStyle/>
                  <a:p>
                    <a:pPr algn="ctr"/>
                    <a:r>
                      <a:rPr lang="en-US" sz="1200">
                        <a:latin typeface="Times New Roman" pitchFamily="18" charset="0"/>
                        <a:cs typeface="Times New Roman" pitchFamily="18" charset="0"/>
                      </a:rPr>
                      <a:t>g(H</a:t>
                    </a:r>
                    <a:r>
                      <a:rPr lang="en-US" sz="1200" baseline="-25000">
                        <a:latin typeface="Times New Roman" pitchFamily="18" charset="0"/>
                        <a:cs typeface="Times New Roman" pitchFamily="18" charset="0"/>
                      </a:rPr>
                      <a:t>i-1</a:t>
                    </a:r>
                    <a:r>
                      <a:rPr lang="en-US" sz="1200">
                        <a:latin typeface="Times New Roman" pitchFamily="18" charset="0"/>
                        <a:cs typeface="Times New Roman" pitchFamily="18" charset="0"/>
                      </a:rPr>
                      <a:t>)</a:t>
                    </a:r>
                    <a:endParaRPr lang="ru-RU" sz="1200">
                      <a:latin typeface="Times New Roman" pitchFamily="18" charset="0"/>
                      <a:cs typeface="Times New Roman" pitchFamily="18" charset="0"/>
                    </a:endParaRPr>
                  </a:p>
                </p:txBody>
              </p:sp>
              <p:cxnSp>
                <p:nvCxnSpPr>
                  <p:cNvPr id="16418" name="AutoShape 6"/>
                  <p:cNvCxnSpPr>
                    <a:cxnSpLocks noChangeShapeType="1"/>
                  </p:cNvCxnSpPr>
                  <p:nvPr/>
                </p:nvCxnSpPr>
                <p:spPr bwMode="auto">
                  <a:xfrm>
                    <a:off x="3981" y="5813"/>
                    <a:ext cx="497" cy="1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6419" name="Rectangle 7"/>
                  <p:cNvSpPr>
                    <a:spLocks noChangeArrowheads="1"/>
                  </p:cNvSpPr>
                  <p:nvPr/>
                </p:nvSpPr>
                <p:spPr bwMode="auto">
                  <a:xfrm>
                    <a:off x="4479" y="5621"/>
                    <a:ext cx="1842" cy="448"/>
                  </a:xfrm>
                  <a:prstGeom prst="rect">
                    <a:avLst/>
                  </a:prstGeom>
                  <a:solidFill>
                    <a:srgbClr val="FFFFFF"/>
                  </a:solidFill>
                  <a:ln w="9525">
                    <a:solidFill>
                      <a:srgbClr val="000000"/>
                    </a:solidFill>
                    <a:miter lim="800000"/>
                    <a:headEnd/>
                    <a:tailEnd/>
                  </a:ln>
                </p:spPr>
                <p:txBody>
                  <a:bodyPr/>
                  <a:lstStyle/>
                  <a:p>
                    <a:pPr algn="ctr"/>
                    <a:r>
                      <a:rPr lang="uz-Cyrl-UZ" sz="1000">
                        <a:latin typeface="Times New Roman" pitchFamily="18" charset="0"/>
                        <a:cs typeface="Times New Roman" pitchFamily="18" charset="0"/>
                      </a:rPr>
                      <a:t>Шифрлаш алгоритми</a:t>
                    </a:r>
                    <a:endParaRPr lang="ru-RU" sz="1200">
                      <a:latin typeface="Times New Roman" pitchFamily="18" charset="0"/>
                      <a:cs typeface="Times New Roman" pitchFamily="18" charset="0"/>
                    </a:endParaRPr>
                  </a:p>
                </p:txBody>
              </p:sp>
              <p:cxnSp>
                <p:nvCxnSpPr>
                  <p:cNvPr id="16420" name="AutoShape 8"/>
                  <p:cNvCxnSpPr>
                    <a:cxnSpLocks noChangeShapeType="1"/>
                  </p:cNvCxnSpPr>
                  <p:nvPr/>
                </p:nvCxnSpPr>
                <p:spPr bwMode="auto">
                  <a:xfrm>
                    <a:off x="5304" y="5237"/>
                    <a:ext cx="0" cy="384"/>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6421" name="Rectangle 9"/>
                  <p:cNvSpPr>
                    <a:spLocks noChangeArrowheads="1"/>
                  </p:cNvSpPr>
                  <p:nvPr/>
                </p:nvSpPr>
                <p:spPr bwMode="auto">
                  <a:xfrm>
                    <a:off x="4965" y="4704"/>
                    <a:ext cx="683" cy="533"/>
                  </a:xfrm>
                  <a:prstGeom prst="rect">
                    <a:avLst/>
                  </a:prstGeom>
                  <a:solidFill>
                    <a:srgbClr val="FFFFFF"/>
                  </a:solidFill>
                  <a:ln w="9525">
                    <a:solidFill>
                      <a:srgbClr val="000000"/>
                    </a:solidFill>
                    <a:miter lim="800000"/>
                    <a:headEnd/>
                    <a:tailEnd/>
                  </a:ln>
                </p:spPr>
                <p:txBody>
                  <a:bodyPr/>
                  <a:lstStyle/>
                  <a:p>
                    <a:pPr algn="ctr"/>
                    <a:r>
                      <a:rPr lang="uz-Cyrl-UZ" sz="1200">
                        <a:latin typeface="Times New Roman" pitchFamily="18" charset="0"/>
                        <a:cs typeface="Times New Roman" pitchFamily="18" charset="0"/>
                      </a:rPr>
                      <a:t>М</a:t>
                    </a:r>
                    <a:r>
                      <a:rPr lang="en-US" sz="1200" baseline="-25000">
                        <a:latin typeface="Times New Roman" pitchFamily="18" charset="0"/>
                        <a:cs typeface="Times New Roman" pitchFamily="18" charset="0"/>
                      </a:rPr>
                      <a:t>i</a:t>
                    </a:r>
                    <a:endParaRPr lang="ru-RU" sz="1200">
                      <a:latin typeface="Times New Roman" pitchFamily="18" charset="0"/>
                      <a:cs typeface="Times New Roman" pitchFamily="18" charset="0"/>
                    </a:endParaRPr>
                  </a:p>
                </p:txBody>
              </p:sp>
              <p:sp>
                <p:nvSpPr>
                  <p:cNvPr id="16422" name="Rectangle 10"/>
                  <p:cNvSpPr>
                    <a:spLocks noChangeArrowheads="1"/>
                  </p:cNvSpPr>
                  <p:nvPr/>
                </p:nvSpPr>
                <p:spPr bwMode="auto">
                  <a:xfrm>
                    <a:off x="5079" y="6948"/>
                    <a:ext cx="467" cy="384"/>
                  </a:xfrm>
                  <a:prstGeom prst="rect">
                    <a:avLst/>
                  </a:prstGeom>
                  <a:solidFill>
                    <a:srgbClr val="FFFFFF"/>
                  </a:solidFill>
                  <a:ln w="9525">
                    <a:solidFill>
                      <a:srgbClr val="000000"/>
                    </a:solidFill>
                    <a:miter lim="800000"/>
                    <a:headEnd/>
                    <a:tailEnd/>
                  </a:ln>
                </p:spPr>
                <p:txBody>
                  <a:bodyPr/>
                  <a:lstStyle/>
                  <a:p>
                    <a:pPr algn="ctr"/>
                    <a:r>
                      <a:rPr lang="en-US" sz="1200">
                        <a:latin typeface="Times New Roman" pitchFamily="18" charset="0"/>
                        <a:cs typeface="Times New Roman" pitchFamily="18" charset="0"/>
                      </a:rPr>
                      <a:t>H</a:t>
                    </a:r>
                    <a:r>
                      <a:rPr lang="en-US" sz="1200" baseline="-25000">
                        <a:latin typeface="Times New Roman" pitchFamily="18" charset="0"/>
                        <a:cs typeface="Times New Roman" pitchFamily="18" charset="0"/>
                      </a:rPr>
                      <a:t>i</a:t>
                    </a:r>
                    <a:endParaRPr lang="ru-RU" sz="1200">
                      <a:latin typeface="Times New Roman" pitchFamily="18" charset="0"/>
                      <a:cs typeface="Times New Roman" pitchFamily="18" charset="0"/>
                    </a:endParaRPr>
                  </a:p>
                </p:txBody>
              </p:sp>
              <p:cxnSp>
                <p:nvCxnSpPr>
                  <p:cNvPr id="16423" name="AutoShape 11"/>
                  <p:cNvCxnSpPr>
                    <a:cxnSpLocks noChangeShapeType="1"/>
                  </p:cNvCxnSpPr>
                  <p:nvPr/>
                </p:nvCxnSpPr>
                <p:spPr bwMode="auto">
                  <a:xfrm flipH="1">
                    <a:off x="5304" y="6046"/>
                    <a:ext cx="8" cy="368"/>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6424" name="AutoShape 11"/>
                  <p:cNvCxnSpPr>
                    <a:cxnSpLocks noChangeShapeType="1"/>
                  </p:cNvCxnSpPr>
                  <p:nvPr/>
                </p:nvCxnSpPr>
                <p:spPr bwMode="auto">
                  <a:xfrm>
                    <a:off x="5304" y="6627"/>
                    <a:ext cx="0" cy="32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6425" name="Rectangle 5"/>
                  <p:cNvSpPr>
                    <a:spLocks noChangeArrowheads="1"/>
                  </p:cNvSpPr>
                  <p:nvPr/>
                </p:nvSpPr>
                <p:spPr bwMode="auto">
                  <a:xfrm>
                    <a:off x="2165" y="5513"/>
                    <a:ext cx="683" cy="533"/>
                  </a:xfrm>
                  <a:prstGeom prst="rect">
                    <a:avLst/>
                  </a:prstGeom>
                  <a:solidFill>
                    <a:srgbClr val="FFFFFF"/>
                  </a:solidFill>
                  <a:ln w="9525">
                    <a:solidFill>
                      <a:srgbClr val="000000"/>
                    </a:solidFill>
                    <a:miter lim="800000"/>
                    <a:headEnd/>
                    <a:tailEnd/>
                  </a:ln>
                </p:spPr>
                <p:txBody>
                  <a:bodyPr/>
                  <a:lstStyle/>
                  <a:p>
                    <a:pPr algn="ctr"/>
                    <a:r>
                      <a:rPr lang="en-US" sz="1200">
                        <a:latin typeface="Times New Roman" pitchFamily="18" charset="0"/>
                        <a:cs typeface="Times New Roman" pitchFamily="18" charset="0"/>
                      </a:rPr>
                      <a:t>H</a:t>
                    </a:r>
                    <a:r>
                      <a:rPr lang="en-US" sz="1200" baseline="-25000">
                        <a:latin typeface="Times New Roman" pitchFamily="18" charset="0"/>
                        <a:cs typeface="Times New Roman" pitchFamily="18" charset="0"/>
                      </a:rPr>
                      <a:t>i-1</a:t>
                    </a:r>
                    <a:endParaRPr lang="ru-RU" sz="1200">
                      <a:latin typeface="Times New Roman" pitchFamily="18" charset="0"/>
                      <a:cs typeface="Times New Roman" pitchFamily="18" charset="0"/>
                    </a:endParaRPr>
                  </a:p>
                </p:txBody>
              </p:sp>
              <p:cxnSp>
                <p:nvCxnSpPr>
                  <p:cNvPr id="16426" name="AutoShape 6"/>
                  <p:cNvCxnSpPr>
                    <a:cxnSpLocks noChangeShapeType="1"/>
                  </p:cNvCxnSpPr>
                  <p:nvPr/>
                </p:nvCxnSpPr>
                <p:spPr bwMode="auto">
                  <a:xfrm>
                    <a:off x="2848" y="5786"/>
                    <a:ext cx="225" cy="17"/>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grpSp>
            <p:sp>
              <p:nvSpPr>
                <p:cNvPr id="16416" name="AutoShape 12"/>
                <p:cNvSpPr>
                  <a:spLocks/>
                </p:cNvSpPr>
                <p:nvPr/>
              </p:nvSpPr>
              <p:spPr bwMode="auto">
                <a:xfrm>
                  <a:off x="8658" y="4958"/>
                  <a:ext cx="1983" cy="1660"/>
                </a:xfrm>
                <a:prstGeom prst="borderCallout1">
                  <a:avLst>
                    <a:gd name="adj1" fmla="val 18750"/>
                    <a:gd name="adj2" fmla="val -8333"/>
                    <a:gd name="adj3" fmla="val 41583"/>
                    <a:gd name="adj4" fmla="val -77894"/>
                  </a:avLst>
                </a:prstGeom>
                <a:solidFill>
                  <a:srgbClr val="FFFFFF"/>
                </a:solidFill>
                <a:ln w="9525">
                  <a:solidFill>
                    <a:srgbClr val="000000"/>
                  </a:solidFill>
                  <a:miter lim="800000"/>
                  <a:headEnd/>
                  <a:tailEnd/>
                </a:ln>
              </p:spPr>
              <p:txBody>
                <a:bodyPr/>
                <a:lstStyle/>
                <a:p>
                  <a:pPr algn="ctr"/>
                  <a:r>
                    <a:rPr lang="uz-Cyrl-UZ" sz="1200">
                      <a:latin typeface="Times New Roman" pitchFamily="18" charset="0"/>
                      <a:cs typeface="Times New Roman" pitchFamily="18" charset="0"/>
                    </a:rPr>
                    <a:t>Блокли шифрлаш алгоритми, </a:t>
                  </a:r>
                  <a:r>
                    <a:rPr lang="en-US" sz="1200">
                      <a:latin typeface="Times New Roman" pitchFamily="18" charset="0"/>
                      <a:cs typeface="Times New Roman" pitchFamily="18" charset="0"/>
                    </a:rPr>
                    <a:t>M</a:t>
                  </a:r>
                  <a:r>
                    <a:rPr lang="en-US" sz="1200" baseline="-25000">
                      <a:latin typeface="Times New Roman" pitchFamily="18" charset="0"/>
                      <a:cs typeface="Times New Roman" pitchFamily="18" charset="0"/>
                    </a:rPr>
                    <a:t>i</a:t>
                  </a:r>
                  <a:r>
                    <a:rPr lang="uz-Cyrl-UZ" sz="1200">
                      <a:latin typeface="Times New Roman" pitchFamily="18" charset="0"/>
                      <a:cs typeface="Times New Roman" pitchFamily="18" charset="0"/>
                    </a:rPr>
                    <a:t>-очиқ матн,</a:t>
                  </a:r>
                  <a:r>
                    <a:rPr lang="en-US" sz="1200">
                      <a:latin typeface="Times New Roman" pitchFamily="18" charset="0"/>
                      <a:cs typeface="Times New Roman" pitchFamily="18" charset="0"/>
                    </a:rPr>
                    <a:t> g(H</a:t>
                  </a:r>
                  <a:r>
                    <a:rPr lang="en-US" sz="1200" baseline="-25000">
                      <a:latin typeface="Times New Roman" pitchFamily="18" charset="0"/>
                      <a:cs typeface="Times New Roman" pitchFamily="18" charset="0"/>
                    </a:rPr>
                    <a:t>i-1</a:t>
                  </a:r>
                  <a:r>
                    <a:rPr lang="en-US" sz="1200">
                      <a:latin typeface="Times New Roman" pitchFamily="18" charset="0"/>
                      <a:cs typeface="Times New Roman" pitchFamily="18" charset="0"/>
                    </a:rPr>
                    <a:t> ) –</a:t>
                  </a:r>
                  <a:r>
                    <a:rPr lang="uz-Cyrl-UZ" sz="1200">
                      <a:latin typeface="Times New Roman" pitchFamily="18" charset="0"/>
                      <a:cs typeface="Times New Roman" pitchFamily="18" charset="0"/>
                    </a:rPr>
                    <a:t>калит, </a:t>
                  </a:r>
                  <a:r>
                    <a:rPr lang="en-US" sz="1200">
                      <a:latin typeface="Times New Roman" pitchFamily="18" charset="0"/>
                      <a:cs typeface="Times New Roman" pitchFamily="18" charset="0"/>
                    </a:rPr>
                    <a:t>H</a:t>
                  </a:r>
                  <a:r>
                    <a:rPr lang="en-US" sz="1200" baseline="-25000">
                      <a:latin typeface="Times New Roman" pitchFamily="18" charset="0"/>
                      <a:cs typeface="Times New Roman" pitchFamily="18" charset="0"/>
                    </a:rPr>
                    <a:t>i</a:t>
                  </a:r>
                  <a:r>
                    <a:rPr lang="uz-Cyrl-UZ" sz="1200">
                      <a:latin typeface="Times New Roman" pitchFamily="18" charset="0"/>
                      <a:cs typeface="Times New Roman" pitchFamily="18" charset="0"/>
                    </a:rPr>
                    <a:t>-шифр матн вазифасини бажаради  </a:t>
                  </a:r>
                  <a:endParaRPr lang="ru-RU" sz="1200">
                    <a:latin typeface="Times New Roman" pitchFamily="18" charset="0"/>
                    <a:cs typeface="Times New Roman" pitchFamily="18" charset="0"/>
                  </a:endParaRPr>
                </a:p>
              </p:txBody>
            </p:sp>
          </p:grpSp>
          <p:grpSp>
            <p:nvGrpSpPr>
              <p:cNvPr id="16401" name="Group 13"/>
              <p:cNvGrpSpPr>
                <a:grpSpLocks/>
              </p:cNvGrpSpPr>
              <p:nvPr/>
            </p:nvGrpSpPr>
            <p:grpSpPr bwMode="auto">
              <a:xfrm>
                <a:off x="2198" y="4877"/>
                <a:ext cx="8196" cy="533"/>
                <a:chOff x="2283" y="1967"/>
                <a:chExt cx="8196" cy="533"/>
              </a:xfrm>
            </p:grpSpPr>
            <p:sp>
              <p:nvSpPr>
                <p:cNvPr id="16403" name="Rectangle 14"/>
                <p:cNvSpPr>
                  <a:spLocks noChangeArrowheads="1"/>
                </p:cNvSpPr>
                <p:nvPr/>
              </p:nvSpPr>
              <p:spPr bwMode="auto">
                <a:xfrm>
                  <a:off x="2283" y="1967"/>
                  <a:ext cx="683" cy="533"/>
                </a:xfrm>
                <a:prstGeom prst="rect">
                  <a:avLst/>
                </a:prstGeom>
                <a:solidFill>
                  <a:srgbClr val="FFFFFF"/>
                </a:solidFill>
                <a:ln w="9525">
                  <a:solidFill>
                    <a:srgbClr val="000000"/>
                  </a:solidFill>
                  <a:miter lim="800000"/>
                  <a:headEnd/>
                  <a:tailEnd/>
                </a:ln>
              </p:spPr>
              <p:txBody>
                <a:bodyPr/>
                <a:lstStyle/>
                <a:p>
                  <a:pPr algn="ctr"/>
                  <a:r>
                    <a:rPr lang="uz-Cyrl-UZ" sz="1200">
                      <a:latin typeface="Times New Roman" pitchFamily="18" charset="0"/>
                      <a:cs typeface="Times New Roman" pitchFamily="18" charset="0"/>
                    </a:rPr>
                    <a:t>М</a:t>
                  </a:r>
                  <a:r>
                    <a:rPr lang="en-US" sz="1200" baseline="-25000">
                      <a:latin typeface="Times New Roman" pitchFamily="18" charset="0"/>
                      <a:cs typeface="Times New Roman" pitchFamily="18" charset="0"/>
                    </a:rPr>
                    <a:t>0</a:t>
                  </a:r>
                  <a:endParaRPr lang="ru-RU" sz="1200">
                    <a:latin typeface="Times New Roman" pitchFamily="18" charset="0"/>
                    <a:cs typeface="Times New Roman" pitchFamily="18" charset="0"/>
                  </a:endParaRPr>
                </a:p>
              </p:txBody>
            </p:sp>
            <p:sp>
              <p:nvSpPr>
                <p:cNvPr id="16404" name="Rectangle 15"/>
                <p:cNvSpPr>
                  <a:spLocks noChangeArrowheads="1"/>
                </p:cNvSpPr>
                <p:nvPr/>
              </p:nvSpPr>
              <p:spPr bwMode="auto">
                <a:xfrm>
                  <a:off x="2966" y="1967"/>
                  <a:ext cx="683" cy="533"/>
                </a:xfrm>
                <a:prstGeom prst="rect">
                  <a:avLst/>
                </a:prstGeom>
                <a:solidFill>
                  <a:srgbClr val="FFFFFF"/>
                </a:solidFill>
                <a:ln w="9525">
                  <a:solidFill>
                    <a:srgbClr val="000000"/>
                  </a:solidFill>
                  <a:miter lim="800000"/>
                  <a:headEnd/>
                  <a:tailEnd/>
                </a:ln>
              </p:spPr>
              <p:txBody>
                <a:bodyPr/>
                <a:lstStyle/>
                <a:p>
                  <a:pPr algn="ctr"/>
                  <a:r>
                    <a:rPr lang="uz-Cyrl-UZ" sz="1200">
                      <a:latin typeface="Times New Roman" pitchFamily="18" charset="0"/>
                      <a:cs typeface="Times New Roman" pitchFamily="18" charset="0"/>
                    </a:rPr>
                    <a:t>М</a:t>
                  </a:r>
                  <a:r>
                    <a:rPr lang="en-US" sz="1200" baseline="-25000">
                      <a:latin typeface="Times New Roman" pitchFamily="18" charset="0"/>
                      <a:cs typeface="Times New Roman" pitchFamily="18" charset="0"/>
                    </a:rPr>
                    <a:t>1</a:t>
                  </a:r>
                  <a:endParaRPr lang="ru-RU" sz="1200">
                    <a:latin typeface="Times New Roman" pitchFamily="18" charset="0"/>
                    <a:cs typeface="Times New Roman" pitchFamily="18" charset="0"/>
                  </a:endParaRPr>
                </a:p>
              </p:txBody>
            </p:sp>
            <p:sp>
              <p:nvSpPr>
                <p:cNvPr id="16405" name="Rectangle 16"/>
                <p:cNvSpPr>
                  <a:spLocks noChangeArrowheads="1"/>
                </p:cNvSpPr>
                <p:nvPr/>
              </p:nvSpPr>
              <p:spPr bwMode="auto">
                <a:xfrm>
                  <a:off x="3649" y="1967"/>
                  <a:ext cx="683" cy="533"/>
                </a:xfrm>
                <a:prstGeom prst="rect">
                  <a:avLst/>
                </a:prstGeom>
                <a:solidFill>
                  <a:srgbClr val="FFFFFF"/>
                </a:solidFill>
                <a:ln w="9525">
                  <a:solidFill>
                    <a:srgbClr val="000000"/>
                  </a:solidFill>
                  <a:miter lim="800000"/>
                  <a:headEnd/>
                  <a:tailEnd/>
                </a:ln>
              </p:spPr>
              <p:txBody>
                <a:bodyPr/>
                <a:lstStyle/>
                <a:p>
                  <a:pPr algn="ctr"/>
                  <a:r>
                    <a:rPr lang="uz-Cyrl-UZ" sz="1200">
                      <a:latin typeface="Times New Roman" pitchFamily="18" charset="0"/>
                      <a:cs typeface="Times New Roman" pitchFamily="18" charset="0"/>
                    </a:rPr>
                    <a:t>М</a:t>
                  </a:r>
                  <a:r>
                    <a:rPr lang="en-US" sz="1200" baseline="-25000">
                      <a:latin typeface="Times New Roman" pitchFamily="18" charset="0"/>
                      <a:cs typeface="Times New Roman" pitchFamily="18" charset="0"/>
                    </a:rPr>
                    <a:t>2</a:t>
                  </a:r>
                  <a:endParaRPr lang="ru-RU" sz="1200">
                    <a:latin typeface="Times New Roman" pitchFamily="18" charset="0"/>
                    <a:cs typeface="Times New Roman" pitchFamily="18" charset="0"/>
                  </a:endParaRPr>
                </a:p>
              </p:txBody>
            </p:sp>
            <p:sp>
              <p:nvSpPr>
                <p:cNvPr id="16406" name="Rectangle 17"/>
                <p:cNvSpPr>
                  <a:spLocks noChangeArrowheads="1"/>
                </p:cNvSpPr>
                <p:nvPr/>
              </p:nvSpPr>
              <p:spPr bwMode="auto">
                <a:xfrm>
                  <a:off x="4332" y="1967"/>
                  <a:ext cx="683" cy="533"/>
                </a:xfrm>
                <a:prstGeom prst="rect">
                  <a:avLst/>
                </a:prstGeom>
                <a:solidFill>
                  <a:srgbClr val="FFFFFF"/>
                </a:solidFill>
                <a:ln w="9525">
                  <a:solidFill>
                    <a:srgbClr val="000000"/>
                  </a:solidFill>
                  <a:miter lim="800000"/>
                  <a:headEnd/>
                  <a:tailEnd/>
                </a:ln>
              </p:spPr>
              <p:txBody>
                <a:bodyPr/>
                <a:lstStyle/>
                <a:p>
                  <a:pPr algn="ctr"/>
                  <a:r>
                    <a:rPr lang="uz-Cyrl-UZ" sz="1200">
                      <a:latin typeface="Times New Roman" pitchFamily="18" charset="0"/>
                      <a:cs typeface="Times New Roman" pitchFamily="18" charset="0"/>
                    </a:rPr>
                    <a:t>М</a:t>
                  </a:r>
                  <a:r>
                    <a:rPr lang="en-US" sz="1200" baseline="-25000">
                      <a:latin typeface="Times New Roman" pitchFamily="18" charset="0"/>
                      <a:cs typeface="Times New Roman" pitchFamily="18" charset="0"/>
                    </a:rPr>
                    <a:t>3</a:t>
                  </a:r>
                  <a:endParaRPr lang="ru-RU" sz="1200">
                    <a:latin typeface="Times New Roman" pitchFamily="18" charset="0"/>
                    <a:cs typeface="Times New Roman" pitchFamily="18" charset="0"/>
                  </a:endParaRPr>
                </a:p>
              </p:txBody>
            </p:sp>
            <p:sp>
              <p:nvSpPr>
                <p:cNvPr id="16407" name="Rectangle 18"/>
                <p:cNvSpPr>
                  <a:spLocks noChangeArrowheads="1"/>
                </p:cNvSpPr>
                <p:nvPr/>
              </p:nvSpPr>
              <p:spPr bwMode="auto">
                <a:xfrm>
                  <a:off x="5015" y="1967"/>
                  <a:ext cx="683" cy="533"/>
                </a:xfrm>
                <a:prstGeom prst="rect">
                  <a:avLst/>
                </a:prstGeom>
                <a:solidFill>
                  <a:srgbClr val="FFFFFF"/>
                </a:solidFill>
                <a:ln w="9525">
                  <a:solidFill>
                    <a:srgbClr val="000000"/>
                  </a:solidFill>
                  <a:miter lim="800000"/>
                  <a:headEnd/>
                  <a:tailEnd/>
                </a:ln>
              </p:spPr>
              <p:txBody>
                <a:bodyPr/>
                <a:lstStyle/>
                <a:p>
                  <a:pPr algn="ctr"/>
                  <a:r>
                    <a:rPr lang="uz-Cyrl-UZ" sz="1200">
                      <a:latin typeface="Times New Roman" pitchFamily="18" charset="0"/>
                      <a:cs typeface="Times New Roman" pitchFamily="18" charset="0"/>
                    </a:rPr>
                    <a:t>М</a:t>
                  </a:r>
                  <a:r>
                    <a:rPr lang="en-US" sz="1200" baseline="-25000">
                      <a:latin typeface="Times New Roman" pitchFamily="18" charset="0"/>
                      <a:cs typeface="Times New Roman" pitchFamily="18" charset="0"/>
                    </a:rPr>
                    <a:t>4</a:t>
                  </a:r>
                  <a:endParaRPr lang="ru-RU" sz="1200">
                    <a:latin typeface="Times New Roman" pitchFamily="18" charset="0"/>
                    <a:cs typeface="Times New Roman" pitchFamily="18" charset="0"/>
                  </a:endParaRPr>
                </a:p>
              </p:txBody>
            </p:sp>
            <p:sp>
              <p:nvSpPr>
                <p:cNvPr id="16408" name="Rectangle 19"/>
                <p:cNvSpPr>
                  <a:spLocks noChangeArrowheads="1"/>
                </p:cNvSpPr>
                <p:nvPr/>
              </p:nvSpPr>
              <p:spPr bwMode="auto">
                <a:xfrm>
                  <a:off x="5698" y="1967"/>
                  <a:ext cx="683" cy="533"/>
                </a:xfrm>
                <a:prstGeom prst="rect">
                  <a:avLst/>
                </a:prstGeom>
                <a:solidFill>
                  <a:srgbClr val="FFFFFF"/>
                </a:solidFill>
                <a:ln w="9525">
                  <a:solidFill>
                    <a:srgbClr val="000000"/>
                  </a:solidFill>
                  <a:miter lim="800000"/>
                  <a:headEnd/>
                  <a:tailEnd/>
                </a:ln>
              </p:spPr>
              <p:txBody>
                <a:bodyPr/>
                <a:lstStyle/>
                <a:p>
                  <a:r>
                    <a:rPr lang="en-US" sz="1200">
                      <a:latin typeface="Times New Roman" pitchFamily="18" charset="0"/>
                      <a:cs typeface="Times New Roman" pitchFamily="18" charset="0"/>
                    </a:rPr>
                    <a:t>…</a:t>
                  </a:r>
                  <a:endParaRPr lang="ru-RU" sz="1200">
                    <a:latin typeface="Times New Roman" pitchFamily="18" charset="0"/>
                    <a:cs typeface="Times New Roman" pitchFamily="18" charset="0"/>
                  </a:endParaRPr>
                </a:p>
                <a:p>
                  <a:r>
                    <a:rPr lang="en-US" sz="1200" baseline="-25000">
                      <a:latin typeface="Times New Roman" pitchFamily="18" charset="0"/>
                      <a:cs typeface="Times New Roman" pitchFamily="18" charset="0"/>
                    </a:rPr>
                    <a:t> </a:t>
                  </a:r>
                  <a:endParaRPr lang="ru-RU" sz="1200">
                    <a:latin typeface="Times New Roman" pitchFamily="18" charset="0"/>
                    <a:cs typeface="Times New Roman" pitchFamily="18" charset="0"/>
                  </a:endParaRPr>
                </a:p>
              </p:txBody>
            </p:sp>
            <p:sp>
              <p:nvSpPr>
                <p:cNvPr id="16409" name="Rectangle 20"/>
                <p:cNvSpPr>
                  <a:spLocks noChangeArrowheads="1"/>
                </p:cNvSpPr>
                <p:nvPr/>
              </p:nvSpPr>
              <p:spPr bwMode="auto">
                <a:xfrm>
                  <a:off x="6381" y="1967"/>
                  <a:ext cx="683" cy="533"/>
                </a:xfrm>
                <a:prstGeom prst="rect">
                  <a:avLst/>
                </a:prstGeom>
                <a:solidFill>
                  <a:srgbClr val="FFFFFF"/>
                </a:solidFill>
                <a:ln w="9525">
                  <a:solidFill>
                    <a:srgbClr val="000000"/>
                  </a:solidFill>
                  <a:miter lim="800000"/>
                  <a:headEnd/>
                  <a:tailEnd/>
                </a:ln>
              </p:spPr>
              <p:txBody>
                <a:bodyPr/>
                <a:lstStyle/>
                <a:p>
                  <a:r>
                    <a:rPr lang="en-US" sz="1200">
                      <a:latin typeface="Times New Roman" pitchFamily="18" charset="0"/>
                      <a:cs typeface="Times New Roman" pitchFamily="18" charset="0"/>
                    </a:rPr>
                    <a:t>…</a:t>
                  </a:r>
                  <a:endParaRPr lang="ru-RU" sz="1200">
                    <a:latin typeface="Times New Roman" pitchFamily="18" charset="0"/>
                    <a:cs typeface="Times New Roman" pitchFamily="18" charset="0"/>
                  </a:endParaRPr>
                </a:p>
              </p:txBody>
            </p:sp>
            <p:sp>
              <p:nvSpPr>
                <p:cNvPr id="16410" name="Rectangle 21"/>
                <p:cNvSpPr>
                  <a:spLocks noChangeArrowheads="1"/>
                </p:cNvSpPr>
                <p:nvPr/>
              </p:nvSpPr>
              <p:spPr bwMode="auto">
                <a:xfrm>
                  <a:off x="7064" y="1967"/>
                  <a:ext cx="683" cy="533"/>
                </a:xfrm>
                <a:prstGeom prst="rect">
                  <a:avLst/>
                </a:prstGeom>
                <a:solidFill>
                  <a:srgbClr val="FFFFFF"/>
                </a:solidFill>
                <a:ln w="9525">
                  <a:solidFill>
                    <a:srgbClr val="000000"/>
                  </a:solidFill>
                  <a:miter lim="800000"/>
                  <a:headEnd/>
                  <a:tailEnd/>
                </a:ln>
              </p:spPr>
              <p:txBody>
                <a:bodyPr/>
                <a:lstStyle/>
                <a:p>
                  <a:r>
                    <a:rPr lang="en-US" sz="1200">
                      <a:latin typeface="Times New Roman" pitchFamily="18" charset="0"/>
                      <a:cs typeface="Times New Roman" pitchFamily="18" charset="0"/>
                    </a:rPr>
                    <a:t>…</a:t>
                  </a:r>
                  <a:endParaRPr lang="ru-RU" sz="1200">
                    <a:latin typeface="Times New Roman" pitchFamily="18" charset="0"/>
                    <a:cs typeface="Times New Roman" pitchFamily="18" charset="0"/>
                  </a:endParaRPr>
                </a:p>
              </p:txBody>
            </p:sp>
            <p:sp>
              <p:nvSpPr>
                <p:cNvPr id="16411" name="Rectangle 22"/>
                <p:cNvSpPr>
                  <a:spLocks noChangeArrowheads="1"/>
                </p:cNvSpPr>
                <p:nvPr/>
              </p:nvSpPr>
              <p:spPr bwMode="auto">
                <a:xfrm>
                  <a:off x="7747" y="1967"/>
                  <a:ext cx="683" cy="533"/>
                </a:xfrm>
                <a:prstGeom prst="rect">
                  <a:avLst/>
                </a:prstGeom>
                <a:solidFill>
                  <a:srgbClr val="FFFFFF"/>
                </a:solidFill>
                <a:ln w="9525">
                  <a:solidFill>
                    <a:srgbClr val="000000"/>
                  </a:solidFill>
                  <a:miter lim="800000"/>
                  <a:headEnd/>
                  <a:tailEnd/>
                </a:ln>
              </p:spPr>
              <p:txBody>
                <a:bodyPr/>
                <a:lstStyle/>
                <a:p>
                  <a:r>
                    <a:rPr lang="en-US" sz="1200">
                      <a:latin typeface="Times New Roman" pitchFamily="18" charset="0"/>
                      <a:cs typeface="Times New Roman" pitchFamily="18" charset="0"/>
                    </a:rPr>
                    <a:t>...</a:t>
                  </a:r>
                  <a:endParaRPr lang="ru-RU" sz="1200">
                    <a:latin typeface="Times New Roman" pitchFamily="18" charset="0"/>
                    <a:cs typeface="Times New Roman" pitchFamily="18" charset="0"/>
                  </a:endParaRPr>
                </a:p>
              </p:txBody>
            </p:sp>
            <p:sp>
              <p:nvSpPr>
                <p:cNvPr id="16412" name="Rectangle 23"/>
                <p:cNvSpPr>
                  <a:spLocks noChangeArrowheads="1"/>
                </p:cNvSpPr>
                <p:nvPr/>
              </p:nvSpPr>
              <p:spPr bwMode="auto">
                <a:xfrm>
                  <a:off x="8359" y="1967"/>
                  <a:ext cx="754" cy="533"/>
                </a:xfrm>
                <a:prstGeom prst="rect">
                  <a:avLst/>
                </a:prstGeom>
                <a:solidFill>
                  <a:srgbClr val="FFFFFF"/>
                </a:solidFill>
                <a:ln w="9525">
                  <a:solidFill>
                    <a:srgbClr val="000000"/>
                  </a:solidFill>
                  <a:miter lim="800000"/>
                  <a:headEnd/>
                  <a:tailEnd/>
                </a:ln>
              </p:spPr>
              <p:txBody>
                <a:bodyPr/>
                <a:lstStyle/>
                <a:p>
                  <a:r>
                    <a:rPr lang="en-US" sz="1200" baseline="-25000">
                      <a:latin typeface="Times New Roman" pitchFamily="18" charset="0"/>
                      <a:cs typeface="Times New Roman" pitchFamily="18" charset="0"/>
                    </a:rPr>
                    <a:t> </a:t>
                  </a:r>
                  <a:endParaRPr lang="ru-RU" sz="1200">
                    <a:latin typeface="Times New Roman" pitchFamily="18" charset="0"/>
                    <a:cs typeface="Times New Roman" pitchFamily="18" charset="0"/>
                  </a:endParaRPr>
                </a:p>
              </p:txBody>
            </p:sp>
            <p:sp>
              <p:nvSpPr>
                <p:cNvPr id="16413" name="Rectangle 24"/>
                <p:cNvSpPr>
                  <a:spLocks noChangeArrowheads="1"/>
                </p:cNvSpPr>
                <p:nvPr/>
              </p:nvSpPr>
              <p:spPr bwMode="auto">
                <a:xfrm>
                  <a:off x="8993" y="1967"/>
                  <a:ext cx="803" cy="533"/>
                </a:xfrm>
                <a:prstGeom prst="rect">
                  <a:avLst/>
                </a:prstGeom>
                <a:solidFill>
                  <a:srgbClr val="FFFFFF"/>
                </a:solidFill>
                <a:ln w="9525">
                  <a:solidFill>
                    <a:srgbClr val="000000"/>
                  </a:solidFill>
                  <a:miter lim="800000"/>
                  <a:headEnd/>
                  <a:tailEnd/>
                </a:ln>
              </p:spPr>
              <p:txBody>
                <a:bodyPr/>
                <a:lstStyle/>
                <a:p>
                  <a:pPr algn="ctr"/>
                  <a:r>
                    <a:rPr lang="uz-Cyrl-UZ" sz="1200">
                      <a:latin typeface="Times New Roman" pitchFamily="18" charset="0"/>
                      <a:cs typeface="Times New Roman" pitchFamily="18" charset="0"/>
                    </a:rPr>
                    <a:t>М</a:t>
                  </a:r>
                  <a:r>
                    <a:rPr lang="en-US" sz="1200" baseline="-25000">
                      <a:latin typeface="Times New Roman" pitchFamily="18" charset="0"/>
                      <a:cs typeface="Times New Roman" pitchFamily="18" charset="0"/>
                    </a:rPr>
                    <a:t>n-1</a:t>
                  </a:r>
                  <a:endParaRPr lang="ru-RU" sz="1200">
                    <a:latin typeface="Times New Roman" pitchFamily="18" charset="0"/>
                    <a:cs typeface="Times New Roman" pitchFamily="18" charset="0"/>
                  </a:endParaRPr>
                </a:p>
                <a:p>
                  <a:r>
                    <a:rPr lang="en-US" sz="1200" baseline="-25000">
                      <a:latin typeface="Times New Roman" pitchFamily="18" charset="0"/>
                      <a:cs typeface="Times New Roman" pitchFamily="18" charset="0"/>
                    </a:rPr>
                    <a:t> </a:t>
                  </a:r>
                  <a:endParaRPr lang="ru-RU" sz="1200">
                    <a:latin typeface="Times New Roman" pitchFamily="18" charset="0"/>
                    <a:cs typeface="Times New Roman" pitchFamily="18" charset="0"/>
                  </a:endParaRPr>
                </a:p>
              </p:txBody>
            </p:sp>
            <p:sp>
              <p:nvSpPr>
                <p:cNvPr id="16414" name="Rectangle 25"/>
                <p:cNvSpPr>
                  <a:spLocks noChangeArrowheads="1"/>
                </p:cNvSpPr>
                <p:nvPr/>
              </p:nvSpPr>
              <p:spPr bwMode="auto">
                <a:xfrm>
                  <a:off x="9796" y="1967"/>
                  <a:ext cx="683" cy="533"/>
                </a:xfrm>
                <a:prstGeom prst="rect">
                  <a:avLst/>
                </a:prstGeom>
                <a:solidFill>
                  <a:srgbClr val="FFFFFF"/>
                </a:solidFill>
                <a:ln w="9525">
                  <a:solidFill>
                    <a:srgbClr val="000000"/>
                  </a:solidFill>
                  <a:miter lim="800000"/>
                  <a:headEnd/>
                  <a:tailEnd/>
                </a:ln>
              </p:spPr>
              <p:txBody>
                <a:bodyPr/>
                <a:lstStyle/>
                <a:p>
                  <a:pPr algn="ctr"/>
                  <a:r>
                    <a:rPr lang="uz-Cyrl-UZ" sz="1200">
                      <a:latin typeface="Times New Roman" pitchFamily="18" charset="0"/>
                      <a:cs typeface="Times New Roman" pitchFamily="18" charset="0"/>
                    </a:rPr>
                    <a:t>М</a:t>
                  </a:r>
                  <a:r>
                    <a:rPr lang="en-US" sz="1200" baseline="-25000">
                      <a:latin typeface="Times New Roman" pitchFamily="18" charset="0"/>
                      <a:cs typeface="Times New Roman" pitchFamily="18" charset="0"/>
                    </a:rPr>
                    <a:t>n</a:t>
                  </a:r>
                  <a:endParaRPr lang="ru-RU" sz="1200">
                    <a:latin typeface="Times New Roman" pitchFamily="18" charset="0"/>
                    <a:cs typeface="Times New Roman" pitchFamily="18" charset="0"/>
                  </a:endParaRPr>
                </a:p>
              </p:txBody>
            </p:sp>
          </p:grpSp>
          <p:cxnSp>
            <p:nvCxnSpPr>
              <p:cNvPr id="16402" name="AutoShape 26"/>
              <p:cNvCxnSpPr>
                <a:cxnSpLocks noChangeShapeType="1"/>
              </p:cNvCxnSpPr>
              <p:nvPr/>
            </p:nvCxnSpPr>
            <p:spPr bwMode="auto">
              <a:xfrm>
                <a:off x="5937" y="5410"/>
                <a:ext cx="1" cy="38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grpSp>
        <p:cxnSp>
          <p:nvCxnSpPr>
            <p:cNvPr id="35" name="Прямая соединительная линия 34"/>
            <p:cNvCxnSpPr/>
            <p:nvPr/>
          </p:nvCxnSpPr>
          <p:spPr>
            <a:xfrm flipH="1">
              <a:off x="5240436" y="3971378"/>
              <a:ext cx="4703" cy="9215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Прямая соединительная линия 66"/>
            <p:cNvCxnSpPr/>
            <p:nvPr/>
          </p:nvCxnSpPr>
          <p:spPr>
            <a:xfrm flipH="1">
              <a:off x="4232328" y="4896035"/>
              <a:ext cx="1011243" cy="0"/>
            </a:xfrm>
            <a:prstGeom prst="line">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49" name="Блок-схема: ИЛИ 2048"/>
            <p:cNvSpPr/>
            <p:nvPr/>
          </p:nvSpPr>
          <p:spPr>
            <a:xfrm>
              <a:off x="4023808" y="4792773"/>
              <a:ext cx="208519" cy="179924"/>
            </a:xfrm>
            <a:prstGeom prst="flowChartOr">
              <a:avLst/>
            </a:prstGeom>
            <a:ln w="15875"/>
          </p:spPr>
          <p:style>
            <a:lnRef idx="2">
              <a:schemeClr val="dk1"/>
            </a:lnRef>
            <a:fillRef idx="1">
              <a:schemeClr val="lt1"/>
            </a:fillRef>
            <a:effectRef idx="0">
              <a:schemeClr val="dk1"/>
            </a:effectRef>
            <a:fontRef idx="minor">
              <a:schemeClr val="dk1"/>
            </a:fontRef>
          </p:style>
          <p:txBody>
            <a:bodyPr anchor="ctr"/>
            <a:lstStyle/>
            <a:p>
              <a:pPr algn="ctr" fontAlgn="auto">
                <a:spcBef>
                  <a:spcPts val="0"/>
                </a:spcBef>
                <a:spcAft>
                  <a:spcPts val="0"/>
                </a:spcAft>
                <a:defRPr/>
              </a:pPr>
              <a:endParaRPr lang="ru-RU"/>
            </a:p>
          </p:txBody>
        </p:sp>
        <p:cxnSp>
          <p:nvCxnSpPr>
            <p:cNvPr id="65" name="Прямая соединительная линия 64"/>
            <p:cNvCxnSpPr/>
            <p:nvPr/>
          </p:nvCxnSpPr>
          <p:spPr>
            <a:xfrm>
              <a:off x="4135123" y="3971378"/>
              <a:ext cx="111001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6393" name="TextBox 2060"/>
          <p:cNvSpPr txBox="1">
            <a:spLocks noChangeArrowheads="1"/>
          </p:cNvSpPr>
          <p:nvPr/>
        </p:nvSpPr>
        <p:spPr bwMode="auto">
          <a:xfrm>
            <a:off x="428625" y="1930400"/>
            <a:ext cx="83915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just"/>
            <a:r>
              <a:rPr lang="uz-Cyrl-UZ">
                <a:latin typeface="Times New Roman" pitchFamily="18" charset="0"/>
                <a:cs typeface="Times New Roman" pitchFamily="18" charset="0"/>
              </a:rPr>
              <a:t>Матис-Мейер-Осеасе схемаси Девис-Мейер схемасига ўхшаш бўлиб, унда хэшланадиган </a:t>
            </a:r>
            <a:r>
              <a:rPr lang="uz-Cyrl-UZ" b="1">
                <a:latin typeface="Times New Roman" pitchFamily="18" charset="0"/>
                <a:cs typeface="Times New Roman" pitchFamily="18" charset="0"/>
              </a:rPr>
              <a:t>маълумот блоки очиқ матн</a:t>
            </a:r>
            <a:r>
              <a:rPr lang="uz-Cyrl-UZ">
                <a:latin typeface="Times New Roman" pitchFamily="18" charset="0"/>
                <a:cs typeface="Times New Roman" pitchFamily="18" charset="0"/>
              </a:rPr>
              <a:t> вазифасини, инициализация вектори </a:t>
            </a:r>
            <a:r>
              <a:rPr lang="uz-Cyrl-UZ" b="1">
                <a:latin typeface="Times New Roman" pitchFamily="18" charset="0"/>
                <a:cs typeface="Times New Roman" pitchFamily="18" charset="0"/>
              </a:rPr>
              <a:t>Н</a:t>
            </a:r>
            <a:r>
              <a:rPr lang="uz-Cyrl-UZ" b="1" baseline="-25000">
                <a:latin typeface="Times New Roman" pitchFamily="18" charset="0"/>
                <a:cs typeface="Times New Roman" pitchFamily="18" charset="0"/>
              </a:rPr>
              <a:t>0</a:t>
            </a:r>
            <a:r>
              <a:rPr lang="uz-Cyrl-UZ" b="1">
                <a:latin typeface="Times New Roman" pitchFamily="18" charset="0"/>
                <a:cs typeface="Times New Roman" pitchFamily="18" charset="0"/>
              </a:rPr>
              <a:t> </a:t>
            </a:r>
            <a:r>
              <a:rPr lang="en-US">
                <a:latin typeface="Times New Roman" pitchFamily="18" charset="0"/>
                <a:cs typeface="Times New Roman" pitchFamily="18" charset="0"/>
              </a:rPr>
              <a:t>g </a:t>
            </a:r>
            <a:r>
              <a:rPr lang="uz-Cyrl-UZ">
                <a:latin typeface="Times New Roman" pitchFamily="18" charset="0"/>
                <a:cs typeface="Times New Roman" pitchFamily="18" charset="0"/>
              </a:rPr>
              <a:t>функциядан ўтказилиб, М</a:t>
            </a:r>
            <a:r>
              <a:rPr lang="uz-Cyrl-UZ" baseline="-25000">
                <a:latin typeface="Times New Roman" pitchFamily="18" charset="0"/>
                <a:cs typeface="Times New Roman" pitchFamily="18" charset="0"/>
              </a:rPr>
              <a:t>1</a:t>
            </a:r>
            <a:r>
              <a:rPr lang="uz-Cyrl-UZ">
                <a:latin typeface="Times New Roman" pitchFamily="18" charset="0"/>
                <a:cs typeface="Times New Roman" pitchFamily="18" charset="0"/>
              </a:rPr>
              <a:t> блокни шифрлашда </a:t>
            </a:r>
            <a:r>
              <a:rPr lang="uz-Cyrl-UZ" b="1">
                <a:latin typeface="Times New Roman" pitchFamily="18" charset="0"/>
                <a:cs typeface="Times New Roman" pitchFamily="18" charset="0"/>
              </a:rPr>
              <a:t>калит вазифасини </a:t>
            </a:r>
            <a:r>
              <a:rPr lang="uz-Cyrl-UZ">
                <a:latin typeface="Times New Roman" pitchFamily="18" charset="0"/>
                <a:cs typeface="Times New Roman" pitchFamily="18" charset="0"/>
              </a:rPr>
              <a:t>бажаради</a:t>
            </a:r>
            <a:endParaRPr lang="ru-RU">
              <a:latin typeface="Times New Roman" pitchFamily="18" charset="0"/>
              <a:cs typeface="Times New Roman" pitchFamily="18" charset="0"/>
            </a:endParaRPr>
          </a:p>
        </p:txBody>
      </p:sp>
      <p:sp>
        <p:nvSpPr>
          <p:cNvPr id="69" name="Стрелка влево 68">
            <a:hlinkClick r:id="rId2" action="ppaction://hlinkpres?slideindex=11&amp;slidetitle=Презентация PowerPoint"/>
          </p:cNvPr>
          <p:cNvSpPr/>
          <p:nvPr/>
        </p:nvSpPr>
        <p:spPr>
          <a:xfrm>
            <a:off x="460375" y="6407150"/>
            <a:ext cx="558800" cy="298450"/>
          </a:xfrm>
          <a:prstGeom prst="leftArrow">
            <a:avLst/>
          </a:prstGeom>
        </p:spPr>
        <p:style>
          <a:lnRef idx="2">
            <a:schemeClr val="accent6"/>
          </a:lnRef>
          <a:fillRef idx="1">
            <a:schemeClr val="lt1"/>
          </a:fillRef>
          <a:effectRef idx="0">
            <a:schemeClr val="accent6"/>
          </a:effectRef>
          <a:fontRef idx="minor">
            <a:schemeClr val="dk1"/>
          </a:fontRef>
        </p:style>
        <p:txBody>
          <a:bodyPr anchor="ctr"/>
          <a:lstStyle/>
          <a:p>
            <a:pPr algn="ctr" fontAlgn="auto">
              <a:spcBef>
                <a:spcPts val="0"/>
              </a:spcBef>
              <a:spcAft>
                <a:spcPts val="0"/>
              </a:spcAft>
              <a:defRPr/>
            </a:pPr>
            <a:endParaRPr lang="ru-RU"/>
          </a:p>
        </p:txBody>
      </p:sp>
    </p:spTree>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428596" y="228600"/>
            <a:ext cx="8501122" cy="914400"/>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t="100000" r="100000"/>
            </a:path>
            <a:tileRect l="-100000" b="-100000"/>
          </a:gradFill>
          <a:ln>
            <a:solidFill>
              <a:schemeClr val="tx1"/>
            </a:solidFill>
          </a:ln>
          <a:effectLst>
            <a:glow rad="101600">
              <a:schemeClr val="accent4">
                <a:satMod val="175000"/>
                <a:alpha val="40000"/>
              </a:schemeClr>
            </a:glow>
            <a:softEdge rad="12700"/>
          </a:effectLst>
        </p:spPr>
        <p:style>
          <a:lnRef idx="2">
            <a:schemeClr val="dk1"/>
          </a:lnRef>
          <a:fillRef idx="1">
            <a:schemeClr val="lt1"/>
          </a:fillRef>
          <a:effectRef idx="0">
            <a:schemeClr val="dk1"/>
          </a:effectRef>
          <a:fontRef idx="minor">
            <a:schemeClr val="dk1"/>
          </a:fontRef>
        </p:style>
        <p:txBody>
          <a:bodyPr anchor="ctr"/>
          <a:lstStyle/>
          <a:p>
            <a:pPr algn="ctr" fontAlgn="auto">
              <a:spcBef>
                <a:spcPts val="0"/>
              </a:spcBef>
              <a:spcAft>
                <a:spcPts val="0"/>
              </a:spcAft>
              <a:defRPr/>
            </a:pPr>
            <a:r>
              <a:rPr lang="ru-RU" sz="2000" b="1" dirty="0" err="1">
                <a:latin typeface="Times New Roman" pitchFamily="18" charset="0"/>
                <a:cs typeface="Times New Roman" pitchFamily="18" charset="0"/>
              </a:rPr>
              <a:t>Хэш</a:t>
            </a:r>
            <a:r>
              <a:rPr lang="ru-RU" sz="2000" b="1" dirty="0">
                <a:latin typeface="Times New Roman" pitchFamily="18" charset="0"/>
                <a:cs typeface="Times New Roman" pitchFamily="18" charset="0"/>
              </a:rPr>
              <a:t> функция </a:t>
            </a:r>
            <a:r>
              <a:rPr lang="ru-RU" sz="2000" b="1" dirty="0" err="1">
                <a:latin typeface="Times New Roman" pitchFamily="18" charset="0"/>
                <a:cs typeface="Times New Roman" pitchFamily="18" charset="0"/>
              </a:rPr>
              <a:t>қуриш</a:t>
            </a:r>
            <a:r>
              <a:rPr lang="ru-RU" sz="2000" b="1" dirty="0">
                <a:latin typeface="Times New Roman" pitchFamily="18" charset="0"/>
                <a:cs typeface="Times New Roman" pitchFamily="18" charset="0"/>
              </a:rPr>
              <a:t> (конструктив </a:t>
            </a:r>
            <a:r>
              <a:rPr lang="ru-RU" sz="2000" b="1" dirty="0" err="1">
                <a:latin typeface="Times New Roman" pitchFamily="18" charset="0"/>
                <a:cs typeface="Times New Roman" pitchFamily="18" charset="0"/>
              </a:rPr>
              <a:t>схемасини</a:t>
            </a:r>
            <a:r>
              <a:rPr lang="ru-RU" sz="2000" b="1" dirty="0">
                <a:latin typeface="Times New Roman" pitchFamily="18" charset="0"/>
                <a:cs typeface="Times New Roman" pitchFamily="18" charset="0"/>
              </a:rPr>
              <a:t>) </a:t>
            </a:r>
            <a:r>
              <a:rPr lang="ru-RU" sz="2000" b="1" dirty="0" err="1">
                <a:latin typeface="Times New Roman" pitchFamily="18" charset="0"/>
                <a:cs typeface="Times New Roman" pitchFamily="18" charset="0"/>
              </a:rPr>
              <a:t>принципини</a:t>
            </a:r>
            <a:r>
              <a:rPr lang="ru-RU" sz="2000" b="1" dirty="0">
                <a:latin typeface="Times New Roman" pitchFamily="18" charset="0"/>
                <a:cs typeface="Times New Roman" pitchFamily="18" charset="0"/>
              </a:rPr>
              <a:t> </a:t>
            </a:r>
            <a:r>
              <a:rPr lang="ru-RU" sz="2000" b="1" dirty="0" err="1">
                <a:latin typeface="Times New Roman" pitchFamily="18" charset="0"/>
                <a:cs typeface="Times New Roman" pitchFamily="18" charset="0"/>
              </a:rPr>
              <a:t>танлаш</a:t>
            </a:r>
            <a:endParaRPr lang="ru-RU" sz="2000" b="1" dirty="0">
              <a:latin typeface="Times New Roman" pitchFamily="18" charset="0"/>
              <a:cs typeface="Times New Roman" pitchFamily="18" charset="0"/>
            </a:endParaRPr>
          </a:p>
        </p:txBody>
      </p:sp>
      <p:sp>
        <p:nvSpPr>
          <p:cNvPr id="5" name="Прямоугольник 4"/>
          <p:cNvSpPr/>
          <p:nvPr/>
        </p:nvSpPr>
        <p:spPr>
          <a:xfrm>
            <a:off x="381000" y="1295400"/>
            <a:ext cx="8534400" cy="5410200"/>
          </a:xfrm>
          <a:prstGeom prst="rect">
            <a:avLst/>
          </a:prstGeom>
          <a:solidFill>
            <a:schemeClr val="bg2"/>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fontAlgn="auto">
              <a:spcBef>
                <a:spcPts val="0"/>
              </a:spcBef>
              <a:spcAft>
                <a:spcPts val="0"/>
              </a:spcAft>
              <a:defRPr/>
            </a:pPr>
            <a:endParaRPr lang="ru-RU" b="1" dirty="0">
              <a:solidFill>
                <a:schemeClr val="tx1"/>
              </a:solidFill>
              <a:latin typeface="Times New Roman" pitchFamily="18" charset="0"/>
              <a:cs typeface="Times New Roman" pitchFamily="18" charset="0"/>
            </a:endParaRPr>
          </a:p>
        </p:txBody>
      </p:sp>
      <p:sp>
        <p:nvSpPr>
          <p:cNvPr id="6" name="Скругленный прямоугольник 5"/>
          <p:cNvSpPr/>
          <p:nvPr/>
        </p:nvSpPr>
        <p:spPr>
          <a:xfrm>
            <a:off x="1042988" y="1412875"/>
            <a:ext cx="7200900" cy="503238"/>
          </a:xfrm>
          <a:prstGeom prst="roundRect">
            <a:avLst/>
          </a:prstGeom>
        </p:spPr>
        <p:style>
          <a:lnRef idx="2">
            <a:schemeClr val="accent6"/>
          </a:lnRef>
          <a:fillRef idx="1">
            <a:schemeClr val="lt1"/>
          </a:fillRef>
          <a:effectRef idx="0">
            <a:schemeClr val="accent6"/>
          </a:effectRef>
          <a:fontRef idx="minor">
            <a:schemeClr val="dk1"/>
          </a:fontRef>
        </p:style>
        <p:txBody>
          <a:bodyPr anchor="ctr"/>
          <a:lstStyle/>
          <a:p>
            <a:pPr algn="ctr" fontAlgn="auto">
              <a:spcBef>
                <a:spcPts val="0"/>
              </a:spcBef>
              <a:spcAft>
                <a:spcPts val="0"/>
              </a:spcAft>
              <a:defRPr/>
            </a:pPr>
            <a:r>
              <a:rPr lang="uz-Cyrl-UZ" b="1" dirty="0">
                <a:latin typeface="Times New Roman" pitchFamily="18" charset="0"/>
                <a:cs typeface="Times New Roman" pitchFamily="18" charset="0"/>
              </a:rPr>
              <a:t>Миагучи-Пренель схемаси</a:t>
            </a:r>
          </a:p>
        </p:txBody>
      </p:sp>
      <p:sp>
        <p:nvSpPr>
          <p:cNvPr id="17415" name="TextBox 2"/>
          <p:cNvSpPr txBox="1">
            <a:spLocks noChangeArrowheads="1"/>
          </p:cNvSpPr>
          <p:nvPr/>
        </p:nvSpPr>
        <p:spPr bwMode="auto">
          <a:xfrm>
            <a:off x="2505075" y="6237288"/>
            <a:ext cx="40941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ctr"/>
            <a:r>
              <a:rPr lang="uz-Cyrl-UZ" sz="1600"/>
              <a:t>2.</a:t>
            </a:r>
            <a:r>
              <a:rPr lang="en-US" sz="1600"/>
              <a:t>5</a:t>
            </a:r>
            <a:r>
              <a:rPr lang="uz-Cyrl-UZ" sz="1600"/>
              <a:t>. расм. Миагучи-Пренель схемаси</a:t>
            </a:r>
          </a:p>
          <a:p>
            <a:pPr algn="ctr"/>
            <a:endParaRPr lang="ru-RU" sz="1600">
              <a:latin typeface="Times New Roman" pitchFamily="18" charset="0"/>
              <a:cs typeface="Times New Roman" pitchFamily="18" charset="0"/>
            </a:endParaRPr>
          </a:p>
        </p:txBody>
      </p:sp>
      <p:grpSp>
        <p:nvGrpSpPr>
          <p:cNvPr id="17416" name="Группа 2059"/>
          <p:cNvGrpSpPr>
            <a:grpSpLocks/>
          </p:cNvGrpSpPr>
          <p:nvPr/>
        </p:nvGrpSpPr>
        <p:grpSpPr bwMode="auto">
          <a:xfrm>
            <a:off x="1374775" y="3148013"/>
            <a:ext cx="6572250" cy="3033712"/>
            <a:chOff x="1187624" y="2577354"/>
            <a:chExt cx="6490769" cy="2989877"/>
          </a:xfrm>
        </p:grpSpPr>
        <p:grpSp>
          <p:nvGrpSpPr>
            <p:cNvPr id="17419" name="Group 2"/>
            <p:cNvGrpSpPr>
              <a:grpSpLocks/>
            </p:cNvGrpSpPr>
            <p:nvPr/>
          </p:nvGrpSpPr>
          <p:grpSpPr bwMode="auto">
            <a:xfrm>
              <a:off x="1187624" y="2577354"/>
              <a:ext cx="6490769" cy="2989877"/>
              <a:chOff x="2198" y="4877"/>
              <a:chExt cx="8196" cy="3541"/>
            </a:xfrm>
          </p:grpSpPr>
          <p:grpSp>
            <p:nvGrpSpPr>
              <p:cNvPr id="17427" name="Group 3"/>
              <p:cNvGrpSpPr>
                <a:grpSpLocks/>
              </p:cNvGrpSpPr>
              <p:nvPr/>
            </p:nvGrpSpPr>
            <p:grpSpPr bwMode="auto">
              <a:xfrm>
                <a:off x="2772" y="5790"/>
                <a:ext cx="7280" cy="2628"/>
                <a:chOff x="3361" y="4797"/>
                <a:chExt cx="7280" cy="2628"/>
              </a:xfrm>
            </p:grpSpPr>
            <p:grpSp>
              <p:nvGrpSpPr>
                <p:cNvPr id="17442" name="Group 4"/>
                <p:cNvGrpSpPr>
                  <a:grpSpLocks/>
                </p:cNvGrpSpPr>
                <p:nvPr/>
              </p:nvGrpSpPr>
              <p:grpSpPr bwMode="auto">
                <a:xfrm>
                  <a:off x="3361" y="4797"/>
                  <a:ext cx="4156" cy="2628"/>
                  <a:chOff x="2165" y="4704"/>
                  <a:chExt cx="4156" cy="2628"/>
                </a:xfrm>
              </p:grpSpPr>
              <p:sp>
                <p:nvSpPr>
                  <p:cNvPr id="17444" name="Rectangle 5"/>
                  <p:cNvSpPr>
                    <a:spLocks noChangeArrowheads="1"/>
                  </p:cNvSpPr>
                  <p:nvPr/>
                </p:nvSpPr>
                <p:spPr bwMode="auto">
                  <a:xfrm>
                    <a:off x="3073" y="5536"/>
                    <a:ext cx="908" cy="533"/>
                  </a:xfrm>
                  <a:prstGeom prst="rect">
                    <a:avLst/>
                  </a:prstGeom>
                  <a:solidFill>
                    <a:srgbClr val="FFFFFF"/>
                  </a:solidFill>
                  <a:ln w="9525">
                    <a:solidFill>
                      <a:srgbClr val="000000"/>
                    </a:solidFill>
                    <a:miter lim="800000"/>
                    <a:headEnd/>
                    <a:tailEnd/>
                  </a:ln>
                </p:spPr>
                <p:txBody>
                  <a:bodyPr/>
                  <a:lstStyle/>
                  <a:p>
                    <a:pPr algn="ctr"/>
                    <a:r>
                      <a:rPr lang="en-US" sz="1200">
                        <a:latin typeface="Times New Roman" pitchFamily="18" charset="0"/>
                        <a:cs typeface="Times New Roman" pitchFamily="18" charset="0"/>
                      </a:rPr>
                      <a:t>g(H</a:t>
                    </a:r>
                    <a:r>
                      <a:rPr lang="en-US" sz="1200" baseline="-25000">
                        <a:latin typeface="Times New Roman" pitchFamily="18" charset="0"/>
                        <a:cs typeface="Times New Roman" pitchFamily="18" charset="0"/>
                      </a:rPr>
                      <a:t>i-1</a:t>
                    </a:r>
                    <a:r>
                      <a:rPr lang="en-US" sz="1200">
                        <a:latin typeface="Times New Roman" pitchFamily="18" charset="0"/>
                        <a:cs typeface="Times New Roman" pitchFamily="18" charset="0"/>
                      </a:rPr>
                      <a:t>)</a:t>
                    </a:r>
                    <a:endParaRPr lang="ru-RU" sz="1200">
                      <a:latin typeface="Times New Roman" pitchFamily="18" charset="0"/>
                      <a:cs typeface="Times New Roman" pitchFamily="18" charset="0"/>
                    </a:endParaRPr>
                  </a:p>
                </p:txBody>
              </p:sp>
              <p:cxnSp>
                <p:nvCxnSpPr>
                  <p:cNvPr id="17445" name="AutoShape 6"/>
                  <p:cNvCxnSpPr>
                    <a:cxnSpLocks noChangeShapeType="1"/>
                  </p:cNvCxnSpPr>
                  <p:nvPr/>
                </p:nvCxnSpPr>
                <p:spPr bwMode="auto">
                  <a:xfrm>
                    <a:off x="3981" y="5813"/>
                    <a:ext cx="497" cy="1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7446" name="Rectangle 7"/>
                  <p:cNvSpPr>
                    <a:spLocks noChangeArrowheads="1"/>
                  </p:cNvSpPr>
                  <p:nvPr/>
                </p:nvSpPr>
                <p:spPr bwMode="auto">
                  <a:xfrm>
                    <a:off x="4479" y="5621"/>
                    <a:ext cx="1842" cy="448"/>
                  </a:xfrm>
                  <a:prstGeom prst="rect">
                    <a:avLst/>
                  </a:prstGeom>
                  <a:solidFill>
                    <a:srgbClr val="FFFFFF"/>
                  </a:solidFill>
                  <a:ln w="9525">
                    <a:solidFill>
                      <a:srgbClr val="000000"/>
                    </a:solidFill>
                    <a:miter lim="800000"/>
                    <a:headEnd/>
                    <a:tailEnd/>
                  </a:ln>
                </p:spPr>
                <p:txBody>
                  <a:bodyPr/>
                  <a:lstStyle/>
                  <a:p>
                    <a:pPr algn="ctr"/>
                    <a:r>
                      <a:rPr lang="uz-Cyrl-UZ" sz="1000">
                        <a:latin typeface="Times New Roman" pitchFamily="18" charset="0"/>
                        <a:cs typeface="Times New Roman" pitchFamily="18" charset="0"/>
                      </a:rPr>
                      <a:t>Шифрлаш алгоритми</a:t>
                    </a:r>
                    <a:endParaRPr lang="ru-RU" sz="1200">
                      <a:latin typeface="Times New Roman" pitchFamily="18" charset="0"/>
                      <a:cs typeface="Times New Roman" pitchFamily="18" charset="0"/>
                    </a:endParaRPr>
                  </a:p>
                </p:txBody>
              </p:sp>
              <p:cxnSp>
                <p:nvCxnSpPr>
                  <p:cNvPr id="17447" name="AutoShape 8"/>
                  <p:cNvCxnSpPr>
                    <a:cxnSpLocks noChangeShapeType="1"/>
                  </p:cNvCxnSpPr>
                  <p:nvPr/>
                </p:nvCxnSpPr>
                <p:spPr bwMode="auto">
                  <a:xfrm>
                    <a:off x="5304" y="5237"/>
                    <a:ext cx="0" cy="384"/>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7448" name="Rectangle 9"/>
                  <p:cNvSpPr>
                    <a:spLocks noChangeArrowheads="1"/>
                  </p:cNvSpPr>
                  <p:nvPr/>
                </p:nvSpPr>
                <p:spPr bwMode="auto">
                  <a:xfrm>
                    <a:off x="4965" y="4704"/>
                    <a:ext cx="683" cy="533"/>
                  </a:xfrm>
                  <a:prstGeom prst="rect">
                    <a:avLst/>
                  </a:prstGeom>
                  <a:solidFill>
                    <a:srgbClr val="FFFFFF"/>
                  </a:solidFill>
                  <a:ln w="9525">
                    <a:solidFill>
                      <a:srgbClr val="000000"/>
                    </a:solidFill>
                    <a:miter lim="800000"/>
                    <a:headEnd/>
                    <a:tailEnd/>
                  </a:ln>
                </p:spPr>
                <p:txBody>
                  <a:bodyPr/>
                  <a:lstStyle/>
                  <a:p>
                    <a:pPr algn="ctr"/>
                    <a:r>
                      <a:rPr lang="uz-Cyrl-UZ" sz="1200">
                        <a:latin typeface="Times New Roman" pitchFamily="18" charset="0"/>
                        <a:cs typeface="Times New Roman" pitchFamily="18" charset="0"/>
                      </a:rPr>
                      <a:t>М</a:t>
                    </a:r>
                    <a:r>
                      <a:rPr lang="en-US" sz="1200" baseline="-25000">
                        <a:latin typeface="Times New Roman" pitchFamily="18" charset="0"/>
                        <a:cs typeface="Times New Roman" pitchFamily="18" charset="0"/>
                      </a:rPr>
                      <a:t>i</a:t>
                    </a:r>
                    <a:endParaRPr lang="ru-RU" sz="1200">
                      <a:latin typeface="Times New Roman" pitchFamily="18" charset="0"/>
                      <a:cs typeface="Times New Roman" pitchFamily="18" charset="0"/>
                    </a:endParaRPr>
                  </a:p>
                </p:txBody>
              </p:sp>
              <p:sp>
                <p:nvSpPr>
                  <p:cNvPr id="17449" name="Rectangle 10"/>
                  <p:cNvSpPr>
                    <a:spLocks noChangeArrowheads="1"/>
                  </p:cNvSpPr>
                  <p:nvPr/>
                </p:nvSpPr>
                <p:spPr bwMode="auto">
                  <a:xfrm>
                    <a:off x="5079" y="6948"/>
                    <a:ext cx="467" cy="384"/>
                  </a:xfrm>
                  <a:prstGeom prst="rect">
                    <a:avLst/>
                  </a:prstGeom>
                  <a:solidFill>
                    <a:srgbClr val="FFFFFF"/>
                  </a:solidFill>
                  <a:ln w="9525">
                    <a:solidFill>
                      <a:srgbClr val="000000"/>
                    </a:solidFill>
                    <a:miter lim="800000"/>
                    <a:headEnd/>
                    <a:tailEnd/>
                  </a:ln>
                </p:spPr>
                <p:txBody>
                  <a:bodyPr/>
                  <a:lstStyle/>
                  <a:p>
                    <a:pPr algn="ctr"/>
                    <a:r>
                      <a:rPr lang="en-US" sz="1200">
                        <a:latin typeface="Times New Roman" pitchFamily="18" charset="0"/>
                        <a:cs typeface="Times New Roman" pitchFamily="18" charset="0"/>
                      </a:rPr>
                      <a:t>H</a:t>
                    </a:r>
                    <a:r>
                      <a:rPr lang="en-US" sz="1200" baseline="-25000">
                        <a:latin typeface="Times New Roman" pitchFamily="18" charset="0"/>
                        <a:cs typeface="Times New Roman" pitchFamily="18" charset="0"/>
                      </a:rPr>
                      <a:t>i</a:t>
                    </a:r>
                    <a:endParaRPr lang="ru-RU" sz="1200">
                      <a:latin typeface="Times New Roman" pitchFamily="18" charset="0"/>
                      <a:cs typeface="Times New Roman" pitchFamily="18" charset="0"/>
                    </a:endParaRPr>
                  </a:p>
                </p:txBody>
              </p:sp>
              <p:cxnSp>
                <p:nvCxnSpPr>
                  <p:cNvPr id="17450" name="AutoShape 11"/>
                  <p:cNvCxnSpPr>
                    <a:cxnSpLocks noChangeShapeType="1"/>
                  </p:cNvCxnSpPr>
                  <p:nvPr/>
                </p:nvCxnSpPr>
                <p:spPr bwMode="auto">
                  <a:xfrm flipH="1">
                    <a:off x="5304" y="6046"/>
                    <a:ext cx="8" cy="368"/>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7451" name="AutoShape 11"/>
                  <p:cNvCxnSpPr>
                    <a:cxnSpLocks noChangeShapeType="1"/>
                  </p:cNvCxnSpPr>
                  <p:nvPr/>
                </p:nvCxnSpPr>
                <p:spPr bwMode="auto">
                  <a:xfrm>
                    <a:off x="5304" y="6627"/>
                    <a:ext cx="0" cy="32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7452" name="Rectangle 5"/>
                  <p:cNvSpPr>
                    <a:spLocks noChangeArrowheads="1"/>
                  </p:cNvSpPr>
                  <p:nvPr/>
                </p:nvSpPr>
                <p:spPr bwMode="auto">
                  <a:xfrm>
                    <a:off x="2165" y="5513"/>
                    <a:ext cx="683" cy="533"/>
                  </a:xfrm>
                  <a:prstGeom prst="rect">
                    <a:avLst/>
                  </a:prstGeom>
                  <a:solidFill>
                    <a:srgbClr val="FFFFFF"/>
                  </a:solidFill>
                  <a:ln w="9525">
                    <a:solidFill>
                      <a:srgbClr val="000000"/>
                    </a:solidFill>
                    <a:miter lim="800000"/>
                    <a:headEnd/>
                    <a:tailEnd/>
                  </a:ln>
                </p:spPr>
                <p:txBody>
                  <a:bodyPr/>
                  <a:lstStyle/>
                  <a:p>
                    <a:pPr algn="ctr"/>
                    <a:r>
                      <a:rPr lang="en-US" sz="1200">
                        <a:latin typeface="Times New Roman" pitchFamily="18" charset="0"/>
                        <a:cs typeface="Times New Roman" pitchFamily="18" charset="0"/>
                      </a:rPr>
                      <a:t>H</a:t>
                    </a:r>
                    <a:r>
                      <a:rPr lang="en-US" sz="1200" baseline="-25000">
                        <a:latin typeface="Times New Roman" pitchFamily="18" charset="0"/>
                        <a:cs typeface="Times New Roman" pitchFamily="18" charset="0"/>
                      </a:rPr>
                      <a:t>i-1</a:t>
                    </a:r>
                    <a:endParaRPr lang="ru-RU" sz="1200">
                      <a:latin typeface="Times New Roman" pitchFamily="18" charset="0"/>
                      <a:cs typeface="Times New Roman" pitchFamily="18" charset="0"/>
                    </a:endParaRPr>
                  </a:p>
                </p:txBody>
              </p:sp>
              <p:cxnSp>
                <p:nvCxnSpPr>
                  <p:cNvPr id="17453" name="AutoShape 6"/>
                  <p:cNvCxnSpPr>
                    <a:cxnSpLocks noChangeShapeType="1"/>
                  </p:cNvCxnSpPr>
                  <p:nvPr/>
                </p:nvCxnSpPr>
                <p:spPr bwMode="auto">
                  <a:xfrm>
                    <a:off x="2848" y="5786"/>
                    <a:ext cx="225" cy="17"/>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7454" name="Rectangle 10"/>
                  <p:cNvSpPr>
                    <a:spLocks noChangeArrowheads="1"/>
                  </p:cNvSpPr>
                  <p:nvPr/>
                </p:nvSpPr>
                <p:spPr bwMode="auto">
                  <a:xfrm>
                    <a:off x="5172" y="6416"/>
                    <a:ext cx="233" cy="243"/>
                  </a:xfrm>
                  <a:prstGeom prst="rect">
                    <a:avLst/>
                  </a:prstGeom>
                  <a:solidFill>
                    <a:srgbClr val="FFFFFF"/>
                  </a:solidFill>
                  <a:ln w="9525">
                    <a:solidFill>
                      <a:srgbClr val="000000"/>
                    </a:solidFill>
                    <a:miter lim="800000"/>
                    <a:headEnd/>
                    <a:tailEnd/>
                  </a:ln>
                </p:spPr>
                <p:txBody>
                  <a:bodyPr/>
                  <a:lstStyle/>
                  <a:p>
                    <a:pPr algn="ctr"/>
                    <a:endParaRPr lang="uz-Cyrl-UZ" sz="1200">
                      <a:latin typeface="Times New Roman" pitchFamily="18" charset="0"/>
                      <a:cs typeface="Times New Roman" pitchFamily="18" charset="0"/>
                    </a:endParaRPr>
                  </a:p>
                </p:txBody>
              </p:sp>
            </p:grpSp>
            <p:sp>
              <p:nvSpPr>
                <p:cNvPr id="17443" name="AutoShape 12"/>
                <p:cNvSpPr>
                  <a:spLocks/>
                </p:cNvSpPr>
                <p:nvPr/>
              </p:nvSpPr>
              <p:spPr bwMode="auto">
                <a:xfrm>
                  <a:off x="8658" y="4958"/>
                  <a:ext cx="1983" cy="1660"/>
                </a:xfrm>
                <a:prstGeom prst="borderCallout1">
                  <a:avLst>
                    <a:gd name="adj1" fmla="val 18750"/>
                    <a:gd name="adj2" fmla="val -8333"/>
                    <a:gd name="adj3" fmla="val 41583"/>
                    <a:gd name="adj4" fmla="val -77894"/>
                  </a:avLst>
                </a:prstGeom>
                <a:solidFill>
                  <a:srgbClr val="FFFFFF"/>
                </a:solidFill>
                <a:ln w="9525">
                  <a:solidFill>
                    <a:srgbClr val="000000"/>
                  </a:solidFill>
                  <a:miter lim="800000"/>
                  <a:headEnd/>
                  <a:tailEnd/>
                </a:ln>
              </p:spPr>
              <p:txBody>
                <a:bodyPr/>
                <a:lstStyle/>
                <a:p>
                  <a:pPr algn="ctr"/>
                  <a:r>
                    <a:rPr lang="uz-Cyrl-UZ" sz="1200">
                      <a:latin typeface="Times New Roman" pitchFamily="18" charset="0"/>
                      <a:cs typeface="Times New Roman" pitchFamily="18" charset="0"/>
                    </a:rPr>
                    <a:t>Блокли шифрлаш алгоритми, </a:t>
                  </a:r>
                  <a:r>
                    <a:rPr lang="en-US" sz="1200">
                      <a:latin typeface="Times New Roman" pitchFamily="18" charset="0"/>
                      <a:cs typeface="Times New Roman" pitchFamily="18" charset="0"/>
                    </a:rPr>
                    <a:t>M</a:t>
                  </a:r>
                  <a:r>
                    <a:rPr lang="en-US" sz="1200" baseline="-25000">
                      <a:latin typeface="Times New Roman" pitchFamily="18" charset="0"/>
                      <a:cs typeface="Times New Roman" pitchFamily="18" charset="0"/>
                    </a:rPr>
                    <a:t>i</a:t>
                  </a:r>
                  <a:r>
                    <a:rPr lang="uz-Cyrl-UZ" sz="1200">
                      <a:latin typeface="Times New Roman" pitchFamily="18" charset="0"/>
                      <a:cs typeface="Times New Roman" pitchFamily="18" charset="0"/>
                    </a:rPr>
                    <a:t>-очиқ матн,</a:t>
                  </a:r>
                  <a:r>
                    <a:rPr lang="en-US" sz="1200">
                      <a:latin typeface="Times New Roman" pitchFamily="18" charset="0"/>
                      <a:cs typeface="Times New Roman" pitchFamily="18" charset="0"/>
                    </a:rPr>
                    <a:t> g(H</a:t>
                  </a:r>
                  <a:r>
                    <a:rPr lang="en-US" sz="1200" baseline="-25000">
                      <a:latin typeface="Times New Roman" pitchFamily="18" charset="0"/>
                      <a:cs typeface="Times New Roman" pitchFamily="18" charset="0"/>
                    </a:rPr>
                    <a:t>i-1</a:t>
                  </a:r>
                  <a:r>
                    <a:rPr lang="en-US" sz="1200">
                      <a:latin typeface="Times New Roman" pitchFamily="18" charset="0"/>
                      <a:cs typeface="Times New Roman" pitchFamily="18" charset="0"/>
                    </a:rPr>
                    <a:t> ) –</a:t>
                  </a:r>
                  <a:r>
                    <a:rPr lang="uz-Cyrl-UZ" sz="1200">
                      <a:latin typeface="Times New Roman" pitchFamily="18" charset="0"/>
                      <a:cs typeface="Times New Roman" pitchFamily="18" charset="0"/>
                    </a:rPr>
                    <a:t>калит, </a:t>
                  </a:r>
                  <a:r>
                    <a:rPr lang="en-US" sz="1200">
                      <a:latin typeface="Times New Roman" pitchFamily="18" charset="0"/>
                      <a:cs typeface="Times New Roman" pitchFamily="18" charset="0"/>
                    </a:rPr>
                    <a:t>H</a:t>
                  </a:r>
                  <a:r>
                    <a:rPr lang="en-US" sz="1200" baseline="-25000">
                      <a:latin typeface="Times New Roman" pitchFamily="18" charset="0"/>
                      <a:cs typeface="Times New Roman" pitchFamily="18" charset="0"/>
                    </a:rPr>
                    <a:t>i</a:t>
                  </a:r>
                  <a:r>
                    <a:rPr lang="uz-Cyrl-UZ" sz="1200">
                      <a:latin typeface="Times New Roman" pitchFamily="18" charset="0"/>
                      <a:cs typeface="Times New Roman" pitchFamily="18" charset="0"/>
                    </a:rPr>
                    <a:t>-шифр матн вазифасини бажаради  </a:t>
                  </a:r>
                  <a:endParaRPr lang="ru-RU" sz="1200">
                    <a:latin typeface="Times New Roman" pitchFamily="18" charset="0"/>
                    <a:cs typeface="Times New Roman" pitchFamily="18" charset="0"/>
                  </a:endParaRPr>
                </a:p>
              </p:txBody>
            </p:sp>
          </p:grpSp>
          <p:grpSp>
            <p:nvGrpSpPr>
              <p:cNvPr id="17428" name="Group 13"/>
              <p:cNvGrpSpPr>
                <a:grpSpLocks/>
              </p:cNvGrpSpPr>
              <p:nvPr/>
            </p:nvGrpSpPr>
            <p:grpSpPr bwMode="auto">
              <a:xfrm>
                <a:off x="2198" y="4877"/>
                <a:ext cx="8196" cy="533"/>
                <a:chOff x="2283" y="1967"/>
                <a:chExt cx="8196" cy="533"/>
              </a:xfrm>
            </p:grpSpPr>
            <p:sp>
              <p:nvSpPr>
                <p:cNvPr id="17430" name="Rectangle 14"/>
                <p:cNvSpPr>
                  <a:spLocks noChangeArrowheads="1"/>
                </p:cNvSpPr>
                <p:nvPr/>
              </p:nvSpPr>
              <p:spPr bwMode="auto">
                <a:xfrm>
                  <a:off x="2283" y="1967"/>
                  <a:ext cx="683" cy="533"/>
                </a:xfrm>
                <a:prstGeom prst="rect">
                  <a:avLst/>
                </a:prstGeom>
                <a:solidFill>
                  <a:srgbClr val="FFFFFF"/>
                </a:solidFill>
                <a:ln w="9525">
                  <a:solidFill>
                    <a:srgbClr val="000000"/>
                  </a:solidFill>
                  <a:miter lim="800000"/>
                  <a:headEnd/>
                  <a:tailEnd/>
                </a:ln>
              </p:spPr>
              <p:txBody>
                <a:bodyPr/>
                <a:lstStyle/>
                <a:p>
                  <a:pPr algn="ctr"/>
                  <a:r>
                    <a:rPr lang="uz-Cyrl-UZ" sz="1200">
                      <a:latin typeface="Times New Roman" pitchFamily="18" charset="0"/>
                      <a:cs typeface="Times New Roman" pitchFamily="18" charset="0"/>
                    </a:rPr>
                    <a:t>М</a:t>
                  </a:r>
                  <a:r>
                    <a:rPr lang="en-US" sz="1200" baseline="-25000">
                      <a:latin typeface="Times New Roman" pitchFamily="18" charset="0"/>
                      <a:cs typeface="Times New Roman" pitchFamily="18" charset="0"/>
                    </a:rPr>
                    <a:t>0</a:t>
                  </a:r>
                  <a:endParaRPr lang="ru-RU" sz="1200">
                    <a:latin typeface="Times New Roman" pitchFamily="18" charset="0"/>
                    <a:cs typeface="Times New Roman" pitchFamily="18" charset="0"/>
                  </a:endParaRPr>
                </a:p>
              </p:txBody>
            </p:sp>
            <p:sp>
              <p:nvSpPr>
                <p:cNvPr id="17431" name="Rectangle 15"/>
                <p:cNvSpPr>
                  <a:spLocks noChangeArrowheads="1"/>
                </p:cNvSpPr>
                <p:nvPr/>
              </p:nvSpPr>
              <p:spPr bwMode="auto">
                <a:xfrm>
                  <a:off x="2966" y="1967"/>
                  <a:ext cx="683" cy="533"/>
                </a:xfrm>
                <a:prstGeom prst="rect">
                  <a:avLst/>
                </a:prstGeom>
                <a:solidFill>
                  <a:srgbClr val="FFFFFF"/>
                </a:solidFill>
                <a:ln w="9525">
                  <a:solidFill>
                    <a:srgbClr val="000000"/>
                  </a:solidFill>
                  <a:miter lim="800000"/>
                  <a:headEnd/>
                  <a:tailEnd/>
                </a:ln>
              </p:spPr>
              <p:txBody>
                <a:bodyPr/>
                <a:lstStyle/>
                <a:p>
                  <a:pPr algn="ctr"/>
                  <a:r>
                    <a:rPr lang="uz-Cyrl-UZ" sz="1200">
                      <a:latin typeface="Times New Roman" pitchFamily="18" charset="0"/>
                      <a:cs typeface="Times New Roman" pitchFamily="18" charset="0"/>
                    </a:rPr>
                    <a:t>М</a:t>
                  </a:r>
                  <a:r>
                    <a:rPr lang="en-US" sz="1200" baseline="-25000">
                      <a:latin typeface="Times New Roman" pitchFamily="18" charset="0"/>
                      <a:cs typeface="Times New Roman" pitchFamily="18" charset="0"/>
                    </a:rPr>
                    <a:t>1</a:t>
                  </a:r>
                  <a:endParaRPr lang="ru-RU" sz="1200">
                    <a:latin typeface="Times New Roman" pitchFamily="18" charset="0"/>
                    <a:cs typeface="Times New Roman" pitchFamily="18" charset="0"/>
                  </a:endParaRPr>
                </a:p>
              </p:txBody>
            </p:sp>
            <p:sp>
              <p:nvSpPr>
                <p:cNvPr id="17432" name="Rectangle 16"/>
                <p:cNvSpPr>
                  <a:spLocks noChangeArrowheads="1"/>
                </p:cNvSpPr>
                <p:nvPr/>
              </p:nvSpPr>
              <p:spPr bwMode="auto">
                <a:xfrm>
                  <a:off x="3649" y="1967"/>
                  <a:ext cx="683" cy="533"/>
                </a:xfrm>
                <a:prstGeom prst="rect">
                  <a:avLst/>
                </a:prstGeom>
                <a:solidFill>
                  <a:srgbClr val="FFFFFF"/>
                </a:solidFill>
                <a:ln w="9525">
                  <a:solidFill>
                    <a:srgbClr val="000000"/>
                  </a:solidFill>
                  <a:miter lim="800000"/>
                  <a:headEnd/>
                  <a:tailEnd/>
                </a:ln>
              </p:spPr>
              <p:txBody>
                <a:bodyPr/>
                <a:lstStyle/>
                <a:p>
                  <a:pPr algn="ctr"/>
                  <a:r>
                    <a:rPr lang="uz-Cyrl-UZ" sz="1200">
                      <a:latin typeface="Times New Roman" pitchFamily="18" charset="0"/>
                      <a:cs typeface="Times New Roman" pitchFamily="18" charset="0"/>
                    </a:rPr>
                    <a:t>М</a:t>
                  </a:r>
                  <a:r>
                    <a:rPr lang="en-US" sz="1200" baseline="-25000">
                      <a:latin typeface="Times New Roman" pitchFamily="18" charset="0"/>
                      <a:cs typeface="Times New Roman" pitchFamily="18" charset="0"/>
                    </a:rPr>
                    <a:t>2</a:t>
                  </a:r>
                  <a:endParaRPr lang="ru-RU" sz="1200">
                    <a:latin typeface="Times New Roman" pitchFamily="18" charset="0"/>
                    <a:cs typeface="Times New Roman" pitchFamily="18" charset="0"/>
                  </a:endParaRPr>
                </a:p>
              </p:txBody>
            </p:sp>
            <p:sp>
              <p:nvSpPr>
                <p:cNvPr id="17433" name="Rectangle 17"/>
                <p:cNvSpPr>
                  <a:spLocks noChangeArrowheads="1"/>
                </p:cNvSpPr>
                <p:nvPr/>
              </p:nvSpPr>
              <p:spPr bwMode="auto">
                <a:xfrm>
                  <a:off x="4332" y="1967"/>
                  <a:ext cx="683" cy="533"/>
                </a:xfrm>
                <a:prstGeom prst="rect">
                  <a:avLst/>
                </a:prstGeom>
                <a:solidFill>
                  <a:srgbClr val="FFFFFF"/>
                </a:solidFill>
                <a:ln w="9525">
                  <a:solidFill>
                    <a:srgbClr val="000000"/>
                  </a:solidFill>
                  <a:miter lim="800000"/>
                  <a:headEnd/>
                  <a:tailEnd/>
                </a:ln>
              </p:spPr>
              <p:txBody>
                <a:bodyPr/>
                <a:lstStyle/>
                <a:p>
                  <a:pPr algn="ctr"/>
                  <a:r>
                    <a:rPr lang="uz-Cyrl-UZ" sz="1200">
                      <a:latin typeface="Times New Roman" pitchFamily="18" charset="0"/>
                      <a:cs typeface="Times New Roman" pitchFamily="18" charset="0"/>
                    </a:rPr>
                    <a:t>М</a:t>
                  </a:r>
                  <a:r>
                    <a:rPr lang="en-US" sz="1200" baseline="-25000">
                      <a:latin typeface="Times New Roman" pitchFamily="18" charset="0"/>
                      <a:cs typeface="Times New Roman" pitchFamily="18" charset="0"/>
                    </a:rPr>
                    <a:t>3</a:t>
                  </a:r>
                  <a:endParaRPr lang="ru-RU" sz="1200">
                    <a:latin typeface="Times New Roman" pitchFamily="18" charset="0"/>
                    <a:cs typeface="Times New Roman" pitchFamily="18" charset="0"/>
                  </a:endParaRPr>
                </a:p>
              </p:txBody>
            </p:sp>
            <p:sp>
              <p:nvSpPr>
                <p:cNvPr id="17434" name="Rectangle 18"/>
                <p:cNvSpPr>
                  <a:spLocks noChangeArrowheads="1"/>
                </p:cNvSpPr>
                <p:nvPr/>
              </p:nvSpPr>
              <p:spPr bwMode="auto">
                <a:xfrm>
                  <a:off x="5015" y="1967"/>
                  <a:ext cx="683" cy="533"/>
                </a:xfrm>
                <a:prstGeom prst="rect">
                  <a:avLst/>
                </a:prstGeom>
                <a:solidFill>
                  <a:srgbClr val="FFFFFF"/>
                </a:solidFill>
                <a:ln w="9525">
                  <a:solidFill>
                    <a:srgbClr val="000000"/>
                  </a:solidFill>
                  <a:miter lim="800000"/>
                  <a:headEnd/>
                  <a:tailEnd/>
                </a:ln>
              </p:spPr>
              <p:txBody>
                <a:bodyPr/>
                <a:lstStyle/>
                <a:p>
                  <a:pPr algn="ctr"/>
                  <a:r>
                    <a:rPr lang="uz-Cyrl-UZ" sz="1200">
                      <a:latin typeface="Times New Roman" pitchFamily="18" charset="0"/>
                      <a:cs typeface="Times New Roman" pitchFamily="18" charset="0"/>
                    </a:rPr>
                    <a:t>М</a:t>
                  </a:r>
                  <a:r>
                    <a:rPr lang="en-US" sz="1200" baseline="-25000">
                      <a:latin typeface="Times New Roman" pitchFamily="18" charset="0"/>
                      <a:cs typeface="Times New Roman" pitchFamily="18" charset="0"/>
                    </a:rPr>
                    <a:t>4</a:t>
                  </a:r>
                  <a:endParaRPr lang="ru-RU" sz="1200">
                    <a:latin typeface="Times New Roman" pitchFamily="18" charset="0"/>
                    <a:cs typeface="Times New Roman" pitchFamily="18" charset="0"/>
                  </a:endParaRPr>
                </a:p>
              </p:txBody>
            </p:sp>
            <p:sp>
              <p:nvSpPr>
                <p:cNvPr id="17435" name="Rectangle 19"/>
                <p:cNvSpPr>
                  <a:spLocks noChangeArrowheads="1"/>
                </p:cNvSpPr>
                <p:nvPr/>
              </p:nvSpPr>
              <p:spPr bwMode="auto">
                <a:xfrm>
                  <a:off x="5698" y="1967"/>
                  <a:ext cx="683" cy="533"/>
                </a:xfrm>
                <a:prstGeom prst="rect">
                  <a:avLst/>
                </a:prstGeom>
                <a:solidFill>
                  <a:srgbClr val="FFFFFF"/>
                </a:solidFill>
                <a:ln w="9525">
                  <a:solidFill>
                    <a:srgbClr val="000000"/>
                  </a:solidFill>
                  <a:miter lim="800000"/>
                  <a:headEnd/>
                  <a:tailEnd/>
                </a:ln>
              </p:spPr>
              <p:txBody>
                <a:bodyPr/>
                <a:lstStyle/>
                <a:p>
                  <a:r>
                    <a:rPr lang="en-US" sz="1200">
                      <a:latin typeface="Times New Roman" pitchFamily="18" charset="0"/>
                      <a:cs typeface="Times New Roman" pitchFamily="18" charset="0"/>
                    </a:rPr>
                    <a:t>…</a:t>
                  </a:r>
                  <a:endParaRPr lang="ru-RU" sz="1200">
                    <a:latin typeface="Times New Roman" pitchFamily="18" charset="0"/>
                    <a:cs typeface="Times New Roman" pitchFamily="18" charset="0"/>
                  </a:endParaRPr>
                </a:p>
                <a:p>
                  <a:r>
                    <a:rPr lang="en-US" sz="1200" baseline="-25000">
                      <a:latin typeface="Times New Roman" pitchFamily="18" charset="0"/>
                      <a:cs typeface="Times New Roman" pitchFamily="18" charset="0"/>
                    </a:rPr>
                    <a:t> </a:t>
                  </a:r>
                  <a:endParaRPr lang="ru-RU" sz="1200">
                    <a:latin typeface="Times New Roman" pitchFamily="18" charset="0"/>
                    <a:cs typeface="Times New Roman" pitchFamily="18" charset="0"/>
                  </a:endParaRPr>
                </a:p>
              </p:txBody>
            </p:sp>
            <p:sp>
              <p:nvSpPr>
                <p:cNvPr id="17436" name="Rectangle 20"/>
                <p:cNvSpPr>
                  <a:spLocks noChangeArrowheads="1"/>
                </p:cNvSpPr>
                <p:nvPr/>
              </p:nvSpPr>
              <p:spPr bwMode="auto">
                <a:xfrm>
                  <a:off x="6381" y="1967"/>
                  <a:ext cx="683" cy="533"/>
                </a:xfrm>
                <a:prstGeom prst="rect">
                  <a:avLst/>
                </a:prstGeom>
                <a:solidFill>
                  <a:srgbClr val="FFFFFF"/>
                </a:solidFill>
                <a:ln w="9525">
                  <a:solidFill>
                    <a:srgbClr val="000000"/>
                  </a:solidFill>
                  <a:miter lim="800000"/>
                  <a:headEnd/>
                  <a:tailEnd/>
                </a:ln>
              </p:spPr>
              <p:txBody>
                <a:bodyPr/>
                <a:lstStyle/>
                <a:p>
                  <a:r>
                    <a:rPr lang="en-US" sz="1200">
                      <a:latin typeface="Times New Roman" pitchFamily="18" charset="0"/>
                      <a:cs typeface="Times New Roman" pitchFamily="18" charset="0"/>
                    </a:rPr>
                    <a:t>…</a:t>
                  </a:r>
                  <a:endParaRPr lang="ru-RU" sz="1200">
                    <a:latin typeface="Times New Roman" pitchFamily="18" charset="0"/>
                    <a:cs typeface="Times New Roman" pitchFamily="18" charset="0"/>
                  </a:endParaRPr>
                </a:p>
              </p:txBody>
            </p:sp>
            <p:sp>
              <p:nvSpPr>
                <p:cNvPr id="17437" name="Rectangle 21"/>
                <p:cNvSpPr>
                  <a:spLocks noChangeArrowheads="1"/>
                </p:cNvSpPr>
                <p:nvPr/>
              </p:nvSpPr>
              <p:spPr bwMode="auto">
                <a:xfrm>
                  <a:off x="7064" y="1967"/>
                  <a:ext cx="683" cy="533"/>
                </a:xfrm>
                <a:prstGeom prst="rect">
                  <a:avLst/>
                </a:prstGeom>
                <a:solidFill>
                  <a:srgbClr val="FFFFFF"/>
                </a:solidFill>
                <a:ln w="9525">
                  <a:solidFill>
                    <a:srgbClr val="000000"/>
                  </a:solidFill>
                  <a:miter lim="800000"/>
                  <a:headEnd/>
                  <a:tailEnd/>
                </a:ln>
              </p:spPr>
              <p:txBody>
                <a:bodyPr/>
                <a:lstStyle/>
                <a:p>
                  <a:r>
                    <a:rPr lang="en-US" sz="1200">
                      <a:latin typeface="Times New Roman" pitchFamily="18" charset="0"/>
                      <a:cs typeface="Times New Roman" pitchFamily="18" charset="0"/>
                    </a:rPr>
                    <a:t>…</a:t>
                  </a:r>
                  <a:endParaRPr lang="ru-RU" sz="1200">
                    <a:latin typeface="Times New Roman" pitchFamily="18" charset="0"/>
                    <a:cs typeface="Times New Roman" pitchFamily="18" charset="0"/>
                  </a:endParaRPr>
                </a:p>
              </p:txBody>
            </p:sp>
            <p:sp>
              <p:nvSpPr>
                <p:cNvPr id="17438" name="Rectangle 22"/>
                <p:cNvSpPr>
                  <a:spLocks noChangeArrowheads="1"/>
                </p:cNvSpPr>
                <p:nvPr/>
              </p:nvSpPr>
              <p:spPr bwMode="auto">
                <a:xfrm>
                  <a:off x="7747" y="1967"/>
                  <a:ext cx="683" cy="533"/>
                </a:xfrm>
                <a:prstGeom prst="rect">
                  <a:avLst/>
                </a:prstGeom>
                <a:solidFill>
                  <a:srgbClr val="FFFFFF"/>
                </a:solidFill>
                <a:ln w="9525">
                  <a:solidFill>
                    <a:srgbClr val="000000"/>
                  </a:solidFill>
                  <a:miter lim="800000"/>
                  <a:headEnd/>
                  <a:tailEnd/>
                </a:ln>
              </p:spPr>
              <p:txBody>
                <a:bodyPr/>
                <a:lstStyle/>
                <a:p>
                  <a:r>
                    <a:rPr lang="en-US" sz="1200">
                      <a:latin typeface="Times New Roman" pitchFamily="18" charset="0"/>
                      <a:cs typeface="Times New Roman" pitchFamily="18" charset="0"/>
                    </a:rPr>
                    <a:t>...</a:t>
                  </a:r>
                  <a:endParaRPr lang="ru-RU" sz="1200">
                    <a:latin typeface="Times New Roman" pitchFamily="18" charset="0"/>
                    <a:cs typeface="Times New Roman" pitchFamily="18" charset="0"/>
                  </a:endParaRPr>
                </a:p>
              </p:txBody>
            </p:sp>
            <p:sp>
              <p:nvSpPr>
                <p:cNvPr id="17439" name="Rectangle 23"/>
                <p:cNvSpPr>
                  <a:spLocks noChangeArrowheads="1"/>
                </p:cNvSpPr>
                <p:nvPr/>
              </p:nvSpPr>
              <p:spPr bwMode="auto">
                <a:xfrm>
                  <a:off x="8359" y="1967"/>
                  <a:ext cx="754" cy="533"/>
                </a:xfrm>
                <a:prstGeom prst="rect">
                  <a:avLst/>
                </a:prstGeom>
                <a:solidFill>
                  <a:srgbClr val="FFFFFF"/>
                </a:solidFill>
                <a:ln w="9525">
                  <a:solidFill>
                    <a:srgbClr val="000000"/>
                  </a:solidFill>
                  <a:miter lim="800000"/>
                  <a:headEnd/>
                  <a:tailEnd/>
                </a:ln>
              </p:spPr>
              <p:txBody>
                <a:bodyPr/>
                <a:lstStyle/>
                <a:p>
                  <a:r>
                    <a:rPr lang="en-US" sz="1200" baseline="-25000">
                      <a:latin typeface="Times New Roman" pitchFamily="18" charset="0"/>
                      <a:cs typeface="Times New Roman" pitchFamily="18" charset="0"/>
                    </a:rPr>
                    <a:t> </a:t>
                  </a:r>
                  <a:endParaRPr lang="ru-RU" sz="1200">
                    <a:latin typeface="Times New Roman" pitchFamily="18" charset="0"/>
                    <a:cs typeface="Times New Roman" pitchFamily="18" charset="0"/>
                  </a:endParaRPr>
                </a:p>
              </p:txBody>
            </p:sp>
            <p:sp>
              <p:nvSpPr>
                <p:cNvPr id="17440" name="Rectangle 24"/>
                <p:cNvSpPr>
                  <a:spLocks noChangeArrowheads="1"/>
                </p:cNvSpPr>
                <p:nvPr/>
              </p:nvSpPr>
              <p:spPr bwMode="auto">
                <a:xfrm>
                  <a:off x="8993" y="1967"/>
                  <a:ext cx="803" cy="533"/>
                </a:xfrm>
                <a:prstGeom prst="rect">
                  <a:avLst/>
                </a:prstGeom>
                <a:solidFill>
                  <a:srgbClr val="FFFFFF"/>
                </a:solidFill>
                <a:ln w="9525">
                  <a:solidFill>
                    <a:srgbClr val="000000"/>
                  </a:solidFill>
                  <a:miter lim="800000"/>
                  <a:headEnd/>
                  <a:tailEnd/>
                </a:ln>
              </p:spPr>
              <p:txBody>
                <a:bodyPr/>
                <a:lstStyle/>
                <a:p>
                  <a:pPr algn="ctr"/>
                  <a:r>
                    <a:rPr lang="uz-Cyrl-UZ" sz="1200">
                      <a:latin typeface="Times New Roman" pitchFamily="18" charset="0"/>
                      <a:cs typeface="Times New Roman" pitchFamily="18" charset="0"/>
                    </a:rPr>
                    <a:t>М</a:t>
                  </a:r>
                  <a:r>
                    <a:rPr lang="en-US" sz="1200" baseline="-25000">
                      <a:latin typeface="Times New Roman" pitchFamily="18" charset="0"/>
                      <a:cs typeface="Times New Roman" pitchFamily="18" charset="0"/>
                    </a:rPr>
                    <a:t>n-1</a:t>
                  </a:r>
                  <a:endParaRPr lang="ru-RU" sz="1200">
                    <a:latin typeface="Times New Roman" pitchFamily="18" charset="0"/>
                    <a:cs typeface="Times New Roman" pitchFamily="18" charset="0"/>
                  </a:endParaRPr>
                </a:p>
                <a:p>
                  <a:r>
                    <a:rPr lang="en-US" sz="1200" baseline="-25000">
                      <a:latin typeface="Times New Roman" pitchFamily="18" charset="0"/>
                      <a:cs typeface="Times New Roman" pitchFamily="18" charset="0"/>
                    </a:rPr>
                    <a:t> </a:t>
                  </a:r>
                  <a:endParaRPr lang="ru-RU" sz="1200">
                    <a:latin typeface="Times New Roman" pitchFamily="18" charset="0"/>
                    <a:cs typeface="Times New Roman" pitchFamily="18" charset="0"/>
                  </a:endParaRPr>
                </a:p>
              </p:txBody>
            </p:sp>
            <p:sp>
              <p:nvSpPr>
                <p:cNvPr id="17441" name="Rectangle 25"/>
                <p:cNvSpPr>
                  <a:spLocks noChangeArrowheads="1"/>
                </p:cNvSpPr>
                <p:nvPr/>
              </p:nvSpPr>
              <p:spPr bwMode="auto">
                <a:xfrm>
                  <a:off x="9796" y="1967"/>
                  <a:ext cx="683" cy="533"/>
                </a:xfrm>
                <a:prstGeom prst="rect">
                  <a:avLst/>
                </a:prstGeom>
                <a:solidFill>
                  <a:srgbClr val="FFFFFF"/>
                </a:solidFill>
                <a:ln w="9525">
                  <a:solidFill>
                    <a:srgbClr val="000000"/>
                  </a:solidFill>
                  <a:miter lim="800000"/>
                  <a:headEnd/>
                  <a:tailEnd/>
                </a:ln>
              </p:spPr>
              <p:txBody>
                <a:bodyPr/>
                <a:lstStyle/>
                <a:p>
                  <a:pPr algn="ctr"/>
                  <a:r>
                    <a:rPr lang="uz-Cyrl-UZ" sz="1200">
                      <a:latin typeface="Times New Roman" pitchFamily="18" charset="0"/>
                      <a:cs typeface="Times New Roman" pitchFamily="18" charset="0"/>
                    </a:rPr>
                    <a:t>М</a:t>
                  </a:r>
                  <a:r>
                    <a:rPr lang="en-US" sz="1200" baseline="-25000">
                      <a:latin typeface="Times New Roman" pitchFamily="18" charset="0"/>
                      <a:cs typeface="Times New Roman" pitchFamily="18" charset="0"/>
                    </a:rPr>
                    <a:t>n</a:t>
                  </a:r>
                  <a:endParaRPr lang="ru-RU" sz="1200">
                    <a:latin typeface="Times New Roman" pitchFamily="18" charset="0"/>
                    <a:cs typeface="Times New Roman" pitchFamily="18" charset="0"/>
                  </a:endParaRPr>
                </a:p>
              </p:txBody>
            </p:sp>
          </p:grpSp>
          <p:cxnSp>
            <p:nvCxnSpPr>
              <p:cNvPr id="17429" name="AutoShape 26"/>
              <p:cNvCxnSpPr>
                <a:cxnSpLocks noChangeShapeType="1"/>
              </p:cNvCxnSpPr>
              <p:nvPr/>
            </p:nvCxnSpPr>
            <p:spPr bwMode="auto">
              <a:xfrm>
                <a:off x="5937" y="5410"/>
                <a:ext cx="1" cy="38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grpSp>
        <p:cxnSp>
          <p:nvCxnSpPr>
            <p:cNvPr id="35" name="Прямая соединительная линия 34"/>
            <p:cNvCxnSpPr/>
            <p:nvPr/>
          </p:nvCxnSpPr>
          <p:spPr>
            <a:xfrm flipH="1">
              <a:off x="5240436" y="3971378"/>
              <a:ext cx="4703" cy="9215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Прямая соединительная линия 66"/>
            <p:cNvCxnSpPr/>
            <p:nvPr/>
          </p:nvCxnSpPr>
          <p:spPr>
            <a:xfrm flipH="1">
              <a:off x="4232328" y="4896035"/>
              <a:ext cx="1011243" cy="0"/>
            </a:xfrm>
            <a:prstGeom prst="line">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Прямая соединительная линия 64"/>
            <p:cNvCxnSpPr/>
            <p:nvPr/>
          </p:nvCxnSpPr>
          <p:spPr>
            <a:xfrm>
              <a:off x="4135123" y="3971378"/>
              <a:ext cx="111001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Прямая соединительная линия 68"/>
            <p:cNvCxnSpPr/>
            <p:nvPr/>
          </p:nvCxnSpPr>
          <p:spPr>
            <a:xfrm>
              <a:off x="3274391" y="4281161"/>
              <a:ext cx="3136" cy="6148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Прямая соединительная линия 69"/>
            <p:cNvCxnSpPr/>
            <p:nvPr/>
          </p:nvCxnSpPr>
          <p:spPr>
            <a:xfrm flipV="1">
              <a:off x="3271255" y="4864743"/>
              <a:ext cx="752553" cy="28162"/>
            </a:xfrm>
            <a:prstGeom prst="line">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Прямая соединительная линия 71"/>
            <p:cNvCxnSpPr>
              <a:endCxn id="17454" idx="2"/>
            </p:cNvCxnSpPr>
            <p:nvPr/>
          </p:nvCxnSpPr>
          <p:spPr>
            <a:xfrm>
              <a:off x="4116309" y="4792773"/>
              <a:ext cx="0" cy="20652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Прямая соединительная линия 72"/>
            <p:cNvCxnSpPr/>
            <p:nvPr/>
          </p:nvCxnSpPr>
          <p:spPr>
            <a:xfrm>
              <a:off x="4023808" y="4896035"/>
              <a:ext cx="18500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7417" name="TextBox 2060"/>
          <p:cNvSpPr txBox="1">
            <a:spLocks noChangeArrowheads="1"/>
          </p:cNvSpPr>
          <p:nvPr/>
        </p:nvSpPr>
        <p:spPr bwMode="auto">
          <a:xfrm>
            <a:off x="428625" y="1930400"/>
            <a:ext cx="8391525" cy="1201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just"/>
            <a:r>
              <a:rPr lang="uz-Cyrl-UZ">
                <a:latin typeface="Times New Roman" pitchFamily="18" charset="0"/>
                <a:cs typeface="Times New Roman" pitchFamily="18" charset="0"/>
              </a:rPr>
              <a:t>Матиса-Мейера-Осеаса схемасининг кенгайтирилган варианти бўлиб, алгоритмнинг криптохужумларга бардошлилигини ошириш мақсадида </a:t>
            </a:r>
            <a:r>
              <a:rPr lang="en-US">
                <a:latin typeface="Times New Roman" pitchFamily="18" charset="0"/>
                <a:cs typeface="Times New Roman" pitchFamily="18" charset="0"/>
              </a:rPr>
              <a:t>XOR </a:t>
            </a:r>
            <a:r>
              <a:rPr lang="uz-Cyrl-UZ">
                <a:latin typeface="Times New Roman" pitchFamily="18" charset="0"/>
                <a:cs typeface="Times New Roman" pitchFamily="18" charset="0"/>
              </a:rPr>
              <a:t>амали ўрнига </a:t>
            </a:r>
            <a:r>
              <a:rPr lang="en-US">
                <a:latin typeface="Times New Roman" pitchFamily="18" charset="0"/>
                <a:cs typeface="Times New Roman" pitchFamily="18" charset="0"/>
              </a:rPr>
              <a:t>OR (</a:t>
            </a:r>
            <a:r>
              <a:rPr lang="uz-Cyrl-UZ">
                <a:latin typeface="Times New Roman" pitchFamily="18" charset="0"/>
                <a:cs typeface="Times New Roman" pitchFamily="18" charset="0"/>
              </a:rPr>
              <a:t>ёки) амали ишлатилади</a:t>
            </a:r>
            <a:r>
              <a:rPr lang="en-US">
                <a:latin typeface="Times New Roman" pitchFamily="18" charset="0"/>
                <a:cs typeface="Times New Roman" pitchFamily="18" charset="0"/>
              </a:rPr>
              <a:t> </a:t>
            </a:r>
            <a:r>
              <a:rPr lang="uz-Cyrl-UZ">
                <a:latin typeface="Times New Roman" pitchFamily="18" charset="0"/>
                <a:cs typeface="Times New Roman" pitchFamily="18" charset="0"/>
              </a:rPr>
              <a:t>ва ҳар бир блокдан чиққан хэш қийматга ўзидан битта олдинги блокнинг хэш қиймати mod 2</a:t>
            </a:r>
            <a:r>
              <a:rPr lang="en-US" baseline="30000">
                <a:latin typeface="Times New Roman" pitchFamily="18" charset="0"/>
                <a:cs typeface="Times New Roman" pitchFamily="18" charset="0"/>
              </a:rPr>
              <a:t>n</a:t>
            </a:r>
            <a:r>
              <a:rPr lang="uz-Cyrl-UZ">
                <a:latin typeface="Times New Roman" pitchFamily="18" charset="0"/>
                <a:cs typeface="Times New Roman" pitchFamily="18" charset="0"/>
              </a:rPr>
              <a:t> амали бўйича қўшилади. </a:t>
            </a:r>
            <a:endParaRPr lang="ru-RU">
              <a:latin typeface="Times New Roman" pitchFamily="18" charset="0"/>
              <a:cs typeface="Times New Roman" pitchFamily="18" charset="0"/>
            </a:endParaRPr>
          </a:p>
        </p:txBody>
      </p:sp>
      <p:sp>
        <p:nvSpPr>
          <p:cNvPr id="74" name="Стрелка влево 73">
            <a:hlinkClick r:id="rId2" action="ppaction://hlinkpres?slideindex=11&amp;slidetitle=Презентация PowerPoint"/>
          </p:cNvPr>
          <p:cNvSpPr/>
          <p:nvPr/>
        </p:nvSpPr>
        <p:spPr>
          <a:xfrm>
            <a:off x="460375" y="6407150"/>
            <a:ext cx="558800" cy="298450"/>
          </a:xfrm>
          <a:prstGeom prst="leftArrow">
            <a:avLst/>
          </a:prstGeom>
        </p:spPr>
        <p:style>
          <a:lnRef idx="2">
            <a:schemeClr val="accent6"/>
          </a:lnRef>
          <a:fillRef idx="1">
            <a:schemeClr val="lt1"/>
          </a:fillRef>
          <a:effectRef idx="0">
            <a:schemeClr val="accent6"/>
          </a:effectRef>
          <a:fontRef idx="minor">
            <a:schemeClr val="dk1"/>
          </a:fontRef>
        </p:style>
        <p:txBody>
          <a:bodyPr anchor="ctr"/>
          <a:lstStyle/>
          <a:p>
            <a:pPr algn="ctr" fontAlgn="auto">
              <a:spcBef>
                <a:spcPts val="0"/>
              </a:spcBef>
              <a:spcAft>
                <a:spcPts val="0"/>
              </a:spcAft>
              <a:defRPr/>
            </a:pPr>
            <a:endParaRPr lang="ru-RU"/>
          </a:p>
        </p:txBody>
      </p:sp>
    </p:spTree>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428596" y="228600"/>
            <a:ext cx="8501122" cy="914400"/>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t="100000" r="100000"/>
            </a:path>
            <a:tileRect l="-100000" b="-100000"/>
          </a:gradFill>
          <a:ln>
            <a:solidFill>
              <a:schemeClr val="tx1"/>
            </a:solidFill>
          </a:ln>
          <a:effectLst>
            <a:glow rad="101600">
              <a:schemeClr val="accent4">
                <a:satMod val="175000"/>
                <a:alpha val="40000"/>
              </a:schemeClr>
            </a:glow>
            <a:softEdge rad="12700"/>
          </a:effectLst>
        </p:spPr>
        <p:style>
          <a:lnRef idx="2">
            <a:schemeClr val="dk1"/>
          </a:lnRef>
          <a:fillRef idx="1">
            <a:schemeClr val="lt1"/>
          </a:fillRef>
          <a:effectRef idx="0">
            <a:schemeClr val="dk1"/>
          </a:effectRef>
          <a:fontRef idx="minor">
            <a:schemeClr val="dk1"/>
          </a:fontRef>
        </p:style>
        <p:txBody>
          <a:bodyPr anchor="ctr"/>
          <a:lstStyle/>
          <a:p>
            <a:pPr algn="ctr" fontAlgn="auto">
              <a:spcBef>
                <a:spcPts val="0"/>
              </a:spcBef>
              <a:spcAft>
                <a:spcPts val="0"/>
              </a:spcAft>
              <a:defRPr/>
            </a:pPr>
            <a:r>
              <a:rPr lang="ru-RU" sz="2000" b="1" dirty="0" err="1">
                <a:latin typeface="Times New Roman" pitchFamily="18" charset="0"/>
                <a:cs typeface="Times New Roman" pitchFamily="18" charset="0"/>
              </a:rPr>
              <a:t>Хэш</a:t>
            </a:r>
            <a:r>
              <a:rPr lang="ru-RU" sz="2000" b="1" dirty="0">
                <a:latin typeface="Times New Roman" pitchFamily="18" charset="0"/>
                <a:cs typeface="Times New Roman" pitchFamily="18" charset="0"/>
              </a:rPr>
              <a:t> функция </a:t>
            </a:r>
            <a:r>
              <a:rPr lang="ru-RU" sz="2000" b="1" dirty="0" err="1">
                <a:latin typeface="Times New Roman" pitchFamily="18" charset="0"/>
                <a:cs typeface="Times New Roman" pitchFamily="18" charset="0"/>
              </a:rPr>
              <a:t>қуриш</a:t>
            </a:r>
            <a:r>
              <a:rPr lang="ru-RU" sz="2000" b="1" dirty="0">
                <a:latin typeface="Times New Roman" pitchFamily="18" charset="0"/>
                <a:cs typeface="Times New Roman" pitchFamily="18" charset="0"/>
              </a:rPr>
              <a:t> (конструктив </a:t>
            </a:r>
            <a:r>
              <a:rPr lang="ru-RU" sz="2000" b="1" dirty="0" err="1">
                <a:latin typeface="Times New Roman" pitchFamily="18" charset="0"/>
                <a:cs typeface="Times New Roman" pitchFamily="18" charset="0"/>
              </a:rPr>
              <a:t>схемасини</a:t>
            </a:r>
            <a:r>
              <a:rPr lang="ru-RU" sz="2000" b="1" dirty="0">
                <a:latin typeface="Times New Roman" pitchFamily="18" charset="0"/>
                <a:cs typeface="Times New Roman" pitchFamily="18" charset="0"/>
              </a:rPr>
              <a:t>) </a:t>
            </a:r>
            <a:r>
              <a:rPr lang="ru-RU" sz="2000" b="1" dirty="0" err="1">
                <a:latin typeface="Times New Roman" pitchFamily="18" charset="0"/>
                <a:cs typeface="Times New Roman" pitchFamily="18" charset="0"/>
              </a:rPr>
              <a:t>принципини</a:t>
            </a:r>
            <a:r>
              <a:rPr lang="ru-RU" sz="2000" b="1" dirty="0">
                <a:latin typeface="Times New Roman" pitchFamily="18" charset="0"/>
                <a:cs typeface="Times New Roman" pitchFamily="18" charset="0"/>
              </a:rPr>
              <a:t> </a:t>
            </a:r>
            <a:r>
              <a:rPr lang="ru-RU" sz="2000" b="1" dirty="0" err="1">
                <a:latin typeface="Times New Roman" pitchFamily="18" charset="0"/>
                <a:cs typeface="Times New Roman" pitchFamily="18" charset="0"/>
              </a:rPr>
              <a:t>танлаш</a:t>
            </a:r>
            <a:endParaRPr lang="ru-RU" sz="2000" b="1" dirty="0">
              <a:latin typeface="Times New Roman" pitchFamily="18" charset="0"/>
              <a:cs typeface="Times New Roman" pitchFamily="18" charset="0"/>
            </a:endParaRPr>
          </a:p>
        </p:txBody>
      </p:sp>
      <p:sp>
        <p:nvSpPr>
          <p:cNvPr id="5" name="Прямоугольник 4"/>
          <p:cNvSpPr/>
          <p:nvPr/>
        </p:nvSpPr>
        <p:spPr>
          <a:xfrm>
            <a:off x="381000" y="1295400"/>
            <a:ext cx="8534400" cy="5410200"/>
          </a:xfrm>
          <a:prstGeom prst="rect">
            <a:avLst/>
          </a:prstGeom>
          <a:solidFill>
            <a:schemeClr val="bg2"/>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fontAlgn="auto">
              <a:spcBef>
                <a:spcPts val="0"/>
              </a:spcBef>
              <a:spcAft>
                <a:spcPts val="0"/>
              </a:spcAft>
              <a:defRPr/>
            </a:pPr>
            <a:endParaRPr lang="ru-RU" b="1" dirty="0">
              <a:solidFill>
                <a:schemeClr val="tx1"/>
              </a:solidFill>
              <a:latin typeface="Times New Roman" pitchFamily="18" charset="0"/>
              <a:cs typeface="Times New Roman" pitchFamily="18" charset="0"/>
            </a:endParaRPr>
          </a:p>
        </p:txBody>
      </p:sp>
      <p:sp>
        <p:nvSpPr>
          <p:cNvPr id="6" name="Скругленный прямоугольник 5"/>
          <p:cNvSpPr/>
          <p:nvPr/>
        </p:nvSpPr>
        <p:spPr>
          <a:xfrm>
            <a:off x="1042988" y="1412875"/>
            <a:ext cx="7200900" cy="503238"/>
          </a:xfrm>
          <a:prstGeom prst="roundRect">
            <a:avLst/>
          </a:prstGeom>
        </p:spPr>
        <p:style>
          <a:lnRef idx="2">
            <a:schemeClr val="accent6"/>
          </a:lnRef>
          <a:fillRef idx="1">
            <a:schemeClr val="lt1"/>
          </a:fillRef>
          <a:effectRef idx="0">
            <a:schemeClr val="accent6"/>
          </a:effectRef>
          <a:fontRef idx="minor">
            <a:schemeClr val="dk1"/>
          </a:fontRef>
        </p:style>
        <p:txBody>
          <a:bodyPr anchor="ctr"/>
          <a:lstStyle/>
          <a:p>
            <a:pPr algn="ctr" fontAlgn="auto">
              <a:spcBef>
                <a:spcPts val="0"/>
              </a:spcBef>
              <a:spcAft>
                <a:spcPts val="0"/>
              </a:spcAft>
              <a:defRPr/>
            </a:pPr>
            <a:r>
              <a:rPr lang="uz-Cyrl-UZ" b="1" dirty="0">
                <a:latin typeface="Times New Roman" pitchFamily="18" charset="0"/>
                <a:cs typeface="Times New Roman" pitchFamily="18" charset="0"/>
              </a:rPr>
              <a:t>Кенг каналли Меркл-Дамгард схемаси </a:t>
            </a:r>
          </a:p>
        </p:txBody>
      </p:sp>
      <p:sp>
        <p:nvSpPr>
          <p:cNvPr id="18439" name="TextBox 2"/>
          <p:cNvSpPr txBox="1">
            <a:spLocks noChangeArrowheads="1"/>
          </p:cNvSpPr>
          <p:nvPr/>
        </p:nvSpPr>
        <p:spPr bwMode="auto">
          <a:xfrm>
            <a:off x="2279650" y="6226175"/>
            <a:ext cx="458628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ctr"/>
            <a:r>
              <a:rPr lang="uz-Cyrl-UZ" sz="1600">
                <a:latin typeface="Times New Roman" pitchFamily="18" charset="0"/>
                <a:cs typeface="Times New Roman" pitchFamily="18" charset="0"/>
              </a:rPr>
              <a:t>2.</a:t>
            </a:r>
            <a:r>
              <a:rPr lang="en-US" sz="1600">
                <a:latin typeface="Times New Roman" pitchFamily="18" charset="0"/>
                <a:cs typeface="Times New Roman" pitchFamily="18" charset="0"/>
              </a:rPr>
              <a:t>6</a:t>
            </a:r>
            <a:r>
              <a:rPr lang="uz-Cyrl-UZ" sz="1600">
                <a:latin typeface="Times New Roman" pitchFamily="18" charset="0"/>
                <a:cs typeface="Times New Roman" pitchFamily="18" charset="0"/>
              </a:rPr>
              <a:t>. расм. Кенг каналли Меркл-Дамгард схемаси </a:t>
            </a:r>
            <a:endParaRPr lang="ru-RU" sz="1600">
              <a:latin typeface="Times New Roman" pitchFamily="18" charset="0"/>
              <a:cs typeface="Times New Roman" pitchFamily="18" charset="0"/>
            </a:endParaRPr>
          </a:p>
        </p:txBody>
      </p:sp>
      <p:sp>
        <p:nvSpPr>
          <p:cNvPr id="18440" name="TextBox 2060"/>
          <p:cNvSpPr txBox="1">
            <a:spLocks noChangeArrowheads="1"/>
          </p:cNvSpPr>
          <p:nvPr/>
        </p:nvSpPr>
        <p:spPr bwMode="auto">
          <a:xfrm>
            <a:off x="428625" y="1930400"/>
            <a:ext cx="8391525"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just"/>
            <a:r>
              <a:rPr lang="uz-Cyrl-UZ">
                <a:latin typeface="Times New Roman" pitchFamily="18" charset="0"/>
                <a:cs typeface="Times New Roman" pitchFamily="18" charset="0"/>
              </a:rPr>
              <a:t>Ушбу схема Маркл-Дамгард схемаси камчиликларини бартараф этиш мақсадида, айнан маълумотни керакли узунликга тўлдириш билан боғлиқ муоммони ҳал қилиш учун яратилган. Меркл-Дамгард схемаси билан ишлаш принципи деярли ўхшаш, фарқи </a:t>
            </a:r>
            <a:r>
              <a:rPr lang="en-US">
                <a:latin typeface="Times New Roman" pitchFamily="18" charset="0"/>
                <a:cs typeface="Times New Roman" pitchFamily="18" charset="0"/>
              </a:rPr>
              <a:t>f </a:t>
            </a:r>
            <a:r>
              <a:rPr lang="uz-Cyrl-UZ">
                <a:latin typeface="Times New Roman" pitchFamily="18" charset="0"/>
                <a:cs typeface="Times New Roman" pitchFamily="18" charset="0"/>
              </a:rPr>
              <a:t>сиқиш функцияси ички холати чиқувчи хэш қиймат узунлигидан катта.</a:t>
            </a:r>
            <a:endParaRPr lang="ru-RU">
              <a:latin typeface="Times New Roman" pitchFamily="18" charset="0"/>
              <a:cs typeface="Times New Roman" pitchFamily="18" charset="0"/>
            </a:endParaRPr>
          </a:p>
        </p:txBody>
      </p:sp>
      <p:pic>
        <p:nvPicPr>
          <p:cNvPr id="18441"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9225" y="3408363"/>
            <a:ext cx="6307138" cy="2239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442" name="TextBox 1"/>
          <p:cNvSpPr txBox="1">
            <a:spLocks noChangeArrowheads="1"/>
          </p:cNvSpPr>
          <p:nvPr/>
        </p:nvSpPr>
        <p:spPr bwMode="auto">
          <a:xfrm>
            <a:off x="4462463" y="3630613"/>
            <a:ext cx="12795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Times New Roman" pitchFamily="18" charset="0"/>
                <a:cs typeface="Times New Roman" pitchFamily="18" charset="0"/>
              </a:rPr>
              <a:t>f</a:t>
            </a:r>
            <a:r>
              <a:rPr lang="en-US" b="1" baseline="-25000">
                <a:latin typeface="Times New Roman" pitchFamily="18" charset="0"/>
                <a:cs typeface="Times New Roman" pitchFamily="18" charset="0"/>
              </a:rPr>
              <a:t>1</a:t>
            </a:r>
            <a:r>
              <a:rPr lang="en-US" b="1">
                <a:latin typeface="Times New Roman" pitchFamily="18" charset="0"/>
                <a:cs typeface="Times New Roman" pitchFamily="18" charset="0"/>
              </a:rPr>
              <a:t>( IV</a:t>
            </a:r>
            <a:r>
              <a:rPr lang="en-US" b="1" baseline="-25000">
                <a:latin typeface="Times New Roman" pitchFamily="18" charset="0"/>
                <a:cs typeface="Times New Roman" pitchFamily="18" charset="0"/>
              </a:rPr>
              <a:t>1</a:t>
            </a:r>
            <a:r>
              <a:rPr lang="en-US" b="1">
                <a:latin typeface="Times New Roman" pitchFamily="18" charset="0"/>
                <a:cs typeface="Times New Roman" pitchFamily="18" charset="0"/>
              </a:rPr>
              <a:t>,M</a:t>
            </a:r>
            <a:r>
              <a:rPr lang="en-US" b="1" baseline="-25000">
                <a:latin typeface="Times New Roman" pitchFamily="18" charset="0"/>
                <a:cs typeface="Times New Roman" pitchFamily="18" charset="0"/>
              </a:rPr>
              <a:t>i</a:t>
            </a:r>
            <a:r>
              <a:rPr lang="en-US" b="1">
                <a:latin typeface="Times New Roman" pitchFamily="18" charset="0"/>
                <a:cs typeface="Times New Roman" pitchFamily="18" charset="0"/>
              </a:rPr>
              <a:t>)</a:t>
            </a:r>
            <a:endParaRPr lang="ru-RU" b="1">
              <a:latin typeface="Times New Roman" pitchFamily="18" charset="0"/>
              <a:cs typeface="Times New Roman" pitchFamily="18" charset="0"/>
            </a:endParaRPr>
          </a:p>
        </p:txBody>
      </p:sp>
      <p:sp>
        <p:nvSpPr>
          <p:cNvPr id="18443" name="TextBox 8"/>
          <p:cNvSpPr txBox="1">
            <a:spLocks noChangeArrowheads="1"/>
          </p:cNvSpPr>
          <p:nvPr/>
        </p:nvSpPr>
        <p:spPr bwMode="auto">
          <a:xfrm>
            <a:off x="5940425" y="3676650"/>
            <a:ext cx="12795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Times New Roman" pitchFamily="18" charset="0"/>
                <a:cs typeface="Times New Roman" pitchFamily="18" charset="0"/>
              </a:rPr>
              <a:t>f</a:t>
            </a:r>
            <a:r>
              <a:rPr lang="en-US" b="1" baseline="-25000">
                <a:latin typeface="Times New Roman" pitchFamily="18" charset="0"/>
                <a:cs typeface="Times New Roman" pitchFamily="18" charset="0"/>
              </a:rPr>
              <a:t>2</a:t>
            </a:r>
            <a:r>
              <a:rPr lang="en-US" b="1">
                <a:latin typeface="Times New Roman" pitchFamily="18" charset="0"/>
                <a:cs typeface="Times New Roman" pitchFamily="18" charset="0"/>
              </a:rPr>
              <a:t>( IV</a:t>
            </a:r>
            <a:r>
              <a:rPr lang="en-US" b="1" baseline="-25000">
                <a:latin typeface="Times New Roman" pitchFamily="18" charset="0"/>
                <a:cs typeface="Times New Roman" pitchFamily="18" charset="0"/>
              </a:rPr>
              <a:t>1</a:t>
            </a:r>
            <a:r>
              <a:rPr lang="en-US" b="1">
                <a:latin typeface="Times New Roman" pitchFamily="18" charset="0"/>
                <a:cs typeface="Times New Roman" pitchFamily="18" charset="0"/>
              </a:rPr>
              <a:t>,IV</a:t>
            </a:r>
            <a:r>
              <a:rPr lang="en-US" b="1" baseline="-25000">
                <a:latin typeface="Times New Roman" pitchFamily="18" charset="0"/>
                <a:cs typeface="Times New Roman" pitchFamily="18" charset="0"/>
              </a:rPr>
              <a:t>2</a:t>
            </a:r>
            <a:r>
              <a:rPr lang="en-US" b="1">
                <a:latin typeface="Times New Roman" pitchFamily="18" charset="0"/>
                <a:cs typeface="Times New Roman" pitchFamily="18" charset="0"/>
              </a:rPr>
              <a:t>)</a:t>
            </a:r>
            <a:endParaRPr lang="ru-RU" b="1">
              <a:latin typeface="Times New Roman" pitchFamily="18" charset="0"/>
              <a:cs typeface="Times New Roman" pitchFamily="18" charset="0"/>
            </a:endParaRPr>
          </a:p>
        </p:txBody>
      </p:sp>
      <p:sp>
        <p:nvSpPr>
          <p:cNvPr id="18444" name="TextBox 10"/>
          <p:cNvSpPr txBox="1">
            <a:spLocks noChangeArrowheads="1"/>
          </p:cNvSpPr>
          <p:nvPr/>
        </p:nvSpPr>
        <p:spPr bwMode="auto">
          <a:xfrm>
            <a:off x="1187450" y="3630613"/>
            <a:ext cx="17287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Times New Roman" pitchFamily="18" charset="0"/>
                <a:cs typeface="Times New Roman" pitchFamily="18" charset="0"/>
              </a:rPr>
              <a:t>H</a:t>
            </a:r>
            <a:r>
              <a:rPr lang="en-US" b="1" baseline="-25000">
                <a:latin typeface="Times New Roman" pitchFamily="18" charset="0"/>
                <a:cs typeface="Times New Roman" pitchFamily="18" charset="0"/>
              </a:rPr>
              <a:t>0</a:t>
            </a:r>
            <a:r>
              <a:rPr lang="en-US" b="1">
                <a:latin typeface="Times New Roman" pitchFamily="18" charset="0"/>
                <a:cs typeface="Times New Roman" pitchFamily="18" charset="0"/>
              </a:rPr>
              <a:t>=IV</a:t>
            </a:r>
            <a:r>
              <a:rPr lang="en-US" b="1" baseline="-25000">
                <a:latin typeface="Times New Roman" pitchFamily="18" charset="0"/>
                <a:cs typeface="Times New Roman" pitchFamily="18" charset="0"/>
              </a:rPr>
              <a:t>1</a:t>
            </a:r>
            <a:r>
              <a:rPr lang="en-US" b="1">
                <a:latin typeface="Times New Roman" pitchFamily="18" charset="0"/>
                <a:cs typeface="Times New Roman" pitchFamily="18" charset="0"/>
              </a:rPr>
              <a:t>||IV</a:t>
            </a:r>
            <a:r>
              <a:rPr lang="en-US" b="1" baseline="-25000">
                <a:latin typeface="Times New Roman" pitchFamily="18" charset="0"/>
                <a:cs typeface="Times New Roman" pitchFamily="18" charset="0"/>
              </a:rPr>
              <a:t>2</a:t>
            </a:r>
            <a:r>
              <a:rPr lang="en-US" b="1">
                <a:latin typeface="Times New Roman" pitchFamily="18" charset="0"/>
                <a:cs typeface="Times New Roman" pitchFamily="18" charset="0"/>
              </a:rPr>
              <a:t>=0</a:t>
            </a:r>
            <a:endParaRPr lang="ru-RU" b="1">
              <a:latin typeface="Times New Roman" pitchFamily="18" charset="0"/>
              <a:cs typeface="Times New Roman" pitchFamily="18" charset="0"/>
            </a:endParaRPr>
          </a:p>
        </p:txBody>
      </p:sp>
      <p:sp>
        <p:nvSpPr>
          <p:cNvPr id="12" name="TextBox 11"/>
          <p:cNvSpPr txBox="1">
            <a:spLocks noChangeArrowheads="1"/>
          </p:cNvSpPr>
          <p:nvPr/>
        </p:nvSpPr>
        <p:spPr bwMode="auto">
          <a:xfrm>
            <a:off x="371475" y="5661025"/>
            <a:ext cx="84391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600" b="1">
                <a:latin typeface="Times New Roman" pitchFamily="18" charset="0"/>
                <a:cs typeface="Times New Roman" pitchFamily="18" charset="0"/>
              </a:rPr>
              <a:t>R</a:t>
            </a:r>
            <a:r>
              <a:rPr lang="ru-RU" sz="1600" b="1">
                <a:latin typeface="Times New Roman" pitchFamily="18" charset="0"/>
                <a:cs typeface="Times New Roman" pitchFamily="18" charset="0"/>
              </a:rPr>
              <a:t> та</a:t>
            </a:r>
            <a:r>
              <a:rPr lang="en-US" sz="1600" b="1">
                <a:latin typeface="Times New Roman" pitchFamily="18" charset="0"/>
                <a:cs typeface="Times New Roman" pitchFamily="18" charset="0"/>
              </a:rPr>
              <a:t> </a:t>
            </a:r>
            <a:r>
              <a:rPr lang="uz-Cyrl-UZ" sz="1600" b="1">
                <a:latin typeface="Times New Roman" pitchFamily="18" charset="0"/>
                <a:cs typeface="Times New Roman" pitchFamily="18" charset="0"/>
              </a:rPr>
              <a:t>раунддан кейин Н</a:t>
            </a:r>
            <a:r>
              <a:rPr lang="uz-Cyrl-UZ" sz="1600" b="1" baseline="-25000">
                <a:latin typeface="Times New Roman" pitchFamily="18" charset="0"/>
                <a:cs typeface="Times New Roman" pitchFamily="18" charset="0"/>
              </a:rPr>
              <a:t>0</a:t>
            </a:r>
            <a:r>
              <a:rPr lang="uz-Cyrl-UZ" sz="1600" b="1">
                <a:latin typeface="Times New Roman" pitchFamily="18" charset="0"/>
                <a:cs typeface="Times New Roman" pitchFamily="18" charset="0"/>
              </a:rPr>
              <a:t> векторнинг барча элементлари қийматга эга бўлади ва кейинги </a:t>
            </a:r>
            <a:r>
              <a:rPr lang="en-US" sz="1600" b="1">
                <a:latin typeface="Times New Roman" pitchFamily="18" charset="0"/>
                <a:cs typeface="Times New Roman" pitchFamily="18" charset="0"/>
              </a:rPr>
              <a:t>M</a:t>
            </a:r>
            <a:r>
              <a:rPr lang="en-US" sz="1600" b="1" baseline="-25000">
                <a:latin typeface="Times New Roman" pitchFamily="18" charset="0"/>
                <a:cs typeface="Times New Roman" pitchFamily="18" charset="0"/>
              </a:rPr>
              <a:t>i+1</a:t>
            </a:r>
            <a:r>
              <a:rPr lang="ru-RU" sz="1600" b="1" baseline="-25000">
                <a:latin typeface="Times New Roman" pitchFamily="18" charset="0"/>
                <a:cs typeface="Times New Roman" pitchFamily="18" charset="0"/>
              </a:rPr>
              <a:t> </a:t>
            </a:r>
            <a:r>
              <a:rPr lang="ru-RU" sz="1600" b="1">
                <a:latin typeface="Times New Roman" pitchFamily="18" charset="0"/>
                <a:cs typeface="Times New Roman" pitchFamily="18" charset="0"/>
              </a:rPr>
              <a:t>блокка </a:t>
            </a:r>
            <a:r>
              <a:rPr lang="uz-Cyrl-UZ" sz="1600" b="1">
                <a:latin typeface="Times New Roman" pitchFamily="18" charset="0"/>
                <a:cs typeface="Times New Roman" pitchFamily="18" charset="0"/>
              </a:rPr>
              <a:t>ўтилади.</a:t>
            </a:r>
            <a:r>
              <a:rPr lang="ru-RU" sz="1600" b="1">
                <a:latin typeface="Times New Roman" pitchFamily="18" charset="0"/>
                <a:cs typeface="Times New Roman" pitchFamily="18" charset="0"/>
              </a:rPr>
              <a:t> </a:t>
            </a:r>
          </a:p>
        </p:txBody>
      </p:sp>
      <p:sp>
        <p:nvSpPr>
          <p:cNvPr id="13" name="Стрелка влево 12">
            <a:hlinkClick r:id="rId3" action="ppaction://hlinkpres?slideindex=11&amp;slidetitle=Презентация PowerPoint"/>
          </p:cNvPr>
          <p:cNvSpPr/>
          <p:nvPr/>
        </p:nvSpPr>
        <p:spPr>
          <a:xfrm>
            <a:off x="460375" y="6407150"/>
            <a:ext cx="558800" cy="298450"/>
          </a:xfrm>
          <a:prstGeom prst="leftArrow">
            <a:avLst/>
          </a:prstGeom>
        </p:spPr>
        <p:style>
          <a:lnRef idx="2">
            <a:schemeClr val="accent6"/>
          </a:lnRef>
          <a:fillRef idx="1">
            <a:schemeClr val="lt1"/>
          </a:fillRef>
          <a:effectRef idx="0">
            <a:schemeClr val="accent6"/>
          </a:effectRef>
          <a:fontRef idx="minor">
            <a:schemeClr val="dk1"/>
          </a:fontRef>
        </p:style>
        <p:txBody>
          <a:bodyPr anchor="ctr"/>
          <a:lstStyle/>
          <a:p>
            <a:pPr algn="ctr" fontAlgn="auto">
              <a:spcBef>
                <a:spcPts val="0"/>
              </a:spcBef>
              <a:spcAft>
                <a:spcPts val="0"/>
              </a:spcAft>
              <a:defRPr/>
            </a:pPr>
            <a:endParaRPr lang="ru-RU"/>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428596" y="228600"/>
            <a:ext cx="8501122" cy="914400"/>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t="100000" r="100000"/>
            </a:path>
            <a:tileRect l="-100000" b="-100000"/>
          </a:gradFill>
          <a:ln>
            <a:solidFill>
              <a:schemeClr val="tx1"/>
            </a:solidFill>
          </a:ln>
          <a:effectLst>
            <a:glow rad="101600">
              <a:schemeClr val="accent4">
                <a:satMod val="175000"/>
                <a:alpha val="40000"/>
              </a:schemeClr>
            </a:glow>
            <a:softEdge rad="12700"/>
          </a:effectLst>
        </p:spPr>
        <p:style>
          <a:lnRef idx="2">
            <a:schemeClr val="dk1"/>
          </a:lnRef>
          <a:fillRef idx="1">
            <a:schemeClr val="lt1"/>
          </a:fillRef>
          <a:effectRef idx="0">
            <a:schemeClr val="dk1"/>
          </a:effectRef>
          <a:fontRef idx="minor">
            <a:schemeClr val="dk1"/>
          </a:fontRef>
        </p:style>
        <p:txBody>
          <a:bodyPr anchor="ctr"/>
          <a:lstStyle/>
          <a:p>
            <a:pPr algn="ctr" fontAlgn="auto">
              <a:spcBef>
                <a:spcPts val="0"/>
              </a:spcBef>
              <a:spcAft>
                <a:spcPts val="0"/>
              </a:spcAft>
              <a:defRPr/>
            </a:pPr>
            <a:r>
              <a:rPr lang="ru-RU" sz="2000" b="1" dirty="0">
                <a:latin typeface="Times New Roman" pitchFamily="18" charset="0"/>
                <a:cs typeface="Times New Roman" pitchFamily="18" charset="0"/>
              </a:rPr>
              <a:t>Янги хэш функция алгоритмининг лойиҳалаш босқичлари</a:t>
            </a:r>
          </a:p>
          <a:p>
            <a:pPr algn="ctr" fontAlgn="auto">
              <a:spcBef>
                <a:spcPts val="0"/>
              </a:spcBef>
              <a:spcAft>
                <a:spcPts val="0"/>
              </a:spcAft>
              <a:defRPr/>
            </a:pPr>
            <a:endParaRPr lang="ru-RU" sz="2000" b="1" dirty="0">
              <a:solidFill>
                <a:srgbClr val="C00000"/>
              </a:solidFill>
              <a:latin typeface="Times New Roman" pitchFamily="18" charset="0"/>
              <a:cs typeface="Times New Roman" pitchFamily="18" charset="0"/>
            </a:endParaRPr>
          </a:p>
        </p:txBody>
      </p:sp>
      <p:sp>
        <p:nvSpPr>
          <p:cNvPr id="5" name="Прямоугольник 4"/>
          <p:cNvSpPr/>
          <p:nvPr/>
        </p:nvSpPr>
        <p:spPr>
          <a:xfrm>
            <a:off x="381000" y="1295400"/>
            <a:ext cx="8534400" cy="5410200"/>
          </a:xfrm>
          <a:prstGeom prst="rect">
            <a:avLst/>
          </a:prstGeom>
          <a:solidFill>
            <a:schemeClr val="bg2"/>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ru-RU" dirty="0">
              <a:latin typeface="Times New Roman" pitchFamily="18" charset="0"/>
              <a:cs typeface="Times New Roman" pitchFamily="18" charset="0"/>
            </a:endParaRPr>
          </a:p>
        </p:txBody>
      </p:sp>
      <p:sp>
        <p:nvSpPr>
          <p:cNvPr id="6" name="Скругленный прямоугольник 5"/>
          <p:cNvSpPr/>
          <p:nvPr/>
        </p:nvSpPr>
        <p:spPr>
          <a:xfrm>
            <a:off x="1079500" y="1412875"/>
            <a:ext cx="7199313" cy="360363"/>
          </a:xfrm>
          <a:prstGeom prst="roundRect">
            <a:avLst/>
          </a:prstGeom>
        </p:spPr>
        <p:style>
          <a:lnRef idx="2">
            <a:schemeClr val="accent6"/>
          </a:lnRef>
          <a:fillRef idx="1">
            <a:schemeClr val="lt1"/>
          </a:fillRef>
          <a:effectRef idx="0">
            <a:schemeClr val="accent6"/>
          </a:effectRef>
          <a:fontRef idx="minor">
            <a:schemeClr val="dk1"/>
          </a:fontRef>
        </p:style>
        <p:txBody>
          <a:bodyPr anchor="ctr"/>
          <a:lstStyle/>
          <a:p>
            <a:pPr algn="ctr" fontAlgn="auto">
              <a:spcBef>
                <a:spcPts val="0"/>
              </a:spcBef>
              <a:spcAft>
                <a:spcPts val="0"/>
              </a:spcAft>
              <a:defRPr/>
            </a:pPr>
            <a:r>
              <a:rPr lang="uz-Cyrl-UZ" b="1" dirty="0">
                <a:latin typeface="Times New Roman" pitchFamily="18" charset="0"/>
                <a:cs typeface="Times New Roman" pitchFamily="18" charset="0"/>
              </a:rPr>
              <a:t>Губка принципи</a:t>
            </a:r>
          </a:p>
        </p:txBody>
      </p:sp>
      <p:sp>
        <p:nvSpPr>
          <p:cNvPr id="2" name="TextBox 1"/>
          <p:cNvSpPr txBox="1">
            <a:spLocks noChangeArrowheads="1"/>
          </p:cNvSpPr>
          <p:nvPr/>
        </p:nvSpPr>
        <p:spPr bwMode="auto">
          <a:xfrm>
            <a:off x="428625" y="1844675"/>
            <a:ext cx="8391525" cy="167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just"/>
            <a:r>
              <a:rPr lang="uz-Cyrl-UZ" sz="1700">
                <a:latin typeface="Times New Roman" pitchFamily="18" charset="0"/>
                <a:cs typeface="Times New Roman" pitchFamily="18" charset="0"/>
              </a:rPr>
              <a:t>Губка-итератив конструкция бўлиб, унинг асосий акслантириши –</a:t>
            </a:r>
            <a:r>
              <a:rPr lang="en-US" sz="1700">
                <a:latin typeface="Times New Roman" pitchFamily="18" charset="0"/>
                <a:cs typeface="Times New Roman" pitchFamily="18" charset="0"/>
              </a:rPr>
              <a:t>f </a:t>
            </a:r>
            <a:r>
              <a:rPr lang="uz-Cyrl-UZ" sz="1700">
                <a:latin typeface="Times New Roman" pitchFamily="18" charset="0"/>
                <a:cs typeface="Times New Roman" pitchFamily="18" charset="0"/>
              </a:rPr>
              <a:t>га ихтиёрий узунликдаги маълумот киради ва ихтиёрий узунликдаги хэш </a:t>
            </a:r>
            <a:r>
              <a:rPr lang="ru-RU" sz="1700">
                <a:latin typeface="Times New Roman" pitchFamily="18" charset="0"/>
                <a:cs typeface="Times New Roman" pitchFamily="18" charset="0"/>
              </a:rPr>
              <a:t>қиймат</a:t>
            </a:r>
            <a:r>
              <a:rPr lang="uz-Cyrl-UZ" sz="1700">
                <a:latin typeface="Times New Roman" pitchFamily="18" charset="0"/>
                <a:cs typeface="Times New Roman" pitchFamily="18" charset="0"/>
              </a:rPr>
              <a:t>  чиқади. Губканинг ички холати </a:t>
            </a:r>
            <a:r>
              <a:rPr lang="en-US" sz="1700">
                <a:latin typeface="Times New Roman" pitchFamily="18" charset="0"/>
                <a:cs typeface="Times New Roman" pitchFamily="18" charset="0"/>
              </a:rPr>
              <a:t>S (</a:t>
            </a:r>
            <a:r>
              <a:rPr lang="uz-Cyrl-UZ" sz="1700">
                <a:latin typeface="Times New Roman" pitchFamily="18" charset="0"/>
                <a:cs typeface="Times New Roman" pitchFamily="18" charset="0"/>
              </a:rPr>
              <a:t>фиксирланган </a:t>
            </a:r>
            <a:r>
              <a:rPr lang="en-US" sz="1700">
                <a:latin typeface="Times New Roman" pitchFamily="18" charset="0"/>
                <a:cs typeface="Times New Roman" pitchFamily="18" charset="0"/>
              </a:rPr>
              <a:t>b </a:t>
            </a:r>
            <a:r>
              <a:rPr lang="uz-Cyrl-UZ" sz="1700">
                <a:latin typeface="Times New Roman" pitchFamily="18" charset="0"/>
                <a:cs typeface="Times New Roman" pitchFamily="18" charset="0"/>
              </a:rPr>
              <a:t>бит узунликда, </a:t>
            </a:r>
            <a:r>
              <a:rPr lang="en-US" sz="1700">
                <a:latin typeface="Times New Roman" pitchFamily="18" charset="0"/>
                <a:cs typeface="Times New Roman" pitchFamily="18" charset="0"/>
              </a:rPr>
              <a:t>b=r+c) </a:t>
            </a:r>
            <a:r>
              <a:rPr lang="uz-Cyrl-UZ" sz="1700">
                <a:latin typeface="Times New Roman" pitchFamily="18" charset="0"/>
                <a:cs typeface="Times New Roman" pitchFamily="18" charset="0"/>
              </a:rPr>
              <a:t>орқали ифодаланади. </a:t>
            </a:r>
            <a:r>
              <a:rPr lang="en-US" sz="1700">
                <a:latin typeface="Times New Roman" pitchFamily="18" charset="0"/>
                <a:cs typeface="Times New Roman" pitchFamily="18" charset="0"/>
              </a:rPr>
              <a:t>S </a:t>
            </a:r>
            <a:r>
              <a:rPr lang="uz-Cyrl-UZ" sz="1700">
                <a:latin typeface="Times New Roman" pitchFamily="18" charset="0"/>
                <a:cs typeface="Times New Roman" pitchFamily="18" charset="0"/>
              </a:rPr>
              <a:t>ички ҳолат  2 га бўлинади:</a:t>
            </a:r>
          </a:p>
          <a:p>
            <a:pPr algn="just"/>
            <a:r>
              <a:rPr lang="uz-Cyrl-UZ" sz="1700">
                <a:latin typeface="Times New Roman" pitchFamily="18" charset="0"/>
                <a:cs typeface="Times New Roman" pitchFamily="18" charset="0"/>
              </a:rPr>
              <a:t>1.   </a:t>
            </a:r>
            <a:r>
              <a:rPr lang="en-US" sz="1700">
                <a:latin typeface="Times New Roman" pitchFamily="18" charset="0"/>
                <a:cs typeface="Times New Roman" pitchFamily="18" charset="0"/>
              </a:rPr>
              <a:t>S1- </a:t>
            </a:r>
            <a:r>
              <a:rPr lang="uz-Cyrl-UZ" sz="1700">
                <a:latin typeface="Times New Roman" pitchFamily="18" charset="0"/>
                <a:cs typeface="Times New Roman" pitchFamily="18" charset="0"/>
              </a:rPr>
              <a:t>ўлчами </a:t>
            </a:r>
            <a:r>
              <a:rPr lang="en-US" sz="1700">
                <a:latin typeface="Times New Roman" pitchFamily="18" charset="0"/>
                <a:cs typeface="Times New Roman" pitchFamily="18" charset="0"/>
              </a:rPr>
              <a:t>r </a:t>
            </a:r>
            <a:r>
              <a:rPr lang="uz-Cyrl-UZ" sz="1700">
                <a:latin typeface="Times New Roman" pitchFamily="18" charset="0"/>
                <a:cs typeface="Times New Roman" pitchFamily="18" charset="0"/>
              </a:rPr>
              <a:t>бит;</a:t>
            </a:r>
          </a:p>
          <a:p>
            <a:pPr algn="just"/>
            <a:r>
              <a:rPr lang="uz-Cyrl-UZ" sz="1700">
                <a:latin typeface="Times New Roman" pitchFamily="18" charset="0"/>
                <a:cs typeface="Times New Roman" pitchFamily="18" charset="0"/>
              </a:rPr>
              <a:t>2.   </a:t>
            </a:r>
            <a:r>
              <a:rPr lang="en-US" sz="1700">
                <a:latin typeface="Times New Roman" pitchFamily="18" charset="0"/>
                <a:cs typeface="Times New Roman" pitchFamily="18" charset="0"/>
              </a:rPr>
              <a:t>S2- </a:t>
            </a:r>
            <a:r>
              <a:rPr lang="uz-Cyrl-UZ" sz="1700">
                <a:latin typeface="Times New Roman" pitchFamily="18" charset="0"/>
                <a:cs typeface="Times New Roman" pitchFamily="18" charset="0"/>
              </a:rPr>
              <a:t>ўлчами с бит</a:t>
            </a:r>
            <a:r>
              <a:rPr lang="uz-Cyrl-UZ">
                <a:latin typeface="Times New Roman" pitchFamily="18" charset="0"/>
                <a:cs typeface="Times New Roman" pitchFamily="18" charset="0"/>
              </a:rPr>
              <a:t>;</a:t>
            </a:r>
          </a:p>
        </p:txBody>
      </p:sp>
      <p:sp>
        <p:nvSpPr>
          <p:cNvPr id="3" name="TextBox 2"/>
          <p:cNvSpPr txBox="1">
            <a:spLocks noChangeArrowheads="1"/>
          </p:cNvSpPr>
          <p:nvPr/>
        </p:nvSpPr>
        <p:spPr bwMode="auto">
          <a:xfrm>
            <a:off x="2271713" y="6269038"/>
            <a:ext cx="40941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ctr"/>
            <a:r>
              <a:rPr lang="uz-Cyrl-UZ" sz="1400">
                <a:latin typeface="Times New Roman" pitchFamily="18" charset="0"/>
                <a:cs typeface="Times New Roman" pitchFamily="18" charset="0"/>
              </a:rPr>
              <a:t>2.2. расм. Губка принципи схемаси</a:t>
            </a:r>
            <a:endParaRPr lang="ru-RU" sz="1400">
              <a:latin typeface="Times New Roman" pitchFamily="18" charset="0"/>
              <a:cs typeface="Times New Roman" pitchFamily="18" charset="0"/>
            </a:endParaRPr>
          </a:p>
        </p:txBody>
      </p:sp>
      <p:grpSp>
        <p:nvGrpSpPr>
          <p:cNvPr id="35" name="Group 211"/>
          <p:cNvGrpSpPr>
            <a:grpSpLocks/>
          </p:cNvGrpSpPr>
          <p:nvPr/>
        </p:nvGrpSpPr>
        <p:grpSpPr bwMode="auto">
          <a:xfrm>
            <a:off x="1498600" y="3552825"/>
            <a:ext cx="6088063" cy="2681288"/>
            <a:chOff x="1082" y="2255"/>
            <a:chExt cx="9962" cy="4565"/>
          </a:xfrm>
        </p:grpSpPr>
        <p:cxnSp>
          <p:nvCxnSpPr>
            <p:cNvPr id="19709" name="AutoShape 212"/>
            <p:cNvCxnSpPr>
              <a:cxnSpLocks noChangeShapeType="1"/>
            </p:cNvCxnSpPr>
            <p:nvPr/>
          </p:nvCxnSpPr>
          <p:spPr bwMode="auto">
            <a:xfrm flipV="1">
              <a:off x="5062" y="4770"/>
              <a:ext cx="951" cy="18"/>
            </a:xfrm>
            <a:prstGeom prst="straightConnector1">
              <a:avLst/>
            </a:prstGeom>
            <a:noFill/>
            <a:ln w="9525">
              <a:solidFill>
                <a:srgbClr val="000000"/>
              </a:solidFill>
              <a:prstDash val="sysDot"/>
              <a:round/>
              <a:headEnd/>
              <a:tailEnd type="triangle" w="med" len="med"/>
            </a:ln>
            <a:extLst>
              <a:ext uri="{909E8E84-426E-40DD-AFC4-6F175D3DCCD1}">
                <a14:hiddenFill xmlns:a14="http://schemas.microsoft.com/office/drawing/2010/main">
                  <a:noFill/>
                </a14:hiddenFill>
              </a:ext>
            </a:extLst>
          </p:spPr>
        </p:cxnSp>
        <p:cxnSp>
          <p:nvCxnSpPr>
            <p:cNvPr id="19710" name="AutoShape 213"/>
            <p:cNvCxnSpPr>
              <a:cxnSpLocks noChangeShapeType="1"/>
            </p:cNvCxnSpPr>
            <p:nvPr/>
          </p:nvCxnSpPr>
          <p:spPr bwMode="auto">
            <a:xfrm flipV="1">
              <a:off x="5062" y="5264"/>
              <a:ext cx="1372" cy="18"/>
            </a:xfrm>
            <a:prstGeom prst="straightConnector1">
              <a:avLst/>
            </a:prstGeom>
            <a:noFill/>
            <a:ln w="9525">
              <a:solidFill>
                <a:srgbClr val="000000"/>
              </a:solidFill>
              <a:prstDash val="sysDot"/>
              <a:round/>
              <a:headEnd/>
              <a:tailEnd type="triangle" w="med" len="med"/>
            </a:ln>
            <a:extLst>
              <a:ext uri="{909E8E84-426E-40DD-AFC4-6F175D3DCCD1}">
                <a14:hiddenFill xmlns:a14="http://schemas.microsoft.com/office/drawing/2010/main">
                  <a:noFill/>
                </a14:hiddenFill>
              </a:ext>
            </a:extLst>
          </p:spPr>
        </p:cxnSp>
        <p:cxnSp>
          <p:nvCxnSpPr>
            <p:cNvPr id="19711" name="AutoShape 214"/>
            <p:cNvCxnSpPr>
              <a:cxnSpLocks noChangeShapeType="1"/>
            </p:cNvCxnSpPr>
            <p:nvPr/>
          </p:nvCxnSpPr>
          <p:spPr bwMode="auto">
            <a:xfrm>
              <a:off x="3921" y="5663"/>
              <a:ext cx="0" cy="277"/>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9712" name="Rectangle 215"/>
            <p:cNvSpPr>
              <a:spLocks noChangeArrowheads="1"/>
            </p:cNvSpPr>
            <p:nvPr/>
          </p:nvSpPr>
          <p:spPr bwMode="auto">
            <a:xfrm>
              <a:off x="1883" y="4527"/>
              <a:ext cx="683" cy="991"/>
            </a:xfrm>
            <a:prstGeom prst="rect">
              <a:avLst/>
            </a:prstGeom>
            <a:solidFill>
              <a:srgbClr val="FFFFFF"/>
            </a:solidFill>
            <a:ln w="9525">
              <a:solidFill>
                <a:srgbClr val="000000"/>
              </a:solidFill>
              <a:miter lim="800000"/>
              <a:headEnd/>
              <a:tailEnd/>
            </a:ln>
          </p:spPr>
          <p:txBody>
            <a:bodyPr/>
            <a:lstStyle/>
            <a:p>
              <a:r>
                <a:rPr lang="en-US" sz="1200">
                  <a:latin typeface="Times New Roman" pitchFamily="18" charset="0"/>
                  <a:cs typeface="Times New Roman" pitchFamily="18" charset="0"/>
                </a:rPr>
                <a:t>S</a:t>
              </a:r>
              <a:r>
                <a:rPr lang="en-US" sz="1200" baseline="-25000">
                  <a:latin typeface="Times New Roman" pitchFamily="18" charset="0"/>
                  <a:cs typeface="Times New Roman" pitchFamily="18" charset="0"/>
                </a:rPr>
                <a:t>1</a:t>
              </a:r>
              <a:endParaRPr lang="ru-RU" sz="1200">
                <a:latin typeface="Times New Roman" pitchFamily="18" charset="0"/>
                <a:cs typeface="Times New Roman" pitchFamily="18" charset="0"/>
              </a:endParaRPr>
            </a:p>
            <a:p>
              <a:r>
                <a:rPr lang="en-US" sz="1200">
                  <a:latin typeface="Times New Roman" pitchFamily="18" charset="0"/>
                  <a:cs typeface="Times New Roman" pitchFamily="18" charset="0"/>
                </a:rPr>
                <a:t> </a:t>
              </a:r>
              <a:endParaRPr lang="ru-RU" sz="1200">
                <a:latin typeface="Times New Roman" pitchFamily="18" charset="0"/>
                <a:cs typeface="Times New Roman" pitchFamily="18" charset="0"/>
              </a:endParaRPr>
            </a:p>
            <a:p>
              <a:r>
                <a:rPr lang="en-US" sz="1200">
                  <a:latin typeface="Times New Roman" pitchFamily="18" charset="0"/>
                  <a:cs typeface="Times New Roman" pitchFamily="18" charset="0"/>
                </a:rPr>
                <a:t>S</a:t>
              </a:r>
              <a:r>
                <a:rPr lang="en-US" sz="1200" baseline="-25000">
                  <a:latin typeface="Times New Roman" pitchFamily="18" charset="0"/>
                  <a:cs typeface="Times New Roman" pitchFamily="18" charset="0"/>
                </a:rPr>
                <a:t>2</a:t>
              </a:r>
              <a:endParaRPr lang="ru-RU" sz="1200">
                <a:latin typeface="Times New Roman" pitchFamily="18" charset="0"/>
                <a:cs typeface="Times New Roman" pitchFamily="18" charset="0"/>
              </a:endParaRPr>
            </a:p>
          </p:txBody>
        </p:sp>
        <p:cxnSp>
          <p:nvCxnSpPr>
            <p:cNvPr id="19713" name="AutoShape 216"/>
            <p:cNvCxnSpPr>
              <a:cxnSpLocks noChangeShapeType="1"/>
            </p:cNvCxnSpPr>
            <p:nvPr/>
          </p:nvCxnSpPr>
          <p:spPr bwMode="auto">
            <a:xfrm>
              <a:off x="2566" y="4807"/>
              <a:ext cx="156" cy="9"/>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9714" name="Rectangle 217"/>
            <p:cNvSpPr>
              <a:spLocks noChangeArrowheads="1"/>
            </p:cNvSpPr>
            <p:nvPr/>
          </p:nvSpPr>
          <p:spPr bwMode="auto">
            <a:xfrm>
              <a:off x="3220" y="4390"/>
              <a:ext cx="1842" cy="1273"/>
            </a:xfrm>
            <a:prstGeom prst="rect">
              <a:avLst/>
            </a:prstGeom>
            <a:solidFill>
              <a:srgbClr val="FFFFFF"/>
            </a:solidFill>
            <a:ln w="9525">
              <a:solidFill>
                <a:srgbClr val="000000"/>
              </a:solidFill>
              <a:miter lim="800000"/>
              <a:headEnd/>
              <a:tailEnd/>
            </a:ln>
          </p:spPr>
          <p:txBody>
            <a:bodyPr/>
            <a:lstStyle/>
            <a:p>
              <a:r>
                <a:rPr lang="en-US" sz="1000">
                  <a:latin typeface="Times New Roman" pitchFamily="18" charset="0"/>
                  <a:cs typeface="Times New Roman" pitchFamily="18" charset="0"/>
                </a:rPr>
                <a:t> </a:t>
              </a:r>
              <a:endParaRPr lang="ru-RU" sz="1200">
                <a:latin typeface="Times New Roman" pitchFamily="18" charset="0"/>
                <a:cs typeface="Times New Roman" pitchFamily="18" charset="0"/>
              </a:endParaRPr>
            </a:p>
            <a:p>
              <a:pPr algn="ctr"/>
              <a:r>
                <a:rPr lang="en-US" sz="1200">
                  <a:latin typeface="Times New Roman" pitchFamily="18" charset="0"/>
                  <a:cs typeface="Times New Roman" pitchFamily="18" charset="0"/>
                </a:rPr>
                <a:t>f-</a:t>
              </a:r>
              <a:r>
                <a:rPr lang="uz-Cyrl-UZ" sz="1200">
                  <a:latin typeface="Times New Roman" pitchFamily="18" charset="0"/>
                  <a:cs typeface="Times New Roman" pitchFamily="18" charset="0"/>
                </a:rPr>
                <a:t>Сиқиш функция</a:t>
              </a:r>
              <a:endParaRPr lang="ru-RU" sz="1200">
                <a:latin typeface="Times New Roman" pitchFamily="18" charset="0"/>
                <a:cs typeface="Times New Roman" pitchFamily="18" charset="0"/>
              </a:endParaRPr>
            </a:p>
          </p:txBody>
        </p:sp>
        <p:cxnSp>
          <p:nvCxnSpPr>
            <p:cNvPr id="19715" name="AutoShape 218"/>
            <p:cNvCxnSpPr>
              <a:cxnSpLocks noChangeShapeType="1"/>
            </p:cNvCxnSpPr>
            <p:nvPr/>
          </p:nvCxnSpPr>
          <p:spPr bwMode="auto">
            <a:xfrm>
              <a:off x="2908" y="3875"/>
              <a:ext cx="0" cy="778"/>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9716" name="Rectangle 219"/>
            <p:cNvSpPr>
              <a:spLocks noChangeArrowheads="1"/>
            </p:cNvSpPr>
            <p:nvPr/>
          </p:nvSpPr>
          <p:spPr bwMode="auto">
            <a:xfrm>
              <a:off x="2537" y="3342"/>
              <a:ext cx="683" cy="533"/>
            </a:xfrm>
            <a:prstGeom prst="rect">
              <a:avLst/>
            </a:prstGeom>
            <a:solidFill>
              <a:srgbClr val="FFFFFF"/>
            </a:solidFill>
            <a:ln w="9525">
              <a:solidFill>
                <a:srgbClr val="000000"/>
              </a:solidFill>
              <a:miter lim="800000"/>
              <a:headEnd/>
              <a:tailEnd/>
            </a:ln>
          </p:spPr>
          <p:txBody>
            <a:bodyPr/>
            <a:lstStyle/>
            <a:p>
              <a:r>
                <a:rPr lang="uz-Cyrl-UZ" sz="1200">
                  <a:latin typeface="Times New Roman" pitchFamily="18" charset="0"/>
                  <a:cs typeface="Times New Roman" pitchFamily="18" charset="0"/>
                </a:rPr>
                <a:t>М</a:t>
              </a:r>
              <a:r>
                <a:rPr lang="en-US" sz="1200" baseline="-25000">
                  <a:latin typeface="Times New Roman" pitchFamily="18" charset="0"/>
                  <a:cs typeface="Times New Roman" pitchFamily="18" charset="0"/>
                </a:rPr>
                <a:t>i</a:t>
              </a:r>
              <a:endParaRPr lang="ru-RU" sz="1200">
                <a:latin typeface="Times New Roman" pitchFamily="18" charset="0"/>
                <a:cs typeface="Times New Roman" pitchFamily="18" charset="0"/>
              </a:endParaRPr>
            </a:p>
          </p:txBody>
        </p:sp>
        <p:cxnSp>
          <p:nvCxnSpPr>
            <p:cNvPr id="19717" name="AutoShape 220"/>
            <p:cNvCxnSpPr>
              <a:cxnSpLocks noChangeShapeType="1"/>
            </p:cNvCxnSpPr>
            <p:nvPr/>
          </p:nvCxnSpPr>
          <p:spPr bwMode="auto">
            <a:xfrm>
              <a:off x="4473" y="5663"/>
              <a:ext cx="1" cy="56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9718" name="AutoShape 221"/>
            <p:cNvCxnSpPr>
              <a:cxnSpLocks noChangeShapeType="1"/>
            </p:cNvCxnSpPr>
            <p:nvPr/>
          </p:nvCxnSpPr>
          <p:spPr bwMode="auto">
            <a:xfrm>
              <a:off x="2566" y="5359"/>
              <a:ext cx="654"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9719" name="Rectangle 222"/>
            <p:cNvSpPr>
              <a:spLocks noChangeArrowheads="1"/>
            </p:cNvSpPr>
            <p:nvPr/>
          </p:nvSpPr>
          <p:spPr bwMode="auto">
            <a:xfrm>
              <a:off x="9707" y="3536"/>
              <a:ext cx="1246" cy="533"/>
            </a:xfrm>
            <a:prstGeom prst="rect">
              <a:avLst/>
            </a:prstGeom>
            <a:solidFill>
              <a:srgbClr val="FFFFFF"/>
            </a:solidFill>
            <a:ln w="9525">
              <a:solidFill>
                <a:srgbClr val="000000"/>
              </a:solidFill>
              <a:miter lim="800000"/>
              <a:headEnd/>
              <a:tailEnd/>
            </a:ln>
          </p:spPr>
          <p:txBody>
            <a:bodyPr/>
            <a:lstStyle/>
            <a:p>
              <a:pPr algn="ctr"/>
              <a:r>
                <a:rPr lang="en-US" sz="1200">
                  <a:latin typeface="Times New Roman" pitchFamily="18" charset="0"/>
                  <a:cs typeface="Times New Roman" pitchFamily="18" charset="0"/>
                </a:rPr>
                <a:t>H||h</a:t>
              </a:r>
              <a:r>
                <a:rPr lang="en-US" sz="1200" baseline="-25000">
                  <a:latin typeface="Times New Roman" pitchFamily="18" charset="0"/>
                  <a:cs typeface="Times New Roman" pitchFamily="18" charset="0"/>
                </a:rPr>
                <a:t>j</a:t>
              </a:r>
              <a:r>
                <a:rPr lang="en-US" sz="1200">
                  <a:latin typeface="Times New Roman" pitchFamily="18" charset="0"/>
                  <a:cs typeface="Times New Roman" pitchFamily="18" charset="0"/>
                </a:rPr>
                <a:t>…</a:t>
              </a:r>
              <a:endParaRPr lang="ru-RU" sz="1200">
                <a:latin typeface="Times New Roman" pitchFamily="18" charset="0"/>
                <a:cs typeface="Times New Roman" pitchFamily="18" charset="0"/>
              </a:endParaRPr>
            </a:p>
          </p:txBody>
        </p:sp>
        <p:cxnSp>
          <p:nvCxnSpPr>
            <p:cNvPr id="19720" name="AutoShape 223"/>
            <p:cNvCxnSpPr>
              <a:cxnSpLocks noChangeShapeType="1"/>
            </p:cNvCxnSpPr>
            <p:nvPr/>
          </p:nvCxnSpPr>
          <p:spPr bwMode="auto">
            <a:xfrm flipH="1">
              <a:off x="1503" y="5939"/>
              <a:ext cx="2418" cy="1"/>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9721" name="AutoShape 224"/>
            <p:cNvCxnSpPr>
              <a:cxnSpLocks noChangeShapeType="1"/>
            </p:cNvCxnSpPr>
            <p:nvPr/>
          </p:nvCxnSpPr>
          <p:spPr bwMode="auto">
            <a:xfrm flipH="1">
              <a:off x="1082" y="6224"/>
              <a:ext cx="3391" cy="1"/>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9722" name="AutoShape 225"/>
            <p:cNvCxnSpPr>
              <a:cxnSpLocks noChangeShapeType="1"/>
            </p:cNvCxnSpPr>
            <p:nvPr/>
          </p:nvCxnSpPr>
          <p:spPr bwMode="auto">
            <a:xfrm flipV="1">
              <a:off x="1082" y="4807"/>
              <a:ext cx="0" cy="1417"/>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9723" name="AutoShape 226"/>
            <p:cNvCxnSpPr>
              <a:cxnSpLocks noChangeShapeType="1"/>
            </p:cNvCxnSpPr>
            <p:nvPr/>
          </p:nvCxnSpPr>
          <p:spPr bwMode="auto">
            <a:xfrm flipV="1">
              <a:off x="1503" y="5282"/>
              <a:ext cx="0" cy="657"/>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9724" name="AutoShape 227"/>
            <p:cNvCxnSpPr>
              <a:cxnSpLocks noChangeShapeType="1"/>
            </p:cNvCxnSpPr>
            <p:nvPr/>
          </p:nvCxnSpPr>
          <p:spPr bwMode="auto">
            <a:xfrm>
              <a:off x="1503" y="5283"/>
              <a:ext cx="299"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9725" name="AutoShape 228"/>
            <p:cNvCxnSpPr>
              <a:cxnSpLocks noChangeShapeType="1"/>
            </p:cNvCxnSpPr>
            <p:nvPr/>
          </p:nvCxnSpPr>
          <p:spPr bwMode="auto">
            <a:xfrm>
              <a:off x="1082" y="4798"/>
              <a:ext cx="801"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9726" name="AutoShape 229"/>
            <p:cNvCxnSpPr>
              <a:cxnSpLocks noChangeShapeType="1"/>
            </p:cNvCxnSpPr>
            <p:nvPr/>
          </p:nvCxnSpPr>
          <p:spPr bwMode="auto">
            <a:xfrm flipV="1">
              <a:off x="7532" y="4742"/>
              <a:ext cx="619" cy="18"/>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54" name="Rectangle 230"/>
            <p:cNvSpPr>
              <a:spLocks noChangeArrowheads="1"/>
            </p:cNvSpPr>
            <p:nvPr/>
          </p:nvSpPr>
          <p:spPr bwMode="auto">
            <a:xfrm>
              <a:off x="5145" y="4806"/>
              <a:ext cx="868" cy="408"/>
            </a:xfrm>
            <a:prstGeom prst="rect">
              <a:avLst/>
            </a:prstGeom>
            <a:ln w="9525">
              <a:noFill/>
              <a:miter lim="800000"/>
              <a:headEnd/>
              <a:tailEnd/>
            </a:ln>
          </p:spPr>
          <p:style>
            <a:lnRef idx="0">
              <a:scrgbClr r="0" g="0" b="0"/>
            </a:lnRef>
            <a:fillRef idx="1001">
              <a:schemeClr val="lt2"/>
            </a:fillRef>
            <a:effectRef idx="0">
              <a:scrgbClr r="0" g="0" b="0"/>
            </a:effectRef>
            <a:fontRef idx="major"/>
          </p:style>
          <p:txBody>
            <a:bodyPr upright="1"/>
            <a:lstStyle/>
            <a:p>
              <a:pPr fontAlgn="auto">
                <a:spcBef>
                  <a:spcPts val="0"/>
                </a:spcBef>
                <a:spcAft>
                  <a:spcPts val="0"/>
                </a:spcAft>
                <a:defRPr/>
              </a:pPr>
              <a:r>
                <a:rPr lang="en-US" sz="1200" dirty="0">
                  <a:latin typeface="Times New Roman"/>
                  <a:ea typeface="Times New Roman"/>
                </a:rPr>
                <a:t>i&gt;n</a:t>
              </a:r>
              <a:endParaRPr lang="ru-RU" sz="1200" dirty="0">
                <a:latin typeface="Times New Roman"/>
                <a:ea typeface="Times New Roman"/>
              </a:endParaRPr>
            </a:p>
          </p:txBody>
        </p:sp>
        <p:grpSp>
          <p:nvGrpSpPr>
            <p:cNvPr id="19728" name="Group 231"/>
            <p:cNvGrpSpPr>
              <a:grpSpLocks/>
            </p:cNvGrpSpPr>
            <p:nvPr/>
          </p:nvGrpSpPr>
          <p:grpSpPr bwMode="auto">
            <a:xfrm>
              <a:off x="1740" y="2255"/>
              <a:ext cx="8196" cy="533"/>
              <a:chOff x="2283" y="1967"/>
              <a:chExt cx="8196" cy="533"/>
            </a:xfrm>
          </p:grpSpPr>
          <p:sp>
            <p:nvSpPr>
              <p:cNvPr id="19752" name="Rectangle 232"/>
              <p:cNvSpPr>
                <a:spLocks noChangeArrowheads="1"/>
              </p:cNvSpPr>
              <p:nvPr/>
            </p:nvSpPr>
            <p:spPr bwMode="auto">
              <a:xfrm>
                <a:off x="2283" y="1967"/>
                <a:ext cx="683" cy="533"/>
              </a:xfrm>
              <a:prstGeom prst="rect">
                <a:avLst/>
              </a:prstGeom>
              <a:solidFill>
                <a:srgbClr val="FFFFFF"/>
              </a:solidFill>
              <a:ln w="9525">
                <a:solidFill>
                  <a:srgbClr val="000000"/>
                </a:solidFill>
                <a:miter lim="800000"/>
                <a:headEnd/>
                <a:tailEnd/>
              </a:ln>
            </p:spPr>
            <p:txBody>
              <a:bodyPr/>
              <a:lstStyle/>
              <a:p>
                <a:r>
                  <a:rPr lang="uz-Cyrl-UZ" sz="1200">
                    <a:latin typeface="Times New Roman" pitchFamily="18" charset="0"/>
                    <a:cs typeface="Times New Roman" pitchFamily="18" charset="0"/>
                  </a:rPr>
                  <a:t>М</a:t>
                </a:r>
                <a:r>
                  <a:rPr lang="en-US" sz="1200" baseline="-25000">
                    <a:latin typeface="Times New Roman" pitchFamily="18" charset="0"/>
                    <a:cs typeface="Times New Roman" pitchFamily="18" charset="0"/>
                  </a:rPr>
                  <a:t>0</a:t>
                </a:r>
                <a:endParaRPr lang="ru-RU" sz="1200">
                  <a:latin typeface="Times New Roman" pitchFamily="18" charset="0"/>
                  <a:cs typeface="Times New Roman" pitchFamily="18" charset="0"/>
                </a:endParaRPr>
              </a:p>
            </p:txBody>
          </p:sp>
          <p:sp>
            <p:nvSpPr>
              <p:cNvPr id="19753" name="Rectangle 233"/>
              <p:cNvSpPr>
                <a:spLocks noChangeArrowheads="1"/>
              </p:cNvSpPr>
              <p:nvPr/>
            </p:nvSpPr>
            <p:spPr bwMode="auto">
              <a:xfrm>
                <a:off x="2966" y="1967"/>
                <a:ext cx="683" cy="533"/>
              </a:xfrm>
              <a:prstGeom prst="rect">
                <a:avLst/>
              </a:prstGeom>
              <a:solidFill>
                <a:srgbClr val="FFFFFF"/>
              </a:solidFill>
              <a:ln w="9525">
                <a:solidFill>
                  <a:srgbClr val="000000"/>
                </a:solidFill>
                <a:miter lim="800000"/>
                <a:headEnd/>
                <a:tailEnd/>
              </a:ln>
            </p:spPr>
            <p:txBody>
              <a:bodyPr/>
              <a:lstStyle/>
              <a:p>
                <a:r>
                  <a:rPr lang="uz-Cyrl-UZ" sz="1200">
                    <a:latin typeface="Times New Roman" pitchFamily="18" charset="0"/>
                    <a:cs typeface="Times New Roman" pitchFamily="18" charset="0"/>
                  </a:rPr>
                  <a:t>М</a:t>
                </a:r>
                <a:r>
                  <a:rPr lang="en-US" sz="1200" baseline="-25000">
                    <a:latin typeface="Times New Roman" pitchFamily="18" charset="0"/>
                    <a:cs typeface="Times New Roman" pitchFamily="18" charset="0"/>
                  </a:rPr>
                  <a:t>1</a:t>
                </a:r>
                <a:endParaRPr lang="ru-RU" sz="1200">
                  <a:latin typeface="Times New Roman" pitchFamily="18" charset="0"/>
                  <a:cs typeface="Times New Roman" pitchFamily="18" charset="0"/>
                </a:endParaRPr>
              </a:p>
            </p:txBody>
          </p:sp>
          <p:sp>
            <p:nvSpPr>
              <p:cNvPr id="19754" name="Rectangle 234"/>
              <p:cNvSpPr>
                <a:spLocks noChangeArrowheads="1"/>
              </p:cNvSpPr>
              <p:nvPr/>
            </p:nvSpPr>
            <p:spPr bwMode="auto">
              <a:xfrm>
                <a:off x="3649" y="1967"/>
                <a:ext cx="683" cy="533"/>
              </a:xfrm>
              <a:prstGeom prst="rect">
                <a:avLst/>
              </a:prstGeom>
              <a:solidFill>
                <a:srgbClr val="FFFFFF"/>
              </a:solidFill>
              <a:ln w="9525">
                <a:solidFill>
                  <a:srgbClr val="000000"/>
                </a:solidFill>
                <a:miter lim="800000"/>
                <a:headEnd/>
                <a:tailEnd/>
              </a:ln>
            </p:spPr>
            <p:txBody>
              <a:bodyPr/>
              <a:lstStyle/>
              <a:p>
                <a:r>
                  <a:rPr lang="uz-Cyrl-UZ" sz="1200">
                    <a:latin typeface="Times New Roman" pitchFamily="18" charset="0"/>
                    <a:cs typeface="Times New Roman" pitchFamily="18" charset="0"/>
                  </a:rPr>
                  <a:t>М</a:t>
                </a:r>
                <a:r>
                  <a:rPr lang="en-US" sz="1200" baseline="-25000">
                    <a:latin typeface="Times New Roman" pitchFamily="18" charset="0"/>
                    <a:cs typeface="Times New Roman" pitchFamily="18" charset="0"/>
                  </a:rPr>
                  <a:t>2</a:t>
                </a:r>
                <a:endParaRPr lang="ru-RU" sz="1200">
                  <a:latin typeface="Times New Roman" pitchFamily="18" charset="0"/>
                  <a:cs typeface="Times New Roman" pitchFamily="18" charset="0"/>
                </a:endParaRPr>
              </a:p>
            </p:txBody>
          </p:sp>
          <p:sp>
            <p:nvSpPr>
              <p:cNvPr id="19755" name="Rectangle 235"/>
              <p:cNvSpPr>
                <a:spLocks noChangeArrowheads="1"/>
              </p:cNvSpPr>
              <p:nvPr/>
            </p:nvSpPr>
            <p:spPr bwMode="auto">
              <a:xfrm>
                <a:off x="4332" y="1967"/>
                <a:ext cx="683" cy="533"/>
              </a:xfrm>
              <a:prstGeom prst="rect">
                <a:avLst/>
              </a:prstGeom>
              <a:solidFill>
                <a:srgbClr val="FFFFFF"/>
              </a:solidFill>
              <a:ln w="9525">
                <a:solidFill>
                  <a:srgbClr val="000000"/>
                </a:solidFill>
                <a:miter lim="800000"/>
                <a:headEnd/>
                <a:tailEnd/>
              </a:ln>
            </p:spPr>
            <p:txBody>
              <a:bodyPr/>
              <a:lstStyle/>
              <a:p>
                <a:r>
                  <a:rPr lang="uz-Cyrl-UZ" sz="1200">
                    <a:latin typeface="Times New Roman" pitchFamily="18" charset="0"/>
                    <a:cs typeface="Times New Roman" pitchFamily="18" charset="0"/>
                  </a:rPr>
                  <a:t>М</a:t>
                </a:r>
                <a:r>
                  <a:rPr lang="en-US" sz="1200" baseline="-25000">
                    <a:latin typeface="Times New Roman" pitchFamily="18" charset="0"/>
                    <a:cs typeface="Times New Roman" pitchFamily="18" charset="0"/>
                  </a:rPr>
                  <a:t>3</a:t>
                </a:r>
                <a:endParaRPr lang="ru-RU" sz="1200">
                  <a:latin typeface="Times New Roman" pitchFamily="18" charset="0"/>
                  <a:cs typeface="Times New Roman" pitchFamily="18" charset="0"/>
                </a:endParaRPr>
              </a:p>
            </p:txBody>
          </p:sp>
          <p:sp>
            <p:nvSpPr>
              <p:cNvPr id="19756" name="Rectangle 236"/>
              <p:cNvSpPr>
                <a:spLocks noChangeArrowheads="1"/>
              </p:cNvSpPr>
              <p:nvPr/>
            </p:nvSpPr>
            <p:spPr bwMode="auto">
              <a:xfrm>
                <a:off x="5015" y="1967"/>
                <a:ext cx="683" cy="533"/>
              </a:xfrm>
              <a:prstGeom prst="rect">
                <a:avLst/>
              </a:prstGeom>
              <a:solidFill>
                <a:srgbClr val="FFFFFF"/>
              </a:solidFill>
              <a:ln w="9525">
                <a:solidFill>
                  <a:srgbClr val="000000"/>
                </a:solidFill>
                <a:miter lim="800000"/>
                <a:headEnd/>
                <a:tailEnd/>
              </a:ln>
            </p:spPr>
            <p:txBody>
              <a:bodyPr/>
              <a:lstStyle/>
              <a:p>
                <a:r>
                  <a:rPr lang="uz-Cyrl-UZ" sz="1200">
                    <a:latin typeface="Times New Roman" pitchFamily="18" charset="0"/>
                    <a:cs typeface="Times New Roman" pitchFamily="18" charset="0"/>
                  </a:rPr>
                  <a:t>М</a:t>
                </a:r>
                <a:r>
                  <a:rPr lang="en-US" sz="1200" baseline="-25000">
                    <a:latin typeface="Times New Roman" pitchFamily="18" charset="0"/>
                    <a:cs typeface="Times New Roman" pitchFamily="18" charset="0"/>
                  </a:rPr>
                  <a:t>4</a:t>
                </a:r>
                <a:endParaRPr lang="ru-RU" sz="1200">
                  <a:latin typeface="Times New Roman" pitchFamily="18" charset="0"/>
                  <a:cs typeface="Times New Roman" pitchFamily="18" charset="0"/>
                </a:endParaRPr>
              </a:p>
            </p:txBody>
          </p:sp>
          <p:sp>
            <p:nvSpPr>
              <p:cNvPr id="19757" name="Rectangle 237"/>
              <p:cNvSpPr>
                <a:spLocks noChangeArrowheads="1"/>
              </p:cNvSpPr>
              <p:nvPr/>
            </p:nvSpPr>
            <p:spPr bwMode="auto">
              <a:xfrm>
                <a:off x="5698" y="1967"/>
                <a:ext cx="683" cy="533"/>
              </a:xfrm>
              <a:prstGeom prst="rect">
                <a:avLst/>
              </a:prstGeom>
              <a:solidFill>
                <a:srgbClr val="FFFFFF"/>
              </a:solidFill>
              <a:ln w="9525">
                <a:solidFill>
                  <a:srgbClr val="000000"/>
                </a:solidFill>
                <a:miter lim="800000"/>
                <a:headEnd/>
                <a:tailEnd/>
              </a:ln>
            </p:spPr>
            <p:txBody>
              <a:bodyPr/>
              <a:lstStyle/>
              <a:p>
                <a:r>
                  <a:rPr lang="en-US" sz="1200">
                    <a:latin typeface="Times New Roman" pitchFamily="18" charset="0"/>
                    <a:cs typeface="Times New Roman" pitchFamily="18" charset="0"/>
                  </a:rPr>
                  <a:t>…</a:t>
                </a:r>
                <a:endParaRPr lang="ru-RU" sz="1200">
                  <a:latin typeface="Times New Roman" pitchFamily="18" charset="0"/>
                  <a:cs typeface="Times New Roman" pitchFamily="18" charset="0"/>
                </a:endParaRPr>
              </a:p>
              <a:p>
                <a:r>
                  <a:rPr lang="en-US" sz="1200" baseline="-25000">
                    <a:latin typeface="Times New Roman" pitchFamily="18" charset="0"/>
                    <a:cs typeface="Times New Roman" pitchFamily="18" charset="0"/>
                  </a:rPr>
                  <a:t> </a:t>
                </a:r>
                <a:endParaRPr lang="ru-RU" sz="1200">
                  <a:latin typeface="Times New Roman" pitchFamily="18" charset="0"/>
                  <a:cs typeface="Times New Roman" pitchFamily="18" charset="0"/>
                </a:endParaRPr>
              </a:p>
            </p:txBody>
          </p:sp>
          <p:sp>
            <p:nvSpPr>
              <p:cNvPr id="19758" name="Rectangle 238"/>
              <p:cNvSpPr>
                <a:spLocks noChangeArrowheads="1"/>
              </p:cNvSpPr>
              <p:nvPr/>
            </p:nvSpPr>
            <p:spPr bwMode="auto">
              <a:xfrm>
                <a:off x="6381" y="1967"/>
                <a:ext cx="683" cy="533"/>
              </a:xfrm>
              <a:prstGeom prst="rect">
                <a:avLst/>
              </a:prstGeom>
              <a:solidFill>
                <a:srgbClr val="FFFFFF"/>
              </a:solidFill>
              <a:ln w="9525">
                <a:solidFill>
                  <a:srgbClr val="000000"/>
                </a:solidFill>
                <a:miter lim="800000"/>
                <a:headEnd/>
                <a:tailEnd/>
              </a:ln>
            </p:spPr>
            <p:txBody>
              <a:bodyPr/>
              <a:lstStyle/>
              <a:p>
                <a:r>
                  <a:rPr lang="en-US" sz="1200">
                    <a:latin typeface="Times New Roman" pitchFamily="18" charset="0"/>
                    <a:cs typeface="Times New Roman" pitchFamily="18" charset="0"/>
                  </a:rPr>
                  <a:t>…</a:t>
                </a:r>
                <a:endParaRPr lang="ru-RU" sz="1200">
                  <a:latin typeface="Times New Roman" pitchFamily="18" charset="0"/>
                  <a:cs typeface="Times New Roman" pitchFamily="18" charset="0"/>
                </a:endParaRPr>
              </a:p>
            </p:txBody>
          </p:sp>
          <p:sp>
            <p:nvSpPr>
              <p:cNvPr id="19759" name="Rectangle 239"/>
              <p:cNvSpPr>
                <a:spLocks noChangeArrowheads="1"/>
              </p:cNvSpPr>
              <p:nvPr/>
            </p:nvSpPr>
            <p:spPr bwMode="auto">
              <a:xfrm>
                <a:off x="7064" y="1967"/>
                <a:ext cx="683" cy="533"/>
              </a:xfrm>
              <a:prstGeom prst="rect">
                <a:avLst/>
              </a:prstGeom>
              <a:solidFill>
                <a:srgbClr val="FFFFFF"/>
              </a:solidFill>
              <a:ln w="9525">
                <a:solidFill>
                  <a:srgbClr val="000000"/>
                </a:solidFill>
                <a:miter lim="800000"/>
                <a:headEnd/>
                <a:tailEnd/>
              </a:ln>
            </p:spPr>
            <p:txBody>
              <a:bodyPr/>
              <a:lstStyle/>
              <a:p>
                <a:r>
                  <a:rPr lang="en-US" sz="1200">
                    <a:latin typeface="Times New Roman" pitchFamily="18" charset="0"/>
                    <a:cs typeface="Times New Roman" pitchFamily="18" charset="0"/>
                  </a:rPr>
                  <a:t>…</a:t>
                </a:r>
                <a:endParaRPr lang="ru-RU" sz="1200">
                  <a:latin typeface="Times New Roman" pitchFamily="18" charset="0"/>
                  <a:cs typeface="Times New Roman" pitchFamily="18" charset="0"/>
                </a:endParaRPr>
              </a:p>
            </p:txBody>
          </p:sp>
          <p:sp>
            <p:nvSpPr>
              <p:cNvPr id="19760" name="Rectangle 240"/>
              <p:cNvSpPr>
                <a:spLocks noChangeArrowheads="1"/>
              </p:cNvSpPr>
              <p:nvPr/>
            </p:nvSpPr>
            <p:spPr bwMode="auto">
              <a:xfrm>
                <a:off x="7747" y="1967"/>
                <a:ext cx="683" cy="533"/>
              </a:xfrm>
              <a:prstGeom prst="rect">
                <a:avLst/>
              </a:prstGeom>
              <a:solidFill>
                <a:srgbClr val="FFFFFF"/>
              </a:solidFill>
              <a:ln w="9525">
                <a:solidFill>
                  <a:srgbClr val="000000"/>
                </a:solidFill>
                <a:miter lim="800000"/>
                <a:headEnd/>
                <a:tailEnd/>
              </a:ln>
            </p:spPr>
            <p:txBody>
              <a:bodyPr/>
              <a:lstStyle/>
              <a:p>
                <a:r>
                  <a:rPr lang="en-US" sz="1200">
                    <a:latin typeface="Times New Roman" pitchFamily="18" charset="0"/>
                    <a:cs typeface="Times New Roman" pitchFamily="18" charset="0"/>
                  </a:rPr>
                  <a:t>...</a:t>
                </a:r>
                <a:endParaRPr lang="ru-RU" sz="1200">
                  <a:latin typeface="Times New Roman" pitchFamily="18" charset="0"/>
                  <a:cs typeface="Times New Roman" pitchFamily="18" charset="0"/>
                </a:endParaRPr>
              </a:p>
            </p:txBody>
          </p:sp>
          <p:sp>
            <p:nvSpPr>
              <p:cNvPr id="19761" name="Rectangle 241"/>
              <p:cNvSpPr>
                <a:spLocks noChangeArrowheads="1"/>
              </p:cNvSpPr>
              <p:nvPr/>
            </p:nvSpPr>
            <p:spPr bwMode="auto">
              <a:xfrm>
                <a:off x="8359" y="1967"/>
                <a:ext cx="754" cy="533"/>
              </a:xfrm>
              <a:prstGeom prst="rect">
                <a:avLst/>
              </a:prstGeom>
              <a:solidFill>
                <a:srgbClr val="FFFFFF"/>
              </a:solidFill>
              <a:ln w="9525">
                <a:solidFill>
                  <a:srgbClr val="000000"/>
                </a:solidFill>
                <a:miter lim="800000"/>
                <a:headEnd/>
                <a:tailEnd/>
              </a:ln>
            </p:spPr>
            <p:txBody>
              <a:bodyPr/>
              <a:lstStyle/>
              <a:p>
                <a:r>
                  <a:rPr lang="en-US" sz="1200" baseline="-25000">
                    <a:latin typeface="Times New Roman" pitchFamily="18" charset="0"/>
                    <a:cs typeface="Times New Roman" pitchFamily="18" charset="0"/>
                  </a:rPr>
                  <a:t> </a:t>
                </a:r>
                <a:endParaRPr lang="ru-RU" sz="1200">
                  <a:latin typeface="Times New Roman" pitchFamily="18" charset="0"/>
                  <a:cs typeface="Times New Roman" pitchFamily="18" charset="0"/>
                </a:endParaRPr>
              </a:p>
            </p:txBody>
          </p:sp>
          <p:sp>
            <p:nvSpPr>
              <p:cNvPr id="19762" name="Rectangle 242"/>
              <p:cNvSpPr>
                <a:spLocks noChangeArrowheads="1"/>
              </p:cNvSpPr>
              <p:nvPr/>
            </p:nvSpPr>
            <p:spPr bwMode="auto">
              <a:xfrm>
                <a:off x="8993" y="1967"/>
                <a:ext cx="803" cy="533"/>
              </a:xfrm>
              <a:prstGeom prst="rect">
                <a:avLst/>
              </a:prstGeom>
              <a:solidFill>
                <a:srgbClr val="FFFFFF"/>
              </a:solidFill>
              <a:ln w="9525">
                <a:solidFill>
                  <a:srgbClr val="000000"/>
                </a:solidFill>
                <a:miter lim="800000"/>
                <a:headEnd/>
                <a:tailEnd/>
              </a:ln>
            </p:spPr>
            <p:txBody>
              <a:bodyPr/>
              <a:lstStyle/>
              <a:p>
                <a:r>
                  <a:rPr lang="uz-Cyrl-UZ" sz="1200">
                    <a:latin typeface="Times New Roman" pitchFamily="18" charset="0"/>
                    <a:cs typeface="Times New Roman" pitchFamily="18" charset="0"/>
                  </a:rPr>
                  <a:t>М</a:t>
                </a:r>
                <a:r>
                  <a:rPr lang="en-US" sz="1200" baseline="-25000">
                    <a:latin typeface="Times New Roman" pitchFamily="18" charset="0"/>
                    <a:cs typeface="Times New Roman" pitchFamily="18" charset="0"/>
                  </a:rPr>
                  <a:t>n-1</a:t>
                </a:r>
                <a:endParaRPr lang="ru-RU" sz="1200">
                  <a:latin typeface="Times New Roman" pitchFamily="18" charset="0"/>
                  <a:cs typeface="Times New Roman" pitchFamily="18" charset="0"/>
                </a:endParaRPr>
              </a:p>
              <a:p>
                <a:r>
                  <a:rPr lang="en-US" sz="1200" baseline="-25000">
                    <a:latin typeface="Times New Roman" pitchFamily="18" charset="0"/>
                    <a:cs typeface="Times New Roman" pitchFamily="18" charset="0"/>
                  </a:rPr>
                  <a:t> </a:t>
                </a:r>
                <a:endParaRPr lang="ru-RU" sz="1200">
                  <a:latin typeface="Times New Roman" pitchFamily="18" charset="0"/>
                  <a:cs typeface="Times New Roman" pitchFamily="18" charset="0"/>
                </a:endParaRPr>
              </a:p>
            </p:txBody>
          </p:sp>
          <p:sp>
            <p:nvSpPr>
              <p:cNvPr id="19763" name="Rectangle 243"/>
              <p:cNvSpPr>
                <a:spLocks noChangeArrowheads="1"/>
              </p:cNvSpPr>
              <p:nvPr/>
            </p:nvSpPr>
            <p:spPr bwMode="auto">
              <a:xfrm>
                <a:off x="9796" y="1967"/>
                <a:ext cx="683" cy="533"/>
              </a:xfrm>
              <a:prstGeom prst="rect">
                <a:avLst/>
              </a:prstGeom>
              <a:solidFill>
                <a:srgbClr val="FFFFFF"/>
              </a:solidFill>
              <a:ln w="9525">
                <a:solidFill>
                  <a:srgbClr val="000000"/>
                </a:solidFill>
                <a:miter lim="800000"/>
                <a:headEnd/>
                <a:tailEnd/>
              </a:ln>
            </p:spPr>
            <p:txBody>
              <a:bodyPr/>
              <a:lstStyle/>
              <a:p>
                <a:r>
                  <a:rPr lang="uz-Cyrl-UZ" sz="1200">
                    <a:latin typeface="Times New Roman" pitchFamily="18" charset="0"/>
                    <a:cs typeface="Times New Roman" pitchFamily="18" charset="0"/>
                  </a:rPr>
                  <a:t>М</a:t>
                </a:r>
                <a:r>
                  <a:rPr lang="en-US" sz="1200" baseline="-25000">
                    <a:latin typeface="Times New Roman" pitchFamily="18" charset="0"/>
                    <a:cs typeface="Times New Roman" pitchFamily="18" charset="0"/>
                  </a:rPr>
                  <a:t>n</a:t>
                </a:r>
                <a:endParaRPr lang="ru-RU" sz="1200">
                  <a:latin typeface="Times New Roman" pitchFamily="18" charset="0"/>
                  <a:cs typeface="Times New Roman" pitchFamily="18" charset="0"/>
                </a:endParaRPr>
              </a:p>
            </p:txBody>
          </p:sp>
        </p:grpSp>
        <p:cxnSp>
          <p:nvCxnSpPr>
            <p:cNvPr id="19729" name="AutoShape 244"/>
            <p:cNvCxnSpPr>
              <a:cxnSpLocks noChangeShapeType="1"/>
            </p:cNvCxnSpPr>
            <p:nvPr/>
          </p:nvCxnSpPr>
          <p:spPr bwMode="auto">
            <a:xfrm>
              <a:off x="2909" y="2788"/>
              <a:ext cx="0" cy="554"/>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9730" name="AutoShape 245"/>
            <p:cNvCxnSpPr>
              <a:cxnSpLocks noChangeShapeType="1"/>
            </p:cNvCxnSpPr>
            <p:nvPr/>
          </p:nvCxnSpPr>
          <p:spPr bwMode="auto">
            <a:xfrm>
              <a:off x="8852" y="5625"/>
              <a:ext cx="0" cy="277"/>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9731" name="Rectangle 246"/>
            <p:cNvSpPr>
              <a:spLocks noChangeArrowheads="1"/>
            </p:cNvSpPr>
            <p:nvPr/>
          </p:nvSpPr>
          <p:spPr bwMode="auto">
            <a:xfrm>
              <a:off x="6814" y="4489"/>
              <a:ext cx="683" cy="991"/>
            </a:xfrm>
            <a:prstGeom prst="rect">
              <a:avLst/>
            </a:prstGeom>
            <a:solidFill>
              <a:srgbClr val="FFFFFF"/>
            </a:solidFill>
            <a:ln w="9525">
              <a:solidFill>
                <a:srgbClr val="000000"/>
              </a:solidFill>
              <a:miter lim="800000"/>
              <a:headEnd/>
              <a:tailEnd/>
            </a:ln>
          </p:spPr>
          <p:txBody>
            <a:bodyPr/>
            <a:lstStyle/>
            <a:p>
              <a:r>
                <a:rPr lang="en-US" sz="1200">
                  <a:latin typeface="Times New Roman" pitchFamily="18" charset="0"/>
                  <a:cs typeface="Times New Roman" pitchFamily="18" charset="0"/>
                </a:rPr>
                <a:t>S</a:t>
              </a:r>
              <a:r>
                <a:rPr lang="en-US" sz="1200" baseline="-25000">
                  <a:latin typeface="Times New Roman" pitchFamily="18" charset="0"/>
                  <a:cs typeface="Times New Roman" pitchFamily="18" charset="0"/>
                </a:rPr>
                <a:t>1</a:t>
              </a:r>
              <a:endParaRPr lang="ru-RU" sz="1200">
                <a:latin typeface="Times New Roman" pitchFamily="18" charset="0"/>
                <a:cs typeface="Times New Roman" pitchFamily="18" charset="0"/>
              </a:endParaRPr>
            </a:p>
            <a:p>
              <a:r>
                <a:rPr lang="en-US" sz="1200">
                  <a:latin typeface="Times New Roman" pitchFamily="18" charset="0"/>
                  <a:cs typeface="Times New Roman" pitchFamily="18" charset="0"/>
                </a:rPr>
                <a:t> </a:t>
              </a:r>
              <a:endParaRPr lang="ru-RU" sz="1200">
                <a:latin typeface="Times New Roman" pitchFamily="18" charset="0"/>
                <a:cs typeface="Times New Roman" pitchFamily="18" charset="0"/>
              </a:endParaRPr>
            </a:p>
            <a:p>
              <a:r>
                <a:rPr lang="en-US" sz="1200">
                  <a:latin typeface="Times New Roman" pitchFamily="18" charset="0"/>
                  <a:cs typeface="Times New Roman" pitchFamily="18" charset="0"/>
                </a:rPr>
                <a:t>S</a:t>
              </a:r>
              <a:r>
                <a:rPr lang="en-US" sz="1200" baseline="-25000">
                  <a:latin typeface="Times New Roman" pitchFamily="18" charset="0"/>
                  <a:cs typeface="Times New Roman" pitchFamily="18" charset="0"/>
                </a:rPr>
                <a:t>2</a:t>
              </a:r>
              <a:endParaRPr lang="ru-RU" sz="1200">
                <a:latin typeface="Times New Roman" pitchFamily="18" charset="0"/>
                <a:cs typeface="Times New Roman" pitchFamily="18" charset="0"/>
              </a:endParaRPr>
            </a:p>
          </p:txBody>
        </p:sp>
        <p:cxnSp>
          <p:nvCxnSpPr>
            <p:cNvPr id="19732" name="AutoShape 247"/>
            <p:cNvCxnSpPr>
              <a:cxnSpLocks noChangeShapeType="1"/>
            </p:cNvCxnSpPr>
            <p:nvPr/>
          </p:nvCxnSpPr>
          <p:spPr bwMode="auto">
            <a:xfrm>
              <a:off x="7816" y="3759"/>
              <a:ext cx="1891"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9733" name="Rectangle 248"/>
            <p:cNvSpPr>
              <a:spLocks noChangeArrowheads="1"/>
            </p:cNvSpPr>
            <p:nvPr/>
          </p:nvSpPr>
          <p:spPr bwMode="auto">
            <a:xfrm>
              <a:off x="8151" y="4352"/>
              <a:ext cx="1842" cy="1273"/>
            </a:xfrm>
            <a:prstGeom prst="rect">
              <a:avLst/>
            </a:prstGeom>
            <a:solidFill>
              <a:srgbClr val="FFFFFF"/>
            </a:solidFill>
            <a:ln w="9525">
              <a:solidFill>
                <a:srgbClr val="000000"/>
              </a:solidFill>
              <a:miter lim="800000"/>
              <a:headEnd/>
              <a:tailEnd/>
            </a:ln>
          </p:spPr>
          <p:txBody>
            <a:bodyPr/>
            <a:lstStyle/>
            <a:p>
              <a:r>
                <a:rPr lang="en-US" sz="1000">
                  <a:latin typeface="Times New Roman" pitchFamily="18" charset="0"/>
                  <a:cs typeface="Times New Roman" pitchFamily="18" charset="0"/>
                </a:rPr>
                <a:t> </a:t>
              </a:r>
              <a:endParaRPr lang="ru-RU" sz="1200">
                <a:latin typeface="Times New Roman" pitchFamily="18" charset="0"/>
                <a:cs typeface="Times New Roman" pitchFamily="18" charset="0"/>
              </a:endParaRPr>
            </a:p>
            <a:p>
              <a:pPr algn="ctr"/>
              <a:r>
                <a:rPr lang="en-US" sz="1200">
                  <a:latin typeface="Times New Roman" pitchFamily="18" charset="0"/>
                  <a:cs typeface="Times New Roman" pitchFamily="18" charset="0"/>
                </a:rPr>
                <a:t>f-</a:t>
              </a:r>
              <a:r>
                <a:rPr lang="uz-Cyrl-UZ" sz="1200">
                  <a:latin typeface="Times New Roman" pitchFamily="18" charset="0"/>
                  <a:cs typeface="Times New Roman" pitchFamily="18" charset="0"/>
                </a:rPr>
                <a:t>Сиқиш функция</a:t>
              </a:r>
              <a:endParaRPr lang="ru-RU" sz="1200">
                <a:latin typeface="Times New Roman" pitchFamily="18" charset="0"/>
                <a:cs typeface="Times New Roman" pitchFamily="18" charset="0"/>
              </a:endParaRPr>
            </a:p>
          </p:txBody>
        </p:sp>
        <p:cxnSp>
          <p:nvCxnSpPr>
            <p:cNvPr id="19734" name="AutoShape 249"/>
            <p:cNvCxnSpPr>
              <a:cxnSpLocks noChangeShapeType="1"/>
            </p:cNvCxnSpPr>
            <p:nvPr/>
          </p:nvCxnSpPr>
          <p:spPr bwMode="auto">
            <a:xfrm>
              <a:off x="9404" y="5625"/>
              <a:ext cx="1" cy="56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9735" name="AutoShape 250"/>
            <p:cNvCxnSpPr>
              <a:cxnSpLocks noChangeShapeType="1"/>
            </p:cNvCxnSpPr>
            <p:nvPr/>
          </p:nvCxnSpPr>
          <p:spPr bwMode="auto">
            <a:xfrm>
              <a:off x="7497" y="5321"/>
              <a:ext cx="654"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9736" name="AutoShape 251"/>
            <p:cNvCxnSpPr>
              <a:cxnSpLocks noChangeShapeType="1"/>
            </p:cNvCxnSpPr>
            <p:nvPr/>
          </p:nvCxnSpPr>
          <p:spPr bwMode="auto">
            <a:xfrm flipH="1">
              <a:off x="6434" y="5901"/>
              <a:ext cx="2418" cy="1"/>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9737" name="AutoShape 252"/>
            <p:cNvCxnSpPr>
              <a:cxnSpLocks noChangeShapeType="1"/>
            </p:cNvCxnSpPr>
            <p:nvPr/>
          </p:nvCxnSpPr>
          <p:spPr bwMode="auto">
            <a:xfrm flipH="1">
              <a:off x="6013" y="6186"/>
              <a:ext cx="3391" cy="1"/>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9738" name="AutoShape 253"/>
            <p:cNvCxnSpPr>
              <a:cxnSpLocks noChangeShapeType="1"/>
            </p:cNvCxnSpPr>
            <p:nvPr/>
          </p:nvCxnSpPr>
          <p:spPr bwMode="auto">
            <a:xfrm flipV="1">
              <a:off x="6013" y="4769"/>
              <a:ext cx="0" cy="1417"/>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9739" name="AutoShape 254"/>
            <p:cNvCxnSpPr>
              <a:cxnSpLocks noChangeShapeType="1"/>
            </p:cNvCxnSpPr>
            <p:nvPr/>
          </p:nvCxnSpPr>
          <p:spPr bwMode="auto">
            <a:xfrm flipV="1">
              <a:off x="6434" y="5244"/>
              <a:ext cx="0" cy="657"/>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9740" name="AutoShape 255"/>
            <p:cNvCxnSpPr>
              <a:cxnSpLocks noChangeShapeType="1"/>
            </p:cNvCxnSpPr>
            <p:nvPr/>
          </p:nvCxnSpPr>
          <p:spPr bwMode="auto">
            <a:xfrm>
              <a:off x="6434" y="5245"/>
              <a:ext cx="299"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9741" name="AutoShape 256"/>
            <p:cNvCxnSpPr>
              <a:cxnSpLocks noChangeShapeType="1"/>
            </p:cNvCxnSpPr>
            <p:nvPr/>
          </p:nvCxnSpPr>
          <p:spPr bwMode="auto">
            <a:xfrm>
              <a:off x="6013" y="4760"/>
              <a:ext cx="801"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69" name="Rectangle 257"/>
            <p:cNvSpPr>
              <a:spLocks noChangeArrowheads="1"/>
            </p:cNvSpPr>
            <p:nvPr/>
          </p:nvSpPr>
          <p:spPr bwMode="auto">
            <a:xfrm>
              <a:off x="7888" y="3817"/>
              <a:ext cx="855" cy="443"/>
            </a:xfrm>
            <a:prstGeom prst="rect">
              <a:avLst/>
            </a:prstGeom>
            <a:ln w="9525">
              <a:noFill/>
              <a:miter lim="800000"/>
              <a:headEnd/>
              <a:tailEnd/>
            </a:ln>
          </p:spPr>
          <p:style>
            <a:lnRef idx="0">
              <a:scrgbClr r="0" g="0" b="0"/>
            </a:lnRef>
            <a:fillRef idx="1001">
              <a:schemeClr val="lt2"/>
            </a:fillRef>
            <a:effectRef idx="0">
              <a:scrgbClr r="0" g="0" b="0"/>
            </a:effectRef>
            <a:fontRef idx="major"/>
          </p:style>
          <p:txBody>
            <a:bodyPr upright="1"/>
            <a:lstStyle/>
            <a:p>
              <a:pPr fontAlgn="auto">
                <a:spcBef>
                  <a:spcPts val="0"/>
                </a:spcBef>
                <a:spcAft>
                  <a:spcPts val="0"/>
                </a:spcAft>
                <a:defRPr/>
              </a:pPr>
              <a:r>
                <a:rPr lang="en-US" sz="1200" dirty="0" err="1">
                  <a:latin typeface="Times New Roman"/>
                  <a:ea typeface="Times New Roman"/>
                </a:rPr>
                <a:t>h</a:t>
              </a:r>
              <a:r>
                <a:rPr lang="en-US" sz="1200" baseline="-25000" dirty="0" err="1">
                  <a:latin typeface="Times New Roman"/>
                  <a:ea typeface="Times New Roman"/>
                </a:rPr>
                <a:t>j</a:t>
              </a:r>
              <a:endParaRPr lang="ru-RU" sz="1200" dirty="0">
                <a:latin typeface="Times New Roman"/>
                <a:ea typeface="Times New Roman"/>
              </a:endParaRPr>
            </a:p>
          </p:txBody>
        </p:sp>
        <p:cxnSp>
          <p:nvCxnSpPr>
            <p:cNvPr id="19743" name="AutoShape 258"/>
            <p:cNvCxnSpPr>
              <a:cxnSpLocks noChangeShapeType="1"/>
            </p:cNvCxnSpPr>
            <p:nvPr/>
          </p:nvCxnSpPr>
          <p:spPr bwMode="auto">
            <a:xfrm flipV="1">
              <a:off x="7816" y="3759"/>
              <a:ext cx="1" cy="1001"/>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71" name="Rectangle 259"/>
            <p:cNvSpPr>
              <a:spLocks noChangeArrowheads="1"/>
            </p:cNvSpPr>
            <p:nvPr/>
          </p:nvSpPr>
          <p:spPr bwMode="auto">
            <a:xfrm>
              <a:off x="7098" y="2936"/>
              <a:ext cx="3946" cy="573"/>
            </a:xfrm>
            <a:prstGeom prst="rect">
              <a:avLst/>
            </a:prstGeom>
            <a:ln w="9525">
              <a:noFill/>
              <a:miter lim="800000"/>
              <a:headEnd/>
              <a:tailEnd/>
            </a:ln>
          </p:spPr>
          <p:style>
            <a:lnRef idx="0">
              <a:scrgbClr r="0" g="0" b="0"/>
            </a:lnRef>
            <a:fillRef idx="1001">
              <a:schemeClr val="lt2"/>
            </a:fillRef>
            <a:effectRef idx="0">
              <a:scrgbClr r="0" g="0" b="0"/>
            </a:effectRef>
            <a:fontRef idx="major"/>
          </p:style>
          <p:txBody>
            <a:bodyPr/>
            <a:lstStyle/>
            <a:p>
              <a:r>
                <a:rPr lang="en-US" sz="1600">
                  <a:latin typeface="Times New Roman" pitchFamily="18" charset="0"/>
                  <a:cs typeface="Times New Roman" pitchFamily="18" charset="0"/>
                </a:rPr>
                <a:t>h</a:t>
              </a:r>
              <a:r>
                <a:rPr lang="en-US" sz="1600" baseline="-25000">
                  <a:latin typeface="Times New Roman" pitchFamily="18" charset="0"/>
                  <a:cs typeface="Times New Roman" pitchFamily="18" charset="0"/>
                </a:rPr>
                <a:t>j</a:t>
              </a:r>
              <a:r>
                <a:rPr lang="en-US" sz="1600">
                  <a:latin typeface="Times New Roman" pitchFamily="18" charset="0"/>
                  <a:cs typeface="Times New Roman" pitchFamily="18" charset="0"/>
                </a:rPr>
                <a:t>={1,2,4,8,16,32,64} </a:t>
              </a:r>
              <a:r>
                <a:rPr lang="ru-RU" sz="1600">
                  <a:latin typeface="Times New Roman" pitchFamily="18" charset="0"/>
                  <a:cs typeface="Times New Roman" pitchFamily="18" charset="0"/>
                </a:rPr>
                <a:t>бит</a:t>
              </a:r>
              <a:endParaRPr lang="ru-RU" sz="1600" baseline="-25000">
                <a:latin typeface="Times New Roman" pitchFamily="18" charset="0"/>
                <a:cs typeface="Times New Roman" pitchFamily="18" charset="0"/>
              </a:endParaRPr>
            </a:p>
          </p:txBody>
        </p:sp>
        <p:grpSp>
          <p:nvGrpSpPr>
            <p:cNvPr id="19745" name="Group 260"/>
            <p:cNvGrpSpPr>
              <a:grpSpLocks/>
            </p:cNvGrpSpPr>
            <p:nvPr/>
          </p:nvGrpSpPr>
          <p:grpSpPr bwMode="auto">
            <a:xfrm>
              <a:off x="2739" y="4653"/>
              <a:ext cx="290" cy="294"/>
              <a:chOff x="5574" y="5076"/>
              <a:chExt cx="290" cy="294"/>
            </a:xfrm>
          </p:grpSpPr>
          <p:sp>
            <p:nvSpPr>
              <p:cNvPr id="19749" name="Oval 261"/>
              <p:cNvSpPr>
                <a:spLocks noChangeArrowheads="1"/>
              </p:cNvSpPr>
              <p:nvPr/>
            </p:nvSpPr>
            <p:spPr bwMode="auto">
              <a:xfrm>
                <a:off x="5574" y="5076"/>
                <a:ext cx="290" cy="294"/>
              </a:xfrm>
              <a:prstGeom prst="ellipse">
                <a:avLst/>
              </a:prstGeom>
              <a:solidFill>
                <a:srgbClr val="FFFFFF"/>
              </a:solidFill>
              <a:ln w="9525">
                <a:solidFill>
                  <a:srgbClr val="000000"/>
                </a:solidFill>
                <a:round/>
                <a:headEnd/>
                <a:tailEnd/>
              </a:ln>
            </p:spPr>
            <p:txBody>
              <a:bodyPr/>
              <a:lstStyle/>
              <a:p>
                <a:endParaRPr lang="uz-Cyrl-UZ"/>
              </a:p>
            </p:txBody>
          </p:sp>
          <p:cxnSp>
            <p:nvCxnSpPr>
              <p:cNvPr id="19750" name="AutoShape 262"/>
              <p:cNvCxnSpPr>
                <a:cxnSpLocks noChangeShapeType="1"/>
              </p:cNvCxnSpPr>
              <p:nvPr/>
            </p:nvCxnSpPr>
            <p:spPr bwMode="auto">
              <a:xfrm>
                <a:off x="5638" y="5225"/>
                <a:ext cx="149"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9751" name="AutoShape 263"/>
              <p:cNvCxnSpPr>
                <a:cxnSpLocks noChangeShapeType="1"/>
              </p:cNvCxnSpPr>
              <p:nvPr/>
            </p:nvCxnSpPr>
            <p:spPr bwMode="auto">
              <a:xfrm flipV="1">
                <a:off x="5719" y="5146"/>
                <a:ext cx="0" cy="154"/>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grpSp>
        <p:cxnSp>
          <p:nvCxnSpPr>
            <p:cNvPr id="19746" name="AutoShape 264"/>
            <p:cNvCxnSpPr>
              <a:cxnSpLocks noChangeShapeType="1"/>
            </p:cNvCxnSpPr>
            <p:nvPr/>
          </p:nvCxnSpPr>
          <p:spPr bwMode="auto">
            <a:xfrm>
              <a:off x="3064" y="4816"/>
              <a:ext cx="156" cy="9"/>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74" name="Rectangle 265"/>
            <p:cNvSpPr>
              <a:spLocks noChangeArrowheads="1"/>
            </p:cNvSpPr>
            <p:nvPr/>
          </p:nvSpPr>
          <p:spPr bwMode="auto">
            <a:xfrm>
              <a:off x="1503" y="6355"/>
              <a:ext cx="3460" cy="465"/>
            </a:xfrm>
            <a:prstGeom prst="rect">
              <a:avLst/>
            </a:prstGeom>
            <a:ln w="9525">
              <a:noFill/>
              <a:miter lim="800000"/>
              <a:headEnd/>
              <a:tailEnd/>
            </a:ln>
          </p:spPr>
          <p:style>
            <a:lnRef idx="0">
              <a:scrgbClr r="0" g="0" b="0"/>
            </a:lnRef>
            <a:fillRef idx="1001">
              <a:schemeClr val="lt2"/>
            </a:fillRef>
            <a:effectRef idx="0">
              <a:scrgbClr r="0" g="0" b="0"/>
            </a:effectRef>
            <a:fontRef idx="major"/>
          </p:style>
          <p:txBody>
            <a:bodyPr/>
            <a:lstStyle/>
            <a:p>
              <a:pPr algn="ctr"/>
              <a:r>
                <a:rPr lang="uz-Cyrl-UZ" sz="1200">
                  <a:latin typeface="Times New Roman" pitchFamily="18" charset="0"/>
                  <a:cs typeface="Times New Roman" pitchFamily="18" charset="0"/>
                </a:rPr>
                <a:t>Ютиш қисми (</a:t>
              </a:r>
              <a:r>
                <a:rPr lang="en-US" sz="1200">
                  <a:latin typeface="Times New Roman" pitchFamily="18" charset="0"/>
                  <a:cs typeface="Times New Roman" pitchFamily="18" charset="0"/>
                </a:rPr>
                <a:t>absorbing)</a:t>
              </a:r>
              <a:endParaRPr lang="ru-RU" sz="1200">
                <a:latin typeface="Times New Roman" pitchFamily="18" charset="0"/>
                <a:cs typeface="Times New Roman" pitchFamily="18" charset="0"/>
              </a:endParaRPr>
            </a:p>
          </p:txBody>
        </p:sp>
        <p:sp>
          <p:nvSpPr>
            <p:cNvPr id="75" name="Rectangle 266"/>
            <p:cNvSpPr>
              <a:spLocks noChangeArrowheads="1"/>
            </p:cNvSpPr>
            <p:nvPr/>
          </p:nvSpPr>
          <p:spPr bwMode="auto">
            <a:xfrm>
              <a:off x="6901" y="6355"/>
              <a:ext cx="3483" cy="465"/>
            </a:xfrm>
            <a:prstGeom prst="rect">
              <a:avLst/>
            </a:prstGeom>
            <a:ln w="9525">
              <a:noFill/>
              <a:miter lim="800000"/>
              <a:headEnd/>
              <a:tailEnd/>
            </a:ln>
          </p:spPr>
          <p:style>
            <a:lnRef idx="0">
              <a:scrgbClr r="0" g="0" b="0"/>
            </a:lnRef>
            <a:fillRef idx="1001">
              <a:schemeClr val="lt2"/>
            </a:fillRef>
            <a:effectRef idx="0">
              <a:scrgbClr r="0" g="0" b="0"/>
            </a:effectRef>
            <a:fontRef idx="major"/>
          </p:style>
          <p:txBody>
            <a:bodyPr/>
            <a:lstStyle/>
            <a:p>
              <a:pPr algn="ctr"/>
              <a:r>
                <a:rPr lang="uz-Cyrl-UZ" sz="1200">
                  <a:latin typeface="Times New Roman" pitchFamily="18" charset="0"/>
                  <a:cs typeface="Times New Roman" pitchFamily="18" charset="0"/>
                </a:rPr>
                <a:t>Сиқиш қисми</a:t>
              </a:r>
              <a:r>
                <a:rPr lang="en-US" sz="1200">
                  <a:latin typeface="Times New Roman" pitchFamily="18" charset="0"/>
                  <a:cs typeface="Times New Roman" pitchFamily="18" charset="0"/>
                </a:rPr>
                <a:t> (squeezing)</a:t>
              </a:r>
              <a:endParaRPr lang="ru-RU" sz="1200">
                <a:latin typeface="Times New Roman" pitchFamily="18" charset="0"/>
                <a:cs typeface="Times New Roman" pitchFamily="18" charset="0"/>
              </a:endParaRPr>
            </a:p>
          </p:txBody>
        </p:sp>
      </p:grpSp>
      <p:sp>
        <p:nvSpPr>
          <p:cNvPr id="91" name="TextBox 90"/>
          <p:cNvSpPr txBox="1">
            <a:spLocks noChangeArrowheads="1"/>
          </p:cNvSpPr>
          <p:nvPr/>
        </p:nvSpPr>
        <p:spPr bwMode="auto">
          <a:xfrm>
            <a:off x="466725" y="1830388"/>
            <a:ext cx="8440738"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600" b="1">
                <a:latin typeface="Times New Roman" pitchFamily="18" charset="0"/>
                <a:cs typeface="Times New Roman" pitchFamily="18" charset="0"/>
              </a:rPr>
              <a:t>R</a:t>
            </a:r>
            <a:r>
              <a:rPr lang="ru-RU" sz="1600" b="1">
                <a:latin typeface="Times New Roman" pitchFamily="18" charset="0"/>
                <a:cs typeface="Times New Roman" pitchFamily="18" charset="0"/>
              </a:rPr>
              <a:t> та</a:t>
            </a:r>
            <a:r>
              <a:rPr lang="en-US" sz="1600" b="1">
                <a:latin typeface="Times New Roman" pitchFamily="18" charset="0"/>
                <a:cs typeface="Times New Roman" pitchFamily="18" charset="0"/>
              </a:rPr>
              <a:t> </a:t>
            </a:r>
            <a:r>
              <a:rPr lang="uz-Cyrl-UZ" sz="1600" b="1">
                <a:latin typeface="Times New Roman" pitchFamily="18" charset="0"/>
                <a:cs typeface="Times New Roman" pitchFamily="18" charset="0"/>
              </a:rPr>
              <a:t>раунддан кейин </a:t>
            </a:r>
            <a:r>
              <a:rPr lang="en-US" sz="1600" b="1">
                <a:latin typeface="Times New Roman" pitchFamily="18" charset="0"/>
                <a:cs typeface="Times New Roman" pitchFamily="18" charset="0"/>
              </a:rPr>
              <a:t>S</a:t>
            </a:r>
            <a:r>
              <a:rPr lang="uz-Cyrl-UZ" sz="1600" b="1">
                <a:latin typeface="Times New Roman" pitchFamily="18" charset="0"/>
                <a:cs typeface="Times New Roman" pitchFamily="18" charset="0"/>
              </a:rPr>
              <a:t> векторнинг барча элементлари қандайдир қийматга эга бўлади ва кейинги </a:t>
            </a:r>
            <a:r>
              <a:rPr lang="en-US" sz="1600" b="1">
                <a:latin typeface="Times New Roman" pitchFamily="18" charset="0"/>
                <a:cs typeface="Times New Roman" pitchFamily="18" charset="0"/>
              </a:rPr>
              <a:t>M</a:t>
            </a:r>
            <a:r>
              <a:rPr lang="en-US" sz="1600" b="1" baseline="-25000">
                <a:latin typeface="Times New Roman" pitchFamily="18" charset="0"/>
                <a:cs typeface="Times New Roman" pitchFamily="18" charset="0"/>
              </a:rPr>
              <a:t>i+1</a:t>
            </a:r>
            <a:r>
              <a:rPr lang="ru-RU" sz="1600" b="1" baseline="-25000">
                <a:latin typeface="Times New Roman" pitchFamily="18" charset="0"/>
                <a:cs typeface="Times New Roman" pitchFamily="18" charset="0"/>
              </a:rPr>
              <a:t> </a:t>
            </a:r>
            <a:r>
              <a:rPr lang="ru-RU" sz="1600" b="1">
                <a:latin typeface="Times New Roman" pitchFamily="18" charset="0"/>
                <a:cs typeface="Times New Roman" pitchFamily="18" charset="0"/>
              </a:rPr>
              <a:t>блокка </a:t>
            </a:r>
            <a:r>
              <a:rPr lang="uz-Cyrl-UZ" sz="1600" b="1">
                <a:latin typeface="Times New Roman" pitchFamily="18" charset="0"/>
                <a:cs typeface="Times New Roman" pitchFamily="18" charset="0"/>
              </a:rPr>
              <a:t>ўтилади.</a:t>
            </a:r>
            <a:r>
              <a:rPr lang="ru-RU" sz="1600" b="1">
                <a:latin typeface="Times New Roman" pitchFamily="18" charset="0"/>
                <a:cs typeface="Times New Roman" pitchFamily="18" charset="0"/>
              </a:rPr>
              <a:t> </a:t>
            </a:r>
          </a:p>
        </p:txBody>
      </p:sp>
      <p:sp>
        <p:nvSpPr>
          <p:cNvPr id="92" name="TextBox 91"/>
          <p:cNvSpPr txBox="1">
            <a:spLocks noChangeArrowheads="1"/>
          </p:cNvSpPr>
          <p:nvPr/>
        </p:nvSpPr>
        <p:spPr bwMode="auto">
          <a:xfrm>
            <a:off x="622300" y="4410075"/>
            <a:ext cx="1574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Times New Roman" pitchFamily="18" charset="0"/>
                <a:cs typeface="Times New Roman" pitchFamily="18" charset="0"/>
              </a:rPr>
              <a:t>S=S</a:t>
            </a:r>
            <a:r>
              <a:rPr lang="en-US" b="1" baseline="-25000">
                <a:latin typeface="Times New Roman" pitchFamily="18" charset="0"/>
                <a:cs typeface="Times New Roman" pitchFamily="18" charset="0"/>
              </a:rPr>
              <a:t>1</a:t>
            </a:r>
            <a:r>
              <a:rPr lang="en-US" b="1">
                <a:latin typeface="Times New Roman" pitchFamily="18" charset="0"/>
                <a:cs typeface="Times New Roman" pitchFamily="18" charset="0"/>
              </a:rPr>
              <a:t>||S</a:t>
            </a:r>
            <a:r>
              <a:rPr lang="en-US" b="1" baseline="-25000">
                <a:latin typeface="Times New Roman" pitchFamily="18" charset="0"/>
                <a:cs typeface="Times New Roman" pitchFamily="18" charset="0"/>
              </a:rPr>
              <a:t>2</a:t>
            </a:r>
            <a:r>
              <a:rPr lang="en-US" b="1">
                <a:latin typeface="Times New Roman" pitchFamily="18" charset="0"/>
                <a:cs typeface="Times New Roman" pitchFamily="18" charset="0"/>
              </a:rPr>
              <a:t>=0</a:t>
            </a:r>
            <a:endParaRPr lang="ru-RU" b="1">
              <a:latin typeface="Times New Roman" pitchFamily="18" charset="0"/>
              <a:cs typeface="Times New Roman" pitchFamily="18" charset="0"/>
            </a:endParaRPr>
          </a:p>
        </p:txBody>
      </p:sp>
      <p:sp>
        <p:nvSpPr>
          <p:cNvPr id="93" name="TextBox 92"/>
          <p:cNvSpPr txBox="1">
            <a:spLocks noChangeArrowheads="1"/>
          </p:cNvSpPr>
          <p:nvPr/>
        </p:nvSpPr>
        <p:spPr bwMode="auto">
          <a:xfrm>
            <a:off x="3070225" y="4364038"/>
            <a:ext cx="12795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Times New Roman" pitchFamily="18" charset="0"/>
                <a:cs typeface="Times New Roman" pitchFamily="18" charset="0"/>
              </a:rPr>
              <a:t>f</a:t>
            </a:r>
            <a:r>
              <a:rPr lang="en-US" b="1" baseline="-25000">
                <a:latin typeface="Times New Roman" pitchFamily="18" charset="0"/>
                <a:cs typeface="Times New Roman" pitchFamily="18" charset="0"/>
              </a:rPr>
              <a:t> </a:t>
            </a:r>
            <a:r>
              <a:rPr lang="en-US" b="1">
                <a:latin typeface="Times New Roman" pitchFamily="18" charset="0"/>
                <a:cs typeface="Times New Roman" pitchFamily="18" charset="0"/>
              </a:rPr>
              <a:t>( S</a:t>
            </a:r>
            <a:r>
              <a:rPr lang="en-US" b="1" baseline="-25000">
                <a:latin typeface="Times New Roman" pitchFamily="18" charset="0"/>
                <a:cs typeface="Times New Roman" pitchFamily="18" charset="0"/>
              </a:rPr>
              <a:t>1</a:t>
            </a:r>
            <a:r>
              <a:rPr lang="en-US" b="1">
                <a:latin typeface="Times New Roman" pitchFamily="18" charset="0"/>
                <a:cs typeface="Times New Roman" pitchFamily="18" charset="0"/>
              </a:rPr>
              <a:t>,M</a:t>
            </a:r>
            <a:r>
              <a:rPr lang="en-US" b="1" baseline="-25000">
                <a:latin typeface="Times New Roman" pitchFamily="18" charset="0"/>
                <a:cs typeface="Times New Roman" pitchFamily="18" charset="0"/>
              </a:rPr>
              <a:t>i</a:t>
            </a:r>
            <a:r>
              <a:rPr lang="en-US" b="1">
                <a:latin typeface="Times New Roman" pitchFamily="18" charset="0"/>
                <a:cs typeface="Times New Roman" pitchFamily="18" charset="0"/>
              </a:rPr>
              <a:t>)</a:t>
            </a:r>
            <a:endParaRPr lang="ru-RU" b="1">
              <a:latin typeface="Times New Roman" pitchFamily="18" charset="0"/>
              <a:cs typeface="Times New Roman" pitchFamily="18" charset="0"/>
            </a:endParaRPr>
          </a:p>
        </p:txBody>
      </p:sp>
      <p:sp>
        <p:nvSpPr>
          <p:cNvPr id="8" name="TextBox 7"/>
          <p:cNvSpPr txBox="1">
            <a:spLocks noChangeArrowheads="1"/>
          </p:cNvSpPr>
          <p:nvPr/>
        </p:nvSpPr>
        <p:spPr bwMode="auto">
          <a:xfrm>
            <a:off x="3808413" y="3152775"/>
            <a:ext cx="49117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600">
                <a:latin typeface="Times New Roman" pitchFamily="18" charset="0"/>
                <a:cs typeface="Times New Roman" pitchFamily="18" charset="0"/>
              </a:rPr>
              <a:t>h</a:t>
            </a:r>
            <a:r>
              <a:rPr lang="en-US" sz="1600" baseline="-25000">
                <a:latin typeface="Times New Roman" pitchFamily="18" charset="0"/>
                <a:cs typeface="Times New Roman" pitchFamily="18" charset="0"/>
              </a:rPr>
              <a:t>j</a:t>
            </a:r>
            <a:r>
              <a:rPr lang="en-US" sz="1600">
                <a:latin typeface="Times New Roman" pitchFamily="18" charset="0"/>
                <a:cs typeface="Times New Roman" pitchFamily="18" charset="0"/>
              </a:rPr>
              <a:t> S </a:t>
            </a:r>
            <a:r>
              <a:rPr lang="uz-Cyrl-UZ" sz="1600">
                <a:latin typeface="Times New Roman" pitchFamily="18" charset="0"/>
                <a:cs typeface="Times New Roman" pitchFamily="18" charset="0"/>
              </a:rPr>
              <a:t>векторнинг битта элементи узунлигига тенг</a:t>
            </a:r>
            <a:r>
              <a:rPr lang="ru-RU" sz="1600">
                <a:latin typeface="Times New Roman" pitchFamily="18" charset="0"/>
                <a:cs typeface="Times New Roman" pitchFamily="18" charset="0"/>
              </a:rPr>
              <a:t> </a:t>
            </a:r>
            <a:endParaRPr lang="ru-RU" sz="1600" baseline="-25000">
              <a:latin typeface="Times New Roman" pitchFamily="18" charset="0"/>
              <a:cs typeface="Times New Roman" pitchFamily="18" charset="0"/>
            </a:endParaRPr>
          </a:p>
        </p:txBody>
      </p:sp>
      <p:graphicFrame>
        <p:nvGraphicFramePr>
          <p:cNvPr id="9" name="Таблица 8"/>
          <p:cNvGraphicFramePr>
            <a:graphicFrameLocks noGrp="1"/>
          </p:cNvGraphicFramePr>
          <p:nvPr/>
        </p:nvGraphicFramePr>
        <p:xfrm>
          <a:off x="450850" y="2682875"/>
          <a:ext cx="2076448" cy="1951040"/>
        </p:xfrm>
        <a:graphic>
          <a:graphicData uri="http://schemas.openxmlformats.org/drawingml/2006/table">
            <a:tbl>
              <a:tblPr firstRow="1" bandRow="1">
                <a:tableStyleId>{5940675A-B579-460E-94D1-54222C63F5DA}</a:tableStyleId>
              </a:tblPr>
              <a:tblGrid>
                <a:gridCol w="259556"/>
                <a:gridCol w="259556"/>
                <a:gridCol w="259556"/>
                <a:gridCol w="259556"/>
                <a:gridCol w="259556"/>
                <a:gridCol w="259556"/>
                <a:gridCol w="259556"/>
                <a:gridCol w="259556"/>
              </a:tblGrid>
              <a:tr h="243880">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solidFill>
                      <a:schemeClr val="bg2"/>
                    </a:solidFill>
                  </a:tcPr>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solidFill>
                      <a:schemeClr val="bg2"/>
                    </a:solidFill>
                  </a:tcPr>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solidFill>
                      <a:schemeClr val="bg2"/>
                    </a:solidFill>
                  </a:tcPr>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solidFill>
                      <a:schemeClr val="bg2"/>
                    </a:solidFill>
                  </a:tcPr>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solidFill>
                      <a:schemeClr val="bg2"/>
                    </a:solidFill>
                  </a:tcPr>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solidFill>
                      <a:schemeClr val="bg2"/>
                    </a:solidFill>
                  </a:tcPr>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solidFill>
                      <a:schemeClr val="bg2"/>
                    </a:solidFill>
                  </a:tcPr>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solidFill>
                      <a:schemeClr val="bg2"/>
                    </a:solidFill>
                  </a:tcPr>
                </a:tc>
              </a:tr>
              <a:tr h="243880">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solidFill>
                      <a:schemeClr val="bg2"/>
                    </a:solidFill>
                  </a:tcPr>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solidFill>
                      <a:schemeClr val="bg2"/>
                    </a:solidFill>
                  </a:tcPr>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solidFill>
                      <a:schemeClr val="bg2"/>
                    </a:solidFill>
                  </a:tcPr>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solidFill>
                      <a:schemeClr val="bg2"/>
                    </a:solidFill>
                  </a:tcPr>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solidFill>
                      <a:schemeClr val="bg2"/>
                    </a:solidFill>
                  </a:tcPr>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solidFill>
                      <a:schemeClr val="bg2"/>
                    </a:solidFill>
                  </a:tcPr>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solidFill>
                      <a:schemeClr val="bg2"/>
                    </a:solidFill>
                  </a:tcPr>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solidFill>
                      <a:schemeClr val="bg2"/>
                    </a:solidFill>
                  </a:tcPr>
                </a:tc>
              </a:tr>
              <a:tr h="243880">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solidFill>
                      <a:schemeClr val="bg2"/>
                    </a:solidFill>
                  </a:tcPr>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solidFill>
                      <a:schemeClr val="bg2"/>
                    </a:solidFill>
                  </a:tcPr>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solidFill>
                      <a:schemeClr val="bg2"/>
                    </a:solidFill>
                  </a:tcPr>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solidFill>
                      <a:schemeClr val="bg2"/>
                    </a:solidFill>
                  </a:tcPr>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solidFill>
                      <a:schemeClr val="bg2"/>
                    </a:solidFill>
                  </a:tcPr>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solidFill>
                      <a:schemeClr val="bg2"/>
                    </a:solidFill>
                  </a:tcPr>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solidFill>
                      <a:schemeClr val="bg2"/>
                    </a:solidFill>
                  </a:tcPr>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solidFill>
                      <a:schemeClr val="bg2"/>
                    </a:solidFill>
                  </a:tcPr>
                </a:tc>
              </a:tr>
              <a:tr h="243880">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tc>
              </a:tr>
              <a:tr h="243880">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tc>
              </a:tr>
              <a:tr h="243880">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tc>
              </a:tr>
              <a:tr h="243880">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tc>
              </a:tr>
              <a:tr h="243880">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tc>
                <a:tc>
                  <a:txBody>
                    <a:bodyPr/>
                    <a:lstStyle/>
                    <a:p>
                      <a:r>
                        <a:rPr lang="uz-Cyrl-UZ" sz="1000" dirty="0" smtClean="0">
                          <a:latin typeface="Times New Roman" pitchFamily="18" charset="0"/>
                          <a:cs typeface="Times New Roman" pitchFamily="18" charset="0"/>
                        </a:rPr>
                        <a:t>0</a:t>
                      </a:r>
                      <a:endParaRPr lang="ru-RU" sz="1000" dirty="0">
                        <a:latin typeface="Times New Roman" pitchFamily="18" charset="0"/>
                        <a:cs typeface="Times New Roman" pitchFamily="18" charset="0"/>
                      </a:endParaRPr>
                    </a:p>
                  </a:txBody>
                  <a:tcPr marL="91486" marR="91486" marT="45727" marB="45727"/>
                </a:tc>
              </a:tr>
            </a:tbl>
          </a:graphicData>
        </a:graphic>
      </p:graphicFrame>
      <p:graphicFrame>
        <p:nvGraphicFramePr>
          <p:cNvPr id="94" name="Таблица 93"/>
          <p:cNvGraphicFramePr>
            <a:graphicFrameLocks noGrp="1"/>
          </p:cNvGraphicFramePr>
          <p:nvPr/>
        </p:nvGraphicFramePr>
        <p:xfrm>
          <a:off x="438150" y="4719638"/>
          <a:ext cx="2076448" cy="1950240"/>
        </p:xfrm>
        <a:graphic>
          <a:graphicData uri="http://schemas.openxmlformats.org/drawingml/2006/table">
            <a:tbl>
              <a:tblPr firstRow="1" bandRow="1">
                <a:tableStyleId>{5940675A-B579-460E-94D1-54222C63F5DA}</a:tableStyleId>
              </a:tblPr>
              <a:tblGrid>
                <a:gridCol w="259556"/>
                <a:gridCol w="259556"/>
                <a:gridCol w="259556"/>
                <a:gridCol w="259556"/>
                <a:gridCol w="259556"/>
                <a:gridCol w="259556"/>
                <a:gridCol w="259556"/>
                <a:gridCol w="259556"/>
              </a:tblGrid>
              <a:tr h="243681">
                <a:tc>
                  <a:txBody>
                    <a:bodyPr/>
                    <a:lstStyle/>
                    <a:p>
                      <a:endParaRPr lang="ru-RU" sz="1000" dirty="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dirty="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a:latin typeface="Times New Roman" pitchFamily="18" charset="0"/>
                        <a:cs typeface="Times New Roman" pitchFamily="18" charset="0"/>
                      </a:endParaRPr>
                    </a:p>
                  </a:txBody>
                  <a:tcPr marL="91486" marR="91486" marT="45690" marB="45690">
                    <a:solidFill>
                      <a:schemeClr val="bg1">
                        <a:lumMod val="50000"/>
                      </a:schemeClr>
                    </a:solidFill>
                  </a:tcPr>
                </a:tc>
              </a:tr>
              <a:tr h="243681">
                <a:tc>
                  <a:txBody>
                    <a:bodyPr/>
                    <a:lstStyle/>
                    <a:p>
                      <a:endParaRPr lang="ru-RU" sz="1000" dirty="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dirty="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dirty="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dirty="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a:latin typeface="Times New Roman" pitchFamily="18" charset="0"/>
                        <a:cs typeface="Times New Roman" pitchFamily="18" charset="0"/>
                      </a:endParaRPr>
                    </a:p>
                  </a:txBody>
                  <a:tcPr marL="91486" marR="91486" marT="45690" marB="45690">
                    <a:solidFill>
                      <a:schemeClr val="bg1">
                        <a:lumMod val="50000"/>
                      </a:schemeClr>
                    </a:solidFill>
                  </a:tcPr>
                </a:tc>
              </a:tr>
              <a:tr h="243681">
                <a:tc>
                  <a:txBody>
                    <a:bodyPr/>
                    <a:lstStyle/>
                    <a:p>
                      <a:endParaRPr lang="ru-RU" sz="100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dirty="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dirty="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dirty="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dirty="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dirty="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dirty="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dirty="0">
                        <a:latin typeface="Times New Roman" pitchFamily="18" charset="0"/>
                        <a:cs typeface="Times New Roman" pitchFamily="18" charset="0"/>
                      </a:endParaRPr>
                    </a:p>
                  </a:txBody>
                  <a:tcPr marL="91486" marR="91486" marT="45690" marB="45690">
                    <a:solidFill>
                      <a:schemeClr val="bg1">
                        <a:lumMod val="50000"/>
                      </a:schemeClr>
                    </a:solidFill>
                  </a:tcPr>
                </a:tc>
              </a:tr>
              <a:tr h="243681">
                <a:tc>
                  <a:txBody>
                    <a:bodyPr/>
                    <a:lstStyle/>
                    <a:p>
                      <a:endParaRPr lang="ru-RU" sz="1000" dirty="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dirty="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dirty="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dirty="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a:latin typeface="Times New Roman" pitchFamily="18" charset="0"/>
                        <a:cs typeface="Times New Roman" pitchFamily="18" charset="0"/>
                      </a:endParaRPr>
                    </a:p>
                  </a:txBody>
                  <a:tcPr marL="91486" marR="91486" marT="45690" marB="45690">
                    <a:solidFill>
                      <a:schemeClr val="bg1">
                        <a:lumMod val="50000"/>
                      </a:schemeClr>
                    </a:solidFill>
                  </a:tcPr>
                </a:tc>
              </a:tr>
              <a:tr h="243681">
                <a:tc>
                  <a:txBody>
                    <a:bodyPr/>
                    <a:lstStyle/>
                    <a:p>
                      <a:endParaRPr lang="ru-RU" sz="1000" dirty="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dirty="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dirty="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dirty="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dirty="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a:latin typeface="Times New Roman" pitchFamily="18" charset="0"/>
                        <a:cs typeface="Times New Roman" pitchFamily="18" charset="0"/>
                      </a:endParaRPr>
                    </a:p>
                  </a:txBody>
                  <a:tcPr marL="91486" marR="91486" marT="45690" marB="45690">
                    <a:solidFill>
                      <a:schemeClr val="bg1">
                        <a:lumMod val="50000"/>
                      </a:schemeClr>
                    </a:solidFill>
                  </a:tcPr>
                </a:tc>
              </a:tr>
              <a:tr h="243681">
                <a:tc>
                  <a:txBody>
                    <a:bodyPr/>
                    <a:lstStyle/>
                    <a:p>
                      <a:endParaRPr lang="ru-RU" sz="1000" dirty="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dirty="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dirty="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dirty="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dirty="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a:latin typeface="Times New Roman" pitchFamily="18" charset="0"/>
                        <a:cs typeface="Times New Roman" pitchFamily="18" charset="0"/>
                      </a:endParaRPr>
                    </a:p>
                  </a:txBody>
                  <a:tcPr marL="91486" marR="91486" marT="45690" marB="45690">
                    <a:solidFill>
                      <a:schemeClr val="bg1">
                        <a:lumMod val="50000"/>
                      </a:schemeClr>
                    </a:solidFill>
                  </a:tcPr>
                </a:tc>
              </a:tr>
              <a:tr h="243681">
                <a:tc>
                  <a:txBody>
                    <a:bodyPr/>
                    <a:lstStyle/>
                    <a:p>
                      <a:endParaRPr lang="ru-RU" sz="100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dirty="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dirty="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dirty="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dirty="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dirty="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dirty="0">
                        <a:latin typeface="Times New Roman" pitchFamily="18" charset="0"/>
                        <a:cs typeface="Times New Roman" pitchFamily="18" charset="0"/>
                      </a:endParaRPr>
                    </a:p>
                  </a:txBody>
                  <a:tcPr marL="91486" marR="91486" marT="45690" marB="45690">
                    <a:solidFill>
                      <a:schemeClr val="bg1">
                        <a:lumMod val="50000"/>
                      </a:schemeClr>
                    </a:solidFill>
                  </a:tcPr>
                </a:tc>
              </a:tr>
              <a:tr h="243681">
                <a:tc>
                  <a:txBody>
                    <a:bodyPr/>
                    <a:lstStyle/>
                    <a:p>
                      <a:endParaRPr lang="ru-RU" sz="1000" dirty="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dirty="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dirty="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dirty="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dirty="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dirty="0">
                        <a:latin typeface="Times New Roman" pitchFamily="18" charset="0"/>
                        <a:cs typeface="Times New Roman" pitchFamily="18" charset="0"/>
                      </a:endParaRPr>
                    </a:p>
                  </a:txBody>
                  <a:tcPr marL="91486" marR="91486" marT="45690" marB="45690">
                    <a:solidFill>
                      <a:schemeClr val="bg1">
                        <a:lumMod val="50000"/>
                      </a:schemeClr>
                    </a:solidFill>
                  </a:tcPr>
                </a:tc>
                <a:tc>
                  <a:txBody>
                    <a:bodyPr/>
                    <a:lstStyle/>
                    <a:p>
                      <a:endParaRPr lang="ru-RU" sz="1000" dirty="0">
                        <a:latin typeface="Times New Roman" pitchFamily="18" charset="0"/>
                        <a:cs typeface="Times New Roman" pitchFamily="18" charset="0"/>
                      </a:endParaRPr>
                    </a:p>
                  </a:txBody>
                  <a:tcPr marL="91486" marR="91486" marT="45690" marB="45690">
                    <a:solidFill>
                      <a:schemeClr val="bg1">
                        <a:lumMod val="50000"/>
                      </a:schemeClr>
                    </a:solidFill>
                  </a:tcPr>
                </a:tc>
              </a:tr>
            </a:tbl>
          </a:graphicData>
        </a:graphic>
      </p:graphicFrame>
      <p:sp>
        <p:nvSpPr>
          <p:cNvPr id="10" name="TextBox 9"/>
          <p:cNvSpPr txBox="1">
            <a:spLocks noChangeArrowheads="1"/>
          </p:cNvSpPr>
          <p:nvPr/>
        </p:nvSpPr>
        <p:spPr bwMode="auto">
          <a:xfrm>
            <a:off x="2511425" y="2587625"/>
            <a:ext cx="3778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4800"/>
              <a:t>}</a:t>
            </a:r>
            <a:endParaRPr lang="ru-RU" sz="4800"/>
          </a:p>
        </p:txBody>
      </p:sp>
      <p:sp>
        <p:nvSpPr>
          <p:cNvPr id="11" name="TextBox 10"/>
          <p:cNvSpPr txBox="1">
            <a:spLocks noChangeArrowheads="1"/>
          </p:cNvSpPr>
          <p:nvPr/>
        </p:nvSpPr>
        <p:spPr bwMode="auto">
          <a:xfrm>
            <a:off x="2846388" y="2817813"/>
            <a:ext cx="5238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t>S</a:t>
            </a:r>
            <a:r>
              <a:rPr lang="en-US" baseline="-25000"/>
              <a:t>1</a:t>
            </a:r>
            <a:endParaRPr lang="ru-RU"/>
          </a:p>
        </p:txBody>
      </p:sp>
      <p:sp>
        <p:nvSpPr>
          <p:cNvPr id="95" name="TextBox 94"/>
          <p:cNvSpPr txBox="1">
            <a:spLocks noChangeArrowheads="1"/>
          </p:cNvSpPr>
          <p:nvPr/>
        </p:nvSpPr>
        <p:spPr bwMode="auto">
          <a:xfrm>
            <a:off x="2460625" y="3228975"/>
            <a:ext cx="725488" cy="144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8800">
                <a:latin typeface="Calisto MT" pitchFamily="18" charset="0"/>
              </a:rPr>
              <a:t>}</a:t>
            </a:r>
            <a:endParaRPr lang="ru-RU" sz="8800"/>
          </a:p>
        </p:txBody>
      </p:sp>
      <p:sp>
        <p:nvSpPr>
          <p:cNvPr id="96" name="TextBox 95"/>
          <p:cNvSpPr txBox="1">
            <a:spLocks noChangeArrowheads="1"/>
          </p:cNvSpPr>
          <p:nvPr/>
        </p:nvSpPr>
        <p:spPr bwMode="auto">
          <a:xfrm>
            <a:off x="2940050" y="3865563"/>
            <a:ext cx="5238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t>S</a:t>
            </a:r>
            <a:r>
              <a:rPr lang="en-US" baseline="-25000"/>
              <a:t>2</a:t>
            </a:r>
            <a:endParaRPr lang="ru-RU"/>
          </a:p>
        </p:txBody>
      </p:sp>
      <p:sp>
        <p:nvSpPr>
          <p:cNvPr id="97" name="TextBox 96"/>
          <p:cNvSpPr txBox="1">
            <a:spLocks noChangeArrowheads="1"/>
          </p:cNvSpPr>
          <p:nvPr/>
        </p:nvSpPr>
        <p:spPr bwMode="auto">
          <a:xfrm>
            <a:off x="3281363" y="2444750"/>
            <a:ext cx="5586412"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just">
              <a:lnSpc>
                <a:spcPts val="1700"/>
              </a:lnSpc>
            </a:pPr>
            <a:r>
              <a:rPr lang="en-US" sz="1600">
                <a:solidFill>
                  <a:srgbClr val="FF0000"/>
                </a:solidFill>
                <a:latin typeface="Times New Roman" pitchFamily="18" charset="0"/>
                <a:cs typeface="Times New Roman" pitchFamily="18" charset="0"/>
              </a:rPr>
              <a:t>S</a:t>
            </a:r>
            <a:r>
              <a:rPr lang="en-US" sz="1600" baseline="-25000">
                <a:solidFill>
                  <a:srgbClr val="FF0000"/>
                </a:solidFill>
                <a:latin typeface="Times New Roman" pitchFamily="18" charset="0"/>
                <a:cs typeface="Times New Roman" pitchFamily="18" charset="0"/>
              </a:rPr>
              <a:t>1</a:t>
            </a:r>
            <a:r>
              <a:rPr lang="en-US" sz="1600">
                <a:solidFill>
                  <a:srgbClr val="FF0000"/>
                </a:solidFill>
                <a:latin typeface="Times New Roman" pitchFamily="18" charset="0"/>
                <a:cs typeface="Times New Roman" pitchFamily="18" charset="0"/>
              </a:rPr>
              <a:t> </a:t>
            </a:r>
            <a:r>
              <a:rPr lang="uz-Cyrl-UZ" sz="1600">
                <a:solidFill>
                  <a:srgbClr val="FF0000"/>
                </a:solidFill>
                <a:latin typeface="Times New Roman" pitchFamily="18" charset="0"/>
                <a:cs typeface="Times New Roman" pitchFamily="18" charset="0"/>
              </a:rPr>
              <a:t>ва </a:t>
            </a:r>
            <a:r>
              <a:rPr lang="en-US" sz="1600">
                <a:solidFill>
                  <a:srgbClr val="FF0000"/>
                </a:solidFill>
                <a:latin typeface="Times New Roman" pitchFamily="18" charset="0"/>
                <a:cs typeface="Times New Roman" pitchFamily="18" charset="0"/>
              </a:rPr>
              <a:t>S</a:t>
            </a:r>
            <a:r>
              <a:rPr lang="uz-Cyrl-UZ" sz="1600" baseline="-25000">
                <a:solidFill>
                  <a:srgbClr val="FF0000"/>
                </a:solidFill>
                <a:latin typeface="Times New Roman" pitchFamily="18" charset="0"/>
                <a:cs typeface="Times New Roman" pitchFamily="18" charset="0"/>
              </a:rPr>
              <a:t>2</a:t>
            </a:r>
            <a:r>
              <a:rPr lang="uz-Cyrl-UZ" sz="1600">
                <a:solidFill>
                  <a:srgbClr val="FF0000"/>
                </a:solidFill>
                <a:latin typeface="Times New Roman" pitchFamily="18" charset="0"/>
                <a:cs typeface="Times New Roman" pitchFamily="18" charset="0"/>
              </a:rPr>
              <a:t> векторларнинг ўлчами ихтиёрий бўлиши мумкин, фақат </a:t>
            </a:r>
            <a:r>
              <a:rPr lang="en-US" sz="1600">
                <a:solidFill>
                  <a:srgbClr val="FF0000"/>
                </a:solidFill>
                <a:latin typeface="Times New Roman" pitchFamily="18" charset="0"/>
                <a:cs typeface="Times New Roman" pitchFamily="18" charset="0"/>
              </a:rPr>
              <a:t>S</a:t>
            </a:r>
            <a:r>
              <a:rPr lang="uz-Cyrl-UZ" sz="1600" baseline="-25000">
                <a:solidFill>
                  <a:srgbClr val="FF0000"/>
                </a:solidFill>
                <a:latin typeface="Times New Roman" pitchFamily="18" charset="0"/>
                <a:cs typeface="Times New Roman" pitchFamily="18" charset="0"/>
              </a:rPr>
              <a:t>2</a:t>
            </a:r>
            <a:r>
              <a:rPr lang="uz-Cyrl-UZ" sz="1600">
                <a:solidFill>
                  <a:srgbClr val="FF0000"/>
                </a:solidFill>
                <a:latin typeface="Times New Roman" pitchFamily="18" charset="0"/>
                <a:cs typeface="Times New Roman" pitchFamily="18" charset="0"/>
              </a:rPr>
              <a:t> қисмнинг узунлиги чиқишдаги хэш қиймат узунлигидан 2 марта катта бўлиши керак.</a:t>
            </a:r>
            <a:endParaRPr lang="ru-RU" sz="1600" baseline="-25000">
              <a:solidFill>
                <a:srgbClr val="FF0000"/>
              </a:solidFill>
              <a:latin typeface="Times New Roman" pitchFamily="18" charset="0"/>
              <a:cs typeface="Times New Roman" pitchFamily="18" charset="0"/>
            </a:endParaRPr>
          </a:p>
        </p:txBody>
      </p:sp>
      <p:graphicFrame>
        <p:nvGraphicFramePr>
          <p:cNvPr id="12" name="Таблица 11"/>
          <p:cNvGraphicFramePr>
            <a:graphicFrameLocks noGrp="1"/>
          </p:cNvGraphicFramePr>
          <p:nvPr/>
        </p:nvGraphicFramePr>
        <p:xfrm>
          <a:off x="450850" y="2686050"/>
          <a:ext cx="2076448" cy="731838"/>
        </p:xfrm>
        <a:graphic>
          <a:graphicData uri="http://schemas.openxmlformats.org/drawingml/2006/table">
            <a:tbl>
              <a:tblPr firstRow="1" bandRow="1">
                <a:tableStyleId>{5940675A-B579-460E-94D1-54222C63F5DA}</a:tableStyleId>
              </a:tblPr>
              <a:tblGrid>
                <a:gridCol w="259556"/>
                <a:gridCol w="259556"/>
                <a:gridCol w="259556"/>
                <a:gridCol w="259556"/>
                <a:gridCol w="259556"/>
                <a:gridCol w="259556"/>
                <a:gridCol w="259556"/>
                <a:gridCol w="259556"/>
              </a:tblGrid>
              <a:tr h="243946">
                <a:tc>
                  <a:txBody>
                    <a:bodyPr/>
                    <a:lstStyle/>
                    <a:p>
                      <a:endParaRPr lang="ru-RU" sz="1000" dirty="0">
                        <a:latin typeface="Times New Roman" pitchFamily="18" charset="0"/>
                        <a:cs typeface="Times New Roman" pitchFamily="18" charset="0"/>
                      </a:endParaRPr>
                    </a:p>
                  </a:txBody>
                  <a:tcPr marL="91486" marR="91486" marT="45740" marB="45740">
                    <a:solidFill>
                      <a:schemeClr val="bg1">
                        <a:lumMod val="50000"/>
                      </a:schemeClr>
                    </a:solidFill>
                  </a:tcPr>
                </a:tc>
                <a:tc>
                  <a:txBody>
                    <a:bodyPr/>
                    <a:lstStyle/>
                    <a:p>
                      <a:endParaRPr lang="ru-RU" sz="1000" dirty="0">
                        <a:latin typeface="Times New Roman" pitchFamily="18" charset="0"/>
                        <a:cs typeface="Times New Roman" pitchFamily="18" charset="0"/>
                      </a:endParaRPr>
                    </a:p>
                  </a:txBody>
                  <a:tcPr marL="91486" marR="91486" marT="45740" marB="45740">
                    <a:solidFill>
                      <a:schemeClr val="bg1">
                        <a:lumMod val="50000"/>
                      </a:schemeClr>
                    </a:solidFill>
                  </a:tcPr>
                </a:tc>
                <a:tc>
                  <a:txBody>
                    <a:bodyPr/>
                    <a:lstStyle/>
                    <a:p>
                      <a:endParaRPr lang="ru-RU" sz="1000" dirty="0">
                        <a:latin typeface="Times New Roman" pitchFamily="18" charset="0"/>
                        <a:cs typeface="Times New Roman" pitchFamily="18" charset="0"/>
                      </a:endParaRPr>
                    </a:p>
                  </a:txBody>
                  <a:tcPr marL="91486" marR="91486" marT="45740" marB="45740">
                    <a:solidFill>
                      <a:schemeClr val="bg1">
                        <a:lumMod val="50000"/>
                      </a:schemeClr>
                    </a:solidFill>
                  </a:tcPr>
                </a:tc>
                <a:tc>
                  <a:txBody>
                    <a:bodyPr/>
                    <a:lstStyle/>
                    <a:p>
                      <a:endParaRPr lang="ru-RU" sz="1000">
                        <a:latin typeface="Times New Roman" pitchFamily="18" charset="0"/>
                        <a:cs typeface="Times New Roman" pitchFamily="18" charset="0"/>
                      </a:endParaRPr>
                    </a:p>
                  </a:txBody>
                  <a:tcPr marL="91486" marR="91486" marT="45740" marB="45740">
                    <a:solidFill>
                      <a:schemeClr val="bg1">
                        <a:lumMod val="50000"/>
                      </a:schemeClr>
                    </a:solidFill>
                  </a:tcPr>
                </a:tc>
                <a:tc>
                  <a:txBody>
                    <a:bodyPr/>
                    <a:lstStyle/>
                    <a:p>
                      <a:endParaRPr lang="ru-RU" sz="1000">
                        <a:latin typeface="Times New Roman" pitchFamily="18" charset="0"/>
                        <a:cs typeface="Times New Roman" pitchFamily="18" charset="0"/>
                      </a:endParaRPr>
                    </a:p>
                  </a:txBody>
                  <a:tcPr marL="91486" marR="91486" marT="45740" marB="45740">
                    <a:solidFill>
                      <a:schemeClr val="bg1">
                        <a:lumMod val="50000"/>
                      </a:schemeClr>
                    </a:solidFill>
                  </a:tcPr>
                </a:tc>
                <a:tc>
                  <a:txBody>
                    <a:bodyPr/>
                    <a:lstStyle/>
                    <a:p>
                      <a:endParaRPr lang="ru-RU" sz="1000">
                        <a:latin typeface="Times New Roman" pitchFamily="18" charset="0"/>
                        <a:cs typeface="Times New Roman" pitchFamily="18" charset="0"/>
                      </a:endParaRPr>
                    </a:p>
                  </a:txBody>
                  <a:tcPr marL="91486" marR="91486" marT="45740" marB="45740">
                    <a:solidFill>
                      <a:schemeClr val="bg1">
                        <a:lumMod val="50000"/>
                      </a:schemeClr>
                    </a:solidFill>
                  </a:tcPr>
                </a:tc>
                <a:tc>
                  <a:txBody>
                    <a:bodyPr/>
                    <a:lstStyle/>
                    <a:p>
                      <a:endParaRPr lang="ru-RU" sz="1000">
                        <a:latin typeface="Times New Roman" pitchFamily="18" charset="0"/>
                        <a:cs typeface="Times New Roman" pitchFamily="18" charset="0"/>
                      </a:endParaRPr>
                    </a:p>
                  </a:txBody>
                  <a:tcPr marL="91486" marR="91486" marT="45740" marB="45740">
                    <a:solidFill>
                      <a:schemeClr val="bg1">
                        <a:lumMod val="50000"/>
                      </a:schemeClr>
                    </a:solidFill>
                  </a:tcPr>
                </a:tc>
                <a:tc>
                  <a:txBody>
                    <a:bodyPr/>
                    <a:lstStyle/>
                    <a:p>
                      <a:endParaRPr lang="ru-RU" sz="1000">
                        <a:latin typeface="Times New Roman" pitchFamily="18" charset="0"/>
                        <a:cs typeface="Times New Roman" pitchFamily="18" charset="0"/>
                      </a:endParaRPr>
                    </a:p>
                  </a:txBody>
                  <a:tcPr marL="91486" marR="91486" marT="45740" marB="45740">
                    <a:solidFill>
                      <a:schemeClr val="bg1">
                        <a:lumMod val="50000"/>
                      </a:schemeClr>
                    </a:solidFill>
                  </a:tcPr>
                </a:tc>
              </a:tr>
              <a:tr h="243946">
                <a:tc>
                  <a:txBody>
                    <a:bodyPr/>
                    <a:lstStyle/>
                    <a:p>
                      <a:endParaRPr lang="ru-RU" sz="1000" dirty="0">
                        <a:latin typeface="Times New Roman" pitchFamily="18" charset="0"/>
                        <a:cs typeface="Times New Roman" pitchFamily="18" charset="0"/>
                      </a:endParaRPr>
                    </a:p>
                  </a:txBody>
                  <a:tcPr marL="91486" marR="91486" marT="45740" marB="45740">
                    <a:solidFill>
                      <a:schemeClr val="bg1">
                        <a:lumMod val="50000"/>
                      </a:schemeClr>
                    </a:solidFill>
                  </a:tcPr>
                </a:tc>
                <a:tc>
                  <a:txBody>
                    <a:bodyPr/>
                    <a:lstStyle/>
                    <a:p>
                      <a:endParaRPr lang="ru-RU" sz="1000" dirty="0">
                        <a:latin typeface="Times New Roman" pitchFamily="18" charset="0"/>
                        <a:cs typeface="Times New Roman" pitchFamily="18" charset="0"/>
                      </a:endParaRPr>
                    </a:p>
                  </a:txBody>
                  <a:tcPr marL="91486" marR="91486" marT="45740" marB="45740">
                    <a:solidFill>
                      <a:schemeClr val="bg1">
                        <a:lumMod val="50000"/>
                      </a:schemeClr>
                    </a:solidFill>
                  </a:tcPr>
                </a:tc>
                <a:tc>
                  <a:txBody>
                    <a:bodyPr/>
                    <a:lstStyle/>
                    <a:p>
                      <a:endParaRPr lang="ru-RU" sz="1000" dirty="0">
                        <a:latin typeface="Times New Roman" pitchFamily="18" charset="0"/>
                        <a:cs typeface="Times New Roman" pitchFamily="18" charset="0"/>
                      </a:endParaRPr>
                    </a:p>
                  </a:txBody>
                  <a:tcPr marL="91486" marR="91486" marT="45740" marB="45740">
                    <a:solidFill>
                      <a:schemeClr val="bg1">
                        <a:lumMod val="50000"/>
                      </a:schemeClr>
                    </a:solidFill>
                  </a:tcPr>
                </a:tc>
                <a:tc>
                  <a:txBody>
                    <a:bodyPr/>
                    <a:lstStyle/>
                    <a:p>
                      <a:endParaRPr lang="ru-RU" sz="1000" dirty="0">
                        <a:latin typeface="Times New Roman" pitchFamily="18" charset="0"/>
                        <a:cs typeface="Times New Roman" pitchFamily="18" charset="0"/>
                      </a:endParaRPr>
                    </a:p>
                  </a:txBody>
                  <a:tcPr marL="91486" marR="91486" marT="45740" marB="45740">
                    <a:solidFill>
                      <a:schemeClr val="bg1">
                        <a:lumMod val="50000"/>
                      </a:schemeClr>
                    </a:solidFill>
                  </a:tcPr>
                </a:tc>
                <a:tc>
                  <a:txBody>
                    <a:bodyPr/>
                    <a:lstStyle/>
                    <a:p>
                      <a:endParaRPr lang="ru-RU" sz="1000" dirty="0">
                        <a:latin typeface="Times New Roman" pitchFamily="18" charset="0"/>
                        <a:cs typeface="Times New Roman" pitchFamily="18" charset="0"/>
                      </a:endParaRPr>
                    </a:p>
                  </a:txBody>
                  <a:tcPr marL="91486" marR="91486" marT="45740" marB="45740">
                    <a:solidFill>
                      <a:schemeClr val="bg1">
                        <a:lumMod val="50000"/>
                      </a:schemeClr>
                    </a:solidFill>
                  </a:tcPr>
                </a:tc>
                <a:tc>
                  <a:txBody>
                    <a:bodyPr/>
                    <a:lstStyle/>
                    <a:p>
                      <a:endParaRPr lang="ru-RU" sz="1000">
                        <a:latin typeface="Times New Roman" pitchFamily="18" charset="0"/>
                        <a:cs typeface="Times New Roman" pitchFamily="18" charset="0"/>
                      </a:endParaRPr>
                    </a:p>
                  </a:txBody>
                  <a:tcPr marL="91486" marR="91486" marT="45740" marB="45740">
                    <a:solidFill>
                      <a:schemeClr val="bg1">
                        <a:lumMod val="50000"/>
                      </a:schemeClr>
                    </a:solidFill>
                  </a:tcPr>
                </a:tc>
                <a:tc>
                  <a:txBody>
                    <a:bodyPr/>
                    <a:lstStyle/>
                    <a:p>
                      <a:endParaRPr lang="ru-RU" sz="1000">
                        <a:latin typeface="Times New Roman" pitchFamily="18" charset="0"/>
                        <a:cs typeface="Times New Roman" pitchFamily="18" charset="0"/>
                      </a:endParaRPr>
                    </a:p>
                  </a:txBody>
                  <a:tcPr marL="91486" marR="91486" marT="45740" marB="45740">
                    <a:solidFill>
                      <a:schemeClr val="bg1">
                        <a:lumMod val="50000"/>
                      </a:schemeClr>
                    </a:solidFill>
                  </a:tcPr>
                </a:tc>
                <a:tc>
                  <a:txBody>
                    <a:bodyPr/>
                    <a:lstStyle/>
                    <a:p>
                      <a:endParaRPr lang="ru-RU" sz="1000">
                        <a:latin typeface="Times New Roman" pitchFamily="18" charset="0"/>
                        <a:cs typeface="Times New Roman" pitchFamily="18" charset="0"/>
                      </a:endParaRPr>
                    </a:p>
                  </a:txBody>
                  <a:tcPr marL="91486" marR="91486" marT="45740" marB="45740">
                    <a:solidFill>
                      <a:schemeClr val="bg1">
                        <a:lumMod val="50000"/>
                      </a:schemeClr>
                    </a:solidFill>
                  </a:tcPr>
                </a:tc>
              </a:tr>
              <a:tr h="243946">
                <a:tc>
                  <a:txBody>
                    <a:bodyPr/>
                    <a:lstStyle/>
                    <a:p>
                      <a:endParaRPr lang="ru-RU" sz="1000">
                        <a:latin typeface="Times New Roman" pitchFamily="18" charset="0"/>
                        <a:cs typeface="Times New Roman" pitchFamily="18" charset="0"/>
                      </a:endParaRPr>
                    </a:p>
                  </a:txBody>
                  <a:tcPr marL="91486" marR="91486" marT="45740" marB="45740">
                    <a:solidFill>
                      <a:schemeClr val="bg1">
                        <a:lumMod val="50000"/>
                      </a:schemeClr>
                    </a:solidFill>
                  </a:tcPr>
                </a:tc>
                <a:tc>
                  <a:txBody>
                    <a:bodyPr/>
                    <a:lstStyle/>
                    <a:p>
                      <a:endParaRPr lang="ru-RU" sz="1000" dirty="0">
                        <a:latin typeface="Times New Roman" pitchFamily="18" charset="0"/>
                        <a:cs typeface="Times New Roman" pitchFamily="18" charset="0"/>
                      </a:endParaRPr>
                    </a:p>
                  </a:txBody>
                  <a:tcPr marL="91486" marR="91486" marT="45740" marB="45740">
                    <a:solidFill>
                      <a:schemeClr val="bg1">
                        <a:lumMod val="50000"/>
                      </a:schemeClr>
                    </a:solidFill>
                  </a:tcPr>
                </a:tc>
                <a:tc>
                  <a:txBody>
                    <a:bodyPr/>
                    <a:lstStyle/>
                    <a:p>
                      <a:endParaRPr lang="ru-RU" sz="1000" dirty="0">
                        <a:latin typeface="Times New Roman" pitchFamily="18" charset="0"/>
                        <a:cs typeface="Times New Roman" pitchFamily="18" charset="0"/>
                      </a:endParaRPr>
                    </a:p>
                  </a:txBody>
                  <a:tcPr marL="91486" marR="91486" marT="45740" marB="45740">
                    <a:solidFill>
                      <a:schemeClr val="bg1">
                        <a:lumMod val="50000"/>
                      </a:schemeClr>
                    </a:solidFill>
                  </a:tcPr>
                </a:tc>
                <a:tc>
                  <a:txBody>
                    <a:bodyPr/>
                    <a:lstStyle/>
                    <a:p>
                      <a:endParaRPr lang="ru-RU" sz="1000" dirty="0">
                        <a:latin typeface="Times New Roman" pitchFamily="18" charset="0"/>
                        <a:cs typeface="Times New Roman" pitchFamily="18" charset="0"/>
                      </a:endParaRPr>
                    </a:p>
                  </a:txBody>
                  <a:tcPr marL="91486" marR="91486" marT="45740" marB="45740">
                    <a:solidFill>
                      <a:schemeClr val="bg1">
                        <a:lumMod val="50000"/>
                      </a:schemeClr>
                    </a:solidFill>
                  </a:tcPr>
                </a:tc>
                <a:tc>
                  <a:txBody>
                    <a:bodyPr/>
                    <a:lstStyle/>
                    <a:p>
                      <a:endParaRPr lang="ru-RU" sz="1000" dirty="0">
                        <a:latin typeface="Times New Roman" pitchFamily="18" charset="0"/>
                        <a:cs typeface="Times New Roman" pitchFamily="18" charset="0"/>
                      </a:endParaRPr>
                    </a:p>
                  </a:txBody>
                  <a:tcPr marL="91486" marR="91486" marT="45740" marB="45740">
                    <a:solidFill>
                      <a:schemeClr val="bg1">
                        <a:lumMod val="50000"/>
                      </a:schemeClr>
                    </a:solidFill>
                  </a:tcPr>
                </a:tc>
                <a:tc>
                  <a:txBody>
                    <a:bodyPr/>
                    <a:lstStyle/>
                    <a:p>
                      <a:endParaRPr lang="ru-RU" sz="1000" dirty="0">
                        <a:latin typeface="Times New Roman" pitchFamily="18" charset="0"/>
                        <a:cs typeface="Times New Roman" pitchFamily="18" charset="0"/>
                      </a:endParaRPr>
                    </a:p>
                  </a:txBody>
                  <a:tcPr marL="91486" marR="91486" marT="45740" marB="45740">
                    <a:solidFill>
                      <a:schemeClr val="bg1">
                        <a:lumMod val="50000"/>
                      </a:schemeClr>
                    </a:solidFill>
                  </a:tcPr>
                </a:tc>
                <a:tc>
                  <a:txBody>
                    <a:bodyPr/>
                    <a:lstStyle/>
                    <a:p>
                      <a:endParaRPr lang="ru-RU" sz="1000" dirty="0">
                        <a:latin typeface="Times New Roman" pitchFamily="18" charset="0"/>
                        <a:cs typeface="Times New Roman" pitchFamily="18" charset="0"/>
                      </a:endParaRPr>
                    </a:p>
                  </a:txBody>
                  <a:tcPr marL="91486" marR="91486" marT="45740" marB="45740">
                    <a:solidFill>
                      <a:schemeClr val="bg1">
                        <a:lumMod val="50000"/>
                      </a:schemeClr>
                    </a:solidFill>
                  </a:tcPr>
                </a:tc>
                <a:tc>
                  <a:txBody>
                    <a:bodyPr/>
                    <a:lstStyle/>
                    <a:p>
                      <a:endParaRPr lang="ru-RU" sz="1000" dirty="0">
                        <a:latin typeface="Times New Roman" pitchFamily="18" charset="0"/>
                        <a:cs typeface="Times New Roman" pitchFamily="18" charset="0"/>
                      </a:endParaRPr>
                    </a:p>
                  </a:txBody>
                  <a:tcPr marL="91486" marR="91486" marT="45740" marB="45740">
                    <a:solidFill>
                      <a:schemeClr val="bg1">
                        <a:lumMod val="50000"/>
                      </a:schemeClr>
                    </a:solidFill>
                  </a:tcPr>
                </a:tc>
              </a:tr>
            </a:tbl>
          </a:graphicData>
        </a:graphic>
      </p:graphicFrame>
      <p:graphicFrame>
        <p:nvGraphicFramePr>
          <p:cNvPr id="15" name="Таблица 14"/>
          <p:cNvGraphicFramePr>
            <a:graphicFrameLocks noGrp="1"/>
          </p:cNvGraphicFramePr>
          <p:nvPr/>
        </p:nvGraphicFramePr>
        <p:xfrm>
          <a:off x="-1116013" y="6364288"/>
          <a:ext cx="258763" cy="244475"/>
        </p:xfrm>
        <a:graphic>
          <a:graphicData uri="http://schemas.openxmlformats.org/drawingml/2006/table">
            <a:tbl>
              <a:tblPr firstRow="1" bandRow="1">
                <a:tableStyleId>{5940675A-B579-460E-94D1-54222C63F5DA}</a:tableStyleId>
              </a:tblPr>
              <a:tblGrid>
                <a:gridCol w="258763"/>
              </a:tblGrid>
              <a:tr h="244475">
                <a:tc>
                  <a:txBody>
                    <a:bodyPr/>
                    <a:lstStyle/>
                    <a:p>
                      <a:endParaRPr lang="ru-RU" sz="1000" dirty="0">
                        <a:latin typeface="Times New Roman" pitchFamily="18" charset="0"/>
                        <a:cs typeface="Times New Roman" pitchFamily="18" charset="0"/>
                      </a:endParaRPr>
                    </a:p>
                  </a:txBody>
                  <a:tcPr marL="91206" marR="91206" marT="45839" marB="45839">
                    <a:solidFill>
                      <a:schemeClr val="bg1">
                        <a:lumMod val="50000"/>
                      </a:schemeClr>
                    </a:solidFill>
                  </a:tcPr>
                </a:tc>
              </a:tr>
            </a:tbl>
          </a:graphicData>
        </a:graphic>
      </p:graphicFrame>
      <p:graphicFrame>
        <p:nvGraphicFramePr>
          <p:cNvPr id="98" name="Таблица 97"/>
          <p:cNvGraphicFramePr>
            <a:graphicFrameLocks noGrp="1"/>
          </p:cNvGraphicFramePr>
          <p:nvPr/>
        </p:nvGraphicFramePr>
        <p:xfrm>
          <a:off x="-779463" y="6354763"/>
          <a:ext cx="260350" cy="244475"/>
        </p:xfrm>
        <a:graphic>
          <a:graphicData uri="http://schemas.openxmlformats.org/drawingml/2006/table">
            <a:tbl>
              <a:tblPr firstRow="1" bandRow="1">
                <a:tableStyleId>{5940675A-B579-460E-94D1-54222C63F5DA}</a:tableStyleId>
              </a:tblPr>
              <a:tblGrid>
                <a:gridCol w="260350"/>
              </a:tblGrid>
              <a:tr h="244475">
                <a:tc>
                  <a:txBody>
                    <a:bodyPr/>
                    <a:lstStyle/>
                    <a:p>
                      <a:endParaRPr lang="ru-RU" sz="1000" dirty="0">
                        <a:latin typeface="Times New Roman" pitchFamily="18" charset="0"/>
                        <a:cs typeface="Times New Roman" pitchFamily="18" charset="0"/>
                      </a:endParaRPr>
                    </a:p>
                  </a:txBody>
                  <a:tcPr marL="91766" marR="91766" marT="45839" marB="45839">
                    <a:solidFill>
                      <a:schemeClr val="bg1">
                        <a:lumMod val="50000"/>
                      </a:schemeClr>
                    </a:solidFill>
                  </a:tcPr>
                </a:tc>
              </a:tr>
            </a:tbl>
          </a:graphicData>
        </a:graphic>
      </p:graphicFrame>
      <p:graphicFrame>
        <p:nvGraphicFramePr>
          <p:cNvPr id="99" name="Таблица 98"/>
          <p:cNvGraphicFramePr>
            <a:graphicFrameLocks noGrp="1"/>
          </p:cNvGraphicFramePr>
          <p:nvPr/>
        </p:nvGraphicFramePr>
        <p:xfrm>
          <a:off x="-757238" y="5786438"/>
          <a:ext cx="260350" cy="244475"/>
        </p:xfrm>
        <a:graphic>
          <a:graphicData uri="http://schemas.openxmlformats.org/drawingml/2006/table">
            <a:tbl>
              <a:tblPr firstRow="1" bandRow="1">
                <a:tableStyleId>{5940675A-B579-460E-94D1-54222C63F5DA}</a:tableStyleId>
              </a:tblPr>
              <a:tblGrid>
                <a:gridCol w="260350"/>
              </a:tblGrid>
              <a:tr h="244475">
                <a:tc>
                  <a:txBody>
                    <a:bodyPr/>
                    <a:lstStyle/>
                    <a:p>
                      <a:endParaRPr lang="ru-RU" sz="1000" dirty="0">
                        <a:latin typeface="Times New Roman" pitchFamily="18" charset="0"/>
                        <a:cs typeface="Times New Roman" pitchFamily="18" charset="0"/>
                      </a:endParaRPr>
                    </a:p>
                  </a:txBody>
                  <a:tcPr marL="91766" marR="91766" marT="45839" marB="45839">
                    <a:solidFill>
                      <a:schemeClr val="bg1">
                        <a:lumMod val="50000"/>
                      </a:schemeClr>
                    </a:solidFill>
                  </a:tcPr>
                </a:tc>
              </a:tr>
            </a:tbl>
          </a:graphicData>
        </a:graphic>
      </p:graphicFrame>
      <p:graphicFrame>
        <p:nvGraphicFramePr>
          <p:cNvPr id="100" name="Таблица 99"/>
          <p:cNvGraphicFramePr>
            <a:graphicFrameLocks noGrp="1"/>
          </p:cNvGraphicFramePr>
          <p:nvPr/>
        </p:nvGraphicFramePr>
        <p:xfrm>
          <a:off x="-757238" y="5381625"/>
          <a:ext cx="260350" cy="244475"/>
        </p:xfrm>
        <a:graphic>
          <a:graphicData uri="http://schemas.openxmlformats.org/drawingml/2006/table">
            <a:tbl>
              <a:tblPr firstRow="1" bandRow="1">
                <a:tableStyleId>{5940675A-B579-460E-94D1-54222C63F5DA}</a:tableStyleId>
              </a:tblPr>
              <a:tblGrid>
                <a:gridCol w="260350"/>
              </a:tblGrid>
              <a:tr h="244475">
                <a:tc>
                  <a:txBody>
                    <a:bodyPr/>
                    <a:lstStyle/>
                    <a:p>
                      <a:endParaRPr lang="ru-RU" sz="1000" dirty="0">
                        <a:latin typeface="Times New Roman" pitchFamily="18" charset="0"/>
                        <a:cs typeface="Times New Roman" pitchFamily="18" charset="0"/>
                      </a:endParaRPr>
                    </a:p>
                  </a:txBody>
                  <a:tcPr marL="91766" marR="91766" marT="45839" marB="45839">
                    <a:solidFill>
                      <a:schemeClr val="bg1">
                        <a:lumMod val="50000"/>
                      </a:schemeClr>
                    </a:solidFill>
                  </a:tcPr>
                </a:tc>
              </a:tr>
            </a:tbl>
          </a:graphicData>
        </a:graphic>
      </p:graphicFrame>
      <p:graphicFrame>
        <p:nvGraphicFramePr>
          <p:cNvPr id="101" name="Таблица 100"/>
          <p:cNvGraphicFramePr>
            <a:graphicFrameLocks noGrp="1"/>
          </p:cNvGraphicFramePr>
          <p:nvPr/>
        </p:nvGraphicFramePr>
        <p:xfrm>
          <a:off x="-757238" y="5022850"/>
          <a:ext cx="260350" cy="243484"/>
        </p:xfrm>
        <a:graphic>
          <a:graphicData uri="http://schemas.openxmlformats.org/drawingml/2006/table">
            <a:tbl>
              <a:tblPr firstRow="1" bandRow="1">
                <a:tableStyleId>{5940675A-B579-460E-94D1-54222C63F5DA}</a:tableStyleId>
              </a:tblPr>
              <a:tblGrid>
                <a:gridCol w="260350"/>
              </a:tblGrid>
              <a:tr h="242888">
                <a:tc>
                  <a:txBody>
                    <a:bodyPr/>
                    <a:lstStyle/>
                    <a:p>
                      <a:endParaRPr lang="ru-RU" sz="1000" dirty="0">
                        <a:latin typeface="Times New Roman" pitchFamily="18" charset="0"/>
                        <a:cs typeface="Times New Roman" pitchFamily="18" charset="0"/>
                      </a:endParaRPr>
                    </a:p>
                  </a:txBody>
                  <a:tcPr marL="91766" marR="91766" marT="45542" marB="45542">
                    <a:solidFill>
                      <a:schemeClr val="bg1">
                        <a:lumMod val="50000"/>
                      </a:schemeClr>
                    </a:solidFill>
                  </a:tcPr>
                </a:tc>
              </a:tr>
            </a:tbl>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xit" presetSubtype="0" fill="hold" grpId="0" nodeType="clickEffect">
                                  <p:stCondLst>
                                    <p:cond delay="0"/>
                                  </p:stCondLst>
                                  <p:childTnLst>
                                    <p:animEffect transition="out" filter="fade">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par>
                                <p:cTn id="8" presetID="42" presetClass="path" presetSubtype="0" accel="50000" decel="50000" fill="hold" nodeType="withEffect">
                                  <p:stCondLst>
                                    <p:cond delay="0"/>
                                  </p:stCondLst>
                                  <p:childTnLst>
                                    <p:animMotion origin="layout" path="M -1.38889E-6 4.07407E-6 L 0.13715 0.00717 " pathEditMode="relative" rAng="0" ptsTypes="AA">
                                      <p:cBhvr>
                                        <p:cTn id="9" dur="2000" fill="hold"/>
                                        <p:tgtEl>
                                          <p:spTgt spid="35"/>
                                        </p:tgtEl>
                                        <p:attrNameLst>
                                          <p:attrName>ppt_x</p:attrName>
                                          <p:attrName>ppt_y</p:attrName>
                                        </p:attrNameLst>
                                      </p:cBhvr>
                                      <p:rCtr x="6858" y="347"/>
                                    </p:animMotion>
                                  </p:childTnLst>
                                </p:cTn>
                              </p:par>
                              <p:par>
                                <p:cTn id="10" presetID="42" presetClass="path" presetSubtype="0" accel="50000" decel="50000" fill="hold" grpId="0" nodeType="withEffect">
                                  <p:stCondLst>
                                    <p:cond delay="0"/>
                                  </p:stCondLst>
                                  <p:childTnLst>
                                    <p:animMotion origin="layout" path="M 8.33333E-7 -4.44444E-6 L 0.15729 0.00487 " pathEditMode="relative" rAng="0" ptsTypes="AA">
                                      <p:cBhvr>
                                        <p:cTn id="11" dur="2000" fill="hold"/>
                                        <p:tgtEl>
                                          <p:spTgt spid="93"/>
                                        </p:tgtEl>
                                        <p:attrNameLst>
                                          <p:attrName>ppt_x</p:attrName>
                                          <p:attrName>ppt_y</p:attrName>
                                        </p:attrNameLst>
                                      </p:cBhvr>
                                      <p:rCtr x="7865" y="231"/>
                                    </p:animMotion>
                                  </p:childTnLst>
                                </p:cTn>
                              </p:par>
                              <p:par>
                                <p:cTn id="12" presetID="1" presetClass="exit" presetSubtype="0" fill="hold" grpId="0" nodeType="withEffect">
                                  <p:stCondLst>
                                    <p:cond delay="0"/>
                                  </p:stCondLst>
                                  <p:childTnLst>
                                    <p:set>
                                      <p:cBhvr>
                                        <p:cTn id="13" dur="1" fill="hold">
                                          <p:stCondLst>
                                            <p:cond delay="0"/>
                                          </p:stCondLst>
                                        </p:cTn>
                                        <p:tgtEl>
                                          <p:spTgt spid="92"/>
                                        </p:tgtEl>
                                        <p:attrNameLst>
                                          <p:attrName>style.visibility</p:attrName>
                                        </p:attrNameLst>
                                      </p:cBhvr>
                                      <p:to>
                                        <p:strVal val="hidden"/>
                                      </p:to>
                                    </p:set>
                                  </p:childTnLst>
                                </p:cTn>
                              </p:par>
                              <p:par>
                                <p:cTn id="14" presetID="2" presetClass="entr" presetSubtype="4"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 calcmode="lin" valueType="num">
                                      <p:cBhvr additive="base">
                                        <p:cTn id="16" dur="500" fill="hold"/>
                                        <p:tgtEl>
                                          <p:spTgt spid="9"/>
                                        </p:tgtEl>
                                        <p:attrNameLst>
                                          <p:attrName>ppt_x</p:attrName>
                                        </p:attrNameLst>
                                      </p:cBhvr>
                                      <p:tavLst>
                                        <p:tav tm="0">
                                          <p:val>
                                            <p:strVal val="#ppt_x"/>
                                          </p:val>
                                        </p:tav>
                                        <p:tav tm="100000">
                                          <p:val>
                                            <p:strVal val="#ppt_x"/>
                                          </p:val>
                                        </p:tav>
                                      </p:tavLst>
                                    </p:anim>
                                    <p:anim calcmode="lin" valueType="num">
                                      <p:cBhvr additive="base">
                                        <p:cTn id="17" dur="500" fill="hold"/>
                                        <p:tgtEl>
                                          <p:spTgt spid="9"/>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0"/>
                                  </p:stCondLst>
                                  <p:childTnLst>
                                    <p:set>
                                      <p:cBhvr>
                                        <p:cTn id="19" dur="1" fill="hold">
                                          <p:stCondLst>
                                            <p:cond delay="0"/>
                                          </p:stCondLst>
                                        </p:cTn>
                                        <p:tgtEl>
                                          <p:spTgt spid="91"/>
                                        </p:tgtEl>
                                        <p:attrNameLst>
                                          <p:attrName>style.visibility</p:attrName>
                                        </p:attrNameLst>
                                      </p:cBhvr>
                                      <p:to>
                                        <p:strVal val="visible"/>
                                      </p:to>
                                    </p:set>
                                    <p:anim calcmode="lin" valueType="num">
                                      <p:cBhvr additive="base">
                                        <p:cTn id="20" dur="500" fill="hold"/>
                                        <p:tgtEl>
                                          <p:spTgt spid="91"/>
                                        </p:tgtEl>
                                        <p:attrNameLst>
                                          <p:attrName>ppt_x</p:attrName>
                                        </p:attrNameLst>
                                      </p:cBhvr>
                                      <p:tavLst>
                                        <p:tav tm="0">
                                          <p:val>
                                            <p:strVal val="#ppt_x"/>
                                          </p:val>
                                        </p:tav>
                                        <p:tav tm="100000">
                                          <p:val>
                                            <p:strVal val="#ppt_x"/>
                                          </p:val>
                                        </p:tav>
                                      </p:tavLst>
                                    </p:anim>
                                    <p:anim calcmode="lin" valueType="num">
                                      <p:cBhvr additive="base">
                                        <p:cTn id="21" dur="500" fill="hold"/>
                                        <p:tgtEl>
                                          <p:spTgt spid="91"/>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500" fill="hold"/>
                                        <p:tgtEl>
                                          <p:spTgt spid="11"/>
                                        </p:tgtEl>
                                        <p:attrNameLst>
                                          <p:attrName>ppt_x</p:attrName>
                                        </p:attrNameLst>
                                      </p:cBhvr>
                                      <p:tavLst>
                                        <p:tav tm="0">
                                          <p:val>
                                            <p:strVal val="#ppt_x"/>
                                          </p:val>
                                        </p:tav>
                                        <p:tav tm="100000">
                                          <p:val>
                                            <p:strVal val="#ppt_x"/>
                                          </p:val>
                                        </p:tav>
                                      </p:tavLst>
                                    </p:anim>
                                    <p:anim calcmode="lin" valueType="num">
                                      <p:cBhvr additive="base">
                                        <p:cTn id="25" dur="500" fill="hold"/>
                                        <p:tgtEl>
                                          <p:spTgt spid="11"/>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additive="base">
                                        <p:cTn id="28" dur="500" fill="hold"/>
                                        <p:tgtEl>
                                          <p:spTgt spid="10"/>
                                        </p:tgtEl>
                                        <p:attrNameLst>
                                          <p:attrName>ppt_x</p:attrName>
                                        </p:attrNameLst>
                                      </p:cBhvr>
                                      <p:tavLst>
                                        <p:tav tm="0">
                                          <p:val>
                                            <p:strVal val="#ppt_x"/>
                                          </p:val>
                                        </p:tav>
                                        <p:tav tm="100000">
                                          <p:val>
                                            <p:strVal val="#ppt_x"/>
                                          </p:val>
                                        </p:tav>
                                      </p:tavLst>
                                    </p:anim>
                                    <p:anim calcmode="lin" valueType="num">
                                      <p:cBhvr additive="base">
                                        <p:cTn id="29" dur="500" fill="hold"/>
                                        <p:tgtEl>
                                          <p:spTgt spid="10"/>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0"/>
                                  </p:stCondLst>
                                  <p:childTnLst>
                                    <p:set>
                                      <p:cBhvr>
                                        <p:cTn id="31" dur="1" fill="hold">
                                          <p:stCondLst>
                                            <p:cond delay="0"/>
                                          </p:stCondLst>
                                        </p:cTn>
                                        <p:tgtEl>
                                          <p:spTgt spid="95"/>
                                        </p:tgtEl>
                                        <p:attrNameLst>
                                          <p:attrName>style.visibility</p:attrName>
                                        </p:attrNameLst>
                                      </p:cBhvr>
                                      <p:to>
                                        <p:strVal val="visible"/>
                                      </p:to>
                                    </p:set>
                                    <p:anim calcmode="lin" valueType="num">
                                      <p:cBhvr additive="base">
                                        <p:cTn id="32" dur="500" fill="hold"/>
                                        <p:tgtEl>
                                          <p:spTgt spid="95"/>
                                        </p:tgtEl>
                                        <p:attrNameLst>
                                          <p:attrName>ppt_x</p:attrName>
                                        </p:attrNameLst>
                                      </p:cBhvr>
                                      <p:tavLst>
                                        <p:tav tm="0">
                                          <p:val>
                                            <p:strVal val="#ppt_x"/>
                                          </p:val>
                                        </p:tav>
                                        <p:tav tm="100000">
                                          <p:val>
                                            <p:strVal val="#ppt_x"/>
                                          </p:val>
                                        </p:tav>
                                      </p:tavLst>
                                    </p:anim>
                                    <p:anim calcmode="lin" valueType="num">
                                      <p:cBhvr additive="base">
                                        <p:cTn id="33" dur="500" fill="hold"/>
                                        <p:tgtEl>
                                          <p:spTgt spid="95"/>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96"/>
                                        </p:tgtEl>
                                        <p:attrNameLst>
                                          <p:attrName>style.visibility</p:attrName>
                                        </p:attrNameLst>
                                      </p:cBhvr>
                                      <p:to>
                                        <p:strVal val="visible"/>
                                      </p:to>
                                    </p:set>
                                    <p:anim calcmode="lin" valueType="num">
                                      <p:cBhvr additive="base">
                                        <p:cTn id="36" dur="500" fill="hold"/>
                                        <p:tgtEl>
                                          <p:spTgt spid="96"/>
                                        </p:tgtEl>
                                        <p:attrNameLst>
                                          <p:attrName>ppt_x</p:attrName>
                                        </p:attrNameLst>
                                      </p:cBhvr>
                                      <p:tavLst>
                                        <p:tav tm="0">
                                          <p:val>
                                            <p:strVal val="#ppt_x"/>
                                          </p:val>
                                        </p:tav>
                                        <p:tav tm="100000">
                                          <p:val>
                                            <p:strVal val="#ppt_x"/>
                                          </p:val>
                                        </p:tav>
                                      </p:tavLst>
                                    </p:anim>
                                    <p:anim calcmode="lin" valueType="num">
                                      <p:cBhvr additive="base">
                                        <p:cTn id="37" dur="500" fill="hold"/>
                                        <p:tgtEl>
                                          <p:spTgt spid="96"/>
                                        </p:tgtEl>
                                        <p:attrNameLst>
                                          <p:attrName>ppt_y</p:attrName>
                                        </p:attrNameLst>
                                      </p:cBhvr>
                                      <p:tavLst>
                                        <p:tav tm="0">
                                          <p:val>
                                            <p:strVal val="1+#ppt_h/2"/>
                                          </p:val>
                                        </p:tav>
                                        <p:tav tm="100000">
                                          <p:val>
                                            <p:strVal val="#ppt_y"/>
                                          </p:val>
                                        </p:tav>
                                      </p:tavLst>
                                    </p:anim>
                                  </p:childTnLst>
                                </p:cTn>
                              </p:par>
                              <p:par>
                                <p:cTn id="38" presetID="42" presetClass="path" presetSubtype="0" accel="50000" decel="50000" fill="hold" grpId="0" nodeType="withEffect">
                                  <p:stCondLst>
                                    <p:cond delay="0"/>
                                  </p:stCondLst>
                                  <p:childTnLst>
                                    <p:animMotion origin="layout" path="M -2.22222E-6 -4.07407E-6 L 0.18525 0.0044 " pathEditMode="relative" rAng="0" ptsTypes="AA">
                                      <p:cBhvr>
                                        <p:cTn id="39" dur="2000" fill="hold"/>
                                        <p:tgtEl>
                                          <p:spTgt spid="3"/>
                                        </p:tgtEl>
                                        <p:attrNameLst>
                                          <p:attrName>ppt_x</p:attrName>
                                          <p:attrName>ppt_y</p:attrName>
                                        </p:attrNameLst>
                                      </p:cBhvr>
                                      <p:rCtr x="9253" y="208"/>
                                    </p:animMotion>
                                  </p:childTnLst>
                                </p:cTn>
                              </p:par>
                              <p:par>
                                <p:cTn id="40" presetID="2" presetClass="entr" presetSubtype="4" fill="hold" grpId="0" nodeType="withEffect">
                                  <p:stCondLst>
                                    <p:cond delay="0"/>
                                  </p:stCondLst>
                                  <p:childTnLst>
                                    <p:set>
                                      <p:cBhvr>
                                        <p:cTn id="41" dur="1" fill="hold">
                                          <p:stCondLst>
                                            <p:cond delay="0"/>
                                          </p:stCondLst>
                                        </p:cTn>
                                        <p:tgtEl>
                                          <p:spTgt spid="97"/>
                                        </p:tgtEl>
                                        <p:attrNameLst>
                                          <p:attrName>style.visibility</p:attrName>
                                        </p:attrNameLst>
                                      </p:cBhvr>
                                      <p:to>
                                        <p:strVal val="visible"/>
                                      </p:to>
                                    </p:set>
                                    <p:anim calcmode="lin" valueType="num">
                                      <p:cBhvr additive="base">
                                        <p:cTn id="42" dur="500" fill="hold"/>
                                        <p:tgtEl>
                                          <p:spTgt spid="97"/>
                                        </p:tgtEl>
                                        <p:attrNameLst>
                                          <p:attrName>ppt_x</p:attrName>
                                        </p:attrNameLst>
                                      </p:cBhvr>
                                      <p:tavLst>
                                        <p:tav tm="0">
                                          <p:val>
                                            <p:strVal val="#ppt_x"/>
                                          </p:val>
                                        </p:tav>
                                        <p:tav tm="100000">
                                          <p:val>
                                            <p:strVal val="#ppt_x"/>
                                          </p:val>
                                        </p:tav>
                                      </p:tavLst>
                                    </p:anim>
                                    <p:anim calcmode="lin" valueType="num">
                                      <p:cBhvr additive="base">
                                        <p:cTn id="43" dur="500" fill="hold"/>
                                        <p:tgtEl>
                                          <p:spTgt spid="97"/>
                                        </p:tgtEl>
                                        <p:attrNameLst>
                                          <p:attrName>ppt_y</p:attrName>
                                        </p:attrNameLst>
                                      </p:cBhvr>
                                      <p:tavLst>
                                        <p:tav tm="0">
                                          <p:val>
                                            <p:strVal val="1+#ppt_h/2"/>
                                          </p:val>
                                        </p:tav>
                                        <p:tav tm="100000">
                                          <p:val>
                                            <p:strVal val="#ppt_y"/>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10" presetClass="entr" presetSubtype="0" fill="hold" nodeType="click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500"/>
                                        <p:tgtEl>
                                          <p:spTgt spid="12"/>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 presetClass="entr" presetSubtype="4" fill="hold" nodeType="clickEffect">
                                  <p:stCondLst>
                                    <p:cond delay="0"/>
                                  </p:stCondLst>
                                  <p:childTnLst>
                                    <p:set>
                                      <p:cBhvr>
                                        <p:cTn id="52" dur="1" fill="hold">
                                          <p:stCondLst>
                                            <p:cond delay="0"/>
                                          </p:stCondLst>
                                        </p:cTn>
                                        <p:tgtEl>
                                          <p:spTgt spid="94"/>
                                        </p:tgtEl>
                                        <p:attrNameLst>
                                          <p:attrName>style.visibility</p:attrName>
                                        </p:attrNameLst>
                                      </p:cBhvr>
                                      <p:to>
                                        <p:strVal val="visible"/>
                                      </p:to>
                                    </p:set>
                                    <p:anim calcmode="lin" valueType="num">
                                      <p:cBhvr additive="base">
                                        <p:cTn id="53" dur="500" fill="hold"/>
                                        <p:tgtEl>
                                          <p:spTgt spid="94"/>
                                        </p:tgtEl>
                                        <p:attrNameLst>
                                          <p:attrName>ppt_x</p:attrName>
                                        </p:attrNameLst>
                                      </p:cBhvr>
                                      <p:tavLst>
                                        <p:tav tm="0">
                                          <p:val>
                                            <p:strVal val="#ppt_x"/>
                                          </p:val>
                                        </p:tav>
                                        <p:tav tm="100000">
                                          <p:val>
                                            <p:strVal val="#ppt_x"/>
                                          </p:val>
                                        </p:tav>
                                      </p:tavLst>
                                    </p:anim>
                                    <p:anim calcmode="lin" valueType="num">
                                      <p:cBhvr additive="base">
                                        <p:cTn id="54" dur="500" fill="hold"/>
                                        <p:tgtEl>
                                          <p:spTgt spid="94"/>
                                        </p:tgtEl>
                                        <p:attrNameLst>
                                          <p:attrName>ppt_y</p:attrName>
                                        </p:attrNameLst>
                                      </p:cBhvr>
                                      <p:tavLst>
                                        <p:tav tm="0">
                                          <p:val>
                                            <p:strVal val="1+#ppt_h/2"/>
                                          </p:val>
                                        </p:tav>
                                        <p:tav tm="100000">
                                          <p:val>
                                            <p:strVal val="#ppt_y"/>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8"/>
                                        </p:tgtEl>
                                        <p:attrNameLst>
                                          <p:attrName>style.visibility</p:attrName>
                                        </p:attrNameLst>
                                      </p:cBhvr>
                                      <p:to>
                                        <p:strVal val="visible"/>
                                      </p:to>
                                    </p:set>
                                    <p:anim calcmode="lin" valueType="num">
                                      <p:cBhvr additive="base">
                                        <p:cTn id="59" dur="500" fill="hold"/>
                                        <p:tgtEl>
                                          <p:spTgt spid="8"/>
                                        </p:tgtEl>
                                        <p:attrNameLst>
                                          <p:attrName>ppt_x</p:attrName>
                                        </p:attrNameLst>
                                      </p:cBhvr>
                                      <p:tavLst>
                                        <p:tav tm="0">
                                          <p:val>
                                            <p:strVal val="#ppt_x"/>
                                          </p:val>
                                        </p:tav>
                                        <p:tav tm="100000">
                                          <p:val>
                                            <p:strVal val="#ppt_x"/>
                                          </p:val>
                                        </p:tav>
                                      </p:tavLst>
                                    </p:anim>
                                    <p:anim calcmode="lin" valueType="num">
                                      <p:cBhvr additive="base">
                                        <p:cTn id="6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42" presetClass="path" presetSubtype="0" accel="50000" decel="50000" fill="hold" nodeType="clickEffect">
                                  <p:stCondLst>
                                    <p:cond delay="0"/>
                                  </p:stCondLst>
                                  <p:childTnLst>
                                    <p:animMotion origin="layout" path="M 0.16562 -0.22523 L 1.03177 -0.23588 " pathEditMode="relative" rAng="0" ptsTypes="AA">
                                      <p:cBhvr>
                                        <p:cTn id="64" dur="2000" fill="hold"/>
                                        <p:tgtEl>
                                          <p:spTgt spid="15"/>
                                        </p:tgtEl>
                                        <p:attrNameLst>
                                          <p:attrName>ppt_x</p:attrName>
                                          <p:attrName>ppt_y</p:attrName>
                                        </p:attrNameLst>
                                      </p:cBhvr>
                                      <p:rCtr x="43299" y="-532"/>
                                    </p:animMotion>
                                  </p:childTnLst>
                                </p:cTn>
                              </p:par>
                            </p:childTnLst>
                          </p:cTn>
                        </p:par>
                        <p:par>
                          <p:cTn id="65" fill="hold" nodeType="afterGroup">
                            <p:stCondLst>
                              <p:cond delay="2000"/>
                            </p:stCondLst>
                            <p:childTnLst>
                              <p:par>
                                <p:cTn id="66" presetID="42" presetClass="path" presetSubtype="0" accel="50000" decel="50000" fill="hold" nodeType="afterEffect">
                                  <p:stCondLst>
                                    <p:cond delay="0"/>
                                  </p:stCondLst>
                                  <p:childTnLst>
                                    <p:animMotion origin="layout" path="M 0.13802 -0.19236 L 0.99618 -0.203 " pathEditMode="relative" rAng="0" ptsTypes="AA">
                                      <p:cBhvr>
                                        <p:cTn id="67" dur="2000" fill="hold"/>
                                        <p:tgtEl>
                                          <p:spTgt spid="98"/>
                                        </p:tgtEl>
                                        <p:attrNameLst>
                                          <p:attrName>ppt_x</p:attrName>
                                          <p:attrName>ppt_y</p:attrName>
                                        </p:attrNameLst>
                                      </p:cBhvr>
                                      <p:rCtr x="42899" y="-532"/>
                                    </p:animMotion>
                                  </p:childTnLst>
                                </p:cTn>
                              </p:par>
                            </p:childTnLst>
                          </p:cTn>
                        </p:par>
                        <p:par>
                          <p:cTn id="68" fill="hold" nodeType="afterGroup">
                            <p:stCondLst>
                              <p:cond delay="4000"/>
                            </p:stCondLst>
                            <p:childTnLst>
                              <p:par>
                                <p:cTn id="69" presetID="42" presetClass="path" presetSubtype="0" accel="50000" decel="50000" fill="hold" nodeType="afterEffect">
                                  <p:stCondLst>
                                    <p:cond delay="0"/>
                                  </p:stCondLst>
                                  <p:childTnLst>
                                    <p:animMotion origin="layout" path="M 0.12761 -0.12013 L 0.99375 -0.08865 " pathEditMode="relative" rAng="0" ptsTypes="AA">
                                      <p:cBhvr>
                                        <p:cTn id="70" dur="2000" fill="hold"/>
                                        <p:tgtEl>
                                          <p:spTgt spid="99"/>
                                        </p:tgtEl>
                                        <p:attrNameLst>
                                          <p:attrName>ppt_x</p:attrName>
                                          <p:attrName>ppt_y</p:attrName>
                                        </p:attrNameLst>
                                      </p:cBhvr>
                                      <p:rCtr x="43299" y="1574"/>
                                    </p:animMotion>
                                  </p:childTnLst>
                                </p:cTn>
                              </p:par>
                            </p:childTnLst>
                          </p:cTn>
                        </p:par>
                        <p:par>
                          <p:cTn id="71" fill="hold" nodeType="afterGroup">
                            <p:stCondLst>
                              <p:cond delay="6000"/>
                            </p:stCondLst>
                            <p:childTnLst>
                              <p:par>
                                <p:cTn id="72" presetID="42" presetClass="path" presetSubtype="0" accel="50000" decel="50000" fill="hold" nodeType="afterEffect">
                                  <p:stCondLst>
                                    <p:cond delay="0"/>
                                  </p:stCondLst>
                                  <p:childTnLst>
                                    <p:animMotion origin="layout" path="M 0.1198 -0.06111 L 0.99375 0.00185 " pathEditMode="relative" rAng="0" ptsTypes="AA">
                                      <p:cBhvr>
                                        <p:cTn id="73" dur="2000" fill="hold"/>
                                        <p:tgtEl>
                                          <p:spTgt spid="100"/>
                                        </p:tgtEl>
                                        <p:attrNameLst>
                                          <p:attrName>ppt_x</p:attrName>
                                          <p:attrName>ppt_y</p:attrName>
                                        </p:attrNameLst>
                                      </p:cBhvr>
                                      <p:rCtr x="43698" y="3148"/>
                                    </p:animMotion>
                                  </p:childTnLst>
                                </p:cTn>
                              </p:par>
                            </p:childTnLst>
                          </p:cTn>
                        </p:par>
                        <p:par>
                          <p:cTn id="74" fill="hold" nodeType="afterGroup">
                            <p:stCondLst>
                              <p:cond delay="8000"/>
                            </p:stCondLst>
                            <p:childTnLst>
                              <p:par>
                                <p:cTn id="75" presetID="42" presetClass="path" presetSubtype="0" accel="50000" decel="50000" fill="hold" nodeType="afterEffect">
                                  <p:stCondLst>
                                    <p:cond delay="0"/>
                                  </p:stCondLst>
                                  <p:childTnLst>
                                    <p:animMotion origin="layout" path="M 0.1198 -0.01898 L 0.99375 0.08588 " pathEditMode="relative" rAng="0" ptsTypes="AA">
                                      <p:cBhvr>
                                        <p:cTn id="76" dur="2000" fill="hold"/>
                                        <p:tgtEl>
                                          <p:spTgt spid="101"/>
                                        </p:tgtEl>
                                        <p:attrNameLst>
                                          <p:attrName>ppt_x</p:attrName>
                                          <p:attrName>ppt_y</p:attrName>
                                        </p:attrNameLst>
                                      </p:cBhvr>
                                      <p:rCtr x="43698" y="523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91" grpId="0"/>
      <p:bldP spid="92" grpId="0"/>
      <p:bldP spid="93" grpId="0"/>
      <p:bldP spid="8" grpId="0"/>
      <p:bldP spid="10" grpId="0"/>
      <p:bldP spid="11" grpId="0"/>
      <p:bldP spid="95" grpId="0"/>
      <p:bldP spid="96" grpId="0"/>
      <p:bldP spid="9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428596" y="228600"/>
            <a:ext cx="8501122" cy="914400"/>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t="100000" r="100000"/>
            </a:path>
            <a:tileRect l="-100000" b="-100000"/>
          </a:gradFill>
          <a:ln>
            <a:solidFill>
              <a:schemeClr val="tx1"/>
            </a:solidFill>
          </a:ln>
          <a:effectLst>
            <a:glow rad="101600">
              <a:schemeClr val="accent4">
                <a:satMod val="175000"/>
                <a:alpha val="40000"/>
              </a:schemeClr>
            </a:glow>
            <a:softEdge rad="12700"/>
          </a:effectLst>
        </p:spPr>
        <p:style>
          <a:lnRef idx="2">
            <a:schemeClr val="dk1"/>
          </a:lnRef>
          <a:fillRef idx="1">
            <a:schemeClr val="lt1"/>
          </a:fillRef>
          <a:effectRef idx="0">
            <a:schemeClr val="dk1"/>
          </a:effectRef>
          <a:fontRef idx="minor">
            <a:schemeClr val="dk1"/>
          </a:fontRef>
        </p:style>
        <p:txBody>
          <a:bodyPr anchor="ctr"/>
          <a:lstStyle/>
          <a:p>
            <a:pPr algn="ctr" fontAlgn="auto">
              <a:spcBef>
                <a:spcPts val="0"/>
              </a:spcBef>
              <a:spcAft>
                <a:spcPts val="0"/>
              </a:spcAft>
              <a:defRPr/>
            </a:pPr>
            <a:r>
              <a:rPr lang="ru-RU" sz="2000" b="1" dirty="0">
                <a:latin typeface="Times New Roman" pitchFamily="18" charset="0"/>
                <a:cs typeface="Times New Roman" pitchFamily="18" charset="0"/>
              </a:rPr>
              <a:t>Губка </a:t>
            </a:r>
            <a:r>
              <a:rPr lang="ru-RU" sz="2000" b="1" dirty="0" err="1">
                <a:latin typeface="Times New Roman" pitchFamily="18" charset="0"/>
                <a:cs typeface="Times New Roman" pitchFamily="18" charset="0"/>
              </a:rPr>
              <a:t>схемаси</a:t>
            </a:r>
            <a:r>
              <a:rPr lang="ru-RU" sz="2000" b="1" dirty="0">
                <a:latin typeface="Times New Roman" pitchFamily="18" charset="0"/>
                <a:cs typeface="Times New Roman" pitchFamily="18" charset="0"/>
              </a:rPr>
              <a:t> </a:t>
            </a:r>
            <a:r>
              <a:rPr lang="ru-RU" sz="2000" b="1" dirty="0" err="1">
                <a:latin typeface="Times New Roman" pitchFamily="18" charset="0"/>
                <a:cs typeface="Times New Roman" pitchFamily="18" charset="0"/>
              </a:rPr>
              <a:t>афзалликлари</a:t>
            </a:r>
            <a:endParaRPr lang="ru-RU" sz="2000" b="1" dirty="0">
              <a:latin typeface="Times New Roman" pitchFamily="18" charset="0"/>
              <a:cs typeface="Times New Roman" pitchFamily="18" charset="0"/>
            </a:endParaRPr>
          </a:p>
          <a:p>
            <a:pPr algn="ctr" fontAlgn="auto">
              <a:spcBef>
                <a:spcPts val="0"/>
              </a:spcBef>
              <a:spcAft>
                <a:spcPts val="0"/>
              </a:spcAft>
              <a:defRPr/>
            </a:pPr>
            <a:endParaRPr lang="ru-RU" sz="2000" b="1" dirty="0">
              <a:solidFill>
                <a:srgbClr val="C00000"/>
              </a:solidFill>
              <a:latin typeface="Times New Roman" pitchFamily="18" charset="0"/>
              <a:cs typeface="Times New Roman" pitchFamily="18" charset="0"/>
            </a:endParaRPr>
          </a:p>
        </p:txBody>
      </p:sp>
      <p:sp>
        <p:nvSpPr>
          <p:cNvPr id="5" name="Прямоугольник 4"/>
          <p:cNvSpPr/>
          <p:nvPr/>
        </p:nvSpPr>
        <p:spPr>
          <a:xfrm>
            <a:off x="381000" y="1295400"/>
            <a:ext cx="8534400" cy="5410200"/>
          </a:xfrm>
          <a:prstGeom prst="rect">
            <a:avLst/>
          </a:prstGeom>
          <a:solidFill>
            <a:schemeClr val="bg2"/>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fontAlgn="auto">
              <a:spcBef>
                <a:spcPts val="0"/>
              </a:spcBef>
              <a:spcAft>
                <a:spcPts val="0"/>
              </a:spcAft>
              <a:defRPr/>
            </a:pPr>
            <a:endParaRPr lang="ru-RU" b="1" dirty="0">
              <a:solidFill>
                <a:schemeClr val="tx1"/>
              </a:solidFill>
              <a:latin typeface="Times New Roman" pitchFamily="18" charset="0"/>
              <a:cs typeface="Times New Roman" pitchFamily="18" charset="0"/>
            </a:endParaRPr>
          </a:p>
        </p:txBody>
      </p:sp>
      <p:sp>
        <p:nvSpPr>
          <p:cNvPr id="91" name="TextBox 90"/>
          <p:cNvSpPr txBox="1"/>
          <p:nvPr/>
        </p:nvSpPr>
        <p:spPr>
          <a:xfrm>
            <a:off x="404813" y="1377950"/>
            <a:ext cx="8534400" cy="5078413"/>
          </a:xfrm>
          <a:prstGeom prst="rect">
            <a:avLst/>
          </a:prstGeom>
          <a:noFill/>
        </p:spPr>
        <p:txBody>
          <a:bodyPr>
            <a:spAutoFit/>
          </a:bodyPr>
          <a:lstStyle/>
          <a:p>
            <a:pPr marL="285750" indent="-285750" algn="just" fontAlgn="auto">
              <a:spcBef>
                <a:spcPts val="0"/>
              </a:spcBef>
              <a:spcAft>
                <a:spcPts val="0"/>
              </a:spcAft>
              <a:buFont typeface="Arial" pitchFamily="34" charset="0"/>
              <a:buChar char="•"/>
              <a:defRPr/>
            </a:pPr>
            <a:r>
              <a:rPr lang="uz-Cyrl-UZ" dirty="0">
                <a:latin typeface="Times New Roman" pitchFamily="18" charset="0"/>
                <a:cs typeface="Times New Roman" pitchFamily="18" charset="0"/>
              </a:rPr>
              <a:t>Бошқа конструкцияларга қараганда оддий тузилишга эга ва содда </a:t>
            </a:r>
            <a:r>
              <a:rPr lang="ru-RU" dirty="0" err="1">
                <a:latin typeface="Times New Roman" pitchFamily="18" charset="0"/>
                <a:cs typeface="Times New Roman" pitchFamily="18" charset="0"/>
              </a:rPr>
              <a:t>ифодаланган</a:t>
            </a:r>
            <a:r>
              <a:rPr lang="ru-RU" dirty="0">
                <a:latin typeface="Times New Roman" pitchFamily="18" charset="0"/>
                <a:cs typeface="Times New Roman" pitchFamily="18" charset="0"/>
              </a:rPr>
              <a:t>;</a:t>
            </a:r>
          </a:p>
          <a:p>
            <a:pPr marL="285750" indent="-285750" algn="just" fontAlgn="auto">
              <a:spcBef>
                <a:spcPts val="0"/>
              </a:spcBef>
              <a:spcAft>
                <a:spcPts val="0"/>
              </a:spcAft>
              <a:buFont typeface="Arial" pitchFamily="34" charset="0"/>
              <a:buChar char="•"/>
              <a:defRPr/>
            </a:pPr>
            <a:r>
              <a:rPr lang="uz-Cyrl-UZ" dirty="0">
                <a:latin typeface="Times New Roman" pitchFamily="18" charset="0"/>
                <a:cs typeface="Times New Roman" pitchFamily="18" charset="0"/>
              </a:rPr>
              <a:t>Чиқишида ихтиёрий узунликдаги хэш қийматни олиш мумкин;</a:t>
            </a:r>
            <a:endParaRPr lang="ru-RU" dirty="0">
              <a:latin typeface="Times New Roman" pitchFamily="18" charset="0"/>
              <a:cs typeface="Times New Roman" pitchFamily="18" charset="0"/>
            </a:endParaRPr>
          </a:p>
          <a:p>
            <a:pPr marL="285750" indent="-285750" algn="just" fontAlgn="auto">
              <a:spcBef>
                <a:spcPts val="0"/>
              </a:spcBef>
              <a:spcAft>
                <a:spcPts val="0"/>
              </a:spcAft>
              <a:buFont typeface="Arial" pitchFamily="34" charset="0"/>
              <a:buChar char="•"/>
              <a:defRPr/>
            </a:pPr>
            <a:r>
              <a:rPr lang="uz-Cyrl-UZ" dirty="0">
                <a:latin typeface="Times New Roman" pitchFamily="18" charset="0"/>
                <a:cs typeface="Times New Roman" pitchFamily="18" charset="0"/>
              </a:rPr>
              <a:t>Ихчамлиги, яъни маълумотларни қайта ишловчи вектор (дастлабки вектор S=S</a:t>
            </a:r>
            <a:r>
              <a:rPr lang="uz-Cyrl-UZ" baseline="-25000" dirty="0">
                <a:latin typeface="Times New Roman" pitchFamily="18" charset="0"/>
                <a:cs typeface="Times New Roman" pitchFamily="18" charset="0"/>
              </a:rPr>
              <a:t>1</a:t>
            </a:r>
            <a:r>
              <a:rPr lang="uz-Cyrl-UZ" dirty="0">
                <a:latin typeface="Times New Roman" pitchFamily="18" charset="0"/>
                <a:cs typeface="Times New Roman" pitchFamily="18" charset="0"/>
              </a:rPr>
              <a:t>||S</a:t>
            </a:r>
            <a:r>
              <a:rPr lang="uz-Cyrl-UZ" baseline="-25000" dirty="0">
                <a:latin typeface="Times New Roman" pitchFamily="18" charset="0"/>
                <a:cs typeface="Times New Roman" pitchFamily="18" charset="0"/>
              </a:rPr>
              <a:t>2</a:t>
            </a:r>
            <a:r>
              <a:rPr lang="uz-Cyrl-UZ" dirty="0">
                <a:latin typeface="Times New Roman" pitchFamily="18" charset="0"/>
                <a:cs typeface="Times New Roman" pitchFamily="18" charset="0"/>
              </a:rPr>
              <a:t>) узунлиги ўзгарганда ҳам ундаги акслантиришларнинг умумий тузилишини ўзгартирмасдан фойдаланиш имконияти мавжудлиги;</a:t>
            </a:r>
            <a:endParaRPr lang="ru-RU" dirty="0">
              <a:latin typeface="Times New Roman" pitchFamily="18" charset="0"/>
              <a:cs typeface="Times New Roman" pitchFamily="18" charset="0"/>
            </a:endParaRPr>
          </a:p>
          <a:p>
            <a:pPr marL="285750" indent="-285750" algn="just" fontAlgn="auto">
              <a:spcBef>
                <a:spcPts val="0"/>
              </a:spcBef>
              <a:spcAft>
                <a:spcPts val="0"/>
              </a:spcAft>
              <a:buFont typeface="Arial" pitchFamily="34" charset="0"/>
              <a:buChar char="•"/>
              <a:defRPr/>
            </a:pPr>
            <a:r>
              <a:rPr lang="uz-Cyrl-UZ" dirty="0">
                <a:latin typeface="Times New Roman" pitchFamily="18" charset="0"/>
                <a:cs typeface="Times New Roman" pitchFamily="18" charset="0"/>
              </a:rPr>
              <a:t>Кўп функцияли ҳисобланади, яъни ушбу конструкциядан хэш функция алгоритми, блокли ва узлуксиз шифрлаш алгоритмларини яратишда ва маълумот манбасини аутентификация қилиш протоколларини яратишда фойдаланиш мумкин;</a:t>
            </a:r>
            <a:endParaRPr lang="ru-RU" dirty="0">
              <a:latin typeface="Times New Roman" pitchFamily="18" charset="0"/>
              <a:cs typeface="Times New Roman" pitchFamily="18" charset="0"/>
            </a:endParaRPr>
          </a:p>
          <a:p>
            <a:pPr marL="285750" indent="-285750" algn="just" fontAlgn="auto">
              <a:spcBef>
                <a:spcPts val="0"/>
              </a:spcBef>
              <a:spcAft>
                <a:spcPts val="0"/>
              </a:spcAft>
              <a:buFont typeface="Arial" pitchFamily="34" charset="0"/>
              <a:buChar char="•"/>
              <a:defRPr/>
            </a:pPr>
            <a:r>
              <a:rPr lang="uz-Cyrl-UZ" dirty="0">
                <a:latin typeface="Times New Roman" pitchFamily="18" charset="0"/>
                <a:cs typeface="Times New Roman" pitchFamily="18" charset="0"/>
              </a:rPr>
              <a:t>Агар хэш алгоритми “губка” принципида қурилган бўлиб, сиқиш функцияси “тасоддифий ўрин” алмаштиришга асосланган бўлса,  ушбу хэш функциянинг криптотахлил усулларига бардошлилиги “тасоддифий оракул” (</a:t>
            </a:r>
            <a:r>
              <a:rPr lang="uz-Cyrl-UZ" i="1" dirty="0">
                <a:latin typeface="Times New Roman" pitchFamily="18" charset="0"/>
                <a:cs typeface="Times New Roman" pitchFamily="18" charset="0"/>
              </a:rPr>
              <a:t>Random Oracle</a:t>
            </a:r>
            <a:r>
              <a:rPr lang="uz-Cyrl-UZ" dirty="0">
                <a:latin typeface="Times New Roman" pitchFamily="18" charset="0"/>
                <a:cs typeface="Times New Roman" pitchFamily="18" charset="0"/>
              </a:rPr>
              <a:t>) бардошлилиги билан бир хил бўлади. </a:t>
            </a:r>
          </a:p>
          <a:p>
            <a:pPr algn="just" fontAlgn="auto">
              <a:spcBef>
                <a:spcPts val="0"/>
              </a:spcBef>
              <a:spcAft>
                <a:spcPts val="0"/>
              </a:spcAft>
              <a:defRPr/>
            </a:pPr>
            <a:endParaRPr lang="ru-RU" dirty="0">
              <a:latin typeface="Times New Roman" pitchFamily="18" charset="0"/>
              <a:cs typeface="Times New Roman" pitchFamily="18" charset="0"/>
            </a:endParaRPr>
          </a:p>
          <a:p>
            <a:pPr algn="just" fontAlgn="auto">
              <a:spcBef>
                <a:spcPts val="0"/>
              </a:spcBef>
              <a:spcAft>
                <a:spcPts val="0"/>
              </a:spcAft>
              <a:defRPr/>
            </a:pPr>
            <a:r>
              <a:rPr lang="ru-RU" dirty="0" err="1">
                <a:latin typeface="Times New Roman" pitchFamily="18" charset="0"/>
                <a:cs typeface="Times New Roman" pitchFamily="18" charset="0"/>
              </a:rPr>
              <a:t>Random</a:t>
            </a:r>
            <a:r>
              <a:rPr lang="ru-RU" dirty="0">
                <a:latin typeface="Times New Roman" pitchFamily="18" charset="0"/>
                <a:cs typeface="Times New Roman" pitchFamily="18" charset="0"/>
              </a:rPr>
              <a:t> </a:t>
            </a:r>
            <a:r>
              <a:rPr lang="ru-RU" dirty="0" err="1">
                <a:latin typeface="Times New Roman" pitchFamily="18" charset="0"/>
                <a:cs typeface="Times New Roman" pitchFamily="18" charset="0"/>
              </a:rPr>
              <a:t>Oracle</a:t>
            </a:r>
            <a:r>
              <a:rPr lang="uz-Cyrl-UZ" dirty="0">
                <a:latin typeface="Times New Roman" pitchFamily="18" charset="0"/>
                <a:cs typeface="Times New Roman" pitchFamily="18" charset="0"/>
              </a:rPr>
              <a:t>– бу идеаллашган функция бўлиб, чексиз хотирага эга бўлган ёзувчи машинасига ўхшайди. Исталган сўровга тасоддифий сон генерация қилиб беради ва “сўров –жавоб” ни эслаб қолади. Агар ушбу сўров такрорланса янгидан сон генерация қилмайди, жавобни  базасига ёзиб қўйган рўйхатдан олади.</a:t>
            </a:r>
            <a:endParaRPr lang="ru-RU" dirty="0">
              <a:latin typeface="Times New Roman" pitchFamily="18" charset="0"/>
              <a:cs typeface="Times New Roman" pitchFamily="18" charset="0"/>
            </a:endParaRPr>
          </a:p>
        </p:txBody>
      </p:sp>
    </p:spTree>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428596" y="228600"/>
            <a:ext cx="8501122" cy="914400"/>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t="100000" r="100000"/>
            </a:path>
            <a:tileRect l="-100000" b="-100000"/>
          </a:gradFill>
          <a:ln>
            <a:solidFill>
              <a:schemeClr val="tx1"/>
            </a:solidFill>
          </a:ln>
          <a:effectLst>
            <a:glow rad="101600">
              <a:schemeClr val="accent4">
                <a:satMod val="175000"/>
                <a:alpha val="40000"/>
              </a:schemeClr>
            </a:glow>
            <a:softEdge rad="12700"/>
          </a:effectLst>
        </p:spPr>
        <p:style>
          <a:lnRef idx="2">
            <a:schemeClr val="dk1"/>
          </a:lnRef>
          <a:fillRef idx="1">
            <a:schemeClr val="lt1"/>
          </a:fillRef>
          <a:effectRef idx="0">
            <a:schemeClr val="dk1"/>
          </a:effectRef>
          <a:fontRef idx="minor">
            <a:schemeClr val="dk1"/>
          </a:fontRef>
        </p:style>
        <p:txBody>
          <a:bodyPr anchor="ctr"/>
          <a:lstStyle/>
          <a:p>
            <a:pPr algn="ctr" fontAlgn="auto">
              <a:spcBef>
                <a:spcPts val="0"/>
              </a:spcBef>
              <a:spcAft>
                <a:spcPts val="0"/>
              </a:spcAft>
              <a:defRPr/>
            </a:pPr>
            <a:r>
              <a:rPr lang="ru-RU" sz="2000" b="1" dirty="0" err="1">
                <a:latin typeface="Times New Roman" pitchFamily="18" charset="0"/>
                <a:cs typeface="Times New Roman" pitchFamily="18" charset="0"/>
              </a:rPr>
              <a:t>Хэш</a:t>
            </a:r>
            <a:r>
              <a:rPr lang="ru-RU" sz="2000" b="1" dirty="0">
                <a:latin typeface="Times New Roman" pitchFamily="18" charset="0"/>
                <a:cs typeface="Times New Roman" pitchFamily="18" charset="0"/>
              </a:rPr>
              <a:t> функция </a:t>
            </a:r>
            <a:r>
              <a:rPr lang="ru-RU" sz="2000" b="1" dirty="0" err="1">
                <a:latin typeface="Times New Roman" pitchFamily="18" charset="0"/>
                <a:cs typeface="Times New Roman" pitchFamily="18" charset="0"/>
              </a:rPr>
              <a:t>қурилиш</a:t>
            </a:r>
            <a:r>
              <a:rPr lang="ru-RU" sz="2000" b="1" dirty="0">
                <a:latin typeface="Times New Roman" pitchFamily="18" charset="0"/>
                <a:cs typeface="Times New Roman" pitchFamily="18" charset="0"/>
              </a:rPr>
              <a:t> </a:t>
            </a:r>
            <a:r>
              <a:rPr lang="ru-RU" sz="2000" b="1" dirty="0" err="1">
                <a:latin typeface="Times New Roman" pitchFamily="18" charset="0"/>
                <a:cs typeface="Times New Roman" pitchFamily="18" charset="0"/>
              </a:rPr>
              <a:t>схемалари</a:t>
            </a:r>
            <a:r>
              <a:rPr lang="ru-RU" sz="2000" b="1" dirty="0">
                <a:latin typeface="Times New Roman" pitchFamily="18" charset="0"/>
                <a:cs typeface="Times New Roman" pitchFamily="18" charset="0"/>
              </a:rPr>
              <a:t> </a:t>
            </a:r>
            <a:r>
              <a:rPr lang="ru-RU" sz="2000" b="1" dirty="0" err="1">
                <a:latin typeface="Times New Roman" pitchFamily="18" charset="0"/>
                <a:cs typeface="Times New Roman" pitchFamily="18" charset="0"/>
              </a:rPr>
              <a:t>классификацияси</a:t>
            </a:r>
            <a:endParaRPr lang="ru-RU" sz="2000" b="1" dirty="0">
              <a:latin typeface="Times New Roman" pitchFamily="18" charset="0"/>
              <a:cs typeface="Times New Roman" pitchFamily="18" charset="0"/>
            </a:endParaRPr>
          </a:p>
          <a:p>
            <a:pPr algn="ctr" fontAlgn="auto">
              <a:spcBef>
                <a:spcPts val="0"/>
              </a:spcBef>
              <a:spcAft>
                <a:spcPts val="0"/>
              </a:spcAft>
              <a:defRPr/>
            </a:pPr>
            <a:endParaRPr lang="ru-RU" sz="2000" b="1" dirty="0">
              <a:solidFill>
                <a:srgbClr val="C00000"/>
              </a:solidFill>
              <a:latin typeface="Times New Roman" pitchFamily="18" charset="0"/>
              <a:cs typeface="Times New Roman" pitchFamily="18" charset="0"/>
            </a:endParaRPr>
          </a:p>
        </p:txBody>
      </p:sp>
      <p:sp>
        <p:nvSpPr>
          <p:cNvPr id="5" name="Прямоугольник 4"/>
          <p:cNvSpPr/>
          <p:nvPr/>
        </p:nvSpPr>
        <p:spPr>
          <a:xfrm>
            <a:off x="381000" y="1295400"/>
            <a:ext cx="8534400" cy="5410200"/>
          </a:xfrm>
          <a:prstGeom prst="rect">
            <a:avLst/>
          </a:prstGeom>
          <a:solidFill>
            <a:schemeClr val="bg2"/>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fontAlgn="auto">
              <a:spcBef>
                <a:spcPts val="0"/>
              </a:spcBef>
              <a:spcAft>
                <a:spcPts val="0"/>
              </a:spcAft>
              <a:defRPr/>
            </a:pPr>
            <a:endParaRPr lang="ru-RU" b="1" dirty="0">
              <a:solidFill>
                <a:schemeClr val="tx1"/>
              </a:solidFill>
              <a:latin typeface="Times New Roman" pitchFamily="18" charset="0"/>
              <a:cs typeface="Times New Roman" pitchFamily="18" charset="0"/>
            </a:endParaRPr>
          </a:p>
        </p:txBody>
      </p:sp>
      <p:graphicFrame>
        <p:nvGraphicFramePr>
          <p:cNvPr id="2" name="Таблица 1"/>
          <p:cNvGraphicFramePr>
            <a:graphicFrameLocks noGrp="1"/>
          </p:cNvGraphicFramePr>
          <p:nvPr/>
        </p:nvGraphicFramePr>
        <p:xfrm>
          <a:off x="428625" y="1412875"/>
          <a:ext cx="8320088" cy="5212044"/>
        </p:xfrm>
        <a:graphic>
          <a:graphicData uri="http://schemas.openxmlformats.org/drawingml/2006/table">
            <a:tbl>
              <a:tblPr firstRow="1" bandRow="1">
                <a:tableStyleId>{69CF1AB2-1976-4502-BF36-3FF5EA218861}</a:tableStyleId>
              </a:tblPr>
              <a:tblGrid>
                <a:gridCol w="1881065"/>
                <a:gridCol w="1374623"/>
                <a:gridCol w="2609475"/>
                <a:gridCol w="1332990"/>
                <a:gridCol w="1121935"/>
              </a:tblGrid>
              <a:tr h="1188648">
                <a:tc>
                  <a:txBody>
                    <a:bodyPr/>
                    <a:lstStyle/>
                    <a:p>
                      <a:pPr algn="ctr"/>
                      <a:r>
                        <a:rPr lang="uz-Cyrl-UZ" sz="1800" b="1" kern="1200" dirty="0" smtClean="0">
                          <a:solidFill>
                            <a:schemeClr val="dk1"/>
                          </a:solidFill>
                          <a:effectLst/>
                          <a:latin typeface="+mn-lt"/>
                          <a:ea typeface="+mn-ea"/>
                          <a:cs typeface="+mn-cs"/>
                        </a:rPr>
                        <a:t>Хэш функциялар</a:t>
                      </a:r>
                      <a:endParaRPr lang="ru-RU" sz="1800" b="1" kern="1200" dirty="0" smtClean="0">
                        <a:solidFill>
                          <a:schemeClr val="dk1"/>
                        </a:solidFill>
                        <a:effectLst/>
                        <a:latin typeface="+mn-lt"/>
                        <a:ea typeface="+mn-ea"/>
                        <a:cs typeface="+mn-cs"/>
                      </a:endParaRPr>
                    </a:p>
                    <a:p>
                      <a:pPr algn="ctr"/>
                      <a:r>
                        <a:rPr lang="uz-Cyrl-UZ" sz="1800" b="1" kern="1200" dirty="0" smtClean="0">
                          <a:solidFill>
                            <a:schemeClr val="dk1"/>
                          </a:solidFill>
                          <a:effectLst/>
                          <a:latin typeface="+mn-lt"/>
                          <a:ea typeface="+mn-ea"/>
                          <a:cs typeface="+mn-cs"/>
                        </a:rPr>
                        <a:t>қурилиш схемалари</a:t>
                      </a:r>
                      <a:endParaRPr lang="ru-RU" sz="1800" dirty="0"/>
                    </a:p>
                  </a:txBody>
                  <a:tcPr marL="91442" marR="91442" marT="45717" marB="45717"/>
                </a:tc>
                <a:tc>
                  <a:txBody>
                    <a:bodyPr/>
                    <a:lstStyle/>
                    <a:p>
                      <a:pPr algn="ctr"/>
                      <a:r>
                        <a:rPr lang="uz-Cyrl-UZ" sz="1800" b="1" kern="1200" dirty="0" smtClean="0">
                          <a:solidFill>
                            <a:schemeClr val="dk1"/>
                          </a:solidFill>
                          <a:effectLst/>
                          <a:latin typeface="+mn-lt"/>
                          <a:ea typeface="+mn-ea"/>
                          <a:cs typeface="+mn-cs"/>
                        </a:rPr>
                        <a:t>Схемага асосланганхэш алгоритм</a:t>
                      </a:r>
                      <a:endParaRPr lang="ru-RU" sz="1800" dirty="0"/>
                    </a:p>
                  </a:txBody>
                  <a:tcPr marL="91442" marR="91442" marT="45717" marB="45717"/>
                </a:tc>
                <a:tc>
                  <a:txBody>
                    <a:bodyPr/>
                    <a:lstStyle/>
                    <a:p>
                      <a:pPr algn="ctr"/>
                      <a:r>
                        <a:rPr lang="uz-Cyrl-UZ" sz="1800" b="1" kern="1200" dirty="0" smtClean="0">
                          <a:solidFill>
                            <a:schemeClr val="dk1"/>
                          </a:solidFill>
                          <a:effectLst/>
                          <a:latin typeface="+mn-lt"/>
                          <a:ea typeface="+mn-ea"/>
                          <a:cs typeface="+mn-cs"/>
                        </a:rPr>
                        <a:t>Сиқиш функцияси</a:t>
                      </a:r>
                      <a:endParaRPr lang="ru-RU" sz="1800" dirty="0"/>
                    </a:p>
                  </a:txBody>
                  <a:tcPr marL="91442" marR="91442" marT="45717" marB="45717"/>
                </a:tc>
                <a:tc>
                  <a:txBody>
                    <a:bodyPr/>
                    <a:lstStyle/>
                    <a:p>
                      <a:pPr algn="ctr"/>
                      <a:r>
                        <a:rPr lang="uz-Cyrl-UZ" sz="1800" b="1" kern="1200" dirty="0" smtClean="0">
                          <a:solidFill>
                            <a:schemeClr val="dk1"/>
                          </a:solidFill>
                          <a:effectLst/>
                          <a:latin typeface="+mn-lt"/>
                          <a:ea typeface="+mn-ea"/>
                          <a:cs typeface="+mn-cs"/>
                        </a:rPr>
                        <a:t>Хэш қиймат узунлиги (бит)</a:t>
                      </a:r>
                      <a:endParaRPr lang="ru-RU" sz="1800" dirty="0"/>
                    </a:p>
                  </a:txBody>
                  <a:tcPr marL="91442" marR="91442" marT="45717" marB="45717"/>
                </a:tc>
                <a:tc>
                  <a:txBody>
                    <a:bodyPr/>
                    <a:lstStyle/>
                    <a:p>
                      <a:pPr algn="ctr"/>
                      <a:r>
                        <a:rPr lang="uz-Cyrl-UZ" sz="1800" b="1" kern="1200" dirty="0" smtClean="0">
                          <a:solidFill>
                            <a:schemeClr val="dk1"/>
                          </a:solidFill>
                          <a:effectLst/>
                          <a:latin typeface="+mn-lt"/>
                          <a:ea typeface="+mn-ea"/>
                          <a:cs typeface="+mn-cs"/>
                        </a:rPr>
                        <a:t>Раунд сони</a:t>
                      </a:r>
                      <a:endParaRPr lang="ru-RU" sz="1800" dirty="0"/>
                    </a:p>
                  </a:txBody>
                  <a:tcPr marL="91442" marR="91442" marT="45717" marB="45717"/>
                </a:tc>
              </a:tr>
              <a:tr h="914344">
                <a:tc rowSpan="4">
                  <a:txBody>
                    <a:bodyPr/>
                    <a:lstStyle/>
                    <a:p>
                      <a:pPr algn="ctr"/>
                      <a:r>
                        <a:rPr lang="uz-Cyrl-UZ" sz="1800" b="0" kern="1200" dirty="0" smtClean="0">
                          <a:solidFill>
                            <a:schemeClr val="dk1"/>
                          </a:solidFill>
                          <a:effectLst/>
                          <a:latin typeface="+mn-lt"/>
                          <a:ea typeface="+mn-ea"/>
                          <a:cs typeface="+mn-cs"/>
                        </a:rPr>
                        <a:t>Меркл-</a:t>
                      </a:r>
                      <a:endParaRPr lang="ru-RU" sz="1800" b="1" kern="1200" dirty="0" smtClean="0">
                        <a:solidFill>
                          <a:schemeClr val="dk1"/>
                        </a:solidFill>
                        <a:effectLst/>
                        <a:latin typeface="+mn-lt"/>
                        <a:ea typeface="+mn-ea"/>
                        <a:cs typeface="+mn-cs"/>
                      </a:endParaRPr>
                    </a:p>
                    <a:p>
                      <a:pPr algn="ctr"/>
                      <a:r>
                        <a:rPr lang="uz-Cyrl-UZ" sz="1800" b="0" kern="1200" dirty="0" smtClean="0">
                          <a:solidFill>
                            <a:schemeClr val="dk1"/>
                          </a:solidFill>
                          <a:effectLst/>
                          <a:latin typeface="+mn-lt"/>
                          <a:ea typeface="+mn-ea"/>
                          <a:cs typeface="+mn-cs"/>
                        </a:rPr>
                        <a:t>Дамгард</a:t>
                      </a:r>
                      <a:endParaRPr lang="ru-RU" sz="1800" b="1" kern="1200" dirty="0" smtClean="0">
                        <a:solidFill>
                          <a:schemeClr val="dk1"/>
                        </a:solidFill>
                        <a:effectLst/>
                        <a:latin typeface="+mn-lt"/>
                        <a:ea typeface="+mn-ea"/>
                        <a:cs typeface="+mn-cs"/>
                      </a:endParaRPr>
                    </a:p>
                    <a:p>
                      <a:pPr algn="ctr"/>
                      <a:r>
                        <a:rPr lang="uz-Cyrl-UZ" sz="1800" b="0" kern="1200" dirty="0" smtClean="0">
                          <a:solidFill>
                            <a:schemeClr val="dk1"/>
                          </a:solidFill>
                          <a:effectLst/>
                          <a:latin typeface="+mn-lt"/>
                          <a:ea typeface="+mn-ea"/>
                          <a:cs typeface="+mn-cs"/>
                        </a:rPr>
                        <a:t>схемаси</a:t>
                      </a:r>
                      <a:endParaRPr lang="ru-RU" sz="1800" b="1" kern="1200" dirty="0" smtClean="0">
                        <a:solidFill>
                          <a:schemeClr val="dk1"/>
                        </a:solidFill>
                        <a:effectLst/>
                        <a:latin typeface="+mn-lt"/>
                        <a:ea typeface="+mn-ea"/>
                        <a:cs typeface="+mn-cs"/>
                      </a:endParaRPr>
                    </a:p>
                  </a:txBody>
                  <a:tcPr marL="91442" marR="91442" marT="45717" marB="45717"/>
                </a:tc>
                <a:tc>
                  <a:txBody>
                    <a:bodyPr/>
                    <a:lstStyle/>
                    <a:p>
                      <a:pPr algn="ctr"/>
                      <a:r>
                        <a:rPr lang="uz-Cyrl-UZ" sz="1800" kern="1200" dirty="0" smtClean="0">
                          <a:solidFill>
                            <a:schemeClr val="dk1"/>
                          </a:solidFill>
                          <a:effectLst/>
                          <a:latin typeface="+mn-lt"/>
                          <a:ea typeface="+mn-ea"/>
                          <a:cs typeface="+mn-cs"/>
                        </a:rPr>
                        <a:t>Skein</a:t>
                      </a:r>
                      <a:endParaRPr lang="ru-RU" sz="1800" dirty="0"/>
                    </a:p>
                  </a:txBody>
                  <a:tcPr marL="91442" marR="91442" marT="45717" marB="45717"/>
                </a:tc>
                <a:tc>
                  <a:txBody>
                    <a:bodyPr/>
                    <a:lstStyle/>
                    <a:p>
                      <a:pPr algn="ctr"/>
                      <a:r>
                        <a:rPr lang="uz-Cyrl-UZ" sz="1800" kern="1200" dirty="0" smtClean="0">
                          <a:solidFill>
                            <a:schemeClr val="dk1"/>
                          </a:solidFill>
                          <a:effectLst/>
                          <a:latin typeface="+mn-lt"/>
                          <a:ea typeface="+mn-ea"/>
                          <a:cs typeface="+mn-cs"/>
                        </a:rPr>
                        <a:t>MMO схемаси, “Threefish” шифр-лаш алгоритми қўлланилган</a:t>
                      </a:r>
                      <a:endParaRPr lang="ru-RU" sz="1800" dirty="0"/>
                    </a:p>
                  </a:txBody>
                  <a:tcPr marL="91442" marR="91442" marT="45717" marB="45717"/>
                </a:tc>
                <a:tc>
                  <a:txBody>
                    <a:bodyPr/>
                    <a:lstStyle/>
                    <a:p>
                      <a:pPr algn="ctr"/>
                      <a:r>
                        <a:rPr lang="uz-Cyrl-UZ" sz="1800" kern="1200" dirty="0" smtClean="0">
                          <a:solidFill>
                            <a:schemeClr val="dk1"/>
                          </a:solidFill>
                          <a:effectLst/>
                          <a:latin typeface="+mn-lt"/>
                          <a:ea typeface="+mn-ea"/>
                          <a:cs typeface="+mn-cs"/>
                        </a:rPr>
                        <a:t>128, 160, 224, 256, 384 ва 512</a:t>
                      </a:r>
                      <a:endParaRPr lang="ru-RU" sz="1800" dirty="0"/>
                    </a:p>
                  </a:txBody>
                  <a:tcPr marL="91442" marR="91442" marT="45717" marB="45717"/>
                </a:tc>
                <a:tc>
                  <a:txBody>
                    <a:bodyPr/>
                    <a:lstStyle/>
                    <a:p>
                      <a:pPr algn="ctr"/>
                      <a:r>
                        <a:rPr lang="en-US" sz="1800" kern="1200" dirty="0" smtClean="0">
                          <a:solidFill>
                            <a:schemeClr val="dk1"/>
                          </a:solidFill>
                          <a:effectLst/>
                          <a:latin typeface="+mn-lt"/>
                          <a:ea typeface="+mn-ea"/>
                          <a:cs typeface="+mn-cs"/>
                        </a:rPr>
                        <a:t>72</a:t>
                      </a:r>
                      <a:endParaRPr lang="ru-RU" sz="1800" dirty="0"/>
                    </a:p>
                  </a:txBody>
                  <a:tcPr marL="91442" marR="91442" marT="45717" marB="45717"/>
                </a:tc>
              </a:tr>
              <a:tr h="640041">
                <a:tc vMerge="1">
                  <a:txBody>
                    <a:bodyPr/>
                    <a:lstStyle/>
                    <a:p>
                      <a:pPr algn="ctr"/>
                      <a:endParaRPr lang="ru-RU" dirty="0"/>
                    </a:p>
                  </a:txBody>
                  <a:tcPr/>
                </a:tc>
                <a:tc>
                  <a:txBody>
                    <a:bodyPr/>
                    <a:lstStyle/>
                    <a:p>
                      <a:pPr algn="ctr"/>
                      <a:r>
                        <a:rPr lang="uz-Cyrl-UZ" sz="1800" kern="1200" dirty="0" smtClean="0">
                          <a:solidFill>
                            <a:schemeClr val="dk1"/>
                          </a:solidFill>
                          <a:effectLst/>
                          <a:latin typeface="+mn-lt"/>
                          <a:ea typeface="+mn-ea"/>
                          <a:cs typeface="+mn-cs"/>
                        </a:rPr>
                        <a:t>ГОСТ Р 34.11-2012</a:t>
                      </a:r>
                      <a:endParaRPr lang="ru-RU" sz="1800" dirty="0"/>
                    </a:p>
                  </a:txBody>
                  <a:tcPr marL="91442" marR="91442" marT="45717" marB="45717"/>
                </a:tc>
                <a:tc>
                  <a:txBody>
                    <a:bodyPr/>
                    <a:lstStyle/>
                    <a:p>
                      <a:pPr algn="ctr"/>
                      <a:r>
                        <a:rPr lang="uz-Cyrl-UZ" sz="1800" kern="1200" dirty="0" smtClean="0">
                          <a:solidFill>
                            <a:schemeClr val="dk1"/>
                          </a:solidFill>
                          <a:effectLst/>
                          <a:latin typeface="+mn-lt"/>
                          <a:ea typeface="+mn-ea"/>
                          <a:cs typeface="+mn-cs"/>
                        </a:rPr>
                        <a:t>Миагучи-Пренель схемаси, XSPL шифри </a:t>
                      </a:r>
                      <a:endParaRPr lang="ru-RU" sz="1800" dirty="0"/>
                    </a:p>
                  </a:txBody>
                  <a:tcPr marL="91442" marR="91442" marT="45717" marB="45717"/>
                </a:tc>
                <a:tc>
                  <a:txBody>
                    <a:bodyPr/>
                    <a:lstStyle/>
                    <a:p>
                      <a:pPr algn="ctr"/>
                      <a:r>
                        <a:rPr lang="en-US" sz="1800" kern="1200" dirty="0" smtClean="0">
                          <a:solidFill>
                            <a:schemeClr val="dk1"/>
                          </a:solidFill>
                          <a:effectLst/>
                          <a:latin typeface="+mn-lt"/>
                          <a:ea typeface="+mn-ea"/>
                          <a:cs typeface="+mn-cs"/>
                        </a:rPr>
                        <a:t>512/</a:t>
                      </a:r>
                      <a:r>
                        <a:rPr lang="uz-Cyrl-UZ" sz="1800" kern="1200" dirty="0" smtClean="0">
                          <a:solidFill>
                            <a:schemeClr val="dk1"/>
                          </a:solidFill>
                          <a:effectLst/>
                          <a:latin typeface="+mn-lt"/>
                          <a:ea typeface="+mn-ea"/>
                          <a:cs typeface="+mn-cs"/>
                        </a:rPr>
                        <a:t>256</a:t>
                      </a:r>
                      <a:endParaRPr lang="ru-RU" sz="1800" dirty="0"/>
                    </a:p>
                  </a:txBody>
                  <a:tcPr marL="91442" marR="91442" marT="45717" marB="45717"/>
                </a:tc>
                <a:tc>
                  <a:txBody>
                    <a:bodyPr/>
                    <a:lstStyle/>
                    <a:p>
                      <a:pPr algn="ctr"/>
                      <a:r>
                        <a:rPr lang="uz-Cyrl-UZ" sz="1800" dirty="0" smtClean="0"/>
                        <a:t>13</a:t>
                      </a:r>
                      <a:endParaRPr lang="ru-RU" sz="1800" dirty="0"/>
                    </a:p>
                  </a:txBody>
                  <a:tcPr marL="91442" marR="91442" marT="45717" marB="45717"/>
                </a:tc>
              </a:tr>
              <a:tr h="640041">
                <a:tc vMerge="1">
                  <a:txBody>
                    <a:bodyPr/>
                    <a:lstStyle/>
                    <a:p>
                      <a:pPr algn="ctr"/>
                      <a:endParaRPr lang="ru-RU" dirty="0"/>
                    </a:p>
                  </a:txBody>
                  <a:tcPr/>
                </a:tc>
                <a:tc>
                  <a:txBody>
                    <a:bodyPr/>
                    <a:lstStyle/>
                    <a:p>
                      <a:pPr algn="ctr"/>
                      <a:r>
                        <a:rPr lang="en-US" sz="1800" kern="1200" dirty="0" smtClean="0">
                          <a:solidFill>
                            <a:schemeClr val="dk1"/>
                          </a:solidFill>
                          <a:effectLst/>
                          <a:latin typeface="+mn-lt"/>
                          <a:ea typeface="+mn-ea"/>
                          <a:cs typeface="+mn-cs"/>
                        </a:rPr>
                        <a:t>MD5</a:t>
                      </a:r>
                      <a:endParaRPr lang="ru-RU" sz="1800" dirty="0"/>
                    </a:p>
                  </a:txBody>
                  <a:tcPr marL="91442" marR="91442" marT="45717" marB="45717"/>
                </a:tc>
                <a:tc>
                  <a:txBody>
                    <a:bodyPr/>
                    <a:lstStyle/>
                    <a:p>
                      <a:pPr algn="ctr"/>
                      <a:r>
                        <a:rPr lang="en-US" sz="1800" kern="1200" dirty="0" smtClean="0">
                          <a:solidFill>
                            <a:schemeClr val="dk1"/>
                          </a:solidFill>
                          <a:effectLst/>
                          <a:latin typeface="+mn-lt"/>
                          <a:ea typeface="+mn-ea"/>
                          <a:cs typeface="+mn-cs"/>
                        </a:rPr>
                        <a:t>F</a:t>
                      </a:r>
                      <a:r>
                        <a:rPr lang="ru-RU" sz="1800" kern="1200" dirty="0" smtClean="0">
                          <a:solidFill>
                            <a:schemeClr val="dk1"/>
                          </a:solidFill>
                          <a:effectLst/>
                          <a:latin typeface="+mn-lt"/>
                          <a:ea typeface="+mn-ea"/>
                          <a:cs typeface="+mn-cs"/>
                        </a:rPr>
                        <a:t>,</a:t>
                      </a:r>
                      <a:r>
                        <a:rPr lang="en-US" sz="1800" kern="1200" dirty="0" smtClean="0">
                          <a:solidFill>
                            <a:schemeClr val="dk1"/>
                          </a:solidFill>
                          <a:effectLst/>
                          <a:latin typeface="+mn-lt"/>
                          <a:ea typeface="+mn-ea"/>
                          <a:cs typeface="+mn-cs"/>
                        </a:rPr>
                        <a:t>G</a:t>
                      </a:r>
                      <a:r>
                        <a:rPr lang="ru-RU" sz="1800" kern="1200" dirty="0" smtClean="0">
                          <a:solidFill>
                            <a:schemeClr val="dk1"/>
                          </a:solidFill>
                          <a:effectLst/>
                          <a:latin typeface="+mn-lt"/>
                          <a:ea typeface="+mn-ea"/>
                          <a:cs typeface="+mn-cs"/>
                        </a:rPr>
                        <a:t>,</a:t>
                      </a:r>
                      <a:r>
                        <a:rPr lang="en-US" sz="1800" kern="1200" dirty="0" smtClean="0">
                          <a:solidFill>
                            <a:schemeClr val="dk1"/>
                          </a:solidFill>
                          <a:effectLst/>
                          <a:latin typeface="+mn-lt"/>
                          <a:ea typeface="+mn-ea"/>
                          <a:cs typeface="+mn-cs"/>
                        </a:rPr>
                        <a:t>H</a:t>
                      </a:r>
                      <a:r>
                        <a:rPr lang="ru-RU" sz="1800" kern="1200" dirty="0" smtClean="0">
                          <a:solidFill>
                            <a:schemeClr val="dk1"/>
                          </a:solidFill>
                          <a:effectLst/>
                          <a:latin typeface="+mn-lt"/>
                          <a:ea typeface="+mn-ea"/>
                          <a:cs typeface="+mn-cs"/>
                        </a:rPr>
                        <a:t>,</a:t>
                      </a:r>
                      <a:r>
                        <a:rPr lang="en-US" sz="1800" kern="1200" dirty="0" smtClean="0">
                          <a:solidFill>
                            <a:schemeClr val="dk1"/>
                          </a:solidFill>
                          <a:effectLst/>
                          <a:latin typeface="+mn-lt"/>
                          <a:ea typeface="+mn-ea"/>
                          <a:cs typeface="+mn-cs"/>
                        </a:rPr>
                        <a:t>I </a:t>
                      </a:r>
                      <a:r>
                        <a:rPr lang="uz-Cyrl-UZ" sz="1800" kern="1200" dirty="0" smtClean="0">
                          <a:solidFill>
                            <a:schemeClr val="dk1"/>
                          </a:solidFill>
                          <a:effectLst/>
                          <a:latin typeface="+mn-lt"/>
                          <a:ea typeface="+mn-ea"/>
                          <a:cs typeface="+mn-cs"/>
                        </a:rPr>
                        <a:t>бир томонлама </a:t>
                      </a:r>
                      <a:r>
                        <a:rPr lang="ru-RU" sz="1800" kern="1200" dirty="0" smtClean="0">
                          <a:solidFill>
                            <a:schemeClr val="dk1"/>
                          </a:solidFill>
                          <a:effectLst/>
                          <a:latin typeface="+mn-lt"/>
                          <a:ea typeface="+mn-ea"/>
                          <a:cs typeface="+mn-cs"/>
                        </a:rPr>
                        <a:t>функция</a:t>
                      </a:r>
                      <a:endParaRPr lang="ru-RU" sz="1800" dirty="0"/>
                    </a:p>
                  </a:txBody>
                  <a:tcPr marL="91442" marR="91442" marT="45717" marB="45717"/>
                </a:tc>
                <a:tc>
                  <a:txBody>
                    <a:bodyPr/>
                    <a:lstStyle/>
                    <a:p>
                      <a:pPr algn="ctr"/>
                      <a:r>
                        <a:rPr lang="uz-Cyrl-UZ" sz="1800" kern="1200" dirty="0" smtClean="0">
                          <a:solidFill>
                            <a:schemeClr val="dk1"/>
                          </a:solidFill>
                          <a:effectLst/>
                          <a:latin typeface="+mn-lt"/>
                          <a:ea typeface="+mn-ea"/>
                          <a:cs typeface="+mn-cs"/>
                        </a:rPr>
                        <a:t>128</a:t>
                      </a:r>
                      <a:endParaRPr lang="ru-RU" sz="1800" dirty="0"/>
                    </a:p>
                  </a:txBody>
                  <a:tcPr marL="91442" marR="91442" marT="45717" marB="45717"/>
                </a:tc>
                <a:tc>
                  <a:txBody>
                    <a:bodyPr/>
                    <a:lstStyle/>
                    <a:p>
                      <a:pPr algn="ctr"/>
                      <a:r>
                        <a:rPr lang="uz-Cyrl-UZ" sz="1800" dirty="0" smtClean="0"/>
                        <a:t>64</a:t>
                      </a:r>
                      <a:endParaRPr lang="ru-RU" sz="1800" dirty="0"/>
                    </a:p>
                  </a:txBody>
                  <a:tcPr marL="91442" marR="91442" marT="45717" marB="45717"/>
                </a:tc>
              </a:tr>
              <a:tr h="914344">
                <a:tc vMerge="1">
                  <a:txBody>
                    <a:bodyPr/>
                    <a:lstStyle/>
                    <a:p>
                      <a:pPr algn="ctr"/>
                      <a:endParaRPr lang="ru-RU" dirty="0"/>
                    </a:p>
                  </a:txBody>
                  <a:tcPr/>
                </a:tc>
                <a:tc>
                  <a:txBody>
                    <a:bodyPr/>
                    <a:lstStyle/>
                    <a:p>
                      <a:pPr algn="ctr"/>
                      <a:r>
                        <a:rPr lang="en-US" sz="1800" kern="1200" dirty="0" smtClean="0">
                          <a:solidFill>
                            <a:schemeClr val="dk1"/>
                          </a:solidFill>
                          <a:effectLst/>
                          <a:latin typeface="+mn-lt"/>
                          <a:ea typeface="+mn-ea"/>
                          <a:cs typeface="+mn-cs"/>
                        </a:rPr>
                        <a:t>SHA</a:t>
                      </a:r>
                      <a:r>
                        <a:rPr lang="ru-RU" sz="1800" kern="1200" dirty="0" smtClean="0">
                          <a:solidFill>
                            <a:schemeClr val="dk1"/>
                          </a:solidFill>
                          <a:effectLst/>
                          <a:latin typeface="+mn-lt"/>
                          <a:ea typeface="+mn-ea"/>
                          <a:cs typeface="+mn-cs"/>
                        </a:rPr>
                        <a:t>-</a:t>
                      </a:r>
                      <a:r>
                        <a:rPr lang="en-US" sz="1800" kern="1200" dirty="0" smtClean="0">
                          <a:solidFill>
                            <a:schemeClr val="dk1"/>
                          </a:solidFill>
                          <a:effectLst/>
                          <a:latin typeface="+mn-lt"/>
                          <a:ea typeface="+mn-ea"/>
                          <a:cs typeface="+mn-cs"/>
                        </a:rPr>
                        <a:t>0</a:t>
                      </a:r>
                      <a:endParaRPr lang="ru-RU" sz="1800" dirty="0"/>
                    </a:p>
                  </a:txBody>
                  <a:tcPr marL="91442" marR="91442" marT="45717" marB="45717"/>
                </a:tc>
                <a:tc>
                  <a:txBody>
                    <a:bodyPr/>
                    <a:lstStyle/>
                    <a:p>
                      <a:pPr algn="ctr"/>
                      <a:r>
                        <a:rPr lang="uz-Cyrl-UZ" sz="1800" kern="1200" dirty="0" smtClean="0">
                          <a:solidFill>
                            <a:schemeClr val="dk1"/>
                          </a:solidFill>
                          <a:effectLst/>
                          <a:latin typeface="+mn-lt"/>
                          <a:ea typeface="+mn-ea"/>
                          <a:cs typeface="+mn-cs"/>
                        </a:rPr>
                        <a:t>Бир томонлама функциядан фойдаланилган</a:t>
                      </a:r>
                      <a:endParaRPr lang="ru-RU" sz="1800" dirty="0"/>
                    </a:p>
                  </a:txBody>
                  <a:tcPr marL="91442" marR="91442" marT="45717" marB="45717"/>
                </a:tc>
                <a:tc>
                  <a:txBody>
                    <a:bodyPr/>
                    <a:lstStyle/>
                    <a:p>
                      <a:pPr algn="ctr"/>
                      <a:r>
                        <a:rPr lang="uz-Cyrl-UZ" sz="1800" dirty="0" smtClean="0"/>
                        <a:t>160</a:t>
                      </a:r>
                      <a:endParaRPr lang="ru-RU" sz="1800" dirty="0"/>
                    </a:p>
                  </a:txBody>
                  <a:tcPr marL="91442" marR="91442" marT="45717" marB="45717"/>
                </a:tc>
                <a:tc>
                  <a:txBody>
                    <a:bodyPr/>
                    <a:lstStyle/>
                    <a:p>
                      <a:pPr algn="ctr"/>
                      <a:r>
                        <a:rPr lang="uz-Cyrl-UZ" sz="1800" dirty="0" smtClean="0"/>
                        <a:t>80</a:t>
                      </a:r>
                      <a:endParaRPr lang="ru-RU" sz="1800" dirty="0"/>
                    </a:p>
                  </a:txBody>
                  <a:tcPr marL="91442" marR="91442" marT="45717" marB="45717"/>
                </a:tc>
              </a:tr>
              <a:tr h="914344">
                <a:tc>
                  <a:txBody>
                    <a:bodyPr/>
                    <a:lstStyle/>
                    <a:p>
                      <a:pPr algn="ctr"/>
                      <a:r>
                        <a:rPr lang="ru-RU" sz="1800" kern="1200" dirty="0" smtClean="0">
                          <a:solidFill>
                            <a:schemeClr val="dk1"/>
                          </a:solidFill>
                          <a:effectLst/>
                          <a:latin typeface="+mn-lt"/>
                          <a:ea typeface="+mn-ea"/>
                          <a:cs typeface="+mn-cs"/>
                        </a:rPr>
                        <a:t>Рабин </a:t>
                      </a:r>
                      <a:r>
                        <a:rPr lang="ru-RU" sz="1800" kern="1200" dirty="0" err="1" smtClean="0">
                          <a:solidFill>
                            <a:schemeClr val="dk1"/>
                          </a:solidFill>
                          <a:effectLst/>
                          <a:latin typeface="+mn-lt"/>
                          <a:ea typeface="+mn-ea"/>
                          <a:cs typeface="+mn-cs"/>
                        </a:rPr>
                        <a:t>схемаси</a:t>
                      </a:r>
                      <a:endParaRPr lang="ru-RU" sz="1800" dirty="0"/>
                    </a:p>
                  </a:txBody>
                  <a:tcPr marL="91442" marR="91442" marT="45717" marB="45717"/>
                </a:tc>
                <a:tc>
                  <a:txBody>
                    <a:bodyPr/>
                    <a:lstStyle/>
                    <a:p>
                      <a:pPr algn="ctr"/>
                      <a:r>
                        <a:rPr lang="uz-Cyrl-UZ" sz="1800" kern="1200" dirty="0" smtClean="0">
                          <a:solidFill>
                            <a:schemeClr val="dk1"/>
                          </a:solidFill>
                          <a:effectLst/>
                          <a:latin typeface="+mn-lt"/>
                          <a:ea typeface="+mn-ea"/>
                          <a:cs typeface="+mn-cs"/>
                        </a:rPr>
                        <a:t>ГОСТ Р 34.11-94</a:t>
                      </a:r>
                      <a:endParaRPr lang="ru-RU" sz="1800" dirty="0"/>
                    </a:p>
                  </a:txBody>
                  <a:tcPr marL="91442" marR="91442" marT="45717" marB="45717"/>
                </a:tc>
                <a:tc>
                  <a:txBody>
                    <a:bodyPr/>
                    <a:lstStyle/>
                    <a:p>
                      <a:pPr algn="ctr"/>
                      <a:r>
                        <a:rPr lang="ru-RU" sz="1800" kern="1200" dirty="0" smtClean="0">
                          <a:solidFill>
                            <a:schemeClr val="dk1"/>
                          </a:solidFill>
                          <a:effectLst/>
                          <a:latin typeface="+mn-lt"/>
                          <a:ea typeface="+mn-ea"/>
                          <a:cs typeface="+mn-cs"/>
                        </a:rPr>
                        <a:t>Рабин </a:t>
                      </a:r>
                      <a:r>
                        <a:rPr lang="ru-RU" sz="1800" kern="1200" dirty="0" err="1" smtClean="0">
                          <a:solidFill>
                            <a:schemeClr val="dk1"/>
                          </a:solidFill>
                          <a:effectLst/>
                          <a:latin typeface="+mn-lt"/>
                          <a:ea typeface="+mn-ea"/>
                          <a:cs typeface="+mn-cs"/>
                        </a:rPr>
                        <a:t>схемаси</a:t>
                      </a:r>
                      <a:r>
                        <a:rPr lang="uz-Cyrl-UZ" sz="1800" kern="1200" dirty="0" smtClean="0">
                          <a:solidFill>
                            <a:schemeClr val="dk1"/>
                          </a:solidFill>
                          <a:effectLst/>
                          <a:latin typeface="+mn-lt"/>
                          <a:ea typeface="+mn-ea"/>
                          <a:cs typeface="+mn-cs"/>
                        </a:rPr>
                        <a:t> асосида </a:t>
                      </a:r>
                      <a:r>
                        <a:rPr lang="ru-RU" sz="1800" kern="1200" dirty="0" smtClean="0">
                          <a:solidFill>
                            <a:schemeClr val="dk1"/>
                          </a:solidFill>
                          <a:effectLst/>
                          <a:latin typeface="+mn-lt"/>
                          <a:ea typeface="+mn-ea"/>
                          <a:cs typeface="+mn-cs"/>
                        </a:rPr>
                        <a:t>ГОСТ  28147-89 </a:t>
                      </a:r>
                      <a:r>
                        <a:rPr lang="ru-RU" sz="1800" kern="1200" dirty="0" err="1" smtClean="0">
                          <a:solidFill>
                            <a:schemeClr val="dk1"/>
                          </a:solidFill>
                          <a:effectLst/>
                          <a:latin typeface="+mn-lt"/>
                          <a:ea typeface="+mn-ea"/>
                          <a:cs typeface="+mn-cs"/>
                        </a:rPr>
                        <a:t>шифрлаш</a:t>
                      </a:r>
                      <a:r>
                        <a:rPr lang="ru-RU" sz="1800" kern="1200" dirty="0" smtClean="0">
                          <a:solidFill>
                            <a:schemeClr val="dk1"/>
                          </a:solidFill>
                          <a:effectLst/>
                          <a:latin typeface="+mn-lt"/>
                          <a:ea typeface="+mn-ea"/>
                          <a:cs typeface="+mn-cs"/>
                        </a:rPr>
                        <a:t> </a:t>
                      </a:r>
                      <a:r>
                        <a:rPr lang="ru-RU" sz="1800" kern="1200" dirty="0" err="1" smtClean="0">
                          <a:solidFill>
                            <a:schemeClr val="dk1"/>
                          </a:solidFill>
                          <a:effectLst/>
                          <a:latin typeface="+mn-lt"/>
                          <a:ea typeface="+mn-ea"/>
                          <a:cs typeface="+mn-cs"/>
                        </a:rPr>
                        <a:t>алгоритми</a:t>
                      </a:r>
                      <a:endParaRPr lang="ru-RU" sz="1800" dirty="0"/>
                    </a:p>
                  </a:txBody>
                  <a:tcPr marL="91442" marR="91442" marT="45717" marB="45717"/>
                </a:tc>
                <a:tc>
                  <a:txBody>
                    <a:bodyPr/>
                    <a:lstStyle/>
                    <a:p>
                      <a:pPr algn="ctr"/>
                      <a:r>
                        <a:rPr lang="uz-Cyrl-UZ" sz="1800" dirty="0" smtClean="0"/>
                        <a:t>256</a:t>
                      </a:r>
                      <a:endParaRPr lang="ru-RU" sz="1800" dirty="0"/>
                    </a:p>
                  </a:txBody>
                  <a:tcPr marL="91442" marR="91442" marT="45717" marB="45717"/>
                </a:tc>
                <a:tc>
                  <a:txBody>
                    <a:bodyPr/>
                    <a:lstStyle/>
                    <a:p>
                      <a:pPr algn="ctr"/>
                      <a:r>
                        <a:rPr lang="uz-Cyrl-UZ" sz="1800" dirty="0" smtClean="0"/>
                        <a:t>61+12</a:t>
                      </a:r>
                      <a:endParaRPr lang="ru-RU" sz="1800" dirty="0"/>
                    </a:p>
                  </a:txBody>
                  <a:tcPr marL="91442" marR="91442" marT="45717" marB="45717"/>
                </a:tc>
              </a:tr>
            </a:tbl>
          </a:graphicData>
        </a:graphic>
      </p:graphicFrame>
    </p:spTree>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428596" y="228600"/>
            <a:ext cx="8501122" cy="914400"/>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t="100000" r="100000"/>
            </a:path>
            <a:tileRect l="-100000" b="-100000"/>
          </a:gradFill>
          <a:ln>
            <a:solidFill>
              <a:schemeClr val="tx1"/>
            </a:solidFill>
          </a:ln>
          <a:effectLst>
            <a:glow rad="101600">
              <a:schemeClr val="accent4">
                <a:satMod val="175000"/>
                <a:alpha val="40000"/>
              </a:schemeClr>
            </a:glow>
            <a:softEdge rad="12700"/>
          </a:effectLst>
        </p:spPr>
        <p:style>
          <a:lnRef idx="2">
            <a:schemeClr val="dk1"/>
          </a:lnRef>
          <a:fillRef idx="1">
            <a:schemeClr val="lt1"/>
          </a:fillRef>
          <a:effectRef idx="0">
            <a:schemeClr val="dk1"/>
          </a:effectRef>
          <a:fontRef idx="minor">
            <a:schemeClr val="dk1"/>
          </a:fontRef>
        </p:style>
        <p:txBody>
          <a:bodyPr anchor="ctr"/>
          <a:lstStyle/>
          <a:p>
            <a:pPr algn="ctr" fontAlgn="auto">
              <a:spcBef>
                <a:spcPts val="0"/>
              </a:spcBef>
              <a:spcAft>
                <a:spcPts val="0"/>
              </a:spcAft>
              <a:defRPr/>
            </a:pPr>
            <a:r>
              <a:rPr lang="ru-RU" sz="2000" b="1" dirty="0" err="1">
                <a:latin typeface="Times New Roman" pitchFamily="18" charset="0"/>
                <a:cs typeface="Times New Roman" pitchFamily="18" charset="0"/>
              </a:rPr>
              <a:t>Хэш</a:t>
            </a:r>
            <a:r>
              <a:rPr lang="ru-RU" sz="2000" b="1" dirty="0">
                <a:latin typeface="Times New Roman" pitchFamily="18" charset="0"/>
                <a:cs typeface="Times New Roman" pitchFamily="18" charset="0"/>
              </a:rPr>
              <a:t> функция </a:t>
            </a:r>
            <a:r>
              <a:rPr lang="ru-RU" sz="2000" b="1" dirty="0" err="1">
                <a:latin typeface="Times New Roman" pitchFamily="18" charset="0"/>
                <a:cs typeface="Times New Roman" pitchFamily="18" charset="0"/>
              </a:rPr>
              <a:t>қурилиш</a:t>
            </a:r>
            <a:r>
              <a:rPr lang="ru-RU" sz="2000" b="1" dirty="0">
                <a:latin typeface="Times New Roman" pitchFamily="18" charset="0"/>
                <a:cs typeface="Times New Roman" pitchFamily="18" charset="0"/>
              </a:rPr>
              <a:t> </a:t>
            </a:r>
            <a:r>
              <a:rPr lang="ru-RU" sz="2000" b="1" dirty="0" err="1">
                <a:latin typeface="Times New Roman" pitchFamily="18" charset="0"/>
                <a:cs typeface="Times New Roman" pitchFamily="18" charset="0"/>
              </a:rPr>
              <a:t>схемалари</a:t>
            </a:r>
            <a:r>
              <a:rPr lang="ru-RU" sz="2000" b="1" dirty="0">
                <a:latin typeface="Times New Roman" pitchFamily="18" charset="0"/>
                <a:cs typeface="Times New Roman" pitchFamily="18" charset="0"/>
              </a:rPr>
              <a:t> </a:t>
            </a:r>
            <a:r>
              <a:rPr lang="ru-RU" sz="2000" b="1" dirty="0" err="1">
                <a:latin typeface="Times New Roman" pitchFamily="18" charset="0"/>
                <a:cs typeface="Times New Roman" pitchFamily="18" charset="0"/>
              </a:rPr>
              <a:t>классификацияси</a:t>
            </a:r>
            <a:endParaRPr lang="ru-RU" sz="2000" b="1" dirty="0">
              <a:latin typeface="Times New Roman" pitchFamily="18" charset="0"/>
              <a:cs typeface="Times New Roman" pitchFamily="18" charset="0"/>
            </a:endParaRPr>
          </a:p>
          <a:p>
            <a:pPr algn="ctr" fontAlgn="auto">
              <a:spcBef>
                <a:spcPts val="0"/>
              </a:spcBef>
              <a:spcAft>
                <a:spcPts val="0"/>
              </a:spcAft>
              <a:defRPr/>
            </a:pPr>
            <a:endParaRPr lang="ru-RU" sz="2000" b="1" dirty="0">
              <a:solidFill>
                <a:srgbClr val="C00000"/>
              </a:solidFill>
              <a:latin typeface="Times New Roman" pitchFamily="18" charset="0"/>
              <a:cs typeface="Times New Roman" pitchFamily="18" charset="0"/>
            </a:endParaRPr>
          </a:p>
        </p:txBody>
      </p:sp>
      <p:sp>
        <p:nvSpPr>
          <p:cNvPr id="5" name="Прямоугольник 4"/>
          <p:cNvSpPr/>
          <p:nvPr/>
        </p:nvSpPr>
        <p:spPr>
          <a:xfrm>
            <a:off x="381000" y="1295400"/>
            <a:ext cx="8534400" cy="5410200"/>
          </a:xfrm>
          <a:prstGeom prst="rect">
            <a:avLst/>
          </a:prstGeom>
          <a:solidFill>
            <a:schemeClr val="bg2"/>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fontAlgn="auto">
              <a:spcBef>
                <a:spcPts val="0"/>
              </a:spcBef>
              <a:spcAft>
                <a:spcPts val="0"/>
              </a:spcAft>
              <a:defRPr/>
            </a:pPr>
            <a:endParaRPr lang="ru-RU" b="1" dirty="0">
              <a:solidFill>
                <a:schemeClr val="tx1"/>
              </a:solidFill>
              <a:latin typeface="Times New Roman" pitchFamily="18" charset="0"/>
              <a:cs typeface="Times New Roman" pitchFamily="18" charset="0"/>
            </a:endParaRPr>
          </a:p>
        </p:txBody>
      </p:sp>
      <p:graphicFrame>
        <p:nvGraphicFramePr>
          <p:cNvPr id="2" name="Таблица 1"/>
          <p:cNvGraphicFramePr>
            <a:graphicFrameLocks noGrp="1"/>
          </p:cNvGraphicFramePr>
          <p:nvPr/>
        </p:nvGraphicFramePr>
        <p:xfrm>
          <a:off x="460375" y="1295400"/>
          <a:ext cx="8375650" cy="5431790"/>
        </p:xfrm>
        <a:graphic>
          <a:graphicData uri="http://schemas.openxmlformats.org/drawingml/2006/table">
            <a:tbl>
              <a:tblPr/>
              <a:tblGrid>
                <a:gridCol w="1893888"/>
                <a:gridCol w="1384300"/>
                <a:gridCol w="2625725"/>
                <a:gridCol w="1341437"/>
                <a:gridCol w="1130300"/>
              </a:tblGrid>
              <a:tr h="11652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uz-Cyrl-UZ" sz="1600" b="1" i="0" u="none" strike="noStrike" cap="none" normalizeH="0" baseline="0" smtClean="0">
                          <a:ln>
                            <a:noFill/>
                          </a:ln>
                          <a:solidFill>
                            <a:srgbClr val="000000"/>
                          </a:solidFill>
                          <a:effectLst/>
                          <a:latin typeface="Times New Roman" pitchFamily="18" charset="0"/>
                          <a:cs typeface="Times New Roman" pitchFamily="18" charset="0"/>
                        </a:rPr>
                        <a:t>Хэш функциялар</a:t>
                      </a:r>
                      <a:endParaRPr kumimoji="0" lang="ru-RU" sz="1600" b="1" i="0" u="none" strike="noStrike" cap="none" normalizeH="0" baseline="0" smtClean="0">
                        <a:ln>
                          <a:noFill/>
                        </a:ln>
                        <a:solidFill>
                          <a:srgbClr val="000000"/>
                        </a:solidFill>
                        <a:effectLst/>
                        <a:latin typeface="Times New Roman" pitchFamily="18" charset="0"/>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uz-Cyrl-UZ" sz="1600" b="1" i="0" u="none" strike="noStrike" cap="none" normalizeH="0" baseline="0" smtClean="0">
                          <a:ln>
                            <a:noFill/>
                          </a:ln>
                          <a:solidFill>
                            <a:srgbClr val="000000"/>
                          </a:solidFill>
                          <a:effectLst/>
                          <a:latin typeface="Times New Roman" pitchFamily="18" charset="0"/>
                          <a:cs typeface="Times New Roman" pitchFamily="18" charset="0"/>
                        </a:rPr>
                        <a:t>қурилиш схемалари</a:t>
                      </a:r>
                      <a:endParaRPr kumimoji="0" lang="ru-RU" sz="1600" b="1" i="0" u="none" strike="noStrike" cap="none" normalizeH="0" baseline="0" smtClean="0">
                        <a:ln>
                          <a:noFill/>
                        </a:ln>
                        <a:solidFill>
                          <a:srgbClr val="000000"/>
                        </a:solidFill>
                        <a:effectLst/>
                        <a:latin typeface="Times New Roman" pitchFamily="18" charset="0"/>
                        <a:cs typeface="Times New Roman" pitchFamily="18" charset="0"/>
                      </a:endParaRP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uz-Cyrl-UZ" sz="1600" b="1" i="0" u="none" strike="noStrike" cap="none" normalizeH="0" baseline="0" smtClean="0">
                          <a:ln>
                            <a:noFill/>
                          </a:ln>
                          <a:solidFill>
                            <a:srgbClr val="000000"/>
                          </a:solidFill>
                          <a:effectLst/>
                          <a:latin typeface="Times New Roman" pitchFamily="18" charset="0"/>
                          <a:cs typeface="Times New Roman" pitchFamily="18" charset="0"/>
                        </a:rPr>
                        <a:t>Схемага асосланганхэш алгоритм</a:t>
                      </a:r>
                      <a:endParaRPr kumimoji="0" lang="ru-RU" sz="1600" b="1" i="0" u="none" strike="noStrike" cap="none" normalizeH="0" baseline="0" smtClean="0">
                        <a:ln>
                          <a:noFill/>
                        </a:ln>
                        <a:solidFill>
                          <a:srgbClr val="000000"/>
                        </a:solidFill>
                        <a:effectLst/>
                        <a:latin typeface="Times New Roman" pitchFamily="18" charset="0"/>
                        <a:cs typeface="Times New Roman" pitchFamily="18" charset="0"/>
                      </a:endParaRP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uz-Cyrl-UZ" sz="1600" b="1" i="0" u="none" strike="noStrike" cap="none" normalizeH="0" baseline="0" smtClean="0">
                          <a:ln>
                            <a:noFill/>
                          </a:ln>
                          <a:solidFill>
                            <a:srgbClr val="000000"/>
                          </a:solidFill>
                          <a:effectLst/>
                          <a:latin typeface="Times New Roman" pitchFamily="18" charset="0"/>
                          <a:cs typeface="Times New Roman" pitchFamily="18" charset="0"/>
                        </a:rPr>
                        <a:t>Сиқиш функцияси</a:t>
                      </a:r>
                      <a:endParaRPr kumimoji="0" lang="ru-RU" sz="1600" b="1" i="0" u="none" strike="noStrike" cap="none" normalizeH="0" baseline="0" smtClean="0">
                        <a:ln>
                          <a:noFill/>
                        </a:ln>
                        <a:solidFill>
                          <a:srgbClr val="000000"/>
                        </a:solidFill>
                        <a:effectLst/>
                        <a:latin typeface="Times New Roman" pitchFamily="18" charset="0"/>
                        <a:cs typeface="Times New Roman" pitchFamily="18" charset="0"/>
                      </a:endParaRP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uz-Cyrl-UZ" sz="1600" b="1" i="0" u="none" strike="noStrike" cap="none" normalizeH="0" baseline="0" smtClean="0">
                          <a:ln>
                            <a:noFill/>
                          </a:ln>
                          <a:solidFill>
                            <a:srgbClr val="000000"/>
                          </a:solidFill>
                          <a:effectLst/>
                          <a:latin typeface="Times New Roman" pitchFamily="18" charset="0"/>
                          <a:cs typeface="Times New Roman" pitchFamily="18" charset="0"/>
                        </a:rPr>
                        <a:t>Хэш қиймат узунлиги (бит)</a:t>
                      </a:r>
                      <a:endParaRPr kumimoji="0" lang="ru-RU" sz="1600" b="1" i="0" u="none" strike="noStrike" cap="none" normalizeH="0" baseline="0" smtClean="0">
                        <a:ln>
                          <a:noFill/>
                        </a:ln>
                        <a:solidFill>
                          <a:srgbClr val="000000"/>
                        </a:solidFill>
                        <a:effectLst/>
                        <a:latin typeface="Times New Roman" pitchFamily="18" charset="0"/>
                        <a:cs typeface="Times New Roman" pitchFamily="18" charset="0"/>
                      </a:endParaRP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uz-Cyrl-UZ" sz="1600" b="1" i="0" u="none" strike="noStrike" cap="none" normalizeH="0" baseline="0" smtClean="0">
                          <a:ln>
                            <a:noFill/>
                          </a:ln>
                          <a:solidFill>
                            <a:srgbClr val="000000"/>
                          </a:solidFill>
                          <a:effectLst/>
                          <a:latin typeface="Times New Roman" pitchFamily="18" charset="0"/>
                          <a:cs typeface="Times New Roman" pitchFamily="18" charset="0"/>
                        </a:rPr>
                        <a:t>Раунд сони</a:t>
                      </a:r>
                      <a:endParaRPr kumimoji="0" lang="ru-RU" sz="1600" b="1" i="0" u="none" strike="noStrike" cap="none" normalizeH="0" baseline="0" smtClean="0">
                        <a:ln>
                          <a:noFill/>
                        </a:ln>
                        <a:solidFill>
                          <a:srgbClr val="000000"/>
                        </a:solidFill>
                        <a:effectLst/>
                        <a:latin typeface="Times New Roman" pitchFamily="18" charset="0"/>
                        <a:cs typeface="Times New Roman" pitchFamily="18" charset="0"/>
                      </a:endParaRP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9EDF4"/>
                    </a:solidFill>
                  </a:tcPr>
                </a:tc>
              </a:tr>
              <a:tr h="955675">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uz-Cyrl-UZ" sz="1600" b="0" i="0" u="none" strike="noStrike" cap="none" normalizeH="0" baseline="0" smtClean="0">
                          <a:ln>
                            <a:noFill/>
                          </a:ln>
                          <a:solidFill>
                            <a:srgbClr val="000000"/>
                          </a:solidFill>
                          <a:effectLst/>
                          <a:latin typeface="Times New Roman" pitchFamily="18" charset="0"/>
                          <a:cs typeface="Times New Roman" pitchFamily="18" charset="0"/>
                        </a:rPr>
                        <a:t>Девис- Мейер схемаси</a:t>
                      </a:r>
                      <a:endParaRPr kumimoji="0" lang="ru-RU" sz="1600" b="0" i="0" u="none" strike="noStrike" cap="none" normalizeH="0" baseline="0" smtClean="0">
                        <a:ln>
                          <a:noFill/>
                        </a:ln>
                        <a:solidFill>
                          <a:srgbClr val="000000"/>
                        </a:solidFill>
                        <a:effectLst/>
                        <a:latin typeface="Times New Roman" pitchFamily="18" charset="0"/>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ru-RU" sz="1600" b="1" i="0" u="none" strike="noStrike" cap="none" normalizeH="0" baseline="0" smtClean="0">
                        <a:ln>
                          <a:noFill/>
                        </a:ln>
                        <a:solidFill>
                          <a:srgbClr val="000000"/>
                        </a:solidFill>
                        <a:effectLst/>
                        <a:latin typeface="Times New Roman" pitchFamily="18" charset="0"/>
                        <a:cs typeface="Times New Roman" pitchFamily="18" charset="0"/>
                      </a:endParaRP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B</a:t>
                      </a:r>
                      <a:r>
                        <a:rPr kumimoji="0" lang="en-US" sz="1600" b="0" i="0" u="none" strike="noStrike" cap="none" normalizeH="0" baseline="0" smtClean="0">
                          <a:ln>
                            <a:noFill/>
                          </a:ln>
                          <a:solidFill>
                            <a:srgbClr val="000000"/>
                          </a:solidFill>
                          <a:effectLst/>
                          <a:latin typeface="Times New Roman" pitchFamily="18" charset="0"/>
                          <a:cs typeface="Times New Roman" pitchFamily="18" charset="0"/>
                        </a:rPr>
                        <a:t>lake</a:t>
                      </a:r>
                      <a:endParaRPr kumimoji="0" lang="ru-RU" sz="1600" b="0" i="0" u="none" strike="noStrike" cap="none" normalizeH="0" baseline="0" smtClean="0">
                        <a:ln>
                          <a:noFill/>
                        </a:ln>
                        <a:solidFill>
                          <a:srgbClr val="000000"/>
                        </a:solidFill>
                        <a:effectLst/>
                        <a:latin typeface="Times New Roman" pitchFamily="18" charset="0"/>
                        <a:cs typeface="Times New Roman" pitchFamily="18" charset="0"/>
                      </a:endParaRPr>
                    </a:p>
                  </a:txBody>
                  <a:tcPr marL="68580" marR="68580"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uz-Cyrl-UZ" sz="1600" b="0" i="0" u="none" strike="noStrike" cap="none" normalizeH="0" baseline="0" smtClean="0">
                          <a:ln>
                            <a:noFill/>
                          </a:ln>
                          <a:solidFill>
                            <a:srgbClr val="000000"/>
                          </a:solidFill>
                          <a:effectLst/>
                          <a:latin typeface="Times New Roman" pitchFamily="18" charset="0"/>
                          <a:cs typeface="Times New Roman" pitchFamily="18" charset="0"/>
                        </a:rPr>
                        <a:t>CHA-CHA шифрлаш алгоритми асосида калитли ўрин алмаштиришга асосланган.</a:t>
                      </a:r>
                      <a:endParaRPr kumimoji="0" lang="ru-RU" sz="1600" b="0" i="0" u="none" strike="noStrike" cap="none" normalizeH="0" baseline="0" smtClean="0">
                        <a:ln>
                          <a:noFill/>
                        </a:ln>
                        <a:solidFill>
                          <a:srgbClr val="000000"/>
                        </a:solidFill>
                        <a:effectLst/>
                        <a:latin typeface="Times New Roman" pitchFamily="18" charset="0"/>
                        <a:cs typeface="Times New Roman" pitchFamily="18" charset="0"/>
                      </a:endParaRPr>
                    </a:p>
                  </a:txBody>
                  <a:tcPr marL="68580" marR="68580"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224, 256, 384 </a:t>
                      </a:r>
                      <a:r>
                        <a:rPr kumimoji="0" lang="uz-Cyrl-UZ" sz="1600" b="0" i="0" u="none" strike="noStrike" cap="none" normalizeH="0" baseline="0" smtClean="0">
                          <a:ln>
                            <a:noFill/>
                          </a:ln>
                          <a:solidFill>
                            <a:srgbClr val="000000"/>
                          </a:solidFill>
                          <a:effectLst/>
                          <a:latin typeface="Times New Roman" pitchFamily="18" charset="0"/>
                          <a:cs typeface="Times New Roman" pitchFamily="18" charset="0"/>
                        </a:rPr>
                        <a:t>ва</a:t>
                      </a: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 512</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uz-Cyrl-UZ" sz="1600" b="0" i="0" u="none" strike="noStrike" cap="none" normalizeH="0" baseline="0" smtClean="0">
                          <a:ln>
                            <a:noFill/>
                          </a:ln>
                          <a:solidFill>
                            <a:srgbClr val="000000"/>
                          </a:solidFill>
                          <a:effectLst/>
                          <a:latin typeface="Times New Roman" pitchFamily="18" charset="0"/>
                          <a:cs typeface="Times New Roman" pitchFamily="18" charset="0"/>
                        </a:rPr>
                        <a:t>10</a:t>
                      </a:r>
                      <a:r>
                        <a:rPr kumimoji="0" lang="en-US" sz="1600" b="0" i="0" u="none" strike="noStrike" cap="none" normalizeH="0" baseline="0" smtClean="0">
                          <a:ln>
                            <a:noFill/>
                          </a:ln>
                          <a:solidFill>
                            <a:srgbClr val="000000"/>
                          </a:solidFill>
                          <a:effectLst/>
                          <a:latin typeface="Times New Roman" pitchFamily="18" charset="0"/>
                          <a:cs typeface="Times New Roman" pitchFamily="18" charset="0"/>
                        </a:rPr>
                        <a:t>/14</a:t>
                      </a:r>
                      <a:endParaRPr kumimoji="0" lang="ru-RU" sz="1600" b="0" i="0" u="none" strike="noStrike" cap="none" normalizeH="0" baseline="0" smtClean="0">
                        <a:ln>
                          <a:noFill/>
                        </a:ln>
                        <a:solidFill>
                          <a:srgbClr val="000000"/>
                        </a:solidFill>
                        <a:effectLst/>
                        <a:latin typeface="Times New Roman" pitchFamily="18" charset="0"/>
                        <a:cs typeface="Times New Roman" pitchFamily="18" charset="0"/>
                      </a:endParaRP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D0D8E8"/>
                    </a:solidFill>
                  </a:tcPr>
                </a:tc>
              </a:tr>
              <a:tr h="717550">
                <a:tc vMerge="1">
                  <a:txBody>
                    <a:bodyPr/>
                    <a:lstStyle/>
                    <a:p>
                      <a:endParaRPr lang="uz-Cyrl-UZ"/>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SHAvite-3</a:t>
                      </a:r>
                    </a:p>
                  </a:txBody>
                  <a:tcPr marL="68580" marR="68580"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rgbClr val="000000"/>
                          </a:solidFill>
                          <a:effectLst/>
                          <a:latin typeface="Times New Roman" pitchFamily="18" charset="0"/>
                          <a:cs typeface="Times New Roman" pitchFamily="18" charset="0"/>
                        </a:rPr>
                        <a:t>AES</a:t>
                      </a: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 ал</a:t>
                      </a:r>
                      <a:r>
                        <a:rPr kumimoji="0" lang="uz-Cyrl-UZ" sz="1600" b="0" i="0" u="none" strike="noStrike" cap="none" normalizeH="0" baseline="0" smtClean="0">
                          <a:ln>
                            <a:noFill/>
                          </a:ln>
                          <a:solidFill>
                            <a:srgbClr val="000000"/>
                          </a:solidFill>
                          <a:effectLst/>
                          <a:latin typeface="Times New Roman" pitchFamily="18" charset="0"/>
                          <a:cs typeface="Times New Roman" pitchFamily="18" charset="0"/>
                        </a:rPr>
                        <a:t>горитми функцияси ва </a:t>
                      </a:r>
                      <a:r>
                        <a:rPr kumimoji="0" lang="en-US" sz="1600" b="0" i="0" u="none" strike="noStrike" cap="none" normalizeH="0" baseline="0" smtClean="0">
                          <a:ln>
                            <a:noFill/>
                          </a:ln>
                          <a:solidFill>
                            <a:srgbClr val="000000"/>
                          </a:solidFill>
                          <a:effectLst/>
                          <a:latin typeface="Times New Roman" pitchFamily="18" charset="0"/>
                          <a:cs typeface="Times New Roman" pitchFamily="18" charset="0"/>
                        </a:rPr>
                        <a:t>S</a:t>
                      </a:r>
                      <a:r>
                        <a:rPr kumimoji="0" lang="uz-Cyrl-UZ" sz="1600" b="0" i="0" u="none" strike="noStrike" cap="none" normalizeH="0" baseline="0" smtClean="0">
                          <a:ln>
                            <a:noFill/>
                          </a:ln>
                          <a:solidFill>
                            <a:srgbClr val="000000"/>
                          </a:solidFill>
                          <a:effectLst/>
                          <a:latin typeface="Times New Roman" pitchFamily="18" charset="0"/>
                          <a:cs typeface="Times New Roman" pitchFamily="18" charset="0"/>
                        </a:rPr>
                        <a:t> блокидан фойдаланилган.</a:t>
                      </a:r>
                      <a:endParaRPr kumimoji="0" lang="ru-RU" sz="1600" b="0" i="0" u="none" strike="noStrike" cap="none" normalizeH="0" baseline="0" smtClean="0">
                        <a:ln>
                          <a:noFill/>
                        </a:ln>
                        <a:solidFill>
                          <a:srgbClr val="000000"/>
                        </a:solidFill>
                        <a:effectLst/>
                        <a:latin typeface="Times New Roman" pitchFamily="18" charset="0"/>
                        <a:cs typeface="Times New Roman" pitchFamily="18" charset="0"/>
                      </a:endParaRPr>
                    </a:p>
                  </a:txBody>
                  <a:tcPr marL="68580" marR="68580"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224, 256, 384 </a:t>
                      </a:r>
                      <a:r>
                        <a:rPr kumimoji="0" lang="uz-Cyrl-UZ" sz="1600" b="0" i="0" u="none" strike="noStrike" cap="none" normalizeH="0" baseline="0" smtClean="0">
                          <a:ln>
                            <a:noFill/>
                          </a:ln>
                          <a:solidFill>
                            <a:srgbClr val="000000"/>
                          </a:solidFill>
                          <a:effectLst/>
                          <a:latin typeface="Times New Roman" pitchFamily="18" charset="0"/>
                          <a:cs typeface="Times New Roman" pitchFamily="18" charset="0"/>
                        </a:rPr>
                        <a:t>ва</a:t>
                      </a: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 512</a:t>
                      </a:r>
                      <a:endParaRPr kumimoji="0" lang="en-US" sz="1600" b="0" i="0" u="none" strike="noStrike" cap="none" normalizeH="0" baseline="0" smtClean="0">
                        <a:ln>
                          <a:noFill/>
                        </a:ln>
                        <a:solidFill>
                          <a:srgbClr val="000000"/>
                        </a:solidFill>
                        <a:effectLst/>
                        <a:latin typeface="Times New Roman" pitchFamily="18" charset="0"/>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rgbClr val="000000"/>
                          </a:solidFill>
                          <a:effectLst/>
                          <a:latin typeface="Times New Roman" pitchFamily="18" charset="0"/>
                          <a:cs typeface="Times New Roman" pitchFamily="18" charset="0"/>
                        </a:rPr>
                        <a:t>0&lt;H&lt;2</a:t>
                      </a:r>
                      <a:r>
                        <a:rPr kumimoji="0" lang="en-US" sz="1600" b="0" i="0" u="none" strike="noStrike" cap="none" normalizeH="0" baseline="30000" smtClean="0">
                          <a:ln>
                            <a:noFill/>
                          </a:ln>
                          <a:solidFill>
                            <a:srgbClr val="000000"/>
                          </a:solidFill>
                          <a:effectLst/>
                          <a:latin typeface="Times New Roman" pitchFamily="18" charset="0"/>
                          <a:cs typeface="Times New Roman" pitchFamily="18" charset="0"/>
                        </a:rPr>
                        <a:t>64</a:t>
                      </a:r>
                      <a:r>
                        <a:rPr kumimoji="0" lang="en-US" sz="1600" b="0" i="0" u="none" strike="noStrike" cap="none" normalizeH="0" baseline="0" smtClean="0">
                          <a:ln>
                            <a:noFill/>
                          </a:ln>
                          <a:solidFill>
                            <a:srgbClr val="000000"/>
                          </a:solidFill>
                          <a:effectLst/>
                          <a:latin typeface="Times New Roman" pitchFamily="18" charset="0"/>
                          <a:cs typeface="Times New Roman" pitchFamily="18" charset="0"/>
                        </a:rPr>
                        <a:t>-1</a:t>
                      </a:r>
                      <a:endParaRPr kumimoji="0" lang="ru-RU" sz="1600" b="0" i="0" u="none" strike="noStrike" cap="none" normalizeH="0" baseline="0" smtClean="0">
                        <a:ln>
                          <a:noFill/>
                        </a:ln>
                        <a:solidFill>
                          <a:srgbClr val="000000"/>
                        </a:solidFill>
                        <a:effectLst/>
                        <a:latin typeface="Times New Roman" pitchFamily="18" charset="0"/>
                        <a:cs typeface="Times New Roman" pitchFamily="18" charset="0"/>
                      </a:endParaRPr>
                    </a:p>
                  </a:txBody>
                  <a:tcPr marL="68580" marR="68580"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rgbClr val="000000"/>
                          </a:solidFill>
                          <a:effectLst/>
                          <a:latin typeface="Times New Roman" pitchFamily="18" charset="0"/>
                          <a:cs typeface="Times New Roman" pitchFamily="18" charset="0"/>
                        </a:rPr>
                        <a:t>12/14</a:t>
                      </a:r>
                      <a:endParaRPr kumimoji="0" lang="ru-RU" sz="1600" b="0" i="0" u="none" strike="noStrike" cap="none" normalizeH="0" baseline="0" smtClean="0">
                        <a:ln>
                          <a:noFill/>
                        </a:ln>
                        <a:solidFill>
                          <a:srgbClr val="000000"/>
                        </a:solidFill>
                        <a:effectLst/>
                        <a:latin typeface="Times New Roman" pitchFamily="18" charset="0"/>
                        <a:cs typeface="Times New Roman" pitchFamily="18" charset="0"/>
                      </a:endParaRP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9EDF4"/>
                    </a:solidFill>
                  </a:tcPr>
                </a:tc>
              </a:tr>
              <a:tr h="717550">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uz-Cyrl-UZ" sz="1600" b="0" i="0" u="none" strike="noStrike" cap="none" normalizeH="0" baseline="0" smtClean="0">
                          <a:ln>
                            <a:noFill/>
                          </a:ln>
                          <a:solidFill>
                            <a:srgbClr val="000000"/>
                          </a:solidFill>
                          <a:effectLst/>
                          <a:latin typeface="Times New Roman" pitchFamily="18" charset="0"/>
                          <a:cs typeface="Times New Roman" pitchFamily="18" charset="0"/>
                        </a:rPr>
                        <a:t>Губка принципи</a:t>
                      </a:r>
                      <a:endParaRPr kumimoji="0" lang="ru-RU" sz="1600" b="0" i="0" u="none" strike="noStrike" cap="none" normalizeH="0" baseline="0" smtClean="0">
                        <a:ln>
                          <a:noFill/>
                        </a:ln>
                        <a:solidFill>
                          <a:srgbClr val="000000"/>
                        </a:solidFill>
                        <a:effectLst/>
                        <a:latin typeface="Times New Roman" pitchFamily="18" charset="0"/>
                        <a:cs typeface="Times New Roman" pitchFamily="18" charset="0"/>
                      </a:endParaRPr>
                    </a:p>
                  </a:txBody>
                  <a:tcPr marL="68580" marR="68580"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rgbClr val="000000"/>
                          </a:solidFill>
                          <a:effectLst/>
                          <a:latin typeface="Times New Roman" pitchFamily="18" charset="0"/>
                          <a:cs typeface="Times New Roman" pitchFamily="18" charset="0"/>
                        </a:rPr>
                        <a:t>Keccak</a:t>
                      </a:r>
                    </a:p>
                    <a:p>
                      <a:pPr marL="0" marR="0" lvl="0" indent="0" algn="ctr" defTabSz="914400" rtl="0" eaLnBrk="1" fontAlgn="base" latinLnBrk="0" hangingPunct="1">
                        <a:lnSpc>
                          <a:spcPct val="100000"/>
                        </a:lnSpc>
                        <a:spcBef>
                          <a:spcPct val="0"/>
                        </a:spcBef>
                        <a:spcAft>
                          <a:spcPct val="0"/>
                        </a:spcAft>
                        <a:buClrTx/>
                        <a:buSzTx/>
                        <a:buFontTx/>
                        <a:buNone/>
                        <a:tabLst/>
                      </a:pPr>
                      <a:r>
                        <a:rPr kumimoji="0" lang="uz-Cyrl-UZ" sz="1600" b="0" i="0" u="none" strike="noStrike" cap="none" normalizeH="0" baseline="0" smtClean="0">
                          <a:ln>
                            <a:noFill/>
                          </a:ln>
                          <a:solidFill>
                            <a:srgbClr val="000000"/>
                          </a:solidFill>
                          <a:effectLst/>
                          <a:latin typeface="Times New Roman" pitchFamily="18" charset="0"/>
                          <a:cs typeface="Times New Roman" pitchFamily="18" charset="0"/>
                        </a:rPr>
                        <a:t>(</a:t>
                      </a:r>
                      <a:r>
                        <a:rPr kumimoji="0" lang="en-US" sz="1600" b="0" i="0" u="none" strike="noStrike" cap="none" normalizeH="0" baseline="0" smtClean="0">
                          <a:ln>
                            <a:noFill/>
                          </a:ln>
                          <a:solidFill>
                            <a:srgbClr val="000000"/>
                          </a:solidFill>
                          <a:effectLst/>
                          <a:latin typeface="Times New Roman" pitchFamily="18" charset="0"/>
                          <a:cs typeface="Times New Roman" pitchFamily="18" charset="0"/>
                        </a:rPr>
                        <a:t>SHA-3)</a:t>
                      </a:r>
                      <a:endParaRPr kumimoji="0" lang="ru-RU" sz="1600" b="0" i="0" u="none" strike="noStrike" cap="none" normalizeH="0" baseline="0" smtClean="0">
                        <a:ln>
                          <a:noFill/>
                        </a:ln>
                        <a:solidFill>
                          <a:srgbClr val="000000"/>
                        </a:solidFill>
                        <a:effectLst/>
                        <a:latin typeface="Times New Roman" pitchFamily="18" charset="0"/>
                        <a:cs typeface="Times New Roman" pitchFamily="18" charset="0"/>
                      </a:endParaRPr>
                    </a:p>
                  </a:txBody>
                  <a:tcPr marL="68580" marR="68580"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uz-Cyrl-UZ" sz="1600" b="0" i="0" u="none" strike="noStrike" cap="none" normalizeH="0" baseline="0" smtClean="0">
                          <a:ln>
                            <a:noFill/>
                          </a:ln>
                          <a:solidFill>
                            <a:srgbClr val="000000"/>
                          </a:solidFill>
                          <a:effectLst/>
                          <a:latin typeface="Times New Roman" pitchFamily="18" charset="0"/>
                          <a:cs typeface="Times New Roman" pitchFamily="18" charset="0"/>
                        </a:rPr>
                        <a:t>Псевдотасоддифий ўриналмаштиришга асосланган</a:t>
                      </a:r>
                      <a:endParaRPr kumimoji="0" lang="ru-RU" sz="1600" b="0" i="0" u="none" strike="noStrike" cap="none" normalizeH="0" baseline="0" smtClean="0">
                        <a:ln>
                          <a:noFill/>
                        </a:ln>
                        <a:solidFill>
                          <a:srgbClr val="000000"/>
                        </a:solidFill>
                        <a:effectLst/>
                        <a:latin typeface="Times New Roman" pitchFamily="18" charset="0"/>
                        <a:cs typeface="Times New Roman" pitchFamily="18" charset="0"/>
                      </a:endParaRPr>
                    </a:p>
                  </a:txBody>
                  <a:tcPr marL="68580" marR="68580"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224, 256, 384 </a:t>
                      </a:r>
                      <a:r>
                        <a:rPr kumimoji="0" lang="uz-Cyrl-UZ" sz="1600" b="0" i="0" u="none" strike="noStrike" cap="none" normalizeH="0" baseline="0" smtClean="0">
                          <a:ln>
                            <a:noFill/>
                          </a:ln>
                          <a:solidFill>
                            <a:srgbClr val="000000"/>
                          </a:solidFill>
                          <a:effectLst/>
                          <a:latin typeface="Times New Roman" pitchFamily="18" charset="0"/>
                          <a:cs typeface="Times New Roman" pitchFamily="18" charset="0"/>
                        </a:rPr>
                        <a:t>ва</a:t>
                      </a: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 512</a:t>
                      </a:r>
                      <a:endParaRPr kumimoji="0" lang="en-US" sz="1600" b="0" i="0" u="none" strike="noStrike" cap="none" normalizeH="0" baseline="0" smtClean="0">
                        <a:ln>
                          <a:noFill/>
                        </a:ln>
                        <a:solidFill>
                          <a:srgbClr val="000000"/>
                        </a:solidFill>
                        <a:effectLst/>
                        <a:latin typeface="Times New Roman" pitchFamily="18" charset="0"/>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rgbClr val="000000"/>
                          </a:solidFill>
                          <a:effectLst/>
                          <a:latin typeface="Times New Roman" pitchFamily="18" charset="0"/>
                          <a:cs typeface="Times New Roman" pitchFamily="18" charset="0"/>
                        </a:rPr>
                        <a:t>(</a:t>
                      </a:r>
                      <a:r>
                        <a:rPr kumimoji="0" lang="uz-Cyrl-UZ" sz="1600" b="0" i="0" u="none" strike="noStrike" cap="none" normalizeH="0" baseline="0" smtClean="0">
                          <a:ln>
                            <a:noFill/>
                          </a:ln>
                          <a:solidFill>
                            <a:srgbClr val="000000"/>
                          </a:solidFill>
                          <a:effectLst/>
                          <a:latin typeface="Times New Roman" pitchFamily="18" charset="0"/>
                          <a:cs typeface="Times New Roman" pitchFamily="18" charset="0"/>
                        </a:rPr>
                        <a:t>Ихтиёрий</a:t>
                      </a:r>
                      <a:r>
                        <a:rPr kumimoji="0" lang="en-US" sz="1600" b="0" i="0" u="none" strike="noStrike" cap="none" normalizeH="0" baseline="0" smtClean="0">
                          <a:ln>
                            <a:noFill/>
                          </a:ln>
                          <a:solidFill>
                            <a:srgbClr val="000000"/>
                          </a:solidFill>
                          <a:effectLst/>
                          <a:latin typeface="Times New Roman" pitchFamily="18" charset="0"/>
                          <a:cs typeface="Times New Roman" pitchFamily="18" charset="0"/>
                        </a:rPr>
                        <a:t>)</a:t>
                      </a:r>
                      <a:endParaRPr kumimoji="0" lang="ru-RU" sz="1600" b="0" i="0" u="none" strike="noStrike" cap="none" normalizeH="0" baseline="0" smtClean="0">
                        <a:ln>
                          <a:noFill/>
                        </a:ln>
                        <a:solidFill>
                          <a:srgbClr val="000000"/>
                        </a:solidFill>
                        <a:effectLst/>
                        <a:latin typeface="Times New Roman" pitchFamily="18" charset="0"/>
                        <a:cs typeface="Times New Roman" pitchFamily="18" charset="0"/>
                      </a:endParaRP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uz-Cyrl-UZ" sz="1600" b="0" i="0" u="none" strike="noStrike" cap="none" normalizeH="0" baseline="0" smtClean="0">
                          <a:ln>
                            <a:noFill/>
                          </a:ln>
                          <a:solidFill>
                            <a:srgbClr val="000000"/>
                          </a:solidFill>
                          <a:effectLst/>
                          <a:latin typeface="Times New Roman" pitchFamily="18" charset="0"/>
                          <a:cs typeface="Times New Roman" pitchFamily="18" charset="0"/>
                        </a:rPr>
                        <a:t>24</a:t>
                      </a:r>
                      <a:endParaRPr kumimoji="0" lang="ru-RU" sz="1600" b="0" i="0" u="none" strike="noStrike" cap="none" normalizeH="0" baseline="0" smtClean="0">
                        <a:ln>
                          <a:noFill/>
                        </a:ln>
                        <a:solidFill>
                          <a:srgbClr val="000000"/>
                        </a:solidFill>
                        <a:effectLst/>
                        <a:latin typeface="Times New Roman" pitchFamily="18" charset="0"/>
                        <a:cs typeface="Times New Roman" pitchFamily="18" charset="0"/>
                      </a:endParaRP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D0D8E8"/>
                    </a:solidFill>
                  </a:tcPr>
                </a:tc>
              </a:tr>
              <a:tr h="841375">
                <a:tc vMerge="1">
                  <a:txBody>
                    <a:bodyPr/>
                    <a:lstStyle/>
                    <a:p>
                      <a:endParaRPr lang="uz-Cyrl-UZ"/>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JH</a:t>
                      </a:r>
                    </a:p>
                  </a:txBody>
                  <a:tcPr marL="68580" marR="68580"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uz-Cyrl-UZ" sz="1600" b="0" i="0" u="none" strike="noStrike" cap="none" normalizeH="0" baseline="0" smtClean="0">
                          <a:ln>
                            <a:noFill/>
                          </a:ln>
                          <a:solidFill>
                            <a:srgbClr val="000000"/>
                          </a:solidFill>
                          <a:effectLst/>
                          <a:latin typeface="Times New Roman" pitchFamily="18" charset="0"/>
                          <a:cs typeface="Times New Roman" pitchFamily="18" charset="0"/>
                        </a:rPr>
                        <a:t>Блокли ўриналмаштириш</a:t>
                      </a:r>
                      <a:endParaRPr kumimoji="0" lang="ru-RU" sz="1600" b="0" i="0" u="none" strike="noStrike" cap="none" normalizeH="0" baseline="0" smtClean="0">
                        <a:ln>
                          <a:noFill/>
                        </a:ln>
                        <a:solidFill>
                          <a:srgbClr val="000000"/>
                        </a:solidFill>
                        <a:effectLst/>
                        <a:latin typeface="Times New Roman" pitchFamily="18" charset="0"/>
                        <a:cs typeface="Times New Roman" pitchFamily="18" charset="0"/>
                      </a:endParaRPr>
                    </a:p>
                  </a:txBody>
                  <a:tcPr marL="68580" marR="68580"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800" b="0" i="0" u="none" strike="noStrike" cap="none" normalizeH="0" baseline="0" smtClean="0">
                          <a:ln>
                            <a:noFill/>
                          </a:ln>
                          <a:solidFill>
                            <a:srgbClr val="000000"/>
                          </a:solidFill>
                          <a:effectLst/>
                          <a:latin typeface="Calibri" pitchFamily="34" charset="0"/>
                        </a:rPr>
                        <a:t>224</a:t>
                      </a:r>
                      <a:r>
                        <a:rPr kumimoji="0" lang="en-US" sz="1800" b="0" i="0" u="none" strike="noStrike" cap="none" normalizeH="0" baseline="0" smtClean="0">
                          <a:ln>
                            <a:noFill/>
                          </a:ln>
                          <a:solidFill>
                            <a:srgbClr val="000000"/>
                          </a:solidFill>
                          <a:effectLst/>
                          <a:latin typeface="Calibri" pitchFamily="34" charset="0"/>
                        </a:rPr>
                        <a:t>,</a:t>
                      </a:r>
                      <a:r>
                        <a:rPr kumimoji="0" lang="ru-RU" sz="1800" b="0" i="0" u="none" strike="noStrike" cap="none" normalizeH="0" baseline="0" smtClean="0">
                          <a:ln>
                            <a:noFill/>
                          </a:ln>
                          <a:solidFill>
                            <a:srgbClr val="000000"/>
                          </a:solidFill>
                          <a:effectLst/>
                          <a:latin typeface="Calibri" pitchFamily="34" charset="0"/>
                        </a:rPr>
                        <a:t>256 </a:t>
                      </a:r>
                    </a:p>
                    <a:p>
                      <a:pPr marL="0" marR="0" lvl="0" indent="0" algn="l" defTabSz="914400" rtl="0" eaLnBrk="1" fontAlgn="base" latinLnBrk="0" hangingPunct="1">
                        <a:lnSpc>
                          <a:spcPct val="100000"/>
                        </a:lnSpc>
                        <a:spcBef>
                          <a:spcPct val="0"/>
                        </a:spcBef>
                        <a:spcAft>
                          <a:spcPct val="0"/>
                        </a:spcAft>
                        <a:buClrTx/>
                        <a:buSzTx/>
                        <a:buFontTx/>
                        <a:buNone/>
                        <a:tabLst/>
                      </a:pPr>
                      <a:r>
                        <a:rPr kumimoji="0" lang="ru-RU" sz="1800" b="0" i="0" u="none" strike="noStrike" cap="none" normalizeH="0" baseline="0" smtClean="0">
                          <a:ln>
                            <a:noFill/>
                          </a:ln>
                          <a:solidFill>
                            <a:srgbClr val="000000"/>
                          </a:solidFill>
                          <a:effectLst/>
                          <a:latin typeface="Calibri" pitchFamily="34" charset="0"/>
                        </a:rPr>
                        <a:t>384 </a:t>
                      </a:r>
                      <a:r>
                        <a:rPr kumimoji="0" lang="en-US" sz="1800" b="0" i="0" u="none" strike="noStrike" cap="none" normalizeH="0" baseline="0" smtClean="0">
                          <a:ln>
                            <a:noFill/>
                          </a:ln>
                          <a:solidFill>
                            <a:srgbClr val="000000"/>
                          </a:solidFill>
                          <a:effectLst/>
                          <a:latin typeface="Calibri" pitchFamily="34" charset="0"/>
                        </a:rPr>
                        <a:t>,</a:t>
                      </a:r>
                      <a:r>
                        <a:rPr kumimoji="0" lang="ru-RU" sz="1800" b="0" i="0" u="none" strike="noStrike" cap="none" normalizeH="0" baseline="0" smtClean="0">
                          <a:ln>
                            <a:noFill/>
                          </a:ln>
                          <a:solidFill>
                            <a:srgbClr val="000000"/>
                          </a:solidFill>
                          <a:effectLst/>
                          <a:latin typeface="Calibri" pitchFamily="34" charset="0"/>
                        </a:rPr>
                        <a:t>512 	</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rgbClr val="000000"/>
                          </a:solidFill>
                          <a:effectLst/>
                          <a:latin typeface="Times New Roman" pitchFamily="18" charset="0"/>
                          <a:cs typeface="Times New Roman" pitchFamily="18" charset="0"/>
                        </a:rPr>
                        <a:t>42</a:t>
                      </a:r>
                      <a:endParaRPr kumimoji="0" lang="ru-RU" sz="1600" b="0" i="0" u="none" strike="noStrike" cap="none" normalizeH="0" baseline="0" smtClean="0">
                        <a:ln>
                          <a:noFill/>
                        </a:ln>
                        <a:solidFill>
                          <a:srgbClr val="000000"/>
                        </a:solidFill>
                        <a:effectLst/>
                        <a:latin typeface="Times New Roman" pitchFamily="18" charset="0"/>
                        <a:cs typeface="Times New Roman" pitchFamily="18" charset="0"/>
                      </a:endParaRP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9EDF4"/>
                    </a:solidFill>
                  </a:tcPr>
                </a:tc>
              </a:tr>
              <a:tr h="8953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uz-Cyrl-UZ" sz="1600" b="0" i="0" u="none" strike="noStrike" cap="none" normalizeH="0" baseline="0" smtClean="0">
                          <a:ln>
                            <a:noFill/>
                          </a:ln>
                          <a:solidFill>
                            <a:srgbClr val="000000"/>
                          </a:solidFill>
                          <a:effectLst/>
                          <a:latin typeface="Times New Roman" pitchFamily="18" charset="0"/>
                          <a:cs typeface="Times New Roman" pitchFamily="18" charset="0"/>
                        </a:rPr>
                        <a:t>Кенг каналли Меркл-Дамгард схемаси</a:t>
                      </a:r>
                      <a:endParaRPr kumimoji="0" lang="ru-RU" sz="1600" b="0" i="0" u="none" strike="noStrike" cap="none" normalizeH="0" baseline="0" smtClean="0">
                        <a:ln>
                          <a:noFill/>
                        </a:ln>
                        <a:solidFill>
                          <a:srgbClr val="000000"/>
                        </a:solidFill>
                        <a:effectLst/>
                        <a:latin typeface="Times New Roman" pitchFamily="18" charset="0"/>
                        <a:cs typeface="Times New Roman" pitchFamily="18" charset="0"/>
                      </a:endParaRP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Grоstl</a:t>
                      </a:r>
                    </a:p>
                  </a:txBody>
                  <a:tcPr marL="68580" marR="68580"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uz-Cyrl-UZ" sz="1600" b="0" i="0" u="none" strike="noStrike" cap="none" normalizeH="0" baseline="0" smtClean="0">
                          <a:ln>
                            <a:noFill/>
                          </a:ln>
                          <a:solidFill>
                            <a:srgbClr val="000000"/>
                          </a:solidFill>
                          <a:effectLst/>
                          <a:latin typeface="Times New Roman" pitchFamily="18" charset="0"/>
                          <a:cs typeface="Times New Roman" pitchFamily="18" charset="0"/>
                        </a:rPr>
                        <a:t>AES шифрлаш алгоритмининг иккита S блокидан фойдаланилган</a:t>
                      </a:r>
                      <a:endParaRPr kumimoji="0" lang="ru-RU" sz="1600" b="0" i="0" u="none" strike="noStrike" cap="none" normalizeH="0" baseline="0" smtClean="0">
                        <a:ln>
                          <a:noFill/>
                        </a:ln>
                        <a:solidFill>
                          <a:srgbClr val="000000"/>
                        </a:solidFill>
                        <a:effectLst/>
                        <a:latin typeface="Times New Roman" pitchFamily="18" charset="0"/>
                        <a:cs typeface="Times New Roman" pitchFamily="18" charset="0"/>
                      </a:endParaRPr>
                    </a:p>
                  </a:txBody>
                  <a:tcPr marL="68580" marR="68580"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uz-Cyrl-UZ" sz="1600" b="0" i="0" u="none" strike="noStrike" cap="none" normalizeH="0" baseline="0" smtClean="0">
                          <a:ln>
                            <a:noFill/>
                          </a:ln>
                          <a:solidFill>
                            <a:srgbClr val="000000"/>
                          </a:solidFill>
                          <a:effectLst/>
                          <a:latin typeface="Times New Roman" pitchFamily="18" charset="0"/>
                          <a:cs typeface="Times New Roman" pitchFamily="18" charset="0"/>
                        </a:rPr>
                        <a:t>8 битдан 512 битгача</a:t>
                      </a:r>
                      <a:endParaRPr kumimoji="0" lang="ru-RU" sz="1600" b="0" i="0" u="none" strike="noStrike" cap="none" normalizeH="0" baseline="0" smtClean="0">
                        <a:ln>
                          <a:noFill/>
                        </a:ln>
                        <a:solidFill>
                          <a:srgbClr val="000000"/>
                        </a:solidFill>
                        <a:effectLst/>
                        <a:latin typeface="Times New Roman" pitchFamily="18" charset="0"/>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rgbClr val="000000"/>
                          </a:solidFill>
                          <a:effectLst/>
                          <a:latin typeface="Times New Roman" pitchFamily="18" charset="0"/>
                          <a:cs typeface="Times New Roman" pitchFamily="18" charset="0"/>
                        </a:rPr>
                        <a:t>256/512</a:t>
                      </a:r>
                      <a:endParaRPr kumimoji="0" lang="ru-RU" sz="1600" b="0" i="0" u="none" strike="noStrike" cap="none" normalizeH="0" baseline="0" smtClean="0">
                        <a:ln>
                          <a:noFill/>
                        </a:ln>
                        <a:solidFill>
                          <a:srgbClr val="000000"/>
                        </a:solidFill>
                        <a:effectLst/>
                        <a:latin typeface="Times New Roman" pitchFamily="18" charset="0"/>
                        <a:cs typeface="Times New Roman" pitchFamily="18" charset="0"/>
                      </a:endParaRPr>
                    </a:p>
                  </a:txBody>
                  <a:tcPr marL="68580" marR="68580"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uz-Cyrl-UZ" sz="1600" b="0" i="0" u="none" strike="noStrike" cap="none" normalizeH="0" baseline="0" smtClean="0">
                          <a:ln>
                            <a:noFill/>
                          </a:ln>
                          <a:solidFill>
                            <a:srgbClr val="000000"/>
                          </a:solidFill>
                          <a:effectLst/>
                          <a:latin typeface="Times New Roman" pitchFamily="18" charset="0"/>
                          <a:cs typeface="Times New Roman" pitchFamily="18" charset="0"/>
                        </a:rPr>
                        <a:t>10</a:t>
                      </a:r>
                      <a:r>
                        <a:rPr kumimoji="0" lang="en-US" sz="1600" b="0" i="0" u="none" strike="noStrike" cap="none" normalizeH="0" baseline="0" smtClean="0">
                          <a:ln>
                            <a:noFill/>
                          </a:ln>
                          <a:solidFill>
                            <a:srgbClr val="000000"/>
                          </a:solidFill>
                          <a:effectLst/>
                          <a:latin typeface="Times New Roman" pitchFamily="18" charset="0"/>
                          <a:cs typeface="Times New Roman" pitchFamily="18" charset="0"/>
                        </a:rPr>
                        <a:t>/14</a:t>
                      </a:r>
                      <a:endParaRPr kumimoji="0" lang="ru-RU" sz="1600" b="0" i="0" u="none" strike="noStrike" cap="none" normalizeH="0" baseline="0" smtClean="0">
                        <a:ln>
                          <a:noFill/>
                        </a:ln>
                        <a:solidFill>
                          <a:srgbClr val="000000"/>
                        </a:solidFill>
                        <a:effectLst/>
                        <a:latin typeface="Times New Roman" pitchFamily="18" charset="0"/>
                        <a:cs typeface="Times New Roman" pitchFamily="18" charset="0"/>
                      </a:endParaRP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D0D8E8"/>
                    </a:solidFill>
                  </a:tcPr>
                </a:tc>
              </a:tr>
            </a:tbl>
          </a:graphicData>
        </a:graphic>
      </p:graphicFrame>
    </p:spTree>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3821</TotalTime>
  <Words>1455</Words>
  <Application>Microsoft Office PowerPoint</Application>
  <PresentationFormat>Экран (4:3)</PresentationFormat>
  <Paragraphs>337</Paragraphs>
  <Slides>12</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12</vt:i4>
      </vt:variant>
    </vt:vector>
  </HeadingPairs>
  <TitlesOfParts>
    <vt:vector size="13" baseType="lpstr">
      <vt:lpstr>Тема Office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Администратор</dc:creator>
  <cp:lastModifiedBy>Microsoft Office</cp:lastModifiedBy>
  <cp:revision>230</cp:revision>
  <dcterms:created xsi:type="dcterms:W3CDTF">2013-10-19T13:59:30Z</dcterms:created>
  <dcterms:modified xsi:type="dcterms:W3CDTF">2019-08-21T09:22:42Z</dcterms:modified>
</cp:coreProperties>
</file>