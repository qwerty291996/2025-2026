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6" r:id="rId3"/>
    <p:sldId id="258" r:id="rId4"/>
    <p:sldId id="259" r:id="rId5"/>
    <p:sldId id="260" r:id="rId6"/>
    <p:sldId id="286" r:id="rId7"/>
    <p:sldId id="288" r:id="rId8"/>
    <p:sldId id="289" r:id="rId9"/>
    <p:sldId id="262" r:id="rId10"/>
    <p:sldId id="271" r:id="rId11"/>
    <p:sldId id="263" r:id="rId12"/>
    <p:sldId id="272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95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18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76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00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34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78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99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70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85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55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3310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69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8873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440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838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71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EEDA6-5C92-4228-A1E4-FF06F2EBD93C}" type="datetimeFigureOut">
              <a:rPr lang="ru-RU" smtClean="0"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8187919-DED6-417A-B95A-A1C45652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33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61142" y="1256031"/>
            <a:ext cx="1031965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	"</a:t>
            </a:r>
            <a:r>
              <a:rPr lang="en-US" sz="2800" b="1" dirty="0" err="1"/>
              <a:t>Stribog</a:t>
            </a:r>
            <a:r>
              <a:rPr lang="en-US" sz="2400" b="1" dirty="0"/>
              <a:t>"</a:t>
            </a:r>
            <a:r>
              <a:rPr lang="en-US" sz="2400" dirty="0"/>
              <a:t>  (inglizcha </a:t>
            </a:r>
            <a:r>
              <a:rPr lang="en-US" sz="2400" i="1" dirty="0"/>
              <a:t>STREEBOG</a:t>
            </a:r>
            <a:r>
              <a:rPr lang="en-US" sz="2400" dirty="0"/>
              <a:t>) - </a:t>
            </a:r>
            <a:r>
              <a:rPr lang="en-US" sz="2400" dirty="0" err="1"/>
              <a:t>kirish</a:t>
            </a:r>
            <a:r>
              <a:rPr lang="en-US" sz="2400" dirty="0"/>
              <a:t> </a:t>
            </a:r>
            <a:r>
              <a:rPr lang="en-US" sz="2400" dirty="0" err="1"/>
              <a:t>ma'lumotlar</a:t>
            </a:r>
            <a:r>
              <a:rPr lang="en-US" sz="2400" dirty="0"/>
              <a:t> </a:t>
            </a:r>
            <a:r>
              <a:rPr lang="en-US" sz="2400" dirty="0" err="1"/>
              <a:t>blokining</a:t>
            </a:r>
            <a:r>
              <a:rPr lang="en-US" sz="2400" dirty="0"/>
              <a:t> </a:t>
            </a:r>
            <a:r>
              <a:rPr lang="en-US" sz="2400" dirty="0" err="1"/>
              <a:t>o'lchami</a:t>
            </a:r>
            <a:r>
              <a:rPr lang="en-US" sz="2400" dirty="0"/>
              <a:t> </a:t>
            </a:r>
            <a:r>
              <a:rPr lang="en-US" sz="2400" b="1" dirty="0"/>
              <a:t>512</a:t>
            </a:r>
            <a:r>
              <a:rPr lang="en-US" sz="2400" dirty="0"/>
              <a:t> </a:t>
            </a:r>
            <a:r>
              <a:rPr lang="en-US" sz="2400" b="1" dirty="0"/>
              <a:t>bit</a:t>
            </a:r>
            <a:r>
              <a:rPr lang="en-US" sz="2400" dirty="0"/>
              <a:t> </a:t>
            </a:r>
            <a:r>
              <a:rPr lang="en-US" sz="2400" dirty="0" err="1"/>
              <a:t>va</a:t>
            </a:r>
            <a:r>
              <a:rPr lang="en-US" sz="2400" dirty="0"/>
              <a:t> xesh-kod </a:t>
            </a:r>
            <a:r>
              <a:rPr lang="en-US" sz="2400" dirty="0" err="1"/>
              <a:t>hajmi</a:t>
            </a:r>
            <a:r>
              <a:rPr lang="en-US" sz="2400" dirty="0"/>
              <a:t> </a:t>
            </a:r>
            <a:r>
              <a:rPr lang="en-US" sz="2400" b="1" dirty="0"/>
              <a:t>256 </a:t>
            </a:r>
            <a:r>
              <a:rPr lang="en-US" sz="2400" b="1" dirty="0" err="1"/>
              <a:t>yoki</a:t>
            </a:r>
            <a:r>
              <a:rPr lang="en-US" sz="2400" b="1" dirty="0"/>
              <a:t> 512 bit </a:t>
            </a:r>
            <a:r>
              <a:rPr lang="en-US" sz="2400" dirty="0"/>
              <a:t>bo'lgan </a:t>
            </a:r>
            <a:r>
              <a:rPr lang="en-US" sz="2400" dirty="0" err="1"/>
              <a:t>xesh</a:t>
            </a:r>
            <a:r>
              <a:rPr lang="en-US" sz="2400" dirty="0"/>
              <a:t> </a:t>
            </a:r>
            <a:r>
              <a:rPr lang="en-US" sz="2400" dirty="0" err="1"/>
              <a:t>funksiyasini</a:t>
            </a:r>
            <a:r>
              <a:rPr lang="en-US" sz="2400" dirty="0"/>
              <a:t> </a:t>
            </a:r>
            <a:r>
              <a:rPr lang="en-US" sz="2400" dirty="0" err="1"/>
              <a:t>hisoblash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 kriptografik </a:t>
            </a:r>
            <a:r>
              <a:rPr lang="en-US" sz="2400" dirty="0" err="1"/>
              <a:t>algoritm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61142" y="2517915"/>
            <a:ext cx="103196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	GOST 34.11-2018 </a:t>
            </a:r>
            <a:r>
              <a:rPr lang="en-US" sz="2400" i="1" dirty="0"/>
              <a:t>“</a:t>
            </a:r>
            <a:r>
              <a:rPr lang="en-US" sz="2400" i="1" dirty="0" err="1"/>
              <a:t>Axborot</a:t>
            </a:r>
            <a:r>
              <a:rPr lang="en-US" sz="2400" i="1" dirty="0"/>
              <a:t> </a:t>
            </a:r>
            <a:r>
              <a:rPr lang="en-US" sz="2400" i="1" dirty="0" err="1"/>
              <a:t>texnologiyalari</a:t>
            </a:r>
            <a:r>
              <a:rPr lang="en-US" sz="2400" i="1" dirty="0"/>
              <a:t>. Kriptografik </a:t>
            </a:r>
            <a:r>
              <a:rPr lang="en-US" sz="2400" i="1" dirty="0" err="1"/>
              <a:t>ma'lumotlarni</a:t>
            </a:r>
            <a:r>
              <a:rPr lang="en-US" sz="2400" i="1" dirty="0"/>
              <a:t> </a:t>
            </a:r>
            <a:r>
              <a:rPr lang="en-US" sz="2400" i="1" dirty="0" err="1"/>
              <a:t>himoya</a:t>
            </a:r>
            <a:r>
              <a:rPr lang="en-US" sz="2400" i="1" dirty="0"/>
              <a:t> </a:t>
            </a:r>
            <a:r>
              <a:rPr lang="en-US" sz="2400" i="1" dirty="0" err="1"/>
              <a:t>qilish</a:t>
            </a:r>
            <a:r>
              <a:rPr lang="en-US" sz="2400" i="1" dirty="0"/>
              <a:t> . </a:t>
            </a:r>
            <a:r>
              <a:rPr lang="en-US" sz="2400" i="1" dirty="0" err="1"/>
              <a:t>Xesh</a:t>
            </a:r>
            <a:r>
              <a:rPr lang="en-US" sz="2400" i="1" dirty="0"/>
              <a:t> </a:t>
            </a:r>
            <a:r>
              <a:rPr lang="en-US" sz="2400" i="1" dirty="0" err="1"/>
              <a:t>funktsiyasi</a:t>
            </a:r>
            <a:r>
              <a:rPr lang="en-US" sz="2400" i="1" dirty="0"/>
              <a:t>" </a:t>
            </a:r>
            <a:r>
              <a:rPr lang="en-US" sz="2400" dirty="0"/>
              <a:t>- </a:t>
            </a:r>
            <a:r>
              <a:rPr lang="en-US" sz="2400" dirty="0" err="1"/>
              <a:t>joriy</a:t>
            </a:r>
            <a:r>
              <a:rPr lang="en-US" sz="2400" dirty="0"/>
              <a:t> </a:t>
            </a:r>
            <a:r>
              <a:rPr lang="en-US" sz="2400" dirty="0" err="1"/>
              <a:t>davlatlararo</a:t>
            </a:r>
            <a:r>
              <a:rPr lang="en-US" sz="2400" dirty="0"/>
              <a:t> kriptografik </a:t>
            </a:r>
            <a:r>
              <a:rPr lang="en-US" sz="2400" dirty="0" err="1"/>
              <a:t>standart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Rossiya</a:t>
            </a:r>
            <a:r>
              <a:rPr lang="en-US" sz="2400" dirty="0"/>
              <a:t> </a:t>
            </a:r>
            <a:r>
              <a:rPr lang="en-US" sz="2400" dirty="0" err="1"/>
              <a:t>Federatsiyasining</a:t>
            </a:r>
            <a:r>
              <a:rPr lang="en-US" sz="2400" dirty="0"/>
              <a:t> GOST R 34.11-2012 </a:t>
            </a:r>
            <a:r>
              <a:rPr lang="en-US" sz="2400" dirty="0" err="1"/>
              <a:t>milliy</a:t>
            </a:r>
            <a:r>
              <a:rPr lang="en-US" sz="2400" dirty="0"/>
              <a:t> </a:t>
            </a:r>
            <a:r>
              <a:rPr lang="en-US" sz="2400" dirty="0" err="1"/>
              <a:t>standarti</a:t>
            </a:r>
            <a:r>
              <a:rPr lang="en-US" sz="2400" dirty="0"/>
              <a:t> </a:t>
            </a:r>
            <a:r>
              <a:rPr lang="en-US" sz="2400" dirty="0" err="1"/>
              <a:t>asosida</a:t>
            </a:r>
            <a:r>
              <a:rPr lang="en-US" sz="2400" dirty="0"/>
              <a:t> "</a:t>
            </a:r>
            <a:r>
              <a:rPr lang="en-US" sz="2400" dirty="0" err="1"/>
              <a:t>InfoTeKS</a:t>
            </a:r>
            <a:r>
              <a:rPr lang="en-US" sz="2400" dirty="0"/>
              <a:t>" OAJ </a:t>
            </a:r>
            <a:r>
              <a:rPr lang="en-US" sz="2400" dirty="0" err="1"/>
              <a:t>ishtirokida</a:t>
            </a:r>
            <a:r>
              <a:rPr lang="en-US" sz="2400" dirty="0"/>
              <a:t> </a:t>
            </a:r>
            <a:r>
              <a:rPr lang="en-US" sz="2400" dirty="0" err="1"/>
              <a:t>Rossiya</a:t>
            </a:r>
            <a:r>
              <a:rPr lang="en-US" sz="2400" dirty="0"/>
              <a:t> FSB </a:t>
            </a:r>
            <a:r>
              <a:rPr lang="en-US" sz="2400" dirty="0" err="1"/>
              <a:t>Axborotni</a:t>
            </a:r>
            <a:r>
              <a:rPr lang="en-US" sz="2400" dirty="0"/>
              <a:t> </a:t>
            </a:r>
            <a:r>
              <a:rPr lang="en-US" sz="2400" dirty="0" err="1"/>
              <a:t>himoya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maxsus</a:t>
            </a:r>
            <a:r>
              <a:rPr lang="en-US" sz="2400" dirty="0"/>
              <a:t> </a:t>
            </a:r>
            <a:r>
              <a:rPr lang="en-US" sz="2400" dirty="0" err="1"/>
              <a:t>aloqalar</a:t>
            </a:r>
            <a:r>
              <a:rPr lang="en-US" sz="2400" dirty="0"/>
              <a:t> </a:t>
            </a:r>
            <a:r>
              <a:rPr lang="en-US" sz="2400" dirty="0" err="1"/>
              <a:t>markazi</a:t>
            </a:r>
            <a:r>
              <a:rPr lang="en-US" sz="2400" dirty="0"/>
              <a:t> </a:t>
            </a:r>
            <a:r>
              <a:rPr lang="en-US" sz="2400" dirty="0" err="1"/>
              <a:t>tomonidan</a:t>
            </a:r>
            <a:r>
              <a:rPr lang="en-US" sz="2400" dirty="0"/>
              <a:t> </a:t>
            </a:r>
            <a:r>
              <a:rPr lang="en-US" sz="2400" dirty="0" err="1"/>
              <a:t>ishlab</a:t>
            </a:r>
            <a:r>
              <a:rPr lang="en-US" sz="2400" dirty="0"/>
              <a:t> </a:t>
            </a:r>
            <a:r>
              <a:rPr lang="en-US" sz="2400" dirty="0" err="1"/>
              <a:t>chiqilgan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b="1" dirty="0"/>
              <a:t>2019 </a:t>
            </a:r>
            <a:r>
              <a:rPr lang="en-US" sz="2400" b="1" dirty="0" err="1"/>
              <a:t>yil</a:t>
            </a:r>
            <a:r>
              <a:rPr lang="en-US" sz="2400" b="1" dirty="0"/>
              <a:t> 1 </a:t>
            </a:r>
            <a:r>
              <a:rPr lang="en-US" sz="2400" b="1" dirty="0" err="1"/>
              <a:t>iyunda</a:t>
            </a:r>
            <a:r>
              <a:rPr lang="en-US" sz="2400" b="1" dirty="0"/>
              <a:t> </a:t>
            </a:r>
            <a:r>
              <a:rPr lang="en-US" sz="2400" dirty="0" err="1"/>
              <a:t>Rosstandartning</a:t>
            </a:r>
            <a:r>
              <a:rPr lang="en-US" sz="2400" dirty="0"/>
              <a:t> 2018 </a:t>
            </a:r>
            <a:r>
              <a:rPr lang="en-US" sz="2400" dirty="0" err="1"/>
              <a:t>yil</a:t>
            </a:r>
            <a:r>
              <a:rPr lang="en-US" sz="2400" dirty="0"/>
              <a:t> 4 </a:t>
            </a:r>
            <a:r>
              <a:rPr lang="en-US" sz="2400" dirty="0" err="1"/>
              <a:t>dekabrdagi</a:t>
            </a:r>
            <a:r>
              <a:rPr lang="en-US" sz="2400" dirty="0"/>
              <a:t> 1060-son </a:t>
            </a:r>
            <a:r>
              <a:rPr lang="en-US" sz="2400" dirty="0" err="1"/>
              <a:t>buyrug'i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kuchga</a:t>
            </a:r>
            <a:r>
              <a:rPr lang="en-US" sz="2400" dirty="0"/>
              <a:t> </a:t>
            </a:r>
            <a:r>
              <a:rPr lang="en-US" sz="2400" dirty="0" err="1"/>
              <a:t>kirdigan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687109" y="297934"/>
            <a:ext cx="52677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GOST 34.11-2018 </a:t>
            </a:r>
            <a:r>
              <a:rPr lang="en-US" sz="2800" b="1" dirty="0" err="1"/>
              <a:t>xesh</a:t>
            </a:r>
            <a:r>
              <a:rPr lang="en-US" sz="2800" b="1" dirty="0"/>
              <a:t> </a:t>
            </a:r>
            <a:r>
              <a:rPr lang="en-US" sz="2800" b="1" dirty="0" err="1"/>
              <a:t>funksiyasi</a:t>
            </a:r>
            <a:r>
              <a:rPr lang="en-US" sz="2800" b="1" dirty="0"/>
              <a:t> 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74807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:WidePipeHashFun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516" y="2058535"/>
            <a:ext cx="7610475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314389" y="443077"/>
            <a:ext cx="5240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0" i="0" dirty="0">
                <a:solidFill>
                  <a:srgbClr val="1F1F1F"/>
                </a:solidFill>
                <a:effectLst/>
                <a:latin typeface="Google Sans"/>
              </a:rPr>
              <a:t>Структура Меркла —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Google Sans"/>
              </a:rPr>
              <a:t>Дамгора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6714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le:Miyaguchi-Preneel hash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117" y="1599065"/>
            <a:ext cx="4476750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450066" y="311803"/>
            <a:ext cx="80708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Miyaguchi-Preneel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bir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blok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uzunlikdagi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ma’lumotni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bir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tomonlama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siqish</a:t>
            </a:r>
            <a:r>
              <a:rPr lang="en-US" sz="24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funksiyasi</a:t>
            </a:r>
            <a:endParaRPr lang="ru-RU" sz="2400" dirty="0"/>
          </a:p>
        </p:txBody>
      </p:sp>
      <p:sp>
        <p:nvSpPr>
          <p:cNvPr id="5" name="AutoShape 4" descr="{\displaystyle H_{i}=E_{g(H_{i-1})}(m_{i})\oplus H_{i-1}\oplus m_{i}.}"/>
          <p:cNvSpPr>
            <a:spLocks noChangeAspect="1" noChangeArrowheads="1"/>
          </p:cNvSpPr>
          <p:nvPr/>
        </p:nvSpPr>
        <p:spPr bwMode="auto">
          <a:xfrm>
            <a:off x="155574" y="-144463"/>
            <a:ext cx="3511765" cy="351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{\displaystyle H_{i}=E_{g(H_{i-1})}(m_{i})\oplus H_{i-1}\oplus m_{i}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5313816"/>
            <a:ext cx="442912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1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379" y="1383166"/>
            <a:ext cx="8696325" cy="49625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39" y="551543"/>
            <a:ext cx="6129606" cy="43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89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80" y="1870756"/>
            <a:ext cx="4171950" cy="42195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520" y="257402"/>
            <a:ext cx="6776615" cy="7740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230" y="2193926"/>
            <a:ext cx="7296150" cy="4381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212" y="3233514"/>
            <a:ext cx="5895975" cy="9810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230" y="4816027"/>
            <a:ext cx="6905625" cy="5715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230" y="1632859"/>
            <a:ext cx="1905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4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52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Р 34.11-2012 стандарт хэш функция алгоритми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17700" y="1268414"/>
            <a:ext cx="8535988" cy="5221287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Хэш-функция 3 та этапдан иборат: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366" name="Группа 8"/>
          <p:cNvGrpSpPr>
            <a:grpSpLocks/>
          </p:cNvGrpSpPr>
          <p:nvPr/>
        </p:nvGrpSpPr>
        <p:grpSpPr bwMode="auto">
          <a:xfrm>
            <a:off x="1968500" y="1728788"/>
            <a:ext cx="8440738" cy="4718050"/>
            <a:chOff x="444870" y="1729307"/>
            <a:chExt cx="8440242" cy="4716760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444870" y="1729307"/>
              <a:ext cx="2398572" cy="471676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1-Этап.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Ўзгарувчиларга бошланғич қийматларни ўзлаштириш:</a:t>
              </a:r>
            </a:p>
            <a:p>
              <a:pPr algn="ctr"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ru-RU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1.1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:=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IV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;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  (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IV</a:t>
              </a:r>
              <a:r>
                <a:rPr lang="en-US" sz="1600" b="1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en-US" sz="1600" b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ru-RU" sz="1600" baseline="-25000" dirty="0">
                  <a:latin typeface="Times New Roman" pitchFamily="18" charset="0"/>
                  <a:cs typeface="Times New Roman" pitchFamily="18" charset="0"/>
                </a:rPr>
                <a:t>512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) </a:t>
              </a:r>
            </a:p>
            <a:p>
              <a:pPr>
                <a:defRPr/>
              </a:pP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1.2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N:=0</a:t>
              </a:r>
              <a:r>
                <a:rPr lang="en-US" sz="1600" baseline="30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ru-RU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</a:p>
            <a:p>
              <a:pPr>
                <a:defRPr/>
              </a:pPr>
              <a:r>
                <a:rPr lang="ru-RU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1.3</a:t>
              </a:r>
              <a:r>
                <a:rPr lang="ru-RU" sz="16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Σ:= 0</a:t>
              </a:r>
              <a:r>
                <a:rPr lang="en-US" sz="1600" baseline="30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ru-RU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ru-RU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1.4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2-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этапга ўтиш</a:t>
              </a: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endPara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ru-RU" dirty="0"/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2843442" y="1729307"/>
              <a:ext cx="2979562" cy="471676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2-Этап.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2.1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 |M|&lt;512 шартни текшириш, агар шарт бажарилса 3-этапга ўтади, акс холда қуйидаги кетма-кетликни бажарилади: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2.2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m=M,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uz-Cyrl-UZ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, 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М: М=M</a:t>
              </a:r>
              <a:r>
                <a:rPr lang="uz-Cyrl-UZ" sz="1600" b="1" baseline="30000" dirty="0"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||m, M</a:t>
              </a:r>
              <a:r>
                <a:rPr lang="uz-Cyrl-UZ" sz="1600" b="1" baseline="30000" dirty="0"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М маълумотнинг m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uz-Cyrl-UZ" sz="1600" baseline="-25000" dirty="0">
                  <a:latin typeface="Times New Roman" pitchFamily="18" charset="0"/>
                  <a:cs typeface="Times New Roman" pitchFamily="18" charset="0"/>
                </a:rPr>
                <a:t>512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қисми олингандан кейин қолган қисми.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2.3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h=g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N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(h,m)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2.4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N=Vec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(Int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(N)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512)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;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pPr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2.5 </a:t>
              </a:r>
              <a:r>
                <a:rPr lang="el-GR" sz="1600" dirty="0">
                  <a:latin typeface="Times New Roman" pitchFamily="18" charset="0"/>
                  <a:cs typeface="Times New Roman" pitchFamily="18" charset="0"/>
                </a:rPr>
                <a:t>Σ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=Vec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(Int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(Σ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)+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Int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(m)) 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2.6 М: =M</a:t>
              </a:r>
              <a:r>
                <a:rPr lang="uz-Cyrl-UZ" sz="1600" b="1" baseline="30000" dirty="0"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2.7 2.1 қадамга ўтиш;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en-US" dirty="0"/>
            </a:p>
            <a:p>
              <a:pPr algn="ctr">
                <a:defRPr/>
              </a:pPr>
              <a:endParaRPr lang="en-US" dirty="0"/>
            </a:p>
            <a:p>
              <a:pPr algn="ctr">
                <a:defRPr/>
              </a:pPr>
              <a:endParaRPr lang="en-US" dirty="0"/>
            </a:p>
            <a:p>
              <a:pPr algn="ctr">
                <a:defRPr/>
              </a:pPr>
              <a:endParaRPr lang="ru-RU" dirty="0"/>
            </a:p>
          </p:txBody>
        </p:sp>
        <p:sp>
          <p:nvSpPr>
            <p:cNvPr id="7" name="Прямоугольник 6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823539" y="1729307"/>
              <a:ext cx="3061573" cy="4716760"/>
            </a:xfrm>
            <a:prstGeom prst="rect">
              <a:avLst/>
            </a:prstGeom>
            <a:blipFill rotWithShape="1">
              <a:blip r:embed="rId2"/>
              <a:stretch>
                <a:fillRect l="-592"/>
              </a:stretch>
            </a:blipFill>
          </p:spPr>
          <p:txBody>
            <a:bodyPr/>
            <a:lstStyle/>
            <a:p>
              <a:r>
                <a:rPr lang="ru-RU">
                  <a:noFill/>
                </a:rPr>
                <a:t> 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52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Р 34.11-2012 стандарт хэш-функция алгоритми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17700" y="1268414"/>
            <a:ext cx="8535988" cy="5221287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Умумий хэш қиймат қуйидаги формула билан аниқланади:</a:t>
            </a:r>
          </a:p>
          <a:p>
            <a:pPr algn="ctr"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g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(h,m)=E(LPS(h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N),m)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m;                                              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 бир 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блок 13 та итерациядан иборат 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сиқиш функциясидан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ўтказилади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E(К, m)=X[K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]LPSX[K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]……LPSX[K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](m);                                         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бу ерда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X,L,P,S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акслантиришлар қуйидагича хисобланади: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Х-акслантириш.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(m)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	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]=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                  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(3)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Бу ерда 	K= LPS(h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N) ,</a:t>
            </a:r>
            <a:r>
              <a:rPr lang="uz-Cyrl-UZ" b="1" dirty="0"/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=LPS(К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i-1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i-1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, К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=К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dirty="0"/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i=2, …..,13 ,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-ўзгармас C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 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 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чизиқсиз акслантириш.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Кирувчи 512 бит аргумент 64 байт массив кўринишида қаралади.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S: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	S(a)=S(a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)=π(a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)||….||π((a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                   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бу ерда, a=a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i=0,…,63.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=Vec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π'Int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π': Z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n→ Z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52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Р 34.11-2012 стандарт хэш-функция алгоритми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05000" y="1196976"/>
            <a:ext cx="8534400" cy="5508625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P- байтларни қайта тартиблаш.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Байтлар ўрни  белгиланган тартибда алмаштирилади.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P: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P(a) = P(a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= 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τ(63)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τ(0)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б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 ерда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a= 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∈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∈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i= 0,…, 63;</a:t>
            </a: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чизиқли алмаштириш.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Аргумент 8 та 64 битлик вектор сифатида қаралади. Хар бир вектор 64х64 стандарт матрицага кўпайтирилиб, натижа билан алмаштирилади.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L: 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L(a)=L(a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)=l(a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)||….||l((a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	             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бу ерда, a=a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i=0,…,63; l – чизиқли акслантириш бўлиб,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га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матрица ёрдамида акслантиради.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акслантиришдан чиққан 512 бит (V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) маълумот кейинги итерация учун кириш    хисобланади.13 та итерациядан ўтгандан кейин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блок учун хэш қиймат ва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блок учун кирувчи қиймат хисобланади.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блокдан чиққан хэш қиймат М малумот учун 512 бит хэш қиймат ҳисобланади. ( Стандартда М маълумотдан 256 бит хэш қиймат олиш учун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MSB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функциядан фойдаланилган)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15" y="420916"/>
            <a:ext cx="10241099" cy="455544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964" y="5289777"/>
            <a:ext cx="75438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4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23" y="1088573"/>
            <a:ext cx="11363755" cy="434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1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91" y="377383"/>
            <a:ext cx="10560652" cy="45849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354" y="5236935"/>
            <a:ext cx="75533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8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7" y="1045029"/>
            <a:ext cx="10526952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5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61" y="246744"/>
            <a:ext cx="11040991" cy="47770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493" y="5367564"/>
            <a:ext cx="7477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41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48" y="661398"/>
            <a:ext cx="10118066" cy="165020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48" y="3280228"/>
            <a:ext cx="10118066" cy="276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12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6" y="943428"/>
            <a:ext cx="11689875" cy="480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06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2" y="611423"/>
            <a:ext cx="10068379" cy="567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38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80" y="61912"/>
            <a:ext cx="890587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00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96" y="57150"/>
            <a:ext cx="90297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96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983" y="22905"/>
            <a:ext cx="8791575" cy="683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3163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669</TotalTime>
  <Words>736</Words>
  <Application>Microsoft Office PowerPoint</Application>
  <PresentationFormat>Широкоэкранный</PresentationFormat>
  <Paragraphs>181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Google Sans</vt:lpstr>
      <vt:lpstr>Times New Roman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ФВЬШТ</cp:lastModifiedBy>
  <cp:revision>18</cp:revision>
  <dcterms:created xsi:type="dcterms:W3CDTF">2024-04-14T10:54:34Z</dcterms:created>
  <dcterms:modified xsi:type="dcterms:W3CDTF">2024-04-15T04:04:19Z</dcterms:modified>
</cp:coreProperties>
</file>