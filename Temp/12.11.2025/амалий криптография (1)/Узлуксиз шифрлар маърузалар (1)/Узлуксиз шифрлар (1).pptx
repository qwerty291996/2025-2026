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2" r:id="rId3"/>
    <p:sldId id="287" r:id="rId4"/>
    <p:sldId id="263" r:id="rId5"/>
    <p:sldId id="293" r:id="rId6"/>
    <p:sldId id="294" r:id="rId7"/>
    <p:sldId id="295" r:id="rId8"/>
    <p:sldId id="279" r:id="rId9"/>
    <p:sldId id="264" r:id="rId10"/>
    <p:sldId id="272" r:id="rId11"/>
    <p:sldId id="274" r:id="rId12"/>
    <p:sldId id="275" r:id="rId13"/>
    <p:sldId id="276" r:id="rId14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DB97"/>
    <a:srgbClr val="FF33CC"/>
    <a:srgbClr val="AA8DE5"/>
    <a:srgbClr val="BFE8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Средний стиль 2 -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51" autoAdjust="0"/>
    <p:restoredTop sz="94501" autoAdjust="0"/>
  </p:normalViewPr>
  <p:slideViewPr>
    <p:cSldViewPr>
      <p:cViewPr>
        <p:scale>
          <a:sx n="74" d="100"/>
          <a:sy n="74" d="100"/>
        </p:scale>
        <p:origin x="-31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2820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336868BD-A88B-4D6F-9E6B-34EC722924DD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6C8BB8FD-D168-401A-A1B2-ABD5CCB000B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1151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B8986354-ECDF-4D3B-B641-5552ED1F8AA3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A9F9E54-43BB-4B5E-8A1F-0D8FEE3BA1A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5351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2662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461DA3D-576D-48D2-98C1-80CB74F366CF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379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5F4B288-D81F-40DF-91D7-E1B9CCED3283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482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454344B-16CF-459C-8DFF-F379F2EFB65B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58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3FDFB74-9E9A-4CCD-B4FC-30A673F1C182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19460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FDD5D64A-6DB9-4CAC-975D-52DABB6102BA}" type="slidenum">
              <a:rPr lang="ru-RU" sz="1200">
                <a:latin typeface="+mn-lt"/>
              </a:rPr>
              <a:pPr algn="r">
                <a:defRPr/>
              </a:pPr>
              <a:t>6</a:t>
            </a:fld>
            <a:endParaRPr lang="ru-RU" sz="1200">
              <a:latin typeface="+mn-lt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686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40EC528-8F0B-4B5C-A8CA-C81FFC1F62AA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78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8FFE6F0-7603-43EE-A3A8-CC74F1E60915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891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6A0057B-A8E0-49A3-A547-8A5A0D192638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994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8F77E2F-EE0C-487A-BE3B-2F325F6FC4A1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4096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8FC933E-A344-4D50-A156-96D38176AA24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4198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E84405E-5A9B-4F46-AE03-ABB255E99410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4D47-1CE1-4787-BE6D-F99EEDD9E651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8A213-1C7A-44F3-AEAA-E8D8D96DE88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776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16C58-348F-4DDC-971B-5CD332C46C6C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13BAD-FE50-4D97-B46D-D7202E4C203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493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FA7033-313E-4BF9-920A-1FB9298BBEF8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7FDE0-D34D-4F47-B4E3-22DA9DAAB0A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833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A4E72-2754-4F35-8605-25FE09C0FE8B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21CE2-21D9-4544-840F-ECB6EE5744D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32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A25D6-3C98-4380-B63F-6B8E3B61CE44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2941E-2A5F-4BCB-830A-74A5122F1CB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591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FAF8A-1B27-45A0-99E9-B2DA97D426D4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1E0A5-3726-495E-93AA-ED071E87D6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1195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7CCF7-1886-4791-A661-460B14D912C2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B8565-D8C5-435B-88FE-2119399A86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53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8E6BF-E759-42F6-9A47-2E92254A6EAB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0C1743-BFA5-4754-BB5A-6E027AF3A4B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62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13FF0-6C59-4ABE-84CC-A65F2F6E0EFE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17F97-7F1D-4108-B926-3E39661C097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667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DBFCB-584A-420B-97CB-62F4E537F972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231F1-55EA-4185-83D1-63281C07EA0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792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4A5B9-B3B8-46BC-B8E2-CF95DA45441E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BB298-79AC-449C-A7F8-0C8E1B356E5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299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878259B-F5C2-4D10-BE49-F44E0259C930}" type="datetimeFigureOut">
              <a:rPr lang="ru-RU"/>
              <a:pPr>
                <a:defRPr/>
              </a:pPr>
              <a:t>01.01.2002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A210CA2-6F86-4F8E-BE23-43A41AA6F70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386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323528" y="296652"/>
            <a:ext cx="8568952" cy="6264696"/>
          </a:xfrm>
          <a:prstGeom prst="snip2DiagRect">
            <a:avLst>
              <a:gd name="adj1" fmla="val 0"/>
              <a:gd name="adj2" fmla="val 8959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1042988" y="836613"/>
            <a:ext cx="7200900" cy="0"/>
          </a:xfrm>
          <a:prstGeom prst="line">
            <a:avLst/>
          </a:prstGeom>
          <a:ln w="222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713954" y="404664"/>
            <a:ext cx="7890494" cy="432048"/>
          </a:xfrm>
          <a:prstGeom prst="rect">
            <a:avLst/>
          </a:prstGeom>
          <a:solidFill>
            <a:schemeClr val="accent1">
              <a:alpha val="0"/>
            </a:schemeClr>
          </a:solidFill>
          <a:ln w="0">
            <a:noFill/>
          </a:ln>
          <a:effectLst>
            <a:glow>
              <a:schemeClr val="bg1">
                <a:alpha val="56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Радиоэлектрон тизимлар ва ахборот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т</a:t>
            </a:r>
            <a:r>
              <a:rPr lang="uz-Cyrl-UZ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ехнологиялари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м</a:t>
            </a:r>
            <a:r>
              <a:rPr lang="uz-Cyrl-UZ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аркази   </a:t>
            </a:r>
            <a:endParaRPr lang="ru-RU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1">
                  <a:lumMod val="7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1" name="Прямоугольник с двумя вырезанными противолежащими углами 30"/>
          <p:cNvSpPr/>
          <p:nvPr/>
        </p:nvSpPr>
        <p:spPr>
          <a:xfrm>
            <a:off x="1043608" y="2492896"/>
            <a:ext cx="7200800" cy="1800200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/>
          </a:solidFill>
          <a:ln w="19050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Псевдотасодифий ва тасодифий сонлар генераторлари. Чизиқли, чизиқсиз, сонлар назарияси муаммолари асосидаги ва бошқа </a:t>
            </a:r>
            <a:r>
              <a:rPr lang="uz-Cyrl-UZ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генераторлар</a:t>
            </a:r>
            <a:endParaRPr lang="ru-RU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752551" y="5877272"/>
            <a:ext cx="18162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000" b="1" dirty="0" smtClean="0">
                <a:ln w="1905"/>
                <a:solidFill>
                  <a:schemeClr val="accent5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Тошкент-20</a:t>
            </a:r>
            <a:r>
              <a:rPr lang="en-US" sz="2000" b="1" dirty="0" smtClean="0">
                <a:ln w="1905"/>
                <a:solidFill>
                  <a:schemeClr val="accent5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23</a:t>
            </a:r>
            <a:endParaRPr lang="ru-RU" sz="2000" b="1" dirty="0">
              <a:ln w="1905"/>
              <a:solidFill>
                <a:schemeClr val="accent5">
                  <a:lumMod val="5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-7938" y="0"/>
            <a:ext cx="9144001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42786" y="118407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6" name="Содержимое 2"/>
          <p:cNvSpPr txBox="1">
            <a:spLocks/>
          </p:cNvSpPr>
          <p:nvPr/>
        </p:nvSpPr>
        <p:spPr bwMode="auto">
          <a:xfrm>
            <a:off x="549069" y="1124744"/>
            <a:ext cx="8147255" cy="3313906"/>
          </a:xfrm>
          <a:prstGeom prst="foldedCorner">
            <a:avLst>
              <a:gd name="adj" fmla="val 19931"/>
            </a:avLst>
          </a:prstGeom>
          <a:pattFill prst="pct5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9525">
            <a:solidFill>
              <a:schemeClr val="accent2"/>
            </a:solidFill>
            <a:miter lim="800000"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algn="just" fontAlgn="auto">
              <a:spcBef>
                <a:spcPts val="0"/>
              </a:spcBef>
              <a:spcAft>
                <a:spcPts val="60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         Узлуксиз шифрлаш алгоритмлари гаммалашга асосланган шифрлар бўлиб, очиқ матннинг кетма-кет келувчи хар бир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b="1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1 бит (1 байт)ини генератордан чиққан мос 1 бит (1 байт) гамма калит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="1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га XOR амали билан қўшиш орқали шифрматн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uz-Cyrl-UZ" b="1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га айлантиради.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600"/>
              </a:spcAft>
              <a:defRPr/>
            </a:pPr>
            <a:r>
              <a:rPr lang="uz-Cyrl-UZ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</a:t>
            </a:r>
            <a:r>
              <a:rPr lang="uz-Cyrl-UZ" sz="22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uz-Cyrl-UZ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22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sz="22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                 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60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         Дешифрлашда шифрматнни  худди шу генератор ёрдамида фақат ахборот алмашинувчи абонентларгагина маълум бўлган махфий симметрик калитдан фойдаланиб ҳосил қилинган мос 1 бит (1 байт) гаммага қайтадан XOR амали билан қўшиш натижасида очиқ матн қайта тикланади.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b="1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b="1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b="1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 </a:t>
            </a:r>
            <a:endParaRPr lang="ru-RU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Блок-схема: ИЛИ 2"/>
          <p:cNvSpPr/>
          <p:nvPr/>
        </p:nvSpPr>
        <p:spPr>
          <a:xfrm>
            <a:off x="4103688" y="5156200"/>
            <a:ext cx="323850" cy="360363"/>
          </a:xfrm>
          <a:prstGeom prst="flowChartOr">
            <a:avLst/>
          </a:prstGeom>
          <a:solidFill>
            <a:schemeClr val="bg1">
              <a:alpha val="0"/>
            </a:schemeClr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971550" y="5156200"/>
          <a:ext cx="2447926" cy="365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957"/>
                <a:gridCol w="359989"/>
                <a:gridCol w="359989"/>
                <a:gridCol w="359991"/>
              </a:tblGrid>
              <a:tr h="365125">
                <a:tc>
                  <a:txBody>
                    <a:bodyPr/>
                    <a:lstStyle/>
                    <a:p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Шифр матн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641" marB="45641"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641" marB="4564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641" marB="4564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641" marB="4564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4" name="Прямая соединительная линия 13"/>
          <p:cNvCxnSpPr/>
          <p:nvPr/>
        </p:nvCxnSpPr>
        <p:spPr>
          <a:xfrm flipH="1">
            <a:off x="4265613" y="4797425"/>
            <a:ext cx="671512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4265613" y="4797425"/>
            <a:ext cx="0" cy="358775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43" idx="1"/>
          </p:cNvCxnSpPr>
          <p:nvPr/>
        </p:nvCxnSpPr>
        <p:spPr>
          <a:xfrm flipH="1">
            <a:off x="4265614" y="5872401"/>
            <a:ext cx="693736" cy="452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V="1">
            <a:off x="4265613" y="5516563"/>
            <a:ext cx="0" cy="360362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3" idx="2"/>
          </p:cNvCxnSpPr>
          <p:nvPr/>
        </p:nvCxnSpPr>
        <p:spPr>
          <a:xfrm flipH="1">
            <a:off x="3419475" y="5335588"/>
            <a:ext cx="684213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Таблица 36"/>
          <p:cNvGraphicFramePr>
            <a:graphicFrameLocks noGrp="1"/>
          </p:cNvGraphicFramePr>
          <p:nvPr/>
        </p:nvGraphicFramePr>
        <p:xfrm>
          <a:off x="4937125" y="4638675"/>
          <a:ext cx="2371726" cy="366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24"/>
                <a:gridCol w="360018"/>
                <a:gridCol w="360018"/>
                <a:gridCol w="1296066"/>
              </a:tblGrid>
              <a:tr h="36671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839" marB="45839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839" marB="45839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839" marB="45839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Гамма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839" marB="45839"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/>
        </p:nvGraphicFramePr>
        <p:xfrm>
          <a:off x="4959350" y="5689600"/>
          <a:ext cx="2349501" cy="365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65"/>
                <a:gridCol w="360221"/>
                <a:gridCol w="360221"/>
                <a:gridCol w="1296794"/>
              </a:tblGrid>
              <a:tr h="365125">
                <a:tc>
                  <a:txBody>
                    <a:bodyPr/>
                    <a:lstStyle/>
                    <a:p>
                      <a:pPr algn="ctr"/>
                      <a:r>
                        <a:rPr lang="uz-Cyrl-UZ" sz="1800" b="0" i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41" marB="4564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41" marB="4564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41" marB="4564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Очиқ</a:t>
                      </a:r>
                      <a:r>
                        <a:rPr lang="uz-Cyrl-UZ" sz="1800" b="0" baseline="0" dirty="0" smtClean="0">
                          <a:solidFill>
                            <a:schemeClr val="tx1"/>
                          </a:solidFill>
                        </a:rPr>
                        <a:t> матн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41" marB="45641"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sp>
        <p:nvSpPr>
          <p:cNvPr id="21" name="Скругленный прямоугольник 20"/>
          <p:cNvSpPr/>
          <p:nvPr/>
        </p:nvSpPr>
        <p:spPr>
          <a:xfrm>
            <a:off x="899592" y="404664"/>
            <a:ext cx="7416824" cy="47373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Узлуксиз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шифрлаш алгоритмларининг яратилиш асослари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2000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163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73894" y="116632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912890" y="404664"/>
            <a:ext cx="7517067" cy="47373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Псевдотасодифий кетма-кетликлар генераторлари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6" name="Прямоугольник 95"/>
          <p:cNvSpPr/>
          <p:nvPr/>
        </p:nvSpPr>
        <p:spPr>
          <a:xfrm>
            <a:off x="4499994" y="4869160"/>
            <a:ext cx="1944214" cy="1512168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ANSI X9.17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FIPS 186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Yarrow – 160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WAKE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7" name="Прямоугольник 96"/>
          <p:cNvSpPr/>
          <p:nvPr/>
        </p:nvSpPr>
        <p:spPr>
          <a:xfrm>
            <a:off x="6612295" y="4869160"/>
            <a:ext cx="2136169" cy="1512168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RC4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SEAL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ISAAC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8" name="Прямая со стрелкой 97"/>
          <p:cNvCxnSpPr/>
          <p:nvPr/>
        </p:nvCxnSpPr>
        <p:spPr>
          <a:xfrm>
            <a:off x="4602163" y="1557338"/>
            <a:ext cx="869950" cy="471487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 стрелкой 98"/>
          <p:cNvCxnSpPr/>
          <p:nvPr/>
        </p:nvCxnSpPr>
        <p:spPr>
          <a:xfrm>
            <a:off x="4787900" y="1557338"/>
            <a:ext cx="2892425" cy="471487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 стрелкой 99"/>
          <p:cNvCxnSpPr/>
          <p:nvPr/>
        </p:nvCxnSpPr>
        <p:spPr>
          <a:xfrm flipH="1">
            <a:off x="3321050" y="1557338"/>
            <a:ext cx="1054100" cy="474662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/>
          <p:cNvCxnSpPr/>
          <p:nvPr/>
        </p:nvCxnSpPr>
        <p:spPr>
          <a:xfrm flipH="1">
            <a:off x="1249363" y="1557338"/>
            <a:ext cx="2968625" cy="479425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/>
          <p:cNvCxnSpPr/>
          <p:nvPr/>
        </p:nvCxnSpPr>
        <p:spPr>
          <a:xfrm>
            <a:off x="3290888" y="3135313"/>
            <a:ext cx="0" cy="303212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 стрелкой 102"/>
          <p:cNvCxnSpPr/>
          <p:nvPr/>
        </p:nvCxnSpPr>
        <p:spPr>
          <a:xfrm>
            <a:off x="1228725" y="3135313"/>
            <a:ext cx="0" cy="293687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/>
          <p:cNvCxnSpPr/>
          <p:nvPr/>
        </p:nvCxnSpPr>
        <p:spPr>
          <a:xfrm>
            <a:off x="3306763" y="4632325"/>
            <a:ext cx="0" cy="225425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Прямая со стрелкой 104"/>
          <p:cNvCxnSpPr/>
          <p:nvPr/>
        </p:nvCxnSpPr>
        <p:spPr>
          <a:xfrm flipH="1">
            <a:off x="1249363" y="4645025"/>
            <a:ext cx="1587" cy="223838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Прямая со стрелкой 105"/>
          <p:cNvCxnSpPr>
            <a:endCxn id="0" idx="0"/>
          </p:cNvCxnSpPr>
          <p:nvPr/>
        </p:nvCxnSpPr>
        <p:spPr>
          <a:xfrm>
            <a:off x="5472113" y="3149600"/>
            <a:ext cx="0" cy="1719263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/>
          <p:cNvCxnSpPr/>
          <p:nvPr/>
        </p:nvCxnSpPr>
        <p:spPr>
          <a:xfrm>
            <a:off x="7658100" y="3149600"/>
            <a:ext cx="0" cy="1708150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Прямоугольник 107"/>
          <p:cNvSpPr/>
          <p:nvPr/>
        </p:nvSpPr>
        <p:spPr>
          <a:xfrm>
            <a:off x="414085" y="4869160"/>
            <a:ext cx="1706421" cy="1512168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GOAL </a:t>
            </a: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гннератори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9" name="Прямоугольник 108"/>
          <p:cNvSpPr/>
          <p:nvPr/>
        </p:nvSpPr>
        <p:spPr>
          <a:xfrm>
            <a:off x="2286296" y="4869160"/>
            <a:ext cx="2088234" cy="1512168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Гиффорд генератори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Фиббоначи генератори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Галуа генератори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Прямоугольник 109"/>
          <p:cNvSpPr/>
          <p:nvPr/>
        </p:nvSpPr>
        <p:spPr>
          <a:xfrm>
            <a:off x="990154" y="1065458"/>
            <a:ext cx="7344816" cy="50405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Тизимли – назарий ёндашув асосида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Прямоугольник 110"/>
          <p:cNvSpPr/>
          <p:nvPr/>
        </p:nvSpPr>
        <p:spPr>
          <a:xfrm>
            <a:off x="414083" y="2048800"/>
            <a:ext cx="1706421" cy="109868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Элементар рекуррент генераторлар 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Прямоугольник 111"/>
          <p:cNvSpPr/>
          <p:nvPr/>
        </p:nvSpPr>
        <p:spPr>
          <a:xfrm>
            <a:off x="2304850" y="2045486"/>
            <a:ext cx="2069680" cy="11020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Силжитиш регистрларига асосланган генераторлар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3" name="Прямоугольник 112"/>
          <p:cNvSpPr/>
          <p:nvPr/>
        </p:nvSpPr>
        <p:spPr>
          <a:xfrm>
            <a:off x="4518548" y="2042172"/>
            <a:ext cx="2003446" cy="109868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Бир томонлама функцияларга асосланган генераторлар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Прямоугольник 113"/>
          <p:cNvSpPr/>
          <p:nvPr/>
        </p:nvSpPr>
        <p:spPr>
          <a:xfrm>
            <a:off x="6654108" y="2042172"/>
            <a:ext cx="2160240" cy="11020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Байтлар ва битлар блокларининг ўрнини боғлиқсиз алмашти-ришга асосланган   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Прямоугольник 114"/>
          <p:cNvSpPr/>
          <p:nvPr/>
        </p:nvSpPr>
        <p:spPr>
          <a:xfrm>
            <a:off x="418483" y="3441722"/>
            <a:ext cx="1706421" cy="36004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Мультипликатив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Прямоугольник 115"/>
          <p:cNvSpPr/>
          <p:nvPr/>
        </p:nvSpPr>
        <p:spPr>
          <a:xfrm>
            <a:off x="414082" y="3874513"/>
            <a:ext cx="1706421" cy="36004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Чизиқли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7" name="Прямоугольник 116"/>
          <p:cNvSpPr/>
          <p:nvPr/>
        </p:nvSpPr>
        <p:spPr>
          <a:xfrm>
            <a:off x="414084" y="4295475"/>
            <a:ext cx="1706421" cy="36004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Чизиқсиз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8" name="Прямоугольник 117"/>
          <p:cNvSpPr/>
          <p:nvPr/>
        </p:nvSpPr>
        <p:spPr>
          <a:xfrm>
            <a:off x="2293897" y="3441722"/>
            <a:ext cx="2080633" cy="5525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Чизиқли тескари боғланишли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9" name="Прямоугольник 118"/>
          <p:cNvSpPr/>
          <p:nvPr/>
        </p:nvSpPr>
        <p:spPr>
          <a:xfrm>
            <a:off x="2293897" y="4086637"/>
            <a:ext cx="2080633" cy="558611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Чизиқсиз тескари боғланишли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7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7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7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7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7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7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7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7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250"/>
                            </p:stCondLst>
                            <p:childTnLst>
                              <p:par>
                                <p:cTn id="6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7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7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7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7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163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89675" y="108925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827583" y="404664"/>
            <a:ext cx="7628550" cy="47373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Псевдотасодифий кетма-кетликлар генераторлари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89380" y="2107298"/>
            <a:ext cx="1728194" cy="139292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Катта сонларни туб кўпайтувчи-ларга ажратиш қийинчилигига асосланган 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2290463" y="2109867"/>
            <a:ext cx="1728192" cy="139035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Дискрет логарифмлаш қийинчилигига асосланган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7092280" y="2109868"/>
            <a:ext cx="1656184" cy="139035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Полиномиал комбинация-лашган генераторлар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5590746" y="2109868"/>
            <a:ext cx="1372452" cy="139035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Тасодифий параметрли генераторлар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4174254" y="2109868"/>
            <a:ext cx="1285528" cy="139035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Макларен – Мерсали усули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395536" y="4941168"/>
            <a:ext cx="1728194" cy="144015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RSA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BBS</a:t>
            </a:r>
            <a:endParaRPr lang="uz-Cyrl-UZ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Квадрат чегирма генератори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2290463" y="4941167"/>
            <a:ext cx="1705474" cy="144015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Блюм-Микали алгоритми 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5940152" y="3786469"/>
            <a:ext cx="2808312" cy="259485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Силжитиш регистрлари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А5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Йиғилувчи генератор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Голлманн каскади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Чегаравий генератор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Старт-стоп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генератори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Геффе генератори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Аддитив генератор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PIKE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генератори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ORYX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генератори</a:t>
            </a:r>
            <a:endParaRPr lang="uz-Cyrl-UZ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4150568" y="4941166"/>
            <a:ext cx="1626773" cy="144015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Chameleon </a:t>
            </a: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алгоритми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Прямая со стрелкой 22"/>
          <p:cNvCxnSpPr>
            <a:stCxn id="0" idx="2"/>
            <a:endCxn id="0" idx="0"/>
          </p:cNvCxnSpPr>
          <p:nvPr/>
        </p:nvCxnSpPr>
        <p:spPr>
          <a:xfrm>
            <a:off x="1254125" y="3500438"/>
            <a:ext cx="4763" cy="1441450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3132138" y="3500438"/>
            <a:ext cx="0" cy="1441450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4859338" y="3500438"/>
            <a:ext cx="0" cy="1433512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>
            <a:off x="7920038" y="3500438"/>
            <a:ext cx="0" cy="285750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>
            <a:off x="2411413" y="1700213"/>
            <a:ext cx="742950" cy="406400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 flipH="1">
            <a:off x="1254125" y="1700213"/>
            <a:ext cx="1157288" cy="406400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6804025" y="1735138"/>
            <a:ext cx="1116013" cy="371475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endCxn id="0" idx="0"/>
          </p:cNvCxnSpPr>
          <p:nvPr/>
        </p:nvCxnSpPr>
        <p:spPr>
          <a:xfrm flipH="1">
            <a:off x="6276975" y="1735138"/>
            <a:ext cx="311150" cy="374650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flipH="1">
            <a:off x="4816475" y="1735138"/>
            <a:ext cx="1662113" cy="371475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Прямоугольник 72"/>
          <p:cNvSpPr/>
          <p:nvPr/>
        </p:nvSpPr>
        <p:spPr>
          <a:xfrm>
            <a:off x="611561" y="1015187"/>
            <a:ext cx="3888432" cy="717464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Мураккабликка асосланган назарий ёндашув асосида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" name="Прямоугольник 77"/>
          <p:cNvSpPr/>
          <p:nvPr/>
        </p:nvSpPr>
        <p:spPr>
          <a:xfrm>
            <a:off x="4803538" y="1015187"/>
            <a:ext cx="3820724" cy="72008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Генераторларни комбинациялаш асосида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7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250"/>
                            </p:stCondLst>
                            <p:childTnLst>
                              <p:par>
                                <p:cTn id="3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Line 7"/>
          <p:cNvSpPr>
            <a:spLocks noChangeShapeType="1"/>
          </p:cNvSpPr>
          <p:nvPr/>
        </p:nvSpPr>
        <p:spPr bwMode="auto">
          <a:xfrm>
            <a:off x="69850" y="0"/>
            <a:ext cx="0" cy="6858000"/>
          </a:xfrm>
          <a:prstGeom prst="line">
            <a:avLst/>
          </a:prstGeom>
          <a:noFill/>
          <a:ln w="9525">
            <a:solidFill>
              <a:srgbClr val="0026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7587" name="Line 8"/>
          <p:cNvSpPr>
            <a:spLocks noChangeShapeType="1"/>
          </p:cNvSpPr>
          <p:nvPr/>
        </p:nvSpPr>
        <p:spPr bwMode="auto">
          <a:xfrm flipV="1">
            <a:off x="0" y="44450"/>
            <a:ext cx="9144000" cy="0"/>
          </a:xfrm>
          <a:prstGeom prst="line">
            <a:avLst/>
          </a:prstGeom>
          <a:noFill/>
          <a:ln w="9525">
            <a:solidFill>
              <a:srgbClr val="002E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7588" name="Line 12"/>
          <p:cNvSpPr>
            <a:spLocks noChangeShapeType="1"/>
          </p:cNvSpPr>
          <p:nvPr/>
        </p:nvSpPr>
        <p:spPr bwMode="auto">
          <a:xfrm flipV="1">
            <a:off x="0" y="6781800"/>
            <a:ext cx="1981200" cy="0"/>
          </a:xfrm>
          <a:prstGeom prst="line">
            <a:avLst/>
          </a:prstGeom>
          <a:noFill/>
          <a:ln w="9525">
            <a:solidFill>
              <a:srgbClr val="0020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7589" name="Rectangle 94"/>
          <p:cNvSpPr>
            <a:spLocks noChangeArrowheads="1"/>
          </p:cNvSpPr>
          <p:nvPr/>
        </p:nvSpPr>
        <p:spPr bwMode="auto">
          <a:xfrm>
            <a:off x="2190750" y="115888"/>
            <a:ext cx="2438400" cy="247650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7590" name="Line 95"/>
          <p:cNvSpPr>
            <a:spLocks noChangeShapeType="1"/>
          </p:cNvSpPr>
          <p:nvPr/>
        </p:nvSpPr>
        <p:spPr bwMode="auto">
          <a:xfrm>
            <a:off x="7107238" y="-9525"/>
            <a:ext cx="0" cy="4572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7591" name="Line 96"/>
          <p:cNvSpPr>
            <a:spLocks noChangeShapeType="1"/>
          </p:cNvSpPr>
          <p:nvPr/>
        </p:nvSpPr>
        <p:spPr bwMode="auto">
          <a:xfrm>
            <a:off x="2085975" y="1588"/>
            <a:ext cx="0" cy="4572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7592" name="Line 97"/>
          <p:cNvSpPr>
            <a:spLocks noChangeShapeType="1"/>
          </p:cNvSpPr>
          <p:nvPr/>
        </p:nvSpPr>
        <p:spPr bwMode="auto">
          <a:xfrm>
            <a:off x="1905000" y="230188"/>
            <a:ext cx="54102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7593" name="Rectangle 113"/>
          <p:cNvSpPr>
            <a:spLocks noChangeArrowheads="1"/>
          </p:cNvSpPr>
          <p:nvPr/>
        </p:nvSpPr>
        <p:spPr bwMode="auto">
          <a:xfrm>
            <a:off x="4714875" y="115888"/>
            <a:ext cx="2276475" cy="247650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7594" name="Line 130"/>
          <p:cNvSpPr>
            <a:spLocks noChangeShapeType="1"/>
          </p:cNvSpPr>
          <p:nvPr/>
        </p:nvSpPr>
        <p:spPr bwMode="auto">
          <a:xfrm>
            <a:off x="152400" y="361950"/>
            <a:ext cx="8877300" cy="0"/>
          </a:xfrm>
          <a:prstGeom prst="line">
            <a:avLst/>
          </a:prstGeom>
          <a:noFill/>
          <a:ln w="9525">
            <a:solidFill>
              <a:srgbClr val="0020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7595" name="Line 131"/>
          <p:cNvSpPr>
            <a:spLocks noChangeShapeType="1"/>
          </p:cNvSpPr>
          <p:nvPr/>
        </p:nvSpPr>
        <p:spPr bwMode="auto">
          <a:xfrm flipV="1">
            <a:off x="0" y="6705600"/>
            <a:ext cx="8763000" cy="0"/>
          </a:xfrm>
          <a:prstGeom prst="line">
            <a:avLst/>
          </a:prstGeom>
          <a:noFill/>
          <a:ln w="9525">
            <a:pattFill prst="pct5">
              <a:fgClr>
                <a:srgbClr val="003BF8"/>
              </a:fgClr>
              <a:bgClr>
                <a:srgbClr val="4CB44C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7596" name="Line 152"/>
          <p:cNvSpPr>
            <a:spLocks noChangeShapeType="1"/>
          </p:cNvSpPr>
          <p:nvPr/>
        </p:nvSpPr>
        <p:spPr bwMode="auto">
          <a:xfrm flipV="1">
            <a:off x="228600" y="457200"/>
            <a:ext cx="8763000" cy="0"/>
          </a:xfrm>
          <a:prstGeom prst="line">
            <a:avLst/>
          </a:prstGeom>
          <a:noFill/>
          <a:ln w="12700">
            <a:solidFill>
              <a:srgbClr val="E1175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7597" name="Rectangle 6"/>
          <p:cNvSpPr>
            <a:spLocks noChangeArrowheads="1"/>
          </p:cNvSpPr>
          <p:nvPr/>
        </p:nvSpPr>
        <p:spPr bwMode="auto">
          <a:xfrm>
            <a:off x="0" y="733425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uz-Cyrl-UZ" sz="1600" b="1">
                <a:latin typeface="Times New Roman" pitchFamily="18" charset="0"/>
                <a:cs typeface="Times New Roman" pitchFamily="18" charset="0"/>
              </a:rPr>
              <a:t> </a:t>
            </a:r>
            <a:endParaRPr lang="uz-Cyrl-UZ"/>
          </a:p>
        </p:txBody>
      </p:sp>
      <p:sp>
        <p:nvSpPr>
          <p:cNvPr id="6759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7599" name="Line 152"/>
          <p:cNvSpPr>
            <a:spLocks noChangeShapeType="1"/>
          </p:cNvSpPr>
          <p:nvPr/>
        </p:nvSpPr>
        <p:spPr bwMode="auto">
          <a:xfrm flipV="1">
            <a:off x="228600" y="533400"/>
            <a:ext cx="8763000" cy="0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51" name="Стрелка вниз 50"/>
          <p:cNvSpPr/>
          <p:nvPr/>
        </p:nvSpPr>
        <p:spPr>
          <a:xfrm>
            <a:off x="4343400" y="1219200"/>
            <a:ext cx="3048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52" name="Стрелка вниз 51"/>
          <p:cNvSpPr/>
          <p:nvPr/>
        </p:nvSpPr>
        <p:spPr>
          <a:xfrm>
            <a:off x="1143000" y="1219200"/>
            <a:ext cx="3048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53" name="Стрелка вниз 52"/>
          <p:cNvSpPr/>
          <p:nvPr/>
        </p:nvSpPr>
        <p:spPr>
          <a:xfrm>
            <a:off x="7467600" y="1219200"/>
            <a:ext cx="3048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026" name="Text Box 2"/>
          <p:cNvSpPr txBox="1">
            <a:spLocks noChangeArrowheads="1"/>
          </p:cNvSpPr>
          <p:nvPr/>
        </p:nvSpPr>
        <p:spPr bwMode="auto">
          <a:xfrm>
            <a:off x="146050" y="1600200"/>
            <a:ext cx="2901950" cy="50292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defRPr/>
            </a:pPr>
            <a:r>
              <a:rPr lang="uz-Cyrl-UZ" sz="1400" b="1" dirty="0">
                <a:latin typeface="Times New Roman" pitchFamily="18" charset="0"/>
              </a:rPr>
              <a:t>Чизиқли конгруэнт генератор.</a:t>
            </a:r>
          </a:p>
          <a:p>
            <a:pPr algn="just">
              <a:defRPr/>
            </a:pPr>
            <a:endParaRPr lang="uz-Cyrl-UZ" sz="1400" b="1" dirty="0">
              <a:latin typeface="Times New Roman" pitchFamily="18" charset="0"/>
            </a:endParaRPr>
          </a:p>
          <a:p>
            <a:pPr algn="just">
              <a:defRPr/>
            </a:pPr>
            <a:endParaRPr lang="uz-Cyrl-UZ" sz="1400" b="1" dirty="0">
              <a:latin typeface="Times New Roman" pitchFamily="18" charset="0"/>
            </a:endParaRPr>
          </a:p>
          <a:p>
            <a:pPr algn="ctr">
              <a:defRPr/>
            </a:pPr>
            <a:r>
              <a:rPr lang="en-US" sz="1400" b="1" dirty="0">
                <a:latin typeface="Times New Roman" pitchFamily="18" charset="0"/>
              </a:rPr>
              <a:t>x</a:t>
            </a:r>
            <a:r>
              <a:rPr lang="en-US" sz="1400" b="1" baseline="-25000" dirty="0">
                <a:latin typeface="Times New Roman" pitchFamily="18" charset="0"/>
              </a:rPr>
              <a:t>i+1</a:t>
            </a:r>
            <a:r>
              <a:rPr lang="en-US" sz="1400" b="1" dirty="0">
                <a:latin typeface="Times New Roman" pitchFamily="18" charset="0"/>
              </a:rPr>
              <a:t>=</a:t>
            </a:r>
            <a:r>
              <a:rPr lang="uz-Cyrl-UZ" sz="1400" b="1" dirty="0">
                <a:latin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</a:rPr>
              <a:t>(</a:t>
            </a:r>
            <a:r>
              <a:rPr lang="en-US" sz="1400" b="1" i="1" dirty="0">
                <a:latin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</a:rPr>
              <a:t>x</a:t>
            </a:r>
            <a:r>
              <a:rPr lang="en-US" sz="1400" b="1" baseline="-25000" dirty="0">
                <a:latin typeface="Times New Roman" pitchFamily="18" charset="0"/>
              </a:rPr>
              <a:t>i</a:t>
            </a:r>
            <a:r>
              <a:rPr lang="en-US" sz="1400" b="1" dirty="0">
                <a:latin typeface="Times New Roman" pitchFamily="18" charset="0"/>
              </a:rPr>
              <a:t>+</a:t>
            </a:r>
            <a:r>
              <a:rPr lang="en-US" sz="1400" b="1" i="1" dirty="0">
                <a:latin typeface="Times New Roman" pitchFamily="18" charset="0"/>
              </a:rPr>
              <a:t>c</a:t>
            </a:r>
            <a:r>
              <a:rPr lang="en-US" sz="1400" b="1" dirty="0">
                <a:latin typeface="Times New Roman" pitchFamily="18" charset="0"/>
              </a:rPr>
              <a:t>)</a:t>
            </a:r>
            <a:r>
              <a:rPr lang="uz-Cyrl-UZ" sz="1400" b="1" dirty="0">
                <a:latin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</a:rPr>
              <a:t>mod </a:t>
            </a:r>
            <a:r>
              <a:rPr lang="en-US" sz="1400" b="1" i="1" dirty="0">
                <a:latin typeface="Times New Roman" pitchFamily="18" charset="0"/>
              </a:rPr>
              <a:t>N </a:t>
            </a:r>
            <a:r>
              <a:rPr lang="uz-Cyrl-UZ" sz="1400" b="1" i="1" dirty="0">
                <a:latin typeface="Times New Roman" pitchFamily="18" charset="0"/>
              </a:rPr>
              <a:t>,</a:t>
            </a:r>
            <a:r>
              <a:rPr lang="en-US" sz="1400" b="1" i="1" dirty="0">
                <a:latin typeface="Times New Roman" pitchFamily="18" charset="0"/>
              </a:rPr>
              <a:t> </a:t>
            </a:r>
            <a:r>
              <a:rPr lang="en-US" sz="1400" b="1" dirty="0" err="1">
                <a:latin typeface="Times New Roman" pitchFamily="18" charset="0"/>
              </a:rPr>
              <a:t>i</a:t>
            </a:r>
            <a:r>
              <a:rPr lang="en-US" sz="1400" b="1" i="1" dirty="0">
                <a:latin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</a:rPr>
              <a:t>= 0,1,2</a:t>
            </a:r>
            <a:r>
              <a:rPr lang="uz-Cyrl-UZ" sz="1400" b="1" dirty="0">
                <a:latin typeface="Times New Roman" pitchFamily="18" charset="0"/>
              </a:rPr>
              <a:t>.....</a:t>
            </a:r>
            <a:endParaRPr lang="en-US" sz="1400" b="1" dirty="0">
              <a:latin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dirty="0">
                <a:latin typeface="Times New Roman" pitchFamily="18" charset="0"/>
              </a:rPr>
              <a:t>Бу</a:t>
            </a:r>
            <a:r>
              <a:rPr lang="en-US" sz="1400" b="1" dirty="0">
                <a:latin typeface="Times New Roman" pitchFamily="18" charset="0"/>
              </a:rPr>
              <a:t> </a:t>
            </a:r>
            <a:r>
              <a:rPr lang="ru-RU" sz="1400" b="1" dirty="0">
                <a:latin typeface="Times New Roman" pitchFamily="18" charset="0"/>
              </a:rPr>
              <a:t>ерда</a:t>
            </a:r>
            <a:r>
              <a:rPr lang="en-US" sz="1400" b="1" dirty="0">
                <a:latin typeface="Times New Roman" pitchFamily="18" charset="0"/>
              </a:rPr>
              <a:t> </a:t>
            </a:r>
            <a:r>
              <a:rPr lang="en-US" sz="1400" b="1" i="1" dirty="0">
                <a:latin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</a:rPr>
              <a:t>, </a:t>
            </a:r>
            <a:r>
              <a:rPr lang="en-US" sz="1400" b="1" i="1" dirty="0">
                <a:latin typeface="Times New Roman" pitchFamily="18" charset="0"/>
              </a:rPr>
              <a:t>c</a:t>
            </a:r>
            <a:r>
              <a:rPr lang="en-US" sz="1400" b="1" dirty="0">
                <a:latin typeface="Times New Roman" pitchFamily="18" charset="0"/>
              </a:rPr>
              <a:t>, </a:t>
            </a:r>
            <a:r>
              <a:rPr lang="en-US" sz="1400" b="1" i="1" dirty="0">
                <a:latin typeface="Times New Roman" pitchFamily="18" charset="0"/>
              </a:rPr>
              <a:t>N</a:t>
            </a:r>
            <a:r>
              <a:rPr lang="en-US" sz="1400" b="1" dirty="0">
                <a:latin typeface="Times New Roman" pitchFamily="18" charset="0"/>
              </a:rPr>
              <a:t>, x</a:t>
            </a:r>
            <a:r>
              <a:rPr lang="en-US" sz="1400" b="1" baseline="-25000" dirty="0">
                <a:latin typeface="Times New Roman" pitchFamily="18" charset="0"/>
              </a:rPr>
              <a:t>0 </a:t>
            </a:r>
            <a:r>
              <a:rPr lang="en-US" sz="1400" b="1" dirty="0">
                <a:latin typeface="Times New Roman" pitchFamily="18" charset="0"/>
              </a:rPr>
              <a:t>–</a:t>
            </a:r>
            <a:r>
              <a:rPr lang="ru-RU" sz="1400" b="1" dirty="0">
                <a:latin typeface="Times New Roman" pitchFamily="18" charset="0"/>
              </a:rPr>
              <a:t>фиксирланган</a:t>
            </a:r>
            <a:r>
              <a:rPr lang="en-US" sz="1400" b="1" dirty="0">
                <a:latin typeface="Times New Roman" pitchFamily="18" charset="0"/>
              </a:rPr>
              <a:t> </a:t>
            </a:r>
            <a:r>
              <a:rPr lang="ru-RU" sz="1400" b="1" dirty="0">
                <a:latin typeface="Times New Roman" pitchFamily="18" charset="0"/>
              </a:rPr>
              <a:t>параметрлар</a:t>
            </a:r>
            <a:r>
              <a:rPr lang="en-US" sz="1400" b="1" dirty="0">
                <a:latin typeface="Times New Roman" pitchFamily="18" charset="0"/>
              </a:rPr>
              <a:t>. </a:t>
            </a:r>
            <a:endParaRPr lang="uz-Cyrl-UZ" sz="1400" b="1" dirty="0">
              <a:latin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Теорема.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  Чизиқли конгурент генератор максимал даврга эга бўлиши учун қуйдаги :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1)   с ва N сонларининг ўзаро туб бўлиши, яъни  ЭКУБ (с, N)=1 бўлиши;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2)   b=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-1 сони  P –туб сонига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     каррали бўлиши (бу ерда: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     P&lt;N  сони   N  нинг ихтиёрий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     бўлувчиси); 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3)  N сонининг тўртга каррали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     бўлиши (бундан  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нинг ҳам  тўртга каррали  бўлиши келиб чиқади);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зарур ва  етарли.   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uz-Cyrl-UZ" sz="1400" b="1" dirty="0">
              <a:latin typeface="Times New Roman" pitchFamily="18" charset="0"/>
            </a:endParaRPr>
          </a:p>
          <a:p>
            <a:pPr>
              <a:defRPr/>
            </a:pPr>
            <a:endParaRPr lang="uz-Cyrl-UZ" sz="1100" b="1" dirty="0">
              <a:latin typeface="Times New Roman" pitchFamily="18" charset="0"/>
            </a:endParaRPr>
          </a:p>
          <a:p>
            <a:pPr>
              <a:defRPr/>
            </a:pPr>
            <a:endParaRPr lang="uz-Cyrl-UZ" sz="1100" b="1" dirty="0">
              <a:latin typeface="Times New Roman" pitchFamily="18" charset="0"/>
            </a:endParaRPr>
          </a:p>
          <a:p>
            <a:pPr>
              <a:defRPr/>
            </a:pPr>
            <a:endParaRPr lang="ru-RU" dirty="0">
              <a:latin typeface="Arial" pitchFamily="34" charset="0"/>
            </a:endParaRPr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3217863" y="1600200"/>
            <a:ext cx="2801937" cy="50292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spcAft>
                <a:spcPts val="1000"/>
              </a:spcAft>
              <a:defRPr/>
            </a:pPr>
            <a:r>
              <a:rPr lang="ru-RU" sz="1400" b="1" dirty="0" err="1">
                <a:latin typeface="Times New Roman" pitchFamily="18" charset="0"/>
              </a:rPr>
              <a:t>Мультипликатив</a:t>
            </a:r>
            <a:r>
              <a:rPr lang="uz-Cyrl-UZ" sz="1400" b="1" dirty="0">
                <a:latin typeface="Times New Roman" pitchFamily="18" charset="0"/>
              </a:rPr>
              <a:t> </a:t>
            </a:r>
            <a:r>
              <a:rPr lang="ru-RU" sz="1400" b="1" dirty="0">
                <a:latin typeface="Times New Roman" pitchFamily="18" charset="0"/>
              </a:rPr>
              <a:t> </a:t>
            </a:r>
            <a:r>
              <a:rPr lang="ru-RU" sz="1400" b="1" dirty="0" err="1">
                <a:latin typeface="Times New Roman" pitchFamily="18" charset="0"/>
              </a:rPr>
              <a:t>конгруэнт</a:t>
            </a:r>
            <a:r>
              <a:rPr lang="ru-RU" sz="1400" b="1" dirty="0">
                <a:latin typeface="Times New Roman" pitchFamily="18" charset="0"/>
              </a:rPr>
              <a:t> генератор</a:t>
            </a:r>
            <a:r>
              <a:rPr lang="uz-Cyrl-UZ" sz="1400" b="1" dirty="0">
                <a:latin typeface="Times New Roman" pitchFamily="18" charset="0"/>
              </a:rPr>
              <a:t>.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400" b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1400" b="1" baseline="-25000" dirty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= ( </a:t>
            </a:r>
            <a:r>
              <a:rPr lang="en-US" sz="1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400" b="1" baseline="-2500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mod </a:t>
            </a:r>
            <a:r>
              <a:rPr lang="en-US" sz="1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= 0,1,2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.....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Бу ерда 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, x</a:t>
            </a:r>
            <a:r>
              <a:rPr lang="uz-Cyrl-UZ" sz="1400" b="1" baseline="-25000" dirty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– фиксирланган параметрлар.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Теорема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400" b="1" dirty="0" err="1">
                <a:latin typeface="Times New Roman" pitchFamily="18" charset="0"/>
                <a:cs typeface="Times New Roman" pitchFamily="18" charset="0"/>
              </a:rPr>
              <a:t>Мультипликатив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конгурент генератор максимал T</a:t>
            </a:r>
            <a:r>
              <a:rPr lang="uz-Cyrl-UZ" sz="1400" b="1" baseline="-25000" dirty="0">
                <a:latin typeface="Times New Roman" pitchFamily="18" charset="0"/>
                <a:cs typeface="Times New Roman" pitchFamily="18" charset="0"/>
              </a:rPr>
              <a:t>max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(N) даврга эга бўлиши учун қуйидаги :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- бошланғич элемент модуль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N бўйича;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2) x</a:t>
            </a:r>
            <a:r>
              <a:rPr lang="uz-Cyrl-UZ" sz="1400" b="1" baseline="-25000" dirty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ва N сонлари ўзаро туб,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яъни ЭКУБ (x</a:t>
            </a:r>
            <a:r>
              <a:rPr lang="uz-Cyrl-UZ" sz="1400" b="1" baseline="-25000" dirty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, N)=1;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(N)  максималь бўлиши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мумкин бўлган тартиб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модуль N  бўйича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шартларнинг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бажарилишлиги зарур ва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етарли.   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172200" y="1600200"/>
            <a:ext cx="2895600" cy="50292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000"/>
              </a:spcAft>
              <a:defRPr/>
            </a:pPr>
            <a:r>
              <a:rPr lang="uz-Cyrl-UZ" sz="1400" b="1" dirty="0">
                <a:latin typeface="Times New Roman" pitchFamily="18" charset="0"/>
              </a:rPr>
              <a:t>Чизиқсиз конгруэнт генератор.</a:t>
            </a:r>
            <a:endParaRPr lang="ru-RU" sz="1400" b="1" dirty="0">
              <a:latin typeface="Times New Roman" pitchFamily="18" charset="0"/>
            </a:endParaRPr>
          </a:p>
          <a:p>
            <a:pPr algn="just">
              <a:defRPr/>
            </a:pPr>
            <a:endParaRPr lang="en-US" sz="1400" b="1" dirty="0">
              <a:latin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                                      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i=1,2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…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Бу ерда d,  a, c, N, x</a:t>
            </a:r>
            <a:r>
              <a:rPr lang="uz-Cyrl-UZ" sz="1400" b="1" baseline="-25000" dirty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–  фиксирланган параметрлар.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Теорема.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Юқоридаги формула  билан аниқланувчи кетма-кетлик ўзининг максимал (N) даврига эга  бўлишлиги учун қуйидаги:    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1)  ЭКУБ (c , N)=1;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2) d , 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-1 сонлар  p сонига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каррали  , p-сони  N сонинг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ихтиёрий тоқ, туб   бўлувчиси;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3) d – жуфт сон ва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                             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4) Агар N сони 9 сонига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каррали,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ёки  d mod 9=0, d mod 9=1 ва 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c* d mod 9=6 бўлса;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шартларнинг бажаришлиги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зарур ва етарли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uz-Cyrl-UZ" sz="1100" b="1" dirty="0">
              <a:latin typeface="Times New Roman" pitchFamily="18" charset="0"/>
            </a:endParaRPr>
          </a:p>
          <a:p>
            <a:pPr>
              <a:defRPr/>
            </a:pPr>
            <a:endParaRPr lang="ru-RU" dirty="0">
              <a:latin typeface="Arial" pitchFamily="34" charset="0"/>
            </a:endParaRPr>
          </a:p>
        </p:txBody>
      </p:sp>
      <p:sp>
        <p:nvSpPr>
          <p:cNvPr id="6760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pic>
        <p:nvPicPr>
          <p:cNvPr id="67607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4000" contras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50292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60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760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761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7611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pic>
        <p:nvPicPr>
          <p:cNvPr id="67612" name="Picture 1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288" y="2209800"/>
            <a:ext cx="21447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Скругленный прямоугольник 32"/>
          <p:cNvSpPr/>
          <p:nvPr/>
        </p:nvSpPr>
        <p:spPr>
          <a:xfrm>
            <a:off x="609600" y="457200"/>
            <a:ext cx="8001000" cy="762000"/>
          </a:xfrm>
          <a:prstGeom prst="roundRect">
            <a:avLst/>
          </a:prstGeom>
          <a:solidFill>
            <a:srgbClr val="93D6FF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Конгруэнт генераторлар</a:t>
            </a:r>
            <a:endParaRPr lang="ru-RU" sz="2800" dirty="0">
              <a:solidFill>
                <a:schemeClr val="tx1"/>
              </a:solidFill>
            </a:endParaRPr>
          </a:p>
        </p:txBody>
      </p:sp>
      <p:cxnSp>
        <p:nvCxnSpPr>
          <p:cNvPr id="35" name="Прямая соединительная линия 34"/>
          <p:cNvCxnSpPr/>
          <p:nvPr/>
        </p:nvCxnSpPr>
        <p:spPr>
          <a:xfrm>
            <a:off x="152400" y="2057400"/>
            <a:ext cx="28956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3200400" y="2057400"/>
            <a:ext cx="28194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>
            <a:off x="6172200" y="2057400"/>
            <a:ext cx="28956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513414"/>
      </p:ext>
    </p:extLst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Скругленный прямоугольник 30"/>
          <p:cNvSpPr/>
          <p:nvPr/>
        </p:nvSpPr>
        <p:spPr>
          <a:xfrm>
            <a:off x="990600" y="1536000"/>
            <a:ext cx="7920000" cy="1512000"/>
          </a:xfrm>
          <a:prstGeom prst="roundRect">
            <a:avLst/>
          </a:prstGeom>
          <a:effectLst>
            <a:outerShdw blurRad="50800" dist="88900" dir="13980000" sx="102000" sy="102000" algn="bl" rotWithShape="0">
              <a:schemeClr val="tx1">
                <a:lumMod val="65000"/>
                <a:lumOff val="3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  <a:latin typeface="Times New Roman" pitchFamily="18" charset="0"/>
              </a:rPr>
              <a:t>       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ANSI  X9.17 генератори.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Бу алгоритм АҚШ да псевдатасодифий кетма-кетлик ишлаб чиқувчи Миллий стандарт ҳисобланиб  FIPS ( USA Federal Information Processing Standart) таркибига киради. Алгоритмда бир томонлама функция  сифатида  учлик DES иккита K1, K2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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V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</a:rPr>
              <a:t>64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 калит ишлатилади: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DES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DES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</a:rPr>
              <a:t>K2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DES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64 бит)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.</a:t>
            </a:r>
            <a:endParaRPr lang="ru-RU" dirty="0"/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990600" y="3276600"/>
            <a:ext cx="7920000" cy="1512000"/>
          </a:xfrm>
          <a:prstGeom prst="roundRect">
            <a:avLst/>
          </a:prstGeom>
          <a:effectLst>
            <a:outerShdw blurRad="50800" dist="88900" dir="13980000" sx="102000" sy="102000" algn="bl" rotWithShape="0">
              <a:schemeClr val="tx1">
                <a:lumMod val="65000"/>
                <a:lumOff val="3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  <a:latin typeface="Times New Roman" pitchFamily="18" charset="0"/>
              </a:rPr>
              <a:t>          FIPS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-186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г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енератор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и.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Бу алгоритм хам 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АҚШ 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Миллий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стандарти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сифатида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 қабул қилинган бўлиб, DSA электрон  рақамли имзо алгоритми маҳфий параметрларини  ва калитларини генерация қилиш учун мўжалланган.  Алгоритм бир томонлама функция сифатида DES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шифлаш алгоритми ва SHA-1 хешлаш алгоритмини ишлатади.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3" name="Скругленный прямоугольник 32"/>
          <p:cNvSpPr/>
          <p:nvPr/>
        </p:nvSpPr>
        <p:spPr>
          <a:xfrm>
            <a:off x="990600" y="5041200"/>
            <a:ext cx="7920000" cy="1512000"/>
          </a:xfrm>
          <a:prstGeom prst="roundRect">
            <a:avLst/>
          </a:prstGeom>
          <a:effectLst>
            <a:outerShdw blurRad="50800" dist="88900" dir="13980000" sx="102000" sy="102000" algn="bl" rotWithShape="0">
              <a:schemeClr val="tx1">
                <a:lumMod val="65000"/>
                <a:lumOff val="3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  <a:latin typeface="Times New Roman" pitchFamily="18" charset="0"/>
              </a:rPr>
              <a:t>        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Yarrow-160 генератори.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</a:rPr>
              <a:t> Yarrow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-160  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псевдатасодифий кетма-кетлик ишлаб чиқарувчи генератори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Келси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,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Шнайер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ва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Фергюсон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томонидан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таклиф қилинган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.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 Бу ерда учлик DES ва SHA-1 хешлаш алгоритми ишлатилган.</a:t>
            </a:r>
            <a:endParaRPr lang="ru-RU" dirty="0"/>
          </a:p>
        </p:txBody>
      </p:sp>
      <p:sp>
        <p:nvSpPr>
          <p:cNvPr id="63499" name="Rectangle 4"/>
          <p:cNvSpPr>
            <a:spLocks noChangeArrowheads="1"/>
          </p:cNvSpPr>
          <p:nvPr/>
        </p:nvSpPr>
        <p:spPr bwMode="auto">
          <a:xfrm>
            <a:off x="2190750" y="188913"/>
            <a:ext cx="2438400" cy="247650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3500" name="Line 5"/>
          <p:cNvSpPr>
            <a:spLocks noChangeShapeType="1"/>
          </p:cNvSpPr>
          <p:nvPr/>
        </p:nvSpPr>
        <p:spPr bwMode="auto">
          <a:xfrm>
            <a:off x="7119938" y="92075"/>
            <a:ext cx="0" cy="4572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3501" name="Line 6"/>
          <p:cNvSpPr>
            <a:spLocks noChangeShapeType="1"/>
          </p:cNvSpPr>
          <p:nvPr/>
        </p:nvSpPr>
        <p:spPr bwMode="auto">
          <a:xfrm>
            <a:off x="2085975" y="115888"/>
            <a:ext cx="0" cy="4572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3502" name="Rectangle 23"/>
          <p:cNvSpPr>
            <a:spLocks noChangeArrowheads="1"/>
          </p:cNvSpPr>
          <p:nvPr/>
        </p:nvSpPr>
        <p:spPr bwMode="auto">
          <a:xfrm>
            <a:off x="4714875" y="188913"/>
            <a:ext cx="2276475" cy="247650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3503" name="Line 34"/>
          <p:cNvSpPr>
            <a:spLocks noChangeShapeType="1"/>
          </p:cNvSpPr>
          <p:nvPr/>
        </p:nvSpPr>
        <p:spPr bwMode="auto">
          <a:xfrm>
            <a:off x="41275" y="0"/>
            <a:ext cx="0" cy="6858000"/>
          </a:xfrm>
          <a:prstGeom prst="line">
            <a:avLst/>
          </a:prstGeom>
          <a:noFill/>
          <a:ln w="9525">
            <a:solidFill>
              <a:srgbClr val="0026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3504" name="Line 35"/>
          <p:cNvSpPr>
            <a:spLocks noChangeShapeType="1"/>
          </p:cNvSpPr>
          <p:nvPr/>
        </p:nvSpPr>
        <p:spPr bwMode="auto">
          <a:xfrm>
            <a:off x="0" y="52388"/>
            <a:ext cx="9144000" cy="0"/>
          </a:xfrm>
          <a:prstGeom prst="line">
            <a:avLst/>
          </a:prstGeom>
          <a:noFill/>
          <a:ln w="9525">
            <a:solidFill>
              <a:srgbClr val="002E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3505" name="Line 36"/>
          <p:cNvSpPr>
            <a:spLocks noChangeShapeType="1"/>
          </p:cNvSpPr>
          <p:nvPr/>
        </p:nvSpPr>
        <p:spPr bwMode="auto">
          <a:xfrm>
            <a:off x="152400" y="476250"/>
            <a:ext cx="8877300" cy="0"/>
          </a:xfrm>
          <a:prstGeom prst="line">
            <a:avLst/>
          </a:prstGeom>
          <a:noFill/>
          <a:ln w="9525">
            <a:solidFill>
              <a:srgbClr val="0020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3506" name="Text Box 41"/>
          <p:cNvSpPr txBox="1">
            <a:spLocks noChangeArrowheads="1"/>
          </p:cNvSpPr>
          <p:nvPr/>
        </p:nvSpPr>
        <p:spPr bwMode="auto">
          <a:xfrm>
            <a:off x="76200" y="2133600"/>
            <a:ext cx="8964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2800" b="1">
                <a:latin typeface="Times New Roman" pitchFamily="18" charset="0"/>
                <a:cs typeface="Times New Roman" pitchFamily="18" charset="0"/>
              </a:rPr>
              <a:t>   </a:t>
            </a:r>
            <a:endParaRPr lang="ru-RU" sz="2800" i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507" name="Line 90"/>
          <p:cNvSpPr>
            <a:spLocks noChangeShapeType="1"/>
          </p:cNvSpPr>
          <p:nvPr/>
        </p:nvSpPr>
        <p:spPr bwMode="auto">
          <a:xfrm flipV="1">
            <a:off x="228600" y="6629400"/>
            <a:ext cx="8763000" cy="0"/>
          </a:xfrm>
          <a:prstGeom prst="line">
            <a:avLst/>
          </a:prstGeom>
          <a:noFill/>
          <a:ln w="9525">
            <a:pattFill prst="pct5">
              <a:fgClr>
                <a:srgbClr val="003BF8"/>
              </a:fgClr>
              <a:bgClr>
                <a:srgbClr val="4CB44C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990600" y="685800"/>
            <a:ext cx="8001000" cy="5334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  <a:effectLst>
            <a:glow rad="139700">
              <a:schemeClr val="accent1">
                <a:satMod val="175000"/>
                <a:alpha val="40000"/>
              </a:schemeClr>
            </a:glo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>
              <a:spcAft>
                <a:spcPts val="1000"/>
              </a:spcAft>
              <a:defRPr/>
            </a:pPr>
            <a:r>
              <a:rPr lang="ru-RU" sz="2000" b="1" dirty="0">
                <a:latin typeface="Times New Roman" pitchFamily="18" charset="0"/>
              </a:rPr>
              <a:t>Бир томон</a:t>
            </a:r>
            <a:r>
              <a:rPr lang="uz-Cyrl-UZ" sz="2000" b="1" dirty="0">
                <a:latin typeface="Times New Roman" pitchFamily="18" charset="0"/>
              </a:rPr>
              <a:t>ли</a:t>
            </a:r>
            <a:r>
              <a:rPr lang="ru-RU" sz="2000" b="1" dirty="0">
                <a:latin typeface="Times New Roman" pitchFamily="18" charset="0"/>
              </a:rPr>
              <a:t> функцияларга </a:t>
            </a:r>
            <a:r>
              <a:rPr lang="ru-RU" sz="2000" b="1" dirty="0" err="1">
                <a:latin typeface="Times New Roman" pitchFamily="18" charset="0"/>
              </a:rPr>
              <a:t>асосланган</a:t>
            </a:r>
            <a:r>
              <a:rPr lang="ru-RU" sz="2000" b="1" dirty="0">
                <a:latin typeface="Times New Roman" pitchFamily="18" charset="0"/>
              </a:rPr>
              <a:t> </a:t>
            </a:r>
            <a:r>
              <a:rPr lang="ru-RU" sz="2000" b="1" dirty="0" err="1">
                <a:latin typeface="Times New Roman" pitchFamily="18" charset="0"/>
              </a:rPr>
              <a:t>самарали</a:t>
            </a:r>
            <a:r>
              <a:rPr lang="uz-Cyrl-UZ" sz="2000" b="1" dirty="0">
                <a:latin typeface="Times New Roman" pitchFamily="18" charset="0"/>
              </a:rPr>
              <a:t> генераторлар</a:t>
            </a:r>
          </a:p>
          <a:p>
            <a:pPr>
              <a:defRPr/>
            </a:pPr>
            <a:endParaRPr lang="ru-RU" dirty="0">
              <a:latin typeface="Arial" pitchFamily="34" charset="0"/>
            </a:endParaRPr>
          </a:p>
        </p:txBody>
      </p:sp>
      <p:sp>
        <p:nvSpPr>
          <p:cNvPr id="63509" name="Line 131"/>
          <p:cNvSpPr>
            <a:spLocks noChangeShapeType="1"/>
          </p:cNvSpPr>
          <p:nvPr/>
        </p:nvSpPr>
        <p:spPr bwMode="auto">
          <a:xfrm flipV="1">
            <a:off x="0" y="609600"/>
            <a:ext cx="8763000" cy="0"/>
          </a:xfrm>
          <a:prstGeom prst="line">
            <a:avLst/>
          </a:prstGeom>
          <a:noFill/>
          <a:ln w="9525">
            <a:pattFill prst="pct5">
              <a:fgClr>
                <a:srgbClr val="003BF8"/>
              </a:fgClr>
              <a:bgClr>
                <a:srgbClr val="4CB44C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3510" name="Line 131"/>
          <p:cNvSpPr>
            <a:spLocks noChangeShapeType="1"/>
          </p:cNvSpPr>
          <p:nvPr/>
        </p:nvSpPr>
        <p:spPr bwMode="auto">
          <a:xfrm flipV="1">
            <a:off x="304800" y="6705600"/>
            <a:ext cx="8763000" cy="0"/>
          </a:xfrm>
          <a:prstGeom prst="line">
            <a:avLst/>
          </a:prstGeom>
          <a:noFill/>
          <a:ln w="9525">
            <a:pattFill prst="pct5">
              <a:fgClr>
                <a:srgbClr val="003BF8"/>
              </a:fgClr>
              <a:bgClr>
                <a:srgbClr val="4CB44C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3511" name="Line 97"/>
          <p:cNvSpPr>
            <a:spLocks noChangeShapeType="1"/>
          </p:cNvSpPr>
          <p:nvPr/>
        </p:nvSpPr>
        <p:spPr bwMode="auto">
          <a:xfrm>
            <a:off x="1905000" y="304800"/>
            <a:ext cx="54102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23" name="Овал 22"/>
          <p:cNvSpPr/>
          <p:nvPr/>
        </p:nvSpPr>
        <p:spPr>
          <a:xfrm>
            <a:off x="457200" y="3124200"/>
            <a:ext cx="914400" cy="609600"/>
          </a:xfrm>
          <a:prstGeom prst="ellipse">
            <a:avLst/>
          </a:prstGeom>
          <a:solidFill>
            <a:schemeClr val="bg2">
              <a:lumMod val="75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2</a:t>
            </a:r>
            <a:endParaRPr lang="ru-RU" sz="3600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533400" y="4876800"/>
            <a:ext cx="914400" cy="609600"/>
          </a:xfrm>
          <a:prstGeom prst="ellipse">
            <a:avLst/>
          </a:prstGeom>
          <a:solidFill>
            <a:schemeClr val="bg2">
              <a:lumMod val="75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tx1"/>
                </a:solidFill>
                <a:latin typeface="Bookman Old Style" pitchFamily="18" charset="0"/>
              </a:rPr>
              <a:t>3</a:t>
            </a:r>
            <a:endParaRPr lang="ru-RU" sz="3600" dirty="0">
              <a:solidFill>
                <a:schemeClr val="tx1"/>
              </a:solidFill>
              <a:latin typeface="Bookman Old Style" pitchFamily="18" charset="0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457200" y="1447800"/>
            <a:ext cx="914400" cy="609600"/>
          </a:xfrm>
          <a:prstGeom prst="ellipse">
            <a:avLst/>
          </a:prstGeom>
          <a:solidFill>
            <a:schemeClr val="bg2">
              <a:lumMod val="75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1</a:t>
            </a:r>
            <a:endParaRPr lang="ru-RU" sz="3200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738999"/>
      </p:ext>
    </p:extLst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Скругленный прямоугольник 33"/>
          <p:cNvSpPr/>
          <p:nvPr/>
        </p:nvSpPr>
        <p:spPr>
          <a:xfrm>
            <a:off x="1295400" y="838200"/>
            <a:ext cx="7543800" cy="685800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cmpd="dbl">
            <a:prstDash val="sysDash"/>
          </a:ln>
          <a:effectLst>
            <a:innerShdw blurRad="63500" dist="50800" dir="18900000">
              <a:srgbClr val="FFFF00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auto">
          <a:xfrm>
            <a:off x="2190750" y="188913"/>
            <a:ext cx="2438400" cy="247650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5542" name="Line 5"/>
          <p:cNvSpPr>
            <a:spLocks noChangeShapeType="1"/>
          </p:cNvSpPr>
          <p:nvPr/>
        </p:nvSpPr>
        <p:spPr bwMode="auto">
          <a:xfrm>
            <a:off x="7119938" y="92075"/>
            <a:ext cx="0" cy="4572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5543" name="Line 6"/>
          <p:cNvSpPr>
            <a:spLocks noChangeShapeType="1"/>
          </p:cNvSpPr>
          <p:nvPr/>
        </p:nvSpPr>
        <p:spPr bwMode="auto">
          <a:xfrm>
            <a:off x="2085975" y="115888"/>
            <a:ext cx="0" cy="4572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5544" name="Rectangle 23"/>
          <p:cNvSpPr>
            <a:spLocks noChangeArrowheads="1"/>
          </p:cNvSpPr>
          <p:nvPr/>
        </p:nvSpPr>
        <p:spPr bwMode="auto">
          <a:xfrm>
            <a:off x="4714875" y="188913"/>
            <a:ext cx="2276475" cy="247650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5545" name="Line 34"/>
          <p:cNvSpPr>
            <a:spLocks noChangeShapeType="1"/>
          </p:cNvSpPr>
          <p:nvPr/>
        </p:nvSpPr>
        <p:spPr bwMode="auto">
          <a:xfrm>
            <a:off x="41275" y="0"/>
            <a:ext cx="0" cy="6858000"/>
          </a:xfrm>
          <a:prstGeom prst="line">
            <a:avLst/>
          </a:prstGeom>
          <a:noFill/>
          <a:ln w="9525">
            <a:solidFill>
              <a:srgbClr val="0026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5546" name="Line 35"/>
          <p:cNvSpPr>
            <a:spLocks noChangeShapeType="1"/>
          </p:cNvSpPr>
          <p:nvPr/>
        </p:nvSpPr>
        <p:spPr bwMode="auto">
          <a:xfrm>
            <a:off x="0" y="52388"/>
            <a:ext cx="9144000" cy="0"/>
          </a:xfrm>
          <a:prstGeom prst="line">
            <a:avLst/>
          </a:prstGeom>
          <a:noFill/>
          <a:ln w="9525">
            <a:solidFill>
              <a:srgbClr val="002E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5547" name="Line 36"/>
          <p:cNvSpPr>
            <a:spLocks noChangeShapeType="1"/>
          </p:cNvSpPr>
          <p:nvPr/>
        </p:nvSpPr>
        <p:spPr bwMode="auto">
          <a:xfrm>
            <a:off x="152400" y="476250"/>
            <a:ext cx="8877300" cy="0"/>
          </a:xfrm>
          <a:prstGeom prst="line">
            <a:avLst/>
          </a:prstGeom>
          <a:noFill/>
          <a:ln w="9525">
            <a:solidFill>
              <a:srgbClr val="0020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5548" name="Text Box 41"/>
          <p:cNvSpPr txBox="1">
            <a:spLocks noChangeArrowheads="1"/>
          </p:cNvSpPr>
          <p:nvPr/>
        </p:nvSpPr>
        <p:spPr bwMode="auto">
          <a:xfrm>
            <a:off x="76200" y="2133600"/>
            <a:ext cx="8964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2800" b="1">
                <a:latin typeface="Times New Roman" pitchFamily="18" charset="0"/>
                <a:cs typeface="Times New Roman" pitchFamily="18" charset="0"/>
              </a:rPr>
              <a:t>   </a:t>
            </a:r>
            <a:endParaRPr lang="ru-RU" sz="2800" i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549" name="Line 90"/>
          <p:cNvSpPr>
            <a:spLocks noChangeShapeType="1"/>
          </p:cNvSpPr>
          <p:nvPr/>
        </p:nvSpPr>
        <p:spPr bwMode="auto">
          <a:xfrm flipV="1">
            <a:off x="228600" y="6629400"/>
            <a:ext cx="8763000" cy="0"/>
          </a:xfrm>
          <a:prstGeom prst="line">
            <a:avLst/>
          </a:prstGeom>
          <a:noFill/>
          <a:ln w="9525">
            <a:pattFill prst="pct5">
              <a:fgClr>
                <a:srgbClr val="003BF8"/>
              </a:fgClr>
              <a:bgClr>
                <a:srgbClr val="4CB44C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5550" name="Line 152"/>
          <p:cNvSpPr>
            <a:spLocks noChangeShapeType="1"/>
          </p:cNvSpPr>
          <p:nvPr/>
        </p:nvSpPr>
        <p:spPr bwMode="auto">
          <a:xfrm flipV="1">
            <a:off x="228600" y="609600"/>
            <a:ext cx="8763000" cy="0"/>
          </a:xfrm>
          <a:prstGeom prst="line">
            <a:avLst/>
          </a:prstGeom>
          <a:noFill/>
          <a:ln w="12700">
            <a:solidFill>
              <a:srgbClr val="E1175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5551" name="Line 152"/>
          <p:cNvSpPr>
            <a:spLocks noChangeShapeType="1"/>
          </p:cNvSpPr>
          <p:nvPr/>
        </p:nvSpPr>
        <p:spPr bwMode="auto">
          <a:xfrm flipV="1">
            <a:off x="228600" y="685800"/>
            <a:ext cx="8763000" cy="0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5552" name="Line 97"/>
          <p:cNvSpPr>
            <a:spLocks noChangeShapeType="1"/>
          </p:cNvSpPr>
          <p:nvPr/>
        </p:nvSpPr>
        <p:spPr bwMode="auto">
          <a:xfrm>
            <a:off x="1905000" y="304800"/>
            <a:ext cx="54102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22" name="TextBox 21"/>
          <p:cNvSpPr txBox="1"/>
          <p:nvPr/>
        </p:nvSpPr>
        <p:spPr>
          <a:xfrm>
            <a:off x="1752600" y="762000"/>
            <a:ext cx="6781800" cy="1108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Сонлар назарияси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  муаммоларига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асосланган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самарали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генераторлар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+mn-lt"/>
            </a:endParaRPr>
          </a:p>
        </p:txBody>
      </p:sp>
      <p:sp>
        <p:nvSpPr>
          <p:cNvPr id="65554" name="TextBox 28"/>
          <p:cNvSpPr txBox="1">
            <a:spLocks noChangeArrowheads="1"/>
          </p:cNvSpPr>
          <p:nvPr/>
        </p:nvSpPr>
        <p:spPr bwMode="auto">
          <a:xfrm>
            <a:off x="1981200" y="3048000"/>
            <a:ext cx="3505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endParaRPr lang="ru-RU">
              <a:latin typeface="Corbel" pitchFamily="34" charset="0"/>
            </a:endParaRPr>
          </a:p>
        </p:txBody>
      </p:sp>
      <p:sp>
        <p:nvSpPr>
          <p:cNvPr id="65555" name="TextBox 31"/>
          <p:cNvSpPr txBox="1">
            <a:spLocks noChangeArrowheads="1"/>
          </p:cNvSpPr>
          <p:nvPr/>
        </p:nvSpPr>
        <p:spPr bwMode="auto">
          <a:xfrm>
            <a:off x="1828800" y="3124200"/>
            <a:ext cx="510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b="1">
                <a:latin typeface="Times New Roman" pitchFamily="18" charset="0"/>
                <a:cs typeface="Times New Roman" pitchFamily="18" charset="0"/>
              </a:rPr>
              <a:t>           </a:t>
            </a:r>
            <a:endParaRPr lang="ru-RU">
              <a:latin typeface="Corbel" pitchFamily="34" charset="0"/>
            </a:endParaRPr>
          </a:p>
        </p:txBody>
      </p:sp>
      <p:sp>
        <p:nvSpPr>
          <p:cNvPr id="28" name="Загнутый угол 27"/>
          <p:cNvSpPr/>
          <p:nvPr/>
        </p:nvSpPr>
        <p:spPr>
          <a:xfrm>
            <a:off x="1295400" y="2057400"/>
            <a:ext cx="7543800" cy="3962400"/>
          </a:xfrm>
          <a:prstGeom prst="foldedCorner">
            <a:avLst/>
          </a:prstGeom>
          <a:blipFill>
            <a:blip r:embed="rId3"/>
            <a:tile tx="0" ty="0" sx="100000" sy="100000" flip="none" algn="tl"/>
          </a:blipFill>
          <a:ln cmpd="sng">
            <a:gradFill flip="none" rotWithShape="1">
              <a:gsLst>
                <a:gs pos="0">
                  <a:srgbClr val="FFF200"/>
                </a:gs>
                <a:gs pos="45000">
                  <a:srgbClr val="2AFAFA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2700000" scaled="1"/>
              <a:tileRect/>
            </a:gradFill>
            <a:prstDash val="lg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uz-Cyrl-UZ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endParaRPr lang="ru-RU" sz="2000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1600200" y="2800290"/>
            <a:ext cx="7010400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RSA</a:t>
            </a:r>
            <a:r>
              <a:rPr lang="uz-Cyrl-UZ" sz="2000" b="1" dirty="0">
                <a:latin typeface="Times New Roman" pitchFamily="18" charset="0"/>
                <a:cs typeface="Times New Roman" pitchFamily="18" charset="0"/>
              </a:rPr>
              <a:t> алгоритми асосидаги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генератор</a:t>
            </a:r>
            <a:endParaRPr lang="ru-RU" sz="2000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1600200" y="3657600"/>
            <a:ext cx="7010400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uz-Cyrl-UZ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Микали-Шнорр RSA  алгоритми асосидаги генератор</a:t>
            </a:r>
            <a:endParaRPr lang="ru-RU" sz="2000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1600200" y="4495800"/>
            <a:ext cx="7010400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uz-Cyrl-UZ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BBS ( Blum-Blum- Shub)- алгоритми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асосидаги генератор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726692303"/>
      </p:ext>
    </p:extLst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-7938" y="0"/>
            <a:ext cx="9144001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35202" y="95470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827584" y="404664"/>
            <a:ext cx="7517067" cy="47373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Узлуксиз шифрлаш алгоритмларига қўйилган талаблар</a:t>
            </a: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Содержимое 2"/>
          <p:cNvSpPr txBox="1">
            <a:spLocks/>
          </p:cNvSpPr>
          <p:nvPr/>
        </p:nvSpPr>
        <p:spPr bwMode="auto">
          <a:xfrm>
            <a:off x="799350" y="1196752"/>
            <a:ext cx="7589074" cy="4968552"/>
          </a:xfrm>
          <a:prstGeom prst="foldedCorner">
            <a:avLst>
              <a:gd name="adj" fmla="val 9693"/>
            </a:avLst>
          </a:prstGeom>
          <a:pattFill prst="pct5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9525">
            <a:solidFill>
              <a:schemeClr val="accent2"/>
            </a:solidFill>
            <a:miter lim="800000"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algn="just" fontAlgn="auto">
              <a:spcBef>
                <a:spcPts val="0"/>
              </a:spcBef>
              <a:spcAft>
                <a:spcPts val="1200"/>
              </a:spcAft>
              <a:defRPr/>
            </a:pP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Алгоритм асосидаги генератор етарлича  узун даврга эга бўлган кетма-кетлик ишлаб чи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иши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Генераторнинг чизи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сиз мураккаблик даражаси ю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ори бўлиши;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  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Ишлаб   чиқилган    псевдотасодифий   кетма  -  кетлик  текис  статистик  тақсимот  кўрсаткичига эга  бўлиши;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 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Псевдотасодифий  кетма-кетликнинг  гамма элементлари (бит, байт,   қисм   блоклари)   барча   бошқа   элементлари  ҳиссаси ор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али ҳосил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илиниши – аралашиш самарали бўлиши;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Псевдотасодифий кетма - кетликнинг гамма элементларининг кескин ўзгариши – тар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алиш самарали бўлиши;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  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Алгоритм акслантиришлари бул функцияларининг чизи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сизлик  шартини бажариши – хамда  жадал  самара (лавинный эффект) беришини таъминлаши.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163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71310" y="116632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2547187" y="1033509"/>
            <a:ext cx="4248472" cy="411211"/>
          </a:xfrm>
          <a:prstGeom prst="roundRect">
            <a:avLst>
              <a:gd name="adj" fmla="val 29456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accent1">
                <a:shade val="50000"/>
              </a:schemeClr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nvex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000" b="1" dirty="0">
                <a:solidFill>
                  <a:schemeClr val="tx1"/>
                </a:solidFill>
              </a:rPr>
              <a:t>Узлуксиз шифрлар</a:t>
            </a:r>
            <a:endParaRPr lang="ru-RU" sz="2000" b="1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912890" y="260648"/>
            <a:ext cx="7517067" cy="64807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§ 1.2.  Синхрон ва ўз-ўзидан синхронланувчи  узлуксиз шифрлаш алгоритмлари таҳлили 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Группа 14"/>
          <p:cNvGrpSpPr/>
          <p:nvPr/>
        </p:nvGrpSpPr>
        <p:grpSpPr>
          <a:xfrm>
            <a:off x="778547" y="4981331"/>
            <a:ext cx="3649437" cy="1399997"/>
            <a:chOff x="4652344" y="1308923"/>
            <a:chExt cx="3642153" cy="1399997"/>
          </a:xfrm>
          <a:pattFill prst="openDmn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grpSpPr>
        <p:sp>
          <p:nvSpPr>
            <p:cNvPr id="16" name="Скругленный прямоугольник 15"/>
            <p:cNvSpPr/>
            <p:nvPr/>
          </p:nvSpPr>
          <p:spPr>
            <a:xfrm>
              <a:off x="5993584" y="1308923"/>
              <a:ext cx="1368152" cy="576064"/>
            </a:xfrm>
            <a:prstGeom prst="round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b="1" dirty="0">
                  <a:solidFill>
                    <a:schemeClr val="tx1"/>
                  </a:solidFill>
                </a:rPr>
                <a:t>Генератор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Скругленный прямоугольник 16"/>
            <p:cNvSpPr/>
            <p:nvPr/>
          </p:nvSpPr>
          <p:spPr>
            <a:xfrm>
              <a:off x="4652344" y="1447528"/>
              <a:ext cx="1044945" cy="288032"/>
            </a:xfrm>
            <a:prstGeom prst="round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solidFill>
                    <a:schemeClr val="tx1"/>
                  </a:solidFill>
                </a:rPr>
                <a:t>Калит</a:t>
              </a:r>
              <a:endParaRPr lang="ru-RU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Скругленный прямоугольник 18"/>
            <p:cNvSpPr/>
            <p:nvPr/>
          </p:nvSpPr>
          <p:spPr>
            <a:xfrm>
              <a:off x="4692159" y="2420888"/>
              <a:ext cx="1220724" cy="288032"/>
            </a:xfrm>
            <a:prstGeom prst="round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solidFill>
                    <a:schemeClr val="tx1"/>
                  </a:solidFill>
                </a:rPr>
                <a:t>Очиқ матн</a:t>
              </a:r>
              <a:endParaRPr lang="ru-RU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Скругленный прямоугольник 19"/>
            <p:cNvSpPr/>
            <p:nvPr/>
          </p:nvSpPr>
          <p:spPr>
            <a:xfrm>
              <a:off x="6990847" y="2420888"/>
              <a:ext cx="1303650" cy="288032"/>
            </a:xfrm>
            <a:prstGeom prst="round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solidFill>
                    <a:schemeClr val="tx1"/>
                  </a:solidFill>
                </a:rPr>
                <a:t>Шифр матн</a:t>
              </a:r>
              <a:endParaRPr lang="ru-RU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Прямая со стрелкой 20"/>
            <p:cNvCxnSpPr/>
            <p:nvPr/>
          </p:nvCxnSpPr>
          <p:spPr>
            <a:xfrm flipV="1">
              <a:off x="5697289" y="1591544"/>
              <a:ext cx="279696" cy="8758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Блок-схема: ИЛИ 21"/>
            <p:cNvSpPr/>
            <p:nvPr/>
          </p:nvSpPr>
          <p:spPr>
            <a:xfrm>
              <a:off x="6449276" y="2432653"/>
              <a:ext cx="282964" cy="276267"/>
            </a:xfrm>
            <a:prstGeom prst="flowChartOr">
              <a:avLst/>
            </a:prstGeom>
            <a:grp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23" name="Прямая со стрелкой 22"/>
            <p:cNvCxnSpPr>
              <a:stCxn id="19" idx="3"/>
            </p:cNvCxnSpPr>
            <p:nvPr/>
          </p:nvCxnSpPr>
          <p:spPr>
            <a:xfrm>
              <a:off x="5912883" y="2564904"/>
              <a:ext cx="536393" cy="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 стрелкой 24"/>
            <p:cNvCxnSpPr/>
            <p:nvPr/>
          </p:nvCxnSpPr>
          <p:spPr>
            <a:xfrm flipV="1">
              <a:off x="6732240" y="2570786"/>
              <a:ext cx="258607" cy="2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/>
            <p:cNvCxnSpPr/>
            <p:nvPr/>
          </p:nvCxnSpPr>
          <p:spPr>
            <a:xfrm>
              <a:off x="6590146" y="1891682"/>
              <a:ext cx="0" cy="541312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Скругленный прямоугольник 27"/>
            <p:cNvSpPr/>
            <p:nvPr/>
          </p:nvSpPr>
          <p:spPr>
            <a:xfrm>
              <a:off x="6606226" y="1997288"/>
              <a:ext cx="833519" cy="288032"/>
            </a:xfrm>
            <a:prstGeom prst="roundRect">
              <a:avLst/>
            </a:prstGeom>
            <a:noFill/>
            <a:ln>
              <a:solidFill>
                <a:schemeClr val="accent1">
                  <a:shade val="50000"/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solidFill>
                    <a:schemeClr val="tx1"/>
                  </a:solidFill>
                </a:rPr>
                <a:t>Гамма</a:t>
              </a:r>
              <a:endParaRPr lang="ru-RU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Группа 28"/>
          <p:cNvGrpSpPr>
            <a:grpSpLocks/>
          </p:cNvGrpSpPr>
          <p:nvPr/>
        </p:nvGrpSpPr>
        <p:grpSpPr bwMode="auto">
          <a:xfrm>
            <a:off x="4892675" y="4987925"/>
            <a:ext cx="3856038" cy="1389063"/>
            <a:chOff x="4749288" y="4766658"/>
            <a:chExt cx="3855161" cy="1389584"/>
          </a:xfrm>
        </p:grpSpPr>
        <p:sp>
          <p:nvSpPr>
            <p:cNvPr id="31" name="Скругленный прямоугольник 30"/>
            <p:cNvSpPr/>
            <p:nvPr/>
          </p:nvSpPr>
          <p:spPr>
            <a:xfrm>
              <a:off x="6849073" y="5449539"/>
              <a:ext cx="871339" cy="289033"/>
            </a:xfrm>
            <a:prstGeom prst="roundRect">
              <a:avLst/>
            </a:prstGeom>
            <a:solidFill>
              <a:schemeClr val="tx2">
                <a:lumMod val="40000"/>
                <a:lumOff val="60000"/>
                <a:alpha val="0"/>
              </a:schemeClr>
            </a:solidFill>
            <a:ln>
              <a:solidFill>
                <a:schemeClr val="accent1">
                  <a:shade val="50000"/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solidFill>
                    <a:schemeClr val="tx1"/>
                  </a:solidFill>
                </a:rPr>
                <a:t>Гамма</a:t>
              </a:r>
              <a:endParaRPr lang="ru-RU" sz="1600" b="1" dirty="0">
                <a:solidFill>
                  <a:schemeClr val="tx1"/>
                </a:solidFill>
              </a:endParaRPr>
            </a:p>
          </p:txBody>
        </p:sp>
        <p:grpSp>
          <p:nvGrpSpPr>
            <p:cNvPr id="4" name="Группа 31"/>
            <p:cNvGrpSpPr/>
            <p:nvPr/>
          </p:nvGrpSpPr>
          <p:grpSpPr>
            <a:xfrm>
              <a:off x="4749288" y="4766658"/>
              <a:ext cx="3855161" cy="1389584"/>
              <a:chOff x="4983978" y="4897152"/>
              <a:chExt cx="3767750" cy="1389584"/>
            </a:xfr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</p:grpSpPr>
          <p:sp>
            <p:nvSpPr>
              <p:cNvPr id="33" name="Скругленный прямоугольник 32"/>
              <p:cNvSpPr/>
              <p:nvPr/>
            </p:nvSpPr>
            <p:spPr>
              <a:xfrm>
                <a:off x="4983978" y="4914798"/>
                <a:ext cx="1093490" cy="288032"/>
              </a:xfrm>
              <a:prstGeom prst="roundRect">
                <a:avLst/>
              </a:prstGeom>
              <a:pattFill prst="openDmnd">
                <a:fgClr>
                  <a:schemeClr val="tx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uz-Cyrl-UZ" sz="1600" b="1" dirty="0">
                    <a:solidFill>
                      <a:schemeClr val="tx1"/>
                    </a:solidFill>
                  </a:rPr>
                  <a:t>Калит</a:t>
                </a:r>
                <a:endParaRPr lang="ru-RU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Скругленный прямоугольник 33"/>
              <p:cNvSpPr/>
              <p:nvPr/>
            </p:nvSpPr>
            <p:spPr>
              <a:xfrm>
                <a:off x="6372200" y="4897152"/>
                <a:ext cx="1368152" cy="576064"/>
              </a:xfrm>
              <a:prstGeom prst="roundRect">
                <a:avLst/>
              </a:prstGeom>
              <a:pattFill prst="openDmnd">
                <a:fgClr>
                  <a:schemeClr val="tx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uz-Cyrl-UZ" b="1" dirty="0">
                    <a:solidFill>
                      <a:schemeClr val="tx1"/>
                    </a:solidFill>
                  </a:rPr>
                  <a:t>Генератор</a:t>
                </a:r>
                <a:endParaRPr lang="ru-RU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" name="Прямая со стрелкой 34"/>
              <p:cNvCxnSpPr/>
              <p:nvPr/>
            </p:nvCxnSpPr>
            <p:spPr>
              <a:xfrm>
                <a:off x="6071405" y="5058814"/>
                <a:ext cx="300795" cy="0"/>
              </a:xfrm>
              <a:prstGeom prst="straightConnector1">
                <a:avLst/>
              </a:prstGeom>
              <a:grpFill/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Блок-схема: ИЛИ 35"/>
              <p:cNvSpPr/>
              <p:nvPr/>
            </p:nvSpPr>
            <p:spPr>
              <a:xfrm>
                <a:off x="6912260" y="5998703"/>
                <a:ext cx="300609" cy="276267"/>
              </a:xfrm>
              <a:prstGeom prst="flowChartOr">
                <a:avLst/>
              </a:prstGeom>
              <a:grp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sp>
            <p:nvSpPr>
              <p:cNvPr id="38" name="Скругленный прямоугольник 37"/>
              <p:cNvSpPr/>
              <p:nvPr/>
            </p:nvSpPr>
            <p:spPr>
              <a:xfrm>
                <a:off x="4994082" y="5998704"/>
                <a:ext cx="1224136" cy="288032"/>
              </a:xfrm>
              <a:prstGeom prst="roundRect">
                <a:avLst/>
              </a:prstGeom>
              <a:pattFill prst="openDmnd">
                <a:fgClr>
                  <a:schemeClr val="tx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uz-Cyrl-UZ" sz="1600" b="1" dirty="0">
                    <a:solidFill>
                      <a:schemeClr val="tx1"/>
                    </a:solidFill>
                  </a:rPr>
                  <a:t>Очиқ матн</a:t>
                </a:r>
                <a:endParaRPr lang="ru-RU" sz="16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9" name="Прямая со стрелкой 38"/>
              <p:cNvCxnSpPr/>
              <p:nvPr/>
            </p:nvCxnSpPr>
            <p:spPr>
              <a:xfrm>
                <a:off x="7056276" y="5473216"/>
                <a:ext cx="0" cy="525487"/>
              </a:xfrm>
              <a:prstGeom prst="straightConnector1">
                <a:avLst/>
              </a:prstGeom>
              <a:grpFill/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Прямая со стрелкой 39"/>
              <p:cNvCxnSpPr/>
              <p:nvPr/>
            </p:nvCxnSpPr>
            <p:spPr>
              <a:xfrm flipV="1">
                <a:off x="6221802" y="6136837"/>
                <a:ext cx="690458" cy="5883"/>
              </a:xfrm>
              <a:prstGeom prst="straightConnector1">
                <a:avLst/>
              </a:prstGeom>
              <a:grpFill/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Скругленный прямоугольник 40"/>
              <p:cNvSpPr/>
              <p:nvPr/>
            </p:nvSpPr>
            <p:spPr>
              <a:xfrm>
                <a:off x="7484974" y="5986938"/>
                <a:ext cx="1266754" cy="288032"/>
              </a:xfrm>
              <a:prstGeom prst="roundRect">
                <a:avLst/>
              </a:prstGeom>
              <a:pattFill prst="openDmnd">
                <a:fgClr>
                  <a:schemeClr val="tx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uz-Cyrl-UZ" sz="1600" b="1" dirty="0">
                    <a:solidFill>
                      <a:schemeClr val="tx1"/>
                    </a:solidFill>
                  </a:rPr>
                  <a:t>Шифр матн</a:t>
                </a:r>
                <a:endParaRPr lang="ru-RU" sz="16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Прямая со стрелкой 41"/>
              <p:cNvCxnSpPr>
                <a:endCxn id="41" idx="1"/>
              </p:cNvCxnSpPr>
              <p:nvPr/>
            </p:nvCxnSpPr>
            <p:spPr>
              <a:xfrm>
                <a:off x="7212869" y="6127911"/>
                <a:ext cx="272104" cy="3043"/>
              </a:xfrm>
              <a:prstGeom prst="straightConnector1">
                <a:avLst/>
              </a:prstGeom>
              <a:grpFill/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Прямая со стрелкой 44"/>
              <p:cNvCxnSpPr>
                <a:endCxn id="34" idx="3"/>
              </p:cNvCxnSpPr>
              <p:nvPr/>
            </p:nvCxnSpPr>
            <p:spPr>
              <a:xfrm flipH="1">
                <a:off x="7740352" y="5185184"/>
                <a:ext cx="518749" cy="0"/>
              </a:xfrm>
              <a:prstGeom prst="straightConnector1">
                <a:avLst/>
              </a:prstGeom>
              <a:grpFill/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единительная линия 45"/>
              <p:cNvCxnSpPr/>
              <p:nvPr/>
            </p:nvCxnSpPr>
            <p:spPr>
              <a:xfrm>
                <a:off x="8259101" y="5173078"/>
                <a:ext cx="0" cy="813860"/>
              </a:xfrm>
              <a:prstGeom prst="line">
                <a:avLst/>
              </a:prstGeom>
              <a:grpFill/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Прямая соединительная линия 46"/>
              <p:cNvCxnSpPr/>
              <p:nvPr/>
            </p:nvCxnSpPr>
            <p:spPr>
              <a:xfrm>
                <a:off x="5648946" y="5317094"/>
                <a:ext cx="6269" cy="681609"/>
              </a:xfrm>
              <a:prstGeom prst="line">
                <a:avLst/>
              </a:prstGeom>
              <a:grpFill/>
              <a:ln w="28575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Прямая со стрелкой 47"/>
              <p:cNvCxnSpPr/>
              <p:nvPr/>
            </p:nvCxnSpPr>
            <p:spPr>
              <a:xfrm>
                <a:off x="5648946" y="5317094"/>
                <a:ext cx="723254" cy="0"/>
              </a:xfrm>
              <a:prstGeom prst="straightConnector1">
                <a:avLst/>
              </a:prstGeom>
              <a:grpFill/>
              <a:ln w="28575"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9" name="Прямая со стрелкой 48"/>
          <p:cNvCxnSpPr/>
          <p:nvPr/>
        </p:nvCxnSpPr>
        <p:spPr>
          <a:xfrm>
            <a:off x="4679950" y="1444625"/>
            <a:ext cx="0" cy="112713"/>
          </a:xfrm>
          <a:prstGeom prst="straightConnector1">
            <a:avLst/>
          </a:prstGeom>
          <a:pattFill prst="openDmn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/>
          <p:nvPr/>
        </p:nvCxnSpPr>
        <p:spPr>
          <a:xfrm>
            <a:off x="2808288" y="1557338"/>
            <a:ext cx="4057650" cy="0"/>
          </a:xfrm>
          <a:prstGeom prst="straightConnector1">
            <a:avLst/>
          </a:prstGeom>
          <a:pattFill prst="openDmn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Скругленный прямоугольник 54"/>
          <p:cNvSpPr/>
          <p:nvPr/>
        </p:nvSpPr>
        <p:spPr>
          <a:xfrm>
            <a:off x="738367" y="1772816"/>
            <a:ext cx="3761625" cy="411211"/>
          </a:xfrm>
          <a:prstGeom prst="roundRect">
            <a:avLst>
              <a:gd name="adj" fmla="val 3599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accent1">
                <a:shade val="50000"/>
              </a:schemeClr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nvex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000" b="1" dirty="0">
                <a:solidFill>
                  <a:schemeClr val="tx1"/>
                </a:solidFill>
              </a:rPr>
              <a:t>Синхрон</a:t>
            </a:r>
            <a:endParaRPr lang="ru-RU" sz="2000" b="1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6" name="Скругленный прямоугольник 55"/>
          <p:cNvSpPr/>
          <p:nvPr/>
        </p:nvSpPr>
        <p:spPr>
          <a:xfrm>
            <a:off x="4804779" y="1789270"/>
            <a:ext cx="3761625" cy="411211"/>
          </a:xfrm>
          <a:prstGeom prst="roundRect">
            <a:avLst>
              <a:gd name="adj" fmla="val 3599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accent1">
                <a:shade val="50000"/>
              </a:schemeClr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nvex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000" b="1" dirty="0">
                <a:solidFill>
                  <a:schemeClr val="tx1"/>
                </a:solidFill>
              </a:rPr>
              <a:t>Ўз-ўзидан синхронланувчи</a:t>
            </a:r>
            <a:endParaRPr lang="ru-RU" sz="2000" b="1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747713" y="2185988"/>
            <a:ext cx="3743325" cy="2668587"/>
          </a:xfrm>
          <a:prstGeom prst="rect">
            <a:avLst/>
          </a:prstGeom>
          <a:pattFill prst="dotGri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Синхрон узлуксиз шифрларда  генерация қилинган гамма кетма-кетлик шифрланувчи очиқ матнга боғлиқ бўлмайди.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Синхрон узлуксиз шифрларда ҳосил қилинган шифрматнни узатиш ва қабул қилиш оралиғида бирор бит нотўғри қабул қилинса, бу хатолик бошқа битларга таъсир қилмайди.</a:t>
            </a:r>
            <a:endParaRPr lang="ru-RU" sz="17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4813300" y="2200275"/>
            <a:ext cx="3744913" cy="2668588"/>
          </a:xfrm>
          <a:prstGeom prst="rect">
            <a:avLst/>
          </a:prstGeom>
          <a:pattFill prst="dotGri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Ўз-ўзидан синхронлашувчи узлуксиз шифрлаш тизимларида қўлланилаётган генераторнинг ички ҳолати қабул қилинаётган шифрматнга боғлиқ бўлади.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Ўз-ўзидан синхронлашувчи узлуксизшифрлада  шифр-матннинг бир бити хато қабул қилинган бўлса, шу қабул қилинган битдан кейинги очиқ матн нотўғри дешифрланади.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5" name="Прямая со стрелкой 74"/>
          <p:cNvCxnSpPr/>
          <p:nvPr/>
        </p:nvCxnSpPr>
        <p:spPr>
          <a:xfrm>
            <a:off x="2808288" y="1557338"/>
            <a:ext cx="0" cy="217487"/>
          </a:xfrm>
          <a:prstGeom prst="straightConnector1">
            <a:avLst/>
          </a:prstGeom>
          <a:pattFill prst="openDmn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/>
          <p:cNvCxnSpPr/>
          <p:nvPr/>
        </p:nvCxnSpPr>
        <p:spPr>
          <a:xfrm>
            <a:off x="6856413" y="1557338"/>
            <a:ext cx="0" cy="217487"/>
          </a:xfrm>
          <a:prstGeom prst="straightConnector1">
            <a:avLst/>
          </a:prstGeom>
          <a:pattFill prst="openDmn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Прямоугольник 77"/>
          <p:cNvSpPr/>
          <p:nvPr/>
        </p:nvSpPr>
        <p:spPr>
          <a:xfrm>
            <a:off x="747713" y="2200275"/>
            <a:ext cx="3743325" cy="2524125"/>
          </a:xfrm>
          <a:prstGeom prst="rect">
            <a:avLst/>
          </a:prstGeom>
          <a:pattFill prst="dotGri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RC4 алгоритми</a:t>
            </a: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А5 алгоритми</a:t>
            </a: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SNOW  алгоритми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BMGL </a:t>
            </a: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алгоритми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SOBER </a:t>
            </a: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алгоритми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Lili-128 </a:t>
            </a: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алгоритми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ва бошқалар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9" name="Прямоугольник 78"/>
          <p:cNvSpPr/>
          <p:nvPr/>
        </p:nvSpPr>
        <p:spPr>
          <a:xfrm>
            <a:off x="4813300" y="2208213"/>
            <a:ext cx="3744913" cy="2516187"/>
          </a:xfrm>
          <a:prstGeom prst="rect">
            <a:avLst/>
          </a:prstGeom>
          <a:pattFill prst="dotGri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WAKE  алгоритми</a:t>
            </a: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Маурер схемаси</a:t>
            </a: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SAPPHIRE II</a:t>
            </a: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ва бошқалар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2" grpId="1" animBg="1"/>
      <p:bldP spid="63" grpId="0" animBg="1"/>
      <p:bldP spid="63" grpId="1" animBg="1"/>
      <p:bldP spid="78" grpId="0" animBg="1"/>
      <p:bldP spid="7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163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69264" y="108622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209" name="Скругленный прямоугольник 208"/>
          <p:cNvSpPr/>
          <p:nvPr/>
        </p:nvSpPr>
        <p:spPr>
          <a:xfrm>
            <a:off x="912890" y="332656"/>
            <a:ext cx="7517067" cy="43204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RC4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узлуксиз шифри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1187924" y="924320"/>
            <a:ext cx="6840459" cy="5592235"/>
            <a:chOff x="3759654" y="980727"/>
            <a:chExt cx="5056605" cy="5592235"/>
          </a:xfrm>
          <a:pattFill prst="openDmn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scene3d>
            <a:camera prst="orthographicFront"/>
            <a:lightRig rig="balanced" dir="t"/>
          </a:scene3d>
        </p:grpSpPr>
        <p:grpSp>
          <p:nvGrpSpPr>
            <p:cNvPr id="4" name="Группа 219"/>
            <p:cNvGrpSpPr/>
            <p:nvPr/>
          </p:nvGrpSpPr>
          <p:grpSpPr>
            <a:xfrm>
              <a:off x="3759654" y="980727"/>
              <a:ext cx="5056605" cy="5592235"/>
              <a:chOff x="3759654" y="980727"/>
              <a:chExt cx="5056605" cy="5592235"/>
            </a:xfrm>
            <a:grpFill/>
          </p:grpSpPr>
          <p:grpSp>
            <p:nvGrpSpPr>
              <p:cNvPr id="5" name="Группа 36"/>
              <p:cNvGrpSpPr>
                <a:grpSpLocks/>
              </p:cNvGrpSpPr>
              <p:nvPr/>
            </p:nvGrpSpPr>
            <p:grpSpPr bwMode="auto">
              <a:xfrm>
                <a:off x="3759654" y="980727"/>
                <a:ext cx="4896667" cy="5592235"/>
                <a:chOff x="1418" y="1054"/>
                <a:chExt cx="7846" cy="7733"/>
              </a:xfrm>
              <a:grpFill/>
            </p:grpSpPr>
            <p:cxnSp>
              <p:nvCxnSpPr>
                <p:cNvPr id="38" name="AutoShape 198"/>
                <p:cNvCxnSpPr>
                  <a:cxnSpLocks noChangeShapeType="1"/>
                  <a:stCxn id="56" idx="1"/>
                </p:cNvCxnSpPr>
                <p:nvPr/>
              </p:nvCxnSpPr>
              <p:spPr bwMode="auto">
                <a:xfrm flipH="1" flipV="1">
                  <a:off x="1825" y="8223"/>
                  <a:ext cx="944" cy="13"/>
                </a:xfrm>
                <a:prstGeom prst="straightConnector1">
                  <a:avLst/>
                </a:prstGeom>
                <a:grp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sp3d>
                  <a:bevelT w="171450" prst="coolSlant"/>
                </a:sp3d>
                <a:extLst/>
              </p:spPr>
            </p:cxnSp>
            <p:grpSp>
              <p:nvGrpSpPr>
                <p:cNvPr id="6" name="Group 199"/>
                <p:cNvGrpSpPr>
                  <a:grpSpLocks/>
                </p:cNvGrpSpPr>
                <p:nvPr/>
              </p:nvGrpSpPr>
              <p:grpSpPr bwMode="auto">
                <a:xfrm>
                  <a:off x="1418" y="1054"/>
                  <a:ext cx="7846" cy="7733"/>
                  <a:chOff x="1418" y="1054"/>
                  <a:chExt cx="7846" cy="7733"/>
                </a:xfrm>
                <a:grpFill/>
              </p:grpSpPr>
              <p:cxnSp>
                <p:nvCxnSpPr>
                  <p:cNvPr id="43" name="AutoShape 20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797" y="7562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sp>
                <p:nvSpPr>
                  <p:cNvPr id="44" name="Oval 201"/>
                  <p:cNvSpPr>
                    <a:spLocks noChangeArrowheads="1"/>
                  </p:cNvSpPr>
                  <p:nvPr/>
                </p:nvSpPr>
                <p:spPr bwMode="auto">
                  <a:xfrm>
                    <a:off x="2610" y="1054"/>
                    <a:ext cx="2418" cy="570"/>
                  </a:xfrm>
                  <a:prstGeom prst="ellipse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uz-Cyrl-UZ" sz="1400" b="1" dirty="0">
                        <a:latin typeface="Times New Roman"/>
                        <a:ea typeface="Calibri"/>
                        <a:cs typeface="Times New Roman"/>
                      </a:rPr>
                      <a:t>Бошлаш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45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1418" y="1892"/>
                    <a:ext cx="4605" cy="1195"/>
                  </a:xfrm>
                  <a:prstGeom prst="flowChartInputOutpu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ru-RU" sz="1400" b="1" dirty="0">
                        <a:latin typeface="Times New Roman"/>
                        <a:ea typeface="Calibri"/>
                        <a:cs typeface="Times New Roman"/>
                      </a:rPr>
                      <a:t>ОМ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-</a:t>
                    </a:r>
                    <a:r>
                      <a:rPr lang="ru-RU" sz="1400" b="1" dirty="0">
                        <a:latin typeface="Times New Roman"/>
                        <a:ea typeface="Calibri"/>
                        <a:cs typeface="Times New Roman"/>
                      </a:rPr>
                      <a:t>о</a:t>
                    </a:r>
                    <a:r>
                      <a:rPr lang="uz-Cyrl-UZ" sz="1400" b="1" dirty="0">
                        <a:latin typeface="Times New Roman"/>
                        <a:ea typeface="Calibri"/>
                        <a:cs typeface="Times New Roman"/>
                      </a:rPr>
                      <a:t>чиқ матн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S</a:t>
                    </a:r>
                    <a:r>
                      <a:rPr lang="uz-Cyrl-UZ" sz="1400" b="1" dirty="0">
                        <a:latin typeface="Times New Roman"/>
                        <a:ea typeface="Calibri"/>
                        <a:cs typeface="Times New Roman"/>
                      </a:rPr>
                      <a:t>-блок: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S={S</a:t>
                    </a:r>
                    <a:r>
                      <a:rPr lang="en-US" sz="1400" b="1" baseline="-25000" dirty="0">
                        <a:latin typeface="Times New Roman"/>
                        <a:ea typeface="Calibri"/>
                        <a:cs typeface="Times New Roman"/>
                      </a:rPr>
                      <a:t>0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,S</a:t>
                    </a:r>
                    <a:r>
                      <a:rPr lang="en-US" sz="1400" b="1" baseline="-25000" dirty="0">
                        <a:latin typeface="Times New Roman"/>
                        <a:ea typeface="Calibri"/>
                        <a:cs typeface="Times New Roman"/>
                      </a:rPr>
                      <a:t>1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,…,S</a:t>
                    </a:r>
                    <a:r>
                      <a:rPr lang="en-US" sz="1400" b="1" baseline="-25000" dirty="0">
                        <a:latin typeface="Times New Roman"/>
                        <a:ea typeface="Calibri"/>
                        <a:cs typeface="Times New Roman"/>
                      </a:rPr>
                      <a:t>255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}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K=[K</a:t>
                    </a:r>
                    <a:r>
                      <a:rPr lang="en-US" sz="1400" b="1" baseline="-25000" dirty="0">
                        <a:latin typeface="Times New Roman"/>
                        <a:ea typeface="Calibri"/>
                        <a:cs typeface="Times New Roman"/>
                      </a:rPr>
                      <a:t>1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,K</a:t>
                    </a:r>
                    <a:r>
                      <a:rPr lang="en-US" sz="1400" b="1" baseline="-25000" dirty="0">
                        <a:latin typeface="Times New Roman"/>
                        <a:ea typeface="Calibri"/>
                        <a:cs typeface="Times New Roman"/>
                      </a:rPr>
                      <a:t>2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,…,K</a:t>
                    </a:r>
                    <a:r>
                      <a:rPr lang="en-US" sz="1400" b="1" baseline="-25000" dirty="0">
                        <a:latin typeface="Times New Roman"/>
                        <a:ea typeface="Calibri"/>
                        <a:cs typeface="Times New Roman"/>
                      </a:rPr>
                      <a:t>255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]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47" name="Rectangle 203"/>
                  <p:cNvSpPr>
                    <a:spLocks noChangeArrowheads="1"/>
                  </p:cNvSpPr>
                  <p:nvPr/>
                </p:nvSpPr>
                <p:spPr bwMode="auto">
                  <a:xfrm>
                    <a:off x="2896" y="3205"/>
                    <a:ext cx="1875" cy="776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i=0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j=0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50" name="Rectangle 204"/>
                  <p:cNvSpPr>
                    <a:spLocks noChangeArrowheads="1"/>
                  </p:cNvSpPr>
                  <p:nvPr/>
                </p:nvSpPr>
                <p:spPr bwMode="auto">
                  <a:xfrm>
                    <a:off x="2458" y="4251"/>
                    <a:ext cx="2696" cy="598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j=(</a:t>
                    </a: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j+S</a:t>
                    </a:r>
                    <a:r>
                      <a:rPr lang="en-US" sz="1400" b="1" baseline="-25000" dirty="0" err="1">
                        <a:latin typeface="Times New Roman"/>
                        <a:ea typeface="Calibri"/>
                        <a:cs typeface="Times New Roman"/>
                      </a:rPr>
                      <a:t>i</a:t>
                    </a: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+K</a:t>
                    </a:r>
                    <a:r>
                      <a:rPr lang="en-US" sz="1400" b="1" baseline="-25000" dirty="0" err="1">
                        <a:latin typeface="Times New Roman"/>
                        <a:ea typeface="Calibri"/>
                        <a:cs typeface="Times New Roman"/>
                      </a:rPr>
                      <a:t>i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)mod256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ru-RU" sz="1400" b="1" dirty="0">
                        <a:latin typeface="Times New Roman"/>
                        <a:ea typeface="Calibri"/>
                        <a:cs typeface="Times New Roman"/>
                      </a:rPr>
                      <a:t> 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51" name="Rectangle 205"/>
                  <p:cNvSpPr>
                    <a:spLocks noChangeArrowheads="1"/>
                  </p:cNvSpPr>
                  <p:nvPr/>
                </p:nvSpPr>
                <p:spPr bwMode="auto">
                  <a:xfrm>
                    <a:off x="2882" y="5104"/>
                    <a:ext cx="1840" cy="754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Q=Si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P=</a:t>
                    </a: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Sj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52" name="Rectangle 206"/>
                  <p:cNvSpPr>
                    <a:spLocks noChangeArrowheads="1"/>
                  </p:cNvSpPr>
                  <p:nvPr/>
                </p:nvSpPr>
                <p:spPr bwMode="auto">
                  <a:xfrm>
                    <a:off x="2896" y="6093"/>
                    <a:ext cx="1840" cy="753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Sj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 =Q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Si= P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54" name="Rectangle 207"/>
                  <p:cNvSpPr>
                    <a:spLocks noChangeArrowheads="1"/>
                  </p:cNvSpPr>
                  <p:nvPr/>
                </p:nvSpPr>
                <p:spPr bwMode="auto">
                  <a:xfrm>
                    <a:off x="2896" y="7094"/>
                    <a:ext cx="1840" cy="498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i=i+1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56" name="AutoShape 208"/>
                  <p:cNvSpPr>
                    <a:spLocks noChangeArrowheads="1"/>
                  </p:cNvSpPr>
                  <p:nvPr/>
                </p:nvSpPr>
                <p:spPr bwMode="auto">
                  <a:xfrm>
                    <a:off x="2769" y="7841"/>
                    <a:ext cx="2066" cy="790"/>
                  </a:xfrm>
                  <a:prstGeom prst="flowChartDecision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i&lt;=25</a:t>
                    </a:r>
                    <a:r>
                      <a:rPr lang="uz-Cyrl-UZ" sz="1400" b="1" dirty="0">
                        <a:latin typeface="Times New Roman"/>
                        <a:ea typeface="Calibri"/>
                        <a:cs typeface="Times New Roman"/>
                      </a:rPr>
                      <a:t>5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57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7245" y="2246"/>
                    <a:ext cx="1678" cy="832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i=0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j=0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58" name="Rectangle 210"/>
                  <p:cNvSpPr>
                    <a:spLocks noChangeArrowheads="1"/>
                  </p:cNvSpPr>
                  <p:nvPr/>
                </p:nvSpPr>
                <p:spPr bwMode="auto">
                  <a:xfrm>
                    <a:off x="6876" y="3205"/>
                    <a:ext cx="2388" cy="510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i=(i+1)mod256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ru-RU" sz="1400" b="1" dirty="0">
                        <a:latin typeface="Times New Roman"/>
                        <a:ea typeface="Calibri"/>
                        <a:cs typeface="Times New Roman"/>
                      </a:rPr>
                      <a:t> 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60" name="Rectangle 211"/>
                  <p:cNvSpPr>
                    <a:spLocks noChangeArrowheads="1"/>
                  </p:cNvSpPr>
                  <p:nvPr/>
                </p:nvSpPr>
                <p:spPr bwMode="auto">
                  <a:xfrm>
                    <a:off x="6876" y="3955"/>
                    <a:ext cx="2388" cy="558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j=(</a:t>
                    </a: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j+S</a:t>
                    </a:r>
                    <a:r>
                      <a:rPr lang="en-US" sz="1400" b="1" baseline="-25000" dirty="0" err="1">
                        <a:latin typeface="Times New Roman"/>
                        <a:ea typeface="Calibri"/>
                        <a:cs typeface="Times New Roman"/>
                      </a:rPr>
                      <a:t>i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)mod256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ru-RU" sz="1400" b="1" dirty="0">
                        <a:latin typeface="Times New Roman"/>
                        <a:ea typeface="Calibri"/>
                        <a:cs typeface="Times New Roman"/>
                      </a:rPr>
                      <a:t> 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63" name="Rectangle 212"/>
                  <p:cNvSpPr>
                    <a:spLocks noChangeArrowheads="1"/>
                  </p:cNvSpPr>
                  <p:nvPr/>
                </p:nvSpPr>
                <p:spPr bwMode="auto">
                  <a:xfrm>
                    <a:off x="7245" y="4736"/>
                    <a:ext cx="1678" cy="745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Q=Si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P=</a:t>
                    </a: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Sj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65" name="Rectangle 213"/>
                  <p:cNvSpPr>
                    <a:spLocks noChangeArrowheads="1"/>
                  </p:cNvSpPr>
                  <p:nvPr/>
                </p:nvSpPr>
                <p:spPr bwMode="auto">
                  <a:xfrm>
                    <a:off x="7244" y="5725"/>
                    <a:ext cx="1679" cy="736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Sj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 =Q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Si= P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66" name="Rectangle 214"/>
                  <p:cNvSpPr>
                    <a:spLocks noChangeArrowheads="1"/>
                  </p:cNvSpPr>
                  <p:nvPr/>
                </p:nvSpPr>
                <p:spPr bwMode="auto">
                  <a:xfrm>
                    <a:off x="6876" y="6636"/>
                    <a:ext cx="2388" cy="570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t=(</a:t>
                    </a: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Si+Sj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)mod256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ru-RU" sz="1400" b="1" dirty="0">
                        <a:latin typeface="Times New Roman"/>
                        <a:ea typeface="Calibri"/>
                        <a:cs typeface="Times New Roman"/>
                      </a:rPr>
                      <a:t> 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68" name="Rectangle 215"/>
                  <p:cNvSpPr>
                    <a:spLocks noChangeArrowheads="1"/>
                  </p:cNvSpPr>
                  <p:nvPr/>
                </p:nvSpPr>
                <p:spPr bwMode="auto">
                  <a:xfrm>
                    <a:off x="6876" y="7405"/>
                    <a:ext cx="2388" cy="537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>
                        <a:latin typeface="Times New Roman"/>
                        <a:ea typeface="Calibri"/>
                        <a:cs typeface="Times New Roman"/>
                      </a:rPr>
                      <a:t>K=St</a:t>
                    </a:r>
                    <a:endParaRPr lang="ru-RU" sz="1400" b="1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cxnSp>
                <p:nvCxnSpPr>
                  <p:cNvPr id="69" name="AutoShape 216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830" y="1624"/>
                    <a:ext cx="1" cy="268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0" name="AutoShape 217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3797" y="3087"/>
                    <a:ext cx="0" cy="190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1" name="AutoShape 21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801" y="3981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2" name="AutoShape 219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801" y="4849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3" name="AutoShape 22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797" y="5858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5" name="AutoShape 22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814" y="6846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7" name="AutoShape 222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1825" y="4119"/>
                    <a:ext cx="0" cy="4107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8" name="AutoShape 223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825" y="4119"/>
                    <a:ext cx="1976" cy="0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9" name="AutoShape 224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806" y="8631"/>
                    <a:ext cx="0" cy="156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80" name="AutoShape 22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797" y="8787"/>
                    <a:ext cx="2599" cy="0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81" name="AutoShape 226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6396" y="1154"/>
                    <a:ext cx="0" cy="763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82" name="AutoShape 227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396" y="1154"/>
                    <a:ext cx="1666" cy="0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83" name="AutoShape 22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084" y="1995"/>
                    <a:ext cx="0" cy="251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86" name="AutoShape 229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062" y="2952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91" name="AutoShape 23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117" y="3715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92" name="AutoShape 23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112" y="4483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93" name="AutoShape 232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093" y="5472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94" name="AutoShape 233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093" y="6478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95" name="AutoShape 234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112" y="7174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96" name="AutoShape 23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117" y="7847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sp>
                <p:nvSpPr>
                  <p:cNvPr id="98" name="AutoShape 237"/>
                  <p:cNvSpPr>
                    <a:spLocks noChangeArrowheads="1"/>
                  </p:cNvSpPr>
                  <p:nvPr/>
                </p:nvSpPr>
                <p:spPr bwMode="auto">
                  <a:xfrm>
                    <a:off x="6876" y="8100"/>
                    <a:ext cx="2388" cy="531"/>
                  </a:xfrm>
                  <a:prstGeom prst="flowChartInputOutpu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C=M </a:t>
                    </a:r>
                    <a:r>
                      <a:rPr lang="en-US" sz="1400" b="1" dirty="0">
                        <a:latin typeface="Cambria Math"/>
                        <a:ea typeface="Cambria Math"/>
                        <a:cs typeface="Times New Roman"/>
                      </a:rPr>
                      <a:t>⊕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 St    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ru-RU" sz="1400" b="1" dirty="0">
                        <a:latin typeface="Times New Roman"/>
                        <a:ea typeface="Calibri"/>
                        <a:cs typeface="Times New Roman"/>
                      </a:rPr>
                      <a:t> 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cxnSp>
                <p:nvCxnSpPr>
                  <p:cNvPr id="206" name="AutoShape 22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062" y="1154"/>
                    <a:ext cx="5" cy="298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</p:grpSp>
          </p:grpSp>
          <p:sp>
            <p:nvSpPr>
              <p:cNvPr id="203" name="AutoShape 287"/>
              <p:cNvSpPr>
                <a:spLocks noChangeArrowheads="1"/>
              </p:cNvSpPr>
              <p:nvPr/>
            </p:nvSpPr>
            <p:spPr bwMode="auto">
              <a:xfrm>
                <a:off x="7006448" y="1268547"/>
                <a:ext cx="1809811" cy="483435"/>
              </a:xfrm>
              <a:prstGeom prst="parallelogram">
                <a:avLst>
                  <a:gd name="adj" fmla="val 86751"/>
                </a:avLst>
              </a:prstGeom>
              <a:grp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sp3d>
                <a:bevelT w="171450" prst="coolSlant"/>
              </a:sp3d>
            </p:spPr>
            <p:txBody>
              <a:bodyPr upright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b="1" dirty="0">
                    <a:latin typeface="Times New Roman"/>
                    <a:ea typeface="Calibri"/>
                    <a:cs typeface="Times New Roman"/>
                  </a:rPr>
                  <a:t>S</a:t>
                </a:r>
                <a:r>
                  <a:rPr lang="en-US" sz="1400" b="1" baseline="30000" dirty="0">
                    <a:latin typeface="Times New Roman"/>
                    <a:ea typeface="Calibri"/>
                    <a:cs typeface="Times New Roman"/>
                  </a:rPr>
                  <a:t>’</a:t>
                </a:r>
                <a:r>
                  <a:rPr lang="en-US" sz="1400" b="1" dirty="0">
                    <a:latin typeface="Times New Roman"/>
                    <a:ea typeface="Calibri"/>
                    <a:cs typeface="Times New Roman"/>
                  </a:rPr>
                  <a:t>={S</a:t>
                </a:r>
                <a:r>
                  <a:rPr lang="en-US" sz="1400" b="1" baseline="-25000" dirty="0">
                    <a:latin typeface="Times New Roman"/>
                    <a:ea typeface="Calibri"/>
                    <a:cs typeface="Times New Roman"/>
                  </a:rPr>
                  <a:t>0</a:t>
                </a:r>
                <a:r>
                  <a:rPr lang="en-US" sz="1400" b="1" dirty="0">
                    <a:latin typeface="Times New Roman"/>
                    <a:ea typeface="Calibri"/>
                    <a:cs typeface="Times New Roman"/>
                  </a:rPr>
                  <a:t>,S</a:t>
                </a:r>
                <a:r>
                  <a:rPr lang="en-US" sz="1400" b="1" baseline="-25000" dirty="0">
                    <a:latin typeface="Times New Roman"/>
                    <a:ea typeface="Calibri"/>
                    <a:cs typeface="Times New Roman"/>
                  </a:rPr>
                  <a:t>1</a:t>
                </a:r>
                <a:r>
                  <a:rPr lang="en-US" sz="1400" b="1" dirty="0">
                    <a:latin typeface="Times New Roman"/>
                    <a:ea typeface="Calibri"/>
                    <a:cs typeface="Times New Roman"/>
                  </a:rPr>
                  <a:t>,…,S</a:t>
                </a:r>
                <a:r>
                  <a:rPr lang="en-US" sz="1400" b="1" baseline="-25000" dirty="0">
                    <a:latin typeface="Times New Roman"/>
                    <a:ea typeface="Calibri"/>
                    <a:cs typeface="Times New Roman"/>
                  </a:rPr>
                  <a:t>255</a:t>
                </a:r>
                <a:r>
                  <a:rPr lang="en-US" sz="1400" b="1" dirty="0">
                    <a:latin typeface="Times New Roman"/>
                    <a:ea typeface="Calibri"/>
                    <a:cs typeface="Times New Roman"/>
                  </a:rPr>
                  <a:t>}</a:t>
                </a:r>
                <a:endParaRPr lang="ru-RU" sz="1400" b="1" dirty="0">
                  <a:latin typeface="Calibri"/>
                  <a:ea typeface="Calibri"/>
                  <a:cs typeface="Times New Roman"/>
                </a:endParaRPr>
              </a:p>
            </p:txBody>
          </p:sp>
        </p:grpSp>
        <p:sp>
          <p:nvSpPr>
            <p:cNvPr id="2" name="Прямоугольник 1"/>
            <p:cNvSpPr/>
            <p:nvPr/>
          </p:nvSpPr>
          <p:spPr>
            <a:xfrm>
              <a:off x="4346292" y="5933679"/>
              <a:ext cx="264817" cy="187300"/>
            </a:xfrm>
            <a:prstGeom prst="rect">
              <a:avLst/>
            </a:prstGeom>
            <a:noFill/>
            <a:ln>
              <a:noFill/>
            </a:ln>
            <a:sp3d>
              <a:bevelT w="17145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400" dirty="0">
                  <a:solidFill>
                    <a:schemeClr val="tx1"/>
                  </a:solidFill>
                </a:rPr>
                <a:t>ҳа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53" name="Прямоугольник 52"/>
            <p:cNvSpPr/>
            <p:nvPr/>
          </p:nvSpPr>
          <p:spPr>
            <a:xfrm>
              <a:off x="5462785" y="6350604"/>
              <a:ext cx="415578" cy="222358"/>
            </a:xfrm>
            <a:prstGeom prst="rect">
              <a:avLst/>
            </a:prstGeom>
            <a:noFill/>
            <a:ln>
              <a:noFill/>
            </a:ln>
            <a:sp3d>
              <a:bevelT w="17145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400" dirty="0">
                  <a:solidFill>
                    <a:schemeClr val="tx1"/>
                  </a:solidFill>
                </a:rPr>
                <a:t>йўқ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163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67951" y="116632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100" dirty="0"/>
          </a:p>
        </p:txBody>
      </p:sp>
      <p:sp>
        <p:nvSpPr>
          <p:cNvPr id="84" name="Скругленный прямоугольник 83"/>
          <p:cNvSpPr/>
          <p:nvPr/>
        </p:nvSpPr>
        <p:spPr>
          <a:xfrm>
            <a:off x="912890" y="332656"/>
            <a:ext cx="7517067" cy="43204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А5 узлуксиз шифри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1628775"/>
            <a:ext cx="5041900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Прямоугольник с двумя вырезанными противолежащими углами 8"/>
          <p:cNvSpPr/>
          <p:nvPr/>
        </p:nvSpPr>
        <p:spPr>
          <a:xfrm>
            <a:off x="373832" y="980728"/>
            <a:ext cx="3384376" cy="5564030"/>
          </a:xfrm>
          <a:prstGeom prst="snip2DiagRect">
            <a:avLst>
              <a:gd name="adj1" fmla="val 0"/>
              <a:gd name="adj2" fmla="val 11538"/>
            </a:avLst>
          </a:prstGeom>
          <a:solidFill>
            <a:schemeClr val="bg1"/>
          </a:solid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balanced" dir="t">
              <a:rot lat="0" lon="0" rev="8700000"/>
            </a:lightRig>
          </a:scene3d>
          <a:sp3d>
            <a:bevelT w="1905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А5 алгоритми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тузилиш струк-тураси қуйидаги кўринишда бўлади: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Учта регистр </a:t>
            </a:r>
            <a:r>
              <a:rPr lang="ru-RU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(R1, R2, R3)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мос равишда 19, 22, 23 бит узунликка ега;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Тескари алоқа кўпхадлари: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19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18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+1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R1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учун</a:t>
            </a:r>
            <a:r>
              <a:rPr lang="ru-RU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285750" indent="-2857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22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21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+1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 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</a:t>
            </a:r>
            <a:r>
              <a:rPr lang="ru-RU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 учун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285750" indent="-2857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22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21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+1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 учун</a:t>
            </a:r>
            <a:r>
              <a:rPr lang="ru-RU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Тактлашни бошқариш махсус механизм орқали амалга оширилади: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Ҳар бир регистрда синхронлаш бити мавжуд бўлади: 8 (R1), 10 (R2), 10 (R3);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 = x˄y˅x˄z˅y˄z 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функция хисобланади, бу ерда x, y, z – R1, R2 и R3 га мос синхронлаш битлари;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Фақатгина синхронлаш бити F га тенг бўлган регистрлар силжийди;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 Системанинг чиқиш бити – регистр чиқиш битлари устида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XOR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амали бажаришдан хосил бўлади.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912813" y="2492375"/>
            <a:ext cx="1787525" cy="649288"/>
          </a:xfrm>
          <a:prstGeom prst="rect">
            <a:avLst/>
          </a:prstGeom>
          <a:solidFill>
            <a:schemeClr val="accent1">
              <a:alpha val="0"/>
            </a:schemeClr>
          </a:solidFill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912813" y="4221163"/>
            <a:ext cx="1787525" cy="2159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163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73894" y="116632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84" name="Скругленный прямоугольник 83"/>
          <p:cNvSpPr/>
          <p:nvPr/>
        </p:nvSpPr>
        <p:spPr>
          <a:xfrm>
            <a:off x="912890" y="332656"/>
            <a:ext cx="7517067" cy="43204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WAKE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узлуксиз шифри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Группа 8"/>
          <p:cNvGrpSpPr/>
          <p:nvPr/>
        </p:nvGrpSpPr>
        <p:grpSpPr>
          <a:xfrm>
            <a:off x="4812618" y="1541546"/>
            <a:ext cx="3689180" cy="3845389"/>
            <a:chOff x="10478" y="0"/>
            <a:chExt cx="3374979" cy="2797085"/>
          </a:xfrm>
          <a:pattFill prst="pct20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</p:grpSpPr>
        <p:sp>
          <p:nvSpPr>
            <p:cNvPr id="10" name="Прямоугольник 9"/>
            <p:cNvSpPr/>
            <p:nvPr/>
          </p:nvSpPr>
          <p:spPr>
            <a:xfrm>
              <a:off x="979715" y="293915"/>
              <a:ext cx="685800" cy="250371"/>
            </a:xfrm>
            <a:prstGeom prst="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D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979715" y="914400"/>
              <a:ext cx="685800" cy="250371"/>
            </a:xfrm>
            <a:prstGeom prst="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C</a:t>
              </a:r>
              <a:endParaRPr lang="ru-RU" sz="1400">
                <a:ea typeface="Calibri"/>
                <a:cs typeface="Times New Roman"/>
              </a:endParaRPr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978135" y="1496386"/>
              <a:ext cx="685800" cy="243870"/>
            </a:xfrm>
            <a:prstGeom prst="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endParaRPr lang="uz-Cyrl-UZ" sz="14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endParaRPr>
            </a:p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B</a:t>
              </a:r>
              <a:endParaRPr lang="ru-RU" sz="1400" dirty="0">
                <a:ea typeface="Calibri"/>
                <a:cs typeface="Times New Roman"/>
              </a:endParaRPr>
            </a:p>
            <a:p>
              <a:pPr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 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979715" y="2155372"/>
              <a:ext cx="685800" cy="250371"/>
            </a:xfrm>
            <a:prstGeom prst="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A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2329543" y="794657"/>
              <a:ext cx="445770" cy="402590"/>
            </a:xfrm>
            <a:prstGeom prst="ellipse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M 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2329543" y="152400"/>
              <a:ext cx="445770" cy="402590"/>
            </a:xfrm>
            <a:prstGeom prst="ellipse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M 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2329543" y="1404257"/>
              <a:ext cx="445770" cy="402590"/>
            </a:xfrm>
            <a:prstGeom prst="ellipse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M 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18" name="Овал 17"/>
            <p:cNvSpPr/>
            <p:nvPr/>
          </p:nvSpPr>
          <p:spPr>
            <a:xfrm>
              <a:off x="2329543" y="2046515"/>
              <a:ext cx="445770" cy="402590"/>
            </a:xfrm>
            <a:prstGeom prst="ellipse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M 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cxnSp>
          <p:nvCxnSpPr>
            <p:cNvPr id="19" name="Прямая со стрелкой 18"/>
            <p:cNvCxnSpPr/>
            <p:nvPr/>
          </p:nvCxnSpPr>
          <p:spPr>
            <a:xfrm>
              <a:off x="1665515" y="391886"/>
              <a:ext cx="663575" cy="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/>
            <p:nvPr/>
          </p:nvCxnSpPr>
          <p:spPr>
            <a:xfrm>
              <a:off x="1665515" y="1012372"/>
              <a:ext cx="663575" cy="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 стрелкой 20"/>
            <p:cNvCxnSpPr/>
            <p:nvPr/>
          </p:nvCxnSpPr>
          <p:spPr>
            <a:xfrm>
              <a:off x="1665515" y="1600200"/>
              <a:ext cx="663575" cy="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/>
            <p:cNvCxnSpPr>
              <a:stCxn id="23" idx="6"/>
            </p:cNvCxnSpPr>
            <p:nvPr/>
          </p:nvCxnSpPr>
          <p:spPr>
            <a:xfrm>
              <a:off x="685838" y="2688500"/>
              <a:ext cx="2699619" cy="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Блок-схема: ИЛИ 22"/>
            <p:cNvSpPr/>
            <p:nvPr/>
          </p:nvSpPr>
          <p:spPr>
            <a:xfrm>
              <a:off x="371821" y="2579915"/>
              <a:ext cx="314017" cy="217170"/>
            </a:xfrm>
            <a:prstGeom prst="flowChartOr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400"/>
            </a:p>
          </p:txBody>
        </p:sp>
        <p:cxnSp>
          <p:nvCxnSpPr>
            <p:cNvPr id="24" name="Прямая соединительная линия 23"/>
            <p:cNvCxnSpPr/>
            <p:nvPr/>
          </p:nvCxnSpPr>
          <p:spPr>
            <a:xfrm flipV="1">
              <a:off x="2547257" y="0"/>
              <a:ext cx="0" cy="140970"/>
            </a:xfrm>
            <a:prstGeom prst="line">
              <a:avLst/>
            </a:prstGeom>
            <a:grpFill/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/>
            <p:nvPr/>
          </p:nvCxnSpPr>
          <p:spPr>
            <a:xfrm>
              <a:off x="1295400" y="0"/>
              <a:ext cx="1251585" cy="1"/>
            </a:xfrm>
            <a:prstGeom prst="line">
              <a:avLst/>
            </a:prstGeom>
            <a:grpFill/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/>
            <p:cNvCxnSpPr/>
            <p:nvPr/>
          </p:nvCxnSpPr>
          <p:spPr>
            <a:xfrm>
              <a:off x="1306286" y="0"/>
              <a:ext cx="0" cy="293915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единительная линия 26"/>
            <p:cNvCxnSpPr/>
            <p:nvPr/>
          </p:nvCxnSpPr>
          <p:spPr>
            <a:xfrm>
              <a:off x="517072" y="419101"/>
              <a:ext cx="462371" cy="5442"/>
            </a:xfrm>
            <a:prstGeom prst="line">
              <a:avLst/>
            </a:prstGeom>
            <a:grpFill/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/>
            <p:cNvCxnSpPr/>
            <p:nvPr/>
          </p:nvCxnSpPr>
          <p:spPr>
            <a:xfrm>
              <a:off x="528829" y="424543"/>
              <a:ext cx="0" cy="2155372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 стрелкой 28"/>
            <p:cNvCxnSpPr/>
            <p:nvPr/>
          </p:nvCxnSpPr>
          <p:spPr>
            <a:xfrm>
              <a:off x="1665515" y="2286000"/>
              <a:ext cx="663575" cy="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 стрелкой 29"/>
            <p:cNvCxnSpPr/>
            <p:nvPr/>
          </p:nvCxnSpPr>
          <p:spPr>
            <a:xfrm flipV="1">
              <a:off x="2547257" y="544286"/>
              <a:ext cx="0" cy="25019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/>
            <p:cNvCxnSpPr/>
            <p:nvPr/>
          </p:nvCxnSpPr>
          <p:spPr>
            <a:xfrm flipV="1">
              <a:off x="2536372" y="1197429"/>
              <a:ext cx="0" cy="206921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/>
            <p:cNvCxnSpPr/>
            <p:nvPr/>
          </p:nvCxnSpPr>
          <p:spPr>
            <a:xfrm flipV="1">
              <a:off x="2558143" y="1807029"/>
              <a:ext cx="0" cy="239395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32"/>
            <p:cNvCxnSpPr/>
            <p:nvPr/>
          </p:nvCxnSpPr>
          <p:spPr>
            <a:xfrm flipV="1">
              <a:off x="2558143" y="2449286"/>
              <a:ext cx="0" cy="239395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/>
            <p:nvPr/>
          </p:nvCxnSpPr>
          <p:spPr>
            <a:xfrm>
              <a:off x="1306286" y="696686"/>
              <a:ext cx="1229360" cy="0"/>
            </a:xfrm>
            <a:prstGeom prst="line">
              <a:avLst/>
            </a:prstGeom>
            <a:grpFill/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/>
            <p:cNvCxnSpPr/>
            <p:nvPr/>
          </p:nvCxnSpPr>
          <p:spPr>
            <a:xfrm>
              <a:off x="1295400" y="1328057"/>
              <a:ext cx="1240246" cy="0"/>
            </a:xfrm>
            <a:prstGeom prst="line">
              <a:avLst/>
            </a:prstGeom>
            <a:grpFill/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/>
            <p:nvPr/>
          </p:nvCxnSpPr>
          <p:spPr>
            <a:xfrm>
              <a:off x="1295400" y="1959429"/>
              <a:ext cx="1251585" cy="1"/>
            </a:xfrm>
            <a:prstGeom prst="line">
              <a:avLst/>
            </a:prstGeom>
            <a:grpFill/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 стрелкой 36"/>
            <p:cNvCxnSpPr/>
            <p:nvPr/>
          </p:nvCxnSpPr>
          <p:spPr>
            <a:xfrm>
              <a:off x="1306286" y="696686"/>
              <a:ext cx="8164" cy="217714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 стрелкой 37"/>
            <p:cNvCxnSpPr/>
            <p:nvPr/>
          </p:nvCxnSpPr>
          <p:spPr>
            <a:xfrm>
              <a:off x="1296759" y="1328057"/>
              <a:ext cx="0" cy="168329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/>
            <p:cNvCxnSpPr/>
            <p:nvPr/>
          </p:nvCxnSpPr>
          <p:spPr>
            <a:xfrm>
              <a:off x="1295400" y="1959429"/>
              <a:ext cx="0" cy="195943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39"/>
            <p:cNvCxnSpPr/>
            <p:nvPr/>
          </p:nvCxnSpPr>
          <p:spPr>
            <a:xfrm>
              <a:off x="46066" y="2694078"/>
              <a:ext cx="325755" cy="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Прямоугольник 40"/>
            <p:cNvSpPr/>
            <p:nvPr/>
          </p:nvSpPr>
          <p:spPr>
            <a:xfrm>
              <a:off x="517072" y="2286045"/>
              <a:ext cx="228600" cy="239395"/>
            </a:xfrm>
            <a:prstGeom prst="rect">
              <a:avLst/>
            </a:prstGeom>
            <a:noFill/>
            <a:ln w="28575">
              <a:solidFill>
                <a:schemeClr val="tx1"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K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42" name="Прямоугольник 41"/>
            <p:cNvSpPr/>
            <p:nvPr/>
          </p:nvSpPr>
          <p:spPr>
            <a:xfrm>
              <a:off x="10478" y="2473794"/>
              <a:ext cx="228600" cy="179643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P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43" name="Прямоугольник 42"/>
            <p:cNvSpPr/>
            <p:nvPr/>
          </p:nvSpPr>
          <p:spPr>
            <a:xfrm>
              <a:off x="3077358" y="2454781"/>
              <a:ext cx="228600" cy="217668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C</a:t>
              </a:r>
              <a:endParaRPr lang="ru-RU" sz="1400" dirty="0">
                <a:ea typeface="Calibri"/>
                <a:cs typeface="Times New Roman"/>
              </a:endParaRPr>
            </a:p>
          </p:txBody>
        </p:sp>
      </p:grpSp>
      <p:sp>
        <p:nvSpPr>
          <p:cNvPr id="44" name="Прямоугольник с двумя вырезанными противолежащими углами 4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5027" y="980728"/>
            <a:ext cx="4054152" cy="5492022"/>
          </a:xfrm>
          <a:prstGeom prst="snip2DiagRect">
            <a:avLst>
              <a:gd name="adj1" fmla="val 0"/>
              <a:gd name="adj2" fmla="val 8391"/>
            </a:avLst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noFill/>
                <a:latin typeface="+mn-lt"/>
              </a:rPr>
              <a:t> </a:t>
            </a:r>
          </a:p>
        </p:txBody>
      </p:sp>
      <p:sp>
        <p:nvSpPr>
          <p:cNvPr id="45" name="Прямоугольник 44"/>
          <p:cNvSpPr/>
          <p:nvPr/>
        </p:nvSpPr>
        <p:spPr>
          <a:xfrm>
            <a:off x="1835150" y="4354513"/>
            <a:ext cx="1787525" cy="114776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47" name="Прямоугольник 46"/>
          <p:cNvSpPr/>
          <p:nvPr/>
        </p:nvSpPr>
        <p:spPr>
          <a:xfrm>
            <a:off x="1014413" y="6029325"/>
            <a:ext cx="3197225" cy="35242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163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73894" y="116632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84" name="Скругленный прямоугольник 83"/>
          <p:cNvSpPr/>
          <p:nvPr/>
        </p:nvSpPr>
        <p:spPr>
          <a:xfrm>
            <a:off x="912890" y="332656"/>
            <a:ext cx="7517067" cy="43204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SAPPHIRE II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узлуксиз шифри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Группа 43"/>
          <p:cNvGrpSpPr>
            <a:grpSpLocks/>
          </p:cNvGrpSpPr>
          <p:nvPr/>
        </p:nvGrpSpPr>
        <p:grpSpPr bwMode="auto">
          <a:xfrm>
            <a:off x="4225925" y="1128713"/>
            <a:ext cx="4846638" cy="4941887"/>
            <a:chOff x="76200" y="0"/>
            <a:chExt cx="5657409" cy="4942114"/>
          </a:xfrm>
        </p:grpSpPr>
        <p:sp>
          <p:nvSpPr>
            <p:cNvPr id="45" name="Прямоугольник 44"/>
            <p:cNvSpPr/>
            <p:nvPr/>
          </p:nvSpPr>
          <p:spPr>
            <a:xfrm>
              <a:off x="3311652" y="392130"/>
              <a:ext cx="882059" cy="265125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>
              <a:solidFill>
                <a:schemeClr val="tx1"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200" b="1" i="1" dirty="0">
                  <a:solidFill>
                    <a:srgbClr val="000000"/>
                  </a:solidFill>
                  <a:ea typeface="Calibri"/>
                  <a:cs typeface="Times New Roman"/>
                </a:rPr>
                <a:t>S -</a:t>
              </a:r>
              <a:r>
                <a:rPr lang="ru-RU" sz="1200" b="1" i="1" dirty="0">
                  <a:solidFill>
                    <a:srgbClr val="000000"/>
                  </a:solidFill>
                  <a:ea typeface="Calibri"/>
                  <a:cs typeface="Times New Roman"/>
                </a:rPr>
                <a:t>блок</a:t>
              </a:r>
              <a:endParaRPr lang="ru-RU" sz="1200" dirty="0">
                <a:ea typeface="Calibri"/>
                <a:cs typeface="Times New Roman"/>
              </a:endParaRPr>
            </a:p>
          </p:txBody>
        </p:sp>
        <p:grpSp>
          <p:nvGrpSpPr>
            <p:cNvPr id="17424" name="Группа 45"/>
            <p:cNvGrpSpPr>
              <a:grpSpLocks/>
            </p:cNvGrpSpPr>
            <p:nvPr/>
          </p:nvGrpSpPr>
          <p:grpSpPr bwMode="auto">
            <a:xfrm>
              <a:off x="76200" y="0"/>
              <a:ext cx="5657409" cy="4942114"/>
              <a:chOff x="76200" y="0"/>
              <a:chExt cx="5657409" cy="4942114"/>
            </a:xfrm>
          </p:grpSpPr>
          <p:sp>
            <p:nvSpPr>
              <p:cNvPr id="47" name="Прямоугольник 46"/>
              <p:cNvSpPr/>
              <p:nvPr/>
            </p:nvSpPr>
            <p:spPr>
              <a:xfrm>
                <a:off x="1447800" y="2667000"/>
                <a:ext cx="1095375" cy="287020"/>
              </a:xfrm>
              <a:prstGeom prst="rect">
                <a:avLst/>
              </a:prstGeom>
              <a:pattFill prst="openDmnd">
                <a:fgClr>
                  <a:schemeClr val="tx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28575"/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defRPr/>
                </a:pPr>
                <a:r>
                  <a:rPr lang="en-US" sz="1100" b="1">
                    <a:solidFill>
                      <a:srgbClr val="000000"/>
                    </a:solidFill>
                    <a:ea typeface="Calibri"/>
                    <a:cs typeface="Times New Roman"/>
                  </a:rPr>
                  <a:t>avalanche</a:t>
                </a:r>
                <a:endParaRPr lang="ru-RU" sz="1100">
                  <a:ea typeface="Calibri"/>
                  <a:cs typeface="Times New Roman"/>
                </a:endParaRPr>
              </a:p>
            </p:txBody>
          </p:sp>
          <p:grpSp>
            <p:nvGrpSpPr>
              <p:cNvPr id="17428" name="Группа 47"/>
              <p:cNvGrpSpPr>
                <a:grpSpLocks/>
              </p:cNvGrpSpPr>
              <p:nvPr/>
            </p:nvGrpSpPr>
            <p:grpSpPr bwMode="auto">
              <a:xfrm>
                <a:off x="76200" y="0"/>
                <a:ext cx="5657409" cy="4942114"/>
                <a:chOff x="76200" y="0"/>
                <a:chExt cx="5657409" cy="4942114"/>
              </a:xfrm>
            </p:grpSpPr>
            <p:cxnSp>
              <p:nvCxnSpPr>
                <p:cNvPr id="49" name="Прямая соединительная линия 48"/>
                <p:cNvCxnSpPr/>
                <p:nvPr/>
              </p:nvCxnSpPr>
              <p:spPr>
                <a:xfrm>
                  <a:off x="3146730" y="4538870"/>
                  <a:ext cx="2093964" cy="1588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7430" name="Группа 49"/>
                <p:cNvGrpSpPr>
                  <a:grpSpLocks/>
                </p:cNvGrpSpPr>
                <p:nvPr/>
              </p:nvGrpSpPr>
              <p:grpSpPr bwMode="auto">
                <a:xfrm>
                  <a:off x="76200" y="0"/>
                  <a:ext cx="5657409" cy="4942114"/>
                  <a:chOff x="76200" y="0"/>
                  <a:chExt cx="5657409" cy="4942114"/>
                </a:xfrm>
              </p:grpSpPr>
              <p:sp>
                <p:nvSpPr>
                  <p:cNvPr id="51" name="Прямоугольник 50"/>
                  <p:cNvSpPr/>
                  <p:nvPr/>
                </p:nvSpPr>
                <p:spPr>
                  <a:xfrm>
                    <a:off x="3320143" y="685800"/>
                    <a:ext cx="952500" cy="3721100"/>
                  </a:xfrm>
                  <a:prstGeom prst="rect">
                    <a:avLst/>
                  </a:prstGeom>
                  <a:pattFill prst="openDmnd">
                    <a:fgClr>
                      <a:schemeClr val="tx2">
                        <a:lumMod val="20000"/>
                        <a:lumOff val="80000"/>
                      </a:schemeClr>
                    </a:fgClr>
                    <a:bgClr>
                      <a:schemeClr val="bg1"/>
                    </a:bgClr>
                  </a:pattFill>
                  <a:ln w="28575"/>
                  <a:scene3d>
                    <a:camera prst="orthographicFront"/>
                    <a:lightRig rig="threePt" dir="t"/>
                  </a:scene3d>
                  <a:sp3d>
                    <a:bevelT prst="convex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  <a:defRPr/>
                    </a:pPr>
                    <a:r>
                      <a:rPr lang="en-US" sz="1100">
                        <a:solidFill>
                          <a:srgbClr val="000000"/>
                        </a:solidFill>
                        <a:ea typeface="Calibri"/>
                        <a:cs typeface="Times New Roman"/>
                      </a:rPr>
                      <a:t> </a:t>
                    </a:r>
                    <a:endParaRPr lang="ru-RU" sz="1100">
                      <a:ea typeface="Calibri"/>
                      <a:cs typeface="Times New Roman"/>
                    </a:endParaRPr>
                  </a:p>
                </p:txBody>
              </p:sp>
              <p:cxnSp>
                <p:nvCxnSpPr>
                  <p:cNvPr id="52" name="Прямая соединительная линия 51"/>
                  <p:cNvCxnSpPr/>
                  <p:nvPr/>
                </p:nvCxnSpPr>
                <p:spPr>
                  <a:xfrm>
                    <a:off x="3320918" y="881102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Прямая соединительная линия 52"/>
                  <p:cNvCxnSpPr/>
                  <p:nvPr/>
                </p:nvCxnSpPr>
                <p:spPr>
                  <a:xfrm>
                    <a:off x="3320918" y="1055735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Прямая соединительная линия 53"/>
                  <p:cNvCxnSpPr/>
                  <p:nvPr/>
                </p:nvCxnSpPr>
                <p:spPr>
                  <a:xfrm>
                    <a:off x="3320918" y="1382776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Прямая соединительная линия 54"/>
                  <p:cNvCxnSpPr/>
                  <p:nvPr/>
                </p:nvCxnSpPr>
                <p:spPr>
                  <a:xfrm>
                    <a:off x="3320918" y="1524070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Прямая соединительная линия 55"/>
                  <p:cNvCxnSpPr/>
                  <p:nvPr/>
                </p:nvCxnSpPr>
                <p:spPr>
                  <a:xfrm>
                    <a:off x="3320918" y="1871748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Прямая соединительная линия 56"/>
                  <p:cNvCxnSpPr/>
                  <p:nvPr/>
                </p:nvCxnSpPr>
                <p:spPr>
                  <a:xfrm>
                    <a:off x="3320918" y="2024155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Прямая соединительная линия 57"/>
                  <p:cNvCxnSpPr/>
                  <p:nvPr/>
                </p:nvCxnSpPr>
                <p:spPr>
                  <a:xfrm>
                    <a:off x="3320918" y="2351195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Прямая соединительная линия 58"/>
                  <p:cNvCxnSpPr/>
                  <p:nvPr/>
                </p:nvCxnSpPr>
                <p:spPr>
                  <a:xfrm>
                    <a:off x="3320918" y="2492489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Прямая соединительная линия 59"/>
                  <p:cNvCxnSpPr/>
                  <p:nvPr/>
                </p:nvCxnSpPr>
                <p:spPr>
                  <a:xfrm>
                    <a:off x="3320918" y="2819530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Прямая соединительная линия 60"/>
                  <p:cNvCxnSpPr/>
                  <p:nvPr/>
                </p:nvCxnSpPr>
                <p:spPr>
                  <a:xfrm>
                    <a:off x="3320918" y="2949710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Прямая соединительная линия 61"/>
                  <p:cNvCxnSpPr/>
                  <p:nvPr/>
                </p:nvCxnSpPr>
                <p:spPr>
                  <a:xfrm>
                    <a:off x="3320918" y="3254524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Прямая соединительная линия 62"/>
                  <p:cNvCxnSpPr/>
                  <p:nvPr/>
                </p:nvCxnSpPr>
                <p:spPr>
                  <a:xfrm>
                    <a:off x="3320918" y="3375180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Прямая соединительная линия 63"/>
                  <p:cNvCxnSpPr/>
                  <p:nvPr/>
                </p:nvCxnSpPr>
                <p:spPr>
                  <a:xfrm>
                    <a:off x="3320918" y="3700632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Прямая соединительная линия 64"/>
                  <p:cNvCxnSpPr/>
                  <p:nvPr/>
                </p:nvCxnSpPr>
                <p:spPr>
                  <a:xfrm>
                    <a:off x="3320918" y="3832401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Прямая соединительная линия 65"/>
                  <p:cNvCxnSpPr/>
                  <p:nvPr/>
                </p:nvCxnSpPr>
                <p:spPr>
                  <a:xfrm>
                    <a:off x="3320918" y="4137215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Прямая соединительная линия 66"/>
                  <p:cNvCxnSpPr/>
                  <p:nvPr/>
                </p:nvCxnSpPr>
                <p:spPr>
                  <a:xfrm>
                    <a:off x="3320918" y="4267396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7450" name="Группа 67"/>
                  <p:cNvGrpSpPr>
                    <a:grpSpLocks/>
                  </p:cNvGrpSpPr>
                  <p:nvPr/>
                </p:nvGrpSpPr>
                <p:grpSpPr bwMode="auto">
                  <a:xfrm>
                    <a:off x="76200" y="0"/>
                    <a:ext cx="5657409" cy="4942114"/>
                    <a:chOff x="76200" y="0"/>
                    <a:chExt cx="5657409" cy="4942114"/>
                  </a:xfrm>
                </p:grpSpPr>
                <p:sp>
                  <p:nvSpPr>
                    <p:cNvPr id="69" name="Блок-схема: ИЛИ 68"/>
                    <p:cNvSpPr/>
                    <p:nvPr/>
                  </p:nvSpPr>
                  <p:spPr>
                    <a:xfrm>
                      <a:off x="4866374" y="2328969"/>
                      <a:ext cx="244605" cy="255600"/>
                    </a:xfrm>
                    <a:prstGeom prst="flowChartOr">
                      <a:avLst/>
                    </a:prstGeom>
                    <a:solidFill>
                      <a:schemeClr val="bg1">
                        <a:alpha val="0"/>
                      </a:schemeClr>
                    </a:solidFill>
                    <a:ln w="28575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ru-RU"/>
                    </a:p>
                  </p:txBody>
                </p:sp>
                <p:cxnSp>
                  <p:nvCxnSpPr>
                    <p:cNvPr id="70" name="Прямая со стрелкой 69"/>
                    <p:cNvCxnSpPr/>
                    <p:nvPr/>
                  </p:nvCxnSpPr>
                  <p:spPr>
                    <a:xfrm>
                      <a:off x="4278952" y="2460738"/>
                      <a:ext cx="583716" cy="0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" name="Прямая соединительная линия 70"/>
                    <p:cNvCxnSpPr/>
                    <p:nvPr/>
                  </p:nvCxnSpPr>
                  <p:spPr>
                    <a:xfrm>
                      <a:off x="4267834" y="1458979"/>
                      <a:ext cx="720843" cy="635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Прямая со стрелкой 71"/>
                    <p:cNvCxnSpPr/>
                    <p:nvPr/>
                  </p:nvCxnSpPr>
                  <p:spPr>
                    <a:xfrm>
                      <a:off x="4973852" y="1458979"/>
                      <a:ext cx="0" cy="871578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" name="Прямая со стрелкой 72"/>
                    <p:cNvCxnSpPr/>
                    <p:nvPr/>
                  </p:nvCxnSpPr>
                  <p:spPr>
                    <a:xfrm>
                      <a:off x="4549500" y="1947951"/>
                      <a:ext cx="352082" cy="436583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Прямая со стрелкой 73"/>
                    <p:cNvCxnSpPr/>
                    <p:nvPr/>
                  </p:nvCxnSpPr>
                  <p:spPr>
                    <a:xfrm flipV="1">
                      <a:off x="4549500" y="2525828"/>
                      <a:ext cx="355789" cy="349266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Прямая соединительная линия 74"/>
                    <p:cNvCxnSpPr/>
                    <p:nvPr/>
                  </p:nvCxnSpPr>
                  <p:spPr>
                    <a:xfrm>
                      <a:off x="4278952" y="3298977"/>
                      <a:ext cx="689340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" name="Прямая со стрелкой 75"/>
                    <p:cNvCxnSpPr/>
                    <p:nvPr/>
                  </p:nvCxnSpPr>
                  <p:spPr>
                    <a:xfrm flipV="1">
                      <a:off x="4973852" y="2590919"/>
                      <a:ext cx="0" cy="712820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Прямая соединительная линия 76"/>
                    <p:cNvCxnSpPr/>
                    <p:nvPr/>
                  </p:nvCxnSpPr>
                  <p:spPr>
                    <a:xfrm flipV="1">
                      <a:off x="5116538" y="2460738"/>
                      <a:ext cx="127862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Прямая соединительная линия 77"/>
                    <p:cNvCxnSpPr/>
                    <p:nvPr/>
                  </p:nvCxnSpPr>
                  <p:spPr>
                    <a:xfrm>
                      <a:off x="5235134" y="2460738"/>
                      <a:ext cx="0" cy="2082896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Прямая соединительная линия 78"/>
                    <p:cNvCxnSpPr/>
                    <p:nvPr/>
                  </p:nvCxnSpPr>
                  <p:spPr>
                    <a:xfrm>
                      <a:off x="3146730" y="4180079"/>
                      <a:ext cx="0" cy="36038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" name="Прямая со стрелкой 79"/>
                    <p:cNvCxnSpPr/>
                    <p:nvPr/>
                  </p:nvCxnSpPr>
                  <p:spPr>
                    <a:xfrm>
                      <a:off x="3146730" y="4180079"/>
                      <a:ext cx="177894" cy="0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" name="Прямая соединительная линия 80"/>
                    <p:cNvCxnSpPr/>
                    <p:nvPr/>
                  </p:nvCxnSpPr>
                  <p:spPr>
                    <a:xfrm>
                      <a:off x="4278952" y="4180079"/>
                      <a:ext cx="264989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" name="Прямая соединительная линия 81"/>
                    <p:cNvCxnSpPr/>
                    <p:nvPr/>
                  </p:nvCxnSpPr>
                  <p:spPr>
                    <a:xfrm>
                      <a:off x="4549500" y="4180079"/>
                      <a:ext cx="0" cy="466746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" name="Прямая соединительная линия 82"/>
                    <p:cNvCxnSpPr/>
                    <p:nvPr/>
                  </p:nvCxnSpPr>
                  <p:spPr>
                    <a:xfrm>
                      <a:off x="3015162" y="4648414"/>
                      <a:ext cx="1526926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" name="Прямая соединительная линия 84"/>
                    <p:cNvCxnSpPr/>
                    <p:nvPr/>
                  </p:nvCxnSpPr>
                  <p:spPr>
                    <a:xfrm>
                      <a:off x="3015162" y="3745084"/>
                      <a:ext cx="0" cy="903329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Прямая со стрелкой 85"/>
                    <p:cNvCxnSpPr/>
                    <p:nvPr/>
                  </p:nvCxnSpPr>
                  <p:spPr>
                    <a:xfrm>
                      <a:off x="3015162" y="3745084"/>
                      <a:ext cx="296490" cy="0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Прямая соединительная линия 86"/>
                    <p:cNvCxnSpPr/>
                    <p:nvPr/>
                  </p:nvCxnSpPr>
                  <p:spPr>
                    <a:xfrm>
                      <a:off x="4278952" y="3745084"/>
                      <a:ext cx="455854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Прямая соединительная линия 87"/>
                    <p:cNvCxnSpPr/>
                    <p:nvPr/>
                  </p:nvCxnSpPr>
                  <p:spPr>
                    <a:xfrm>
                      <a:off x="4734806" y="3745084"/>
                      <a:ext cx="0" cy="1062087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Прямая соединительная линия 88"/>
                    <p:cNvCxnSpPr/>
                    <p:nvPr/>
                  </p:nvCxnSpPr>
                  <p:spPr>
                    <a:xfrm>
                      <a:off x="2764998" y="3298977"/>
                      <a:ext cx="0" cy="1636787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Прямая со стрелкой 89"/>
                    <p:cNvCxnSpPr/>
                    <p:nvPr/>
                  </p:nvCxnSpPr>
                  <p:spPr>
                    <a:xfrm>
                      <a:off x="2764998" y="4942114"/>
                      <a:ext cx="2614675" cy="0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1" name="Прямоугольник 90"/>
                    <p:cNvSpPr/>
                    <p:nvPr/>
                  </p:nvSpPr>
                  <p:spPr>
                    <a:xfrm>
                      <a:off x="4953468" y="2165449"/>
                      <a:ext cx="780141" cy="250837"/>
                    </a:xfrm>
                    <a:prstGeom prst="rect">
                      <a:avLst/>
                    </a:prstGeom>
                    <a:solidFill>
                      <a:schemeClr val="bg1">
                        <a:alpha val="0"/>
                      </a:schemeClr>
                    </a:solidFill>
                    <a:ln w="28575">
                      <a:solidFill>
                        <a:schemeClr val="tx1">
                          <a:alpha val="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defRPr/>
                      </a:pPr>
                      <a:r>
                        <a:rPr lang="en-US" sz="900" b="1" i="1" dirty="0">
                          <a:solidFill>
                            <a:srgbClr val="000000"/>
                          </a:solidFill>
                          <a:ea typeface="Calibri"/>
                          <a:cs typeface="Times New Roman"/>
                        </a:rPr>
                        <a:t>mod 256</a:t>
                      </a:r>
                      <a:endParaRPr lang="ru-RU" sz="1100" dirty="0">
                        <a:ea typeface="Calibri"/>
                        <a:cs typeface="Times New Roman"/>
                      </a:endParaRPr>
                    </a:p>
                  </p:txBody>
                </p:sp>
                <p:cxnSp>
                  <p:nvCxnSpPr>
                    <p:cNvPr id="92" name="Прямая соединительная линия 91"/>
                    <p:cNvCxnSpPr/>
                    <p:nvPr/>
                  </p:nvCxnSpPr>
                  <p:spPr>
                    <a:xfrm flipV="1">
                      <a:off x="4278952" y="1947951"/>
                      <a:ext cx="290932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Прямая соединительная линия 92"/>
                    <p:cNvCxnSpPr/>
                    <p:nvPr/>
                  </p:nvCxnSpPr>
                  <p:spPr>
                    <a:xfrm>
                      <a:off x="4278952" y="2873507"/>
                      <a:ext cx="290932" cy="1587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" name="Прямая соединительная линия 93"/>
                    <p:cNvCxnSpPr/>
                    <p:nvPr/>
                  </p:nvCxnSpPr>
                  <p:spPr>
                    <a:xfrm>
                      <a:off x="4419785" y="163520"/>
                      <a:ext cx="0" cy="1784432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Прямая соединительная линия 94"/>
                    <p:cNvCxnSpPr/>
                    <p:nvPr/>
                  </p:nvCxnSpPr>
                  <p:spPr>
                    <a:xfrm>
                      <a:off x="3015162" y="358791"/>
                      <a:ext cx="1552869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" name="Прямая соединительная линия 95"/>
                    <p:cNvCxnSpPr/>
                    <p:nvPr/>
                  </p:nvCxnSpPr>
                  <p:spPr>
                    <a:xfrm>
                      <a:off x="3015162" y="358791"/>
                      <a:ext cx="0" cy="595339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" name="Прямая со стрелкой 96"/>
                    <p:cNvCxnSpPr/>
                    <p:nvPr/>
                  </p:nvCxnSpPr>
                  <p:spPr>
                    <a:xfrm>
                      <a:off x="3015162" y="947781"/>
                      <a:ext cx="307609" cy="0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" name="Прямая соединительная линия 97"/>
                    <p:cNvCxnSpPr/>
                    <p:nvPr/>
                  </p:nvCxnSpPr>
                  <p:spPr>
                    <a:xfrm>
                      <a:off x="4560618" y="358791"/>
                      <a:ext cx="0" cy="1106538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" name="Прямая соединительная линия 98"/>
                    <p:cNvCxnSpPr/>
                    <p:nvPr/>
                  </p:nvCxnSpPr>
                  <p:spPr>
                    <a:xfrm>
                      <a:off x="228151" y="163520"/>
                      <a:ext cx="4191634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" name="Прямая соединительная линия 99"/>
                    <p:cNvCxnSpPr/>
                    <p:nvPr/>
                  </p:nvCxnSpPr>
                  <p:spPr>
                    <a:xfrm>
                      <a:off x="4723688" y="0"/>
                      <a:ext cx="0" cy="966831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" name="Прямая соединительная линия 100"/>
                    <p:cNvCxnSpPr/>
                    <p:nvPr/>
                  </p:nvCxnSpPr>
                  <p:spPr>
                    <a:xfrm>
                      <a:off x="4278952" y="957306"/>
                      <a:ext cx="455854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" name="Прямая соединительная линия 101"/>
                    <p:cNvCxnSpPr/>
                    <p:nvPr/>
                  </p:nvCxnSpPr>
                  <p:spPr>
                    <a:xfrm>
                      <a:off x="141058" y="0"/>
                      <a:ext cx="4584484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7484" name="Группа 10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76200" y="0"/>
                      <a:ext cx="3246980" cy="4821599"/>
                      <a:chOff x="76200" y="0"/>
                      <a:chExt cx="3246980" cy="4821599"/>
                    </a:xfrm>
                  </p:grpSpPr>
                  <p:sp>
                    <p:nvSpPr>
                      <p:cNvPr id="106" name="Прямоугольник 105"/>
                      <p:cNvSpPr/>
                      <p:nvPr/>
                    </p:nvSpPr>
                    <p:spPr>
                      <a:xfrm>
                        <a:off x="1447800" y="1251857"/>
                        <a:ext cx="1095375" cy="287020"/>
                      </a:xfrm>
                      <a:prstGeom prst="rect">
                        <a:avLst/>
                      </a:prstGeom>
                      <a:pattFill prst="openDmnd">
                        <a:fgClr>
                          <a:schemeClr val="tx2">
                            <a:lumMod val="20000"/>
                            <a:lumOff val="80000"/>
                          </a:schemeClr>
                        </a:fgClr>
                        <a:bgClr>
                          <a:schemeClr val="bg1"/>
                        </a:bgClr>
                      </a:pattFill>
                      <a:ln w="28575"/>
                      <a:scene3d>
                        <a:camera prst="orthographicFront"/>
                        <a:lightRig rig="threePt" dir="t"/>
                      </a:scene3d>
                      <a:sp3d>
                        <a:bevelT prst="convex"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1100" b="1" dirty="0" err="1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last_plain</a:t>
                        </a:r>
                        <a:endParaRPr lang="ru-RU" sz="1100" dirty="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07" name="Прямоугольник 106"/>
                      <p:cNvSpPr/>
                      <p:nvPr/>
                    </p:nvSpPr>
                    <p:spPr>
                      <a:xfrm>
                        <a:off x="1447800" y="1741714"/>
                        <a:ext cx="1095375" cy="287020"/>
                      </a:xfrm>
                      <a:prstGeom prst="rect">
                        <a:avLst/>
                      </a:prstGeom>
                      <a:pattFill prst="openDmnd">
                        <a:fgClr>
                          <a:schemeClr val="tx2">
                            <a:lumMod val="20000"/>
                            <a:lumOff val="80000"/>
                          </a:schemeClr>
                        </a:fgClr>
                        <a:bgClr>
                          <a:schemeClr val="bg1"/>
                        </a:bgClr>
                      </a:pattFill>
                      <a:ln w="28575"/>
                      <a:scene3d>
                        <a:camera prst="orthographicFront"/>
                        <a:lightRig rig="threePt" dir="t"/>
                      </a:scene3d>
                      <a:sp3d>
                        <a:bevelT prst="convex"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1100" b="1" dirty="0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rotor</a:t>
                        </a:r>
                        <a:endParaRPr lang="ru-RU" sz="1100" dirty="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08" name="Прямоугольник 107"/>
                      <p:cNvSpPr/>
                      <p:nvPr/>
                    </p:nvSpPr>
                    <p:spPr>
                      <a:xfrm>
                        <a:off x="1447800" y="2209800"/>
                        <a:ext cx="1095375" cy="287020"/>
                      </a:xfrm>
                      <a:prstGeom prst="rect">
                        <a:avLst/>
                      </a:prstGeom>
                      <a:pattFill prst="openDmnd">
                        <a:fgClr>
                          <a:schemeClr val="tx2">
                            <a:lumMod val="20000"/>
                            <a:lumOff val="80000"/>
                          </a:schemeClr>
                        </a:fgClr>
                        <a:bgClr>
                          <a:schemeClr val="bg1"/>
                        </a:bgClr>
                      </a:pattFill>
                      <a:ln w="28575"/>
                      <a:scene3d>
                        <a:camera prst="orthographicFront"/>
                        <a:lightRig rig="threePt" dir="t"/>
                      </a:scene3d>
                      <a:sp3d>
                        <a:bevelT prst="convex"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1100" b="1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ratchet</a:t>
                        </a:r>
                        <a:endParaRPr lang="ru-RU" sz="110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09" name="Прямоугольник 108"/>
                      <p:cNvSpPr/>
                      <p:nvPr/>
                    </p:nvSpPr>
                    <p:spPr>
                      <a:xfrm>
                        <a:off x="1447800" y="3178628"/>
                        <a:ext cx="1095375" cy="287020"/>
                      </a:xfrm>
                      <a:prstGeom prst="rect">
                        <a:avLst/>
                      </a:prstGeom>
                      <a:pattFill prst="openDmnd">
                        <a:fgClr>
                          <a:schemeClr val="tx2">
                            <a:lumMod val="20000"/>
                            <a:lumOff val="80000"/>
                          </a:schemeClr>
                        </a:fgClr>
                        <a:bgClr>
                          <a:schemeClr val="bg1"/>
                        </a:bgClr>
                      </a:pattFill>
                      <a:ln w="28575"/>
                      <a:scene3d>
                        <a:camera prst="orthographicFront"/>
                        <a:lightRig rig="threePt" dir="t"/>
                      </a:scene3d>
                      <a:sp3d>
                        <a:bevelT prst="convex"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1100" b="1" dirty="0" err="1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last_cipher</a:t>
                        </a:r>
                        <a:endParaRPr lang="ru-RU" sz="1100" dirty="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10" name="Блок-схема: ИЛИ 109"/>
                      <p:cNvSpPr/>
                      <p:nvPr/>
                    </p:nvSpPr>
                    <p:spPr>
                      <a:xfrm>
                        <a:off x="1011999" y="2209901"/>
                        <a:ext cx="239045" cy="247661"/>
                      </a:xfrm>
                      <a:prstGeom prst="flowChartOr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11" name="Блок-схема: ИЛИ 110"/>
                      <p:cNvSpPr/>
                      <p:nvPr/>
                    </p:nvSpPr>
                    <p:spPr>
                      <a:xfrm>
                        <a:off x="1011999" y="2698874"/>
                        <a:ext cx="244605" cy="255599"/>
                      </a:xfrm>
                      <a:prstGeom prst="flowChartOr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12" name="Блок-схема: ИЛИ 111"/>
                      <p:cNvSpPr/>
                      <p:nvPr/>
                    </p:nvSpPr>
                    <p:spPr>
                      <a:xfrm>
                        <a:off x="1011999" y="3167207"/>
                        <a:ext cx="244605" cy="255600"/>
                      </a:xfrm>
                      <a:prstGeom prst="flowChartOr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ru-RU"/>
                      </a:p>
                    </p:txBody>
                  </p:sp>
                  <p:cxnSp>
                    <p:nvCxnSpPr>
                      <p:cNvPr id="113" name="Прямая со стрелкой 112"/>
                      <p:cNvCxnSpPr/>
                      <p:nvPr/>
                    </p:nvCxnSpPr>
                    <p:spPr>
                      <a:xfrm>
                        <a:off x="2535218" y="1458979"/>
                        <a:ext cx="787552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4" name="Прямая со стрелкой 113"/>
                      <p:cNvCxnSpPr/>
                      <p:nvPr/>
                    </p:nvCxnSpPr>
                    <p:spPr>
                      <a:xfrm>
                        <a:off x="2535218" y="1893974"/>
                        <a:ext cx="787552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5" name="Прямая со стрелкой 114"/>
                      <p:cNvCxnSpPr/>
                      <p:nvPr/>
                    </p:nvCxnSpPr>
                    <p:spPr>
                      <a:xfrm>
                        <a:off x="2535218" y="2384534"/>
                        <a:ext cx="787552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6" name="Прямая со стрелкой 115"/>
                      <p:cNvCxnSpPr/>
                      <p:nvPr/>
                    </p:nvCxnSpPr>
                    <p:spPr>
                      <a:xfrm>
                        <a:off x="2535218" y="2830642"/>
                        <a:ext cx="787552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7" name="Прямая со стрелкой 116"/>
                      <p:cNvCxnSpPr/>
                      <p:nvPr/>
                    </p:nvCxnSpPr>
                    <p:spPr>
                      <a:xfrm>
                        <a:off x="2535218" y="3308502"/>
                        <a:ext cx="787552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" name="Прямая со стрелкой 117"/>
                      <p:cNvCxnSpPr/>
                      <p:nvPr/>
                    </p:nvCxnSpPr>
                    <p:spPr>
                      <a:xfrm>
                        <a:off x="1251043" y="2328969"/>
                        <a:ext cx="192719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9" name="Прямая со стрелкой 118"/>
                      <p:cNvCxnSpPr/>
                      <p:nvPr/>
                    </p:nvCxnSpPr>
                    <p:spPr>
                      <a:xfrm>
                        <a:off x="1251043" y="2819529"/>
                        <a:ext cx="192719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Прямая со стрелкой 119"/>
                      <p:cNvCxnSpPr/>
                      <p:nvPr/>
                    </p:nvCxnSpPr>
                    <p:spPr>
                      <a:xfrm>
                        <a:off x="1251043" y="3308502"/>
                        <a:ext cx="192719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Прямая со стрелкой 120"/>
                      <p:cNvCxnSpPr/>
                      <p:nvPr/>
                    </p:nvCxnSpPr>
                    <p:spPr>
                      <a:xfrm flipV="1">
                        <a:off x="1132447" y="3429157"/>
                        <a:ext cx="0" cy="1392301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2" name="Прямая со стрелкой 121"/>
                      <p:cNvCxnSpPr/>
                      <p:nvPr/>
                    </p:nvCxnSpPr>
                    <p:spPr>
                      <a:xfrm>
                        <a:off x="76200" y="3298976"/>
                        <a:ext cx="933945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Прямая соединительная линия 122"/>
                      <p:cNvCxnSpPr/>
                      <p:nvPr/>
                    </p:nvCxnSpPr>
                    <p:spPr>
                      <a:xfrm>
                        <a:off x="2764998" y="2841755"/>
                        <a:ext cx="0" cy="233373"/>
                      </a:xfrm>
                      <a:prstGeom prst="line">
                        <a:avLst/>
                      </a:prstGeom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4" name="Прямая соединительная линия 123"/>
                      <p:cNvCxnSpPr/>
                      <p:nvPr/>
                    </p:nvCxnSpPr>
                    <p:spPr>
                      <a:xfrm>
                        <a:off x="1132447" y="3070366"/>
                        <a:ext cx="1625139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5" name="Прямая со стрелкой 124"/>
                      <p:cNvCxnSpPr/>
                      <p:nvPr/>
                    </p:nvCxnSpPr>
                    <p:spPr>
                      <a:xfrm flipV="1">
                        <a:off x="1132447" y="2960823"/>
                        <a:ext cx="0" cy="11748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6" name="Прямая соединительная линия 125"/>
                      <p:cNvCxnSpPr/>
                      <p:nvPr/>
                    </p:nvCxnSpPr>
                    <p:spPr>
                      <a:xfrm>
                        <a:off x="2753880" y="2384534"/>
                        <a:ext cx="0" cy="190509"/>
                      </a:xfrm>
                      <a:prstGeom prst="line">
                        <a:avLst/>
                      </a:prstGeom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7" name="Прямая соединительная линия 126"/>
                      <p:cNvCxnSpPr/>
                      <p:nvPr/>
                    </p:nvCxnSpPr>
                    <p:spPr>
                      <a:xfrm>
                        <a:off x="1132447" y="2579805"/>
                        <a:ext cx="1625139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8" name="Прямая со стрелкой 127"/>
                      <p:cNvCxnSpPr>
                        <a:endCxn id="110" idx="4"/>
                      </p:cNvCxnSpPr>
                      <p:nvPr/>
                    </p:nvCxnSpPr>
                    <p:spPr>
                      <a:xfrm flipV="1">
                        <a:off x="1132447" y="2457563"/>
                        <a:ext cx="0" cy="130181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9" name="Прямая со стрелкой 128"/>
                      <p:cNvCxnSpPr/>
                      <p:nvPr/>
                    </p:nvCxnSpPr>
                    <p:spPr>
                      <a:xfrm>
                        <a:off x="958259" y="1871748"/>
                        <a:ext cx="489209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0" name="Прямая со стрелкой 129"/>
                      <p:cNvCxnSpPr/>
                      <p:nvPr/>
                    </p:nvCxnSpPr>
                    <p:spPr>
                      <a:xfrm>
                        <a:off x="359720" y="1393889"/>
                        <a:ext cx="1082190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1" name="Прямая соединительная линия 130"/>
                      <p:cNvCxnSpPr/>
                      <p:nvPr/>
                    </p:nvCxnSpPr>
                    <p:spPr>
                      <a:xfrm>
                        <a:off x="359720" y="1395476"/>
                        <a:ext cx="0" cy="1900325"/>
                      </a:xfrm>
                      <a:prstGeom prst="line">
                        <a:avLst/>
                      </a:prstGeom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2" name="Прямоугольник 131"/>
                      <p:cNvSpPr/>
                      <p:nvPr/>
                    </p:nvSpPr>
                    <p:spPr>
                      <a:xfrm>
                        <a:off x="359720" y="2059081"/>
                        <a:ext cx="774581" cy="217498"/>
                      </a:xfrm>
                      <a:prstGeom prst="rect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 w="28575">
                        <a:solidFill>
                          <a:schemeClr val="tx1">
                            <a:alpha val="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900" b="1" i="1" dirty="0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mod 256</a:t>
                        </a:r>
                        <a:endParaRPr lang="ru-RU" sz="1100" dirty="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33" name="Прямоугольник 132"/>
                      <p:cNvSpPr/>
                      <p:nvPr/>
                    </p:nvSpPr>
                    <p:spPr>
                      <a:xfrm>
                        <a:off x="304128" y="2538528"/>
                        <a:ext cx="763463" cy="281001"/>
                      </a:xfrm>
                      <a:prstGeom prst="rect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 w="28575">
                        <a:solidFill>
                          <a:schemeClr val="tx1">
                            <a:alpha val="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900" b="1" i="1" dirty="0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mod 256</a:t>
                        </a:r>
                        <a:endParaRPr lang="ru-RU" sz="1100" dirty="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34" name="Прямоугольник 133"/>
                      <p:cNvSpPr/>
                      <p:nvPr/>
                    </p:nvSpPr>
                    <p:spPr>
                      <a:xfrm>
                        <a:off x="506111" y="3116405"/>
                        <a:ext cx="498475" cy="17145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>
                            <a:alpha val="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900" b="1" i="1" dirty="0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XOR</a:t>
                        </a:r>
                        <a:endParaRPr lang="ru-RU" sz="1100" dirty="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35" name="Прямоугольник 134"/>
                      <p:cNvSpPr/>
                      <p:nvPr/>
                    </p:nvSpPr>
                    <p:spPr>
                      <a:xfrm>
                        <a:off x="85466" y="2989399"/>
                        <a:ext cx="233486" cy="2556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 w="28575">
                        <a:solidFill>
                          <a:schemeClr val="tx1">
                            <a:alpha val="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1200" b="1" i="1" dirty="0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P</a:t>
                        </a:r>
                        <a:endParaRPr lang="ru-RU" sz="1100" dirty="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36" name="Прямоугольник 135"/>
                      <p:cNvSpPr/>
                      <p:nvPr/>
                    </p:nvSpPr>
                    <p:spPr>
                      <a:xfrm>
                        <a:off x="663622" y="1611386"/>
                        <a:ext cx="648573" cy="2556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 w="28575">
                        <a:solidFill>
                          <a:schemeClr val="tx1">
                            <a:alpha val="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ru-RU" sz="1000" b="1" i="1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ТИ   +1</a:t>
                        </a:r>
                        <a:endParaRPr lang="ru-RU" sz="1100">
                          <a:ea typeface="Calibri"/>
                          <a:cs typeface="Times New Roman"/>
                        </a:endParaRPr>
                      </a:p>
                    </p:txBody>
                  </p:sp>
                  <p:cxnSp>
                    <p:nvCxnSpPr>
                      <p:cNvPr id="137" name="Прямая соединительная линия 136"/>
                      <p:cNvCxnSpPr/>
                      <p:nvPr/>
                    </p:nvCxnSpPr>
                    <p:spPr>
                      <a:xfrm flipH="1">
                        <a:off x="228151" y="163519"/>
                        <a:ext cx="1854" cy="2168624"/>
                      </a:xfrm>
                      <a:prstGeom prst="line">
                        <a:avLst/>
                      </a:prstGeom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8" name="Прямая со стрелкой 137"/>
                      <p:cNvCxnSpPr/>
                      <p:nvPr/>
                    </p:nvCxnSpPr>
                    <p:spPr>
                      <a:xfrm>
                        <a:off x="228151" y="2328969"/>
                        <a:ext cx="778287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9" name="Прямая соединительная линия 138"/>
                      <p:cNvCxnSpPr/>
                      <p:nvPr/>
                    </p:nvCxnSpPr>
                    <p:spPr>
                      <a:xfrm>
                        <a:off x="141058" y="0"/>
                        <a:ext cx="0" cy="2827467"/>
                      </a:xfrm>
                      <a:prstGeom prst="line">
                        <a:avLst/>
                      </a:prstGeom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0" name="Прямая со стрелкой 139"/>
                      <p:cNvCxnSpPr/>
                      <p:nvPr/>
                    </p:nvCxnSpPr>
                    <p:spPr>
                      <a:xfrm>
                        <a:off x="141058" y="2808416"/>
                        <a:ext cx="863528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04" name="Прямоугольник 103"/>
                    <p:cNvSpPr/>
                    <p:nvPr/>
                  </p:nvSpPr>
                  <p:spPr>
                    <a:xfrm>
                      <a:off x="4953468" y="4670640"/>
                      <a:ext cx="231634" cy="254012"/>
                    </a:xfrm>
                    <a:prstGeom prst="rect">
                      <a:avLst/>
                    </a:prstGeom>
                    <a:solidFill>
                      <a:schemeClr val="bg1">
                        <a:alpha val="0"/>
                      </a:schemeClr>
                    </a:solidFill>
                    <a:ln w="28575">
                      <a:solidFill>
                        <a:schemeClr val="tx1">
                          <a:alpha val="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defRPr/>
                      </a:pPr>
                      <a:r>
                        <a:rPr lang="ru-RU" sz="1200" b="1" i="1" dirty="0">
                          <a:solidFill>
                            <a:srgbClr val="000000"/>
                          </a:solidFill>
                          <a:ea typeface="Calibri"/>
                          <a:cs typeface="Times New Roman"/>
                        </a:rPr>
                        <a:t>С</a:t>
                      </a:r>
                      <a:endParaRPr lang="ru-RU" sz="1100" dirty="0">
                        <a:ea typeface="Calibri"/>
                        <a:cs typeface="Times New Roman"/>
                      </a:endParaRPr>
                    </a:p>
                  </p:txBody>
                </p:sp>
                <p:cxnSp>
                  <p:nvCxnSpPr>
                    <p:cNvPr id="105" name="Прямая соединительная линия 104"/>
                    <p:cNvCxnSpPr/>
                    <p:nvPr/>
                  </p:nvCxnSpPr>
                  <p:spPr>
                    <a:xfrm>
                      <a:off x="1132447" y="4800821"/>
                      <a:ext cx="3609771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sp>
        <p:nvSpPr>
          <p:cNvPr id="142" name="Прямоугольник с двумя вырезанными противолежащими углами 141"/>
          <p:cNvSpPr/>
          <p:nvPr/>
        </p:nvSpPr>
        <p:spPr>
          <a:xfrm>
            <a:off x="467544" y="957512"/>
            <a:ext cx="3528392" cy="1782097"/>
          </a:xfrm>
          <a:prstGeom prst="snip2DiagRect">
            <a:avLst>
              <a:gd name="adj1" fmla="val 0"/>
              <a:gd name="adj2" fmla="val 11538"/>
            </a:avLst>
          </a:prstGeom>
          <a:solidFill>
            <a:schemeClr val="bg1"/>
          </a:solid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balanced" dir="t">
              <a:rot lat="0" lon="0" rev="8700000"/>
            </a:lightRig>
          </a:scene3d>
          <a:sp3d>
            <a:bevelT w="1905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Индекс регистрлари инициализацияси қуйидагича бўлади: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rotor = S[1];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ratchet = S[3];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avalanche = S[5];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last_plain</a:t>
            </a: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S[7];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400"/>
              </a:spcAft>
              <a:defRPr/>
            </a:pPr>
            <a:r>
              <a:rPr lang="en-US" sz="1400" b="1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last_cipher</a:t>
            </a: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S[</a:t>
            </a:r>
            <a:r>
              <a:rPr lang="en-US" sz="1400" b="1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rsum</a:t>
            </a: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uz-Cyrl-UZ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1400" b="1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400"/>
              </a:spcAft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" name="Прямоугольник с двумя вырезанными противолежащими углами 142"/>
          <p:cNvSpPr/>
          <p:nvPr/>
        </p:nvSpPr>
        <p:spPr>
          <a:xfrm>
            <a:off x="467544" y="2916739"/>
            <a:ext cx="3528392" cy="1782097"/>
          </a:xfrm>
          <a:prstGeom prst="snip2DiagRect">
            <a:avLst>
              <a:gd name="adj1" fmla="val 0"/>
              <a:gd name="adj2" fmla="val 11538"/>
            </a:avLst>
          </a:prstGeom>
          <a:solidFill>
            <a:schemeClr val="bg1"/>
          </a:solid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balanced" dir="t">
              <a:rot lat="0" lon="0" rev="8700000"/>
            </a:lightRig>
          </a:scene3d>
          <a:sp3d>
            <a:bevelT w="1905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400"/>
              </a:spcAft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Индекс регистрлари қиймати қуйидагича ўзгаради:</a:t>
            </a:r>
          </a:p>
          <a:p>
            <a:pPr algn="ctr" fontAlgn="auto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ratchet = (ratchet + S[rotor])mod 256;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rotor = (rotor + 1)mod 256;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avalanche = =(</a:t>
            </a:r>
            <a:r>
              <a:rPr lang="en-US" sz="1400" b="1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avalanche+S</a:t>
            </a: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[S[</a:t>
            </a:r>
            <a:r>
              <a:rPr lang="en-US" sz="1400" b="1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last_plain</a:t>
            </a: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]])mod 256</a:t>
            </a:r>
            <a:r>
              <a:rPr lang="uz-Cyrl-UZ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4" name="Прямоугольник с двумя вырезанными противолежащими углами 14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7544" y="4872977"/>
            <a:ext cx="3528392" cy="1436344"/>
          </a:xfrm>
          <a:prstGeom prst="snip2DiagRect">
            <a:avLst>
              <a:gd name="adj1" fmla="val 0"/>
              <a:gd name="adj2" fmla="val 16719"/>
            </a:avLst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noFill/>
                <a:latin typeface="+mn-lt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5293</TotalTime>
  <Words>1357</Words>
  <Application>Microsoft Office PowerPoint</Application>
  <PresentationFormat>Экран (4:3)</PresentationFormat>
  <Paragraphs>274</Paragraphs>
  <Slides>13</Slides>
  <Notes>11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Muhtor</dc:creator>
  <cp:lastModifiedBy>Microsoft Office</cp:lastModifiedBy>
  <cp:revision>294</cp:revision>
  <dcterms:created xsi:type="dcterms:W3CDTF">2012-10-23T08:10:02Z</dcterms:created>
  <dcterms:modified xsi:type="dcterms:W3CDTF">2001-12-31T19:23:36Z</dcterms:modified>
</cp:coreProperties>
</file>