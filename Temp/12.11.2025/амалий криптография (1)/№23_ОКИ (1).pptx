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82" r:id="rId2"/>
    <p:sldId id="323" r:id="rId3"/>
    <p:sldId id="289" r:id="rId4"/>
    <p:sldId id="296" r:id="rId5"/>
    <p:sldId id="297" r:id="rId6"/>
    <p:sldId id="298" r:id="rId7"/>
    <p:sldId id="293" r:id="rId8"/>
    <p:sldId id="294" r:id="rId9"/>
    <p:sldId id="299" r:id="rId10"/>
    <p:sldId id="300" r:id="rId11"/>
    <p:sldId id="301" r:id="rId12"/>
    <p:sldId id="302" r:id="rId13"/>
    <p:sldId id="308" r:id="rId14"/>
    <p:sldId id="321" r:id="rId15"/>
    <p:sldId id="322" r:id="rId16"/>
    <p:sldId id="303" r:id="rId17"/>
    <p:sldId id="304" r:id="rId18"/>
    <p:sldId id="305" r:id="rId19"/>
    <p:sldId id="306" r:id="rId20"/>
    <p:sldId id="307" r:id="rId21"/>
    <p:sldId id="309" r:id="rId22"/>
    <p:sldId id="310" r:id="rId23"/>
    <p:sldId id="311" r:id="rId24"/>
    <p:sldId id="312" r:id="rId25"/>
    <p:sldId id="314" r:id="rId26"/>
    <p:sldId id="315" r:id="rId27"/>
    <p:sldId id="316" r:id="rId28"/>
    <p:sldId id="317" r:id="rId29"/>
    <p:sldId id="318" r:id="rId30"/>
    <p:sldId id="319" r:id="rId31"/>
    <p:sldId id="320" r:id="rId32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CCFFCC"/>
    <a:srgbClr val="99FFCC"/>
    <a:srgbClr val="FFFFCC"/>
    <a:srgbClr val="66FFCC"/>
    <a:srgbClr val="FFFFEF"/>
    <a:srgbClr val="C5E2FF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3" autoAdjust="0"/>
    <p:restoredTop sz="94660"/>
  </p:normalViewPr>
  <p:slideViewPr>
    <p:cSldViewPr>
      <p:cViewPr varScale="1">
        <p:scale>
          <a:sx n="107" d="100"/>
          <a:sy n="107" d="100"/>
        </p:scale>
        <p:origin x="-165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77F4B6-9E7D-4557-AA15-19E3FE82946F}" type="doc">
      <dgm:prSet loTypeId="urn:microsoft.com/office/officeart/2005/8/layout/hProcess4" loCatId="process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ru-RU"/>
        </a:p>
      </dgm:t>
    </dgm:pt>
    <dgm:pt modelId="{64EBEC2A-2811-4193-8031-D78D1F53F49E}">
      <dgm:prSet phldrT="[Текст]"/>
      <dgm:spPr/>
      <dgm:t>
        <a:bodyPr/>
        <a:lstStyle/>
        <a:p>
          <a:r>
            <a:rPr lang="en-US" dirty="0" err="1" smtClean="0"/>
            <a:t>Table_Cert</a:t>
          </a:r>
          <a:endParaRPr lang="ru-RU" dirty="0"/>
        </a:p>
      </dgm:t>
    </dgm:pt>
    <dgm:pt modelId="{A83F7769-F915-49BE-9498-CE28042531B1}" type="parTrans" cxnId="{2EDF7305-ABE3-4E8B-A774-6417AD2B79A2}">
      <dgm:prSet/>
      <dgm:spPr/>
      <dgm:t>
        <a:bodyPr/>
        <a:lstStyle/>
        <a:p>
          <a:endParaRPr lang="ru-RU"/>
        </a:p>
      </dgm:t>
    </dgm:pt>
    <dgm:pt modelId="{A1452DD1-B359-45CE-91A6-C391370D46A9}" type="sibTrans" cxnId="{2EDF7305-ABE3-4E8B-A774-6417AD2B79A2}">
      <dgm:prSet/>
      <dgm:spPr/>
      <dgm:t>
        <a:bodyPr/>
        <a:lstStyle/>
        <a:p>
          <a:endParaRPr lang="ru-RU"/>
        </a:p>
      </dgm:t>
    </dgm:pt>
    <dgm:pt modelId="{F926A494-0433-40FF-9D82-11FAC47EAA11}">
      <dgm:prSet phldrT="[Текст]"/>
      <dgm:spPr/>
      <dgm:t>
        <a:bodyPr/>
        <a:lstStyle/>
        <a:p>
          <a:r>
            <a:rPr lang="uz-Cyrl-UZ" dirty="0" smtClean="0"/>
            <a:t>Рўйхатга олинган сертификатларни сақлаш жадвали</a:t>
          </a:r>
          <a:endParaRPr lang="ru-RU" dirty="0"/>
        </a:p>
      </dgm:t>
    </dgm:pt>
    <dgm:pt modelId="{7FE82E7B-3533-42FA-9F41-BEECED8DF925}" type="parTrans" cxnId="{F084A47E-DD97-4F5D-9078-053B4424BDB9}">
      <dgm:prSet/>
      <dgm:spPr/>
      <dgm:t>
        <a:bodyPr/>
        <a:lstStyle/>
        <a:p>
          <a:endParaRPr lang="ru-RU"/>
        </a:p>
      </dgm:t>
    </dgm:pt>
    <dgm:pt modelId="{D40780FB-C5A3-4B4E-8774-CA314B86855E}" type="sibTrans" cxnId="{F084A47E-DD97-4F5D-9078-053B4424BDB9}">
      <dgm:prSet/>
      <dgm:spPr/>
      <dgm:t>
        <a:bodyPr/>
        <a:lstStyle/>
        <a:p>
          <a:endParaRPr lang="ru-RU"/>
        </a:p>
      </dgm:t>
    </dgm:pt>
    <dgm:pt modelId="{EAAF4A85-5019-4243-8BA7-8E44AE8B3E17}">
      <dgm:prSet phldrT="[Текст]"/>
      <dgm:spPr/>
      <dgm:t>
        <a:bodyPr/>
        <a:lstStyle/>
        <a:p>
          <a:r>
            <a:rPr lang="en-US" dirty="0" err="1" smtClean="0"/>
            <a:t>Table_User</a:t>
          </a:r>
          <a:endParaRPr lang="ru-RU" dirty="0"/>
        </a:p>
      </dgm:t>
    </dgm:pt>
    <dgm:pt modelId="{64B04D4F-7819-43BB-B5C5-CEBA88885BA6}" type="parTrans" cxnId="{A652625C-82D8-4707-B551-0C4EABBE0FA8}">
      <dgm:prSet/>
      <dgm:spPr/>
      <dgm:t>
        <a:bodyPr/>
        <a:lstStyle/>
        <a:p>
          <a:endParaRPr lang="ru-RU"/>
        </a:p>
      </dgm:t>
    </dgm:pt>
    <dgm:pt modelId="{8D1C22A7-11FF-461F-8BD5-7904E25F30EB}" type="sibTrans" cxnId="{A652625C-82D8-4707-B551-0C4EABBE0FA8}">
      <dgm:prSet/>
      <dgm:spPr/>
      <dgm:t>
        <a:bodyPr/>
        <a:lstStyle/>
        <a:p>
          <a:endParaRPr lang="ru-RU"/>
        </a:p>
      </dgm:t>
    </dgm:pt>
    <dgm:pt modelId="{CBAADE88-0B3B-45E2-A456-E90E990EE8D5}">
      <dgm:prSet phldrT="[Текст]"/>
      <dgm:spPr/>
      <dgm:t>
        <a:bodyPr/>
        <a:lstStyle/>
        <a:p>
          <a:r>
            <a:rPr lang="uz-Cyrl-UZ" dirty="0" smtClean="0"/>
            <a:t>Сертификат эгасининг анкета маълумотларини сақлаш жадвали</a:t>
          </a:r>
          <a:endParaRPr lang="ru-RU" dirty="0"/>
        </a:p>
      </dgm:t>
    </dgm:pt>
    <dgm:pt modelId="{60C0B58B-92CB-4E3E-BD07-1F86D6EF9CE6}" type="parTrans" cxnId="{795BE364-35CD-444B-932C-38BED9BE17A2}">
      <dgm:prSet/>
      <dgm:spPr/>
      <dgm:t>
        <a:bodyPr/>
        <a:lstStyle/>
        <a:p>
          <a:endParaRPr lang="ru-RU"/>
        </a:p>
      </dgm:t>
    </dgm:pt>
    <dgm:pt modelId="{EA07D57A-7428-45C1-BC50-E3E25C1DFB5B}" type="sibTrans" cxnId="{795BE364-35CD-444B-932C-38BED9BE17A2}">
      <dgm:prSet/>
      <dgm:spPr/>
      <dgm:t>
        <a:bodyPr/>
        <a:lstStyle/>
        <a:p>
          <a:endParaRPr lang="ru-RU"/>
        </a:p>
      </dgm:t>
    </dgm:pt>
    <dgm:pt modelId="{A494FED8-A66B-4AFB-B399-B0E7E623BA8A}">
      <dgm:prSet phldrT="[Текст]"/>
      <dgm:spPr/>
      <dgm:t>
        <a:bodyPr/>
        <a:lstStyle/>
        <a:p>
          <a:r>
            <a:rPr lang="en-US" dirty="0" err="1" smtClean="0"/>
            <a:t>Table_XAT</a:t>
          </a:r>
          <a:endParaRPr lang="ru-RU" dirty="0"/>
        </a:p>
      </dgm:t>
    </dgm:pt>
    <dgm:pt modelId="{97DBE366-DA92-48CB-9907-36DB63E27D6E}" type="parTrans" cxnId="{A6EB5D49-028D-4C59-AA27-C0519EB13D92}">
      <dgm:prSet/>
      <dgm:spPr/>
      <dgm:t>
        <a:bodyPr/>
        <a:lstStyle/>
        <a:p>
          <a:endParaRPr lang="ru-RU"/>
        </a:p>
      </dgm:t>
    </dgm:pt>
    <dgm:pt modelId="{925F3290-CF7B-4E2E-B479-62AFECA0B139}" type="sibTrans" cxnId="{A6EB5D49-028D-4C59-AA27-C0519EB13D92}">
      <dgm:prSet/>
      <dgm:spPr/>
      <dgm:t>
        <a:bodyPr/>
        <a:lstStyle/>
        <a:p>
          <a:endParaRPr lang="ru-RU"/>
        </a:p>
      </dgm:t>
    </dgm:pt>
    <dgm:pt modelId="{C40780A8-AC82-403F-ACCD-5F8BA9FC0666}">
      <dgm:prSet phldrT="[Текст]"/>
      <dgm:spPr/>
      <dgm:t>
        <a:bodyPr/>
        <a:lstStyle/>
        <a:p>
          <a:r>
            <a:rPr lang="uz-Cyrl-UZ" dirty="0" smtClean="0"/>
            <a:t>Тизимда мавжуд барча хатларни сақлаш  жадвали</a:t>
          </a:r>
          <a:endParaRPr lang="ru-RU" dirty="0"/>
        </a:p>
      </dgm:t>
    </dgm:pt>
    <dgm:pt modelId="{E302887E-B253-4F0D-8DEC-5AD1FA41F713}" type="parTrans" cxnId="{2E9055B4-5F13-4DDA-82BF-A5B8B873DC98}">
      <dgm:prSet/>
      <dgm:spPr/>
      <dgm:t>
        <a:bodyPr/>
        <a:lstStyle/>
        <a:p>
          <a:endParaRPr lang="ru-RU"/>
        </a:p>
      </dgm:t>
    </dgm:pt>
    <dgm:pt modelId="{724ACA6C-E49C-4127-B3BC-52A8EA5A6B5A}" type="sibTrans" cxnId="{2E9055B4-5F13-4DDA-82BF-A5B8B873DC98}">
      <dgm:prSet/>
      <dgm:spPr/>
      <dgm:t>
        <a:bodyPr/>
        <a:lstStyle/>
        <a:p>
          <a:endParaRPr lang="ru-RU"/>
        </a:p>
      </dgm:t>
    </dgm:pt>
    <dgm:pt modelId="{4487A5F2-C3D9-469E-9E7B-68CEDE580565}">
      <dgm:prSet phldrT="[Текст]"/>
      <dgm:spPr/>
      <dgm:t>
        <a:bodyPr/>
        <a:lstStyle/>
        <a:p>
          <a:endParaRPr lang="ru-RU" dirty="0"/>
        </a:p>
      </dgm:t>
    </dgm:pt>
    <dgm:pt modelId="{CB1EE364-23A0-4F5D-8C37-FECB266D1605}" type="parTrans" cxnId="{22FC0099-3E32-456F-BA73-E204C63D3E04}">
      <dgm:prSet/>
      <dgm:spPr/>
      <dgm:t>
        <a:bodyPr/>
        <a:lstStyle/>
        <a:p>
          <a:endParaRPr lang="ru-RU"/>
        </a:p>
      </dgm:t>
    </dgm:pt>
    <dgm:pt modelId="{6F476EC5-1DA7-4B5A-9ECC-227904A468FF}" type="sibTrans" cxnId="{22FC0099-3E32-456F-BA73-E204C63D3E04}">
      <dgm:prSet/>
      <dgm:spPr/>
      <dgm:t>
        <a:bodyPr/>
        <a:lstStyle/>
        <a:p>
          <a:endParaRPr lang="ru-RU"/>
        </a:p>
      </dgm:t>
    </dgm:pt>
    <dgm:pt modelId="{035A5BD1-136C-49E3-9A01-1657DF37D665}" type="pres">
      <dgm:prSet presAssocID="{9477F4B6-9E7D-4557-AA15-19E3FE82946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C5B0244-A050-4B4D-96CA-4103BA3981C6}" type="pres">
      <dgm:prSet presAssocID="{9477F4B6-9E7D-4557-AA15-19E3FE82946F}" presName="tSp" presStyleCnt="0"/>
      <dgm:spPr/>
    </dgm:pt>
    <dgm:pt modelId="{1F227926-8C79-4B12-A8D9-4A39BBBB80CA}" type="pres">
      <dgm:prSet presAssocID="{9477F4B6-9E7D-4557-AA15-19E3FE82946F}" presName="bSp" presStyleCnt="0"/>
      <dgm:spPr/>
    </dgm:pt>
    <dgm:pt modelId="{DDAFDC56-E79F-421C-99E9-900EC0F5052A}" type="pres">
      <dgm:prSet presAssocID="{9477F4B6-9E7D-4557-AA15-19E3FE82946F}" presName="process" presStyleCnt="0"/>
      <dgm:spPr/>
    </dgm:pt>
    <dgm:pt modelId="{9FB3F9E2-5CDA-4749-BD22-6C2E93CF3870}" type="pres">
      <dgm:prSet presAssocID="{64EBEC2A-2811-4193-8031-D78D1F53F49E}" presName="composite1" presStyleCnt="0"/>
      <dgm:spPr/>
    </dgm:pt>
    <dgm:pt modelId="{97312850-14EC-4EAA-BA73-2CB3AF7BC8D8}" type="pres">
      <dgm:prSet presAssocID="{64EBEC2A-2811-4193-8031-D78D1F53F49E}" presName="dummyNode1" presStyleLbl="node1" presStyleIdx="0" presStyleCnt="3"/>
      <dgm:spPr/>
    </dgm:pt>
    <dgm:pt modelId="{2B55C2BA-9766-48D0-8F2C-867FB247DCC0}" type="pres">
      <dgm:prSet presAssocID="{64EBEC2A-2811-4193-8031-D78D1F53F49E}" presName="childNode1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C890529-92F8-45F9-A6BB-25855DFD3279}" type="pres">
      <dgm:prSet presAssocID="{64EBEC2A-2811-4193-8031-D78D1F53F49E}" presName="childNode1tx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5B9A4ED-60EF-46A7-9CD0-B089CC0037A1}" type="pres">
      <dgm:prSet presAssocID="{64EBEC2A-2811-4193-8031-D78D1F53F49E}" presName="parentNode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C0A505B-458F-488B-B250-492B240688AA}" type="pres">
      <dgm:prSet presAssocID="{64EBEC2A-2811-4193-8031-D78D1F53F49E}" presName="connSite1" presStyleCnt="0"/>
      <dgm:spPr/>
    </dgm:pt>
    <dgm:pt modelId="{8ECA56EF-1D68-408D-877D-E5C2FDAB2B81}" type="pres">
      <dgm:prSet presAssocID="{A1452DD1-B359-45CE-91A6-C391370D46A9}" presName="Name9" presStyleLbl="sibTrans2D1" presStyleIdx="0" presStyleCnt="2"/>
      <dgm:spPr/>
      <dgm:t>
        <a:bodyPr/>
        <a:lstStyle/>
        <a:p>
          <a:endParaRPr lang="ru-RU"/>
        </a:p>
      </dgm:t>
    </dgm:pt>
    <dgm:pt modelId="{1E4E67E6-B6E4-4733-B213-09E054A76A61}" type="pres">
      <dgm:prSet presAssocID="{EAAF4A85-5019-4243-8BA7-8E44AE8B3E17}" presName="composite2" presStyleCnt="0"/>
      <dgm:spPr/>
    </dgm:pt>
    <dgm:pt modelId="{0D5FAE12-95EF-4707-8F50-3BC38BA6D2BA}" type="pres">
      <dgm:prSet presAssocID="{EAAF4A85-5019-4243-8BA7-8E44AE8B3E17}" presName="dummyNode2" presStyleLbl="node1" presStyleIdx="0" presStyleCnt="3"/>
      <dgm:spPr/>
    </dgm:pt>
    <dgm:pt modelId="{30A64EC2-A631-4442-BA8B-F7F845A96AC5}" type="pres">
      <dgm:prSet presAssocID="{EAAF4A85-5019-4243-8BA7-8E44AE8B3E17}" presName="childNode2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42C8471-A7E7-43F9-84CC-69DE75577116}" type="pres">
      <dgm:prSet presAssocID="{EAAF4A85-5019-4243-8BA7-8E44AE8B3E17}" presName="childNode2tx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C8CECD5-B952-4B3D-A431-B74117A7DDE4}" type="pres">
      <dgm:prSet presAssocID="{EAAF4A85-5019-4243-8BA7-8E44AE8B3E17}" presName="parentNode2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ACFE0EA-B8C2-4DC4-A132-E5840ACDC323}" type="pres">
      <dgm:prSet presAssocID="{EAAF4A85-5019-4243-8BA7-8E44AE8B3E17}" presName="connSite2" presStyleCnt="0"/>
      <dgm:spPr/>
    </dgm:pt>
    <dgm:pt modelId="{3911F3BB-AA8D-4270-ACAF-7501D6FD81E0}" type="pres">
      <dgm:prSet presAssocID="{8D1C22A7-11FF-461F-8BD5-7904E25F30EB}" presName="Name18" presStyleLbl="sibTrans2D1" presStyleIdx="1" presStyleCnt="2"/>
      <dgm:spPr/>
      <dgm:t>
        <a:bodyPr/>
        <a:lstStyle/>
        <a:p>
          <a:endParaRPr lang="ru-RU"/>
        </a:p>
      </dgm:t>
    </dgm:pt>
    <dgm:pt modelId="{05E76766-1C39-42FD-815F-BF7F1A890C7E}" type="pres">
      <dgm:prSet presAssocID="{A494FED8-A66B-4AFB-B399-B0E7E623BA8A}" presName="composite1" presStyleCnt="0"/>
      <dgm:spPr/>
    </dgm:pt>
    <dgm:pt modelId="{01082A7C-F488-4FDB-8D0E-1D9F8712A23B}" type="pres">
      <dgm:prSet presAssocID="{A494FED8-A66B-4AFB-B399-B0E7E623BA8A}" presName="dummyNode1" presStyleLbl="node1" presStyleIdx="1" presStyleCnt="3"/>
      <dgm:spPr/>
    </dgm:pt>
    <dgm:pt modelId="{CBB74A04-B816-41A6-8755-BB9A81989B67}" type="pres">
      <dgm:prSet presAssocID="{A494FED8-A66B-4AFB-B399-B0E7E623BA8A}" presName="childNode1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C891236-E9F0-428A-8B84-2FD04483EF71}" type="pres">
      <dgm:prSet presAssocID="{A494FED8-A66B-4AFB-B399-B0E7E623BA8A}" presName="childNode1tx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7DED399-0C9C-4EAE-8C38-58612E1C085B}" type="pres">
      <dgm:prSet presAssocID="{A494FED8-A66B-4AFB-B399-B0E7E623BA8A}" presName="parentNode1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5CA8395-565C-4FBE-AE26-D2F176FD9612}" type="pres">
      <dgm:prSet presAssocID="{A494FED8-A66B-4AFB-B399-B0E7E623BA8A}" presName="connSite1" presStyleCnt="0"/>
      <dgm:spPr/>
    </dgm:pt>
  </dgm:ptLst>
  <dgm:cxnLst>
    <dgm:cxn modelId="{2E9055B4-5F13-4DDA-82BF-A5B8B873DC98}" srcId="{A494FED8-A66B-4AFB-B399-B0E7E623BA8A}" destId="{C40780A8-AC82-403F-ACCD-5F8BA9FC0666}" srcOrd="0" destOrd="0" parTransId="{E302887E-B253-4F0D-8DEC-5AD1FA41F713}" sibTransId="{724ACA6C-E49C-4127-B3BC-52A8EA5A6B5A}"/>
    <dgm:cxn modelId="{24FF0712-685B-43DA-B2DF-530046AB5EDA}" type="presOf" srcId="{EAAF4A85-5019-4243-8BA7-8E44AE8B3E17}" destId="{FC8CECD5-B952-4B3D-A431-B74117A7DDE4}" srcOrd="0" destOrd="0" presId="urn:microsoft.com/office/officeart/2005/8/layout/hProcess4"/>
    <dgm:cxn modelId="{F61BA9E1-323E-49AD-B5BE-8C812B2B62B6}" type="presOf" srcId="{F926A494-0433-40FF-9D82-11FAC47EAA11}" destId="{2B55C2BA-9766-48D0-8F2C-867FB247DCC0}" srcOrd="0" destOrd="0" presId="urn:microsoft.com/office/officeart/2005/8/layout/hProcess4"/>
    <dgm:cxn modelId="{C449521D-7D4E-49B8-A3A3-93CE6170A87C}" type="presOf" srcId="{4487A5F2-C3D9-469E-9E7B-68CEDE580565}" destId="{842C8471-A7E7-43F9-84CC-69DE75577116}" srcOrd="1" destOrd="0" presId="urn:microsoft.com/office/officeart/2005/8/layout/hProcess4"/>
    <dgm:cxn modelId="{BACC3B44-0958-45B3-AA00-9B1AF19F5FC7}" type="presOf" srcId="{64EBEC2A-2811-4193-8031-D78D1F53F49E}" destId="{45B9A4ED-60EF-46A7-9CD0-B089CC0037A1}" srcOrd="0" destOrd="0" presId="urn:microsoft.com/office/officeart/2005/8/layout/hProcess4"/>
    <dgm:cxn modelId="{FCD71585-9AC7-4FB0-B020-E97962E3D4B5}" type="presOf" srcId="{CBAADE88-0B3B-45E2-A456-E90E990EE8D5}" destId="{842C8471-A7E7-43F9-84CC-69DE75577116}" srcOrd="1" destOrd="1" presId="urn:microsoft.com/office/officeart/2005/8/layout/hProcess4"/>
    <dgm:cxn modelId="{345828F2-3C40-4A5A-99C0-D27A55F6D05E}" type="presOf" srcId="{A1452DD1-B359-45CE-91A6-C391370D46A9}" destId="{8ECA56EF-1D68-408D-877D-E5C2FDAB2B81}" srcOrd="0" destOrd="0" presId="urn:microsoft.com/office/officeart/2005/8/layout/hProcess4"/>
    <dgm:cxn modelId="{A652625C-82D8-4707-B551-0C4EABBE0FA8}" srcId="{9477F4B6-9E7D-4557-AA15-19E3FE82946F}" destId="{EAAF4A85-5019-4243-8BA7-8E44AE8B3E17}" srcOrd="1" destOrd="0" parTransId="{64B04D4F-7819-43BB-B5C5-CEBA88885BA6}" sibTransId="{8D1C22A7-11FF-461F-8BD5-7904E25F30EB}"/>
    <dgm:cxn modelId="{93241C9D-86B4-4BAB-B5BD-4C99A047F7EC}" type="presOf" srcId="{F926A494-0433-40FF-9D82-11FAC47EAA11}" destId="{6C890529-92F8-45F9-A6BB-25855DFD3279}" srcOrd="1" destOrd="0" presId="urn:microsoft.com/office/officeart/2005/8/layout/hProcess4"/>
    <dgm:cxn modelId="{A6EB5D49-028D-4C59-AA27-C0519EB13D92}" srcId="{9477F4B6-9E7D-4557-AA15-19E3FE82946F}" destId="{A494FED8-A66B-4AFB-B399-B0E7E623BA8A}" srcOrd="2" destOrd="0" parTransId="{97DBE366-DA92-48CB-9907-36DB63E27D6E}" sibTransId="{925F3290-CF7B-4E2E-B479-62AFECA0B139}"/>
    <dgm:cxn modelId="{34AF4580-9105-49EC-B7F0-9730438AD9F6}" type="presOf" srcId="{8D1C22A7-11FF-461F-8BD5-7904E25F30EB}" destId="{3911F3BB-AA8D-4270-ACAF-7501D6FD81E0}" srcOrd="0" destOrd="0" presId="urn:microsoft.com/office/officeart/2005/8/layout/hProcess4"/>
    <dgm:cxn modelId="{47952ACB-7E50-4117-98C5-27BD7C78FCB4}" type="presOf" srcId="{9477F4B6-9E7D-4557-AA15-19E3FE82946F}" destId="{035A5BD1-136C-49E3-9A01-1657DF37D665}" srcOrd="0" destOrd="0" presId="urn:microsoft.com/office/officeart/2005/8/layout/hProcess4"/>
    <dgm:cxn modelId="{FC6F537C-314A-421C-8050-DF4DB1E2DC1D}" type="presOf" srcId="{CBAADE88-0B3B-45E2-A456-E90E990EE8D5}" destId="{30A64EC2-A631-4442-BA8B-F7F845A96AC5}" srcOrd="0" destOrd="1" presId="urn:microsoft.com/office/officeart/2005/8/layout/hProcess4"/>
    <dgm:cxn modelId="{22FC0099-3E32-456F-BA73-E204C63D3E04}" srcId="{EAAF4A85-5019-4243-8BA7-8E44AE8B3E17}" destId="{4487A5F2-C3D9-469E-9E7B-68CEDE580565}" srcOrd="0" destOrd="0" parTransId="{CB1EE364-23A0-4F5D-8C37-FECB266D1605}" sibTransId="{6F476EC5-1DA7-4B5A-9ECC-227904A468FF}"/>
    <dgm:cxn modelId="{795BE364-35CD-444B-932C-38BED9BE17A2}" srcId="{EAAF4A85-5019-4243-8BA7-8E44AE8B3E17}" destId="{CBAADE88-0B3B-45E2-A456-E90E990EE8D5}" srcOrd="1" destOrd="0" parTransId="{60C0B58B-92CB-4E3E-BD07-1F86D6EF9CE6}" sibTransId="{EA07D57A-7428-45C1-BC50-E3E25C1DFB5B}"/>
    <dgm:cxn modelId="{EAD3164C-5BB0-460D-BE7F-D23E0968DE3D}" type="presOf" srcId="{A494FED8-A66B-4AFB-B399-B0E7E623BA8A}" destId="{F7DED399-0C9C-4EAE-8C38-58612E1C085B}" srcOrd="0" destOrd="0" presId="urn:microsoft.com/office/officeart/2005/8/layout/hProcess4"/>
    <dgm:cxn modelId="{6056536E-F247-4637-9CEA-5067E0D31092}" type="presOf" srcId="{4487A5F2-C3D9-469E-9E7B-68CEDE580565}" destId="{30A64EC2-A631-4442-BA8B-F7F845A96AC5}" srcOrd="0" destOrd="0" presId="urn:microsoft.com/office/officeart/2005/8/layout/hProcess4"/>
    <dgm:cxn modelId="{CD8C0A41-99F6-431D-9B06-C52870FBF469}" type="presOf" srcId="{C40780A8-AC82-403F-ACCD-5F8BA9FC0666}" destId="{1C891236-E9F0-428A-8B84-2FD04483EF71}" srcOrd="1" destOrd="0" presId="urn:microsoft.com/office/officeart/2005/8/layout/hProcess4"/>
    <dgm:cxn modelId="{F084A47E-DD97-4F5D-9078-053B4424BDB9}" srcId="{64EBEC2A-2811-4193-8031-D78D1F53F49E}" destId="{F926A494-0433-40FF-9D82-11FAC47EAA11}" srcOrd="0" destOrd="0" parTransId="{7FE82E7B-3533-42FA-9F41-BEECED8DF925}" sibTransId="{D40780FB-C5A3-4B4E-8774-CA314B86855E}"/>
    <dgm:cxn modelId="{2EDF7305-ABE3-4E8B-A774-6417AD2B79A2}" srcId="{9477F4B6-9E7D-4557-AA15-19E3FE82946F}" destId="{64EBEC2A-2811-4193-8031-D78D1F53F49E}" srcOrd="0" destOrd="0" parTransId="{A83F7769-F915-49BE-9498-CE28042531B1}" sibTransId="{A1452DD1-B359-45CE-91A6-C391370D46A9}"/>
    <dgm:cxn modelId="{951E2397-A412-4721-8847-D809489FAB1F}" type="presOf" srcId="{C40780A8-AC82-403F-ACCD-5F8BA9FC0666}" destId="{CBB74A04-B816-41A6-8755-BB9A81989B67}" srcOrd="0" destOrd="0" presId="urn:microsoft.com/office/officeart/2005/8/layout/hProcess4"/>
    <dgm:cxn modelId="{10580028-93B5-42EE-80BA-6829B29BB10B}" type="presParOf" srcId="{035A5BD1-136C-49E3-9A01-1657DF37D665}" destId="{EC5B0244-A050-4B4D-96CA-4103BA3981C6}" srcOrd="0" destOrd="0" presId="urn:microsoft.com/office/officeart/2005/8/layout/hProcess4"/>
    <dgm:cxn modelId="{C4D0A676-60C9-4D6B-A1E0-F3F0ADA42CA9}" type="presParOf" srcId="{035A5BD1-136C-49E3-9A01-1657DF37D665}" destId="{1F227926-8C79-4B12-A8D9-4A39BBBB80CA}" srcOrd="1" destOrd="0" presId="urn:microsoft.com/office/officeart/2005/8/layout/hProcess4"/>
    <dgm:cxn modelId="{DA8E4479-C969-4468-84FB-B321197B5676}" type="presParOf" srcId="{035A5BD1-136C-49E3-9A01-1657DF37D665}" destId="{DDAFDC56-E79F-421C-99E9-900EC0F5052A}" srcOrd="2" destOrd="0" presId="urn:microsoft.com/office/officeart/2005/8/layout/hProcess4"/>
    <dgm:cxn modelId="{C52A547D-4874-4157-913E-33294906F038}" type="presParOf" srcId="{DDAFDC56-E79F-421C-99E9-900EC0F5052A}" destId="{9FB3F9E2-5CDA-4749-BD22-6C2E93CF3870}" srcOrd="0" destOrd="0" presId="urn:microsoft.com/office/officeart/2005/8/layout/hProcess4"/>
    <dgm:cxn modelId="{9FD7A23A-16D0-4523-833E-4F672BA2DA6F}" type="presParOf" srcId="{9FB3F9E2-5CDA-4749-BD22-6C2E93CF3870}" destId="{97312850-14EC-4EAA-BA73-2CB3AF7BC8D8}" srcOrd="0" destOrd="0" presId="urn:microsoft.com/office/officeart/2005/8/layout/hProcess4"/>
    <dgm:cxn modelId="{417D5F50-55CD-4F85-8459-274C8E498285}" type="presParOf" srcId="{9FB3F9E2-5CDA-4749-BD22-6C2E93CF3870}" destId="{2B55C2BA-9766-48D0-8F2C-867FB247DCC0}" srcOrd="1" destOrd="0" presId="urn:microsoft.com/office/officeart/2005/8/layout/hProcess4"/>
    <dgm:cxn modelId="{DBC9A258-0EB7-49E7-8AE4-8CDBD96BF1E3}" type="presParOf" srcId="{9FB3F9E2-5CDA-4749-BD22-6C2E93CF3870}" destId="{6C890529-92F8-45F9-A6BB-25855DFD3279}" srcOrd="2" destOrd="0" presId="urn:microsoft.com/office/officeart/2005/8/layout/hProcess4"/>
    <dgm:cxn modelId="{725942CD-3A17-49CD-ABF6-22F40749FB65}" type="presParOf" srcId="{9FB3F9E2-5CDA-4749-BD22-6C2E93CF3870}" destId="{45B9A4ED-60EF-46A7-9CD0-B089CC0037A1}" srcOrd="3" destOrd="0" presId="urn:microsoft.com/office/officeart/2005/8/layout/hProcess4"/>
    <dgm:cxn modelId="{DF22DBE6-6738-490F-A602-33231B5FBD6D}" type="presParOf" srcId="{9FB3F9E2-5CDA-4749-BD22-6C2E93CF3870}" destId="{6C0A505B-458F-488B-B250-492B240688AA}" srcOrd="4" destOrd="0" presId="urn:microsoft.com/office/officeart/2005/8/layout/hProcess4"/>
    <dgm:cxn modelId="{08DE3ED3-04BD-4EB2-9B85-28537004A582}" type="presParOf" srcId="{DDAFDC56-E79F-421C-99E9-900EC0F5052A}" destId="{8ECA56EF-1D68-408D-877D-E5C2FDAB2B81}" srcOrd="1" destOrd="0" presId="urn:microsoft.com/office/officeart/2005/8/layout/hProcess4"/>
    <dgm:cxn modelId="{ED4A2121-B406-40AB-A6F1-7FECB9053E8A}" type="presParOf" srcId="{DDAFDC56-E79F-421C-99E9-900EC0F5052A}" destId="{1E4E67E6-B6E4-4733-B213-09E054A76A61}" srcOrd="2" destOrd="0" presId="urn:microsoft.com/office/officeart/2005/8/layout/hProcess4"/>
    <dgm:cxn modelId="{C9FAA824-E159-4F09-BCE6-EF14804CD7BF}" type="presParOf" srcId="{1E4E67E6-B6E4-4733-B213-09E054A76A61}" destId="{0D5FAE12-95EF-4707-8F50-3BC38BA6D2BA}" srcOrd="0" destOrd="0" presId="urn:microsoft.com/office/officeart/2005/8/layout/hProcess4"/>
    <dgm:cxn modelId="{B80D77E6-4DA7-4B12-A502-9A9A4DC09121}" type="presParOf" srcId="{1E4E67E6-B6E4-4733-B213-09E054A76A61}" destId="{30A64EC2-A631-4442-BA8B-F7F845A96AC5}" srcOrd="1" destOrd="0" presId="urn:microsoft.com/office/officeart/2005/8/layout/hProcess4"/>
    <dgm:cxn modelId="{6B782BB5-9E40-4CA8-8F83-0C011B3EEF19}" type="presParOf" srcId="{1E4E67E6-B6E4-4733-B213-09E054A76A61}" destId="{842C8471-A7E7-43F9-84CC-69DE75577116}" srcOrd="2" destOrd="0" presId="urn:microsoft.com/office/officeart/2005/8/layout/hProcess4"/>
    <dgm:cxn modelId="{B5A6C1E3-ACF1-4C3A-96C6-E156565A8D20}" type="presParOf" srcId="{1E4E67E6-B6E4-4733-B213-09E054A76A61}" destId="{FC8CECD5-B952-4B3D-A431-B74117A7DDE4}" srcOrd="3" destOrd="0" presId="urn:microsoft.com/office/officeart/2005/8/layout/hProcess4"/>
    <dgm:cxn modelId="{A9B93BBC-9448-41CD-95E5-D510861EEF47}" type="presParOf" srcId="{1E4E67E6-B6E4-4733-B213-09E054A76A61}" destId="{2ACFE0EA-B8C2-4DC4-A132-E5840ACDC323}" srcOrd="4" destOrd="0" presId="urn:microsoft.com/office/officeart/2005/8/layout/hProcess4"/>
    <dgm:cxn modelId="{913DF2E7-11AB-4388-8C3A-ED3687BD6692}" type="presParOf" srcId="{DDAFDC56-E79F-421C-99E9-900EC0F5052A}" destId="{3911F3BB-AA8D-4270-ACAF-7501D6FD81E0}" srcOrd="3" destOrd="0" presId="urn:microsoft.com/office/officeart/2005/8/layout/hProcess4"/>
    <dgm:cxn modelId="{44D91414-5610-4978-9B7A-0F02489F8B72}" type="presParOf" srcId="{DDAFDC56-E79F-421C-99E9-900EC0F5052A}" destId="{05E76766-1C39-42FD-815F-BF7F1A890C7E}" srcOrd="4" destOrd="0" presId="urn:microsoft.com/office/officeart/2005/8/layout/hProcess4"/>
    <dgm:cxn modelId="{28990039-0F37-4319-9648-266A73410CF6}" type="presParOf" srcId="{05E76766-1C39-42FD-815F-BF7F1A890C7E}" destId="{01082A7C-F488-4FDB-8D0E-1D9F8712A23B}" srcOrd="0" destOrd="0" presId="urn:microsoft.com/office/officeart/2005/8/layout/hProcess4"/>
    <dgm:cxn modelId="{5BBDAD69-09B7-41B0-ACAA-7C8C225DC5F6}" type="presParOf" srcId="{05E76766-1C39-42FD-815F-BF7F1A890C7E}" destId="{CBB74A04-B816-41A6-8755-BB9A81989B67}" srcOrd="1" destOrd="0" presId="urn:microsoft.com/office/officeart/2005/8/layout/hProcess4"/>
    <dgm:cxn modelId="{88F027C4-26DF-4D64-8BC5-6FEB59755105}" type="presParOf" srcId="{05E76766-1C39-42FD-815F-BF7F1A890C7E}" destId="{1C891236-E9F0-428A-8B84-2FD04483EF71}" srcOrd="2" destOrd="0" presId="urn:microsoft.com/office/officeart/2005/8/layout/hProcess4"/>
    <dgm:cxn modelId="{DED12225-94C9-4767-B6EA-56EE75F57641}" type="presParOf" srcId="{05E76766-1C39-42FD-815F-BF7F1A890C7E}" destId="{F7DED399-0C9C-4EAE-8C38-58612E1C085B}" srcOrd="3" destOrd="0" presId="urn:microsoft.com/office/officeart/2005/8/layout/hProcess4"/>
    <dgm:cxn modelId="{3474A80A-9478-43FA-8AC5-9A58BD56398F}" type="presParOf" srcId="{05E76766-1C39-42FD-815F-BF7F1A890C7E}" destId="{15CA8395-565C-4FBE-AE26-D2F176FD9612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55C2BA-9766-48D0-8F2C-867FB247DCC0}">
      <dsp:nvSpPr>
        <dsp:cNvPr id="0" name=""/>
        <dsp:cNvSpPr/>
      </dsp:nvSpPr>
      <dsp:spPr>
        <a:xfrm>
          <a:off x="1149" y="1445966"/>
          <a:ext cx="2210226" cy="18229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z-Cyrl-UZ" sz="1800" kern="1200" dirty="0" smtClean="0"/>
            <a:t>Рўйхатга олинган сертификатларни сақлаш жадвали</a:t>
          </a:r>
          <a:endParaRPr lang="ru-RU" sz="1800" kern="1200" dirty="0"/>
        </a:p>
      </dsp:txBody>
      <dsp:txXfrm>
        <a:off x="43101" y="1487918"/>
        <a:ext cx="2126322" cy="1348433"/>
      </dsp:txXfrm>
    </dsp:sp>
    <dsp:sp modelId="{8ECA56EF-1D68-408D-877D-E5C2FDAB2B81}">
      <dsp:nvSpPr>
        <dsp:cNvPr id="0" name=""/>
        <dsp:cNvSpPr/>
      </dsp:nvSpPr>
      <dsp:spPr>
        <a:xfrm>
          <a:off x="1258503" y="1934964"/>
          <a:ext cx="2356482" cy="2356482"/>
        </a:xfrm>
        <a:prstGeom prst="leftCircularArrow">
          <a:avLst>
            <a:gd name="adj1" fmla="val 2813"/>
            <a:gd name="adj2" fmla="val 343422"/>
            <a:gd name="adj3" fmla="val 2118933"/>
            <a:gd name="adj4" fmla="val 9024489"/>
            <a:gd name="adj5" fmla="val 3282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5B9A4ED-60EF-46A7-9CD0-B089CC0037A1}">
      <dsp:nvSpPr>
        <dsp:cNvPr id="0" name=""/>
        <dsp:cNvSpPr/>
      </dsp:nvSpPr>
      <dsp:spPr>
        <a:xfrm>
          <a:off x="492311" y="2878303"/>
          <a:ext cx="1964646" cy="7812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err="1" smtClean="0"/>
            <a:t>Table_Cert</a:t>
          </a:r>
          <a:endParaRPr lang="ru-RU" sz="2800" kern="1200" dirty="0"/>
        </a:p>
      </dsp:txBody>
      <dsp:txXfrm>
        <a:off x="515194" y="2901186"/>
        <a:ext cx="1918880" cy="735508"/>
      </dsp:txXfrm>
    </dsp:sp>
    <dsp:sp modelId="{30A64EC2-A631-4442-BA8B-F7F845A96AC5}">
      <dsp:nvSpPr>
        <dsp:cNvPr id="0" name=""/>
        <dsp:cNvSpPr/>
      </dsp:nvSpPr>
      <dsp:spPr>
        <a:xfrm>
          <a:off x="2772624" y="1445966"/>
          <a:ext cx="2210226" cy="18229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ru-RU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z-Cyrl-UZ" sz="1800" kern="1200" dirty="0" smtClean="0"/>
            <a:t>Сертификат эгасининг анкета маълумотларини сақлаш жадвали</a:t>
          </a:r>
          <a:endParaRPr lang="ru-RU" sz="1800" kern="1200" dirty="0"/>
        </a:p>
      </dsp:txBody>
      <dsp:txXfrm>
        <a:off x="2814576" y="1878556"/>
        <a:ext cx="2126322" cy="1348433"/>
      </dsp:txXfrm>
    </dsp:sp>
    <dsp:sp modelId="{3911F3BB-AA8D-4270-ACAF-7501D6FD81E0}">
      <dsp:nvSpPr>
        <dsp:cNvPr id="0" name=""/>
        <dsp:cNvSpPr/>
      </dsp:nvSpPr>
      <dsp:spPr>
        <a:xfrm>
          <a:off x="4011559" y="351984"/>
          <a:ext cx="2638900" cy="2638900"/>
        </a:xfrm>
        <a:prstGeom prst="circularArrow">
          <a:avLst>
            <a:gd name="adj1" fmla="val 2512"/>
            <a:gd name="adj2" fmla="val 304526"/>
            <a:gd name="adj3" fmla="val 19519963"/>
            <a:gd name="adj4" fmla="val 12575511"/>
            <a:gd name="adj5" fmla="val 2931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C8CECD5-B952-4B3D-A431-B74117A7DDE4}">
      <dsp:nvSpPr>
        <dsp:cNvPr id="0" name=""/>
        <dsp:cNvSpPr/>
      </dsp:nvSpPr>
      <dsp:spPr>
        <a:xfrm>
          <a:off x="3263785" y="1055329"/>
          <a:ext cx="1964646" cy="7812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err="1" smtClean="0"/>
            <a:t>Table_User</a:t>
          </a:r>
          <a:endParaRPr lang="ru-RU" sz="2800" kern="1200" dirty="0"/>
        </a:p>
      </dsp:txBody>
      <dsp:txXfrm>
        <a:off x="3286668" y="1078212"/>
        <a:ext cx="1918880" cy="735508"/>
      </dsp:txXfrm>
    </dsp:sp>
    <dsp:sp modelId="{CBB74A04-B816-41A6-8755-BB9A81989B67}">
      <dsp:nvSpPr>
        <dsp:cNvPr id="0" name=""/>
        <dsp:cNvSpPr/>
      </dsp:nvSpPr>
      <dsp:spPr>
        <a:xfrm>
          <a:off x="5544098" y="1445966"/>
          <a:ext cx="2210226" cy="18229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z-Cyrl-UZ" sz="1800" kern="1200" dirty="0" smtClean="0"/>
            <a:t>Тизимда мавжуд барча хатларни сақлаш  жадвали</a:t>
          </a:r>
          <a:endParaRPr lang="ru-RU" sz="1800" kern="1200" dirty="0"/>
        </a:p>
      </dsp:txBody>
      <dsp:txXfrm>
        <a:off x="5586050" y="1487918"/>
        <a:ext cx="2126322" cy="1348433"/>
      </dsp:txXfrm>
    </dsp:sp>
    <dsp:sp modelId="{F7DED399-0C9C-4EAE-8C38-58612E1C085B}">
      <dsp:nvSpPr>
        <dsp:cNvPr id="0" name=""/>
        <dsp:cNvSpPr/>
      </dsp:nvSpPr>
      <dsp:spPr>
        <a:xfrm>
          <a:off x="6035260" y="2878303"/>
          <a:ext cx="1964646" cy="7812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err="1" smtClean="0"/>
            <a:t>Table_XAT</a:t>
          </a:r>
          <a:endParaRPr lang="ru-RU" sz="2800" kern="1200" dirty="0"/>
        </a:p>
      </dsp:txBody>
      <dsp:txXfrm>
        <a:off x="6058143" y="2901186"/>
        <a:ext cx="1918880" cy="7355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84CB9AF8-1F54-4B42-B7B7-A7DC0588909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65586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7639AC1-F58E-4F3B-A6C2-AAAE30430AAD}" type="slidenum">
              <a:rPr lang="ru-RU"/>
              <a:pPr eaLnBrk="1" hangingPunct="1"/>
              <a:t>5</a:t>
            </a:fld>
            <a:endParaRPr lang="ru-RU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619125"/>
            <a:ext cx="4749800" cy="3562350"/>
          </a:xfrm>
          <a:ln w="12700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F8D3E87-B4DF-41DC-B7FD-B2E1EF230C3F}" type="slidenum">
              <a:rPr lang="ru-RU"/>
              <a:pPr eaLnBrk="1" hangingPunct="1"/>
              <a:t>6</a:t>
            </a:fld>
            <a:endParaRPr lang="ru-RU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619125"/>
            <a:ext cx="4749800" cy="3562350"/>
          </a:xfrm>
          <a:ln w="12700">
            <a:solidFill>
              <a:schemeClr val="tx1"/>
            </a:solidFill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D5402-BA27-49CD-A5D1-00E68C808B0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634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AD4D8-C2A0-40BB-B6D4-B4DCA609C68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3133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3CC17B-9777-4AA9-A7E3-8837AA0C246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202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8AB6DF-6AFB-4B52-A4A4-49585BC0B56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842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D1676-E078-4123-87F0-C9CBC60A502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3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1EB211-036D-488B-80A8-9B467C17837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536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6DD261-4368-42AD-9CB1-C0395674F38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9142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76FA65-CE3F-47A8-915C-E5CE9713C92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241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B1A500-2824-48BA-AD64-D64E0AE336F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1381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481E4B-7755-4A65-8C34-C95C01B76EE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916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382A0-F493-41F5-AA7F-4DA43D6EDA2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7098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3BC469-CBC7-4F80-8E11-EC89B77F096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5220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9C73424F-F2DE-4B45-A119-79FFD14D84F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611560" y="1916832"/>
            <a:ext cx="763284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z-Cyrl-UZ" sz="2800" b="1" dirty="0">
                <a:latin typeface="Times New Roman"/>
                <a:ea typeface="Times New Roman"/>
              </a:rPr>
              <a:t>Очиқ калитлар инфраструктураси (ОКИ). ОКИ компоненталари ва функциялари. Сертификатлар ҳосил қилиш. ОКИ соҳасидаги мавжуд стандартлар.</a:t>
            </a:r>
            <a:endParaRPr lang="uz-Cyrl-UZ" sz="28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1879600" y="1211263"/>
            <a:ext cx="5478463" cy="646112"/>
          </a:xfrm>
          <a:prstGeom prst="rect">
            <a:avLst/>
          </a:prstGeom>
          <a:solidFill>
            <a:srgbClr val="F2F2F2"/>
          </a:solidFill>
          <a:ln w="25400">
            <a:solidFill>
              <a:srgbClr val="FF0066"/>
            </a:solidFill>
            <a:miter lim="800000"/>
            <a:headEnd/>
            <a:tailEnd/>
          </a:ln>
          <a:effectLst>
            <a:outerShdw dist="38100" dir="2700000" algn="tl" rotWithShape="0">
              <a:srgbClr val="000000">
                <a:alpha val="39999"/>
              </a:srgbClr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ru-RU" b="1" dirty="0" err="1"/>
              <a:t>Ахборот</a:t>
            </a:r>
            <a:r>
              <a:rPr lang="ru-RU" b="1" dirty="0"/>
              <a:t> коммуникация </a:t>
            </a:r>
            <a:r>
              <a:rPr lang="ru-RU" b="1" dirty="0" err="1"/>
              <a:t>тизимларида</a:t>
            </a:r>
            <a:r>
              <a:rPr lang="ru-RU" b="1" dirty="0"/>
              <a:t> </a:t>
            </a:r>
            <a:r>
              <a:rPr lang="ru-RU" b="1" dirty="0" err="1"/>
              <a:t>ахборот</a:t>
            </a:r>
            <a:r>
              <a:rPr lang="ru-RU" b="1" dirty="0"/>
              <a:t> </a:t>
            </a:r>
            <a:r>
              <a:rPr lang="ru-RU" b="1" dirty="0" err="1"/>
              <a:t>хавфсизлигини</a:t>
            </a:r>
            <a:r>
              <a:rPr lang="ru-RU" b="1" dirty="0"/>
              <a:t> </a:t>
            </a:r>
            <a:r>
              <a:rPr lang="ru-RU" b="1" dirty="0" err="1"/>
              <a:t>таъминлаш</a:t>
            </a:r>
            <a:r>
              <a:rPr lang="ru-RU" b="1" dirty="0"/>
              <a:t> </a:t>
            </a:r>
            <a:r>
              <a:rPr lang="ru-RU" b="1" dirty="0" err="1"/>
              <a:t>усуллари</a:t>
            </a:r>
            <a:r>
              <a:rPr lang="uz-Cyrl-UZ" b="1" dirty="0"/>
              <a:t>:</a:t>
            </a: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1500188" y="0"/>
            <a:ext cx="7500937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uz-Cyrl-UZ" sz="2200" b="1">
                <a:solidFill>
                  <a:schemeClr val="bg1"/>
                </a:solidFill>
              </a:rPr>
              <a:t>Ахборот коммуникация тизимларида ахборот хавфсизлигини таъминлаш усуллари </a:t>
            </a:r>
            <a:endParaRPr lang="ru-RU" sz="2200" b="1">
              <a:solidFill>
                <a:schemeClr val="bg1"/>
              </a:solidFill>
            </a:endParaRPr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1116013" y="2473325"/>
            <a:ext cx="3024187" cy="944563"/>
          </a:xfrm>
          <a:prstGeom prst="rect">
            <a:avLst/>
          </a:prstGeom>
          <a:gradFill rotWithShape="1">
            <a:gsLst>
              <a:gs pos="0">
                <a:srgbClr val="66FF33"/>
              </a:gs>
              <a:gs pos="50000">
                <a:schemeClr val="bg1"/>
              </a:gs>
              <a:gs pos="100000">
                <a:srgbClr val="66FF33"/>
              </a:gs>
            </a:gsLst>
            <a:lin ang="5400000" scaled="1"/>
          </a:gradFill>
          <a:ln w="28575">
            <a:solidFill>
              <a:srgbClr val="00FF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/>
              <a:t>А</a:t>
            </a:r>
            <a:r>
              <a:rPr lang="uz-Cyrl-UZ"/>
              <a:t>хборот </a:t>
            </a:r>
            <a:r>
              <a:rPr lang="ru-RU"/>
              <a:t>хавфсизлигини таъминлаш</a:t>
            </a:r>
            <a:r>
              <a:rPr lang="uz-Cyrl-UZ"/>
              <a:t>нинг классик усулларини қўллаш</a:t>
            </a:r>
            <a:r>
              <a:rPr lang="ru-RU"/>
              <a:t> </a:t>
            </a:r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5148263" y="2473325"/>
            <a:ext cx="2808287" cy="944563"/>
          </a:xfrm>
          <a:prstGeom prst="rect">
            <a:avLst/>
          </a:prstGeom>
          <a:gradFill rotWithShape="1">
            <a:gsLst>
              <a:gs pos="0">
                <a:srgbClr val="66FF33"/>
              </a:gs>
              <a:gs pos="50000">
                <a:schemeClr val="bg1"/>
              </a:gs>
              <a:gs pos="100000">
                <a:srgbClr val="66FF33"/>
              </a:gs>
            </a:gsLst>
            <a:lin ang="5400000" scaled="1"/>
          </a:gradFill>
          <a:ln w="28575">
            <a:solidFill>
              <a:srgbClr val="00FF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uz-Cyrl-UZ"/>
              <a:t>Очиқ калитлар инфраструктурасини қўллаш</a:t>
            </a:r>
            <a:r>
              <a:rPr lang="ru-RU"/>
              <a:t> </a:t>
            </a:r>
          </a:p>
        </p:txBody>
      </p:sp>
      <p:sp>
        <p:nvSpPr>
          <p:cNvPr id="35846" name="Text Box 6" descr="Букет"/>
          <p:cNvSpPr txBox="1">
            <a:spLocks noChangeArrowheads="1"/>
          </p:cNvSpPr>
          <p:nvPr/>
        </p:nvSpPr>
        <p:spPr bwMode="auto">
          <a:xfrm>
            <a:off x="1116013" y="4057650"/>
            <a:ext cx="2951162" cy="1092200"/>
          </a:xfrm>
          <a:prstGeom prst="rect">
            <a:avLst/>
          </a:prstGeom>
          <a:blipFill dpi="0" rotWithShape="1">
            <a:blip r:embed="rId2">
              <a:alphaModFix amt="23000"/>
            </a:blip>
            <a:srcRect/>
            <a:tile tx="0" ty="0" sx="100000" sy="100000" flip="none" algn="tl"/>
          </a:blipFill>
          <a:ln w="38100">
            <a:solidFill>
              <a:srgbClr val="66CC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Char char="-"/>
            </a:pPr>
            <a:r>
              <a:rPr lang="uz-Cyrl-UZ"/>
              <a:t>симметрик шифрлаш алгоритмлари </a:t>
            </a:r>
            <a:endParaRPr lang="ru-RU"/>
          </a:p>
          <a:p>
            <a:pPr algn="just" eaLnBrk="1" hangingPunct="1">
              <a:spcBef>
                <a:spcPct val="50000"/>
              </a:spcBef>
              <a:buFontTx/>
              <a:buChar char="-"/>
            </a:pPr>
            <a:r>
              <a:rPr lang="ru-RU"/>
              <a:t> </a:t>
            </a:r>
            <a:r>
              <a:rPr lang="uz-Cyrl-UZ"/>
              <a:t>хэш-функция</a:t>
            </a:r>
            <a:r>
              <a:rPr lang="ru-RU"/>
              <a:t>лари</a:t>
            </a:r>
          </a:p>
        </p:txBody>
      </p:sp>
      <p:sp>
        <p:nvSpPr>
          <p:cNvPr id="35847" name="Text Box 7" descr="Букет"/>
          <p:cNvSpPr txBox="1">
            <a:spLocks noChangeArrowheads="1"/>
          </p:cNvSpPr>
          <p:nvPr/>
        </p:nvSpPr>
        <p:spPr bwMode="auto">
          <a:xfrm>
            <a:off x="5148263" y="3986213"/>
            <a:ext cx="3168650" cy="2466975"/>
          </a:xfrm>
          <a:prstGeom prst="rect">
            <a:avLst/>
          </a:prstGeom>
          <a:blipFill dpi="0" rotWithShape="1">
            <a:blip r:embed="rId2">
              <a:alphaModFix amt="23000"/>
            </a:blip>
            <a:srcRect/>
            <a:tile tx="0" ty="0" sx="100000" sy="100000" flip="none" algn="tl"/>
          </a:blipFill>
          <a:ln w="38100">
            <a:solidFill>
              <a:srgbClr val="66CC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ru-RU"/>
              <a:t>- </a:t>
            </a:r>
            <a:r>
              <a:rPr lang="uz-Cyrl-UZ"/>
              <a:t>симметрик шифрлаш алгоритмлари </a:t>
            </a:r>
            <a:endParaRPr lang="ru-RU"/>
          </a:p>
          <a:p>
            <a:pPr algn="just" eaLnBrk="1" hangingPunct="1">
              <a:spcBef>
                <a:spcPct val="50000"/>
              </a:spcBef>
              <a:buFontTx/>
              <a:buChar char="-"/>
            </a:pPr>
            <a:r>
              <a:rPr lang="ru-RU"/>
              <a:t> </a:t>
            </a:r>
            <a:r>
              <a:rPr lang="uz-Cyrl-UZ"/>
              <a:t>асимметрик шифрлаш алгоритмлари</a:t>
            </a:r>
            <a:endParaRPr lang="ru-RU"/>
          </a:p>
          <a:p>
            <a:pPr algn="just" eaLnBrk="1" hangingPunct="1">
              <a:spcBef>
                <a:spcPct val="50000"/>
              </a:spcBef>
              <a:buFontTx/>
              <a:buChar char="-"/>
            </a:pPr>
            <a:r>
              <a:rPr lang="uz-Cyrl-UZ"/>
              <a:t> хэш-функция</a:t>
            </a:r>
            <a:r>
              <a:rPr lang="ru-RU"/>
              <a:t>лари</a:t>
            </a:r>
          </a:p>
          <a:p>
            <a:pPr algn="just" eaLnBrk="1" hangingPunct="1">
              <a:spcBef>
                <a:spcPct val="50000"/>
              </a:spcBef>
              <a:buFontTx/>
              <a:buChar char="-"/>
            </a:pPr>
            <a:r>
              <a:rPr lang="ru-RU"/>
              <a:t> Электрон ра</a:t>
            </a:r>
            <a:r>
              <a:rPr lang="uz-Cyrl-UZ"/>
              <a:t>қ</a:t>
            </a:r>
            <a:r>
              <a:rPr lang="ru-RU"/>
              <a:t>амли имзо </a:t>
            </a:r>
            <a:r>
              <a:rPr lang="uz-Cyrl-UZ"/>
              <a:t>механизми</a:t>
            </a:r>
            <a:endParaRPr lang="ru-RU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627313" y="1897063"/>
            <a:ext cx="3960812" cy="576262"/>
            <a:chOff x="1655" y="1207"/>
            <a:chExt cx="2495" cy="363"/>
          </a:xfrm>
        </p:grpSpPr>
        <p:sp>
          <p:nvSpPr>
            <p:cNvPr id="4108" name="Line 9"/>
            <p:cNvSpPr>
              <a:spLocks noChangeShapeType="1"/>
            </p:cNvSpPr>
            <p:nvPr/>
          </p:nvSpPr>
          <p:spPr bwMode="auto">
            <a:xfrm>
              <a:off x="1655" y="1389"/>
              <a:ext cx="2495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4109" name="Line 10"/>
            <p:cNvSpPr>
              <a:spLocks noChangeShapeType="1"/>
            </p:cNvSpPr>
            <p:nvPr/>
          </p:nvSpPr>
          <p:spPr bwMode="auto">
            <a:xfrm>
              <a:off x="4150" y="1389"/>
              <a:ext cx="0" cy="181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4110" name="Line 11"/>
            <p:cNvSpPr>
              <a:spLocks noChangeShapeType="1"/>
            </p:cNvSpPr>
            <p:nvPr/>
          </p:nvSpPr>
          <p:spPr bwMode="auto">
            <a:xfrm>
              <a:off x="1655" y="1389"/>
              <a:ext cx="0" cy="181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4111" name="Line 12"/>
            <p:cNvSpPr>
              <a:spLocks noChangeShapeType="1"/>
            </p:cNvSpPr>
            <p:nvPr/>
          </p:nvSpPr>
          <p:spPr bwMode="auto">
            <a:xfrm flipV="1">
              <a:off x="2925" y="1207"/>
              <a:ext cx="0" cy="182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sp>
        <p:nvSpPr>
          <p:cNvPr id="35853" name="Line 13"/>
          <p:cNvSpPr>
            <a:spLocks noChangeShapeType="1"/>
          </p:cNvSpPr>
          <p:nvPr/>
        </p:nvSpPr>
        <p:spPr bwMode="auto">
          <a:xfrm>
            <a:off x="2555875" y="3409950"/>
            <a:ext cx="0" cy="6477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35854" name="Line 14"/>
          <p:cNvSpPr>
            <a:spLocks noChangeShapeType="1"/>
          </p:cNvSpPr>
          <p:nvPr/>
        </p:nvSpPr>
        <p:spPr bwMode="auto">
          <a:xfrm>
            <a:off x="6732588" y="3409950"/>
            <a:ext cx="0" cy="576263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107" name="Rectangle 16"/>
          <p:cNvSpPr>
            <a:spLocks noChangeArrowheads="1"/>
          </p:cNvSpPr>
          <p:nvPr/>
        </p:nvSpPr>
        <p:spPr bwMode="auto">
          <a:xfrm>
            <a:off x="179388" y="981075"/>
            <a:ext cx="8713787" cy="5616575"/>
          </a:xfrm>
          <a:prstGeom prst="rect">
            <a:avLst/>
          </a:prstGeom>
          <a:noFill/>
          <a:ln w="76200" cmpd="tri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36965167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3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10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5844" grpId="0" animBg="1"/>
      <p:bldP spid="35845" grpId="0" animBg="1"/>
      <p:bldP spid="35846" grpId="0" animBg="1"/>
      <p:bldP spid="35847" grpId="0" animBg="1"/>
      <p:bldP spid="35853" grpId="0" animBg="1"/>
      <p:bldP spid="3585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ChangeArrowheads="1"/>
          </p:cNvSpPr>
          <p:nvPr/>
        </p:nvSpPr>
        <p:spPr bwMode="auto">
          <a:xfrm>
            <a:off x="2124075" y="188913"/>
            <a:ext cx="66976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uz-Cyrl-UZ" sz="2200" b="1">
                <a:solidFill>
                  <a:schemeClr val="bg1"/>
                </a:solidFill>
              </a:rPr>
              <a:t>Очиқ калитлар инфраструктураси</a:t>
            </a:r>
            <a:endParaRPr lang="ru-RU" sz="2200" b="1"/>
          </a:p>
        </p:txBody>
      </p:sp>
      <p:sp>
        <p:nvSpPr>
          <p:cNvPr id="5123" name="Rectangle 16"/>
          <p:cNvSpPr>
            <a:spLocks noChangeArrowheads="1"/>
          </p:cNvSpPr>
          <p:nvPr/>
        </p:nvSpPr>
        <p:spPr bwMode="auto">
          <a:xfrm>
            <a:off x="179388" y="981075"/>
            <a:ext cx="8713787" cy="5616575"/>
          </a:xfrm>
          <a:prstGeom prst="rect">
            <a:avLst/>
          </a:prstGeom>
          <a:noFill/>
          <a:ln w="76200" cmpd="tri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395288" y="1412875"/>
            <a:ext cx="8208962" cy="1955800"/>
          </a:xfrm>
          <a:prstGeom prst="rect">
            <a:avLst/>
          </a:prstGeom>
          <a:solidFill>
            <a:srgbClr val="E2FDFE"/>
          </a:solidFill>
          <a:ln w="38100">
            <a:solidFill>
              <a:srgbClr val="0066FF">
                <a:alpha val="65881"/>
              </a:srgbClr>
            </a:solidFill>
            <a:prstDash val="sysDot"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uz-Cyrl-UZ" sz="2400" b="1" i="1" u="sng">
                <a:solidFill>
                  <a:srgbClr val="800000"/>
                </a:solidFill>
              </a:rPr>
              <a:t>Очиқ калитлар инфраструктураси (ОКИ)</a:t>
            </a:r>
            <a:r>
              <a:rPr lang="uz-Cyrl-UZ" sz="2400"/>
              <a:t> – бу имзо очиқ калитининг рақамли сертификатларини ҳосил қилиш, сақлаш, текшириш, ҳаракатдан тўхтатиш, янгилаш ва бекор қилиш учун хизматлар ва сервислар тўпламидир.</a:t>
            </a:r>
            <a:endParaRPr lang="ru-RU" sz="2400"/>
          </a:p>
        </p:txBody>
      </p:sp>
      <p:sp>
        <p:nvSpPr>
          <p:cNvPr id="38918" name="Text Box 6"/>
          <p:cNvSpPr txBox="1">
            <a:spLocks noChangeArrowheads="1"/>
          </p:cNvSpPr>
          <p:nvPr/>
        </p:nvSpPr>
        <p:spPr bwMode="auto">
          <a:xfrm>
            <a:off x="468313" y="3716338"/>
            <a:ext cx="8137525" cy="271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uz-Cyrl-UZ" sz="2400" b="1" u="sng">
                <a:solidFill>
                  <a:srgbClr val="800000"/>
                </a:solidFill>
              </a:rPr>
              <a:t>ОКИ нинг асосий компонентлари </a:t>
            </a:r>
            <a:endParaRPr lang="en-US" sz="2400" b="1" u="sng">
              <a:solidFill>
                <a:srgbClr val="800000"/>
              </a:solidFill>
            </a:endParaRPr>
          </a:p>
          <a:p>
            <a:pPr eaLnBrk="1" hangingPunct="1"/>
            <a:r>
              <a:rPr lang="uz-Cyrl-UZ" sz="2400" b="1" u="sng">
                <a:solidFill>
                  <a:srgbClr val="800000"/>
                </a:solidFill>
              </a:rPr>
              <a:t>қуйидагилардир:</a:t>
            </a:r>
            <a:endParaRPr lang="ru-RU" sz="2400" b="1" u="sng">
              <a:solidFill>
                <a:srgbClr val="800000"/>
              </a:solidFill>
            </a:endParaRPr>
          </a:p>
          <a:p>
            <a:pPr eaLnBrk="1" hangingPunct="1"/>
            <a:endParaRPr lang="uz-Cyrl-UZ" sz="900" b="1">
              <a:solidFill>
                <a:srgbClr val="800000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uz-Cyrl-UZ" sz="2400" b="1" i="1">
                <a:solidFill>
                  <a:srgbClr val="000099"/>
                </a:solidFill>
              </a:rPr>
              <a:t>Регистрация органи</a:t>
            </a:r>
            <a:r>
              <a:rPr lang="ru-RU" sz="2400" b="1" i="1">
                <a:solidFill>
                  <a:srgbClr val="000099"/>
                </a:solidFill>
              </a:rPr>
              <a:t>;</a:t>
            </a:r>
          </a:p>
          <a:p>
            <a:pPr eaLnBrk="1" hangingPunct="1">
              <a:lnSpc>
                <a:spcPct val="120000"/>
              </a:lnSpc>
            </a:pPr>
            <a:r>
              <a:rPr lang="ru-RU" sz="2400" b="1" i="1">
                <a:solidFill>
                  <a:srgbClr val="000099"/>
                </a:solidFill>
              </a:rPr>
              <a:t>Регистрация маркази;</a:t>
            </a:r>
          </a:p>
          <a:p>
            <a:pPr eaLnBrk="1" hangingPunct="1">
              <a:lnSpc>
                <a:spcPct val="120000"/>
              </a:lnSpc>
            </a:pPr>
            <a:r>
              <a:rPr lang="uz-Cyrl-UZ" sz="2400" b="1" i="1">
                <a:solidFill>
                  <a:srgbClr val="000099"/>
                </a:solidFill>
              </a:rPr>
              <a:t>Ф</a:t>
            </a:r>
            <a:r>
              <a:rPr lang="ru-RU" sz="2400" b="1" i="1">
                <a:solidFill>
                  <a:srgbClr val="000099"/>
                </a:solidFill>
              </a:rPr>
              <a:t>ойдаланувчилар;</a:t>
            </a:r>
          </a:p>
          <a:p>
            <a:pPr eaLnBrk="1" hangingPunct="1">
              <a:lnSpc>
                <a:spcPct val="120000"/>
              </a:lnSpc>
            </a:pPr>
            <a:r>
              <a:rPr lang="ru-RU" sz="2400" b="1" i="1">
                <a:solidFill>
                  <a:srgbClr val="000099"/>
                </a:solidFill>
              </a:rPr>
              <a:t>Тармо</a:t>
            </a:r>
            <a:r>
              <a:rPr lang="uz-Cyrl-UZ" sz="2400" b="1" i="1">
                <a:solidFill>
                  <a:srgbClr val="000099"/>
                </a:solidFill>
              </a:rPr>
              <a:t>қ</a:t>
            </a:r>
            <a:r>
              <a:rPr lang="ru-RU" sz="2400" b="1" i="1">
                <a:solidFill>
                  <a:srgbClr val="000099"/>
                </a:solidFill>
              </a:rPr>
              <a:t> маълумотномаси.</a:t>
            </a:r>
            <a:endParaRPr lang="ru-RU" b="1" i="1">
              <a:solidFill>
                <a:srgbClr val="000099"/>
              </a:solidFill>
            </a:endParaRPr>
          </a:p>
        </p:txBody>
      </p:sp>
      <p:sp>
        <p:nvSpPr>
          <p:cNvPr id="38919" name="AutoShape 7"/>
          <p:cNvSpPr>
            <a:spLocks noChangeArrowheads="1"/>
          </p:cNvSpPr>
          <p:nvPr/>
        </p:nvSpPr>
        <p:spPr bwMode="auto">
          <a:xfrm>
            <a:off x="3492500" y="3141663"/>
            <a:ext cx="5113338" cy="1150937"/>
          </a:xfrm>
          <a:prstGeom prst="wedgeRectCallout">
            <a:avLst>
              <a:gd name="adj1" fmla="val -74556"/>
              <a:gd name="adj2" fmla="val 95519"/>
            </a:avLst>
          </a:prstGeom>
          <a:solidFill>
            <a:srgbClr val="FFCCFF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uz-Cyrl-UZ" i="1"/>
              <a:t>ОКИ нинг асосий бошқарув компоненти бўлиб, регистрация органларини рўйхатдан ўтказади ва иш фаолиятини назорат қилади. </a:t>
            </a:r>
            <a:endParaRPr lang="ru-RU" i="1"/>
          </a:p>
        </p:txBody>
      </p:sp>
      <p:sp>
        <p:nvSpPr>
          <p:cNvPr id="38920" name="AutoShape 8"/>
          <p:cNvSpPr>
            <a:spLocks noChangeArrowheads="1"/>
          </p:cNvSpPr>
          <p:nvPr/>
        </p:nvSpPr>
        <p:spPr bwMode="auto">
          <a:xfrm>
            <a:off x="3492500" y="3716338"/>
            <a:ext cx="5113338" cy="1008062"/>
          </a:xfrm>
          <a:prstGeom prst="wedgeRectCallout">
            <a:avLst>
              <a:gd name="adj1" fmla="val -74556"/>
              <a:gd name="adj2" fmla="val 103227"/>
            </a:avLst>
          </a:prstGeom>
          <a:solidFill>
            <a:srgbClr val="FFCCFF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uz-Cyrl-UZ" i="1"/>
              <a:t>ОКИ нинг компоненти бўлиб, фойдаланувчиларни регистрация қилиш учун мўлжалланган.</a:t>
            </a:r>
            <a:endParaRPr lang="ru-RU" i="1"/>
          </a:p>
        </p:txBody>
      </p:sp>
      <p:sp>
        <p:nvSpPr>
          <p:cNvPr id="38921" name="AutoShape 9"/>
          <p:cNvSpPr>
            <a:spLocks noChangeArrowheads="1"/>
          </p:cNvSpPr>
          <p:nvPr/>
        </p:nvSpPr>
        <p:spPr bwMode="auto">
          <a:xfrm>
            <a:off x="3492500" y="4221163"/>
            <a:ext cx="5113338" cy="863600"/>
          </a:xfrm>
          <a:prstGeom prst="wedgeRectCallout">
            <a:avLst>
              <a:gd name="adj1" fmla="val -75208"/>
              <a:gd name="adj2" fmla="val 118935"/>
            </a:avLst>
          </a:prstGeom>
          <a:solidFill>
            <a:srgbClr val="FFCCFF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uz-Cyrl-UZ" i="1"/>
              <a:t>Сертификат эгаси ва ОКИ дан фойдаланувчи абонентлардир.</a:t>
            </a:r>
            <a:endParaRPr lang="ru-RU" i="1"/>
          </a:p>
        </p:txBody>
      </p:sp>
      <p:sp>
        <p:nvSpPr>
          <p:cNvPr id="38922" name="AutoShape 10"/>
          <p:cNvSpPr>
            <a:spLocks noChangeArrowheads="1"/>
          </p:cNvSpPr>
          <p:nvPr/>
        </p:nvSpPr>
        <p:spPr bwMode="auto">
          <a:xfrm>
            <a:off x="3563938" y="4508500"/>
            <a:ext cx="5041900" cy="1728788"/>
          </a:xfrm>
          <a:prstGeom prst="wedgeRectCallout">
            <a:avLst>
              <a:gd name="adj1" fmla="val -78023"/>
              <a:gd name="adj2" fmla="val 44213"/>
            </a:avLst>
          </a:prstGeom>
          <a:solidFill>
            <a:srgbClr val="FFCCFF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/>
          <a:lstStyle/>
          <a:p>
            <a:pPr algn="just"/>
            <a:r>
              <a:rPr lang="uz-Cyrl-UZ" i="1"/>
              <a:t>ОКИ компоненти бўлиб, мавжуд ва берилган сертификатлар рўйхати, шунингдек </a:t>
            </a:r>
            <a:r>
              <a:rPr lang="en-US" i="1"/>
              <a:t>LDAP (HTTP,FTP) </a:t>
            </a:r>
            <a:r>
              <a:rPr lang="uz-Cyrl-UZ" i="1"/>
              <a:t>протоколидан фойдаланиб фойдаланувчилар орасида бу объектларни тарқатиш мақсадида хизмат қилувчи маълумотномадир. </a:t>
            </a:r>
            <a:endParaRPr lang="ru-RU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20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10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389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animBg="1"/>
      <p:bldP spid="38918" grpId="0"/>
      <p:bldP spid="38919" grpId="0" animBg="1"/>
      <p:bldP spid="38920" grpId="0" animBg="1"/>
      <p:bldP spid="38921" grpId="0" animBg="1"/>
      <p:bldP spid="389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5" name="AutoShape 7"/>
          <p:cNvSpPr>
            <a:spLocks noChangeArrowheads="1"/>
          </p:cNvSpPr>
          <p:nvPr/>
        </p:nvSpPr>
        <p:spPr bwMode="auto">
          <a:xfrm>
            <a:off x="1878013" y="1125538"/>
            <a:ext cx="5329237" cy="792162"/>
          </a:xfrm>
          <a:prstGeom prst="cube">
            <a:avLst>
              <a:gd name="adj" fmla="val 25000"/>
            </a:avLst>
          </a:prstGeom>
          <a:gradFill rotWithShape="1">
            <a:gsLst>
              <a:gs pos="0">
                <a:srgbClr val="990000"/>
              </a:gs>
              <a:gs pos="50000">
                <a:schemeClr val="bg1"/>
              </a:gs>
              <a:gs pos="100000">
                <a:srgbClr val="990000"/>
              </a:gs>
            </a:gsLst>
            <a:lin ang="5400000" scaled="1"/>
          </a:gradFill>
          <a:ln w="9525">
            <a:solidFill>
              <a:srgbClr val="99CC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uz-Cyrl-UZ" b="1" i="1" u="sng"/>
              <a:t>ОКИ </a:t>
            </a:r>
            <a:r>
              <a:rPr lang="ru-RU" b="1" i="1" u="sng"/>
              <a:t>ор</a:t>
            </a:r>
            <a:r>
              <a:rPr lang="uz-Cyrl-UZ" b="1" i="1" u="sng"/>
              <a:t>қали бажариладиган сервислар</a:t>
            </a:r>
          </a:p>
          <a:p>
            <a:pPr algn="ctr">
              <a:defRPr/>
            </a:pPr>
            <a:endParaRPr lang="ru-RU" sz="1600">
              <a:solidFill>
                <a:srgbClr val="0066FF"/>
              </a:solidFill>
            </a:endParaRPr>
          </a:p>
        </p:txBody>
      </p:sp>
      <p:sp>
        <p:nvSpPr>
          <p:cNvPr id="6147" name="Rectangle 16"/>
          <p:cNvSpPr>
            <a:spLocks noChangeArrowheads="1"/>
          </p:cNvSpPr>
          <p:nvPr/>
        </p:nvSpPr>
        <p:spPr bwMode="auto">
          <a:xfrm>
            <a:off x="179388" y="981075"/>
            <a:ext cx="8713787" cy="5616575"/>
          </a:xfrm>
          <a:prstGeom prst="rect">
            <a:avLst/>
          </a:prstGeom>
          <a:noFill/>
          <a:ln w="76200" cmpd="tri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uz-Cyrl-UZ"/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1763713" y="1916113"/>
            <a:ext cx="5545137" cy="576262"/>
            <a:chOff x="1111" y="1207"/>
            <a:chExt cx="3493" cy="363"/>
          </a:xfrm>
        </p:grpSpPr>
        <p:sp>
          <p:nvSpPr>
            <p:cNvPr id="6165" name="Line 17"/>
            <p:cNvSpPr>
              <a:spLocks noChangeShapeType="1"/>
            </p:cNvSpPr>
            <p:nvPr/>
          </p:nvSpPr>
          <p:spPr bwMode="auto">
            <a:xfrm>
              <a:off x="1111" y="1389"/>
              <a:ext cx="3493" cy="0"/>
            </a:xfrm>
            <a:prstGeom prst="line">
              <a:avLst/>
            </a:prstGeom>
            <a:noFill/>
            <a:ln w="57150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6166" name="Line 18"/>
            <p:cNvSpPr>
              <a:spLocks noChangeShapeType="1"/>
            </p:cNvSpPr>
            <p:nvPr/>
          </p:nvSpPr>
          <p:spPr bwMode="auto">
            <a:xfrm>
              <a:off x="1111" y="1389"/>
              <a:ext cx="0" cy="181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6167" name="Line 21"/>
            <p:cNvSpPr>
              <a:spLocks noChangeShapeType="1"/>
            </p:cNvSpPr>
            <p:nvPr/>
          </p:nvSpPr>
          <p:spPr bwMode="auto">
            <a:xfrm>
              <a:off x="2789" y="1207"/>
              <a:ext cx="0" cy="182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539750" y="2492375"/>
            <a:ext cx="2232025" cy="3816350"/>
            <a:chOff x="340" y="1570"/>
            <a:chExt cx="1406" cy="2404"/>
          </a:xfrm>
        </p:grpSpPr>
        <p:sp>
          <p:nvSpPr>
            <p:cNvPr id="48132" name="AutoShape 4"/>
            <p:cNvSpPr>
              <a:spLocks noChangeArrowheads="1"/>
            </p:cNvSpPr>
            <p:nvPr/>
          </p:nvSpPr>
          <p:spPr bwMode="auto">
            <a:xfrm>
              <a:off x="340" y="1570"/>
              <a:ext cx="1406" cy="544"/>
            </a:xfrm>
            <a:prstGeom prst="cube">
              <a:avLst>
                <a:gd name="adj" fmla="val 25000"/>
              </a:avLst>
            </a:prstGeom>
            <a:gradFill rotWithShape="1">
              <a:gsLst>
                <a:gs pos="0">
                  <a:srgbClr val="0066FF"/>
                </a:gs>
                <a:gs pos="50000">
                  <a:schemeClr val="bg1"/>
                </a:gs>
                <a:gs pos="100000">
                  <a:srgbClr val="0066FF"/>
                </a:gs>
              </a:gsLst>
              <a:lin ang="5400000" scaled="1"/>
            </a:gradFill>
            <a:ln w="9525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uz-Cyrl-UZ" sz="1600"/>
                <a:t>Криптографик </a:t>
              </a:r>
            </a:p>
            <a:p>
              <a:pPr algn="ctr">
                <a:defRPr/>
              </a:pPr>
              <a:r>
                <a:rPr lang="uz-Cyrl-UZ" sz="1600"/>
                <a:t>сервислар</a:t>
              </a:r>
            </a:p>
            <a:p>
              <a:pPr algn="ctr">
                <a:defRPr/>
              </a:pPr>
              <a:endParaRPr lang="ru-RU" sz="1600">
                <a:solidFill>
                  <a:srgbClr val="0066FF"/>
                </a:solidFill>
              </a:endParaRPr>
            </a:p>
          </p:txBody>
        </p:sp>
        <p:sp>
          <p:nvSpPr>
            <p:cNvPr id="6163" name="AutoShape 10"/>
            <p:cNvSpPr>
              <a:spLocks noChangeArrowheads="1"/>
            </p:cNvSpPr>
            <p:nvPr/>
          </p:nvSpPr>
          <p:spPr bwMode="auto">
            <a:xfrm>
              <a:off x="340" y="2478"/>
              <a:ext cx="1270" cy="1496"/>
            </a:xfrm>
            <a:prstGeom prst="flowChartAlternateProcess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CC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uz-Cyrl-UZ" sz="1600"/>
                <a:t>-Жуфт калитларни </a:t>
              </a:r>
            </a:p>
            <a:p>
              <a:r>
                <a:rPr lang="uz-Cyrl-UZ" sz="1600"/>
                <a:t>генерация қилиш;</a:t>
              </a:r>
            </a:p>
            <a:p>
              <a:endParaRPr lang="uz-Cyrl-UZ" sz="800"/>
            </a:p>
            <a:p>
              <a:r>
                <a:rPr lang="uz-Cyrl-UZ" sz="1600"/>
                <a:t> -Рақамли имзони </a:t>
              </a:r>
            </a:p>
            <a:p>
              <a:r>
                <a:rPr lang="uz-Cyrl-UZ" sz="1600"/>
                <a:t>ҳосил қилиш;</a:t>
              </a:r>
            </a:p>
            <a:p>
              <a:endParaRPr lang="uz-Cyrl-UZ" sz="800"/>
            </a:p>
            <a:p>
              <a:r>
                <a:rPr lang="uz-Cyrl-UZ" sz="1600"/>
                <a:t> -Рақамли имзони </a:t>
              </a:r>
            </a:p>
            <a:p>
              <a:r>
                <a:rPr lang="ru-RU" sz="1600"/>
                <a:t>т</a:t>
              </a:r>
              <a:r>
                <a:rPr lang="uz-Cyrl-UZ" sz="1600"/>
                <a:t>екшириш.</a:t>
              </a:r>
            </a:p>
            <a:p>
              <a:endParaRPr lang="ru-RU" sz="1600"/>
            </a:p>
            <a:p>
              <a:endParaRPr lang="ru-RU" sz="1600"/>
            </a:p>
          </p:txBody>
        </p:sp>
        <p:sp>
          <p:nvSpPr>
            <p:cNvPr id="6164" name="Line 23"/>
            <p:cNvSpPr>
              <a:spLocks noChangeShapeType="1"/>
            </p:cNvSpPr>
            <p:nvPr/>
          </p:nvSpPr>
          <p:spPr bwMode="auto">
            <a:xfrm>
              <a:off x="957" y="2115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2959100" y="2205038"/>
            <a:ext cx="2693988" cy="4089400"/>
            <a:chOff x="1864" y="1389"/>
            <a:chExt cx="1697" cy="2576"/>
          </a:xfrm>
        </p:grpSpPr>
        <p:sp>
          <p:nvSpPr>
            <p:cNvPr id="48133" name="AutoShape 5"/>
            <p:cNvSpPr>
              <a:spLocks noChangeArrowheads="1"/>
            </p:cNvSpPr>
            <p:nvPr/>
          </p:nvSpPr>
          <p:spPr bwMode="auto">
            <a:xfrm>
              <a:off x="1973" y="1570"/>
              <a:ext cx="1588" cy="544"/>
            </a:xfrm>
            <a:prstGeom prst="cube">
              <a:avLst>
                <a:gd name="adj" fmla="val 25000"/>
              </a:avLst>
            </a:prstGeom>
            <a:gradFill rotWithShape="1">
              <a:gsLst>
                <a:gs pos="0">
                  <a:srgbClr val="0066FF"/>
                </a:gs>
                <a:gs pos="50000">
                  <a:schemeClr val="bg1"/>
                </a:gs>
                <a:gs pos="100000">
                  <a:srgbClr val="0066FF"/>
                </a:gs>
              </a:gsLst>
              <a:lin ang="5400000" scaled="1"/>
            </a:gradFill>
            <a:ln w="9525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uz-Cyrl-UZ" sz="1600"/>
                <a:t>Сертификатларни </a:t>
              </a:r>
            </a:p>
            <a:p>
              <a:pPr algn="ctr">
                <a:defRPr/>
              </a:pPr>
              <a:r>
                <a:rPr lang="uz-Cyrl-UZ" sz="1600"/>
                <a:t>бошқариш сервислари</a:t>
              </a:r>
            </a:p>
            <a:p>
              <a:pPr algn="ctr">
                <a:defRPr/>
              </a:pPr>
              <a:endParaRPr lang="ru-RU" sz="1600">
                <a:solidFill>
                  <a:srgbClr val="0066FF"/>
                </a:solidFill>
              </a:endParaRPr>
            </a:p>
          </p:txBody>
        </p:sp>
        <p:sp>
          <p:nvSpPr>
            <p:cNvPr id="6159" name="AutoShape 11"/>
            <p:cNvSpPr>
              <a:spLocks noChangeArrowheads="1"/>
            </p:cNvSpPr>
            <p:nvPr/>
          </p:nvSpPr>
          <p:spPr bwMode="auto">
            <a:xfrm>
              <a:off x="1864" y="2468"/>
              <a:ext cx="1679" cy="1497"/>
            </a:xfrm>
            <a:prstGeom prst="flowChartAlternateProcess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CC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uz-Cyrl-UZ" sz="1600"/>
                <a:t>-Сертификатларни </a:t>
              </a:r>
            </a:p>
            <a:p>
              <a:r>
                <a:rPr lang="uz-Cyrl-UZ" sz="1600"/>
                <a:t>чиқариш;</a:t>
              </a:r>
            </a:p>
            <a:p>
              <a:r>
                <a:rPr lang="uz-Cyrl-UZ" sz="1600"/>
                <a:t>-Сертификатлар ва </a:t>
              </a:r>
            </a:p>
            <a:p>
              <a:r>
                <a:rPr lang="uz-Cyrl-UZ" sz="1600"/>
                <a:t>калитлар амал </a:t>
              </a:r>
            </a:p>
            <a:p>
              <a:r>
                <a:rPr lang="uz-Cyrl-UZ" sz="1600"/>
                <a:t>циклларини бошқариш;</a:t>
              </a:r>
            </a:p>
            <a:p>
              <a:r>
                <a:rPr lang="uz-Cyrl-UZ" sz="1600"/>
                <a:t>-Тармоқ маълумотномаси;</a:t>
              </a:r>
            </a:p>
            <a:p>
              <a:r>
                <a:rPr lang="uz-Cyrl-UZ" sz="1600"/>
                <a:t>-Сертификатларни </a:t>
              </a:r>
            </a:p>
            <a:p>
              <a:r>
                <a:rPr lang="uz-Cyrl-UZ" sz="1600"/>
                <a:t>архивда сақлаш.</a:t>
              </a:r>
              <a:endParaRPr lang="ru-RU" sz="1600"/>
            </a:p>
            <a:p>
              <a:endParaRPr lang="ru-RU" sz="1600"/>
            </a:p>
          </p:txBody>
        </p:sp>
        <p:sp>
          <p:nvSpPr>
            <p:cNvPr id="6160" name="Line 20"/>
            <p:cNvSpPr>
              <a:spLocks noChangeShapeType="1"/>
            </p:cNvSpPr>
            <p:nvPr/>
          </p:nvSpPr>
          <p:spPr bwMode="auto">
            <a:xfrm>
              <a:off x="2789" y="1389"/>
              <a:ext cx="0" cy="181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6161" name="Line 24"/>
            <p:cNvSpPr>
              <a:spLocks noChangeShapeType="1"/>
            </p:cNvSpPr>
            <p:nvPr/>
          </p:nvSpPr>
          <p:spPr bwMode="auto">
            <a:xfrm>
              <a:off x="2699" y="2115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5" name="Group 30"/>
          <p:cNvGrpSpPr>
            <a:grpSpLocks/>
          </p:cNvGrpSpPr>
          <p:nvPr/>
        </p:nvGrpSpPr>
        <p:grpSpPr bwMode="auto">
          <a:xfrm>
            <a:off x="5999163" y="2205038"/>
            <a:ext cx="2533650" cy="4160837"/>
            <a:chOff x="3779" y="1389"/>
            <a:chExt cx="1596" cy="2621"/>
          </a:xfrm>
        </p:grpSpPr>
        <p:sp>
          <p:nvSpPr>
            <p:cNvPr id="48134" name="AutoShape 6"/>
            <p:cNvSpPr>
              <a:spLocks noChangeArrowheads="1"/>
            </p:cNvSpPr>
            <p:nvPr/>
          </p:nvSpPr>
          <p:spPr bwMode="auto">
            <a:xfrm>
              <a:off x="3787" y="1570"/>
              <a:ext cx="1588" cy="544"/>
            </a:xfrm>
            <a:prstGeom prst="cube">
              <a:avLst>
                <a:gd name="adj" fmla="val 25000"/>
              </a:avLst>
            </a:prstGeom>
            <a:gradFill rotWithShape="1">
              <a:gsLst>
                <a:gs pos="0">
                  <a:srgbClr val="0066FF"/>
                </a:gs>
                <a:gs pos="50000">
                  <a:schemeClr val="bg1"/>
                </a:gs>
                <a:gs pos="100000">
                  <a:srgbClr val="0066FF"/>
                </a:gs>
              </a:gsLst>
              <a:lin ang="5400000" scaled="1"/>
            </a:gradFill>
            <a:ln w="9525">
              <a:solidFill>
                <a:srgbClr val="99CC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uz-Cyrl-UZ" sz="1600"/>
                <a:t>Қўшимча </a:t>
              </a:r>
            </a:p>
            <a:p>
              <a:pPr algn="ctr">
                <a:defRPr/>
              </a:pPr>
              <a:r>
                <a:rPr lang="uz-Cyrl-UZ" sz="1600"/>
                <a:t>сервислар</a:t>
              </a:r>
            </a:p>
            <a:p>
              <a:pPr algn="ctr">
                <a:defRPr/>
              </a:pPr>
              <a:endParaRPr lang="ru-RU" sz="1600">
                <a:solidFill>
                  <a:srgbClr val="0066FF"/>
                </a:solidFill>
              </a:endParaRPr>
            </a:p>
          </p:txBody>
        </p:sp>
        <p:sp>
          <p:nvSpPr>
            <p:cNvPr id="6155" name="AutoShape 12"/>
            <p:cNvSpPr>
              <a:spLocks noChangeArrowheads="1"/>
            </p:cNvSpPr>
            <p:nvPr/>
          </p:nvSpPr>
          <p:spPr bwMode="auto">
            <a:xfrm>
              <a:off x="3779" y="2468"/>
              <a:ext cx="1587" cy="1542"/>
            </a:xfrm>
            <a:prstGeom prst="flowChartAlternateProcess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FFCC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uz-Cyrl-UZ" sz="1600"/>
                <a:t>-Регистрация;</a:t>
              </a:r>
            </a:p>
            <a:p>
              <a:r>
                <a:rPr lang="uz-Cyrl-UZ" sz="1600"/>
                <a:t>-Ахборотларни архивда</a:t>
              </a:r>
            </a:p>
            <a:p>
              <a:r>
                <a:rPr lang="uz-Cyrl-UZ" sz="1600"/>
                <a:t>сақлаш;</a:t>
              </a:r>
            </a:p>
            <a:p>
              <a:r>
                <a:rPr lang="uz-Cyrl-UZ" sz="1600"/>
                <a:t>-Калитларни резерв</a:t>
              </a:r>
            </a:p>
            <a:p>
              <a:r>
                <a:rPr lang="uz-Cyrl-UZ" sz="1600"/>
                <a:t>сақлаш ва қайта </a:t>
              </a:r>
            </a:p>
            <a:p>
              <a:r>
                <a:rPr lang="uz-Cyrl-UZ" sz="1600"/>
                <a:t>тиклаш;</a:t>
              </a:r>
            </a:p>
            <a:p>
              <a:r>
                <a:rPr lang="uz-Cyrl-UZ" sz="1600"/>
                <a:t>-Калитларни автоматик</a:t>
              </a:r>
            </a:p>
            <a:p>
              <a:r>
                <a:rPr lang="uz-Cyrl-UZ" sz="1600"/>
                <a:t>янгилаш;</a:t>
              </a:r>
            </a:p>
            <a:p>
              <a:pPr>
                <a:buFontTx/>
                <a:buChar char="-"/>
              </a:pPr>
              <a:r>
                <a:rPr lang="uz-Cyrl-UZ" sz="1600"/>
                <a:t>Калитлар тарихини</a:t>
              </a:r>
            </a:p>
            <a:p>
              <a:r>
                <a:rPr lang="uz-Cyrl-UZ" sz="1600"/>
                <a:t>бошқариш.</a:t>
              </a:r>
              <a:endParaRPr lang="ru-RU" sz="1600"/>
            </a:p>
          </p:txBody>
        </p:sp>
        <p:sp>
          <p:nvSpPr>
            <p:cNvPr id="6156" name="Line 19"/>
            <p:cNvSpPr>
              <a:spLocks noChangeShapeType="1"/>
            </p:cNvSpPr>
            <p:nvPr/>
          </p:nvSpPr>
          <p:spPr bwMode="auto">
            <a:xfrm>
              <a:off x="4604" y="1389"/>
              <a:ext cx="0" cy="181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6157" name="Line 25"/>
            <p:cNvSpPr>
              <a:spLocks noChangeShapeType="1"/>
            </p:cNvSpPr>
            <p:nvPr/>
          </p:nvSpPr>
          <p:spPr bwMode="auto">
            <a:xfrm>
              <a:off x="4558" y="2115"/>
              <a:ext cx="0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sp>
        <p:nvSpPr>
          <p:cNvPr id="48159" name="AutoShape 31"/>
          <p:cNvSpPr>
            <a:spLocks noChangeArrowheads="1"/>
          </p:cNvSpPr>
          <p:nvPr/>
        </p:nvSpPr>
        <p:spPr bwMode="auto">
          <a:xfrm>
            <a:off x="439738" y="2435225"/>
            <a:ext cx="2374900" cy="3960813"/>
          </a:xfrm>
          <a:prstGeom prst="flowChartAlternateProcess">
            <a:avLst/>
          </a:prstGeom>
          <a:solidFill>
            <a:srgbClr val="FFFFFF">
              <a:alpha val="0"/>
            </a:srgbClr>
          </a:solidFill>
          <a:ln w="571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uz-Cyrl-UZ">
              <a:solidFill>
                <a:srgbClr val="FF0000"/>
              </a:solidFill>
            </a:endParaRPr>
          </a:p>
        </p:txBody>
      </p:sp>
      <p:sp>
        <p:nvSpPr>
          <p:cNvPr id="6153" name="Rectangle 32"/>
          <p:cNvSpPr>
            <a:spLocks noGrp="1" noChangeArrowheads="1"/>
          </p:cNvSpPr>
          <p:nvPr>
            <p:ph type="title"/>
          </p:nvPr>
        </p:nvSpPr>
        <p:spPr>
          <a:xfrm>
            <a:off x="1979613" y="188913"/>
            <a:ext cx="6985000" cy="433387"/>
          </a:xfrm>
          <a:noFill/>
        </p:spPr>
        <p:txBody>
          <a:bodyPr/>
          <a:lstStyle/>
          <a:p>
            <a:pPr eaLnBrk="1" hangingPunct="1"/>
            <a:r>
              <a:rPr lang="ru-RU" sz="2400" smtClean="0">
                <a:solidFill>
                  <a:schemeClr val="bg1"/>
                </a:solidFill>
              </a:rPr>
              <a:t>Очи</a:t>
            </a:r>
            <a:r>
              <a:rPr lang="uz-Cyrl-UZ" sz="2400" smtClean="0">
                <a:solidFill>
                  <a:schemeClr val="bg1"/>
                </a:solidFill>
              </a:rPr>
              <a:t>қ калитлар инфраструктураси сервислари</a:t>
            </a:r>
            <a:endParaRPr lang="en-US" sz="240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3000"/>
                                        <p:tgtEl>
                                          <p:spTgt spid="48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5" grpId="0" animBg="1"/>
      <p:bldP spid="4815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68538" y="187325"/>
            <a:ext cx="6696075" cy="433388"/>
          </a:xfrm>
        </p:spPr>
        <p:txBody>
          <a:bodyPr/>
          <a:lstStyle/>
          <a:p>
            <a:pPr eaLnBrk="1" hangingPunct="1"/>
            <a:r>
              <a:rPr lang="uz-Cyrl-UZ" sz="2800" b="1" smtClean="0">
                <a:solidFill>
                  <a:schemeClr val="bg1"/>
                </a:solidFill>
              </a:rPr>
              <a:t>Рақамли имзони ҳосил қилиш</a:t>
            </a:r>
            <a:endParaRPr lang="en-US" sz="2800" b="1" smtClean="0">
              <a:solidFill>
                <a:schemeClr val="bg1"/>
              </a:solidFill>
            </a:endParaRPr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7004050" y="2562225"/>
            <a:ext cx="1344613" cy="349250"/>
          </a:xfrm>
          <a:prstGeom prst="rect">
            <a:avLst/>
          </a:prstGeom>
          <a:gradFill rotWithShape="0">
            <a:gsLst>
              <a:gs pos="0">
                <a:srgbClr val="5949F7">
                  <a:gamma/>
                  <a:shade val="80000"/>
                  <a:invGamma/>
                </a:srgbClr>
              </a:gs>
              <a:gs pos="100000">
                <a:srgbClr val="5949F7"/>
              </a:gs>
            </a:gsLst>
            <a:lin ang="5400000" scaled="1"/>
          </a:gradFill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3kJfgf*£$&amp;</a:t>
            </a:r>
          </a:p>
        </p:txBody>
      </p:sp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3467100" y="2581275"/>
            <a:ext cx="1366838" cy="349250"/>
          </a:xfrm>
          <a:prstGeom prst="rect">
            <a:avLst/>
          </a:prstGeom>
          <a:gradFill rotWithShape="0">
            <a:gsLst>
              <a:gs pos="0">
                <a:srgbClr val="5949F7">
                  <a:gamma/>
                  <a:shade val="80000"/>
                  <a:invGamma/>
                </a:srgbClr>
              </a:gs>
              <a:gs pos="100000">
                <a:srgbClr val="5949F7"/>
              </a:gs>
            </a:gsLst>
            <a:lin ang="5400000" scaled="1"/>
          </a:gradFill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sz="16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Py75c%bn</a:t>
            </a:r>
          </a:p>
        </p:txBody>
      </p:sp>
      <p:sp>
        <p:nvSpPr>
          <p:cNvPr id="49157" name="Rectangle 5"/>
          <p:cNvSpPr>
            <a:spLocks noChangeArrowheads="1"/>
          </p:cNvSpPr>
          <p:nvPr/>
        </p:nvSpPr>
        <p:spPr bwMode="auto">
          <a:xfrm>
            <a:off x="544513" y="1925638"/>
            <a:ext cx="1344612" cy="1082675"/>
          </a:xfrm>
          <a:prstGeom prst="rect">
            <a:avLst/>
          </a:prstGeom>
          <a:gradFill rotWithShape="0">
            <a:gsLst>
              <a:gs pos="0">
                <a:srgbClr val="5949F7">
                  <a:gamma/>
                  <a:shade val="80000"/>
                  <a:invGamma/>
                </a:srgbClr>
              </a:gs>
              <a:gs pos="100000">
                <a:srgbClr val="5949F7"/>
              </a:gs>
            </a:gsLst>
            <a:lin ang="5400000" scaled="1"/>
          </a:gradFill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uz-Cyrl-UZ" sz="16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Бу хужжат муаллиф томонидан яратилган</a:t>
            </a:r>
            <a:endParaRPr lang="en-US" sz="1600" b="1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174" name="Freeform 6"/>
          <p:cNvSpPr>
            <a:spLocks/>
          </p:cNvSpPr>
          <p:nvPr/>
        </p:nvSpPr>
        <p:spPr bwMode="auto">
          <a:xfrm>
            <a:off x="3424238" y="3062288"/>
            <a:ext cx="715962" cy="788987"/>
          </a:xfrm>
          <a:custGeom>
            <a:avLst/>
            <a:gdLst>
              <a:gd name="T0" fmla="*/ 90 w 451"/>
              <a:gd name="T1" fmla="*/ 191 h 497"/>
              <a:gd name="T2" fmla="*/ 178 w 451"/>
              <a:gd name="T3" fmla="*/ 191 h 497"/>
              <a:gd name="T4" fmla="*/ 178 w 451"/>
              <a:gd name="T5" fmla="*/ 315 h 497"/>
              <a:gd name="T6" fmla="*/ 177 w 451"/>
              <a:gd name="T7" fmla="*/ 333 h 497"/>
              <a:gd name="T8" fmla="*/ 174 w 451"/>
              <a:gd name="T9" fmla="*/ 347 h 497"/>
              <a:gd name="T10" fmla="*/ 169 w 451"/>
              <a:gd name="T11" fmla="*/ 361 h 497"/>
              <a:gd name="T12" fmla="*/ 164 w 451"/>
              <a:gd name="T13" fmla="*/ 376 h 497"/>
              <a:gd name="T14" fmla="*/ 154 w 451"/>
              <a:gd name="T15" fmla="*/ 390 h 497"/>
              <a:gd name="T16" fmla="*/ 145 w 451"/>
              <a:gd name="T17" fmla="*/ 404 h 497"/>
              <a:gd name="T18" fmla="*/ 133 w 451"/>
              <a:gd name="T19" fmla="*/ 416 h 497"/>
              <a:gd name="T20" fmla="*/ 122 w 451"/>
              <a:gd name="T21" fmla="*/ 426 h 497"/>
              <a:gd name="T22" fmla="*/ 110 w 451"/>
              <a:gd name="T23" fmla="*/ 435 h 497"/>
              <a:gd name="T24" fmla="*/ 98 w 451"/>
              <a:gd name="T25" fmla="*/ 442 h 497"/>
              <a:gd name="T26" fmla="*/ 85 w 451"/>
              <a:gd name="T27" fmla="*/ 450 h 497"/>
              <a:gd name="T28" fmla="*/ 72 w 451"/>
              <a:gd name="T29" fmla="*/ 457 h 497"/>
              <a:gd name="T30" fmla="*/ 59 w 451"/>
              <a:gd name="T31" fmla="*/ 464 h 497"/>
              <a:gd name="T32" fmla="*/ 45 w 451"/>
              <a:gd name="T33" fmla="*/ 470 h 497"/>
              <a:gd name="T34" fmla="*/ 31 w 451"/>
              <a:gd name="T35" fmla="*/ 476 h 497"/>
              <a:gd name="T36" fmla="*/ 18 w 451"/>
              <a:gd name="T37" fmla="*/ 480 h 497"/>
              <a:gd name="T38" fmla="*/ 0 w 451"/>
              <a:gd name="T39" fmla="*/ 484 h 497"/>
              <a:gd name="T40" fmla="*/ 15 w 451"/>
              <a:gd name="T41" fmla="*/ 490 h 497"/>
              <a:gd name="T42" fmla="*/ 30 w 451"/>
              <a:gd name="T43" fmla="*/ 494 h 497"/>
              <a:gd name="T44" fmla="*/ 46 w 451"/>
              <a:gd name="T45" fmla="*/ 496 h 497"/>
              <a:gd name="T46" fmla="*/ 63 w 451"/>
              <a:gd name="T47" fmla="*/ 496 h 497"/>
              <a:gd name="T48" fmla="*/ 80 w 451"/>
              <a:gd name="T49" fmla="*/ 496 h 497"/>
              <a:gd name="T50" fmla="*/ 100 w 451"/>
              <a:gd name="T51" fmla="*/ 496 h 497"/>
              <a:gd name="T52" fmla="*/ 122 w 451"/>
              <a:gd name="T53" fmla="*/ 495 h 497"/>
              <a:gd name="T54" fmla="*/ 142 w 451"/>
              <a:gd name="T55" fmla="*/ 494 h 497"/>
              <a:gd name="T56" fmla="*/ 162 w 451"/>
              <a:gd name="T57" fmla="*/ 490 h 497"/>
              <a:gd name="T58" fmla="*/ 184 w 451"/>
              <a:gd name="T59" fmla="*/ 484 h 497"/>
              <a:gd name="T60" fmla="*/ 204 w 451"/>
              <a:gd name="T61" fmla="*/ 478 h 497"/>
              <a:gd name="T62" fmla="*/ 223 w 451"/>
              <a:gd name="T63" fmla="*/ 470 h 497"/>
              <a:gd name="T64" fmla="*/ 244 w 451"/>
              <a:gd name="T65" fmla="*/ 460 h 497"/>
              <a:gd name="T66" fmla="*/ 261 w 451"/>
              <a:gd name="T67" fmla="*/ 450 h 497"/>
              <a:gd name="T68" fmla="*/ 282 w 451"/>
              <a:gd name="T69" fmla="*/ 438 h 497"/>
              <a:gd name="T70" fmla="*/ 301 w 451"/>
              <a:gd name="T71" fmla="*/ 421 h 497"/>
              <a:gd name="T72" fmla="*/ 316 w 451"/>
              <a:gd name="T73" fmla="*/ 408 h 497"/>
              <a:gd name="T74" fmla="*/ 333 w 451"/>
              <a:gd name="T75" fmla="*/ 391 h 497"/>
              <a:gd name="T76" fmla="*/ 345 w 451"/>
              <a:gd name="T77" fmla="*/ 373 h 497"/>
              <a:gd name="T78" fmla="*/ 354 w 451"/>
              <a:gd name="T79" fmla="*/ 356 h 497"/>
              <a:gd name="T80" fmla="*/ 360 w 451"/>
              <a:gd name="T81" fmla="*/ 331 h 497"/>
              <a:gd name="T82" fmla="*/ 361 w 451"/>
              <a:gd name="T83" fmla="*/ 311 h 497"/>
              <a:gd name="T84" fmla="*/ 361 w 451"/>
              <a:gd name="T85" fmla="*/ 291 h 497"/>
              <a:gd name="T86" fmla="*/ 361 w 451"/>
              <a:gd name="T87" fmla="*/ 191 h 497"/>
              <a:gd name="T88" fmla="*/ 450 w 451"/>
              <a:gd name="T89" fmla="*/ 191 h 497"/>
              <a:gd name="T90" fmla="*/ 271 w 451"/>
              <a:gd name="T91" fmla="*/ 0 h 497"/>
              <a:gd name="T92" fmla="*/ 90 w 451"/>
              <a:gd name="T93" fmla="*/ 191 h 497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w 451"/>
              <a:gd name="T142" fmla="*/ 0 h 497"/>
              <a:gd name="T143" fmla="*/ 451 w 451"/>
              <a:gd name="T144" fmla="*/ 497 h 497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T141" t="T142" r="T143" b="T144"/>
            <a:pathLst>
              <a:path w="451" h="497">
                <a:moveTo>
                  <a:pt x="90" y="191"/>
                </a:moveTo>
                <a:lnTo>
                  <a:pt x="178" y="191"/>
                </a:lnTo>
                <a:lnTo>
                  <a:pt x="178" y="315"/>
                </a:lnTo>
                <a:lnTo>
                  <a:pt x="177" y="333"/>
                </a:lnTo>
                <a:lnTo>
                  <a:pt x="174" y="347"/>
                </a:lnTo>
                <a:lnTo>
                  <a:pt x="169" y="361"/>
                </a:lnTo>
                <a:lnTo>
                  <a:pt x="164" y="376"/>
                </a:lnTo>
                <a:lnTo>
                  <a:pt x="154" y="390"/>
                </a:lnTo>
                <a:lnTo>
                  <a:pt x="145" y="404"/>
                </a:lnTo>
                <a:lnTo>
                  <a:pt x="133" y="416"/>
                </a:lnTo>
                <a:lnTo>
                  <a:pt x="122" y="426"/>
                </a:lnTo>
                <a:lnTo>
                  <a:pt x="110" y="435"/>
                </a:lnTo>
                <a:lnTo>
                  <a:pt x="98" y="442"/>
                </a:lnTo>
                <a:lnTo>
                  <a:pt x="85" y="450"/>
                </a:lnTo>
                <a:lnTo>
                  <a:pt x="72" y="457"/>
                </a:lnTo>
                <a:lnTo>
                  <a:pt x="59" y="464"/>
                </a:lnTo>
                <a:lnTo>
                  <a:pt x="45" y="470"/>
                </a:lnTo>
                <a:lnTo>
                  <a:pt x="31" y="476"/>
                </a:lnTo>
                <a:lnTo>
                  <a:pt x="18" y="480"/>
                </a:lnTo>
                <a:lnTo>
                  <a:pt x="0" y="484"/>
                </a:lnTo>
                <a:lnTo>
                  <a:pt x="15" y="490"/>
                </a:lnTo>
                <a:lnTo>
                  <a:pt x="30" y="494"/>
                </a:lnTo>
                <a:lnTo>
                  <a:pt x="46" y="496"/>
                </a:lnTo>
                <a:lnTo>
                  <a:pt x="63" y="496"/>
                </a:lnTo>
                <a:lnTo>
                  <a:pt x="80" y="496"/>
                </a:lnTo>
                <a:lnTo>
                  <a:pt x="100" y="496"/>
                </a:lnTo>
                <a:lnTo>
                  <a:pt x="122" y="495"/>
                </a:lnTo>
                <a:lnTo>
                  <a:pt x="142" y="494"/>
                </a:lnTo>
                <a:lnTo>
                  <a:pt x="162" y="490"/>
                </a:lnTo>
                <a:lnTo>
                  <a:pt x="184" y="484"/>
                </a:lnTo>
                <a:lnTo>
                  <a:pt x="204" y="478"/>
                </a:lnTo>
                <a:lnTo>
                  <a:pt x="223" y="470"/>
                </a:lnTo>
                <a:lnTo>
                  <a:pt x="244" y="460"/>
                </a:lnTo>
                <a:lnTo>
                  <a:pt x="261" y="450"/>
                </a:lnTo>
                <a:lnTo>
                  <a:pt x="282" y="438"/>
                </a:lnTo>
                <a:lnTo>
                  <a:pt x="301" y="421"/>
                </a:lnTo>
                <a:lnTo>
                  <a:pt x="316" y="408"/>
                </a:lnTo>
                <a:lnTo>
                  <a:pt x="333" y="391"/>
                </a:lnTo>
                <a:lnTo>
                  <a:pt x="345" y="373"/>
                </a:lnTo>
                <a:lnTo>
                  <a:pt x="354" y="356"/>
                </a:lnTo>
                <a:lnTo>
                  <a:pt x="360" y="331"/>
                </a:lnTo>
                <a:lnTo>
                  <a:pt x="361" y="311"/>
                </a:lnTo>
                <a:lnTo>
                  <a:pt x="361" y="291"/>
                </a:lnTo>
                <a:lnTo>
                  <a:pt x="361" y="191"/>
                </a:lnTo>
                <a:lnTo>
                  <a:pt x="450" y="191"/>
                </a:lnTo>
                <a:lnTo>
                  <a:pt x="271" y="0"/>
                </a:lnTo>
                <a:lnTo>
                  <a:pt x="90" y="191"/>
                </a:lnTo>
              </a:path>
            </a:pathLst>
          </a:custGeom>
          <a:solidFill>
            <a:srgbClr val="FF0000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7175" name="Freeform 7"/>
          <p:cNvSpPr>
            <a:spLocks/>
          </p:cNvSpPr>
          <p:nvPr/>
        </p:nvSpPr>
        <p:spPr bwMode="auto">
          <a:xfrm>
            <a:off x="4249738" y="3086100"/>
            <a:ext cx="566737" cy="804863"/>
          </a:xfrm>
          <a:custGeom>
            <a:avLst/>
            <a:gdLst>
              <a:gd name="T0" fmla="*/ 414 w 614"/>
              <a:gd name="T1" fmla="*/ 93 h 507"/>
              <a:gd name="T2" fmla="*/ 414 w 614"/>
              <a:gd name="T3" fmla="*/ 195 h 507"/>
              <a:gd name="T4" fmla="*/ 154 w 614"/>
              <a:gd name="T5" fmla="*/ 195 h 507"/>
              <a:gd name="T6" fmla="*/ 139 w 614"/>
              <a:gd name="T7" fmla="*/ 194 h 507"/>
              <a:gd name="T8" fmla="*/ 127 w 614"/>
              <a:gd name="T9" fmla="*/ 192 h 507"/>
              <a:gd name="T10" fmla="*/ 114 w 614"/>
              <a:gd name="T11" fmla="*/ 186 h 507"/>
              <a:gd name="T12" fmla="*/ 102 w 614"/>
              <a:gd name="T13" fmla="*/ 180 h 507"/>
              <a:gd name="T14" fmla="*/ 90 w 614"/>
              <a:gd name="T15" fmla="*/ 170 h 507"/>
              <a:gd name="T16" fmla="*/ 79 w 614"/>
              <a:gd name="T17" fmla="*/ 159 h 507"/>
              <a:gd name="T18" fmla="*/ 68 w 614"/>
              <a:gd name="T19" fmla="*/ 147 h 507"/>
              <a:gd name="T20" fmla="*/ 60 w 614"/>
              <a:gd name="T21" fmla="*/ 135 h 507"/>
              <a:gd name="T22" fmla="*/ 51 w 614"/>
              <a:gd name="T23" fmla="*/ 122 h 507"/>
              <a:gd name="T24" fmla="*/ 46 w 614"/>
              <a:gd name="T25" fmla="*/ 108 h 507"/>
              <a:gd name="T26" fmla="*/ 39 w 614"/>
              <a:gd name="T27" fmla="*/ 94 h 507"/>
              <a:gd name="T28" fmla="*/ 32 w 614"/>
              <a:gd name="T29" fmla="*/ 80 h 507"/>
              <a:gd name="T30" fmla="*/ 27 w 614"/>
              <a:gd name="T31" fmla="*/ 65 h 507"/>
              <a:gd name="T32" fmla="*/ 21 w 614"/>
              <a:gd name="T33" fmla="*/ 50 h 507"/>
              <a:gd name="T34" fmla="*/ 17 w 614"/>
              <a:gd name="T35" fmla="*/ 35 h 507"/>
              <a:gd name="T36" fmla="*/ 13 w 614"/>
              <a:gd name="T37" fmla="*/ 20 h 507"/>
              <a:gd name="T38" fmla="*/ 10 w 614"/>
              <a:gd name="T39" fmla="*/ 0 h 507"/>
              <a:gd name="T40" fmla="*/ 4 w 614"/>
              <a:gd name="T41" fmla="*/ 17 h 507"/>
              <a:gd name="T42" fmla="*/ 1 w 614"/>
              <a:gd name="T43" fmla="*/ 33 h 507"/>
              <a:gd name="T44" fmla="*/ 0 w 614"/>
              <a:gd name="T45" fmla="*/ 51 h 507"/>
              <a:gd name="T46" fmla="*/ 0 w 614"/>
              <a:gd name="T47" fmla="*/ 70 h 507"/>
              <a:gd name="T48" fmla="*/ 0 w 614"/>
              <a:gd name="T49" fmla="*/ 88 h 507"/>
              <a:gd name="T50" fmla="*/ 0 w 614"/>
              <a:gd name="T51" fmla="*/ 111 h 507"/>
              <a:gd name="T52" fmla="*/ 0 w 614"/>
              <a:gd name="T53" fmla="*/ 135 h 507"/>
              <a:gd name="T54" fmla="*/ 1 w 614"/>
              <a:gd name="T55" fmla="*/ 157 h 507"/>
              <a:gd name="T56" fmla="*/ 4 w 614"/>
              <a:gd name="T57" fmla="*/ 179 h 507"/>
              <a:gd name="T58" fmla="*/ 10 w 614"/>
              <a:gd name="T59" fmla="*/ 202 h 507"/>
              <a:gd name="T60" fmla="*/ 14 w 614"/>
              <a:gd name="T61" fmla="*/ 225 h 507"/>
              <a:gd name="T62" fmla="*/ 21 w 614"/>
              <a:gd name="T63" fmla="*/ 245 h 507"/>
              <a:gd name="T64" fmla="*/ 30 w 614"/>
              <a:gd name="T65" fmla="*/ 269 h 507"/>
              <a:gd name="T66" fmla="*/ 39 w 614"/>
              <a:gd name="T67" fmla="*/ 287 h 507"/>
              <a:gd name="T68" fmla="*/ 50 w 614"/>
              <a:gd name="T69" fmla="*/ 311 h 507"/>
              <a:gd name="T70" fmla="*/ 63 w 614"/>
              <a:gd name="T71" fmla="*/ 332 h 507"/>
              <a:gd name="T72" fmla="*/ 74 w 614"/>
              <a:gd name="T73" fmla="*/ 348 h 507"/>
              <a:gd name="T74" fmla="*/ 90 w 614"/>
              <a:gd name="T75" fmla="*/ 366 h 507"/>
              <a:gd name="T76" fmla="*/ 104 w 614"/>
              <a:gd name="T77" fmla="*/ 379 h 507"/>
              <a:gd name="T78" fmla="*/ 120 w 614"/>
              <a:gd name="T79" fmla="*/ 390 h 507"/>
              <a:gd name="T80" fmla="*/ 140 w 614"/>
              <a:gd name="T81" fmla="*/ 397 h 507"/>
              <a:gd name="T82" fmla="*/ 158 w 614"/>
              <a:gd name="T83" fmla="*/ 398 h 507"/>
              <a:gd name="T84" fmla="*/ 174 w 614"/>
              <a:gd name="T85" fmla="*/ 398 h 507"/>
              <a:gd name="T86" fmla="*/ 414 w 614"/>
              <a:gd name="T87" fmla="*/ 398 h 507"/>
              <a:gd name="T88" fmla="*/ 414 w 614"/>
              <a:gd name="T89" fmla="*/ 506 h 507"/>
              <a:gd name="T90" fmla="*/ 613 w 614"/>
              <a:gd name="T91" fmla="*/ 300 h 507"/>
              <a:gd name="T92" fmla="*/ 414 w 614"/>
              <a:gd name="T93" fmla="*/ 93 h 507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w 614"/>
              <a:gd name="T142" fmla="*/ 0 h 507"/>
              <a:gd name="T143" fmla="*/ 614 w 614"/>
              <a:gd name="T144" fmla="*/ 507 h 507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T141" t="T142" r="T143" b="T144"/>
            <a:pathLst>
              <a:path w="614" h="507">
                <a:moveTo>
                  <a:pt x="414" y="93"/>
                </a:moveTo>
                <a:lnTo>
                  <a:pt x="414" y="195"/>
                </a:lnTo>
                <a:lnTo>
                  <a:pt x="154" y="195"/>
                </a:lnTo>
                <a:lnTo>
                  <a:pt x="139" y="194"/>
                </a:lnTo>
                <a:lnTo>
                  <a:pt x="127" y="192"/>
                </a:lnTo>
                <a:lnTo>
                  <a:pt x="114" y="186"/>
                </a:lnTo>
                <a:lnTo>
                  <a:pt x="102" y="180"/>
                </a:lnTo>
                <a:lnTo>
                  <a:pt x="90" y="170"/>
                </a:lnTo>
                <a:lnTo>
                  <a:pt x="79" y="159"/>
                </a:lnTo>
                <a:lnTo>
                  <a:pt x="68" y="147"/>
                </a:lnTo>
                <a:lnTo>
                  <a:pt x="60" y="135"/>
                </a:lnTo>
                <a:lnTo>
                  <a:pt x="51" y="122"/>
                </a:lnTo>
                <a:lnTo>
                  <a:pt x="46" y="108"/>
                </a:lnTo>
                <a:lnTo>
                  <a:pt x="39" y="94"/>
                </a:lnTo>
                <a:lnTo>
                  <a:pt x="32" y="80"/>
                </a:lnTo>
                <a:lnTo>
                  <a:pt x="27" y="65"/>
                </a:lnTo>
                <a:lnTo>
                  <a:pt x="21" y="50"/>
                </a:lnTo>
                <a:lnTo>
                  <a:pt x="17" y="35"/>
                </a:lnTo>
                <a:lnTo>
                  <a:pt x="13" y="20"/>
                </a:lnTo>
                <a:lnTo>
                  <a:pt x="10" y="0"/>
                </a:lnTo>
                <a:lnTo>
                  <a:pt x="4" y="17"/>
                </a:lnTo>
                <a:lnTo>
                  <a:pt x="1" y="33"/>
                </a:lnTo>
                <a:lnTo>
                  <a:pt x="0" y="51"/>
                </a:lnTo>
                <a:lnTo>
                  <a:pt x="0" y="70"/>
                </a:lnTo>
                <a:lnTo>
                  <a:pt x="0" y="88"/>
                </a:lnTo>
                <a:lnTo>
                  <a:pt x="0" y="111"/>
                </a:lnTo>
                <a:lnTo>
                  <a:pt x="0" y="135"/>
                </a:lnTo>
                <a:lnTo>
                  <a:pt x="1" y="157"/>
                </a:lnTo>
                <a:lnTo>
                  <a:pt x="4" y="179"/>
                </a:lnTo>
                <a:lnTo>
                  <a:pt x="10" y="202"/>
                </a:lnTo>
                <a:lnTo>
                  <a:pt x="14" y="225"/>
                </a:lnTo>
                <a:lnTo>
                  <a:pt x="21" y="245"/>
                </a:lnTo>
                <a:lnTo>
                  <a:pt x="30" y="269"/>
                </a:lnTo>
                <a:lnTo>
                  <a:pt x="39" y="287"/>
                </a:lnTo>
                <a:lnTo>
                  <a:pt x="50" y="311"/>
                </a:lnTo>
                <a:lnTo>
                  <a:pt x="63" y="332"/>
                </a:lnTo>
                <a:lnTo>
                  <a:pt x="74" y="348"/>
                </a:lnTo>
                <a:lnTo>
                  <a:pt x="90" y="366"/>
                </a:lnTo>
                <a:lnTo>
                  <a:pt x="104" y="379"/>
                </a:lnTo>
                <a:lnTo>
                  <a:pt x="120" y="390"/>
                </a:lnTo>
                <a:lnTo>
                  <a:pt x="140" y="397"/>
                </a:lnTo>
                <a:lnTo>
                  <a:pt x="158" y="398"/>
                </a:lnTo>
                <a:lnTo>
                  <a:pt x="174" y="398"/>
                </a:lnTo>
                <a:lnTo>
                  <a:pt x="414" y="398"/>
                </a:lnTo>
                <a:lnTo>
                  <a:pt x="414" y="506"/>
                </a:lnTo>
                <a:lnTo>
                  <a:pt x="613" y="300"/>
                </a:lnTo>
                <a:lnTo>
                  <a:pt x="414" y="93"/>
                </a:lnTo>
              </a:path>
            </a:pathLst>
          </a:custGeom>
          <a:solidFill>
            <a:srgbClr val="FF0000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7176" name="Freeform 8"/>
          <p:cNvSpPr>
            <a:spLocks/>
          </p:cNvSpPr>
          <p:nvPr/>
        </p:nvSpPr>
        <p:spPr bwMode="auto">
          <a:xfrm>
            <a:off x="7526338" y="2986088"/>
            <a:ext cx="717550" cy="788987"/>
          </a:xfrm>
          <a:custGeom>
            <a:avLst/>
            <a:gdLst>
              <a:gd name="T0" fmla="*/ 90 w 452"/>
              <a:gd name="T1" fmla="*/ 191 h 497"/>
              <a:gd name="T2" fmla="*/ 178 w 452"/>
              <a:gd name="T3" fmla="*/ 191 h 497"/>
              <a:gd name="T4" fmla="*/ 178 w 452"/>
              <a:gd name="T5" fmla="*/ 315 h 497"/>
              <a:gd name="T6" fmla="*/ 177 w 452"/>
              <a:gd name="T7" fmla="*/ 333 h 497"/>
              <a:gd name="T8" fmla="*/ 175 w 452"/>
              <a:gd name="T9" fmla="*/ 347 h 497"/>
              <a:gd name="T10" fmla="*/ 170 w 452"/>
              <a:gd name="T11" fmla="*/ 361 h 497"/>
              <a:gd name="T12" fmla="*/ 164 w 452"/>
              <a:gd name="T13" fmla="*/ 376 h 497"/>
              <a:gd name="T14" fmla="*/ 154 w 452"/>
              <a:gd name="T15" fmla="*/ 390 h 497"/>
              <a:gd name="T16" fmla="*/ 145 w 452"/>
              <a:gd name="T17" fmla="*/ 404 h 497"/>
              <a:gd name="T18" fmla="*/ 133 w 452"/>
              <a:gd name="T19" fmla="*/ 416 h 497"/>
              <a:gd name="T20" fmla="*/ 122 w 452"/>
              <a:gd name="T21" fmla="*/ 426 h 497"/>
              <a:gd name="T22" fmla="*/ 111 w 452"/>
              <a:gd name="T23" fmla="*/ 435 h 497"/>
              <a:gd name="T24" fmla="*/ 99 w 452"/>
              <a:gd name="T25" fmla="*/ 442 h 497"/>
              <a:gd name="T26" fmla="*/ 86 w 452"/>
              <a:gd name="T27" fmla="*/ 450 h 497"/>
              <a:gd name="T28" fmla="*/ 73 w 452"/>
              <a:gd name="T29" fmla="*/ 457 h 497"/>
              <a:gd name="T30" fmla="*/ 59 w 452"/>
              <a:gd name="T31" fmla="*/ 464 h 497"/>
              <a:gd name="T32" fmla="*/ 45 w 452"/>
              <a:gd name="T33" fmla="*/ 470 h 497"/>
              <a:gd name="T34" fmla="*/ 31 w 452"/>
              <a:gd name="T35" fmla="*/ 476 h 497"/>
              <a:gd name="T36" fmla="*/ 18 w 452"/>
              <a:gd name="T37" fmla="*/ 480 h 497"/>
              <a:gd name="T38" fmla="*/ 0 w 452"/>
              <a:gd name="T39" fmla="*/ 484 h 497"/>
              <a:gd name="T40" fmla="*/ 16 w 452"/>
              <a:gd name="T41" fmla="*/ 490 h 497"/>
              <a:gd name="T42" fmla="*/ 30 w 452"/>
              <a:gd name="T43" fmla="*/ 494 h 497"/>
              <a:gd name="T44" fmla="*/ 46 w 452"/>
              <a:gd name="T45" fmla="*/ 496 h 497"/>
              <a:gd name="T46" fmla="*/ 63 w 452"/>
              <a:gd name="T47" fmla="*/ 496 h 497"/>
              <a:gd name="T48" fmla="*/ 80 w 452"/>
              <a:gd name="T49" fmla="*/ 496 h 497"/>
              <a:gd name="T50" fmla="*/ 100 w 452"/>
              <a:gd name="T51" fmla="*/ 496 h 497"/>
              <a:gd name="T52" fmla="*/ 122 w 452"/>
              <a:gd name="T53" fmla="*/ 495 h 497"/>
              <a:gd name="T54" fmla="*/ 143 w 452"/>
              <a:gd name="T55" fmla="*/ 494 h 497"/>
              <a:gd name="T56" fmla="*/ 163 w 452"/>
              <a:gd name="T57" fmla="*/ 490 h 497"/>
              <a:gd name="T58" fmla="*/ 184 w 452"/>
              <a:gd name="T59" fmla="*/ 484 h 497"/>
              <a:gd name="T60" fmla="*/ 204 w 452"/>
              <a:gd name="T61" fmla="*/ 478 h 497"/>
              <a:gd name="T62" fmla="*/ 223 w 452"/>
              <a:gd name="T63" fmla="*/ 470 h 497"/>
              <a:gd name="T64" fmla="*/ 245 w 452"/>
              <a:gd name="T65" fmla="*/ 460 h 497"/>
              <a:gd name="T66" fmla="*/ 261 w 452"/>
              <a:gd name="T67" fmla="*/ 450 h 497"/>
              <a:gd name="T68" fmla="*/ 283 w 452"/>
              <a:gd name="T69" fmla="*/ 438 h 497"/>
              <a:gd name="T70" fmla="*/ 302 w 452"/>
              <a:gd name="T71" fmla="*/ 421 h 497"/>
              <a:gd name="T72" fmla="*/ 317 w 452"/>
              <a:gd name="T73" fmla="*/ 408 h 497"/>
              <a:gd name="T74" fmla="*/ 334 w 452"/>
              <a:gd name="T75" fmla="*/ 391 h 497"/>
              <a:gd name="T76" fmla="*/ 345 w 452"/>
              <a:gd name="T77" fmla="*/ 373 h 497"/>
              <a:gd name="T78" fmla="*/ 355 w 452"/>
              <a:gd name="T79" fmla="*/ 356 h 497"/>
              <a:gd name="T80" fmla="*/ 361 w 452"/>
              <a:gd name="T81" fmla="*/ 331 h 497"/>
              <a:gd name="T82" fmla="*/ 362 w 452"/>
              <a:gd name="T83" fmla="*/ 311 h 497"/>
              <a:gd name="T84" fmla="*/ 362 w 452"/>
              <a:gd name="T85" fmla="*/ 291 h 497"/>
              <a:gd name="T86" fmla="*/ 362 w 452"/>
              <a:gd name="T87" fmla="*/ 191 h 497"/>
              <a:gd name="T88" fmla="*/ 451 w 452"/>
              <a:gd name="T89" fmla="*/ 191 h 497"/>
              <a:gd name="T90" fmla="*/ 272 w 452"/>
              <a:gd name="T91" fmla="*/ 0 h 497"/>
              <a:gd name="T92" fmla="*/ 90 w 452"/>
              <a:gd name="T93" fmla="*/ 191 h 497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w 452"/>
              <a:gd name="T142" fmla="*/ 0 h 497"/>
              <a:gd name="T143" fmla="*/ 452 w 452"/>
              <a:gd name="T144" fmla="*/ 497 h 497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T141" t="T142" r="T143" b="T144"/>
            <a:pathLst>
              <a:path w="452" h="497">
                <a:moveTo>
                  <a:pt x="90" y="191"/>
                </a:moveTo>
                <a:lnTo>
                  <a:pt x="178" y="191"/>
                </a:lnTo>
                <a:lnTo>
                  <a:pt x="178" y="315"/>
                </a:lnTo>
                <a:lnTo>
                  <a:pt x="177" y="333"/>
                </a:lnTo>
                <a:lnTo>
                  <a:pt x="175" y="347"/>
                </a:lnTo>
                <a:lnTo>
                  <a:pt x="170" y="361"/>
                </a:lnTo>
                <a:lnTo>
                  <a:pt x="164" y="376"/>
                </a:lnTo>
                <a:lnTo>
                  <a:pt x="154" y="390"/>
                </a:lnTo>
                <a:lnTo>
                  <a:pt x="145" y="404"/>
                </a:lnTo>
                <a:lnTo>
                  <a:pt x="133" y="416"/>
                </a:lnTo>
                <a:lnTo>
                  <a:pt x="122" y="426"/>
                </a:lnTo>
                <a:lnTo>
                  <a:pt x="111" y="435"/>
                </a:lnTo>
                <a:lnTo>
                  <a:pt x="99" y="442"/>
                </a:lnTo>
                <a:lnTo>
                  <a:pt x="86" y="450"/>
                </a:lnTo>
                <a:lnTo>
                  <a:pt x="73" y="457"/>
                </a:lnTo>
                <a:lnTo>
                  <a:pt x="59" y="464"/>
                </a:lnTo>
                <a:lnTo>
                  <a:pt x="45" y="470"/>
                </a:lnTo>
                <a:lnTo>
                  <a:pt x="31" y="476"/>
                </a:lnTo>
                <a:lnTo>
                  <a:pt x="18" y="480"/>
                </a:lnTo>
                <a:lnTo>
                  <a:pt x="0" y="484"/>
                </a:lnTo>
                <a:lnTo>
                  <a:pt x="16" y="490"/>
                </a:lnTo>
                <a:lnTo>
                  <a:pt x="30" y="494"/>
                </a:lnTo>
                <a:lnTo>
                  <a:pt x="46" y="496"/>
                </a:lnTo>
                <a:lnTo>
                  <a:pt x="63" y="496"/>
                </a:lnTo>
                <a:lnTo>
                  <a:pt x="80" y="496"/>
                </a:lnTo>
                <a:lnTo>
                  <a:pt x="100" y="496"/>
                </a:lnTo>
                <a:lnTo>
                  <a:pt x="122" y="495"/>
                </a:lnTo>
                <a:lnTo>
                  <a:pt x="143" y="494"/>
                </a:lnTo>
                <a:lnTo>
                  <a:pt x="163" y="490"/>
                </a:lnTo>
                <a:lnTo>
                  <a:pt x="184" y="484"/>
                </a:lnTo>
                <a:lnTo>
                  <a:pt x="204" y="478"/>
                </a:lnTo>
                <a:lnTo>
                  <a:pt x="223" y="470"/>
                </a:lnTo>
                <a:lnTo>
                  <a:pt x="245" y="460"/>
                </a:lnTo>
                <a:lnTo>
                  <a:pt x="261" y="450"/>
                </a:lnTo>
                <a:lnTo>
                  <a:pt x="283" y="438"/>
                </a:lnTo>
                <a:lnTo>
                  <a:pt x="302" y="421"/>
                </a:lnTo>
                <a:lnTo>
                  <a:pt x="317" y="408"/>
                </a:lnTo>
                <a:lnTo>
                  <a:pt x="334" y="391"/>
                </a:lnTo>
                <a:lnTo>
                  <a:pt x="345" y="373"/>
                </a:lnTo>
                <a:lnTo>
                  <a:pt x="355" y="356"/>
                </a:lnTo>
                <a:lnTo>
                  <a:pt x="361" y="331"/>
                </a:lnTo>
                <a:lnTo>
                  <a:pt x="362" y="311"/>
                </a:lnTo>
                <a:lnTo>
                  <a:pt x="362" y="291"/>
                </a:lnTo>
                <a:lnTo>
                  <a:pt x="362" y="191"/>
                </a:lnTo>
                <a:lnTo>
                  <a:pt x="451" y="191"/>
                </a:lnTo>
                <a:lnTo>
                  <a:pt x="272" y="0"/>
                </a:lnTo>
                <a:lnTo>
                  <a:pt x="90" y="191"/>
                </a:lnTo>
              </a:path>
            </a:pathLst>
          </a:custGeom>
          <a:solidFill>
            <a:srgbClr val="FF0000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7177" name="Freeform 9"/>
          <p:cNvSpPr>
            <a:spLocks/>
          </p:cNvSpPr>
          <p:nvPr/>
        </p:nvSpPr>
        <p:spPr bwMode="auto">
          <a:xfrm>
            <a:off x="971550" y="3146425"/>
            <a:ext cx="595313" cy="804863"/>
          </a:xfrm>
          <a:custGeom>
            <a:avLst/>
            <a:gdLst>
              <a:gd name="T0" fmla="*/ 414 w 613"/>
              <a:gd name="T1" fmla="*/ 93 h 507"/>
              <a:gd name="T2" fmla="*/ 414 w 613"/>
              <a:gd name="T3" fmla="*/ 195 h 507"/>
              <a:gd name="T4" fmla="*/ 154 w 613"/>
              <a:gd name="T5" fmla="*/ 195 h 507"/>
              <a:gd name="T6" fmla="*/ 138 w 613"/>
              <a:gd name="T7" fmla="*/ 194 h 507"/>
              <a:gd name="T8" fmla="*/ 127 w 613"/>
              <a:gd name="T9" fmla="*/ 192 h 507"/>
              <a:gd name="T10" fmla="*/ 114 w 613"/>
              <a:gd name="T11" fmla="*/ 186 h 507"/>
              <a:gd name="T12" fmla="*/ 102 w 613"/>
              <a:gd name="T13" fmla="*/ 180 h 507"/>
              <a:gd name="T14" fmla="*/ 90 w 613"/>
              <a:gd name="T15" fmla="*/ 170 h 507"/>
              <a:gd name="T16" fmla="*/ 78 w 613"/>
              <a:gd name="T17" fmla="*/ 159 h 507"/>
              <a:gd name="T18" fmla="*/ 68 w 613"/>
              <a:gd name="T19" fmla="*/ 147 h 507"/>
              <a:gd name="T20" fmla="*/ 59 w 613"/>
              <a:gd name="T21" fmla="*/ 135 h 507"/>
              <a:gd name="T22" fmla="*/ 51 w 613"/>
              <a:gd name="T23" fmla="*/ 122 h 507"/>
              <a:gd name="T24" fmla="*/ 46 w 613"/>
              <a:gd name="T25" fmla="*/ 108 h 507"/>
              <a:gd name="T26" fmla="*/ 39 w 613"/>
              <a:gd name="T27" fmla="*/ 94 h 507"/>
              <a:gd name="T28" fmla="*/ 32 w 613"/>
              <a:gd name="T29" fmla="*/ 80 h 507"/>
              <a:gd name="T30" fmla="*/ 27 w 613"/>
              <a:gd name="T31" fmla="*/ 65 h 507"/>
              <a:gd name="T32" fmla="*/ 21 w 613"/>
              <a:gd name="T33" fmla="*/ 50 h 507"/>
              <a:gd name="T34" fmla="*/ 17 w 613"/>
              <a:gd name="T35" fmla="*/ 35 h 507"/>
              <a:gd name="T36" fmla="*/ 13 w 613"/>
              <a:gd name="T37" fmla="*/ 20 h 507"/>
              <a:gd name="T38" fmla="*/ 9 w 613"/>
              <a:gd name="T39" fmla="*/ 0 h 507"/>
              <a:gd name="T40" fmla="*/ 4 w 613"/>
              <a:gd name="T41" fmla="*/ 17 h 507"/>
              <a:gd name="T42" fmla="*/ 1 w 613"/>
              <a:gd name="T43" fmla="*/ 33 h 507"/>
              <a:gd name="T44" fmla="*/ 0 w 613"/>
              <a:gd name="T45" fmla="*/ 51 h 507"/>
              <a:gd name="T46" fmla="*/ 0 w 613"/>
              <a:gd name="T47" fmla="*/ 70 h 507"/>
              <a:gd name="T48" fmla="*/ 0 w 613"/>
              <a:gd name="T49" fmla="*/ 88 h 507"/>
              <a:gd name="T50" fmla="*/ 0 w 613"/>
              <a:gd name="T51" fmla="*/ 111 h 507"/>
              <a:gd name="T52" fmla="*/ 0 w 613"/>
              <a:gd name="T53" fmla="*/ 135 h 507"/>
              <a:gd name="T54" fmla="*/ 1 w 613"/>
              <a:gd name="T55" fmla="*/ 157 h 507"/>
              <a:gd name="T56" fmla="*/ 4 w 613"/>
              <a:gd name="T57" fmla="*/ 179 h 507"/>
              <a:gd name="T58" fmla="*/ 9 w 613"/>
              <a:gd name="T59" fmla="*/ 202 h 507"/>
              <a:gd name="T60" fmla="*/ 14 w 613"/>
              <a:gd name="T61" fmla="*/ 225 h 507"/>
              <a:gd name="T62" fmla="*/ 21 w 613"/>
              <a:gd name="T63" fmla="*/ 245 h 507"/>
              <a:gd name="T64" fmla="*/ 30 w 613"/>
              <a:gd name="T65" fmla="*/ 269 h 507"/>
              <a:gd name="T66" fmla="*/ 39 w 613"/>
              <a:gd name="T67" fmla="*/ 287 h 507"/>
              <a:gd name="T68" fmla="*/ 49 w 613"/>
              <a:gd name="T69" fmla="*/ 311 h 507"/>
              <a:gd name="T70" fmla="*/ 63 w 613"/>
              <a:gd name="T71" fmla="*/ 332 h 507"/>
              <a:gd name="T72" fmla="*/ 74 w 613"/>
              <a:gd name="T73" fmla="*/ 348 h 507"/>
              <a:gd name="T74" fmla="*/ 89 w 613"/>
              <a:gd name="T75" fmla="*/ 366 h 507"/>
              <a:gd name="T76" fmla="*/ 104 w 613"/>
              <a:gd name="T77" fmla="*/ 379 h 507"/>
              <a:gd name="T78" fmla="*/ 119 w 613"/>
              <a:gd name="T79" fmla="*/ 390 h 507"/>
              <a:gd name="T80" fmla="*/ 140 w 613"/>
              <a:gd name="T81" fmla="*/ 397 h 507"/>
              <a:gd name="T82" fmla="*/ 157 w 613"/>
              <a:gd name="T83" fmla="*/ 398 h 507"/>
              <a:gd name="T84" fmla="*/ 174 w 613"/>
              <a:gd name="T85" fmla="*/ 398 h 507"/>
              <a:gd name="T86" fmla="*/ 414 w 613"/>
              <a:gd name="T87" fmla="*/ 398 h 507"/>
              <a:gd name="T88" fmla="*/ 414 w 613"/>
              <a:gd name="T89" fmla="*/ 506 h 507"/>
              <a:gd name="T90" fmla="*/ 612 w 613"/>
              <a:gd name="T91" fmla="*/ 300 h 507"/>
              <a:gd name="T92" fmla="*/ 414 w 613"/>
              <a:gd name="T93" fmla="*/ 93 h 507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w 613"/>
              <a:gd name="T142" fmla="*/ 0 h 507"/>
              <a:gd name="T143" fmla="*/ 613 w 613"/>
              <a:gd name="T144" fmla="*/ 507 h 507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T141" t="T142" r="T143" b="T144"/>
            <a:pathLst>
              <a:path w="613" h="507">
                <a:moveTo>
                  <a:pt x="414" y="93"/>
                </a:moveTo>
                <a:lnTo>
                  <a:pt x="414" y="195"/>
                </a:lnTo>
                <a:lnTo>
                  <a:pt x="154" y="195"/>
                </a:lnTo>
                <a:lnTo>
                  <a:pt x="138" y="194"/>
                </a:lnTo>
                <a:lnTo>
                  <a:pt x="127" y="192"/>
                </a:lnTo>
                <a:lnTo>
                  <a:pt x="114" y="186"/>
                </a:lnTo>
                <a:lnTo>
                  <a:pt x="102" y="180"/>
                </a:lnTo>
                <a:lnTo>
                  <a:pt x="90" y="170"/>
                </a:lnTo>
                <a:lnTo>
                  <a:pt x="78" y="159"/>
                </a:lnTo>
                <a:lnTo>
                  <a:pt x="68" y="147"/>
                </a:lnTo>
                <a:lnTo>
                  <a:pt x="59" y="135"/>
                </a:lnTo>
                <a:lnTo>
                  <a:pt x="51" y="122"/>
                </a:lnTo>
                <a:lnTo>
                  <a:pt x="46" y="108"/>
                </a:lnTo>
                <a:lnTo>
                  <a:pt x="39" y="94"/>
                </a:lnTo>
                <a:lnTo>
                  <a:pt x="32" y="80"/>
                </a:lnTo>
                <a:lnTo>
                  <a:pt x="27" y="65"/>
                </a:lnTo>
                <a:lnTo>
                  <a:pt x="21" y="50"/>
                </a:lnTo>
                <a:lnTo>
                  <a:pt x="17" y="35"/>
                </a:lnTo>
                <a:lnTo>
                  <a:pt x="13" y="20"/>
                </a:lnTo>
                <a:lnTo>
                  <a:pt x="9" y="0"/>
                </a:lnTo>
                <a:lnTo>
                  <a:pt x="4" y="17"/>
                </a:lnTo>
                <a:lnTo>
                  <a:pt x="1" y="33"/>
                </a:lnTo>
                <a:lnTo>
                  <a:pt x="0" y="51"/>
                </a:lnTo>
                <a:lnTo>
                  <a:pt x="0" y="70"/>
                </a:lnTo>
                <a:lnTo>
                  <a:pt x="0" y="88"/>
                </a:lnTo>
                <a:lnTo>
                  <a:pt x="0" y="111"/>
                </a:lnTo>
                <a:lnTo>
                  <a:pt x="0" y="135"/>
                </a:lnTo>
                <a:lnTo>
                  <a:pt x="1" y="157"/>
                </a:lnTo>
                <a:lnTo>
                  <a:pt x="4" y="179"/>
                </a:lnTo>
                <a:lnTo>
                  <a:pt x="9" y="202"/>
                </a:lnTo>
                <a:lnTo>
                  <a:pt x="14" y="225"/>
                </a:lnTo>
                <a:lnTo>
                  <a:pt x="21" y="245"/>
                </a:lnTo>
                <a:lnTo>
                  <a:pt x="30" y="269"/>
                </a:lnTo>
                <a:lnTo>
                  <a:pt x="39" y="287"/>
                </a:lnTo>
                <a:lnTo>
                  <a:pt x="49" y="311"/>
                </a:lnTo>
                <a:lnTo>
                  <a:pt x="63" y="332"/>
                </a:lnTo>
                <a:lnTo>
                  <a:pt x="74" y="348"/>
                </a:lnTo>
                <a:lnTo>
                  <a:pt x="89" y="366"/>
                </a:lnTo>
                <a:lnTo>
                  <a:pt x="104" y="379"/>
                </a:lnTo>
                <a:lnTo>
                  <a:pt x="119" y="390"/>
                </a:lnTo>
                <a:lnTo>
                  <a:pt x="140" y="397"/>
                </a:lnTo>
                <a:lnTo>
                  <a:pt x="157" y="398"/>
                </a:lnTo>
                <a:lnTo>
                  <a:pt x="174" y="398"/>
                </a:lnTo>
                <a:lnTo>
                  <a:pt x="414" y="398"/>
                </a:lnTo>
                <a:lnTo>
                  <a:pt x="414" y="506"/>
                </a:lnTo>
                <a:lnTo>
                  <a:pt x="612" y="300"/>
                </a:lnTo>
                <a:lnTo>
                  <a:pt x="414" y="93"/>
                </a:lnTo>
              </a:path>
            </a:pathLst>
          </a:custGeom>
          <a:solidFill>
            <a:srgbClr val="FF0000"/>
          </a:solidFill>
          <a:ln w="12700" cap="rnd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49162" name="Rectangle 10"/>
          <p:cNvSpPr>
            <a:spLocks noChangeArrowheads="1"/>
          </p:cNvSpPr>
          <p:nvPr/>
        </p:nvSpPr>
        <p:spPr bwMode="auto">
          <a:xfrm>
            <a:off x="247650" y="1130300"/>
            <a:ext cx="18764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uz-Cyrl-UZ" sz="2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Хабар ёки файл</a:t>
            </a:r>
            <a:endParaRPr lang="en-US" sz="20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9163" name="Rectangle 11"/>
          <p:cNvSpPr>
            <a:spLocks noChangeArrowheads="1"/>
          </p:cNvSpPr>
          <p:nvPr/>
        </p:nvSpPr>
        <p:spPr bwMode="auto">
          <a:xfrm>
            <a:off x="6665913" y="1485900"/>
            <a:ext cx="22987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uz-Cyrl-UZ" sz="2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Рақамли      имзо</a:t>
            </a:r>
            <a:endParaRPr lang="en-US" sz="20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9164" name="Rectangle 12"/>
          <p:cNvSpPr>
            <a:spLocks noChangeArrowheads="1"/>
          </p:cNvSpPr>
          <p:nvPr/>
        </p:nvSpPr>
        <p:spPr bwMode="auto">
          <a:xfrm>
            <a:off x="3059113" y="1879600"/>
            <a:ext cx="225583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uz-Cyrl-UZ" sz="20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Хабар хэши</a:t>
            </a:r>
            <a:endParaRPr lang="en-US" sz="20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81" name="AutoShape 13"/>
          <p:cNvSpPr>
            <a:spLocks noChangeArrowheads="1"/>
          </p:cNvSpPr>
          <p:nvPr/>
        </p:nvSpPr>
        <p:spPr bwMode="auto">
          <a:xfrm>
            <a:off x="6124575" y="4060825"/>
            <a:ext cx="484188" cy="558800"/>
          </a:xfrm>
          <a:prstGeom prst="upArrow">
            <a:avLst>
              <a:gd name="adj1" fmla="val 50000"/>
              <a:gd name="adj2" fmla="val 57700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uz-Cyrl-UZ"/>
          </a:p>
        </p:txBody>
      </p:sp>
      <p:sp>
        <p:nvSpPr>
          <p:cNvPr id="49166" name="Rectangle 14"/>
          <p:cNvSpPr>
            <a:spLocks noChangeArrowheads="1"/>
          </p:cNvSpPr>
          <p:nvPr/>
        </p:nvSpPr>
        <p:spPr bwMode="auto">
          <a:xfrm>
            <a:off x="781050" y="4268788"/>
            <a:ext cx="2566988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uz-Cyrl-UZ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Бир томонли функция ёрдамида катта хабардан кичик хабарни ҳосил қилиш (хэш)</a:t>
            </a:r>
            <a:endParaRPr lang="en-US" sz="14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9167" name="Rectangle 15"/>
          <p:cNvSpPr>
            <a:spLocks noChangeArrowheads="1"/>
          </p:cNvSpPr>
          <p:nvPr/>
        </p:nvSpPr>
        <p:spPr bwMode="auto">
          <a:xfrm>
            <a:off x="6659563" y="5226050"/>
            <a:ext cx="2233612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uz-Cyrl-UZ" sz="1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Имзо қўйувчининг ёпиқ калити</a:t>
            </a:r>
            <a:endParaRPr lang="en-US" sz="16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9168" name="Oval 16"/>
          <p:cNvSpPr>
            <a:spLocks noChangeArrowheads="1"/>
          </p:cNvSpPr>
          <p:nvPr/>
        </p:nvSpPr>
        <p:spPr bwMode="auto">
          <a:xfrm>
            <a:off x="1758950" y="3086100"/>
            <a:ext cx="1746250" cy="1141413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 algn="ctr" eaLnBrk="0" hangingPunct="0">
              <a:defRPr/>
            </a:pPr>
            <a:r>
              <a:rPr lang="uz-Cyrl-UZ" sz="16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Хэшни </a:t>
            </a:r>
          </a:p>
          <a:p>
            <a:pPr algn="ctr" eaLnBrk="0" hangingPunct="0">
              <a:defRPr/>
            </a:pPr>
            <a:r>
              <a:rPr lang="uz-Cyrl-UZ" sz="16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генерация </a:t>
            </a:r>
          </a:p>
          <a:p>
            <a:pPr algn="ctr" eaLnBrk="0" hangingPunct="0">
              <a:defRPr/>
            </a:pPr>
            <a:r>
              <a:rPr lang="uz-Cyrl-UZ" sz="16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қилиш</a:t>
            </a:r>
            <a:endParaRPr lang="en-US" sz="1600" b="1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185" name="Rectangle 17"/>
          <p:cNvSpPr>
            <a:spLocks noChangeArrowheads="1"/>
          </p:cNvSpPr>
          <p:nvPr/>
        </p:nvSpPr>
        <p:spPr bwMode="auto">
          <a:xfrm>
            <a:off x="2124075" y="2822575"/>
            <a:ext cx="863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en-US" sz="1600" b="1">
                <a:solidFill>
                  <a:srgbClr val="990000"/>
                </a:solidFill>
              </a:rPr>
              <a:t>SHA-1</a:t>
            </a:r>
          </a:p>
        </p:txBody>
      </p:sp>
      <p:sp>
        <p:nvSpPr>
          <p:cNvPr id="49170" name="Oval 18"/>
          <p:cNvSpPr>
            <a:spLocks noChangeArrowheads="1"/>
          </p:cNvSpPr>
          <p:nvPr/>
        </p:nvSpPr>
        <p:spPr bwMode="auto">
          <a:xfrm>
            <a:off x="5122863" y="3127375"/>
            <a:ext cx="2500312" cy="966788"/>
          </a:xfrm>
          <a:prstGeom prst="ellipse">
            <a:avLst/>
          </a:prstGeom>
          <a:solidFill>
            <a:srgbClr val="FFFF99"/>
          </a:solidFill>
          <a:ln w="12700">
            <a:solidFill>
              <a:schemeClr val="bg2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pPr algn="ctr" eaLnBrk="0" hangingPunct="0">
              <a:defRPr/>
            </a:pPr>
            <a:r>
              <a:rPr lang="uz-Cyrl-UZ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Асимметрик </a:t>
            </a:r>
          </a:p>
          <a:p>
            <a:pPr algn="ctr" eaLnBrk="0" hangingPunct="0">
              <a:defRPr/>
            </a:pPr>
            <a:r>
              <a:rPr lang="uz-Cyrl-UZ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шифрлаш</a:t>
            </a:r>
            <a:endParaRPr lang="en-US" sz="2000" b="1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9171" name="Rectangle 19"/>
          <p:cNvSpPr>
            <a:spLocks noChangeArrowheads="1"/>
          </p:cNvSpPr>
          <p:nvPr/>
        </p:nvSpPr>
        <p:spPr bwMode="auto">
          <a:xfrm>
            <a:off x="5651500" y="2805113"/>
            <a:ext cx="12255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defRPr/>
            </a:pPr>
            <a:r>
              <a:rPr lang="en-US" sz="1600" b="1">
                <a:solidFill>
                  <a:srgbClr val="990000"/>
                </a:solidFill>
              </a:rPr>
              <a:t>DSA, RSA</a:t>
            </a:r>
            <a:endParaRPr lang="en-US" sz="1600" b="1">
              <a:solidFill>
                <a:srgbClr val="FF99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9173" name="Rectangle 21"/>
          <p:cNvSpPr>
            <a:spLocks noChangeArrowheads="1"/>
          </p:cNvSpPr>
          <p:nvPr/>
        </p:nvSpPr>
        <p:spPr bwMode="auto">
          <a:xfrm>
            <a:off x="6948488" y="2562225"/>
            <a:ext cx="1408112" cy="349250"/>
          </a:xfrm>
          <a:prstGeom prst="rect">
            <a:avLst/>
          </a:prstGeom>
          <a:gradFill rotWithShape="0">
            <a:gsLst>
              <a:gs pos="0">
                <a:srgbClr val="5949F7">
                  <a:gamma/>
                  <a:shade val="80000"/>
                  <a:invGamma/>
                </a:srgbClr>
              </a:gs>
              <a:gs pos="100000">
                <a:srgbClr val="5949F7"/>
              </a:gs>
            </a:gsLst>
            <a:lin ang="5400000" scaled="1"/>
          </a:gradFill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3kJfgf*£$&amp;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3489325" y="4143375"/>
            <a:ext cx="1647825" cy="2165350"/>
            <a:chOff x="2198" y="2884"/>
            <a:chExt cx="1038" cy="1364"/>
          </a:xfrm>
        </p:grpSpPr>
        <p:sp>
          <p:nvSpPr>
            <p:cNvPr id="7210" name="Rectangle 23"/>
            <p:cNvSpPr>
              <a:spLocks noChangeArrowheads="1"/>
            </p:cNvSpPr>
            <p:nvPr/>
          </p:nvSpPr>
          <p:spPr bwMode="auto">
            <a:xfrm>
              <a:off x="2198" y="2884"/>
              <a:ext cx="1038" cy="1364"/>
            </a:xfrm>
            <a:prstGeom prst="rect">
              <a:avLst/>
            </a:prstGeom>
            <a:noFill/>
            <a:ln w="28575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endParaRPr lang="uz-Cyrl-UZ"/>
            </a:p>
          </p:txBody>
        </p:sp>
        <p:sp>
          <p:nvSpPr>
            <p:cNvPr id="49176" name="Rectangle 24"/>
            <p:cNvSpPr>
              <a:spLocks noChangeArrowheads="1"/>
            </p:cNvSpPr>
            <p:nvPr/>
          </p:nvSpPr>
          <p:spPr bwMode="auto">
            <a:xfrm>
              <a:off x="2288" y="3882"/>
              <a:ext cx="830" cy="3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uz-Cyrl-UZ" sz="12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Имзоланган </a:t>
              </a:r>
            </a:p>
            <a:p>
              <a:pPr algn="ctr" eaLnBrk="0" hangingPunct="0">
                <a:spcBef>
                  <a:spcPct val="50000"/>
                </a:spcBef>
                <a:defRPr/>
              </a:pPr>
              <a:r>
                <a:rPr lang="uz-Cyrl-UZ" sz="12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хужжат</a:t>
              </a:r>
              <a:endParaRPr lang="en-US" sz="12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7190" name="Group 25"/>
          <p:cNvGrpSpPr>
            <a:grpSpLocks/>
          </p:cNvGrpSpPr>
          <p:nvPr/>
        </p:nvGrpSpPr>
        <p:grpSpPr bwMode="auto">
          <a:xfrm>
            <a:off x="5994400" y="4875213"/>
            <a:ext cx="733425" cy="1204912"/>
            <a:chOff x="3776" y="3345"/>
            <a:chExt cx="462" cy="759"/>
          </a:xfrm>
        </p:grpSpPr>
        <p:grpSp>
          <p:nvGrpSpPr>
            <p:cNvPr id="7192" name="Group 26"/>
            <p:cNvGrpSpPr>
              <a:grpSpLocks/>
            </p:cNvGrpSpPr>
            <p:nvPr/>
          </p:nvGrpSpPr>
          <p:grpSpPr bwMode="auto">
            <a:xfrm>
              <a:off x="3776" y="3345"/>
              <a:ext cx="462" cy="759"/>
              <a:chOff x="3813" y="2859"/>
              <a:chExt cx="561" cy="1077"/>
            </a:xfrm>
          </p:grpSpPr>
          <p:sp>
            <p:nvSpPr>
              <p:cNvPr id="7194" name="Freeform 27"/>
              <p:cNvSpPr>
                <a:spLocks/>
              </p:cNvSpPr>
              <p:nvPr/>
            </p:nvSpPr>
            <p:spPr bwMode="auto">
              <a:xfrm>
                <a:off x="3827" y="2859"/>
                <a:ext cx="547" cy="1071"/>
              </a:xfrm>
              <a:custGeom>
                <a:avLst/>
                <a:gdLst>
                  <a:gd name="T0" fmla="*/ 349 w 547"/>
                  <a:gd name="T1" fmla="*/ 0 h 1071"/>
                  <a:gd name="T2" fmla="*/ 185 w 547"/>
                  <a:gd name="T3" fmla="*/ 0 h 1071"/>
                  <a:gd name="T4" fmla="*/ 215 w 547"/>
                  <a:gd name="T5" fmla="*/ 41 h 1071"/>
                  <a:gd name="T6" fmla="*/ 312 w 547"/>
                  <a:gd name="T7" fmla="*/ 41 h 1071"/>
                  <a:gd name="T8" fmla="*/ 348 w 547"/>
                  <a:gd name="T9" fmla="*/ 106 h 1071"/>
                  <a:gd name="T10" fmla="*/ 182 w 547"/>
                  <a:gd name="T11" fmla="*/ 106 h 1071"/>
                  <a:gd name="T12" fmla="*/ 216 w 547"/>
                  <a:gd name="T13" fmla="*/ 42 h 1071"/>
                  <a:gd name="T14" fmla="*/ 185 w 547"/>
                  <a:gd name="T15" fmla="*/ 1 h 1071"/>
                  <a:gd name="T16" fmla="*/ 127 w 547"/>
                  <a:gd name="T17" fmla="*/ 102 h 1071"/>
                  <a:gd name="T18" fmla="*/ 95 w 547"/>
                  <a:gd name="T19" fmla="*/ 103 h 1071"/>
                  <a:gd name="T20" fmla="*/ 84 w 547"/>
                  <a:gd name="T21" fmla="*/ 137 h 1071"/>
                  <a:gd name="T22" fmla="*/ 35 w 547"/>
                  <a:gd name="T23" fmla="*/ 137 h 1071"/>
                  <a:gd name="T24" fmla="*/ 35 w 547"/>
                  <a:gd name="T25" fmla="*/ 162 h 1071"/>
                  <a:gd name="T26" fmla="*/ 16 w 547"/>
                  <a:gd name="T27" fmla="*/ 163 h 1071"/>
                  <a:gd name="T28" fmla="*/ 0 w 547"/>
                  <a:gd name="T29" fmla="*/ 163 h 1071"/>
                  <a:gd name="T30" fmla="*/ 0 w 547"/>
                  <a:gd name="T31" fmla="*/ 312 h 1071"/>
                  <a:gd name="T32" fmla="*/ 35 w 547"/>
                  <a:gd name="T33" fmla="*/ 313 h 1071"/>
                  <a:gd name="T34" fmla="*/ 36 w 547"/>
                  <a:gd name="T35" fmla="*/ 344 h 1071"/>
                  <a:gd name="T36" fmla="*/ 82 w 547"/>
                  <a:gd name="T37" fmla="*/ 344 h 1071"/>
                  <a:gd name="T38" fmla="*/ 96 w 547"/>
                  <a:gd name="T39" fmla="*/ 381 h 1071"/>
                  <a:gd name="T40" fmla="*/ 121 w 547"/>
                  <a:gd name="T41" fmla="*/ 382 h 1071"/>
                  <a:gd name="T42" fmla="*/ 123 w 547"/>
                  <a:gd name="T43" fmla="*/ 458 h 1071"/>
                  <a:gd name="T44" fmla="*/ 141 w 547"/>
                  <a:gd name="T45" fmla="*/ 458 h 1071"/>
                  <a:gd name="T46" fmla="*/ 146 w 547"/>
                  <a:gd name="T47" fmla="*/ 469 h 1071"/>
                  <a:gd name="T48" fmla="*/ 146 w 547"/>
                  <a:gd name="T49" fmla="*/ 545 h 1071"/>
                  <a:gd name="T50" fmla="*/ 177 w 547"/>
                  <a:gd name="T51" fmla="*/ 546 h 1071"/>
                  <a:gd name="T52" fmla="*/ 175 w 547"/>
                  <a:gd name="T53" fmla="*/ 1002 h 1071"/>
                  <a:gd name="T54" fmla="*/ 248 w 547"/>
                  <a:gd name="T55" fmla="*/ 1070 h 1071"/>
                  <a:gd name="T56" fmla="*/ 341 w 547"/>
                  <a:gd name="T57" fmla="*/ 991 h 1071"/>
                  <a:gd name="T58" fmla="*/ 307 w 547"/>
                  <a:gd name="T59" fmla="*/ 969 h 1071"/>
                  <a:gd name="T60" fmla="*/ 307 w 547"/>
                  <a:gd name="T61" fmla="*/ 942 h 1071"/>
                  <a:gd name="T62" fmla="*/ 341 w 547"/>
                  <a:gd name="T63" fmla="*/ 918 h 1071"/>
                  <a:gd name="T64" fmla="*/ 307 w 547"/>
                  <a:gd name="T65" fmla="*/ 898 h 1071"/>
                  <a:gd name="T66" fmla="*/ 312 w 547"/>
                  <a:gd name="T67" fmla="*/ 889 h 1071"/>
                  <a:gd name="T68" fmla="*/ 342 w 547"/>
                  <a:gd name="T69" fmla="*/ 870 h 1071"/>
                  <a:gd name="T70" fmla="*/ 346 w 547"/>
                  <a:gd name="T71" fmla="*/ 812 h 1071"/>
                  <a:gd name="T72" fmla="*/ 351 w 547"/>
                  <a:gd name="T73" fmla="*/ 806 h 1071"/>
                  <a:gd name="T74" fmla="*/ 307 w 547"/>
                  <a:gd name="T75" fmla="*/ 772 h 1071"/>
                  <a:gd name="T76" fmla="*/ 307 w 547"/>
                  <a:gd name="T77" fmla="*/ 742 h 1071"/>
                  <a:gd name="T78" fmla="*/ 342 w 547"/>
                  <a:gd name="T79" fmla="*/ 708 h 1071"/>
                  <a:gd name="T80" fmla="*/ 307 w 547"/>
                  <a:gd name="T81" fmla="*/ 677 h 1071"/>
                  <a:gd name="T82" fmla="*/ 307 w 547"/>
                  <a:gd name="T83" fmla="*/ 646 h 1071"/>
                  <a:gd name="T84" fmla="*/ 341 w 547"/>
                  <a:gd name="T85" fmla="*/ 606 h 1071"/>
                  <a:gd name="T86" fmla="*/ 346 w 547"/>
                  <a:gd name="T87" fmla="*/ 542 h 1071"/>
                  <a:gd name="T88" fmla="*/ 387 w 547"/>
                  <a:gd name="T89" fmla="*/ 542 h 1071"/>
                  <a:gd name="T90" fmla="*/ 387 w 547"/>
                  <a:gd name="T91" fmla="*/ 455 h 1071"/>
                  <a:gd name="T92" fmla="*/ 412 w 547"/>
                  <a:gd name="T93" fmla="*/ 455 h 1071"/>
                  <a:gd name="T94" fmla="*/ 412 w 547"/>
                  <a:gd name="T95" fmla="*/ 378 h 1071"/>
                  <a:gd name="T96" fmla="*/ 438 w 547"/>
                  <a:gd name="T97" fmla="*/ 378 h 1071"/>
                  <a:gd name="T98" fmla="*/ 450 w 547"/>
                  <a:gd name="T99" fmla="*/ 341 h 1071"/>
                  <a:gd name="T100" fmla="*/ 505 w 547"/>
                  <a:gd name="T101" fmla="*/ 341 h 1071"/>
                  <a:gd name="T102" fmla="*/ 505 w 547"/>
                  <a:gd name="T103" fmla="*/ 310 h 1071"/>
                  <a:gd name="T104" fmla="*/ 546 w 547"/>
                  <a:gd name="T105" fmla="*/ 310 h 1071"/>
                  <a:gd name="T106" fmla="*/ 546 w 547"/>
                  <a:gd name="T107" fmla="*/ 159 h 1071"/>
                  <a:gd name="T108" fmla="*/ 505 w 547"/>
                  <a:gd name="T109" fmla="*/ 159 h 1071"/>
                  <a:gd name="T110" fmla="*/ 505 w 547"/>
                  <a:gd name="T111" fmla="*/ 137 h 1071"/>
                  <a:gd name="T112" fmla="*/ 459 w 547"/>
                  <a:gd name="T113" fmla="*/ 137 h 1071"/>
                  <a:gd name="T114" fmla="*/ 448 w 547"/>
                  <a:gd name="T115" fmla="*/ 127 h 1071"/>
                  <a:gd name="T116" fmla="*/ 437 w 547"/>
                  <a:gd name="T117" fmla="*/ 103 h 1071"/>
                  <a:gd name="T118" fmla="*/ 412 w 547"/>
                  <a:gd name="T119" fmla="*/ 103 h 1071"/>
                  <a:gd name="T120" fmla="*/ 349 w 547"/>
                  <a:gd name="T121" fmla="*/ 0 h 1071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547"/>
                  <a:gd name="T184" fmla="*/ 0 h 1071"/>
                  <a:gd name="T185" fmla="*/ 547 w 547"/>
                  <a:gd name="T186" fmla="*/ 1071 h 1071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547" h="1071">
                    <a:moveTo>
                      <a:pt x="349" y="0"/>
                    </a:moveTo>
                    <a:lnTo>
                      <a:pt x="185" y="0"/>
                    </a:lnTo>
                    <a:lnTo>
                      <a:pt x="215" y="41"/>
                    </a:lnTo>
                    <a:lnTo>
                      <a:pt x="312" y="41"/>
                    </a:lnTo>
                    <a:lnTo>
                      <a:pt x="348" y="106"/>
                    </a:lnTo>
                    <a:lnTo>
                      <a:pt x="182" y="106"/>
                    </a:lnTo>
                    <a:lnTo>
                      <a:pt x="216" y="42"/>
                    </a:lnTo>
                    <a:lnTo>
                      <a:pt x="185" y="1"/>
                    </a:lnTo>
                    <a:lnTo>
                      <a:pt x="127" y="102"/>
                    </a:lnTo>
                    <a:lnTo>
                      <a:pt x="95" y="103"/>
                    </a:lnTo>
                    <a:lnTo>
                      <a:pt x="84" y="137"/>
                    </a:lnTo>
                    <a:lnTo>
                      <a:pt x="35" y="137"/>
                    </a:lnTo>
                    <a:lnTo>
                      <a:pt x="35" y="162"/>
                    </a:lnTo>
                    <a:lnTo>
                      <a:pt x="16" y="163"/>
                    </a:lnTo>
                    <a:lnTo>
                      <a:pt x="0" y="163"/>
                    </a:lnTo>
                    <a:lnTo>
                      <a:pt x="0" y="312"/>
                    </a:lnTo>
                    <a:lnTo>
                      <a:pt x="35" y="313"/>
                    </a:lnTo>
                    <a:lnTo>
                      <a:pt x="36" y="344"/>
                    </a:lnTo>
                    <a:lnTo>
                      <a:pt x="82" y="344"/>
                    </a:lnTo>
                    <a:lnTo>
                      <a:pt x="96" y="381"/>
                    </a:lnTo>
                    <a:lnTo>
                      <a:pt x="121" y="382"/>
                    </a:lnTo>
                    <a:lnTo>
                      <a:pt x="123" y="458"/>
                    </a:lnTo>
                    <a:lnTo>
                      <a:pt x="141" y="458"/>
                    </a:lnTo>
                    <a:lnTo>
                      <a:pt x="146" y="469"/>
                    </a:lnTo>
                    <a:lnTo>
                      <a:pt x="146" y="545"/>
                    </a:lnTo>
                    <a:lnTo>
                      <a:pt x="177" y="546"/>
                    </a:lnTo>
                    <a:lnTo>
                      <a:pt x="175" y="1002"/>
                    </a:lnTo>
                    <a:lnTo>
                      <a:pt x="248" y="1070"/>
                    </a:lnTo>
                    <a:lnTo>
                      <a:pt x="341" y="991"/>
                    </a:lnTo>
                    <a:lnTo>
                      <a:pt x="307" y="969"/>
                    </a:lnTo>
                    <a:lnTo>
                      <a:pt x="307" y="942"/>
                    </a:lnTo>
                    <a:lnTo>
                      <a:pt x="341" y="918"/>
                    </a:lnTo>
                    <a:lnTo>
                      <a:pt x="307" y="898"/>
                    </a:lnTo>
                    <a:lnTo>
                      <a:pt x="312" y="889"/>
                    </a:lnTo>
                    <a:lnTo>
                      <a:pt x="342" y="870"/>
                    </a:lnTo>
                    <a:lnTo>
                      <a:pt x="346" y="812"/>
                    </a:lnTo>
                    <a:lnTo>
                      <a:pt x="351" y="806"/>
                    </a:lnTo>
                    <a:lnTo>
                      <a:pt x="307" y="772"/>
                    </a:lnTo>
                    <a:lnTo>
                      <a:pt x="307" y="742"/>
                    </a:lnTo>
                    <a:lnTo>
                      <a:pt x="342" y="708"/>
                    </a:lnTo>
                    <a:lnTo>
                      <a:pt x="307" y="677"/>
                    </a:lnTo>
                    <a:lnTo>
                      <a:pt x="307" y="646"/>
                    </a:lnTo>
                    <a:lnTo>
                      <a:pt x="341" y="606"/>
                    </a:lnTo>
                    <a:lnTo>
                      <a:pt x="346" y="542"/>
                    </a:lnTo>
                    <a:lnTo>
                      <a:pt x="387" y="542"/>
                    </a:lnTo>
                    <a:lnTo>
                      <a:pt x="387" y="455"/>
                    </a:lnTo>
                    <a:lnTo>
                      <a:pt x="412" y="455"/>
                    </a:lnTo>
                    <a:lnTo>
                      <a:pt x="412" y="378"/>
                    </a:lnTo>
                    <a:lnTo>
                      <a:pt x="438" y="378"/>
                    </a:lnTo>
                    <a:lnTo>
                      <a:pt x="450" y="341"/>
                    </a:lnTo>
                    <a:lnTo>
                      <a:pt x="505" y="341"/>
                    </a:lnTo>
                    <a:lnTo>
                      <a:pt x="505" y="310"/>
                    </a:lnTo>
                    <a:lnTo>
                      <a:pt x="546" y="310"/>
                    </a:lnTo>
                    <a:lnTo>
                      <a:pt x="546" y="159"/>
                    </a:lnTo>
                    <a:lnTo>
                      <a:pt x="505" y="159"/>
                    </a:lnTo>
                    <a:lnTo>
                      <a:pt x="505" y="137"/>
                    </a:lnTo>
                    <a:lnTo>
                      <a:pt x="459" y="137"/>
                    </a:lnTo>
                    <a:lnTo>
                      <a:pt x="448" y="127"/>
                    </a:lnTo>
                    <a:lnTo>
                      <a:pt x="437" y="103"/>
                    </a:lnTo>
                    <a:lnTo>
                      <a:pt x="412" y="103"/>
                    </a:lnTo>
                    <a:lnTo>
                      <a:pt x="349" y="0"/>
                    </a:lnTo>
                  </a:path>
                </a:pathLst>
              </a:custGeom>
              <a:solidFill>
                <a:srgbClr val="00A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sp>
            <p:nvSpPr>
              <p:cNvPr id="7195" name="Freeform 28"/>
              <p:cNvSpPr>
                <a:spLocks/>
              </p:cNvSpPr>
              <p:nvPr/>
            </p:nvSpPr>
            <p:spPr bwMode="auto">
              <a:xfrm>
                <a:off x="3813" y="2865"/>
                <a:ext cx="547" cy="1071"/>
              </a:xfrm>
              <a:custGeom>
                <a:avLst/>
                <a:gdLst>
                  <a:gd name="T0" fmla="*/ 350 w 547"/>
                  <a:gd name="T1" fmla="*/ 0 h 1071"/>
                  <a:gd name="T2" fmla="*/ 186 w 547"/>
                  <a:gd name="T3" fmla="*/ 0 h 1071"/>
                  <a:gd name="T4" fmla="*/ 217 w 547"/>
                  <a:gd name="T5" fmla="*/ 41 h 1071"/>
                  <a:gd name="T6" fmla="*/ 312 w 547"/>
                  <a:gd name="T7" fmla="*/ 41 h 1071"/>
                  <a:gd name="T8" fmla="*/ 348 w 547"/>
                  <a:gd name="T9" fmla="*/ 106 h 1071"/>
                  <a:gd name="T10" fmla="*/ 183 w 547"/>
                  <a:gd name="T11" fmla="*/ 106 h 1071"/>
                  <a:gd name="T12" fmla="*/ 217 w 547"/>
                  <a:gd name="T13" fmla="*/ 42 h 1071"/>
                  <a:gd name="T14" fmla="*/ 186 w 547"/>
                  <a:gd name="T15" fmla="*/ 1 h 1071"/>
                  <a:gd name="T16" fmla="*/ 128 w 547"/>
                  <a:gd name="T17" fmla="*/ 102 h 1071"/>
                  <a:gd name="T18" fmla="*/ 97 w 547"/>
                  <a:gd name="T19" fmla="*/ 102 h 1071"/>
                  <a:gd name="T20" fmla="*/ 86 w 547"/>
                  <a:gd name="T21" fmla="*/ 137 h 1071"/>
                  <a:gd name="T22" fmla="*/ 37 w 547"/>
                  <a:gd name="T23" fmla="*/ 137 h 1071"/>
                  <a:gd name="T24" fmla="*/ 36 w 547"/>
                  <a:gd name="T25" fmla="*/ 162 h 1071"/>
                  <a:gd name="T26" fmla="*/ 17 w 547"/>
                  <a:gd name="T27" fmla="*/ 162 h 1071"/>
                  <a:gd name="T28" fmla="*/ 0 w 547"/>
                  <a:gd name="T29" fmla="*/ 162 h 1071"/>
                  <a:gd name="T30" fmla="*/ 0 w 547"/>
                  <a:gd name="T31" fmla="*/ 312 h 1071"/>
                  <a:gd name="T32" fmla="*/ 37 w 547"/>
                  <a:gd name="T33" fmla="*/ 313 h 1071"/>
                  <a:gd name="T34" fmla="*/ 37 w 547"/>
                  <a:gd name="T35" fmla="*/ 343 h 1071"/>
                  <a:gd name="T36" fmla="*/ 84 w 547"/>
                  <a:gd name="T37" fmla="*/ 343 h 1071"/>
                  <a:gd name="T38" fmla="*/ 97 w 547"/>
                  <a:gd name="T39" fmla="*/ 381 h 1071"/>
                  <a:gd name="T40" fmla="*/ 122 w 547"/>
                  <a:gd name="T41" fmla="*/ 382 h 1071"/>
                  <a:gd name="T42" fmla="*/ 125 w 547"/>
                  <a:gd name="T43" fmla="*/ 458 h 1071"/>
                  <a:gd name="T44" fmla="*/ 141 w 547"/>
                  <a:gd name="T45" fmla="*/ 458 h 1071"/>
                  <a:gd name="T46" fmla="*/ 146 w 547"/>
                  <a:gd name="T47" fmla="*/ 464 h 1071"/>
                  <a:gd name="T48" fmla="*/ 146 w 547"/>
                  <a:gd name="T49" fmla="*/ 545 h 1071"/>
                  <a:gd name="T50" fmla="*/ 178 w 547"/>
                  <a:gd name="T51" fmla="*/ 545 h 1071"/>
                  <a:gd name="T52" fmla="*/ 176 w 547"/>
                  <a:gd name="T53" fmla="*/ 1002 h 1071"/>
                  <a:gd name="T54" fmla="*/ 248 w 547"/>
                  <a:gd name="T55" fmla="*/ 1070 h 1071"/>
                  <a:gd name="T56" fmla="*/ 341 w 547"/>
                  <a:gd name="T57" fmla="*/ 991 h 1071"/>
                  <a:gd name="T58" fmla="*/ 308 w 547"/>
                  <a:gd name="T59" fmla="*/ 969 h 1071"/>
                  <a:gd name="T60" fmla="*/ 308 w 547"/>
                  <a:gd name="T61" fmla="*/ 942 h 1071"/>
                  <a:gd name="T62" fmla="*/ 341 w 547"/>
                  <a:gd name="T63" fmla="*/ 918 h 1071"/>
                  <a:gd name="T64" fmla="*/ 308 w 547"/>
                  <a:gd name="T65" fmla="*/ 897 h 1071"/>
                  <a:gd name="T66" fmla="*/ 313 w 547"/>
                  <a:gd name="T67" fmla="*/ 889 h 1071"/>
                  <a:gd name="T68" fmla="*/ 342 w 547"/>
                  <a:gd name="T69" fmla="*/ 870 h 1071"/>
                  <a:gd name="T70" fmla="*/ 347 w 547"/>
                  <a:gd name="T71" fmla="*/ 812 h 1071"/>
                  <a:gd name="T72" fmla="*/ 351 w 547"/>
                  <a:gd name="T73" fmla="*/ 807 h 1071"/>
                  <a:gd name="T74" fmla="*/ 307 w 547"/>
                  <a:gd name="T75" fmla="*/ 772 h 1071"/>
                  <a:gd name="T76" fmla="*/ 307 w 547"/>
                  <a:gd name="T77" fmla="*/ 742 h 1071"/>
                  <a:gd name="T78" fmla="*/ 342 w 547"/>
                  <a:gd name="T79" fmla="*/ 708 h 1071"/>
                  <a:gd name="T80" fmla="*/ 308 w 547"/>
                  <a:gd name="T81" fmla="*/ 677 h 1071"/>
                  <a:gd name="T82" fmla="*/ 308 w 547"/>
                  <a:gd name="T83" fmla="*/ 646 h 1071"/>
                  <a:gd name="T84" fmla="*/ 341 w 547"/>
                  <a:gd name="T85" fmla="*/ 606 h 1071"/>
                  <a:gd name="T86" fmla="*/ 347 w 547"/>
                  <a:gd name="T87" fmla="*/ 542 h 1071"/>
                  <a:gd name="T88" fmla="*/ 387 w 547"/>
                  <a:gd name="T89" fmla="*/ 542 h 1071"/>
                  <a:gd name="T90" fmla="*/ 387 w 547"/>
                  <a:gd name="T91" fmla="*/ 455 h 1071"/>
                  <a:gd name="T92" fmla="*/ 411 w 547"/>
                  <a:gd name="T93" fmla="*/ 455 h 1071"/>
                  <a:gd name="T94" fmla="*/ 411 w 547"/>
                  <a:gd name="T95" fmla="*/ 378 h 1071"/>
                  <a:gd name="T96" fmla="*/ 438 w 547"/>
                  <a:gd name="T97" fmla="*/ 378 h 1071"/>
                  <a:gd name="T98" fmla="*/ 450 w 547"/>
                  <a:gd name="T99" fmla="*/ 341 h 1071"/>
                  <a:gd name="T100" fmla="*/ 505 w 547"/>
                  <a:gd name="T101" fmla="*/ 341 h 1071"/>
                  <a:gd name="T102" fmla="*/ 505 w 547"/>
                  <a:gd name="T103" fmla="*/ 310 h 1071"/>
                  <a:gd name="T104" fmla="*/ 546 w 547"/>
                  <a:gd name="T105" fmla="*/ 310 h 1071"/>
                  <a:gd name="T106" fmla="*/ 546 w 547"/>
                  <a:gd name="T107" fmla="*/ 159 h 1071"/>
                  <a:gd name="T108" fmla="*/ 506 w 547"/>
                  <a:gd name="T109" fmla="*/ 159 h 1071"/>
                  <a:gd name="T110" fmla="*/ 506 w 547"/>
                  <a:gd name="T111" fmla="*/ 137 h 1071"/>
                  <a:gd name="T112" fmla="*/ 459 w 547"/>
                  <a:gd name="T113" fmla="*/ 137 h 1071"/>
                  <a:gd name="T114" fmla="*/ 449 w 547"/>
                  <a:gd name="T115" fmla="*/ 127 h 1071"/>
                  <a:gd name="T116" fmla="*/ 438 w 547"/>
                  <a:gd name="T117" fmla="*/ 102 h 1071"/>
                  <a:gd name="T118" fmla="*/ 411 w 547"/>
                  <a:gd name="T119" fmla="*/ 102 h 1071"/>
                  <a:gd name="T120" fmla="*/ 350 w 547"/>
                  <a:gd name="T121" fmla="*/ 0 h 1071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547"/>
                  <a:gd name="T184" fmla="*/ 0 h 1071"/>
                  <a:gd name="T185" fmla="*/ 547 w 547"/>
                  <a:gd name="T186" fmla="*/ 1071 h 1071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547" h="1071">
                    <a:moveTo>
                      <a:pt x="350" y="0"/>
                    </a:moveTo>
                    <a:lnTo>
                      <a:pt x="186" y="0"/>
                    </a:lnTo>
                    <a:lnTo>
                      <a:pt x="217" y="41"/>
                    </a:lnTo>
                    <a:lnTo>
                      <a:pt x="312" y="41"/>
                    </a:lnTo>
                    <a:lnTo>
                      <a:pt x="348" y="106"/>
                    </a:lnTo>
                    <a:lnTo>
                      <a:pt x="183" y="106"/>
                    </a:lnTo>
                    <a:lnTo>
                      <a:pt x="217" y="42"/>
                    </a:lnTo>
                    <a:lnTo>
                      <a:pt x="186" y="1"/>
                    </a:lnTo>
                    <a:lnTo>
                      <a:pt x="128" y="102"/>
                    </a:lnTo>
                    <a:lnTo>
                      <a:pt x="97" y="102"/>
                    </a:lnTo>
                    <a:lnTo>
                      <a:pt x="86" y="137"/>
                    </a:lnTo>
                    <a:lnTo>
                      <a:pt x="37" y="137"/>
                    </a:lnTo>
                    <a:lnTo>
                      <a:pt x="36" y="162"/>
                    </a:lnTo>
                    <a:lnTo>
                      <a:pt x="17" y="162"/>
                    </a:lnTo>
                    <a:lnTo>
                      <a:pt x="0" y="162"/>
                    </a:lnTo>
                    <a:lnTo>
                      <a:pt x="0" y="312"/>
                    </a:lnTo>
                    <a:lnTo>
                      <a:pt x="37" y="313"/>
                    </a:lnTo>
                    <a:lnTo>
                      <a:pt x="37" y="343"/>
                    </a:lnTo>
                    <a:lnTo>
                      <a:pt x="84" y="343"/>
                    </a:lnTo>
                    <a:lnTo>
                      <a:pt x="97" y="381"/>
                    </a:lnTo>
                    <a:lnTo>
                      <a:pt x="122" y="382"/>
                    </a:lnTo>
                    <a:lnTo>
                      <a:pt x="125" y="458"/>
                    </a:lnTo>
                    <a:lnTo>
                      <a:pt x="141" y="458"/>
                    </a:lnTo>
                    <a:lnTo>
                      <a:pt x="146" y="464"/>
                    </a:lnTo>
                    <a:lnTo>
                      <a:pt x="146" y="545"/>
                    </a:lnTo>
                    <a:lnTo>
                      <a:pt x="178" y="545"/>
                    </a:lnTo>
                    <a:lnTo>
                      <a:pt x="176" y="1002"/>
                    </a:lnTo>
                    <a:lnTo>
                      <a:pt x="248" y="1070"/>
                    </a:lnTo>
                    <a:lnTo>
                      <a:pt x="341" y="991"/>
                    </a:lnTo>
                    <a:lnTo>
                      <a:pt x="308" y="969"/>
                    </a:lnTo>
                    <a:lnTo>
                      <a:pt x="308" y="942"/>
                    </a:lnTo>
                    <a:lnTo>
                      <a:pt x="341" y="918"/>
                    </a:lnTo>
                    <a:lnTo>
                      <a:pt x="308" y="897"/>
                    </a:lnTo>
                    <a:lnTo>
                      <a:pt x="313" y="889"/>
                    </a:lnTo>
                    <a:lnTo>
                      <a:pt x="342" y="870"/>
                    </a:lnTo>
                    <a:lnTo>
                      <a:pt x="347" y="812"/>
                    </a:lnTo>
                    <a:lnTo>
                      <a:pt x="351" y="807"/>
                    </a:lnTo>
                    <a:lnTo>
                      <a:pt x="307" y="772"/>
                    </a:lnTo>
                    <a:lnTo>
                      <a:pt x="307" y="742"/>
                    </a:lnTo>
                    <a:lnTo>
                      <a:pt x="342" y="708"/>
                    </a:lnTo>
                    <a:lnTo>
                      <a:pt x="308" y="677"/>
                    </a:lnTo>
                    <a:lnTo>
                      <a:pt x="308" y="646"/>
                    </a:lnTo>
                    <a:lnTo>
                      <a:pt x="341" y="606"/>
                    </a:lnTo>
                    <a:lnTo>
                      <a:pt x="347" y="542"/>
                    </a:lnTo>
                    <a:lnTo>
                      <a:pt x="387" y="542"/>
                    </a:lnTo>
                    <a:lnTo>
                      <a:pt x="387" y="455"/>
                    </a:lnTo>
                    <a:lnTo>
                      <a:pt x="411" y="455"/>
                    </a:lnTo>
                    <a:lnTo>
                      <a:pt x="411" y="378"/>
                    </a:lnTo>
                    <a:lnTo>
                      <a:pt x="438" y="378"/>
                    </a:lnTo>
                    <a:lnTo>
                      <a:pt x="450" y="341"/>
                    </a:lnTo>
                    <a:lnTo>
                      <a:pt x="505" y="341"/>
                    </a:lnTo>
                    <a:lnTo>
                      <a:pt x="505" y="310"/>
                    </a:lnTo>
                    <a:lnTo>
                      <a:pt x="546" y="310"/>
                    </a:lnTo>
                    <a:lnTo>
                      <a:pt x="546" y="159"/>
                    </a:lnTo>
                    <a:lnTo>
                      <a:pt x="506" y="159"/>
                    </a:lnTo>
                    <a:lnTo>
                      <a:pt x="506" y="137"/>
                    </a:lnTo>
                    <a:lnTo>
                      <a:pt x="459" y="137"/>
                    </a:lnTo>
                    <a:lnTo>
                      <a:pt x="449" y="127"/>
                    </a:lnTo>
                    <a:lnTo>
                      <a:pt x="438" y="102"/>
                    </a:lnTo>
                    <a:lnTo>
                      <a:pt x="411" y="102"/>
                    </a:lnTo>
                    <a:lnTo>
                      <a:pt x="350" y="0"/>
                    </a:lnTo>
                  </a:path>
                </a:pathLst>
              </a:custGeom>
              <a:solidFill>
                <a:srgbClr val="438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grpSp>
            <p:nvGrpSpPr>
              <p:cNvPr id="7196" name="Group 29"/>
              <p:cNvGrpSpPr>
                <a:grpSpLocks/>
              </p:cNvGrpSpPr>
              <p:nvPr/>
            </p:nvGrpSpPr>
            <p:grpSpPr bwMode="auto">
              <a:xfrm>
                <a:off x="3866" y="3038"/>
                <a:ext cx="417" cy="117"/>
                <a:chOff x="3866" y="3038"/>
                <a:chExt cx="417" cy="117"/>
              </a:xfrm>
            </p:grpSpPr>
            <p:sp>
              <p:nvSpPr>
                <p:cNvPr id="7208" name="Freeform 30"/>
                <p:cNvSpPr>
                  <a:spLocks/>
                </p:cNvSpPr>
                <p:nvPr/>
              </p:nvSpPr>
              <p:spPr bwMode="auto">
                <a:xfrm>
                  <a:off x="3898" y="3038"/>
                  <a:ext cx="385" cy="117"/>
                </a:xfrm>
                <a:custGeom>
                  <a:avLst/>
                  <a:gdLst>
                    <a:gd name="T0" fmla="*/ 384 w 385"/>
                    <a:gd name="T1" fmla="*/ 60 h 117"/>
                    <a:gd name="T2" fmla="*/ 350 w 385"/>
                    <a:gd name="T3" fmla="*/ 0 h 117"/>
                    <a:gd name="T4" fmla="*/ 0 w 385"/>
                    <a:gd name="T5" fmla="*/ 0 h 117"/>
                    <a:gd name="T6" fmla="*/ 2 w 385"/>
                    <a:gd name="T7" fmla="*/ 5 h 117"/>
                    <a:gd name="T8" fmla="*/ 346 w 385"/>
                    <a:gd name="T9" fmla="*/ 5 h 117"/>
                    <a:gd name="T10" fmla="*/ 376 w 385"/>
                    <a:gd name="T11" fmla="*/ 60 h 117"/>
                    <a:gd name="T12" fmla="*/ 346 w 385"/>
                    <a:gd name="T13" fmla="*/ 112 h 117"/>
                    <a:gd name="T14" fmla="*/ 353 w 385"/>
                    <a:gd name="T15" fmla="*/ 116 h 117"/>
                    <a:gd name="T16" fmla="*/ 384 w 385"/>
                    <a:gd name="T17" fmla="*/ 60 h 11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85"/>
                    <a:gd name="T28" fmla="*/ 0 h 117"/>
                    <a:gd name="T29" fmla="*/ 385 w 385"/>
                    <a:gd name="T30" fmla="*/ 117 h 11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85" h="117">
                      <a:moveTo>
                        <a:pt x="384" y="60"/>
                      </a:moveTo>
                      <a:lnTo>
                        <a:pt x="350" y="0"/>
                      </a:lnTo>
                      <a:lnTo>
                        <a:pt x="0" y="0"/>
                      </a:lnTo>
                      <a:lnTo>
                        <a:pt x="2" y="5"/>
                      </a:lnTo>
                      <a:lnTo>
                        <a:pt x="346" y="5"/>
                      </a:lnTo>
                      <a:lnTo>
                        <a:pt x="376" y="60"/>
                      </a:lnTo>
                      <a:lnTo>
                        <a:pt x="346" y="112"/>
                      </a:lnTo>
                      <a:lnTo>
                        <a:pt x="353" y="116"/>
                      </a:lnTo>
                      <a:lnTo>
                        <a:pt x="384" y="60"/>
                      </a:lnTo>
                    </a:path>
                  </a:pathLst>
                </a:custGeom>
                <a:solidFill>
                  <a:srgbClr val="31650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uz-Cyrl-UZ"/>
                </a:p>
              </p:txBody>
            </p:sp>
            <p:sp>
              <p:nvSpPr>
                <p:cNvPr id="7209" name="Freeform 31"/>
                <p:cNvSpPr>
                  <a:spLocks/>
                </p:cNvSpPr>
                <p:nvPr/>
              </p:nvSpPr>
              <p:spPr bwMode="auto">
                <a:xfrm>
                  <a:off x="3866" y="3038"/>
                  <a:ext cx="386" cy="116"/>
                </a:xfrm>
                <a:custGeom>
                  <a:avLst/>
                  <a:gdLst>
                    <a:gd name="T0" fmla="*/ 0 w 386"/>
                    <a:gd name="T1" fmla="*/ 54 h 116"/>
                    <a:gd name="T2" fmla="*/ 33 w 386"/>
                    <a:gd name="T3" fmla="*/ 115 h 116"/>
                    <a:gd name="T4" fmla="*/ 385 w 386"/>
                    <a:gd name="T5" fmla="*/ 115 h 116"/>
                    <a:gd name="T6" fmla="*/ 382 w 386"/>
                    <a:gd name="T7" fmla="*/ 110 h 116"/>
                    <a:gd name="T8" fmla="*/ 37 w 386"/>
                    <a:gd name="T9" fmla="*/ 110 h 116"/>
                    <a:gd name="T10" fmla="*/ 5 w 386"/>
                    <a:gd name="T11" fmla="*/ 54 h 116"/>
                    <a:gd name="T12" fmla="*/ 36 w 386"/>
                    <a:gd name="T13" fmla="*/ 3 h 116"/>
                    <a:gd name="T14" fmla="*/ 30 w 386"/>
                    <a:gd name="T15" fmla="*/ 0 h 116"/>
                    <a:gd name="T16" fmla="*/ 0 w 386"/>
                    <a:gd name="T17" fmla="*/ 54 h 11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386"/>
                    <a:gd name="T28" fmla="*/ 0 h 116"/>
                    <a:gd name="T29" fmla="*/ 386 w 386"/>
                    <a:gd name="T30" fmla="*/ 116 h 11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386" h="116">
                      <a:moveTo>
                        <a:pt x="0" y="54"/>
                      </a:moveTo>
                      <a:lnTo>
                        <a:pt x="33" y="115"/>
                      </a:lnTo>
                      <a:lnTo>
                        <a:pt x="385" y="115"/>
                      </a:lnTo>
                      <a:lnTo>
                        <a:pt x="382" y="110"/>
                      </a:lnTo>
                      <a:lnTo>
                        <a:pt x="37" y="110"/>
                      </a:lnTo>
                      <a:lnTo>
                        <a:pt x="5" y="54"/>
                      </a:lnTo>
                      <a:lnTo>
                        <a:pt x="36" y="3"/>
                      </a:lnTo>
                      <a:lnTo>
                        <a:pt x="30" y="0"/>
                      </a:lnTo>
                      <a:lnTo>
                        <a:pt x="0" y="54"/>
                      </a:lnTo>
                    </a:path>
                  </a:pathLst>
                </a:custGeom>
                <a:solidFill>
                  <a:srgbClr val="00AE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uz-Cyrl-UZ"/>
                </a:p>
              </p:txBody>
            </p:sp>
          </p:grpSp>
          <p:sp>
            <p:nvSpPr>
              <p:cNvPr id="7197" name="Rectangle 32"/>
              <p:cNvSpPr>
                <a:spLocks noChangeArrowheads="1"/>
              </p:cNvSpPr>
              <p:nvPr/>
            </p:nvSpPr>
            <p:spPr bwMode="auto">
              <a:xfrm>
                <a:off x="3852" y="3017"/>
                <a:ext cx="463" cy="16"/>
              </a:xfrm>
              <a:prstGeom prst="rect">
                <a:avLst/>
              </a:prstGeom>
              <a:solidFill>
                <a:srgbClr val="00A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7198" name="Rectangle 33"/>
              <p:cNvSpPr>
                <a:spLocks noChangeArrowheads="1"/>
              </p:cNvSpPr>
              <p:nvPr/>
            </p:nvSpPr>
            <p:spPr bwMode="auto">
              <a:xfrm>
                <a:off x="3909" y="2993"/>
                <a:ext cx="360" cy="16"/>
              </a:xfrm>
              <a:prstGeom prst="rect">
                <a:avLst/>
              </a:prstGeom>
              <a:solidFill>
                <a:srgbClr val="00A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grpSp>
            <p:nvGrpSpPr>
              <p:cNvPr id="7199" name="Group 34"/>
              <p:cNvGrpSpPr>
                <a:grpSpLocks/>
              </p:cNvGrpSpPr>
              <p:nvPr/>
            </p:nvGrpSpPr>
            <p:grpSpPr bwMode="auto">
              <a:xfrm>
                <a:off x="3850" y="3178"/>
                <a:ext cx="466" cy="757"/>
                <a:chOff x="3850" y="3178"/>
                <a:chExt cx="466" cy="757"/>
              </a:xfrm>
            </p:grpSpPr>
            <p:sp>
              <p:nvSpPr>
                <p:cNvPr id="7200" name="Freeform 35"/>
                <p:cNvSpPr>
                  <a:spLocks/>
                </p:cNvSpPr>
                <p:nvPr/>
              </p:nvSpPr>
              <p:spPr bwMode="auto">
                <a:xfrm>
                  <a:off x="4095" y="3327"/>
                  <a:ext cx="17" cy="582"/>
                </a:xfrm>
                <a:custGeom>
                  <a:avLst/>
                  <a:gdLst>
                    <a:gd name="T0" fmla="*/ 0 w 17"/>
                    <a:gd name="T1" fmla="*/ 0 h 582"/>
                    <a:gd name="T2" fmla="*/ 0 w 17"/>
                    <a:gd name="T3" fmla="*/ 581 h 582"/>
                    <a:gd name="T4" fmla="*/ 16 w 17"/>
                    <a:gd name="T5" fmla="*/ 572 h 582"/>
                    <a:gd name="T6" fmla="*/ 16 w 17"/>
                    <a:gd name="T7" fmla="*/ 18 h 582"/>
                    <a:gd name="T8" fmla="*/ 0 w 17"/>
                    <a:gd name="T9" fmla="*/ 0 h 58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582"/>
                    <a:gd name="T17" fmla="*/ 17 w 17"/>
                    <a:gd name="T18" fmla="*/ 582 h 58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582">
                      <a:moveTo>
                        <a:pt x="0" y="0"/>
                      </a:moveTo>
                      <a:lnTo>
                        <a:pt x="0" y="581"/>
                      </a:lnTo>
                      <a:lnTo>
                        <a:pt x="16" y="572"/>
                      </a:lnTo>
                      <a:lnTo>
                        <a:pt x="16" y="18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AE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uz-Cyrl-UZ"/>
                </a:p>
              </p:txBody>
            </p:sp>
            <p:sp>
              <p:nvSpPr>
                <p:cNvPr id="7201" name="Freeform 36"/>
                <p:cNvSpPr>
                  <a:spLocks/>
                </p:cNvSpPr>
                <p:nvPr/>
              </p:nvSpPr>
              <p:spPr bwMode="auto">
                <a:xfrm>
                  <a:off x="4029" y="3343"/>
                  <a:ext cx="17" cy="567"/>
                </a:xfrm>
                <a:custGeom>
                  <a:avLst/>
                  <a:gdLst>
                    <a:gd name="T0" fmla="*/ 5 w 17"/>
                    <a:gd name="T1" fmla="*/ 0 h 567"/>
                    <a:gd name="T2" fmla="*/ 0 w 17"/>
                    <a:gd name="T3" fmla="*/ 557 h 567"/>
                    <a:gd name="T4" fmla="*/ 16 w 17"/>
                    <a:gd name="T5" fmla="*/ 566 h 567"/>
                    <a:gd name="T6" fmla="*/ 16 w 17"/>
                    <a:gd name="T7" fmla="*/ 45 h 567"/>
                    <a:gd name="T8" fmla="*/ 5 w 17"/>
                    <a:gd name="T9" fmla="*/ 0 h 5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567"/>
                    <a:gd name="T17" fmla="*/ 17 w 17"/>
                    <a:gd name="T18" fmla="*/ 567 h 56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567">
                      <a:moveTo>
                        <a:pt x="5" y="0"/>
                      </a:moveTo>
                      <a:lnTo>
                        <a:pt x="0" y="557"/>
                      </a:lnTo>
                      <a:lnTo>
                        <a:pt x="16" y="566"/>
                      </a:lnTo>
                      <a:lnTo>
                        <a:pt x="16" y="45"/>
                      </a:lnTo>
                      <a:lnTo>
                        <a:pt x="5" y="0"/>
                      </a:lnTo>
                    </a:path>
                  </a:pathLst>
                </a:custGeom>
                <a:solidFill>
                  <a:srgbClr val="00AE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uz-Cyrl-UZ"/>
                </a:p>
              </p:txBody>
            </p:sp>
            <p:grpSp>
              <p:nvGrpSpPr>
                <p:cNvPr id="7202" name="Group 37"/>
                <p:cNvGrpSpPr>
                  <a:grpSpLocks/>
                </p:cNvGrpSpPr>
                <p:nvPr/>
              </p:nvGrpSpPr>
              <p:grpSpPr bwMode="auto">
                <a:xfrm>
                  <a:off x="3850" y="3178"/>
                  <a:ext cx="466" cy="757"/>
                  <a:chOff x="3850" y="3178"/>
                  <a:chExt cx="466" cy="757"/>
                </a:xfrm>
              </p:grpSpPr>
              <p:sp>
                <p:nvSpPr>
                  <p:cNvPr id="7203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3850" y="3178"/>
                    <a:ext cx="466" cy="16"/>
                  </a:xfrm>
                  <a:prstGeom prst="rect">
                    <a:avLst/>
                  </a:prstGeom>
                  <a:solidFill>
                    <a:srgbClr val="31650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uz-Cyrl-UZ"/>
                  </a:p>
                </p:txBody>
              </p:sp>
              <p:sp>
                <p:nvSpPr>
                  <p:cNvPr id="7204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3938" y="3249"/>
                    <a:ext cx="281" cy="16"/>
                  </a:xfrm>
                  <a:prstGeom prst="rect">
                    <a:avLst/>
                  </a:prstGeom>
                  <a:solidFill>
                    <a:srgbClr val="31650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uz-Cyrl-UZ"/>
                  </a:p>
                </p:txBody>
              </p:sp>
              <p:sp>
                <p:nvSpPr>
                  <p:cNvPr id="7205" name="Freeform 40"/>
                  <p:cNvSpPr>
                    <a:spLocks/>
                  </p:cNvSpPr>
                  <p:nvPr/>
                </p:nvSpPr>
                <p:spPr bwMode="auto">
                  <a:xfrm>
                    <a:off x="4031" y="3344"/>
                    <a:ext cx="30" cy="591"/>
                  </a:xfrm>
                  <a:custGeom>
                    <a:avLst/>
                    <a:gdLst>
                      <a:gd name="T0" fmla="*/ 0 w 30"/>
                      <a:gd name="T1" fmla="*/ 0 h 591"/>
                      <a:gd name="T2" fmla="*/ 7 w 30"/>
                      <a:gd name="T3" fmla="*/ 38 h 591"/>
                      <a:gd name="T4" fmla="*/ 18 w 30"/>
                      <a:gd name="T5" fmla="*/ 71 h 591"/>
                      <a:gd name="T6" fmla="*/ 18 w 30"/>
                      <a:gd name="T7" fmla="*/ 579 h 591"/>
                      <a:gd name="T8" fmla="*/ 26 w 30"/>
                      <a:gd name="T9" fmla="*/ 590 h 591"/>
                      <a:gd name="T10" fmla="*/ 29 w 30"/>
                      <a:gd name="T11" fmla="*/ 62 h 591"/>
                      <a:gd name="T12" fmla="*/ 0 w 30"/>
                      <a:gd name="T13" fmla="*/ 0 h 59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30"/>
                      <a:gd name="T22" fmla="*/ 0 h 591"/>
                      <a:gd name="T23" fmla="*/ 30 w 30"/>
                      <a:gd name="T24" fmla="*/ 591 h 591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30" h="591">
                        <a:moveTo>
                          <a:pt x="0" y="0"/>
                        </a:moveTo>
                        <a:lnTo>
                          <a:pt x="7" y="38"/>
                        </a:lnTo>
                        <a:lnTo>
                          <a:pt x="18" y="71"/>
                        </a:lnTo>
                        <a:lnTo>
                          <a:pt x="18" y="579"/>
                        </a:lnTo>
                        <a:lnTo>
                          <a:pt x="26" y="590"/>
                        </a:lnTo>
                        <a:lnTo>
                          <a:pt x="29" y="62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31650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uz-Cyrl-UZ"/>
                  </a:p>
                </p:txBody>
              </p:sp>
              <p:sp>
                <p:nvSpPr>
                  <p:cNvPr id="7206" name="Freeform 41"/>
                  <p:cNvSpPr>
                    <a:spLocks/>
                  </p:cNvSpPr>
                  <p:nvPr/>
                </p:nvSpPr>
                <p:spPr bwMode="auto">
                  <a:xfrm>
                    <a:off x="3955" y="3322"/>
                    <a:ext cx="244" cy="83"/>
                  </a:xfrm>
                  <a:custGeom>
                    <a:avLst/>
                    <a:gdLst>
                      <a:gd name="T0" fmla="*/ 202 w 244"/>
                      <a:gd name="T1" fmla="*/ 82 h 83"/>
                      <a:gd name="T2" fmla="*/ 218 w 244"/>
                      <a:gd name="T3" fmla="*/ 64 h 83"/>
                      <a:gd name="T4" fmla="*/ 218 w 244"/>
                      <a:gd name="T5" fmla="*/ 9 h 83"/>
                      <a:gd name="T6" fmla="*/ 243 w 244"/>
                      <a:gd name="T7" fmla="*/ 9 h 83"/>
                      <a:gd name="T8" fmla="*/ 243 w 244"/>
                      <a:gd name="T9" fmla="*/ 0 h 83"/>
                      <a:gd name="T10" fmla="*/ 0 w 244"/>
                      <a:gd name="T11" fmla="*/ 0 h 83"/>
                      <a:gd name="T12" fmla="*/ 5 w 244"/>
                      <a:gd name="T13" fmla="*/ 9 h 83"/>
                      <a:gd name="T14" fmla="*/ 137 w 244"/>
                      <a:gd name="T15" fmla="*/ 9 h 83"/>
                      <a:gd name="T16" fmla="*/ 148 w 244"/>
                      <a:gd name="T17" fmla="*/ 25 h 83"/>
                      <a:gd name="T18" fmla="*/ 197 w 244"/>
                      <a:gd name="T19" fmla="*/ 25 h 83"/>
                      <a:gd name="T20" fmla="*/ 202 w 244"/>
                      <a:gd name="T21" fmla="*/ 82 h 83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44"/>
                      <a:gd name="T34" fmla="*/ 0 h 83"/>
                      <a:gd name="T35" fmla="*/ 244 w 244"/>
                      <a:gd name="T36" fmla="*/ 83 h 83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44" h="83">
                        <a:moveTo>
                          <a:pt x="202" y="82"/>
                        </a:moveTo>
                        <a:lnTo>
                          <a:pt x="218" y="64"/>
                        </a:lnTo>
                        <a:lnTo>
                          <a:pt x="218" y="9"/>
                        </a:lnTo>
                        <a:lnTo>
                          <a:pt x="243" y="9"/>
                        </a:lnTo>
                        <a:lnTo>
                          <a:pt x="243" y="0"/>
                        </a:lnTo>
                        <a:lnTo>
                          <a:pt x="0" y="0"/>
                        </a:lnTo>
                        <a:lnTo>
                          <a:pt x="5" y="9"/>
                        </a:lnTo>
                        <a:lnTo>
                          <a:pt x="137" y="9"/>
                        </a:lnTo>
                        <a:lnTo>
                          <a:pt x="148" y="25"/>
                        </a:lnTo>
                        <a:lnTo>
                          <a:pt x="197" y="25"/>
                        </a:lnTo>
                        <a:lnTo>
                          <a:pt x="202" y="82"/>
                        </a:lnTo>
                      </a:path>
                    </a:pathLst>
                  </a:custGeom>
                  <a:solidFill>
                    <a:srgbClr val="31650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uz-Cyrl-UZ"/>
                  </a:p>
                </p:txBody>
              </p:sp>
              <p:sp>
                <p:nvSpPr>
                  <p:cNvPr id="7207" name="Freeform 42"/>
                  <p:cNvSpPr>
                    <a:spLocks/>
                  </p:cNvSpPr>
                  <p:nvPr/>
                </p:nvSpPr>
                <p:spPr bwMode="auto">
                  <a:xfrm>
                    <a:off x="3896" y="3208"/>
                    <a:ext cx="367" cy="17"/>
                  </a:xfrm>
                  <a:custGeom>
                    <a:avLst/>
                    <a:gdLst>
                      <a:gd name="T0" fmla="*/ 366 w 367"/>
                      <a:gd name="T1" fmla="*/ 0 h 17"/>
                      <a:gd name="T2" fmla="*/ 0 w 367"/>
                      <a:gd name="T3" fmla="*/ 0 h 17"/>
                      <a:gd name="T4" fmla="*/ 3 w 367"/>
                      <a:gd name="T5" fmla="*/ 16 h 17"/>
                      <a:gd name="T6" fmla="*/ 363 w 367"/>
                      <a:gd name="T7" fmla="*/ 16 h 17"/>
                      <a:gd name="T8" fmla="*/ 366 w 367"/>
                      <a:gd name="T9" fmla="*/ 0 h 1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67"/>
                      <a:gd name="T16" fmla="*/ 0 h 17"/>
                      <a:gd name="T17" fmla="*/ 367 w 367"/>
                      <a:gd name="T18" fmla="*/ 17 h 1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67" h="17">
                        <a:moveTo>
                          <a:pt x="366" y="0"/>
                        </a:moveTo>
                        <a:lnTo>
                          <a:pt x="0" y="0"/>
                        </a:lnTo>
                        <a:lnTo>
                          <a:pt x="3" y="16"/>
                        </a:lnTo>
                        <a:lnTo>
                          <a:pt x="363" y="16"/>
                        </a:lnTo>
                        <a:lnTo>
                          <a:pt x="366" y="0"/>
                        </a:lnTo>
                      </a:path>
                    </a:pathLst>
                  </a:custGeom>
                  <a:solidFill>
                    <a:srgbClr val="31650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uz-Cyrl-UZ"/>
                  </a:p>
                </p:txBody>
              </p:sp>
            </p:grpSp>
          </p:grpSp>
        </p:grpSp>
        <p:sp>
          <p:nvSpPr>
            <p:cNvPr id="49195" name="Rectangle 43"/>
            <p:cNvSpPr>
              <a:spLocks noChangeArrowheads="1"/>
            </p:cNvSpPr>
            <p:nvPr/>
          </p:nvSpPr>
          <p:spPr bwMode="auto">
            <a:xfrm flipH="1">
              <a:off x="3802" y="3409"/>
              <a:ext cx="397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uz-Cyrl-UZ" sz="14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ёпиқ</a:t>
              </a:r>
              <a:endParaRPr lang="en-US" sz="1400" b="1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sp>
        <p:nvSpPr>
          <p:cNvPr id="49196" name="Rectangle 44"/>
          <p:cNvSpPr>
            <a:spLocks noChangeArrowheads="1"/>
          </p:cNvSpPr>
          <p:nvPr/>
        </p:nvSpPr>
        <p:spPr bwMode="auto">
          <a:xfrm>
            <a:off x="539750" y="1989138"/>
            <a:ext cx="1360488" cy="955675"/>
          </a:xfrm>
          <a:prstGeom prst="rect">
            <a:avLst/>
          </a:prstGeom>
          <a:gradFill rotWithShape="0">
            <a:gsLst>
              <a:gs pos="0">
                <a:srgbClr val="5949F7">
                  <a:gamma/>
                  <a:shade val="80000"/>
                  <a:invGamma/>
                </a:srgbClr>
              </a:gs>
              <a:gs pos="100000">
                <a:srgbClr val="5949F7"/>
              </a:gs>
            </a:gsLst>
            <a:lin ang="5400000" scaled="1"/>
          </a:gradFill>
          <a:ln w="127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uz-Cyrl-UZ" sz="1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Бу хужжат муаллиф томонидан яратилган</a:t>
            </a:r>
            <a:endParaRPr lang="en-US" sz="1400" b="1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0.0 L -0.37101 0.4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9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559" y="200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1.85185E-6 L 0.33559 0.33518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91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71" y="16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73" grpId="0" animBg="1"/>
      <p:bldP spid="4919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022475" y="1549400"/>
            <a:ext cx="6570663" cy="1398588"/>
            <a:chOff x="1118" y="1196"/>
            <a:chExt cx="4139" cy="881"/>
          </a:xfrm>
        </p:grpSpPr>
        <p:sp>
          <p:nvSpPr>
            <p:cNvPr id="1050" name="AutoShape 4"/>
            <p:cNvSpPr>
              <a:spLocks noChangeArrowheads="1"/>
            </p:cNvSpPr>
            <p:nvPr/>
          </p:nvSpPr>
          <p:spPr bwMode="auto">
            <a:xfrm rot="5400000">
              <a:off x="3400" y="1292"/>
              <a:ext cx="223" cy="711"/>
            </a:xfrm>
            <a:prstGeom prst="upArrow">
              <a:avLst>
                <a:gd name="adj1" fmla="val 50000"/>
                <a:gd name="adj2" fmla="val 159402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51205" name="Rectangle 5"/>
            <p:cNvSpPr>
              <a:spLocks noChangeArrowheads="1"/>
            </p:cNvSpPr>
            <p:nvPr/>
          </p:nvSpPr>
          <p:spPr bwMode="auto">
            <a:xfrm>
              <a:off x="4116" y="1528"/>
              <a:ext cx="861" cy="220"/>
            </a:xfrm>
            <a:prstGeom prst="rect">
              <a:avLst/>
            </a:prstGeom>
            <a:gradFill rotWithShape="0">
              <a:gsLst>
                <a:gs pos="0">
                  <a:srgbClr val="5949F7">
                    <a:gamma/>
                    <a:shade val="80000"/>
                    <a:invGamma/>
                  </a:srgbClr>
                </a:gs>
                <a:gs pos="100000">
                  <a:srgbClr val="5949F7"/>
                </a:gs>
              </a:gsLst>
              <a:lin ang="5400000" scaled="1"/>
            </a:gradFill>
            <a:ln w="12700">
              <a:solidFill>
                <a:schemeClr val="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6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Py75c%bn</a:t>
              </a:r>
            </a:p>
          </p:txBody>
        </p:sp>
        <p:sp>
          <p:nvSpPr>
            <p:cNvPr id="51206" name="Rectangle 6"/>
            <p:cNvSpPr>
              <a:spLocks noChangeArrowheads="1"/>
            </p:cNvSpPr>
            <p:nvPr/>
          </p:nvSpPr>
          <p:spPr bwMode="auto">
            <a:xfrm>
              <a:off x="3836" y="1202"/>
              <a:ext cx="142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uz-Cyrl-UZ" sz="16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Хэш хабар</a:t>
              </a:r>
              <a:endParaRPr lang="en-US" sz="16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51207" name="Oval 7"/>
            <p:cNvSpPr>
              <a:spLocks noChangeArrowheads="1"/>
            </p:cNvSpPr>
            <p:nvPr/>
          </p:nvSpPr>
          <p:spPr bwMode="auto">
            <a:xfrm>
              <a:off x="1710" y="1196"/>
              <a:ext cx="1343" cy="881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>
                <a:defRPr/>
              </a:pPr>
              <a:r>
                <a:rPr lang="uz-Cyrl-UZ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Хэшни </a:t>
              </a:r>
            </a:p>
            <a:p>
              <a:pPr algn="ctr" eaLnBrk="0" hangingPunct="0">
                <a:defRPr/>
              </a:pPr>
              <a:r>
                <a:rPr lang="uz-Cyrl-UZ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генерация </a:t>
              </a:r>
            </a:p>
            <a:p>
              <a:pPr algn="ctr" eaLnBrk="0" hangingPunct="0">
                <a:defRPr/>
              </a:pPr>
              <a:r>
                <a:rPr lang="uz-Cyrl-UZ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қилиш</a:t>
              </a:r>
              <a:endParaRPr 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54" name="AutoShape 8"/>
            <p:cNvSpPr>
              <a:spLocks noChangeArrowheads="1"/>
            </p:cNvSpPr>
            <p:nvPr/>
          </p:nvSpPr>
          <p:spPr bwMode="auto">
            <a:xfrm rot="5400000">
              <a:off x="1362" y="1272"/>
              <a:ext cx="223" cy="711"/>
            </a:xfrm>
            <a:prstGeom prst="upArrow">
              <a:avLst>
                <a:gd name="adj1" fmla="val 50000"/>
                <a:gd name="adj2" fmla="val 159402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652463" y="3063875"/>
            <a:ext cx="7507287" cy="3314700"/>
            <a:chOff x="248" y="2150"/>
            <a:chExt cx="4729" cy="2088"/>
          </a:xfrm>
        </p:grpSpPr>
        <p:sp>
          <p:nvSpPr>
            <p:cNvPr id="51210" name="Rectangle 10"/>
            <p:cNvSpPr>
              <a:spLocks noChangeArrowheads="1"/>
            </p:cNvSpPr>
            <p:nvPr/>
          </p:nvSpPr>
          <p:spPr bwMode="auto">
            <a:xfrm>
              <a:off x="248" y="3778"/>
              <a:ext cx="1164" cy="4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uz-Cyrl-UZ" sz="14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Муаллиф очиқ калити</a:t>
              </a:r>
              <a:r>
                <a:rPr lang="en-US" sz="14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/>
              </a:r>
              <a:br>
                <a:rPr lang="en-US" sz="14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</a:br>
              <a:r>
                <a:rPr lang="en-US" sz="14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(</a:t>
              </a:r>
              <a:r>
                <a:rPr lang="uz-Cyrl-UZ" sz="14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сертификатдан</a:t>
              </a:r>
              <a:r>
                <a:rPr lang="en-US" sz="14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)</a:t>
              </a:r>
            </a:p>
          </p:txBody>
        </p:sp>
        <p:sp>
          <p:nvSpPr>
            <p:cNvPr id="51211" name="Oval 11"/>
            <p:cNvSpPr>
              <a:spLocks noChangeArrowheads="1"/>
            </p:cNvSpPr>
            <p:nvPr/>
          </p:nvSpPr>
          <p:spPr bwMode="auto">
            <a:xfrm>
              <a:off x="1572" y="2941"/>
              <a:ext cx="1575" cy="609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>
                <a:defRPr/>
              </a:pPr>
              <a:r>
                <a:rPr lang="uz-Cyrl-UZ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Асимметрик </a:t>
              </a:r>
            </a:p>
            <a:p>
              <a:pPr algn="ctr" eaLnBrk="0" hangingPunct="0">
                <a:defRPr/>
              </a:pPr>
              <a:r>
                <a:rPr lang="uz-Cyrl-UZ" sz="20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дешифрлаш</a:t>
              </a:r>
              <a:endParaRPr lang="en-US" sz="20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grpSp>
          <p:nvGrpSpPr>
            <p:cNvPr id="1043" name="Group 12"/>
            <p:cNvGrpSpPr>
              <a:grpSpLocks/>
            </p:cNvGrpSpPr>
            <p:nvPr/>
          </p:nvGrpSpPr>
          <p:grpSpPr bwMode="auto">
            <a:xfrm>
              <a:off x="593" y="2993"/>
              <a:ext cx="459" cy="713"/>
              <a:chOff x="1495" y="3410"/>
              <a:chExt cx="459" cy="713"/>
            </a:xfrm>
          </p:grpSpPr>
          <p:graphicFrame>
            <p:nvGraphicFramePr>
              <p:cNvPr id="1026" name="Object 13"/>
              <p:cNvGraphicFramePr>
                <a:graphicFrameLocks/>
              </p:cNvGraphicFramePr>
              <p:nvPr/>
            </p:nvGraphicFramePr>
            <p:xfrm>
              <a:off x="1543" y="3410"/>
              <a:ext cx="362" cy="7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57" name="Clip" r:id="rId5" imgW="1393560" imgH="2657160" progId="MS_ClipArt_Gallery.2">
                      <p:embed/>
                    </p:oleObj>
                  </mc:Choice>
                  <mc:Fallback>
                    <p:oleObj name="Clip" r:id="rId5" imgW="1393560" imgH="2657160" progId="MS_ClipArt_Gallery.2">
                      <p:embed/>
                      <p:pic>
                        <p:nvPicPr>
                          <p:cNvPr id="0" name="Object 1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43" y="3410"/>
                            <a:ext cx="362" cy="7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214" name="Rectangle 14"/>
              <p:cNvSpPr>
                <a:spLocks noChangeArrowheads="1"/>
              </p:cNvSpPr>
              <p:nvPr/>
            </p:nvSpPr>
            <p:spPr bwMode="auto">
              <a:xfrm>
                <a:off x="1495" y="3481"/>
                <a:ext cx="459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  <a:defRPr/>
                </a:pPr>
                <a:r>
                  <a:rPr lang="ru-RU" sz="1200" b="1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отк</a:t>
                </a:r>
                <a:endParaRPr lang="en-US" sz="1200" b="1"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</p:grpSp>
        <p:sp>
          <p:nvSpPr>
            <p:cNvPr id="1044" name="AutoShape 15"/>
            <p:cNvSpPr>
              <a:spLocks noChangeArrowheads="1"/>
            </p:cNvSpPr>
            <p:nvPr/>
          </p:nvSpPr>
          <p:spPr bwMode="auto">
            <a:xfrm rot="8157713">
              <a:off x="1372" y="2150"/>
              <a:ext cx="223" cy="984"/>
            </a:xfrm>
            <a:prstGeom prst="upArrow">
              <a:avLst>
                <a:gd name="adj1" fmla="val 43620"/>
                <a:gd name="adj2" fmla="val 119445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1045" name="AutoShape 16"/>
            <p:cNvSpPr>
              <a:spLocks noChangeArrowheads="1"/>
            </p:cNvSpPr>
            <p:nvPr/>
          </p:nvSpPr>
          <p:spPr bwMode="auto">
            <a:xfrm rot="5400000">
              <a:off x="1218" y="2978"/>
              <a:ext cx="223" cy="574"/>
            </a:xfrm>
            <a:prstGeom prst="upArrow">
              <a:avLst>
                <a:gd name="adj1" fmla="val 50000"/>
                <a:gd name="adj2" fmla="val 128688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51217" name="Rectangle 17"/>
            <p:cNvSpPr>
              <a:spLocks noChangeArrowheads="1"/>
            </p:cNvSpPr>
            <p:nvPr/>
          </p:nvSpPr>
          <p:spPr bwMode="auto">
            <a:xfrm>
              <a:off x="1422" y="2415"/>
              <a:ext cx="728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uz-Cyrl-UZ" sz="1400" b="1">
                  <a:solidFill>
                    <a:schemeClr val="accent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Рақамли имзо</a:t>
              </a:r>
              <a:endParaRPr 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47" name="AutoShape 18"/>
            <p:cNvSpPr>
              <a:spLocks noChangeArrowheads="1"/>
            </p:cNvSpPr>
            <p:nvPr/>
          </p:nvSpPr>
          <p:spPr bwMode="auto">
            <a:xfrm rot="5400000">
              <a:off x="3400" y="2898"/>
              <a:ext cx="223" cy="711"/>
            </a:xfrm>
            <a:prstGeom prst="upArrow">
              <a:avLst>
                <a:gd name="adj1" fmla="val 50000"/>
                <a:gd name="adj2" fmla="val 159402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51219" name="Rectangle 19"/>
            <p:cNvSpPr>
              <a:spLocks noChangeArrowheads="1"/>
            </p:cNvSpPr>
            <p:nvPr/>
          </p:nvSpPr>
          <p:spPr bwMode="auto">
            <a:xfrm>
              <a:off x="4116" y="3134"/>
              <a:ext cx="861" cy="220"/>
            </a:xfrm>
            <a:prstGeom prst="rect">
              <a:avLst/>
            </a:prstGeom>
            <a:gradFill rotWithShape="0">
              <a:gsLst>
                <a:gs pos="0">
                  <a:srgbClr val="5949F7">
                    <a:gamma/>
                    <a:shade val="80000"/>
                    <a:invGamma/>
                  </a:srgbClr>
                </a:gs>
                <a:gs pos="100000">
                  <a:srgbClr val="5949F7"/>
                </a:gs>
              </a:gsLst>
              <a:lin ang="5400000" scaled="1"/>
            </a:gradFill>
            <a:ln w="12700">
              <a:solidFill>
                <a:schemeClr val="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6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Py75c%bn</a:t>
              </a:r>
            </a:p>
          </p:txBody>
        </p:sp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6348413" y="2644775"/>
            <a:ext cx="2255837" cy="1690688"/>
            <a:chOff x="3836" y="1886"/>
            <a:chExt cx="1421" cy="1065"/>
          </a:xfrm>
        </p:grpSpPr>
        <p:sp>
          <p:nvSpPr>
            <p:cNvPr id="1038" name="AutoShape 21"/>
            <p:cNvSpPr>
              <a:spLocks noChangeArrowheads="1"/>
            </p:cNvSpPr>
            <p:nvPr/>
          </p:nvSpPr>
          <p:spPr bwMode="auto">
            <a:xfrm>
              <a:off x="4451" y="2643"/>
              <a:ext cx="191" cy="308"/>
            </a:xfrm>
            <a:prstGeom prst="upArrow">
              <a:avLst>
                <a:gd name="adj1" fmla="val 50000"/>
                <a:gd name="adj2" fmla="val 80621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1039" name="AutoShape 22"/>
            <p:cNvSpPr>
              <a:spLocks noChangeArrowheads="1"/>
            </p:cNvSpPr>
            <p:nvPr/>
          </p:nvSpPr>
          <p:spPr bwMode="auto">
            <a:xfrm rot="10800000">
              <a:off x="4451" y="1886"/>
              <a:ext cx="191" cy="308"/>
            </a:xfrm>
            <a:prstGeom prst="upArrow">
              <a:avLst>
                <a:gd name="adj1" fmla="val 50000"/>
                <a:gd name="adj2" fmla="val 80621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51223" name="Rectangle 23"/>
            <p:cNvSpPr>
              <a:spLocks noChangeArrowheads="1"/>
            </p:cNvSpPr>
            <p:nvPr/>
          </p:nvSpPr>
          <p:spPr bwMode="auto">
            <a:xfrm>
              <a:off x="3836" y="2270"/>
              <a:ext cx="142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en-US" sz="20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? </a:t>
              </a:r>
              <a:r>
                <a:rPr lang="uz-Cyrl-UZ" sz="20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Таққослаш</a:t>
              </a:r>
              <a:r>
                <a:rPr lang="en-US" sz="20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 ?</a:t>
              </a:r>
            </a:p>
          </p:txBody>
        </p:sp>
      </p:grpSp>
      <p:grpSp>
        <p:nvGrpSpPr>
          <p:cNvPr id="1030" name="Group 24"/>
          <p:cNvGrpSpPr>
            <a:grpSpLocks/>
          </p:cNvGrpSpPr>
          <p:nvPr/>
        </p:nvGrpSpPr>
        <p:grpSpPr bwMode="auto">
          <a:xfrm>
            <a:off x="500063" y="1619250"/>
            <a:ext cx="1647825" cy="2165350"/>
            <a:chOff x="2198" y="2884"/>
            <a:chExt cx="1038" cy="1364"/>
          </a:xfrm>
        </p:grpSpPr>
        <p:sp>
          <p:nvSpPr>
            <p:cNvPr id="51225" name="Rectangle 25"/>
            <p:cNvSpPr>
              <a:spLocks noChangeArrowheads="1"/>
            </p:cNvSpPr>
            <p:nvPr/>
          </p:nvSpPr>
          <p:spPr bwMode="auto">
            <a:xfrm>
              <a:off x="2294" y="2942"/>
              <a:ext cx="847" cy="682"/>
            </a:xfrm>
            <a:prstGeom prst="rect">
              <a:avLst/>
            </a:prstGeom>
            <a:gradFill rotWithShape="0">
              <a:gsLst>
                <a:gs pos="0">
                  <a:srgbClr val="5949F7">
                    <a:gamma/>
                    <a:shade val="80000"/>
                    <a:invGamma/>
                  </a:srgbClr>
                </a:gs>
                <a:gs pos="100000">
                  <a:srgbClr val="5949F7"/>
                </a:gs>
              </a:gsLst>
              <a:lin ang="5400000" scaled="1"/>
            </a:gradFill>
            <a:ln w="12700">
              <a:solidFill>
                <a:schemeClr val="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lang="uz-Cyrl-UZ" sz="16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Бу хужжат муаллиф томонидан яратилган</a:t>
              </a:r>
              <a:endParaRPr lang="en-US" sz="16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1226" name="Rectangle 26"/>
            <p:cNvSpPr>
              <a:spLocks noChangeArrowheads="1"/>
            </p:cNvSpPr>
            <p:nvPr/>
          </p:nvSpPr>
          <p:spPr bwMode="auto">
            <a:xfrm>
              <a:off x="2294" y="3669"/>
              <a:ext cx="847" cy="220"/>
            </a:xfrm>
            <a:prstGeom prst="rect">
              <a:avLst/>
            </a:prstGeom>
            <a:gradFill rotWithShape="0">
              <a:gsLst>
                <a:gs pos="0">
                  <a:srgbClr val="5949F7">
                    <a:gamma/>
                    <a:shade val="80000"/>
                    <a:invGamma/>
                  </a:srgbClr>
                </a:gs>
                <a:gs pos="100000">
                  <a:srgbClr val="5949F7"/>
                </a:gs>
              </a:gsLst>
              <a:lin ang="5400000" scaled="1"/>
            </a:gradFill>
            <a:ln w="12700">
              <a:solidFill>
                <a:schemeClr val="hlink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lang="en-US" sz="16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3kJfgf*£$&amp;</a:t>
              </a:r>
            </a:p>
          </p:txBody>
        </p:sp>
        <p:grpSp>
          <p:nvGrpSpPr>
            <p:cNvPr id="1035" name="Group 27"/>
            <p:cNvGrpSpPr>
              <a:grpSpLocks/>
            </p:cNvGrpSpPr>
            <p:nvPr/>
          </p:nvGrpSpPr>
          <p:grpSpPr bwMode="auto">
            <a:xfrm>
              <a:off x="2198" y="2884"/>
              <a:ext cx="1038" cy="1364"/>
              <a:chOff x="2198" y="2884"/>
              <a:chExt cx="1038" cy="1364"/>
            </a:xfrm>
          </p:grpSpPr>
          <p:sp>
            <p:nvSpPr>
              <p:cNvPr id="1036" name="Rectangle 28"/>
              <p:cNvSpPr>
                <a:spLocks noChangeArrowheads="1"/>
              </p:cNvSpPr>
              <p:nvPr/>
            </p:nvSpPr>
            <p:spPr bwMode="auto">
              <a:xfrm>
                <a:off x="2198" y="2884"/>
                <a:ext cx="1038" cy="1364"/>
              </a:xfrm>
              <a:prstGeom prst="rect">
                <a:avLst/>
              </a:prstGeom>
              <a:noFill/>
              <a:ln w="28575" algn="ctr">
                <a:solidFill>
                  <a:srgbClr val="FF33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2075" tIns="46038" rIns="92075" bIns="46038" anchor="ctr">
                <a:spAutoFit/>
              </a:bodyPr>
              <a:lstStyle/>
              <a:p>
                <a:endParaRPr lang="uz-Cyrl-UZ"/>
              </a:p>
            </p:txBody>
          </p:sp>
          <p:sp>
            <p:nvSpPr>
              <p:cNvPr id="51229" name="Rectangle 29"/>
              <p:cNvSpPr>
                <a:spLocks noChangeArrowheads="1"/>
              </p:cNvSpPr>
              <p:nvPr/>
            </p:nvSpPr>
            <p:spPr bwMode="auto">
              <a:xfrm>
                <a:off x="2288" y="3882"/>
                <a:ext cx="83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92075" tIns="46038" rIns="92075" bIns="46038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  <a:defRPr/>
                </a:pPr>
                <a:r>
                  <a:rPr lang="uz-Cyrl-UZ" sz="1200" b="1">
                    <a:solidFill>
                      <a:srgbClr val="FF33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Имзоланган хужжат</a:t>
                </a:r>
                <a:endParaRPr lang="en-US" sz="1200" b="1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endParaRPr>
              </a:p>
            </p:txBody>
          </p:sp>
        </p:grpSp>
      </p:grpSp>
      <p:sp>
        <p:nvSpPr>
          <p:cNvPr id="1031" name="Rectangle 31"/>
          <p:cNvSpPr>
            <a:spLocks noGrp="1" noChangeArrowheads="1"/>
          </p:cNvSpPr>
          <p:nvPr>
            <p:ph type="title"/>
          </p:nvPr>
        </p:nvSpPr>
        <p:spPr>
          <a:xfrm>
            <a:off x="2268538" y="187325"/>
            <a:ext cx="6696075" cy="433388"/>
          </a:xfrm>
          <a:noFill/>
        </p:spPr>
        <p:txBody>
          <a:bodyPr/>
          <a:lstStyle/>
          <a:p>
            <a:pPr eaLnBrk="1" hangingPunct="1"/>
            <a:r>
              <a:rPr lang="uz-Cyrl-UZ" sz="2800" b="1" smtClean="0">
                <a:solidFill>
                  <a:schemeClr val="bg1"/>
                </a:solidFill>
              </a:rPr>
              <a:t>Рақамли имзони текшириш</a:t>
            </a:r>
            <a:endParaRPr lang="en-US" sz="2800" b="1" smtClean="0">
              <a:solidFill>
                <a:schemeClr val="bg1"/>
              </a:solidFill>
            </a:endParaRPr>
          </a:p>
        </p:txBody>
      </p:sp>
      <p:sp>
        <p:nvSpPr>
          <p:cNvPr id="1032" name="Rectangle 16"/>
          <p:cNvSpPr>
            <a:spLocks noChangeArrowheads="1"/>
          </p:cNvSpPr>
          <p:nvPr/>
        </p:nvSpPr>
        <p:spPr bwMode="auto">
          <a:xfrm>
            <a:off x="179388" y="981075"/>
            <a:ext cx="8713787" cy="5616575"/>
          </a:xfrm>
          <a:prstGeom prst="rect">
            <a:avLst/>
          </a:prstGeom>
          <a:noFill/>
          <a:ln w="76200" cmpd="tri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366713" y="1341438"/>
            <a:ext cx="606425" cy="741362"/>
          </a:xfrm>
          <a:prstGeom prst="rect">
            <a:avLst/>
          </a:prstGeom>
          <a:gradFill rotWithShape="0">
            <a:gsLst>
              <a:gs pos="0">
                <a:srgbClr val="241D63"/>
              </a:gs>
              <a:gs pos="100000">
                <a:srgbClr val="5949F7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90000"/>
              </a:lnSpc>
            </a:pPr>
            <a:r>
              <a:rPr lang="uz-Cyrl-UZ" sz="1000" b="1">
                <a:solidFill>
                  <a:srgbClr val="FFFF00"/>
                </a:solidFill>
              </a:rPr>
              <a:t>Очиқ </a:t>
            </a:r>
          </a:p>
          <a:p>
            <a:pPr algn="ctr" eaLnBrk="0" hangingPunct="0">
              <a:lnSpc>
                <a:spcPct val="90000"/>
              </a:lnSpc>
            </a:pPr>
            <a:r>
              <a:rPr lang="uz-Cyrl-UZ" sz="1000" b="1">
                <a:solidFill>
                  <a:srgbClr val="FFFF00"/>
                </a:solidFill>
              </a:rPr>
              <a:t>матнли </a:t>
            </a:r>
          </a:p>
          <a:p>
            <a:pPr algn="ctr" eaLnBrk="0" hangingPunct="0">
              <a:lnSpc>
                <a:spcPct val="90000"/>
              </a:lnSpc>
            </a:pPr>
            <a:r>
              <a:rPr lang="uz-Cyrl-UZ" sz="1000" b="1">
                <a:solidFill>
                  <a:srgbClr val="FFFF00"/>
                </a:solidFill>
              </a:rPr>
              <a:t>хабар</a:t>
            </a:r>
            <a:endParaRPr lang="en-US" sz="1000" b="1">
              <a:solidFill>
                <a:srgbClr val="FFFF00"/>
              </a:solidFill>
            </a:endParaRPr>
          </a:p>
        </p:txBody>
      </p:sp>
      <p:sp>
        <p:nvSpPr>
          <p:cNvPr id="2054" name="Rectangle 17"/>
          <p:cNvSpPr>
            <a:spLocks noChangeArrowheads="1"/>
          </p:cNvSpPr>
          <p:nvPr/>
        </p:nvSpPr>
        <p:spPr bwMode="auto">
          <a:xfrm>
            <a:off x="1222375" y="3005138"/>
            <a:ext cx="157163" cy="6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uz-Cyrl-UZ"/>
          </a:p>
        </p:txBody>
      </p:sp>
      <p:grpSp>
        <p:nvGrpSpPr>
          <p:cNvPr id="2" name="Group 82"/>
          <p:cNvGrpSpPr>
            <a:grpSpLocks/>
          </p:cNvGrpSpPr>
          <p:nvPr/>
        </p:nvGrpSpPr>
        <p:grpSpPr bwMode="auto">
          <a:xfrm>
            <a:off x="107950" y="1354138"/>
            <a:ext cx="4383088" cy="2120900"/>
            <a:chOff x="68" y="853"/>
            <a:chExt cx="2761" cy="1336"/>
          </a:xfrm>
        </p:grpSpPr>
        <p:graphicFrame>
          <p:nvGraphicFramePr>
            <p:cNvPr id="2051" name="Object 6"/>
            <p:cNvGraphicFramePr>
              <a:graphicFrameLocks/>
            </p:cNvGraphicFramePr>
            <p:nvPr/>
          </p:nvGraphicFramePr>
          <p:xfrm>
            <a:off x="589" y="1394"/>
            <a:ext cx="113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1" name="Clip" r:id="rId3" imgW="1393560" imgH="2657160" progId="MS_ClipArt_Gallery.2">
                    <p:embed/>
                  </p:oleObj>
                </mc:Choice>
                <mc:Fallback>
                  <p:oleObj name="Clip" r:id="rId3" imgW="1393560" imgH="2657160" progId="MS_ClipArt_Gallery.2">
                    <p:embed/>
                    <p:pic>
                      <p:nvPicPr>
                        <p:cNvPr id="0" name="Object 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9" y="1394"/>
                          <a:ext cx="113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03" name="Rectangle 7"/>
            <p:cNvSpPr>
              <a:spLocks noChangeArrowheads="1"/>
            </p:cNvSpPr>
            <p:nvPr/>
          </p:nvSpPr>
          <p:spPr bwMode="auto">
            <a:xfrm>
              <a:off x="68" y="1298"/>
              <a:ext cx="611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/>
              <a:r>
                <a:rPr lang="uz-Cyrl-UZ" sz="900" b="1">
                  <a:solidFill>
                    <a:schemeClr val="accent2"/>
                  </a:solidFill>
                </a:rPr>
                <a:t>Таосдифий тарзда </a:t>
              </a:r>
            </a:p>
            <a:p>
              <a:pPr algn="ctr" eaLnBrk="0" hangingPunct="0"/>
              <a:r>
                <a:rPr lang="uz-Cyrl-UZ" sz="900" b="1">
                  <a:solidFill>
                    <a:schemeClr val="accent2"/>
                  </a:solidFill>
                </a:rPr>
                <a:t>генерация </a:t>
              </a:r>
            </a:p>
            <a:p>
              <a:pPr algn="ctr" eaLnBrk="0" hangingPunct="0"/>
              <a:r>
                <a:rPr lang="uz-Cyrl-UZ" sz="900" b="1">
                  <a:solidFill>
                    <a:schemeClr val="accent2"/>
                  </a:solidFill>
                </a:rPr>
                <a:t>қилинган симметрик </a:t>
              </a:r>
            </a:p>
            <a:p>
              <a:pPr algn="ctr" eaLnBrk="0" hangingPunct="0"/>
              <a:r>
                <a:rPr lang="uz-Cyrl-UZ" sz="900" b="1">
                  <a:solidFill>
                    <a:schemeClr val="accent2"/>
                  </a:solidFill>
                </a:rPr>
                <a:t>калит</a:t>
              </a:r>
              <a:r>
                <a:rPr lang="en-US" sz="900" b="1">
                  <a:solidFill>
                    <a:schemeClr val="accent2"/>
                  </a:solidFill>
                </a:rPr>
                <a:t> </a:t>
              </a:r>
            </a:p>
          </p:txBody>
        </p:sp>
        <p:sp>
          <p:nvSpPr>
            <p:cNvPr id="2104" name="AutoShape 8"/>
            <p:cNvSpPr>
              <a:spLocks noChangeArrowheads="1"/>
            </p:cNvSpPr>
            <p:nvPr/>
          </p:nvSpPr>
          <p:spPr bwMode="auto">
            <a:xfrm>
              <a:off x="723" y="1011"/>
              <a:ext cx="324" cy="112"/>
            </a:xfrm>
            <a:prstGeom prst="rightArrow">
              <a:avLst>
                <a:gd name="adj1" fmla="val 50000"/>
                <a:gd name="adj2" fmla="val 144656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45065" name="Rectangle 9"/>
            <p:cNvSpPr>
              <a:spLocks noChangeArrowheads="1"/>
            </p:cNvSpPr>
            <p:nvPr/>
          </p:nvSpPr>
          <p:spPr bwMode="auto">
            <a:xfrm>
              <a:off x="2356" y="853"/>
              <a:ext cx="473" cy="46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defRPr/>
              </a:pPr>
              <a:r>
                <a:rPr lang="uz-Cyrl-UZ" sz="1000" b="1">
                  <a:solidFill>
                    <a:srgbClr val="FFFF00"/>
                  </a:solidFill>
                </a:rPr>
                <a:t>Симметрик</a:t>
              </a:r>
            </a:p>
            <a:p>
              <a:pPr algn="ctr" eaLnBrk="0" hangingPunct="0">
                <a:defRPr/>
              </a:pPr>
              <a:r>
                <a:rPr lang="uz-Cyrl-UZ" sz="1000" b="1">
                  <a:solidFill>
                    <a:srgbClr val="FFFF00"/>
                  </a:solidFill>
                </a:rPr>
                <a:t>Шифрлан-</a:t>
              </a:r>
            </a:p>
            <a:p>
              <a:pPr algn="ctr" eaLnBrk="0" hangingPunct="0">
                <a:defRPr/>
              </a:pPr>
              <a:r>
                <a:rPr lang="uz-Cyrl-UZ" sz="1000" b="1">
                  <a:solidFill>
                    <a:srgbClr val="FFFF00"/>
                  </a:solidFill>
                </a:rPr>
                <a:t>ган хабар</a:t>
              </a:r>
              <a:endParaRPr lang="en-US" sz="1000" b="1">
                <a:solidFill>
                  <a:srgbClr val="FFFF00"/>
                </a:solidFill>
              </a:endParaRPr>
            </a:p>
          </p:txBody>
        </p:sp>
        <p:sp>
          <p:nvSpPr>
            <p:cNvPr id="2106" name="AutoShape 10"/>
            <p:cNvSpPr>
              <a:spLocks noChangeArrowheads="1"/>
            </p:cNvSpPr>
            <p:nvPr/>
          </p:nvSpPr>
          <p:spPr bwMode="auto">
            <a:xfrm>
              <a:off x="1882" y="1004"/>
              <a:ext cx="419" cy="113"/>
            </a:xfrm>
            <a:prstGeom prst="rightArrow">
              <a:avLst>
                <a:gd name="adj1" fmla="val 43907"/>
                <a:gd name="adj2" fmla="val 121453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107" name="Oval 11"/>
            <p:cNvSpPr>
              <a:spLocks noChangeArrowheads="1"/>
            </p:cNvSpPr>
            <p:nvPr/>
          </p:nvSpPr>
          <p:spPr bwMode="auto">
            <a:xfrm>
              <a:off x="1054" y="899"/>
              <a:ext cx="786" cy="338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uz-Cyrl-UZ" sz="1000" b="1">
                  <a:solidFill>
                    <a:schemeClr val="accent2"/>
                  </a:solidFill>
                </a:rPr>
                <a:t>Симметрик </a:t>
              </a:r>
            </a:p>
            <a:p>
              <a:pPr algn="ctr" eaLnBrk="0" hangingPunct="0"/>
              <a:r>
                <a:rPr lang="uz-Cyrl-UZ" sz="1000" b="1">
                  <a:solidFill>
                    <a:schemeClr val="accent2"/>
                  </a:solidFill>
                </a:rPr>
                <a:t>шифрлаш</a:t>
              </a:r>
              <a:endParaRPr lang="en-US" sz="1000" b="1">
                <a:solidFill>
                  <a:schemeClr val="accent2"/>
                </a:solidFill>
              </a:endParaRPr>
            </a:p>
          </p:txBody>
        </p:sp>
        <p:sp>
          <p:nvSpPr>
            <p:cNvPr id="2108" name="AutoShape 12"/>
            <p:cNvSpPr>
              <a:spLocks noChangeArrowheads="1"/>
            </p:cNvSpPr>
            <p:nvPr/>
          </p:nvSpPr>
          <p:spPr bwMode="auto">
            <a:xfrm rot="-2478517">
              <a:off x="736" y="1206"/>
              <a:ext cx="358" cy="97"/>
            </a:xfrm>
            <a:prstGeom prst="rightArrow">
              <a:avLst>
                <a:gd name="adj1" fmla="val 60917"/>
                <a:gd name="adj2" fmla="val 141529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109" name="AutoShape 14"/>
            <p:cNvSpPr>
              <a:spLocks noChangeArrowheads="1"/>
            </p:cNvSpPr>
            <p:nvPr/>
          </p:nvSpPr>
          <p:spPr bwMode="auto">
            <a:xfrm>
              <a:off x="1927" y="1545"/>
              <a:ext cx="399" cy="116"/>
            </a:xfrm>
            <a:prstGeom prst="rightArrow">
              <a:avLst>
                <a:gd name="adj1" fmla="val 43907"/>
                <a:gd name="adj2" fmla="val 112665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graphicFrame>
          <p:nvGraphicFramePr>
            <p:cNvPr id="2052" name="Object 16"/>
            <p:cNvGraphicFramePr>
              <a:graphicFrameLocks/>
            </p:cNvGraphicFramePr>
            <p:nvPr/>
          </p:nvGraphicFramePr>
          <p:xfrm>
            <a:off x="634" y="1803"/>
            <a:ext cx="117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2" name="Clip" r:id="rId5" imgW="1393560" imgH="2657160" progId="MS_ClipArt_Gallery.2">
                    <p:embed/>
                  </p:oleObj>
                </mc:Choice>
                <mc:Fallback>
                  <p:oleObj name="Clip" r:id="rId5" imgW="1393560" imgH="2657160" progId="MS_ClipArt_Gallery.2">
                    <p:embed/>
                    <p:pic>
                      <p:nvPicPr>
                        <p:cNvPr id="0" name="Object 16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4" y="1803"/>
                          <a:ext cx="117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74" name="Rectangle 18"/>
            <p:cNvSpPr>
              <a:spLocks noChangeArrowheads="1"/>
            </p:cNvSpPr>
            <p:nvPr/>
          </p:nvSpPr>
          <p:spPr bwMode="auto">
            <a:xfrm>
              <a:off x="2356" y="1488"/>
              <a:ext cx="473" cy="225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19608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defRPr/>
              </a:pPr>
              <a:r>
                <a:rPr lang="uz-Cyrl-UZ" sz="1000" b="1">
                  <a:solidFill>
                    <a:srgbClr val="FFFF00"/>
                  </a:solidFill>
                </a:rPr>
                <a:t>Рақамли </a:t>
              </a:r>
            </a:p>
            <a:p>
              <a:pPr algn="ctr" eaLnBrk="0" hangingPunct="0">
                <a:defRPr/>
              </a:pPr>
              <a:r>
                <a:rPr lang="uz-Cyrl-UZ" sz="1000" b="1">
                  <a:solidFill>
                    <a:srgbClr val="FFFF00"/>
                  </a:solidFill>
                </a:rPr>
                <a:t>конверт</a:t>
              </a:r>
              <a:endParaRPr lang="en-US" sz="1000" b="1">
                <a:solidFill>
                  <a:srgbClr val="FFFF00"/>
                </a:solidFill>
              </a:endParaRPr>
            </a:p>
          </p:txBody>
        </p:sp>
        <p:sp>
          <p:nvSpPr>
            <p:cNvPr id="2111" name="Rectangle 19"/>
            <p:cNvSpPr>
              <a:spLocks noChangeArrowheads="1"/>
            </p:cNvSpPr>
            <p:nvPr/>
          </p:nvSpPr>
          <p:spPr bwMode="auto">
            <a:xfrm>
              <a:off x="669" y="1939"/>
              <a:ext cx="7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/>
              <a:r>
                <a:rPr lang="uz-Cyrl-UZ" sz="1000" b="1">
                  <a:solidFill>
                    <a:schemeClr val="accent2"/>
                  </a:solidFill>
                </a:rPr>
                <a:t>Қабул қилувчи </a:t>
              </a:r>
            </a:p>
            <a:p>
              <a:pPr algn="ctr" eaLnBrk="0" hangingPunct="0"/>
              <a:r>
                <a:rPr lang="uz-Cyrl-UZ" sz="1000" b="1">
                  <a:solidFill>
                    <a:schemeClr val="accent2"/>
                  </a:solidFill>
                </a:rPr>
                <a:t>очиқ калити</a:t>
              </a:r>
              <a:endParaRPr lang="en-US" sz="1000" b="1">
                <a:solidFill>
                  <a:schemeClr val="accent2"/>
                </a:solidFill>
              </a:endParaRPr>
            </a:p>
          </p:txBody>
        </p:sp>
        <p:sp>
          <p:nvSpPr>
            <p:cNvPr id="2112" name="AutoShape 20"/>
            <p:cNvSpPr>
              <a:spLocks noChangeArrowheads="1"/>
            </p:cNvSpPr>
            <p:nvPr/>
          </p:nvSpPr>
          <p:spPr bwMode="auto">
            <a:xfrm rot="-1026893">
              <a:off x="718" y="1696"/>
              <a:ext cx="260" cy="130"/>
            </a:xfrm>
            <a:prstGeom prst="rightArrow">
              <a:avLst>
                <a:gd name="adj1" fmla="val 54972"/>
                <a:gd name="adj2" fmla="val 61102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113" name="Oval 21"/>
            <p:cNvSpPr>
              <a:spLocks noChangeArrowheads="1"/>
            </p:cNvSpPr>
            <p:nvPr/>
          </p:nvSpPr>
          <p:spPr bwMode="auto">
            <a:xfrm>
              <a:off x="887" y="1349"/>
              <a:ext cx="1014" cy="473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uz-Cyrl-UZ" sz="1000" b="1">
                  <a:solidFill>
                    <a:schemeClr val="accent2"/>
                  </a:solidFill>
                </a:rPr>
                <a:t>Сеанс калитини</a:t>
              </a:r>
            </a:p>
            <a:p>
              <a:pPr algn="ctr" eaLnBrk="0" hangingPunct="0"/>
              <a:r>
                <a:rPr lang="ru-RU" sz="1000" b="1">
                  <a:solidFill>
                    <a:schemeClr val="accent2"/>
                  </a:solidFill>
                </a:rPr>
                <a:t>а</a:t>
              </a:r>
              <a:r>
                <a:rPr lang="uz-Cyrl-UZ" sz="1000" b="1">
                  <a:solidFill>
                    <a:schemeClr val="accent2"/>
                  </a:solidFill>
                </a:rPr>
                <a:t>симметрик </a:t>
              </a:r>
            </a:p>
            <a:p>
              <a:pPr algn="ctr" eaLnBrk="0" hangingPunct="0"/>
              <a:r>
                <a:rPr lang="uz-Cyrl-UZ" sz="1000" b="1">
                  <a:solidFill>
                    <a:schemeClr val="accent2"/>
                  </a:solidFill>
                </a:rPr>
                <a:t>шифрлаш</a:t>
              </a:r>
              <a:endParaRPr lang="en-US" sz="1000" b="1">
                <a:solidFill>
                  <a:schemeClr val="accent2"/>
                </a:solidFill>
              </a:endParaRPr>
            </a:p>
          </p:txBody>
        </p:sp>
        <p:sp>
          <p:nvSpPr>
            <p:cNvPr id="2114" name="AutoShape 22"/>
            <p:cNvSpPr>
              <a:spLocks noChangeArrowheads="1"/>
            </p:cNvSpPr>
            <p:nvPr/>
          </p:nvSpPr>
          <p:spPr bwMode="auto">
            <a:xfrm rot="198264">
              <a:off x="679" y="1526"/>
              <a:ext cx="205" cy="98"/>
            </a:xfrm>
            <a:prstGeom prst="rightArrow">
              <a:avLst>
                <a:gd name="adj1" fmla="val 60917"/>
                <a:gd name="adj2" fmla="val 80216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</p:grpSp>
      <p:grpSp>
        <p:nvGrpSpPr>
          <p:cNvPr id="3" name="Group 83"/>
          <p:cNvGrpSpPr>
            <a:grpSpLocks/>
          </p:cNvGrpSpPr>
          <p:nvPr/>
        </p:nvGrpSpPr>
        <p:grpSpPr bwMode="auto">
          <a:xfrm>
            <a:off x="3687763" y="1282700"/>
            <a:ext cx="857250" cy="2305050"/>
            <a:chOff x="2323" y="808"/>
            <a:chExt cx="540" cy="1452"/>
          </a:xfrm>
        </p:grpSpPr>
        <p:sp>
          <p:nvSpPr>
            <p:cNvPr id="2101" name="Rectangle 24"/>
            <p:cNvSpPr>
              <a:spLocks noChangeArrowheads="1"/>
            </p:cNvSpPr>
            <p:nvPr/>
          </p:nvSpPr>
          <p:spPr bwMode="auto">
            <a:xfrm>
              <a:off x="2323" y="808"/>
              <a:ext cx="540" cy="1452"/>
            </a:xfrm>
            <a:prstGeom prst="rect">
              <a:avLst/>
            </a:prstGeom>
            <a:noFill/>
            <a:ln w="57150">
              <a:solidFill>
                <a:srgbClr val="FF33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uz-Cyrl-UZ"/>
            </a:p>
          </p:txBody>
        </p:sp>
        <p:sp>
          <p:nvSpPr>
            <p:cNvPr id="2102" name="Rectangle 25"/>
            <p:cNvSpPr>
              <a:spLocks noChangeArrowheads="1"/>
            </p:cNvSpPr>
            <p:nvPr/>
          </p:nvSpPr>
          <p:spPr bwMode="auto">
            <a:xfrm>
              <a:off x="2354" y="1803"/>
              <a:ext cx="442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/>
              <a:r>
                <a:rPr lang="uz-Cyrl-UZ" sz="1000" b="1">
                  <a:solidFill>
                    <a:srgbClr val="FF3300"/>
                  </a:solidFill>
                </a:rPr>
                <a:t>Шифр-ланган хужжат</a:t>
              </a:r>
              <a:endParaRPr lang="en-US" sz="1000" b="1">
                <a:solidFill>
                  <a:srgbClr val="FF3300"/>
                </a:solidFill>
              </a:endParaRPr>
            </a:p>
          </p:txBody>
        </p:sp>
      </p:grpSp>
      <p:sp>
        <p:nvSpPr>
          <p:cNvPr id="45115" name="Rectangle 59"/>
          <p:cNvSpPr>
            <a:spLocks noChangeArrowheads="1"/>
          </p:cNvSpPr>
          <p:nvPr/>
        </p:nvSpPr>
        <p:spPr bwMode="auto">
          <a:xfrm>
            <a:off x="7951788" y="4221163"/>
            <a:ext cx="755650" cy="1336675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uz-Cyrl-UZ"/>
          </a:p>
        </p:txBody>
      </p:sp>
      <p:grpSp>
        <p:nvGrpSpPr>
          <p:cNvPr id="4" name="Group 84"/>
          <p:cNvGrpSpPr>
            <a:grpSpLocks/>
          </p:cNvGrpSpPr>
          <p:nvPr/>
        </p:nvGrpSpPr>
        <p:grpSpPr bwMode="auto">
          <a:xfrm>
            <a:off x="4427538" y="4221163"/>
            <a:ext cx="857250" cy="2305050"/>
            <a:chOff x="2789" y="2659"/>
            <a:chExt cx="540" cy="1452"/>
          </a:xfrm>
        </p:grpSpPr>
        <p:sp>
          <p:nvSpPr>
            <p:cNvPr id="45124" name="Rectangle 68"/>
            <p:cNvSpPr>
              <a:spLocks noChangeArrowheads="1"/>
            </p:cNvSpPr>
            <p:nvPr/>
          </p:nvSpPr>
          <p:spPr bwMode="auto">
            <a:xfrm>
              <a:off x="2822" y="2704"/>
              <a:ext cx="473" cy="467"/>
            </a:xfrm>
            <a:prstGeom prst="rect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defRPr/>
              </a:pPr>
              <a:r>
                <a:rPr lang="uz-Cyrl-UZ" sz="1000" b="1">
                  <a:solidFill>
                    <a:srgbClr val="FFFF00"/>
                  </a:solidFill>
                </a:rPr>
                <a:t>Симметрик</a:t>
              </a:r>
            </a:p>
            <a:p>
              <a:pPr algn="ctr" eaLnBrk="0" hangingPunct="0">
                <a:defRPr/>
              </a:pPr>
              <a:r>
                <a:rPr lang="uz-Cyrl-UZ" sz="1000" b="1">
                  <a:solidFill>
                    <a:srgbClr val="FFFF00"/>
                  </a:solidFill>
                </a:rPr>
                <a:t>Шифрлан-</a:t>
              </a:r>
            </a:p>
            <a:p>
              <a:pPr algn="ctr" eaLnBrk="0" hangingPunct="0">
                <a:defRPr/>
              </a:pPr>
              <a:r>
                <a:rPr lang="uz-Cyrl-UZ" sz="1000" b="1">
                  <a:solidFill>
                    <a:srgbClr val="FFFF00"/>
                  </a:solidFill>
                </a:rPr>
                <a:t>ган хабар</a:t>
              </a:r>
              <a:endParaRPr lang="en-US" sz="1000" b="1">
                <a:solidFill>
                  <a:srgbClr val="FFFF00"/>
                </a:solidFill>
              </a:endParaRPr>
            </a:p>
          </p:txBody>
        </p:sp>
        <p:sp>
          <p:nvSpPr>
            <p:cNvPr id="45125" name="Rectangle 69"/>
            <p:cNvSpPr>
              <a:spLocks noChangeArrowheads="1"/>
            </p:cNvSpPr>
            <p:nvPr/>
          </p:nvSpPr>
          <p:spPr bwMode="auto">
            <a:xfrm>
              <a:off x="2822" y="3339"/>
              <a:ext cx="473" cy="225"/>
            </a:xfrm>
            <a:prstGeom prst="rect">
              <a:avLst/>
            </a:prstGeom>
            <a:gradFill rotWithShape="0">
              <a:gsLst>
                <a:gs pos="0">
                  <a:schemeClr val="accent1">
                    <a:gamma/>
                    <a:shade val="19608"/>
                    <a:invGamma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 eaLnBrk="0" hangingPunct="0">
                <a:defRPr/>
              </a:pPr>
              <a:r>
                <a:rPr lang="uz-Cyrl-UZ" sz="1000" b="1">
                  <a:solidFill>
                    <a:srgbClr val="FFFF00"/>
                  </a:solidFill>
                </a:rPr>
                <a:t>Рақамли </a:t>
              </a:r>
            </a:p>
            <a:p>
              <a:pPr algn="ctr" eaLnBrk="0" hangingPunct="0">
                <a:defRPr/>
              </a:pPr>
              <a:r>
                <a:rPr lang="uz-Cyrl-UZ" sz="1000" b="1">
                  <a:solidFill>
                    <a:srgbClr val="FFFF00"/>
                  </a:solidFill>
                </a:rPr>
                <a:t>конверт</a:t>
              </a:r>
              <a:endParaRPr lang="en-US" sz="1000" b="1">
                <a:solidFill>
                  <a:srgbClr val="FFFF00"/>
                </a:solidFill>
              </a:endParaRPr>
            </a:p>
          </p:txBody>
        </p:sp>
        <p:sp>
          <p:nvSpPr>
            <p:cNvPr id="2099" name="Rectangle 70"/>
            <p:cNvSpPr>
              <a:spLocks noChangeArrowheads="1"/>
            </p:cNvSpPr>
            <p:nvPr/>
          </p:nvSpPr>
          <p:spPr bwMode="auto">
            <a:xfrm>
              <a:off x="2789" y="2659"/>
              <a:ext cx="540" cy="1452"/>
            </a:xfrm>
            <a:prstGeom prst="rect">
              <a:avLst/>
            </a:prstGeom>
            <a:noFill/>
            <a:ln w="57150">
              <a:solidFill>
                <a:srgbClr val="FF330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uz-Cyrl-UZ"/>
            </a:p>
          </p:txBody>
        </p:sp>
        <p:sp>
          <p:nvSpPr>
            <p:cNvPr id="2100" name="Rectangle 71"/>
            <p:cNvSpPr>
              <a:spLocks noChangeArrowheads="1"/>
            </p:cNvSpPr>
            <p:nvPr/>
          </p:nvSpPr>
          <p:spPr bwMode="auto">
            <a:xfrm>
              <a:off x="2820" y="3654"/>
              <a:ext cx="442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/>
              <a:r>
                <a:rPr lang="uz-Cyrl-UZ" sz="1000" b="1">
                  <a:solidFill>
                    <a:srgbClr val="FF3300"/>
                  </a:solidFill>
                </a:rPr>
                <a:t>Шифр-ланган хужжат</a:t>
              </a:r>
              <a:endParaRPr lang="en-US" sz="1000" b="1">
                <a:solidFill>
                  <a:srgbClr val="FF3300"/>
                </a:solidFill>
              </a:endParaRPr>
            </a:p>
          </p:txBody>
        </p:sp>
      </p:grpSp>
      <p:grpSp>
        <p:nvGrpSpPr>
          <p:cNvPr id="5" name="Group 87"/>
          <p:cNvGrpSpPr>
            <a:grpSpLocks/>
          </p:cNvGrpSpPr>
          <p:nvPr/>
        </p:nvGrpSpPr>
        <p:grpSpPr bwMode="auto">
          <a:xfrm>
            <a:off x="5348288" y="4292600"/>
            <a:ext cx="3321050" cy="1296988"/>
            <a:chOff x="3369" y="2704"/>
            <a:chExt cx="2092" cy="817"/>
          </a:xfrm>
        </p:grpSpPr>
        <p:sp>
          <p:nvSpPr>
            <p:cNvPr id="2091" name="AutoShape 74"/>
            <p:cNvSpPr>
              <a:spLocks noChangeArrowheads="1"/>
            </p:cNvSpPr>
            <p:nvPr/>
          </p:nvSpPr>
          <p:spPr bwMode="auto">
            <a:xfrm>
              <a:off x="4773" y="2795"/>
              <a:ext cx="227" cy="112"/>
            </a:xfrm>
            <a:prstGeom prst="rightArrow">
              <a:avLst>
                <a:gd name="adj1" fmla="val 50000"/>
                <a:gd name="adj2" fmla="val 101349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092" name="Rectangle 60"/>
            <p:cNvSpPr>
              <a:spLocks noChangeArrowheads="1"/>
            </p:cNvSpPr>
            <p:nvPr/>
          </p:nvSpPr>
          <p:spPr bwMode="auto">
            <a:xfrm>
              <a:off x="5015" y="3158"/>
              <a:ext cx="446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/>
              <a:r>
                <a:rPr lang="uz-Cyrl-UZ" sz="900" b="1">
                  <a:solidFill>
                    <a:srgbClr val="FF3300"/>
                  </a:solidFill>
                </a:rPr>
                <a:t>Дешифр-ланган </a:t>
              </a:r>
            </a:p>
            <a:p>
              <a:pPr algn="ctr" eaLnBrk="0" hangingPunct="0"/>
              <a:r>
                <a:rPr lang="uz-Cyrl-UZ" sz="900" b="1">
                  <a:solidFill>
                    <a:srgbClr val="FF3300"/>
                  </a:solidFill>
                </a:rPr>
                <a:t>хужжат</a:t>
              </a:r>
              <a:endParaRPr lang="en-US" sz="900" b="1">
                <a:solidFill>
                  <a:srgbClr val="FF3300"/>
                </a:solidFill>
              </a:endParaRPr>
            </a:p>
          </p:txBody>
        </p:sp>
        <p:sp>
          <p:nvSpPr>
            <p:cNvPr id="2093" name="Oval 72"/>
            <p:cNvSpPr>
              <a:spLocks noChangeArrowheads="1"/>
            </p:cNvSpPr>
            <p:nvPr/>
          </p:nvSpPr>
          <p:spPr bwMode="auto">
            <a:xfrm>
              <a:off x="3923" y="2704"/>
              <a:ext cx="820" cy="338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uz-Cyrl-UZ" sz="1000" b="1">
                  <a:solidFill>
                    <a:schemeClr val="accent2"/>
                  </a:solidFill>
                </a:rPr>
                <a:t>Симметрик </a:t>
              </a:r>
            </a:p>
            <a:p>
              <a:pPr algn="ctr" eaLnBrk="0" hangingPunct="0"/>
              <a:r>
                <a:rPr lang="uz-Cyrl-UZ" sz="1000" b="1">
                  <a:solidFill>
                    <a:schemeClr val="accent2"/>
                  </a:solidFill>
                </a:rPr>
                <a:t>дешифрлаш</a:t>
              </a:r>
              <a:endParaRPr lang="en-US" sz="1000" b="1">
                <a:solidFill>
                  <a:schemeClr val="accent2"/>
                </a:solidFill>
              </a:endParaRPr>
            </a:p>
          </p:txBody>
        </p:sp>
        <p:sp>
          <p:nvSpPr>
            <p:cNvPr id="2094" name="AutoShape 73"/>
            <p:cNvSpPr>
              <a:spLocks noChangeArrowheads="1"/>
            </p:cNvSpPr>
            <p:nvPr/>
          </p:nvSpPr>
          <p:spPr bwMode="auto">
            <a:xfrm>
              <a:off x="3369" y="2795"/>
              <a:ext cx="545" cy="136"/>
            </a:xfrm>
            <a:prstGeom prst="rightArrow">
              <a:avLst>
                <a:gd name="adj1" fmla="val 50000"/>
                <a:gd name="adj2" fmla="val 200386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095" name="Rectangle 75"/>
            <p:cNvSpPr>
              <a:spLocks noChangeArrowheads="1"/>
            </p:cNvSpPr>
            <p:nvPr/>
          </p:nvSpPr>
          <p:spPr bwMode="auto">
            <a:xfrm>
              <a:off x="5063" y="2704"/>
              <a:ext cx="382" cy="467"/>
            </a:xfrm>
            <a:prstGeom prst="rect">
              <a:avLst/>
            </a:prstGeom>
            <a:gradFill rotWithShape="0">
              <a:gsLst>
                <a:gs pos="0">
                  <a:srgbClr val="241D63"/>
                </a:gs>
                <a:gs pos="100000">
                  <a:srgbClr val="5949F7"/>
                </a:gs>
              </a:gsLst>
              <a:lin ang="54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uz-Cyrl-UZ" sz="1000" b="1">
                  <a:solidFill>
                    <a:srgbClr val="FFFF00"/>
                  </a:solidFill>
                </a:rPr>
                <a:t>Очиқ 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uz-Cyrl-UZ" sz="1000" b="1">
                  <a:solidFill>
                    <a:srgbClr val="FFFF00"/>
                  </a:solidFill>
                </a:rPr>
                <a:t>матнли 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lang="uz-Cyrl-UZ" sz="1000" b="1">
                  <a:solidFill>
                    <a:srgbClr val="FFFF00"/>
                  </a:solidFill>
                </a:rPr>
                <a:t>хабар</a:t>
              </a:r>
              <a:endParaRPr lang="en-US" sz="1000" b="1">
                <a:solidFill>
                  <a:srgbClr val="FFFF00"/>
                </a:solidFill>
              </a:endParaRPr>
            </a:p>
          </p:txBody>
        </p:sp>
        <p:sp>
          <p:nvSpPr>
            <p:cNvPr id="2096" name="AutoShape 62"/>
            <p:cNvSpPr>
              <a:spLocks noChangeArrowheads="1"/>
            </p:cNvSpPr>
            <p:nvPr/>
          </p:nvSpPr>
          <p:spPr bwMode="auto">
            <a:xfrm rot="-6702048">
              <a:off x="4307" y="3182"/>
              <a:ext cx="499" cy="180"/>
            </a:xfrm>
            <a:prstGeom prst="rightArrow">
              <a:avLst>
                <a:gd name="adj1" fmla="val 38935"/>
                <a:gd name="adj2" fmla="val 161520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</p:grpSp>
      <p:grpSp>
        <p:nvGrpSpPr>
          <p:cNvPr id="6" name="Group 86"/>
          <p:cNvGrpSpPr>
            <a:grpSpLocks/>
          </p:cNvGrpSpPr>
          <p:nvPr/>
        </p:nvGrpSpPr>
        <p:grpSpPr bwMode="auto">
          <a:xfrm>
            <a:off x="5313363" y="4856163"/>
            <a:ext cx="3635375" cy="1763712"/>
            <a:chOff x="3347" y="3059"/>
            <a:chExt cx="2290" cy="1111"/>
          </a:xfrm>
        </p:grpSpPr>
        <p:graphicFrame>
          <p:nvGraphicFramePr>
            <p:cNvPr id="2050" name="Object 33"/>
            <p:cNvGraphicFramePr>
              <a:graphicFrameLocks/>
            </p:cNvGraphicFramePr>
            <p:nvPr/>
          </p:nvGraphicFramePr>
          <p:xfrm>
            <a:off x="4649" y="3475"/>
            <a:ext cx="113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3" name="Clip" r:id="rId7" imgW="1393560" imgH="2657160" progId="MS_ClipArt_Gallery.2">
                    <p:embed/>
                  </p:oleObj>
                </mc:Choice>
                <mc:Fallback>
                  <p:oleObj name="Clip" r:id="rId7" imgW="1393560" imgH="2657160" progId="MS_ClipArt_Gallery.2">
                    <p:embed/>
                    <p:pic>
                      <p:nvPicPr>
                        <p:cNvPr id="0" name="Object 3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9" y="3475"/>
                          <a:ext cx="113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67" name="AutoShape 34"/>
            <p:cNvSpPr>
              <a:spLocks noChangeArrowheads="1"/>
            </p:cNvSpPr>
            <p:nvPr/>
          </p:nvSpPr>
          <p:spPr bwMode="auto">
            <a:xfrm rot="-3059624">
              <a:off x="3507" y="3910"/>
              <a:ext cx="166" cy="58"/>
            </a:xfrm>
            <a:prstGeom prst="rightArrow">
              <a:avLst>
                <a:gd name="adj1" fmla="val 60917"/>
                <a:gd name="adj2" fmla="val 109752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068" name="AutoShape 35"/>
            <p:cNvSpPr>
              <a:spLocks noChangeArrowheads="1"/>
            </p:cNvSpPr>
            <p:nvPr/>
          </p:nvSpPr>
          <p:spPr bwMode="auto">
            <a:xfrm rot="-1902822">
              <a:off x="4443" y="3626"/>
              <a:ext cx="226" cy="136"/>
            </a:xfrm>
            <a:prstGeom prst="rightArrow">
              <a:avLst>
                <a:gd name="adj1" fmla="val 46713"/>
                <a:gd name="adj2" fmla="val 71602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069" name="AutoShape 37"/>
            <p:cNvSpPr>
              <a:spLocks noChangeArrowheads="1"/>
            </p:cNvSpPr>
            <p:nvPr/>
          </p:nvSpPr>
          <p:spPr bwMode="auto">
            <a:xfrm rot="1756728">
              <a:off x="3347" y="3458"/>
              <a:ext cx="165" cy="74"/>
            </a:xfrm>
            <a:prstGeom prst="rightArrow">
              <a:avLst>
                <a:gd name="adj1" fmla="val 60917"/>
                <a:gd name="adj2" fmla="val 85504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uz-Cyrl-UZ"/>
            </a:p>
          </p:txBody>
        </p:sp>
        <p:sp>
          <p:nvSpPr>
            <p:cNvPr id="2070" name="Rectangle 38"/>
            <p:cNvSpPr>
              <a:spLocks noChangeArrowheads="1"/>
            </p:cNvSpPr>
            <p:nvPr/>
          </p:nvSpPr>
          <p:spPr bwMode="auto">
            <a:xfrm>
              <a:off x="3630" y="3937"/>
              <a:ext cx="58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uz-Cyrl-UZ" sz="900" b="1">
                  <a:solidFill>
                    <a:schemeClr val="accent2"/>
                  </a:solidFill>
                </a:rPr>
                <a:t>Қаб.қилувчи </a:t>
              </a:r>
            </a:p>
            <a:p>
              <a:pPr eaLnBrk="0" hangingPunct="0"/>
              <a:r>
                <a:rPr lang="uz-Cyrl-UZ" sz="900" b="1">
                  <a:solidFill>
                    <a:schemeClr val="accent2"/>
                  </a:solidFill>
                </a:rPr>
                <a:t>ёпиқ калити</a:t>
              </a:r>
              <a:endParaRPr lang="en-US" sz="900" b="1">
                <a:solidFill>
                  <a:schemeClr val="accent2"/>
                </a:solidFill>
              </a:endParaRPr>
            </a:p>
          </p:txBody>
        </p:sp>
        <p:grpSp>
          <p:nvGrpSpPr>
            <p:cNvPr id="2071" name="Group 39"/>
            <p:cNvGrpSpPr>
              <a:grpSpLocks/>
            </p:cNvGrpSpPr>
            <p:nvPr/>
          </p:nvGrpSpPr>
          <p:grpSpPr bwMode="auto">
            <a:xfrm>
              <a:off x="3425" y="3902"/>
              <a:ext cx="120" cy="268"/>
              <a:chOff x="655" y="2684"/>
              <a:chExt cx="337" cy="456"/>
            </a:xfrm>
          </p:grpSpPr>
          <p:sp>
            <p:nvSpPr>
              <p:cNvPr id="2075" name="Freeform 40"/>
              <p:cNvSpPr>
                <a:spLocks/>
              </p:cNvSpPr>
              <p:nvPr/>
            </p:nvSpPr>
            <p:spPr bwMode="auto">
              <a:xfrm>
                <a:off x="663" y="2684"/>
                <a:ext cx="329" cy="453"/>
              </a:xfrm>
              <a:custGeom>
                <a:avLst/>
                <a:gdLst>
                  <a:gd name="T0" fmla="*/ 209 w 329"/>
                  <a:gd name="T1" fmla="*/ 0 h 453"/>
                  <a:gd name="T2" fmla="*/ 111 w 329"/>
                  <a:gd name="T3" fmla="*/ 0 h 453"/>
                  <a:gd name="T4" fmla="*/ 129 w 329"/>
                  <a:gd name="T5" fmla="*/ 17 h 453"/>
                  <a:gd name="T6" fmla="*/ 187 w 329"/>
                  <a:gd name="T7" fmla="*/ 17 h 453"/>
                  <a:gd name="T8" fmla="*/ 209 w 329"/>
                  <a:gd name="T9" fmla="*/ 44 h 453"/>
                  <a:gd name="T10" fmla="*/ 109 w 329"/>
                  <a:gd name="T11" fmla="*/ 44 h 453"/>
                  <a:gd name="T12" fmla="*/ 130 w 329"/>
                  <a:gd name="T13" fmla="*/ 17 h 453"/>
                  <a:gd name="T14" fmla="*/ 111 w 329"/>
                  <a:gd name="T15" fmla="*/ 0 h 453"/>
                  <a:gd name="T16" fmla="*/ 76 w 329"/>
                  <a:gd name="T17" fmla="*/ 43 h 453"/>
                  <a:gd name="T18" fmla="*/ 57 w 329"/>
                  <a:gd name="T19" fmla="*/ 43 h 453"/>
                  <a:gd name="T20" fmla="*/ 50 w 329"/>
                  <a:gd name="T21" fmla="*/ 57 h 453"/>
                  <a:gd name="T22" fmla="*/ 21 w 329"/>
                  <a:gd name="T23" fmla="*/ 57 h 453"/>
                  <a:gd name="T24" fmla="*/ 21 w 329"/>
                  <a:gd name="T25" fmla="*/ 68 h 453"/>
                  <a:gd name="T26" fmla="*/ 9 w 329"/>
                  <a:gd name="T27" fmla="*/ 68 h 453"/>
                  <a:gd name="T28" fmla="*/ 0 w 329"/>
                  <a:gd name="T29" fmla="*/ 68 h 453"/>
                  <a:gd name="T30" fmla="*/ 0 w 329"/>
                  <a:gd name="T31" fmla="*/ 131 h 453"/>
                  <a:gd name="T32" fmla="*/ 21 w 329"/>
                  <a:gd name="T33" fmla="*/ 132 h 453"/>
                  <a:gd name="T34" fmla="*/ 21 w 329"/>
                  <a:gd name="T35" fmla="*/ 145 h 453"/>
                  <a:gd name="T36" fmla="*/ 49 w 329"/>
                  <a:gd name="T37" fmla="*/ 145 h 453"/>
                  <a:gd name="T38" fmla="*/ 57 w 329"/>
                  <a:gd name="T39" fmla="*/ 160 h 453"/>
                  <a:gd name="T40" fmla="*/ 73 w 329"/>
                  <a:gd name="T41" fmla="*/ 161 h 453"/>
                  <a:gd name="T42" fmla="*/ 74 w 329"/>
                  <a:gd name="T43" fmla="*/ 193 h 453"/>
                  <a:gd name="T44" fmla="*/ 84 w 329"/>
                  <a:gd name="T45" fmla="*/ 193 h 453"/>
                  <a:gd name="T46" fmla="*/ 88 w 329"/>
                  <a:gd name="T47" fmla="*/ 198 h 453"/>
                  <a:gd name="T48" fmla="*/ 88 w 329"/>
                  <a:gd name="T49" fmla="*/ 230 h 453"/>
                  <a:gd name="T50" fmla="*/ 106 w 329"/>
                  <a:gd name="T51" fmla="*/ 230 h 453"/>
                  <a:gd name="T52" fmla="*/ 105 w 329"/>
                  <a:gd name="T53" fmla="*/ 423 h 453"/>
                  <a:gd name="T54" fmla="*/ 149 w 329"/>
                  <a:gd name="T55" fmla="*/ 452 h 453"/>
                  <a:gd name="T56" fmla="*/ 205 w 329"/>
                  <a:gd name="T57" fmla="*/ 418 h 453"/>
                  <a:gd name="T58" fmla="*/ 184 w 329"/>
                  <a:gd name="T59" fmla="*/ 409 h 453"/>
                  <a:gd name="T60" fmla="*/ 184 w 329"/>
                  <a:gd name="T61" fmla="*/ 397 h 453"/>
                  <a:gd name="T62" fmla="*/ 205 w 329"/>
                  <a:gd name="T63" fmla="*/ 387 h 453"/>
                  <a:gd name="T64" fmla="*/ 184 w 329"/>
                  <a:gd name="T65" fmla="*/ 379 h 453"/>
                  <a:gd name="T66" fmla="*/ 187 w 329"/>
                  <a:gd name="T67" fmla="*/ 375 h 453"/>
                  <a:gd name="T68" fmla="*/ 205 w 329"/>
                  <a:gd name="T69" fmla="*/ 367 h 453"/>
                  <a:gd name="T70" fmla="*/ 208 w 329"/>
                  <a:gd name="T71" fmla="*/ 343 h 453"/>
                  <a:gd name="T72" fmla="*/ 211 w 329"/>
                  <a:gd name="T73" fmla="*/ 340 h 453"/>
                  <a:gd name="T74" fmla="*/ 184 w 329"/>
                  <a:gd name="T75" fmla="*/ 326 h 453"/>
                  <a:gd name="T76" fmla="*/ 184 w 329"/>
                  <a:gd name="T77" fmla="*/ 313 h 453"/>
                  <a:gd name="T78" fmla="*/ 205 w 329"/>
                  <a:gd name="T79" fmla="*/ 299 h 453"/>
                  <a:gd name="T80" fmla="*/ 184 w 329"/>
                  <a:gd name="T81" fmla="*/ 285 h 453"/>
                  <a:gd name="T82" fmla="*/ 184 w 329"/>
                  <a:gd name="T83" fmla="*/ 272 h 453"/>
                  <a:gd name="T84" fmla="*/ 205 w 329"/>
                  <a:gd name="T85" fmla="*/ 255 h 453"/>
                  <a:gd name="T86" fmla="*/ 208 w 329"/>
                  <a:gd name="T87" fmla="*/ 228 h 453"/>
                  <a:gd name="T88" fmla="*/ 232 w 329"/>
                  <a:gd name="T89" fmla="*/ 228 h 453"/>
                  <a:gd name="T90" fmla="*/ 232 w 329"/>
                  <a:gd name="T91" fmla="*/ 192 h 453"/>
                  <a:gd name="T92" fmla="*/ 247 w 329"/>
                  <a:gd name="T93" fmla="*/ 192 h 453"/>
                  <a:gd name="T94" fmla="*/ 247 w 329"/>
                  <a:gd name="T95" fmla="*/ 159 h 453"/>
                  <a:gd name="T96" fmla="*/ 263 w 329"/>
                  <a:gd name="T97" fmla="*/ 159 h 453"/>
                  <a:gd name="T98" fmla="*/ 270 w 329"/>
                  <a:gd name="T99" fmla="*/ 144 h 453"/>
                  <a:gd name="T100" fmla="*/ 303 w 329"/>
                  <a:gd name="T101" fmla="*/ 144 h 453"/>
                  <a:gd name="T102" fmla="*/ 303 w 329"/>
                  <a:gd name="T103" fmla="*/ 130 h 453"/>
                  <a:gd name="T104" fmla="*/ 328 w 329"/>
                  <a:gd name="T105" fmla="*/ 130 h 453"/>
                  <a:gd name="T106" fmla="*/ 328 w 329"/>
                  <a:gd name="T107" fmla="*/ 67 h 453"/>
                  <a:gd name="T108" fmla="*/ 303 w 329"/>
                  <a:gd name="T109" fmla="*/ 67 h 453"/>
                  <a:gd name="T110" fmla="*/ 303 w 329"/>
                  <a:gd name="T111" fmla="*/ 57 h 453"/>
                  <a:gd name="T112" fmla="*/ 276 w 329"/>
                  <a:gd name="T113" fmla="*/ 57 h 453"/>
                  <a:gd name="T114" fmla="*/ 269 w 329"/>
                  <a:gd name="T115" fmla="*/ 53 h 453"/>
                  <a:gd name="T116" fmla="*/ 262 w 329"/>
                  <a:gd name="T117" fmla="*/ 43 h 453"/>
                  <a:gd name="T118" fmla="*/ 247 w 329"/>
                  <a:gd name="T119" fmla="*/ 43 h 453"/>
                  <a:gd name="T120" fmla="*/ 209 w 329"/>
                  <a:gd name="T121" fmla="*/ 0 h 453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329"/>
                  <a:gd name="T184" fmla="*/ 0 h 453"/>
                  <a:gd name="T185" fmla="*/ 329 w 329"/>
                  <a:gd name="T186" fmla="*/ 453 h 453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329" h="453">
                    <a:moveTo>
                      <a:pt x="209" y="0"/>
                    </a:moveTo>
                    <a:lnTo>
                      <a:pt x="111" y="0"/>
                    </a:lnTo>
                    <a:lnTo>
                      <a:pt x="129" y="17"/>
                    </a:lnTo>
                    <a:lnTo>
                      <a:pt x="187" y="17"/>
                    </a:lnTo>
                    <a:lnTo>
                      <a:pt x="209" y="44"/>
                    </a:lnTo>
                    <a:lnTo>
                      <a:pt x="109" y="44"/>
                    </a:lnTo>
                    <a:lnTo>
                      <a:pt x="130" y="17"/>
                    </a:lnTo>
                    <a:lnTo>
                      <a:pt x="111" y="0"/>
                    </a:lnTo>
                    <a:lnTo>
                      <a:pt x="76" y="43"/>
                    </a:lnTo>
                    <a:lnTo>
                      <a:pt x="57" y="43"/>
                    </a:lnTo>
                    <a:lnTo>
                      <a:pt x="50" y="57"/>
                    </a:lnTo>
                    <a:lnTo>
                      <a:pt x="21" y="57"/>
                    </a:lnTo>
                    <a:lnTo>
                      <a:pt x="21" y="68"/>
                    </a:lnTo>
                    <a:lnTo>
                      <a:pt x="9" y="68"/>
                    </a:lnTo>
                    <a:lnTo>
                      <a:pt x="0" y="68"/>
                    </a:lnTo>
                    <a:lnTo>
                      <a:pt x="0" y="131"/>
                    </a:lnTo>
                    <a:lnTo>
                      <a:pt x="21" y="132"/>
                    </a:lnTo>
                    <a:lnTo>
                      <a:pt x="21" y="145"/>
                    </a:lnTo>
                    <a:lnTo>
                      <a:pt x="49" y="145"/>
                    </a:lnTo>
                    <a:lnTo>
                      <a:pt x="57" y="160"/>
                    </a:lnTo>
                    <a:lnTo>
                      <a:pt x="73" y="161"/>
                    </a:lnTo>
                    <a:lnTo>
                      <a:pt x="74" y="193"/>
                    </a:lnTo>
                    <a:lnTo>
                      <a:pt x="84" y="193"/>
                    </a:lnTo>
                    <a:lnTo>
                      <a:pt x="88" y="198"/>
                    </a:lnTo>
                    <a:lnTo>
                      <a:pt x="88" y="230"/>
                    </a:lnTo>
                    <a:lnTo>
                      <a:pt x="106" y="230"/>
                    </a:lnTo>
                    <a:lnTo>
                      <a:pt x="105" y="423"/>
                    </a:lnTo>
                    <a:lnTo>
                      <a:pt x="149" y="452"/>
                    </a:lnTo>
                    <a:lnTo>
                      <a:pt x="205" y="418"/>
                    </a:lnTo>
                    <a:lnTo>
                      <a:pt x="184" y="409"/>
                    </a:lnTo>
                    <a:lnTo>
                      <a:pt x="184" y="397"/>
                    </a:lnTo>
                    <a:lnTo>
                      <a:pt x="205" y="387"/>
                    </a:lnTo>
                    <a:lnTo>
                      <a:pt x="184" y="379"/>
                    </a:lnTo>
                    <a:lnTo>
                      <a:pt x="187" y="375"/>
                    </a:lnTo>
                    <a:lnTo>
                      <a:pt x="205" y="367"/>
                    </a:lnTo>
                    <a:lnTo>
                      <a:pt x="208" y="343"/>
                    </a:lnTo>
                    <a:lnTo>
                      <a:pt x="211" y="340"/>
                    </a:lnTo>
                    <a:lnTo>
                      <a:pt x="184" y="326"/>
                    </a:lnTo>
                    <a:lnTo>
                      <a:pt x="184" y="313"/>
                    </a:lnTo>
                    <a:lnTo>
                      <a:pt x="205" y="299"/>
                    </a:lnTo>
                    <a:lnTo>
                      <a:pt x="184" y="285"/>
                    </a:lnTo>
                    <a:lnTo>
                      <a:pt x="184" y="272"/>
                    </a:lnTo>
                    <a:lnTo>
                      <a:pt x="205" y="255"/>
                    </a:lnTo>
                    <a:lnTo>
                      <a:pt x="208" y="228"/>
                    </a:lnTo>
                    <a:lnTo>
                      <a:pt x="232" y="228"/>
                    </a:lnTo>
                    <a:lnTo>
                      <a:pt x="232" y="192"/>
                    </a:lnTo>
                    <a:lnTo>
                      <a:pt x="247" y="192"/>
                    </a:lnTo>
                    <a:lnTo>
                      <a:pt x="247" y="159"/>
                    </a:lnTo>
                    <a:lnTo>
                      <a:pt x="263" y="159"/>
                    </a:lnTo>
                    <a:lnTo>
                      <a:pt x="270" y="144"/>
                    </a:lnTo>
                    <a:lnTo>
                      <a:pt x="303" y="144"/>
                    </a:lnTo>
                    <a:lnTo>
                      <a:pt x="303" y="130"/>
                    </a:lnTo>
                    <a:lnTo>
                      <a:pt x="328" y="130"/>
                    </a:lnTo>
                    <a:lnTo>
                      <a:pt x="328" y="67"/>
                    </a:lnTo>
                    <a:lnTo>
                      <a:pt x="303" y="67"/>
                    </a:lnTo>
                    <a:lnTo>
                      <a:pt x="303" y="57"/>
                    </a:lnTo>
                    <a:lnTo>
                      <a:pt x="276" y="57"/>
                    </a:lnTo>
                    <a:lnTo>
                      <a:pt x="269" y="53"/>
                    </a:lnTo>
                    <a:lnTo>
                      <a:pt x="262" y="43"/>
                    </a:lnTo>
                    <a:lnTo>
                      <a:pt x="247" y="43"/>
                    </a:lnTo>
                    <a:lnTo>
                      <a:pt x="209" y="0"/>
                    </a:lnTo>
                  </a:path>
                </a:pathLst>
              </a:custGeom>
              <a:solidFill>
                <a:srgbClr val="00A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sp>
            <p:nvSpPr>
              <p:cNvPr id="2076" name="Freeform 41"/>
              <p:cNvSpPr>
                <a:spLocks/>
              </p:cNvSpPr>
              <p:nvPr/>
            </p:nvSpPr>
            <p:spPr bwMode="auto">
              <a:xfrm>
                <a:off x="655" y="2687"/>
                <a:ext cx="329" cy="453"/>
              </a:xfrm>
              <a:custGeom>
                <a:avLst/>
                <a:gdLst>
                  <a:gd name="T0" fmla="*/ 210 w 329"/>
                  <a:gd name="T1" fmla="*/ 0 h 453"/>
                  <a:gd name="T2" fmla="*/ 111 w 329"/>
                  <a:gd name="T3" fmla="*/ 0 h 453"/>
                  <a:gd name="T4" fmla="*/ 130 w 329"/>
                  <a:gd name="T5" fmla="*/ 17 h 453"/>
                  <a:gd name="T6" fmla="*/ 187 w 329"/>
                  <a:gd name="T7" fmla="*/ 17 h 453"/>
                  <a:gd name="T8" fmla="*/ 209 w 329"/>
                  <a:gd name="T9" fmla="*/ 44 h 453"/>
                  <a:gd name="T10" fmla="*/ 110 w 329"/>
                  <a:gd name="T11" fmla="*/ 44 h 453"/>
                  <a:gd name="T12" fmla="*/ 130 w 329"/>
                  <a:gd name="T13" fmla="*/ 17 h 453"/>
                  <a:gd name="T14" fmla="*/ 111 w 329"/>
                  <a:gd name="T15" fmla="*/ 0 h 453"/>
                  <a:gd name="T16" fmla="*/ 76 w 329"/>
                  <a:gd name="T17" fmla="*/ 43 h 453"/>
                  <a:gd name="T18" fmla="*/ 58 w 329"/>
                  <a:gd name="T19" fmla="*/ 43 h 453"/>
                  <a:gd name="T20" fmla="*/ 51 w 329"/>
                  <a:gd name="T21" fmla="*/ 57 h 453"/>
                  <a:gd name="T22" fmla="*/ 22 w 329"/>
                  <a:gd name="T23" fmla="*/ 57 h 453"/>
                  <a:gd name="T24" fmla="*/ 21 w 329"/>
                  <a:gd name="T25" fmla="*/ 68 h 453"/>
                  <a:gd name="T26" fmla="*/ 10 w 329"/>
                  <a:gd name="T27" fmla="*/ 68 h 453"/>
                  <a:gd name="T28" fmla="*/ 0 w 329"/>
                  <a:gd name="T29" fmla="*/ 68 h 453"/>
                  <a:gd name="T30" fmla="*/ 0 w 329"/>
                  <a:gd name="T31" fmla="*/ 131 h 453"/>
                  <a:gd name="T32" fmla="*/ 22 w 329"/>
                  <a:gd name="T33" fmla="*/ 132 h 453"/>
                  <a:gd name="T34" fmla="*/ 22 w 329"/>
                  <a:gd name="T35" fmla="*/ 144 h 453"/>
                  <a:gd name="T36" fmla="*/ 50 w 329"/>
                  <a:gd name="T37" fmla="*/ 144 h 453"/>
                  <a:gd name="T38" fmla="*/ 58 w 329"/>
                  <a:gd name="T39" fmla="*/ 160 h 453"/>
                  <a:gd name="T40" fmla="*/ 73 w 329"/>
                  <a:gd name="T41" fmla="*/ 161 h 453"/>
                  <a:gd name="T42" fmla="*/ 75 w 329"/>
                  <a:gd name="T43" fmla="*/ 193 h 453"/>
                  <a:gd name="T44" fmla="*/ 85 w 329"/>
                  <a:gd name="T45" fmla="*/ 193 h 453"/>
                  <a:gd name="T46" fmla="*/ 87 w 329"/>
                  <a:gd name="T47" fmla="*/ 196 h 453"/>
                  <a:gd name="T48" fmla="*/ 87 w 329"/>
                  <a:gd name="T49" fmla="*/ 230 h 453"/>
                  <a:gd name="T50" fmla="*/ 106 w 329"/>
                  <a:gd name="T51" fmla="*/ 230 h 453"/>
                  <a:gd name="T52" fmla="*/ 105 w 329"/>
                  <a:gd name="T53" fmla="*/ 423 h 453"/>
                  <a:gd name="T54" fmla="*/ 149 w 329"/>
                  <a:gd name="T55" fmla="*/ 452 h 453"/>
                  <a:gd name="T56" fmla="*/ 205 w 329"/>
                  <a:gd name="T57" fmla="*/ 418 h 453"/>
                  <a:gd name="T58" fmla="*/ 185 w 329"/>
                  <a:gd name="T59" fmla="*/ 409 h 453"/>
                  <a:gd name="T60" fmla="*/ 185 w 329"/>
                  <a:gd name="T61" fmla="*/ 397 h 453"/>
                  <a:gd name="T62" fmla="*/ 205 w 329"/>
                  <a:gd name="T63" fmla="*/ 387 h 453"/>
                  <a:gd name="T64" fmla="*/ 185 w 329"/>
                  <a:gd name="T65" fmla="*/ 378 h 453"/>
                  <a:gd name="T66" fmla="*/ 188 w 329"/>
                  <a:gd name="T67" fmla="*/ 375 h 453"/>
                  <a:gd name="T68" fmla="*/ 205 w 329"/>
                  <a:gd name="T69" fmla="*/ 367 h 453"/>
                  <a:gd name="T70" fmla="*/ 208 w 329"/>
                  <a:gd name="T71" fmla="*/ 343 h 453"/>
                  <a:gd name="T72" fmla="*/ 211 w 329"/>
                  <a:gd name="T73" fmla="*/ 340 h 453"/>
                  <a:gd name="T74" fmla="*/ 185 w 329"/>
                  <a:gd name="T75" fmla="*/ 326 h 453"/>
                  <a:gd name="T76" fmla="*/ 185 w 329"/>
                  <a:gd name="T77" fmla="*/ 313 h 453"/>
                  <a:gd name="T78" fmla="*/ 205 w 329"/>
                  <a:gd name="T79" fmla="*/ 299 h 453"/>
                  <a:gd name="T80" fmla="*/ 185 w 329"/>
                  <a:gd name="T81" fmla="*/ 285 h 453"/>
                  <a:gd name="T82" fmla="*/ 185 w 329"/>
                  <a:gd name="T83" fmla="*/ 272 h 453"/>
                  <a:gd name="T84" fmla="*/ 205 w 329"/>
                  <a:gd name="T85" fmla="*/ 255 h 453"/>
                  <a:gd name="T86" fmla="*/ 209 w 329"/>
                  <a:gd name="T87" fmla="*/ 228 h 453"/>
                  <a:gd name="T88" fmla="*/ 233 w 329"/>
                  <a:gd name="T89" fmla="*/ 228 h 453"/>
                  <a:gd name="T90" fmla="*/ 233 w 329"/>
                  <a:gd name="T91" fmla="*/ 192 h 453"/>
                  <a:gd name="T92" fmla="*/ 247 w 329"/>
                  <a:gd name="T93" fmla="*/ 192 h 453"/>
                  <a:gd name="T94" fmla="*/ 247 w 329"/>
                  <a:gd name="T95" fmla="*/ 159 h 453"/>
                  <a:gd name="T96" fmla="*/ 263 w 329"/>
                  <a:gd name="T97" fmla="*/ 159 h 453"/>
                  <a:gd name="T98" fmla="*/ 270 w 329"/>
                  <a:gd name="T99" fmla="*/ 144 h 453"/>
                  <a:gd name="T100" fmla="*/ 303 w 329"/>
                  <a:gd name="T101" fmla="*/ 144 h 453"/>
                  <a:gd name="T102" fmla="*/ 303 w 329"/>
                  <a:gd name="T103" fmla="*/ 130 h 453"/>
                  <a:gd name="T104" fmla="*/ 328 w 329"/>
                  <a:gd name="T105" fmla="*/ 130 h 453"/>
                  <a:gd name="T106" fmla="*/ 328 w 329"/>
                  <a:gd name="T107" fmla="*/ 67 h 453"/>
                  <a:gd name="T108" fmla="*/ 303 w 329"/>
                  <a:gd name="T109" fmla="*/ 67 h 453"/>
                  <a:gd name="T110" fmla="*/ 303 w 329"/>
                  <a:gd name="T111" fmla="*/ 57 h 453"/>
                  <a:gd name="T112" fmla="*/ 276 w 329"/>
                  <a:gd name="T113" fmla="*/ 57 h 453"/>
                  <a:gd name="T114" fmla="*/ 270 w 329"/>
                  <a:gd name="T115" fmla="*/ 53 h 453"/>
                  <a:gd name="T116" fmla="*/ 263 w 329"/>
                  <a:gd name="T117" fmla="*/ 43 h 453"/>
                  <a:gd name="T118" fmla="*/ 247 w 329"/>
                  <a:gd name="T119" fmla="*/ 43 h 453"/>
                  <a:gd name="T120" fmla="*/ 210 w 329"/>
                  <a:gd name="T121" fmla="*/ 0 h 453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329"/>
                  <a:gd name="T184" fmla="*/ 0 h 453"/>
                  <a:gd name="T185" fmla="*/ 329 w 329"/>
                  <a:gd name="T186" fmla="*/ 453 h 453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329" h="453">
                    <a:moveTo>
                      <a:pt x="210" y="0"/>
                    </a:moveTo>
                    <a:lnTo>
                      <a:pt x="111" y="0"/>
                    </a:lnTo>
                    <a:lnTo>
                      <a:pt x="130" y="17"/>
                    </a:lnTo>
                    <a:lnTo>
                      <a:pt x="187" y="17"/>
                    </a:lnTo>
                    <a:lnTo>
                      <a:pt x="209" y="44"/>
                    </a:lnTo>
                    <a:lnTo>
                      <a:pt x="110" y="44"/>
                    </a:lnTo>
                    <a:lnTo>
                      <a:pt x="130" y="17"/>
                    </a:lnTo>
                    <a:lnTo>
                      <a:pt x="111" y="0"/>
                    </a:lnTo>
                    <a:lnTo>
                      <a:pt x="76" y="43"/>
                    </a:lnTo>
                    <a:lnTo>
                      <a:pt x="58" y="43"/>
                    </a:lnTo>
                    <a:lnTo>
                      <a:pt x="51" y="57"/>
                    </a:lnTo>
                    <a:lnTo>
                      <a:pt x="22" y="57"/>
                    </a:lnTo>
                    <a:lnTo>
                      <a:pt x="21" y="68"/>
                    </a:lnTo>
                    <a:lnTo>
                      <a:pt x="10" y="68"/>
                    </a:lnTo>
                    <a:lnTo>
                      <a:pt x="0" y="68"/>
                    </a:lnTo>
                    <a:lnTo>
                      <a:pt x="0" y="131"/>
                    </a:lnTo>
                    <a:lnTo>
                      <a:pt x="22" y="132"/>
                    </a:lnTo>
                    <a:lnTo>
                      <a:pt x="22" y="144"/>
                    </a:lnTo>
                    <a:lnTo>
                      <a:pt x="50" y="144"/>
                    </a:lnTo>
                    <a:lnTo>
                      <a:pt x="58" y="160"/>
                    </a:lnTo>
                    <a:lnTo>
                      <a:pt x="73" y="161"/>
                    </a:lnTo>
                    <a:lnTo>
                      <a:pt x="75" y="193"/>
                    </a:lnTo>
                    <a:lnTo>
                      <a:pt x="85" y="193"/>
                    </a:lnTo>
                    <a:lnTo>
                      <a:pt x="87" y="196"/>
                    </a:lnTo>
                    <a:lnTo>
                      <a:pt x="87" y="230"/>
                    </a:lnTo>
                    <a:lnTo>
                      <a:pt x="106" y="230"/>
                    </a:lnTo>
                    <a:lnTo>
                      <a:pt x="105" y="423"/>
                    </a:lnTo>
                    <a:lnTo>
                      <a:pt x="149" y="452"/>
                    </a:lnTo>
                    <a:lnTo>
                      <a:pt x="205" y="418"/>
                    </a:lnTo>
                    <a:lnTo>
                      <a:pt x="185" y="409"/>
                    </a:lnTo>
                    <a:lnTo>
                      <a:pt x="185" y="397"/>
                    </a:lnTo>
                    <a:lnTo>
                      <a:pt x="205" y="387"/>
                    </a:lnTo>
                    <a:lnTo>
                      <a:pt x="185" y="378"/>
                    </a:lnTo>
                    <a:lnTo>
                      <a:pt x="188" y="375"/>
                    </a:lnTo>
                    <a:lnTo>
                      <a:pt x="205" y="367"/>
                    </a:lnTo>
                    <a:lnTo>
                      <a:pt x="208" y="343"/>
                    </a:lnTo>
                    <a:lnTo>
                      <a:pt x="211" y="340"/>
                    </a:lnTo>
                    <a:lnTo>
                      <a:pt x="185" y="326"/>
                    </a:lnTo>
                    <a:lnTo>
                      <a:pt x="185" y="313"/>
                    </a:lnTo>
                    <a:lnTo>
                      <a:pt x="205" y="299"/>
                    </a:lnTo>
                    <a:lnTo>
                      <a:pt x="185" y="285"/>
                    </a:lnTo>
                    <a:lnTo>
                      <a:pt x="185" y="272"/>
                    </a:lnTo>
                    <a:lnTo>
                      <a:pt x="205" y="255"/>
                    </a:lnTo>
                    <a:lnTo>
                      <a:pt x="209" y="228"/>
                    </a:lnTo>
                    <a:lnTo>
                      <a:pt x="233" y="228"/>
                    </a:lnTo>
                    <a:lnTo>
                      <a:pt x="233" y="192"/>
                    </a:lnTo>
                    <a:lnTo>
                      <a:pt x="247" y="192"/>
                    </a:lnTo>
                    <a:lnTo>
                      <a:pt x="247" y="159"/>
                    </a:lnTo>
                    <a:lnTo>
                      <a:pt x="263" y="159"/>
                    </a:lnTo>
                    <a:lnTo>
                      <a:pt x="270" y="144"/>
                    </a:lnTo>
                    <a:lnTo>
                      <a:pt x="303" y="144"/>
                    </a:lnTo>
                    <a:lnTo>
                      <a:pt x="303" y="130"/>
                    </a:lnTo>
                    <a:lnTo>
                      <a:pt x="328" y="130"/>
                    </a:lnTo>
                    <a:lnTo>
                      <a:pt x="328" y="67"/>
                    </a:lnTo>
                    <a:lnTo>
                      <a:pt x="303" y="67"/>
                    </a:lnTo>
                    <a:lnTo>
                      <a:pt x="303" y="57"/>
                    </a:lnTo>
                    <a:lnTo>
                      <a:pt x="276" y="57"/>
                    </a:lnTo>
                    <a:lnTo>
                      <a:pt x="270" y="53"/>
                    </a:lnTo>
                    <a:lnTo>
                      <a:pt x="263" y="43"/>
                    </a:lnTo>
                    <a:lnTo>
                      <a:pt x="247" y="43"/>
                    </a:lnTo>
                    <a:lnTo>
                      <a:pt x="210" y="0"/>
                    </a:lnTo>
                  </a:path>
                </a:pathLst>
              </a:custGeom>
              <a:solidFill>
                <a:srgbClr val="438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uz-Cyrl-UZ"/>
              </a:p>
            </p:txBody>
          </p:sp>
          <p:grpSp>
            <p:nvGrpSpPr>
              <p:cNvPr id="2077" name="Group 42"/>
              <p:cNvGrpSpPr>
                <a:grpSpLocks/>
              </p:cNvGrpSpPr>
              <p:nvPr/>
            </p:nvGrpSpPr>
            <p:grpSpPr bwMode="auto">
              <a:xfrm>
                <a:off x="687" y="2760"/>
                <a:ext cx="251" cy="50"/>
                <a:chOff x="687" y="2760"/>
                <a:chExt cx="251" cy="50"/>
              </a:xfrm>
            </p:grpSpPr>
            <p:sp>
              <p:nvSpPr>
                <p:cNvPr id="2089" name="Freeform 43"/>
                <p:cNvSpPr>
                  <a:spLocks/>
                </p:cNvSpPr>
                <p:nvPr/>
              </p:nvSpPr>
              <p:spPr bwMode="auto">
                <a:xfrm>
                  <a:off x="706" y="2760"/>
                  <a:ext cx="232" cy="50"/>
                </a:xfrm>
                <a:custGeom>
                  <a:avLst/>
                  <a:gdLst>
                    <a:gd name="T0" fmla="*/ 231 w 232"/>
                    <a:gd name="T1" fmla="*/ 25 h 50"/>
                    <a:gd name="T2" fmla="*/ 210 w 232"/>
                    <a:gd name="T3" fmla="*/ 0 h 50"/>
                    <a:gd name="T4" fmla="*/ 0 w 232"/>
                    <a:gd name="T5" fmla="*/ 0 h 50"/>
                    <a:gd name="T6" fmla="*/ 1 w 232"/>
                    <a:gd name="T7" fmla="*/ 2 h 50"/>
                    <a:gd name="T8" fmla="*/ 208 w 232"/>
                    <a:gd name="T9" fmla="*/ 2 h 50"/>
                    <a:gd name="T10" fmla="*/ 226 w 232"/>
                    <a:gd name="T11" fmla="*/ 25 h 50"/>
                    <a:gd name="T12" fmla="*/ 208 w 232"/>
                    <a:gd name="T13" fmla="*/ 47 h 50"/>
                    <a:gd name="T14" fmla="*/ 212 w 232"/>
                    <a:gd name="T15" fmla="*/ 49 h 50"/>
                    <a:gd name="T16" fmla="*/ 231 w 232"/>
                    <a:gd name="T17" fmla="*/ 25 h 5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32"/>
                    <a:gd name="T28" fmla="*/ 0 h 50"/>
                    <a:gd name="T29" fmla="*/ 232 w 232"/>
                    <a:gd name="T30" fmla="*/ 50 h 50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32" h="50">
                      <a:moveTo>
                        <a:pt x="231" y="25"/>
                      </a:moveTo>
                      <a:lnTo>
                        <a:pt x="210" y="0"/>
                      </a:lnTo>
                      <a:lnTo>
                        <a:pt x="0" y="0"/>
                      </a:lnTo>
                      <a:lnTo>
                        <a:pt x="1" y="2"/>
                      </a:lnTo>
                      <a:lnTo>
                        <a:pt x="208" y="2"/>
                      </a:lnTo>
                      <a:lnTo>
                        <a:pt x="226" y="25"/>
                      </a:lnTo>
                      <a:lnTo>
                        <a:pt x="208" y="47"/>
                      </a:lnTo>
                      <a:lnTo>
                        <a:pt x="212" y="49"/>
                      </a:lnTo>
                      <a:lnTo>
                        <a:pt x="231" y="25"/>
                      </a:lnTo>
                    </a:path>
                  </a:pathLst>
                </a:custGeom>
                <a:solidFill>
                  <a:srgbClr val="31650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uz-Cyrl-UZ"/>
                </a:p>
              </p:txBody>
            </p:sp>
            <p:sp>
              <p:nvSpPr>
                <p:cNvPr id="2090" name="Freeform 44"/>
                <p:cNvSpPr>
                  <a:spLocks/>
                </p:cNvSpPr>
                <p:nvPr/>
              </p:nvSpPr>
              <p:spPr bwMode="auto">
                <a:xfrm>
                  <a:off x="687" y="2760"/>
                  <a:ext cx="231" cy="49"/>
                </a:xfrm>
                <a:custGeom>
                  <a:avLst/>
                  <a:gdLst>
                    <a:gd name="T0" fmla="*/ 0 w 231"/>
                    <a:gd name="T1" fmla="*/ 22 h 49"/>
                    <a:gd name="T2" fmla="*/ 20 w 231"/>
                    <a:gd name="T3" fmla="*/ 48 h 49"/>
                    <a:gd name="T4" fmla="*/ 230 w 231"/>
                    <a:gd name="T5" fmla="*/ 48 h 49"/>
                    <a:gd name="T6" fmla="*/ 228 w 231"/>
                    <a:gd name="T7" fmla="*/ 45 h 49"/>
                    <a:gd name="T8" fmla="*/ 22 w 231"/>
                    <a:gd name="T9" fmla="*/ 45 h 49"/>
                    <a:gd name="T10" fmla="*/ 3 w 231"/>
                    <a:gd name="T11" fmla="*/ 22 h 49"/>
                    <a:gd name="T12" fmla="*/ 21 w 231"/>
                    <a:gd name="T13" fmla="*/ 1 h 49"/>
                    <a:gd name="T14" fmla="*/ 17 w 231"/>
                    <a:gd name="T15" fmla="*/ 0 h 49"/>
                    <a:gd name="T16" fmla="*/ 0 w 231"/>
                    <a:gd name="T17" fmla="*/ 22 h 4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31"/>
                    <a:gd name="T28" fmla="*/ 0 h 49"/>
                    <a:gd name="T29" fmla="*/ 231 w 231"/>
                    <a:gd name="T30" fmla="*/ 49 h 49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31" h="49">
                      <a:moveTo>
                        <a:pt x="0" y="22"/>
                      </a:moveTo>
                      <a:lnTo>
                        <a:pt x="20" y="48"/>
                      </a:lnTo>
                      <a:lnTo>
                        <a:pt x="230" y="48"/>
                      </a:lnTo>
                      <a:lnTo>
                        <a:pt x="228" y="45"/>
                      </a:lnTo>
                      <a:lnTo>
                        <a:pt x="22" y="45"/>
                      </a:lnTo>
                      <a:lnTo>
                        <a:pt x="3" y="22"/>
                      </a:lnTo>
                      <a:lnTo>
                        <a:pt x="21" y="1"/>
                      </a:lnTo>
                      <a:lnTo>
                        <a:pt x="17" y="0"/>
                      </a:lnTo>
                      <a:lnTo>
                        <a:pt x="0" y="22"/>
                      </a:lnTo>
                    </a:path>
                  </a:pathLst>
                </a:custGeom>
                <a:solidFill>
                  <a:srgbClr val="00AE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uz-Cyrl-UZ"/>
                </a:p>
              </p:txBody>
            </p:sp>
          </p:grpSp>
          <p:sp>
            <p:nvSpPr>
              <p:cNvPr id="2078" name="Rectangle 45"/>
              <p:cNvSpPr>
                <a:spLocks noChangeArrowheads="1"/>
              </p:cNvSpPr>
              <p:nvPr/>
            </p:nvSpPr>
            <p:spPr bwMode="auto">
              <a:xfrm>
                <a:off x="679" y="2751"/>
                <a:ext cx="277" cy="16"/>
              </a:xfrm>
              <a:prstGeom prst="rect">
                <a:avLst/>
              </a:prstGeom>
              <a:solidFill>
                <a:srgbClr val="00A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sp>
            <p:nvSpPr>
              <p:cNvPr id="2079" name="Rectangle 46"/>
              <p:cNvSpPr>
                <a:spLocks noChangeArrowheads="1"/>
              </p:cNvSpPr>
              <p:nvPr/>
            </p:nvSpPr>
            <p:spPr bwMode="auto">
              <a:xfrm>
                <a:off x="712" y="2741"/>
                <a:ext cx="216" cy="16"/>
              </a:xfrm>
              <a:prstGeom prst="rect">
                <a:avLst/>
              </a:prstGeom>
              <a:solidFill>
                <a:srgbClr val="00A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uz-Cyrl-UZ"/>
              </a:p>
            </p:txBody>
          </p:sp>
          <p:grpSp>
            <p:nvGrpSpPr>
              <p:cNvPr id="2080" name="Group 47"/>
              <p:cNvGrpSpPr>
                <a:grpSpLocks/>
              </p:cNvGrpSpPr>
              <p:nvPr/>
            </p:nvGrpSpPr>
            <p:grpSpPr bwMode="auto">
              <a:xfrm>
                <a:off x="677" y="2819"/>
                <a:ext cx="279" cy="321"/>
                <a:chOff x="677" y="2819"/>
                <a:chExt cx="279" cy="321"/>
              </a:xfrm>
            </p:grpSpPr>
            <p:sp>
              <p:nvSpPr>
                <p:cNvPr id="2081" name="Freeform 48"/>
                <p:cNvSpPr>
                  <a:spLocks/>
                </p:cNvSpPr>
                <p:nvPr/>
              </p:nvSpPr>
              <p:spPr bwMode="auto">
                <a:xfrm>
                  <a:off x="824" y="2882"/>
                  <a:ext cx="17" cy="247"/>
                </a:xfrm>
                <a:custGeom>
                  <a:avLst/>
                  <a:gdLst>
                    <a:gd name="T0" fmla="*/ 0 w 17"/>
                    <a:gd name="T1" fmla="*/ 0 h 247"/>
                    <a:gd name="T2" fmla="*/ 0 w 17"/>
                    <a:gd name="T3" fmla="*/ 246 h 247"/>
                    <a:gd name="T4" fmla="*/ 16 w 17"/>
                    <a:gd name="T5" fmla="*/ 242 h 247"/>
                    <a:gd name="T6" fmla="*/ 16 w 17"/>
                    <a:gd name="T7" fmla="*/ 7 h 247"/>
                    <a:gd name="T8" fmla="*/ 0 w 17"/>
                    <a:gd name="T9" fmla="*/ 0 h 2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247"/>
                    <a:gd name="T17" fmla="*/ 17 w 17"/>
                    <a:gd name="T18" fmla="*/ 247 h 2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247">
                      <a:moveTo>
                        <a:pt x="0" y="0"/>
                      </a:moveTo>
                      <a:lnTo>
                        <a:pt x="0" y="246"/>
                      </a:lnTo>
                      <a:lnTo>
                        <a:pt x="16" y="242"/>
                      </a:lnTo>
                      <a:lnTo>
                        <a:pt x="16" y="7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AE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uz-Cyrl-UZ"/>
                </a:p>
              </p:txBody>
            </p:sp>
            <p:sp>
              <p:nvSpPr>
                <p:cNvPr id="2082" name="Freeform 49"/>
                <p:cNvSpPr>
                  <a:spLocks/>
                </p:cNvSpPr>
                <p:nvPr/>
              </p:nvSpPr>
              <p:spPr bwMode="auto">
                <a:xfrm>
                  <a:off x="785" y="2889"/>
                  <a:ext cx="17" cy="240"/>
                </a:xfrm>
                <a:custGeom>
                  <a:avLst/>
                  <a:gdLst>
                    <a:gd name="T0" fmla="*/ 5 w 17"/>
                    <a:gd name="T1" fmla="*/ 0 h 240"/>
                    <a:gd name="T2" fmla="*/ 0 w 17"/>
                    <a:gd name="T3" fmla="*/ 235 h 240"/>
                    <a:gd name="T4" fmla="*/ 16 w 17"/>
                    <a:gd name="T5" fmla="*/ 239 h 240"/>
                    <a:gd name="T6" fmla="*/ 16 w 17"/>
                    <a:gd name="T7" fmla="*/ 19 h 240"/>
                    <a:gd name="T8" fmla="*/ 5 w 17"/>
                    <a:gd name="T9" fmla="*/ 0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"/>
                    <a:gd name="T16" fmla="*/ 0 h 240"/>
                    <a:gd name="T17" fmla="*/ 17 w 17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" h="240">
                      <a:moveTo>
                        <a:pt x="5" y="0"/>
                      </a:moveTo>
                      <a:lnTo>
                        <a:pt x="0" y="235"/>
                      </a:lnTo>
                      <a:lnTo>
                        <a:pt x="16" y="239"/>
                      </a:lnTo>
                      <a:lnTo>
                        <a:pt x="16" y="19"/>
                      </a:lnTo>
                      <a:lnTo>
                        <a:pt x="5" y="0"/>
                      </a:lnTo>
                    </a:path>
                  </a:pathLst>
                </a:custGeom>
                <a:solidFill>
                  <a:srgbClr val="00AE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uz-Cyrl-UZ"/>
                </a:p>
              </p:txBody>
            </p:sp>
            <p:grpSp>
              <p:nvGrpSpPr>
                <p:cNvPr id="2083" name="Group 50"/>
                <p:cNvGrpSpPr>
                  <a:grpSpLocks/>
                </p:cNvGrpSpPr>
                <p:nvPr/>
              </p:nvGrpSpPr>
              <p:grpSpPr bwMode="auto">
                <a:xfrm>
                  <a:off x="677" y="2819"/>
                  <a:ext cx="279" cy="321"/>
                  <a:chOff x="677" y="2819"/>
                  <a:chExt cx="279" cy="321"/>
                </a:xfrm>
              </p:grpSpPr>
              <p:sp>
                <p:nvSpPr>
                  <p:cNvPr id="2084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677" y="2819"/>
                    <a:ext cx="279" cy="16"/>
                  </a:xfrm>
                  <a:prstGeom prst="rect">
                    <a:avLst/>
                  </a:prstGeom>
                  <a:solidFill>
                    <a:srgbClr val="31650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uz-Cyrl-UZ"/>
                  </a:p>
                </p:txBody>
              </p:sp>
              <p:sp>
                <p:nvSpPr>
                  <p:cNvPr id="2085" name="Rectangle 52"/>
                  <p:cNvSpPr>
                    <a:spLocks noChangeArrowheads="1"/>
                  </p:cNvSpPr>
                  <p:nvPr/>
                </p:nvSpPr>
                <p:spPr bwMode="auto">
                  <a:xfrm>
                    <a:off x="730" y="2849"/>
                    <a:ext cx="168" cy="16"/>
                  </a:xfrm>
                  <a:prstGeom prst="rect">
                    <a:avLst/>
                  </a:prstGeom>
                  <a:solidFill>
                    <a:srgbClr val="31650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uz-Cyrl-UZ"/>
                  </a:p>
                </p:txBody>
              </p:sp>
              <p:sp>
                <p:nvSpPr>
                  <p:cNvPr id="2086" name="Freeform 53"/>
                  <p:cNvSpPr>
                    <a:spLocks/>
                  </p:cNvSpPr>
                  <p:nvPr/>
                </p:nvSpPr>
                <p:spPr bwMode="auto">
                  <a:xfrm>
                    <a:off x="786" y="2889"/>
                    <a:ext cx="18" cy="251"/>
                  </a:xfrm>
                  <a:custGeom>
                    <a:avLst/>
                    <a:gdLst>
                      <a:gd name="T0" fmla="*/ 0 w 18"/>
                      <a:gd name="T1" fmla="*/ 0 h 251"/>
                      <a:gd name="T2" fmla="*/ 4 w 18"/>
                      <a:gd name="T3" fmla="*/ 16 h 251"/>
                      <a:gd name="T4" fmla="*/ 10 w 18"/>
                      <a:gd name="T5" fmla="*/ 30 h 251"/>
                      <a:gd name="T6" fmla="*/ 10 w 18"/>
                      <a:gd name="T7" fmla="*/ 245 h 251"/>
                      <a:gd name="T8" fmla="*/ 15 w 18"/>
                      <a:gd name="T9" fmla="*/ 250 h 251"/>
                      <a:gd name="T10" fmla="*/ 17 w 18"/>
                      <a:gd name="T11" fmla="*/ 26 h 251"/>
                      <a:gd name="T12" fmla="*/ 0 w 18"/>
                      <a:gd name="T13" fmla="*/ 0 h 251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18"/>
                      <a:gd name="T22" fmla="*/ 0 h 251"/>
                      <a:gd name="T23" fmla="*/ 18 w 18"/>
                      <a:gd name="T24" fmla="*/ 251 h 251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18" h="251">
                        <a:moveTo>
                          <a:pt x="0" y="0"/>
                        </a:moveTo>
                        <a:lnTo>
                          <a:pt x="4" y="16"/>
                        </a:lnTo>
                        <a:lnTo>
                          <a:pt x="10" y="30"/>
                        </a:lnTo>
                        <a:lnTo>
                          <a:pt x="10" y="245"/>
                        </a:lnTo>
                        <a:lnTo>
                          <a:pt x="15" y="250"/>
                        </a:lnTo>
                        <a:lnTo>
                          <a:pt x="17" y="26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31650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uz-Cyrl-UZ"/>
                  </a:p>
                </p:txBody>
              </p:sp>
              <p:sp>
                <p:nvSpPr>
                  <p:cNvPr id="2087" name="Freeform 54"/>
                  <p:cNvSpPr>
                    <a:spLocks/>
                  </p:cNvSpPr>
                  <p:nvPr/>
                </p:nvSpPr>
                <p:spPr bwMode="auto">
                  <a:xfrm>
                    <a:off x="740" y="2880"/>
                    <a:ext cx="147" cy="35"/>
                  </a:xfrm>
                  <a:custGeom>
                    <a:avLst/>
                    <a:gdLst>
                      <a:gd name="T0" fmla="*/ 121 w 147"/>
                      <a:gd name="T1" fmla="*/ 34 h 35"/>
                      <a:gd name="T2" fmla="*/ 131 w 147"/>
                      <a:gd name="T3" fmla="*/ 26 h 35"/>
                      <a:gd name="T4" fmla="*/ 131 w 147"/>
                      <a:gd name="T5" fmla="*/ 3 h 35"/>
                      <a:gd name="T6" fmla="*/ 146 w 147"/>
                      <a:gd name="T7" fmla="*/ 3 h 35"/>
                      <a:gd name="T8" fmla="*/ 146 w 147"/>
                      <a:gd name="T9" fmla="*/ 0 h 35"/>
                      <a:gd name="T10" fmla="*/ 0 w 147"/>
                      <a:gd name="T11" fmla="*/ 0 h 35"/>
                      <a:gd name="T12" fmla="*/ 3 w 147"/>
                      <a:gd name="T13" fmla="*/ 3 h 35"/>
                      <a:gd name="T14" fmla="*/ 82 w 147"/>
                      <a:gd name="T15" fmla="*/ 3 h 35"/>
                      <a:gd name="T16" fmla="*/ 89 w 147"/>
                      <a:gd name="T17" fmla="*/ 10 h 35"/>
                      <a:gd name="T18" fmla="*/ 118 w 147"/>
                      <a:gd name="T19" fmla="*/ 10 h 35"/>
                      <a:gd name="T20" fmla="*/ 121 w 147"/>
                      <a:gd name="T21" fmla="*/ 34 h 35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147"/>
                      <a:gd name="T34" fmla="*/ 0 h 35"/>
                      <a:gd name="T35" fmla="*/ 147 w 147"/>
                      <a:gd name="T36" fmla="*/ 35 h 35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147" h="35">
                        <a:moveTo>
                          <a:pt x="121" y="34"/>
                        </a:moveTo>
                        <a:lnTo>
                          <a:pt x="131" y="26"/>
                        </a:lnTo>
                        <a:lnTo>
                          <a:pt x="131" y="3"/>
                        </a:lnTo>
                        <a:lnTo>
                          <a:pt x="146" y="3"/>
                        </a:lnTo>
                        <a:lnTo>
                          <a:pt x="146" y="0"/>
                        </a:lnTo>
                        <a:lnTo>
                          <a:pt x="0" y="0"/>
                        </a:lnTo>
                        <a:lnTo>
                          <a:pt x="3" y="3"/>
                        </a:lnTo>
                        <a:lnTo>
                          <a:pt x="82" y="3"/>
                        </a:lnTo>
                        <a:lnTo>
                          <a:pt x="89" y="10"/>
                        </a:lnTo>
                        <a:lnTo>
                          <a:pt x="118" y="10"/>
                        </a:lnTo>
                        <a:lnTo>
                          <a:pt x="121" y="34"/>
                        </a:lnTo>
                      </a:path>
                    </a:pathLst>
                  </a:custGeom>
                  <a:solidFill>
                    <a:srgbClr val="31650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uz-Cyrl-UZ"/>
                  </a:p>
                </p:txBody>
              </p:sp>
              <p:sp>
                <p:nvSpPr>
                  <p:cNvPr id="2088" name="Freeform 55"/>
                  <p:cNvSpPr>
                    <a:spLocks/>
                  </p:cNvSpPr>
                  <p:nvPr/>
                </p:nvSpPr>
                <p:spPr bwMode="auto">
                  <a:xfrm>
                    <a:off x="705" y="2832"/>
                    <a:ext cx="221" cy="17"/>
                  </a:xfrm>
                  <a:custGeom>
                    <a:avLst/>
                    <a:gdLst>
                      <a:gd name="T0" fmla="*/ 220 w 221"/>
                      <a:gd name="T1" fmla="*/ 0 h 17"/>
                      <a:gd name="T2" fmla="*/ 0 w 221"/>
                      <a:gd name="T3" fmla="*/ 0 h 17"/>
                      <a:gd name="T4" fmla="*/ 2 w 221"/>
                      <a:gd name="T5" fmla="*/ 16 h 17"/>
                      <a:gd name="T6" fmla="*/ 218 w 221"/>
                      <a:gd name="T7" fmla="*/ 16 h 17"/>
                      <a:gd name="T8" fmla="*/ 220 w 221"/>
                      <a:gd name="T9" fmla="*/ 0 h 1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"/>
                      <a:gd name="T16" fmla="*/ 0 h 17"/>
                      <a:gd name="T17" fmla="*/ 221 w 221"/>
                      <a:gd name="T18" fmla="*/ 17 h 1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" h="17">
                        <a:moveTo>
                          <a:pt x="220" y="0"/>
                        </a:moveTo>
                        <a:lnTo>
                          <a:pt x="0" y="0"/>
                        </a:lnTo>
                        <a:lnTo>
                          <a:pt x="2" y="16"/>
                        </a:lnTo>
                        <a:lnTo>
                          <a:pt x="218" y="16"/>
                        </a:lnTo>
                        <a:lnTo>
                          <a:pt x="220" y="0"/>
                        </a:lnTo>
                      </a:path>
                    </a:pathLst>
                  </a:custGeom>
                  <a:solidFill>
                    <a:srgbClr val="31650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uz-Cyrl-UZ"/>
                  </a:p>
                </p:txBody>
              </p:sp>
            </p:grpSp>
          </p:grpSp>
        </p:grpSp>
        <p:sp>
          <p:nvSpPr>
            <p:cNvPr id="2072" name="Rectangle 56"/>
            <p:cNvSpPr>
              <a:spLocks noChangeArrowheads="1"/>
            </p:cNvSpPr>
            <p:nvPr/>
          </p:nvSpPr>
          <p:spPr bwMode="auto">
            <a:xfrm>
              <a:off x="3351" y="3059"/>
              <a:ext cx="1089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/>
              <a:r>
                <a:rPr lang="uz-Cyrl-UZ" sz="900" b="1">
                  <a:solidFill>
                    <a:schemeClr val="accent2"/>
                  </a:solidFill>
                </a:rPr>
                <a:t>Рақамли конверт қаб.қил ОК орқали шифрланган “сеанс калити” дан иборат</a:t>
              </a:r>
              <a:endParaRPr lang="en-US" sz="900" b="1">
                <a:solidFill>
                  <a:schemeClr val="accent2"/>
                </a:solidFill>
              </a:endParaRPr>
            </a:p>
          </p:txBody>
        </p:sp>
        <p:sp>
          <p:nvSpPr>
            <p:cNvPr id="2073" name="Rectangle 57"/>
            <p:cNvSpPr>
              <a:spLocks noChangeArrowheads="1"/>
            </p:cNvSpPr>
            <p:nvPr/>
          </p:nvSpPr>
          <p:spPr bwMode="auto">
            <a:xfrm>
              <a:off x="4729" y="3630"/>
              <a:ext cx="908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/>
            <a:p>
              <a:pPr algn="ctr" eaLnBrk="0" hangingPunct="0"/>
              <a:r>
                <a:rPr lang="uz-Cyrl-UZ" sz="900" b="1">
                  <a:solidFill>
                    <a:schemeClr val="accent2"/>
                  </a:solidFill>
                </a:rPr>
                <a:t>“Сеанс калити” қабул қилувчи ёпиқ калити орқали дешифрланади</a:t>
              </a:r>
              <a:endParaRPr lang="en-US" sz="900" b="1">
                <a:solidFill>
                  <a:schemeClr val="accent2"/>
                </a:solidFill>
              </a:endParaRPr>
            </a:p>
          </p:txBody>
        </p:sp>
        <p:sp>
          <p:nvSpPr>
            <p:cNvPr id="2074" name="Oval 76"/>
            <p:cNvSpPr>
              <a:spLocks noChangeArrowheads="1"/>
            </p:cNvSpPr>
            <p:nvPr/>
          </p:nvSpPr>
          <p:spPr bwMode="auto">
            <a:xfrm>
              <a:off x="3452" y="3430"/>
              <a:ext cx="1014" cy="473"/>
            </a:xfrm>
            <a:prstGeom prst="ellipse">
              <a:avLst/>
            </a:prstGeom>
            <a:solidFill>
              <a:srgbClr val="FFFF99"/>
            </a:solidFill>
            <a:ln w="12700">
              <a:solidFill>
                <a:schemeClr val="bg2"/>
              </a:solidFill>
              <a:round/>
              <a:headEnd type="none" w="sm" len="sm"/>
              <a:tailEnd type="none" w="sm" len="sm"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uz-Cyrl-UZ" sz="1000" b="1">
                  <a:solidFill>
                    <a:schemeClr val="accent2"/>
                  </a:solidFill>
                </a:rPr>
                <a:t>Сеанс калитини</a:t>
              </a:r>
            </a:p>
            <a:p>
              <a:pPr algn="ctr" eaLnBrk="0" hangingPunct="0"/>
              <a:r>
                <a:rPr lang="ru-RU" sz="1000" b="1">
                  <a:solidFill>
                    <a:schemeClr val="accent2"/>
                  </a:solidFill>
                </a:rPr>
                <a:t>а</a:t>
              </a:r>
              <a:r>
                <a:rPr lang="uz-Cyrl-UZ" sz="1000" b="1">
                  <a:solidFill>
                    <a:schemeClr val="accent2"/>
                  </a:solidFill>
                </a:rPr>
                <a:t>симметрик </a:t>
              </a:r>
            </a:p>
            <a:p>
              <a:pPr algn="ctr" eaLnBrk="0" hangingPunct="0"/>
              <a:r>
                <a:rPr lang="uz-Cyrl-UZ" sz="1000" b="1">
                  <a:solidFill>
                    <a:schemeClr val="accent2"/>
                  </a:solidFill>
                </a:rPr>
                <a:t>дешифрлаш</a:t>
              </a:r>
              <a:endParaRPr lang="en-US" sz="1000" b="1">
                <a:solidFill>
                  <a:schemeClr val="accent2"/>
                </a:solidFill>
              </a:endParaRPr>
            </a:p>
          </p:txBody>
        </p:sp>
      </p:grpSp>
      <p:sp>
        <p:nvSpPr>
          <p:cNvPr id="45134" name="Rectangle 78"/>
          <p:cNvSpPr>
            <a:spLocks noChangeArrowheads="1"/>
          </p:cNvSpPr>
          <p:nvPr/>
        </p:nvSpPr>
        <p:spPr bwMode="auto">
          <a:xfrm>
            <a:off x="5724525" y="3702050"/>
            <a:ext cx="1944688" cy="396875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uz-Cyrl-UZ" sz="2000" b="1">
                <a:solidFill>
                  <a:srgbClr val="990000"/>
                </a:solidFill>
              </a:rPr>
              <a:t>Дешифрлаш</a:t>
            </a:r>
            <a:endParaRPr lang="en-US" sz="2000" b="1">
              <a:solidFill>
                <a:srgbClr val="990000"/>
              </a:solidFill>
            </a:endParaRPr>
          </a:p>
        </p:txBody>
      </p:sp>
      <p:sp>
        <p:nvSpPr>
          <p:cNvPr id="45135" name="Rectangle 79"/>
          <p:cNvSpPr>
            <a:spLocks noChangeArrowheads="1"/>
          </p:cNvSpPr>
          <p:nvPr/>
        </p:nvSpPr>
        <p:spPr bwMode="auto">
          <a:xfrm>
            <a:off x="1331913" y="908050"/>
            <a:ext cx="1944687" cy="396875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uz-Cyrl-UZ" sz="2000" b="1">
                <a:solidFill>
                  <a:srgbClr val="990000"/>
                </a:solidFill>
              </a:rPr>
              <a:t>Шифрлаш</a:t>
            </a:r>
            <a:endParaRPr lang="en-US" sz="2000" b="1">
              <a:solidFill>
                <a:srgbClr val="990000"/>
              </a:solidFill>
            </a:endParaRPr>
          </a:p>
        </p:txBody>
      </p:sp>
      <p:sp>
        <p:nvSpPr>
          <p:cNvPr id="45136" name="Rectangle 80"/>
          <p:cNvSpPr>
            <a:spLocks noChangeArrowheads="1"/>
          </p:cNvSpPr>
          <p:nvPr/>
        </p:nvSpPr>
        <p:spPr bwMode="auto">
          <a:xfrm>
            <a:off x="5219700" y="1628775"/>
            <a:ext cx="3455988" cy="16002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19050">
            <a:solidFill>
              <a:srgbClr val="990000"/>
            </a:solidFill>
            <a:prstDash val="dash"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just" eaLnBrk="0" hangingPunct="0"/>
            <a:r>
              <a:rPr lang="uz-Cyrl-UZ" sz="1400"/>
              <a:t>Қабул қилувчи очиқ ва ёпиқ калитлари сифатида ЭРИ очиқ ва ёпиқ калитлари ишлатилади.</a:t>
            </a:r>
          </a:p>
          <a:p>
            <a:pPr algn="just" eaLnBrk="0" hangingPunct="0"/>
            <a:r>
              <a:rPr lang="uz-Cyrl-UZ" sz="1400"/>
              <a:t>Сеанс калити генерация қилинишида тасодифий ёки псевдотасодифий сонларни генерация қилувчи генераторлардан фойдаланилади.</a:t>
            </a:r>
            <a:endParaRPr lang="en-US" sz="1400"/>
          </a:p>
        </p:txBody>
      </p:sp>
      <p:sp>
        <p:nvSpPr>
          <p:cNvPr id="45137" name="Rectangle 81"/>
          <p:cNvSpPr>
            <a:spLocks noChangeArrowheads="1"/>
          </p:cNvSpPr>
          <p:nvPr/>
        </p:nvSpPr>
        <p:spPr bwMode="auto">
          <a:xfrm>
            <a:off x="395288" y="4437063"/>
            <a:ext cx="3384550" cy="117475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19050">
            <a:solidFill>
              <a:srgbClr val="990000"/>
            </a:solidFill>
            <a:prstDash val="dash"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0" hangingPunct="0"/>
            <a:r>
              <a:rPr lang="uz-Cyrl-UZ" sz="1400" b="1"/>
              <a:t>Симметрик шифрлашда ГОСТ 28147-89 алгоритмидан,</a:t>
            </a:r>
          </a:p>
          <a:p>
            <a:pPr eaLnBrk="0" hangingPunct="0"/>
            <a:r>
              <a:rPr lang="uz-Cyrl-UZ" sz="1400" b="1"/>
              <a:t>Асимметрик шифрлашда </a:t>
            </a:r>
          </a:p>
          <a:p>
            <a:pPr eaLnBrk="0" hangingPunct="0"/>
            <a:r>
              <a:rPr lang="en-US" sz="1400" b="1"/>
              <a:t>RSA, DSA </a:t>
            </a:r>
            <a:r>
              <a:rPr lang="ru-RU" sz="1400" b="1"/>
              <a:t>ва </a:t>
            </a:r>
            <a:r>
              <a:rPr lang="uz-Cyrl-UZ" sz="1400" b="1"/>
              <a:t>Эл-Гамал алгоритмидан фойдаланилади.</a:t>
            </a:r>
            <a:endParaRPr lang="en-US" sz="1400" b="1"/>
          </a:p>
        </p:txBody>
      </p:sp>
      <p:sp>
        <p:nvSpPr>
          <p:cNvPr id="2065" name="Rectangle 16"/>
          <p:cNvSpPr>
            <a:spLocks noChangeArrowheads="1"/>
          </p:cNvSpPr>
          <p:nvPr/>
        </p:nvSpPr>
        <p:spPr bwMode="auto">
          <a:xfrm>
            <a:off x="179388" y="981075"/>
            <a:ext cx="8713787" cy="5616575"/>
          </a:xfrm>
          <a:prstGeom prst="rect">
            <a:avLst/>
          </a:prstGeom>
          <a:noFill/>
          <a:ln w="76200" cmpd="tri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2066" name="Rectangle 89"/>
          <p:cNvSpPr>
            <a:spLocks noGrp="1" noChangeArrowheads="1"/>
          </p:cNvSpPr>
          <p:nvPr>
            <p:ph type="title"/>
          </p:nvPr>
        </p:nvSpPr>
        <p:spPr>
          <a:xfrm>
            <a:off x="2268538" y="187325"/>
            <a:ext cx="6696075" cy="433388"/>
          </a:xfrm>
          <a:noFill/>
        </p:spPr>
        <p:txBody>
          <a:bodyPr/>
          <a:lstStyle/>
          <a:p>
            <a:pPr eaLnBrk="1" hangingPunct="1"/>
            <a:r>
              <a:rPr lang="uz-Cyrl-UZ" sz="2400" b="1" smtClean="0">
                <a:solidFill>
                  <a:schemeClr val="bg1"/>
                </a:solidFill>
              </a:rPr>
              <a:t>Хужжатни шифрлаш ва дешифрлаш жараёни</a:t>
            </a:r>
            <a:endParaRPr lang="en-US" sz="2400" b="1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5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5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5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5" dur="80"/>
                                        <p:tgtEl>
                                          <p:spTgt spid="451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6" dur="80"/>
                                        <p:tgtEl>
                                          <p:spTgt spid="451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80"/>
                                        <p:tgtEl>
                                          <p:spTgt spid="451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0" dur="80"/>
                                        <p:tgtEl>
                                          <p:spTgt spid="451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1" dur="80"/>
                                        <p:tgtEl>
                                          <p:spTgt spid="451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80"/>
                                        <p:tgtEl>
                                          <p:spTgt spid="451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animBg="1"/>
      <p:bldP spid="45115" grpId="0" animBg="1"/>
      <p:bldP spid="45134" grpId="0" animBg="1"/>
      <p:bldP spid="45135" grpId="0" animBg="1"/>
      <p:bldP spid="45136" grpId="0" animBg="1"/>
      <p:bldP spid="451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8"/>
          <p:cNvSpPr>
            <a:spLocks noChangeArrowheads="1"/>
          </p:cNvSpPr>
          <p:nvPr/>
        </p:nvSpPr>
        <p:spPr bwMode="auto">
          <a:xfrm>
            <a:off x="4427538" y="981075"/>
            <a:ext cx="4465637" cy="5616575"/>
          </a:xfrm>
          <a:prstGeom prst="rect">
            <a:avLst/>
          </a:prstGeom>
          <a:solidFill>
            <a:srgbClr val="FFFFEF"/>
          </a:solidFill>
          <a:ln w="28575">
            <a:solidFill>
              <a:srgbClr val="990000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uz-Cyrl-UZ"/>
          </a:p>
        </p:txBody>
      </p:sp>
      <p:sp>
        <p:nvSpPr>
          <p:cNvPr id="8195" name="Rectangle 57"/>
          <p:cNvSpPr>
            <a:spLocks noChangeArrowheads="1"/>
          </p:cNvSpPr>
          <p:nvPr/>
        </p:nvSpPr>
        <p:spPr bwMode="auto">
          <a:xfrm>
            <a:off x="179388" y="981075"/>
            <a:ext cx="4032250" cy="5616575"/>
          </a:xfrm>
          <a:prstGeom prst="rect">
            <a:avLst/>
          </a:prstGeom>
          <a:solidFill>
            <a:srgbClr val="FFFFEF"/>
          </a:solidFill>
          <a:ln w="28575">
            <a:solidFill>
              <a:srgbClr val="990000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uz-Cyrl-UZ"/>
          </a:p>
        </p:txBody>
      </p:sp>
      <p:grpSp>
        <p:nvGrpSpPr>
          <p:cNvPr id="2" name="Group 67"/>
          <p:cNvGrpSpPr>
            <a:grpSpLocks/>
          </p:cNvGrpSpPr>
          <p:nvPr/>
        </p:nvGrpSpPr>
        <p:grpSpPr bwMode="auto">
          <a:xfrm>
            <a:off x="958850" y="4546600"/>
            <a:ext cx="1871663" cy="792163"/>
            <a:chOff x="604" y="2864"/>
            <a:chExt cx="1179" cy="499"/>
          </a:xfrm>
        </p:grpSpPr>
        <p:sp>
          <p:nvSpPr>
            <p:cNvPr id="8247" name="Rectangle 12"/>
            <p:cNvSpPr>
              <a:spLocks noChangeArrowheads="1"/>
            </p:cNvSpPr>
            <p:nvPr/>
          </p:nvSpPr>
          <p:spPr bwMode="auto">
            <a:xfrm>
              <a:off x="604" y="3014"/>
              <a:ext cx="1179" cy="211"/>
            </a:xfrm>
            <a:prstGeom prst="rect">
              <a:avLst/>
            </a:prstGeom>
            <a:solidFill>
              <a:srgbClr val="C5E2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</a:rPr>
                <a:t>M</a:t>
              </a:r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</a:t>
              </a:r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</a:rPr>
                <a:t>P</a:t>
              </a:r>
              <a:r>
                <a:rPr lang="ru-RU" sz="1600" b="1" baseline="-2500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</a:rPr>
                <a:t>=M’</a:t>
              </a:r>
              <a:endParaRPr lang="ru-RU" sz="1600" b="1">
                <a:latin typeface="Times New Roman" pitchFamily="18" charset="0"/>
              </a:endParaRPr>
            </a:p>
          </p:txBody>
        </p:sp>
        <p:sp>
          <p:nvSpPr>
            <p:cNvPr id="8248" name="Line 16"/>
            <p:cNvSpPr>
              <a:spLocks noChangeShapeType="1"/>
            </p:cNvSpPr>
            <p:nvPr/>
          </p:nvSpPr>
          <p:spPr bwMode="auto">
            <a:xfrm>
              <a:off x="1194" y="2864"/>
              <a:ext cx="0" cy="1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8249" name="Line 21"/>
            <p:cNvSpPr>
              <a:spLocks noChangeShapeType="1"/>
            </p:cNvSpPr>
            <p:nvPr/>
          </p:nvSpPr>
          <p:spPr bwMode="auto">
            <a:xfrm>
              <a:off x="1194" y="3227"/>
              <a:ext cx="0" cy="1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3" name="Group 66"/>
          <p:cNvGrpSpPr>
            <a:grpSpLocks/>
          </p:cNvGrpSpPr>
          <p:nvPr/>
        </p:nvGrpSpPr>
        <p:grpSpPr bwMode="auto">
          <a:xfrm>
            <a:off x="958850" y="2708275"/>
            <a:ext cx="2389188" cy="1838325"/>
            <a:chOff x="604" y="1706"/>
            <a:chExt cx="1505" cy="1158"/>
          </a:xfrm>
        </p:grpSpPr>
        <p:sp>
          <p:nvSpPr>
            <p:cNvPr id="8244" name="Freeform 13"/>
            <p:cNvSpPr>
              <a:spLocks/>
            </p:cNvSpPr>
            <p:nvPr/>
          </p:nvSpPr>
          <p:spPr bwMode="auto">
            <a:xfrm>
              <a:off x="1496" y="1706"/>
              <a:ext cx="613" cy="953"/>
            </a:xfrm>
            <a:custGeom>
              <a:avLst/>
              <a:gdLst>
                <a:gd name="T0" fmla="*/ 0 w 613"/>
                <a:gd name="T1" fmla="*/ 2 h 1430"/>
                <a:gd name="T2" fmla="*/ 610 w 613"/>
                <a:gd name="T3" fmla="*/ 0 h 1430"/>
                <a:gd name="T4" fmla="*/ 613 w 613"/>
                <a:gd name="T5" fmla="*/ 1430 h 1430"/>
                <a:gd name="T6" fmla="*/ 288 w 613"/>
                <a:gd name="T7" fmla="*/ 1430 h 14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3"/>
                <a:gd name="T13" fmla="*/ 0 h 1430"/>
                <a:gd name="T14" fmla="*/ 613 w 613"/>
                <a:gd name="T15" fmla="*/ 1430 h 14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3" h="1430">
                  <a:moveTo>
                    <a:pt x="0" y="2"/>
                  </a:moveTo>
                  <a:lnTo>
                    <a:pt x="610" y="0"/>
                  </a:lnTo>
                  <a:lnTo>
                    <a:pt x="613" y="1430"/>
                  </a:lnTo>
                  <a:lnTo>
                    <a:pt x="288" y="143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8245" name="Rectangle 10"/>
            <p:cNvSpPr>
              <a:spLocks noChangeArrowheads="1"/>
            </p:cNvSpPr>
            <p:nvPr/>
          </p:nvSpPr>
          <p:spPr bwMode="auto">
            <a:xfrm>
              <a:off x="604" y="2475"/>
              <a:ext cx="1179" cy="389"/>
            </a:xfrm>
            <a:prstGeom prst="rect">
              <a:avLst/>
            </a:prstGeom>
            <a:solidFill>
              <a:srgbClr val="C5E2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</a:rPr>
                <a:t>(r</a:t>
              </a:r>
              <a:r>
                <a:rPr lang="ru-RU" sz="1600" b="1" baseline="-2500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</a:rPr>
                <a:t>; </a:t>
              </a:r>
              <a:r>
                <a:rPr lang="en-US" sz="1600" b="1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ru-RU" sz="1600" b="1" baseline="-2500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</a:rPr>
                <a:t>) = P</a:t>
              </a:r>
              <a:r>
                <a:rPr lang="ru-RU" sz="1600" b="1" baseline="-2500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uz-Cyrl-UZ" sz="1600" b="1" baseline="-25000">
                  <a:solidFill>
                    <a:srgbClr val="000000"/>
                  </a:solidFill>
                  <a:latin typeface="Times New Roman" pitchFamily="18" charset="0"/>
                </a:rPr>
                <a:t> ,</a:t>
              </a:r>
              <a:r>
                <a:rPr lang="ru-RU" sz="1600" b="1" baseline="-25000">
                  <a:latin typeface="Times New Roman" pitchFamily="18" charset="0"/>
                </a:rPr>
                <a:t> </a:t>
              </a:r>
            </a:p>
            <a:p>
              <a:pPr algn="ctr"/>
              <a:r>
                <a:rPr lang="en-US" sz="1600" b="1">
                  <a:latin typeface="Times New Roman" pitchFamily="18" charset="0"/>
                </a:rPr>
                <a:t>DSA</a:t>
              </a:r>
              <a:endParaRPr lang="ru-RU" sz="1600" b="1">
                <a:latin typeface="Times New Roman" pitchFamily="18" charset="0"/>
              </a:endParaRPr>
            </a:p>
          </p:txBody>
        </p:sp>
        <p:sp>
          <p:nvSpPr>
            <p:cNvPr id="8246" name="Line 15"/>
            <p:cNvSpPr>
              <a:spLocks noChangeShapeType="1"/>
            </p:cNvSpPr>
            <p:nvPr/>
          </p:nvSpPr>
          <p:spPr bwMode="auto">
            <a:xfrm>
              <a:off x="1194" y="2229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4" name="Group 65"/>
          <p:cNvGrpSpPr>
            <a:grpSpLocks/>
          </p:cNvGrpSpPr>
          <p:nvPr/>
        </p:nvGrpSpPr>
        <p:grpSpPr bwMode="auto">
          <a:xfrm>
            <a:off x="661988" y="1811338"/>
            <a:ext cx="2447925" cy="1727200"/>
            <a:chOff x="417" y="1141"/>
            <a:chExt cx="1542" cy="1088"/>
          </a:xfrm>
        </p:grpSpPr>
        <p:sp>
          <p:nvSpPr>
            <p:cNvPr id="8239" name="Rectangle 9"/>
            <p:cNvSpPr>
              <a:spLocks noChangeArrowheads="1"/>
            </p:cNvSpPr>
            <p:nvPr/>
          </p:nvSpPr>
          <p:spPr bwMode="auto">
            <a:xfrm>
              <a:off x="417" y="1968"/>
              <a:ext cx="1542" cy="261"/>
            </a:xfrm>
            <a:prstGeom prst="rect">
              <a:avLst/>
            </a:prstGeom>
            <a:solidFill>
              <a:srgbClr val="C5E2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>
                  <a:latin typeface="Times New Roman" pitchFamily="18" charset="0"/>
                </a:rPr>
                <a:t>h(M)</a:t>
              </a:r>
              <a:r>
                <a:rPr lang="ru-RU" sz="1600" b="1">
                  <a:latin typeface="Times New Roman" pitchFamily="18" charset="0"/>
                </a:rPr>
                <a:t>, </a:t>
              </a:r>
              <a:r>
                <a:rPr lang="en-US" sz="1600" b="1">
                  <a:latin typeface="Times New Roman" pitchFamily="18" charset="0"/>
                </a:rPr>
                <a:t>SHA-1</a:t>
              </a:r>
              <a:r>
                <a:rPr lang="ru-RU" sz="1600" b="1">
                  <a:latin typeface="Times New Roman" pitchFamily="18" charset="0"/>
                </a:rPr>
                <a:t> </a:t>
              </a:r>
              <a:r>
                <a:rPr lang="en-US" sz="1600" b="1">
                  <a:latin typeface="Times New Roman" pitchFamily="18" charset="0"/>
                </a:rPr>
                <a:t> </a:t>
              </a:r>
              <a:endParaRPr lang="ru-RU" sz="1600" b="1">
                <a:latin typeface="Times New Roman" pitchFamily="18" charset="0"/>
              </a:endParaRPr>
            </a:p>
          </p:txBody>
        </p:sp>
        <p:sp>
          <p:nvSpPr>
            <p:cNvPr id="8240" name="AutoShape 7"/>
            <p:cNvSpPr>
              <a:spLocks noChangeArrowheads="1"/>
            </p:cNvSpPr>
            <p:nvPr/>
          </p:nvSpPr>
          <p:spPr bwMode="auto">
            <a:xfrm>
              <a:off x="657" y="1141"/>
              <a:ext cx="1043" cy="234"/>
            </a:xfrm>
            <a:prstGeom prst="flowChartTerminator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uz-Cyrl-UZ" sz="1600" b="1">
                  <a:latin typeface="Times New Roman" pitchFamily="18" charset="0"/>
                </a:rPr>
                <a:t>Б</a:t>
              </a:r>
              <a:r>
                <a:rPr lang="ru-RU" sz="1600" b="1">
                  <a:latin typeface="Times New Roman" pitchFamily="18" charset="0"/>
                </a:rPr>
                <a:t>ошлаш</a:t>
              </a:r>
            </a:p>
          </p:txBody>
        </p:sp>
        <p:sp>
          <p:nvSpPr>
            <p:cNvPr id="8241" name="AutoShape 8"/>
            <p:cNvSpPr>
              <a:spLocks noChangeArrowheads="1"/>
            </p:cNvSpPr>
            <p:nvPr/>
          </p:nvSpPr>
          <p:spPr bwMode="auto">
            <a:xfrm>
              <a:off x="673" y="1557"/>
              <a:ext cx="998" cy="219"/>
            </a:xfrm>
            <a:prstGeom prst="parallelogram">
              <a:avLst>
                <a:gd name="adj" fmla="val 113927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 b="1">
                  <a:latin typeface="Times New Roman" pitchFamily="18" charset="0"/>
                </a:rPr>
                <a:t>М,</a:t>
              </a:r>
              <a:r>
                <a:rPr lang="uz-Cyrl-UZ" sz="1600" b="1">
                  <a:latin typeface="Times New Roman" pitchFamily="18" charset="0"/>
                </a:rPr>
                <a:t> </a:t>
              </a:r>
              <a:r>
                <a:rPr lang="en-US" sz="1600" b="1">
                  <a:latin typeface="Times New Roman" pitchFamily="18" charset="0"/>
                </a:rPr>
                <a:t>k</a:t>
              </a:r>
              <a:r>
                <a:rPr lang="en-US" sz="1600" b="1" baseline="-25000">
                  <a:latin typeface="Times New Roman" pitchFamily="18" charset="0"/>
                </a:rPr>
                <a:t>A</a:t>
              </a:r>
              <a:r>
                <a:rPr lang="uz-Cyrl-UZ" sz="1600" b="1" baseline="30000">
                  <a:latin typeface="Times New Roman" pitchFamily="18" charset="0"/>
                </a:rPr>
                <a:t>ё</a:t>
              </a:r>
              <a:r>
                <a:rPr lang="uz-Cyrl-UZ" sz="1600" b="1" baseline="-25000">
                  <a:latin typeface="Times New Roman" pitchFamily="18" charset="0"/>
                </a:rPr>
                <a:t>, </a:t>
              </a:r>
              <a:r>
                <a:rPr lang="en-US" sz="1600" b="1">
                  <a:latin typeface="Times New Roman" pitchFamily="18" charset="0"/>
                </a:rPr>
                <a:t>k</a:t>
              </a:r>
              <a:r>
                <a:rPr lang="uz-Cyrl-UZ" sz="1600" b="1" baseline="-25000">
                  <a:latin typeface="Times New Roman" pitchFamily="18" charset="0"/>
                </a:rPr>
                <a:t>с1</a:t>
              </a:r>
              <a:endParaRPr lang="ru-RU" sz="1600" b="1" baseline="-25000">
                <a:latin typeface="Times New Roman" pitchFamily="18" charset="0"/>
              </a:endParaRPr>
            </a:p>
          </p:txBody>
        </p:sp>
        <p:sp>
          <p:nvSpPr>
            <p:cNvPr id="8242" name="Line 18"/>
            <p:cNvSpPr>
              <a:spLocks noChangeShapeType="1"/>
            </p:cNvSpPr>
            <p:nvPr/>
          </p:nvSpPr>
          <p:spPr bwMode="auto">
            <a:xfrm>
              <a:off x="1188" y="1375"/>
              <a:ext cx="0" cy="18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8243" name="Line 22"/>
            <p:cNvSpPr>
              <a:spLocks noChangeShapeType="1"/>
            </p:cNvSpPr>
            <p:nvPr/>
          </p:nvSpPr>
          <p:spPr bwMode="auto">
            <a:xfrm>
              <a:off x="1194" y="1778"/>
              <a:ext cx="0" cy="18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5" name="Group 68"/>
          <p:cNvGrpSpPr>
            <a:grpSpLocks/>
          </p:cNvGrpSpPr>
          <p:nvPr/>
        </p:nvGrpSpPr>
        <p:grpSpPr bwMode="auto">
          <a:xfrm>
            <a:off x="577850" y="2635250"/>
            <a:ext cx="2986088" cy="3746500"/>
            <a:chOff x="364" y="1660"/>
            <a:chExt cx="1881" cy="2314"/>
          </a:xfrm>
        </p:grpSpPr>
        <p:sp>
          <p:nvSpPr>
            <p:cNvPr id="8235" name="AutoShape 20"/>
            <p:cNvSpPr>
              <a:spLocks noChangeArrowheads="1"/>
            </p:cNvSpPr>
            <p:nvPr/>
          </p:nvSpPr>
          <p:spPr bwMode="auto">
            <a:xfrm>
              <a:off x="665" y="3761"/>
              <a:ext cx="1043" cy="213"/>
            </a:xfrm>
            <a:prstGeom prst="flowChartTerminator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uz-Cyrl-UZ" sz="1600" b="1">
                  <a:latin typeface="Times New Roman" pitchFamily="18" charset="0"/>
                </a:rPr>
                <a:t>Тамом</a:t>
              </a:r>
              <a:endParaRPr lang="ru-RU" sz="1600" b="1">
                <a:latin typeface="Times New Roman" pitchFamily="18" charset="0"/>
              </a:endParaRPr>
            </a:p>
          </p:txBody>
        </p:sp>
        <p:sp>
          <p:nvSpPr>
            <p:cNvPr id="8236" name="Rectangle 23"/>
            <p:cNvSpPr>
              <a:spLocks noChangeArrowheads="1"/>
            </p:cNvSpPr>
            <p:nvPr/>
          </p:nvSpPr>
          <p:spPr bwMode="auto">
            <a:xfrm>
              <a:off x="364" y="3371"/>
              <a:ext cx="1633" cy="256"/>
            </a:xfrm>
            <a:prstGeom prst="rect">
              <a:avLst/>
            </a:prstGeom>
            <a:solidFill>
              <a:srgbClr val="C5E2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80000"/>
                </a:lnSpc>
              </a:pPr>
              <a:r>
                <a:rPr lang="en-US" sz="1500" b="1">
                  <a:solidFill>
                    <a:srgbClr val="000000"/>
                  </a:solidFill>
                  <a:latin typeface="Times New Roman" pitchFamily="18" charset="0"/>
                </a:rPr>
                <a:t>E</a:t>
              </a:r>
              <a:r>
                <a:rPr lang="en-US" sz="1500" b="1" baseline="-25000">
                  <a:solidFill>
                    <a:srgbClr val="000000"/>
                  </a:solidFill>
                  <a:latin typeface="Times New Roman" pitchFamily="18" charset="0"/>
                </a:rPr>
                <a:t>K</a:t>
              </a:r>
              <a:r>
                <a:rPr lang="uz-Cyrl-UZ" sz="1500" b="1" baseline="-25000">
                  <a:solidFill>
                    <a:srgbClr val="000000"/>
                  </a:solidFill>
                  <a:latin typeface="Times New Roman" pitchFamily="18" charset="0"/>
                </a:rPr>
                <a:t>с1</a:t>
              </a:r>
              <a:r>
                <a:rPr lang="en-US" sz="1500" b="1">
                  <a:solidFill>
                    <a:srgbClr val="000000"/>
                  </a:solidFill>
                  <a:latin typeface="Times New Roman" pitchFamily="18" charset="0"/>
                </a:rPr>
                <a:t>(</a:t>
              </a:r>
              <a:r>
                <a:rPr lang="ru-RU" sz="1500" b="1">
                  <a:solidFill>
                    <a:srgbClr val="000000"/>
                  </a:solidFill>
                  <a:latin typeface="Times New Roman" pitchFamily="18" charset="0"/>
                </a:rPr>
                <a:t>M’</a:t>
              </a:r>
              <a:r>
                <a:rPr lang="en-US" sz="1500" b="1">
                  <a:solidFill>
                    <a:srgbClr val="000000"/>
                  </a:solidFill>
                  <a:latin typeface="Times New Roman" pitchFamily="18" charset="0"/>
                </a:rPr>
                <a:t>)=C </a:t>
              </a:r>
              <a:r>
                <a:rPr lang="uz-Cyrl-UZ" sz="1500" b="1">
                  <a:solidFill>
                    <a:srgbClr val="000000"/>
                  </a:solidFill>
                  <a:latin typeface="Times New Roman" pitchFamily="18" charset="0"/>
                </a:rPr>
                <a:t>, ГОСТ 28147-89</a:t>
              </a:r>
              <a:endParaRPr lang="ru-RU" sz="1500" b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ru-RU" sz="1500" b="1">
                  <a:solidFill>
                    <a:srgbClr val="000000"/>
                  </a:solidFill>
                  <a:latin typeface="Times New Roman" pitchFamily="18" charset="0"/>
                </a:rPr>
                <a:t>Е</a:t>
              </a:r>
              <a:r>
                <a:rPr lang="en-US" sz="1500" b="1" baseline="-25000">
                  <a:solidFill>
                    <a:srgbClr val="000000"/>
                  </a:solidFill>
                  <a:latin typeface="Times New Roman" pitchFamily="18" charset="0"/>
                </a:rPr>
                <a:t>kB</a:t>
              </a:r>
              <a:r>
                <a:rPr lang="en-US" sz="1500" b="1" baseline="30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  <a:r>
                <a:rPr lang="en-US" sz="1500" b="1">
                  <a:solidFill>
                    <a:srgbClr val="000000"/>
                  </a:solidFill>
                  <a:latin typeface="Times New Roman" pitchFamily="18" charset="0"/>
                </a:rPr>
                <a:t>(k</a:t>
              </a:r>
              <a:r>
                <a:rPr lang="en-US" sz="1500" b="1" baseline="-25000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r>
                <a:rPr lang="uz-Cyrl-UZ" sz="1500" b="1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r>
                <a:rPr lang="en-US" sz="1500" b="1">
                  <a:solidFill>
                    <a:srgbClr val="000000"/>
                  </a:solidFill>
                  <a:latin typeface="Times New Roman" pitchFamily="18" charset="0"/>
                </a:rPr>
                <a:t>), El Gamal</a:t>
              </a:r>
              <a:endParaRPr lang="ru-RU" sz="15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8237" name="Line 24"/>
            <p:cNvSpPr>
              <a:spLocks noChangeShapeType="1"/>
            </p:cNvSpPr>
            <p:nvPr/>
          </p:nvSpPr>
          <p:spPr bwMode="auto">
            <a:xfrm>
              <a:off x="1186" y="3622"/>
              <a:ext cx="0" cy="1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8238" name="Freeform 39"/>
            <p:cNvSpPr>
              <a:spLocks/>
            </p:cNvSpPr>
            <p:nvPr/>
          </p:nvSpPr>
          <p:spPr bwMode="auto">
            <a:xfrm>
              <a:off x="1548" y="1660"/>
              <a:ext cx="697" cy="1863"/>
            </a:xfrm>
            <a:custGeom>
              <a:avLst/>
              <a:gdLst>
                <a:gd name="T0" fmla="*/ 0 w 697"/>
                <a:gd name="T1" fmla="*/ 0 h 1863"/>
                <a:gd name="T2" fmla="*/ 694 w 697"/>
                <a:gd name="T3" fmla="*/ 1 h 1863"/>
                <a:gd name="T4" fmla="*/ 697 w 697"/>
                <a:gd name="T5" fmla="*/ 1861 h 1863"/>
                <a:gd name="T6" fmla="*/ 449 w 697"/>
                <a:gd name="T7" fmla="*/ 1863 h 18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97"/>
                <a:gd name="T13" fmla="*/ 0 h 1863"/>
                <a:gd name="T14" fmla="*/ 697 w 697"/>
                <a:gd name="T15" fmla="*/ 1863 h 18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97" h="1863">
                  <a:moveTo>
                    <a:pt x="0" y="0"/>
                  </a:moveTo>
                  <a:lnTo>
                    <a:pt x="694" y="1"/>
                  </a:lnTo>
                  <a:lnTo>
                    <a:pt x="697" y="1861"/>
                  </a:lnTo>
                  <a:lnTo>
                    <a:pt x="449" y="1863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6" name="Group 69"/>
          <p:cNvGrpSpPr>
            <a:grpSpLocks/>
          </p:cNvGrpSpPr>
          <p:nvPr/>
        </p:nvGrpSpPr>
        <p:grpSpPr bwMode="auto">
          <a:xfrm>
            <a:off x="5214938" y="1414463"/>
            <a:ext cx="2757487" cy="2735262"/>
            <a:chOff x="3285" y="891"/>
            <a:chExt cx="1737" cy="1723"/>
          </a:xfrm>
        </p:grpSpPr>
        <p:sp>
          <p:nvSpPr>
            <p:cNvPr id="8226" name="AutoShape 25"/>
            <p:cNvSpPr>
              <a:spLocks noChangeArrowheads="1"/>
            </p:cNvSpPr>
            <p:nvPr/>
          </p:nvSpPr>
          <p:spPr bwMode="auto">
            <a:xfrm>
              <a:off x="3623" y="891"/>
              <a:ext cx="1043" cy="192"/>
            </a:xfrm>
            <a:prstGeom prst="flowChartTerminator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uz-Cyrl-UZ" sz="1600" b="1">
                  <a:latin typeface="Times New Roman" pitchFamily="18" charset="0"/>
                </a:rPr>
                <a:t>Б</a:t>
              </a:r>
              <a:r>
                <a:rPr lang="ru-RU" sz="1600" b="1">
                  <a:latin typeface="Times New Roman" pitchFamily="18" charset="0"/>
                </a:rPr>
                <a:t>ошлаш</a:t>
              </a:r>
            </a:p>
          </p:txBody>
        </p:sp>
        <p:sp>
          <p:nvSpPr>
            <p:cNvPr id="8227" name="AutoShape 26"/>
            <p:cNvSpPr>
              <a:spLocks noChangeArrowheads="1"/>
            </p:cNvSpPr>
            <p:nvPr/>
          </p:nvSpPr>
          <p:spPr bwMode="auto">
            <a:xfrm>
              <a:off x="3649" y="1200"/>
              <a:ext cx="998" cy="219"/>
            </a:xfrm>
            <a:prstGeom prst="parallelogram">
              <a:avLst>
                <a:gd name="adj" fmla="val 113927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 i="1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r>
                <a:rPr lang="ru-RU" sz="1600" b="1" i="1">
                  <a:latin typeface="Times New Roman" pitchFamily="18" charset="0"/>
                </a:rPr>
                <a:t>,</a:t>
              </a:r>
              <a:r>
                <a:rPr lang="uz-Cyrl-UZ" sz="1600" b="1" i="1">
                  <a:latin typeface="Times New Roman" pitchFamily="18" charset="0"/>
                </a:rPr>
                <a:t> </a:t>
              </a:r>
              <a:r>
                <a:rPr lang="en-US" sz="1600" b="1" i="1">
                  <a:latin typeface="Times New Roman" pitchFamily="18" charset="0"/>
                </a:rPr>
                <a:t>k</a:t>
              </a:r>
              <a:r>
                <a:rPr lang="en-US" sz="1600" b="1" i="1" baseline="-25000">
                  <a:latin typeface="Times New Roman" pitchFamily="18" charset="0"/>
                </a:rPr>
                <a:t>A</a:t>
              </a:r>
              <a:r>
                <a:rPr lang="uz-Cyrl-UZ" sz="1600" b="1" i="1" baseline="30000">
                  <a:latin typeface="Times New Roman" pitchFamily="18" charset="0"/>
                </a:rPr>
                <a:t>о</a:t>
              </a:r>
              <a:r>
                <a:rPr lang="uz-Cyrl-UZ" sz="1600" b="1" i="1">
                  <a:latin typeface="Times New Roman" pitchFamily="18" charset="0"/>
                </a:rPr>
                <a:t>, </a:t>
              </a:r>
              <a:r>
                <a:rPr lang="en-US" sz="1600" b="1" i="1">
                  <a:latin typeface="Times New Roman" pitchFamily="18" charset="0"/>
                </a:rPr>
                <a:t>k</a:t>
              </a:r>
              <a:r>
                <a:rPr lang="uz-Cyrl-UZ" sz="1600" b="1" i="1" baseline="-25000">
                  <a:latin typeface="Times New Roman" pitchFamily="18" charset="0"/>
                </a:rPr>
                <a:t>с2</a:t>
              </a:r>
              <a:r>
                <a:rPr lang="uz-Cyrl-UZ" sz="1600" b="1" baseline="-25000">
                  <a:latin typeface="Times New Roman" pitchFamily="18" charset="0"/>
                </a:rPr>
                <a:t> </a:t>
              </a:r>
              <a:endParaRPr lang="ru-RU" sz="1600" b="1" baseline="-25000">
                <a:latin typeface="Times New Roman" pitchFamily="18" charset="0"/>
              </a:endParaRPr>
            </a:p>
          </p:txBody>
        </p:sp>
        <p:sp>
          <p:nvSpPr>
            <p:cNvPr id="8228" name="Rectangle 27"/>
            <p:cNvSpPr>
              <a:spLocks noChangeArrowheads="1"/>
            </p:cNvSpPr>
            <p:nvPr/>
          </p:nvSpPr>
          <p:spPr bwMode="auto">
            <a:xfrm>
              <a:off x="3285" y="1611"/>
              <a:ext cx="1737" cy="307"/>
            </a:xfrm>
            <a:prstGeom prst="rect">
              <a:avLst/>
            </a:prstGeom>
            <a:solidFill>
              <a:srgbClr val="C5E2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 i="1">
                  <a:latin typeface="Times New Roman" pitchFamily="18" charset="0"/>
                </a:rPr>
                <a:t>D</a:t>
              </a:r>
              <a:r>
                <a:rPr lang="en-US" sz="1600" b="1" i="1" baseline="-25000">
                  <a:latin typeface="Times New Roman" pitchFamily="18" charset="0"/>
                </a:rPr>
                <a:t>kc</a:t>
              </a:r>
              <a:r>
                <a:rPr lang="uz-Cyrl-UZ" sz="1600" b="1" i="1" baseline="-25000">
                  <a:latin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</a:rPr>
                <a:t>(C)=D</a:t>
              </a:r>
              <a:r>
                <a:rPr lang="en-US" sz="1600" b="1" i="1" baseline="-25000">
                  <a:latin typeface="Times New Roman" pitchFamily="18" charset="0"/>
                </a:rPr>
                <a:t>kc</a:t>
              </a:r>
              <a:r>
                <a:rPr lang="uz-Cyrl-UZ" sz="1600" b="1" i="1" baseline="-25000">
                  <a:latin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</a:rPr>
                <a:t>(E</a:t>
              </a:r>
              <a:r>
                <a:rPr lang="en-US" sz="1600" b="1" i="1" baseline="-25000">
                  <a:latin typeface="Times New Roman" pitchFamily="18" charset="0"/>
                </a:rPr>
                <a:t>kc</a:t>
              </a:r>
              <a:r>
                <a:rPr lang="uz-Cyrl-UZ" sz="1600" b="1" i="1" baseline="-25000">
                  <a:latin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</a:rPr>
                <a:t>(M’)=</a:t>
              </a:r>
            </a:p>
            <a:p>
              <a:pPr algn="ctr"/>
              <a:r>
                <a:rPr lang="en-US" sz="1600" b="1" i="1">
                  <a:latin typeface="Times New Roman" pitchFamily="18" charset="0"/>
                </a:rPr>
                <a:t>=M’=M </a:t>
              </a:r>
              <a:r>
                <a:rPr lang="ru-RU" sz="1600" b="1" i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</a:t>
              </a:r>
              <a:r>
                <a:rPr lang="en-US" sz="1600" b="1" i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P</a:t>
              </a:r>
              <a:r>
                <a:rPr lang="en-US" sz="1600" b="1" i="1" baseline="-25000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i</a:t>
              </a:r>
              <a:r>
                <a:rPr lang="en-US" sz="1600" b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 </a:t>
              </a:r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, ГОСТ 28147-89</a:t>
              </a:r>
              <a:r>
                <a:rPr lang="en-US" sz="1600" b="1">
                  <a:latin typeface="Times New Roman" pitchFamily="18" charset="0"/>
                </a:rPr>
                <a:t> </a:t>
              </a:r>
              <a:endParaRPr lang="ru-RU" sz="1600" b="1">
                <a:latin typeface="Times New Roman" pitchFamily="18" charset="0"/>
              </a:endParaRPr>
            </a:p>
          </p:txBody>
        </p:sp>
        <p:sp>
          <p:nvSpPr>
            <p:cNvPr id="8229" name="Rectangle 28"/>
            <p:cNvSpPr>
              <a:spLocks noChangeArrowheads="1"/>
            </p:cNvSpPr>
            <p:nvPr/>
          </p:nvSpPr>
          <p:spPr bwMode="auto">
            <a:xfrm>
              <a:off x="3562" y="2058"/>
              <a:ext cx="1179" cy="163"/>
            </a:xfrm>
            <a:prstGeom prst="rect">
              <a:avLst/>
            </a:prstGeom>
            <a:solidFill>
              <a:srgbClr val="C5E2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>
                  <a:latin typeface="Times New Roman" pitchFamily="18" charset="0"/>
                </a:rPr>
                <a:t>M </a:t>
              </a:r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</a:t>
              </a:r>
              <a:r>
                <a:rPr lang="en-US" sz="1600" b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P</a:t>
              </a:r>
              <a:r>
                <a:rPr lang="en-US" sz="1600" b="1" baseline="-25000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i</a:t>
              </a:r>
              <a:endParaRPr lang="ru-RU" sz="1600" b="1" baseline="-2500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8230" name="Freeform 31"/>
            <p:cNvSpPr>
              <a:spLocks/>
            </p:cNvSpPr>
            <p:nvPr/>
          </p:nvSpPr>
          <p:spPr bwMode="auto">
            <a:xfrm>
              <a:off x="4152" y="1918"/>
              <a:ext cx="1" cy="128"/>
            </a:xfrm>
            <a:custGeom>
              <a:avLst/>
              <a:gdLst>
                <a:gd name="T0" fmla="*/ 0 w 1"/>
                <a:gd name="T1" fmla="*/ 0 h 128"/>
                <a:gd name="T2" fmla="*/ 0 w 1"/>
                <a:gd name="T3" fmla="*/ 128 h 128"/>
                <a:gd name="T4" fmla="*/ 0 60000 65536"/>
                <a:gd name="T5" fmla="*/ 0 60000 65536"/>
                <a:gd name="T6" fmla="*/ 0 w 1"/>
                <a:gd name="T7" fmla="*/ 0 h 128"/>
                <a:gd name="T8" fmla="*/ 1 w 1"/>
                <a:gd name="T9" fmla="*/ 128 h 12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28">
                  <a:moveTo>
                    <a:pt x="0" y="0"/>
                  </a:moveTo>
                  <a:lnTo>
                    <a:pt x="0" y="128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8231" name="Line 32"/>
            <p:cNvSpPr>
              <a:spLocks noChangeShapeType="1"/>
            </p:cNvSpPr>
            <p:nvPr/>
          </p:nvSpPr>
          <p:spPr bwMode="auto">
            <a:xfrm>
              <a:off x="4147" y="2216"/>
              <a:ext cx="0" cy="1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8232" name="Freeform 33"/>
            <p:cNvSpPr>
              <a:spLocks/>
            </p:cNvSpPr>
            <p:nvPr/>
          </p:nvSpPr>
          <p:spPr bwMode="auto">
            <a:xfrm>
              <a:off x="4145" y="1086"/>
              <a:ext cx="2" cy="114"/>
            </a:xfrm>
            <a:custGeom>
              <a:avLst/>
              <a:gdLst>
                <a:gd name="T0" fmla="*/ 0 w 2"/>
                <a:gd name="T1" fmla="*/ 0 h 114"/>
                <a:gd name="T2" fmla="*/ 2 w 2"/>
                <a:gd name="T3" fmla="*/ 114 h 114"/>
                <a:gd name="T4" fmla="*/ 0 60000 65536"/>
                <a:gd name="T5" fmla="*/ 0 60000 65536"/>
                <a:gd name="T6" fmla="*/ 0 w 2"/>
                <a:gd name="T7" fmla="*/ 0 h 114"/>
                <a:gd name="T8" fmla="*/ 2 w 2"/>
                <a:gd name="T9" fmla="*/ 114 h 11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114">
                  <a:moveTo>
                    <a:pt x="0" y="0"/>
                  </a:moveTo>
                  <a:lnTo>
                    <a:pt x="2" y="114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8233" name="Line 36"/>
            <p:cNvSpPr>
              <a:spLocks noChangeShapeType="1"/>
            </p:cNvSpPr>
            <p:nvPr/>
          </p:nvSpPr>
          <p:spPr bwMode="auto">
            <a:xfrm>
              <a:off x="4152" y="1421"/>
              <a:ext cx="0" cy="18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8234" name="Rectangle 43"/>
            <p:cNvSpPr>
              <a:spLocks noChangeArrowheads="1"/>
            </p:cNvSpPr>
            <p:nvPr/>
          </p:nvSpPr>
          <p:spPr bwMode="auto">
            <a:xfrm>
              <a:off x="3375" y="2353"/>
              <a:ext cx="1542" cy="261"/>
            </a:xfrm>
            <a:prstGeom prst="rect">
              <a:avLst/>
            </a:prstGeom>
            <a:solidFill>
              <a:srgbClr val="C5E2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>
                  <a:latin typeface="Times New Roman" pitchFamily="18" charset="0"/>
                </a:rPr>
                <a:t>h(M)</a:t>
              </a:r>
              <a:r>
                <a:rPr lang="ru-RU" sz="1600" b="1">
                  <a:latin typeface="Times New Roman" pitchFamily="18" charset="0"/>
                </a:rPr>
                <a:t>, </a:t>
              </a:r>
              <a:r>
                <a:rPr lang="en-US" sz="1600" b="1">
                  <a:latin typeface="Times New Roman" pitchFamily="18" charset="0"/>
                </a:rPr>
                <a:t>SHA-1</a:t>
              </a:r>
              <a:r>
                <a:rPr lang="ru-RU" sz="1600" b="1">
                  <a:latin typeface="Times New Roman" pitchFamily="18" charset="0"/>
                </a:rPr>
                <a:t> </a:t>
              </a:r>
              <a:r>
                <a:rPr lang="en-US" sz="1600" b="1">
                  <a:latin typeface="Times New Roman" pitchFamily="18" charset="0"/>
                </a:rPr>
                <a:t> </a:t>
              </a:r>
              <a:endParaRPr lang="ru-RU" sz="1600" b="1">
                <a:latin typeface="Times New Roman" pitchFamily="18" charset="0"/>
              </a:endParaRPr>
            </a:p>
          </p:txBody>
        </p:sp>
      </p:grpSp>
      <p:grpSp>
        <p:nvGrpSpPr>
          <p:cNvPr id="7" name="Group 71"/>
          <p:cNvGrpSpPr>
            <a:grpSpLocks/>
          </p:cNvGrpSpPr>
          <p:nvPr/>
        </p:nvGrpSpPr>
        <p:grpSpPr bwMode="auto">
          <a:xfrm>
            <a:off x="5292725" y="2070100"/>
            <a:ext cx="3095625" cy="3752850"/>
            <a:chOff x="3334" y="1304"/>
            <a:chExt cx="1950" cy="2364"/>
          </a:xfrm>
        </p:grpSpPr>
        <p:sp>
          <p:nvSpPr>
            <p:cNvPr id="8221" name="Freeform 30"/>
            <p:cNvSpPr>
              <a:spLocks/>
            </p:cNvSpPr>
            <p:nvPr/>
          </p:nvSpPr>
          <p:spPr bwMode="auto">
            <a:xfrm>
              <a:off x="4526" y="1304"/>
              <a:ext cx="758" cy="1672"/>
            </a:xfrm>
            <a:custGeom>
              <a:avLst/>
              <a:gdLst>
                <a:gd name="T0" fmla="*/ 0 w 764"/>
                <a:gd name="T1" fmla="*/ 0 h 1605"/>
                <a:gd name="T2" fmla="*/ 764 w 764"/>
                <a:gd name="T3" fmla="*/ 0 h 1605"/>
                <a:gd name="T4" fmla="*/ 764 w 764"/>
                <a:gd name="T5" fmla="*/ 1605 h 1605"/>
                <a:gd name="T6" fmla="*/ 447 w 764"/>
                <a:gd name="T7" fmla="*/ 1605 h 16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4"/>
                <a:gd name="T13" fmla="*/ 0 h 1605"/>
                <a:gd name="T14" fmla="*/ 764 w 764"/>
                <a:gd name="T15" fmla="*/ 1605 h 16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4" h="1605">
                  <a:moveTo>
                    <a:pt x="0" y="0"/>
                  </a:moveTo>
                  <a:lnTo>
                    <a:pt x="764" y="0"/>
                  </a:lnTo>
                  <a:lnTo>
                    <a:pt x="764" y="1605"/>
                  </a:lnTo>
                  <a:lnTo>
                    <a:pt x="447" y="1605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8222" name="Freeform 35"/>
            <p:cNvSpPr>
              <a:spLocks/>
            </p:cNvSpPr>
            <p:nvPr/>
          </p:nvSpPr>
          <p:spPr bwMode="auto">
            <a:xfrm>
              <a:off x="4152" y="2614"/>
              <a:ext cx="1" cy="176"/>
            </a:xfrm>
            <a:custGeom>
              <a:avLst/>
              <a:gdLst>
                <a:gd name="T0" fmla="*/ 0 w 1"/>
                <a:gd name="T1" fmla="*/ 0 h 176"/>
                <a:gd name="T2" fmla="*/ 0 w 1"/>
                <a:gd name="T3" fmla="*/ 176 h 176"/>
                <a:gd name="T4" fmla="*/ 0 60000 65536"/>
                <a:gd name="T5" fmla="*/ 0 60000 65536"/>
                <a:gd name="T6" fmla="*/ 0 w 1"/>
                <a:gd name="T7" fmla="*/ 0 h 176"/>
                <a:gd name="T8" fmla="*/ 1 w 1"/>
                <a:gd name="T9" fmla="*/ 176 h 17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76">
                  <a:moveTo>
                    <a:pt x="0" y="0"/>
                  </a:moveTo>
                  <a:lnTo>
                    <a:pt x="0" y="176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8223" name="Rectangle 37"/>
            <p:cNvSpPr>
              <a:spLocks noChangeArrowheads="1"/>
            </p:cNvSpPr>
            <p:nvPr/>
          </p:nvSpPr>
          <p:spPr bwMode="auto">
            <a:xfrm>
              <a:off x="3334" y="2795"/>
              <a:ext cx="1633" cy="318"/>
            </a:xfrm>
            <a:prstGeom prst="rect">
              <a:avLst/>
            </a:prstGeom>
            <a:solidFill>
              <a:srgbClr val="C5E2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</a:rPr>
                <a:t>U(P</a:t>
              </a:r>
              <a:r>
                <a:rPr lang="ru-RU" sz="1600" b="1" baseline="-2500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</a:rPr>
                <a:t>; h(M))=</a:t>
              </a:r>
              <a:r>
                <a:rPr lang="en-US" sz="1600" b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r>
                <a:rPr lang="ru-RU" sz="1600" b="1" baseline="-2500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endParaRPr lang="uz-Cyrl-UZ" sz="1600" b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ctr"/>
              <a:r>
                <a:rPr lang="en-US" sz="1600" b="1">
                  <a:solidFill>
                    <a:srgbClr val="000000"/>
                  </a:solidFill>
                  <a:latin typeface="Times New Roman" pitchFamily="18" charset="0"/>
                </a:rPr>
                <a:t>DSA</a:t>
              </a:r>
              <a:endParaRPr lang="ru-RU" sz="16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8224" name="Line 38"/>
            <p:cNvSpPr>
              <a:spLocks noChangeShapeType="1"/>
            </p:cNvSpPr>
            <p:nvPr/>
          </p:nvSpPr>
          <p:spPr bwMode="auto">
            <a:xfrm flipH="1">
              <a:off x="4149" y="3113"/>
              <a:ext cx="1" cy="27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8225" name="AutoShape 46"/>
            <p:cNvSpPr>
              <a:spLocks noChangeArrowheads="1"/>
            </p:cNvSpPr>
            <p:nvPr/>
          </p:nvSpPr>
          <p:spPr bwMode="auto">
            <a:xfrm>
              <a:off x="3812" y="3396"/>
              <a:ext cx="680" cy="272"/>
            </a:xfrm>
            <a:prstGeom prst="diamond">
              <a:avLst/>
            </a:prstGeom>
            <a:solidFill>
              <a:srgbClr val="99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>
                  <a:latin typeface="Times New Roman" pitchFamily="18" charset="0"/>
                </a:rPr>
                <a:t>r</a:t>
              </a:r>
              <a:r>
                <a:rPr lang="en-US" sz="1600" b="1" baseline="-25000">
                  <a:latin typeface="Times New Roman" pitchFamily="18" charset="0"/>
                </a:rPr>
                <a:t>i</a:t>
              </a:r>
              <a:r>
                <a:rPr lang="en-US" sz="1600" b="1">
                  <a:latin typeface="Times New Roman" pitchFamily="18" charset="0"/>
                </a:rPr>
                <a:t>=u</a:t>
              </a:r>
              <a:r>
                <a:rPr lang="en-US" sz="1600" b="1" baseline="-25000">
                  <a:latin typeface="Times New Roman" pitchFamily="18" charset="0"/>
                </a:rPr>
                <a:t>i</a:t>
              </a:r>
              <a:endParaRPr lang="ru-RU" sz="1600" b="1" baseline="-25000">
                <a:latin typeface="Times New Roman" pitchFamily="18" charset="0"/>
              </a:endParaRPr>
            </a:p>
          </p:txBody>
        </p:sp>
      </p:grpSp>
      <p:grpSp>
        <p:nvGrpSpPr>
          <p:cNvPr id="8" name="Group 75"/>
          <p:cNvGrpSpPr>
            <a:grpSpLocks/>
          </p:cNvGrpSpPr>
          <p:nvPr/>
        </p:nvGrpSpPr>
        <p:grpSpPr bwMode="auto">
          <a:xfrm>
            <a:off x="7108825" y="5191125"/>
            <a:ext cx="1655763" cy="765175"/>
            <a:chOff x="4478" y="3270"/>
            <a:chExt cx="1043" cy="482"/>
          </a:xfrm>
        </p:grpSpPr>
        <p:sp>
          <p:nvSpPr>
            <p:cNvPr id="8218" name="Line 47"/>
            <p:cNvSpPr>
              <a:spLocks noChangeShapeType="1"/>
            </p:cNvSpPr>
            <p:nvPr/>
          </p:nvSpPr>
          <p:spPr bwMode="auto">
            <a:xfrm>
              <a:off x="4487" y="3532"/>
              <a:ext cx="27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8219" name="Text Box 50"/>
            <p:cNvSpPr txBox="1">
              <a:spLocks noChangeArrowheads="1"/>
            </p:cNvSpPr>
            <p:nvPr/>
          </p:nvSpPr>
          <p:spPr bwMode="auto">
            <a:xfrm>
              <a:off x="4478" y="3270"/>
              <a:ext cx="33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sz="1200" b="1">
                  <a:latin typeface="Times New Roman" pitchFamily="18" charset="0"/>
                </a:rPr>
                <a:t>й</a:t>
              </a:r>
              <a:r>
                <a:rPr lang="uz-Cyrl-UZ" sz="1200" b="1">
                  <a:latin typeface="Times New Roman" pitchFamily="18" charset="0"/>
                </a:rPr>
                <a:t>ўқ</a:t>
              </a:r>
              <a:endParaRPr lang="ru-RU" sz="1200" b="1">
                <a:latin typeface="Times New Roman" pitchFamily="18" charset="0"/>
              </a:endParaRPr>
            </a:p>
          </p:txBody>
        </p:sp>
        <p:sp>
          <p:nvSpPr>
            <p:cNvPr id="8220" name="Rectangle 52"/>
            <p:cNvSpPr>
              <a:spLocks noChangeArrowheads="1"/>
            </p:cNvSpPr>
            <p:nvPr/>
          </p:nvSpPr>
          <p:spPr bwMode="auto">
            <a:xfrm>
              <a:off x="4782" y="3331"/>
              <a:ext cx="739" cy="421"/>
            </a:xfrm>
            <a:prstGeom prst="rect">
              <a:avLst/>
            </a:prstGeom>
            <a:solidFill>
              <a:srgbClr val="C5E2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uz-Cyrl-UZ" sz="1200" b="1">
                  <a:solidFill>
                    <a:srgbClr val="000000"/>
                  </a:solidFill>
                  <a:latin typeface="Times New Roman" pitchFamily="18" charset="0"/>
                </a:rPr>
                <a:t>Электрон хужжат</a:t>
              </a:r>
            </a:p>
            <a:p>
              <a:pPr algn="ctr"/>
              <a:r>
                <a:rPr lang="uz-Cyrl-UZ" sz="1200" b="1">
                  <a:solidFill>
                    <a:srgbClr val="000000"/>
                  </a:solidFill>
                  <a:latin typeface="Times New Roman" pitchFamily="18" charset="0"/>
                </a:rPr>
                <a:t>хақиқий эмас</a:t>
              </a:r>
              <a:endParaRPr lang="ru-RU" sz="1200" b="1">
                <a:latin typeface="Times New Roman" pitchFamily="18" charset="0"/>
              </a:endParaRPr>
            </a:p>
          </p:txBody>
        </p:sp>
      </p:grpSp>
      <p:sp>
        <p:nvSpPr>
          <p:cNvPr id="8203" name="Line 53"/>
          <p:cNvSpPr>
            <a:spLocks noChangeShapeType="1"/>
          </p:cNvSpPr>
          <p:nvPr/>
        </p:nvSpPr>
        <p:spPr bwMode="auto">
          <a:xfrm>
            <a:off x="6618288" y="5838825"/>
            <a:ext cx="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grpSp>
        <p:nvGrpSpPr>
          <p:cNvPr id="9" name="Group 73"/>
          <p:cNvGrpSpPr>
            <a:grpSpLocks/>
          </p:cNvGrpSpPr>
          <p:nvPr/>
        </p:nvGrpSpPr>
        <p:grpSpPr bwMode="auto">
          <a:xfrm>
            <a:off x="4530725" y="5191125"/>
            <a:ext cx="1617663" cy="790575"/>
            <a:chOff x="2854" y="3270"/>
            <a:chExt cx="1019" cy="498"/>
          </a:xfrm>
        </p:grpSpPr>
        <p:sp>
          <p:nvSpPr>
            <p:cNvPr id="8215" name="Line 48"/>
            <p:cNvSpPr>
              <a:spLocks noChangeShapeType="1"/>
            </p:cNvSpPr>
            <p:nvPr/>
          </p:nvSpPr>
          <p:spPr bwMode="auto">
            <a:xfrm flipH="1">
              <a:off x="3580" y="3532"/>
              <a:ext cx="22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8216" name="Text Box 49"/>
            <p:cNvSpPr txBox="1">
              <a:spLocks noChangeArrowheads="1"/>
            </p:cNvSpPr>
            <p:nvPr/>
          </p:nvSpPr>
          <p:spPr bwMode="auto">
            <a:xfrm>
              <a:off x="3600" y="3270"/>
              <a:ext cx="27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sz="1200" b="1">
                  <a:latin typeface="Times New Roman" pitchFamily="18" charset="0"/>
                </a:rPr>
                <a:t>ха</a:t>
              </a:r>
            </a:p>
          </p:txBody>
        </p:sp>
        <p:sp>
          <p:nvSpPr>
            <p:cNvPr id="8217" name="Rectangle 51"/>
            <p:cNvSpPr>
              <a:spLocks noChangeArrowheads="1"/>
            </p:cNvSpPr>
            <p:nvPr/>
          </p:nvSpPr>
          <p:spPr bwMode="auto">
            <a:xfrm>
              <a:off x="2854" y="3328"/>
              <a:ext cx="725" cy="440"/>
            </a:xfrm>
            <a:prstGeom prst="rect">
              <a:avLst/>
            </a:prstGeom>
            <a:solidFill>
              <a:srgbClr val="C5E2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uz-Cyrl-UZ" sz="1200" b="1">
                  <a:solidFill>
                    <a:srgbClr val="000000"/>
                  </a:solidFill>
                  <a:latin typeface="Times New Roman" pitchFamily="18" charset="0"/>
                </a:rPr>
                <a:t>Электрон хужжат</a:t>
              </a:r>
            </a:p>
            <a:p>
              <a:pPr algn="ctr"/>
              <a:r>
                <a:rPr lang="uz-Cyrl-UZ" sz="1200" b="1">
                  <a:solidFill>
                    <a:srgbClr val="000000"/>
                  </a:solidFill>
                  <a:latin typeface="Times New Roman" pitchFamily="18" charset="0"/>
                </a:rPr>
                <a:t>хақиқий</a:t>
              </a:r>
              <a:r>
                <a:rPr lang="uz-Cyrl-UZ" sz="1400" b="1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ru-RU" sz="1400" b="1">
                <a:latin typeface="Times New Roman" pitchFamily="18" charset="0"/>
              </a:endParaRPr>
            </a:p>
          </p:txBody>
        </p:sp>
      </p:grpSp>
      <p:grpSp>
        <p:nvGrpSpPr>
          <p:cNvPr id="10" name="Group 74"/>
          <p:cNvGrpSpPr>
            <a:grpSpLocks/>
          </p:cNvGrpSpPr>
          <p:nvPr/>
        </p:nvGrpSpPr>
        <p:grpSpPr bwMode="auto">
          <a:xfrm>
            <a:off x="5078413" y="5973763"/>
            <a:ext cx="2332037" cy="419100"/>
            <a:chOff x="3199" y="3763"/>
            <a:chExt cx="1469" cy="264"/>
          </a:xfrm>
        </p:grpSpPr>
        <p:sp>
          <p:nvSpPr>
            <p:cNvPr id="8213" name="AutoShape 34"/>
            <p:cNvSpPr>
              <a:spLocks noChangeArrowheads="1"/>
            </p:cNvSpPr>
            <p:nvPr/>
          </p:nvSpPr>
          <p:spPr bwMode="auto">
            <a:xfrm>
              <a:off x="3625" y="3814"/>
              <a:ext cx="1043" cy="213"/>
            </a:xfrm>
            <a:prstGeom prst="flowChartTerminator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uz-Cyrl-UZ" sz="1600" b="1">
                  <a:latin typeface="Times New Roman" pitchFamily="18" charset="0"/>
                </a:rPr>
                <a:t>Тамом</a:t>
              </a:r>
              <a:endParaRPr lang="ru-RU" sz="1600" b="1">
                <a:latin typeface="Times New Roman" pitchFamily="18" charset="0"/>
              </a:endParaRPr>
            </a:p>
          </p:txBody>
        </p:sp>
        <p:sp>
          <p:nvSpPr>
            <p:cNvPr id="8214" name="Freeform 55"/>
            <p:cNvSpPr>
              <a:spLocks/>
            </p:cNvSpPr>
            <p:nvPr/>
          </p:nvSpPr>
          <p:spPr bwMode="auto">
            <a:xfrm>
              <a:off x="3199" y="3763"/>
              <a:ext cx="425" cy="162"/>
            </a:xfrm>
            <a:custGeom>
              <a:avLst/>
              <a:gdLst>
                <a:gd name="T0" fmla="*/ 0 w 425"/>
                <a:gd name="T1" fmla="*/ 0 h 162"/>
                <a:gd name="T2" fmla="*/ 0 w 425"/>
                <a:gd name="T3" fmla="*/ 162 h 162"/>
                <a:gd name="T4" fmla="*/ 425 w 425"/>
                <a:gd name="T5" fmla="*/ 162 h 162"/>
                <a:gd name="T6" fmla="*/ 0 60000 65536"/>
                <a:gd name="T7" fmla="*/ 0 60000 65536"/>
                <a:gd name="T8" fmla="*/ 0 60000 65536"/>
                <a:gd name="T9" fmla="*/ 0 w 425"/>
                <a:gd name="T10" fmla="*/ 0 h 162"/>
                <a:gd name="T11" fmla="*/ 425 w 425"/>
                <a:gd name="T12" fmla="*/ 162 h 1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5" h="162">
                  <a:moveTo>
                    <a:pt x="0" y="0"/>
                  </a:moveTo>
                  <a:lnTo>
                    <a:pt x="0" y="162"/>
                  </a:lnTo>
                  <a:lnTo>
                    <a:pt x="425" y="162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sp>
        <p:nvSpPr>
          <p:cNvPr id="46136" name="Freeform 56"/>
          <p:cNvSpPr>
            <a:spLocks/>
          </p:cNvSpPr>
          <p:nvPr/>
        </p:nvSpPr>
        <p:spPr bwMode="auto">
          <a:xfrm>
            <a:off x="7407275" y="5969000"/>
            <a:ext cx="852488" cy="277813"/>
          </a:xfrm>
          <a:custGeom>
            <a:avLst/>
            <a:gdLst>
              <a:gd name="T0" fmla="*/ 537 w 537"/>
              <a:gd name="T1" fmla="*/ 0 h 175"/>
              <a:gd name="T2" fmla="*/ 537 w 537"/>
              <a:gd name="T3" fmla="*/ 175 h 175"/>
              <a:gd name="T4" fmla="*/ 0 w 537"/>
              <a:gd name="T5" fmla="*/ 175 h 175"/>
              <a:gd name="T6" fmla="*/ 0 60000 65536"/>
              <a:gd name="T7" fmla="*/ 0 60000 65536"/>
              <a:gd name="T8" fmla="*/ 0 60000 65536"/>
              <a:gd name="T9" fmla="*/ 0 w 537"/>
              <a:gd name="T10" fmla="*/ 0 h 175"/>
              <a:gd name="T11" fmla="*/ 537 w 537"/>
              <a:gd name="T12" fmla="*/ 175 h 1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37" h="175">
                <a:moveTo>
                  <a:pt x="537" y="0"/>
                </a:moveTo>
                <a:lnTo>
                  <a:pt x="537" y="175"/>
                </a:lnTo>
                <a:lnTo>
                  <a:pt x="0" y="175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6139" name="Text Box 59"/>
          <p:cNvSpPr txBox="1">
            <a:spLocks noChangeArrowheads="1"/>
          </p:cNvSpPr>
          <p:nvPr/>
        </p:nvSpPr>
        <p:spPr bwMode="auto">
          <a:xfrm>
            <a:off x="1130300" y="1196975"/>
            <a:ext cx="1641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uz-Cyrl-UZ" b="1">
                <a:solidFill>
                  <a:srgbClr val="990000"/>
                </a:solidFill>
                <a:latin typeface="Times New Roman" pitchFamily="18" charset="0"/>
              </a:rPr>
              <a:t>ШИФРЛАШ</a:t>
            </a:r>
            <a:endParaRPr lang="ru-RU" b="1">
              <a:solidFill>
                <a:srgbClr val="990000"/>
              </a:solidFill>
              <a:latin typeface="Times New Roman" pitchFamily="18" charset="0"/>
            </a:endParaRPr>
          </a:p>
        </p:txBody>
      </p:sp>
      <p:sp>
        <p:nvSpPr>
          <p:cNvPr id="46140" name="Text Box 60"/>
          <p:cNvSpPr txBox="1">
            <a:spLocks noChangeArrowheads="1"/>
          </p:cNvSpPr>
          <p:nvPr/>
        </p:nvSpPr>
        <p:spPr bwMode="auto">
          <a:xfrm>
            <a:off x="5724525" y="1009650"/>
            <a:ext cx="1943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uz-Cyrl-UZ" b="1">
                <a:solidFill>
                  <a:srgbClr val="990000"/>
                </a:solidFill>
                <a:latin typeface="Times New Roman" pitchFamily="18" charset="0"/>
              </a:rPr>
              <a:t>ДЕШИФРЛАШ</a:t>
            </a:r>
            <a:endParaRPr lang="ru-RU" b="1">
              <a:solidFill>
                <a:srgbClr val="990000"/>
              </a:solidFill>
              <a:latin typeface="Times New Roman" pitchFamily="18" charset="0"/>
            </a:endParaRPr>
          </a:p>
        </p:txBody>
      </p:sp>
      <p:sp>
        <p:nvSpPr>
          <p:cNvPr id="8209" name="Rectangle 76"/>
          <p:cNvSpPr>
            <a:spLocks noChangeArrowheads="1"/>
          </p:cNvSpPr>
          <p:nvPr/>
        </p:nvSpPr>
        <p:spPr bwMode="auto">
          <a:xfrm>
            <a:off x="2051050" y="0"/>
            <a:ext cx="6913563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uz-Cyrl-UZ" sz="2400" b="1">
                <a:solidFill>
                  <a:schemeClr val="bg1"/>
                </a:solidFill>
              </a:rPr>
              <a:t>Хужжатга имзо қўйиш ва уни текшириш алгоритмлари </a:t>
            </a:r>
            <a:r>
              <a:rPr lang="en-US" sz="2400" b="1">
                <a:solidFill>
                  <a:schemeClr val="bg1"/>
                </a:solidFill>
              </a:rPr>
              <a:t>1 - </a:t>
            </a:r>
            <a:r>
              <a:rPr lang="uz-Cyrl-UZ" sz="2400" b="1">
                <a:solidFill>
                  <a:schemeClr val="bg1"/>
                </a:solidFill>
              </a:rPr>
              <a:t>блок-схемаси  </a:t>
            </a:r>
            <a:endParaRPr lang="en-US" sz="2400" b="1">
              <a:solidFill>
                <a:schemeClr val="bg1"/>
              </a:solidFill>
            </a:endParaRPr>
          </a:p>
        </p:txBody>
      </p:sp>
      <p:sp>
        <p:nvSpPr>
          <p:cNvPr id="8210" name="Rectangle 16"/>
          <p:cNvSpPr>
            <a:spLocks noChangeArrowheads="1"/>
          </p:cNvSpPr>
          <p:nvPr/>
        </p:nvSpPr>
        <p:spPr bwMode="auto">
          <a:xfrm>
            <a:off x="179388" y="981075"/>
            <a:ext cx="8713787" cy="5616575"/>
          </a:xfrm>
          <a:prstGeom prst="rect">
            <a:avLst/>
          </a:prstGeom>
          <a:noFill/>
          <a:ln w="76200" cmpd="tri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8211" name="Text Box 78"/>
          <p:cNvSpPr txBox="1">
            <a:spLocks noChangeArrowheads="1"/>
          </p:cNvSpPr>
          <p:nvPr/>
        </p:nvSpPr>
        <p:spPr bwMode="auto">
          <a:xfrm>
            <a:off x="2916238" y="1268413"/>
            <a:ext cx="11509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uz-Cyrl-UZ" b="1" i="1"/>
              <a:t>А</a:t>
            </a:r>
            <a:r>
              <a:rPr lang="uz-Cyrl-UZ" b="1"/>
              <a:t> фойд.</a:t>
            </a:r>
            <a:endParaRPr lang="ru-RU" b="1"/>
          </a:p>
        </p:txBody>
      </p:sp>
      <p:sp>
        <p:nvSpPr>
          <p:cNvPr id="8212" name="Text Box 79"/>
          <p:cNvSpPr txBox="1">
            <a:spLocks noChangeArrowheads="1"/>
          </p:cNvSpPr>
          <p:nvPr/>
        </p:nvSpPr>
        <p:spPr bwMode="auto">
          <a:xfrm>
            <a:off x="7596188" y="1341438"/>
            <a:ext cx="11509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uz-Cyrl-UZ" b="1" i="1"/>
              <a:t>В</a:t>
            </a:r>
            <a:r>
              <a:rPr lang="uz-Cyrl-UZ" b="1"/>
              <a:t> фойд.</a:t>
            </a:r>
            <a:endParaRPr lang="ru-RU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6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6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1000"/>
                                        <p:tgtEl>
                                          <p:spTgt spid="46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36" grpId="0" animBg="1"/>
      <p:bldP spid="46139" grpId="0"/>
      <p:bldP spid="461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4427538" y="981075"/>
            <a:ext cx="4465637" cy="5616575"/>
          </a:xfrm>
          <a:prstGeom prst="rect">
            <a:avLst/>
          </a:prstGeom>
          <a:solidFill>
            <a:srgbClr val="FFFFEF"/>
          </a:solidFill>
          <a:ln w="28575">
            <a:solidFill>
              <a:srgbClr val="990000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uz-Cyrl-UZ"/>
          </a:p>
        </p:txBody>
      </p:sp>
      <p:sp>
        <p:nvSpPr>
          <p:cNvPr id="9219" name="Rectangle 3"/>
          <p:cNvSpPr>
            <a:spLocks noChangeArrowheads="1"/>
          </p:cNvSpPr>
          <p:nvPr/>
        </p:nvSpPr>
        <p:spPr bwMode="auto">
          <a:xfrm>
            <a:off x="179388" y="981075"/>
            <a:ext cx="4032250" cy="5616575"/>
          </a:xfrm>
          <a:prstGeom prst="rect">
            <a:avLst/>
          </a:prstGeom>
          <a:solidFill>
            <a:srgbClr val="FFFFEF"/>
          </a:solidFill>
          <a:ln w="28575">
            <a:solidFill>
              <a:srgbClr val="990000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uz-Cyrl-UZ"/>
          </a:p>
        </p:txBody>
      </p:sp>
      <p:grpSp>
        <p:nvGrpSpPr>
          <p:cNvPr id="9220" name="Group 4"/>
          <p:cNvGrpSpPr>
            <a:grpSpLocks/>
          </p:cNvGrpSpPr>
          <p:nvPr/>
        </p:nvGrpSpPr>
        <p:grpSpPr bwMode="auto">
          <a:xfrm>
            <a:off x="958850" y="4546600"/>
            <a:ext cx="1871663" cy="792163"/>
            <a:chOff x="604" y="2864"/>
            <a:chExt cx="1179" cy="499"/>
          </a:xfrm>
        </p:grpSpPr>
        <p:sp>
          <p:nvSpPr>
            <p:cNvPr id="9271" name="Rectangle 5"/>
            <p:cNvSpPr>
              <a:spLocks noChangeArrowheads="1"/>
            </p:cNvSpPr>
            <p:nvPr/>
          </p:nvSpPr>
          <p:spPr bwMode="auto">
            <a:xfrm>
              <a:off x="604" y="3014"/>
              <a:ext cx="1179" cy="211"/>
            </a:xfrm>
            <a:prstGeom prst="rect">
              <a:avLst/>
            </a:prstGeom>
            <a:solidFill>
              <a:srgbClr val="C5E2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</a:rPr>
                <a:t>M</a:t>
              </a:r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</a:t>
              </a:r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</a:rPr>
                <a:t>P</a:t>
              </a:r>
              <a:r>
                <a:rPr lang="ru-RU" sz="1600" b="1" baseline="-2500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</a:rPr>
                <a:t>=M’</a:t>
              </a:r>
              <a:endParaRPr lang="ru-RU" sz="1600" b="1">
                <a:latin typeface="Times New Roman" pitchFamily="18" charset="0"/>
              </a:endParaRPr>
            </a:p>
          </p:txBody>
        </p:sp>
        <p:sp>
          <p:nvSpPr>
            <p:cNvPr id="9272" name="Line 6"/>
            <p:cNvSpPr>
              <a:spLocks noChangeShapeType="1"/>
            </p:cNvSpPr>
            <p:nvPr/>
          </p:nvSpPr>
          <p:spPr bwMode="auto">
            <a:xfrm>
              <a:off x="1194" y="2864"/>
              <a:ext cx="0" cy="1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73" name="Line 7"/>
            <p:cNvSpPr>
              <a:spLocks noChangeShapeType="1"/>
            </p:cNvSpPr>
            <p:nvPr/>
          </p:nvSpPr>
          <p:spPr bwMode="auto">
            <a:xfrm>
              <a:off x="1194" y="3227"/>
              <a:ext cx="0" cy="1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9221" name="Group 8"/>
          <p:cNvGrpSpPr>
            <a:grpSpLocks/>
          </p:cNvGrpSpPr>
          <p:nvPr/>
        </p:nvGrpSpPr>
        <p:grpSpPr bwMode="auto">
          <a:xfrm>
            <a:off x="958850" y="2708275"/>
            <a:ext cx="2389188" cy="1838325"/>
            <a:chOff x="604" y="1706"/>
            <a:chExt cx="1505" cy="1158"/>
          </a:xfrm>
        </p:grpSpPr>
        <p:sp>
          <p:nvSpPr>
            <p:cNvPr id="9268" name="Freeform 9"/>
            <p:cNvSpPr>
              <a:spLocks/>
            </p:cNvSpPr>
            <p:nvPr/>
          </p:nvSpPr>
          <p:spPr bwMode="auto">
            <a:xfrm>
              <a:off x="1496" y="1706"/>
              <a:ext cx="613" cy="953"/>
            </a:xfrm>
            <a:custGeom>
              <a:avLst/>
              <a:gdLst>
                <a:gd name="T0" fmla="*/ 0 w 613"/>
                <a:gd name="T1" fmla="*/ 2 h 1430"/>
                <a:gd name="T2" fmla="*/ 610 w 613"/>
                <a:gd name="T3" fmla="*/ 0 h 1430"/>
                <a:gd name="T4" fmla="*/ 613 w 613"/>
                <a:gd name="T5" fmla="*/ 1430 h 1430"/>
                <a:gd name="T6" fmla="*/ 288 w 613"/>
                <a:gd name="T7" fmla="*/ 1430 h 14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13"/>
                <a:gd name="T13" fmla="*/ 0 h 1430"/>
                <a:gd name="T14" fmla="*/ 613 w 613"/>
                <a:gd name="T15" fmla="*/ 1430 h 14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13" h="1430">
                  <a:moveTo>
                    <a:pt x="0" y="2"/>
                  </a:moveTo>
                  <a:lnTo>
                    <a:pt x="610" y="0"/>
                  </a:lnTo>
                  <a:lnTo>
                    <a:pt x="613" y="1430"/>
                  </a:lnTo>
                  <a:lnTo>
                    <a:pt x="288" y="1430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69" name="Rectangle 10"/>
            <p:cNvSpPr>
              <a:spLocks noChangeArrowheads="1"/>
            </p:cNvSpPr>
            <p:nvPr/>
          </p:nvSpPr>
          <p:spPr bwMode="auto">
            <a:xfrm>
              <a:off x="604" y="2475"/>
              <a:ext cx="1179" cy="389"/>
            </a:xfrm>
            <a:prstGeom prst="rect">
              <a:avLst/>
            </a:prstGeom>
            <a:solidFill>
              <a:srgbClr val="C5E2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</a:rPr>
                <a:t>(r</a:t>
              </a:r>
              <a:r>
                <a:rPr lang="ru-RU" sz="1600" b="1" baseline="-2500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</a:rPr>
                <a:t>; </a:t>
              </a:r>
              <a:r>
                <a:rPr lang="en-US" sz="1600" b="1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ru-RU" sz="1600" b="1" baseline="-2500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</a:rPr>
                <a:t>) = P</a:t>
              </a:r>
              <a:r>
                <a:rPr lang="ru-RU" sz="1600" b="1" baseline="-2500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uz-Cyrl-UZ" sz="1600" b="1" baseline="-25000">
                  <a:solidFill>
                    <a:srgbClr val="000000"/>
                  </a:solidFill>
                  <a:latin typeface="Times New Roman" pitchFamily="18" charset="0"/>
                </a:rPr>
                <a:t> ,</a:t>
              </a:r>
              <a:r>
                <a:rPr lang="ru-RU" sz="1600" b="1" baseline="-25000">
                  <a:latin typeface="Times New Roman" pitchFamily="18" charset="0"/>
                </a:rPr>
                <a:t> </a:t>
              </a:r>
            </a:p>
            <a:p>
              <a:pPr algn="ctr"/>
              <a:r>
                <a:rPr lang="en-US" sz="1600" b="1">
                  <a:latin typeface="Times New Roman" pitchFamily="18" charset="0"/>
                </a:rPr>
                <a:t>RSA</a:t>
              </a:r>
              <a:endParaRPr lang="ru-RU" sz="1600" b="1">
                <a:latin typeface="Times New Roman" pitchFamily="18" charset="0"/>
              </a:endParaRPr>
            </a:p>
          </p:txBody>
        </p:sp>
        <p:sp>
          <p:nvSpPr>
            <p:cNvPr id="9270" name="Line 11"/>
            <p:cNvSpPr>
              <a:spLocks noChangeShapeType="1"/>
            </p:cNvSpPr>
            <p:nvPr/>
          </p:nvSpPr>
          <p:spPr bwMode="auto">
            <a:xfrm>
              <a:off x="1194" y="2229"/>
              <a:ext cx="0" cy="227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9222" name="Group 12"/>
          <p:cNvGrpSpPr>
            <a:grpSpLocks/>
          </p:cNvGrpSpPr>
          <p:nvPr/>
        </p:nvGrpSpPr>
        <p:grpSpPr bwMode="auto">
          <a:xfrm>
            <a:off x="661988" y="1811338"/>
            <a:ext cx="2447925" cy="1727200"/>
            <a:chOff x="417" y="1141"/>
            <a:chExt cx="1542" cy="1088"/>
          </a:xfrm>
        </p:grpSpPr>
        <p:sp>
          <p:nvSpPr>
            <p:cNvPr id="9263" name="Rectangle 13"/>
            <p:cNvSpPr>
              <a:spLocks noChangeArrowheads="1"/>
            </p:cNvSpPr>
            <p:nvPr/>
          </p:nvSpPr>
          <p:spPr bwMode="auto">
            <a:xfrm>
              <a:off x="417" y="1968"/>
              <a:ext cx="1542" cy="261"/>
            </a:xfrm>
            <a:prstGeom prst="rect">
              <a:avLst/>
            </a:prstGeom>
            <a:solidFill>
              <a:srgbClr val="C5E2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>
                  <a:latin typeface="Times New Roman" pitchFamily="18" charset="0"/>
                </a:rPr>
                <a:t>h(M)</a:t>
              </a:r>
              <a:r>
                <a:rPr lang="ru-RU" sz="1600" b="1">
                  <a:latin typeface="Times New Roman" pitchFamily="18" charset="0"/>
                </a:rPr>
                <a:t>, </a:t>
              </a:r>
              <a:r>
                <a:rPr lang="en-US" sz="1600" b="1">
                  <a:latin typeface="Times New Roman" pitchFamily="18" charset="0"/>
                </a:rPr>
                <a:t>SHA-1</a:t>
              </a:r>
              <a:r>
                <a:rPr lang="ru-RU" sz="1600" b="1">
                  <a:latin typeface="Times New Roman" pitchFamily="18" charset="0"/>
                </a:rPr>
                <a:t> </a:t>
              </a:r>
              <a:r>
                <a:rPr lang="en-US" sz="1600" b="1">
                  <a:latin typeface="Times New Roman" pitchFamily="18" charset="0"/>
                </a:rPr>
                <a:t> </a:t>
              </a:r>
              <a:endParaRPr lang="ru-RU" sz="1600" b="1">
                <a:latin typeface="Times New Roman" pitchFamily="18" charset="0"/>
              </a:endParaRPr>
            </a:p>
          </p:txBody>
        </p:sp>
        <p:sp>
          <p:nvSpPr>
            <p:cNvPr id="9264" name="AutoShape 14"/>
            <p:cNvSpPr>
              <a:spLocks noChangeArrowheads="1"/>
            </p:cNvSpPr>
            <p:nvPr/>
          </p:nvSpPr>
          <p:spPr bwMode="auto">
            <a:xfrm>
              <a:off x="657" y="1141"/>
              <a:ext cx="1043" cy="234"/>
            </a:xfrm>
            <a:prstGeom prst="flowChartTerminator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uz-Cyrl-UZ" sz="1600" b="1">
                  <a:latin typeface="Times New Roman" pitchFamily="18" charset="0"/>
                </a:rPr>
                <a:t>Б</a:t>
              </a:r>
              <a:r>
                <a:rPr lang="ru-RU" sz="1600" b="1">
                  <a:latin typeface="Times New Roman" pitchFamily="18" charset="0"/>
                </a:rPr>
                <a:t>ошлаш</a:t>
              </a:r>
            </a:p>
          </p:txBody>
        </p:sp>
        <p:sp>
          <p:nvSpPr>
            <p:cNvPr id="9265" name="AutoShape 15"/>
            <p:cNvSpPr>
              <a:spLocks noChangeArrowheads="1"/>
            </p:cNvSpPr>
            <p:nvPr/>
          </p:nvSpPr>
          <p:spPr bwMode="auto">
            <a:xfrm>
              <a:off x="673" y="1557"/>
              <a:ext cx="998" cy="219"/>
            </a:xfrm>
            <a:prstGeom prst="parallelogram">
              <a:avLst>
                <a:gd name="adj" fmla="val 113927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 b="1">
                  <a:latin typeface="Times New Roman" pitchFamily="18" charset="0"/>
                </a:rPr>
                <a:t>М,</a:t>
              </a:r>
              <a:r>
                <a:rPr lang="uz-Cyrl-UZ" sz="1600" b="1">
                  <a:latin typeface="Times New Roman" pitchFamily="18" charset="0"/>
                </a:rPr>
                <a:t> </a:t>
              </a:r>
              <a:r>
                <a:rPr lang="en-US" sz="1600" b="1">
                  <a:latin typeface="Times New Roman" pitchFamily="18" charset="0"/>
                </a:rPr>
                <a:t>ka</a:t>
              </a:r>
              <a:r>
                <a:rPr lang="uz-Cyrl-UZ" sz="1600" b="1" baseline="-25000">
                  <a:latin typeface="Times New Roman" pitchFamily="18" charset="0"/>
                </a:rPr>
                <a:t>ё, </a:t>
              </a:r>
              <a:r>
                <a:rPr lang="en-US" sz="1600" b="1">
                  <a:latin typeface="Times New Roman" pitchFamily="18" charset="0"/>
                </a:rPr>
                <a:t>k</a:t>
              </a:r>
              <a:r>
                <a:rPr lang="uz-Cyrl-UZ" sz="1600" b="1" baseline="-25000">
                  <a:latin typeface="Times New Roman" pitchFamily="18" charset="0"/>
                </a:rPr>
                <a:t>с1</a:t>
              </a:r>
              <a:endParaRPr lang="ru-RU" sz="1600" b="1" baseline="-25000">
                <a:latin typeface="Times New Roman" pitchFamily="18" charset="0"/>
              </a:endParaRPr>
            </a:p>
          </p:txBody>
        </p:sp>
        <p:sp>
          <p:nvSpPr>
            <p:cNvPr id="9266" name="Line 16"/>
            <p:cNvSpPr>
              <a:spLocks noChangeShapeType="1"/>
            </p:cNvSpPr>
            <p:nvPr/>
          </p:nvSpPr>
          <p:spPr bwMode="auto">
            <a:xfrm>
              <a:off x="1188" y="1375"/>
              <a:ext cx="0" cy="18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67" name="Line 17"/>
            <p:cNvSpPr>
              <a:spLocks noChangeShapeType="1"/>
            </p:cNvSpPr>
            <p:nvPr/>
          </p:nvSpPr>
          <p:spPr bwMode="auto">
            <a:xfrm>
              <a:off x="1194" y="1778"/>
              <a:ext cx="0" cy="18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9223" name="Group 18"/>
          <p:cNvGrpSpPr>
            <a:grpSpLocks/>
          </p:cNvGrpSpPr>
          <p:nvPr/>
        </p:nvGrpSpPr>
        <p:grpSpPr bwMode="auto">
          <a:xfrm>
            <a:off x="577850" y="2635250"/>
            <a:ext cx="2986088" cy="3817938"/>
            <a:chOff x="364" y="1660"/>
            <a:chExt cx="1881" cy="2314"/>
          </a:xfrm>
        </p:grpSpPr>
        <p:sp>
          <p:nvSpPr>
            <p:cNvPr id="9259" name="AutoShape 19"/>
            <p:cNvSpPr>
              <a:spLocks noChangeArrowheads="1"/>
            </p:cNvSpPr>
            <p:nvPr/>
          </p:nvSpPr>
          <p:spPr bwMode="auto">
            <a:xfrm>
              <a:off x="665" y="3761"/>
              <a:ext cx="1043" cy="213"/>
            </a:xfrm>
            <a:prstGeom prst="flowChartTerminator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uz-Cyrl-UZ" sz="1600" b="1">
                  <a:latin typeface="Times New Roman" pitchFamily="18" charset="0"/>
                </a:rPr>
                <a:t>Тамом</a:t>
              </a:r>
              <a:endParaRPr lang="ru-RU" sz="1600" b="1">
                <a:latin typeface="Times New Roman" pitchFamily="18" charset="0"/>
              </a:endParaRPr>
            </a:p>
          </p:txBody>
        </p:sp>
        <p:sp>
          <p:nvSpPr>
            <p:cNvPr id="9260" name="Rectangle 20"/>
            <p:cNvSpPr>
              <a:spLocks noChangeArrowheads="1"/>
            </p:cNvSpPr>
            <p:nvPr/>
          </p:nvSpPr>
          <p:spPr bwMode="auto">
            <a:xfrm>
              <a:off x="364" y="3371"/>
              <a:ext cx="1633" cy="256"/>
            </a:xfrm>
            <a:prstGeom prst="rect">
              <a:avLst/>
            </a:prstGeom>
            <a:solidFill>
              <a:srgbClr val="C5E2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80000"/>
                </a:lnSpc>
              </a:pPr>
              <a:r>
                <a:rPr lang="en-US" sz="1600">
                  <a:solidFill>
                    <a:srgbClr val="000000"/>
                  </a:solidFill>
                  <a:latin typeface="Times New Roman" pitchFamily="18" charset="0"/>
                </a:rPr>
                <a:t>E</a:t>
              </a:r>
              <a:r>
                <a:rPr lang="en-US" sz="1600" baseline="-25000">
                  <a:solidFill>
                    <a:srgbClr val="000000"/>
                  </a:solidFill>
                  <a:latin typeface="Times New Roman" pitchFamily="18" charset="0"/>
                </a:rPr>
                <a:t>K</a:t>
              </a:r>
              <a:r>
                <a:rPr lang="uz-Cyrl-UZ" sz="1600" baseline="-25000">
                  <a:solidFill>
                    <a:srgbClr val="000000"/>
                  </a:solidFill>
                  <a:latin typeface="Times New Roman" pitchFamily="18" charset="0"/>
                </a:rPr>
                <a:t>с1</a:t>
              </a:r>
              <a:r>
                <a:rPr lang="en-US" sz="1600">
                  <a:solidFill>
                    <a:srgbClr val="000000"/>
                  </a:solidFill>
                  <a:latin typeface="Times New Roman" pitchFamily="18" charset="0"/>
                </a:rPr>
                <a:t>(</a:t>
              </a:r>
              <a:r>
                <a:rPr lang="ru-RU" sz="1600">
                  <a:solidFill>
                    <a:srgbClr val="000000"/>
                  </a:solidFill>
                  <a:latin typeface="Times New Roman" pitchFamily="18" charset="0"/>
                </a:rPr>
                <a:t>M’</a:t>
              </a:r>
              <a:r>
                <a:rPr lang="en-US" sz="1600">
                  <a:solidFill>
                    <a:srgbClr val="000000"/>
                  </a:solidFill>
                  <a:latin typeface="Times New Roman" pitchFamily="18" charset="0"/>
                </a:rPr>
                <a:t>)=C </a:t>
              </a:r>
              <a:r>
                <a:rPr lang="uz-Cyrl-UZ" sz="1600">
                  <a:solidFill>
                    <a:srgbClr val="000000"/>
                  </a:solidFill>
                  <a:latin typeface="Times New Roman" pitchFamily="18" charset="0"/>
                </a:rPr>
                <a:t>, ГОСТ 28147-89</a:t>
              </a:r>
              <a:endParaRPr lang="ru-RU" sz="1600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ru-RU" sz="1600">
                  <a:solidFill>
                    <a:srgbClr val="000000"/>
                  </a:solidFill>
                  <a:latin typeface="Times New Roman" pitchFamily="18" charset="0"/>
                </a:rPr>
                <a:t>Е</a:t>
              </a:r>
              <a:r>
                <a:rPr lang="en-US" sz="1600" baseline="-25000">
                  <a:solidFill>
                    <a:srgbClr val="000000"/>
                  </a:solidFill>
                  <a:latin typeface="Times New Roman" pitchFamily="18" charset="0"/>
                </a:rPr>
                <a:t>kB</a:t>
              </a:r>
              <a:r>
                <a:rPr lang="en-US" sz="1600" baseline="30000">
                  <a:solidFill>
                    <a:srgbClr val="000000"/>
                  </a:solidFill>
                  <a:latin typeface="Times New Roman" pitchFamily="18" charset="0"/>
                </a:rPr>
                <a:t>o</a:t>
              </a:r>
              <a:r>
                <a:rPr lang="en-US" sz="1600">
                  <a:solidFill>
                    <a:srgbClr val="000000"/>
                  </a:solidFill>
                  <a:latin typeface="Times New Roman" pitchFamily="18" charset="0"/>
                </a:rPr>
                <a:t>(k</a:t>
              </a:r>
              <a:r>
                <a:rPr lang="en-US" sz="1600" baseline="-25000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r>
                <a:rPr lang="uz-Cyrl-UZ" sz="1600" baseline="-25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r>
                <a:rPr lang="en-US" sz="1600">
                  <a:solidFill>
                    <a:srgbClr val="000000"/>
                  </a:solidFill>
                  <a:latin typeface="Times New Roman" pitchFamily="18" charset="0"/>
                </a:rPr>
                <a:t>), RSA</a:t>
              </a:r>
              <a:endParaRPr lang="ru-RU" sz="16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261" name="Line 21"/>
            <p:cNvSpPr>
              <a:spLocks noChangeShapeType="1"/>
            </p:cNvSpPr>
            <p:nvPr/>
          </p:nvSpPr>
          <p:spPr bwMode="auto">
            <a:xfrm>
              <a:off x="1186" y="3622"/>
              <a:ext cx="0" cy="1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62" name="Freeform 22"/>
            <p:cNvSpPr>
              <a:spLocks/>
            </p:cNvSpPr>
            <p:nvPr/>
          </p:nvSpPr>
          <p:spPr bwMode="auto">
            <a:xfrm>
              <a:off x="1548" y="1660"/>
              <a:ext cx="697" cy="1863"/>
            </a:xfrm>
            <a:custGeom>
              <a:avLst/>
              <a:gdLst>
                <a:gd name="T0" fmla="*/ 0 w 697"/>
                <a:gd name="T1" fmla="*/ 0 h 1863"/>
                <a:gd name="T2" fmla="*/ 694 w 697"/>
                <a:gd name="T3" fmla="*/ 1 h 1863"/>
                <a:gd name="T4" fmla="*/ 697 w 697"/>
                <a:gd name="T5" fmla="*/ 1861 h 1863"/>
                <a:gd name="T6" fmla="*/ 449 w 697"/>
                <a:gd name="T7" fmla="*/ 1863 h 186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97"/>
                <a:gd name="T13" fmla="*/ 0 h 1863"/>
                <a:gd name="T14" fmla="*/ 697 w 697"/>
                <a:gd name="T15" fmla="*/ 1863 h 186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97" h="1863">
                  <a:moveTo>
                    <a:pt x="0" y="0"/>
                  </a:moveTo>
                  <a:lnTo>
                    <a:pt x="694" y="1"/>
                  </a:lnTo>
                  <a:lnTo>
                    <a:pt x="697" y="1861"/>
                  </a:lnTo>
                  <a:lnTo>
                    <a:pt x="449" y="1863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9224" name="Group 23"/>
          <p:cNvGrpSpPr>
            <a:grpSpLocks/>
          </p:cNvGrpSpPr>
          <p:nvPr/>
        </p:nvGrpSpPr>
        <p:grpSpPr bwMode="auto">
          <a:xfrm>
            <a:off x="5214938" y="1414463"/>
            <a:ext cx="2757487" cy="2735262"/>
            <a:chOff x="3285" y="891"/>
            <a:chExt cx="1737" cy="1723"/>
          </a:xfrm>
        </p:grpSpPr>
        <p:sp>
          <p:nvSpPr>
            <p:cNvPr id="9250" name="AutoShape 24"/>
            <p:cNvSpPr>
              <a:spLocks noChangeArrowheads="1"/>
            </p:cNvSpPr>
            <p:nvPr/>
          </p:nvSpPr>
          <p:spPr bwMode="auto">
            <a:xfrm>
              <a:off x="3623" y="891"/>
              <a:ext cx="1043" cy="192"/>
            </a:xfrm>
            <a:prstGeom prst="flowChartTerminator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uz-Cyrl-UZ" sz="1600" b="1">
                  <a:latin typeface="Times New Roman" pitchFamily="18" charset="0"/>
                </a:rPr>
                <a:t>Б</a:t>
              </a:r>
              <a:r>
                <a:rPr lang="ru-RU" sz="1600" b="1">
                  <a:latin typeface="Times New Roman" pitchFamily="18" charset="0"/>
                </a:rPr>
                <a:t>ошлаш</a:t>
              </a:r>
            </a:p>
          </p:txBody>
        </p:sp>
        <p:sp>
          <p:nvSpPr>
            <p:cNvPr id="9251" name="AutoShape 25"/>
            <p:cNvSpPr>
              <a:spLocks noChangeArrowheads="1"/>
            </p:cNvSpPr>
            <p:nvPr/>
          </p:nvSpPr>
          <p:spPr bwMode="auto">
            <a:xfrm>
              <a:off x="3649" y="1200"/>
              <a:ext cx="998" cy="219"/>
            </a:xfrm>
            <a:prstGeom prst="parallelogram">
              <a:avLst>
                <a:gd name="adj" fmla="val 113927"/>
              </a:avLst>
            </a:prstGeom>
            <a:solidFill>
              <a:srgbClr val="FF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 i="1">
                  <a:solidFill>
                    <a:srgbClr val="000000"/>
                  </a:solidFill>
                  <a:latin typeface="Times New Roman" pitchFamily="18" charset="0"/>
                </a:rPr>
                <a:t>C</a:t>
              </a:r>
              <a:r>
                <a:rPr lang="ru-RU" sz="1600" b="1" i="1">
                  <a:latin typeface="Times New Roman" pitchFamily="18" charset="0"/>
                </a:rPr>
                <a:t>,</a:t>
              </a:r>
              <a:r>
                <a:rPr lang="uz-Cyrl-UZ" sz="1600" b="1" i="1">
                  <a:latin typeface="Times New Roman" pitchFamily="18" charset="0"/>
                </a:rPr>
                <a:t> </a:t>
              </a:r>
              <a:r>
                <a:rPr lang="en-US" sz="1600" b="1" i="1">
                  <a:latin typeface="Times New Roman" pitchFamily="18" charset="0"/>
                </a:rPr>
                <a:t>k</a:t>
              </a:r>
              <a:r>
                <a:rPr lang="uz-Cyrl-UZ" sz="1600" b="1" i="1" baseline="-25000">
                  <a:latin typeface="Times New Roman" pitchFamily="18" charset="0"/>
                </a:rPr>
                <a:t>о</a:t>
              </a:r>
              <a:r>
                <a:rPr lang="uz-Cyrl-UZ" sz="1600" b="1" i="1">
                  <a:latin typeface="Times New Roman" pitchFamily="18" charset="0"/>
                </a:rPr>
                <a:t>, </a:t>
              </a:r>
              <a:r>
                <a:rPr lang="en-US" sz="1600" b="1" i="1">
                  <a:latin typeface="Times New Roman" pitchFamily="18" charset="0"/>
                </a:rPr>
                <a:t>k</a:t>
              </a:r>
              <a:r>
                <a:rPr lang="uz-Cyrl-UZ" sz="1600" b="1" i="1" baseline="-25000">
                  <a:latin typeface="Times New Roman" pitchFamily="18" charset="0"/>
                </a:rPr>
                <a:t>с2</a:t>
              </a:r>
              <a:r>
                <a:rPr lang="uz-Cyrl-UZ" sz="1600" b="1" baseline="-25000">
                  <a:latin typeface="Times New Roman" pitchFamily="18" charset="0"/>
                </a:rPr>
                <a:t> </a:t>
              </a:r>
              <a:endParaRPr lang="ru-RU" sz="1600" b="1" baseline="-25000">
                <a:latin typeface="Times New Roman" pitchFamily="18" charset="0"/>
              </a:endParaRPr>
            </a:p>
          </p:txBody>
        </p:sp>
        <p:sp>
          <p:nvSpPr>
            <p:cNvPr id="9252" name="Rectangle 26"/>
            <p:cNvSpPr>
              <a:spLocks noChangeArrowheads="1"/>
            </p:cNvSpPr>
            <p:nvPr/>
          </p:nvSpPr>
          <p:spPr bwMode="auto">
            <a:xfrm>
              <a:off x="3285" y="1611"/>
              <a:ext cx="1737" cy="307"/>
            </a:xfrm>
            <a:prstGeom prst="rect">
              <a:avLst/>
            </a:prstGeom>
            <a:solidFill>
              <a:srgbClr val="C5E2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 i="1">
                  <a:latin typeface="Times New Roman" pitchFamily="18" charset="0"/>
                </a:rPr>
                <a:t>D</a:t>
              </a:r>
              <a:r>
                <a:rPr lang="en-US" sz="1600" b="1" i="1" baseline="-25000">
                  <a:latin typeface="Times New Roman" pitchFamily="18" charset="0"/>
                </a:rPr>
                <a:t>kc</a:t>
              </a:r>
              <a:r>
                <a:rPr lang="uz-Cyrl-UZ" sz="1600" b="1" i="1" baseline="-25000">
                  <a:latin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</a:rPr>
                <a:t>(C)=D</a:t>
              </a:r>
              <a:r>
                <a:rPr lang="en-US" sz="1600" b="1" i="1" baseline="-25000">
                  <a:latin typeface="Times New Roman" pitchFamily="18" charset="0"/>
                </a:rPr>
                <a:t>kc</a:t>
              </a:r>
              <a:r>
                <a:rPr lang="uz-Cyrl-UZ" sz="1600" b="1" i="1" baseline="-25000">
                  <a:latin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</a:rPr>
                <a:t>(E</a:t>
              </a:r>
              <a:r>
                <a:rPr lang="en-US" sz="1600" b="1" i="1" baseline="-25000">
                  <a:latin typeface="Times New Roman" pitchFamily="18" charset="0"/>
                </a:rPr>
                <a:t>kc</a:t>
              </a:r>
              <a:r>
                <a:rPr lang="uz-Cyrl-UZ" sz="1600" b="1" i="1" baseline="-25000">
                  <a:latin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</a:rPr>
                <a:t>(M’)=</a:t>
              </a:r>
            </a:p>
            <a:p>
              <a:pPr algn="ctr"/>
              <a:r>
                <a:rPr lang="en-US" sz="1600" b="1" i="1">
                  <a:latin typeface="Times New Roman" pitchFamily="18" charset="0"/>
                </a:rPr>
                <a:t>=M’=M </a:t>
              </a:r>
              <a:r>
                <a:rPr lang="ru-RU" sz="1600" b="1" i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</a:t>
              </a:r>
              <a:r>
                <a:rPr lang="en-US" sz="1600" b="1" i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P</a:t>
              </a:r>
              <a:r>
                <a:rPr lang="en-US" sz="1600" b="1" i="1" baseline="-25000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i</a:t>
              </a:r>
              <a:r>
                <a:rPr lang="en-US" sz="1600" b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 </a:t>
              </a:r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, ГОСТ 28147-89</a:t>
              </a:r>
              <a:r>
                <a:rPr lang="en-US" sz="1600" b="1">
                  <a:latin typeface="Times New Roman" pitchFamily="18" charset="0"/>
                </a:rPr>
                <a:t> </a:t>
              </a:r>
              <a:endParaRPr lang="ru-RU" sz="1600" b="1">
                <a:latin typeface="Times New Roman" pitchFamily="18" charset="0"/>
              </a:endParaRPr>
            </a:p>
          </p:txBody>
        </p:sp>
        <p:sp>
          <p:nvSpPr>
            <p:cNvPr id="9253" name="Rectangle 27"/>
            <p:cNvSpPr>
              <a:spLocks noChangeArrowheads="1"/>
            </p:cNvSpPr>
            <p:nvPr/>
          </p:nvSpPr>
          <p:spPr bwMode="auto">
            <a:xfrm>
              <a:off x="3562" y="2058"/>
              <a:ext cx="1179" cy="163"/>
            </a:xfrm>
            <a:prstGeom prst="rect">
              <a:avLst/>
            </a:prstGeom>
            <a:solidFill>
              <a:srgbClr val="C5E2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>
                  <a:latin typeface="Times New Roman" pitchFamily="18" charset="0"/>
                </a:rPr>
                <a:t>M </a:t>
              </a:r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</a:t>
              </a:r>
              <a:r>
                <a:rPr lang="en-US" sz="1600" b="1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P</a:t>
              </a:r>
              <a:r>
                <a:rPr lang="en-US" sz="1600" b="1" baseline="-25000">
                  <a:solidFill>
                    <a:srgbClr val="000000"/>
                  </a:solidFill>
                  <a:latin typeface="Times New Roman" pitchFamily="18" charset="0"/>
                  <a:sym typeface="Symbol" pitchFamily="18" charset="2"/>
                </a:rPr>
                <a:t>i</a:t>
              </a:r>
              <a:endParaRPr lang="ru-RU" sz="1600" b="1" baseline="-25000">
                <a:solidFill>
                  <a:srgbClr val="000000"/>
                </a:solidFill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9254" name="Freeform 28"/>
            <p:cNvSpPr>
              <a:spLocks/>
            </p:cNvSpPr>
            <p:nvPr/>
          </p:nvSpPr>
          <p:spPr bwMode="auto">
            <a:xfrm>
              <a:off x="4152" y="1918"/>
              <a:ext cx="1" cy="128"/>
            </a:xfrm>
            <a:custGeom>
              <a:avLst/>
              <a:gdLst>
                <a:gd name="T0" fmla="*/ 0 w 1"/>
                <a:gd name="T1" fmla="*/ 0 h 128"/>
                <a:gd name="T2" fmla="*/ 0 w 1"/>
                <a:gd name="T3" fmla="*/ 128 h 128"/>
                <a:gd name="T4" fmla="*/ 0 60000 65536"/>
                <a:gd name="T5" fmla="*/ 0 60000 65536"/>
                <a:gd name="T6" fmla="*/ 0 w 1"/>
                <a:gd name="T7" fmla="*/ 0 h 128"/>
                <a:gd name="T8" fmla="*/ 1 w 1"/>
                <a:gd name="T9" fmla="*/ 128 h 12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28">
                  <a:moveTo>
                    <a:pt x="0" y="0"/>
                  </a:moveTo>
                  <a:lnTo>
                    <a:pt x="0" y="128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5" name="Line 29"/>
            <p:cNvSpPr>
              <a:spLocks noChangeShapeType="1"/>
            </p:cNvSpPr>
            <p:nvPr/>
          </p:nvSpPr>
          <p:spPr bwMode="auto">
            <a:xfrm>
              <a:off x="4147" y="2216"/>
              <a:ext cx="0" cy="1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6" name="Freeform 30"/>
            <p:cNvSpPr>
              <a:spLocks/>
            </p:cNvSpPr>
            <p:nvPr/>
          </p:nvSpPr>
          <p:spPr bwMode="auto">
            <a:xfrm>
              <a:off x="4145" y="1086"/>
              <a:ext cx="2" cy="114"/>
            </a:xfrm>
            <a:custGeom>
              <a:avLst/>
              <a:gdLst>
                <a:gd name="T0" fmla="*/ 0 w 2"/>
                <a:gd name="T1" fmla="*/ 0 h 114"/>
                <a:gd name="T2" fmla="*/ 2 w 2"/>
                <a:gd name="T3" fmla="*/ 114 h 114"/>
                <a:gd name="T4" fmla="*/ 0 60000 65536"/>
                <a:gd name="T5" fmla="*/ 0 60000 65536"/>
                <a:gd name="T6" fmla="*/ 0 w 2"/>
                <a:gd name="T7" fmla="*/ 0 h 114"/>
                <a:gd name="T8" fmla="*/ 2 w 2"/>
                <a:gd name="T9" fmla="*/ 114 h 11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114">
                  <a:moveTo>
                    <a:pt x="0" y="0"/>
                  </a:moveTo>
                  <a:lnTo>
                    <a:pt x="2" y="114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7" name="Line 31"/>
            <p:cNvSpPr>
              <a:spLocks noChangeShapeType="1"/>
            </p:cNvSpPr>
            <p:nvPr/>
          </p:nvSpPr>
          <p:spPr bwMode="auto">
            <a:xfrm>
              <a:off x="4152" y="1421"/>
              <a:ext cx="0" cy="18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8" name="Rectangle 32"/>
            <p:cNvSpPr>
              <a:spLocks noChangeArrowheads="1"/>
            </p:cNvSpPr>
            <p:nvPr/>
          </p:nvSpPr>
          <p:spPr bwMode="auto">
            <a:xfrm>
              <a:off x="3375" y="2353"/>
              <a:ext cx="1542" cy="261"/>
            </a:xfrm>
            <a:prstGeom prst="rect">
              <a:avLst/>
            </a:prstGeom>
            <a:solidFill>
              <a:srgbClr val="C5E2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>
                  <a:latin typeface="Times New Roman" pitchFamily="18" charset="0"/>
                </a:rPr>
                <a:t>h(M)</a:t>
              </a:r>
              <a:r>
                <a:rPr lang="ru-RU" sz="1600" b="1">
                  <a:latin typeface="Times New Roman" pitchFamily="18" charset="0"/>
                </a:rPr>
                <a:t>, </a:t>
              </a:r>
              <a:r>
                <a:rPr lang="en-US" sz="1600" b="1">
                  <a:latin typeface="Times New Roman" pitchFamily="18" charset="0"/>
                </a:rPr>
                <a:t>SHA-1</a:t>
              </a:r>
              <a:r>
                <a:rPr lang="ru-RU" sz="1600" b="1">
                  <a:latin typeface="Times New Roman" pitchFamily="18" charset="0"/>
                </a:rPr>
                <a:t> </a:t>
              </a:r>
              <a:r>
                <a:rPr lang="en-US" sz="1600" b="1">
                  <a:latin typeface="Times New Roman" pitchFamily="18" charset="0"/>
                </a:rPr>
                <a:t> </a:t>
              </a:r>
              <a:endParaRPr lang="ru-RU" sz="1600" b="1">
                <a:latin typeface="Times New Roman" pitchFamily="18" charset="0"/>
              </a:endParaRPr>
            </a:p>
          </p:txBody>
        </p:sp>
      </p:grpSp>
      <p:grpSp>
        <p:nvGrpSpPr>
          <p:cNvPr id="9225" name="Group 33"/>
          <p:cNvGrpSpPr>
            <a:grpSpLocks/>
          </p:cNvGrpSpPr>
          <p:nvPr/>
        </p:nvGrpSpPr>
        <p:grpSpPr bwMode="auto">
          <a:xfrm>
            <a:off x="5292725" y="2070100"/>
            <a:ext cx="3095625" cy="3752850"/>
            <a:chOff x="3334" y="1304"/>
            <a:chExt cx="1950" cy="2364"/>
          </a:xfrm>
        </p:grpSpPr>
        <p:sp>
          <p:nvSpPr>
            <p:cNvPr id="9245" name="Freeform 34"/>
            <p:cNvSpPr>
              <a:spLocks/>
            </p:cNvSpPr>
            <p:nvPr/>
          </p:nvSpPr>
          <p:spPr bwMode="auto">
            <a:xfrm>
              <a:off x="4526" y="1304"/>
              <a:ext cx="758" cy="1672"/>
            </a:xfrm>
            <a:custGeom>
              <a:avLst/>
              <a:gdLst>
                <a:gd name="T0" fmla="*/ 0 w 764"/>
                <a:gd name="T1" fmla="*/ 0 h 1605"/>
                <a:gd name="T2" fmla="*/ 764 w 764"/>
                <a:gd name="T3" fmla="*/ 0 h 1605"/>
                <a:gd name="T4" fmla="*/ 764 w 764"/>
                <a:gd name="T5" fmla="*/ 1605 h 1605"/>
                <a:gd name="T6" fmla="*/ 447 w 764"/>
                <a:gd name="T7" fmla="*/ 1605 h 16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4"/>
                <a:gd name="T13" fmla="*/ 0 h 1605"/>
                <a:gd name="T14" fmla="*/ 764 w 764"/>
                <a:gd name="T15" fmla="*/ 1605 h 16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4" h="1605">
                  <a:moveTo>
                    <a:pt x="0" y="0"/>
                  </a:moveTo>
                  <a:lnTo>
                    <a:pt x="764" y="0"/>
                  </a:lnTo>
                  <a:lnTo>
                    <a:pt x="764" y="1605"/>
                  </a:lnTo>
                  <a:lnTo>
                    <a:pt x="447" y="1605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6" name="Freeform 35"/>
            <p:cNvSpPr>
              <a:spLocks/>
            </p:cNvSpPr>
            <p:nvPr/>
          </p:nvSpPr>
          <p:spPr bwMode="auto">
            <a:xfrm>
              <a:off x="4152" y="2614"/>
              <a:ext cx="1" cy="176"/>
            </a:xfrm>
            <a:custGeom>
              <a:avLst/>
              <a:gdLst>
                <a:gd name="T0" fmla="*/ 0 w 1"/>
                <a:gd name="T1" fmla="*/ 0 h 176"/>
                <a:gd name="T2" fmla="*/ 0 w 1"/>
                <a:gd name="T3" fmla="*/ 176 h 176"/>
                <a:gd name="T4" fmla="*/ 0 60000 65536"/>
                <a:gd name="T5" fmla="*/ 0 60000 65536"/>
                <a:gd name="T6" fmla="*/ 0 w 1"/>
                <a:gd name="T7" fmla="*/ 0 h 176"/>
                <a:gd name="T8" fmla="*/ 1 w 1"/>
                <a:gd name="T9" fmla="*/ 176 h 17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76">
                  <a:moveTo>
                    <a:pt x="0" y="0"/>
                  </a:moveTo>
                  <a:lnTo>
                    <a:pt x="0" y="176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7" name="Rectangle 36"/>
            <p:cNvSpPr>
              <a:spLocks noChangeArrowheads="1"/>
            </p:cNvSpPr>
            <p:nvPr/>
          </p:nvSpPr>
          <p:spPr bwMode="auto">
            <a:xfrm>
              <a:off x="3334" y="2795"/>
              <a:ext cx="1633" cy="318"/>
            </a:xfrm>
            <a:prstGeom prst="rect">
              <a:avLst/>
            </a:prstGeom>
            <a:solidFill>
              <a:srgbClr val="C5E2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</a:rPr>
                <a:t>U(P</a:t>
              </a:r>
              <a:r>
                <a:rPr lang="ru-RU" sz="1600" b="1" baseline="-2500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</a:rPr>
                <a:t>; h(M))=</a:t>
              </a:r>
              <a:r>
                <a:rPr lang="en-US" sz="1600" b="1">
                  <a:solidFill>
                    <a:srgbClr val="000000"/>
                  </a:solidFill>
                  <a:latin typeface="Times New Roman" pitchFamily="18" charset="0"/>
                </a:rPr>
                <a:t>u</a:t>
              </a:r>
              <a:r>
                <a:rPr lang="ru-RU" sz="1600" b="1" baseline="-25000">
                  <a:solidFill>
                    <a:srgbClr val="000000"/>
                  </a:solidFill>
                  <a:latin typeface="Times New Roman" pitchFamily="18" charset="0"/>
                </a:rPr>
                <a:t>i</a:t>
              </a:r>
              <a:r>
                <a:rPr lang="ru-RU" sz="1600" b="1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endParaRPr lang="uz-Cyrl-UZ" sz="1600" b="1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ctr"/>
              <a:r>
                <a:rPr lang="en-US" sz="1600" b="1">
                  <a:solidFill>
                    <a:srgbClr val="000000"/>
                  </a:solidFill>
                  <a:latin typeface="Times New Roman" pitchFamily="18" charset="0"/>
                </a:rPr>
                <a:t>RSA</a:t>
              </a:r>
              <a:endParaRPr lang="ru-RU" sz="16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9248" name="Line 37"/>
            <p:cNvSpPr>
              <a:spLocks noChangeShapeType="1"/>
            </p:cNvSpPr>
            <p:nvPr/>
          </p:nvSpPr>
          <p:spPr bwMode="auto">
            <a:xfrm flipH="1">
              <a:off x="4149" y="3113"/>
              <a:ext cx="1" cy="273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9" name="AutoShape 38"/>
            <p:cNvSpPr>
              <a:spLocks noChangeArrowheads="1"/>
            </p:cNvSpPr>
            <p:nvPr/>
          </p:nvSpPr>
          <p:spPr bwMode="auto">
            <a:xfrm>
              <a:off x="3812" y="3396"/>
              <a:ext cx="680" cy="272"/>
            </a:xfrm>
            <a:prstGeom prst="diamond">
              <a:avLst/>
            </a:prstGeom>
            <a:solidFill>
              <a:srgbClr val="99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>
                  <a:latin typeface="Times New Roman" pitchFamily="18" charset="0"/>
                </a:rPr>
                <a:t>r</a:t>
              </a:r>
              <a:r>
                <a:rPr lang="en-US" sz="1600" b="1" baseline="-25000">
                  <a:latin typeface="Times New Roman" pitchFamily="18" charset="0"/>
                </a:rPr>
                <a:t>i</a:t>
              </a:r>
              <a:r>
                <a:rPr lang="en-US" sz="1600" b="1">
                  <a:latin typeface="Times New Roman" pitchFamily="18" charset="0"/>
                </a:rPr>
                <a:t>=u</a:t>
              </a:r>
              <a:r>
                <a:rPr lang="en-US" sz="1600" b="1" baseline="-25000">
                  <a:latin typeface="Times New Roman" pitchFamily="18" charset="0"/>
                </a:rPr>
                <a:t>i</a:t>
              </a:r>
              <a:endParaRPr lang="ru-RU" sz="1600" b="1" baseline="-25000">
                <a:latin typeface="Times New Roman" pitchFamily="18" charset="0"/>
              </a:endParaRPr>
            </a:p>
          </p:txBody>
        </p:sp>
      </p:grpSp>
      <p:grpSp>
        <p:nvGrpSpPr>
          <p:cNvPr id="9226" name="Group 39"/>
          <p:cNvGrpSpPr>
            <a:grpSpLocks/>
          </p:cNvGrpSpPr>
          <p:nvPr/>
        </p:nvGrpSpPr>
        <p:grpSpPr bwMode="auto">
          <a:xfrm>
            <a:off x="7108825" y="5191125"/>
            <a:ext cx="1655763" cy="765175"/>
            <a:chOff x="4478" y="3270"/>
            <a:chExt cx="1043" cy="482"/>
          </a:xfrm>
        </p:grpSpPr>
        <p:sp>
          <p:nvSpPr>
            <p:cNvPr id="9242" name="Line 40"/>
            <p:cNvSpPr>
              <a:spLocks noChangeShapeType="1"/>
            </p:cNvSpPr>
            <p:nvPr/>
          </p:nvSpPr>
          <p:spPr bwMode="auto">
            <a:xfrm>
              <a:off x="4487" y="3532"/>
              <a:ext cx="27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3" name="Text Box 41"/>
            <p:cNvSpPr txBox="1">
              <a:spLocks noChangeArrowheads="1"/>
            </p:cNvSpPr>
            <p:nvPr/>
          </p:nvSpPr>
          <p:spPr bwMode="auto">
            <a:xfrm>
              <a:off x="4478" y="3270"/>
              <a:ext cx="33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sz="1200" b="1">
                  <a:latin typeface="Times New Roman" pitchFamily="18" charset="0"/>
                </a:rPr>
                <a:t>й</a:t>
              </a:r>
              <a:r>
                <a:rPr lang="uz-Cyrl-UZ" sz="1200" b="1">
                  <a:latin typeface="Times New Roman" pitchFamily="18" charset="0"/>
                </a:rPr>
                <a:t>ўқ</a:t>
              </a:r>
              <a:endParaRPr lang="ru-RU" sz="1200" b="1">
                <a:latin typeface="Times New Roman" pitchFamily="18" charset="0"/>
              </a:endParaRPr>
            </a:p>
          </p:txBody>
        </p:sp>
        <p:sp>
          <p:nvSpPr>
            <p:cNvPr id="9244" name="Rectangle 42"/>
            <p:cNvSpPr>
              <a:spLocks noChangeArrowheads="1"/>
            </p:cNvSpPr>
            <p:nvPr/>
          </p:nvSpPr>
          <p:spPr bwMode="auto">
            <a:xfrm>
              <a:off x="4782" y="3331"/>
              <a:ext cx="739" cy="421"/>
            </a:xfrm>
            <a:prstGeom prst="rect">
              <a:avLst/>
            </a:prstGeom>
            <a:solidFill>
              <a:srgbClr val="C5E2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uz-Cyrl-UZ" sz="1200" b="1">
                  <a:solidFill>
                    <a:srgbClr val="000000"/>
                  </a:solidFill>
                  <a:latin typeface="Times New Roman" pitchFamily="18" charset="0"/>
                </a:rPr>
                <a:t>Электрон хужжат</a:t>
              </a:r>
            </a:p>
            <a:p>
              <a:pPr algn="ctr"/>
              <a:r>
                <a:rPr lang="uz-Cyrl-UZ" sz="1200" b="1">
                  <a:solidFill>
                    <a:srgbClr val="000000"/>
                  </a:solidFill>
                  <a:latin typeface="Times New Roman" pitchFamily="18" charset="0"/>
                </a:rPr>
                <a:t>хақиқий эмас</a:t>
              </a:r>
              <a:endParaRPr lang="ru-RU" sz="1200" b="1">
                <a:latin typeface="Times New Roman" pitchFamily="18" charset="0"/>
              </a:endParaRPr>
            </a:p>
          </p:txBody>
        </p:sp>
      </p:grpSp>
      <p:sp>
        <p:nvSpPr>
          <p:cNvPr id="9227" name="Line 43"/>
          <p:cNvSpPr>
            <a:spLocks noChangeShapeType="1"/>
          </p:cNvSpPr>
          <p:nvPr/>
        </p:nvSpPr>
        <p:spPr bwMode="auto">
          <a:xfrm>
            <a:off x="6618288" y="5838825"/>
            <a:ext cx="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grpSp>
        <p:nvGrpSpPr>
          <p:cNvPr id="9228" name="Group 44"/>
          <p:cNvGrpSpPr>
            <a:grpSpLocks/>
          </p:cNvGrpSpPr>
          <p:nvPr/>
        </p:nvGrpSpPr>
        <p:grpSpPr bwMode="auto">
          <a:xfrm>
            <a:off x="4530725" y="5191125"/>
            <a:ext cx="1617663" cy="790575"/>
            <a:chOff x="2854" y="3270"/>
            <a:chExt cx="1019" cy="498"/>
          </a:xfrm>
        </p:grpSpPr>
        <p:sp>
          <p:nvSpPr>
            <p:cNvPr id="9239" name="Line 45"/>
            <p:cNvSpPr>
              <a:spLocks noChangeShapeType="1"/>
            </p:cNvSpPr>
            <p:nvPr/>
          </p:nvSpPr>
          <p:spPr bwMode="auto">
            <a:xfrm flipH="1">
              <a:off x="3580" y="3532"/>
              <a:ext cx="227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0" name="Text Box 46"/>
            <p:cNvSpPr txBox="1">
              <a:spLocks noChangeArrowheads="1"/>
            </p:cNvSpPr>
            <p:nvPr/>
          </p:nvSpPr>
          <p:spPr bwMode="auto">
            <a:xfrm>
              <a:off x="3600" y="3270"/>
              <a:ext cx="27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ru-RU" sz="1200" b="1">
                  <a:latin typeface="Times New Roman" pitchFamily="18" charset="0"/>
                </a:rPr>
                <a:t>ха</a:t>
              </a:r>
            </a:p>
          </p:txBody>
        </p:sp>
        <p:sp>
          <p:nvSpPr>
            <p:cNvPr id="9241" name="Rectangle 47"/>
            <p:cNvSpPr>
              <a:spLocks noChangeArrowheads="1"/>
            </p:cNvSpPr>
            <p:nvPr/>
          </p:nvSpPr>
          <p:spPr bwMode="auto">
            <a:xfrm>
              <a:off x="2854" y="3328"/>
              <a:ext cx="725" cy="440"/>
            </a:xfrm>
            <a:prstGeom prst="rect">
              <a:avLst/>
            </a:prstGeom>
            <a:solidFill>
              <a:srgbClr val="C5E2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uz-Cyrl-UZ" sz="1200" b="1">
                  <a:solidFill>
                    <a:srgbClr val="000000"/>
                  </a:solidFill>
                  <a:latin typeface="Times New Roman" pitchFamily="18" charset="0"/>
                </a:rPr>
                <a:t>Электрон хужжат</a:t>
              </a:r>
            </a:p>
            <a:p>
              <a:pPr algn="ctr"/>
              <a:r>
                <a:rPr lang="uz-Cyrl-UZ" sz="1200" b="1">
                  <a:solidFill>
                    <a:srgbClr val="000000"/>
                  </a:solidFill>
                  <a:latin typeface="Times New Roman" pitchFamily="18" charset="0"/>
                </a:rPr>
                <a:t>хақиқий</a:t>
              </a:r>
              <a:r>
                <a:rPr lang="uz-Cyrl-UZ" sz="1400" b="1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ru-RU" sz="1400" b="1">
                <a:latin typeface="Times New Roman" pitchFamily="18" charset="0"/>
              </a:endParaRPr>
            </a:p>
          </p:txBody>
        </p:sp>
      </p:grpSp>
      <p:grpSp>
        <p:nvGrpSpPr>
          <p:cNvPr id="9229" name="Group 48"/>
          <p:cNvGrpSpPr>
            <a:grpSpLocks/>
          </p:cNvGrpSpPr>
          <p:nvPr/>
        </p:nvGrpSpPr>
        <p:grpSpPr bwMode="auto">
          <a:xfrm>
            <a:off x="5078413" y="5973763"/>
            <a:ext cx="2332037" cy="419100"/>
            <a:chOff x="3199" y="3763"/>
            <a:chExt cx="1469" cy="264"/>
          </a:xfrm>
        </p:grpSpPr>
        <p:sp>
          <p:nvSpPr>
            <p:cNvPr id="9237" name="AutoShape 49"/>
            <p:cNvSpPr>
              <a:spLocks noChangeArrowheads="1"/>
            </p:cNvSpPr>
            <p:nvPr/>
          </p:nvSpPr>
          <p:spPr bwMode="auto">
            <a:xfrm>
              <a:off x="3625" y="3814"/>
              <a:ext cx="1043" cy="213"/>
            </a:xfrm>
            <a:prstGeom prst="flowChartTerminator">
              <a:avLst/>
            </a:prstGeom>
            <a:solidFill>
              <a:srgbClr val="66FF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uz-Cyrl-UZ" sz="1600" b="1">
                  <a:latin typeface="Times New Roman" pitchFamily="18" charset="0"/>
                </a:rPr>
                <a:t>Тамом</a:t>
              </a:r>
              <a:endParaRPr lang="ru-RU" sz="1600" b="1">
                <a:latin typeface="Times New Roman" pitchFamily="18" charset="0"/>
              </a:endParaRPr>
            </a:p>
          </p:txBody>
        </p:sp>
        <p:sp>
          <p:nvSpPr>
            <p:cNvPr id="9238" name="Freeform 50"/>
            <p:cNvSpPr>
              <a:spLocks/>
            </p:cNvSpPr>
            <p:nvPr/>
          </p:nvSpPr>
          <p:spPr bwMode="auto">
            <a:xfrm>
              <a:off x="3199" y="3763"/>
              <a:ext cx="425" cy="162"/>
            </a:xfrm>
            <a:custGeom>
              <a:avLst/>
              <a:gdLst>
                <a:gd name="T0" fmla="*/ 0 w 425"/>
                <a:gd name="T1" fmla="*/ 0 h 162"/>
                <a:gd name="T2" fmla="*/ 0 w 425"/>
                <a:gd name="T3" fmla="*/ 162 h 162"/>
                <a:gd name="T4" fmla="*/ 425 w 425"/>
                <a:gd name="T5" fmla="*/ 162 h 162"/>
                <a:gd name="T6" fmla="*/ 0 60000 65536"/>
                <a:gd name="T7" fmla="*/ 0 60000 65536"/>
                <a:gd name="T8" fmla="*/ 0 60000 65536"/>
                <a:gd name="T9" fmla="*/ 0 w 425"/>
                <a:gd name="T10" fmla="*/ 0 h 162"/>
                <a:gd name="T11" fmla="*/ 425 w 425"/>
                <a:gd name="T12" fmla="*/ 162 h 1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5" h="162">
                  <a:moveTo>
                    <a:pt x="0" y="0"/>
                  </a:moveTo>
                  <a:lnTo>
                    <a:pt x="0" y="162"/>
                  </a:lnTo>
                  <a:lnTo>
                    <a:pt x="425" y="162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sp>
        <p:nvSpPr>
          <p:cNvPr id="9230" name="Freeform 51"/>
          <p:cNvSpPr>
            <a:spLocks/>
          </p:cNvSpPr>
          <p:nvPr/>
        </p:nvSpPr>
        <p:spPr bwMode="auto">
          <a:xfrm>
            <a:off x="7407275" y="5969000"/>
            <a:ext cx="852488" cy="277813"/>
          </a:xfrm>
          <a:custGeom>
            <a:avLst/>
            <a:gdLst>
              <a:gd name="T0" fmla="*/ 537 w 537"/>
              <a:gd name="T1" fmla="*/ 0 h 175"/>
              <a:gd name="T2" fmla="*/ 537 w 537"/>
              <a:gd name="T3" fmla="*/ 175 h 175"/>
              <a:gd name="T4" fmla="*/ 0 w 537"/>
              <a:gd name="T5" fmla="*/ 175 h 175"/>
              <a:gd name="T6" fmla="*/ 0 60000 65536"/>
              <a:gd name="T7" fmla="*/ 0 60000 65536"/>
              <a:gd name="T8" fmla="*/ 0 60000 65536"/>
              <a:gd name="T9" fmla="*/ 0 w 537"/>
              <a:gd name="T10" fmla="*/ 0 h 175"/>
              <a:gd name="T11" fmla="*/ 537 w 537"/>
              <a:gd name="T12" fmla="*/ 175 h 1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37" h="175">
                <a:moveTo>
                  <a:pt x="537" y="0"/>
                </a:moveTo>
                <a:lnTo>
                  <a:pt x="537" y="175"/>
                </a:lnTo>
                <a:lnTo>
                  <a:pt x="0" y="175"/>
                </a:lnTo>
              </a:path>
            </a:pathLst>
          </a:custGeom>
          <a:noFill/>
          <a:ln w="28575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9231" name="Text Box 52"/>
          <p:cNvSpPr txBox="1">
            <a:spLocks noChangeArrowheads="1"/>
          </p:cNvSpPr>
          <p:nvPr/>
        </p:nvSpPr>
        <p:spPr bwMode="auto">
          <a:xfrm>
            <a:off x="1130300" y="1196975"/>
            <a:ext cx="1641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uz-Cyrl-UZ" b="1">
                <a:solidFill>
                  <a:srgbClr val="990000"/>
                </a:solidFill>
                <a:latin typeface="Times New Roman" pitchFamily="18" charset="0"/>
              </a:rPr>
              <a:t>ШИФРЛАШ</a:t>
            </a:r>
            <a:endParaRPr lang="ru-RU" b="1">
              <a:solidFill>
                <a:srgbClr val="990000"/>
              </a:solidFill>
              <a:latin typeface="Times New Roman" pitchFamily="18" charset="0"/>
            </a:endParaRPr>
          </a:p>
        </p:txBody>
      </p:sp>
      <p:sp>
        <p:nvSpPr>
          <p:cNvPr id="9232" name="Text Box 53"/>
          <p:cNvSpPr txBox="1">
            <a:spLocks noChangeArrowheads="1"/>
          </p:cNvSpPr>
          <p:nvPr/>
        </p:nvSpPr>
        <p:spPr bwMode="auto">
          <a:xfrm>
            <a:off x="5724525" y="1009650"/>
            <a:ext cx="1943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uz-Cyrl-UZ" b="1">
                <a:solidFill>
                  <a:srgbClr val="990000"/>
                </a:solidFill>
                <a:latin typeface="Times New Roman" pitchFamily="18" charset="0"/>
              </a:rPr>
              <a:t>ДЕШИФРЛАШ</a:t>
            </a:r>
            <a:endParaRPr lang="ru-RU" b="1">
              <a:solidFill>
                <a:srgbClr val="990000"/>
              </a:solidFill>
              <a:latin typeface="Times New Roman" pitchFamily="18" charset="0"/>
            </a:endParaRPr>
          </a:p>
        </p:txBody>
      </p:sp>
      <p:sp>
        <p:nvSpPr>
          <p:cNvPr id="9233" name="Rectangle 54"/>
          <p:cNvSpPr>
            <a:spLocks noChangeArrowheads="1"/>
          </p:cNvSpPr>
          <p:nvPr/>
        </p:nvSpPr>
        <p:spPr bwMode="auto">
          <a:xfrm>
            <a:off x="2051050" y="0"/>
            <a:ext cx="6913563" cy="76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uz-Cyrl-UZ" sz="2400" b="1">
                <a:solidFill>
                  <a:schemeClr val="bg1"/>
                </a:solidFill>
              </a:rPr>
              <a:t>Хужжатга имзо қўйиш ва уни текшириш алгоритмлари </a:t>
            </a:r>
            <a:r>
              <a:rPr lang="en-US" sz="2400" b="1">
                <a:solidFill>
                  <a:schemeClr val="bg1"/>
                </a:solidFill>
              </a:rPr>
              <a:t>2 - </a:t>
            </a:r>
            <a:r>
              <a:rPr lang="uz-Cyrl-UZ" sz="2400" b="1">
                <a:solidFill>
                  <a:schemeClr val="bg1"/>
                </a:solidFill>
              </a:rPr>
              <a:t>блок-схемаси  </a:t>
            </a:r>
            <a:endParaRPr lang="en-US" sz="2400" b="1">
              <a:solidFill>
                <a:schemeClr val="bg1"/>
              </a:solidFill>
            </a:endParaRPr>
          </a:p>
        </p:txBody>
      </p:sp>
      <p:sp>
        <p:nvSpPr>
          <p:cNvPr id="9234" name="Rectangle 16"/>
          <p:cNvSpPr>
            <a:spLocks noChangeArrowheads="1"/>
          </p:cNvSpPr>
          <p:nvPr/>
        </p:nvSpPr>
        <p:spPr bwMode="auto">
          <a:xfrm>
            <a:off x="179388" y="981075"/>
            <a:ext cx="8713787" cy="5616575"/>
          </a:xfrm>
          <a:prstGeom prst="rect">
            <a:avLst/>
          </a:prstGeom>
          <a:noFill/>
          <a:ln w="76200" cmpd="tri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9235" name="Text Box 56"/>
          <p:cNvSpPr txBox="1">
            <a:spLocks noChangeArrowheads="1"/>
          </p:cNvSpPr>
          <p:nvPr/>
        </p:nvSpPr>
        <p:spPr bwMode="auto">
          <a:xfrm>
            <a:off x="2916238" y="1268413"/>
            <a:ext cx="11509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uz-Cyrl-UZ" b="1" i="1"/>
              <a:t>А</a:t>
            </a:r>
            <a:r>
              <a:rPr lang="uz-Cyrl-UZ" b="1"/>
              <a:t> фойд.</a:t>
            </a:r>
            <a:endParaRPr lang="ru-RU" b="1"/>
          </a:p>
        </p:txBody>
      </p:sp>
      <p:sp>
        <p:nvSpPr>
          <p:cNvPr id="9236" name="Text Box 57"/>
          <p:cNvSpPr txBox="1">
            <a:spLocks noChangeArrowheads="1"/>
          </p:cNvSpPr>
          <p:nvPr/>
        </p:nvSpPr>
        <p:spPr bwMode="auto">
          <a:xfrm>
            <a:off x="7596188" y="1341438"/>
            <a:ext cx="11509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uz-Cyrl-UZ" b="1" i="1"/>
              <a:t>В</a:t>
            </a:r>
            <a:r>
              <a:rPr lang="uz-Cyrl-UZ" b="1"/>
              <a:t> фойд.</a:t>
            </a:r>
            <a:endParaRPr lang="ru-RU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8" descr="DellWorkst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2708275"/>
            <a:ext cx="1743075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19"/>
          <p:cNvSpPr>
            <a:spLocks noChangeArrowheads="1"/>
          </p:cNvSpPr>
          <p:nvPr/>
        </p:nvSpPr>
        <p:spPr bwMode="auto">
          <a:xfrm>
            <a:off x="0" y="2565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900113" y="2492375"/>
            <a:ext cx="1152525" cy="431800"/>
            <a:chOff x="657" y="3294"/>
            <a:chExt cx="726" cy="272"/>
          </a:xfrm>
        </p:grpSpPr>
        <p:sp>
          <p:nvSpPr>
            <p:cNvPr id="10286" name="Rectangle 31"/>
            <p:cNvSpPr>
              <a:spLocks noChangeArrowheads="1"/>
            </p:cNvSpPr>
            <p:nvPr/>
          </p:nvSpPr>
          <p:spPr bwMode="auto">
            <a:xfrm>
              <a:off x="1031" y="3294"/>
              <a:ext cx="181" cy="27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uz-Cyrl-UZ" b="1"/>
            </a:p>
          </p:txBody>
        </p:sp>
        <p:sp>
          <p:nvSpPr>
            <p:cNvPr id="10287" name="Rectangle 32"/>
            <p:cNvSpPr>
              <a:spLocks noChangeArrowheads="1"/>
            </p:cNvSpPr>
            <p:nvPr/>
          </p:nvSpPr>
          <p:spPr bwMode="auto">
            <a:xfrm>
              <a:off x="844" y="3294"/>
              <a:ext cx="181" cy="272"/>
            </a:xfrm>
            <a:prstGeom prst="rect">
              <a:avLst/>
            </a:prstGeom>
            <a:solidFill>
              <a:srgbClr val="99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uz-Cyrl-UZ" b="1"/>
            </a:p>
          </p:txBody>
        </p:sp>
        <p:sp>
          <p:nvSpPr>
            <p:cNvPr id="10288" name="Rectangle 33"/>
            <p:cNvSpPr>
              <a:spLocks noChangeArrowheads="1"/>
            </p:cNvSpPr>
            <p:nvPr/>
          </p:nvSpPr>
          <p:spPr bwMode="auto">
            <a:xfrm>
              <a:off x="657" y="3294"/>
              <a:ext cx="181" cy="272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uz-Cyrl-UZ" b="1"/>
            </a:p>
          </p:txBody>
        </p:sp>
        <p:sp>
          <p:nvSpPr>
            <p:cNvPr id="10289" name="Rectangle 37"/>
            <p:cNvSpPr>
              <a:spLocks noChangeArrowheads="1"/>
            </p:cNvSpPr>
            <p:nvPr/>
          </p:nvSpPr>
          <p:spPr bwMode="auto">
            <a:xfrm>
              <a:off x="1202" y="3294"/>
              <a:ext cx="181" cy="272"/>
            </a:xfrm>
            <a:prstGeom prst="rect">
              <a:avLst/>
            </a:prstGeom>
            <a:solidFill>
              <a:srgbClr val="99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uz-Cyrl-UZ" b="1"/>
            </a:p>
          </p:txBody>
        </p:sp>
      </p:grpSp>
      <p:sp>
        <p:nvSpPr>
          <p:cNvPr id="10245" name="Text Box 2"/>
          <p:cNvSpPr txBox="1">
            <a:spLocks noChangeArrowheads="1"/>
          </p:cNvSpPr>
          <p:nvPr/>
        </p:nvSpPr>
        <p:spPr bwMode="auto">
          <a:xfrm>
            <a:off x="2339975" y="260350"/>
            <a:ext cx="5327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uz-Cyrl-UZ"/>
          </a:p>
        </p:txBody>
      </p:sp>
      <p:sp>
        <p:nvSpPr>
          <p:cNvPr id="10246" name="Rectangle 3"/>
          <p:cNvSpPr>
            <a:spLocks noChangeArrowheads="1"/>
          </p:cNvSpPr>
          <p:nvPr/>
        </p:nvSpPr>
        <p:spPr bwMode="auto">
          <a:xfrm>
            <a:off x="1979613" y="79375"/>
            <a:ext cx="5976937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uz-Cyrl-UZ" sz="2100" b="1">
                <a:solidFill>
                  <a:schemeClr val="bg1"/>
                </a:solidFill>
              </a:rPr>
              <a:t>Марказ ходимлари томонидан яратилган электрон почта тизими</a:t>
            </a:r>
            <a:endParaRPr lang="ru-RU" sz="2100" b="1">
              <a:solidFill>
                <a:schemeClr val="bg1"/>
              </a:solidFill>
            </a:endParaRPr>
          </a:p>
        </p:txBody>
      </p:sp>
      <p:pic>
        <p:nvPicPr>
          <p:cNvPr id="10247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638" y="2492375"/>
            <a:ext cx="1306512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8" name="Text Box 16"/>
          <p:cNvSpPr txBox="1">
            <a:spLocks noChangeArrowheads="1"/>
          </p:cNvSpPr>
          <p:nvPr/>
        </p:nvSpPr>
        <p:spPr bwMode="auto">
          <a:xfrm>
            <a:off x="179388" y="4508500"/>
            <a:ext cx="1935162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ru-RU" sz="2000">
                <a:cs typeface="Times New Roman" pitchFamily="18" charset="0"/>
              </a:rPr>
              <a:t>Ф</a:t>
            </a:r>
            <a:r>
              <a:rPr lang="uz-Cyrl-UZ" sz="2000">
                <a:cs typeface="Times New Roman" pitchFamily="18" charset="0"/>
              </a:rPr>
              <a:t>ойдаланувчи</a:t>
            </a:r>
            <a:endParaRPr lang="uz-Cyrl-UZ" sz="2000"/>
          </a:p>
        </p:txBody>
      </p:sp>
      <p:sp>
        <p:nvSpPr>
          <p:cNvPr id="10249" name="Text Box 15"/>
          <p:cNvSpPr txBox="1">
            <a:spLocks noChangeArrowheads="1"/>
          </p:cNvSpPr>
          <p:nvPr/>
        </p:nvSpPr>
        <p:spPr bwMode="auto">
          <a:xfrm>
            <a:off x="7667625" y="4467225"/>
            <a:ext cx="11604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000">
                <a:cs typeface="Times New Roman" pitchFamily="18" charset="0"/>
              </a:rPr>
              <a:t>C</a:t>
            </a:r>
            <a:r>
              <a:rPr lang="uz-Cyrl-UZ" sz="2000">
                <a:cs typeface="Times New Roman" pitchFamily="18" charset="0"/>
              </a:rPr>
              <a:t>ервер</a:t>
            </a:r>
            <a:endParaRPr lang="uz-Cyrl-UZ" sz="2000"/>
          </a:p>
        </p:txBody>
      </p:sp>
      <p:grpSp>
        <p:nvGrpSpPr>
          <p:cNvPr id="3" name="Group 68"/>
          <p:cNvGrpSpPr>
            <a:grpSpLocks/>
          </p:cNvGrpSpPr>
          <p:nvPr/>
        </p:nvGrpSpPr>
        <p:grpSpPr bwMode="auto">
          <a:xfrm>
            <a:off x="2041525" y="2189163"/>
            <a:ext cx="5418138" cy="563562"/>
            <a:chOff x="1286" y="1379"/>
            <a:chExt cx="3413" cy="355"/>
          </a:xfrm>
        </p:grpSpPr>
        <p:sp>
          <p:nvSpPr>
            <p:cNvPr id="10284" name="Text Box 14"/>
            <p:cNvSpPr txBox="1">
              <a:spLocks noChangeArrowheads="1"/>
            </p:cNvSpPr>
            <p:nvPr/>
          </p:nvSpPr>
          <p:spPr bwMode="auto">
            <a:xfrm>
              <a:off x="2097" y="1379"/>
              <a:ext cx="1585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i="1">
                  <a:cs typeface="Times New Roman" pitchFamily="18" charset="0"/>
                </a:rPr>
                <a:t>T=L</a:t>
              </a:r>
              <a:r>
                <a:rPr lang="en-US" sz="2000" i="1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</a:t>
              </a:r>
              <a:r>
                <a:rPr lang="en-US" sz="2000" i="1">
                  <a:cs typeface="Times New Roman" pitchFamily="18" charset="0"/>
                </a:rPr>
                <a:t>E</a:t>
              </a:r>
              <a:r>
                <a:rPr lang="en-US" sz="2000" i="1" baseline="-3000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KA</a:t>
              </a:r>
              <a:r>
                <a:rPr lang="en-US" sz="2000" i="1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(H</a:t>
              </a:r>
              <a:r>
                <a:rPr lang="uz-Cyrl-UZ" sz="2000" i="1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(</a:t>
              </a:r>
              <a:r>
                <a:rPr lang="en-US" sz="2000" i="1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P) </a:t>
              </a:r>
              <a:r>
                <a:rPr lang="en-US" sz="2000" i="1">
                  <a:cs typeface="Times New Roman" pitchFamily="18" charset="0"/>
                </a:rPr>
                <a:t>F)</a:t>
              </a:r>
            </a:p>
          </p:txBody>
        </p:sp>
        <p:sp>
          <p:nvSpPr>
            <p:cNvPr id="10285" name="Line 10"/>
            <p:cNvSpPr>
              <a:spLocks noChangeShapeType="1"/>
            </p:cNvSpPr>
            <p:nvPr/>
          </p:nvSpPr>
          <p:spPr bwMode="auto">
            <a:xfrm>
              <a:off x="1286" y="1712"/>
              <a:ext cx="3413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4" name="Group 69"/>
          <p:cNvGrpSpPr>
            <a:grpSpLocks/>
          </p:cNvGrpSpPr>
          <p:nvPr/>
        </p:nvGrpSpPr>
        <p:grpSpPr bwMode="auto">
          <a:xfrm>
            <a:off x="2028825" y="2773363"/>
            <a:ext cx="5418138" cy="754062"/>
            <a:chOff x="1278" y="1747"/>
            <a:chExt cx="3413" cy="475"/>
          </a:xfrm>
        </p:grpSpPr>
        <p:sp>
          <p:nvSpPr>
            <p:cNvPr id="10282" name="Text Box 13"/>
            <p:cNvSpPr txBox="1">
              <a:spLocks noChangeArrowheads="1"/>
            </p:cNvSpPr>
            <p:nvPr/>
          </p:nvSpPr>
          <p:spPr bwMode="auto">
            <a:xfrm>
              <a:off x="2123" y="1747"/>
              <a:ext cx="1585" cy="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i="1">
                  <a:cs typeface="Times New Roman" pitchFamily="18" charset="0"/>
                </a:rPr>
                <a:t>G=E</a:t>
              </a:r>
              <a:r>
                <a:rPr lang="en-US" sz="2000" i="1" baseline="-30000">
                  <a:cs typeface="Times New Roman" pitchFamily="18" charset="0"/>
                </a:rPr>
                <a:t>KA</a:t>
              </a:r>
              <a:r>
                <a:rPr lang="en-US" sz="2000" i="1">
                  <a:cs typeface="Times New Roman" pitchFamily="18" charset="0"/>
                </a:rPr>
                <a:t>(H(F) </a:t>
              </a:r>
              <a:r>
                <a:rPr lang="en-US" sz="2000" i="1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</a:t>
              </a:r>
              <a:r>
                <a:rPr lang="en-US" sz="2000" i="1">
                  <a:cs typeface="Times New Roman" pitchFamily="18" charset="0"/>
                </a:rPr>
                <a:t>K</a:t>
              </a:r>
              <a:r>
                <a:rPr lang="en-US" sz="2000" i="1" baseline="-3000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s</a:t>
              </a:r>
              <a:r>
                <a:rPr lang="en-US" sz="2000" i="1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)</a:t>
              </a:r>
            </a:p>
          </p:txBody>
        </p:sp>
        <p:sp>
          <p:nvSpPr>
            <p:cNvPr id="10283" name="Line 9"/>
            <p:cNvSpPr>
              <a:spLocks noChangeShapeType="1"/>
            </p:cNvSpPr>
            <p:nvPr/>
          </p:nvSpPr>
          <p:spPr bwMode="auto">
            <a:xfrm flipH="1">
              <a:off x="1278" y="2090"/>
              <a:ext cx="3413" cy="0"/>
            </a:xfrm>
            <a:prstGeom prst="line">
              <a:avLst/>
            </a:prstGeom>
            <a:noFill/>
            <a:ln w="38100">
              <a:solidFill>
                <a:srgbClr val="6600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5" name="Group 70"/>
          <p:cNvGrpSpPr>
            <a:grpSpLocks/>
          </p:cNvGrpSpPr>
          <p:nvPr/>
        </p:nvGrpSpPr>
        <p:grpSpPr bwMode="auto">
          <a:xfrm>
            <a:off x="2066925" y="3394075"/>
            <a:ext cx="5419725" cy="561975"/>
            <a:chOff x="1302" y="2138"/>
            <a:chExt cx="3414" cy="354"/>
          </a:xfrm>
        </p:grpSpPr>
        <p:sp>
          <p:nvSpPr>
            <p:cNvPr id="10280" name="Text Box 12"/>
            <p:cNvSpPr txBox="1">
              <a:spLocks noChangeArrowheads="1"/>
            </p:cNvSpPr>
            <p:nvPr/>
          </p:nvSpPr>
          <p:spPr bwMode="auto">
            <a:xfrm>
              <a:off x="2456" y="2138"/>
              <a:ext cx="975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i="1">
                  <a:cs typeface="Times New Roman" pitchFamily="18" charset="0"/>
                </a:rPr>
                <a:t>T</a:t>
              </a:r>
              <a:r>
                <a:rPr lang="en-US" sz="2000" i="1" baseline="-30000">
                  <a:cs typeface="Times New Roman" pitchFamily="18" charset="0"/>
                </a:rPr>
                <a:t>1</a:t>
              </a:r>
              <a:r>
                <a:rPr lang="en-US" sz="2000" i="1">
                  <a:cs typeface="Times New Roman" pitchFamily="18" charset="0"/>
                </a:rPr>
                <a:t>=E</a:t>
              </a:r>
              <a:r>
                <a:rPr lang="en-US" sz="2000" i="1" baseline="-30000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Ks</a:t>
              </a:r>
              <a:r>
                <a:rPr lang="en-US" sz="2000" i="1">
                  <a:latin typeface="Times New Roman" pitchFamily="18" charset="0"/>
                  <a:cs typeface="Times New Roman" pitchFamily="18" charset="0"/>
                  <a:sym typeface="Symbol" pitchFamily="18" charset="2"/>
                </a:rPr>
                <a:t>(F)</a:t>
              </a:r>
            </a:p>
          </p:txBody>
        </p:sp>
        <p:sp>
          <p:nvSpPr>
            <p:cNvPr id="10281" name="Line 8"/>
            <p:cNvSpPr>
              <a:spLocks noChangeShapeType="1"/>
            </p:cNvSpPr>
            <p:nvPr/>
          </p:nvSpPr>
          <p:spPr bwMode="auto">
            <a:xfrm>
              <a:off x="1302" y="2457"/>
              <a:ext cx="341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6" name="Group 72"/>
          <p:cNvGrpSpPr>
            <a:grpSpLocks/>
          </p:cNvGrpSpPr>
          <p:nvPr/>
        </p:nvGrpSpPr>
        <p:grpSpPr bwMode="auto">
          <a:xfrm>
            <a:off x="2051050" y="4076700"/>
            <a:ext cx="5418138" cy="563563"/>
            <a:chOff x="1292" y="2568"/>
            <a:chExt cx="3413" cy="355"/>
          </a:xfrm>
        </p:grpSpPr>
        <p:sp>
          <p:nvSpPr>
            <p:cNvPr id="10278" name="Text Box 11"/>
            <p:cNvSpPr txBox="1">
              <a:spLocks noChangeArrowheads="1"/>
            </p:cNvSpPr>
            <p:nvPr/>
          </p:nvSpPr>
          <p:spPr bwMode="auto">
            <a:xfrm>
              <a:off x="2517" y="2568"/>
              <a:ext cx="731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i="1">
                  <a:cs typeface="Times New Roman" pitchFamily="18" charset="0"/>
                </a:rPr>
                <a:t>Ok/No</a:t>
              </a:r>
              <a:endParaRPr lang="en-US" sz="2000"/>
            </a:p>
          </p:txBody>
        </p:sp>
        <p:sp>
          <p:nvSpPr>
            <p:cNvPr id="10279" name="Line 7"/>
            <p:cNvSpPr>
              <a:spLocks noChangeShapeType="1"/>
            </p:cNvSpPr>
            <p:nvPr/>
          </p:nvSpPr>
          <p:spPr bwMode="auto">
            <a:xfrm flipH="1">
              <a:off x="1292" y="2795"/>
              <a:ext cx="3413" cy="0"/>
            </a:xfrm>
            <a:prstGeom prst="line">
              <a:avLst/>
            </a:prstGeom>
            <a:noFill/>
            <a:ln w="38100">
              <a:solidFill>
                <a:srgbClr val="6600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sp>
        <p:nvSpPr>
          <p:cNvPr id="10254" name="Rectangle 26"/>
          <p:cNvSpPr>
            <a:spLocks noChangeArrowheads="1"/>
          </p:cNvSpPr>
          <p:nvPr/>
        </p:nvSpPr>
        <p:spPr bwMode="auto">
          <a:xfrm>
            <a:off x="2124075" y="1196975"/>
            <a:ext cx="5316538" cy="800100"/>
          </a:xfrm>
          <a:prstGeom prst="rect">
            <a:avLst/>
          </a:prstGeom>
          <a:solidFill>
            <a:srgbClr val="CCECFF"/>
          </a:solidFill>
          <a:ln w="38100">
            <a:solidFill>
              <a:srgbClr val="99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ru-RU" sz="2200" b="1">
                <a:solidFill>
                  <a:srgbClr val="660033"/>
                </a:solidFill>
                <a:latin typeface="Times New Roman" pitchFamily="18" charset="0"/>
                <a:cs typeface="Times New Roman" pitchFamily="18" charset="0"/>
              </a:rPr>
              <a:t>Фойдаланувчи ва </a:t>
            </a:r>
            <a:r>
              <a:rPr lang="uz-Cyrl-UZ" sz="2200" b="1">
                <a:solidFill>
                  <a:srgbClr val="660033"/>
                </a:solidFill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ru-RU" sz="2200" b="1">
                <a:solidFill>
                  <a:srgbClr val="660033"/>
                </a:solidFill>
                <a:latin typeface="Times New Roman" pitchFamily="18" charset="0"/>
                <a:cs typeface="Times New Roman" pitchFamily="18" charset="0"/>
              </a:rPr>
              <a:t>ервер </a:t>
            </a:r>
            <a:r>
              <a:rPr lang="uz-Cyrl-UZ" sz="2200" b="1">
                <a:solidFill>
                  <a:srgbClr val="660033"/>
                </a:solidFill>
                <a:latin typeface="Times New Roman" pitchFamily="18" charset="0"/>
                <a:cs typeface="Times New Roman" pitchFamily="18" charset="0"/>
              </a:rPr>
              <a:t>ў</a:t>
            </a:r>
            <a:r>
              <a:rPr lang="ru-RU" sz="2200" b="1">
                <a:solidFill>
                  <a:srgbClr val="660033"/>
                </a:solidFill>
                <a:latin typeface="Times New Roman" pitchFamily="18" charset="0"/>
                <a:cs typeface="Times New Roman" pitchFamily="18" charset="0"/>
              </a:rPr>
              <a:t>ртасида </a:t>
            </a:r>
            <a:r>
              <a:rPr lang="uz-Cyrl-UZ" sz="2200" b="1">
                <a:solidFill>
                  <a:srgbClr val="660033"/>
                </a:solidFill>
                <a:latin typeface="Times New Roman" pitchFamily="18" charset="0"/>
                <a:cs typeface="Times New Roman" pitchFamily="18" charset="0"/>
              </a:rPr>
              <a:t>аутентификация жараёни</a:t>
            </a:r>
            <a:r>
              <a:rPr lang="en-US" sz="2200" b="1">
                <a:solidFill>
                  <a:srgbClr val="660033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uz-Cyrl-UZ" sz="2200" b="1">
              <a:solidFill>
                <a:srgbClr val="660033"/>
              </a:solidFill>
              <a:latin typeface="Times New Roman" pitchFamily="18" charset="0"/>
            </a:endParaRPr>
          </a:p>
        </p:txBody>
      </p:sp>
      <p:sp>
        <p:nvSpPr>
          <p:cNvPr id="10255" name="Rectangle 28"/>
          <p:cNvSpPr>
            <a:spLocks noChangeArrowheads="1"/>
          </p:cNvSpPr>
          <p:nvPr/>
        </p:nvSpPr>
        <p:spPr bwMode="auto">
          <a:xfrm>
            <a:off x="179388" y="981075"/>
            <a:ext cx="8713787" cy="5616575"/>
          </a:xfrm>
          <a:prstGeom prst="rect">
            <a:avLst/>
          </a:prstGeom>
          <a:noFill/>
          <a:ln w="76200" cmpd="tri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20520" name="Rectangle 40"/>
          <p:cNvSpPr>
            <a:spLocks noChangeArrowheads="1"/>
          </p:cNvSpPr>
          <p:nvPr/>
        </p:nvSpPr>
        <p:spPr bwMode="auto">
          <a:xfrm>
            <a:off x="6877050" y="3213100"/>
            <a:ext cx="1871663" cy="431800"/>
          </a:xfrm>
          <a:prstGeom prst="rect">
            <a:avLst/>
          </a:prstGeom>
          <a:solidFill>
            <a:srgbClr val="00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i="1">
                <a:solidFill>
                  <a:schemeClr val="bg1"/>
                </a:solidFill>
                <a:sym typeface="Symbol" pitchFamily="18" charset="2"/>
              </a:rPr>
              <a:t>G=</a:t>
            </a:r>
            <a:r>
              <a:rPr lang="en-US" i="1">
                <a:solidFill>
                  <a:schemeClr val="bg1"/>
                </a:solidFill>
              </a:rPr>
              <a:t>E</a:t>
            </a:r>
            <a:r>
              <a:rPr lang="en-US" i="1" baseline="-25000">
                <a:solidFill>
                  <a:schemeClr val="bg1"/>
                </a:solidFill>
                <a:sym typeface="Symbol" pitchFamily="18" charset="2"/>
              </a:rPr>
              <a:t>KA</a:t>
            </a:r>
            <a:r>
              <a:rPr lang="en-US" i="1">
                <a:solidFill>
                  <a:schemeClr val="bg1"/>
                </a:solidFill>
                <a:sym typeface="Symbol" pitchFamily="18" charset="2"/>
              </a:rPr>
              <a:t>(H</a:t>
            </a:r>
            <a:r>
              <a:rPr lang="uz-Cyrl-UZ" i="1">
                <a:solidFill>
                  <a:schemeClr val="bg1"/>
                </a:solidFill>
                <a:sym typeface="Symbol" pitchFamily="18" charset="2"/>
              </a:rPr>
              <a:t>(</a:t>
            </a:r>
            <a:r>
              <a:rPr lang="en-US" i="1">
                <a:solidFill>
                  <a:schemeClr val="bg1"/>
                </a:solidFill>
                <a:sym typeface="Symbol" pitchFamily="18" charset="2"/>
              </a:rPr>
              <a:t>F)  K</a:t>
            </a:r>
            <a:r>
              <a:rPr lang="en-US" i="1" baseline="-25000">
                <a:solidFill>
                  <a:schemeClr val="bg1"/>
                </a:solidFill>
                <a:sym typeface="Symbol" pitchFamily="18" charset="2"/>
              </a:rPr>
              <a:t>S</a:t>
            </a:r>
            <a:r>
              <a:rPr lang="en-US" i="1">
                <a:solidFill>
                  <a:schemeClr val="bg1"/>
                </a:solidFill>
              </a:rPr>
              <a:t>)</a:t>
            </a:r>
            <a:endParaRPr lang="ru-RU" i="1">
              <a:solidFill>
                <a:schemeClr val="bg1"/>
              </a:solidFill>
            </a:endParaRPr>
          </a:p>
        </p:txBody>
      </p:sp>
      <p:sp>
        <p:nvSpPr>
          <p:cNvPr id="20521" name="Rectangle 41"/>
          <p:cNvSpPr>
            <a:spLocks noChangeArrowheads="1"/>
          </p:cNvSpPr>
          <p:nvPr/>
        </p:nvSpPr>
        <p:spPr bwMode="auto">
          <a:xfrm>
            <a:off x="1187450" y="3789363"/>
            <a:ext cx="1368425" cy="4318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i="1">
                <a:solidFill>
                  <a:schemeClr val="bg1"/>
                </a:solidFill>
                <a:sym typeface="Symbol" pitchFamily="18" charset="2"/>
              </a:rPr>
              <a:t>T</a:t>
            </a:r>
            <a:r>
              <a:rPr lang="en-US" b="1" i="1" baseline="-25000">
                <a:solidFill>
                  <a:schemeClr val="bg1"/>
                </a:solidFill>
                <a:sym typeface="Symbol" pitchFamily="18" charset="2"/>
              </a:rPr>
              <a:t>1</a:t>
            </a:r>
            <a:r>
              <a:rPr lang="en-US" b="1" i="1">
                <a:solidFill>
                  <a:schemeClr val="bg1"/>
                </a:solidFill>
                <a:sym typeface="Symbol" pitchFamily="18" charset="2"/>
              </a:rPr>
              <a:t>=</a:t>
            </a:r>
            <a:r>
              <a:rPr lang="en-US" b="1" i="1">
                <a:solidFill>
                  <a:schemeClr val="bg1"/>
                </a:solidFill>
              </a:rPr>
              <a:t>E</a:t>
            </a:r>
            <a:r>
              <a:rPr lang="en-US" b="1" i="1" baseline="-25000">
                <a:solidFill>
                  <a:schemeClr val="bg1"/>
                </a:solidFill>
                <a:sym typeface="Symbol" pitchFamily="18" charset="2"/>
              </a:rPr>
              <a:t>KS</a:t>
            </a:r>
            <a:r>
              <a:rPr lang="en-US" b="1" i="1">
                <a:solidFill>
                  <a:schemeClr val="bg1"/>
                </a:solidFill>
                <a:sym typeface="Symbol" pitchFamily="18" charset="2"/>
              </a:rPr>
              <a:t>(F</a:t>
            </a:r>
            <a:r>
              <a:rPr lang="en-US" b="1" i="1">
                <a:solidFill>
                  <a:schemeClr val="bg1"/>
                </a:solidFill>
              </a:rPr>
              <a:t>)</a:t>
            </a:r>
            <a:endParaRPr lang="ru-RU" b="1" i="1">
              <a:solidFill>
                <a:schemeClr val="bg1"/>
              </a:solidFill>
            </a:endParaRPr>
          </a:p>
        </p:txBody>
      </p:sp>
      <p:graphicFrame>
        <p:nvGraphicFramePr>
          <p:cNvPr id="20540" name="Group 60"/>
          <p:cNvGraphicFramePr>
            <a:graphicFrameLocks noGrp="1"/>
          </p:cNvGraphicFramePr>
          <p:nvPr>
            <p:ph/>
          </p:nvPr>
        </p:nvGraphicFramePr>
        <p:xfrm>
          <a:off x="7524750" y="4221163"/>
          <a:ext cx="1017588" cy="346075"/>
        </p:xfrm>
        <a:graphic>
          <a:graphicData uri="http://schemas.openxmlformats.org/drawingml/2006/table">
            <a:tbl>
              <a:tblPr/>
              <a:tblGrid>
                <a:gridCol w="509588"/>
                <a:gridCol w="508000"/>
              </a:tblGrid>
              <a:tr h="346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</a:t>
                      </a:r>
                      <a:endParaRPr kumimoji="0" lang="ru-RU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36000" marR="36000" marT="36000" marB="36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NO</a:t>
                      </a:r>
                      <a:endParaRPr kumimoji="0" lang="ru-RU" sz="1600" b="1" i="0" u="none" strike="noStrike" cap="none" normalizeH="0" baseline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L="36000" marR="36000" marT="36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  <p:grpSp>
        <p:nvGrpSpPr>
          <p:cNvPr id="7" name="Group 63"/>
          <p:cNvGrpSpPr>
            <a:grpSpLocks/>
          </p:cNvGrpSpPr>
          <p:nvPr/>
        </p:nvGrpSpPr>
        <p:grpSpPr bwMode="auto">
          <a:xfrm>
            <a:off x="323850" y="2276475"/>
            <a:ext cx="1584325" cy="936625"/>
            <a:chOff x="204" y="1434"/>
            <a:chExt cx="998" cy="590"/>
          </a:xfrm>
        </p:grpSpPr>
        <p:pic>
          <p:nvPicPr>
            <p:cNvPr id="10274" name="Picture 6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" y="1434"/>
              <a:ext cx="998" cy="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5" name="Rectangle 27"/>
            <p:cNvSpPr>
              <a:spLocks noChangeArrowheads="1"/>
            </p:cNvSpPr>
            <p:nvPr/>
          </p:nvSpPr>
          <p:spPr bwMode="auto">
            <a:xfrm>
              <a:off x="975" y="1434"/>
              <a:ext cx="181" cy="181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/>
                <a:t>L</a:t>
              </a:r>
              <a:endParaRPr lang="ru-RU" b="1"/>
            </a:p>
          </p:txBody>
        </p:sp>
        <p:sp>
          <p:nvSpPr>
            <p:cNvPr id="10276" name="Rectangle 29"/>
            <p:cNvSpPr>
              <a:spLocks noChangeArrowheads="1"/>
            </p:cNvSpPr>
            <p:nvPr/>
          </p:nvSpPr>
          <p:spPr bwMode="auto">
            <a:xfrm>
              <a:off x="975" y="1616"/>
              <a:ext cx="181" cy="182"/>
            </a:xfrm>
            <a:prstGeom prst="rect">
              <a:avLst/>
            </a:prstGeom>
            <a:solidFill>
              <a:srgbClr val="99FF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/>
                <a:t>P</a:t>
              </a:r>
              <a:endParaRPr lang="ru-RU" b="1"/>
            </a:p>
          </p:txBody>
        </p:sp>
        <p:sp>
          <p:nvSpPr>
            <p:cNvPr id="10277" name="Rectangle 30"/>
            <p:cNvSpPr>
              <a:spLocks noChangeArrowheads="1"/>
            </p:cNvSpPr>
            <p:nvPr/>
          </p:nvSpPr>
          <p:spPr bwMode="auto">
            <a:xfrm>
              <a:off x="975" y="1797"/>
              <a:ext cx="181" cy="227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/>
                <a:t>F</a:t>
              </a:r>
              <a:endParaRPr lang="ru-RU" b="1"/>
            </a:p>
          </p:txBody>
        </p:sp>
      </p:grpSp>
      <p:sp>
        <p:nvSpPr>
          <p:cNvPr id="20544" name="Text Box 64"/>
          <p:cNvSpPr txBox="1">
            <a:spLocks noChangeArrowheads="1"/>
          </p:cNvSpPr>
          <p:nvPr/>
        </p:nvSpPr>
        <p:spPr bwMode="auto">
          <a:xfrm>
            <a:off x="7380288" y="2852738"/>
            <a:ext cx="720725" cy="376237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H(P)</a:t>
            </a:r>
            <a:endParaRPr lang="ru-RU"/>
          </a:p>
        </p:txBody>
      </p:sp>
      <p:sp>
        <p:nvSpPr>
          <p:cNvPr id="20545" name="Text Box 65"/>
          <p:cNvSpPr txBox="1">
            <a:spLocks noChangeArrowheads="1"/>
          </p:cNvSpPr>
          <p:nvPr/>
        </p:nvSpPr>
        <p:spPr bwMode="auto">
          <a:xfrm>
            <a:off x="8172450" y="2852738"/>
            <a:ext cx="360363" cy="376237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/>
              <a:t>F</a:t>
            </a:r>
            <a:endParaRPr lang="ru-RU"/>
          </a:p>
        </p:txBody>
      </p:sp>
      <p:sp>
        <p:nvSpPr>
          <p:cNvPr id="20546" name="Text Box 66"/>
          <p:cNvSpPr txBox="1">
            <a:spLocks noChangeArrowheads="1"/>
          </p:cNvSpPr>
          <p:nvPr/>
        </p:nvSpPr>
        <p:spPr bwMode="auto">
          <a:xfrm>
            <a:off x="323850" y="3644900"/>
            <a:ext cx="720725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/>
              <a:t>H(F)</a:t>
            </a:r>
            <a:endParaRPr lang="ru-RU"/>
          </a:p>
        </p:txBody>
      </p:sp>
      <p:sp>
        <p:nvSpPr>
          <p:cNvPr id="20547" name="Text Box 67"/>
          <p:cNvSpPr txBox="1">
            <a:spLocks noChangeArrowheads="1"/>
          </p:cNvSpPr>
          <p:nvPr/>
        </p:nvSpPr>
        <p:spPr bwMode="auto">
          <a:xfrm>
            <a:off x="1116013" y="3644900"/>
            <a:ext cx="576262" cy="376238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/>
              <a:t>K</a:t>
            </a:r>
            <a:r>
              <a:rPr lang="en-US" baseline="-25000"/>
              <a:t>S</a:t>
            </a:r>
            <a:endParaRPr lang="ru-RU" baseline="-25000"/>
          </a:p>
        </p:txBody>
      </p:sp>
      <p:sp>
        <p:nvSpPr>
          <p:cNvPr id="20551" name="Text Box 71"/>
          <p:cNvSpPr txBox="1">
            <a:spLocks noChangeArrowheads="1"/>
          </p:cNvSpPr>
          <p:nvPr/>
        </p:nvSpPr>
        <p:spPr bwMode="auto">
          <a:xfrm>
            <a:off x="7740650" y="3644900"/>
            <a:ext cx="935038" cy="457200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400"/>
              <a:t>F=F</a:t>
            </a:r>
            <a:r>
              <a:rPr lang="en-US" sz="2400" i="1"/>
              <a:t>`</a:t>
            </a:r>
            <a:endParaRPr lang="ru-RU" sz="2400" i="1"/>
          </a:p>
        </p:txBody>
      </p:sp>
      <p:sp>
        <p:nvSpPr>
          <p:cNvPr id="10272" name="Text Box 73"/>
          <p:cNvSpPr txBox="1">
            <a:spLocks noChangeArrowheads="1"/>
          </p:cNvSpPr>
          <p:nvPr/>
        </p:nvSpPr>
        <p:spPr bwMode="auto">
          <a:xfrm>
            <a:off x="684213" y="5084763"/>
            <a:ext cx="2519362" cy="1204912"/>
          </a:xfrm>
          <a:prstGeom prst="rect">
            <a:avLst/>
          </a:prstGeom>
          <a:solidFill>
            <a:srgbClr val="FFFF00"/>
          </a:solidFill>
          <a:ln w="38100">
            <a:solidFill>
              <a:srgbClr val="99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0000FF"/>
                </a:solidFill>
              </a:rPr>
              <a:t>L – </a:t>
            </a:r>
            <a:r>
              <a:rPr lang="uz-Cyrl-UZ" b="1">
                <a:solidFill>
                  <a:srgbClr val="0000FF"/>
                </a:solidFill>
              </a:rPr>
              <a:t>логин</a:t>
            </a:r>
            <a:r>
              <a:rPr lang="ru-RU" b="1">
                <a:solidFill>
                  <a:srgbClr val="0000FF"/>
                </a:solidFill>
              </a:rPr>
              <a:t> </a:t>
            </a:r>
            <a:r>
              <a:rPr lang="en-US" b="1">
                <a:solidFill>
                  <a:srgbClr val="0000FF"/>
                </a:solidFill>
              </a:rPr>
              <a:t> 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0000FF"/>
                </a:solidFill>
              </a:rPr>
              <a:t>P</a:t>
            </a:r>
            <a:r>
              <a:rPr lang="uz-Cyrl-UZ" b="1">
                <a:solidFill>
                  <a:srgbClr val="0000FF"/>
                </a:solidFill>
              </a:rPr>
              <a:t> – парол</a:t>
            </a:r>
            <a:r>
              <a:rPr lang="ru-RU" b="1">
                <a:solidFill>
                  <a:srgbClr val="0000FF"/>
                </a:solidFill>
              </a:rPr>
              <a:t> </a:t>
            </a:r>
            <a:endParaRPr lang="en-US" b="1">
              <a:solidFill>
                <a:srgbClr val="0000FF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0000FF"/>
                </a:solidFill>
              </a:rPr>
              <a:t>F</a:t>
            </a:r>
            <a:r>
              <a:rPr lang="uz-Cyrl-UZ" b="1">
                <a:solidFill>
                  <a:srgbClr val="0000FF"/>
                </a:solidFill>
              </a:rPr>
              <a:t> – ихтиёрий ибора</a:t>
            </a:r>
            <a:endParaRPr lang="en-US" b="1">
              <a:solidFill>
                <a:srgbClr val="0000FF"/>
              </a:solidFill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b="1">
                <a:solidFill>
                  <a:srgbClr val="0000FF"/>
                </a:solidFill>
              </a:rPr>
              <a:t>H –</a:t>
            </a:r>
            <a:r>
              <a:rPr lang="ru-RU" b="1">
                <a:solidFill>
                  <a:srgbClr val="0000FF"/>
                </a:solidFill>
              </a:rPr>
              <a:t>хэш-функция</a:t>
            </a:r>
            <a:r>
              <a:rPr lang="ru-RU"/>
              <a:t> </a:t>
            </a:r>
            <a:r>
              <a:rPr lang="en-US"/>
              <a:t> </a:t>
            </a:r>
          </a:p>
        </p:txBody>
      </p:sp>
      <p:sp>
        <p:nvSpPr>
          <p:cNvPr id="10273" name="Text Box 74"/>
          <p:cNvSpPr txBox="1">
            <a:spLocks noChangeArrowheads="1"/>
          </p:cNvSpPr>
          <p:nvPr/>
        </p:nvSpPr>
        <p:spPr bwMode="auto">
          <a:xfrm>
            <a:off x="4140200" y="5084763"/>
            <a:ext cx="4103688" cy="1228725"/>
          </a:xfrm>
          <a:prstGeom prst="rect">
            <a:avLst/>
          </a:prstGeom>
          <a:solidFill>
            <a:srgbClr val="FFFF00"/>
          </a:solidFill>
          <a:ln w="38100">
            <a:solidFill>
              <a:srgbClr val="99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0000FF"/>
                </a:solidFill>
              </a:rPr>
              <a:t>K</a:t>
            </a:r>
            <a:r>
              <a:rPr lang="en-US" b="1" baseline="-25000">
                <a:solidFill>
                  <a:srgbClr val="0000FF"/>
                </a:solidFill>
              </a:rPr>
              <a:t>A</a:t>
            </a:r>
            <a:r>
              <a:rPr lang="ru-RU" b="1">
                <a:solidFill>
                  <a:srgbClr val="0000FF"/>
                </a:solidFill>
              </a:rPr>
              <a:t> – аутентификация калити</a:t>
            </a:r>
            <a:endParaRPr lang="en-US" b="1">
              <a:solidFill>
                <a:srgbClr val="0000FF"/>
              </a:solidFill>
            </a:endParaRPr>
          </a:p>
          <a:p>
            <a:pPr eaLnBrk="1" hangingPunct="1"/>
            <a:r>
              <a:rPr lang="en-US" b="1">
                <a:solidFill>
                  <a:srgbClr val="0000FF"/>
                </a:solidFill>
              </a:rPr>
              <a:t>K</a:t>
            </a:r>
            <a:r>
              <a:rPr lang="en-US" b="1" baseline="-25000">
                <a:solidFill>
                  <a:srgbClr val="0000FF"/>
                </a:solidFill>
              </a:rPr>
              <a:t>S</a:t>
            </a:r>
            <a:r>
              <a:rPr lang="ru-RU" b="1">
                <a:solidFill>
                  <a:srgbClr val="0000FF"/>
                </a:solidFill>
              </a:rPr>
              <a:t> – сеанс калити</a:t>
            </a:r>
            <a:endParaRPr lang="en-US" b="1">
              <a:solidFill>
                <a:srgbClr val="0000FF"/>
              </a:solidFill>
            </a:endParaRPr>
          </a:p>
          <a:p>
            <a:pPr eaLnBrk="1" hangingPunct="1"/>
            <a:r>
              <a:rPr lang="en-US" b="1">
                <a:solidFill>
                  <a:srgbClr val="0000FF"/>
                </a:solidFill>
              </a:rPr>
              <a:t>T,T</a:t>
            </a:r>
            <a:r>
              <a:rPr lang="en-US" b="1" baseline="-25000">
                <a:solidFill>
                  <a:srgbClr val="0000FF"/>
                </a:solidFill>
              </a:rPr>
              <a:t>1</a:t>
            </a:r>
            <a:r>
              <a:rPr lang="ru-RU" b="1">
                <a:solidFill>
                  <a:srgbClr val="0000FF"/>
                </a:solidFill>
              </a:rPr>
              <a:t> – серверга ж</a:t>
            </a:r>
            <a:r>
              <a:rPr lang="uz-Cyrl-UZ" b="1">
                <a:solidFill>
                  <a:srgbClr val="0000FF"/>
                </a:solidFill>
              </a:rPr>
              <a:t>ў</a:t>
            </a:r>
            <a:r>
              <a:rPr lang="ru-RU" b="1">
                <a:solidFill>
                  <a:srgbClr val="0000FF"/>
                </a:solidFill>
              </a:rPr>
              <a:t>натилувчи ШТ</a:t>
            </a:r>
            <a:endParaRPr lang="en-US" b="1">
              <a:solidFill>
                <a:srgbClr val="0000FF"/>
              </a:solidFill>
            </a:endParaRPr>
          </a:p>
          <a:p>
            <a:pPr eaLnBrk="1" hangingPunct="1"/>
            <a:r>
              <a:rPr lang="en-US" b="1">
                <a:solidFill>
                  <a:srgbClr val="0000FF"/>
                </a:solidFill>
              </a:rPr>
              <a:t>G</a:t>
            </a:r>
            <a:r>
              <a:rPr lang="ru-RU" b="1">
                <a:solidFill>
                  <a:srgbClr val="0000FF"/>
                </a:solidFill>
              </a:rPr>
              <a:t> – клиентга ж</a:t>
            </a:r>
            <a:r>
              <a:rPr lang="uz-Cyrl-UZ" b="1">
                <a:solidFill>
                  <a:srgbClr val="0000FF"/>
                </a:solidFill>
              </a:rPr>
              <a:t>ў</a:t>
            </a:r>
            <a:r>
              <a:rPr lang="ru-RU" b="1">
                <a:solidFill>
                  <a:srgbClr val="0000FF"/>
                </a:solidFill>
              </a:rPr>
              <a:t>натиладиган ШТ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0.01064 L 0.70087 0.01064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035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2"/>
                                            </p:cond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5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5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5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5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5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5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33333E-6 L -0.69687 -3.33333E-6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205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844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0"/>
                                            </p:cond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5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5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5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0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0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60116E-6 L 0.66545 -2.60116E-6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205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264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8"/>
                                            </p:cond>
                                          </p:stCondLst>
                                        </p:cTn>
                                        <p:tgtEl>
                                          <p:spTgt spid="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05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05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05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0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0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1.11022E-16 L -0.6934 -0.00416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205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670" y="-208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20" grpId="0" animBg="1"/>
      <p:bldP spid="20520" grpId="1" animBg="1"/>
      <p:bldP spid="20521" grpId="0" animBg="1"/>
      <p:bldP spid="20521" grpId="1" animBg="1"/>
      <p:bldP spid="20544" grpId="0" animBg="1"/>
      <p:bldP spid="20545" grpId="0" animBg="1"/>
      <p:bldP spid="20546" grpId="0" animBg="1"/>
      <p:bldP spid="20547" grpId="0" animBg="1"/>
      <p:bldP spid="2055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6" descr="DellWorkst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838" y="5027613"/>
            <a:ext cx="936625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7" descr="DellWorkst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5200" y="5003800"/>
            <a:ext cx="936625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9" descr="Dell_PowerEdge660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1425" y="2732088"/>
            <a:ext cx="108108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413" y="2803525"/>
            <a:ext cx="785812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9" name="Text Box 11"/>
          <p:cNvSpPr txBox="1">
            <a:spLocks noChangeArrowheads="1"/>
          </p:cNvSpPr>
          <p:nvPr/>
        </p:nvSpPr>
        <p:spPr bwMode="auto">
          <a:xfrm>
            <a:off x="1908175" y="4243388"/>
            <a:ext cx="504825" cy="3667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uz-Cyrl-UZ" b="1"/>
              <a:t>М</a:t>
            </a:r>
            <a:endParaRPr lang="ru-RU" b="1"/>
          </a:p>
        </p:txBody>
      </p:sp>
      <p:sp>
        <p:nvSpPr>
          <p:cNvPr id="43021" name="Text Box 13"/>
          <p:cNvSpPr txBox="1">
            <a:spLocks noChangeArrowheads="1"/>
          </p:cNvSpPr>
          <p:nvPr/>
        </p:nvSpPr>
        <p:spPr bwMode="auto">
          <a:xfrm>
            <a:off x="1908175" y="5108575"/>
            <a:ext cx="935038" cy="3667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/>
              <a:t>E</a:t>
            </a:r>
            <a:r>
              <a:rPr lang="en-US" b="1" baseline="-25000"/>
              <a:t>KS</a:t>
            </a:r>
            <a:r>
              <a:rPr lang="en-US" b="1"/>
              <a:t>(M)</a:t>
            </a:r>
            <a:endParaRPr lang="ru-RU" b="1"/>
          </a:p>
        </p:txBody>
      </p:sp>
      <p:sp>
        <p:nvSpPr>
          <p:cNvPr id="43023" name="Text Box 15"/>
          <p:cNvSpPr txBox="1">
            <a:spLocks noChangeArrowheads="1"/>
          </p:cNvSpPr>
          <p:nvPr/>
        </p:nvSpPr>
        <p:spPr bwMode="auto">
          <a:xfrm>
            <a:off x="3636963" y="2803525"/>
            <a:ext cx="1728787" cy="3667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b="1"/>
              <a:t>D</a:t>
            </a:r>
            <a:r>
              <a:rPr lang="en-US" b="1" baseline="-25000"/>
              <a:t>KS </a:t>
            </a:r>
            <a:r>
              <a:rPr lang="en-US" b="1"/>
              <a:t>(E</a:t>
            </a:r>
            <a:r>
              <a:rPr lang="en-US" b="1" baseline="-25000"/>
              <a:t>KS</a:t>
            </a:r>
            <a:r>
              <a:rPr lang="en-US" b="1"/>
              <a:t>(M))</a:t>
            </a:r>
            <a:endParaRPr lang="ru-RU" b="1"/>
          </a:p>
        </p:txBody>
      </p:sp>
      <p:sp>
        <p:nvSpPr>
          <p:cNvPr id="43024" name="Line 16"/>
          <p:cNvSpPr>
            <a:spLocks noChangeShapeType="1"/>
          </p:cNvSpPr>
          <p:nvPr/>
        </p:nvSpPr>
        <p:spPr bwMode="auto">
          <a:xfrm flipV="1">
            <a:off x="2413000" y="3308350"/>
            <a:ext cx="2016125" cy="1800225"/>
          </a:xfrm>
          <a:prstGeom prst="line">
            <a:avLst/>
          </a:prstGeom>
          <a:noFill/>
          <a:ln w="57150">
            <a:solidFill>
              <a:srgbClr val="99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3027" name="Text Box 19"/>
          <p:cNvSpPr txBox="1">
            <a:spLocks noChangeArrowheads="1"/>
          </p:cNvSpPr>
          <p:nvPr/>
        </p:nvSpPr>
        <p:spPr bwMode="auto">
          <a:xfrm>
            <a:off x="4284663" y="2803525"/>
            <a:ext cx="504825" cy="36671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uz-Cyrl-UZ" b="1"/>
              <a:t>М</a:t>
            </a:r>
            <a:endParaRPr lang="ru-RU" b="1"/>
          </a:p>
        </p:txBody>
      </p:sp>
      <p:sp>
        <p:nvSpPr>
          <p:cNvPr id="43028" name="Line 20"/>
          <p:cNvSpPr>
            <a:spLocks noChangeShapeType="1"/>
          </p:cNvSpPr>
          <p:nvPr/>
        </p:nvSpPr>
        <p:spPr bwMode="auto">
          <a:xfrm>
            <a:off x="4860925" y="3019425"/>
            <a:ext cx="2376488" cy="0"/>
          </a:xfrm>
          <a:prstGeom prst="line">
            <a:avLst/>
          </a:prstGeom>
          <a:noFill/>
          <a:ln w="57150">
            <a:solidFill>
              <a:srgbClr val="99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3029" name="Text Box 21"/>
          <p:cNvSpPr txBox="1">
            <a:spLocks noChangeArrowheads="1"/>
          </p:cNvSpPr>
          <p:nvPr/>
        </p:nvSpPr>
        <p:spPr bwMode="auto">
          <a:xfrm>
            <a:off x="7308850" y="3163888"/>
            <a:ext cx="504825" cy="3667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uz-Cyrl-UZ" b="1"/>
              <a:t>М</a:t>
            </a:r>
            <a:endParaRPr lang="ru-RU" b="1"/>
          </a:p>
        </p:txBody>
      </p:sp>
      <p:sp>
        <p:nvSpPr>
          <p:cNvPr id="43030" name="Line 22"/>
          <p:cNvSpPr>
            <a:spLocks noChangeShapeType="1"/>
          </p:cNvSpPr>
          <p:nvPr/>
        </p:nvSpPr>
        <p:spPr bwMode="auto">
          <a:xfrm flipH="1" flipV="1">
            <a:off x="4645025" y="3595688"/>
            <a:ext cx="1584325" cy="180022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43031" name="Text Box 23"/>
          <p:cNvSpPr txBox="1">
            <a:spLocks noChangeArrowheads="1"/>
          </p:cNvSpPr>
          <p:nvPr/>
        </p:nvSpPr>
        <p:spPr bwMode="auto">
          <a:xfrm>
            <a:off x="3924300" y="3163888"/>
            <a:ext cx="1079500" cy="366712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/>
              <a:t>E</a:t>
            </a:r>
            <a:r>
              <a:rPr lang="en-US" b="1" baseline="-25000"/>
              <a:t>KS</a:t>
            </a:r>
            <a:r>
              <a:rPr lang="uz-Cyrl-UZ" b="1" baseline="-25000"/>
              <a:t>2</a:t>
            </a:r>
            <a:r>
              <a:rPr lang="en-US" b="1"/>
              <a:t>(M)</a:t>
            </a:r>
            <a:endParaRPr lang="ru-RU" b="1"/>
          </a:p>
        </p:txBody>
      </p:sp>
      <p:sp>
        <p:nvSpPr>
          <p:cNvPr id="43033" name="Line 25"/>
          <p:cNvSpPr>
            <a:spLocks noChangeShapeType="1"/>
          </p:cNvSpPr>
          <p:nvPr/>
        </p:nvSpPr>
        <p:spPr bwMode="auto">
          <a:xfrm flipH="1">
            <a:off x="4716463" y="3235325"/>
            <a:ext cx="2447925" cy="0"/>
          </a:xfrm>
          <a:prstGeom prst="line">
            <a:avLst/>
          </a:prstGeom>
          <a:noFill/>
          <a:ln w="57150">
            <a:solidFill>
              <a:srgbClr val="99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1280" name="Rectangle 26"/>
          <p:cNvSpPr>
            <a:spLocks noChangeArrowheads="1"/>
          </p:cNvSpPr>
          <p:nvPr/>
        </p:nvSpPr>
        <p:spPr bwMode="auto">
          <a:xfrm>
            <a:off x="1492250" y="1189038"/>
            <a:ext cx="6337300" cy="800100"/>
          </a:xfrm>
          <a:prstGeom prst="rect">
            <a:avLst/>
          </a:prstGeom>
          <a:solidFill>
            <a:srgbClr val="CCECFF"/>
          </a:solidFill>
          <a:ln w="38100">
            <a:solidFill>
              <a:srgbClr val="99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uz-Cyrl-UZ" sz="2200" b="1">
                <a:solidFill>
                  <a:srgbClr val="660033"/>
                </a:solidFill>
                <a:latin typeface="Times New Roman" pitchFamily="18" charset="0"/>
                <a:cs typeface="Times New Roman" pitchFamily="18" charset="0"/>
              </a:rPr>
              <a:t>Тизимда электрон ахборот алмашинувида хабар  махфийлигини таъминлаш </a:t>
            </a:r>
            <a:r>
              <a:rPr lang="ru-RU" sz="2200" b="1">
                <a:solidFill>
                  <a:srgbClr val="660033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uz-Cyrl-UZ" sz="2200" b="1">
              <a:solidFill>
                <a:srgbClr val="660033"/>
              </a:solidFill>
              <a:latin typeface="Times New Roman" pitchFamily="18" charset="0"/>
            </a:endParaRPr>
          </a:p>
        </p:txBody>
      </p:sp>
      <p:sp>
        <p:nvSpPr>
          <p:cNvPr id="11281" name="Rectangle 27"/>
          <p:cNvSpPr>
            <a:spLocks noChangeArrowheads="1"/>
          </p:cNvSpPr>
          <p:nvPr/>
        </p:nvSpPr>
        <p:spPr bwMode="auto">
          <a:xfrm>
            <a:off x="1979613" y="79375"/>
            <a:ext cx="5976937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uz-Cyrl-UZ" sz="2100" b="1">
                <a:solidFill>
                  <a:schemeClr val="bg1"/>
                </a:solidFill>
              </a:rPr>
              <a:t>Марказ ходимлари томонидан яратилган электрон почта тизими</a:t>
            </a:r>
            <a:endParaRPr lang="ru-RU" sz="2100" b="1">
              <a:solidFill>
                <a:schemeClr val="bg1"/>
              </a:solidFill>
            </a:endParaRPr>
          </a:p>
        </p:txBody>
      </p:sp>
      <p:sp>
        <p:nvSpPr>
          <p:cNvPr id="11282" name="Rectangle 28"/>
          <p:cNvSpPr>
            <a:spLocks noChangeArrowheads="1"/>
          </p:cNvSpPr>
          <p:nvPr/>
        </p:nvSpPr>
        <p:spPr bwMode="auto">
          <a:xfrm>
            <a:off x="179388" y="981075"/>
            <a:ext cx="8713787" cy="5616575"/>
          </a:xfrm>
          <a:prstGeom prst="rect">
            <a:avLst/>
          </a:prstGeom>
          <a:noFill/>
          <a:ln w="76200" cmpd="tri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11283" name="Text Box 29"/>
          <p:cNvSpPr txBox="1">
            <a:spLocks noChangeArrowheads="1"/>
          </p:cNvSpPr>
          <p:nvPr/>
        </p:nvSpPr>
        <p:spPr bwMode="auto">
          <a:xfrm>
            <a:off x="971550" y="5829300"/>
            <a:ext cx="259238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uz-Cyrl-UZ" sz="2200" b="1"/>
              <a:t>А Фойдаланувчи</a:t>
            </a:r>
            <a:endParaRPr lang="ru-RU" sz="2200" b="1"/>
          </a:p>
        </p:txBody>
      </p:sp>
      <p:sp>
        <p:nvSpPr>
          <p:cNvPr id="11284" name="Text Box 30"/>
          <p:cNvSpPr txBox="1">
            <a:spLocks noChangeArrowheads="1"/>
          </p:cNvSpPr>
          <p:nvPr/>
        </p:nvSpPr>
        <p:spPr bwMode="auto">
          <a:xfrm>
            <a:off x="5292725" y="5845175"/>
            <a:ext cx="259238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uz-Cyrl-UZ" sz="2200" b="1"/>
              <a:t>Б Фойдаланувчи</a:t>
            </a:r>
            <a:endParaRPr lang="ru-RU" sz="2200" b="1"/>
          </a:p>
        </p:txBody>
      </p:sp>
      <p:sp>
        <p:nvSpPr>
          <p:cNvPr id="11285" name="Text Box 31"/>
          <p:cNvSpPr txBox="1">
            <a:spLocks noChangeArrowheads="1"/>
          </p:cNvSpPr>
          <p:nvPr/>
        </p:nvSpPr>
        <p:spPr bwMode="auto">
          <a:xfrm>
            <a:off x="3716338" y="2197100"/>
            <a:ext cx="1655762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uz-Cyrl-UZ" sz="2200" b="1"/>
              <a:t>Сервер</a:t>
            </a:r>
            <a:endParaRPr lang="ru-RU" sz="2200" b="1"/>
          </a:p>
        </p:txBody>
      </p:sp>
      <p:sp>
        <p:nvSpPr>
          <p:cNvPr id="11286" name="Text Box 32"/>
          <p:cNvSpPr txBox="1">
            <a:spLocks noChangeArrowheads="1"/>
          </p:cNvSpPr>
          <p:nvPr/>
        </p:nvSpPr>
        <p:spPr bwMode="auto">
          <a:xfrm>
            <a:off x="7019925" y="2300288"/>
            <a:ext cx="11525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uz-Cyrl-UZ" sz="2200" b="1"/>
              <a:t>База</a:t>
            </a:r>
            <a:endParaRPr lang="ru-RU" sz="2200" b="1"/>
          </a:p>
        </p:txBody>
      </p:sp>
      <p:sp>
        <p:nvSpPr>
          <p:cNvPr id="43041" name="Text Box 33"/>
          <p:cNvSpPr txBox="1">
            <a:spLocks noChangeArrowheads="1"/>
          </p:cNvSpPr>
          <p:nvPr/>
        </p:nvSpPr>
        <p:spPr bwMode="auto">
          <a:xfrm>
            <a:off x="5651500" y="5157788"/>
            <a:ext cx="1871663" cy="366712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/>
              <a:t>D</a:t>
            </a:r>
            <a:r>
              <a:rPr lang="en-US" b="1" baseline="-25000"/>
              <a:t>KS</a:t>
            </a:r>
            <a:r>
              <a:rPr lang="uz-Cyrl-UZ" b="1" baseline="-25000"/>
              <a:t>2</a:t>
            </a:r>
            <a:r>
              <a:rPr lang="en-US" baseline="-25000"/>
              <a:t> </a:t>
            </a:r>
            <a:r>
              <a:rPr lang="en-US"/>
              <a:t>(</a:t>
            </a:r>
            <a:r>
              <a:rPr lang="en-US" b="1"/>
              <a:t>(E</a:t>
            </a:r>
            <a:r>
              <a:rPr lang="en-US" b="1" baseline="-25000"/>
              <a:t>KS</a:t>
            </a:r>
            <a:r>
              <a:rPr lang="uz-Cyrl-UZ" b="1" baseline="-25000"/>
              <a:t>2</a:t>
            </a:r>
            <a:r>
              <a:rPr lang="en-US" b="1"/>
              <a:t>(M))</a:t>
            </a:r>
            <a:endParaRPr lang="ru-RU" b="1"/>
          </a:p>
        </p:txBody>
      </p:sp>
      <p:sp>
        <p:nvSpPr>
          <p:cNvPr id="43042" name="Text Box 34"/>
          <p:cNvSpPr txBox="1">
            <a:spLocks noChangeArrowheads="1"/>
          </p:cNvSpPr>
          <p:nvPr/>
        </p:nvSpPr>
        <p:spPr bwMode="auto">
          <a:xfrm>
            <a:off x="6227763" y="5157788"/>
            <a:ext cx="504825" cy="36671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uz-Cyrl-UZ" b="1"/>
              <a:t>М</a:t>
            </a:r>
            <a:endParaRPr lang="ru-RU" b="1"/>
          </a:p>
        </p:txBody>
      </p:sp>
      <p:sp>
        <p:nvSpPr>
          <p:cNvPr id="11289" name="Line 35"/>
          <p:cNvSpPr>
            <a:spLocks noChangeShapeType="1"/>
          </p:cNvSpPr>
          <p:nvPr/>
        </p:nvSpPr>
        <p:spPr bwMode="auto">
          <a:xfrm flipV="1">
            <a:off x="2555875" y="3500438"/>
            <a:ext cx="1439863" cy="1944687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1290" name="Line 36"/>
          <p:cNvSpPr>
            <a:spLocks noChangeShapeType="1"/>
          </p:cNvSpPr>
          <p:nvPr/>
        </p:nvSpPr>
        <p:spPr bwMode="auto">
          <a:xfrm>
            <a:off x="4787900" y="3141663"/>
            <a:ext cx="252095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1291" name="Line 37"/>
          <p:cNvSpPr>
            <a:spLocks noChangeShapeType="1"/>
          </p:cNvSpPr>
          <p:nvPr/>
        </p:nvSpPr>
        <p:spPr bwMode="auto">
          <a:xfrm flipH="1" flipV="1">
            <a:off x="4716463" y="3429000"/>
            <a:ext cx="2160587" cy="1800225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1.09827E-6 L -0.004 0.15168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430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758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"/>
                                            </p:cond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30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30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65896E-6 L 0.23246 -0.29942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430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15" y="-14983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"/>
                                            </p:cond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4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30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30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3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3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4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0.01526 L 0.33854 0.00971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430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18" y="-277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7"/>
                                            </p:cond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1000"/>
                                        <p:tgtEl>
                                          <p:spTgt spid="4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3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3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1000"/>
                                        <p:tgtEl>
                                          <p:spTgt spid="4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3.58382E-6 L -0.29931 3.58382E-6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430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65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6"/>
                                            </p:cond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3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3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3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98 -0.01618 L 0.20104 0.25665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430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44" y="13642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7"/>
                                            </p:cond>
                                          </p:stCondLst>
                                        </p:cTn>
                                        <p:tgtEl>
                                          <p:spTgt spid="4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3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3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30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30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30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30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9" grpId="0" animBg="1"/>
      <p:bldP spid="43019" grpId="1" animBg="1"/>
      <p:bldP spid="43021" grpId="0" animBg="1"/>
      <p:bldP spid="43021" grpId="1" animBg="1"/>
      <p:bldP spid="43023" grpId="0" animBg="1"/>
      <p:bldP spid="43024" grpId="0" animBg="1"/>
      <p:bldP spid="43027" grpId="0" animBg="1"/>
      <p:bldP spid="43027" grpId="1" animBg="1"/>
      <p:bldP spid="43028" grpId="0" animBg="1"/>
      <p:bldP spid="43029" grpId="0" animBg="1"/>
      <p:bldP spid="43029" grpId="1" animBg="1"/>
      <p:bldP spid="43030" grpId="0" animBg="1"/>
      <p:bldP spid="43031" grpId="0" animBg="1"/>
      <p:bldP spid="43031" grpId="1" animBg="1"/>
      <p:bldP spid="43033" grpId="0" animBg="1"/>
      <p:bldP spid="43041" grpId="0" animBg="1"/>
      <p:bldP spid="4304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225" y="1919288"/>
            <a:ext cx="719138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5413" y="3189288"/>
            <a:ext cx="641350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8"/>
          <p:cNvSpPr>
            <a:spLocks noChangeArrowheads="1"/>
          </p:cNvSpPr>
          <p:nvPr/>
        </p:nvSpPr>
        <p:spPr bwMode="auto">
          <a:xfrm>
            <a:off x="395288" y="1125538"/>
            <a:ext cx="8424862" cy="53959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12293" name="Rectangle 9"/>
          <p:cNvSpPr>
            <a:spLocks noChangeArrowheads="1"/>
          </p:cNvSpPr>
          <p:nvPr/>
        </p:nvSpPr>
        <p:spPr bwMode="auto">
          <a:xfrm>
            <a:off x="395288" y="1125538"/>
            <a:ext cx="2330450" cy="53990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uz-Cyrl-UZ"/>
          </a:p>
        </p:txBody>
      </p:sp>
      <p:pic>
        <p:nvPicPr>
          <p:cNvPr id="12294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225" y="3062288"/>
            <a:ext cx="7191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225" y="4354513"/>
            <a:ext cx="7191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6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225" y="5510213"/>
            <a:ext cx="7191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7" name="Text Box 13"/>
          <p:cNvSpPr txBox="1">
            <a:spLocks noChangeArrowheads="1"/>
          </p:cNvSpPr>
          <p:nvPr/>
        </p:nvSpPr>
        <p:spPr bwMode="auto">
          <a:xfrm>
            <a:off x="893763" y="2492375"/>
            <a:ext cx="1792287" cy="3175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uz-Cyrl-UZ" sz="900"/>
              <a:t>А фойдаланувчи</a:t>
            </a:r>
            <a:endParaRPr lang="ru-RU"/>
          </a:p>
        </p:txBody>
      </p:sp>
      <p:sp>
        <p:nvSpPr>
          <p:cNvPr id="12298" name="Text Box 14"/>
          <p:cNvSpPr txBox="1">
            <a:spLocks noChangeArrowheads="1"/>
          </p:cNvSpPr>
          <p:nvPr/>
        </p:nvSpPr>
        <p:spPr bwMode="auto">
          <a:xfrm>
            <a:off x="879475" y="3751263"/>
            <a:ext cx="1792288" cy="3175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uz-Cyrl-UZ" sz="900"/>
              <a:t>А фойдаланувчи</a:t>
            </a:r>
            <a:endParaRPr lang="ru-RU"/>
          </a:p>
        </p:txBody>
      </p:sp>
      <p:sp>
        <p:nvSpPr>
          <p:cNvPr id="12299" name="Text Box 15"/>
          <p:cNvSpPr txBox="1">
            <a:spLocks noChangeArrowheads="1"/>
          </p:cNvSpPr>
          <p:nvPr/>
        </p:nvSpPr>
        <p:spPr bwMode="auto">
          <a:xfrm>
            <a:off x="879475" y="5057775"/>
            <a:ext cx="1792288" cy="3175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uz-Cyrl-UZ" sz="900"/>
              <a:t>А фойдаланувчи</a:t>
            </a:r>
            <a:endParaRPr lang="ru-RU"/>
          </a:p>
        </p:txBody>
      </p:sp>
      <p:sp>
        <p:nvSpPr>
          <p:cNvPr id="12300" name="Text Box 16"/>
          <p:cNvSpPr txBox="1">
            <a:spLocks noChangeArrowheads="1"/>
          </p:cNvSpPr>
          <p:nvPr/>
        </p:nvSpPr>
        <p:spPr bwMode="auto">
          <a:xfrm>
            <a:off x="849313" y="6122988"/>
            <a:ext cx="1792287" cy="3175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uz-Cyrl-UZ" sz="900"/>
              <a:t>А фойдаланувчи</a:t>
            </a:r>
            <a:endParaRPr lang="ru-RU"/>
          </a:p>
        </p:txBody>
      </p:sp>
      <p:sp>
        <p:nvSpPr>
          <p:cNvPr id="12301" name="Text Box 17"/>
          <p:cNvSpPr txBox="1">
            <a:spLocks noChangeArrowheads="1"/>
          </p:cNvSpPr>
          <p:nvPr/>
        </p:nvSpPr>
        <p:spPr bwMode="auto">
          <a:xfrm>
            <a:off x="6130925" y="1217613"/>
            <a:ext cx="2509838" cy="3175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uz-Cyrl-UZ" sz="1000"/>
              <a:t>ҲЭПТ сервер қисми</a:t>
            </a:r>
            <a:endParaRPr lang="ru-RU"/>
          </a:p>
        </p:txBody>
      </p:sp>
      <p:sp>
        <p:nvSpPr>
          <p:cNvPr id="12302" name="Rectangle 18"/>
          <p:cNvSpPr>
            <a:spLocks noChangeArrowheads="1"/>
          </p:cNvSpPr>
          <p:nvPr/>
        </p:nvSpPr>
        <p:spPr bwMode="auto">
          <a:xfrm>
            <a:off x="5056188" y="1125538"/>
            <a:ext cx="3763962" cy="53990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uz-Cyrl-UZ"/>
          </a:p>
        </p:txBody>
      </p:sp>
      <p:pic>
        <p:nvPicPr>
          <p:cNvPr id="12303" name="Picture 1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1557338"/>
            <a:ext cx="11049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4" name="Picture 2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925" y="3348038"/>
            <a:ext cx="685800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5" name="Picture 2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575" y="3665538"/>
            <a:ext cx="566738" cy="72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6" name="Picture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6025" y="4937125"/>
            <a:ext cx="641350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07" name="Text Box 23"/>
          <p:cNvSpPr txBox="1">
            <a:spLocks noChangeArrowheads="1"/>
          </p:cNvSpPr>
          <p:nvPr/>
        </p:nvSpPr>
        <p:spPr bwMode="auto">
          <a:xfrm>
            <a:off x="7027863" y="2406650"/>
            <a:ext cx="1652587" cy="4460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uz-Cyrl-UZ" sz="900"/>
              <a:t>Почта хабарлари маълумотлар базаси</a:t>
            </a:r>
            <a:endParaRPr lang="ru-RU"/>
          </a:p>
        </p:txBody>
      </p:sp>
      <p:sp>
        <p:nvSpPr>
          <p:cNvPr id="12308" name="Text Box 24"/>
          <p:cNvSpPr txBox="1">
            <a:spLocks noChangeArrowheads="1"/>
          </p:cNvSpPr>
          <p:nvPr/>
        </p:nvSpPr>
        <p:spPr bwMode="auto">
          <a:xfrm>
            <a:off x="6932613" y="3897313"/>
            <a:ext cx="1792287" cy="3175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uz-Cyrl-UZ" sz="900"/>
              <a:t>Криптопровайдер</a:t>
            </a:r>
            <a:endParaRPr lang="ru-RU"/>
          </a:p>
        </p:txBody>
      </p:sp>
      <p:sp>
        <p:nvSpPr>
          <p:cNvPr id="12309" name="Text Box 25"/>
          <p:cNvSpPr txBox="1">
            <a:spLocks noChangeArrowheads="1"/>
          </p:cNvSpPr>
          <p:nvPr/>
        </p:nvSpPr>
        <p:spPr bwMode="auto">
          <a:xfrm>
            <a:off x="6804025" y="5805488"/>
            <a:ext cx="1971675" cy="3603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uz-Cyrl-UZ" sz="900"/>
              <a:t>Протоколлаштириш тизими</a:t>
            </a:r>
            <a:endParaRPr lang="ru-RU"/>
          </a:p>
        </p:txBody>
      </p:sp>
      <p:sp>
        <p:nvSpPr>
          <p:cNvPr id="12310" name="Text Box 26"/>
          <p:cNvSpPr txBox="1">
            <a:spLocks noChangeArrowheads="1"/>
          </p:cNvSpPr>
          <p:nvPr/>
        </p:nvSpPr>
        <p:spPr bwMode="auto">
          <a:xfrm>
            <a:off x="5772150" y="4302125"/>
            <a:ext cx="1793875" cy="476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uz-Cyrl-UZ" sz="900"/>
              <a:t>Аутентификация тизими</a:t>
            </a:r>
            <a:endParaRPr lang="ru-RU"/>
          </a:p>
        </p:txBody>
      </p:sp>
      <p:sp>
        <p:nvSpPr>
          <p:cNvPr id="37915" name="Cloud"/>
          <p:cNvSpPr>
            <a:spLocks noChangeAspect="1" noEditPoints="1" noChangeArrowheads="1"/>
          </p:cNvSpPr>
          <p:nvPr/>
        </p:nvSpPr>
        <p:spPr bwMode="auto">
          <a:xfrm>
            <a:off x="2905125" y="3455988"/>
            <a:ext cx="1612900" cy="957262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 algn="ctr">
              <a:defRPr/>
            </a:pPr>
            <a:r>
              <a:rPr lang="uz-Cyrl-UZ" sz="1600"/>
              <a:t>интернет</a:t>
            </a:r>
            <a:endParaRPr lang="ru-RU" sz="1600"/>
          </a:p>
        </p:txBody>
      </p:sp>
      <p:sp>
        <p:nvSpPr>
          <p:cNvPr id="12312" name="Line 28"/>
          <p:cNvSpPr>
            <a:spLocks noChangeShapeType="1"/>
          </p:cNvSpPr>
          <p:nvPr/>
        </p:nvSpPr>
        <p:spPr bwMode="auto">
          <a:xfrm>
            <a:off x="1949450" y="2208213"/>
            <a:ext cx="1314450" cy="1328737"/>
          </a:xfrm>
          <a:prstGeom prst="line">
            <a:avLst/>
          </a:prstGeom>
          <a:noFill/>
          <a:ln w="19050">
            <a:solidFill>
              <a:srgbClr val="9933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13" name="Line 29"/>
          <p:cNvSpPr>
            <a:spLocks noChangeShapeType="1"/>
          </p:cNvSpPr>
          <p:nvPr/>
        </p:nvSpPr>
        <p:spPr bwMode="auto">
          <a:xfrm>
            <a:off x="1976438" y="3348038"/>
            <a:ext cx="928687" cy="477837"/>
          </a:xfrm>
          <a:prstGeom prst="line">
            <a:avLst/>
          </a:prstGeom>
          <a:noFill/>
          <a:ln w="19050">
            <a:solidFill>
              <a:srgbClr val="9933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14" name="Line 30"/>
          <p:cNvSpPr>
            <a:spLocks noChangeShapeType="1"/>
          </p:cNvSpPr>
          <p:nvPr/>
        </p:nvSpPr>
        <p:spPr bwMode="auto">
          <a:xfrm flipV="1">
            <a:off x="1976438" y="4152900"/>
            <a:ext cx="939800" cy="576263"/>
          </a:xfrm>
          <a:prstGeom prst="line">
            <a:avLst/>
          </a:prstGeom>
          <a:noFill/>
          <a:ln w="19050">
            <a:solidFill>
              <a:srgbClr val="9933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15" name="Line 31"/>
          <p:cNvSpPr>
            <a:spLocks noChangeShapeType="1"/>
          </p:cNvSpPr>
          <p:nvPr/>
        </p:nvSpPr>
        <p:spPr bwMode="auto">
          <a:xfrm flipV="1">
            <a:off x="1943100" y="4330700"/>
            <a:ext cx="1433513" cy="1587500"/>
          </a:xfrm>
          <a:prstGeom prst="line">
            <a:avLst/>
          </a:prstGeom>
          <a:noFill/>
          <a:ln w="19050">
            <a:solidFill>
              <a:srgbClr val="9933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16" name="Line 32"/>
          <p:cNvSpPr>
            <a:spLocks noChangeShapeType="1"/>
          </p:cNvSpPr>
          <p:nvPr/>
        </p:nvSpPr>
        <p:spPr bwMode="auto">
          <a:xfrm>
            <a:off x="4518025" y="3984625"/>
            <a:ext cx="896938" cy="0"/>
          </a:xfrm>
          <a:prstGeom prst="line">
            <a:avLst/>
          </a:prstGeom>
          <a:noFill/>
          <a:ln w="19050">
            <a:solidFill>
              <a:srgbClr val="9933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17" name="Line 33"/>
          <p:cNvSpPr>
            <a:spLocks noChangeShapeType="1"/>
          </p:cNvSpPr>
          <p:nvPr/>
        </p:nvSpPr>
        <p:spPr bwMode="auto">
          <a:xfrm flipV="1">
            <a:off x="5727700" y="3848100"/>
            <a:ext cx="415925" cy="169863"/>
          </a:xfrm>
          <a:prstGeom prst="line">
            <a:avLst/>
          </a:prstGeom>
          <a:noFill/>
          <a:ln w="19050">
            <a:solidFill>
              <a:srgbClr val="9933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pic>
        <p:nvPicPr>
          <p:cNvPr id="12318" name="Picture 3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088" y="1125538"/>
            <a:ext cx="642937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19" name="Text Box 35"/>
          <p:cNvSpPr txBox="1">
            <a:spLocks noChangeArrowheads="1"/>
          </p:cNvSpPr>
          <p:nvPr/>
        </p:nvSpPr>
        <p:spPr bwMode="auto">
          <a:xfrm>
            <a:off x="3084513" y="2078038"/>
            <a:ext cx="1792287" cy="476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uz-Cyrl-UZ" sz="900"/>
              <a:t>Регистрация маркази</a:t>
            </a:r>
            <a:endParaRPr lang="ru-RU"/>
          </a:p>
        </p:txBody>
      </p:sp>
      <p:sp>
        <p:nvSpPr>
          <p:cNvPr id="12320" name="Line 36"/>
          <p:cNvSpPr>
            <a:spLocks noChangeShapeType="1"/>
          </p:cNvSpPr>
          <p:nvPr/>
        </p:nvSpPr>
        <p:spPr bwMode="auto">
          <a:xfrm flipV="1">
            <a:off x="2725738" y="1760538"/>
            <a:ext cx="895350" cy="4762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21" name="Line 37"/>
          <p:cNvSpPr>
            <a:spLocks noChangeShapeType="1"/>
          </p:cNvSpPr>
          <p:nvPr/>
        </p:nvSpPr>
        <p:spPr bwMode="auto">
          <a:xfrm>
            <a:off x="4224338" y="1703388"/>
            <a:ext cx="2085975" cy="1803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22" name="Line 38"/>
          <p:cNvSpPr>
            <a:spLocks noChangeShapeType="1"/>
          </p:cNvSpPr>
          <p:nvPr/>
        </p:nvSpPr>
        <p:spPr bwMode="auto">
          <a:xfrm>
            <a:off x="6669088" y="3665538"/>
            <a:ext cx="1076325" cy="0"/>
          </a:xfrm>
          <a:prstGeom prst="line">
            <a:avLst/>
          </a:prstGeom>
          <a:noFill/>
          <a:ln w="19050">
            <a:solidFill>
              <a:srgbClr val="9933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23" name="Line 39"/>
          <p:cNvSpPr>
            <a:spLocks noChangeShapeType="1"/>
          </p:cNvSpPr>
          <p:nvPr/>
        </p:nvSpPr>
        <p:spPr bwMode="auto">
          <a:xfrm>
            <a:off x="6669088" y="3665538"/>
            <a:ext cx="1076325" cy="1271587"/>
          </a:xfrm>
          <a:prstGeom prst="line">
            <a:avLst/>
          </a:prstGeom>
          <a:noFill/>
          <a:ln w="19050">
            <a:solidFill>
              <a:srgbClr val="9933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24" name="Line 40"/>
          <p:cNvSpPr>
            <a:spLocks noChangeShapeType="1"/>
          </p:cNvSpPr>
          <p:nvPr/>
        </p:nvSpPr>
        <p:spPr bwMode="auto">
          <a:xfrm flipV="1">
            <a:off x="6669088" y="2276475"/>
            <a:ext cx="927100" cy="1389063"/>
          </a:xfrm>
          <a:prstGeom prst="line">
            <a:avLst/>
          </a:prstGeom>
          <a:noFill/>
          <a:ln w="19050">
            <a:solidFill>
              <a:srgbClr val="9933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2325" name="Text Box 41"/>
          <p:cNvSpPr txBox="1">
            <a:spLocks noChangeArrowheads="1"/>
          </p:cNvSpPr>
          <p:nvPr/>
        </p:nvSpPr>
        <p:spPr bwMode="auto">
          <a:xfrm>
            <a:off x="1127125" y="1231900"/>
            <a:ext cx="1792288" cy="5603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uz-Cyrl-UZ" sz="900"/>
              <a:t>ҲЭПТ</a:t>
            </a:r>
          </a:p>
          <a:p>
            <a:pPr algn="ctr" eaLnBrk="1" hangingPunct="1"/>
            <a:r>
              <a:rPr lang="uz-Cyrl-UZ" sz="900"/>
              <a:t>   фойдаланувчилари</a:t>
            </a:r>
          </a:p>
          <a:p>
            <a:pPr eaLnBrk="1" hangingPunct="1"/>
            <a:endParaRPr lang="ru-RU"/>
          </a:p>
        </p:txBody>
      </p:sp>
      <p:sp>
        <p:nvSpPr>
          <p:cNvPr id="12326" name="Line 42"/>
          <p:cNvSpPr>
            <a:spLocks noChangeShapeType="1"/>
          </p:cNvSpPr>
          <p:nvPr/>
        </p:nvSpPr>
        <p:spPr bwMode="auto">
          <a:xfrm>
            <a:off x="2725738" y="1125538"/>
            <a:ext cx="0" cy="793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pic>
        <p:nvPicPr>
          <p:cNvPr id="12327" name="Picture 4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3141663"/>
            <a:ext cx="641350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28" name="Picture 4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773238"/>
            <a:ext cx="7191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29" name="Rectangle 45"/>
          <p:cNvSpPr>
            <a:spLocks noChangeArrowheads="1"/>
          </p:cNvSpPr>
          <p:nvPr/>
        </p:nvSpPr>
        <p:spPr bwMode="auto">
          <a:xfrm>
            <a:off x="2124075" y="188913"/>
            <a:ext cx="69040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uz-Cyrl-UZ" b="1">
                <a:solidFill>
                  <a:schemeClr val="bg1"/>
                </a:solidFill>
              </a:rPr>
              <a:t>Электрон почта тизимида очиқ калит</a:t>
            </a:r>
            <a:r>
              <a:rPr lang="ru-RU" b="1">
                <a:solidFill>
                  <a:schemeClr val="bg1"/>
                </a:solidFill>
              </a:rPr>
              <a:t>лар</a:t>
            </a:r>
            <a:r>
              <a:rPr lang="uz-Cyrl-UZ" b="1">
                <a:solidFill>
                  <a:schemeClr val="bg1"/>
                </a:solidFill>
              </a:rPr>
              <a:t> инфрастуктураси</a:t>
            </a:r>
            <a:endParaRPr lang="ru-RU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1"/>
          <p:cNvSpPr>
            <a:spLocks noChangeArrowheads="1"/>
          </p:cNvSpPr>
          <p:nvPr/>
        </p:nvSpPr>
        <p:spPr bwMode="auto">
          <a:xfrm>
            <a:off x="450850" y="3386138"/>
            <a:ext cx="3889375" cy="280828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uz-Cyrl-UZ"/>
          </a:p>
        </p:txBody>
      </p:sp>
      <p:sp>
        <p:nvSpPr>
          <p:cNvPr id="13315" name="Text Box 6"/>
          <p:cNvSpPr txBox="1">
            <a:spLocks noChangeArrowheads="1"/>
          </p:cNvSpPr>
          <p:nvPr/>
        </p:nvSpPr>
        <p:spPr bwMode="auto">
          <a:xfrm>
            <a:off x="2339975" y="0"/>
            <a:ext cx="5400675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uz-Cyrl-UZ" sz="2000" b="1">
                <a:solidFill>
                  <a:schemeClr val="bg1"/>
                </a:solidFill>
              </a:rPr>
              <a:t>Ҳимояланган электрон почта тизими </a:t>
            </a:r>
          </a:p>
          <a:p>
            <a:pPr algn="ctr" eaLnBrk="1" hangingPunct="1">
              <a:spcBef>
                <a:spcPct val="50000"/>
              </a:spcBef>
            </a:pPr>
            <a:r>
              <a:rPr lang="uz-Cyrl-UZ" sz="2000" b="1">
                <a:solidFill>
                  <a:schemeClr val="bg1"/>
                </a:solidFill>
              </a:rPr>
              <a:t>дастурий таъминоти</a:t>
            </a:r>
            <a:endParaRPr lang="ru-RU" sz="2000" b="1">
              <a:solidFill>
                <a:schemeClr val="bg1"/>
              </a:solidFill>
            </a:endParaRPr>
          </a:p>
        </p:txBody>
      </p:sp>
      <p:sp>
        <p:nvSpPr>
          <p:cNvPr id="97287" name="Rectangle 7"/>
          <p:cNvSpPr>
            <a:spLocks noChangeArrowheads="1"/>
          </p:cNvSpPr>
          <p:nvPr/>
        </p:nvSpPr>
        <p:spPr bwMode="auto">
          <a:xfrm>
            <a:off x="581025" y="1598613"/>
            <a:ext cx="3384550" cy="1008062"/>
          </a:xfrm>
          <a:prstGeom prst="rect">
            <a:avLst/>
          </a:prstGeom>
          <a:gradFill rotWithShape="1">
            <a:gsLst>
              <a:gs pos="0">
                <a:srgbClr val="99FF33"/>
              </a:gs>
              <a:gs pos="50000">
                <a:srgbClr val="99FF33">
                  <a:gamma/>
                  <a:shade val="78039"/>
                  <a:invGamma/>
                  <a:alpha val="64999"/>
                </a:srgbClr>
              </a:gs>
              <a:gs pos="100000">
                <a:srgbClr val="99FF33"/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99FF33"/>
            </a:extrusionClr>
          </a:sp3d>
        </p:spPr>
        <p:txBody>
          <a:bodyPr anchor="ctr">
            <a:flatTx/>
          </a:bodyPr>
          <a:lstStyle/>
          <a:p>
            <a:pPr algn="ctr">
              <a:defRPr/>
            </a:pPr>
            <a:r>
              <a:rPr lang="uz-Cyrl-UZ" b="1" i="1"/>
              <a:t>Клиент дастурий таъминоти</a:t>
            </a:r>
            <a:endParaRPr lang="ru-RU" b="1" i="1"/>
          </a:p>
        </p:txBody>
      </p:sp>
      <p:sp>
        <p:nvSpPr>
          <p:cNvPr id="13319" name="Rectangle 8"/>
          <p:cNvSpPr>
            <a:spLocks noChangeArrowheads="1"/>
          </p:cNvSpPr>
          <p:nvPr/>
        </p:nvSpPr>
        <p:spPr bwMode="auto">
          <a:xfrm>
            <a:off x="696913" y="3659188"/>
            <a:ext cx="3240087" cy="1079500"/>
          </a:xfrm>
          <a:prstGeom prst="rect">
            <a:avLst/>
          </a:prstGeom>
          <a:solidFill>
            <a:srgbClr val="FFCCFF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CCFF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uz-Cyrl-UZ" b="1"/>
              <a:t>Сервер дастурий таъминоти</a:t>
            </a:r>
            <a:endParaRPr lang="ru-RU" b="1"/>
          </a:p>
        </p:txBody>
      </p:sp>
      <p:sp>
        <p:nvSpPr>
          <p:cNvPr id="13320" name="Rectangle 9"/>
          <p:cNvSpPr>
            <a:spLocks noChangeArrowheads="1"/>
          </p:cNvSpPr>
          <p:nvPr/>
        </p:nvSpPr>
        <p:spPr bwMode="auto">
          <a:xfrm>
            <a:off x="681038" y="5013325"/>
            <a:ext cx="3240087" cy="1008063"/>
          </a:xfrm>
          <a:prstGeom prst="rect">
            <a:avLst/>
          </a:prstGeom>
          <a:solidFill>
            <a:schemeClr val="accent1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</a:sp3d>
        </p:spPr>
        <p:txBody>
          <a:bodyPr anchor="ctr">
            <a:flatTx/>
          </a:bodyPr>
          <a:lstStyle/>
          <a:p>
            <a:pPr algn="ctr"/>
            <a:r>
              <a:rPr lang="uz-Cyrl-UZ" b="1" i="1"/>
              <a:t>Рўйхатга олиш Маркази </a:t>
            </a:r>
          </a:p>
          <a:p>
            <a:pPr algn="ctr"/>
            <a:r>
              <a:rPr lang="uz-Cyrl-UZ" b="1" i="1"/>
              <a:t>дастурий таъминоти</a:t>
            </a:r>
            <a:endParaRPr lang="ru-RU" b="1" i="1"/>
          </a:p>
        </p:txBody>
      </p:sp>
      <p:sp>
        <p:nvSpPr>
          <p:cNvPr id="13321" name="Line 14"/>
          <p:cNvSpPr>
            <a:spLocks noChangeShapeType="1"/>
          </p:cNvSpPr>
          <p:nvPr/>
        </p:nvSpPr>
        <p:spPr bwMode="auto">
          <a:xfrm>
            <a:off x="4124325" y="2089150"/>
            <a:ext cx="2247900" cy="133985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3322" name="Line 16"/>
          <p:cNvSpPr>
            <a:spLocks noChangeShapeType="1"/>
          </p:cNvSpPr>
          <p:nvPr/>
        </p:nvSpPr>
        <p:spPr bwMode="auto">
          <a:xfrm flipH="1">
            <a:off x="4356100" y="4005263"/>
            <a:ext cx="2016125" cy="792162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13323" name="Line 17"/>
          <p:cNvSpPr>
            <a:spLocks noChangeShapeType="1"/>
          </p:cNvSpPr>
          <p:nvPr/>
        </p:nvSpPr>
        <p:spPr bwMode="auto">
          <a:xfrm>
            <a:off x="2220913" y="2593975"/>
            <a:ext cx="0" cy="792163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97298" name="AutoShape 18"/>
          <p:cNvSpPr>
            <a:spLocks noChangeArrowheads="1"/>
          </p:cNvSpPr>
          <p:nvPr/>
        </p:nvSpPr>
        <p:spPr bwMode="auto">
          <a:xfrm>
            <a:off x="6356350" y="2205038"/>
            <a:ext cx="2303463" cy="3167062"/>
          </a:xfrm>
          <a:prstGeom prst="can">
            <a:avLst>
              <a:gd name="adj" fmla="val 34373"/>
            </a:avLst>
          </a:prstGeom>
          <a:gradFill rotWithShape="1">
            <a:gsLst>
              <a:gs pos="0">
                <a:srgbClr val="800000"/>
              </a:gs>
              <a:gs pos="50000">
                <a:schemeClr val="bg1"/>
              </a:gs>
              <a:gs pos="100000">
                <a:srgbClr val="800000"/>
              </a:gs>
            </a:gsLst>
            <a:lin ang="5400000" scaled="1"/>
          </a:gra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uz-Cyrl-UZ" sz="2000" b="1">
                <a:solidFill>
                  <a:srgbClr val="0000FF"/>
                </a:solidFill>
              </a:rPr>
              <a:t>Маълумотлар базаси</a:t>
            </a:r>
            <a:endParaRPr lang="ru-RU" sz="2000" b="1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ChangeArrowheads="1"/>
          </p:cNvSpPr>
          <p:nvPr/>
        </p:nvSpPr>
        <p:spPr bwMode="auto">
          <a:xfrm>
            <a:off x="1928813" y="71438"/>
            <a:ext cx="657225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uz-Cyrl-UZ" sz="2100" b="1">
                <a:solidFill>
                  <a:schemeClr val="bg1"/>
                </a:solidFill>
              </a:rPr>
              <a:t>Клиент-сервер ў</a:t>
            </a:r>
            <a:r>
              <a:rPr lang="ru-RU" sz="2100" b="1">
                <a:solidFill>
                  <a:schemeClr val="bg1"/>
                </a:solidFill>
              </a:rPr>
              <a:t>ртасида </a:t>
            </a:r>
            <a:r>
              <a:rPr lang="uz-Cyrl-UZ" sz="2100" b="1">
                <a:solidFill>
                  <a:schemeClr val="bg1"/>
                </a:solidFill>
              </a:rPr>
              <a:t>алмашинувчи </a:t>
            </a:r>
            <a:r>
              <a:rPr lang="ru-RU" sz="2100" b="1">
                <a:solidFill>
                  <a:schemeClr val="bg1"/>
                </a:solidFill>
              </a:rPr>
              <a:t>маълумотнинг хавфсизлигини таъминлаш</a:t>
            </a:r>
          </a:p>
        </p:txBody>
      </p:sp>
      <p:sp>
        <p:nvSpPr>
          <p:cNvPr id="14339" name="Rectangle 5"/>
          <p:cNvSpPr>
            <a:spLocks noChangeArrowheads="1"/>
          </p:cNvSpPr>
          <p:nvPr/>
        </p:nvSpPr>
        <p:spPr bwMode="auto">
          <a:xfrm>
            <a:off x="539750" y="1074738"/>
            <a:ext cx="7993063" cy="1314450"/>
          </a:xfrm>
          <a:prstGeom prst="rect">
            <a:avLst/>
          </a:prstGeom>
          <a:solidFill>
            <a:srgbClr val="E2FDF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just" eaLnBrk="0" hangingPunct="0"/>
            <a:r>
              <a:rPr lang="en-US" altLang="ko-KR" sz="1600" b="1">
                <a:ea typeface="굴림" pitchFamily="34" charset="-127"/>
              </a:rPr>
              <a:t>CryptoLibraryUz v</a:t>
            </a:r>
            <a:r>
              <a:rPr lang="ru-RU" altLang="ko-KR" sz="1600" b="1"/>
              <a:t>1.0</a:t>
            </a:r>
            <a:r>
              <a:rPr lang="ru-RU" altLang="ko-KR" sz="1600"/>
              <a:t> </a:t>
            </a:r>
            <a:r>
              <a:rPr lang="uz-Cyrl-UZ" altLang="ko-KR" sz="1600"/>
              <a:t>– бу </a:t>
            </a:r>
            <a:r>
              <a:rPr lang="en-US" altLang="ko-KR" sz="1600">
                <a:ea typeface="굴림" pitchFamily="34" charset="-127"/>
              </a:rPr>
              <a:t>O</a:t>
            </a:r>
            <a:r>
              <a:rPr lang="ru-RU" altLang="ko-KR" sz="1600"/>
              <a:t>’</a:t>
            </a:r>
            <a:r>
              <a:rPr lang="en-US" altLang="ko-KR" sz="1600">
                <a:ea typeface="굴림" pitchFamily="34" charset="-127"/>
              </a:rPr>
              <a:t>z DSt</a:t>
            </a:r>
            <a:r>
              <a:rPr lang="ru-RU" altLang="ko-KR" sz="1600"/>
              <a:t> 1105:2006, </a:t>
            </a:r>
            <a:r>
              <a:rPr lang="en-US" altLang="ko-KR" sz="1600">
                <a:ea typeface="굴림" pitchFamily="34" charset="-127"/>
              </a:rPr>
              <a:t>O</a:t>
            </a:r>
            <a:r>
              <a:rPr lang="ru-RU" altLang="ko-KR" sz="1600"/>
              <a:t>’</a:t>
            </a:r>
            <a:r>
              <a:rPr lang="en-US" altLang="ko-KR" sz="1600">
                <a:ea typeface="굴림" pitchFamily="34" charset="-127"/>
              </a:rPr>
              <a:t>z DSt</a:t>
            </a:r>
            <a:r>
              <a:rPr lang="ru-RU" altLang="ko-KR" sz="1600"/>
              <a:t> 1106:2006 и </a:t>
            </a:r>
            <a:r>
              <a:rPr lang="en-US" altLang="ko-KR" sz="1600">
                <a:ea typeface="굴림" pitchFamily="34" charset="-127"/>
              </a:rPr>
              <a:t>O</a:t>
            </a:r>
            <a:r>
              <a:rPr lang="ru-RU" altLang="ko-KR" sz="1600"/>
              <a:t>’</a:t>
            </a:r>
            <a:r>
              <a:rPr lang="en-US" altLang="ko-KR" sz="1600">
                <a:ea typeface="굴림" pitchFamily="34" charset="-127"/>
              </a:rPr>
              <a:t>z DSt</a:t>
            </a:r>
            <a:r>
              <a:rPr lang="ru-RU" altLang="ko-KR" sz="1600"/>
              <a:t> 1092:2005,</a:t>
            </a:r>
            <a:r>
              <a:rPr lang="uz-Cyrl-UZ" altLang="ko-KR" sz="1600"/>
              <a:t> </a:t>
            </a:r>
            <a:r>
              <a:rPr lang="en-US" altLang="ko-KR" sz="1600">
                <a:ea typeface="굴림" pitchFamily="34" charset="-127"/>
              </a:rPr>
              <a:t>O’zDSt 1105:2009 (2-</a:t>
            </a:r>
            <a:r>
              <a:rPr lang="ru-RU" altLang="ko-KR" sz="1600"/>
              <a:t>алгоритм), </a:t>
            </a:r>
            <a:r>
              <a:rPr lang="en-US" altLang="ko-KR" sz="1600">
                <a:ea typeface="굴림" pitchFamily="34" charset="-127"/>
              </a:rPr>
              <a:t>O’zDSt 1</a:t>
            </a:r>
            <a:r>
              <a:rPr lang="uz-Cyrl-UZ" altLang="ko-KR" sz="1600"/>
              <a:t>092</a:t>
            </a:r>
            <a:r>
              <a:rPr lang="en-US" altLang="ko-KR" sz="1600">
                <a:ea typeface="굴림" pitchFamily="34" charset="-127"/>
              </a:rPr>
              <a:t>:2009 (2-</a:t>
            </a:r>
            <a:r>
              <a:rPr lang="ru-RU" altLang="ko-KR" sz="1600"/>
              <a:t>алгоритм), </a:t>
            </a:r>
            <a:r>
              <a:rPr lang="en-US" altLang="ko-KR" sz="1600">
                <a:ea typeface="굴림" pitchFamily="34" charset="-127"/>
              </a:rPr>
              <a:t>O’zDSt 110</a:t>
            </a:r>
            <a:r>
              <a:rPr lang="uz-Cyrl-UZ" altLang="ko-KR" sz="1600"/>
              <a:t>6</a:t>
            </a:r>
            <a:r>
              <a:rPr lang="en-US" altLang="ko-KR" sz="1600">
                <a:ea typeface="굴림" pitchFamily="34" charset="-127"/>
              </a:rPr>
              <a:t>:2009 (2-</a:t>
            </a:r>
            <a:r>
              <a:rPr lang="ru-RU" altLang="ko-KR" sz="1600"/>
              <a:t>алгоритм)</a:t>
            </a:r>
            <a:r>
              <a:rPr lang="uz-Cyrl-UZ" altLang="ko-KR" sz="1600"/>
              <a:t> алгоритмларида амалга оширил</a:t>
            </a:r>
            <a:r>
              <a:rPr lang="ru-RU" altLang="ko-KR" sz="1600"/>
              <a:t>ган</a:t>
            </a:r>
            <a:r>
              <a:rPr lang="uz-Cyrl-UZ" altLang="ko-KR" sz="1600"/>
              <a:t> динамик боғланувчи библиотекалар тўпламидир. Дастурий таъминот ўз ичига 4 (тўрт) та алоҳида кўринишдаги библиотекалар </a:t>
            </a:r>
            <a:r>
              <a:rPr lang="ru-RU" altLang="ko-KR" sz="1600"/>
              <a:t>(АШД+ХФ, </a:t>
            </a:r>
            <a:r>
              <a:rPr lang="uz-Cyrl-UZ" altLang="ko-KR" sz="1600"/>
              <a:t>ЭРИ</a:t>
            </a:r>
            <a:r>
              <a:rPr lang="ru-RU" altLang="ko-KR" sz="1600"/>
              <a:t>)</a:t>
            </a:r>
            <a:r>
              <a:rPr lang="uz-Cyrl-UZ" altLang="ko-KR" sz="1600"/>
              <a:t> ни олади.</a:t>
            </a:r>
            <a:endParaRPr lang="ru-RU" altLang="ko-KR" sz="1600"/>
          </a:p>
        </p:txBody>
      </p:sp>
      <p:sp>
        <p:nvSpPr>
          <p:cNvPr id="14340" name="Text Box 7"/>
          <p:cNvSpPr txBox="1">
            <a:spLocks noChangeArrowheads="1"/>
          </p:cNvSpPr>
          <p:nvPr/>
        </p:nvSpPr>
        <p:spPr bwMode="auto">
          <a:xfrm>
            <a:off x="684213" y="2708275"/>
            <a:ext cx="7777162" cy="3416300"/>
          </a:xfrm>
          <a:prstGeom prst="rect">
            <a:avLst/>
          </a:prstGeom>
          <a:noFill/>
          <a:ln w="28575">
            <a:solidFill>
              <a:srgbClr val="9D1D0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uz-Cyrl-UZ" altLang="zh-CN" b="1"/>
              <a:t>Миллий стандартлар учун:</a:t>
            </a:r>
            <a:endParaRPr lang="en-US" altLang="zh-CN">
              <a:ea typeface="SimSun" pitchFamily="2" charset="-122"/>
            </a:endParaRPr>
          </a:p>
          <a:p>
            <a:pPr eaLnBrk="1" hangingPunct="1"/>
            <a:r>
              <a:rPr lang="en-US" altLang="zh-CN" b="1">
                <a:solidFill>
                  <a:srgbClr val="0000FF"/>
                </a:solidFill>
                <a:ea typeface="SimSun" pitchFamily="2" charset="-122"/>
              </a:rPr>
              <a:t>void crypt</a:t>
            </a:r>
            <a:r>
              <a:rPr lang="en-US" altLang="zh-CN">
                <a:ea typeface="SimSun" pitchFamily="2" charset="-122"/>
              </a:rPr>
              <a:t> (unsigned char *In, unsigned char *Out, unsigned char *key, unsigned char *keyf, int n)</a:t>
            </a:r>
            <a:r>
              <a:rPr lang="uz-Cyrl-UZ" altLang="zh-CN"/>
              <a:t>;</a:t>
            </a:r>
            <a:endParaRPr lang="en-US" altLang="zh-CN">
              <a:ea typeface="SimSun" pitchFamily="2" charset="-122"/>
            </a:endParaRPr>
          </a:p>
          <a:p>
            <a:pPr eaLnBrk="1" hangingPunct="1"/>
            <a:r>
              <a:rPr lang="en-US" altLang="zh-CN" b="1">
                <a:solidFill>
                  <a:srgbClr val="0000FF"/>
                </a:solidFill>
                <a:ea typeface="SimSun" pitchFamily="2" charset="-122"/>
              </a:rPr>
              <a:t>void decrypt</a:t>
            </a:r>
            <a:r>
              <a:rPr lang="en-US" altLang="zh-CN">
                <a:ea typeface="SimSun" pitchFamily="2" charset="-122"/>
              </a:rPr>
              <a:t> (unsigned char *In, unsigned char *Out, unsigned char *key, unsigned char *keyf, int n)</a:t>
            </a:r>
            <a:r>
              <a:rPr lang="uz-Cyrl-UZ" altLang="zh-CN"/>
              <a:t>;</a:t>
            </a:r>
            <a:endParaRPr lang="en-US" altLang="zh-CN">
              <a:ea typeface="SimSun" pitchFamily="2" charset="-122"/>
            </a:endParaRPr>
          </a:p>
          <a:p>
            <a:pPr eaLnBrk="1" hangingPunct="1"/>
            <a:r>
              <a:rPr lang="en-US" altLang="zh-CN" b="1">
                <a:solidFill>
                  <a:srgbClr val="0000FF"/>
                </a:solidFill>
                <a:ea typeface="SimSun" pitchFamily="2" charset="-122"/>
              </a:rPr>
              <a:t>void hesh</a:t>
            </a:r>
            <a:r>
              <a:rPr lang="en-US" altLang="zh-CN">
                <a:ea typeface="SimSun" pitchFamily="2" charset="-122"/>
              </a:rPr>
              <a:t> (unsigned char *In, unsigned char *Out, unsigned char *key, unsigned char *e, int n)</a:t>
            </a:r>
          </a:p>
          <a:p>
            <a:pPr eaLnBrk="1" hangingPunct="1"/>
            <a:r>
              <a:rPr lang="en-US" altLang="zh-CN" b="1">
                <a:solidFill>
                  <a:srgbClr val="0000FF"/>
                </a:solidFill>
                <a:ea typeface="SimSun" pitchFamily="2" charset="-122"/>
              </a:rPr>
              <a:t>void gener_key</a:t>
            </a:r>
            <a:r>
              <a:rPr lang="en-US" altLang="zh-CN">
                <a:ea typeface="SimSun" pitchFamily="2" charset="-122"/>
              </a:rPr>
              <a:t> (LINT ss, LINT qq, LINT aa, LINT xx, CString oname, CString yname);</a:t>
            </a:r>
          </a:p>
          <a:p>
            <a:pPr eaLnBrk="1" hangingPunct="1"/>
            <a:r>
              <a:rPr lang="en-US" altLang="zh-CN" b="1">
                <a:solidFill>
                  <a:srgbClr val="0000FF"/>
                </a:solidFill>
                <a:ea typeface="SimSun" pitchFamily="2" charset="-122"/>
              </a:rPr>
              <a:t>void Imzo</a:t>
            </a:r>
            <a:r>
              <a:rPr lang="en-US" altLang="zh-CN">
                <a:ea typeface="SimSun" pitchFamily="2" charset="-122"/>
              </a:rPr>
              <a:t> (CString y_name, CString hesh, CString ll, CString r, CString s);</a:t>
            </a:r>
            <a:endParaRPr lang="uz-Cyrl-UZ" altLang="zh-CN"/>
          </a:p>
          <a:p>
            <a:pPr eaLnBrk="1" hangingPunct="1"/>
            <a:r>
              <a:rPr lang="uz-Cyrl-UZ" altLang="zh-CN" b="1">
                <a:solidFill>
                  <a:srgbClr val="0000FF"/>
                </a:solidFill>
              </a:rPr>
              <a:t>void Imzotekshir</a:t>
            </a:r>
            <a:r>
              <a:rPr lang="uz-Cyrl-UZ" altLang="zh-CN"/>
              <a:t> (CString o_name, CString r, CString s, CString hesh, CString u);</a:t>
            </a: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/>
          <p:cNvSpPr txBox="1">
            <a:spLocks noChangeArrowheads="1"/>
          </p:cNvSpPr>
          <p:nvPr/>
        </p:nvSpPr>
        <p:spPr bwMode="auto">
          <a:xfrm>
            <a:off x="755650" y="2060575"/>
            <a:ext cx="7777163" cy="2781300"/>
          </a:xfrm>
          <a:prstGeom prst="rect">
            <a:avLst/>
          </a:prstGeom>
          <a:noFill/>
          <a:ln w="28575">
            <a:solidFill>
              <a:srgbClr val="9D1D0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ru-RU" altLang="zh-CN" b="1"/>
              <a:t>ГОСТ/ГОСТ Р</a:t>
            </a:r>
            <a:r>
              <a:rPr lang="uz-Cyrl-UZ" altLang="zh-CN" b="1"/>
              <a:t> серияларидаги стандартлар учун</a:t>
            </a:r>
            <a:r>
              <a:rPr lang="ru-RU" altLang="zh-CN" b="1"/>
              <a:t>:</a:t>
            </a:r>
            <a:endParaRPr lang="en-US" altLang="zh-CN" b="1">
              <a:ea typeface="SimSun" pitchFamily="2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800">
              <a:ea typeface="SimSun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0000FF"/>
                </a:solidFill>
                <a:ea typeface="SimSun" pitchFamily="2" charset="-122"/>
              </a:rPr>
              <a:t>void Gost28147PZEncrypt64bitBlock</a:t>
            </a:r>
            <a:r>
              <a:rPr lang="en-US" altLang="zh-CN">
                <a:ea typeface="SimSun" pitchFamily="2" charset="-122"/>
              </a:rPr>
              <a:t>(unsigned long* TwoBlocksBy32Bit, unsigned long* GostKey256Bit,unsigned char GOST_S[8][16])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0000FF"/>
                </a:solidFill>
                <a:ea typeface="SimSun" pitchFamily="2" charset="-122"/>
              </a:rPr>
              <a:t>void Gost28147PZDecrypt64bitBlock</a:t>
            </a:r>
            <a:r>
              <a:rPr lang="en-US" altLang="zh-CN">
                <a:ea typeface="SimSun" pitchFamily="2" charset="-122"/>
              </a:rPr>
              <a:t>(unsigned long* TwoBlocksBy32Bit, unsigned long* GostKey256Bit,unsigned char GOST_S[8][16])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0000FF"/>
                </a:solidFill>
                <a:ea typeface="SimSun" pitchFamily="2" charset="-122"/>
              </a:rPr>
              <a:t>void Gost341194Hash</a:t>
            </a:r>
            <a:r>
              <a:rPr lang="en-US" altLang="zh-CN">
                <a:ea typeface="SimSun" pitchFamily="2" charset="-122"/>
              </a:rPr>
              <a:t>(unsigned char* s,int n,unsigned char* h)</a:t>
            </a:r>
            <a:endParaRPr lang="ru-RU"/>
          </a:p>
        </p:txBody>
      </p:sp>
      <p:sp>
        <p:nvSpPr>
          <p:cNvPr id="15363" name="Rectangle 5"/>
          <p:cNvSpPr>
            <a:spLocks noChangeArrowheads="1"/>
          </p:cNvSpPr>
          <p:nvPr/>
        </p:nvSpPr>
        <p:spPr bwMode="auto">
          <a:xfrm>
            <a:off x="2555875" y="0"/>
            <a:ext cx="597693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uz-Cyrl-UZ" sz="2100" b="1">
                <a:solidFill>
                  <a:schemeClr val="bg1"/>
                </a:solidFill>
              </a:rPr>
              <a:t>Клиент-сервер ў</a:t>
            </a:r>
            <a:r>
              <a:rPr lang="ru-RU" sz="2100" b="1">
                <a:solidFill>
                  <a:schemeClr val="bg1"/>
                </a:solidFill>
              </a:rPr>
              <a:t>ртасида </a:t>
            </a:r>
            <a:r>
              <a:rPr lang="uz-Cyrl-UZ" sz="2100" b="1">
                <a:solidFill>
                  <a:schemeClr val="bg1"/>
                </a:solidFill>
              </a:rPr>
              <a:t>алмашинувчи </a:t>
            </a:r>
            <a:r>
              <a:rPr lang="ru-RU" sz="2100" b="1">
                <a:solidFill>
                  <a:schemeClr val="bg1"/>
                </a:solidFill>
              </a:rPr>
              <a:t>маълумотнинг хавфсизлигини таъминлаш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Схема 3"/>
          <p:cNvGraphicFramePr/>
          <p:nvPr/>
        </p:nvGraphicFramePr>
        <p:xfrm>
          <a:off x="571472" y="1142984"/>
          <a:ext cx="8001056" cy="4714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1428750" y="71438"/>
            <a:ext cx="77866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uz-Cyrl-UZ" sz="2100" b="1">
                <a:solidFill>
                  <a:schemeClr val="bg1"/>
                </a:solidFill>
              </a:rPr>
              <a:t>Яратилган маълумотлар базасидаги мавжуд </a:t>
            </a:r>
          </a:p>
          <a:p>
            <a:pPr algn="ctr"/>
            <a:r>
              <a:rPr lang="uz-Cyrl-UZ" sz="2100" b="1">
                <a:solidFill>
                  <a:schemeClr val="bg1"/>
                </a:solidFill>
              </a:rPr>
              <a:t>жадваллар ва уларнинг ўзаро боғланиш схемаси</a:t>
            </a:r>
            <a:endParaRPr lang="ru-RU" sz="21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47" t="13571" r="3987" b="40356"/>
          <a:stretch>
            <a:fillRect/>
          </a:stretch>
        </p:blipFill>
        <p:spPr bwMode="auto">
          <a:xfrm>
            <a:off x="214313" y="1428750"/>
            <a:ext cx="3786187" cy="442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2411413" y="0"/>
            <a:ext cx="5653087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uz-Cyrl-UZ" sz="2100" b="1">
                <a:solidFill>
                  <a:schemeClr val="bg1"/>
                </a:solidFill>
              </a:rPr>
              <a:t> Рўйхатга олинган сертификатларни сақлаш жадвали</a:t>
            </a:r>
            <a:endParaRPr lang="ru-RU" sz="2100" b="1">
              <a:solidFill>
                <a:schemeClr val="bg1"/>
              </a:solidFill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357688" y="1238250"/>
            <a:ext cx="4429125" cy="5262563"/>
          </a:xfrm>
          <a:prstGeom prst="rect">
            <a:avLst/>
          </a:prstGeom>
          <a:solidFill>
            <a:srgbClr val="FFFFCC">
              <a:alpha val="34117"/>
            </a:srgbClr>
          </a:solidFill>
          <a:ln w="19050">
            <a:solidFill>
              <a:srgbClr val="0066FF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lang="uz-Cyrl-UZ" sz="1600"/>
              <a:t> </a:t>
            </a:r>
            <a:r>
              <a:rPr lang="en-US" sz="1600"/>
              <a:t> </a:t>
            </a:r>
            <a:r>
              <a:rPr lang="uz-Cyrl-UZ" sz="1600"/>
              <a:t>сертификат жадвалдаги тартиб рақами</a:t>
            </a:r>
            <a:r>
              <a:rPr lang="en-US" sz="1600"/>
              <a:t>;</a:t>
            </a:r>
            <a:r>
              <a:rPr lang="uz-Cyrl-UZ" sz="1600"/>
              <a:t> 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lang="uz-Cyrl-UZ" sz="1600"/>
              <a:t> </a:t>
            </a:r>
            <a:r>
              <a:rPr lang="en-US" sz="1600"/>
              <a:t> </a:t>
            </a:r>
            <a:r>
              <a:rPr lang="uz-Cyrl-UZ" sz="1600"/>
              <a:t>сертификат </a:t>
            </a:r>
            <a:r>
              <a:rPr lang="ru-RU" sz="1600"/>
              <a:t>версияси</a:t>
            </a:r>
            <a:r>
              <a:rPr lang="en-US" sz="1600"/>
              <a:t>; </a:t>
            </a:r>
            <a:endParaRPr lang="uz-Cyrl-UZ" sz="1600"/>
          </a:p>
          <a:p>
            <a:pPr algn="just"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lang="uz-Cyrl-UZ" sz="1600"/>
              <a:t> </a:t>
            </a:r>
            <a:r>
              <a:rPr lang="en-US" sz="1600"/>
              <a:t> </a:t>
            </a:r>
            <a:r>
              <a:rPr lang="uz-Cyrl-UZ" sz="1600"/>
              <a:t>сертификат </a:t>
            </a:r>
            <a:r>
              <a:rPr lang="ru-RU" sz="1600"/>
              <a:t>сериал ра</a:t>
            </a:r>
            <a:r>
              <a:rPr lang="uz-Cyrl-UZ" sz="1600"/>
              <a:t>қ</a:t>
            </a:r>
            <a:r>
              <a:rPr lang="ru-RU" sz="1600"/>
              <a:t>ами;</a:t>
            </a:r>
            <a:endParaRPr lang="uz-Cyrl-UZ" sz="1600"/>
          </a:p>
          <a:p>
            <a:pPr algn="just"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lang="uz-Cyrl-UZ" sz="1600"/>
              <a:t>  фойдаланилган ЭРИ алгоритми;</a:t>
            </a:r>
          </a:p>
          <a:p>
            <a:pPr marL="268288" indent="-268288"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lang="uz-Cyrl-UZ" sz="1600"/>
              <a:t>сертификат ким тамонидан берилганлиги ҳақида маълумот (ташкилот номи, адреси, ...) </a:t>
            </a:r>
          </a:p>
          <a:p>
            <a:pPr marL="268288" indent="-268288">
              <a:spcBef>
                <a:spcPct val="50000"/>
              </a:spcBef>
              <a:buFont typeface="Wingdings" pitchFamily="2" charset="2"/>
              <a:buChar char="ü"/>
              <a:tabLst>
                <a:tab pos="93663" algn="l"/>
              </a:tabLst>
              <a:defRPr/>
            </a:pPr>
            <a:r>
              <a:rPr lang="uz-Cyrl-UZ" sz="1600"/>
              <a:t>сертификатнинг амал қилиш муддати:          </a:t>
            </a:r>
            <a:r>
              <a:rPr lang="en-US" sz="1600"/>
              <a:t>                </a:t>
            </a:r>
            <a:r>
              <a:rPr lang="uz-Cyrl-UZ" sz="1600"/>
              <a:t>    қа</a:t>
            </a:r>
            <a:r>
              <a:rPr lang="ru-RU" sz="1600"/>
              <a:t>йси ва</a:t>
            </a:r>
            <a:r>
              <a:rPr lang="uz-Cyrl-UZ" sz="1600"/>
              <a:t>қ</a:t>
            </a:r>
            <a:r>
              <a:rPr lang="ru-RU" sz="1600"/>
              <a:t>тдан бошлаб </a:t>
            </a:r>
            <a:r>
              <a:rPr lang="uz-Cyrl-UZ" sz="1600"/>
              <a:t>қайси вақтгача ;</a:t>
            </a:r>
          </a:p>
          <a:p>
            <a:pPr marL="268288" indent="-268288"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lang="uz-Cyrl-UZ" sz="1600"/>
              <a:t>сертификат ким учун берилди:                           (ФИШ, ташкилот номи, ...)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lang="uz-Cyrl-UZ" sz="1600"/>
              <a:t>  ЭРИ алгоритми очиқ калити;</a:t>
            </a:r>
          </a:p>
          <a:p>
            <a:pPr marL="268288" indent="-268288"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lang="uz-Cyrl-UZ" sz="1600"/>
              <a:t>калитдан фойдаланиш ҳақида маълумот: (ЭРИ ва шифрлаш алгоритмларида) 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lang="uz-Cyrl-UZ" sz="1600"/>
              <a:t>  фойдаланилган хэш алгоритми;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lang="uz-Cyrl-UZ" sz="1600"/>
              <a:t>  хэш қиймати.</a:t>
            </a:r>
            <a:endParaRPr lang="ru-RU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4214813" y="1357313"/>
            <a:ext cx="4643437" cy="4108450"/>
          </a:xfrm>
          <a:prstGeom prst="rect">
            <a:avLst/>
          </a:prstGeom>
          <a:solidFill>
            <a:srgbClr val="FFFFCC">
              <a:alpha val="34117"/>
            </a:srgbClr>
          </a:solidFill>
          <a:ln w="19050">
            <a:solidFill>
              <a:srgbClr val="0066FF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uz-Cyrl-UZ"/>
              <a:t>  жадвалдаги тартиб рақами; </a:t>
            </a:r>
          </a:p>
          <a:p>
            <a:pPr algn="just"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uz-Cyrl-UZ"/>
              <a:t>  номи (логини);  </a:t>
            </a:r>
          </a:p>
          <a:p>
            <a:pPr algn="just"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uz-Cyrl-UZ"/>
              <a:t>  пароли;</a:t>
            </a:r>
          </a:p>
          <a:p>
            <a:pPr algn="just"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uz-Cyrl-UZ"/>
              <a:t>  Исми; </a:t>
            </a:r>
          </a:p>
          <a:p>
            <a:pPr algn="just"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uz-Cyrl-UZ"/>
              <a:t>  Фамилияси;</a:t>
            </a:r>
          </a:p>
          <a:p>
            <a:pPr algn="just"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uz-Cyrl-UZ"/>
              <a:t>  Шарифи;</a:t>
            </a:r>
          </a:p>
          <a:p>
            <a:pPr algn="just"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uz-Cyrl-UZ"/>
              <a:t>  Қисқартмаси (И.Ш.Фамилия). </a:t>
            </a:r>
          </a:p>
          <a:p>
            <a:pPr algn="just"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uz-Cyrl-UZ"/>
              <a:t>  Сертификат тартиб рақами.</a:t>
            </a:r>
          </a:p>
          <a:p>
            <a:pPr algn="just" eaLnBrk="1" hangingPunct="1">
              <a:spcBef>
                <a:spcPct val="50000"/>
              </a:spcBef>
            </a:pPr>
            <a:r>
              <a:rPr lang="uz-Cyrl-UZ"/>
              <a:t> </a:t>
            </a:r>
          </a:p>
          <a:p>
            <a:pPr algn="just" eaLnBrk="1" hangingPunct="1">
              <a:spcBef>
                <a:spcPct val="50000"/>
              </a:spcBef>
            </a:pPr>
            <a:endParaRPr lang="ru-RU"/>
          </a:p>
        </p:txBody>
      </p:sp>
      <p:sp>
        <p:nvSpPr>
          <p:cNvPr id="18435" name="Прямоугольник 3"/>
          <p:cNvSpPr>
            <a:spLocks noChangeArrowheads="1"/>
          </p:cNvSpPr>
          <p:nvPr/>
        </p:nvSpPr>
        <p:spPr bwMode="auto">
          <a:xfrm>
            <a:off x="2000250" y="119063"/>
            <a:ext cx="66436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uz-Cyrl-UZ" sz="2100" b="1">
                <a:solidFill>
                  <a:schemeClr val="bg1"/>
                </a:solidFill>
              </a:rPr>
              <a:t>Сертификат эгасининг анкета маълумотларини сақлаш жадвали</a:t>
            </a:r>
            <a:endParaRPr lang="ru-RU" sz="2100" b="1">
              <a:solidFill>
                <a:schemeClr val="bg1"/>
              </a:solidFill>
            </a:endParaRPr>
          </a:p>
        </p:txBody>
      </p:sp>
      <p:pic>
        <p:nvPicPr>
          <p:cNvPr id="184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21" t="14265" r="3719" b="52106"/>
          <a:stretch>
            <a:fillRect/>
          </a:stretch>
        </p:blipFill>
        <p:spPr bwMode="auto">
          <a:xfrm>
            <a:off x="214313" y="1428750"/>
            <a:ext cx="3786187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Прямоугольник 2"/>
          <p:cNvSpPr>
            <a:spLocks noChangeArrowheads="1"/>
          </p:cNvSpPr>
          <p:nvPr/>
        </p:nvSpPr>
        <p:spPr bwMode="auto">
          <a:xfrm>
            <a:off x="1928813" y="142875"/>
            <a:ext cx="707231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uz-Cyrl-UZ" sz="2100" b="1">
                <a:solidFill>
                  <a:schemeClr val="bg1"/>
                </a:solidFill>
              </a:rPr>
              <a:t>Тизимда мавжуд барча хатларни сақлаш  жадвали</a:t>
            </a:r>
            <a:endParaRPr lang="ru-RU" sz="2100" b="1">
              <a:solidFill>
                <a:schemeClr val="bg1"/>
              </a:solidFill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3929063" y="928688"/>
            <a:ext cx="4929187" cy="5611812"/>
          </a:xfrm>
          <a:prstGeom prst="rect">
            <a:avLst/>
          </a:prstGeom>
          <a:solidFill>
            <a:srgbClr val="FFFFCC">
              <a:alpha val="34117"/>
            </a:srgbClr>
          </a:solidFill>
          <a:ln w="19050">
            <a:solidFill>
              <a:srgbClr val="0066FF"/>
            </a:solidFill>
            <a:prstDash val="dash"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uz-Cyrl-UZ" sz="1600"/>
              <a:t>   жадвал</a:t>
            </a:r>
            <a:r>
              <a:rPr lang="ru-RU" sz="1600"/>
              <a:t>даги тартиб номери</a:t>
            </a:r>
            <a:r>
              <a:rPr lang="uz-Cyrl-UZ" sz="1600"/>
              <a:t>;</a:t>
            </a:r>
          </a:p>
          <a:p>
            <a:pPr algn="just"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uz-Cyrl-UZ" sz="1600"/>
              <a:t>   мавзуси;</a:t>
            </a:r>
          </a:p>
          <a:p>
            <a:pPr algn="just"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uz-Cyrl-UZ" sz="1600"/>
              <a:t>   матни;</a:t>
            </a:r>
          </a:p>
          <a:p>
            <a:pPr algn="just"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uz-Cyrl-UZ" sz="1600"/>
              <a:t>   яратилган сана ва вақти; </a:t>
            </a:r>
          </a:p>
          <a:p>
            <a:pPr algn="just"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uz-Cyrl-UZ" sz="1600"/>
              <a:t>   юборувчининг тартиб рақами;</a:t>
            </a:r>
          </a:p>
          <a:p>
            <a:pPr algn="just"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uz-Cyrl-UZ" sz="1600"/>
              <a:t>   қабул қилувчининг тартиб рақами;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uz-Cyrl-UZ" sz="1600"/>
              <a:t>қабул қилувчи ўқиган ёки ўқимаганлигини билдирувчи катталик </a:t>
            </a:r>
            <a:r>
              <a:rPr lang="en-US" sz="1600"/>
              <a:t>                          </a:t>
            </a:r>
            <a:r>
              <a:rPr lang="uz-Cyrl-UZ" sz="1600"/>
              <a:t>     	</a:t>
            </a:r>
            <a:r>
              <a:rPr lang="en-US" sz="1600"/>
              <a:t>	“</a:t>
            </a:r>
            <a:r>
              <a:rPr lang="uz-Cyrl-UZ" sz="1600"/>
              <a:t>0</a:t>
            </a:r>
            <a:r>
              <a:rPr lang="en-US" sz="1600"/>
              <a:t>”</a:t>
            </a:r>
            <a:r>
              <a:rPr lang="uz-Cyrl-UZ" sz="1600"/>
              <a:t>  – ўқилган;                                                  	</a:t>
            </a:r>
            <a:r>
              <a:rPr lang="en-US" sz="1600"/>
              <a:t>“</a:t>
            </a:r>
            <a:r>
              <a:rPr lang="uz-Cyrl-UZ" sz="1600"/>
              <a:t>1</a:t>
            </a:r>
            <a:r>
              <a:rPr lang="en-US" sz="1600"/>
              <a:t>”</a:t>
            </a:r>
            <a:r>
              <a:rPr lang="uz-Cyrl-UZ" sz="1600"/>
              <a:t>  – ўқилмаган.                    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uz-Cyrl-UZ" sz="1600"/>
              <a:t>юборувчи ўчирган ёки ўчирмаганлигини билдирувчи  катталик</a:t>
            </a:r>
            <a:r>
              <a:rPr lang="en-US" sz="1600"/>
              <a:t>                                                   	“</a:t>
            </a:r>
            <a:r>
              <a:rPr lang="uz-Cyrl-UZ" sz="1600"/>
              <a:t> </a:t>
            </a:r>
            <a:r>
              <a:rPr lang="en-US" sz="1600"/>
              <a:t>1</a:t>
            </a:r>
            <a:r>
              <a:rPr lang="uz-Cyrl-UZ" sz="1600"/>
              <a:t> </a:t>
            </a:r>
            <a:r>
              <a:rPr lang="en-US" sz="1600"/>
              <a:t>”</a:t>
            </a:r>
            <a:r>
              <a:rPr lang="uz-Cyrl-UZ" sz="1600"/>
              <a:t>   –  ўчирилмаган;                    		</a:t>
            </a:r>
            <a:r>
              <a:rPr lang="en-US" sz="1600"/>
              <a:t>“</a:t>
            </a:r>
            <a:r>
              <a:rPr lang="uz-Cyrl-UZ" sz="1600"/>
              <a:t> 0 </a:t>
            </a:r>
            <a:r>
              <a:rPr lang="en-US" sz="1600"/>
              <a:t>”</a:t>
            </a:r>
            <a:r>
              <a:rPr lang="uz-Cyrl-UZ" sz="1600"/>
              <a:t>   –</a:t>
            </a:r>
            <a:r>
              <a:rPr lang="en-US" sz="1600"/>
              <a:t> </a:t>
            </a:r>
            <a:r>
              <a:rPr lang="uz-Cyrl-UZ" sz="1600"/>
              <a:t> ўчирилган (корзинка мавжуд);</a:t>
            </a:r>
            <a:r>
              <a:rPr lang="en-US" sz="1600"/>
              <a:t> </a:t>
            </a:r>
            <a:r>
              <a:rPr lang="uz-Cyrl-UZ" sz="1600"/>
              <a:t>		</a:t>
            </a:r>
            <a:r>
              <a:rPr lang="en-US" sz="1600"/>
              <a:t>“</a:t>
            </a:r>
            <a:r>
              <a:rPr lang="uz-Cyrl-UZ" sz="1600"/>
              <a:t>-1</a:t>
            </a:r>
            <a:r>
              <a:rPr lang="en-US" sz="1600"/>
              <a:t>”</a:t>
            </a:r>
            <a:r>
              <a:rPr lang="uz-Cyrl-UZ" sz="1600"/>
              <a:t>    –  мутлоқ ўчирилган.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uz-Cyrl-UZ" sz="1600"/>
              <a:t>қабул қилувчи ўчирган ёки ўчир</a:t>
            </a:r>
            <a:r>
              <a:rPr lang="ru-RU" sz="1600"/>
              <a:t>ма</a:t>
            </a:r>
            <a:r>
              <a:rPr lang="uz-Cyrl-UZ" sz="1600"/>
              <a:t>ганлигини билдирувчи катталик; </a:t>
            </a:r>
          </a:p>
          <a:p>
            <a:pPr algn="just" eaLnBrk="1" hangingPunct="1">
              <a:spcBef>
                <a:spcPct val="50000"/>
              </a:spcBef>
              <a:buFont typeface="Wingdings" pitchFamily="2" charset="2"/>
              <a:buChar char="ü"/>
            </a:pPr>
            <a:r>
              <a:rPr lang="uz-Cyrl-UZ" sz="1600"/>
              <a:t>бириктирилган файл.</a:t>
            </a:r>
            <a:endParaRPr lang="ru-RU" sz="1600"/>
          </a:p>
        </p:txBody>
      </p:sp>
      <p:pic>
        <p:nvPicPr>
          <p:cNvPr id="19460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557338"/>
            <a:ext cx="3240088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" t="19511" r="27295" b="9349"/>
          <a:stretch>
            <a:fillRect/>
          </a:stretch>
        </p:blipFill>
        <p:spPr bwMode="auto">
          <a:xfrm>
            <a:off x="642938" y="1000125"/>
            <a:ext cx="7786687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1785938" y="71438"/>
            <a:ext cx="6643687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uz-Cyrl-UZ" sz="2100" b="1">
                <a:solidFill>
                  <a:schemeClr val="bg1"/>
                </a:solidFill>
              </a:rPr>
              <a:t>Microsoft SQL Server 2005 тизимида яратилган жадвалларнинг боғланиш диаграммаси</a:t>
            </a:r>
            <a:endParaRPr lang="ru-RU" sz="21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125538"/>
            <a:ext cx="7920037" cy="526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Text Box 9"/>
          <p:cNvSpPr txBox="1">
            <a:spLocks noChangeArrowheads="1"/>
          </p:cNvSpPr>
          <p:nvPr/>
        </p:nvSpPr>
        <p:spPr bwMode="auto">
          <a:xfrm>
            <a:off x="2268538" y="260350"/>
            <a:ext cx="6191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uz-Cyrl-UZ" sz="2000" b="1">
                <a:solidFill>
                  <a:schemeClr val="bg1"/>
                </a:solidFill>
              </a:rPr>
              <a:t>ҲЭПТ сервер қисмининг рўйхатга олиш ойнаси</a:t>
            </a:r>
            <a:endParaRPr lang="ru-RU" sz="2000" b="1">
              <a:solidFill>
                <a:schemeClr val="bg1"/>
              </a:solidFill>
            </a:endParaRPr>
          </a:p>
        </p:txBody>
      </p:sp>
      <p:sp>
        <p:nvSpPr>
          <p:cNvPr id="83980" name="AutoShape 12"/>
          <p:cNvSpPr>
            <a:spLocks noChangeArrowheads="1"/>
          </p:cNvSpPr>
          <p:nvPr/>
        </p:nvSpPr>
        <p:spPr bwMode="auto">
          <a:xfrm>
            <a:off x="4572000" y="2492375"/>
            <a:ext cx="1512888" cy="431800"/>
          </a:xfrm>
          <a:prstGeom prst="roundRect">
            <a:avLst>
              <a:gd name="adj" fmla="val 16667"/>
            </a:avLst>
          </a:prstGeom>
          <a:solidFill>
            <a:schemeClr val="accent1">
              <a:alpha val="0"/>
            </a:schemeClr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uz-Cyrl-UZ"/>
          </a:p>
        </p:txBody>
      </p:sp>
      <p:sp>
        <p:nvSpPr>
          <p:cNvPr id="83981" name="AutoShape 13"/>
          <p:cNvSpPr>
            <a:spLocks noChangeArrowheads="1"/>
          </p:cNvSpPr>
          <p:nvPr/>
        </p:nvSpPr>
        <p:spPr bwMode="auto">
          <a:xfrm>
            <a:off x="971550" y="1341438"/>
            <a:ext cx="1512888" cy="647700"/>
          </a:xfrm>
          <a:prstGeom prst="roundRect">
            <a:avLst>
              <a:gd name="adj" fmla="val 16667"/>
            </a:avLst>
          </a:prstGeom>
          <a:solidFill>
            <a:schemeClr val="accent1">
              <a:alpha val="0"/>
            </a:schemeClr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uz-Cyrl-UZ"/>
          </a:p>
        </p:txBody>
      </p:sp>
      <p:sp>
        <p:nvSpPr>
          <p:cNvPr id="21510" name="AutoShape 14"/>
          <p:cNvSpPr>
            <a:spLocks noChangeArrowheads="1"/>
          </p:cNvSpPr>
          <p:nvPr/>
        </p:nvSpPr>
        <p:spPr bwMode="auto">
          <a:xfrm>
            <a:off x="684213" y="6092825"/>
            <a:ext cx="1512887" cy="431800"/>
          </a:xfrm>
          <a:prstGeom prst="roundRect">
            <a:avLst>
              <a:gd name="adj" fmla="val 16667"/>
            </a:avLst>
          </a:prstGeom>
          <a:solidFill>
            <a:schemeClr val="accent1">
              <a:alpha val="0"/>
            </a:schemeClr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uz-Cyrl-UZ"/>
          </a:p>
        </p:txBody>
      </p:sp>
      <p:sp>
        <p:nvSpPr>
          <p:cNvPr id="83983" name="AutoShape 15"/>
          <p:cNvSpPr>
            <a:spLocks noChangeArrowheads="1"/>
          </p:cNvSpPr>
          <p:nvPr/>
        </p:nvSpPr>
        <p:spPr bwMode="auto">
          <a:xfrm>
            <a:off x="6948488" y="1873250"/>
            <a:ext cx="1009650" cy="431800"/>
          </a:xfrm>
          <a:prstGeom prst="roundRect">
            <a:avLst>
              <a:gd name="adj" fmla="val 16667"/>
            </a:avLst>
          </a:prstGeom>
          <a:solidFill>
            <a:schemeClr val="accent1">
              <a:alpha val="0"/>
            </a:schemeClr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1000"/>
                                        <p:tgtEl>
                                          <p:spTgt spid="8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1000"/>
                                        <p:tgtEl>
                                          <p:spTgt spid="83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1000"/>
                                        <p:tgtEl>
                                          <p:spTgt spid="8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80" grpId="0" animBg="1"/>
      <p:bldP spid="83981" grpId="0" animBg="1"/>
      <p:bldP spid="8398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981075"/>
            <a:ext cx="8137525" cy="541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AutoShape 5"/>
          <p:cNvSpPr>
            <a:spLocks noChangeArrowheads="1"/>
          </p:cNvSpPr>
          <p:nvPr/>
        </p:nvSpPr>
        <p:spPr bwMode="auto">
          <a:xfrm>
            <a:off x="2051050" y="4652963"/>
            <a:ext cx="4392613" cy="1512887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22532" name="Text Box 6"/>
          <p:cNvSpPr txBox="1">
            <a:spLocks noChangeArrowheads="1"/>
          </p:cNvSpPr>
          <p:nvPr/>
        </p:nvSpPr>
        <p:spPr bwMode="auto">
          <a:xfrm>
            <a:off x="1979613" y="260350"/>
            <a:ext cx="71643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uz-Cyrl-UZ" sz="2000" b="1">
                <a:solidFill>
                  <a:schemeClr val="bg1"/>
                </a:solidFill>
              </a:rPr>
              <a:t>ҲЭПТ дастурий таъминоти сервер қисми интерфейси</a:t>
            </a:r>
            <a:endParaRPr lang="ru-RU" sz="2000" b="1">
              <a:solidFill>
                <a:schemeClr val="bg1"/>
              </a:solidFill>
            </a:endParaRPr>
          </a:p>
        </p:txBody>
      </p:sp>
      <p:sp>
        <p:nvSpPr>
          <p:cNvPr id="22533" name="AutoShape 7"/>
          <p:cNvSpPr>
            <a:spLocks noChangeArrowheads="1"/>
          </p:cNvSpPr>
          <p:nvPr/>
        </p:nvSpPr>
        <p:spPr bwMode="auto">
          <a:xfrm>
            <a:off x="4356100" y="2420938"/>
            <a:ext cx="1944688" cy="4318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22534" name="AutoShape 9"/>
          <p:cNvSpPr>
            <a:spLocks noChangeArrowheads="1"/>
          </p:cNvSpPr>
          <p:nvPr/>
        </p:nvSpPr>
        <p:spPr bwMode="auto">
          <a:xfrm>
            <a:off x="6300788" y="3429000"/>
            <a:ext cx="576262" cy="287338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981075"/>
            <a:ext cx="4819650" cy="567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Text Box 5"/>
          <p:cNvSpPr txBox="1">
            <a:spLocks noChangeArrowheads="1"/>
          </p:cNvSpPr>
          <p:nvPr/>
        </p:nvSpPr>
        <p:spPr bwMode="auto">
          <a:xfrm>
            <a:off x="2700338" y="260350"/>
            <a:ext cx="4897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b="1">
                <a:solidFill>
                  <a:schemeClr val="bg1"/>
                </a:solidFill>
              </a:rPr>
              <a:t>X.509 </a:t>
            </a:r>
            <a:r>
              <a:rPr lang="ru-RU" sz="2000" b="1">
                <a:solidFill>
                  <a:schemeClr val="bg1"/>
                </a:solidFill>
              </a:rPr>
              <a:t>сертификатининг к</a:t>
            </a:r>
            <a:r>
              <a:rPr lang="uz-Cyrl-UZ" sz="2000" b="1">
                <a:solidFill>
                  <a:schemeClr val="bg1"/>
                </a:solidFill>
              </a:rPr>
              <a:t>ў</a:t>
            </a:r>
            <a:r>
              <a:rPr lang="ru-RU" sz="2000" b="1">
                <a:solidFill>
                  <a:schemeClr val="bg1"/>
                </a:solidFill>
              </a:rPr>
              <a:t>риниши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076700"/>
            <a:ext cx="8497888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916113"/>
            <a:ext cx="856932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0" name="AutoShape 6"/>
          <p:cNvSpPr>
            <a:spLocks noChangeArrowheads="1"/>
          </p:cNvSpPr>
          <p:nvPr/>
        </p:nvSpPr>
        <p:spPr bwMode="auto">
          <a:xfrm>
            <a:off x="684213" y="2276475"/>
            <a:ext cx="1081087" cy="576263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24581" name="AutoShape 7"/>
          <p:cNvSpPr>
            <a:spLocks noChangeArrowheads="1"/>
          </p:cNvSpPr>
          <p:nvPr/>
        </p:nvSpPr>
        <p:spPr bwMode="auto">
          <a:xfrm>
            <a:off x="7596188" y="4652963"/>
            <a:ext cx="1081087" cy="433387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24582" name="Text Box 8"/>
          <p:cNvSpPr txBox="1">
            <a:spLocks noChangeArrowheads="1"/>
          </p:cNvSpPr>
          <p:nvPr/>
        </p:nvSpPr>
        <p:spPr bwMode="auto">
          <a:xfrm>
            <a:off x="1979613" y="0"/>
            <a:ext cx="71643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uz-Cyrl-UZ" sz="2000" b="1">
                <a:solidFill>
                  <a:schemeClr val="bg1"/>
                </a:solidFill>
              </a:rPr>
              <a:t>Сервер томонидан сертификатни базада рўйҳатга олиниши</a:t>
            </a:r>
            <a:endParaRPr lang="ru-RU" sz="20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196975"/>
            <a:ext cx="5905500" cy="37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Text Box 5"/>
          <p:cNvSpPr txBox="1">
            <a:spLocks noChangeArrowheads="1"/>
          </p:cNvSpPr>
          <p:nvPr/>
        </p:nvSpPr>
        <p:spPr bwMode="auto">
          <a:xfrm>
            <a:off x="1979613" y="260350"/>
            <a:ext cx="698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uz-Cyrl-UZ" sz="2000" b="1">
                <a:solidFill>
                  <a:schemeClr val="bg1"/>
                </a:solidFill>
              </a:rPr>
              <a:t>ҲЭПТ дастурий таъминоти клиент қисми интерфейси</a:t>
            </a:r>
            <a:endParaRPr lang="ru-RU" sz="2000" b="1">
              <a:solidFill>
                <a:schemeClr val="bg1"/>
              </a:solidFill>
            </a:endParaRPr>
          </a:p>
        </p:txBody>
      </p:sp>
      <p:pic>
        <p:nvPicPr>
          <p:cNvPr id="983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1628775"/>
            <a:ext cx="5040312" cy="449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11" name="AutoShape 7"/>
          <p:cNvSpPr>
            <a:spLocks noChangeArrowheads="1"/>
          </p:cNvSpPr>
          <p:nvPr/>
        </p:nvSpPr>
        <p:spPr bwMode="auto">
          <a:xfrm>
            <a:off x="4284663" y="2708275"/>
            <a:ext cx="2808287" cy="360363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98313" name="AutoShape 9"/>
          <p:cNvSpPr>
            <a:spLocks noChangeArrowheads="1"/>
          </p:cNvSpPr>
          <p:nvPr/>
        </p:nvSpPr>
        <p:spPr bwMode="auto">
          <a:xfrm>
            <a:off x="2714625" y="2060575"/>
            <a:ext cx="1008063" cy="360363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983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98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8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6" dur="1000"/>
                                        <p:tgtEl>
                                          <p:spTgt spid="98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1" dur="1000"/>
                                        <p:tgtEl>
                                          <p:spTgt spid="9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1" grpId="0" animBg="1"/>
      <p:bldP spid="983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225" y="1143000"/>
            <a:ext cx="5783263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AutoShape 5"/>
          <p:cNvSpPr>
            <a:spLocks noChangeArrowheads="1"/>
          </p:cNvSpPr>
          <p:nvPr/>
        </p:nvSpPr>
        <p:spPr bwMode="auto">
          <a:xfrm>
            <a:off x="2500313" y="1643063"/>
            <a:ext cx="1008062" cy="360362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uz-Cyrl-UZ"/>
          </a:p>
        </p:txBody>
      </p:sp>
      <p:pic>
        <p:nvPicPr>
          <p:cNvPr id="2662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4000500"/>
            <a:ext cx="4148138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1979613" y="260350"/>
            <a:ext cx="698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uz-Cyrl-UZ" sz="2000" b="1">
                <a:solidFill>
                  <a:schemeClr val="bg1"/>
                </a:solidFill>
              </a:rPr>
              <a:t>ҲЭПТ дастурий таъминоти клиент қисми интерфейси</a:t>
            </a:r>
            <a:endParaRPr lang="ru-RU" sz="20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5"/>
          <p:cNvSpPr txBox="1">
            <a:spLocks noChangeArrowheads="1"/>
          </p:cNvSpPr>
          <p:nvPr/>
        </p:nvSpPr>
        <p:spPr bwMode="auto">
          <a:xfrm>
            <a:off x="1979613" y="260350"/>
            <a:ext cx="698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uz-Cyrl-UZ" sz="2000" b="1">
                <a:solidFill>
                  <a:schemeClr val="bg1"/>
                </a:solidFill>
              </a:rPr>
              <a:t>ҲЭПТ дастурий таъминоти клиент қисми интерфейси</a:t>
            </a:r>
            <a:endParaRPr lang="ru-RU" sz="2000" b="1">
              <a:solidFill>
                <a:schemeClr val="bg1"/>
              </a:solidFill>
            </a:endParaRPr>
          </a:p>
        </p:txBody>
      </p:sp>
      <p:pic>
        <p:nvPicPr>
          <p:cNvPr id="2765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388" y="1276350"/>
            <a:ext cx="6067425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2071688"/>
            <a:ext cx="5857875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Text Box 5"/>
          <p:cNvSpPr txBox="1">
            <a:spLocks noChangeArrowheads="1"/>
          </p:cNvSpPr>
          <p:nvPr/>
        </p:nvSpPr>
        <p:spPr bwMode="auto">
          <a:xfrm>
            <a:off x="1979613" y="260350"/>
            <a:ext cx="698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uz-Cyrl-UZ" sz="2000" b="1">
                <a:solidFill>
                  <a:schemeClr val="bg1"/>
                </a:solidFill>
              </a:rPr>
              <a:t>ҲЭПТ дастурий таъминоти клиент қисми интерфейси</a:t>
            </a:r>
            <a:endParaRPr lang="ru-RU" sz="20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5"/>
          <p:cNvSpPr txBox="1">
            <a:spLocks noChangeArrowheads="1"/>
          </p:cNvSpPr>
          <p:nvPr/>
        </p:nvSpPr>
        <p:spPr bwMode="auto">
          <a:xfrm>
            <a:off x="1979613" y="260350"/>
            <a:ext cx="698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uz-Cyrl-UZ" sz="2000" b="1">
                <a:solidFill>
                  <a:schemeClr val="bg1"/>
                </a:solidFill>
              </a:rPr>
              <a:t>ҲЭПТ дастурий таъминоти клиент қисми интерфейси</a:t>
            </a:r>
            <a:endParaRPr lang="ru-RU" sz="2000" b="1">
              <a:solidFill>
                <a:schemeClr val="bg1"/>
              </a:solidFill>
            </a:endParaRPr>
          </a:p>
        </p:txBody>
      </p:sp>
      <p:pic>
        <p:nvPicPr>
          <p:cNvPr id="29699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79475"/>
            <a:ext cx="9144000" cy="582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052513"/>
            <a:ext cx="7705725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3" name="Рисунок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797425"/>
            <a:ext cx="8351838" cy="170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AutoShape 7"/>
          <p:cNvSpPr>
            <a:spLocks noChangeArrowheads="1"/>
          </p:cNvSpPr>
          <p:nvPr/>
        </p:nvSpPr>
        <p:spPr bwMode="auto">
          <a:xfrm>
            <a:off x="1476375" y="5229225"/>
            <a:ext cx="1655763" cy="287338"/>
          </a:xfrm>
          <a:prstGeom prst="roundRect">
            <a:avLst>
              <a:gd name="adj" fmla="val 16667"/>
            </a:avLst>
          </a:prstGeom>
          <a:solidFill>
            <a:srgbClr val="FF0000">
              <a:alpha val="0"/>
            </a:srgbClr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pic>
        <p:nvPicPr>
          <p:cNvPr id="30725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5805488"/>
            <a:ext cx="3673475" cy="5365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26" name="Line 10"/>
          <p:cNvSpPr>
            <a:spLocks noChangeShapeType="1"/>
          </p:cNvSpPr>
          <p:nvPr/>
        </p:nvSpPr>
        <p:spPr bwMode="auto">
          <a:xfrm>
            <a:off x="2195513" y="5516563"/>
            <a:ext cx="1296987" cy="5048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30727" name="AutoShape 11"/>
          <p:cNvSpPr>
            <a:spLocks noChangeArrowheads="1"/>
          </p:cNvSpPr>
          <p:nvPr/>
        </p:nvSpPr>
        <p:spPr bwMode="auto">
          <a:xfrm>
            <a:off x="6300788" y="981075"/>
            <a:ext cx="1800225" cy="863600"/>
          </a:xfrm>
          <a:prstGeom prst="roundRect">
            <a:avLst>
              <a:gd name="adj" fmla="val 16667"/>
            </a:avLst>
          </a:prstGeom>
          <a:solidFill>
            <a:srgbClr val="FF0000">
              <a:alpha val="0"/>
            </a:srgbClr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30728" name="Text Box 12"/>
          <p:cNvSpPr txBox="1">
            <a:spLocks noChangeArrowheads="1"/>
          </p:cNvSpPr>
          <p:nvPr/>
        </p:nvSpPr>
        <p:spPr bwMode="auto">
          <a:xfrm>
            <a:off x="1979613" y="260350"/>
            <a:ext cx="698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uz-Cyrl-UZ" sz="2000" b="1">
                <a:solidFill>
                  <a:schemeClr val="bg1"/>
                </a:solidFill>
              </a:rPr>
              <a:t>ҲЭПТ дастурий таъминоти клиент қисми интерфейси</a:t>
            </a:r>
            <a:endParaRPr lang="ru-RU" sz="2000" b="1">
              <a:solidFill>
                <a:schemeClr val="bg1"/>
              </a:solidFill>
            </a:endParaRPr>
          </a:p>
        </p:txBody>
      </p:sp>
      <p:sp>
        <p:nvSpPr>
          <p:cNvPr id="30729" name="AutoShape 7"/>
          <p:cNvSpPr>
            <a:spLocks noChangeArrowheads="1"/>
          </p:cNvSpPr>
          <p:nvPr/>
        </p:nvSpPr>
        <p:spPr bwMode="auto">
          <a:xfrm>
            <a:off x="4643438" y="5214938"/>
            <a:ext cx="1727200" cy="285750"/>
          </a:xfrm>
          <a:prstGeom prst="roundRect">
            <a:avLst>
              <a:gd name="adj" fmla="val 16667"/>
            </a:avLst>
          </a:prstGeom>
          <a:solidFill>
            <a:srgbClr val="FF0000">
              <a:alpha val="0"/>
            </a:srgbClr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30730" name="AutoShape 7"/>
          <p:cNvSpPr>
            <a:spLocks noChangeArrowheads="1"/>
          </p:cNvSpPr>
          <p:nvPr/>
        </p:nvSpPr>
        <p:spPr bwMode="auto">
          <a:xfrm>
            <a:off x="6429375" y="5214938"/>
            <a:ext cx="2214563" cy="285750"/>
          </a:xfrm>
          <a:prstGeom prst="roundRect">
            <a:avLst>
              <a:gd name="adj" fmla="val 16667"/>
            </a:avLst>
          </a:prstGeom>
          <a:solidFill>
            <a:srgbClr val="FF0000">
              <a:alpha val="0"/>
            </a:srgbClr>
          </a:solidFill>
          <a:ln w="28575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ChangeArrowheads="1"/>
          </p:cNvSpPr>
          <p:nvPr/>
        </p:nvSpPr>
        <p:spPr bwMode="auto">
          <a:xfrm>
            <a:off x="139700" y="981075"/>
            <a:ext cx="8824913" cy="2592388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31747" name="Text Box 4"/>
          <p:cNvSpPr txBox="1">
            <a:spLocks noChangeArrowheads="1"/>
          </p:cNvSpPr>
          <p:nvPr/>
        </p:nvSpPr>
        <p:spPr bwMode="auto">
          <a:xfrm>
            <a:off x="3059113" y="260350"/>
            <a:ext cx="3311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ru-RU" sz="2000" b="1">
                <a:solidFill>
                  <a:schemeClr val="bg1"/>
                </a:solidFill>
              </a:rPr>
              <a:t>Маълумотлар базаси</a:t>
            </a:r>
          </a:p>
        </p:txBody>
      </p:sp>
      <p:sp>
        <p:nvSpPr>
          <p:cNvPr id="31748" name="Text Box 5"/>
          <p:cNvSpPr txBox="1">
            <a:spLocks noChangeArrowheads="1"/>
          </p:cNvSpPr>
          <p:nvPr/>
        </p:nvSpPr>
        <p:spPr bwMode="auto">
          <a:xfrm>
            <a:off x="1331913" y="1052513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600" b="1"/>
              <a:t>Table_User </a:t>
            </a:r>
            <a:r>
              <a:rPr lang="uz-Cyrl-UZ" sz="1600" b="1"/>
              <a:t>жадвалининг кўриниши</a:t>
            </a:r>
            <a:endParaRPr lang="ru-RU" sz="1600" b="1"/>
          </a:p>
        </p:txBody>
      </p:sp>
      <p:sp>
        <p:nvSpPr>
          <p:cNvPr id="31749" name="Rectangle 10"/>
          <p:cNvSpPr>
            <a:spLocks noChangeArrowheads="1"/>
          </p:cNvSpPr>
          <p:nvPr/>
        </p:nvSpPr>
        <p:spPr bwMode="auto">
          <a:xfrm>
            <a:off x="128588" y="3933825"/>
            <a:ext cx="8824912" cy="2476500"/>
          </a:xfrm>
          <a:prstGeom prst="rect">
            <a:avLst/>
          </a:prstGeom>
          <a:noFill/>
          <a:ln w="38100">
            <a:solidFill>
              <a:srgbClr val="0000FF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31750" name="Text Box 11"/>
          <p:cNvSpPr txBox="1">
            <a:spLocks noChangeArrowheads="1"/>
          </p:cNvSpPr>
          <p:nvPr/>
        </p:nvSpPr>
        <p:spPr bwMode="auto">
          <a:xfrm>
            <a:off x="1320800" y="3975100"/>
            <a:ext cx="6911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600" b="1"/>
              <a:t>Table_Cert </a:t>
            </a:r>
            <a:r>
              <a:rPr lang="uz-Cyrl-UZ" sz="1600" b="1"/>
              <a:t>жадвалининг кўриниши</a:t>
            </a:r>
            <a:endParaRPr lang="ru-RU" sz="1600" b="1"/>
          </a:p>
        </p:txBody>
      </p:sp>
      <p:pic>
        <p:nvPicPr>
          <p:cNvPr id="31751" name="Рисунок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1484313"/>
            <a:ext cx="8496300" cy="187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2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365625"/>
            <a:ext cx="8424863" cy="178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2|3.4"/>
</p:tagLst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1927</TotalTime>
  <Words>1457</Words>
  <Application>Microsoft Office PowerPoint</Application>
  <PresentationFormat>Экран (4:3)</PresentationFormat>
  <Paragraphs>338</Paragraphs>
  <Slides>31</Slides>
  <Notes>2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3" baseType="lpstr">
      <vt:lpstr>Оформление по умолчанию</vt:lpstr>
      <vt:lpstr>Clip</vt:lpstr>
      <vt:lpstr>Презентация PowerPoint</vt:lpstr>
      <vt:lpstr>Презентация PowerPoint</vt:lpstr>
      <vt:lpstr>Презентация PowerPoint</vt:lpstr>
      <vt:lpstr>Очиқ калитлар инфраструктураси сервислари</vt:lpstr>
      <vt:lpstr>Рақамли имзони ҳосил қилиш</vt:lpstr>
      <vt:lpstr>Рақамли имзони текшириш</vt:lpstr>
      <vt:lpstr>Хужжатни шифрлаш ва дешифрлаш жараёни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Тошкент ахборот технологиялари университети қошидаги  Радиоэлектрон тизимлар ва ахборот технологиялари маркази</dc:title>
  <dc:creator>ILHOM</dc:creator>
  <cp:lastModifiedBy>Microsoft Office</cp:lastModifiedBy>
  <cp:revision>48</cp:revision>
  <dcterms:created xsi:type="dcterms:W3CDTF">2009-12-16T18:12:40Z</dcterms:created>
  <dcterms:modified xsi:type="dcterms:W3CDTF">2019-08-21T13:48:37Z</dcterms:modified>
</cp:coreProperties>
</file>