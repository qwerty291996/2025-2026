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310" r:id="rId3"/>
    <p:sldId id="311" r:id="rId4"/>
    <p:sldId id="312" r:id="rId5"/>
    <p:sldId id="341" r:id="rId6"/>
    <p:sldId id="313" r:id="rId7"/>
    <p:sldId id="314" r:id="rId8"/>
    <p:sldId id="342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5" r:id="rId19"/>
    <p:sldId id="324" r:id="rId20"/>
    <p:sldId id="326" r:id="rId21"/>
    <p:sldId id="327" r:id="rId22"/>
    <p:sldId id="340" r:id="rId23"/>
    <p:sldId id="267" r:id="rId24"/>
    <p:sldId id="263" r:id="rId25"/>
    <p:sldId id="268" r:id="rId26"/>
    <p:sldId id="270" r:id="rId27"/>
    <p:sldId id="271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334" r:id="rId37"/>
    <p:sldId id="335" r:id="rId38"/>
    <p:sldId id="336" r:id="rId39"/>
    <p:sldId id="337" r:id="rId40"/>
    <p:sldId id="338" r:id="rId41"/>
    <p:sldId id="339" r:id="rId42"/>
    <p:sldId id="291" r:id="rId4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3333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Стиль из темы 2 - акцент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433" autoAdjust="0"/>
  </p:normalViewPr>
  <p:slideViewPr>
    <p:cSldViewPr snapToGrid="0" showGuides="1">
      <p:cViewPr varScale="1">
        <p:scale>
          <a:sx n="71" d="100"/>
          <a:sy n="71" d="100"/>
        </p:scale>
        <p:origin x="-66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5EC44F-F492-4439-87CC-35C67A83DE5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FC2EA16-4FFF-4FBF-9330-749C25BF8A8E}">
      <dgm:prSet phldrT="[Текст]" custT="1"/>
      <dgm:spPr/>
      <dgm:t>
        <a:bodyPr/>
        <a:lstStyle/>
        <a:p>
          <a:r>
            <a:rPr lang="en-US" sz="1600" b="1" dirty="0" smtClean="0"/>
            <a:t>Handshake </a:t>
          </a:r>
          <a:r>
            <a:rPr lang="en-US" sz="1600" b="1" dirty="0" err="1" smtClean="0"/>
            <a:t>protokol</a:t>
          </a:r>
          <a:endParaRPr lang="ru-RU" sz="1600" b="1" dirty="0"/>
        </a:p>
      </dgm:t>
    </dgm:pt>
    <dgm:pt modelId="{AB690C22-6FD9-47EC-896F-08A4C1A62BF1}" type="parTrans" cxnId="{797E5DFE-45C5-4283-A79D-22368A195F4C}">
      <dgm:prSet/>
      <dgm:spPr/>
      <dgm:t>
        <a:bodyPr/>
        <a:lstStyle/>
        <a:p>
          <a:endParaRPr lang="ru-RU"/>
        </a:p>
      </dgm:t>
    </dgm:pt>
    <dgm:pt modelId="{C1AAC643-5909-4DAB-9DB3-B86333AB9C52}" type="sibTrans" cxnId="{797E5DFE-45C5-4283-A79D-22368A195F4C}">
      <dgm:prSet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0B955506-DBA7-4967-BDF9-C0AA4FD4289C}">
      <dgm:prSet phldrT="[Текст]"/>
      <dgm:spPr/>
      <dgm:t>
        <a:bodyPr/>
        <a:lstStyle/>
        <a:p>
          <a:r>
            <a:rPr lang="en-US" b="1" dirty="0" smtClean="0"/>
            <a:t>Alert </a:t>
          </a:r>
          <a:r>
            <a:rPr lang="en-US" b="1" dirty="0" err="1" smtClean="0"/>
            <a:t>protokol</a:t>
          </a:r>
          <a:endParaRPr lang="ru-RU" b="1" dirty="0"/>
        </a:p>
      </dgm:t>
    </dgm:pt>
    <dgm:pt modelId="{48FBE9FC-D2E3-4FDA-BA3F-BF765371E017}" type="parTrans" cxnId="{303B2E16-2B6B-4250-BF54-B36A7170AF5E}">
      <dgm:prSet/>
      <dgm:spPr/>
      <dgm:t>
        <a:bodyPr/>
        <a:lstStyle/>
        <a:p>
          <a:endParaRPr lang="ru-RU"/>
        </a:p>
      </dgm:t>
    </dgm:pt>
    <dgm:pt modelId="{2F314E20-0ECD-486A-8B93-99A278A0A8A1}" type="sibTrans" cxnId="{303B2E16-2B6B-4250-BF54-B36A7170AF5E}">
      <dgm:prSet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ru-RU"/>
        </a:p>
      </dgm:t>
    </dgm:pt>
    <dgm:pt modelId="{3B4EC31C-BFF7-44C9-9403-FEAC9FF90A48}">
      <dgm:prSet phldrT="[Текст]" custT="1"/>
      <dgm:spPr/>
      <dgm:t>
        <a:bodyPr/>
        <a:lstStyle/>
        <a:p>
          <a:r>
            <a:rPr lang="en-US" sz="1400" b="1" dirty="0" err="1" smtClean="0"/>
            <a:t>Aplication</a:t>
          </a:r>
          <a:r>
            <a:rPr lang="en-US" sz="1400" b="1" dirty="0" smtClean="0"/>
            <a:t> Data </a:t>
          </a:r>
          <a:r>
            <a:rPr lang="en-US" sz="1400" b="1" dirty="0" err="1" smtClean="0"/>
            <a:t>protokol</a:t>
          </a:r>
          <a:r>
            <a:rPr lang="en-US" sz="1400" b="1" dirty="0" smtClean="0"/>
            <a:t>  </a:t>
          </a:r>
          <a:endParaRPr lang="ru-RU" sz="1400" b="1" dirty="0"/>
        </a:p>
      </dgm:t>
    </dgm:pt>
    <dgm:pt modelId="{08835B73-0ABB-4CDD-9A92-790BECD550D3}" type="parTrans" cxnId="{7948D677-C2B4-4272-8664-01E0A67D0A4D}">
      <dgm:prSet/>
      <dgm:spPr/>
      <dgm:t>
        <a:bodyPr/>
        <a:lstStyle/>
        <a:p>
          <a:endParaRPr lang="ru-RU"/>
        </a:p>
      </dgm:t>
    </dgm:pt>
    <dgm:pt modelId="{ABF370F7-4E63-479A-B9E2-3D63C114CE16}" type="sibTrans" cxnId="{7948D677-C2B4-4272-8664-01E0A67D0A4D}">
      <dgm:prSet/>
      <dgm:spPr/>
      <dgm:t>
        <a:bodyPr/>
        <a:lstStyle/>
        <a:p>
          <a:endParaRPr lang="ru-RU"/>
        </a:p>
      </dgm:t>
    </dgm:pt>
    <dgm:pt modelId="{0A7BE3B4-F7B7-4073-8A38-0EA0024D86F5}" type="pres">
      <dgm:prSet presAssocID="{AB5EC44F-F492-4439-87CC-35C67A83DE5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A2AB77E-B329-49CE-B1D0-086ABAB8EC8B}" type="pres">
      <dgm:prSet presAssocID="{2FC2EA16-4FFF-4FBF-9330-749C25BF8A8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060300-677A-458C-BC46-D3AD0588CC8E}" type="pres">
      <dgm:prSet presAssocID="{C1AAC643-5909-4DAB-9DB3-B86333AB9C52}" presName="sibTrans" presStyleLbl="sibTrans2D1" presStyleIdx="0" presStyleCnt="2"/>
      <dgm:spPr/>
      <dgm:t>
        <a:bodyPr/>
        <a:lstStyle/>
        <a:p>
          <a:endParaRPr lang="ru-RU"/>
        </a:p>
      </dgm:t>
    </dgm:pt>
    <dgm:pt modelId="{9A55FA25-67E5-4436-9FCB-48BFBC2FA9BB}" type="pres">
      <dgm:prSet presAssocID="{C1AAC643-5909-4DAB-9DB3-B86333AB9C52}" presName="connectorText" presStyleLbl="sibTrans2D1" presStyleIdx="0" presStyleCnt="2"/>
      <dgm:spPr/>
      <dgm:t>
        <a:bodyPr/>
        <a:lstStyle/>
        <a:p>
          <a:endParaRPr lang="ru-RU"/>
        </a:p>
      </dgm:t>
    </dgm:pt>
    <dgm:pt modelId="{3EDE567D-2BBB-4E59-B58A-445AA8CC5873}" type="pres">
      <dgm:prSet presAssocID="{0B955506-DBA7-4967-BDF9-C0AA4FD4289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222A27C-AB51-48CA-86D1-0AD0E7B5A010}" type="pres">
      <dgm:prSet presAssocID="{2F314E20-0ECD-486A-8B93-99A278A0A8A1}" presName="sibTrans" presStyleLbl="sibTrans2D1" presStyleIdx="1" presStyleCnt="2"/>
      <dgm:spPr/>
      <dgm:t>
        <a:bodyPr/>
        <a:lstStyle/>
        <a:p>
          <a:endParaRPr lang="ru-RU"/>
        </a:p>
      </dgm:t>
    </dgm:pt>
    <dgm:pt modelId="{53461750-0B0B-4E1C-B1EE-CFA9B5186411}" type="pres">
      <dgm:prSet presAssocID="{2F314E20-0ECD-486A-8B93-99A278A0A8A1}" presName="connectorText" presStyleLbl="sibTrans2D1" presStyleIdx="1" presStyleCnt="2"/>
      <dgm:spPr/>
      <dgm:t>
        <a:bodyPr/>
        <a:lstStyle/>
        <a:p>
          <a:endParaRPr lang="ru-RU"/>
        </a:p>
      </dgm:t>
    </dgm:pt>
    <dgm:pt modelId="{05D0772F-ADCF-4C3F-BA3B-3F7874A6A424}" type="pres">
      <dgm:prSet presAssocID="{3B4EC31C-BFF7-44C9-9403-FEAC9FF90A48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2E17A26-93DB-4789-A226-87C760E788A8}" type="presOf" srcId="{3B4EC31C-BFF7-44C9-9403-FEAC9FF90A48}" destId="{05D0772F-ADCF-4C3F-BA3B-3F7874A6A424}" srcOrd="0" destOrd="0" presId="urn:microsoft.com/office/officeart/2005/8/layout/process1"/>
    <dgm:cxn modelId="{45546ABA-8AE9-4050-B445-4299908A9F7C}" type="presOf" srcId="{0B955506-DBA7-4967-BDF9-C0AA4FD4289C}" destId="{3EDE567D-2BBB-4E59-B58A-445AA8CC5873}" srcOrd="0" destOrd="0" presId="urn:microsoft.com/office/officeart/2005/8/layout/process1"/>
    <dgm:cxn modelId="{23F6F3E6-6046-401F-9A92-B0DD6BF7B82D}" type="presOf" srcId="{2F314E20-0ECD-486A-8B93-99A278A0A8A1}" destId="{C222A27C-AB51-48CA-86D1-0AD0E7B5A010}" srcOrd="0" destOrd="0" presId="urn:microsoft.com/office/officeart/2005/8/layout/process1"/>
    <dgm:cxn modelId="{48FEC960-FCD4-4931-A3C7-3EA02C4F2362}" type="presOf" srcId="{2FC2EA16-4FFF-4FBF-9330-749C25BF8A8E}" destId="{6A2AB77E-B329-49CE-B1D0-086ABAB8EC8B}" srcOrd="0" destOrd="0" presId="urn:microsoft.com/office/officeart/2005/8/layout/process1"/>
    <dgm:cxn modelId="{9E93EE31-AFFE-48D4-846B-E9EE1EF91B04}" type="presOf" srcId="{AB5EC44F-F492-4439-87CC-35C67A83DE55}" destId="{0A7BE3B4-F7B7-4073-8A38-0EA0024D86F5}" srcOrd="0" destOrd="0" presId="urn:microsoft.com/office/officeart/2005/8/layout/process1"/>
    <dgm:cxn modelId="{5C2CE68F-D3E2-4C89-A254-8D73B03C7BB9}" type="presOf" srcId="{2F314E20-0ECD-486A-8B93-99A278A0A8A1}" destId="{53461750-0B0B-4E1C-B1EE-CFA9B5186411}" srcOrd="1" destOrd="0" presId="urn:microsoft.com/office/officeart/2005/8/layout/process1"/>
    <dgm:cxn modelId="{7948D677-C2B4-4272-8664-01E0A67D0A4D}" srcId="{AB5EC44F-F492-4439-87CC-35C67A83DE55}" destId="{3B4EC31C-BFF7-44C9-9403-FEAC9FF90A48}" srcOrd="2" destOrd="0" parTransId="{08835B73-0ABB-4CDD-9A92-790BECD550D3}" sibTransId="{ABF370F7-4E63-479A-B9E2-3D63C114CE16}"/>
    <dgm:cxn modelId="{303B2E16-2B6B-4250-BF54-B36A7170AF5E}" srcId="{AB5EC44F-F492-4439-87CC-35C67A83DE55}" destId="{0B955506-DBA7-4967-BDF9-C0AA4FD4289C}" srcOrd="1" destOrd="0" parTransId="{48FBE9FC-D2E3-4FDA-BA3F-BF765371E017}" sibTransId="{2F314E20-0ECD-486A-8B93-99A278A0A8A1}"/>
    <dgm:cxn modelId="{797E5DFE-45C5-4283-A79D-22368A195F4C}" srcId="{AB5EC44F-F492-4439-87CC-35C67A83DE55}" destId="{2FC2EA16-4FFF-4FBF-9330-749C25BF8A8E}" srcOrd="0" destOrd="0" parTransId="{AB690C22-6FD9-47EC-896F-08A4C1A62BF1}" sibTransId="{C1AAC643-5909-4DAB-9DB3-B86333AB9C52}"/>
    <dgm:cxn modelId="{5F1792C2-0A5D-4EC9-ABE9-F607E90E4F70}" type="presOf" srcId="{C1AAC643-5909-4DAB-9DB3-B86333AB9C52}" destId="{9A55FA25-67E5-4436-9FCB-48BFBC2FA9BB}" srcOrd="1" destOrd="0" presId="urn:microsoft.com/office/officeart/2005/8/layout/process1"/>
    <dgm:cxn modelId="{61C9FC41-B586-47AC-9002-14667FAFFA67}" type="presOf" srcId="{C1AAC643-5909-4DAB-9DB3-B86333AB9C52}" destId="{D7060300-677A-458C-BC46-D3AD0588CC8E}" srcOrd="0" destOrd="0" presId="urn:microsoft.com/office/officeart/2005/8/layout/process1"/>
    <dgm:cxn modelId="{27DA4878-7F96-4EEE-A213-80F740672D86}" type="presParOf" srcId="{0A7BE3B4-F7B7-4073-8A38-0EA0024D86F5}" destId="{6A2AB77E-B329-49CE-B1D0-086ABAB8EC8B}" srcOrd="0" destOrd="0" presId="urn:microsoft.com/office/officeart/2005/8/layout/process1"/>
    <dgm:cxn modelId="{B37930DF-29E6-48C7-8BDD-33E4CE141024}" type="presParOf" srcId="{0A7BE3B4-F7B7-4073-8A38-0EA0024D86F5}" destId="{D7060300-677A-458C-BC46-D3AD0588CC8E}" srcOrd="1" destOrd="0" presId="urn:microsoft.com/office/officeart/2005/8/layout/process1"/>
    <dgm:cxn modelId="{9D9FE499-47CF-4046-8964-5D41605C292A}" type="presParOf" srcId="{D7060300-677A-458C-BC46-D3AD0588CC8E}" destId="{9A55FA25-67E5-4436-9FCB-48BFBC2FA9BB}" srcOrd="0" destOrd="0" presId="urn:microsoft.com/office/officeart/2005/8/layout/process1"/>
    <dgm:cxn modelId="{0ACDC33F-AD8E-4223-9C8E-2BA70AEB4E9B}" type="presParOf" srcId="{0A7BE3B4-F7B7-4073-8A38-0EA0024D86F5}" destId="{3EDE567D-2BBB-4E59-B58A-445AA8CC5873}" srcOrd="2" destOrd="0" presId="urn:microsoft.com/office/officeart/2005/8/layout/process1"/>
    <dgm:cxn modelId="{6E84BEE0-D723-4FF0-8F13-20E3823EEB15}" type="presParOf" srcId="{0A7BE3B4-F7B7-4073-8A38-0EA0024D86F5}" destId="{C222A27C-AB51-48CA-86D1-0AD0E7B5A010}" srcOrd="3" destOrd="0" presId="urn:microsoft.com/office/officeart/2005/8/layout/process1"/>
    <dgm:cxn modelId="{8593D735-09EE-4526-B2A2-A22D86237DCA}" type="presParOf" srcId="{C222A27C-AB51-48CA-86D1-0AD0E7B5A010}" destId="{53461750-0B0B-4E1C-B1EE-CFA9B5186411}" srcOrd="0" destOrd="0" presId="urn:microsoft.com/office/officeart/2005/8/layout/process1"/>
    <dgm:cxn modelId="{2D5EA617-7C21-4E17-9BA1-FBF1AC4F3CA2}" type="presParOf" srcId="{0A7BE3B4-F7B7-4073-8A38-0EA0024D86F5}" destId="{05D0772F-ADCF-4C3F-BA3B-3F7874A6A42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2AB77E-B329-49CE-B1D0-086ABAB8EC8B}">
      <dsp:nvSpPr>
        <dsp:cNvPr id="0" name=""/>
        <dsp:cNvSpPr/>
      </dsp:nvSpPr>
      <dsp:spPr>
        <a:xfrm>
          <a:off x="8641" y="0"/>
          <a:ext cx="1659820" cy="45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Handshake </a:t>
          </a:r>
          <a:r>
            <a:rPr lang="en-US" sz="1600" b="1" kern="1200" dirty="0" err="1" smtClean="0"/>
            <a:t>protokol</a:t>
          </a:r>
          <a:endParaRPr lang="ru-RU" sz="1600" b="1" kern="1200" dirty="0"/>
        </a:p>
      </dsp:txBody>
      <dsp:txXfrm>
        <a:off x="22032" y="13391"/>
        <a:ext cx="1633038" cy="430418"/>
      </dsp:txXfrm>
    </dsp:sp>
    <dsp:sp modelId="{D7060300-677A-458C-BC46-D3AD0588CC8E}">
      <dsp:nvSpPr>
        <dsp:cNvPr id="0" name=""/>
        <dsp:cNvSpPr/>
      </dsp:nvSpPr>
      <dsp:spPr>
        <a:xfrm>
          <a:off x="1834443" y="22782"/>
          <a:ext cx="351881" cy="411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 w="12700" cap="flat" cmpd="sng" algn="ctr">
          <a:solidFill>
            <a:schemeClr val="accent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1834443" y="105109"/>
        <a:ext cx="246317" cy="246981"/>
      </dsp:txXfrm>
    </dsp:sp>
    <dsp:sp modelId="{3EDE567D-2BBB-4E59-B58A-445AA8CC5873}">
      <dsp:nvSpPr>
        <dsp:cNvPr id="0" name=""/>
        <dsp:cNvSpPr/>
      </dsp:nvSpPr>
      <dsp:spPr>
        <a:xfrm>
          <a:off x="2332389" y="0"/>
          <a:ext cx="1659820" cy="45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 smtClean="0"/>
            <a:t>Alert </a:t>
          </a:r>
          <a:r>
            <a:rPr lang="en-US" sz="1900" b="1" kern="1200" dirty="0" err="1" smtClean="0"/>
            <a:t>protokol</a:t>
          </a:r>
          <a:endParaRPr lang="ru-RU" sz="1900" b="1" kern="1200" dirty="0"/>
        </a:p>
      </dsp:txBody>
      <dsp:txXfrm>
        <a:off x="2345780" y="13391"/>
        <a:ext cx="1633038" cy="430418"/>
      </dsp:txXfrm>
    </dsp:sp>
    <dsp:sp modelId="{C222A27C-AB51-48CA-86D1-0AD0E7B5A010}">
      <dsp:nvSpPr>
        <dsp:cNvPr id="0" name=""/>
        <dsp:cNvSpPr/>
      </dsp:nvSpPr>
      <dsp:spPr>
        <a:xfrm>
          <a:off x="4158192" y="22782"/>
          <a:ext cx="351881" cy="4116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 w="12700" cap="flat" cmpd="sng" algn="ctr">
          <a:solidFill>
            <a:schemeClr val="accent1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600" kern="1200"/>
        </a:p>
      </dsp:txBody>
      <dsp:txXfrm>
        <a:off x="4158192" y="105109"/>
        <a:ext cx="246317" cy="246981"/>
      </dsp:txXfrm>
    </dsp:sp>
    <dsp:sp modelId="{05D0772F-ADCF-4C3F-BA3B-3F7874A6A424}">
      <dsp:nvSpPr>
        <dsp:cNvPr id="0" name=""/>
        <dsp:cNvSpPr/>
      </dsp:nvSpPr>
      <dsp:spPr>
        <a:xfrm>
          <a:off x="4656138" y="0"/>
          <a:ext cx="1659820" cy="4572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err="1" smtClean="0"/>
            <a:t>Aplication</a:t>
          </a:r>
          <a:r>
            <a:rPr lang="en-US" sz="1400" b="1" kern="1200" dirty="0" smtClean="0"/>
            <a:t> Data </a:t>
          </a:r>
          <a:r>
            <a:rPr lang="en-US" sz="1400" b="1" kern="1200" dirty="0" err="1" smtClean="0"/>
            <a:t>protokol</a:t>
          </a:r>
          <a:r>
            <a:rPr lang="en-US" sz="1400" b="1" kern="1200" dirty="0" smtClean="0"/>
            <a:t>  </a:t>
          </a:r>
          <a:endParaRPr lang="ru-RU" sz="1400" b="1" kern="1200" dirty="0"/>
        </a:p>
      </dsp:txBody>
      <dsp:txXfrm>
        <a:off x="4669529" y="13391"/>
        <a:ext cx="1633038" cy="4304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FDCA7-A665-4399-9B1F-315D16B68460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760F9-B1DB-4D65-9067-043A1E99DD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135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304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931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574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71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18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62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14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43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28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01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988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3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3571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smtClean="0"/>
              <a:t>SlideModel.com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8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AB7A9-538A-437B-9711-30CD071E4964}" type="datetimeFigureOut">
              <a:rPr lang="ru-RU" smtClean="0"/>
              <a:t>06.06.2024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BBA77-60E5-485C-9D0B-F7CE75EA3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750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5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4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5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.png"/><Relationship Id="rId7" Type="http://schemas.openxmlformats.org/officeDocument/2006/relationships/image" Target="../media/image5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9.png"/><Relationship Id="rId7" Type="http://schemas.openxmlformats.org/officeDocument/2006/relationships/image" Target="../media/image5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10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3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Google_Chrome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ru.wikipedia.org/wiki/Opera" TargetMode="External"/><Relationship Id="rId4" Type="http://schemas.openxmlformats.org/officeDocument/2006/relationships/hyperlink" Target="https://ru.wikipedia.org/wiki/Firefox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A55166C-AE71-4B35-8299-E459CF7246BE}"/>
              </a:ext>
            </a:extLst>
          </p:cNvPr>
          <p:cNvSpPr txBox="1"/>
          <p:nvPr/>
        </p:nvSpPr>
        <p:spPr>
          <a:xfrm>
            <a:off x="7271869" y="2681288"/>
            <a:ext cx="3567511" cy="46153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altLang="ko-KR" sz="2399" dirty="0">
                <a:solidFill>
                  <a:schemeClr val="bg1"/>
                </a:solidFill>
                <a:cs typeface="Arial" pitchFamily="34" charset="0"/>
              </a:rPr>
              <a:t>L</a:t>
            </a:r>
            <a:endParaRPr lang="ko-KR" altLang="en-US" sz="2399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1293061" y="428920"/>
            <a:ext cx="9425938" cy="714081"/>
          </a:xfrm>
          <a:prstGeom prst="roundRect">
            <a:avLst/>
          </a:prstGeom>
          <a:solidFill>
            <a:schemeClr val="tx2">
              <a:lumMod val="75000"/>
              <a:alpha val="56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gradFill flip="none" rotWithShape="1">
                  <a:gsLst>
                    <a:gs pos="0">
                      <a:schemeClr val="lt1">
                        <a:shade val="30000"/>
                        <a:satMod val="115000"/>
                      </a:schemeClr>
                    </a:gs>
                    <a:gs pos="50000">
                      <a:schemeClr val="lt1">
                        <a:shade val="67500"/>
                        <a:satMod val="115000"/>
                      </a:schemeClr>
                    </a:gs>
                    <a:gs pos="100000">
                      <a:schemeClr val="lt1">
                        <a:shade val="100000"/>
                        <a:satMod val="115000"/>
                      </a:schemeClr>
                    </a:gs>
                  </a:gsLst>
                  <a:lin ang="10800000" scaled="1"/>
                  <a:tileRect/>
                </a:gradFill>
              </a:rPr>
              <a:t>RADIOELEKTRON TIZIMLAR VA AXBOROT TEXNOLOGIYALARI MARKAZI</a:t>
            </a:r>
            <a:endParaRPr lang="ru-RU" sz="2800" dirty="0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10800000" scaled="1"/>
                <a:tileRect/>
              </a:gra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262307" y="2133600"/>
            <a:ext cx="9456693" cy="2410348"/>
          </a:xfrm>
          <a:prstGeom prst="roundRect">
            <a:avLst/>
          </a:prstGeom>
          <a:solidFill>
            <a:schemeClr val="tx2">
              <a:lumMod val="75000"/>
              <a:alpha val="56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Arial Black" panose="020B0A04020102020204" pitchFamily="34" charset="0"/>
              </a:rPr>
              <a:t>MAGISTIRLIK DISSERTATSIYA ISHI</a:t>
            </a:r>
          </a:p>
          <a:p>
            <a:pPr algn="ctr"/>
            <a:endParaRPr lang="en-US" sz="3600" dirty="0">
              <a:latin typeface="Arial Black" panose="020B0A04020102020204" pitchFamily="34" charset="0"/>
            </a:endParaRPr>
          </a:p>
          <a:p>
            <a:pPr algn="ctr"/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Rossiya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davlat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kriptografik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standart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algorimlaridan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foydalangan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holda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mijoz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-server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ilovalari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o‘rtasida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xavfsiz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tarmoq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ulanishini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o‘rnatish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protokollari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tadqiqi</a:t>
            </a:r>
            <a:endParaRPr lang="ru-RU" sz="28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0" y="6172201"/>
            <a:ext cx="274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</a:rPr>
              <a:t>Toshkent – 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2024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006031" y="5303715"/>
            <a:ext cx="56525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Castellar" panose="020A0402060406010301" pitchFamily="18" charset="0"/>
              </a:rPr>
              <a:t>Ilmiy</a:t>
            </a:r>
            <a:r>
              <a:rPr lang="en-US" sz="2000" b="1" dirty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stellar" panose="020A0402060406010301" pitchFamily="18" charset="0"/>
              </a:rPr>
              <a:t>rahbar</a:t>
            </a:r>
            <a:r>
              <a:rPr lang="en-US" sz="2000" b="1" dirty="0">
                <a:solidFill>
                  <a:schemeClr val="bg1"/>
                </a:solidFill>
                <a:latin typeface="Castellar" panose="020A0402060406010301" pitchFamily="18" charset="0"/>
              </a:rPr>
              <a:t>:          </a:t>
            </a:r>
            <a:r>
              <a:rPr lang="en-US" sz="2000" b="1" dirty="0" smtClean="0">
                <a:solidFill>
                  <a:schemeClr val="bg1"/>
                </a:solidFill>
                <a:latin typeface="Castellar" panose="020A0402060406010301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astellar" panose="020A0402060406010301" pitchFamily="18" charset="0"/>
              </a:rPr>
              <a:t>Kuryazov</a:t>
            </a:r>
            <a:r>
              <a:rPr lang="en-US" sz="2000" b="1" dirty="0">
                <a:solidFill>
                  <a:schemeClr val="bg1"/>
                </a:solidFill>
                <a:latin typeface="Castellar" panose="020A0402060406010301" pitchFamily="18" charset="0"/>
              </a:rPr>
              <a:t> D.M     </a:t>
            </a:r>
            <a:endParaRPr lang="ru-RU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27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-7768" y="1031217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601674" y="108858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smtClean="0"/>
              <a:t>II </a:t>
            </a:r>
            <a:r>
              <a:rPr lang="en-US" sz="3200" dirty="0"/>
              <a:t>BOB. </a:t>
            </a:r>
            <a:r>
              <a:rPr lang="uz-Cyrl-UZ" sz="3200" dirty="0"/>
              <a:t>Rossiya </a:t>
            </a:r>
            <a:r>
              <a:rPr lang="uz-Latn-UZ" sz="3200" dirty="0"/>
              <a:t>davlat standarlari asosidagi </a:t>
            </a:r>
            <a:r>
              <a:rPr lang="en-US" sz="3200" dirty="0"/>
              <a:t>TLS 1.2 </a:t>
            </a:r>
            <a:r>
              <a:rPr lang="en-US" sz="3200" dirty="0" err="1"/>
              <a:t>protokolining</a:t>
            </a:r>
            <a:r>
              <a:rPr lang="en-US" sz="3200" dirty="0"/>
              <a:t> </a:t>
            </a:r>
            <a:r>
              <a:rPr lang="en-US" sz="3200" dirty="0" err="1"/>
              <a:t>matematik</a:t>
            </a:r>
            <a:r>
              <a:rPr lang="en-US" sz="3200" dirty="0"/>
              <a:t> </a:t>
            </a:r>
            <a:r>
              <a:rPr lang="en-US" sz="3200" dirty="0" err="1"/>
              <a:t>asoslari</a:t>
            </a:r>
            <a:r>
              <a:rPr lang="en-US" sz="3200" dirty="0"/>
              <a:t> </a:t>
            </a:r>
            <a:r>
              <a:rPr lang="en-US" sz="3200" dirty="0" err="1"/>
              <a:t>tadqiqi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6832" y="2696783"/>
            <a:ext cx="12085553" cy="14691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Cyrl-UZ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Rossiya Federatsiyasi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ning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z-Latn-UZ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 1323565.1.020-2018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(TLS 1.2)</a:t>
            </a:r>
          </a:p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Latn-UZ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davlat standar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tahlili</a:t>
            </a:r>
            <a:endParaRPr lang="ru-RU" sz="3600" dirty="0">
              <a:solidFill>
                <a:schemeClr val="accent1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35"/>
          <p:cNvGrpSpPr/>
          <p:nvPr/>
        </p:nvGrpSpPr>
        <p:grpSpPr>
          <a:xfrm flipH="1">
            <a:off x="2496323" y="4038600"/>
            <a:ext cx="6417489" cy="2544383"/>
            <a:chOff x="-845377" y="1729527"/>
            <a:chExt cx="11749128" cy="4304546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6169019" y="4378315"/>
              <a:ext cx="649287" cy="679448"/>
            </a:xfrm>
            <a:custGeom>
              <a:avLst/>
              <a:gdLst>
                <a:gd name="T0" fmla="*/ 259 w 409"/>
                <a:gd name="T1" fmla="*/ 0 h 428"/>
                <a:gd name="T2" fmla="*/ 290 w 409"/>
                <a:gd name="T3" fmla="*/ 4 h 428"/>
                <a:gd name="T4" fmla="*/ 317 w 409"/>
                <a:gd name="T5" fmla="*/ 13 h 428"/>
                <a:gd name="T6" fmla="*/ 338 w 409"/>
                <a:gd name="T7" fmla="*/ 31 h 428"/>
                <a:gd name="T8" fmla="*/ 355 w 409"/>
                <a:gd name="T9" fmla="*/ 56 h 428"/>
                <a:gd name="T10" fmla="*/ 373 w 409"/>
                <a:gd name="T11" fmla="*/ 84 h 428"/>
                <a:gd name="T12" fmla="*/ 386 w 409"/>
                <a:gd name="T13" fmla="*/ 117 h 428"/>
                <a:gd name="T14" fmla="*/ 398 w 409"/>
                <a:gd name="T15" fmla="*/ 152 h 428"/>
                <a:gd name="T16" fmla="*/ 405 w 409"/>
                <a:gd name="T17" fmla="*/ 188 h 428"/>
                <a:gd name="T18" fmla="*/ 409 w 409"/>
                <a:gd name="T19" fmla="*/ 225 h 428"/>
                <a:gd name="T20" fmla="*/ 409 w 409"/>
                <a:gd name="T21" fmla="*/ 261 h 428"/>
                <a:gd name="T22" fmla="*/ 405 w 409"/>
                <a:gd name="T23" fmla="*/ 298 h 428"/>
                <a:gd name="T24" fmla="*/ 396 w 409"/>
                <a:gd name="T25" fmla="*/ 330 h 428"/>
                <a:gd name="T26" fmla="*/ 380 w 409"/>
                <a:gd name="T27" fmla="*/ 359 h 428"/>
                <a:gd name="T28" fmla="*/ 361 w 409"/>
                <a:gd name="T29" fmla="*/ 386 h 428"/>
                <a:gd name="T30" fmla="*/ 334 w 409"/>
                <a:gd name="T31" fmla="*/ 405 h 428"/>
                <a:gd name="T32" fmla="*/ 303 w 409"/>
                <a:gd name="T33" fmla="*/ 421 h 428"/>
                <a:gd name="T34" fmla="*/ 265 w 409"/>
                <a:gd name="T35" fmla="*/ 428 h 428"/>
                <a:gd name="T36" fmla="*/ 229 w 409"/>
                <a:gd name="T37" fmla="*/ 428 h 428"/>
                <a:gd name="T38" fmla="*/ 194 w 409"/>
                <a:gd name="T39" fmla="*/ 419 h 428"/>
                <a:gd name="T40" fmla="*/ 163 w 409"/>
                <a:gd name="T41" fmla="*/ 405 h 428"/>
                <a:gd name="T42" fmla="*/ 133 w 409"/>
                <a:gd name="T43" fmla="*/ 388 h 428"/>
                <a:gd name="T44" fmla="*/ 108 w 409"/>
                <a:gd name="T45" fmla="*/ 367 h 428"/>
                <a:gd name="T46" fmla="*/ 85 w 409"/>
                <a:gd name="T47" fmla="*/ 346 h 428"/>
                <a:gd name="T48" fmla="*/ 65 w 409"/>
                <a:gd name="T49" fmla="*/ 325 h 428"/>
                <a:gd name="T50" fmla="*/ 48 w 409"/>
                <a:gd name="T51" fmla="*/ 305 h 428"/>
                <a:gd name="T52" fmla="*/ 37 w 409"/>
                <a:gd name="T53" fmla="*/ 290 h 428"/>
                <a:gd name="T54" fmla="*/ 31 w 409"/>
                <a:gd name="T55" fmla="*/ 278 h 428"/>
                <a:gd name="T56" fmla="*/ 27 w 409"/>
                <a:gd name="T57" fmla="*/ 275 h 428"/>
                <a:gd name="T58" fmla="*/ 8 w 409"/>
                <a:gd name="T59" fmla="*/ 240 h 428"/>
                <a:gd name="T60" fmla="*/ 0 w 409"/>
                <a:gd name="T61" fmla="*/ 204 h 428"/>
                <a:gd name="T62" fmla="*/ 4 w 409"/>
                <a:gd name="T63" fmla="*/ 171 h 428"/>
                <a:gd name="T64" fmla="*/ 14 w 409"/>
                <a:gd name="T65" fmla="*/ 138 h 428"/>
                <a:gd name="T66" fmla="*/ 33 w 409"/>
                <a:gd name="T67" fmla="*/ 109 h 428"/>
                <a:gd name="T68" fmla="*/ 58 w 409"/>
                <a:gd name="T69" fmla="*/ 83 h 428"/>
                <a:gd name="T70" fmla="*/ 86 w 409"/>
                <a:gd name="T71" fmla="*/ 58 h 428"/>
                <a:gd name="T72" fmla="*/ 119 w 409"/>
                <a:gd name="T73" fmla="*/ 38 h 428"/>
                <a:gd name="T74" fmla="*/ 156 w 409"/>
                <a:gd name="T75" fmla="*/ 21 h 428"/>
                <a:gd name="T76" fmla="*/ 190 w 409"/>
                <a:gd name="T77" fmla="*/ 10 h 428"/>
                <a:gd name="T78" fmla="*/ 227 w 409"/>
                <a:gd name="T79" fmla="*/ 2 h 428"/>
                <a:gd name="T80" fmla="*/ 259 w 409"/>
                <a:gd name="T81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9" h="428">
                  <a:moveTo>
                    <a:pt x="259" y="0"/>
                  </a:moveTo>
                  <a:lnTo>
                    <a:pt x="290" y="4"/>
                  </a:lnTo>
                  <a:lnTo>
                    <a:pt x="317" y="13"/>
                  </a:lnTo>
                  <a:lnTo>
                    <a:pt x="338" y="31"/>
                  </a:lnTo>
                  <a:lnTo>
                    <a:pt x="355" y="56"/>
                  </a:lnTo>
                  <a:lnTo>
                    <a:pt x="373" y="84"/>
                  </a:lnTo>
                  <a:lnTo>
                    <a:pt x="386" y="117"/>
                  </a:lnTo>
                  <a:lnTo>
                    <a:pt x="398" y="152"/>
                  </a:lnTo>
                  <a:lnTo>
                    <a:pt x="405" y="188"/>
                  </a:lnTo>
                  <a:lnTo>
                    <a:pt x="409" y="225"/>
                  </a:lnTo>
                  <a:lnTo>
                    <a:pt x="409" y="261"/>
                  </a:lnTo>
                  <a:lnTo>
                    <a:pt x="405" y="298"/>
                  </a:lnTo>
                  <a:lnTo>
                    <a:pt x="396" y="330"/>
                  </a:lnTo>
                  <a:lnTo>
                    <a:pt x="380" y="359"/>
                  </a:lnTo>
                  <a:lnTo>
                    <a:pt x="361" y="386"/>
                  </a:lnTo>
                  <a:lnTo>
                    <a:pt x="334" y="405"/>
                  </a:lnTo>
                  <a:lnTo>
                    <a:pt x="303" y="421"/>
                  </a:lnTo>
                  <a:lnTo>
                    <a:pt x="265" y="428"/>
                  </a:lnTo>
                  <a:lnTo>
                    <a:pt x="229" y="428"/>
                  </a:lnTo>
                  <a:lnTo>
                    <a:pt x="194" y="419"/>
                  </a:lnTo>
                  <a:lnTo>
                    <a:pt x="163" y="405"/>
                  </a:lnTo>
                  <a:lnTo>
                    <a:pt x="133" y="388"/>
                  </a:lnTo>
                  <a:lnTo>
                    <a:pt x="108" y="367"/>
                  </a:lnTo>
                  <a:lnTo>
                    <a:pt x="85" y="346"/>
                  </a:lnTo>
                  <a:lnTo>
                    <a:pt x="65" y="325"/>
                  </a:lnTo>
                  <a:lnTo>
                    <a:pt x="48" y="305"/>
                  </a:lnTo>
                  <a:lnTo>
                    <a:pt x="37" y="290"/>
                  </a:lnTo>
                  <a:lnTo>
                    <a:pt x="31" y="278"/>
                  </a:lnTo>
                  <a:lnTo>
                    <a:pt x="27" y="275"/>
                  </a:lnTo>
                  <a:lnTo>
                    <a:pt x="8" y="240"/>
                  </a:lnTo>
                  <a:lnTo>
                    <a:pt x="0" y="204"/>
                  </a:lnTo>
                  <a:lnTo>
                    <a:pt x="4" y="171"/>
                  </a:lnTo>
                  <a:lnTo>
                    <a:pt x="14" y="138"/>
                  </a:lnTo>
                  <a:lnTo>
                    <a:pt x="33" y="109"/>
                  </a:lnTo>
                  <a:lnTo>
                    <a:pt x="58" y="83"/>
                  </a:lnTo>
                  <a:lnTo>
                    <a:pt x="86" y="58"/>
                  </a:lnTo>
                  <a:lnTo>
                    <a:pt x="119" y="38"/>
                  </a:lnTo>
                  <a:lnTo>
                    <a:pt x="156" y="21"/>
                  </a:lnTo>
                  <a:lnTo>
                    <a:pt x="190" y="10"/>
                  </a:lnTo>
                  <a:lnTo>
                    <a:pt x="227" y="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898772" y="2197095"/>
              <a:ext cx="6264270" cy="3714742"/>
            </a:xfrm>
            <a:custGeom>
              <a:avLst/>
              <a:gdLst>
                <a:gd name="T0" fmla="*/ 2650 w 3946"/>
                <a:gd name="T1" fmla="*/ 1241 h 2340"/>
                <a:gd name="T2" fmla="*/ 2580 w 3946"/>
                <a:gd name="T3" fmla="*/ 1301 h 2340"/>
                <a:gd name="T4" fmla="*/ 2458 w 3946"/>
                <a:gd name="T5" fmla="*/ 1399 h 2340"/>
                <a:gd name="T6" fmla="*/ 2340 w 3946"/>
                <a:gd name="T7" fmla="*/ 1480 h 2340"/>
                <a:gd name="T8" fmla="*/ 2200 w 3946"/>
                <a:gd name="T9" fmla="*/ 1595 h 2340"/>
                <a:gd name="T10" fmla="*/ 1989 w 3946"/>
                <a:gd name="T11" fmla="*/ 1772 h 2340"/>
                <a:gd name="T12" fmla="*/ 1745 w 3946"/>
                <a:gd name="T13" fmla="*/ 1973 h 2340"/>
                <a:gd name="T14" fmla="*/ 1505 w 3946"/>
                <a:gd name="T15" fmla="*/ 2158 h 2340"/>
                <a:gd name="T16" fmla="*/ 1309 w 3946"/>
                <a:gd name="T17" fmla="*/ 2288 h 2340"/>
                <a:gd name="T18" fmla="*/ 1150 w 3946"/>
                <a:gd name="T19" fmla="*/ 2340 h 2340"/>
                <a:gd name="T20" fmla="*/ 1054 w 3946"/>
                <a:gd name="T21" fmla="*/ 2309 h 2340"/>
                <a:gd name="T22" fmla="*/ 1012 w 3946"/>
                <a:gd name="T23" fmla="*/ 2242 h 2340"/>
                <a:gd name="T24" fmla="*/ 1000 w 3946"/>
                <a:gd name="T25" fmla="*/ 2196 h 2340"/>
                <a:gd name="T26" fmla="*/ 960 w 3946"/>
                <a:gd name="T27" fmla="*/ 2204 h 2340"/>
                <a:gd name="T28" fmla="*/ 833 w 3946"/>
                <a:gd name="T29" fmla="*/ 2206 h 2340"/>
                <a:gd name="T30" fmla="*/ 741 w 3946"/>
                <a:gd name="T31" fmla="*/ 2131 h 2340"/>
                <a:gd name="T32" fmla="*/ 731 w 3946"/>
                <a:gd name="T33" fmla="*/ 2058 h 2340"/>
                <a:gd name="T34" fmla="*/ 689 w 3946"/>
                <a:gd name="T35" fmla="*/ 2075 h 2340"/>
                <a:gd name="T36" fmla="*/ 580 w 3946"/>
                <a:gd name="T37" fmla="*/ 2075 h 2340"/>
                <a:gd name="T38" fmla="*/ 459 w 3946"/>
                <a:gd name="T39" fmla="*/ 1967 h 2340"/>
                <a:gd name="T40" fmla="*/ 445 w 3946"/>
                <a:gd name="T41" fmla="*/ 1850 h 2340"/>
                <a:gd name="T42" fmla="*/ 465 w 3946"/>
                <a:gd name="T43" fmla="*/ 1798 h 2340"/>
                <a:gd name="T44" fmla="*/ 359 w 3946"/>
                <a:gd name="T45" fmla="*/ 1852 h 2340"/>
                <a:gd name="T46" fmla="*/ 213 w 3946"/>
                <a:gd name="T47" fmla="*/ 1891 h 2340"/>
                <a:gd name="T48" fmla="*/ 71 w 3946"/>
                <a:gd name="T49" fmla="*/ 1854 h 2340"/>
                <a:gd name="T50" fmla="*/ 0 w 3946"/>
                <a:gd name="T51" fmla="*/ 1714 h 2340"/>
                <a:gd name="T52" fmla="*/ 44 w 3946"/>
                <a:gd name="T53" fmla="*/ 1601 h 2340"/>
                <a:gd name="T54" fmla="*/ 88 w 3946"/>
                <a:gd name="T55" fmla="*/ 1554 h 2340"/>
                <a:gd name="T56" fmla="*/ 138 w 3946"/>
                <a:gd name="T57" fmla="*/ 1518 h 2340"/>
                <a:gd name="T58" fmla="*/ 213 w 3946"/>
                <a:gd name="T59" fmla="*/ 1460 h 2340"/>
                <a:gd name="T60" fmla="*/ 326 w 3946"/>
                <a:gd name="T61" fmla="*/ 1378 h 2340"/>
                <a:gd name="T62" fmla="*/ 513 w 3946"/>
                <a:gd name="T63" fmla="*/ 1239 h 2340"/>
                <a:gd name="T64" fmla="*/ 724 w 3946"/>
                <a:gd name="T65" fmla="*/ 1084 h 2340"/>
                <a:gd name="T66" fmla="*/ 910 w 3946"/>
                <a:gd name="T67" fmla="*/ 944 h 2340"/>
                <a:gd name="T68" fmla="*/ 1025 w 3946"/>
                <a:gd name="T69" fmla="*/ 859 h 2340"/>
                <a:gd name="T70" fmla="*/ 1075 w 3946"/>
                <a:gd name="T71" fmla="*/ 811 h 2340"/>
                <a:gd name="T72" fmla="*/ 1119 w 3946"/>
                <a:gd name="T73" fmla="*/ 742 h 2340"/>
                <a:gd name="T74" fmla="*/ 1110 w 3946"/>
                <a:gd name="T75" fmla="*/ 688 h 2340"/>
                <a:gd name="T76" fmla="*/ 1000 w 3946"/>
                <a:gd name="T77" fmla="*/ 692 h 2340"/>
                <a:gd name="T78" fmla="*/ 739 w 3946"/>
                <a:gd name="T79" fmla="*/ 728 h 2340"/>
                <a:gd name="T80" fmla="*/ 463 w 3946"/>
                <a:gd name="T81" fmla="*/ 725 h 2340"/>
                <a:gd name="T82" fmla="*/ 280 w 3946"/>
                <a:gd name="T83" fmla="*/ 692 h 2340"/>
                <a:gd name="T84" fmla="*/ 196 w 3946"/>
                <a:gd name="T85" fmla="*/ 596 h 2340"/>
                <a:gd name="T86" fmla="*/ 177 w 3946"/>
                <a:gd name="T87" fmla="*/ 486 h 2340"/>
                <a:gd name="T88" fmla="*/ 221 w 3946"/>
                <a:gd name="T89" fmla="*/ 465 h 2340"/>
                <a:gd name="T90" fmla="*/ 394 w 3946"/>
                <a:gd name="T91" fmla="*/ 471 h 2340"/>
                <a:gd name="T92" fmla="*/ 658 w 3946"/>
                <a:gd name="T93" fmla="*/ 446 h 2340"/>
                <a:gd name="T94" fmla="*/ 958 w 3946"/>
                <a:gd name="T95" fmla="*/ 344 h 2340"/>
                <a:gd name="T96" fmla="*/ 1167 w 3946"/>
                <a:gd name="T97" fmla="*/ 264 h 2340"/>
                <a:gd name="T98" fmla="*/ 1313 w 3946"/>
                <a:gd name="T99" fmla="*/ 265 h 2340"/>
                <a:gd name="T100" fmla="*/ 1448 w 3946"/>
                <a:gd name="T101" fmla="*/ 312 h 2340"/>
                <a:gd name="T102" fmla="*/ 1622 w 3946"/>
                <a:gd name="T103" fmla="*/ 369 h 2340"/>
                <a:gd name="T104" fmla="*/ 1768 w 3946"/>
                <a:gd name="T105" fmla="*/ 413 h 2340"/>
                <a:gd name="T106" fmla="*/ 1883 w 3946"/>
                <a:gd name="T107" fmla="*/ 448 h 2340"/>
                <a:gd name="T108" fmla="*/ 2026 w 3946"/>
                <a:gd name="T109" fmla="*/ 463 h 2340"/>
                <a:gd name="T110" fmla="*/ 2248 w 3946"/>
                <a:gd name="T111" fmla="*/ 448 h 2340"/>
                <a:gd name="T112" fmla="*/ 2594 w 3946"/>
                <a:gd name="T113" fmla="*/ 388 h 2340"/>
                <a:gd name="T114" fmla="*/ 2972 w 3946"/>
                <a:gd name="T115" fmla="*/ 300 h 2340"/>
                <a:gd name="T116" fmla="*/ 3337 w 3946"/>
                <a:gd name="T117" fmla="*/ 196 h 2340"/>
                <a:gd name="T118" fmla="*/ 3648 w 3946"/>
                <a:gd name="T119" fmla="*/ 100 h 2340"/>
                <a:gd name="T120" fmla="*/ 3865 w 3946"/>
                <a:gd name="T121" fmla="*/ 27 h 2340"/>
                <a:gd name="T122" fmla="*/ 3946 w 3946"/>
                <a:gd name="T123" fmla="*/ 0 h 2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46" h="2340">
                  <a:moveTo>
                    <a:pt x="3946" y="0"/>
                  </a:moveTo>
                  <a:lnTo>
                    <a:pt x="3946" y="1047"/>
                  </a:lnTo>
                  <a:lnTo>
                    <a:pt x="2653" y="1238"/>
                  </a:lnTo>
                  <a:lnTo>
                    <a:pt x="2650" y="1241"/>
                  </a:lnTo>
                  <a:lnTo>
                    <a:pt x="2640" y="1249"/>
                  </a:lnTo>
                  <a:lnTo>
                    <a:pt x="2625" y="1262"/>
                  </a:lnTo>
                  <a:lnTo>
                    <a:pt x="2603" y="1280"/>
                  </a:lnTo>
                  <a:lnTo>
                    <a:pt x="2580" y="1301"/>
                  </a:lnTo>
                  <a:lnTo>
                    <a:pt x="2552" y="1324"/>
                  </a:lnTo>
                  <a:lnTo>
                    <a:pt x="2523" y="1347"/>
                  </a:lnTo>
                  <a:lnTo>
                    <a:pt x="2490" y="1372"/>
                  </a:lnTo>
                  <a:lnTo>
                    <a:pt x="2458" y="1399"/>
                  </a:lnTo>
                  <a:lnTo>
                    <a:pt x="2425" y="1422"/>
                  </a:lnTo>
                  <a:lnTo>
                    <a:pt x="2392" y="1445"/>
                  </a:lnTo>
                  <a:lnTo>
                    <a:pt x="2362" y="1466"/>
                  </a:lnTo>
                  <a:lnTo>
                    <a:pt x="2340" y="1480"/>
                  </a:lnTo>
                  <a:lnTo>
                    <a:pt x="2314" y="1501"/>
                  </a:lnTo>
                  <a:lnTo>
                    <a:pt x="2281" y="1526"/>
                  </a:lnTo>
                  <a:lnTo>
                    <a:pt x="2242" y="1558"/>
                  </a:lnTo>
                  <a:lnTo>
                    <a:pt x="2200" y="1595"/>
                  </a:lnTo>
                  <a:lnTo>
                    <a:pt x="2152" y="1633"/>
                  </a:lnTo>
                  <a:lnTo>
                    <a:pt x="2100" y="1677"/>
                  </a:lnTo>
                  <a:lnTo>
                    <a:pt x="2047" y="1724"/>
                  </a:lnTo>
                  <a:lnTo>
                    <a:pt x="1989" y="1772"/>
                  </a:lnTo>
                  <a:lnTo>
                    <a:pt x="1930" y="1821"/>
                  </a:lnTo>
                  <a:lnTo>
                    <a:pt x="1868" y="1871"/>
                  </a:lnTo>
                  <a:lnTo>
                    <a:pt x="1807" y="1921"/>
                  </a:lnTo>
                  <a:lnTo>
                    <a:pt x="1745" y="1973"/>
                  </a:lnTo>
                  <a:lnTo>
                    <a:pt x="1682" y="2021"/>
                  </a:lnTo>
                  <a:lnTo>
                    <a:pt x="1622" y="2069"/>
                  </a:lnTo>
                  <a:lnTo>
                    <a:pt x="1563" y="2115"/>
                  </a:lnTo>
                  <a:lnTo>
                    <a:pt x="1505" y="2158"/>
                  </a:lnTo>
                  <a:lnTo>
                    <a:pt x="1451" y="2198"/>
                  </a:lnTo>
                  <a:lnTo>
                    <a:pt x="1400" y="2233"/>
                  </a:lnTo>
                  <a:lnTo>
                    <a:pt x="1352" y="2263"/>
                  </a:lnTo>
                  <a:lnTo>
                    <a:pt x="1309" y="2288"/>
                  </a:lnTo>
                  <a:lnTo>
                    <a:pt x="1271" y="2308"/>
                  </a:lnTo>
                  <a:lnTo>
                    <a:pt x="1225" y="2325"/>
                  </a:lnTo>
                  <a:lnTo>
                    <a:pt x="1185" y="2336"/>
                  </a:lnTo>
                  <a:lnTo>
                    <a:pt x="1150" y="2340"/>
                  </a:lnTo>
                  <a:lnTo>
                    <a:pt x="1119" y="2338"/>
                  </a:lnTo>
                  <a:lnTo>
                    <a:pt x="1094" y="2332"/>
                  </a:lnTo>
                  <a:lnTo>
                    <a:pt x="1071" y="2323"/>
                  </a:lnTo>
                  <a:lnTo>
                    <a:pt x="1054" y="2309"/>
                  </a:lnTo>
                  <a:lnTo>
                    <a:pt x="1039" y="2294"/>
                  </a:lnTo>
                  <a:lnTo>
                    <a:pt x="1027" y="2277"/>
                  </a:lnTo>
                  <a:lnTo>
                    <a:pt x="1018" y="2259"/>
                  </a:lnTo>
                  <a:lnTo>
                    <a:pt x="1012" y="2242"/>
                  </a:lnTo>
                  <a:lnTo>
                    <a:pt x="1006" y="2227"/>
                  </a:lnTo>
                  <a:lnTo>
                    <a:pt x="1002" y="2213"/>
                  </a:lnTo>
                  <a:lnTo>
                    <a:pt x="1002" y="2202"/>
                  </a:lnTo>
                  <a:lnTo>
                    <a:pt x="1000" y="2196"/>
                  </a:lnTo>
                  <a:lnTo>
                    <a:pt x="1000" y="2192"/>
                  </a:lnTo>
                  <a:lnTo>
                    <a:pt x="994" y="2194"/>
                  </a:lnTo>
                  <a:lnTo>
                    <a:pt x="981" y="2200"/>
                  </a:lnTo>
                  <a:lnTo>
                    <a:pt x="960" y="2204"/>
                  </a:lnTo>
                  <a:lnTo>
                    <a:pt x="933" y="2210"/>
                  </a:lnTo>
                  <a:lnTo>
                    <a:pt x="900" y="2211"/>
                  </a:lnTo>
                  <a:lnTo>
                    <a:pt x="868" y="2211"/>
                  </a:lnTo>
                  <a:lnTo>
                    <a:pt x="833" y="2206"/>
                  </a:lnTo>
                  <a:lnTo>
                    <a:pt x="801" y="2192"/>
                  </a:lnTo>
                  <a:lnTo>
                    <a:pt x="772" y="2175"/>
                  </a:lnTo>
                  <a:lnTo>
                    <a:pt x="753" y="2154"/>
                  </a:lnTo>
                  <a:lnTo>
                    <a:pt x="741" y="2131"/>
                  </a:lnTo>
                  <a:lnTo>
                    <a:pt x="733" y="2108"/>
                  </a:lnTo>
                  <a:lnTo>
                    <a:pt x="731" y="2087"/>
                  </a:lnTo>
                  <a:lnTo>
                    <a:pt x="731" y="2069"/>
                  </a:lnTo>
                  <a:lnTo>
                    <a:pt x="731" y="2058"/>
                  </a:lnTo>
                  <a:lnTo>
                    <a:pt x="733" y="2054"/>
                  </a:lnTo>
                  <a:lnTo>
                    <a:pt x="722" y="2060"/>
                  </a:lnTo>
                  <a:lnTo>
                    <a:pt x="708" y="2067"/>
                  </a:lnTo>
                  <a:lnTo>
                    <a:pt x="689" y="2075"/>
                  </a:lnTo>
                  <a:lnTo>
                    <a:pt x="666" y="2081"/>
                  </a:lnTo>
                  <a:lnTo>
                    <a:pt x="641" y="2085"/>
                  </a:lnTo>
                  <a:lnTo>
                    <a:pt x="612" y="2083"/>
                  </a:lnTo>
                  <a:lnTo>
                    <a:pt x="580" y="2075"/>
                  </a:lnTo>
                  <a:lnTo>
                    <a:pt x="545" y="2058"/>
                  </a:lnTo>
                  <a:lnTo>
                    <a:pt x="507" y="2029"/>
                  </a:lnTo>
                  <a:lnTo>
                    <a:pt x="478" y="1998"/>
                  </a:lnTo>
                  <a:lnTo>
                    <a:pt x="459" y="1967"/>
                  </a:lnTo>
                  <a:lnTo>
                    <a:pt x="447" y="1935"/>
                  </a:lnTo>
                  <a:lnTo>
                    <a:pt x="442" y="1904"/>
                  </a:lnTo>
                  <a:lnTo>
                    <a:pt x="442" y="1875"/>
                  </a:lnTo>
                  <a:lnTo>
                    <a:pt x="445" y="1850"/>
                  </a:lnTo>
                  <a:lnTo>
                    <a:pt x="451" y="1829"/>
                  </a:lnTo>
                  <a:lnTo>
                    <a:pt x="457" y="1814"/>
                  </a:lnTo>
                  <a:lnTo>
                    <a:pt x="463" y="1802"/>
                  </a:lnTo>
                  <a:lnTo>
                    <a:pt x="465" y="1798"/>
                  </a:lnTo>
                  <a:lnTo>
                    <a:pt x="445" y="1810"/>
                  </a:lnTo>
                  <a:lnTo>
                    <a:pt x="420" y="1823"/>
                  </a:lnTo>
                  <a:lnTo>
                    <a:pt x="392" y="1837"/>
                  </a:lnTo>
                  <a:lnTo>
                    <a:pt x="359" y="1852"/>
                  </a:lnTo>
                  <a:lnTo>
                    <a:pt x="324" y="1866"/>
                  </a:lnTo>
                  <a:lnTo>
                    <a:pt x="288" y="1877"/>
                  </a:lnTo>
                  <a:lnTo>
                    <a:pt x="251" y="1885"/>
                  </a:lnTo>
                  <a:lnTo>
                    <a:pt x="213" y="1891"/>
                  </a:lnTo>
                  <a:lnTo>
                    <a:pt x="175" y="1891"/>
                  </a:lnTo>
                  <a:lnTo>
                    <a:pt x="138" y="1887"/>
                  </a:lnTo>
                  <a:lnTo>
                    <a:pt x="104" y="1873"/>
                  </a:lnTo>
                  <a:lnTo>
                    <a:pt x="71" y="1854"/>
                  </a:lnTo>
                  <a:lnTo>
                    <a:pt x="42" y="1827"/>
                  </a:lnTo>
                  <a:lnTo>
                    <a:pt x="17" y="1787"/>
                  </a:lnTo>
                  <a:lnTo>
                    <a:pt x="4" y="1750"/>
                  </a:lnTo>
                  <a:lnTo>
                    <a:pt x="0" y="1714"/>
                  </a:lnTo>
                  <a:lnTo>
                    <a:pt x="4" y="1681"/>
                  </a:lnTo>
                  <a:lnTo>
                    <a:pt x="13" y="1651"/>
                  </a:lnTo>
                  <a:lnTo>
                    <a:pt x="29" y="1624"/>
                  </a:lnTo>
                  <a:lnTo>
                    <a:pt x="44" y="1601"/>
                  </a:lnTo>
                  <a:lnTo>
                    <a:pt x="61" y="1581"/>
                  </a:lnTo>
                  <a:lnTo>
                    <a:pt x="75" y="1568"/>
                  </a:lnTo>
                  <a:lnTo>
                    <a:pt x="84" y="1558"/>
                  </a:lnTo>
                  <a:lnTo>
                    <a:pt x="88" y="1554"/>
                  </a:lnTo>
                  <a:lnTo>
                    <a:pt x="92" y="1553"/>
                  </a:lnTo>
                  <a:lnTo>
                    <a:pt x="104" y="1545"/>
                  </a:lnTo>
                  <a:lnTo>
                    <a:pt x="119" y="1533"/>
                  </a:lnTo>
                  <a:lnTo>
                    <a:pt x="138" y="1518"/>
                  </a:lnTo>
                  <a:lnTo>
                    <a:pt x="159" y="1503"/>
                  </a:lnTo>
                  <a:lnTo>
                    <a:pt x="180" y="1485"/>
                  </a:lnTo>
                  <a:lnTo>
                    <a:pt x="203" y="1470"/>
                  </a:lnTo>
                  <a:lnTo>
                    <a:pt x="213" y="1460"/>
                  </a:lnTo>
                  <a:lnTo>
                    <a:pt x="232" y="1447"/>
                  </a:lnTo>
                  <a:lnTo>
                    <a:pt x="257" y="1428"/>
                  </a:lnTo>
                  <a:lnTo>
                    <a:pt x="290" y="1405"/>
                  </a:lnTo>
                  <a:lnTo>
                    <a:pt x="326" y="1378"/>
                  </a:lnTo>
                  <a:lnTo>
                    <a:pt x="367" y="1347"/>
                  </a:lnTo>
                  <a:lnTo>
                    <a:pt x="413" y="1314"/>
                  </a:lnTo>
                  <a:lnTo>
                    <a:pt x="461" y="1278"/>
                  </a:lnTo>
                  <a:lnTo>
                    <a:pt x="513" y="1239"/>
                  </a:lnTo>
                  <a:lnTo>
                    <a:pt x="564" y="1201"/>
                  </a:lnTo>
                  <a:lnTo>
                    <a:pt x="618" y="1163"/>
                  </a:lnTo>
                  <a:lnTo>
                    <a:pt x="670" y="1122"/>
                  </a:lnTo>
                  <a:lnTo>
                    <a:pt x="724" y="1084"/>
                  </a:lnTo>
                  <a:lnTo>
                    <a:pt x="774" y="1045"/>
                  </a:lnTo>
                  <a:lnTo>
                    <a:pt x="824" y="1009"/>
                  </a:lnTo>
                  <a:lnTo>
                    <a:pt x="870" y="976"/>
                  </a:lnTo>
                  <a:lnTo>
                    <a:pt x="910" y="944"/>
                  </a:lnTo>
                  <a:lnTo>
                    <a:pt x="948" y="917"/>
                  </a:lnTo>
                  <a:lnTo>
                    <a:pt x="981" y="894"/>
                  </a:lnTo>
                  <a:lnTo>
                    <a:pt x="1006" y="873"/>
                  </a:lnTo>
                  <a:lnTo>
                    <a:pt x="1025" y="859"/>
                  </a:lnTo>
                  <a:lnTo>
                    <a:pt x="1037" y="849"/>
                  </a:lnTo>
                  <a:lnTo>
                    <a:pt x="1048" y="840"/>
                  </a:lnTo>
                  <a:lnTo>
                    <a:pt x="1062" y="826"/>
                  </a:lnTo>
                  <a:lnTo>
                    <a:pt x="1075" y="811"/>
                  </a:lnTo>
                  <a:lnTo>
                    <a:pt x="1089" y="794"/>
                  </a:lnTo>
                  <a:lnTo>
                    <a:pt x="1100" y="776"/>
                  </a:lnTo>
                  <a:lnTo>
                    <a:pt x="1112" y="759"/>
                  </a:lnTo>
                  <a:lnTo>
                    <a:pt x="1119" y="742"/>
                  </a:lnTo>
                  <a:lnTo>
                    <a:pt x="1123" y="725"/>
                  </a:lnTo>
                  <a:lnTo>
                    <a:pt x="1123" y="711"/>
                  </a:lnTo>
                  <a:lnTo>
                    <a:pt x="1119" y="698"/>
                  </a:lnTo>
                  <a:lnTo>
                    <a:pt x="1110" y="688"/>
                  </a:lnTo>
                  <a:lnTo>
                    <a:pt x="1092" y="682"/>
                  </a:lnTo>
                  <a:lnTo>
                    <a:pt x="1069" y="680"/>
                  </a:lnTo>
                  <a:lnTo>
                    <a:pt x="1039" y="684"/>
                  </a:lnTo>
                  <a:lnTo>
                    <a:pt x="1000" y="692"/>
                  </a:lnTo>
                  <a:lnTo>
                    <a:pt x="943" y="705"/>
                  </a:lnTo>
                  <a:lnTo>
                    <a:pt x="877" y="717"/>
                  </a:lnTo>
                  <a:lnTo>
                    <a:pt x="810" y="723"/>
                  </a:lnTo>
                  <a:lnTo>
                    <a:pt x="739" y="728"/>
                  </a:lnTo>
                  <a:lnTo>
                    <a:pt x="668" y="730"/>
                  </a:lnTo>
                  <a:lnTo>
                    <a:pt x="597" y="730"/>
                  </a:lnTo>
                  <a:lnTo>
                    <a:pt x="528" y="728"/>
                  </a:lnTo>
                  <a:lnTo>
                    <a:pt x="463" y="725"/>
                  </a:lnTo>
                  <a:lnTo>
                    <a:pt x="405" y="719"/>
                  </a:lnTo>
                  <a:lnTo>
                    <a:pt x="353" y="711"/>
                  </a:lnTo>
                  <a:lnTo>
                    <a:pt x="311" y="703"/>
                  </a:lnTo>
                  <a:lnTo>
                    <a:pt x="280" y="692"/>
                  </a:lnTo>
                  <a:lnTo>
                    <a:pt x="251" y="677"/>
                  </a:lnTo>
                  <a:lnTo>
                    <a:pt x="228" y="654"/>
                  </a:lnTo>
                  <a:lnTo>
                    <a:pt x="209" y="627"/>
                  </a:lnTo>
                  <a:lnTo>
                    <a:pt x="196" y="596"/>
                  </a:lnTo>
                  <a:lnTo>
                    <a:pt x="184" y="565"/>
                  </a:lnTo>
                  <a:lnTo>
                    <a:pt x="178" y="534"/>
                  </a:lnTo>
                  <a:lnTo>
                    <a:pt x="177" y="508"/>
                  </a:lnTo>
                  <a:lnTo>
                    <a:pt x="177" y="486"/>
                  </a:lnTo>
                  <a:lnTo>
                    <a:pt x="180" y="471"/>
                  </a:lnTo>
                  <a:lnTo>
                    <a:pt x="188" y="463"/>
                  </a:lnTo>
                  <a:lnTo>
                    <a:pt x="200" y="463"/>
                  </a:lnTo>
                  <a:lnTo>
                    <a:pt x="221" y="465"/>
                  </a:lnTo>
                  <a:lnTo>
                    <a:pt x="251" y="467"/>
                  </a:lnTo>
                  <a:lnTo>
                    <a:pt x="292" y="469"/>
                  </a:lnTo>
                  <a:lnTo>
                    <a:pt x="340" y="471"/>
                  </a:lnTo>
                  <a:lnTo>
                    <a:pt x="394" y="471"/>
                  </a:lnTo>
                  <a:lnTo>
                    <a:pt x="453" y="469"/>
                  </a:lnTo>
                  <a:lnTo>
                    <a:pt x="518" y="465"/>
                  </a:lnTo>
                  <a:lnTo>
                    <a:pt x="587" y="458"/>
                  </a:lnTo>
                  <a:lnTo>
                    <a:pt x="658" y="446"/>
                  </a:lnTo>
                  <a:lnTo>
                    <a:pt x="731" y="429"/>
                  </a:lnTo>
                  <a:lnTo>
                    <a:pt x="808" y="408"/>
                  </a:lnTo>
                  <a:lnTo>
                    <a:pt x="883" y="379"/>
                  </a:lnTo>
                  <a:lnTo>
                    <a:pt x="958" y="344"/>
                  </a:lnTo>
                  <a:lnTo>
                    <a:pt x="1018" y="315"/>
                  </a:lnTo>
                  <a:lnTo>
                    <a:pt x="1073" y="292"/>
                  </a:lnTo>
                  <a:lnTo>
                    <a:pt x="1123" y="275"/>
                  </a:lnTo>
                  <a:lnTo>
                    <a:pt x="1167" y="264"/>
                  </a:lnTo>
                  <a:lnTo>
                    <a:pt x="1208" y="258"/>
                  </a:lnTo>
                  <a:lnTo>
                    <a:pt x="1244" y="256"/>
                  </a:lnTo>
                  <a:lnTo>
                    <a:pt x="1279" y="260"/>
                  </a:lnTo>
                  <a:lnTo>
                    <a:pt x="1313" y="265"/>
                  </a:lnTo>
                  <a:lnTo>
                    <a:pt x="1346" y="273"/>
                  </a:lnTo>
                  <a:lnTo>
                    <a:pt x="1378" y="285"/>
                  </a:lnTo>
                  <a:lnTo>
                    <a:pt x="1411" y="298"/>
                  </a:lnTo>
                  <a:lnTo>
                    <a:pt x="1448" y="312"/>
                  </a:lnTo>
                  <a:lnTo>
                    <a:pt x="1486" y="327"/>
                  </a:lnTo>
                  <a:lnTo>
                    <a:pt x="1526" y="342"/>
                  </a:lnTo>
                  <a:lnTo>
                    <a:pt x="1572" y="356"/>
                  </a:lnTo>
                  <a:lnTo>
                    <a:pt x="1622" y="369"/>
                  </a:lnTo>
                  <a:lnTo>
                    <a:pt x="1665" y="381"/>
                  </a:lnTo>
                  <a:lnTo>
                    <a:pt x="1703" y="390"/>
                  </a:lnTo>
                  <a:lnTo>
                    <a:pt x="1736" y="402"/>
                  </a:lnTo>
                  <a:lnTo>
                    <a:pt x="1768" y="413"/>
                  </a:lnTo>
                  <a:lnTo>
                    <a:pt x="1797" y="423"/>
                  </a:lnTo>
                  <a:lnTo>
                    <a:pt x="1826" y="433"/>
                  </a:lnTo>
                  <a:lnTo>
                    <a:pt x="1855" y="440"/>
                  </a:lnTo>
                  <a:lnTo>
                    <a:pt x="1883" y="448"/>
                  </a:lnTo>
                  <a:lnTo>
                    <a:pt x="1914" y="454"/>
                  </a:lnTo>
                  <a:lnTo>
                    <a:pt x="1947" y="460"/>
                  </a:lnTo>
                  <a:lnTo>
                    <a:pt x="1985" y="463"/>
                  </a:lnTo>
                  <a:lnTo>
                    <a:pt x="2026" y="463"/>
                  </a:lnTo>
                  <a:lnTo>
                    <a:pt x="2072" y="463"/>
                  </a:lnTo>
                  <a:lnTo>
                    <a:pt x="2123" y="461"/>
                  </a:lnTo>
                  <a:lnTo>
                    <a:pt x="2181" y="456"/>
                  </a:lnTo>
                  <a:lnTo>
                    <a:pt x="2248" y="448"/>
                  </a:lnTo>
                  <a:lnTo>
                    <a:pt x="2323" y="436"/>
                  </a:lnTo>
                  <a:lnTo>
                    <a:pt x="2408" y="423"/>
                  </a:lnTo>
                  <a:lnTo>
                    <a:pt x="2502" y="406"/>
                  </a:lnTo>
                  <a:lnTo>
                    <a:pt x="2594" y="388"/>
                  </a:lnTo>
                  <a:lnTo>
                    <a:pt x="2688" y="369"/>
                  </a:lnTo>
                  <a:lnTo>
                    <a:pt x="2782" y="346"/>
                  </a:lnTo>
                  <a:lnTo>
                    <a:pt x="2878" y="323"/>
                  </a:lnTo>
                  <a:lnTo>
                    <a:pt x="2972" y="300"/>
                  </a:lnTo>
                  <a:lnTo>
                    <a:pt x="3066" y="275"/>
                  </a:lnTo>
                  <a:lnTo>
                    <a:pt x="3158" y="248"/>
                  </a:lnTo>
                  <a:lnTo>
                    <a:pt x="3249" y="223"/>
                  </a:lnTo>
                  <a:lnTo>
                    <a:pt x="3337" y="196"/>
                  </a:lnTo>
                  <a:lnTo>
                    <a:pt x="3421" y="171"/>
                  </a:lnTo>
                  <a:lnTo>
                    <a:pt x="3502" y="146"/>
                  </a:lnTo>
                  <a:lnTo>
                    <a:pt x="3577" y="123"/>
                  </a:lnTo>
                  <a:lnTo>
                    <a:pt x="3648" y="100"/>
                  </a:lnTo>
                  <a:lnTo>
                    <a:pt x="3713" y="79"/>
                  </a:lnTo>
                  <a:lnTo>
                    <a:pt x="3771" y="60"/>
                  </a:lnTo>
                  <a:lnTo>
                    <a:pt x="3823" y="43"/>
                  </a:lnTo>
                  <a:lnTo>
                    <a:pt x="3865" y="27"/>
                  </a:lnTo>
                  <a:lnTo>
                    <a:pt x="3899" y="16"/>
                  </a:lnTo>
                  <a:lnTo>
                    <a:pt x="3924" y="8"/>
                  </a:lnTo>
                  <a:lnTo>
                    <a:pt x="3942" y="2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FEDDA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977056" y="2652707"/>
              <a:ext cx="1057275" cy="1658935"/>
            </a:xfrm>
            <a:custGeom>
              <a:avLst/>
              <a:gdLst>
                <a:gd name="T0" fmla="*/ 251 w 666"/>
                <a:gd name="T1" fmla="*/ 0 h 1045"/>
                <a:gd name="T2" fmla="*/ 666 w 666"/>
                <a:gd name="T3" fmla="*/ 1045 h 1045"/>
                <a:gd name="T4" fmla="*/ 370 w 666"/>
                <a:gd name="T5" fmla="*/ 1045 h 1045"/>
                <a:gd name="T6" fmla="*/ 0 w 666"/>
                <a:gd name="T7" fmla="*/ 65 h 1045"/>
                <a:gd name="T8" fmla="*/ 251 w 666"/>
                <a:gd name="T9" fmla="*/ 0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1045">
                  <a:moveTo>
                    <a:pt x="251" y="0"/>
                  </a:moveTo>
                  <a:lnTo>
                    <a:pt x="666" y="1045"/>
                  </a:lnTo>
                  <a:lnTo>
                    <a:pt x="370" y="1045"/>
                  </a:lnTo>
                  <a:lnTo>
                    <a:pt x="0" y="65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235818" y="1729527"/>
              <a:ext cx="3667933" cy="2758326"/>
            </a:xfrm>
            <a:custGeom>
              <a:avLst/>
              <a:gdLst>
                <a:gd name="T0" fmla="*/ 1778 w 1778"/>
                <a:gd name="T1" fmla="*/ 0 h 1579"/>
                <a:gd name="T2" fmla="*/ 1778 w 1778"/>
                <a:gd name="T3" fmla="*/ 1327 h 1579"/>
                <a:gd name="T4" fmla="*/ 484 w 1778"/>
                <a:gd name="T5" fmla="*/ 1579 h 1579"/>
                <a:gd name="T6" fmla="*/ 0 w 1778"/>
                <a:gd name="T7" fmla="*/ 425 h 1579"/>
                <a:gd name="T8" fmla="*/ 1778 w 1778"/>
                <a:gd name="T9" fmla="*/ 0 h 1579"/>
                <a:gd name="connsiteX0" fmla="*/ 12995 w 12995"/>
                <a:gd name="connsiteY0" fmla="*/ 0 h 11004"/>
                <a:gd name="connsiteX1" fmla="*/ 10000 w 12995"/>
                <a:gd name="connsiteY1" fmla="*/ 9408 h 11004"/>
                <a:gd name="connsiteX2" fmla="*/ 2722 w 12995"/>
                <a:gd name="connsiteY2" fmla="*/ 11004 h 11004"/>
                <a:gd name="connsiteX3" fmla="*/ 0 w 12995"/>
                <a:gd name="connsiteY3" fmla="*/ 3696 h 11004"/>
                <a:gd name="connsiteX4" fmla="*/ 12995 w 12995"/>
                <a:gd name="connsiteY4" fmla="*/ 0 h 11004"/>
                <a:gd name="connsiteX0" fmla="*/ 12995 w 12995"/>
                <a:gd name="connsiteY0" fmla="*/ 0 h 11004"/>
                <a:gd name="connsiteX1" fmla="*/ 12895 w 12995"/>
                <a:gd name="connsiteY1" fmla="*/ 8769 h 11004"/>
                <a:gd name="connsiteX2" fmla="*/ 2722 w 12995"/>
                <a:gd name="connsiteY2" fmla="*/ 11004 h 11004"/>
                <a:gd name="connsiteX3" fmla="*/ 0 w 12995"/>
                <a:gd name="connsiteY3" fmla="*/ 3696 h 11004"/>
                <a:gd name="connsiteX4" fmla="*/ 12995 w 12995"/>
                <a:gd name="connsiteY4" fmla="*/ 0 h 1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95" h="11004">
                  <a:moveTo>
                    <a:pt x="12995" y="0"/>
                  </a:moveTo>
                  <a:cubicBezTo>
                    <a:pt x="12962" y="2923"/>
                    <a:pt x="12928" y="5846"/>
                    <a:pt x="12895" y="8769"/>
                  </a:cubicBezTo>
                  <a:lnTo>
                    <a:pt x="2722" y="11004"/>
                  </a:lnTo>
                  <a:lnTo>
                    <a:pt x="0" y="3696"/>
                  </a:lnTo>
                  <a:lnTo>
                    <a:pt x="12995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828672" y="2813043"/>
              <a:ext cx="5029196" cy="1876421"/>
            </a:xfrm>
            <a:custGeom>
              <a:avLst/>
              <a:gdLst>
                <a:gd name="T0" fmla="*/ 1611 w 3168"/>
                <a:gd name="T1" fmla="*/ 360 h 1182"/>
                <a:gd name="T2" fmla="*/ 2813 w 3168"/>
                <a:gd name="T3" fmla="*/ 37 h 1182"/>
                <a:gd name="T4" fmla="*/ 3164 w 3168"/>
                <a:gd name="T5" fmla="*/ 423 h 1182"/>
                <a:gd name="T6" fmla="*/ 3139 w 3168"/>
                <a:gd name="T7" fmla="*/ 442 h 1182"/>
                <a:gd name="T8" fmla="*/ 3095 w 3168"/>
                <a:gd name="T9" fmla="*/ 473 h 1182"/>
                <a:gd name="T10" fmla="*/ 3036 w 3168"/>
                <a:gd name="T11" fmla="*/ 500 h 1182"/>
                <a:gd name="T12" fmla="*/ 2967 w 3168"/>
                <a:gd name="T13" fmla="*/ 517 h 1182"/>
                <a:gd name="T14" fmla="*/ 2894 w 3168"/>
                <a:gd name="T15" fmla="*/ 511 h 1182"/>
                <a:gd name="T16" fmla="*/ 2821 w 3168"/>
                <a:gd name="T17" fmla="*/ 471 h 1182"/>
                <a:gd name="T18" fmla="*/ 2742 w 3168"/>
                <a:gd name="T19" fmla="*/ 410 h 1182"/>
                <a:gd name="T20" fmla="*/ 2686 w 3168"/>
                <a:gd name="T21" fmla="*/ 375 h 1182"/>
                <a:gd name="T22" fmla="*/ 2650 w 3168"/>
                <a:gd name="T23" fmla="*/ 360 h 1182"/>
                <a:gd name="T24" fmla="*/ 2629 w 3168"/>
                <a:gd name="T25" fmla="*/ 356 h 1182"/>
                <a:gd name="T26" fmla="*/ 2623 w 3168"/>
                <a:gd name="T27" fmla="*/ 356 h 1182"/>
                <a:gd name="T28" fmla="*/ 2604 w 3168"/>
                <a:gd name="T29" fmla="*/ 363 h 1182"/>
                <a:gd name="T30" fmla="*/ 2548 w 3168"/>
                <a:gd name="T31" fmla="*/ 390 h 1182"/>
                <a:gd name="T32" fmla="*/ 2467 w 3168"/>
                <a:gd name="T33" fmla="*/ 433 h 1182"/>
                <a:gd name="T34" fmla="*/ 2366 w 3168"/>
                <a:gd name="T35" fmla="*/ 490 h 1182"/>
                <a:gd name="T36" fmla="*/ 2256 w 3168"/>
                <a:gd name="T37" fmla="*/ 561 h 1182"/>
                <a:gd name="T38" fmla="*/ 2131 w 3168"/>
                <a:gd name="T39" fmla="*/ 646 h 1182"/>
                <a:gd name="T40" fmla="*/ 1989 w 3168"/>
                <a:gd name="T41" fmla="*/ 746 h 1182"/>
                <a:gd name="T42" fmla="*/ 1840 w 3168"/>
                <a:gd name="T43" fmla="*/ 851 h 1182"/>
                <a:gd name="T44" fmla="*/ 1692 w 3168"/>
                <a:gd name="T45" fmla="*/ 957 h 1182"/>
                <a:gd name="T46" fmla="*/ 1552 w 3168"/>
                <a:gd name="T47" fmla="*/ 1057 h 1182"/>
                <a:gd name="T48" fmla="*/ 1431 w 3168"/>
                <a:gd name="T49" fmla="*/ 1142 h 1182"/>
                <a:gd name="T50" fmla="*/ 1377 w 3168"/>
                <a:gd name="T51" fmla="*/ 1178 h 1182"/>
                <a:gd name="T52" fmla="*/ 1340 w 3168"/>
                <a:gd name="T53" fmla="*/ 1182 h 1182"/>
                <a:gd name="T54" fmla="*/ 1275 w 3168"/>
                <a:gd name="T55" fmla="*/ 1172 h 1182"/>
                <a:gd name="T56" fmla="*/ 1187 w 3168"/>
                <a:gd name="T57" fmla="*/ 1136 h 1182"/>
                <a:gd name="T58" fmla="*/ 1129 w 3168"/>
                <a:gd name="T59" fmla="*/ 1111 h 1182"/>
                <a:gd name="T60" fmla="*/ 1043 w 3168"/>
                <a:gd name="T61" fmla="*/ 1082 h 1182"/>
                <a:gd name="T62" fmla="*/ 939 w 3168"/>
                <a:gd name="T63" fmla="*/ 1053 h 1182"/>
                <a:gd name="T64" fmla="*/ 828 w 3168"/>
                <a:gd name="T65" fmla="*/ 1022 h 1182"/>
                <a:gd name="T66" fmla="*/ 718 w 3168"/>
                <a:gd name="T67" fmla="*/ 996 h 1182"/>
                <a:gd name="T68" fmla="*/ 620 w 3168"/>
                <a:gd name="T69" fmla="*/ 971 h 1182"/>
                <a:gd name="T70" fmla="*/ 546 w 3168"/>
                <a:gd name="T71" fmla="*/ 953 h 1182"/>
                <a:gd name="T72" fmla="*/ 505 w 3168"/>
                <a:gd name="T73" fmla="*/ 944 h 1182"/>
                <a:gd name="T74" fmla="*/ 0 w 3168"/>
                <a:gd name="T75" fmla="*/ 836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168" h="1182">
                  <a:moveTo>
                    <a:pt x="244" y="0"/>
                  </a:moveTo>
                  <a:lnTo>
                    <a:pt x="1611" y="360"/>
                  </a:lnTo>
                  <a:lnTo>
                    <a:pt x="2295" y="56"/>
                  </a:lnTo>
                  <a:lnTo>
                    <a:pt x="2813" y="37"/>
                  </a:lnTo>
                  <a:lnTo>
                    <a:pt x="3168" y="421"/>
                  </a:lnTo>
                  <a:lnTo>
                    <a:pt x="3164" y="423"/>
                  </a:lnTo>
                  <a:lnTo>
                    <a:pt x="3155" y="431"/>
                  </a:lnTo>
                  <a:lnTo>
                    <a:pt x="3139" y="442"/>
                  </a:lnTo>
                  <a:lnTo>
                    <a:pt x="3120" y="458"/>
                  </a:lnTo>
                  <a:lnTo>
                    <a:pt x="3095" y="473"/>
                  </a:lnTo>
                  <a:lnTo>
                    <a:pt x="3066" y="486"/>
                  </a:lnTo>
                  <a:lnTo>
                    <a:pt x="3036" y="500"/>
                  </a:lnTo>
                  <a:lnTo>
                    <a:pt x="3003" y="511"/>
                  </a:lnTo>
                  <a:lnTo>
                    <a:pt x="2967" y="517"/>
                  </a:lnTo>
                  <a:lnTo>
                    <a:pt x="2930" y="517"/>
                  </a:lnTo>
                  <a:lnTo>
                    <a:pt x="2894" y="511"/>
                  </a:lnTo>
                  <a:lnTo>
                    <a:pt x="2857" y="496"/>
                  </a:lnTo>
                  <a:lnTo>
                    <a:pt x="2821" y="471"/>
                  </a:lnTo>
                  <a:lnTo>
                    <a:pt x="2778" y="436"/>
                  </a:lnTo>
                  <a:lnTo>
                    <a:pt x="2742" y="410"/>
                  </a:lnTo>
                  <a:lnTo>
                    <a:pt x="2711" y="388"/>
                  </a:lnTo>
                  <a:lnTo>
                    <a:pt x="2686" y="375"/>
                  </a:lnTo>
                  <a:lnTo>
                    <a:pt x="2665" y="365"/>
                  </a:lnTo>
                  <a:lnTo>
                    <a:pt x="2650" y="360"/>
                  </a:lnTo>
                  <a:lnTo>
                    <a:pt x="2636" y="356"/>
                  </a:lnTo>
                  <a:lnTo>
                    <a:pt x="2629" y="356"/>
                  </a:lnTo>
                  <a:lnTo>
                    <a:pt x="2625" y="356"/>
                  </a:lnTo>
                  <a:lnTo>
                    <a:pt x="2623" y="356"/>
                  </a:lnTo>
                  <a:lnTo>
                    <a:pt x="2617" y="358"/>
                  </a:lnTo>
                  <a:lnTo>
                    <a:pt x="2604" y="363"/>
                  </a:lnTo>
                  <a:lnTo>
                    <a:pt x="2581" y="375"/>
                  </a:lnTo>
                  <a:lnTo>
                    <a:pt x="2548" y="390"/>
                  </a:lnTo>
                  <a:lnTo>
                    <a:pt x="2512" y="410"/>
                  </a:lnTo>
                  <a:lnTo>
                    <a:pt x="2467" y="433"/>
                  </a:lnTo>
                  <a:lnTo>
                    <a:pt x="2418" y="460"/>
                  </a:lnTo>
                  <a:lnTo>
                    <a:pt x="2366" y="490"/>
                  </a:lnTo>
                  <a:lnTo>
                    <a:pt x="2308" y="527"/>
                  </a:lnTo>
                  <a:lnTo>
                    <a:pt x="2256" y="561"/>
                  </a:lnTo>
                  <a:lnTo>
                    <a:pt x="2197" y="602"/>
                  </a:lnTo>
                  <a:lnTo>
                    <a:pt x="2131" y="646"/>
                  </a:lnTo>
                  <a:lnTo>
                    <a:pt x="2062" y="694"/>
                  </a:lnTo>
                  <a:lnTo>
                    <a:pt x="1989" y="746"/>
                  </a:lnTo>
                  <a:lnTo>
                    <a:pt x="1916" y="798"/>
                  </a:lnTo>
                  <a:lnTo>
                    <a:pt x="1840" y="851"/>
                  </a:lnTo>
                  <a:lnTo>
                    <a:pt x="1765" y="903"/>
                  </a:lnTo>
                  <a:lnTo>
                    <a:pt x="1692" y="957"/>
                  </a:lnTo>
                  <a:lnTo>
                    <a:pt x="1619" y="1007"/>
                  </a:lnTo>
                  <a:lnTo>
                    <a:pt x="1552" y="1057"/>
                  </a:lnTo>
                  <a:lnTo>
                    <a:pt x="1488" y="1101"/>
                  </a:lnTo>
                  <a:lnTo>
                    <a:pt x="1431" y="1142"/>
                  </a:lnTo>
                  <a:lnTo>
                    <a:pt x="1381" y="1178"/>
                  </a:lnTo>
                  <a:lnTo>
                    <a:pt x="1377" y="1178"/>
                  </a:lnTo>
                  <a:lnTo>
                    <a:pt x="1363" y="1180"/>
                  </a:lnTo>
                  <a:lnTo>
                    <a:pt x="1340" y="1182"/>
                  </a:lnTo>
                  <a:lnTo>
                    <a:pt x="1312" y="1180"/>
                  </a:lnTo>
                  <a:lnTo>
                    <a:pt x="1275" y="1172"/>
                  </a:lnTo>
                  <a:lnTo>
                    <a:pt x="1233" y="1159"/>
                  </a:lnTo>
                  <a:lnTo>
                    <a:pt x="1187" y="1136"/>
                  </a:lnTo>
                  <a:lnTo>
                    <a:pt x="1162" y="1124"/>
                  </a:lnTo>
                  <a:lnTo>
                    <a:pt x="1129" y="1111"/>
                  </a:lnTo>
                  <a:lnTo>
                    <a:pt x="1089" y="1097"/>
                  </a:lnTo>
                  <a:lnTo>
                    <a:pt x="1043" y="1082"/>
                  </a:lnTo>
                  <a:lnTo>
                    <a:pt x="993" y="1069"/>
                  </a:lnTo>
                  <a:lnTo>
                    <a:pt x="939" y="1053"/>
                  </a:lnTo>
                  <a:lnTo>
                    <a:pt x="883" y="1038"/>
                  </a:lnTo>
                  <a:lnTo>
                    <a:pt x="828" y="1022"/>
                  </a:lnTo>
                  <a:lnTo>
                    <a:pt x="772" y="1009"/>
                  </a:lnTo>
                  <a:lnTo>
                    <a:pt x="718" y="996"/>
                  </a:lnTo>
                  <a:lnTo>
                    <a:pt x="666" y="982"/>
                  </a:lnTo>
                  <a:lnTo>
                    <a:pt x="620" y="971"/>
                  </a:lnTo>
                  <a:lnTo>
                    <a:pt x="580" y="961"/>
                  </a:lnTo>
                  <a:lnTo>
                    <a:pt x="546" y="953"/>
                  </a:lnTo>
                  <a:lnTo>
                    <a:pt x="521" y="947"/>
                  </a:lnTo>
                  <a:lnTo>
                    <a:pt x="505" y="944"/>
                  </a:lnTo>
                  <a:lnTo>
                    <a:pt x="499" y="942"/>
                  </a:lnTo>
                  <a:lnTo>
                    <a:pt x="0" y="836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5026020" y="4911713"/>
              <a:ext cx="817563" cy="801687"/>
            </a:xfrm>
            <a:custGeom>
              <a:avLst/>
              <a:gdLst>
                <a:gd name="T0" fmla="*/ 152 w 515"/>
                <a:gd name="T1" fmla="*/ 0 h 505"/>
                <a:gd name="T2" fmla="*/ 182 w 515"/>
                <a:gd name="T3" fmla="*/ 2 h 505"/>
                <a:gd name="T4" fmla="*/ 215 w 515"/>
                <a:gd name="T5" fmla="*/ 10 h 505"/>
                <a:gd name="T6" fmla="*/ 254 w 515"/>
                <a:gd name="T7" fmla="*/ 23 h 505"/>
                <a:gd name="T8" fmla="*/ 296 w 515"/>
                <a:gd name="T9" fmla="*/ 48 h 505"/>
                <a:gd name="T10" fmla="*/ 344 w 515"/>
                <a:gd name="T11" fmla="*/ 83 h 505"/>
                <a:gd name="T12" fmla="*/ 388 w 515"/>
                <a:gd name="T13" fmla="*/ 119 h 505"/>
                <a:gd name="T14" fmla="*/ 428 w 515"/>
                <a:gd name="T15" fmla="*/ 160 h 505"/>
                <a:gd name="T16" fmla="*/ 463 w 515"/>
                <a:gd name="T17" fmla="*/ 200 h 505"/>
                <a:gd name="T18" fmla="*/ 490 w 515"/>
                <a:gd name="T19" fmla="*/ 242 h 505"/>
                <a:gd name="T20" fmla="*/ 507 w 515"/>
                <a:gd name="T21" fmla="*/ 286 h 505"/>
                <a:gd name="T22" fmla="*/ 515 w 515"/>
                <a:gd name="T23" fmla="*/ 330 h 505"/>
                <a:gd name="T24" fmla="*/ 511 w 515"/>
                <a:gd name="T25" fmla="*/ 373 h 505"/>
                <a:gd name="T26" fmla="*/ 495 w 515"/>
                <a:gd name="T27" fmla="*/ 409 h 505"/>
                <a:gd name="T28" fmla="*/ 472 w 515"/>
                <a:gd name="T29" fmla="*/ 442 h 505"/>
                <a:gd name="T30" fmla="*/ 442 w 515"/>
                <a:gd name="T31" fmla="*/ 469 h 505"/>
                <a:gd name="T32" fmla="*/ 407 w 515"/>
                <a:gd name="T33" fmla="*/ 488 h 505"/>
                <a:gd name="T34" fmla="*/ 369 w 515"/>
                <a:gd name="T35" fmla="*/ 500 h 505"/>
                <a:gd name="T36" fmla="*/ 326 w 515"/>
                <a:gd name="T37" fmla="*/ 505 h 505"/>
                <a:gd name="T38" fmla="*/ 282 w 515"/>
                <a:gd name="T39" fmla="*/ 500 h 505"/>
                <a:gd name="T40" fmla="*/ 240 w 515"/>
                <a:gd name="T41" fmla="*/ 484 h 505"/>
                <a:gd name="T42" fmla="*/ 198 w 515"/>
                <a:gd name="T43" fmla="*/ 459 h 505"/>
                <a:gd name="T44" fmla="*/ 165 w 515"/>
                <a:gd name="T45" fmla="*/ 432 h 505"/>
                <a:gd name="T46" fmla="*/ 131 w 515"/>
                <a:gd name="T47" fmla="*/ 402 h 505"/>
                <a:gd name="T48" fmla="*/ 98 w 515"/>
                <a:gd name="T49" fmla="*/ 369 h 505"/>
                <a:gd name="T50" fmla="*/ 67 w 515"/>
                <a:gd name="T51" fmla="*/ 334 h 505"/>
                <a:gd name="T52" fmla="*/ 40 w 515"/>
                <a:gd name="T53" fmla="*/ 298 h 505"/>
                <a:gd name="T54" fmla="*/ 19 w 515"/>
                <a:gd name="T55" fmla="*/ 259 h 505"/>
                <a:gd name="T56" fmla="*/ 6 w 515"/>
                <a:gd name="T57" fmla="*/ 219 h 505"/>
                <a:gd name="T58" fmla="*/ 0 w 515"/>
                <a:gd name="T59" fmla="*/ 177 h 505"/>
                <a:gd name="T60" fmla="*/ 4 w 515"/>
                <a:gd name="T61" fmla="*/ 135 h 505"/>
                <a:gd name="T62" fmla="*/ 21 w 515"/>
                <a:gd name="T63" fmla="*/ 92 h 505"/>
                <a:gd name="T64" fmla="*/ 50 w 515"/>
                <a:gd name="T65" fmla="*/ 48 h 505"/>
                <a:gd name="T66" fmla="*/ 52 w 515"/>
                <a:gd name="T67" fmla="*/ 46 h 505"/>
                <a:gd name="T68" fmla="*/ 60 w 515"/>
                <a:gd name="T69" fmla="*/ 38 h 505"/>
                <a:gd name="T70" fmla="*/ 69 w 515"/>
                <a:gd name="T71" fmla="*/ 31 h 505"/>
                <a:gd name="T72" fmla="*/ 85 w 515"/>
                <a:gd name="T73" fmla="*/ 21 h 505"/>
                <a:gd name="T74" fmla="*/ 102 w 515"/>
                <a:gd name="T75" fmla="*/ 12 h 505"/>
                <a:gd name="T76" fmla="*/ 125 w 515"/>
                <a:gd name="T77" fmla="*/ 4 h 505"/>
                <a:gd name="T78" fmla="*/ 152 w 515"/>
                <a:gd name="T79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5" h="505">
                  <a:moveTo>
                    <a:pt x="152" y="0"/>
                  </a:moveTo>
                  <a:lnTo>
                    <a:pt x="182" y="2"/>
                  </a:lnTo>
                  <a:lnTo>
                    <a:pt x="215" y="10"/>
                  </a:lnTo>
                  <a:lnTo>
                    <a:pt x="254" y="23"/>
                  </a:lnTo>
                  <a:lnTo>
                    <a:pt x="296" y="48"/>
                  </a:lnTo>
                  <a:lnTo>
                    <a:pt x="344" y="83"/>
                  </a:lnTo>
                  <a:lnTo>
                    <a:pt x="388" y="119"/>
                  </a:lnTo>
                  <a:lnTo>
                    <a:pt x="428" y="160"/>
                  </a:lnTo>
                  <a:lnTo>
                    <a:pt x="463" y="200"/>
                  </a:lnTo>
                  <a:lnTo>
                    <a:pt x="490" y="242"/>
                  </a:lnTo>
                  <a:lnTo>
                    <a:pt x="507" y="286"/>
                  </a:lnTo>
                  <a:lnTo>
                    <a:pt x="515" y="330"/>
                  </a:lnTo>
                  <a:lnTo>
                    <a:pt x="511" y="373"/>
                  </a:lnTo>
                  <a:lnTo>
                    <a:pt x="495" y="409"/>
                  </a:lnTo>
                  <a:lnTo>
                    <a:pt x="472" y="442"/>
                  </a:lnTo>
                  <a:lnTo>
                    <a:pt x="442" y="469"/>
                  </a:lnTo>
                  <a:lnTo>
                    <a:pt x="407" y="488"/>
                  </a:lnTo>
                  <a:lnTo>
                    <a:pt x="369" y="500"/>
                  </a:lnTo>
                  <a:lnTo>
                    <a:pt x="326" y="505"/>
                  </a:lnTo>
                  <a:lnTo>
                    <a:pt x="282" y="500"/>
                  </a:lnTo>
                  <a:lnTo>
                    <a:pt x="240" y="484"/>
                  </a:lnTo>
                  <a:lnTo>
                    <a:pt x="198" y="459"/>
                  </a:lnTo>
                  <a:lnTo>
                    <a:pt x="165" y="432"/>
                  </a:lnTo>
                  <a:lnTo>
                    <a:pt x="131" y="402"/>
                  </a:lnTo>
                  <a:lnTo>
                    <a:pt x="98" y="369"/>
                  </a:lnTo>
                  <a:lnTo>
                    <a:pt x="67" y="334"/>
                  </a:lnTo>
                  <a:lnTo>
                    <a:pt x="40" y="298"/>
                  </a:lnTo>
                  <a:lnTo>
                    <a:pt x="19" y="259"/>
                  </a:lnTo>
                  <a:lnTo>
                    <a:pt x="6" y="219"/>
                  </a:lnTo>
                  <a:lnTo>
                    <a:pt x="0" y="177"/>
                  </a:lnTo>
                  <a:lnTo>
                    <a:pt x="4" y="135"/>
                  </a:lnTo>
                  <a:lnTo>
                    <a:pt x="21" y="92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60" y="38"/>
                  </a:lnTo>
                  <a:lnTo>
                    <a:pt x="69" y="31"/>
                  </a:lnTo>
                  <a:lnTo>
                    <a:pt x="85" y="21"/>
                  </a:lnTo>
                  <a:lnTo>
                    <a:pt x="102" y="12"/>
                  </a:lnTo>
                  <a:lnTo>
                    <a:pt x="125" y="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5462582" y="4557702"/>
              <a:ext cx="769937" cy="765174"/>
            </a:xfrm>
            <a:custGeom>
              <a:avLst/>
              <a:gdLst>
                <a:gd name="T0" fmla="*/ 197 w 485"/>
                <a:gd name="T1" fmla="*/ 0 h 482"/>
                <a:gd name="T2" fmla="*/ 228 w 485"/>
                <a:gd name="T3" fmla="*/ 8 h 482"/>
                <a:gd name="T4" fmla="*/ 259 w 485"/>
                <a:gd name="T5" fmla="*/ 19 h 482"/>
                <a:gd name="T6" fmla="*/ 286 w 485"/>
                <a:gd name="T7" fmla="*/ 35 h 482"/>
                <a:gd name="T8" fmla="*/ 311 w 485"/>
                <a:gd name="T9" fmla="*/ 50 h 482"/>
                <a:gd name="T10" fmla="*/ 330 w 485"/>
                <a:gd name="T11" fmla="*/ 66 h 482"/>
                <a:gd name="T12" fmla="*/ 345 w 485"/>
                <a:gd name="T13" fmla="*/ 79 h 482"/>
                <a:gd name="T14" fmla="*/ 355 w 485"/>
                <a:gd name="T15" fmla="*/ 89 h 482"/>
                <a:gd name="T16" fmla="*/ 359 w 485"/>
                <a:gd name="T17" fmla="*/ 92 h 482"/>
                <a:gd name="T18" fmla="*/ 361 w 485"/>
                <a:gd name="T19" fmla="*/ 96 h 482"/>
                <a:gd name="T20" fmla="*/ 370 w 485"/>
                <a:gd name="T21" fmla="*/ 106 h 482"/>
                <a:gd name="T22" fmla="*/ 382 w 485"/>
                <a:gd name="T23" fmla="*/ 121 h 482"/>
                <a:gd name="T24" fmla="*/ 397 w 485"/>
                <a:gd name="T25" fmla="*/ 142 h 482"/>
                <a:gd name="T26" fmla="*/ 414 w 485"/>
                <a:gd name="T27" fmla="*/ 165 h 482"/>
                <a:gd name="T28" fmla="*/ 432 w 485"/>
                <a:gd name="T29" fmla="*/ 190 h 482"/>
                <a:gd name="T30" fmla="*/ 451 w 485"/>
                <a:gd name="T31" fmla="*/ 215 h 482"/>
                <a:gd name="T32" fmla="*/ 466 w 485"/>
                <a:gd name="T33" fmla="*/ 240 h 482"/>
                <a:gd name="T34" fmla="*/ 478 w 485"/>
                <a:gd name="T35" fmla="*/ 265 h 482"/>
                <a:gd name="T36" fmla="*/ 483 w 485"/>
                <a:gd name="T37" fmla="*/ 292 h 482"/>
                <a:gd name="T38" fmla="*/ 485 w 485"/>
                <a:gd name="T39" fmla="*/ 321 h 482"/>
                <a:gd name="T40" fmla="*/ 482 w 485"/>
                <a:gd name="T41" fmla="*/ 350 h 482"/>
                <a:gd name="T42" fmla="*/ 472 w 485"/>
                <a:gd name="T43" fmla="*/ 379 h 482"/>
                <a:gd name="T44" fmla="*/ 457 w 485"/>
                <a:gd name="T45" fmla="*/ 406 h 482"/>
                <a:gd name="T46" fmla="*/ 432 w 485"/>
                <a:gd name="T47" fmla="*/ 432 h 482"/>
                <a:gd name="T48" fmla="*/ 399 w 485"/>
                <a:gd name="T49" fmla="*/ 454 h 482"/>
                <a:gd name="T50" fmla="*/ 359 w 485"/>
                <a:gd name="T51" fmla="*/ 471 h 482"/>
                <a:gd name="T52" fmla="*/ 315 w 485"/>
                <a:gd name="T53" fmla="*/ 480 h 482"/>
                <a:gd name="T54" fmla="*/ 274 w 485"/>
                <a:gd name="T55" fmla="*/ 482 h 482"/>
                <a:gd name="T56" fmla="*/ 236 w 485"/>
                <a:gd name="T57" fmla="*/ 473 h 482"/>
                <a:gd name="T58" fmla="*/ 201 w 485"/>
                <a:gd name="T59" fmla="*/ 457 h 482"/>
                <a:gd name="T60" fmla="*/ 169 w 485"/>
                <a:gd name="T61" fmla="*/ 434 h 482"/>
                <a:gd name="T62" fmla="*/ 136 w 485"/>
                <a:gd name="T63" fmla="*/ 404 h 482"/>
                <a:gd name="T64" fmla="*/ 105 w 485"/>
                <a:gd name="T65" fmla="*/ 369 h 482"/>
                <a:gd name="T66" fmla="*/ 75 w 485"/>
                <a:gd name="T67" fmla="*/ 331 h 482"/>
                <a:gd name="T68" fmla="*/ 44 w 485"/>
                <a:gd name="T69" fmla="*/ 286 h 482"/>
                <a:gd name="T70" fmla="*/ 19 w 485"/>
                <a:gd name="T71" fmla="*/ 244 h 482"/>
                <a:gd name="T72" fmla="*/ 3 w 485"/>
                <a:gd name="T73" fmla="*/ 204 h 482"/>
                <a:gd name="T74" fmla="*/ 0 w 485"/>
                <a:gd name="T75" fmla="*/ 165 h 482"/>
                <a:gd name="T76" fmla="*/ 5 w 485"/>
                <a:gd name="T77" fmla="*/ 131 h 482"/>
                <a:gd name="T78" fmla="*/ 19 w 485"/>
                <a:gd name="T79" fmla="*/ 100 h 482"/>
                <a:gd name="T80" fmla="*/ 38 w 485"/>
                <a:gd name="T81" fmla="*/ 73 h 482"/>
                <a:gd name="T82" fmla="*/ 65 w 485"/>
                <a:gd name="T83" fmla="*/ 48 h 482"/>
                <a:gd name="T84" fmla="*/ 96 w 485"/>
                <a:gd name="T85" fmla="*/ 27 h 482"/>
                <a:gd name="T86" fmla="*/ 130 w 485"/>
                <a:gd name="T87" fmla="*/ 10 h 482"/>
                <a:gd name="T88" fmla="*/ 165 w 485"/>
                <a:gd name="T89" fmla="*/ 0 h 482"/>
                <a:gd name="T90" fmla="*/ 197 w 485"/>
                <a:gd name="T91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5" h="482">
                  <a:moveTo>
                    <a:pt x="197" y="0"/>
                  </a:moveTo>
                  <a:lnTo>
                    <a:pt x="228" y="8"/>
                  </a:lnTo>
                  <a:lnTo>
                    <a:pt x="259" y="19"/>
                  </a:lnTo>
                  <a:lnTo>
                    <a:pt x="286" y="35"/>
                  </a:lnTo>
                  <a:lnTo>
                    <a:pt x="311" y="50"/>
                  </a:lnTo>
                  <a:lnTo>
                    <a:pt x="330" y="66"/>
                  </a:lnTo>
                  <a:lnTo>
                    <a:pt x="345" y="79"/>
                  </a:lnTo>
                  <a:lnTo>
                    <a:pt x="355" y="89"/>
                  </a:lnTo>
                  <a:lnTo>
                    <a:pt x="359" y="92"/>
                  </a:lnTo>
                  <a:lnTo>
                    <a:pt x="361" y="96"/>
                  </a:lnTo>
                  <a:lnTo>
                    <a:pt x="370" y="106"/>
                  </a:lnTo>
                  <a:lnTo>
                    <a:pt x="382" y="121"/>
                  </a:lnTo>
                  <a:lnTo>
                    <a:pt x="397" y="142"/>
                  </a:lnTo>
                  <a:lnTo>
                    <a:pt x="414" y="165"/>
                  </a:lnTo>
                  <a:lnTo>
                    <a:pt x="432" y="190"/>
                  </a:lnTo>
                  <a:lnTo>
                    <a:pt x="451" y="215"/>
                  </a:lnTo>
                  <a:lnTo>
                    <a:pt x="466" y="240"/>
                  </a:lnTo>
                  <a:lnTo>
                    <a:pt x="478" y="265"/>
                  </a:lnTo>
                  <a:lnTo>
                    <a:pt x="483" y="292"/>
                  </a:lnTo>
                  <a:lnTo>
                    <a:pt x="485" y="321"/>
                  </a:lnTo>
                  <a:lnTo>
                    <a:pt x="482" y="350"/>
                  </a:lnTo>
                  <a:lnTo>
                    <a:pt x="472" y="379"/>
                  </a:lnTo>
                  <a:lnTo>
                    <a:pt x="457" y="406"/>
                  </a:lnTo>
                  <a:lnTo>
                    <a:pt x="432" y="432"/>
                  </a:lnTo>
                  <a:lnTo>
                    <a:pt x="399" y="454"/>
                  </a:lnTo>
                  <a:lnTo>
                    <a:pt x="359" y="471"/>
                  </a:lnTo>
                  <a:lnTo>
                    <a:pt x="315" y="480"/>
                  </a:lnTo>
                  <a:lnTo>
                    <a:pt x="274" y="482"/>
                  </a:lnTo>
                  <a:lnTo>
                    <a:pt x="236" y="473"/>
                  </a:lnTo>
                  <a:lnTo>
                    <a:pt x="201" y="457"/>
                  </a:lnTo>
                  <a:lnTo>
                    <a:pt x="169" y="434"/>
                  </a:lnTo>
                  <a:lnTo>
                    <a:pt x="136" y="404"/>
                  </a:lnTo>
                  <a:lnTo>
                    <a:pt x="105" y="369"/>
                  </a:lnTo>
                  <a:lnTo>
                    <a:pt x="75" y="331"/>
                  </a:lnTo>
                  <a:lnTo>
                    <a:pt x="44" y="286"/>
                  </a:lnTo>
                  <a:lnTo>
                    <a:pt x="19" y="244"/>
                  </a:lnTo>
                  <a:lnTo>
                    <a:pt x="3" y="204"/>
                  </a:lnTo>
                  <a:lnTo>
                    <a:pt x="0" y="165"/>
                  </a:lnTo>
                  <a:lnTo>
                    <a:pt x="5" y="131"/>
                  </a:lnTo>
                  <a:lnTo>
                    <a:pt x="19" y="100"/>
                  </a:lnTo>
                  <a:lnTo>
                    <a:pt x="38" y="73"/>
                  </a:lnTo>
                  <a:lnTo>
                    <a:pt x="65" y="48"/>
                  </a:lnTo>
                  <a:lnTo>
                    <a:pt x="96" y="27"/>
                  </a:lnTo>
                  <a:lnTo>
                    <a:pt x="130" y="10"/>
                  </a:lnTo>
                  <a:lnTo>
                    <a:pt x="165" y="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3194047" y="2928931"/>
              <a:ext cx="423862" cy="165099"/>
            </a:xfrm>
            <a:custGeom>
              <a:avLst/>
              <a:gdLst>
                <a:gd name="T0" fmla="*/ 0 w 267"/>
                <a:gd name="T1" fmla="*/ 0 h 104"/>
                <a:gd name="T2" fmla="*/ 267 w 267"/>
                <a:gd name="T3" fmla="*/ 8 h 104"/>
                <a:gd name="T4" fmla="*/ 261 w 267"/>
                <a:gd name="T5" fmla="*/ 95 h 104"/>
                <a:gd name="T6" fmla="*/ 256 w 267"/>
                <a:gd name="T7" fmla="*/ 95 h 104"/>
                <a:gd name="T8" fmla="*/ 238 w 267"/>
                <a:gd name="T9" fmla="*/ 98 h 104"/>
                <a:gd name="T10" fmla="*/ 213 w 267"/>
                <a:gd name="T11" fmla="*/ 100 h 104"/>
                <a:gd name="T12" fmla="*/ 184 w 267"/>
                <a:gd name="T13" fmla="*/ 102 h 104"/>
                <a:gd name="T14" fmla="*/ 152 w 267"/>
                <a:gd name="T15" fmla="*/ 104 h 104"/>
                <a:gd name="T16" fmla="*/ 119 w 267"/>
                <a:gd name="T17" fmla="*/ 104 h 104"/>
                <a:gd name="T18" fmla="*/ 88 w 267"/>
                <a:gd name="T19" fmla="*/ 100 h 104"/>
                <a:gd name="T20" fmla="*/ 64 w 267"/>
                <a:gd name="T21" fmla="*/ 95 h 104"/>
                <a:gd name="T22" fmla="*/ 40 w 267"/>
                <a:gd name="T23" fmla="*/ 81 h 104"/>
                <a:gd name="T24" fmla="*/ 25 w 267"/>
                <a:gd name="T25" fmla="*/ 66 h 104"/>
                <a:gd name="T26" fmla="*/ 14 w 267"/>
                <a:gd name="T27" fmla="*/ 48 h 104"/>
                <a:gd name="T28" fmla="*/ 6 w 267"/>
                <a:gd name="T29" fmla="*/ 31 h 104"/>
                <a:gd name="T30" fmla="*/ 2 w 267"/>
                <a:gd name="T31" fmla="*/ 16 h 104"/>
                <a:gd name="T32" fmla="*/ 0 w 267"/>
                <a:gd name="T33" fmla="*/ 4 h 104"/>
                <a:gd name="T34" fmla="*/ 0 w 267"/>
                <a:gd name="T3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7" h="104">
                  <a:moveTo>
                    <a:pt x="0" y="0"/>
                  </a:moveTo>
                  <a:lnTo>
                    <a:pt x="267" y="8"/>
                  </a:lnTo>
                  <a:lnTo>
                    <a:pt x="261" y="95"/>
                  </a:lnTo>
                  <a:lnTo>
                    <a:pt x="256" y="95"/>
                  </a:lnTo>
                  <a:lnTo>
                    <a:pt x="238" y="98"/>
                  </a:lnTo>
                  <a:lnTo>
                    <a:pt x="213" y="100"/>
                  </a:lnTo>
                  <a:lnTo>
                    <a:pt x="184" y="102"/>
                  </a:lnTo>
                  <a:lnTo>
                    <a:pt x="152" y="104"/>
                  </a:lnTo>
                  <a:lnTo>
                    <a:pt x="119" y="104"/>
                  </a:lnTo>
                  <a:lnTo>
                    <a:pt x="88" y="100"/>
                  </a:lnTo>
                  <a:lnTo>
                    <a:pt x="64" y="95"/>
                  </a:lnTo>
                  <a:lnTo>
                    <a:pt x="40" y="81"/>
                  </a:lnTo>
                  <a:lnTo>
                    <a:pt x="25" y="66"/>
                  </a:lnTo>
                  <a:lnTo>
                    <a:pt x="14" y="48"/>
                  </a:lnTo>
                  <a:lnTo>
                    <a:pt x="6" y="31"/>
                  </a:lnTo>
                  <a:lnTo>
                    <a:pt x="2" y="16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5440358" y="3097206"/>
              <a:ext cx="400050" cy="423862"/>
            </a:xfrm>
            <a:custGeom>
              <a:avLst/>
              <a:gdLst>
                <a:gd name="T0" fmla="*/ 39 w 252"/>
                <a:gd name="T1" fmla="*/ 0 h 267"/>
                <a:gd name="T2" fmla="*/ 252 w 252"/>
                <a:gd name="T3" fmla="*/ 229 h 267"/>
                <a:gd name="T4" fmla="*/ 236 w 252"/>
                <a:gd name="T5" fmla="*/ 240 h 267"/>
                <a:gd name="T6" fmla="*/ 219 w 252"/>
                <a:gd name="T7" fmla="*/ 248 h 267"/>
                <a:gd name="T8" fmla="*/ 200 w 252"/>
                <a:gd name="T9" fmla="*/ 257 h 267"/>
                <a:gd name="T10" fmla="*/ 183 w 252"/>
                <a:gd name="T11" fmla="*/ 263 h 267"/>
                <a:gd name="T12" fmla="*/ 171 w 252"/>
                <a:gd name="T13" fmla="*/ 267 h 267"/>
                <a:gd name="T14" fmla="*/ 165 w 252"/>
                <a:gd name="T15" fmla="*/ 267 h 267"/>
                <a:gd name="T16" fmla="*/ 148 w 252"/>
                <a:gd name="T17" fmla="*/ 263 h 267"/>
                <a:gd name="T18" fmla="*/ 127 w 252"/>
                <a:gd name="T19" fmla="*/ 252 h 267"/>
                <a:gd name="T20" fmla="*/ 106 w 252"/>
                <a:gd name="T21" fmla="*/ 233 h 267"/>
                <a:gd name="T22" fmla="*/ 85 w 252"/>
                <a:gd name="T23" fmla="*/ 209 h 267"/>
                <a:gd name="T24" fmla="*/ 64 w 252"/>
                <a:gd name="T25" fmla="*/ 184 h 267"/>
                <a:gd name="T26" fmla="*/ 44 w 252"/>
                <a:gd name="T27" fmla="*/ 158 h 267"/>
                <a:gd name="T28" fmla="*/ 29 w 252"/>
                <a:gd name="T29" fmla="*/ 131 h 267"/>
                <a:gd name="T30" fmla="*/ 14 w 252"/>
                <a:gd name="T31" fmla="*/ 106 h 267"/>
                <a:gd name="T32" fmla="*/ 4 w 252"/>
                <a:gd name="T33" fmla="*/ 83 h 267"/>
                <a:gd name="T34" fmla="*/ 0 w 252"/>
                <a:gd name="T35" fmla="*/ 65 h 267"/>
                <a:gd name="T36" fmla="*/ 0 w 252"/>
                <a:gd name="T37" fmla="*/ 54 h 267"/>
                <a:gd name="T38" fmla="*/ 12 w 252"/>
                <a:gd name="T39" fmla="*/ 37 h 267"/>
                <a:gd name="T40" fmla="*/ 21 w 252"/>
                <a:gd name="T41" fmla="*/ 21 h 267"/>
                <a:gd name="T42" fmla="*/ 31 w 252"/>
                <a:gd name="T43" fmla="*/ 10 h 267"/>
                <a:gd name="T44" fmla="*/ 37 w 252"/>
                <a:gd name="T45" fmla="*/ 2 h 267"/>
                <a:gd name="T46" fmla="*/ 39 w 252"/>
                <a:gd name="T4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2" h="267">
                  <a:moveTo>
                    <a:pt x="39" y="0"/>
                  </a:moveTo>
                  <a:lnTo>
                    <a:pt x="252" y="229"/>
                  </a:lnTo>
                  <a:lnTo>
                    <a:pt x="236" y="240"/>
                  </a:lnTo>
                  <a:lnTo>
                    <a:pt x="219" y="248"/>
                  </a:lnTo>
                  <a:lnTo>
                    <a:pt x="200" y="257"/>
                  </a:lnTo>
                  <a:lnTo>
                    <a:pt x="183" y="263"/>
                  </a:lnTo>
                  <a:lnTo>
                    <a:pt x="171" y="267"/>
                  </a:lnTo>
                  <a:lnTo>
                    <a:pt x="165" y="267"/>
                  </a:lnTo>
                  <a:lnTo>
                    <a:pt x="148" y="263"/>
                  </a:lnTo>
                  <a:lnTo>
                    <a:pt x="127" y="252"/>
                  </a:lnTo>
                  <a:lnTo>
                    <a:pt x="106" y="233"/>
                  </a:lnTo>
                  <a:lnTo>
                    <a:pt x="85" y="209"/>
                  </a:lnTo>
                  <a:lnTo>
                    <a:pt x="64" y="184"/>
                  </a:lnTo>
                  <a:lnTo>
                    <a:pt x="44" y="158"/>
                  </a:lnTo>
                  <a:lnTo>
                    <a:pt x="29" y="131"/>
                  </a:lnTo>
                  <a:lnTo>
                    <a:pt x="14" y="106"/>
                  </a:lnTo>
                  <a:lnTo>
                    <a:pt x="4" y="83"/>
                  </a:lnTo>
                  <a:lnTo>
                    <a:pt x="0" y="65"/>
                  </a:lnTo>
                  <a:lnTo>
                    <a:pt x="0" y="54"/>
                  </a:lnTo>
                  <a:lnTo>
                    <a:pt x="12" y="37"/>
                  </a:lnTo>
                  <a:lnTo>
                    <a:pt x="21" y="21"/>
                  </a:lnTo>
                  <a:lnTo>
                    <a:pt x="31" y="10"/>
                  </a:lnTo>
                  <a:lnTo>
                    <a:pt x="37" y="2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5121270" y="4984738"/>
              <a:ext cx="465138" cy="433387"/>
            </a:xfrm>
            <a:custGeom>
              <a:avLst/>
              <a:gdLst>
                <a:gd name="T0" fmla="*/ 119 w 293"/>
                <a:gd name="T1" fmla="*/ 0 h 273"/>
                <a:gd name="T2" fmla="*/ 142 w 293"/>
                <a:gd name="T3" fmla="*/ 2 h 273"/>
                <a:gd name="T4" fmla="*/ 165 w 293"/>
                <a:gd name="T5" fmla="*/ 10 h 273"/>
                <a:gd name="T6" fmla="*/ 186 w 293"/>
                <a:gd name="T7" fmla="*/ 23 h 273"/>
                <a:gd name="T8" fmla="*/ 207 w 293"/>
                <a:gd name="T9" fmla="*/ 37 h 273"/>
                <a:gd name="T10" fmla="*/ 230 w 293"/>
                <a:gd name="T11" fmla="*/ 54 h 273"/>
                <a:gd name="T12" fmla="*/ 251 w 293"/>
                <a:gd name="T13" fmla="*/ 71 h 273"/>
                <a:gd name="T14" fmla="*/ 268 w 293"/>
                <a:gd name="T15" fmla="*/ 92 h 273"/>
                <a:gd name="T16" fmla="*/ 284 w 293"/>
                <a:gd name="T17" fmla="*/ 117 h 273"/>
                <a:gd name="T18" fmla="*/ 291 w 293"/>
                <a:gd name="T19" fmla="*/ 142 h 273"/>
                <a:gd name="T20" fmla="*/ 293 w 293"/>
                <a:gd name="T21" fmla="*/ 171 h 273"/>
                <a:gd name="T22" fmla="*/ 288 w 293"/>
                <a:gd name="T23" fmla="*/ 202 h 273"/>
                <a:gd name="T24" fmla="*/ 272 w 293"/>
                <a:gd name="T25" fmla="*/ 235 h 273"/>
                <a:gd name="T26" fmla="*/ 268 w 293"/>
                <a:gd name="T27" fmla="*/ 238 h 273"/>
                <a:gd name="T28" fmla="*/ 263 w 293"/>
                <a:gd name="T29" fmla="*/ 244 h 273"/>
                <a:gd name="T30" fmla="*/ 251 w 293"/>
                <a:gd name="T31" fmla="*/ 252 h 273"/>
                <a:gd name="T32" fmla="*/ 234 w 293"/>
                <a:gd name="T33" fmla="*/ 261 h 273"/>
                <a:gd name="T34" fmla="*/ 213 w 293"/>
                <a:gd name="T35" fmla="*/ 269 h 273"/>
                <a:gd name="T36" fmla="*/ 190 w 293"/>
                <a:gd name="T37" fmla="*/ 273 h 273"/>
                <a:gd name="T38" fmla="*/ 159 w 293"/>
                <a:gd name="T39" fmla="*/ 273 h 273"/>
                <a:gd name="T40" fmla="*/ 126 w 293"/>
                <a:gd name="T41" fmla="*/ 267 h 273"/>
                <a:gd name="T42" fmla="*/ 90 w 293"/>
                <a:gd name="T43" fmla="*/ 252 h 273"/>
                <a:gd name="T44" fmla="*/ 55 w 293"/>
                <a:gd name="T45" fmla="*/ 231 h 273"/>
                <a:gd name="T46" fmla="*/ 30 w 293"/>
                <a:gd name="T47" fmla="*/ 208 h 273"/>
                <a:gd name="T48" fmla="*/ 13 w 293"/>
                <a:gd name="T49" fmla="*/ 183 h 273"/>
                <a:gd name="T50" fmla="*/ 2 w 293"/>
                <a:gd name="T51" fmla="*/ 156 h 273"/>
                <a:gd name="T52" fmla="*/ 0 w 293"/>
                <a:gd name="T53" fmla="*/ 131 h 273"/>
                <a:gd name="T54" fmla="*/ 2 w 293"/>
                <a:gd name="T55" fmla="*/ 106 h 273"/>
                <a:gd name="T56" fmla="*/ 9 w 293"/>
                <a:gd name="T57" fmla="*/ 83 h 273"/>
                <a:gd name="T58" fmla="*/ 21 w 293"/>
                <a:gd name="T59" fmla="*/ 62 h 273"/>
                <a:gd name="T60" fmla="*/ 38 w 293"/>
                <a:gd name="T61" fmla="*/ 48 h 273"/>
                <a:gd name="T62" fmla="*/ 40 w 293"/>
                <a:gd name="T63" fmla="*/ 44 h 273"/>
                <a:gd name="T64" fmla="*/ 48 w 293"/>
                <a:gd name="T65" fmla="*/ 37 h 273"/>
                <a:gd name="T66" fmla="*/ 61 w 293"/>
                <a:gd name="T67" fmla="*/ 25 h 273"/>
                <a:gd name="T68" fmla="*/ 78 w 293"/>
                <a:gd name="T69" fmla="*/ 16 h 273"/>
                <a:gd name="T70" fmla="*/ 98 w 293"/>
                <a:gd name="T71" fmla="*/ 6 h 273"/>
                <a:gd name="T72" fmla="*/ 119 w 293"/>
                <a:gd name="T7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93" h="273">
                  <a:moveTo>
                    <a:pt x="119" y="0"/>
                  </a:moveTo>
                  <a:lnTo>
                    <a:pt x="142" y="2"/>
                  </a:lnTo>
                  <a:lnTo>
                    <a:pt x="165" y="10"/>
                  </a:lnTo>
                  <a:lnTo>
                    <a:pt x="186" y="23"/>
                  </a:lnTo>
                  <a:lnTo>
                    <a:pt x="207" y="37"/>
                  </a:lnTo>
                  <a:lnTo>
                    <a:pt x="230" y="54"/>
                  </a:lnTo>
                  <a:lnTo>
                    <a:pt x="251" y="71"/>
                  </a:lnTo>
                  <a:lnTo>
                    <a:pt x="268" y="92"/>
                  </a:lnTo>
                  <a:lnTo>
                    <a:pt x="284" y="117"/>
                  </a:lnTo>
                  <a:lnTo>
                    <a:pt x="291" y="142"/>
                  </a:lnTo>
                  <a:lnTo>
                    <a:pt x="293" y="171"/>
                  </a:lnTo>
                  <a:lnTo>
                    <a:pt x="288" y="202"/>
                  </a:lnTo>
                  <a:lnTo>
                    <a:pt x="272" y="235"/>
                  </a:lnTo>
                  <a:lnTo>
                    <a:pt x="268" y="238"/>
                  </a:lnTo>
                  <a:lnTo>
                    <a:pt x="263" y="244"/>
                  </a:lnTo>
                  <a:lnTo>
                    <a:pt x="251" y="252"/>
                  </a:lnTo>
                  <a:lnTo>
                    <a:pt x="234" y="261"/>
                  </a:lnTo>
                  <a:lnTo>
                    <a:pt x="213" y="269"/>
                  </a:lnTo>
                  <a:lnTo>
                    <a:pt x="190" y="273"/>
                  </a:lnTo>
                  <a:lnTo>
                    <a:pt x="159" y="273"/>
                  </a:lnTo>
                  <a:lnTo>
                    <a:pt x="126" y="267"/>
                  </a:lnTo>
                  <a:lnTo>
                    <a:pt x="90" y="252"/>
                  </a:lnTo>
                  <a:lnTo>
                    <a:pt x="55" y="231"/>
                  </a:lnTo>
                  <a:lnTo>
                    <a:pt x="30" y="208"/>
                  </a:lnTo>
                  <a:lnTo>
                    <a:pt x="13" y="183"/>
                  </a:lnTo>
                  <a:lnTo>
                    <a:pt x="2" y="156"/>
                  </a:lnTo>
                  <a:lnTo>
                    <a:pt x="0" y="131"/>
                  </a:lnTo>
                  <a:lnTo>
                    <a:pt x="2" y="106"/>
                  </a:lnTo>
                  <a:lnTo>
                    <a:pt x="9" y="83"/>
                  </a:lnTo>
                  <a:lnTo>
                    <a:pt x="21" y="62"/>
                  </a:lnTo>
                  <a:lnTo>
                    <a:pt x="38" y="48"/>
                  </a:lnTo>
                  <a:lnTo>
                    <a:pt x="40" y="44"/>
                  </a:lnTo>
                  <a:lnTo>
                    <a:pt x="48" y="37"/>
                  </a:lnTo>
                  <a:lnTo>
                    <a:pt x="61" y="25"/>
                  </a:lnTo>
                  <a:lnTo>
                    <a:pt x="78" y="16"/>
                  </a:lnTo>
                  <a:lnTo>
                    <a:pt x="98" y="6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562594" y="4649778"/>
              <a:ext cx="466724" cy="454024"/>
            </a:xfrm>
            <a:custGeom>
              <a:avLst/>
              <a:gdLst>
                <a:gd name="T0" fmla="*/ 129 w 294"/>
                <a:gd name="T1" fmla="*/ 0 h 286"/>
                <a:gd name="T2" fmla="*/ 150 w 294"/>
                <a:gd name="T3" fmla="*/ 6 h 286"/>
                <a:gd name="T4" fmla="*/ 165 w 294"/>
                <a:gd name="T5" fmla="*/ 15 h 286"/>
                <a:gd name="T6" fmla="*/ 184 w 294"/>
                <a:gd name="T7" fmla="*/ 31 h 286"/>
                <a:gd name="T8" fmla="*/ 207 w 294"/>
                <a:gd name="T9" fmla="*/ 52 h 286"/>
                <a:gd name="T10" fmla="*/ 232 w 294"/>
                <a:gd name="T11" fmla="*/ 75 h 286"/>
                <a:gd name="T12" fmla="*/ 255 w 294"/>
                <a:gd name="T13" fmla="*/ 100 h 286"/>
                <a:gd name="T14" fmla="*/ 276 w 294"/>
                <a:gd name="T15" fmla="*/ 125 h 286"/>
                <a:gd name="T16" fmla="*/ 290 w 294"/>
                <a:gd name="T17" fmla="*/ 148 h 286"/>
                <a:gd name="T18" fmla="*/ 294 w 294"/>
                <a:gd name="T19" fmla="*/ 173 h 286"/>
                <a:gd name="T20" fmla="*/ 290 w 294"/>
                <a:gd name="T21" fmla="*/ 196 h 286"/>
                <a:gd name="T22" fmla="*/ 280 w 294"/>
                <a:gd name="T23" fmla="*/ 219 h 286"/>
                <a:gd name="T24" fmla="*/ 265 w 294"/>
                <a:gd name="T25" fmla="*/ 240 h 286"/>
                <a:gd name="T26" fmla="*/ 248 w 294"/>
                <a:gd name="T27" fmla="*/ 259 h 286"/>
                <a:gd name="T28" fmla="*/ 230 w 294"/>
                <a:gd name="T29" fmla="*/ 271 h 286"/>
                <a:gd name="T30" fmla="*/ 209 w 294"/>
                <a:gd name="T31" fmla="*/ 282 h 286"/>
                <a:gd name="T32" fmla="*/ 186 w 294"/>
                <a:gd name="T33" fmla="*/ 286 h 286"/>
                <a:gd name="T34" fmla="*/ 159 w 294"/>
                <a:gd name="T35" fmla="*/ 286 h 286"/>
                <a:gd name="T36" fmla="*/ 129 w 294"/>
                <a:gd name="T37" fmla="*/ 278 h 286"/>
                <a:gd name="T38" fmla="*/ 98 w 294"/>
                <a:gd name="T39" fmla="*/ 263 h 286"/>
                <a:gd name="T40" fmla="*/ 63 w 294"/>
                <a:gd name="T41" fmla="*/ 238 h 286"/>
                <a:gd name="T42" fmla="*/ 31 w 294"/>
                <a:gd name="T43" fmla="*/ 207 h 286"/>
                <a:gd name="T44" fmla="*/ 12 w 294"/>
                <a:gd name="T45" fmla="*/ 177 h 286"/>
                <a:gd name="T46" fmla="*/ 2 w 294"/>
                <a:gd name="T47" fmla="*/ 148 h 286"/>
                <a:gd name="T48" fmla="*/ 0 w 294"/>
                <a:gd name="T49" fmla="*/ 121 h 286"/>
                <a:gd name="T50" fmla="*/ 4 w 294"/>
                <a:gd name="T51" fmla="*/ 96 h 286"/>
                <a:gd name="T52" fmla="*/ 15 w 294"/>
                <a:gd name="T53" fmla="*/ 75 h 286"/>
                <a:gd name="T54" fmla="*/ 29 w 294"/>
                <a:gd name="T55" fmla="*/ 57 h 286"/>
                <a:gd name="T56" fmla="*/ 33 w 294"/>
                <a:gd name="T57" fmla="*/ 56 h 286"/>
                <a:gd name="T58" fmla="*/ 40 w 294"/>
                <a:gd name="T59" fmla="*/ 46 h 286"/>
                <a:gd name="T60" fmla="*/ 54 w 294"/>
                <a:gd name="T61" fmla="*/ 34 h 286"/>
                <a:gd name="T62" fmla="*/ 69 w 294"/>
                <a:gd name="T63" fmla="*/ 23 h 286"/>
                <a:gd name="T64" fmla="*/ 88 w 294"/>
                <a:gd name="T65" fmla="*/ 11 h 286"/>
                <a:gd name="T66" fmla="*/ 109 w 294"/>
                <a:gd name="T67" fmla="*/ 4 h 286"/>
                <a:gd name="T68" fmla="*/ 129 w 294"/>
                <a:gd name="T6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" h="286">
                  <a:moveTo>
                    <a:pt x="129" y="0"/>
                  </a:moveTo>
                  <a:lnTo>
                    <a:pt x="150" y="6"/>
                  </a:lnTo>
                  <a:lnTo>
                    <a:pt x="165" y="15"/>
                  </a:lnTo>
                  <a:lnTo>
                    <a:pt x="184" y="31"/>
                  </a:lnTo>
                  <a:lnTo>
                    <a:pt x="207" y="52"/>
                  </a:lnTo>
                  <a:lnTo>
                    <a:pt x="232" y="75"/>
                  </a:lnTo>
                  <a:lnTo>
                    <a:pt x="255" y="100"/>
                  </a:lnTo>
                  <a:lnTo>
                    <a:pt x="276" y="125"/>
                  </a:lnTo>
                  <a:lnTo>
                    <a:pt x="290" y="148"/>
                  </a:lnTo>
                  <a:lnTo>
                    <a:pt x="294" y="173"/>
                  </a:lnTo>
                  <a:lnTo>
                    <a:pt x="290" y="196"/>
                  </a:lnTo>
                  <a:lnTo>
                    <a:pt x="280" y="219"/>
                  </a:lnTo>
                  <a:lnTo>
                    <a:pt x="265" y="240"/>
                  </a:lnTo>
                  <a:lnTo>
                    <a:pt x="248" y="259"/>
                  </a:lnTo>
                  <a:lnTo>
                    <a:pt x="230" y="271"/>
                  </a:lnTo>
                  <a:lnTo>
                    <a:pt x="209" y="282"/>
                  </a:lnTo>
                  <a:lnTo>
                    <a:pt x="186" y="286"/>
                  </a:lnTo>
                  <a:lnTo>
                    <a:pt x="159" y="286"/>
                  </a:lnTo>
                  <a:lnTo>
                    <a:pt x="129" y="278"/>
                  </a:lnTo>
                  <a:lnTo>
                    <a:pt x="98" y="263"/>
                  </a:lnTo>
                  <a:lnTo>
                    <a:pt x="63" y="238"/>
                  </a:lnTo>
                  <a:lnTo>
                    <a:pt x="31" y="207"/>
                  </a:lnTo>
                  <a:lnTo>
                    <a:pt x="12" y="177"/>
                  </a:lnTo>
                  <a:lnTo>
                    <a:pt x="2" y="148"/>
                  </a:lnTo>
                  <a:lnTo>
                    <a:pt x="0" y="121"/>
                  </a:lnTo>
                  <a:lnTo>
                    <a:pt x="4" y="96"/>
                  </a:lnTo>
                  <a:lnTo>
                    <a:pt x="15" y="75"/>
                  </a:lnTo>
                  <a:lnTo>
                    <a:pt x="29" y="57"/>
                  </a:lnTo>
                  <a:lnTo>
                    <a:pt x="33" y="56"/>
                  </a:lnTo>
                  <a:lnTo>
                    <a:pt x="40" y="46"/>
                  </a:lnTo>
                  <a:lnTo>
                    <a:pt x="54" y="34"/>
                  </a:lnTo>
                  <a:lnTo>
                    <a:pt x="69" y="23"/>
                  </a:lnTo>
                  <a:lnTo>
                    <a:pt x="88" y="11"/>
                  </a:lnTo>
                  <a:lnTo>
                    <a:pt x="109" y="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1987548" y="3090856"/>
              <a:ext cx="895350" cy="1720846"/>
            </a:xfrm>
            <a:custGeom>
              <a:avLst/>
              <a:gdLst>
                <a:gd name="T0" fmla="*/ 297 w 564"/>
                <a:gd name="T1" fmla="*/ 0 h 1084"/>
                <a:gd name="T2" fmla="*/ 564 w 564"/>
                <a:gd name="T3" fmla="*/ 89 h 1084"/>
                <a:gd name="T4" fmla="*/ 272 w 564"/>
                <a:gd name="T5" fmla="*/ 1084 h 1084"/>
                <a:gd name="T6" fmla="*/ 0 w 564"/>
                <a:gd name="T7" fmla="*/ 982 h 1084"/>
                <a:gd name="T8" fmla="*/ 297 w 564"/>
                <a:gd name="T9" fmla="*/ 0 h 1084"/>
                <a:gd name="connsiteX0" fmla="*/ 5266 w 10000"/>
                <a:gd name="connsiteY0" fmla="*/ 0 h 10000"/>
                <a:gd name="connsiteX1" fmla="*/ 10000 w 10000"/>
                <a:gd name="connsiteY1" fmla="*/ 821 h 10000"/>
                <a:gd name="connsiteX2" fmla="*/ 4226 w 10000"/>
                <a:gd name="connsiteY2" fmla="*/ 10000 h 10000"/>
                <a:gd name="connsiteX3" fmla="*/ 0 w 10000"/>
                <a:gd name="connsiteY3" fmla="*/ 9059 h 10000"/>
                <a:gd name="connsiteX4" fmla="*/ 5266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5266" y="0"/>
                  </a:moveTo>
                  <a:lnTo>
                    <a:pt x="10000" y="821"/>
                  </a:lnTo>
                  <a:lnTo>
                    <a:pt x="4226" y="10000"/>
                  </a:lnTo>
                  <a:lnTo>
                    <a:pt x="0" y="9059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-845377" y="1884500"/>
              <a:ext cx="3515549" cy="2997050"/>
            </a:xfrm>
            <a:custGeom>
              <a:avLst/>
              <a:gdLst>
                <a:gd name="T0" fmla="*/ 0 w 1682"/>
                <a:gd name="T1" fmla="*/ 0 h 1718"/>
                <a:gd name="T2" fmla="*/ 1682 w 1682"/>
                <a:gd name="T3" fmla="*/ 629 h 1718"/>
                <a:gd name="T4" fmla="*/ 1308 w 1682"/>
                <a:gd name="T5" fmla="*/ 1718 h 1718"/>
                <a:gd name="T6" fmla="*/ 0 w 1682"/>
                <a:gd name="T7" fmla="*/ 1326 h 1718"/>
                <a:gd name="T8" fmla="*/ 0 w 1682"/>
                <a:gd name="T9" fmla="*/ 0 h 1718"/>
                <a:gd name="connsiteX0" fmla="*/ 0 w 13166"/>
                <a:gd name="connsiteY0" fmla="*/ 0 h 10989"/>
                <a:gd name="connsiteX1" fmla="*/ 13166 w 13166"/>
                <a:gd name="connsiteY1" fmla="*/ 4650 h 10989"/>
                <a:gd name="connsiteX2" fmla="*/ 10942 w 13166"/>
                <a:gd name="connsiteY2" fmla="*/ 10989 h 10989"/>
                <a:gd name="connsiteX3" fmla="*/ 3166 w 13166"/>
                <a:gd name="connsiteY3" fmla="*/ 8707 h 10989"/>
                <a:gd name="connsiteX4" fmla="*/ 0 w 13166"/>
                <a:gd name="connsiteY4" fmla="*/ 0 h 10989"/>
                <a:gd name="connsiteX0" fmla="*/ 0 w 13166"/>
                <a:gd name="connsiteY0" fmla="*/ 0 h 10989"/>
                <a:gd name="connsiteX1" fmla="*/ 13166 w 13166"/>
                <a:gd name="connsiteY1" fmla="*/ 4650 h 10989"/>
                <a:gd name="connsiteX2" fmla="*/ 10942 w 13166"/>
                <a:gd name="connsiteY2" fmla="*/ 10989 h 10989"/>
                <a:gd name="connsiteX3" fmla="*/ 68 w 13166"/>
                <a:gd name="connsiteY3" fmla="*/ 8179 h 10989"/>
                <a:gd name="connsiteX4" fmla="*/ 0 w 13166"/>
                <a:gd name="connsiteY4" fmla="*/ 0 h 10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" h="10989">
                  <a:moveTo>
                    <a:pt x="0" y="0"/>
                  </a:moveTo>
                  <a:lnTo>
                    <a:pt x="13166" y="4650"/>
                  </a:lnTo>
                  <a:lnTo>
                    <a:pt x="10942" y="10989"/>
                  </a:lnTo>
                  <a:lnTo>
                    <a:pt x="68" y="8179"/>
                  </a:lnTo>
                  <a:cubicBezTo>
                    <a:pt x="45" y="5453"/>
                    <a:pt x="23" y="2726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4654545" y="5308587"/>
              <a:ext cx="715962" cy="725486"/>
            </a:xfrm>
            <a:custGeom>
              <a:avLst/>
              <a:gdLst>
                <a:gd name="T0" fmla="*/ 144 w 451"/>
                <a:gd name="T1" fmla="*/ 0 h 457"/>
                <a:gd name="T2" fmla="*/ 184 w 451"/>
                <a:gd name="T3" fmla="*/ 0 h 457"/>
                <a:gd name="T4" fmla="*/ 223 w 451"/>
                <a:gd name="T5" fmla="*/ 9 h 457"/>
                <a:gd name="T6" fmla="*/ 259 w 451"/>
                <a:gd name="T7" fmla="*/ 25 h 457"/>
                <a:gd name="T8" fmla="*/ 292 w 451"/>
                <a:gd name="T9" fmla="*/ 48 h 457"/>
                <a:gd name="T10" fmla="*/ 322 w 451"/>
                <a:gd name="T11" fmla="*/ 73 h 457"/>
                <a:gd name="T12" fmla="*/ 351 w 451"/>
                <a:gd name="T13" fmla="*/ 102 h 457"/>
                <a:gd name="T14" fmla="*/ 378 w 451"/>
                <a:gd name="T15" fmla="*/ 132 h 457"/>
                <a:gd name="T16" fmla="*/ 399 w 451"/>
                <a:gd name="T17" fmla="*/ 159 h 457"/>
                <a:gd name="T18" fmla="*/ 418 w 451"/>
                <a:gd name="T19" fmla="*/ 186 h 457"/>
                <a:gd name="T20" fmla="*/ 432 w 451"/>
                <a:gd name="T21" fmla="*/ 209 h 457"/>
                <a:gd name="T22" fmla="*/ 447 w 451"/>
                <a:gd name="T23" fmla="*/ 242 h 457"/>
                <a:gd name="T24" fmla="*/ 451 w 451"/>
                <a:gd name="T25" fmla="*/ 276 h 457"/>
                <a:gd name="T26" fmla="*/ 449 w 451"/>
                <a:gd name="T27" fmla="*/ 311 h 457"/>
                <a:gd name="T28" fmla="*/ 440 w 451"/>
                <a:gd name="T29" fmla="*/ 344 h 457"/>
                <a:gd name="T30" fmla="*/ 426 w 451"/>
                <a:gd name="T31" fmla="*/ 372 h 457"/>
                <a:gd name="T32" fmla="*/ 409 w 451"/>
                <a:gd name="T33" fmla="*/ 397 h 457"/>
                <a:gd name="T34" fmla="*/ 392 w 451"/>
                <a:gd name="T35" fmla="*/ 417 h 457"/>
                <a:gd name="T36" fmla="*/ 361 w 451"/>
                <a:gd name="T37" fmla="*/ 436 h 457"/>
                <a:gd name="T38" fmla="*/ 328 w 451"/>
                <a:gd name="T39" fmla="*/ 447 h 457"/>
                <a:gd name="T40" fmla="*/ 294 w 451"/>
                <a:gd name="T41" fmla="*/ 453 h 457"/>
                <a:gd name="T42" fmla="*/ 261 w 451"/>
                <a:gd name="T43" fmla="*/ 455 h 457"/>
                <a:gd name="T44" fmla="*/ 234 w 451"/>
                <a:gd name="T45" fmla="*/ 457 h 457"/>
                <a:gd name="T46" fmla="*/ 219 w 451"/>
                <a:gd name="T47" fmla="*/ 453 h 457"/>
                <a:gd name="T48" fmla="*/ 200 w 451"/>
                <a:gd name="T49" fmla="*/ 444 h 457"/>
                <a:gd name="T50" fmla="*/ 176 w 451"/>
                <a:gd name="T51" fmla="*/ 428 h 457"/>
                <a:gd name="T52" fmla="*/ 152 w 451"/>
                <a:gd name="T53" fmla="*/ 409 h 457"/>
                <a:gd name="T54" fmla="*/ 125 w 451"/>
                <a:gd name="T55" fmla="*/ 386 h 457"/>
                <a:gd name="T56" fmla="*/ 98 w 451"/>
                <a:gd name="T57" fmla="*/ 359 h 457"/>
                <a:gd name="T58" fmla="*/ 71 w 451"/>
                <a:gd name="T59" fmla="*/ 328 h 457"/>
                <a:gd name="T60" fmla="*/ 48 w 451"/>
                <a:gd name="T61" fmla="*/ 298 h 457"/>
                <a:gd name="T62" fmla="*/ 27 w 451"/>
                <a:gd name="T63" fmla="*/ 263 h 457"/>
                <a:gd name="T64" fmla="*/ 11 w 451"/>
                <a:gd name="T65" fmla="*/ 230 h 457"/>
                <a:gd name="T66" fmla="*/ 4 w 451"/>
                <a:gd name="T67" fmla="*/ 196 h 457"/>
                <a:gd name="T68" fmla="*/ 0 w 451"/>
                <a:gd name="T69" fmla="*/ 155 h 457"/>
                <a:gd name="T70" fmla="*/ 8 w 451"/>
                <a:gd name="T71" fmla="*/ 121 h 457"/>
                <a:gd name="T72" fmla="*/ 19 w 451"/>
                <a:gd name="T73" fmla="*/ 92 h 457"/>
                <a:gd name="T74" fmla="*/ 36 w 451"/>
                <a:gd name="T75" fmla="*/ 67 h 457"/>
                <a:gd name="T76" fmla="*/ 54 w 451"/>
                <a:gd name="T77" fmla="*/ 46 h 457"/>
                <a:gd name="T78" fmla="*/ 73 w 451"/>
                <a:gd name="T79" fmla="*/ 29 h 457"/>
                <a:gd name="T80" fmla="*/ 88 w 451"/>
                <a:gd name="T81" fmla="*/ 17 h 457"/>
                <a:gd name="T82" fmla="*/ 100 w 451"/>
                <a:gd name="T83" fmla="*/ 11 h 457"/>
                <a:gd name="T84" fmla="*/ 104 w 451"/>
                <a:gd name="T85" fmla="*/ 9 h 457"/>
                <a:gd name="T86" fmla="*/ 144 w 451"/>
                <a:gd name="T87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1" h="457">
                  <a:moveTo>
                    <a:pt x="144" y="0"/>
                  </a:moveTo>
                  <a:lnTo>
                    <a:pt x="184" y="0"/>
                  </a:lnTo>
                  <a:lnTo>
                    <a:pt x="223" y="9"/>
                  </a:lnTo>
                  <a:lnTo>
                    <a:pt x="259" y="25"/>
                  </a:lnTo>
                  <a:lnTo>
                    <a:pt x="292" y="48"/>
                  </a:lnTo>
                  <a:lnTo>
                    <a:pt x="322" y="73"/>
                  </a:lnTo>
                  <a:lnTo>
                    <a:pt x="351" y="102"/>
                  </a:lnTo>
                  <a:lnTo>
                    <a:pt x="378" y="132"/>
                  </a:lnTo>
                  <a:lnTo>
                    <a:pt x="399" y="159"/>
                  </a:lnTo>
                  <a:lnTo>
                    <a:pt x="418" y="186"/>
                  </a:lnTo>
                  <a:lnTo>
                    <a:pt x="432" y="209"/>
                  </a:lnTo>
                  <a:lnTo>
                    <a:pt x="447" y="242"/>
                  </a:lnTo>
                  <a:lnTo>
                    <a:pt x="451" y="276"/>
                  </a:lnTo>
                  <a:lnTo>
                    <a:pt x="449" y="311"/>
                  </a:lnTo>
                  <a:lnTo>
                    <a:pt x="440" y="344"/>
                  </a:lnTo>
                  <a:lnTo>
                    <a:pt x="426" y="372"/>
                  </a:lnTo>
                  <a:lnTo>
                    <a:pt x="409" y="397"/>
                  </a:lnTo>
                  <a:lnTo>
                    <a:pt x="392" y="417"/>
                  </a:lnTo>
                  <a:lnTo>
                    <a:pt x="361" y="436"/>
                  </a:lnTo>
                  <a:lnTo>
                    <a:pt x="328" y="447"/>
                  </a:lnTo>
                  <a:lnTo>
                    <a:pt x="294" y="453"/>
                  </a:lnTo>
                  <a:lnTo>
                    <a:pt x="261" y="455"/>
                  </a:lnTo>
                  <a:lnTo>
                    <a:pt x="234" y="457"/>
                  </a:lnTo>
                  <a:lnTo>
                    <a:pt x="219" y="453"/>
                  </a:lnTo>
                  <a:lnTo>
                    <a:pt x="200" y="444"/>
                  </a:lnTo>
                  <a:lnTo>
                    <a:pt x="176" y="428"/>
                  </a:lnTo>
                  <a:lnTo>
                    <a:pt x="152" y="409"/>
                  </a:lnTo>
                  <a:lnTo>
                    <a:pt x="125" y="386"/>
                  </a:lnTo>
                  <a:lnTo>
                    <a:pt x="98" y="359"/>
                  </a:lnTo>
                  <a:lnTo>
                    <a:pt x="71" y="328"/>
                  </a:lnTo>
                  <a:lnTo>
                    <a:pt x="48" y="298"/>
                  </a:lnTo>
                  <a:lnTo>
                    <a:pt x="27" y="263"/>
                  </a:lnTo>
                  <a:lnTo>
                    <a:pt x="11" y="230"/>
                  </a:lnTo>
                  <a:lnTo>
                    <a:pt x="4" y="196"/>
                  </a:lnTo>
                  <a:lnTo>
                    <a:pt x="0" y="155"/>
                  </a:lnTo>
                  <a:lnTo>
                    <a:pt x="8" y="121"/>
                  </a:lnTo>
                  <a:lnTo>
                    <a:pt x="19" y="92"/>
                  </a:lnTo>
                  <a:lnTo>
                    <a:pt x="36" y="67"/>
                  </a:lnTo>
                  <a:lnTo>
                    <a:pt x="54" y="46"/>
                  </a:lnTo>
                  <a:lnTo>
                    <a:pt x="73" y="29"/>
                  </a:lnTo>
                  <a:lnTo>
                    <a:pt x="88" y="17"/>
                  </a:lnTo>
                  <a:lnTo>
                    <a:pt x="100" y="11"/>
                  </a:lnTo>
                  <a:lnTo>
                    <a:pt x="104" y="9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4764083" y="5384786"/>
              <a:ext cx="454025" cy="466724"/>
            </a:xfrm>
            <a:custGeom>
              <a:avLst/>
              <a:gdLst>
                <a:gd name="T0" fmla="*/ 127 w 286"/>
                <a:gd name="T1" fmla="*/ 0 h 294"/>
                <a:gd name="T2" fmla="*/ 148 w 286"/>
                <a:gd name="T3" fmla="*/ 6 h 294"/>
                <a:gd name="T4" fmla="*/ 171 w 286"/>
                <a:gd name="T5" fmla="*/ 17 h 294"/>
                <a:gd name="T6" fmla="*/ 196 w 286"/>
                <a:gd name="T7" fmla="*/ 36 h 294"/>
                <a:gd name="T8" fmla="*/ 217 w 286"/>
                <a:gd name="T9" fmla="*/ 57 h 294"/>
                <a:gd name="T10" fmla="*/ 238 w 286"/>
                <a:gd name="T11" fmla="*/ 79 h 294"/>
                <a:gd name="T12" fmla="*/ 255 w 286"/>
                <a:gd name="T13" fmla="*/ 102 h 294"/>
                <a:gd name="T14" fmla="*/ 269 w 286"/>
                <a:gd name="T15" fmla="*/ 123 h 294"/>
                <a:gd name="T16" fmla="*/ 278 w 286"/>
                <a:gd name="T17" fmla="*/ 140 h 294"/>
                <a:gd name="T18" fmla="*/ 284 w 286"/>
                <a:gd name="T19" fmla="*/ 154 h 294"/>
                <a:gd name="T20" fmla="*/ 286 w 286"/>
                <a:gd name="T21" fmla="*/ 171 h 294"/>
                <a:gd name="T22" fmla="*/ 284 w 286"/>
                <a:gd name="T23" fmla="*/ 192 h 294"/>
                <a:gd name="T24" fmla="*/ 276 w 286"/>
                <a:gd name="T25" fmla="*/ 215 h 294"/>
                <a:gd name="T26" fmla="*/ 265 w 286"/>
                <a:gd name="T27" fmla="*/ 238 h 294"/>
                <a:gd name="T28" fmla="*/ 248 w 286"/>
                <a:gd name="T29" fmla="*/ 259 h 294"/>
                <a:gd name="T30" fmla="*/ 228 w 286"/>
                <a:gd name="T31" fmla="*/ 273 h 294"/>
                <a:gd name="T32" fmla="*/ 203 w 286"/>
                <a:gd name="T33" fmla="*/ 286 h 294"/>
                <a:gd name="T34" fmla="*/ 177 w 286"/>
                <a:gd name="T35" fmla="*/ 294 h 294"/>
                <a:gd name="T36" fmla="*/ 150 w 286"/>
                <a:gd name="T37" fmla="*/ 294 h 294"/>
                <a:gd name="T38" fmla="*/ 121 w 286"/>
                <a:gd name="T39" fmla="*/ 288 h 294"/>
                <a:gd name="T40" fmla="*/ 94 w 286"/>
                <a:gd name="T41" fmla="*/ 271 h 294"/>
                <a:gd name="T42" fmla="*/ 79 w 286"/>
                <a:gd name="T43" fmla="*/ 257 h 294"/>
                <a:gd name="T44" fmla="*/ 61 w 286"/>
                <a:gd name="T45" fmla="*/ 242 h 294"/>
                <a:gd name="T46" fmla="*/ 44 w 286"/>
                <a:gd name="T47" fmla="*/ 225 h 294"/>
                <a:gd name="T48" fmla="*/ 27 w 286"/>
                <a:gd name="T49" fmla="*/ 205 h 294"/>
                <a:gd name="T50" fmla="*/ 13 w 286"/>
                <a:gd name="T51" fmla="*/ 184 h 294"/>
                <a:gd name="T52" fmla="*/ 4 w 286"/>
                <a:gd name="T53" fmla="*/ 163 h 294"/>
                <a:gd name="T54" fmla="*/ 0 w 286"/>
                <a:gd name="T55" fmla="*/ 138 h 294"/>
                <a:gd name="T56" fmla="*/ 2 w 286"/>
                <a:gd name="T57" fmla="*/ 111 h 294"/>
                <a:gd name="T58" fmla="*/ 13 w 286"/>
                <a:gd name="T59" fmla="*/ 81 h 294"/>
                <a:gd name="T60" fmla="*/ 31 w 286"/>
                <a:gd name="T61" fmla="*/ 50 h 294"/>
                <a:gd name="T62" fmla="*/ 35 w 286"/>
                <a:gd name="T63" fmla="*/ 46 h 294"/>
                <a:gd name="T64" fmla="*/ 42 w 286"/>
                <a:gd name="T65" fmla="*/ 40 h 294"/>
                <a:gd name="T66" fmla="*/ 54 w 286"/>
                <a:gd name="T67" fmla="*/ 31 h 294"/>
                <a:gd name="T68" fmla="*/ 69 w 286"/>
                <a:gd name="T69" fmla="*/ 19 h 294"/>
                <a:gd name="T70" fmla="*/ 88 w 286"/>
                <a:gd name="T71" fmla="*/ 9 h 294"/>
                <a:gd name="T72" fmla="*/ 107 w 286"/>
                <a:gd name="T73" fmla="*/ 2 h 294"/>
                <a:gd name="T74" fmla="*/ 127 w 286"/>
                <a:gd name="T75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6" h="294">
                  <a:moveTo>
                    <a:pt x="127" y="0"/>
                  </a:moveTo>
                  <a:lnTo>
                    <a:pt x="148" y="6"/>
                  </a:lnTo>
                  <a:lnTo>
                    <a:pt x="171" y="17"/>
                  </a:lnTo>
                  <a:lnTo>
                    <a:pt x="196" y="36"/>
                  </a:lnTo>
                  <a:lnTo>
                    <a:pt x="217" y="57"/>
                  </a:lnTo>
                  <a:lnTo>
                    <a:pt x="238" y="79"/>
                  </a:lnTo>
                  <a:lnTo>
                    <a:pt x="255" y="102"/>
                  </a:lnTo>
                  <a:lnTo>
                    <a:pt x="269" y="123"/>
                  </a:lnTo>
                  <a:lnTo>
                    <a:pt x="278" y="140"/>
                  </a:lnTo>
                  <a:lnTo>
                    <a:pt x="284" y="154"/>
                  </a:lnTo>
                  <a:lnTo>
                    <a:pt x="286" y="171"/>
                  </a:lnTo>
                  <a:lnTo>
                    <a:pt x="284" y="192"/>
                  </a:lnTo>
                  <a:lnTo>
                    <a:pt x="276" y="215"/>
                  </a:lnTo>
                  <a:lnTo>
                    <a:pt x="265" y="238"/>
                  </a:lnTo>
                  <a:lnTo>
                    <a:pt x="248" y="259"/>
                  </a:lnTo>
                  <a:lnTo>
                    <a:pt x="228" y="273"/>
                  </a:lnTo>
                  <a:lnTo>
                    <a:pt x="203" y="286"/>
                  </a:lnTo>
                  <a:lnTo>
                    <a:pt x="177" y="294"/>
                  </a:lnTo>
                  <a:lnTo>
                    <a:pt x="150" y="294"/>
                  </a:lnTo>
                  <a:lnTo>
                    <a:pt x="121" y="288"/>
                  </a:lnTo>
                  <a:lnTo>
                    <a:pt x="94" y="271"/>
                  </a:lnTo>
                  <a:lnTo>
                    <a:pt x="79" y="257"/>
                  </a:lnTo>
                  <a:lnTo>
                    <a:pt x="61" y="242"/>
                  </a:lnTo>
                  <a:lnTo>
                    <a:pt x="44" y="225"/>
                  </a:lnTo>
                  <a:lnTo>
                    <a:pt x="27" y="205"/>
                  </a:lnTo>
                  <a:lnTo>
                    <a:pt x="13" y="184"/>
                  </a:lnTo>
                  <a:lnTo>
                    <a:pt x="4" y="163"/>
                  </a:lnTo>
                  <a:lnTo>
                    <a:pt x="0" y="138"/>
                  </a:lnTo>
                  <a:lnTo>
                    <a:pt x="2" y="111"/>
                  </a:lnTo>
                  <a:lnTo>
                    <a:pt x="13" y="81"/>
                  </a:lnTo>
                  <a:lnTo>
                    <a:pt x="31" y="50"/>
                  </a:lnTo>
                  <a:lnTo>
                    <a:pt x="35" y="46"/>
                  </a:lnTo>
                  <a:lnTo>
                    <a:pt x="42" y="40"/>
                  </a:lnTo>
                  <a:lnTo>
                    <a:pt x="54" y="31"/>
                  </a:lnTo>
                  <a:lnTo>
                    <a:pt x="69" y="19"/>
                  </a:lnTo>
                  <a:lnTo>
                    <a:pt x="88" y="9"/>
                  </a:lnTo>
                  <a:lnTo>
                    <a:pt x="107" y="2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8439143" y="3971915"/>
              <a:ext cx="187325" cy="187325"/>
            </a:xfrm>
            <a:custGeom>
              <a:avLst/>
              <a:gdLst>
                <a:gd name="T0" fmla="*/ 60 w 118"/>
                <a:gd name="T1" fmla="*/ 0 h 118"/>
                <a:gd name="T2" fmla="*/ 83 w 118"/>
                <a:gd name="T3" fmla="*/ 6 h 118"/>
                <a:gd name="T4" fmla="*/ 102 w 118"/>
                <a:gd name="T5" fmla="*/ 20 h 118"/>
                <a:gd name="T6" fmla="*/ 114 w 118"/>
                <a:gd name="T7" fmla="*/ 39 h 118"/>
                <a:gd name="T8" fmla="*/ 118 w 118"/>
                <a:gd name="T9" fmla="*/ 62 h 118"/>
                <a:gd name="T10" fmla="*/ 112 w 118"/>
                <a:gd name="T11" fmla="*/ 85 h 118"/>
                <a:gd name="T12" fmla="*/ 98 w 118"/>
                <a:gd name="T13" fmla="*/ 102 h 118"/>
                <a:gd name="T14" fmla="*/ 79 w 118"/>
                <a:gd name="T15" fmla="*/ 114 h 118"/>
                <a:gd name="T16" fmla="*/ 56 w 118"/>
                <a:gd name="T17" fmla="*/ 118 h 118"/>
                <a:gd name="T18" fmla="*/ 33 w 118"/>
                <a:gd name="T19" fmla="*/ 112 h 118"/>
                <a:gd name="T20" fmla="*/ 16 w 118"/>
                <a:gd name="T21" fmla="*/ 100 h 118"/>
                <a:gd name="T22" fmla="*/ 4 w 118"/>
                <a:gd name="T23" fmla="*/ 81 h 118"/>
                <a:gd name="T24" fmla="*/ 0 w 118"/>
                <a:gd name="T25" fmla="*/ 58 h 118"/>
                <a:gd name="T26" fmla="*/ 6 w 118"/>
                <a:gd name="T27" fmla="*/ 35 h 118"/>
                <a:gd name="T28" fmla="*/ 18 w 118"/>
                <a:gd name="T29" fmla="*/ 16 h 118"/>
                <a:gd name="T30" fmla="*/ 37 w 118"/>
                <a:gd name="T31" fmla="*/ 4 h 118"/>
                <a:gd name="T32" fmla="*/ 60 w 118"/>
                <a:gd name="T3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118">
                  <a:moveTo>
                    <a:pt x="60" y="0"/>
                  </a:moveTo>
                  <a:lnTo>
                    <a:pt x="83" y="6"/>
                  </a:lnTo>
                  <a:lnTo>
                    <a:pt x="102" y="20"/>
                  </a:lnTo>
                  <a:lnTo>
                    <a:pt x="114" y="39"/>
                  </a:lnTo>
                  <a:lnTo>
                    <a:pt x="118" y="62"/>
                  </a:lnTo>
                  <a:lnTo>
                    <a:pt x="112" y="85"/>
                  </a:lnTo>
                  <a:lnTo>
                    <a:pt x="98" y="102"/>
                  </a:lnTo>
                  <a:lnTo>
                    <a:pt x="79" y="114"/>
                  </a:lnTo>
                  <a:lnTo>
                    <a:pt x="56" y="118"/>
                  </a:lnTo>
                  <a:lnTo>
                    <a:pt x="33" y="112"/>
                  </a:lnTo>
                  <a:lnTo>
                    <a:pt x="16" y="100"/>
                  </a:lnTo>
                  <a:lnTo>
                    <a:pt x="4" y="81"/>
                  </a:lnTo>
                  <a:lnTo>
                    <a:pt x="0" y="58"/>
                  </a:lnTo>
                  <a:lnTo>
                    <a:pt x="6" y="35"/>
                  </a:lnTo>
                  <a:lnTo>
                    <a:pt x="18" y="16"/>
                  </a:lnTo>
                  <a:lnTo>
                    <a:pt x="37" y="4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8699493" y="3927467"/>
              <a:ext cx="185738" cy="188913"/>
            </a:xfrm>
            <a:custGeom>
              <a:avLst/>
              <a:gdLst>
                <a:gd name="T0" fmla="*/ 61 w 117"/>
                <a:gd name="T1" fmla="*/ 0 h 119"/>
                <a:gd name="T2" fmla="*/ 84 w 117"/>
                <a:gd name="T3" fmla="*/ 5 h 119"/>
                <a:gd name="T4" fmla="*/ 101 w 117"/>
                <a:gd name="T5" fmla="*/ 19 h 119"/>
                <a:gd name="T6" fmla="*/ 113 w 117"/>
                <a:gd name="T7" fmla="*/ 38 h 119"/>
                <a:gd name="T8" fmla="*/ 117 w 117"/>
                <a:gd name="T9" fmla="*/ 61 h 119"/>
                <a:gd name="T10" fmla="*/ 111 w 117"/>
                <a:gd name="T11" fmla="*/ 84 h 119"/>
                <a:gd name="T12" fmla="*/ 100 w 117"/>
                <a:gd name="T13" fmla="*/ 101 h 119"/>
                <a:gd name="T14" fmla="*/ 80 w 117"/>
                <a:gd name="T15" fmla="*/ 115 h 119"/>
                <a:gd name="T16" fmla="*/ 57 w 117"/>
                <a:gd name="T17" fmla="*/ 119 h 119"/>
                <a:gd name="T18" fmla="*/ 34 w 117"/>
                <a:gd name="T19" fmla="*/ 113 h 119"/>
                <a:gd name="T20" fmla="*/ 15 w 117"/>
                <a:gd name="T21" fmla="*/ 99 h 119"/>
                <a:gd name="T22" fmla="*/ 4 w 117"/>
                <a:gd name="T23" fmla="*/ 80 h 119"/>
                <a:gd name="T24" fmla="*/ 0 w 117"/>
                <a:gd name="T25" fmla="*/ 57 h 119"/>
                <a:gd name="T26" fmla="*/ 5 w 117"/>
                <a:gd name="T27" fmla="*/ 34 h 119"/>
                <a:gd name="T28" fmla="*/ 19 w 117"/>
                <a:gd name="T29" fmla="*/ 17 h 119"/>
                <a:gd name="T30" fmla="*/ 38 w 117"/>
                <a:gd name="T31" fmla="*/ 3 h 119"/>
                <a:gd name="T32" fmla="*/ 61 w 11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9">
                  <a:moveTo>
                    <a:pt x="61" y="0"/>
                  </a:moveTo>
                  <a:lnTo>
                    <a:pt x="84" y="5"/>
                  </a:lnTo>
                  <a:lnTo>
                    <a:pt x="101" y="19"/>
                  </a:lnTo>
                  <a:lnTo>
                    <a:pt x="113" y="38"/>
                  </a:lnTo>
                  <a:lnTo>
                    <a:pt x="117" y="61"/>
                  </a:lnTo>
                  <a:lnTo>
                    <a:pt x="111" y="84"/>
                  </a:lnTo>
                  <a:lnTo>
                    <a:pt x="100" y="101"/>
                  </a:lnTo>
                  <a:lnTo>
                    <a:pt x="80" y="115"/>
                  </a:lnTo>
                  <a:lnTo>
                    <a:pt x="57" y="119"/>
                  </a:lnTo>
                  <a:lnTo>
                    <a:pt x="34" y="113"/>
                  </a:lnTo>
                  <a:lnTo>
                    <a:pt x="15" y="99"/>
                  </a:lnTo>
                  <a:lnTo>
                    <a:pt x="4" y="80"/>
                  </a:lnTo>
                  <a:lnTo>
                    <a:pt x="0" y="57"/>
                  </a:lnTo>
                  <a:lnTo>
                    <a:pt x="5" y="34"/>
                  </a:lnTo>
                  <a:lnTo>
                    <a:pt x="19" y="17"/>
                  </a:lnTo>
                  <a:lnTo>
                    <a:pt x="38" y="3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1689097" y="4359266"/>
              <a:ext cx="185737" cy="188913"/>
            </a:xfrm>
            <a:custGeom>
              <a:avLst/>
              <a:gdLst>
                <a:gd name="T0" fmla="*/ 61 w 117"/>
                <a:gd name="T1" fmla="*/ 0 h 119"/>
                <a:gd name="T2" fmla="*/ 84 w 117"/>
                <a:gd name="T3" fmla="*/ 6 h 119"/>
                <a:gd name="T4" fmla="*/ 101 w 117"/>
                <a:gd name="T5" fmla="*/ 22 h 119"/>
                <a:gd name="T6" fmla="*/ 113 w 117"/>
                <a:gd name="T7" fmla="*/ 41 h 119"/>
                <a:gd name="T8" fmla="*/ 117 w 117"/>
                <a:gd name="T9" fmla="*/ 64 h 119"/>
                <a:gd name="T10" fmla="*/ 111 w 117"/>
                <a:gd name="T11" fmla="*/ 85 h 119"/>
                <a:gd name="T12" fmla="*/ 98 w 117"/>
                <a:gd name="T13" fmla="*/ 104 h 119"/>
                <a:gd name="T14" fmla="*/ 78 w 117"/>
                <a:gd name="T15" fmla="*/ 116 h 119"/>
                <a:gd name="T16" fmla="*/ 55 w 117"/>
                <a:gd name="T17" fmla="*/ 119 h 119"/>
                <a:gd name="T18" fmla="*/ 32 w 117"/>
                <a:gd name="T19" fmla="*/ 114 h 119"/>
                <a:gd name="T20" fmla="*/ 15 w 117"/>
                <a:gd name="T21" fmla="*/ 98 h 119"/>
                <a:gd name="T22" fmla="*/ 4 w 117"/>
                <a:gd name="T23" fmla="*/ 79 h 119"/>
                <a:gd name="T24" fmla="*/ 0 w 117"/>
                <a:gd name="T25" fmla="*/ 56 h 119"/>
                <a:gd name="T26" fmla="*/ 5 w 117"/>
                <a:gd name="T27" fmla="*/ 35 h 119"/>
                <a:gd name="T28" fmla="*/ 19 w 117"/>
                <a:gd name="T29" fmla="*/ 16 h 119"/>
                <a:gd name="T30" fmla="*/ 38 w 117"/>
                <a:gd name="T31" fmla="*/ 4 h 119"/>
                <a:gd name="T32" fmla="*/ 61 w 11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9">
                  <a:moveTo>
                    <a:pt x="61" y="0"/>
                  </a:moveTo>
                  <a:lnTo>
                    <a:pt x="84" y="6"/>
                  </a:lnTo>
                  <a:lnTo>
                    <a:pt x="101" y="22"/>
                  </a:lnTo>
                  <a:lnTo>
                    <a:pt x="113" y="41"/>
                  </a:lnTo>
                  <a:lnTo>
                    <a:pt x="117" y="64"/>
                  </a:lnTo>
                  <a:lnTo>
                    <a:pt x="111" y="85"/>
                  </a:lnTo>
                  <a:lnTo>
                    <a:pt x="98" y="104"/>
                  </a:lnTo>
                  <a:lnTo>
                    <a:pt x="78" y="116"/>
                  </a:lnTo>
                  <a:lnTo>
                    <a:pt x="55" y="119"/>
                  </a:lnTo>
                  <a:lnTo>
                    <a:pt x="32" y="114"/>
                  </a:lnTo>
                  <a:lnTo>
                    <a:pt x="15" y="98"/>
                  </a:lnTo>
                  <a:lnTo>
                    <a:pt x="4" y="79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6"/>
                  </a:lnTo>
                  <a:lnTo>
                    <a:pt x="38" y="4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1431925" y="4292600"/>
              <a:ext cx="188913" cy="188913"/>
            </a:xfrm>
            <a:custGeom>
              <a:avLst/>
              <a:gdLst>
                <a:gd name="T0" fmla="*/ 64 w 119"/>
                <a:gd name="T1" fmla="*/ 0 h 119"/>
                <a:gd name="T2" fmla="*/ 85 w 119"/>
                <a:gd name="T3" fmla="*/ 6 h 119"/>
                <a:gd name="T4" fmla="*/ 104 w 119"/>
                <a:gd name="T5" fmla="*/ 19 h 119"/>
                <a:gd name="T6" fmla="*/ 116 w 119"/>
                <a:gd name="T7" fmla="*/ 40 h 119"/>
                <a:gd name="T8" fmla="*/ 119 w 119"/>
                <a:gd name="T9" fmla="*/ 64 h 119"/>
                <a:gd name="T10" fmla="*/ 114 w 119"/>
                <a:gd name="T11" fmla="*/ 85 h 119"/>
                <a:gd name="T12" fmla="*/ 98 w 119"/>
                <a:gd name="T13" fmla="*/ 104 h 119"/>
                <a:gd name="T14" fmla="*/ 79 w 119"/>
                <a:gd name="T15" fmla="*/ 115 h 119"/>
                <a:gd name="T16" fmla="*/ 56 w 119"/>
                <a:gd name="T17" fmla="*/ 119 h 119"/>
                <a:gd name="T18" fmla="*/ 35 w 119"/>
                <a:gd name="T19" fmla="*/ 113 h 119"/>
                <a:gd name="T20" fmla="*/ 16 w 119"/>
                <a:gd name="T21" fmla="*/ 98 h 119"/>
                <a:gd name="T22" fmla="*/ 4 w 119"/>
                <a:gd name="T23" fmla="*/ 79 h 119"/>
                <a:gd name="T24" fmla="*/ 0 w 119"/>
                <a:gd name="T25" fmla="*/ 56 h 119"/>
                <a:gd name="T26" fmla="*/ 6 w 119"/>
                <a:gd name="T27" fmla="*/ 35 h 119"/>
                <a:gd name="T28" fmla="*/ 22 w 119"/>
                <a:gd name="T29" fmla="*/ 15 h 119"/>
                <a:gd name="T30" fmla="*/ 41 w 119"/>
                <a:gd name="T31" fmla="*/ 4 h 119"/>
                <a:gd name="T32" fmla="*/ 64 w 119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9" h="119">
                  <a:moveTo>
                    <a:pt x="64" y="0"/>
                  </a:moveTo>
                  <a:lnTo>
                    <a:pt x="85" y="6"/>
                  </a:lnTo>
                  <a:lnTo>
                    <a:pt x="104" y="19"/>
                  </a:lnTo>
                  <a:lnTo>
                    <a:pt x="116" y="40"/>
                  </a:lnTo>
                  <a:lnTo>
                    <a:pt x="119" y="64"/>
                  </a:lnTo>
                  <a:lnTo>
                    <a:pt x="114" y="85"/>
                  </a:lnTo>
                  <a:lnTo>
                    <a:pt x="98" y="104"/>
                  </a:lnTo>
                  <a:lnTo>
                    <a:pt x="79" y="115"/>
                  </a:lnTo>
                  <a:lnTo>
                    <a:pt x="56" y="119"/>
                  </a:lnTo>
                  <a:lnTo>
                    <a:pt x="35" y="113"/>
                  </a:lnTo>
                  <a:lnTo>
                    <a:pt x="16" y="98"/>
                  </a:lnTo>
                  <a:lnTo>
                    <a:pt x="4" y="79"/>
                  </a:lnTo>
                  <a:lnTo>
                    <a:pt x="0" y="56"/>
                  </a:lnTo>
                  <a:lnTo>
                    <a:pt x="6" y="35"/>
                  </a:lnTo>
                  <a:lnTo>
                    <a:pt x="22" y="15"/>
                  </a:lnTo>
                  <a:lnTo>
                    <a:pt x="41" y="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upo 770">
            <a:extLst>
              <a:ext uri="{FF2B5EF4-FFF2-40B4-BE49-F238E27FC236}">
                <a16:creationId xmlns="" xmlns:a16="http://schemas.microsoft.com/office/drawing/2014/main" xmlns:lc="http://schemas.openxmlformats.org/drawingml/2006/lockedCanvas" id="{84237A79-2FCE-4AE5-A55B-338823D36A7E}"/>
              </a:ext>
            </a:extLst>
          </p:cNvPr>
          <p:cNvGrpSpPr/>
          <p:nvPr/>
        </p:nvGrpSpPr>
        <p:grpSpPr>
          <a:xfrm>
            <a:off x="5298250" y="1327675"/>
            <a:ext cx="1329562" cy="1339325"/>
            <a:chOff x="4967549" y="646548"/>
            <a:chExt cx="1924211" cy="1937261"/>
          </a:xfrm>
        </p:grpSpPr>
        <p:pic>
          <p:nvPicPr>
            <p:cNvPr id="26" name="Gráfico 5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6751BD3-FB45-4D78-B409-A5DE02A30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7"/>
                </a:ext>
              </a:extLst>
            </a:blip>
            <a:stretch>
              <a:fillRect/>
            </a:stretch>
          </p:blipFill>
          <p:spPr>
            <a:xfrm>
              <a:off x="4967549" y="659598"/>
              <a:ext cx="1924211" cy="1924211"/>
            </a:xfrm>
            <a:prstGeom prst="rect">
              <a:avLst/>
            </a:prstGeom>
          </p:spPr>
        </p:pic>
        <p:sp>
          <p:nvSpPr>
            <p:cNvPr id="27" name="Elipse 52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ABAF8DE9-D55A-4183-92CB-40A241E46FC6}"/>
                </a:ext>
              </a:extLst>
            </p:cNvPr>
            <p:cNvSpPr/>
            <p:nvPr/>
          </p:nvSpPr>
          <p:spPr>
            <a:xfrm>
              <a:off x="5075851" y="669696"/>
              <a:ext cx="1782427" cy="1782427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  <p:sp>
          <p:nvSpPr>
            <p:cNvPr id="28" name="Forma libre: forma 46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32F0FA18-A3ED-4611-9410-86D8C0EB1A04}"/>
                </a:ext>
              </a:extLst>
            </p:cNvPr>
            <p:cNvSpPr/>
            <p:nvPr/>
          </p:nvSpPr>
          <p:spPr>
            <a:xfrm>
              <a:off x="5091766" y="690287"/>
              <a:ext cx="1750598" cy="1750598"/>
            </a:xfrm>
            <a:custGeom>
              <a:avLst/>
              <a:gdLst>
                <a:gd name="connsiteX0" fmla="*/ 3457575 w 3457575"/>
                <a:gd name="connsiteY0" fmla="*/ 1728788 h 3457575"/>
                <a:gd name="connsiteX1" fmla="*/ 1728788 w 3457575"/>
                <a:gd name="connsiteY1" fmla="*/ 3457575 h 3457575"/>
                <a:gd name="connsiteX2" fmla="*/ 0 w 3457575"/>
                <a:gd name="connsiteY2" fmla="*/ 1728788 h 3457575"/>
                <a:gd name="connsiteX3" fmla="*/ 1728788 w 3457575"/>
                <a:gd name="connsiteY3" fmla="*/ 0 h 3457575"/>
                <a:gd name="connsiteX4" fmla="*/ 3457575 w 3457575"/>
                <a:gd name="connsiteY4" fmla="*/ 1728788 h 3457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3457575">
                  <a:moveTo>
                    <a:pt x="3457575" y="1728788"/>
                  </a:moveTo>
                  <a:cubicBezTo>
                    <a:pt x="3457575" y="2683571"/>
                    <a:pt x="2683571" y="3457575"/>
                    <a:pt x="1728788" y="3457575"/>
                  </a:cubicBezTo>
                  <a:cubicBezTo>
                    <a:pt x="774005" y="3457575"/>
                    <a:pt x="0" y="2683571"/>
                    <a:pt x="0" y="1728788"/>
                  </a:cubicBezTo>
                  <a:cubicBezTo>
                    <a:pt x="0" y="774005"/>
                    <a:pt x="774005" y="0"/>
                    <a:pt x="1728788" y="0"/>
                  </a:cubicBezTo>
                  <a:cubicBezTo>
                    <a:pt x="2683571" y="0"/>
                    <a:pt x="3457575" y="774005"/>
                    <a:pt x="3457575" y="1728788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9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29" name="Forma libre: forma 4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F7B8A93-6844-4772-86F1-9D5C918FC15F}"/>
                </a:ext>
              </a:extLst>
            </p:cNvPr>
            <p:cNvSpPr/>
            <p:nvPr/>
          </p:nvSpPr>
          <p:spPr>
            <a:xfrm>
              <a:off x="5135169" y="733691"/>
              <a:ext cx="1663791" cy="1663791"/>
            </a:xfrm>
            <a:custGeom>
              <a:avLst/>
              <a:gdLst>
                <a:gd name="connsiteX0" fmla="*/ 3286125 w 3286125"/>
                <a:gd name="connsiteY0" fmla="*/ 1643063 h 3286125"/>
                <a:gd name="connsiteX1" fmla="*/ 1643063 w 3286125"/>
                <a:gd name="connsiteY1" fmla="*/ 3286125 h 3286125"/>
                <a:gd name="connsiteX2" fmla="*/ 0 w 3286125"/>
                <a:gd name="connsiteY2" fmla="*/ 1643063 h 3286125"/>
                <a:gd name="connsiteX3" fmla="*/ 1643063 w 3286125"/>
                <a:gd name="connsiteY3" fmla="*/ 0 h 3286125"/>
                <a:gd name="connsiteX4" fmla="*/ 3286125 w 3286125"/>
                <a:gd name="connsiteY4" fmla="*/ 1643063 h 328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6125" h="3286125">
                  <a:moveTo>
                    <a:pt x="3286125" y="1643063"/>
                  </a:moveTo>
                  <a:cubicBezTo>
                    <a:pt x="3286125" y="2550501"/>
                    <a:pt x="2550501" y="3286125"/>
                    <a:pt x="1643063" y="3286125"/>
                  </a:cubicBezTo>
                  <a:cubicBezTo>
                    <a:pt x="735624" y="3286125"/>
                    <a:pt x="0" y="2550501"/>
                    <a:pt x="0" y="1643063"/>
                  </a:cubicBezTo>
                  <a:cubicBezTo>
                    <a:pt x="0" y="735624"/>
                    <a:pt x="735624" y="0"/>
                    <a:pt x="1643063" y="0"/>
                  </a:cubicBezTo>
                  <a:cubicBezTo>
                    <a:pt x="2550501" y="0"/>
                    <a:pt x="3286125" y="735624"/>
                    <a:pt x="3286125" y="1643063"/>
                  </a:cubicBezTo>
                  <a:close/>
                </a:path>
              </a:pathLst>
            </a:cu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 dirty="0"/>
            </a:p>
          </p:txBody>
        </p:sp>
        <p:sp>
          <p:nvSpPr>
            <p:cNvPr id="30" name="Forma libre: forma 48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425DD1AF-B50C-4844-8DA8-1EC79D1AD312}"/>
                </a:ext>
              </a:extLst>
            </p:cNvPr>
            <p:cNvSpPr/>
            <p:nvPr/>
          </p:nvSpPr>
          <p:spPr>
            <a:xfrm>
              <a:off x="5337718" y="936239"/>
              <a:ext cx="1258694" cy="1258695"/>
            </a:xfrm>
            <a:custGeom>
              <a:avLst/>
              <a:gdLst>
                <a:gd name="connsiteX0" fmla="*/ 1243013 w 2486025"/>
                <a:gd name="connsiteY0" fmla="*/ 40958 h 2486025"/>
                <a:gd name="connsiteX1" fmla="*/ 2093595 w 2486025"/>
                <a:gd name="connsiteY1" fmla="*/ 393383 h 2486025"/>
                <a:gd name="connsiteX2" fmla="*/ 2446020 w 2486025"/>
                <a:gd name="connsiteY2" fmla="*/ 1243965 h 2486025"/>
                <a:gd name="connsiteX3" fmla="*/ 2093595 w 2486025"/>
                <a:gd name="connsiteY3" fmla="*/ 2094548 h 2486025"/>
                <a:gd name="connsiteX4" fmla="*/ 1243013 w 2486025"/>
                <a:gd name="connsiteY4" fmla="*/ 2446973 h 2486025"/>
                <a:gd name="connsiteX5" fmla="*/ 392430 w 2486025"/>
                <a:gd name="connsiteY5" fmla="*/ 2094548 h 2486025"/>
                <a:gd name="connsiteX6" fmla="*/ 40005 w 2486025"/>
                <a:gd name="connsiteY6" fmla="*/ 1243965 h 2486025"/>
                <a:gd name="connsiteX7" fmla="*/ 392430 w 2486025"/>
                <a:gd name="connsiteY7" fmla="*/ 393383 h 2486025"/>
                <a:gd name="connsiteX8" fmla="*/ 1243013 w 2486025"/>
                <a:gd name="connsiteY8" fmla="*/ 40958 h 2486025"/>
                <a:gd name="connsiteX9" fmla="*/ 1243013 w 2486025"/>
                <a:gd name="connsiteY9" fmla="*/ 0 h 2486025"/>
                <a:gd name="connsiteX10" fmla="*/ 0 w 2486025"/>
                <a:gd name="connsiteY10" fmla="*/ 1243013 h 2486025"/>
                <a:gd name="connsiteX11" fmla="*/ 1243013 w 2486025"/>
                <a:gd name="connsiteY11" fmla="*/ 2486025 h 2486025"/>
                <a:gd name="connsiteX12" fmla="*/ 2486025 w 2486025"/>
                <a:gd name="connsiteY12" fmla="*/ 1243013 h 2486025"/>
                <a:gd name="connsiteX13" fmla="*/ 1243013 w 2486025"/>
                <a:gd name="connsiteY13" fmla="*/ 0 h 2486025"/>
                <a:gd name="connsiteX14" fmla="*/ 1243013 w 2486025"/>
                <a:gd name="connsiteY14" fmla="*/ 0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86025" h="2486025">
                  <a:moveTo>
                    <a:pt x="1243013" y="40958"/>
                  </a:moveTo>
                  <a:cubicBezTo>
                    <a:pt x="1564005" y="40958"/>
                    <a:pt x="1865948" y="165735"/>
                    <a:pt x="2093595" y="393383"/>
                  </a:cubicBezTo>
                  <a:cubicBezTo>
                    <a:pt x="2320290" y="620078"/>
                    <a:pt x="2446020" y="922020"/>
                    <a:pt x="2446020" y="1243965"/>
                  </a:cubicBezTo>
                  <a:cubicBezTo>
                    <a:pt x="2446020" y="1565910"/>
                    <a:pt x="2321243" y="1866900"/>
                    <a:pt x="2093595" y="2094548"/>
                  </a:cubicBezTo>
                  <a:cubicBezTo>
                    <a:pt x="1866900" y="2321243"/>
                    <a:pt x="1564958" y="2446973"/>
                    <a:pt x="1243013" y="2446973"/>
                  </a:cubicBezTo>
                  <a:cubicBezTo>
                    <a:pt x="921068" y="2446973"/>
                    <a:pt x="620078" y="2322195"/>
                    <a:pt x="392430" y="2094548"/>
                  </a:cubicBezTo>
                  <a:cubicBezTo>
                    <a:pt x="165735" y="1867853"/>
                    <a:pt x="40005" y="1565910"/>
                    <a:pt x="40005" y="1243965"/>
                  </a:cubicBezTo>
                  <a:cubicBezTo>
                    <a:pt x="40005" y="922020"/>
                    <a:pt x="164783" y="621030"/>
                    <a:pt x="392430" y="393383"/>
                  </a:cubicBezTo>
                  <a:cubicBezTo>
                    <a:pt x="620078" y="165735"/>
                    <a:pt x="922020" y="40958"/>
                    <a:pt x="1243013" y="40958"/>
                  </a:cubicBezTo>
                  <a:moveTo>
                    <a:pt x="1243013" y="0"/>
                  </a:moveTo>
                  <a:cubicBezTo>
                    <a:pt x="556260" y="0"/>
                    <a:pt x="0" y="556260"/>
                    <a:pt x="0" y="1243013"/>
                  </a:cubicBezTo>
                  <a:cubicBezTo>
                    <a:pt x="0" y="1929765"/>
                    <a:pt x="556260" y="2486025"/>
                    <a:pt x="1243013" y="2486025"/>
                  </a:cubicBezTo>
                  <a:cubicBezTo>
                    <a:pt x="1929765" y="2486025"/>
                    <a:pt x="2486025" y="1929765"/>
                    <a:pt x="2486025" y="1243013"/>
                  </a:cubicBezTo>
                  <a:cubicBezTo>
                    <a:pt x="2486025" y="556260"/>
                    <a:pt x="1929765" y="0"/>
                    <a:pt x="1243013" y="0"/>
                  </a:cubicBezTo>
                  <a:lnTo>
                    <a:pt x="124301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100000">
                  <a:schemeClr val="bg2"/>
                </a:gs>
              </a:gsLst>
              <a:lin ang="78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31" name="Elipse 5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F0FEE592-DE6E-490F-ADB1-4B00F65F2C31}"/>
                </a:ext>
              </a:extLst>
            </p:cNvPr>
            <p:cNvSpPr/>
            <p:nvPr/>
          </p:nvSpPr>
          <p:spPr>
            <a:xfrm>
              <a:off x="5052703" y="646548"/>
              <a:ext cx="1828724" cy="1828724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</p:grpSp>
      <p:sp>
        <p:nvSpPr>
          <p:cNvPr id="32" name="CuadroTexto 1150">
            <a:extLst>
              <a:ext uri="{FF2B5EF4-FFF2-40B4-BE49-F238E27FC236}">
                <a16:creationId xmlns:a16="http://schemas.microsoft.com/office/drawing/2014/main" xmlns="" id="{F639D885-EEA2-448A-B165-67E12CBCBEE6}"/>
              </a:ext>
            </a:extLst>
          </p:cNvPr>
          <p:cNvSpPr txBox="1"/>
          <p:nvPr/>
        </p:nvSpPr>
        <p:spPr>
          <a:xfrm>
            <a:off x="5636859" y="1597751"/>
            <a:ext cx="704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2</a:t>
            </a:r>
            <a:r>
              <a:rPr lang="en-US" sz="3600" dirty="0" smtClean="0">
                <a:solidFill>
                  <a:schemeClr val="bg1"/>
                </a:solidFill>
                <a:latin typeface="Bernard MT Condensed" panose="02050806060905020404" pitchFamily="18" charset="0"/>
              </a:rPr>
              <a:t>.1</a:t>
            </a:r>
            <a:endParaRPr lang="en-US" sz="3600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90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5">
            <a:extLst>
              <a:ext uri="{FF2B5EF4-FFF2-40B4-BE49-F238E27FC236}">
                <a16:creationId xmlns:a16="http://schemas.microsoft.com/office/drawing/2014/main" xmlns="" id="{91C430F3-DBFE-4A56-98B3-667C30C0BB16}"/>
              </a:ext>
            </a:extLst>
          </p:cNvPr>
          <p:cNvSpPr/>
          <p:nvPr/>
        </p:nvSpPr>
        <p:spPr>
          <a:xfrm>
            <a:off x="0" y="893"/>
            <a:ext cx="3465767" cy="6856214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9"/>
          </a:p>
        </p:txBody>
      </p:sp>
      <p:cxnSp>
        <p:nvCxnSpPr>
          <p:cNvPr id="3" name="Straight Connector 17">
            <a:extLst>
              <a:ext uri="{FF2B5EF4-FFF2-40B4-BE49-F238E27FC236}">
                <a16:creationId xmlns:a16="http://schemas.microsoft.com/office/drawing/2014/main" xmlns="" id="{236F66F2-BC4D-4941-B44D-B95954E6879A}"/>
              </a:ext>
            </a:extLst>
          </p:cNvPr>
          <p:cNvCxnSpPr>
            <a:cxnSpLocks/>
            <a:endCxn id="36" idx="4"/>
          </p:cNvCxnSpPr>
          <p:nvPr/>
        </p:nvCxnSpPr>
        <p:spPr>
          <a:xfrm>
            <a:off x="5536096" y="9421"/>
            <a:ext cx="10690" cy="584695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18">
            <a:extLst>
              <a:ext uri="{FF2B5EF4-FFF2-40B4-BE49-F238E27FC236}">
                <a16:creationId xmlns:a16="http://schemas.microsoft.com/office/drawing/2014/main" xmlns="" id="{408849F5-B9A5-4367-A534-2AC253F1B5F7}"/>
              </a:ext>
            </a:extLst>
          </p:cNvPr>
          <p:cNvSpPr/>
          <p:nvPr/>
        </p:nvSpPr>
        <p:spPr>
          <a:xfrm>
            <a:off x="5444818" y="931016"/>
            <a:ext cx="143978" cy="143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5" name="Oval 19">
            <a:extLst>
              <a:ext uri="{FF2B5EF4-FFF2-40B4-BE49-F238E27FC236}">
                <a16:creationId xmlns:a16="http://schemas.microsoft.com/office/drawing/2014/main" xmlns="" id="{E754E78F-C9E2-4B33-B462-AE3F63E0572E}"/>
              </a:ext>
            </a:extLst>
          </p:cNvPr>
          <p:cNvSpPr/>
          <p:nvPr/>
        </p:nvSpPr>
        <p:spPr>
          <a:xfrm>
            <a:off x="5454978" y="1704248"/>
            <a:ext cx="143978" cy="14397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xmlns="" id="{3AE3B362-E247-4767-9ABC-186AEA2B54C0}"/>
              </a:ext>
            </a:extLst>
          </p:cNvPr>
          <p:cNvSpPr/>
          <p:nvPr/>
        </p:nvSpPr>
        <p:spPr>
          <a:xfrm>
            <a:off x="5474238" y="2608223"/>
            <a:ext cx="143978" cy="14397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xmlns="" id="{D2C59C1B-C083-4A6F-89E5-AB08091DE4D8}"/>
              </a:ext>
            </a:extLst>
          </p:cNvPr>
          <p:cNvSpPr/>
          <p:nvPr/>
        </p:nvSpPr>
        <p:spPr>
          <a:xfrm>
            <a:off x="5484068" y="3322310"/>
            <a:ext cx="143978" cy="14397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8" name="Oval 22">
            <a:extLst>
              <a:ext uri="{FF2B5EF4-FFF2-40B4-BE49-F238E27FC236}">
                <a16:creationId xmlns:a16="http://schemas.microsoft.com/office/drawing/2014/main" xmlns="" id="{C16B4364-E3E2-4DA8-BE3C-A614875982EB}"/>
              </a:ext>
            </a:extLst>
          </p:cNvPr>
          <p:cNvSpPr/>
          <p:nvPr/>
        </p:nvSpPr>
        <p:spPr>
          <a:xfrm>
            <a:off x="5484068" y="4096514"/>
            <a:ext cx="143978" cy="1439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9" name="Pentagon 9">
            <a:extLst>
              <a:ext uri="{FF2B5EF4-FFF2-40B4-BE49-F238E27FC236}">
                <a16:creationId xmlns:a16="http://schemas.microsoft.com/office/drawing/2014/main" xmlns="" id="{16A964ED-3CF4-4584-8A80-67E3B9F00342}"/>
              </a:ext>
            </a:extLst>
          </p:cNvPr>
          <p:cNvSpPr/>
          <p:nvPr/>
        </p:nvSpPr>
        <p:spPr>
          <a:xfrm>
            <a:off x="4027955" y="763621"/>
            <a:ext cx="1380657" cy="507573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A772DF0-4EFE-4EDB-A0C5-9A036DFEFA88}"/>
              </a:ext>
            </a:extLst>
          </p:cNvPr>
          <p:cNvSpPr txBox="1"/>
          <p:nvPr/>
        </p:nvSpPr>
        <p:spPr>
          <a:xfrm>
            <a:off x="4170979" y="783518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 smtClean="0">
                <a:solidFill>
                  <a:schemeClr val="accent2"/>
                </a:solidFill>
                <a:cs typeface="Arial" pitchFamily="34" charset="0"/>
              </a:rPr>
              <a:t>2</a:t>
            </a:r>
            <a:endParaRPr lang="ko-KR" altLang="en-US" sz="1999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11" name="Pentagon 11">
            <a:extLst>
              <a:ext uri="{FF2B5EF4-FFF2-40B4-BE49-F238E27FC236}">
                <a16:creationId xmlns:a16="http://schemas.microsoft.com/office/drawing/2014/main" xmlns="" id="{F4797709-D835-4CB3-8E9B-74BB5172BAB0}"/>
              </a:ext>
            </a:extLst>
          </p:cNvPr>
          <p:cNvSpPr/>
          <p:nvPr/>
        </p:nvSpPr>
        <p:spPr>
          <a:xfrm>
            <a:off x="4000689" y="1528992"/>
            <a:ext cx="1410089" cy="510810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>
              <a:solidFill>
                <a:srgbClr val="07A398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A039387-38F7-4AD1-BF36-9BD9D1D2B4FD}"/>
              </a:ext>
            </a:extLst>
          </p:cNvPr>
          <p:cNvSpPr txBox="1"/>
          <p:nvPr/>
        </p:nvSpPr>
        <p:spPr>
          <a:xfrm>
            <a:off x="4201139" y="1551199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4"/>
                </a:solidFill>
                <a:cs typeface="Arial" pitchFamily="34" charset="0"/>
              </a:rPr>
              <a:t>3</a:t>
            </a:r>
            <a:endParaRPr lang="ko-KR" altLang="en-US" sz="1999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3" name="Pentagon 13">
            <a:extLst>
              <a:ext uri="{FF2B5EF4-FFF2-40B4-BE49-F238E27FC236}">
                <a16:creationId xmlns:a16="http://schemas.microsoft.com/office/drawing/2014/main" xmlns="" id="{4FF476B8-375A-43FB-AA74-8B322C2561FA}"/>
              </a:ext>
            </a:extLst>
          </p:cNvPr>
          <p:cNvSpPr/>
          <p:nvPr/>
        </p:nvSpPr>
        <p:spPr>
          <a:xfrm>
            <a:off x="4029481" y="2428995"/>
            <a:ext cx="1410089" cy="495309"/>
          </a:xfrm>
          <a:prstGeom prst="homePlate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635AAFCD-BBA3-45FC-88AC-6235BA95AE7C}"/>
              </a:ext>
            </a:extLst>
          </p:cNvPr>
          <p:cNvSpPr txBox="1"/>
          <p:nvPr/>
        </p:nvSpPr>
        <p:spPr>
          <a:xfrm>
            <a:off x="4208127" y="2428996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4"/>
                </a:solidFill>
                <a:cs typeface="Arial" pitchFamily="34" charset="0"/>
              </a:rPr>
              <a:t>4</a:t>
            </a:r>
            <a:endParaRPr lang="ko-KR" altLang="en-US" sz="1999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15" name="Pentagon 15">
            <a:extLst>
              <a:ext uri="{FF2B5EF4-FFF2-40B4-BE49-F238E27FC236}">
                <a16:creationId xmlns:a16="http://schemas.microsoft.com/office/drawing/2014/main" xmlns="" id="{61DB4F7C-4A3E-4CC7-A35B-F7405EF3E9B6}"/>
              </a:ext>
            </a:extLst>
          </p:cNvPr>
          <p:cNvSpPr/>
          <p:nvPr/>
        </p:nvSpPr>
        <p:spPr>
          <a:xfrm>
            <a:off x="4035833" y="3152046"/>
            <a:ext cx="1410089" cy="484506"/>
          </a:xfrm>
          <a:prstGeom prst="homePlat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99D51500-C6D6-4AAF-9913-FECE0460B3F3}"/>
              </a:ext>
            </a:extLst>
          </p:cNvPr>
          <p:cNvSpPr txBox="1"/>
          <p:nvPr/>
        </p:nvSpPr>
        <p:spPr>
          <a:xfrm>
            <a:off x="4202689" y="3194296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5"/>
                </a:solidFill>
                <a:cs typeface="Arial" pitchFamily="34" charset="0"/>
              </a:rPr>
              <a:t>5</a:t>
            </a:r>
            <a:endParaRPr lang="ko-KR" altLang="en-US" sz="1999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17" name="Pentagon 17">
            <a:extLst>
              <a:ext uri="{FF2B5EF4-FFF2-40B4-BE49-F238E27FC236}">
                <a16:creationId xmlns:a16="http://schemas.microsoft.com/office/drawing/2014/main" xmlns="" id="{1F9FD3C3-B616-4E18-A59E-B5399108B081}"/>
              </a:ext>
            </a:extLst>
          </p:cNvPr>
          <p:cNvSpPr/>
          <p:nvPr/>
        </p:nvSpPr>
        <p:spPr>
          <a:xfrm>
            <a:off x="4062522" y="3942201"/>
            <a:ext cx="1410089" cy="484506"/>
          </a:xfrm>
          <a:prstGeom prst="homePlat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992A87F-5BC4-4746-B515-04224FA1238A}"/>
              </a:ext>
            </a:extLst>
          </p:cNvPr>
          <p:cNvSpPr txBox="1"/>
          <p:nvPr/>
        </p:nvSpPr>
        <p:spPr>
          <a:xfrm>
            <a:off x="4239359" y="3971558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6"/>
                </a:solidFill>
                <a:cs typeface="Arial" pitchFamily="34" charset="0"/>
              </a:rPr>
              <a:t>6</a:t>
            </a:r>
            <a:endParaRPr lang="ko-KR" altLang="en-US" sz="1999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19" name="Title 3">
            <a:extLst>
              <a:ext uri="{FF2B5EF4-FFF2-40B4-BE49-F238E27FC236}">
                <a16:creationId xmlns:a16="http://schemas.microsoft.com/office/drawing/2014/main" xmlns="" id="{D99876DD-A312-4C15-992F-217B3CD465DC}"/>
              </a:ext>
            </a:extLst>
          </p:cNvPr>
          <p:cNvSpPr txBox="1">
            <a:spLocks/>
          </p:cNvSpPr>
          <p:nvPr/>
        </p:nvSpPr>
        <p:spPr>
          <a:xfrm>
            <a:off x="-141273" y="3655031"/>
            <a:ext cx="3465767" cy="24037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Cyrl-UZ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Rossiya Federatsiyasi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b="1" dirty="0" smtClean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Latn-UZ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 </a:t>
            </a:r>
            <a:r>
              <a:rPr lang="uz-Latn-UZ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1323565.1.020-2018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Latn-UZ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davlat standar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Oval 4">
            <a:extLst>
              <a:ext uri="{FF2B5EF4-FFF2-40B4-BE49-F238E27FC236}">
                <a16:creationId xmlns:a16="http://schemas.microsoft.com/office/drawing/2014/main" xmlns="" id="{607179A8-3BB9-4B8C-B3B5-760E37E0D3FF}"/>
              </a:ext>
            </a:extLst>
          </p:cNvPr>
          <p:cNvSpPr/>
          <p:nvPr/>
        </p:nvSpPr>
        <p:spPr>
          <a:xfrm>
            <a:off x="5463578" y="286296"/>
            <a:ext cx="143978" cy="14397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21" name="Pentagon 9">
            <a:extLst>
              <a:ext uri="{FF2B5EF4-FFF2-40B4-BE49-F238E27FC236}">
                <a16:creationId xmlns:a16="http://schemas.microsoft.com/office/drawing/2014/main" xmlns="" id="{2B8003E0-13C2-4D81-9731-98CCAD4260A7}"/>
              </a:ext>
            </a:extLst>
          </p:cNvPr>
          <p:cNvSpPr/>
          <p:nvPr/>
        </p:nvSpPr>
        <p:spPr>
          <a:xfrm>
            <a:off x="4000689" y="122263"/>
            <a:ext cx="1407923" cy="470204"/>
          </a:xfrm>
          <a:prstGeom prst="homePlat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E04F901-47E1-4F03-A3E3-B4211357380A}"/>
              </a:ext>
            </a:extLst>
          </p:cNvPr>
          <p:cNvSpPr txBox="1"/>
          <p:nvPr/>
        </p:nvSpPr>
        <p:spPr>
          <a:xfrm>
            <a:off x="4165797" y="135873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1"/>
                </a:solidFill>
                <a:cs typeface="Arial" pitchFamily="34" charset="0"/>
              </a:rPr>
              <a:t>1</a:t>
            </a:r>
            <a:endParaRPr lang="ko-KR" altLang="en-US" sz="1999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22993" y="95755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dirty="0" err="1"/>
              <a:t>Foydalanish</a:t>
            </a:r>
            <a:r>
              <a:rPr lang="en-US" altLang="ko-KR" sz="2800" dirty="0"/>
              <a:t> </a:t>
            </a:r>
            <a:r>
              <a:rPr lang="en-US" altLang="ko-KR" sz="2800" dirty="0" err="1"/>
              <a:t>sohasi</a:t>
            </a:r>
            <a:endParaRPr lang="ko-KR" altLang="en-US" sz="2800" dirty="0"/>
          </a:p>
        </p:txBody>
      </p:sp>
      <p:grpSp>
        <p:nvGrpSpPr>
          <p:cNvPr id="24" name="Grupo 770">
            <a:extLst>
              <a:ext uri="{FF2B5EF4-FFF2-40B4-BE49-F238E27FC236}">
                <a16:creationId xmlns="" xmlns:a16="http://schemas.microsoft.com/office/drawing/2014/main" xmlns:lc="http://schemas.openxmlformats.org/drawingml/2006/lockedCanvas" id="{84237A79-2FCE-4AE5-A55B-338823D36A7E}"/>
              </a:ext>
            </a:extLst>
          </p:cNvPr>
          <p:cNvGrpSpPr/>
          <p:nvPr/>
        </p:nvGrpSpPr>
        <p:grpSpPr>
          <a:xfrm>
            <a:off x="1070296" y="1271195"/>
            <a:ext cx="1329562" cy="1339325"/>
            <a:chOff x="4967549" y="646548"/>
            <a:chExt cx="1924211" cy="1937261"/>
          </a:xfrm>
        </p:grpSpPr>
        <p:pic>
          <p:nvPicPr>
            <p:cNvPr id="25" name="Gráfico 5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6751BD3-FB45-4D78-B409-A5DE02A30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7"/>
                </a:ext>
              </a:extLst>
            </a:blip>
            <a:stretch>
              <a:fillRect/>
            </a:stretch>
          </p:blipFill>
          <p:spPr>
            <a:xfrm>
              <a:off x="4967549" y="659598"/>
              <a:ext cx="1924211" cy="1924211"/>
            </a:xfrm>
            <a:prstGeom prst="rect">
              <a:avLst/>
            </a:prstGeom>
          </p:spPr>
        </p:pic>
        <p:sp>
          <p:nvSpPr>
            <p:cNvPr id="26" name="Elipse 52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ABAF8DE9-D55A-4183-92CB-40A241E46FC6}"/>
                </a:ext>
              </a:extLst>
            </p:cNvPr>
            <p:cNvSpPr/>
            <p:nvPr/>
          </p:nvSpPr>
          <p:spPr>
            <a:xfrm>
              <a:off x="5075851" y="669696"/>
              <a:ext cx="1782427" cy="1782427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  <p:sp>
          <p:nvSpPr>
            <p:cNvPr id="27" name="Forma libre: forma 46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32F0FA18-A3ED-4611-9410-86D8C0EB1A04}"/>
                </a:ext>
              </a:extLst>
            </p:cNvPr>
            <p:cNvSpPr/>
            <p:nvPr/>
          </p:nvSpPr>
          <p:spPr>
            <a:xfrm>
              <a:off x="5091766" y="690287"/>
              <a:ext cx="1750598" cy="1750598"/>
            </a:xfrm>
            <a:custGeom>
              <a:avLst/>
              <a:gdLst>
                <a:gd name="connsiteX0" fmla="*/ 3457575 w 3457575"/>
                <a:gd name="connsiteY0" fmla="*/ 1728788 h 3457575"/>
                <a:gd name="connsiteX1" fmla="*/ 1728788 w 3457575"/>
                <a:gd name="connsiteY1" fmla="*/ 3457575 h 3457575"/>
                <a:gd name="connsiteX2" fmla="*/ 0 w 3457575"/>
                <a:gd name="connsiteY2" fmla="*/ 1728788 h 3457575"/>
                <a:gd name="connsiteX3" fmla="*/ 1728788 w 3457575"/>
                <a:gd name="connsiteY3" fmla="*/ 0 h 3457575"/>
                <a:gd name="connsiteX4" fmla="*/ 3457575 w 3457575"/>
                <a:gd name="connsiteY4" fmla="*/ 1728788 h 3457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3457575">
                  <a:moveTo>
                    <a:pt x="3457575" y="1728788"/>
                  </a:moveTo>
                  <a:cubicBezTo>
                    <a:pt x="3457575" y="2683571"/>
                    <a:pt x="2683571" y="3457575"/>
                    <a:pt x="1728788" y="3457575"/>
                  </a:cubicBezTo>
                  <a:cubicBezTo>
                    <a:pt x="774005" y="3457575"/>
                    <a:pt x="0" y="2683571"/>
                    <a:pt x="0" y="1728788"/>
                  </a:cubicBezTo>
                  <a:cubicBezTo>
                    <a:pt x="0" y="774005"/>
                    <a:pt x="774005" y="0"/>
                    <a:pt x="1728788" y="0"/>
                  </a:cubicBezTo>
                  <a:cubicBezTo>
                    <a:pt x="2683571" y="0"/>
                    <a:pt x="3457575" y="774005"/>
                    <a:pt x="3457575" y="1728788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9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28" name="Forma libre: forma 4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F7B8A93-6844-4772-86F1-9D5C918FC15F}"/>
                </a:ext>
              </a:extLst>
            </p:cNvPr>
            <p:cNvSpPr/>
            <p:nvPr/>
          </p:nvSpPr>
          <p:spPr>
            <a:xfrm>
              <a:off x="5135169" y="733691"/>
              <a:ext cx="1663791" cy="1663791"/>
            </a:xfrm>
            <a:custGeom>
              <a:avLst/>
              <a:gdLst>
                <a:gd name="connsiteX0" fmla="*/ 3286125 w 3286125"/>
                <a:gd name="connsiteY0" fmla="*/ 1643063 h 3286125"/>
                <a:gd name="connsiteX1" fmla="*/ 1643063 w 3286125"/>
                <a:gd name="connsiteY1" fmla="*/ 3286125 h 3286125"/>
                <a:gd name="connsiteX2" fmla="*/ 0 w 3286125"/>
                <a:gd name="connsiteY2" fmla="*/ 1643063 h 3286125"/>
                <a:gd name="connsiteX3" fmla="*/ 1643063 w 3286125"/>
                <a:gd name="connsiteY3" fmla="*/ 0 h 3286125"/>
                <a:gd name="connsiteX4" fmla="*/ 3286125 w 3286125"/>
                <a:gd name="connsiteY4" fmla="*/ 1643063 h 328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6125" h="3286125">
                  <a:moveTo>
                    <a:pt x="3286125" y="1643063"/>
                  </a:moveTo>
                  <a:cubicBezTo>
                    <a:pt x="3286125" y="2550501"/>
                    <a:pt x="2550501" y="3286125"/>
                    <a:pt x="1643063" y="3286125"/>
                  </a:cubicBezTo>
                  <a:cubicBezTo>
                    <a:pt x="735624" y="3286125"/>
                    <a:pt x="0" y="2550501"/>
                    <a:pt x="0" y="1643063"/>
                  </a:cubicBezTo>
                  <a:cubicBezTo>
                    <a:pt x="0" y="735624"/>
                    <a:pt x="735624" y="0"/>
                    <a:pt x="1643063" y="0"/>
                  </a:cubicBezTo>
                  <a:cubicBezTo>
                    <a:pt x="2550501" y="0"/>
                    <a:pt x="3286125" y="735624"/>
                    <a:pt x="3286125" y="1643063"/>
                  </a:cubicBezTo>
                  <a:close/>
                </a:path>
              </a:pathLst>
            </a:cu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 dirty="0"/>
            </a:p>
          </p:txBody>
        </p:sp>
        <p:sp>
          <p:nvSpPr>
            <p:cNvPr id="29" name="Forma libre: forma 48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425DD1AF-B50C-4844-8DA8-1EC79D1AD312}"/>
                </a:ext>
              </a:extLst>
            </p:cNvPr>
            <p:cNvSpPr/>
            <p:nvPr/>
          </p:nvSpPr>
          <p:spPr>
            <a:xfrm>
              <a:off x="5337718" y="936239"/>
              <a:ext cx="1258694" cy="1258695"/>
            </a:xfrm>
            <a:custGeom>
              <a:avLst/>
              <a:gdLst>
                <a:gd name="connsiteX0" fmla="*/ 1243013 w 2486025"/>
                <a:gd name="connsiteY0" fmla="*/ 40958 h 2486025"/>
                <a:gd name="connsiteX1" fmla="*/ 2093595 w 2486025"/>
                <a:gd name="connsiteY1" fmla="*/ 393383 h 2486025"/>
                <a:gd name="connsiteX2" fmla="*/ 2446020 w 2486025"/>
                <a:gd name="connsiteY2" fmla="*/ 1243965 h 2486025"/>
                <a:gd name="connsiteX3" fmla="*/ 2093595 w 2486025"/>
                <a:gd name="connsiteY3" fmla="*/ 2094548 h 2486025"/>
                <a:gd name="connsiteX4" fmla="*/ 1243013 w 2486025"/>
                <a:gd name="connsiteY4" fmla="*/ 2446973 h 2486025"/>
                <a:gd name="connsiteX5" fmla="*/ 392430 w 2486025"/>
                <a:gd name="connsiteY5" fmla="*/ 2094548 h 2486025"/>
                <a:gd name="connsiteX6" fmla="*/ 40005 w 2486025"/>
                <a:gd name="connsiteY6" fmla="*/ 1243965 h 2486025"/>
                <a:gd name="connsiteX7" fmla="*/ 392430 w 2486025"/>
                <a:gd name="connsiteY7" fmla="*/ 393383 h 2486025"/>
                <a:gd name="connsiteX8" fmla="*/ 1243013 w 2486025"/>
                <a:gd name="connsiteY8" fmla="*/ 40958 h 2486025"/>
                <a:gd name="connsiteX9" fmla="*/ 1243013 w 2486025"/>
                <a:gd name="connsiteY9" fmla="*/ 0 h 2486025"/>
                <a:gd name="connsiteX10" fmla="*/ 0 w 2486025"/>
                <a:gd name="connsiteY10" fmla="*/ 1243013 h 2486025"/>
                <a:gd name="connsiteX11" fmla="*/ 1243013 w 2486025"/>
                <a:gd name="connsiteY11" fmla="*/ 2486025 h 2486025"/>
                <a:gd name="connsiteX12" fmla="*/ 2486025 w 2486025"/>
                <a:gd name="connsiteY12" fmla="*/ 1243013 h 2486025"/>
                <a:gd name="connsiteX13" fmla="*/ 1243013 w 2486025"/>
                <a:gd name="connsiteY13" fmla="*/ 0 h 2486025"/>
                <a:gd name="connsiteX14" fmla="*/ 1243013 w 2486025"/>
                <a:gd name="connsiteY14" fmla="*/ 0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86025" h="2486025">
                  <a:moveTo>
                    <a:pt x="1243013" y="40958"/>
                  </a:moveTo>
                  <a:cubicBezTo>
                    <a:pt x="1564005" y="40958"/>
                    <a:pt x="1865948" y="165735"/>
                    <a:pt x="2093595" y="393383"/>
                  </a:cubicBezTo>
                  <a:cubicBezTo>
                    <a:pt x="2320290" y="620078"/>
                    <a:pt x="2446020" y="922020"/>
                    <a:pt x="2446020" y="1243965"/>
                  </a:cubicBezTo>
                  <a:cubicBezTo>
                    <a:pt x="2446020" y="1565910"/>
                    <a:pt x="2321243" y="1866900"/>
                    <a:pt x="2093595" y="2094548"/>
                  </a:cubicBezTo>
                  <a:cubicBezTo>
                    <a:pt x="1866900" y="2321243"/>
                    <a:pt x="1564958" y="2446973"/>
                    <a:pt x="1243013" y="2446973"/>
                  </a:cubicBezTo>
                  <a:cubicBezTo>
                    <a:pt x="921068" y="2446973"/>
                    <a:pt x="620078" y="2322195"/>
                    <a:pt x="392430" y="2094548"/>
                  </a:cubicBezTo>
                  <a:cubicBezTo>
                    <a:pt x="165735" y="1867853"/>
                    <a:pt x="40005" y="1565910"/>
                    <a:pt x="40005" y="1243965"/>
                  </a:cubicBezTo>
                  <a:cubicBezTo>
                    <a:pt x="40005" y="922020"/>
                    <a:pt x="164783" y="621030"/>
                    <a:pt x="392430" y="393383"/>
                  </a:cubicBezTo>
                  <a:cubicBezTo>
                    <a:pt x="620078" y="165735"/>
                    <a:pt x="922020" y="40958"/>
                    <a:pt x="1243013" y="40958"/>
                  </a:cubicBezTo>
                  <a:moveTo>
                    <a:pt x="1243013" y="0"/>
                  </a:moveTo>
                  <a:cubicBezTo>
                    <a:pt x="556260" y="0"/>
                    <a:pt x="0" y="556260"/>
                    <a:pt x="0" y="1243013"/>
                  </a:cubicBezTo>
                  <a:cubicBezTo>
                    <a:pt x="0" y="1929765"/>
                    <a:pt x="556260" y="2486025"/>
                    <a:pt x="1243013" y="2486025"/>
                  </a:cubicBezTo>
                  <a:cubicBezTo>
                    <a:pt x="1929765" y="2486025"/>
                    <a:pt x="2486025" y="1929765"/>
                    <a:pt x="2486025" y="1243013"/>
                  </a:cubicBezTo>
                  <a:cubicBezTo>
                    <a:pt x="2486025" y="556260"/>
                    <a:pt x="1929765" y="0"/>
                    <a:pt x="1243013" y="0"/>
                  </a:cubicBezTo>
                  <a:lnTo>
                    <a:pt x="124301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100000">
                  <a:schemeClr val="bg2"/>
                </a:gs>
              </a:gsLst>
              <a:lin ang="78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30" name="Elipse 5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F0FEE592-DE6E-490F-ADB1-4B00F65F2C31}"/>
                </a:ext>
              </a:extLst>
            </p:cNvPr>
            <p:cNvSpPr/>
            <p:nvPr/>
          </p:nvSpPr>
          <p:spPr>
            <a:xfrm>
              <a:off x="5052703" y="646548"/>
              <a:ext cx="1828724" cy="1828724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</p:grpSp>
      <p:sp>
        <p:nvSpPr>
          <p:cNvPr id="31" name="CuadroTexto 1150">
            <a:extLst>
              <a:ext uri="{FF2B5EF4-FFF2-40B4-BE49-F238E27FC236}">
                <a16:creationId xmlns:a16="http://schemas.microsoft.com/office/drawing/2014/main" xmlns="" id="{F639D885-EEA2-448A-B165-67E12CBCBEE6}"/>
              </a:ext>
            </a:extLst>
          </p:cNvPr>
          <p:cNvSpPr txBox="1"/>
          <p:nvPr/>
        </p:nvSpPr>
        <p:spPr>
          <a:xfrm>
            <a:off x="1408906" y="1541271"/>
            <a:ext cx="70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  <a:latin typeface="Bernard MT Condensed" panose="02050806060905020404" pitchFamily="18" charset="0"/>
              </a:rPr>
              <a:t>2.1</a:t>
            </a:r>
            <a:endParaRPr lang="en-US" sz="3600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32" name="Pentagon 17">
            <a:extLst>
              <a:ext uri="{FF2B5EF4-FFF2-40B4-BE49-F238E27FC236}">
                <a16:creationId xmlns:a16="http://schemas.microsoft.com/office/drawing/2014/main" xmlns="" id="{1F9FD3C3-B616-4E18-A59E-B5399108B081}"/>
              </a:ext>
            </a:extLst>
          </p:cNvPr>
          <p:cNvSpPr/>
          <p:nvPr/>
        </p:nvSpPr>
        <p:spPr>
          <a:xfrm>
            <a:off x="4035833" y="4751980"/>
            <a:ext cx="1410089" cy="484506"/>
          </a:xfrm>
          <a:prstGeom prst="homePlat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699" dirty="0" smtClean="0"/>
              <a:t>7</a:t>
            </a:r>
            <a:endParaRPr lang="ko-KR" altLang="en-US" sz="2699" dirty="0"/>
          </a:p>
        </p:txBody>
      </p:sp>
      <p:sp>
        <p:nvSpPr>
          <p:cNvPr id="33" name="Pentagon 17">
            <a:extLst>
              <a:ext uri="{FF2B5EF4-FFF2-40B4-BE49-F238E27FC236}">
                <a16:creationId xmlns:a16="http://schemas.microsoft.com/office/drawing/2014/main" xmlns="" id="{1F9FD3C3-B616-4E18-A59E-B5399108B081}"/>
              </a:ext>
            </a:extLst>
          </p:cNvPr>
          <p:cNvSpPr/>
          <p:nvPr/>
        </p:nvSpPr>
        <p:spPr>
          <a:xfrm>
            <a:off x="4062521" y="5542135"/>
            <a:ext cx="1410089" cy="484506"/>
          </a:xfrm>
          <a:prstGeom prst="homePlat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992A87F-5BC4-4746-B515-04224FA1238A}"/>
              </a:ext>
            </a:extLst>
          </p:cNvPr>
          <p:cNvSpPr txBox="1"/>
          <p:nvPr/>
        </p:nvSpPr>
        <p:spPr>
          <a:xfrm>
            <a:off x="4247398" y="4827038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 smtClean="0">
                <a:solidFill>
                  <a:schemeClr val="accent6"/>
                </a:solidFill>
                <a:cs typeface="Arial" pitchFamily="34" charset="0"/>
              </a:rPr>
              <a:t>7</a:t>
            </a:r>
            <a:endParaRPr lang="ko-KR" altLang="en-US" sz="1999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35" name="Oval 22">
            <a:extLst>
              <a:ext uri="{FF2B5EF4-FFF2-40B4-BE49-F238E27FC236}">
                <a16:creationId xmlns:a16="http://schemas.microsoft.com/office/drawing/2014/main" xmlns="" id="{C16B4364-E3E2-4DA8-BE3C-A614875982EB}"/>
              </a:ext>
            </a:extLst>
          </p:cNvPr>
          <p:cNvSpPr/>
          <p:nvPr/>
        </p:nvSpPr>
        <p:spPr>
          <a:xfrm>
            <a:off x="5474797" y="4922244"/>
            <a:ext cx="143978" cy="1439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36" name="Oval 22">
            <a:extLst>
              <a:ext uri="{FF2B5EF4-FFF2-40B4-BE49-F238E27FC236}">
                <a16:creationId xmlns:a16="http://schemas.microsoft.com/office/drawing/2014/main" xmlns="" id="{C16B4364-E3E2-4DA8-BE3C-A614875982EB}"/>
              </a:ext>
            </a:extLst>
          </p:cNvPr>
          <p:cNvSpPr/>
          <p:nvPr/>
        </p:nvSpPr>
        <p:spPr>
          <a:xfrm>
            <a:off x="5474797" y="5712399"/>
            <a:ext cx="143978" cy="14397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3992A87F-5BC4-4746-B515-04224FA1238A}"/>
              </a:ext>
            </a:extLst>
          </p:cNvPr>
          <p:cNvSpPr txBox="1"/>
          <p:nvPr/>
        </p:nvSpPr>
        <p:spPr>
          <a:xfrm>
            <a:off x="4255123" y="5584385"/>
            <a:ext cx="852818" cy="400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99" b="1" dirty="0">
                <a:solidFill>
                  <a:schemeClr val="accent6"/>
                </a:solidFill>
                <a:cs typeface="Arial" pitchFamily="34" charset="0"/>
              </a:rPr>
              <a:t>8</a:t>
            </a:r>
            <a:endParaRPr lang="ko-KR" altLang="en-US" sz="1999" b="1" dirty="0">
              <a:solidFill>
                <a:schemeClr val="accent6"/>
              </a:solidFill>
              <a:cs typeface="Arial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78775" y="5551135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dirty="0" err="1" smtClean="0"/>
              <a:t>Kripto-to‘plam</a:t>
            </a:r>
            <a:r>
              <a:rPr lang="en-US" altLang="ko-KR" sz="2800" dirty="0" smtClean="0"/>
              <a:t>;</a:t>
            </a:r>
            <a:endParaRPr lang="ko-KR" altLang="en-US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26436" y="533400"/>
            <a:ext cx="5778237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/>
              <a:t>TLS </a:t>
            </a:r>
            <a:r>
              <a:rPr lang="en-US" sz="2800" dirty="0" err="1"/>
              <a:t>protokolida</a:t>
            </a:r>
            <a:r>
              <a:rPr lang="en-US" sz="2800" dirty="0"/>
              <a:t> </a:t>
            </a:r>
            <a:r>
              <a:rPr lang="en-US" sz="2800" dirty="0" err="1"/>
              <a:t>axborot</a:t>
            </a:r>
            <a:r>
              <a:rPr lang="en-US" sz="2800" dirty="0"/>
              <a:t> </a:t>
            </a:r>
            <a:r>
              <a:rPr lang="en-US" sz="2800" dirty="0" err="1"/>
              <a:t>almashish</a:t>
            </a:r>
            <a:r>
              <a:rPr lang="en-US" sz="2800" dirty="0"/>
              <a:t> </a:t>
            </a:r>
            <a:r>
              <a:rPr lang="en-US" sz="2800" dirty="0" err="1"/>
              <a:t>ierarxiyasi</a:t>
            </a:r>
            <a:r>
              <a:rPr lang="en-US" sz="2800" dirty="0"/>
              <a:t>;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78775" y="1518434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sz="2800" dirty="0"/>
              <a:t>Record </a:t>
            </a:r>
            <a:r>
              <a:rPr lang="en-US" sz="2800" dirty="0" err="1"/>
              <a:t>protokoli</a:t>
            </a:r>
            <a:r>
              <a:rPr lang="en-US" sz="2800" dirty="0"/>
              <a:t>;</a:t>
            </a:r>
            <a:endParaRPr lang="ru-RU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78775" y="2328909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sz="2800" dirty="0"/>
              <a:t>Handshake </a:t>
            </a:r>
            <a:r>
              <a:rPr lang="en-US" sz="2800" dirty="0" err="1"/>
              <a:t>protokoli</a:t>
            </a:r>
            <a:r>
              <a:rPr lang="en-US" sz="2800" dirty="0"/>
              <a:t>;</a:t>
            </a:r>
            <a:endParaRPr lang="ru-RU" sz="28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51471" y="3103081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sz="2800" dirty="0" err="1"/>
              <a:t>ChangeCipherSpec</a:t>
            </a:r>
            <a:r>
              <a:rPr lang="en-US" sz="2800" dirty="0"/>
              <a:t> </a:t>
            </a:r>
            <a:r>
              <a:rPr lang="en-US" sz="2800" dirty="0" err="1"/>
              <a:t>protokoli</a:t>
            </a:r>
            <a:r>
              <a:rPr lang="en-US" sz="2800" dirty="0"/>
              <a:t>;</a:t>
            </a:r>
            <a:endParaRPr lang="ru-RU" sz="2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38160" y="3887636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sz="2800" dirty="0"/>
              <a:t>Alert </a:t>
            </a:r>
            <a:r>
              <a:rPr lang="en-US" sz="2800" dirty="0" err="1"/>
              <a:t>protokoli</a:t>
            </a:r>
            <a:r>
              <a:rPr lang="en-US" sz="2800" dirty="0"/>
              <a:t>; </a:t>
            </a:r>
            <a:endParaRPr lang="ru-RU" sz="28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CE352248-E3F2-482C-919F-CDF9ACA91BA3}"/>
              </a:ext>
            </a:extLst>
          </p:cNvPr>
          <p:cNvSpPr txBox="1"/>
          <p:nvPr/>
        </p:nvSpPr>
        <p:spPr>
          <a:xfrm>
            <a:off x="5865880" y="4765431"/>
            <a:ext cx="577823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n-US" sz="2800" dirty="0"/>
              <a:t>Application Data </a:t>
            </a:r>
            <a:r>
              <a:rPr lang="en-US" sz="2800" dirty="0" err="1"/>
              <a:t>protokoli</a:t>
            </a:r>
            <a:r>
              <a:rPr lang="en-US" sz="2800" dirty="0"/>
              <a:t>;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20703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2229" y="873601"/>
            <a:ext cx="11785600" cy="353943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800" b="1" dirty="0" smtClean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FOYDALANISH SOHASI</a:t>
            </a:r>
          </a:p>
          <a:p>
            <a:pPr algn="just"/>
            <a:r>
              <a:rPr lang="en-US" sz="28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Ushbu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protokol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tomonlarning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autentifikatsiyasini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aloqa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kanali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uzatiladigan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ma'lumotlarning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maxfiyligi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yaxlitligini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ta'minlash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davlat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standartlari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tomonidan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belgilangan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algoritmlardan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holda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Internetdagi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mijoz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-server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ilovalari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o'rtasida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xavfsiz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ulanishni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o'rnatish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mo'ljallangan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Bayonnoma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davlat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sirini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tashkil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etmaydigan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ma’lumotlarni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qayta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ishlashda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aloqa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kanallari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himoyasini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ta’minlash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qo‘llanilishi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mumkin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2230" y="4569320"/>
            <a:ext cx="11785599" cy="224676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TLS PROTOKOLINING MAQSADI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FFFF00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tomonlar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autentifikatsiyasi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ERI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amalga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oshiriladi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konfidensiallik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800" b="1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uzatilayotgan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axborotni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shifrlash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ta’minlanadi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yaxlitlik</a:t>
            </a:r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uzatilgan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xabarlar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autentifikatsiya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kodlaridan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         </a:t>
            </a:r>
            <a:r>
              <a:rPr lang="en-US" sz="28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foydalanish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ta’minlanadi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8616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  <a:alpha val="9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1117719669"/>
              </p:ext>
            </p:extLst>
          </p:nvPr>
        </p:nvGraphicFramePr>
        <p:xfrm>
          <a:off x="3048000" y="2850272"/>
          <a:ext cx="63246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Группа 6"/>
          <p:cNvGrpSpPr/>
          <p:nvPr/>
        </p:nvGrpSpPr>
        <p:grpSpPr>
          <a:xfrm>
            <a:off x="3048000" y="3383671"/>
            <a:ext cx="6324600" cy="609600"/>
            <a:chOff x="1618" y="75281"/>
            <a:chExt cx="707443" cy="424465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618" y="75281"/>
              <a:ext cx="707443" cy="42446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sz="2800" b="1" dirty="0"/>
                <a:t>Record </a:t>
              </a:r>
              <a:r>
                <a:rPr lang="en-US" sz="2800" b="1" dirty="0" err="1"/>
                <a:t>protokoli</a:t>
              </a:r>
              <a:endParaRPr lang="ru-RU" sz="2800" b="1" dirty="0"/>
            </a:p>
          </p:txBody>
        </p:sp>
        <p:sp>
          <p:nvSpPr>
            <p:cNvPr id="9" name="Скругленный прямоугольник 4"/>
            <p:cNvSpPr/>
            <p:nvPr/>
          </p:nvSpPr>
          <p:spPr>
            <a:xfrm>
              <a:off x="14050" y="87713"/>
              <a:ext cx="682579" cy="39960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500"/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605897" y="2164473"/>
            <a:ext cx="2121198" cy="600957"/>
            <a:chOff x="0" y="422627"/>
            <a:chExt cx="8125883" cy="1354314"/>
          </a:xfrm>
        </p:grpSpPr>
        <p:sp>
          <p:nvSpPr>
            <p:cNvPr id="20" name="Скругленный прямоугольник 19"/>
            <p:cNvSpPr/>
            <p:nvPr/>
          </p:nvSpPr>
          <p:spPr>
            <a:xfrm>
              <a:off x="0" y="422627"/>
              <a:ext cx="8125883" cy="135431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sz="2400" dirty="0" err="1"/>
                <a:t>Ilova</a:t>
              </a:r>
              <a:r>
                <a:rPr lang="en-US" sz="2400" dirty="0"/>
                <a:t> </a:t>
              </a:r>
              <a:r>
                <a:rPr lang="en-US" sz="2400" dirty="0" err="1"/>
                <a:t>pog‘onasi</a:t>
              </a:r>
              <a:endParaRPr lang="ru-RU" sz="2400" dirty="0"/>
            </a:p>
          </p:txBody>
        </p:sp>
        <p:sp>
          <p:nvSpPr>
            <p:cNvPr id="21" name="Скругленный прямоугольник 4"/>
            <p:cNvSpPr/>
            <p:nvPr/>
          </p:nvSpPr>
          <p:spPr>
            <a:xfrm>
              <a:off x="39667" y="462294"/>
              <a:ext cx="8046549" cy="12749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3825" tIns="82550" rIns="123825" bIns="82550" numCol="1" spcCol="1270" anchor="ctr" anchorCtr="0">
              <a:noAutofit/>
            </a:bodyPr>
            <a:lstStyle/>
            <a:p>
              <a:pPr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6500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457200" y="4010873"/>
            <a:ext cx="2370667" cy="1034082"/>
            <a:chOff x="-551476" y="462294"/>
            <a:chExt cx="9424543" cy="2330400"/>
          </a:xfrm>
        </p:grpSpPr>
        <p:sp>
          <p:nvSpPr>
            <p:cNvPr id="23" name="Скругленный прямоугольник 22"/>
            <p:cNvSpPr/>
            <p:nvPr/>
          </p:nvSpPr>
          <p:spPr>
            <a:xfrm>
              <a:off x="-551476" y="1438379"/>
              <a:ext cx="9424543" cy="13543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en-US" sz="2000" dirty="0"/>
                <a:t>Transport </a:t>
              </a:r>
              <a:r>
                <a:rPr lang="en-US" sz="2000" dirty="0" err="1"/>
                <a:t>pog‘onasi</a:t>
              </a:r>
              <a:endParaRPr lang="ru-RU" sz="2000" dirty="0"/>
            </a:p>
          </p:txBody>
        </p:sp>
        <p:sp>
          <p:nvSpPr>
            <p:cNvPr id="24" name="Скругленный прямоугольник 4"/>
            <p:cNvSpPr/>
            <p:nvPr/>
          </p:nvSpPr>
          <p:spPr>
            <a:xfrm>
              <a:off x="39667" y="462294"/>
              <a:ext cx="8046549" cy="12749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3825" tIns="82550" rIns="123825" bIns="82550" numCol="1" spcCol="1270" anchor="ctr" anchorCtr="0">
              <a:noAutofit/>
            </a:bodyPr>
            <a:lstStyle/>
            <a:p>
              <a:pPr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650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904045" y="3211026"/>
            <a:ext cx="1447800" cy="325047"/>
            <a:chOff x="39667" y="462294"/>
            <a:chExt cx="8126078" cy="1354315"/>
          </a:xfrm>
        </p:grpSpPr>
        <p:sp>
          <p:nvSpPr>
            <p:cNvPr id="26" name="Скругленный прямоугольник 25"/>
            <p:cNvSpPr/>
            <p:nvPr/>
          </p:nvSpPr>
          <p:spPr>
            <a:xfrm>
              <a:off x="39862" y="462294"/>
              <a:ext cx="8125883" cy="13543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003">
              <a:schemeClr val="dk1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US" dirty="0"/>
                <a:t>TLS</a:t>
              </a:r>
              <a:endParaRPr lang="ru-RU" dirty="0"/>
            </a:p>
          </p:txBody>
        </p:sp>
        <p:sp>
          <p:nvSpPr>
            <p:cNvPr id="27" name="Скругленный прямоугольник 4"/>
            <p:cNvSpPr/>
            <p:nvPr/>
          </p:nvSpPr>
          <p:spPr>
            <a:xfrm>
              <a:off x="39667" y="462294"/>
              <a:ext cx="8046549" cy="12749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3825" tIns="82550" rIns="123825" bIns="82550" numCol="1" spcCol="1270" anchor="ctr" anchorCtr="0">
              <a:noAutofit/>
            </a:bodyPr>
            <a:lstStyle/>
            <a:p>
              <a:pPr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6500"/>
            </a:p>
          </p:txBody>
        </p:sp>
      </p:grpSp>
      <p:cxnSp>
        <p:nvCxnSpPr>
          <p:cNvPr id="29" name="Прямая соединительная линия 28"/>
          <p:cNvCxnSpPr/>
          <p:nvPr/>
        </p:nvCxnSpPr>
        <p:spPr>
          <a:xfrm flipV="1">
            <a:off x="2337677" y="2889829"/>
            <a:ext cx="770539" cy="332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333569" y="3517032"/>
            <a:ext cx="774646" cy="4583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Скругленный прямоугольник 36"/>
          <p:cNvSpPr/>
          <p:nvPr/>
        </p:nvSpPr>
        <p:spPr>
          <a:xfrm>
            <a:off x="1125578" y="3906821"/>
            <a:ext cx="1008023" cy="324010"/>
          </a:xfrm>
          <a:prstGeom prst="roundRect">
            <a:avLst>
              <a:gd name="adj" fmla="val 10000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003">
            <a:schemeClr val="dk1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TCP</a:t>
            </a:r>
            <a:endParaRPr lang="ru-RU" dirty="0"/>
          </a:p>
        </p:txBody>
      </p:sp>
      <p:grpSp>
        <p:nvGrpSpPr>
          <p:cNvPr id="38" name="Группа 37"/>
          <p:cNvGrpSpPr/>
          <p:nvPr/>
        </p:nvGrpSpPr>
        <p:grpSpPr>
          <a:xfrm rot="5400000">
            <a:off x="1498308" y="3593054"/>
            <a:ext cx="257370" cy="301075"/>
            <a:chOff x="1341279" y="78062"/>
            <a:chExt cx="257370" cy="301075"/>
          </a:xfrm>
        </p:grpSpPr>
        <p:sp>
          <p:nvSpPr>
            <p:cNvPr id="39" name="Стрелка вправо 38"/>
            <p:cNvSpPr/>
            <p:nvPr/>
          </p:nvSpPr>
          <p:spPr>
            <a:xfrm>
              <a:off x="1341279" y="78062"/>
              <a:ext cx="257370" cy="30107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Стрелка вправо 4"/>
            <p:cNvSpPr/>
            <p:nvPr/>
          </p:nvSpPr>
          <p:spPr>
            <a:xfrm>
              <a:off x="1341279" y="138277"/>
              <a:ext cx="180159" cy="1806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200"/>
            </a:p>
          </p:txBody>
        </p:sp>
      </p:grpSp>
      <p:cxnSp>
        <p:nvCxnSpPr>
          <p:cNvPr id="42" name="Прямая соединительная линия 41"/>
          <p:cNvCxnSpPr/>
          <p:nvPr/>
        </p:nvCxnSpPr>
        <p:spPr>
          <a:xfrm flipH="1">
            <a:off x="605896" y="4230831"/>
            <a:ext cx="519682" cy="2372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2106985" y="4230831"/>
            <a:ext cx="469979" cy="23724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Группа 27"/>
          <p:cNvGrpSpPr/>
          <p:nvPr/>
        </p:nvGrpSpPr>
        <p:grpSpPr>
          <a:xfrm rot="5400000">
            <a:off x="1489232" y="2829359"/>
            <a:ext cx="257370" cy="301075"/>
            <a:chOff x="1341279" y="78062"/>
            <a:chExt cx="257370" cy="301075"/>
          </a:xfrm>
        </p:grpSpPr>
        <p:sp>
          <p:nvSpPr>
            <p:cNvPr id="30" name="Стрелка вправо 29"/>
            <p:cNvSpPr/>
            <p:nvPr/>
          </p:nvSpPr>
          <p:spPr>
            <a:xfrm>
              <a:off x="1341279" y="78062"/>
              <a:ext cx="257370" cy="301075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Стрелка вправо 4"/>
            <p:cNvSpPr/>
            <p:nvPr/>
          </p:nvSpPr>
          <p:spPr>
            <a:xfrm>
              <a:off x="1341279" y="138277"/>
              <a:ext cx="180159" cy="1806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1200"/>
            </a:p>
          </p:txBody>
        </p:sp>
      </p:grpSp>
      <p:sp>
        <p:nvSpPr>
          <p:cNvPr id="45" name="Title 3"/>
          <p:cNvSpPr>
            <a:spLocks noGrp="1"/>
          </p:cNvSpPr>
          <p:nvPr>
            <p:ph type="title"/>
          </p:nvPr>
        </p:nvSpPr>
        <p:spPr>
          <a:xfrm>
            <a:off x="611029" y="45771"/>
            <a:ext cx="10969943" cy="71108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TLS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protokoli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tuzilishi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 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j-ea"/>
              <a:cs typeface="Arial" panose="020B0604020202020204" pitchFamily="34" charset="0"/>
            </a:endParaRPr>
          </a:p>
        </p:txBody>
      </p:sp>
      <p:sp>
        <p:nvSpPr>
          <p:cNvPr id="48" name="Правая фигурная скобка 47"/>
          <p:cNvSpPr/>
          <p:nvPr/>
        </p:nvSpPr>
        <p:spPr>
          <a:xfrm>
            <a:off x="9473300" y="2851211"/>
            <a:ext cx="228600" cy="45240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/>
          <p:cNvSpPr txBox="1"/>
          <p:nvPr/>
        </p:nvSpPr>
        <p:spPr>
          <a:xfrm>
            <a:off x="9670921" y="2825396"/>
            <a:ext cx="149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Yuqori</a:t>
            </a:r>
            <a:r>
              <a:rPr lang="en-US" dirty="0"/>
              <a:t> </a:t>
            </a:r>
            <a:r>
              <a:rPr lang="en-US" dirty="0" err="1"/>
              <a:t>qatlam</a:t>
            </a:r>
            <a:endParaRPr lang="ru-RU" dirty="0"/>
          </a:p>
        </p:txBody>
      </p:sp>
      <p:sp>
        <p:nvSpPr>
          <p:cNvPr id="50" name="Правая фигурная скобка 49"/>
          <p:cNvSpPr/>
          <p:nvPr/>
        </p:nvSpPr>
        <p:spPr>
          <a:xfrm>
            <a:off x="9473301" y="3401526"/>
            <a:ext cx="239043" cy="57389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/>
          <p:cNvSpPr txBox="1"/>
          <p:nvPr/>
        </p:nvSpPr>
        <p:spPr>
          <a:xfrm>
            <a:off x="9701900" y="3445156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Pastki</a:t>
            </a:r>
            <a:r>
              <a:rPr lang="en-US" dirty="0"/>
              <a:t> </a:t>
            </a:r>
            <a:r>
              <a:rPr lang="en-US" dirty="0" err="1"/>
              <a:t>qatlam</a:t>
            </a:r>
            <a:endParaRPr lang="ru-RU" dirty="0"/>
          </a:p>
        </p:txBody>
      </p:sp>
      <p:sp>
        <p:nvSpPr>
          <p:cNvPr id="52" name="Isosceles Triangle 31">
            <a:extLst>
              <a:ext uri="{FF2B5EF4-FFF2-40B4-BE49-F238E27FC236}">
                <a16:creationId xmlns="" xmlns:a16="http://schemas.microsoft.com/office/drawing/2014/main" id="{6A5D2710-D6A9-4F1F-A83C-A9AAB4994130}"/>
              </a:ext>
            </a:extLst>
          </p:cNvPr>
          <p:cNvSpPr/>
          <p:nvPr/>
        </p:nvSpPr>
        <p:spPr>
          <a:xfrm rot="10800000">
            <a:off x="3030799" y="1582642"/>
            <a:ext cx="1581128" cy="1182788"/>
          </a:xfrm>
          <a:custGeom>
            <a:avLst/>
            <a:gdLst/>
            <a:ahLst/>
            <a:cxnLst/>
            <a:rect l="l" t="t" r="r" b="b"/>
            <a:pathLst>
              <a:path w="1868402" h="1205021">
                <a:moveTo>
                  <a:pt x="1868402" y="1205021"/>
                </a:moveTo>
                <a:lnTo>
                  <a:pt x="0" y="1205021"/>
                </a:lnTo>
                <a:lnTo>
                  <a:pt x="0" y="305021"/>
                </a:lnTo>
                <a:lnTo>
                  <a:pt x="757289" y="305021"/>
                </a:lnTo>
                <a:lnTo>
                  <a:pt x="934201" y="0"/>
                </a:lnTo>
                <a:lnTo>
                  <a:pt x="1111113" y="305021"/>
                </a:lnTo>
                <a:lnTo>
                  <a:pt x="1868402" y="305021"/>
                </a:lnTo>
                <a:close/>
              </a:path>
            </a:pathLst>
          </a:custGeom>
          <a:solidFill>
            <a:srgbClr val="00B05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="" xmlns:a16="http://schemas.microsoft.com/office/drawing/2014/main" id="{1143F190-09C7-42A9-BCED-0AF31BED706B}"/>
              </a:ext>
            </a:extLst>
          </p:cNvPr>
          <p:cNvSpPr txBox="1"/>
          <p:nvPr/>
        </p:nvSpPr>
        <p:spPr>
          <a:xfrm>
            <a:off x="2993437" y="1742943"/>
            <a:ext cx="1655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FFFF00"/>
                </a:solidFill>
              </a:rPr>
              <a:t>Senas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o’rnatish</a:t>
            </a: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err="1">
                <a:solidFill>
                  <a:srgbClr val="FFFF00"/>
                </a:solidFill>
              </a:rPr>
              <a:t>protokoli</a:t>
            </a:r>
            <a:endParaRPr lang="ru-RU" dirty="0">
              <a:solidFill>
                <a:srgbClr val="FFFF00"/>
              </a:solidFill>
            </a:endParaRPr>
          </a:p>
        </p:txBody>
      </p:sp>
      <p:sp>
        <p:nvSpPr>
          <p:cNvPr id="58" name="Isosceles Triangle 31">
            <a:extLst>
              <a:ext uri="{FF2B5EF4-FFF2-40B4-BE49-F238E27FC236}">
                <a16:creationId xmlns="" xmlns:a16="http://schemas.microsoft.com/office/drawing/2014/main" id="{6A5D2710-D6A9-4F1F-A83C-A9AAB4994130}"/>
              </a:ext>
            </a:extLst>
          </p:cNvPr>
          <p:cNvSpPr/>
          <p:nvPr/>
        </p:nvSpPr>
        <p:spPr>
          <a:xfrm rot="10800000">
            <a:off x="5380899" y="1582641"/>
            <a:ext cx="1636218" cy="1268569"/>
          </a:xfrm>
          <a:custGeom>
            <a:avLst/>
            <a:gdLst/>
            <a:ahLst/>
            <a:cxnLst/>
            <a:rect l="l" t="t" r="r" b="b"/>
            <a:pathLst>
              <a:path w="1868402" h="1205021">
                <a:moveTo>
                  <a:pt x="1868402" y="1205021"/>
                </a:moveTo>
                <a:lnTo>
                  <a:pt x="0" y="1205021"/>
                </a:lnTo>
                <a:lnTo>
                  <a:pt x="0" y="305021"/>
                </a:lnTo>
                <a:lnTo>
                  <a:pt x="757289" y="305021"/>
                </a:lnTo>
                <a:lnTo>
                  <a:pt x="934201" y="0"/>
                </a:lnTo>
                <a:lnTo>
                  <a:pt x="1111113" y="305021"/>
                </a:lnTo>
                <a:lnTo>
                  <a:pt x="1868402" y="305021"/>
                </a:lnTo>
                <a:close/>
              </a:path>
            </a:pathLst>
          </a:custGeom>
          <a:solidFill>
            <a:srgbClr val="7030A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="" xmlns:a16="http://schemas.microsoft.com/office/drawing/2014/main" id="{1143F190-09C7-42A9-BCED-0AF31BED706B}"/>
              </a:ext>
            </a:extLst>
          </p:cNvPr>
          <p:cNvSpPr txBox="1"/>
          <p:nvPr/>
        </p:nvSpPr>
        <p:spPr>
          <a:xfrm>
            <a:off x="5367733" y="1735279"/>
            <a:ext cx="1655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 smtClean="0">
                <a:solidFill>
                  <a:schemeClr val="bg1"/>
                </a:solidFill>
              </a:rPr>
              <a:t>Xatoliklar</a:t>
            </a:r>
            <a:r>
              <a:rPr lang="en-US" sz="1600" dirty="0" smtClean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haqidagi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protokol</a:t>
            </a:r>
            <a:endParaRPr lang="ru-RU" sz="1600" dirty="0">
              <a:solidFill>
                <a:schemeClr val="bg1"/>
              </a:solidFill>
            </a:endParaRPr>
          </a:p>
        </p:txBody>
      </p:sp>
      <p:sp>
        <p:nvSpPr>
          <p:cNvPr id="60" name="Isosceles Triangle 31">
            <a:extLst>
              <a:ext uri="{FF2B5EF4-FFF2-40B4-BE49-F238E27FC236}">
                <a16:creationId xmlns="" xmlns:a16="http://schemas.microsoft.com/office/drawing/2014/main" id="{6A5D2710-D6A9-4F1F-A83C-A9AAB4994130}"/>
              </a:ext>
            </a:extLst>
          </p:cNvPr>
          <p:cNvSpPr/>
          <p:nvPr/>
        </p:nvSpPr>
        <p:spPr>
          <a:xfrm rot="10800000">
            <a:off x="7635309" y="1606174"/>
            <a:ext cx="1626148" cy="1221502"/>
          </a:xfrm>
          <a:custGeom>
            <a:avLst/>
            <a:gdLst/>
            <a:ahLst/>
            <a:cxnLst/>
            <a:rect l="l" t="t" r="r" b="b"/>
            <a:pathLst>
              <a:path w="1868402" h="1205021">
                <a:moveTo>
                  <a:pt x="1868402" y="1205021"/>
                </a:moveTo>
                <a:lnTo>
                  <a:pt x="0" y="1205021"/>
                </a:lnTo>
                <a:lnTo>
                  <a:pt x="0" y="305021"/>
                </a:lnTo>
                <a:lnTo>
                  <a:pt x="757289" y="305021"/>
                </a:lnTo>
                <a:lnTo>
                  <a:pt x="934201" y="0"/>
                </a:lnTo>
                <a:lnTo>
                  <a:pt x="1111113" y="305021"/>
                </a:lnTo>
                <a:lnTo>
                  <a:pt x="1868402" y="305021"/>
                </a:lnTo>
                <a:close/>
              </a:path>
            </a:pathLst>
          </a:custGeom>
          <a:solidFill>
            <a:srgbClr val="FFFF0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1143F190-09C7-42A9-BCED-0AF31BED706B}"/>
              </a:ext>
            </a:extLst>
          </p:cNvPr>
          <p:cNvSpPr txBox="1"/>
          <p:nvPr/>
        </p:nvSpPr>
        <p:spPr>
          <a:xfrm>
            <a:off x="7620457" y="1534738"/>
            <a:ext cx="16558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Yuqori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qatlam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protokollarini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pastki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qatlamga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</a:rPr>
              <a:t>uzatish</a:t>
            </a:r>
            <a:endParaRPr lang="ru-RU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" name="Isosceles Triangle 31">
            <a:extLst>
              <a:ext uri="{FF2B5EF4-FFF2-40B4-BE49-F238E27FC236}">
                <a16:creationId xmlns="" xmlns:a16="http://schemas.microsoft.com/office/drawing/2014/main" id="{6A5D2710-D6A9-4F1F-A83C-A9AAB4994130}"/>
              </a:ext>
            </a:extLst>
          </p:cNvPr>
          <p:cNvSpPr/>
          <p:nvPr/>
        </p:nvSpPr>
        <p:spPr>
          <a:xfrm>
            <a:off x="3159143" y="4177843"/>
            <a:ext cx="6511777" cy="1848604"/>
          </a:xfrm>
          <a:custGeom>
            <a:avLst/>
            <a:gdLst/>
            <a:ahLst/>
            <a:cxnLst/>
            <a:rect l="l" t="t" r="r" b="b"/>
            <a:pathLst>
              <a:path w="1868402" h="1205021">
                <a:moveTo>
                  <a:pt x="1868402" y="1205021"/>
                </a:moveTo>
                <a:lnTo>
                  <a:pt x="0" y="1205021"/>
                </a:lnTo>
                <a:lnTo>
                  <a:pt x="0" y="305021"/>
                </a:lnTo>
                <a:lnTo>
                  <a:pt x="757289" y="305021"/>
                </a:lnTo>
                <a:lnTo>
                  <a:pt x="934201" y="0"/>
                </a:lnTo>
                <a:lnTo>
                  <a:pt x="1111113" y="305021"/>
                </a:lnTo>
                <a:lnTo>
                  <a:pt x="1868402" y="305021"/>
                </a:lnTo>
                <a:close/>
              </a:path>
            </a:pathLst>
          </a:custGeom>
          <a:solidFill>
            <a:srgbClr val="00B050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1143F190-09C7-42A9-BCED-0AF31BED706B}"/>
              </a:ext>
            </a:extLst>
          </p:cNvPr>
          <p:cNvSpPr txBox="1"/>
          <p:nvPr/>
        </p:nvSpPr>
        <p:spPr>
          <a:xfrm>
            <a:off x="3276600" y="4695313"/>
            <a:ext cx="6299200" cy="136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protokollardan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ma’lumotlarni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Record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ulardan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yozuvlar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ataladigan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tuzilmalar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ketma-ketligini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yozuvlar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transport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protokoliga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o‘tkaziladi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52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664" y="1336894"/>
            <a:ext cx="685495" cy="685495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012" y="1371601"/>
            <a:ext cx="685799" cy="685799"/>
          </a:xfrm>
          <a:prstGeom prst="rect">
            <a:avLst/>
          </a:prstGeom>
        </p:spPr>
      </p:pic>
      <p:cxnSp>
        <p:nvCxnSpPr>
          <p:cNvPr id="4" name="Straight Connector 6"/>
          <p:cNvCxnSpPr/>
          <p:nvPr/>
        </p:nvCxnSpPr>
        <p:spPr>
          <a:xfrm>
            <a:off x="3998911" y="2286000"/>
            <a:ext cx="0" cy="441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8"/>
          <p:cNvCxnSpPr/>
          <p:nvPr/>
        </p:nvCxnSpPr>
        <p:spPr>
          <a:xfrm>
            <a:off x="7238759" y="2286000"/>
            <a:ext cx="0" cy="441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0613" y="2025682"/>
            <a:ext cx="2725826" cy="1323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protokl</a:t>
            </a:r>
            <a:r>
              <a:rPr lang="en-US" sz="2000" dirty="0" smtClean="0"/>
              <a:t> </a:t>
            </a:r>
            <a:r>
              <a:rPr lang="en-US" sz="2000" dirty="0" err="1" smtClean="0"/>
              <a:t>versiyasi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Tasodifiy</a:t>
            </a:r>
            <a:r>
              <a:rPr lang="en-US" sz="2000" dirty="0" smtClean="0"/>
              <a:t> </a:t>
            </a:r>
            <a:r>
              <a:rPr lang="en-US" sz="2000" dirty="0" err="1" smtClean="0"/>
              <a:t>malumot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Sessiya</a:t>
            </a:r>
            <a:r>
              <a:rPr lang="en-US" sz="2000" dirty="0" smtClean="0"/>
              <a:t> </a:t>
            </a:r>
            <a:r>
              <a:rPr lang="en-US" sz="2000" dirty="0" err="1" smtClean="0"/>
              <a:t>idendificatori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Kengaytmalar</a:t>
            </a:r>
            <a:r>
              <a:rPr lang="en-US" sz="2000" dirty="0" smtClean="0"/>
              <a:t>;</a:t>
            </a:r>
            <a:endParaRPr lang="ru-RU" sz="2000" dirty="0"/>
          </a:p>
        </p:txBody>
      </p:sp>
      <p:cxnSp>
        <p:nvCxnSpPr>
          <p:cNvPr id="7" name="Straight Arrow Connector 12"/>
          <p:cNvCxnSpPr/>
          <p:nvPr/>
        </p:nvCxnSpPr>
        <p:spPr>
          <a:xfrm>
            <a:off x="3979867" y="2515152"/>
            <a:ext cx="3257544" cy="203028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27500" y="960253"/>
            <a:ext cx="904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Client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724546" y="914400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Server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 rot="257102">
            <a:off x="4945579" y="2179761"/>
            <a:ext cx="1553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ClientHello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 rot="21075661">
            <a:off x="4799733" y="2973896"/>
            <a:ext cx="1636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ServerHello</a:t>
            </a:r>
            <a:endParaRPr lang="en-US" sz="2400" dirty="0" smtClean="0"/>
          </a:p>
        </p:txBody>
      </p:sp>
      <p:cxnSp>
        <p:nvCxnSpPr>
          <p:cNvPr id="12" name="Straight Arrow Connector 42"/>
          <p:cNvCxnSpPr/>
          <p:nvPr/>
        </p:nvCxnSpPr>
        <p:spPr>
          <a:xfrm rot="21075661" flipH="1">
            <a:off x="3990064" y="3361641"/>
            <a:ext cx="3238499" cy="1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68933" y="2534032"/>
            <a:ext cx="2879432" cy="13234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protokl</a:t>
            </a:r>
            <a:r>
              <a:rPr lang="en-US" sz="2000" dirty="0" smtClean="0"/>
              <a:t> </a:t>
            </a:r>
            <a:r>
              <a:rPr lang="en-US" sz="2000" dirty="0" err="1" smtClean="0"/>
              <a:t>versiyasi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Tasodifiy</a:t>
            </a:r>
            <a:r>
              <a:rPr lang="en-US" sz="2000" dirty="0" smtClean="0"/>
              <a:t> </a:t>
            </a:r>
            <a:r>
              <a:rPr lang="en-US" sz="2000" dirty="0" err="1" smtClean="0"/>
              <a:t>malumot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Sessiya</a:t>
            </a:r>
            <a:r>
              <a:rPr lang="en-US" sz="2000" dirty="0" smtClean="0"/>
              <a:t> </a:t>
            </a:r>
            <a:r>
              <a:rPr lang="en-US" sz="2000" dirty="0" err="1" smtClean="0"/>
              <a:t>idendificatori</a:t>
            </a:r>
            <a:r>
              <a:rPr lang="en-US" sz="2000" dirty="0" smtClean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 smtClean="0"/>
              <a:t>Kengaytmalar</a:t>
            </a:r>
            <a:r>
              <a:rPr lang="en-US" sz="2000" dirty="0" smtClean="0"/>
              <a:t>;</a:t>
            </a:r>
            <a:endParaRPr lang="ru-RU" sz="2000" dirty="0"/>
          </a:p>
        </p:txBody>
      </p:sp>
      <p:sp>
        <p:nvSpPr>
          <p:cNvPr id="14" name="Rectangle 61"/>
          <p:cNvSpPr/>
          <p:nvPr/>
        </p:nvSpPr>
        <p:spPr>
          <a:xfrm rot="21143794">
            <a:off x="4908417" y="3802056"/>
            <a:ext cx="17510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Certificat</a:t>
            </a:r>
            <a:r>
              <a:rPr lang="en-US" sz="2400" dirty="0" smtClean="0"/>
              <a:t> </a:t>
            </a:r>
          </a:p>
        </p:txBody>
      </p:sp>
      <p:cxnSp>
        <p:nvCxnSpPr>
          <p:cNvPr id="15" name="Straight Arrow Connector 62"/>
          <p:cNvCxnSpPr/>
          <p:nvPr/>
        </p:nvCxnSpPr>
        <p:spPr>
          <a:xfrm flipH="1">
            <a:off x="3979867" y="4016916"/>
            <a:ext cx="3191808" cy="43959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6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980" y="4152235"/>
            <a:ext cx="800083" cy="800083"/>
          </a:xfrm>
          <a:prstGeom prst="rect">
            <a:avLst/>
          </a:prstGeom>
        </p:spPr>
      </p:pic>
      <p:sp>
        <p:nvSpPr>
          <p:cNvPr id="17" name="Rectangle 65"/>
          <p:cNvSpPr/>
          <p:nvPr/>
        </p:nvSpPr>
        <p:spPr>
          <a:xfrm>
            <a:off x="4546056" y="4510298"/>
            <a:ext cx="6090567" cy="18636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/>
              <a:t>Sertifikatni</a:t>
            </a:r>
            <a:r>
              <a:rPr lang="en-US" sz="2000" dirty="0"/>
              <a:t> </a:t>
            </a:r>
            <a:r>
              <a:rPr lang="en-US" sz="2000" dirty="0" err="1"/>
              <a:t>tekshirish</a:t>
            </a:r>
            <a:r>
              <a:rPr lang="en-US" sz="2000" dirty="0" smtClean="0"/>
              <a:t>:</a:t>
            </a:r>
          </a:p>
          <a:p>
            <a:r>
              <a:rPr lang="en-US" sz="2000" dirty="0" smtClean="0"/>
              <a:t>• </a:t>
            </a:r>
            <a:r>
              <a:rPr lang="en-US" sz="2000" dirty="0" err="1"/>
              <a:t>sertifikatlashtirish</a:t>
            </a:r>
            <a:r>
              <a:rPr lang="en-US" sz="2000" dirty="0"/>
              <a:t> </a:t>
            </a:r>
            <a:r>
              <a:rPr lang="en-US" sz="2000" dirty="0" err="1"/>
              <a:t>markazlarining</a:t>
            </a:r>
            <a:r>
              <a:rPr lang="en-US" sz="2000" dirty="0"/>
              <a:t> </a:t>
            </a:r>
            <a:r>
              <a:rPr lang="en-US" sz="2000" dirty="0" err="1"/>
              <a:t>imzolarini</a:t>
            </a:r>
            <a:r>
              <a:rPr lang="en-US" sz="2000" dirty="0"/>
              <a:t> </a:t>
            </a:r>
            <a:r>
              <a:rPr lang="en-US" sz="2000" dirty="0" err="1" smtClean="0"/>
              <a:t>tekshirish</a:t>
            </a:r>
            <a:endParaRPr lang="en-US" sz="2000" dirty="0" smtClean="0"/>
          </a:p>
          <a:p>
            <a:r>
              <a:rPr lang="en-US" sz="2000" dirty="0" smtClean="0"/>
              <a:t>• </a:t>
            </a:r>
            <a:r>
              <a:rPr lang="en-US" sz="2000" dirty="0" err="1"/>
              <a:t>Ildiz</a:t>
            </a:r>
            <a:r>
              <a:rPr lang="en-US" sz="2000" dirty="0"/>
              <a:t> </a:t>
            </a:r>
            <a:r>
              <a:rPr lang="en-US" sz="2000" dirty="0" err="1"/>
              <a:t>sertifikatlash</a:t>
            </a:r>
            <a:r>
              <a:rPr lang="en-US" sz="2000" dirty="0"/>
              <a:t> </a:t>
            </a:r>
            <a:r>
              <a:rPr lang="en-US" sz="2000" dirty="0" err="1"/>
              <a:t>organining</a:t>
            </a:r>
            <a:r>
              <a:rPr lang="en-US" sz="2000" dirty="0"/>
              <a:t> “</a:t>
            </a:r>
            <a:r>
              <a:rPr lang="en-US" sz="2000" dirty="0" err="1"/>
              <a:t>ishonch”ini</a:t>
            </a:r>
            <a:r>
              <a:rPr lang="en-US" sz="2000" dirty="0"/>
              <a:t> </a:t>
            </a:r>
            <a:r>
              <a:rPr lang="en-US" sz="2000" dirty="0" err="1" smtClean="0"/>
              <a:t>tekshirish</a:t>
            </a:r>
            <a:endParaRPr lang="en-US" sz="2000" dirty="0" smtClean="0"/>
          </a:p>
          <a:p>
            <a:r>
              <a:rPr lang="en-US" sz="2000" dirty="0" smtClean="0"/>
              <a:t>• </a:t>
            </a:r>
            <a:r>
              <a:rPr lang="en-US" sz="2000" dirty="0" err="1"/>
              <a:t>Sertifikat</a:t>
            </a:r>
            <a:r>
              <a:rPr lang="en-US" sz="2000" dirty="0"/>
              <a:t> </a:t>
            </a:r>
            <a:r>
              <a:rPr lang="en-US" sz="2000" dirty="0" err="1"/>
              <a:t>domenini</a:t>
            </a:r>
            <a:r>
              <a:rPr lang="en-US" sz="2000" dirty="0"/>
              <a:t> </a:t>
            </a:r>
            <a:r>
              <a:rPr lang="en-US" sz="2000" dirty="0" err="1" smtClean="0"/>
              <a:t>tekshirish</a:t>
            </a:r>
            <a:endParaRPr lang="en-US" sz="2000" dirty="0" smtClean="0"/>
          </a:p>
          <a:p>
            <a:r>
              <a:rPr lang="en-US" sz="2000" dirty="0" smtClean="0"/>
              <a:t>• </a:t>
            </a:r>
            <a:r>
              <a:rPr lang="en-US" sz="2000" dirty="0" err="1"/>
              <a:t>Sertifikatning</a:t>
            </a:r>
            <a:r>
              <a:rPr lang="en-US" sz="2000" dirty="0"/>
              <a:t> </a:t>
            </a:r>
            <a:r>
              <a:rPr lang="en-US" sz="2000" dirty="0" err="1"/>
              <a:t>amal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r>
              <a:rPr lang="en-US" sz="2000" dirty="0"/>
              <a:t> </a:t>
            </a:r>
            <a:r>
              <a:rPr lang="en-US" sz="2000" dirty="0" err="1"/>
              <a:t>muddatini</a:t>
            </a:r>
            <a:r>
              <a:rPr lang="en-US" sz="2000" dirty="0"/>
              <a:t> </a:t>
            </a:r>
            <a:r>
              <a:rPr lang="en-US" sz="2000" dirty="0" err="1" smtClean="0"/>
              <a:t>tekshirish</a:t>
            </a:r>
            <a:endParaRPr lang="en-US" sz="2000" dirty="0" smtClean="0"/>
          </a:p>
          <a:p>
            <a:r>
              <a:rPr lang="en-US" sz="2000" dirty="0" smtClean="0"/>
              <a:t>• </a:t>
            </a:r>
            <a:r>
              <a:rPr lang="en-US" sz="2000" dirty="0" err="1"/>
              <a:t>Sertifikat</a:t>
            </a:r>
            <a:r>
              <a:rPr lang="en-US" sz="2000" dirty="0"/>
              <a:t> </a:t>
            </a:r>
            <a:r>
              <a:rPr lang="en-US" sz="2000" dirty="0" err="1"/>
              <a:t>bekor</a:t>
            </a:r>
            <a:r>
              <a:rPr lang="en-US" sz="2000" dirty="0"/>
              <a:t> </a:t>
            </a:r>
            <a:r>
              <a:rPr lang="en-US" sz="2000" dirty="0" err="1"/>
              <a:t>qilinganligini</a:t>
            </a:r>
            <a:r>
              <a:rPr lang="en-US" sz="2000" dirty="0"/>
              <a:t> </a:t>
            </a:r>
            <a:r>
              <a:rPr lang="en-US" sz="2000" dirty="0" err="1"/>
              <a:t>tekshirish</a:t>
            </a:r>
            <a:endParaRPr lang="ru-RU" sz="2000" dirty="0"/>
          </a:p>
        </p:txBody>
      </p:sp>
      <p:sp>
        <p:nvSpPr>
          <p:cNvPr id="18" name="Bent-Up Arrow 70"/>
          <p:cNvSpPr/>
          <p:nvPr/>
        </p:nvSpPr>
        <p:spPr>
          <a:xfrm rot="5400000">
            <a:off x="3307266" y="4424961"/>
            <a:ext cx="558344" cy="176682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flipV="1">
            <a:off x="0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3"/>
          <p:cNvSpPr txBox="1">
            <a:spLocks/>
          </p:cNvSpPr>
          <p:nvPr/>
        </p:nvSpPr>
        <p:spPr>
          <a:xfrm>
            <a:off x="609440" y="45770"/>
            <a:ext cx="1096994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Handshake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protokolining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ishlash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sxemasi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4324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/>
      <p:bldP spid="13" grpId="0" animBg="1"/>
      <p:bldP spid="14" grpId="0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664" y="1336894"/>
            <a:ext cx="685495" cy="685495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012" y="1371601"/>
            <a:ext cx="685799" cy="685799"/>
          </a:xfrm>
          <a:prstGeom prst="rect">
            <a:avLst/>
          </a:prstGeom>
        </p:spPr>
      </p:pic>
      <p:cxnSp>
        <p:nvCxnSpPr>
          <p:cNvPr id="4" name="Straight Connector 6"/>
          <p:cNvCxnSpPr/>
          <p:nvPr/>
        </p:nvCxnSpPr>
        <p:spPr>
          <a:xfrm>
            <a:off x="3998911" y="2286000"/>
            <a:ext cx="0" cy="441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8"/>
          <p:cNvCxnSpPr/>
          <p:nvPr/>
        </p:nvCxnSpPr>
        <p:spPr>
          <a:xfrm>
            <a:off x="7238759" y="2286000"/>
            <a:ext cx="0" cy="441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33261" y="2286000"/>
            <a:ext cx="1328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ClientHello</a:t>
            </a:r>
            <a:endParaRPr lang="ru-RU" sz="2000" dirty="0"/>
          </a:p>
        </p:txBody>
      </p:sp>
      <p:cxnSp>
        <p:nvCxnSpPr>
          <p:cNvPr id="7" name="Straight Arrow Connector 12"/>
          <p:cNvCxnSpPr/>
          <p:nvPr/>
        </p:nvCxnSpPr>
        <p:spPr>
          <a:xfrm>
            <a:off x="3979868" y="2604247"/>
            <a:ext cx="3238500" cy="0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56214" y="2667000"/>
            <a:ext cx="1396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ServerHello</a:t>
            </a:r>
            <a:endParaRPr lang="en-US" sz="2000" dirty="0" smtClean="0"/>
          </a:p>
        </p:txBody>
      </p:sp>
      <p:cxnSp>
        <p:nvCxnSpPr>
          <p:cNvPr id="9" name="Straight Arrow Connector 15"/>
          <p:cNvCxnSpPr/>
          <p:nvPr/>
        </p:nvCxnSpPr>
        <p:spPr>
          <a:xfrm flipH="1">
            <a:off x="3998913" y="2971799"/>
            <a:ext cx="3238499" cy="1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9"/>
          <p:cNvSpPr/>
          <p:nvPr/>
        </p:nvSpPr>
        <p:spPr>
          <a:xfrm>
            <a:off x="4875212" y="2971800"/>
            <a:ext cx="175101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Certificate </a:t>
            </a:r>
            <a:endParaRPr lang="en-US" sz="2000" dirty="0"/>
          </a:p>
        </p:txBody>
      </p:sp>
      <p:cxnSp>
        <p:nvCxnSpPr>
          <p:cNvPr id="11" name="Straight Arrow Connector 20"/>
          <p:cNvCxnSpPr/>
          <p:nvPr/>
        </p:nvCxnSpPr>
        <p:spPr>
          <a:xfrm flipH="1">
            <a:off x="3979867" y="3317541"/>
            <a:ext cx="3238499" cy="1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86271">
            <a:off x="4606100" y="4460536"/>
            <a:ext cx="2135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ClientKeyExchange</a:t>
            </a:r>
            <a:endParaRPr lang="ru-RU" sz="2000" dirty="0"/>
          </a:p>
        </p:txBody>
      </p:sp>
      <p:cxnSp>
        <p:nvCxnSpPr>
          <p:cNvPr id="13" name="Straight Arrow Connector 23"/>
          <p:cNvCxnSpPr/>
          <p:nvPr/>
        </p:nvCxnSpPr>
        <p:spPr>
          <a:xfrm>
            <a:off x="4009783" y="4823054"/>
            <a:ext cx="3218105" cy="206146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27500" y="960253"/>
            <a:ext cx="904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Client</a:t>
            </a:r>
            <a:endParaRPr lang="ru-R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6724546" y="914400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Server</a:t>
            </a:r>
            <a:endParaRPr lang="ru-RU" sz="2400" dirty="0"/>
          </a:p>
        </p:txBody>
      </p:sp>
      <p:pic>
        <p:nvPicPr>
          <p:cNvPr id="16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00" y="3013520"/>
            <a:ext cx="887978" cy="887978"/>
          </a:xfrm>
          <a:prstGeom prst="rect">
            <a:avLst/>
          </a:prstGeom>
        </p:spPr>
      </p:pic>
      <p:cxnSp>
        <p:nvCxnSpPr>
          <p:cNvPr id="17" name="Straight Arrow Connector 25"/>
          <p:cNvCxnSpPr/>
          <p:nvPr/>
        </p:nvCxnSpPr>
        <p:spPr>
          <a:xfrm flipH="1">
            <a:off x="3998239" y="3679141"/>
            <a:ext cx="3220127" cy="307313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27"/>
          <p:cNvSpPr/>
          <p:nvPr/>
        </p:nvSpPr>
        <p:spPr>
          <a:xfrm rot="21287058">
            <a:off x="4208302" y="3462595"/>
            <a:ext cx="23102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 smtClean="0"/>
              <a:t>ServerKeyExchange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7430606" y="3352800"/>
            <a:ext cx="2533246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Kalit</a:t>
            </a:r>
            <a:r>
              <a:rPr lang="en-US" sz="2400" dirty="0"/>
              <a:t> </a:t>
            </a:r>
            <a:r>
              <a:rPr lang="en-US" sz="2400" dirty="0" err="1" smtClean="0"/>
              <a:t>almashinuvi</a:t>
            </a:r>
            <a:r>
              <a:rPr lang="en-US" sz="2400" dirty="0" smtClean="0"/>
              <a:t> </a:t>
            </a:r>
          </a:p>
          <a:p>
            <a:r>
              <a:rPr lang="en-US" sz="2400" dirty="0" err="1" smtClean="0"/>
              <a:t>ma'lumotlari</a:t>
            </a:r>
            <a:r>
              <a:rPr lang="en-US" sz="2400" dirty="0"/>
              <a:t>: </a:t>
            </a:r>
            <a:r>
              <a:rPr lang="en-US" sz="2400" dirty="0" smtClean="0"/>
              <a:t> Qs</a:t>
            </a:r>
            <a:endParaRPr lang="ru-RU" sz="2400" dirty="0"/>
          </a:p>
        </p:txBody>
      </p:sp>
      <p:sp>
        <p:nvSpPr>
          <p:cNvPr id="20" name="Rectangle 1"/>
          <p:cNvSpPr/>
          <p:nvPr/>
        </p:nvSpPr>
        <p:spPr>
          <a:xfrm rot="21338944">
            <a:off x="4752655" y="3888123"/>
            <a:ext cx="19510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err="1"/>
              <a:t>ServerHelloDone</a:t>
            </a:r>
            <a:endParaRPr lang="ru-RU" sz="2000" dirty="0"/>
          </a:p>
        </p:txBody>
      </p:sp>
      <p:cxnSp>
        <p:nvCxnSpPr>
          <p:cNvPr id="21" name="Straight Arrow Connector 33"/>
          <p:cNvCxnSpPr/>
          <p:nvPr/>
        </p:nvCxnSpPr>
        <p:spPr>
          <a:xfrm flipH="1">
            <a:off x="4009783" y="4158981"/>
            <a:ext cx="3235411" cy="26061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83339" y="4234978"/>
            <a:ext cx="2439030" cy="83099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Kalit</a:t>
            </a:r>
            <a:r>
              <a:rPr lang="en-US" sz="2400" dirty="0"/>
              <a:t> </a:t>
            </a:r>
            <a:r>
              <a:rPr lang="en-US" sz="2400" dirty="0" err="1" smtClean="0"/>
              <a:t>almashinuvi</a:t>
            </a:r>
            <a:r>
              <a:rPr lang="en-US" sz="2400" dirty="0" smtClean="0"/>
              <a:t> </a:t>
            </a:r>
            <a:r>
              <a:rPr lang="en-US" sz="2400" dirty="0" err="1" smtClean="0"/>
              <a:t>ma'lumotlari</a:t>
            </a:r>
            <a:r>
              <a:rPr lang="en-US" sz="2400" dirty="0"/>
              <a:t>: </a:t>
            </a:r>
            <a:r>
              <a:rPr lang="en-US" sz="2400" dirty="0" smtClean="0"/>
              <a:t> Qc</a:t>
            </a:r>
            <a:endParaRPr lang="ru-RU" sz="2400" dirty="0"/>
          </a:p>
        </p:txBody>
      </p:sp>
      <p:pic>
        <p:nvPicPr>
          <p:cNvPr id="23" name="Picture 17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27976">
            <a:off x="2446662" y="4986697"/>
            <a:ext cx="651015" cy="651015"/>
          </a:xfrm>
          <a:prstGeom prst="rect">
            <a:avLst/>
          </a:prstGeom>
        </p:spPr>
      </p:pic>
      <p:pic>
        <p:nvPicPr>
          <p:cNvPr id="24" name="Picture 35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27976">
            <a:off x="8083064" y="4982498"/>
            <a:ext cx="651015" cy="6510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441" y="5478288"/>
            <a:ext cx="3379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Simmetrik</a:t>
            </a:r>
            <a:r>
              <a:rPr lang="en-US" sz="2400" dirty="0" smtClean="0"/>
              <a:t>  </a:t>
            </a:r>
            <a:r>
              <a:rPr lang="en-US" sz="2400" dirty="0" err="1" smtClean="0"/>
              <a:t>shifrlash</a:t>
            </a:r>
            <a:r>
              <a:rPr lang="en-US" sz="2400" dirty="0" smtClean="0"/>
              <a:t> </a:t>
            </a:r>
            <a:r>
              <a:rPr lang="en-US" sz="2400" dirty="0" err="1" smtClean="0"/>
              <a:t>kaliti</a:t>
            </a:r>
            <a:endParaRPr lang="ru-RU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7408505" y="5476263"/>
            <a:ext cx="3362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/>
              <a:t>Simmetrik</a:t>
            </a:r>
            <a:r>
              <a:rPr lang="en-US" sz="2400" dirty="0" smtClean="0"/>
              <a:t>  </a:t>
            </a:r>
            <a:r>
              <a:rPr lang="en-US" sz="2400" dirty="0" err="1" smtClean="0"/>
              <a:t>shifrlash</a:t>
            </a:r>
            <a:r>
              <a:rPr lang="en-US" sz="2400" dirty="0" smtClean="0"/>
              <a:t> </a:t>
            </a:r>
            <a:r>
              <a:rPr lang="en-US" sz="2400" dirty="0" err="1" smtClean="0"/>
              <a:t>kaliti</a:t>
            </a:r>
            <a:endParaRPr lang="ru-RU" sz="2400" dirty="0"/>
          </a:p>
        </p:txBody>
      </p:sp>
      <p:pic>
        <p:nvPicPr>
          <p:cNvPr id="29" name="Picture 54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27976">
            <a:off x="2412768" y="5773529"/>
            <a:ext cx="651015" cy="651015"/>
          </a:xfrm>
          <a:prstGeom prst="rect">
            <a:avLst/>
          </a:prstGeom>
        </p:spPr>
      </p:pic>
      <p:pic>
        <p:nvPicPr>
          <p:cNvPr id="30" name="Picture 55"/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27976">
            <a:off x="8083766" y="5784804"/>
            <a:ext cx="651015" cy="6510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801906" y="6318188"/>
            <a:ext cx="1554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MAC </a:t>
            </a:r>
            <a:r>
              <a:rPr lang="en-US" sz="2400" dirty="0" err="1" smtClean="0"/>
              <a:t>kaliti</a:t>
            </a:r>
            <a:endParaRPr lang="ru-RU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7812999" y="6309258"/>
            <a:ext cx="1546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MAC </a:t>
            </a:r>
            <a:r>
              <a:rPr lang="en-US" sz="2400" dirty="0" err="1" smtClean="0"/>
              <a:t>kaliti</a:t>
            </a:r>
            <a:endParaRPr lang="ru-RU" sz="2400" dirty="0"/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 flipV="1">
            <a:off x="0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"/>
          <p:cNvSpPr txBox="1">
            <a:spLocks/>
          </p:cNvSpPr>
          <p:nvPr/>
        </p:nvSpPr>
        <p:spPr>
          <a:xfrm>
            <a:off x="609440" y="45770"/>
            <a:ext cx="1096994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Handshake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protokolining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ishlash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sxemasi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35" name="Straight Arrow Connector 23"/>
          <p:cNvCxnSpPr/>
          <p:nvPr/>
        </p:nvCxnSpPr>
        <p:spPr>
          <a:xfrm>
            <a:off x="3987692" y="5308005"/>
            <a:ext cx="3218105" cy="206146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3"/>
          <p:cNvCxnSpPr/>
          <p:nvPr/>
        </p:nvCxnSpPr>
        <p:spPr>
          <a:xfrm flipH="1">
            <a:off x="3987692" y="5865405"/>
            <a:ext cx="3235411" cy="260619"/>
          </a:xfrm>
          <a:prstGeom prst="straightConnector1">
            <a:avLst/>
          </a:prstGeom>
          <a:ln w="57150"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 rot="186271">
            <a:off x="5200630" y="4986931"/>
            <a:ext cx="10550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Finished</a:t>
            </a:r>
            <a:endParaRPr lang="ru-RU" sz="2000" dirty="0"/>
          </a:p>
        </p:txBody>
      </p:sp>
      <p:sp>
        <p:nvSpPr>
          <p:cNvPr id="38" name="Rectangle 1"/>
          <p:cNvSpPr/>
          <p:nvPr/>
        </p:nvSpPr>
        <p:spPr>
          <a:xfrm rot="21338944">
            <a:off x="5057175" y="5566813"/>
            <a:ext cx="10550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F</a:t>
            </a:r>
            <a:r>
              <a:rPr lang="en-US" sz="2000" dirty="0" smtClean="0"/>
              <a:t>inished</a:t>
            </a:r>
            <a:endParaRPr lang="ru-RU" sz="2000" dirty="0"/>
          </a:p>
        </p:txBody>
      </p:sp>
      <p:sp>
        <p:nvSpPr>
          <p:cNvPr id="39" name="TextBox 38"/>
          <p:cNvSpPr txBox="1"/>
          <p:nvPr/>
        </p:nvSpPr>
        <p:spPr>
          <a:xfrm>
            <a:off x="4194899" y="6237673"/>
            <a:ext cx="2905148" cy="40011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 smtClean="0"/>
              <a:t>Ma’lumotlar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shifrlangan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8455613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 animBg="1"/>
      <p:bldP spid="20" grpId="0"/>
      <p:bldP spid="22" grpId="0" animBg="1"/>
      <p:bldP spid="25" grpId="0"/>
      <p:bldP spid="28" grpId="0"/>
      <p:bldP spid="31" grpId="0"/>
      <p:bldP spid="32" grpId="0"/>
      <p:bldP spid="37" grpId="0"/>
      <p:bldP spid="38" grpId="0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  <a:alpha val="2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459768"/>
              </p:ext>
            </p:extLst>
          </p:nvPr>
        </p:nvGraphicFramePr>
        <p:xfrm>
          <a:off x="1217929" y="3983559"/>
          <a:ext cx="9756140" cy="27901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9930"/>
                <a:gridCol w="6756210"/>
              </a:tblGrid>
              <a:tr h="4040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solidFill>
                            <a:srgbClr val="FFFF00"/>
                          </a:solidFill>
                          <a:effectLst/>
                        </a:rPr>
                        <a:t>Ogohlantirish</a:t>
                      </a:r>
                      <a:r>
                        <a:rPr lang="en-US" sz="2000" dirty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FF00"/>
                          </a:solidFill>
                          <a:effectLst/>
                        </a:rPr>
                        <a:t>nomi</a:t>
                      </a:r>
                      <a:endParaRPr lang="ru-RU" sz="28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Bildirishnomadan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foydalanish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shartlari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va</a:t>
                      </a:r>
                      <a:r>
                        <a:rPr lang="en-US" sz="2400" dirty="0">
                          <a:solidFill>
                            <a:srgbClr val="FFFF00"/>
                          </a:solidFill>
                          <a:effectLst/>
                        </a:rPr>
                        <a:t> </a:t>
                      </a:r>
                      <a:r>
                        <a:rPr lang="en-US" sz="2400" dirty="0" err="1">
                          <a:solidFill>
                            <a:srgbClr val="FFFF00"/>
                          </a:solidFill>
                          <a:effectLst/>
                        </a:rPr>
                        <a:t>tartibi</a:t>
                      </a:r>
                      <a:endParaRPr lang="ru-RU" sz="32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/>
                </a:tc>
              </a:tr>
              <a:tr h="526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unexpected_message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Noto‘g‘ri xabar qabul qilindi.</a:t>
                      </a:r>
                      <a:endParaRPr lang="ru-RU" sz="20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Bu ogohlantirish har doim fatal darajasida bo‘lishi kerak.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/>
                </a:tc>
              </a:tr>
              <a:tr h="7898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decode_error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Xabarni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qayta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ishlab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bo‘lmaydi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chunki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unda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bir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yoki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bir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nechta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noto‘g‘ri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maydonlar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mavjud</a:t>
                      </a:r>
                      <a:r>
                        <a:rPr lang="en-US" sz="1600" dirty="0">
                          <a:effectLst/>
                        </a:rPr>
                        <a:t>. Bu </a:t>
                      </a:r>
                      <a:r>
                        <a:rPr lang="en-US" sz="1600" dirty="0" err="1">
                          <a:effectLst/>
                        </a:rPr>
                        <a:t>ogohlantirish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har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doim</a:t>
                      </a:r>
                      <a:r>
                        <a:rPr lang="en-US" sz="1600" dirty="0">
                          <a:effectLst/>
                        </a:rPr>
                        <a:t> fatal </a:t>
                      </a:r>
                      <a:r>
                        <a:rPr lang="en-US" sz="1600" dirty="0" err="1">
                          <a:effectLst/>
                        </a:rPr>
                        <a:t>darajasida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bo‘lishi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kerak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/>
                </a:tc>
              </a:tr>
              <a:tr h="10531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</a:rPr>
                        <a:t>internal_error</a:t>
                      </a:r>
                      <a:endParaRPr lang="ru-RU" sz="3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Protokolning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ishlashi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bilan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bog‘liq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bo‘lmagan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ichki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xatolik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yuz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berdi</a:t>
                      </a:r>
                      <a:r>
                        <a:rPr lang="en-US" sz="1600" dirty="0">
                          <a:effectLst/>
                        </a:rPr>
                        <a:t> (</a:t>
                      </a:r>
                      <a:r>
                        <a:rPr lang="en-US" sz="1600" dirty="0" err="1">
                          <a:effectLst/>
                        </a:rPr>
                        <a:t>masalan</a:t>
                      </a:r>
                      <a:r>
                        <a:rPr lang="en-US" sz="1600" dirty="0">
                          <a:effectLst/>
                        </a:rPr>
                        <a:t>, </a:t>
                      </a:r>
                      <a:r>
                        <a:rPr lang="en-US" sz="1600" dirty="0" err="1">
                          <a:effectLst/>
                        </a:rPr>
                        <a:t>xotirani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ajratish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xatosi</a:t>
                      </a:r>
                      <a:r>
                        <a:rPr lang="en-US" sz="1600" dirty="0">
                          <a:effectLst/>
                        </a:rPr>
                        <a:t>), </a:t>
                      </a:r>
                      <a:r>
                        <a:rPr lang="en-US" sz="1600" dirty="0" err="1">
                          <a:effectLst/>
                        </a:rPr>
                        <a:t>bu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protokolning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keyingi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ishlashini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davom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ettirishni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imkonsiz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qiladi</a:t>
                      </a:r>
                      <a:r>
                        <a:rPr lang="en-US" sz="1600" dirty="0">
                          <a:effectLst/>
                        </a:rPr>
                        <a:t>. Bu </a:t>
                      </a:r>
                      <a:r>
                        <a:rPr lang="en-US" sz="1600" dirty="0" err="1">
                          <a:effectLst/>
                        </a:rPr>
                        <a:t>ogohlantirish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har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doim</a:t>
                      </a:r>
                      <a:r>
                        <a:rPr lang="en-US" sz="1600" dirty="0">
                          <a:effectLst/>
                        </a:rPr>
                        <a:t> fatal </a:t>
                      </a:r>
                      <a:r>
                        <a:rPr lang="en-US" sz="1600" dirty="0" err="1">
                          <a:effectLst/>
                        </a:rPr>
                        <a:t>darajasida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bo‘lishi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kerak</a:t>
                      </a:r>
                      <a:r>
                        <a:rPr lang="en-US" sz="1600" dirty="0">
                          <a:effectLst/>
                        </a:rPr>
                        <a:t>.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98" marR="68598" marT="0" marB="0"/>
                </a:tc>
              </a:tr>
            </a:tbl>
          </a:graphicData>
        </a:graphic>
      </p:graphicFrame>
      <p:sp>
        <p:nvSpPr>
          <p:cNvPr id="6" name="Rounded Rectangle 32"/>
          <p:cNvSpPr/>
          <p:nvPr/>
        </p:nvSpPr>
        <p:spPr>
          <a:xfrm>
            <a:off x="836831" y="1066800"/>
            <a:ext cx="5216481" cy="266191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endParaRPr lang="en-US" sz="1799" ker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33"/>
          <p:cNvSpPr/>
          <p:nvPr/>
        </p:nvSpPr>
        <p:spPr>
          <a:xfrm>
            <a:off x="6168007" y="1066800"/>
            <a:ext cx="4729843" cy="2667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914162" tIns="91416" rIns="914162" bIns="91416" numCol="1" anchor="ctr" anchorCtr="1" compatLnSpc="1">
            <a:prstTxWarp prst="textNoShape">
              <a:avLst/>
            </a:prstTxWarp>
          </a:bodyPr>
          <a:lstStyle/>
          <a:p>
            <a:endParaRPr lang="en-US" sz="1799" ker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29"/>
          <p:cNvSpPr/>
          <p:nvPr/>
        </p:nvSpPr>
        <p:spPr>
          <a:xfrm>
            <a:off x="1065490" y="1752601"/>
            <a:ext cx="4852204" cy="1773115"/>
          </a:xfrm>
          <a:custGeom>
            <a:avLst/>
            <a:gdLst/>
            <a:ahLst/>
            <a:cxnLst/>
            <a:rect l="l" t="t" r="r" b="b"/>
            <a:pathLst>
              <a:path w="3957888" h="1542897">
                <a:moveTo>
                  <a:pt x="0" y="0"/>
                </a:moveTo>
                <a:lnTo>
                  <a:pt x="3957888" y="0"/>
                </a:lnTo>
                <a:lnTo>
                  <a:pt x="3957888" y="1181487"/>
                </a:lnTo>
                <a:cubicBezTo>
                  <a:pt x="3957888" y="1381088"/>
                  <a:pt x="3796079" y="1542897"/>
                  <a:pt x="3596479" y="1542897"/>
                </a:cubicBezTo>
                <a:lnTo>
                  <a:pt x="361410" y="1542897"/>
                </a:lnTo>
                <a:cubicBezTo>
                  <a:pt x="161809" y="1542897"/>
                  <a:pt x="0" y="1381088"/>
                  <a:pt x="0" y="1181487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pPr algn="ctr" defTabSz="914126"/>
            <a:endParaRPr lang="en-US" sz="1799" kern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17929" y="1815415"/>
            <a:ext cx="4268312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smtClean="0"/>
              <a:t>    </a:t>
            </a:r>
            <a:r>
              <a:rPr lang="en-US" sz="1600" dirty="0" err="1" smtClean="0"/>
              <a:t>Har</a:t>
            </a:r>
            <a:r>
              <a:rPr lang="en-US" sz="1600" dirty="0" smtClean="0"/>
              <a:t> </a:t>
            </a:r>
            <a:r>
              <a:rPr lang="en-US" sz="1600" dirty="0" err="1" smtClean="0"/>
              <a:t>bir</a:t>
            </a:r>
            <a:r>
              <a:rPr lang="en-US" sz="1600" dirty="0" smtClean="0"/>
              <a:t> </a:t>
            </a:r>
            <a:r>
              <a:rPr lang="en-US" sz="1600" dirty="0" err="1" smtClean="0"/>
              <a:t>Ogohlantirish</a:t>
            </a:r>
            <a:r>
              <a:rPr lang="en-US" sz="1600" dirty="0" smtClean="0"/>
              <a:t> </a:t>
            </a:r>
            <a:r>
              <a:rPr lang="en-US" sz="1600" dirty="0" err="1" smtClean="0"/>
              <a:t>protokoli</a:t>
            </a:r>
            <a:r>
              <a:rPr lang="en-US" sz="1600" dirty="0" smtClean="0"/>
              <a:t> </a:t>
            </a:r>
            <a:r>
              <a:rPr lang="en-US" sz="1600" dirty="0" err="1" smtClean="0"/>
              <a:t>xabarida</a:t>
            </a:r>
            <a:r>
              <a:rPr lang="en-US" sz="1600" dirty="0" smtClean="0"/>
              <a:t> </a:t>
            </a:r>
            <a:r>
              <a:rPr lang="en-US" sz="1600" dirty="0" err="1" smtClean="0"/>
              <a:t>yuborilayotgan</a:t>
            </a:r>
            <a:r>
              <a:rPr lang="en-US" sz="1600" dirty="0" smtClean="0"/>
              <a:t>  </a:t>
            </a:r>
            <a:r>
              <a:rPr lang="en-US" sz="1600" dirty="0" err="1" smtClean="0"/>
              <a:t>ogohlantirish</a:t>
            </a:r>
            <a:r>
              <a:rPr lang="en-US" sz="1600" dirty="0" smtClean="0"/>
              <a:t> </a:t>
            </a:r>
            <a:r>
              <a:rPr lang="en-US" sz="1600" dirty="0" err="1" smtClean="0"/>
              <a:t>haqidagi</a:t>
            </a:r>
            <a:r>
              <a:rPr lang="en-US" sz="1600" dirty="0" smtClean="0"/>
              <a:t> </a:t>
            </a:r>
            <a:r>
              <a:rPr lang="en-US" sz="1600" dirty="0" err="1" smtClean="0"/>
              <a:t>ma'lumotlar</a:t>
            </a:r>
            <a:r>
              <a:rPr lang="en-US" sz="1600" dirty="0" smtClean="0"/>
              <a:t> </a:t>
            </a:r>
            <a:r>
              <a:rPr lang="en-US" sz="1600" dirty="0" err="1" smtClean="0"/>
              <a:t>mavjud</a:t>
            </a:r>
            <a:r>
              <a:rPr lang="en-US" sz="1600" dirty="0" smtClean="0"/>
              <a:t>:</a:t>
            </a:r>
            <a:endParaRPr lang="ru-RU" sz="1600" dirty="0" smtClean="0"/>
          </a:p>
          <a:p>
            <a:r>
              <a:rPr lang="en-US" sz="1600" dirty="0" smtClean="0"/>
              <a:t>     </a:t>
            </a:r>
            <a:r>
              <a:rPr lang="en-US" sz="1600" dirty="0" err="1" smtClean="0"/>
              <a:t>Ogohlantirish</a:t>
            </a:r>
            <a:r>
              <a:rPr lang="en-US" sz="1600" dirty="0" smtClean="0"/>
              <a:t> </a:t>
            </a:r>
            <a:r>
              <a:rPr lang="en-US" sz="1600" dirty="0" err="1" smtClean="0"/>
              <a:t>darajasi</a:t>
            </a:r>
            <a:r>
              <a:rPr lang="en-US" sz="1600" dirty="0" smtClean="0"/>
              <a:t> </a:t>
            </a:r>
            <a:r>
              <a:rPr lang="en-US" sz="1600" dirty="0" err="1" smtClean="0"/>
              <a:t>bir</a:t>
            </a:r>
            <a:r>
              <a:rPr lang="en-US" sz="1600" dirty="0" smtClean="0"/>
              <a:t> </a:t>
            </a:r>
            <a:r>
              <a:rPr lang="en-US" sz="1600" dirty="0" err="1" smtClean="0"/>
              <a:t>bayt</a:t>
            </a:r>
            <a:r>
              <a:rPr lang="en-US" sz="1600" dirty="0" smtClean="0"/>
              <a:t> </a:t>
            </a:r>
            <a:r>
              <a:rPr lang="en-US" sz="1600" dirty="0" err="1" smtClean="0"/>
              <a:t>sifatida</a:t>
            </a:r>
            <a:r>
              <a:rPr lang="en-US" sz="1600" dirty="0" smtClean="0"/>
              <a:t> </a:t>
            </a:r>
            <a:r>
              <a:rPr lang="en-US" sz="1600" dirty="0" err="1" smtClean="0"/>
              <a:t>belgilanadi</a:t>
            </a:r>
            <a:r>
              <a:rPr lang="en-US" sz="1600" dirty="0" smtClean="0"/>
              <a:t> </a:t>
            </a:r>
            <a:r>
              <a:rPr lang="en-US" sz="1600" dirty="0" err="1" smtClean="0"/>
              <a:t>va</a:t>
            </a:r>
            <a:r>
              <a:rPr lang="en-US" sz="1600" dirty="0" smtClean="0"/>
              <a:t> warning </a:t>
            </a:r>
            <a:r>
              <a:rPr lang="en-US" sz="1600" dirty="0" err="1" smtClean="0"/>
              <a:t>va</a:t>
            </a:r>
            <a:r>
              <a:rPr lang="en-US" sz="1600" dirty="0" smtClean="0"/>
              <a:t> fatal </a:t>
            </a:r>
            <a:r>
              <a:rPr lang="en-US" sz="1600" dirty="0" err="1" smtClean="0"/>
              <a:t>qiymatlarini</a:t>
            </a:r>
            <a:r>
              <a:rPr lang="en-US" sz="1600" dirty="0" smtClean="0"/>
              <a:t> </a:t>
            </a:r>
            <a:r>
              <a:rPr lang="en-US" sz="1600" dirty="0" err="1" smtClean="0"/>
              <a:t>qabul</a:t>
            </a:r>
            <a:r>
              <a:rPr lang="en-US" sz="1600" dirty="0" smtClean="0"/>
              <a:t> </a:t>
            </a:r>
            <a:r>
              <a:rPr lang="en-US" sz="1600" dirty="0" err="1" smtClean="0"/>
              <a:t>qilishi</a:t>
            </a:r>
            <a:r>
              <a:rPr lang="en-US" sz="1600" dirty="0" smtClean="0"/>
              <a:t> </a:t>
            </a:r>
            <a:r>
              <a:rPr lang="en-US" sz="1600" dirty="0" err="1" smtClean="0"/>
              <a:t>mumkin</a:t>
            </a:r>
            <a:r>
              <a:rPr lang="en-US" sz="1600" dirty="0" smtClean="0"/>
              <a:t>:</a:t>
            </a:r>
            <a:endParaRPr lang="ru-RU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827689" y="1214856"/>
            <a:ext cx="32682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99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Alert </a:t>
            </a:r>
            <a:r>
              <a:rPr lang="en-US" sz="2399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protokoli</a:t>
            </a:r>
            <a:endParaRPr lang="en-US" sz="2399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ounded Rectangle 37"/>
          <p:cNvSpPr/>
          <p:nvPr/>
        </p:nvSpPr>
        <p:spPr>
          <a:xfrm>
            <a:off x="6362337" y="1795046"/>
            <a:ext cx="4430834" cy="1773116"/>
          </a:xfrm>
          <a:custGeom>
            <a:avLst/>
            <a:gdLst/>
            <a:ahLst/>
            <a:cxnLst/>
            <a:rect l="l" t="t" r="r" b="b"/>
            <a:pathLst>
              <a:path w="3957889" h="1562506">
                <a:moveTo>
                  <a:pt x="0" y="0"/>
                </a:moveTo>
                <a:lnTo>
                  <a:pt x="3957889" y="0"/>
                </a:lnTo>
                <a:lnTo>
                  <a:pt x="3957889" y="1201096"/>
                </a:lnTo>
                <a:cubicBezTo>
                  <a:pt x="3957888" y="1400697"/>
                  <a:pt x="3796079" y="1562506"/>
                  <a:pt x="3596478" y="1562506"/>
                </a:cubicBezTo>
                <a:lnTo>
                  <a:pt x="361411" y="1562506"/>
                </a:lnTo>
                <a:cubicBezTo>
                  <a:pt x="161809" y="1562506"/>
                  <a:pt x="0" y="1400697"/>
                  <a:pt x="0" y="1201096"/>
                </a:cubicBezTo>
                <a:close/>
              </a:path>
            </a:pathLst>
          </a:custGeom>
          <a:solidFill>
            <a:sysClr val="window" lastClr="FFFFFF"/>
          </a:solidFill>
          <a:ln w="25400" cap="flat" cmpd="sng" algn="ctr">
            <a:noFill/>
            <a:prstDash val="solid"/>
          </a:ln>
          <a:effectLst>
            <a:innerShdw blurRad="203200" dist="50800" dir="135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endParaRPr lang="ru-RU" sz="1800" dirty="0"/>
          </a:p>
        </p:txBody>
      </p:sp>
      <p:sp>
        <p:nvSpPr>
          <p:cNvPr id="13" name="TextBox 12"/>
          <p:cNvSpPr txBox="1"/>
          <p:nvPr/>
        </p:nvSpPr>
        <p:spPr>
          <a:xfrm>
            <a:off x="6629538" y="1854327"/>
            <a:ext cx="4065077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dirty="0" err="1"/>
              <a:t>Ikkala</a:t>
            </a:r>
            <a:r>
              <a:rPr lang="en-US" sz="1600" dirty="0"/>
              <a:t> </a:t>
            </a:r>
            <a:r>
              <a:rPr lang="en-US" sz="1600" dirty="0" err="1"/>
              <a:t>protokol</a:t>
            </a:r>
            <a:r>
              <a:rPr lang="en-US" sz="1600" dirty="0"/>
              <a:t> </a:t>
            </a:r>
            <a:r>
              <a:rPr lang="en-US" sz="1600" dirty="0" err="1"/>
              <a:t>ishtirokchisi</a:t>
            </a:r>
            <a:r>
              <a:rPr lang="en-US" sz="1600" dirty="0"/>
              <a:t> </a:t>
            </a:r>
            <a:r>
              <a:rPr lang="en-US" sz="1600" dirty="0" err="1"/>
              <a:t>tomonidan</a:t>
            </a:r>
            <a:r>
              <a:rPr lang="en-US" sz="1600" dirty="0"/>
              <a:t> </a:t>
            </a:r>
            <a:r>
              <a:rPr lang="en-US" sz="1600" dirty="0" err="1"/>
              <a:t>yuborilgan</a:t>
            </a:r>
            <a:r>
              <a:rPr lang="en-US" sz="1600" dirty="0"/>
              <a:t> </a:t>
            </a:r>
            <a:r>
              <a:rPr lang="en-US" sz="1600" i="1" dirty="0" err="1"/>
              <a:t>ChangeCipherSpec</a:t>
            </a:r>
            <a:r>
              <a:rPr lang="en-US" sz="1600" i="1" dirty="0"/>
              <a:t> </a:t>
            </a:r>
            <a:r>
              <a:rPr lang="en-US" sz="1600" dirty="0" err="1"/>
              <a:t>protokoli</a:t>
            </a:r>
            <a:r>
              <a:rPr lang="en-US" sz="1600" dirty="0"/>
              <a:t> </a:t>
            </a:r>
            <a:r>
              <a:rPr lang="en-US" sz="1600" dirty="0" err="1"/>
              <a:t>xabari</a:t>
            </a:r>
            <a:r>
              <a:rPr lang="en-US" sz="1600" dirty="0"/>
              <a:t> </a:t>
            </a:r>
            <a:r>
              <a:rPr lang="en-US" sz="1600" dirty="0" err="1"/>
              <a:t>ushbu</a:t>
            </a:r>
            <a:r>
              <a:rPr lang="en-US" sz="1600" dirty="0"/>
              <a:t> </a:t>
            </a:r>
            <a:r>
              <a:rPr lang="en-US" sz="1600" dirty="0" err="1"/>
              <a:t>xabarni</a:t>
            </a:r>
            <a:r>
              <a:rPr lang="en-US" sz="1600" dirty="0"/>
              <a:t> </a:t>
            </a:r>
            <a:r>
              <a:rPr lang="en-US" sz="1600" dirty="0" err="1"/>
              <a:t>yuborgan</a:t>
            </a:r>
            <a:r>
              <a:rPr lang="en-US" sz="1600" dirty="0"/>
              <a:t> </a:t>
            </a:r>
            <a:r>
              <a:rPr lang="en-US" sz="1600" dirty="0" err="1"/>
              <a:t>tomon</a:t>
            </a:r>
            <a:r>
              <a:rPr lang="en-US" sz="1600" dirty="0"/>
              <a:t> </a:t>
            </a:r>
            <a:r>
              <a:rPr lang="en-US" sz="1600" dirty="0" err="1"/>
              <a:t>endi</a:t>
            </a:r>
            <a:r>
              <a:rPr lang="en-US" sz="1600" dirty="0"/>
              <a:t> </a:t>
            </a:r>
            <a:r>
              <a:rPr lang="en-US" sz="1600" dirty="0" err="1"/>
              <a:t>yangi</a:t>
            </a:r>
            <a:r>
              <a:rPr lang="en-US" sz="1600" dirty="0"/>
              <a:t> </a:t>
            </a:r>
            <a:r>
              <a:rPr lang="en-US" sz="1600" dirty="0" err="1"/>
              <a:t>ulanish</a:t>
            </a:r>
            <a:r>
              <a:rPr lang="en-US" sz="1600" dirty="0"/>
              <a:t> </a:t>
            </a:r>
            <a:r>
              <a:rPr lang="en-US" sz="1600" dirty="0" err="1"/>
              <a:t>holatiga</a:t>
            </a:r>
            <a:r>
              <a:rPr lang="en-US" sz="1600" dirty="0"/>
              <a:t> </a:t>
            </a:r>
            <a:r>
              <a:rPr lang="en-US" sz="1600" dirty="0" err="1"/>
              <a:t>mos</a:t>
            </a:r>
            <a:r>
              <a:rPr lang="en-US" sz="1600" dirty="0"/>
              <a:t> </a:t>
            </a:r>
            <a:r>
              <a:rPr lang="en-US" sz="1600" dirty="0" err="1"/>
              <a:t>keladigan</a:t>
            </a:r>
            <a:r>
              <a:rPr lang="en-US" sz="1600" dirty="0"/>
              <a:t> </a:t>
            </a:r>
            <a:r>
              <a:rPr lang="en-US" sz="1600" dirty="0" err="1"/>
              <a:t>xavfsiz</a:t>
            </a:r>
            <a:r>
              <a:rPr lang="en-US" sz="1600" dirty="0"/>
              <a:t> </a:t>
            </a:r>
            <a:r>
              <a:rPr lang="en-US" sz="1600" dirty="0" err="1"/>
              <a:t>ma'lumotlarni</a:t>
            </a:r>
            <a:r>
              <a:rPr lang="en-US" sz="1600" dirty="0"/>
              <a:t> </a:t>
            </a:r>
            <a:r>
              <a:rPr lang="en-US" sz="1600" dirty="0" err="1"/>
              <a:t>uzatish</a:t>
            </a:r>
            <a:r>
              <a:rPr lang="en-US" sz="1600" dirty="0"/>
              <a:t> </a:t>
            </a:r>
            <a:r>
              <a:rPr lang="en-US" sz="1600" dirty="0" err="1"/>
              <a:t>rejimini</a:t>
            </a:r>
            <a:r>
              <a:rPr lang="en-US" sz="1600" dirty="0"/>
              <a:t> </a:t>
            </a:r>
            <a:r>
              <a:rPr lang="en-US" sz="1600" dirty="0" err="1"/>
              <a:t>o‘rnatganligini</a:t>
            </a:r>
            <a:r>
              <a:rPr lang="en-US" sz="1600" dirty="0"/>
              <a:t> </a:t>
            </a:r>
            <a:r>
              <a:rPr lang="en-US" sz="1600" dirty="0" err="1"/>
              <a:t>bildiradi</a:t>
            </a:r>
            <a:r>
              <a:rPr lang="en-US" sz="1600" dirty="0"/>
              <a:t>.</a:t>
            </a:r>
            <a:endParaRPr lang="ru-RU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362337" y="1261646"/>
            <a:ext cx="433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ChangeCipherSpase</a:t>
            </a:r>
            <a:r>
              <a:rPr lang="en-US" sz="2000" b="1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sz="2000" b="1" dirty="0" err="1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protokoli</a:t>
            </a:r>
            <a:endParaRPr 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 flipV="1">
            <a:off x="1" y="685800"/>
            <a:ext cx="12192000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3"/>
          <p:cNvSpPr>
            <a:spLocks noGrp="1"/>
          </p:cNvSpPr>
          <p:nvPr>
            <p:ph type="title"/>
          </p:nvPr>
        </p:nvSpPr>
        <p:spPr>
          <a:xfrm>
            <a:off x="609599" y="45771"/>
            <a:ext cx="10972801" cy="711081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Alert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protokoli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va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ChangeCipherSpace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protokoli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03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8012" y="1062335"/>
            <a:ext cx="58674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Ilova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</a:rPr>
              <a:t>pog’onasi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18012" y="1824335"/>
            <a:ext cx="16002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Fragment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27812" y="1824335"/>
            <a:ext cx="16002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Fragment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5212" y="1824335"/>
            <a:ext cx="1600671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Fragment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6" name="Стрелка вниз 5"/>
          <p:cNvSpPr/>
          <p:nvPr/>
        </p:nvSpPr>
        <p:spPr>
          <a:xfrm>
            <a:off x="5141912" y="1635146"/>
            <a:ext cx="152400" cy="19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>
            <a:off x="7351712" y="1558946"/>
            <a:ext cx="152400" cy="19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низ 7"/>
          <p:cNvSpPr/>
          <p:nvPr/>
        </p:nvSpPr>
        <p:spPr>
          <a:xfrm>
            <a:off x="9455127" y="1558946"/>
            <a:ext cx="152400" cy="19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1217612" y="1369367"/>
            <a:ext cx="16002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>
            <a:defPPr>
              <a:defRPr lang="ru-RU"/>
            </a:defPPr>
            <a:lvl1pPr algn="ctr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Fragment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635963" y="2738735"/>
            <a:ext cx="16002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Fragment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826998" y="2743200"/>
            <a:ext cx="808965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HDR</a:t>
            </a:r>
            <a:endParaRPr lang="ru-RU" sz="2400" b="1" dirty="0"/>
          </a:p>
        </p:txBody>
      </p:sp>
      <p:sp>
        <p:nvSpPr>
          <p:cNvPr id="12" name="Правая фигурная скобка 11"/>
          <p:cNvSpPr/>
          <p:nvPr/>
        </p:nvSpPr>
        <p:spPr>
          <a:xfrm rot="5400000">
            <a:off x="6898833" y="2252221"/>
            <a:ext cx="358413" cy="229994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8180836" y="3733800"/>
            <a:ext cx="942897" cy="45720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MAC</a:t>
            </a:r>
            <a:endParaRPr lang="ru-RU" sz="2000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8205915" y="4419600"/>
            <a:ext cx="917819" cy="45720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MAC</a:t>
            </a:r>
            <a:endParaRPr lang="ru-RU" sz="20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6148517" y="4415135"/>
            <a:ext cx="2057399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chemeClr val="bg1"/>
                </a:solidFill>
              </a:rPr>
              <a:t>Ma’lumot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7078039" y="3573759"/>
            <a:ext cx="471" cy="8458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вал 16"/>
          <p:cNvSpPr/>
          <p:nvPr/>
        </p:nvSpPr>
        <p:spPr>
          <a:xfrm>
            <a:off x="9226761" y="2982216"/>
            <a:ext cx="1692251" cy="75158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 smtClean="0">
                <a:solidFill>
                  <a:schemeClr val="tx1"/>
                </a:solidFill>
              </a:rPr>
              <a:t>seqnum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18" name="Стрелка углом вверх 17"/>
          <p:cNvSpPr/>
          <p:nvPr/>
        </p:nvSpPr>
        <p:spPr>
          <a:xfrm rot="10800000">
            <a:off x="8685212" y="3349678"/>
            <a:ext cx="511048" cy="30792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углом 18"/>
          <p:cNvSpPr/>
          <p:nvPr/>
        </p:nvSpPr>
        <p:spPr>
          <a:xfrm rot="5400000">
            <a:off x="8087054" y="3135642"/>
            <a:ext cx="599184" cy="292332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8764" y="5481935"/>
            <a:ext cx="2735048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chemeClr val="bg1"/>
                </a:solidFill>
              </a:rPr>
              <a:t>Shifr</a:t>
            </a: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</a:rPr>
              <a:t>ma’lumot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1" name="Правая фигурная скобка 20"/>
          <p:cNvSpPr/>
          <p:nvPr/>
        </p:nvSpPr>
        <p:spPr>
          <a:xfrm rot="5400000">
            <a:off x="7354989" y="3647857"/>
            <a:ext cx="327269" cy="274021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7169809" y="5024735"/>
            <a:ext cx="6976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/>
              <a:t>ENC</a:t>
            </a:r>
            <a:endParaRPr lang="ru-RU" b="1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4106174" y="2738735"/>
            <a:ext cx="17441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err="1" smtClean="0"/>
              <a:t>TLSPlaintext</a:t>
            </a:r>
            <a:endParaRPr lang="ru-RU" b="1" dirty="0"/>
          </a:p>
        </p:txBody>
      </p:sp>
      <p:sp>
        <p:nvSpPr>
          <p:cNvPr id="24" name="Стрелка вниз 23"/>
          <p:cNvSpPr/>
          <p:nvPr/>
        </p:nvSpPr>
        <p:spPr>
          <a:xfrm>
            <a:off x="7403540" y="2357734"/>
            <a:ext cx="214872" cy="385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5294312" y="5486400"/>
            <a:ext cx="886634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HDR</a:t>
            </a:r>
            <a:r>
              <a:rPr lang="en-US" sz="2400" dirty="0" smtClean="0"/>
              <a:t>’</a:t>
            </a:r>
            <a:endParaRPr lang="ru-R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4412456" y="6233649"/>
            <a:ext cx="5867400" cy="461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Transport </a:t>
            </a:r>
            <a:r>
              <a:rPr lang="en-US" sz="2400" b="1" dirty="0" err="1" smtClean="0">
                <a:solidFill>
                  <a:schemeClr val="bg1"/>
                </a:solidFill>
              </a:rPr>
              <a:t>pag’onasi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1446211" y="2359372"/>
            <a:ext cx="1223009" cy="38382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16KB</a:t>
            </a:r>
            <a:endParaRPr lang="ru-RU" sz="2400" dirty="0">
              <a:solidFill>
                <a:schemeClr val="tx1"/>
              </a:solidFill>
            </a:endParaRPr>
          </a:p>
        </p:txBody>
      </p:sp>
      <p:cxnSp>
        <p:nvCxnSpPr>
          <p:cNvPr id="28" name="Прямая соединительная линия 27"/>
          <p:cNvCxnSpPr>
            <a:endCxn id="27" idx="2"/>
          </p:cNvCxnSpPr>
          <p:nvPr/>
        </p:nvCxnSpPr>
        <p:spPr>
          <a:xfrm>
            <a:off x="1217612" y="1831032"/>
            <a:ext cx="228599" cy="7202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>
            <a:endCxn id="27" idx="6"/>
          </p:cNvCxnSpPr>
          <p:nvPr/>
        </p:nvCxnSpPr>
        <p:spPr>
          <a:xfrm flipH="1">
            <a:off x="2669220" y="1831032"/>
            <a:ext cx="139940" cy="7202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Прямоугольник 29"/>
          <p:cNvSpPr/>
          <p:nvPr/>
        </p:nvSpPr>
        <p:spPr>
          <a:xfrm>
            <a:off x="2157559" y="3429000"/>
            <a:ext cx="847836" cy="4572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HDR</a:t>
            </a:r>
            <a:endParaRPr lang="ru-RU" sz="2400" b="1" dirty="0"/>
          </a:p>
        </p:txBody>
      </p:sp>
      <p:graphicFrame>
        <p:nvGraphicFramePr>
          <p:cNvPr id="31" name="Таблица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999996"/>
              </p:ext>
            </p:extLst>
          </p:nvPr>
        </p:nvGraphicFramePr>
        <p:xfrm>
          <a:off x="273591" y="4600487"/>
          <a:ext cx="441943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145"/>
                <a:gridCol w="1473145"/>
                <a:gridCol w="1473145"/>
              </a:tblGrid>
              <a:tr h="778338">
                <a:tc>
                  <a:txBody>
                    <a:bodyPr/>
                    <a:lstStyle/>
                    <a:p>
                      <a:r>
                        <a:rPr lang="en-US" sz="2400" dirty="0" err="1" smtClean="0"/>
                        <a:t>Xabar</a:t>
                      </a:r>
                      <a:r>
                        <a:rPr lang="en-US" sz="2400" dirty="0" smtClean="0"/>
                        <a:t> tipi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Protokol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versiyasi</a:t>
                      </a:r>
                      <a:endParaRPr lang="ru-RU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Ma’lumot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uzunligi</a:t>
                      </a:r>
                      <a:endParaRPr lang="ru-RU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2" name="Прямая соединительная линия 31"/>
          <p:cNvCxnSpPr/>
          <p:nvPr/>
        </p:nvCxnSpPr>
        <p:spPr>
          <a:xfrm flipH="1">
            <a:off x="303212" y="3886200"/>
            <a:ext cx="1854348" cy="7395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3005395" y="3886200"/>
            <a:ext cx="1633840" cy="7395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9104436" y="5481935"/>
            <a:ext cx="19489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err="1" smtClean="0"/>
              <a:t>TLSCiphertext</a:t>
            </a:r>
            <a:endParaRPr lang="ru-RU" b="1" dirty="0"/>
          </a:p>
        </p:txBody>
      </p:sp>
      <p:sp>
        <p:nvSpPr>
          <p:cNvPr id="35" name="Стрелка вниз 34"/>
          <p:cNvSpPr/>
          <p:nvPr/>
        </p:nvSpPr>
        <p:spPr>
          <a:xfrm>
            <a:off x="7101016" y="5997971"/>
            <a:ext cx="152400" cy="1936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 flipV="1">
            <a:off x="0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3"/>
          <p:cNvSpPr txBox="1">
            <a:spLocks/>
          </p:cNvSpPr>
          <p:nvPr/>
        </p:nvSpPr>
        <p:spPr>
          <a:xfrm>
            <a:off x="609440" y="45770"/>
            <a:ext cx="1096994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Record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protokoli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ishlash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sxemasi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10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-41661" y="1156354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1240484" y="22222"/>
            <a:ext cx="10969943" cy="1110583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Rossiya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Federatsiyasining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P 1323565.1.030 – 2020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davlat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standartining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kalitlar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generatsiyasi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matematik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modeli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59500" y="481105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z-Latn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xmlns="" id="{2A4ED3C0-C757-41F9-BB87-484569C2818F}"/>
              </a:ext>
            </a:extLst>
          </p:cNvPr>
          <p:cNvGrpSpPr/>
          <p:nvPr/>
        </p:nvGrpSpPr>
        <p:grpSpPr>
          <a:xfrm>
            <a:off x="3565935" y="1324374"/>
            <a:ext cx="5056956" cy="5056954"/>
            <a:chOff x="4491632" y="2186260"/>
            <a:chExt cx="3341728" cy="3341728"/>
          </a:xfrm>
          <a:solidFill>
            <a:schemeClr val="bg1">
              <a:lumMod val="95000"/>
            </a:schemeClr>
          </a:solidFill>
        </p:grpSpPr>
        <p:sp>
          <p:nvSpPr>
            <p:cNvPr id="7" name="Circle: Hollow 2">
              <a:extLst>
                <a:ext uri="{FF2B5EF4-FFF2-40B4-BE49-F238E27FC236}">
                  <a16:creationId xmlns:a16="http://schemas.microsoft.com/office/drawing/2014/main" xmlns="" id="{40BACDDB-5644-4393-976C-E7044EBB478B}"/>
                </a:ext>
              </a:extLst>
            </p:cNvPr>
            <p:cNvSpPr/>
            <p:nvPr/>
          </p:nvSpPr>
          <p:spPr>
            <a:xfrm>
              <a:off x="5230316" y="2924944"/>
              <a:ext cx="1864360" cy="1864360"/>
            </a:xfrm>
            <a:prstGeom prst="donut">
              <a:avLst>
                <a:gd name="adj" fmla="val 2225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8" name="Circle: Hollow 3">
              <a:extLst>
                <a:ext uri="{FF2B5EF4-FFF2-40B4-BE49-F238E27FC236}">
                  <a16:creationId xmlns:a16="http://schemas.microsoft.com/office/drawing/2014/main" xmlns="" id="{76479620-E65C-465E-9007-1B767DCEBE21}"/>
                </a:ext>
              </a:extLst>
            </p:cNvPr>
            <p:cNvSpPr/>
            <p:nvPr/>
          </p:nvSpPr>
          <p:spPr>
            <a:xfrm>
              <a:off x="4491632" y="2186260"/>
              <a:ext cx="3341728" cy="3341728"/>
            </a:xfrm>
            <a:prstGeom prst="donut">
              <a:avLst>
                <a:gd name="adj" fmla="val 1373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xmlns="" id="{6D35104B-6CF2-4515-8914-E62ABA891799}"/>
              </a:ext>
            </a:extLst>
          </p:cNvPr>
          <p:cNvGrpSpPr/>
          <p:nvPr/>
        </p:nvGrpSpPr>
        <p:grpSpPr>
          <a:xfrm>
            <a:off x="406400" y="1615691"/>
            <a:ext cx="5646353" cy="2690203"/>
            <a:chOff x="609440" y="1340768"/>
            <a:chExt cx="5460544" cy="2438235"/>
          </a:xfrm>
          <a:effectLst/>
        </p:grpSpPr>
        <p:sp>
          <p:nvSpPr>
            <p:cNvPr id="10" name="Arrow: Chevron 5">
              <a:extLst>
                <a:ext uri="{FF2B5EF4-FFF2-40B4-BE49-F238E27FC236}">
                  <a16:creationId xmlns:a16="http://schemas.microsoft.com/office/drawing/2014/main" xmlns="" id="{FFA3A477-B460-401B-A803-33F4EAC03669}"/>
                </a:ext>
              </a:extLst>
            </p:cNvPr>
            <p:cNvSpPr/>
            <p:nvPr/>
          </p:nvSpPr>
          <p:spPr>
            <a:xfrm flipH="1">
              <a:off x="609440" y="1340768"/>
              <a:ext cx="5460543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60543" h="2438235">
                  <a:moveTo>
                    <a:pt x="1343724" y="0"/>
                  </a:moveTo>
                  <a:lnTo>
                    <a:pt x="5107547" y="0"/>
                  </a:lnTo>
                  <a:lnTo>
                    <a:pt x="5460543" y="731355"/>
                  </a:lnTo>
                  <a:lnTo>
                    <a:pt x="5107547" y="1462709"/>
                  </a:ln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5">
              <a:extLst>
                <a:ext uri="{FF2B5EF4-FFF2-40B4-BE49-F238E27FC236}">
                  <a16:creationId xmlns:a16="http://schemas.microsoft.com/office/drawing/2014/main" xmlns="" id="{3851688C-C9FF-4FC8-8CB4-4A38CF5C5DB2}"/>
                </a:ext>
              </a:extLst>
            </p:cNvPr>
            <p:cNvSpPr/>
            <p:nvPr/>
          </p:nvSpPr>
          <p:spPr>
            <a:xfrm flipH="1">
              <a:off x="4726260" y="1340768"/>
              <a:ext cx="1343724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  <a:gd name="connsiteX0" fmla="*/ 1343724 w 5460543"/>
                <a:gd name="connsiteY0" fmla="*/ 0 h 2438235"/>
                <a:gd name="connsiteX1" fmla="*/ 5460543 w 5460543"/>
                <a:gd name="connsiteY1" fmla="*/ 731355 h 2438235"/>
                <a:gd name="connsiteX2" fmla="*/ 5107547 w 5460543"/>
                <a:gd name="connsiteY2" fmla="*/ 1462709 h 2438235"/>
                <a:gd name="connsiteX3" fmla="*/ 1343724 w 5460543"/>
                <a:gd name="connsiteY3" fmla="*/ 1462709 h 2438235"/>
                <a:gd name="connsiteX4" fmla="*/ 0 w 5460543"/>
                <a:gd name="connsiteY4" fmla="*/ 2438235 h 2438235"/>
                <a:gd name="connsiteX5" fmla="*/ 1343724 w 5460543"/>
                <a:gd name="connsiteY5" fmla="*/ 0 h 2438235"/>
                <a:gd name="connsiteX0" fmla="*/ 1343724 w 5107547"/>
                <a:gd name="connsiteY0" fmla="*/ 0 h 2438235"/>
                <a:gd name="connsiteX1" fmla="*/ 5107547 w 5107547"/>
                <a:gd name="connsiteY1" fmla="*/ 1462709 h 2438235"/>
                <a:gd name="connsiteX2" fmla="*/ 1343724 w 5107547"/>
                <a:gd name="connsiteY2" fmla="*/ 1462709 h 2438235"/>
                <a:gd name="connsiteX3" fmla="*/ 0 w 5107547"/>
                <a:gd name="connsiteY3" fmla="*/ 2438235 h 2438235"/>
                <a:gd name="connsiteX4" fmla="*/ 1343724 w 5107547"/>
                <a:gd name="connsiteY4" fmla="*/ 0 h 2438235"/>
                <a:gd name="connsiteX0" fmla="*/ 1343724 w 1343724"/>
                <a:gd name="connsiteY0" fmla="*/ 0 h 2438235"/>
                <a:gd name="connsiteX1" fmla="*/ 1343724 w 1343724"/>
                <a:gd name="connsiteY1" fmla="*/ 1462709 h 2438235"/>
                <a:gd name="connsiteX2" fmla="*/ 0 w 1343724"/>
                <a:gd name="connsiteY2" fmla="*/ 2438235 h 2438235"/>
                <a:gd name="connsiteX3" fmla="*/ 1343724 w 1343724"/>
                <a:gd name="connsiteY3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724" h="2438235">
                  <a:moveTo>
                    <a:pt x="1343724" y="0"/>
                  </a:move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Group 8">
            <a:extLst>
              <a:ext uri="{FF2B5EF4-FFF2-40B4-BE49-F238E27FC236}">
                <a16:creationId xmlns:a16="http://schemas.microsoft.com/office/drawing/2014/main" xmlns="" id="{D1CD21C5-9B05-4C3E-9DAF-FE5999DC7DA0}"/>
              </a:ext>
            </a:extLst>
          </p:cNvPr>
          <p:cNvGrpSpPr/>
          <p:nvPr/>
        </p:nvGrpSpPr>
        <p:grpSpPr>
          <a:xfrm flipH="1">
            <a:off x="6171333" y="1615691"/>
            <a:ext cx="5817466" cy="2580775"/>
            <a:chOff x="609440" y="1340768"/>
            <a:chExt cx="5460544" cy="2438235"/>
          </a:xfrm>
          <a:solidFill>
            <a:schemeClr val="accent3"/>
          </a:solidFill>
        </p:grpSpPr>
        <p:sp>
          <p:nvSpPr>
            <p:cNvPr id="13" name="Arrow: Chevron 5">
              <a:extLst>
                <a:ext uri="{FF2B5EF4-FFF2-40B4-BE49-F238E27FC236}">
                  <a16:creationId xmlns:a16="http://schemas.microsoft.com/office/drawing/2014/main" xmlns="" id="{30AC135C-DC13-4F8F-BD47-4AF583722B82}"/>
                </a:ext>
              </a:extLst>
            </p:cNvPr>
            <p:cNvSpPr/>
            <p:nvPr/>
          </p:nvSpPr>
          <p:spPr>
            <a:xfrm flipH="1">
              <a:off x="609440" y="1340768"/>
              <a:ext cx="5460543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60543" h="2438235">
                  <a:moveTo>
                    <a:pt x="1343724" y="0"/>
                  </a:moveTo>
                  <a:lnTo>
                    <a:pt x="5107547" y="0"/>
                  </a:lnTo>
                  <a:lnTo>
                    <a:pt x="5460543" y="731355"/>
                  </a:lnTo>
                  <a:lnTo>
                    <a:pt x="5107547" y="1462709"/>
                  </a:ln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4" name="Arrow: Chevron 5">
              <a:extLst>
                <a:ext uri="{FF2B5EF4-FFF2-40B4-BE49-F238E27FC236}">
                  <a16:creationId xmlns:a16="http://schemas.microsoft.com/office/drawing/2014/main" xmlns="" id="{35E41C2D-1547-4A9C-B846-0A63749A308D}"/>
                </a:ext>
              </a:extLst>
            </p:cNvPr>
            <p:cNvSpPr/>
            <p:nvPr/>
          </p:nvSpPr>
          <p:spPr>
            <a:xfrm flipH="1">
              <a:off x="4726260" y="1340768"/>
              <a:ext cx="1343724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  <a:gd name="connsiteX0" fmla="*/ 1343724 w 5460543"/>
                <a:gd name="connsiteY0" fmla="*/ 0 h 2438235"/>
                <a:gd name="connsiteX1" fmla="*/ 5460543 w 5460543"/>
                <a:gd name="connsiteY1" fmla="*/ 731355 h 2438235"/>
                <a:gd name="connsiteX2" fmla="*/ 5107547 w 5460543"/>
                <a:gd name="connsiteY2" fmla="*/ 1462709 h 2438235"/>
                <a:gd name="connsiteX3" fmla="*/ 1343724 w 5460543"/>
                <a:gd name="connsiteY3" fmla="*/ 1462709 h 2438235"/>
                <a:gd name="connsiteX4" fmla="*/ 0 w 5460543"/>
                <a:gd name="connsiteY4" fmla="*/ 2438235 h 2438235"/>
                <a:gd name="connsiteX5" fmla="*/ 1343724 w 5460543"/>
                <a:gd name="connsiteY5" fmla="*/ 0 h 2438235"/>
                <a:gd name="connsiteX0" fmla="*/ 1343724 w 5107547"/>
                <a:gd name="connsiteY0" fmla="*/ 0 h 2438235"/>
                <a:gd name="connsiteX1" fmla="*/ 5107547 w 5107547"/>
                <a:gd name="connsiteY1" fmla="*/ 1462709 h 2438235"/>
                <a:gd name="connsiteX2" fmla="*/ 1343724 w 5107547"/>
                <a:gd name="connsiteY2" fmla="*/ 1462709 h 2438235"/>
                <a:gd name="connsiteX3" fmla="*/ 0 w 5107547"/>
                <a:gd name="connsiteY3" fmla="*/ 2438235 h 2438235"/>
                <a:gd name="connsiteX4" fmla="*/ 1343724 w 5107547"/>
                <a:gd name="connsiteY4" fmla="*/ 0 h 2438235"/>
                <a:gd name="connsiteX0" fmla="*/ 1343724 w 1343724"/>
                <a:gd name="connsiteY0" fmla="*/ 0 h 2438235"/>
                <a:gd name="connsiteX1" fmla="*/ 1343724 w 1343724"/>
                <a:gd name="connsiteY1" fmla="*/ 1462709 h 2438235"/>
                <a:gd name="connsiteX2" fmla="*/ 0 w 1343724"/>
                <a:gd name="connsiteY2" fmla="*/ 2438235 h 2438235"/>
                <a:gd name="connsiteX3" fmla="*/ 1343724 w 1343724"/>
                <a:gd name="connsiteY3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724" h="2438235">
                  <a:moveTo>
                    <a:pt x="1343724" y="0"/>
                  </a:move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xmlns="" id="{36EF6122-4552-49B5-BA53-7D837F6E4FEF}"/>
              </a:ext>
            </a:extLst>
          </p:cNvPr>
          <p:cNvGrpSpPr/>
          <p:nvPr/>
        </p:nvGrpSpPr>
        <p:grpSpPr>
          <a:xfrm flipV="1">
            <a:off x="396840" y="3894027"/>
            <a:ext cx="5641404" cy="2579120"/>
            <a:chOff x="609440" y="1340768"/>
            <a:chExt cx="5460545" cy="2438235"/>
          </a:xfrm>
          <a:solidFill>
            <a:schemeClr val="accent4"/>
          </a:solidFill>
          <a:effectLst/>
        </p:grpSpPr>
        <p:sp>
          <p:nvSpPr>
            <p:cNvPr id="16" name="Arrow: Chevron 5">
              <a:extLst>
                <a:ext uri="{FF2B5EF4-FFF2-40B4-BE49-F238E27FC236}">
                  <a16:creationId xmlns:a16="http://schemas.microsoft.com/office/drawing/2014/main" xmlns="" id="{FA4CDDDF-CE4D-401F-8013-205565CAED34}"/>
                </a:ext>
              </a:extLst>
            </p:cNvPr>
            <p:cNvSpPr/>
            <p:nvPr/>
          </p:nvSpPr>
          <p:spPr>
            <a:xfrm flipH="1">
              <a:off x="609440" y="1340768"/>
              <a:ext cx="5460543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60543" h="2438235">
                  <a:moveTo>
                    <a:pt x="1343724" y="0"/>
                  </a:moveTo>
                  <a:lnTo>
                    <a:pt x="5107547" y="0"/>
                  </a:lnTo>
                  <a:lnTo>
                    <a:pt x="5460543" y="731355"/>
                  </a:lnTo>
                  <a:lnTo>
                    <a:pt x="5107547" y="1462709"/>
                  </a:ln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7" name="Arrow: Chevron 5">
              <a:extLst>
                <a:ext uri="{FF2B5EF4-FFF2-40B4-BE49-F238E27FC236}">
                  <a16:creationId xmlns:a16="http://schemas.microsoft.com/office/drawing/2014/main" xmlns="" id="{22FC6223-6E69-409A-9D20-E69CF942722E}"/>
                </a:ext>
              </a:extLst>
            </p:cNvPr>
            <p:cNvSpPr/>
            <p:nvPr/>
          </p:nvSpPr>
          <p:spPr>
            <a:xfrm flipH="1">
              <a:off x="4726261" y="1340768"/>
              <a:ext cx="1343724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  <a:gd name="connsiteX0" fmla="*/ 1343724 w 5460543"/>
                <a:gd name="connsiteY0" fmla="*/ 0 h 2438235"/>
                <a:gd name="connsiteX1" fmla="*/ 5460543 w 5460543"/>
                <a:gd name="connsiteY1" fmla="*/ 731355 h 2438235"/>
                <a:gd name="connsiteX2" fmla="*/ 5107547 w 5460543"/>
                <a:gd name="connsiteY2" fmla="*/ 1462709 h 2438235"/>
                <a:gd name="connsiteX3" fmla="*/ 1343724 w 5460543"/>
                <a:gd name="connsiteY3" fmla="*/ 1462709 h 2438235"/>
                <a:gd name="connsiteX4" fmla="*/ 0 w 5460543"/>
                <a:gd name="connsiteY4" fmla="*/ 2438235 h 2438235"/>
                <a:gd name="connsiteX5" fmla="*/ 1343724 w 5460543"/>
                <a:gd name="connsiteY5" fmla="*/ 0 h 2438235"/>
                <a:gd name="connsiteX0" fmla="*/ 1343724 w 5107547"/>
                <a:gd name="connsiteY0" fmla="*/ 0 h 2438235"/>
                <a:gd name="connsiteX1" fmla="*/ 5107547 w 5107547"/>
                <a:gd name="connsiteY1" fmla="*/ 1462709 h 2438235"/>
                <a:gd name="connsiteX2" fmla="*/ 1343724 w 5107547"/>
                <a:gd name="connsiteY2" fmla="*/ 1462709 h 2438235"/>
                <a:gd name="connsiteX3" fmla="*/ 0 w 5107547"/>
                <a:gd name="connsiteY3" fmla="*/ 2438235 h 2438235"/>
                <a:gd name="connsiteX4" fmla="*/ 1343724 w 5107547"/>
                <a:gd name="connsiteY4" fmla="*/ 0 h 2438235"/>
                <a:gd name="connsiteX0" fmla="*/ 1343724 w 1343724"/>
                <a:gd name="connsiteY0" fmla="*/ 0 h 2438235"/>
                <a:gd name="connsiteX1" fmla="*/ 1343724 w 1343724"/>
                <a:gd name="connsiteY1" fmla="*/ 1462709 h 2438235"/>
                <a:gd name="connsiteX2" fmla="*/ 0 w 1343724"/>
                <a:gd name="connsiteY2" fmla="*/ 2438235 h 2438235"/>
                <a:gd name="connsiteX3" fmla="*/ 1343724 w 1343724"/>
                <a:gd name="connsiteY3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724" h="2438235">
                  <a:moveTo>
                    <a:pt x="1343724" y="0"/>
                  </a:move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xmlns="" id="{36024488-910E-4022-AB32-B5312D457AAC}"/>
              </a:ext>
            </a:extLst>
          </p:cNvPr>
          <p:cNvGrpSpPr/>
          <p:nvPr/>
        </p:nvGrpSpPr>
        <p:grpSpPr>
          <a:xfrm flipH="1" flipV="1">
            <a:off x="6136073" y="3315218"/>
            <a:ext cx="5852726" cy="2774791"/>
            <a:chOff x="609440" y="1340768"/>
            <a:chExt cx="5460544" cy="2438235"/>
          </a:xfrm>
          <a:solidFill>
            <a:schemeClr val="accent6"/>
          </a:solidFill>
        </p:grpSpPr>
        <p:sp>
          <p:nvSpPr>
            <p:cNvPr id="19" name="Arrow: Chevron 5">
              <a:extLst>
                <a:ext uri="{FF2B5EF4-FFF2-40B4-BE49-F238E27FC236}">
                  <a16:creationId xmlns:a16="http://schemas.microsoft.com/office/drawing/2014/main" xmlns="" id="{8FB82849-F9C1-43E8-A574-0FE18AF41B2D}"/>
                </a:ext>
              </a:extLst>
            </p:cNvPr>
            <p:cNvSpPr/>
            <p:nvPr/>
          </p:nvSpPr>
          <p:spPr>
            <a:xfrm flipH="1">
              <a:off x="609440" y="1340768"/>
              <a:ext cx="5460543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60543" h="2438235">
                  <a:moveTo>
                    <a:pt x="1343724" y="0"/>
                  </a:moveTo>
                  <a:lnTo>
                    <a:pt x="5107547" y="0"/>
                  </a:lnTo>
                  <a:lnTo>
                    <a:pt x="5460543" y="731355"/>
                  </a:lnTo>
                  <a:lnTo>
                    <a:pt x="5107547" y="1462709"/>
                  </a:ln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Arrow: Chevron 5">
              <a:extLst>
                <a:ext uri="{FF2B5EF4-FFF2-40B4-BE49-F238E27FC236}">
                  <a16:creationId xmlns:a16="http://schemas.microsoft.com/office/drawing/2014/main" xmlns="" id="{6418F76A-1E9F-4E7E-8D59-327F84D4647E}"/>
                </a:ext>
              </a:extLst>
            </p:cNvPr>
            <p:cNvSpPr/>
            <p:nvPr/>
          </p:nvSpPr>
          <p:spPr>
            <a:xfrm flipH="1">
              <a:off x="4726260" y="1340768"/>
              <a:ext cx="1343724" cy="2438235"/>
            </a:xfrm>
            <a:custGeom>
              <a:avLst/>
              <a:gdLst>
                <a:gd name="connsiteX0" fmla="*/ 0 w 4116819"/>
                <a:gd name="connsiteY0" fmla="*/ 0 h 1462709"/>
                <a:gd name="connsiteX1" fmla="*/ 3763823 w 4116819"/>
                <a:gd name="connsiteY1" fmla="*/ 0 h 1462709"/>
                <a:gd name="connsiteX2" fmla="*/ 4116819 w 4116819"/>
                <a:gd name="connsiteY2" fmla="*/ 731355 h 1462709"/>
                <a:gd name="connsiteX3" fmla="*/ 3763823 w 4116819"/>
                <a:gd name="connsiteY3" fmla="*/ 1462709 h 1462709"/>
                <a:gd name="connsiteX4" fmla="*/ 0 w 4116819"/>
                <a:gd name="connsiteY4" fmla="*/ 1462709 h 1462709"/>
                <a:gd name="connsiteX5" fmla="*/ 352996 w 4116819"/>
                <a:gd name="connsiteY5" fmla="*/ 731355 h 1462709"/>
                <a:gd name="connsiteX6" fmla="*/ 0 w 4116819"/>
                <a:gd name="connsiteY6" fmla="*/ 0 h 1462709"/>
                <a:gd name="connsiteX0" fmla="*/ 1343724 w 5460543"/>
                <a:gd name="connsiteY0" fmla="*/ 0 h 2438235"/>
                <a:gd name="connsiteX1" fmla="*/ 5107547 w 5460543"/>
                <a:gd name="connsiteY1" fmla="*/ 0 h 2438235"/>
                <a:gd name="connsiteX2" fmla="*/ 5460543 w 5460543"/>
                <a:gd name="connsiteY2" fmla="*/ 731355 h 2438235"/>
                <a:gd name="connsiteX3" fmla="*/ 5107547 w 5460543"/>
                <a:gd name="connsiteY3" fmla="*/ 1462709 h 2438235"/>
                <a:gd name="connsiteX4" fmla="*/ 1343724 w 5460543"/>
                <a:gd name="connsiteY4" fmla="*/ 1462709 h 2438235"/>
                <a:gd name="connsiteX5" fmla="*/ 0 w 5460543"/>
                <a:gd name="connsiteY5" fmla="*/ 2438235 h 2438235"/>
                <a:gd name="connsiteX6" fmla="*/ 1343724 w 5460543"/>
                <a:gd name="connsiteY6" fmla="*/ 0 h 2438235"/>
                <a:gd name="connsiteX0" fmla="*/ 1343724 w 5460543"/>
                <a:gd name="connsiteY0" fmla="*/ 0 h 2438235"/>
                <a:gd name="connsiteX1" fmla="*/ 5460543 w 5460543"/>
                <a:gd name="connsiteY1" fmla="*/ 731355 h 2438235"/>
                <a:gd name="connsiteX2" fmla="*/ 5107547 w 5460543"/>
                <a:gd name="connsiteY2" fmla="*/ 1462709 h 2438235"/>
                <a:gd name="connsiteX3" fmla="*/ 1343724 w 5460543"/>
                <a:gd name="connsiteY3" fmla="*/ 1462709 h 2438235"/>
                <a:gd name="connsiteX4" fmla="*/ 0 w 5460543"/>
                <a:gd name="connsiteY4" fmla="*/ 2438235 h 2438235"/>
                <a:gd name="connsiteX5" fmla="*/ 1343724 w 5460543"/>
                <a:gd name="connsiteY5" fmla="*/ 0 h 2438235"/>
                <a:gd name="connsiteX0" fmla="*/ 1343724 w 5107547"/>
                <a:gd name="connsiteY0" fmla="*/ 0 h 2438235"/>
                <a:gd name="connsiteX1" fmla="*/ 5107547 w 5107547"/>
                <a:gd name="connsiteY1" fmla="*/ 1462709 h 2438235"/>
                <a:gd name="connsiteX2" fmla="*/ 1343724 w 5107547"/>
                <a:gd name="connsiteY2" fmla="*/ 1462709 h 2438235"/>
                <a:gd name="connsiteX3" fmla="*/ 0 w 5107547"/>
                <a:gd name="connsiteY3" fmla="*/ 2438235 h 2438235"/>
                <a:gd name="connsiteX4" fmla="*/ 1343724 w 5107547"/>
                <a:gd name="connsiteY4" fmla="*/ 0 h 2438235"/>
                <a:gd name="connsiteX0" fmla="*/ 1343724 w 1343724"/>
                <a:gd name="connsiteY0" fmla="*/ 0 h 2438235"/>
                <a:gd name="connsiteX1" fmla="*/ 1343724 w 1343724"/>
                <a:gd name="connsiteY1" fmla="*/ 1462709 h 2438235"/>
                <a:gd name="connsiteX2" fmla="*/ 0 w 1343724"/>
                <a:gd name="connsiteY2" fmla="*/ 2438235 h 2438235"/>
                <a:gd name="connsiteX3" fmla="*/ 1343724 w 1343724"/>
                <a:gd name="connsiteY3" fmla="*/ 0 h 243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724" h="2438235">
                  <a:moveTo>
                    <a:pt x="1343724" y="0"/>
                  </a:moveTo>
                  <a:lnTo>
                    <a:pt x="1343724" y="1462709"/>
                  </a:lnTo>
                  <a:lnTo>
                    <a:pt x="0" y="2438235"/>
                  </a:lnTo>
                  <a:lnTo>
                    <a:pt x="1343724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4">
            <a:extLst>
              <a:ext uri="{FF2B5EF4-FFF2-40B4-BE49-F238E27FC236}">
                <a16:creationId xmlns:a16="http://schemas.microsoft.com/office/drawing/2014/main" xmlns="" id="{2B1210A8-F71D-449D-91D5-B5F5AB9EE339}"/>
              </a:ext>
            </a:extLst>
          </p:cNvPr>
          <p:cNvGrpSpPr/>
          <p:nvPr/>
        </p:nvGrpSpPr>
        <p:grpSpPr>
          <a:xfrm>
            <a:off x="1112621" y="1682366"/>
            <a:ext cx="3485404" cy="1477329"/>
            <a:chOff x="1462302" y="1911824"/>
            <a:chExt cx="2754886" cy="67174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80A45269-9C6D-4EF1-AA78-76C5A60B9330}"/>
                </a:ext>
              </a:extLst>
            </p:cNvPr>
            <p:cNvSpPr txBox="1"/>
            <p:nvPr/>
          </p:nvSpPr>
          <p:spPr>
            <a:xfrm>
              <a:off x="1462302" y="1911824"/>
              <a:ext cx="2754886" cy="67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400" b="1" dirty="0" err="1" smtClean="0">
                  <a:solidFill>
                    <a:schemeClr val="bg1"/>
                  </a:solidFill>
                </a:rPr>
                <a:t>Mijoz</a:t>
              </a:r>
              <a:r>
                <a:rPr lang="en-US" sz="2400" b="1" dirty="0" smtClean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tomonidan</a:t>
              </a:r>
              <a:r>
                <a:rPr lang="en-US" sz="2400" b="1" i="1" dirty="0">
                  <a:solidFill>
                    <a:schemeClr val="bg1"/>
                  </a:solidFill>
                </a:rPr>
                <a:t> PS</a:t>
              </a:r>
              <a:r>
                <a:rPr lang="en-US" sz="2400" b="1" dirty="0">
                  <a:solidFill>
                    <a:schemeClr val="bg1"/>
                  </a:solidFill>
                </a:rPr>
                <a:t> (</a:t>
              </a:r>
              <a:r>
                <a:rPr lang="en-US" sz="2400" b="1" i="1" dirty="0" err="1">
                  <a:solidFill>
                    <a:schemeClr val="bg1"/>
                  </a:solidFill>
                </a:rPr>
                <a:t>PreMaster</a:t>
              </a:r>
              <a:r>
                <a:rPr lang="en-US" sz="2400" b="1" i="1" dirty="0">
                  <a:solidFill>
                    <a:schemeClr val="bg1"/>
                  </a:solidFill>
                </a:rPr>
                <a:t> Secret</a:t>
              </a:r>
              <a:r>
                <a:rPr lang="en-US" sz="2400" b="1" dirty="0">
                  <a:solidFill>
                    <a:schemeClr val="bg1"/>
                  </a:solidFill>
                </a:rPr>
                <a:t>) </a:t>
              </a:r>
              <a:r>
                <a:rPr lang="en-US" sz="2400" b="1" dirty="0" err="1">
                  <a:solidFill>
                    <a:schemeClr val="bg1"/>
                  </a:solidFill>
                </a:rPr>
                <a:t>maxfiy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>
                  <a:solidFill>
                    <a:schemeClr val="bg1"/>
                  </a:solidFill>
                </a:rPr>
                <a:t>qiymatning</a:t>
              </a:r>
              <a:r>
                <a:rPr lang="en-US" sz="2400" b="1" dirty="0">
                  <a:solidFill>
                    <a:schemeClr val="bg1"/>
                  </a:solidFill>
                </a:rPr>
                <a:t> export </a:t>
              </a:r>
              <a:r>
                <a:rPr lang="en-US" sz="2400" b="1" dirty="0" err="1">
                  <a:solidFill>
                    <a:schemeClr val="bg1"/>
                  </a:solidFill>
                </a:rPr>
                <a:t>shakli</a:t>
              </a:r>
              <a:r>
                <a:rPr lang="en-US" sz="2400" b="1" dirty="0">
                  <a:solidFill>
                    <a:schemeClr val="bg1"/>
                  </a:solidFill>
                </a:rPr>
                <a:t>(</a:t>
              </a:r>
              <a:r>
                <a:rPr lang="en-US" sz="2400" b="1" i="1" dirty="0" err="1">
                  <a:solidFill>
                    <a:schemeClr val="bg1"/>
                  </a:solidFill>
                </a:rPr>
                <a:t>PSExp</a:t>
              </a:r>
              <a:r>
                <a:rPr lang="en-US" sz="2400" b="1" dirty="0">
                  <a:solidFill>
                    <a:schemeClr val="bg1"/>
                  </a:solidFill>
                </a:rPr>
                <a:t>) </a:t>
              </a:r>
              <a:r>
                <a:rPr lang="en-US" sz="2400" b="1" dirty="0" err="1">
                  <a:solidFill>
                    <a:schemeClr val="bg1"/>
                  </a:solidFill>
                </a:rPr>
                <a:t>ni</a:t>
              </a:r>
              <a:r>
                <a:rPr lang="en-US" sz="2400" b="1" dirty="0">
                  <a:solidFill>
                    <a:schemeClr val="bg1"/>
                  </a:solidFill>
                </a:rPr>
                <a:t> </a:t>
              </a:r>
              <a:r>
                <a:rPr lang="en-US" sz="2400" b="1" dirty="0" err="1" smtClean="0">
                  <a:solidFill>
                    <a:schemeClr val="bg1"/>
                  </a:solidFill>
                </a:rPr>
                <a:t>yaratish</a:t>
              </a:r>
              <a:endParaRPr lang="ru-RU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4CF2CC97-0329-4263-9C7D-524E0764088B}"/>
                </a:ext>
              </a:extLst>
            </p:cNvPr>
            <p:cNvSpPr txBox="1"/>
            <p:nvPr/>
          </p:nvSpPr>
          <p:spPr>
            <a:xfrm>
              <a:off x="1695542" y="2212566"/>
              <a:ext cx="252164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en-IN" sz="14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CFC1C5E9-C7CD-44B1-8447-ACE23F3DCDEA}"/>
              </a:ext>
            </a:extLst>
          </p:cNvPr>
          <p:cNvSpPr txBox="1"/>
          <p:nvPr/>
        </p:nvSpPr>
        <p:spPr>
          <a:xfrm>
            <a:off x="1163421" y="5238880"/>
            <a:ext cx="337734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KEG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eksport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kalitlarini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yaratish</a:t>
            </a:r>
            <a:r>
              <a:rPr lang="en-US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algoritmi</a:t>
            </a:r>
            <a:endParaRPr lang="en-IN" sz="48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088DC96-8B86-4A92-ACE0-F7D8CB71B2E4}"/>
              </a:ext>
            </a:extLst>
          </p:cNvPr>
          <p:cNvSpPr txBox="1"/>
          <p:nvPr/>
        </p:nvSpPr>
        <p:spPr>
          <a:xfrm>
            <a:off x="7719101" y="1768481"/>
            <a:ext cx="3618809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Server, </a:t>
            </a:r>
            <a:r>
              <a:rPr lang="en-US" sz="2800" b="1" dirty="0" err="1">
                <a:solidFill>
                  <a:schemeClr val="bg1"/>
                </a:solidFill>
              </a:rPr>
              <a:t>mijoz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tomondan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yuborilgan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i="1" dirty="0" err="1">
                <a:solidFill>
                  <a:schemeClr val="bg1"/>
                </a:solidFill>
              </a:rPr>
              <a:t>PSExp</a:t>
            </a:r>
            <a:r>
              <a:rPr lang="en-US" sz="2800" b="1" i="1" dirty="0">
                <a:solidFill>
                  <a:schemeClr val="bg1"/>
                </a:solidFill>
              </a:rPr>
              <a:t> </a:t>
            </a:r>
            <a:r>
              <a:rPr lang="en-US" sz="2800" b="1" dirty="0" err="1">
                <a:solidFill>
                  <a:schemeClr val="bg1"/>
                </a:solidFill>
              </a:rPr>
              <a:t>qiymatni</a:t>
            </a:r>
            <a:r>
              <a:rPr lang="en-US" sz="2800" b="1" dirty="0">
                <a:solidFill>
                  <a:schemeClr val="bg1"/>
                </a:solidFill>
              </a:rPr>
              <a:t> import </a:t>
            </a:r>
            <a:r>
              <a:rPr lang="en-US" sz="2800" b="1" dirty="0" err="1">
                <a:solidFill>
                  <a:schemeClr val="bg1"/>
                </a:solidFill>
              </a:rPr>
              <a:t>qilish</a:t>
            </a:r>
            <a:endParaRPr lang="en-IN" sz="4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707371ED-DCD0-46B0-A5AA-5AA78255550F}"/>
              </a:ext>
            </a:extLst>
          </p:cNvPr>
          <p:cNvSpPr txBox="1"/>
          <p:nvPr/>
        </p:nvSpPr>
        <p:spPr>
          <a:xfrm>
            <a:off x="7612298" y="4797778"/>
            <a:ext cx="3789112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uz-Latn-UZ" sz="3200" b="1" dirty="0"/>
              <a:t>Asosiy trafik kalitlarni hosil qilish</a:t>
            </a:r>
            <a:endParaRPr lang="en-IN" sz="5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B2AE1B35-E803-4CC4-8373-ED0506DC4E2F}"/>
              </a:ext>
            </a:extLst>
          </p:cNvPr>
          <p:cNvSpPr txBox="1"/>
          <p:nvPr/>
        </p:nvSpPr>
        <p:spPr>
          <a:xfrm>
            <a:off x="558280" y="2099600"/>
            <a:ext cx="652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8D1C4571-E19E-45FB-8D36-2E75FD79FD9B}"/>
              </a:ext>
            </a:extLst>
          </p:cNvPr>
          <p:cNvSpPr txBox="1"/>
          <p:nvPr/>
        </p:nvSpPr>
        <p:spPr>
          <a:xfrm>
            <a:off x="11206130" y="2094767"/>
            <a:ext cx="604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03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230DAAE6-E681-43A5-A9DD-7AFEDFD44EAF}"/>
              </a:ext>
            </a:extLst>
          </p:cNvPr>
          <p:cNvSpPr txBox="1"/>
          <p:nvPr/>
        </p:nvSpPr>
        <p:spPr>
          <a:xfrm>
            <a:off x="551338" y="5424797"/>
            <a:ext cx="6046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02</a:t>
            </a:r>
            <a:endParaRPr lang="en-IN" sz="32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77114F0-B42B-4B4D-B350-FE37C8DDF5B1}"/>
              </a:ext>
            </a:extLst>
          </p:cNvPr>
          <p:cNvSpPr txBox="1"/>
          <p:nvPr/>
        </p:nvSpPr>
        <p:spPr>
          <a:xfrm>
            <a:off x="11206130" y="4973089"/>
            <a:ext cx="652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04</a:t>
            </a:r>
          </a:p>
        </p:txBody>
      </p:sp>
      <p:sp>
        <p:nvSpPr>
          <p:cNvPr id="31" name="Oval 38">
            <a:extLst>
              <a:ext uri="{FF2B5EF4-FFF2-40B4-BE49-F238E27FC236}">
                <a16:creationId xmlns:a16="http://schemas.microsoft.com/office/drawing/2014/main" xmlns="" id="{E7A68E85-EBD3-4636-B6A1-25F15B71D529}"/>
              </a:ext>
            </a:extLst>
          </p:cNvPr>
          <p:cNvSpPr/>
          <p:nvPr/>
        </p:nvSpPr>
        <p:spPr>
          <a:xfrm>
            <a:off x="5121370" y="2879808"/>
            <a:ext cx="1946084" cy="1946084"/>
          </a:xfrm>
          <a:prstGeom prst="ellipse">
            <a:avLst/>
          </a:prstGeom>
          <a:ln>
            <a:noFill/>
          </a:ln>
          <a:effectLst>
            <a:outerShdw blurRad="304800" dist="177800" dir="5400000" algn="t" rotWithShape="0">
              <a:prstClr val="black">
                <a:alpha val="3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32" name="Oval 39">
            <a:extLst>
              <a:ext uri="{FF2B5EF4-FFF2-40B4-BE49-F238E27FC236}">
                <a16:creationId xmlns:a16="http://schemas.microsoft.com/office/drawing/2014/main" xmlns="" id="{EE896EDF-CE8F-4188-809A-BAE80EB3FDA1}"/>
              </a:ext>
            </a:extLst>
          </p:cNvPr>
          <p:cNvSpPr/>
          <p:nvPr/>
        </p:nvSpPr>
        <p:spPr>
          <a:xfrm>
            <a:off x="5435363" y="3193801"/>
            <a:ext cx="1318097" cy="1318097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76200" dist="50800" dir="2700000" algn="tl" rotWithShape="0">
              <a:prstClr val="black">
                <a:alpha val="3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4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Блок-схема: узел 32"/>
          <p:cNvSpPr/>
          <p:nvPr/>
        </p:nvSpPr>
        <p:spPr>
          <a:xfrm>
            <a:off x="89624" y="22222"/>
            <a:ext cx="1129828" cy="1068445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Algerian" panose="04020705040A02060702" pitchFamily="82" charset="0"/>
              </a:rPr>
              <a:t>2.2</a:t>
            </a:r>
            <a:endParaRPr lang="ru-RU" sz="3200" dirty="0"/>
          </a:p>
        </p:txBody>
      </p:sp>
      <p:sp>
        <p:nvSpPr>
          <p:cNvPr id="34" name="Блок-схема: узел 33"/>
          <p:cNvSpPr/>
          <p:nvPr/>
        </p:nvSpPr>
        <p:spPr>
          <a:xfrm>
            <a:off x="5522433" y="3302605"/>
            <a:ext cx="1129447" cy="1075700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Algerian" panose="04020705040A02060702" pitchFamily="82" charset="0"/>
              </a:rPr>
              <a:t>2.2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12320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625" y="1803059"/>
            <a:ext cx="758914" cy="758914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10" y="1803058"/>
            <a:ext cx="842768" cy="8427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7310" y="1360378"/>
            <a:ext cx="904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60" y="1360378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Server</a:t>
            </a:r>
            <a:endParaRPr lang="ru-RU" sz="2400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9" y="9144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/>
          <p:cNvSpPr txBox="1">
            <a:spLocks/>
          </p:cNvSpPr>
          <p:nvPr/>
        </p:nvSpPr>
        <p:spPr>
          <a:xfrm>
            <a:off x="1160868" y="46368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Mijoz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tomonidan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PS (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PreMaster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Secret)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maxfiy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qiymatning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export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shakli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PSExp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)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ni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yaratish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1787608" y="2537258"/>
            <a:ext cx="8336692" cy="247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272477" y="2682109"/>
                <a:ext cx="6699856" cy="3085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1. </a:t>
                </a:r>
                <a:r>
                  <a:rPr lang="en-US" sz="2400" b="1" i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PS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PreMaster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Secret)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maxfiy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qiymat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yaratadi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</a:p>
              <a:p>
                <a:r>
                  <a:rPr lang="en-US" sz="2400" b="1" dirty="0" smtClean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2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Berilgan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E: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𝒂𝒙</m:t>
                    </m:r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ru-RU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ru-R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𝒎𝒐𝒅</m:t>
                        </m:r>
                        <m:r>
                          <a:rPr lang="ru-R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</a:rPr>
                  <a:t> </a:t>
                </a:r>
              </a:p>
              <a:p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o‘plamdan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E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tasodifiy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qiymat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tanlanadi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P(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x,y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∈</m:t>
                    </m:r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E,   </a:t>
                </a:r>
                <a14:m>
                  <m:oMath xmlns:m="http://schemas.openxmlformats.org/officeDocument/2006/math">
                    <m:r>
                      <a:rPr lang="en-US" sz="2400" b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US" sz="24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𝐪</m:t>
                    </m:r>
                    <m:r>
                      <a:rPr lang="en-US" sz="24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𝑷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𝟎</m:t>
                    </m:r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</a:p>
              <a:p>
                <a:r>
                  <a:rPr lang="en-US" sz="2400" b="1" dirty="0" smtClean="0">
                    <a:solidFill>
                      <a:srgbClr val="C0000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P </a:t>
                </a:r>
                <a:r>
                  <a:rPr lang="en-US" sz="2400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</a:t>
                </a:r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efemer</a:t>
                </a:r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kalitni</a:t>
                </a:r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hosil</a:t>
                </a:r>
                <a:r>
                  <a:rPr 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qiladi</a:t>
                </a:r>
                <a:endParaRPr lang="en-US" sz="2400" b="1" dirty="0" smtClean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-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mijoznig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yopiq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kaliti</a:t>
                </a:r>
                <a:r>
                  <a:rPr lang="en-US" sz="2400" b="1" dirty="0" smtClean="0">
                    <a:solidFill>
                      <a:srgbClr val="0070C0"/>
                    </a:solidFill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-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mijozning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ochiq</a:t>
                </a:r>
                <a:r>
                  <a:rPr lang="en-US" sz="2400" b="1" dirty="0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b="1" dirty="0" err="1" smtClean="0">
                    <a:solidFill>
                      <a:srgbClr val="0070C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kaliti</a:t>
                </a:r>
                <a:endParaRPr lang="en-US" sz="2400" b="1" dirty="0" smtClean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77" y="2682109"/>
                <a:ext cx="6699856" cy="3085781"/>
              </a:xfrm>
              <a:prstGeom prst="rect">
                <a:avLst/>
              </a:prstGeom>
              <a:blipFill rotWithShape="1">
                <a:blip r:embed="rId5"/>
                <a:stretch>
                  <a:fillRect l="-1456" t="-1383" r="-1274" b="-27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91400" y="2826854"/>
                <a:ext cx="4978400" cy="163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rgbClr val="C00000"/>
                    </a:solidFill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nuqta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serverning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ochiq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kalitiga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mos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keladigan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egri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chiziqqa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 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tegishli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nuqtasi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0 </a:t>
                </a:r>
                <a:r>
                  <a:rPr lang="en-US" sz="2400" b="1" dirty="0" err="1">
                    <a:solidFill>
                      <a:schemeClr val="tx1"/>
                    </a:solidFill>
                  </a:rPr>
                  <a:t>nuqtasiga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teng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b="1" dirty="0" err="1" smtClean="0">
                    <a:solidFill>
                      <a:schemeClr val="tx1"/>
                    </a:solidFill>
                  </a:rPr>
                  <a:t>emas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;</a:t>
                </a:r>
              </a:p>
              <a:p>
                <a:r>
                  <a:rPr lang="en-US" sz="2400" b="1" dirty="0" smtClean="0">
                    <a:solidFill>
                      <a:schemeClr val="tx1"/>
                    </a:solidFill>
                  </a:rPr>
                  <a:t>3. [</a:t>
                </a:r>
                <a:r>
                  <a:rPr lang="en-US" sz="2400" b="1" i="1" dirty="0" smtClean="0">
                    <a:solidFill>
                      <a:schemeClr val="tx1"/>
                    </a:solidFill>
                  </a:rPr>
                  <a:t>q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]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= 0 ;</a:t>
                </a:r>
                <a:endParaRPr lang="ru-R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2826854"/>
                <a:ext cx="4978400" cy="1630318"/>
              </a:xfrm>
              <a:prstGeom prst="rect">
                <a:avLst/>
              </a:prstGeom>
              <a:blipFill rotWithShape="0">
                <a:blip r:embed="rId6"/>
                <a:stretch>
                  <a:fillRect l="-1961" t="-2996" b="-41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Скругленный прямоугольник 11"/>
              <p:cNvSpPr/>
              <p:nvPr/>
            </p:nvSpPr>
            <p:spPr>
              <a:xfrm>
                <a:off x="-1384300" y="2047215"/>
                <a:ext cx="596900" cy="51475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Скругленный 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4300" y="2047215"/>
                <a:ext cx="596900" cy="514757"/>
              </a:xfrm>
              <a:prstGeom prst="round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Скругленный прямоугольник 12"/>
              <p:cNvSpPr/>
              <p:nvPr/>
            </p:nvSpPr>
            <p:spPr>
              <a:xfrm>
                <a:off x="12623800" y="1967063"/>
                <a:ext cx="596900" cy="514757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Скругленный 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3800" y="1967063"/>
                <a:ext cx="596900" cy="514757"/>
              </a:xfrm>
              <a:prstGeom prst="round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162172" y="5811036"/>
                <a:ext cx="5602944" cy="5683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b="1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  <m:d>
                            <m:dPr>
                              <m:ctrlP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ru-RU" sz="2800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sz="2800" b="1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ru-RU" sz="28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]∙</m:t>
                      </m:r>
                      <m:sSub>
                        <m:sSubPr>
                          <m:ctrlPr>
                            <a:rPr lang="ru-RU" sz="28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800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ru-RU" sz="28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8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ru-RU" sz="28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]∙ </m:t>
                      </m:r>
                      <m:sSub>
                        <m:sSubPr>
                          <m:ctrlPr>
                            <a:rPr lang="ru-RU" sz="2800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8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ru-RU" sz="2800" b="1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]∙</m:t>
                      </m:r>
                      <m:r>
                        <a:rPr lang="ru-RU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ru-RU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2" y="5811036"/>
                <a:ext cx="5602944" cy="56836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7379425" y="4722053"/>
                <a:ext cx="4926605" cy="5002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  <m:d>
                            <m:dPr>
                              <m:ctrlP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ru-RU" sz="2400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"/>
                              <m:ctrlP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ru-RU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ru-RU" sz="2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]∙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ru-RU" sz="2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ru-RU" sz="2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]∙ </m:t>
                      </m:r>
                      <m:sSub>
                        <m:sSubPr>
                          <m:ctrlP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</m:d>
                        </m:e>
                        <m:sub>
                          <m:r>
                            <a:rPr lang="ru-RU" sz="2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ru-RU" sz="2400" b="1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]∙</m:t>
                      </m:r>
                      <m:r>
                        <a:rPr lang="ru-RU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ru-RU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425" y="4722053"/>
                <a:ext cx="4926605" cy="500265"/>
              </a:xfrm>
              <a:prstGeom prst="rect">
                <a:avLst/>
              </a:prstGeom>
              <a:blipFill rotWithShape="0">
                <a:blip r:embed="rId10"/>
                <a:stretch>
                  <a:fillRect t="-119512" b="-1743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Скругленный прямоугольник 15"/>
              <p:cNvSpPr/>
              <p:nvPr/>
            </p:nvSpPr>
            <p:spPr>
              <a:xfrm>
                <a:off x="-1727200" y="5888027"/>
                <a:ext cx="1028700" cy="49137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ru-RU" sz="2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Скругленный 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27200" y="5888027"/>
                <a:ext cx="1028700" cy="491370"/>
              </a:xfrm>
              <a:prstGeom prst="roundRect">
                <a:avLst/>
              </a:prstGeom>
              <a:blipFill rotWithShape="1">
                <a:blip r:embed="rId11"/>
                <a:stretch>
                  <a:fillRect l="-7059" b="-60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Скругленный прямоугольник 16"/>
              <p:cNvSpPr/>
              <p:nvPr/>
            </p:nvSpPr>
            <p:spPr>
              <a:xfrm>
                <a:off x="12407900" y="5642342"/>
                <a:ext cx="1028700" cy="49137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ru-RU" sz="2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Скругленный 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7900" y="5642342"/>
                <a:ext cx="1028700" cy="491370"/>
              </a:xfrm>
              <a:prstGeom prst="round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Блок-схема: узел 17"/>
          <p:cNvSpPr/>
          <p:nvPr/>
        </p:nvSpPr>
        <p:spPr>
          <a:xfrm>
            <a:off x="272477" y="0"/>
            <a:ext cx="866034" cy="765717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01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2194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916 -0.01342 L 1.03177 -0.0020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30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948 -0.00255 L -1.0224 -0.000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64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862 -0.01134 L 0.28959 -0.57176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68" y="-2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287 -0.13263 L -0.24948 -0.536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09" y="-1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332" y="1515766"/>
            <a:ext cx="1046207" cy="1046207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09" y="1542635"/>
            <a:ext cx="1103191" cy="1103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7310" y="1054101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97613" y="1054101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/>
          <p:cNvSpPr txBox="1">
            <a:spLocks/>
          </p:cNvSpPr>
          <p:nvPr/>
        </p:nvSpPr>
        <p:spPr>
          <a:xfrm>
            <a:off x="1044257" y="30369"/>
            <a:ext cx="1096994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KEG </a:t>
            </a:r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eksport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kalitlarini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yaratish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algoritmi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311400" y="2537258"/>
            <a:ext cx="7429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кругленный прямоугольник 9"/>
              <p:cNvSpPr/>
              <p:nvPr/>
            </p:nvSpPr>
            <p:spPr>
              <a:xfrm>
                <a:off x="-1917287" y="1646410"/>
                <a:ext cx="1320800" cy="97595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28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Z</m:t>
                      </m:r>
                      <m:d>
                        <m:d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0" name="Скругленный 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17287" y="1646410"/>
                <a:ext cx="1320800" cy="975958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Скругленный прямоугольник 10"/>
              <p:cNvSpPr/>
              <p:nvPr/>
            </p:nvSpPr>
            <p:spPr>
              <a:xfrm>
                <a:off x="12712700" y="1646410"/>
                <a:ext cx="1206500" cy="89084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280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Z</m:t>
                      </m:r>
                      <m:d>
                        <m:dPr>
                          <m:ctrlPr>
                            <a:rPr lang="en-US" sz="2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1" name="Скругленный 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2700" y="1646410"/>
                <a:ext cx="1206500" cy="890848"/>
              </a:xfrm>
              <a:prstGeom prst="round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Скругленный прямоугольник 11"/>
              <p:cNvSpPr/>
              <p:nvPr/>
            </p:nvSpPr>
            <p:spPr>
              <a:xfrm>
                <a:off x="3905250" y="7086600"/>
                <a:ext cx="4381500" cy="8382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800" dirty="0"/>
                  <a:t> |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800" dirty="0"/>
                  <a:t> = </a:t>
                </a:r>
                <a:r>
                  <a:rPr lang="en-US" sz="2800" i="1" dirty="0"/>
                  <a:t>KEG </a:t>
                </a:r>
                <a:r>
                  <a:rPr lang="en-US" sz="2800" i="1" dirty="0" smtClean="0"/>
                  <a:t>(x, y, H)</a:t>
                </a:r>
                <a:endParaRPr lang="ru-RU" sz="2800" dirty="0"/>
              </a:p>
              <a:p>
                <a:pPr algn="ctr"/>
                <a:endParaRPr lang="ru-RU" dirty="0"/>
              </a:p>
            </p:txBody>
          </p:sp>
        </mc:Choice>
        <mc:Fallback xmlns="">
          <p:sp>
            <p:nvSpPr>
              <p:cNvPr id="12" name="Скругленный 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250" y="7086600"/>
                <a:ext cx="4381500" cy="838200"/>
              </a:xfrm>
              <a:prstGeom prst="roundRect">
                <a:avLst/>
              </a:prstGeom>
              <a:blipFill rotWithShape="1">
                <a:blip r:embed="rId7"/>
                <a:stretch>
                  <a:fillRect t="-7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315680" y="3646582"/>
                <a:ext cx="5445408" cy="20241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𝐾𝐸𝐺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𝑈𝐾𝑀</m:t>
                              </m:r>
                            </m:e>
                          </m:d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𝑉𝐾𝑂</m:t>
                              </m:r>
                            </m:e>
                            <m: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512</m:t>
                              </m:r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𝑈𝐾𝑀</m:t>
                          </m:r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algn="ctr"/>
                <a:r>
                  <a:rPr lang="en-US" sz="2400" i="1" dirty="0"/>
                  <a:t>UKM=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400" i="1">
                            <a:latin typeface="Cambria Math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400" i="1">
                                <a:latin typeface="Cambria Math"/>
                              </a:rPr>
                            </m:ctrlPr>
                          </m:eqArr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𝑎𝑔𝑎𝑟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𝑎𝑔𝑎𝑟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𝐼𝑁𝑇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ru-RU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1…16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i="1" dirty="0"/>
                  <a:t>,</a:t>
                </a:r>
                <a:r>
                  <a:rPr lang="en-US" sz="2400" i="1" dirty="0" smtClean="0"/>
                  <a:t>  </a:t>
                </a:r>
                <a:r>
                  <a:rPr lang="en-US" sz="2400" i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H=HASH </a:t>
                </a:r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);</a:t>
                </a:r>
                <a:endParaRPr lang="ru-RU" sz="2400" dirty="0"/>
              </a:p>
              <a:p>
                <a:pPr algn="ctr"/>
                <a:endParaRPr lang="ru-RU" sz="24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0" y="3646582"/>
                <a:ext cx="5445408" cy="2024144"/>
              </a:xfrm>
              <a:prstGeom prst="rect">
                <a:avLst/>
              </a:prstGeom>
              <a:blipFill rotWithShape="1">
                <a:blip r:embed="rId8"/>
                <a:stretch>
                  <a:fillRect t="-29819" r="-113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5897511" y="4095665"/>
                <a:ext cx="6223000" cy="13427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𝐾𝐸𝐺</m:t>
                        </m:r>
                      </m:e>
                      <m:sub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𝑉𝐾𝑂</m:t>
                        </m:r>
                      </m:sub>
                    </m:sSub>
                    <m:d>
                      <m:d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𝑈𝐾𝑀</m:t>
                        </m:r>
                      </m:e>
                    </m:d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512</m:t>
                        </m:r>
                      </m:sub>
                    </m:sSub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𝑈𝐾𝑀</m:t>
                        </m:r>
                      </m:e>
                    </m:d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Latn-UZ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𝑈𝐾𝑀</m:t>
                        </m:r>
                      </m:e>
                    </m:d>
                  </m:oMath>
                </a14:m>
                <a:r>
                  <a:rPr lang="uz-Latn-UZ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400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uz-Latn-UZ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uz-Latn-UZ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den>
                        </m:f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𝑈𝐾𝑀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∙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𝑚𝑜𝑑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uz-Latn-UZ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uz-Latn-UZ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511" y="4095665"/>
                <a:ext cx="6223000" cy="1342740"/>
              </a:xfrm>
              <a:prstGeom prst="rect">
                <a:avLst/>
              </a:prstGeom>
              <a:blipFill rotWithShape="1">
                <a:blip r:embed="rId9"/>
                <a:stretch>
                  <a:fillRect t="-227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315680" y="5549757"/>
                <a:ext cx="5581831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Р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50.1.113-2016 da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belgilangan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VKO_GOSTR3410_2012_512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algoritmi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𝑉𝐾𝑂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512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funksiyasi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sifatida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 smtClean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ishlatiladi</a:t>
                </a:r>
                <a:r>
                  <a:rPr lang="en-US" sz="2400" dirty="0" smtClean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ru-R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0" y="5549757"/>
                <a:ext cx="5581831" cy="1200329"/>
              </a:xfrm>
              <a:prstGeom prst="rect">
                <a:avLst/>
              </a:prstGeom>
              <a:blipFill rotWithShape="1">
                <a:blip r:embed="rId10"/>
                <a:stretch>
                  <a:fillRect l="-1749" t="-3553" r="-874" b="-111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Прямоугольник 15"/>
          <p:cNvSpPr/>
          <p:nvPr/>
        </p:nvSpPr>
        <p:spPr>
          <a:xfrm>
            <a:off x="6159500" y="481105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z-Latn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71490" y="2837149"/>
                <a:ext cx="1150948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400" dirty="0" smtClean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Agar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shaxsiy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kalitining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uzunligi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64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bayt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(512 bit)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bo‘lsa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𝐾𝐸𝐺</m:t>
                    </m:r>
                  </m:oMath>
                </a14:m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algoritmi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quyidagicha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</a:t>
                </a:r>
                <a:r>
                  <a:rPr lang="en-US" sz="2400" dirty="0" err="1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aniqlanadi</a:t>
                </a:r>
                <a:r>
                  <a:rPr lang="en-US" sz="24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</a:t>
                </a:r>
                <a:endParaRPr lang="ru-RU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0" y="2837149"/>
                <a:ext cx="11509482" cy="830997"/>
              </a:xfrm>
              <a:prstGeom prst="rect">
                <a:avLst/>
              </a:prstGeom>
              <a:blipFill rotWithShape="1">
                <a:blip r:embed="rId11"/>
                <a:stretch>
                  <a:fillRect l="-847" t="-5109" r="-794" b="-16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/>
          <p:cNvSpPr/>
          <p:nvPr/>
        </p:nvSpPr>
        <p:spPr>
          <a:xfrm>
            <a:off x="6194530" y="5687697"/>
            <a:ext cx="58196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uz-Latn-UZ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 erda 𝑚 va 𝑞 </a:t>
            </a:r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berilgan</a:t>
            </a:r>
            <a:r>
              <a:rPr lang="uz-Latn-UZ" sz="24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uz-Latn-UZ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elliptik egri chiziqning parametrlari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Блок-схема: узел 18"/>
          <p:cNvSpPr/>
          <p:nvPr/>
        </p:nvSpPr>
        <p:spPr>
          <a:xfrm>
            <a:off x="177800" y="0"/>
            <a:ext cx="866457" cy="741450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02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170207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-0.0081 L 0.34063 -0.0185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83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11111E-6 L -0.32136 -0.0164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68" y="-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-0.00521 -0.7962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" y="-39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5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332" y="1515766"/>
            <a:ext cx="1046207" cy="1046207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09" y="1542635"/>
            <a:ext cx="1103191" cy="1103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7310" y="1054101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Client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097613" y="1054101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/>
          <p:cNvSpPr txBox="1">
            <a:spLocks/>
          </p:cNvSpPr>
          <p:nvPr/>
        </p:nvSpPr>
        <p:spPr>
          <a:xfrm>
            <a:off x="1003260" y="44832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Server,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mijoz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tomondan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yuborilgan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PSExp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qiymatni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import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qilish</a:t>
            </a:r>
            <a:endParaRPr lang="en-IN" sz="3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311400" y="2537258"/>
            <a:ext cx="7429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Скругленный прямоугольник 9"/>
              <p:cNvSpPr/>
              <p:nvPr/>
            </p:nvSpPr>
            <p:spPr>
              <a:xfrm>
                <a:off x="-2717800" y="1664219"/>
                <a:ext cx="1955800" cy="7493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/>
                  <a:t> ;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dirty="0" smtClean="0"/>
              </a:p>
              <a:p>
                <a:pPr algn="ctr"/>
                <a:r>
                  <a:rPr lang="en-US" sz="2400" dirty="0" smtClean="0"/>
                  <a:t>IV; PS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Скругленный 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7800" y="1664219"/>
                <a:ext cx="1955800" cy="749300"/>
              </a:xfrm>
              <a:prstGeom prst="roundRect">
                <a:avLst/>
              </a:prstGeom>
              <a:blipFill rotWithShape="1">
                <a:blip r:embed="rId5"/>
                <a:stretch>
                  <a:fillRect t="-8000" b="-26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Скругленный прямоугольник 10"/>
              <p:cNvSpPr/>
              <p:nvPr/>
            </p:nvSpPr>
            <p:spPr>
              <a:xfrm>
                <a:off x="12674600" y="1515766"/>
                <a:ext cx="1955800" cy="7493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 smtClean="0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/>
                  <a:t> ;</a:t>
                </a:r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2400" dirty="0" smtClean="0"/>
              </a:p>
              <a:p>
                <a:pPr algn="ctr"/>
                <a:r>
                  <a:rPr lang="en-US" sz="2400" dirty="0" smtClean="0"/>
                  <a:t>IV; </a:t>
                </a:r>
                <a:endParaRPr lang="ru-RU" sz="2400" dirty="0"/>
              </a:p>
            </p:txBody>
          </p:sp>
        </mc:Choice>
        <mc:Fallback xmlns="">
          <p:sp>
            <p:nvSpPr>
              <p:cNvPr id="11" name="Скругленный 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4600" y="1515766"/>
                <a:ext cx="1955800" cy="749300"/>
              </a:xfrm>
              <a:prstGeom prst="roundRect">
                <a:avLst/>
              </a:prstGeom>
              <a:blipFill rotWithShape="1">
                <a:blip r:embed="rId6"/>
                <a:stretch>
                  <a:fillRect t="-8000" b="-264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Скругленный прямоугольник 11"/>
              <p:cNvSpPr/>
              <p:nvPr/>
            </p:nvSpPr>
            <p:spPr>
              <a:xfrm>
                <a:off x="4883150" y="-734864"/>
                <a:ext cx="2552700" cy="64002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IV=H[25…24+n/2</a:t>
                </a:r>
                <a:r>
                  <a:rPr lang="en-US" sz="2400" dirty="0" smtClean="0"/>
                  <a:t>];</a:t>
                </a:r>
              </a:p>
              <a:p>
                <a:pPr algn="ctr"/>
                <a:r>
                  <a:rPr lang="en-US" sz="24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H=HASH </a:t>
                </a:r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);</a:t>
                </a:r>
                <a:endParaRPr lang="ru-RU" sz="2400" dirty="0"/>
              </a:p>
            </p:txBody>
          </p:sp>
        </mc:Choice>
        <mc:Fallback xmlns="">
          <p:sp>
            <p:nvSpPr>
              <p:cNvPr id="12" name="Скругленный 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150" y="-734864"/>
                <a:ext cx="2552700" cy="640029"/>
              </a:xfrm>
              <a:prstGeom prst="roundRect">
                <a:avLst/>
              </a:prstGeom>
              <a:blipFill rotWithShape="1">
                <a:blip r:embed="rId7"/>
                <a:stretch>
                  <a:fillRect l="-1188" t="-20561" r="-1188" b="-336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471147" y="2823667"/>
                <a:ext cx="4975914" cy="602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en-US" sz="2400" i="1" dirty="0" err="1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PSExp</a:t>
                </a:r>
                <a:r>
                  <a:rPr lang="en-US" sz="24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=KExp15(PS</a:t>
                </a:r>
                <a:r>
                  <a:rPr lang="en-US" sz="2400" i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 smtClean="0"/>
                  <a:t>,</a:t>
                </a: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i="1" dirty="0"/>
                  <a:t>IV</a:t>
                </a:r>
                <a:r>
                  <a:rPr lang="en-US" sz="24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)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47" y="2823667"/>
                <a:ext cx="4975914" cy="602794"/>
              </a:xfrm>
              <a:prstGeom prst="rect">
                <a:avLst/>
              </a:prstGeom>
              <a:blipFill rotWithShape="1">
                <a:blip r:embed="rId8"/>
                <a:stretch>
                  <a:fillRect l="-1469" r="-1346" b="-131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6755049" y="5922587"/>
                <a:ext cx="5006371" cy="6027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en-US" sz="2400" i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PS=KImp15(</a:t>
                </a:r>
                <a:r>
                  <a:rPr lang="en-US" sz="2400" i="1" dirty="0" err="1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PSExp</a:t>
                </a:r>
                <a:r>
                  <a:rPr lang="en-US" sz="2400" i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 smtClean="0"/>
                  <a:t>,</a:t>
                </a: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i="1" dirty="0"/>
                  <a:t>IV</a:t>
                </a:r>
                <a:r>
                  <a:rPr lang="en-US" sz="2400" dirty="0" smtClean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)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049" y="5922587"/>
                <a:ext cx="5006371" cy="602794"/>
              </a:xfrm>
              <a:prstGeom prst="rect">
                <a:avLst/>
              </a:prstGeom>
              <a:blipFill rotWithShape="1">
                <a:blip r:embed="rId9"/>
                <a:stretch>
                  <a:fillRect l="-1462" r="-1462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/>
          <p:cNvCxnSpPr/>
          <p:nvPr/>
        </p:nvCxnSpPr>
        <p:spPr>
          <a:xfrm flipH="1">
            <a:off x="6022805" y="2646484"/>
            <a:ext cx="3345" cy="40724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102847" y="3446169"/>
                <a:ext cx="5955053" cy="15365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lnSpc>
                    <a:spcPct val="115000"/>
                  </a:lnSpc>
                </a:pPr>
                <a:r>
                  <a:rPr lang="en-US" sz="200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1)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n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bit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uzunlikdagi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𝐾𝐸𝑌𝑀𝐴𝐶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imitaqiymatni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hisoblash</m:t>
                    </m:r>
                    <m:r>
                      <m:rPr>
                        <m:nor/>
                      </m:rPr>
                      <a:rPr lang="en-US" sz="2000">
                        <a:solidFill>
                          <a:schemeClr val="accent5">
                            <a:lumMod val="75000"/>
                          </a:schemeClr>
                        </a:solidFill>
                      </a:rPr>
                      <m:t>:</m:t>
                    </m:r>
                  </m:oMath>
                </a14:m>
                <a:endParaRPr lang="ru-RU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algn="ctr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𝐾𝐸𝑌𝑀𝐴𝐶</m:t>
                    </m:r>
                  </m:oMath>
                </a14:m>
                <a:r>
                  <a:rPr lang="en-US" sz="2400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𝑂𝑀𝐴𝐶</m:t>
                    </m:r>
                  </m:oMath>
                </a14:m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𝐼𝑉</m:t>
                    </m:r>
                  </m:oMath>
                </a14:m>
                <a:r>
                  <a:rPr lang="en-US" sz="2400" dirty="0"/>
                  <a:t> ||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𝑃𝑆</m:t>
                    </m:r>
                  </m:oMath>
                </a14:m>
                <a:r>
                  <a:rPr lang="en-US" sz="2400" dirty="0" smtClean="0"/>
                  <a:t>)</a:t>
                </a:r>
                <a:r>
                  <a:rPr lang="en-US" sz="2400" dirty="0" smtClean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𝑂𝑀𝐴𝐶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- M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ma'lumotlaridan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K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kalit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bilan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GOST R </a:t>
                </a:r>
                <a:r>
                  <a:rPr lang="en-US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34.13-2015 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da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tavsiflangan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imitaqiymatni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yaratish</a:t>
                </a:r>
                <a:r>
                  <a:rPr lang="en-US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dirty="0" err="1">
                    <a:solidFill>
                      <a:schemeClr val="accent5">
                        <a:lumMod val="75000"/>
                      </a:schemeClr>
                    </a:solidFill>
                  </a:rPr>
                  <a:t>funktsiyasi</a:t>
                </a:r>
                <a:r>
                  <a:rPr lang="en-US" sz="240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;</a:t>
                </a:r>
                <a:endParaRPr lang="ru-RU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7" y="3446169"/>
                <a:ext cx="5955053" cy="1536511"/>
              </a:xfrm>
              <a:prstGeom prst="rect">
                <a:avLst/>
              </a:prstGeom>
              <a:blipFill rotWithShape="1">
                <a:blip r:embed="rId10"/>
                <a:stretch>
                  <a:fillRect t="-397" r="-205" b="-79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287535" y="5058248"/>
                <a:ext cx="5871965" cy="158229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2400" i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2</a:t>
                </a:r>
                <a:r>
                  <a:rPr lang="en-US" sz="2000" i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) </a:t>
                </a:r>
                <a:r>
                  <a:rPr lang="en-US" sz="2000" i="1" dirty="0" err="1" smtClean="0">
                    <a:solidFill>
                      <a:schemeClr val="accent5">
                        <a:lumMod val="75000"/>
                      </a:schemeClr>
                    </a:solidFill>
                  </a:rPr>
                  <a:t>PSExp</a:t>
                </a:r>
                <a:r>
                  <a:rPr lang="en-US" sz="2000" i="1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qiymatni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hisoblash</a:t>
                </a:r>
                <a:r>
                  <a:rPr lang="en-US" sz="2000" dirty="0" smtClean="0">
                    <a:solidFill>
                      <a:schemeClr val="accent5">
                        <a:lumMod val="75000"/>
                      </a:schemeClr>
                    </a:solidFill>
                  </a:rPr>
                  <a:t>:</a:t>
                </a:r>
                <a:endParaRPr 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lvl="0" algn="ctr"/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ru-RU" sz="24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𝑃𝑆𝐸𝑥𝑝</m:t>
                        </m:r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𝐶𝑇𝑅</m:t>
                        </m:r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ru-RU" sz="2400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𝐸𝑁𝐶</m:t>
                            </m:r>
                          </m:sub>
                          <m:sup>
                            <m:r>
                              <a:rPr lang="ru-RU" sz="2400" i="1">
                                <a:latin typeface="Cambria Math" panose="02040503050406030204" pitchFamily="18" charset="0"/>
                              </a:rPr>
                              <m:t>𝐸𝑥𝑝</m:t>
                            </m:r>
                          </m:sup>
                        </m:sSubSup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𝐼𝑉</m:t>
                        </m:r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𝑃𝑆</m:t>
                        </m:r>
                        <m:r>
                          <a:rPr lang="ru-RU" sz="2400" i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𝐾𝐸𝑌𝑀𝐴𝐶</m:t>
                        </m:r>
                      </m:e>
                    </m:d>
                  </m:oMath>
                </a14:m>
                <a:r>
                  <a:rPr lang="en-US" dirty="0" smtClean="0"/>
                  <a:t> </a:t>
                </a:r>
              </a:p>
              <a:p>
                <a:pPr lvl="0" algn="ctr"/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𝐶𝑇𝑅</m:t>
                    </m:r>
                    <m:r>
                      <a:rPr lang="en-US" sz="20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ru-RU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en-US" sz="20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𝐸𝑥𝑝</m:t>
                        </m:r>
                      </m:sup>
                    </m:sSubSup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𝐼𝑉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– GOST R 34.13 – 2015 da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taqdim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etilgan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gammalash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rejimidagi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shifrlash</a:t>
                </a: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funksiyasi</a:t>
                </a:r>
                <a:endParaRPr lang="ru-RU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35" y="5058248"/>
                <a:ext cx="5871965" cy="1582293"/>
              </a:xfrm>
              <a:prstGeom prst="rect">
                <a:avLst/>
              </a:prstGeom>
              <a:blipFill rotWithShape="1">
                <a:blip r:embed="rId11"/>
                <a:stretch>
                  <a:fillRect t="-3089" b="-57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Скругленный прямоугольник 17"/>
              <p:cNvSpPr/>
              <p:nvPr/>
            </p:nvSpPr>
            <p:spPr>
              <a:xfrm>
                <a:off x="-1739900" y="5676900"/>
                <a:ext cx="1206500" cy="495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𝑃𝑆𝐸𝑥𝑝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8" name="Скругленный прямоугольник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39900" y="5676900"/>
                <a:ext cx="1206500" cy="495300"/>
              </a:xfrm>
              <a:prstGeom prst="roundRect">
                <a:avLst/>
              </a:prstGeom>
              <a:blipFill rotWithShape="1">
                <a:blip r:embed="rId12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6022805" y="2678509"/>
                <a:ext cx="6096000" cy="142609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49580"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1)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𝑃𝑆𝐸𝑥𝑝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qatori GOST R 34.13 - 2015 da berilgan </a:t>
                </a:r>
                <a:r>
                  <a:rPr lang="uz-Latn-UZ" dirty="0" smtClea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gammalash </a:t>
                </a:r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rejimiga muvofiq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kaliti yordamida deshifrlash amalga oshiriladi, buning natijasida 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𝐼𝑉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va 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||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𝐾𝐸𝑌𝑀𝐴𝐶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qiymatlar chiqarib olinadi;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805" y="2678509"/>
                <a:ext cx="6096000" cy="1426096"/>
              </a:xfrm>
              <a:prstGeom prst="rect">
                <a:avLst/>
              </a:prstGeom>
              <a:blipFill rotWithShape="1">
                <a:blip r:embed="rId13"/>
                <a:stretch>
                  <a:fillRect l="-900" t="-855" r="-800" b="-42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/>
              <p:cNvSpPr/>
              <p:nvPr/>
            </p:nvSpPr>
            <p:spPr>
              <a:xfrm>
                <a:off x="6022805" y="4062782"/>
                <a:ext cx="6096000" cy="174464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49580"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2) </a:t>
                </a:r>
                <a:r>
                  <a:rPr lang="uz-Latn-UZ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IV</a:t>
                </a:r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||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ma'lumotlardan GOST R 34.13—2015 da ko‘rsatilgan imitaqiymat yaratish rejimiga muvofiq, imitaqiymatini hisoblash kaliti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𝐸𝑥𝑝</m:t>
                        </m:r>
                      </m:sup>
                    </m:sSubSup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yordamida </a:t>
                </a:r>
                <a14:m>
                  <m:oMath xmlns:m="http://schemas.openxmlformats.org/officeDocument/2006/math">
                    <m:r>
                      <a:rPr lang="uz-Latn-UZ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𝐾𝐸𝑌𝑀𝐴𝐶</m:t>
                    </m:r>
                  </m:oMath>
                </a14:m>
                <a:r>
                  <a:rPr lang="uz-Latn-UZ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imitaqiymat yaratiladi. Agar bu qiymat mijozniki bilan farq qilsa, xatolik qaytariladi;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Прямоугольник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805" y="4062782"/>
                <a:ext cx="6096000" cy="1744645"/>
              </a:xfrm>
              <a:prstGeom prst="rect">
                <a:avLst/>
              </a:prstGeom>
              <a:blipFill rotWithShape="1">
                <a:blip r:embed="rId14"/>
                <a:stretch>
                  <a:fillRect l="-900" t="-1045" r="-800" b="-27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Скругленный прямоугольник 20"/>
              <p:cNvSpPr/>
              <p:nvPr/>
            </p:nvSpPr>
            <p:spPr>
              <a:xfrm>
                <a:off x="12922250" y="558801"/>
                <a:ext cx="577850" cy="4953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</a:rPr>
                        <m:t>𝑃𝑆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1" name="Скругленный прямоугольник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2250" y="558801"/>
                <a:ext cx="577850" cy="495300"/>
              </a:xfrm>
              <a:prstGeom prst="roundRect">
                <a:avLst/>
              </a:prstGeom>
              <a:blipFill rotWithShape="1">
                <a:blip r:embed="rId15"/>
                <a:stretch>
                  <a:fillRect l="-41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Блок-схема: узел 21"/>
          <p:cNvSpPr/>
          <p:nvPr/>
        </p:nvSpPr>
        <p:spPr>
          <a:xfrm>
            <a:off x="189693" y="25124"/>
            <a:ext cx="784462" cy="668834"/>
          </a:xfrm>
          <a:prstGeom prst="flowChartConnector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03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5307511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0.39479 -0.0083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40" y="-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44444E-6 L -0.37708 0.0127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54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0.350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747 -0.03611 L 0.85261 -0.6861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50" y="-3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5 0.06019 L -0.51927 0.7953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64" y="3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  <p:bldP spid="14" grpId="0"/>
      <p:bldP spid="16" grpId="0"/>
      <p:bldP spid="17" grpId="0"/>
      <p:bldP spid="18" grpId="0" animBg="1"/>
      <p:bldP spid="19" grpId="0"/>
      <p:bldP spid="20" grpId="0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332" y="1515766"/>
            <a:ext cx="1046207" cy="1046207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09" y="1542635"/>
            <a:ext cx="1103191" cy="1103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7310" y="1054101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97613" y="1054101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/>
          <p:cNvSpPr txBox="1">
            <a:spLocks/>
          </p:cNvSpPr>
          <p:nvPr/>
        </p:nvSpPr>
        <p:spPr>
          <a:xfrm>
            <a:off x="1068227" y="12408"/>
            <a:ext cx="10969943" cy="7110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uz-Latn-UZ" sz="4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Asosiy trafik kalitlarni hosil qilish</a:t>
            </a:r>
            <a:endParaRPr lang="en-IN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311400" y="2537258"/>
            <a:ext cx="7429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159500" y="481105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z-Latn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-812800" y="1927658"/>
            <a:ext cx="635000" cy="6096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PS</a:t>
            </a:r>
            <a:endParaRPr lang="ru-RU" sz="28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2382500" y="1977773"/>
            <a:ext cx="635000" cy="584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PS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2246688" y="2757150"/>
                <a:ext cx="7949549" cy="51706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𝐿𝑀𝐵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𝑃𝑅𝐹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"</m:t>
                    </m:r>
                    <m:r>
                      <m:rPr>
                        <m:nor/>
                      </m:rPr>
                      <a:rPr lang="en-US" sz="2400"/>
                      <m:t>extended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master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secret</m:t>
                    </m:r>
                    <m:r>
                      <m:rPr>
                        <m:nor/>
                      </m:rPr>
                      <a:rPr lang="en-US" sz="2400"/>
                      <m:t> ", </m:t>
                    </m:r>
                    <m:r>
                      <m:rPr>
                        <m:nor/>
                      </m:rPr>
                      <a:rPr lang="en-US" sz="2400"/>
                      <m:t>HASH</m:t>
                    </m:r>
                    <m:r>
                      <m:rPr>
                        <m:nor/>
                      </m:rPr>
                      <a:rPr lang="en-US" sz="2400"/>
                      <m:t>(</m:t>
                    </m:r>
                    <m:r>
                      <m:rPr>
                        <m:nor/>
                      </m:rPr>
                      <a:rPr lang="en-US" sz="2400"/>
                      <m:t>HM</m:t>
                    </m:r>
                    <m:r>
                      <m:rPr>
                        <m:nor/>
                      </m:rPr>
                      <a:rPr lang="en-US" sz="2400"/>
                      <m:t>))</m:t>
                    </m:r>
                  </m:oMath>
                </a14:m>
                <a:r>
                  <a:rPr lang="en-US" sz="2400" i="1" dirty="0"/>
                  <a:t>;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688" y="2757150"/>
                <a:ext cx="7949549" cy="517065"/>
              </a:xfrm>
              <a:prstGeom prst="rect">
                <a:avLst/>
              </a:prstGeom>
              <a:blipFill rotWithShape="1">
                <a:blip r:embed="rId5"/>
                <a:stretch>
                  <a:fillRect l="-766" t="-5814" r="-536" b="-197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Прямоугольник 13"/>
              <p:cNvSpPr/>
              <p:nvPr/>
            </p:nvSpPr>
            <p:spPr>
              <a:xfrm>
                <a:off x="2095500" y="3489184"/>
                <a:ext cx="8331200" cy="1261884"/>
              </a:xfrm>
              <a:prstGeom prst="rect">
                <a:avLst/>
              </a:prstGeom>
              <a:scene3d>
                <a:camera prst="orthographicFront"/>
                <a:lightRig rig="threePt" dir="t"/>
              </a:scene3d>
              <a:sp3d>
                <a:bevelT w="114300" prst="artDeco"/>
              </a:sp3d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Times New Roman" panose="02020603050405020304" pitchFamily="18" charset="0"/>
                    <a:cs typeface="Cambria Math" panose="02040503050406030204" pitchFamily="18" charset="0"/>
                  </a:rPr>
                  <a:t>𝑃𝑅𝐹𝑇𝐿𝑆</a:t>
                </a:r>
                <a:r>
                  <a:rPr lang="en-US" sz="2400" dirty="0"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_256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"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extended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master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secret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", 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HASH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HM</m:t>
                    </m:r>
                    <m:r>
                      <m:rPr>
                        <m:nor/>
                      </m:rPr>
                      <a:rPr lang="uz-Latn-UZ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uz-Latn-UZ" sz="20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:r>
                  <a:rPr lang="uz-Latn-UZ" sz="2000" dirty="0" smtClean="0">
                    <a:solidFill>
                      <a:schemeClr val="bg1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=</a:t>
                </a:r>
                <a:endParaRPr lang="en-US" sz="2000" dirty="0" smtClean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Cambria Math" panose="02040503050406030204" pitchFamily="18" charset="0"/>
                </a:endParaRPr>
              </a:p>
              <a:p>
                <a:pPr algn="ctr"/>
                <a:r>
                  <a:rPr lang="uz-Latn-UZ" sz="2000" dirty="0" smtClean="0">
                    <a:solidFill>
                      <a:schemeClr val="bg1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:r>
                  <a:rPr lang="uz-Latn-UZ" sz="2800" dirty="0">
                    <a:solidFill>
                      <a:schemeClr val="bg1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𝑃</a:t>
                </a:r>
                <a:r>
                  <a:rPr lang="uz-Latn-UZ" dirty="0">
                    <a:solidFill>
                      <a:schemeClr val="bg1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256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"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extended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master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secret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", 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HASH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HM</m:t>
                    </m:r>
                    <m:r>
                      <m:rPr>
                        <m:nor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</m:t>
                    </m:r>
                  </m:oMath>
                </a14:m>
                <a:r>
                  <a:rPr lang="en-US" sz="2400" dirty="0" smtClean="0"/>
                  <a:t> </a:t>
                </a:r>
              </a:p>
              <a:p>
                <a:pPr algn="ctr"/>
                <a:r>
                  <a:rPr lang="en-US" sz="2400" b="0" dirty="0" smtClean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extended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master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secret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", 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HASH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HM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))=</m:t>
                    </m:r>
                  </m:oMath>
                </a14:m>
                <a:r>
                  <a:rPr lang="en-US" sz="2400" dirty="0" smtClean="0">
                    <a:solidFill>
                      <a:schemeClr val="bg1"/>
                    </a:solidFill>
                  </a:rPr>
                  <a:t>S</a:t>
                </a:r>
                <a:endParaRPr lang="ru-R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Прямоугольник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3489184"/>
                <a:ext cx="8331200" cy="126188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/>
              <p:cNvSpPr/>
              <p:nvPr/>
            </p:nvSpPr>
            <p:spPr>
              <a:xfrm>
                <a:off x="990600" y="4894907"/>
                <a:ext cx="11125199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HASH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HM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 = [</a:t>
                </a:r>
                <a:r>
                  <a:rPr lang="en-US" sz="2400" dirty="0" err="1" smtClean="0"/>
                  <a:t>ClientHello</a:t>
                </a:r>
                <a:r>
                  <a:rPr lang="en-US" sz="2400" dirty="0" smtClean="0"/>
                  <a:t> ….. Finished]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𝑃𝑅𝐹 – </a:t>
                </a:r>
                <a:r>
                  <a:rPr lang="en-US" sz="2400" dirty="0" err="1"/>
                  <a:t>funksiya</a:t>
                </a:r>
                <a:r>
                  <a:rPr lang="en-US" sz="2400" dirty="0"/>
                  <a:t> GOST R 34.11–2012  da </a:t>
                </a:r>
                <a:r>
                  <a:rPr lang="en-US" sz="2400" dirty="0" err="1"/>
                  <a:t>aniqlangan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chiqish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uzunligi</a:t>
                </a:r>
                <a:r>
                  <a:rPr lang="en-US" sz="2400" dirty="0"/>
                  <a:t> 256 bit </a:t>
                </a:r>
                <a:r>
                  <a:rPr lang="en-US" sz="2400" dirty="0" err="1"/>
                  <a:t>bo‘lgan</a:t>
                </a:r>
                <a:r>
                  <a:rPr lang="en-US" sz="2400" dirty="0"/>
                  <a:t> 𝐻 </a:t>
                </a:r>
                <a:r>
                  <a:rPr lang="en-US" sz="2400" dirty="0" err="1"/>
                  <a:t>xesh-funktsiyasiga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asoslangan</a:t>
                </a:r>
                <a:r>
                  <a:rPr lang="en-US" sz="2400" dirty="0"/>
                  <a:t> PRF_TLS_GOSTR3411_2012_256 </a:t>
                </a:r>
                <a:r>
                  <a:rPr lang="en-US" sz="2400" dirty="0" err="1"/>
                  <a:t>algoritmi</a:t>
                </a:r>
                <a:r>
                  <a:rPr lang="en-US" sz="2400" dirty="0"/>
                  <a:t> </a:t>
                </a:r>
                <a:r>
                  <a:rPr lang="en-US" sz="2400" i="1" dirty="0"/>
                  <a:t>TLS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protokolining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psevdo-tasodifiy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funktsiyasini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belgilaydi</a:t>
                </a:r>
                <a:r>
                  <a:rPr lang="en-US" sz="2400" dirty="0"/>
                  <a:t>. </a:t>
                </a:r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15" name="Прямоугольник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894907"/>
                <a:ext cx="11125199" cy="1938992"/>
              </a:xfrm>
              <a:prstGeom prst="rect">
                <a:avLst/>
              </a:prstGeom>
              <a:blipFill rotWithShape="1">
                <a:blip r:embed="rId7"/>
                <a:stretch>
                  <a:fillRect l="-768" t="-25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Блок-схема: узел 15"/>
          <p:cNvSpPr/>
          <p:nvPr/>
        </p:nvSpPr>
        <p:spPr>
          <a:xfrm>
            <a:off x="340213" y="42782"/>
            <a:ext cx="728014" cy="630198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04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1940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5 -0.01504 L 0.24271 -0.015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8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206 L -0.25521 -0.020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332" y="1515766"/>
            <a:ext cx="1046207" cy="1046207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09" y="1542635"/>
            <a:ext cx="1103191" cy="11031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7310" y="1054101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97613" y="1054101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3"/>
          <p:cNvSpPr txBox="1">
            <a:spLocks/>
          </p:cNvSpPr>
          <p:nvPr/>
        </p:nvSpPr>
        <p:spPr>
          <a:xfrm>
            <a:off x="1068228" y="7894"/>
            <a:ext cx="10969943" cy="711081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Psevdo-Tasodifiy Funksiya orqali MS qiymat hosil qilish 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311400" y="2537258"/>
            <a:ext cx="74295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159499" y="486381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z-Latn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2059263" y="2946400"/>
                <a:ext cx="8200473" cy="1407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uz-Latn-UZ" sz="24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𝑃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256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</m:oMath>
                </a14:m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 𝑆) = 𝐻𝑀𝐴𝐶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256 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</m:oMath>
                </a14:m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 𝐴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1 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| 𝑆) | 𝐻𝑀𝐴𝐶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256 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uz-Latn-UZ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</m:oMath>
                </a14:m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 𝐴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 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| 𝑆) </a:t>
                </a:r>
                <a:r>
                  <a:rPr lang="uz-Latn-UZ" sz="2000" dirty="0" smtClean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|…</a:t>
                </a:r>
                <a:r>
                  <a:rPr lang="uz-Latn-UZ" sz="2000" dirty="0" smtClean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</a:t>
                </a:r>
                <a:r>
                  <a:rPr lang="uz-Latn-UZ" sz="20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 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49580"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parametrlari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ketma-ketlik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quyidagicha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aniqlanadi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𝐴</a:t>
                </a:r>
                <a:r>
                  <a:rPr lang="uz-Latn-UZ" sz="2400" baseline="-250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0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= 𝑆</a:t>
                </a:r>
                <a:r>
                  <a:rPr lang="uz-Latn-UZ" sz="2400" dirty="0" smtClean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,</a:t>
                </a:r>
                <a:r>
                  <a:rPr lang="en-US" sz="24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</a:t>
                </a:r>
                <a:r>
                  <a:rPr lang="uz-Latn-UZ" sz="2400" dirty="0" smtClean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𝐴</a:t>
                </a:r>
                <a:r>
                  <a:rPr lang="uz-Latn-UZ" sz="2400" baseline="-250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(𝑖)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= 𝐻𝑀𝐴𝐶</a:t>
                </a:r>
                <a:r>
                  <a:rPr lang="uz-Latn-UZ" sz="1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256</a:t>
                </a:r>
                <a:r>
                  <a:rPr lang="uz-Latn-UZ" sz="2400" dirty="0">
                    <a:solidFill>
                      <a:srgbClr val="000000"/>
                    </a:solidFill>
                    <a:effectLst/>
                    <a:latin typeface="Cambria Math" panose="02040503050406030204" pitchFamily="18" charset="0"/>
                    <a:ea typeface="Calibri" panose="020F0502020204030204" pitchFamily="34" charset="0"/>
                    <a:cs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uz-Latn-UZ" sz="2400" i="1">
                        <a:latin typeface="Cambria Math" panose="02040503050406030204" pitchFamily="18" charset="0"/>
                      </a:rPr>
                      <m:t>𝑃𝑆</m:t>
                    </m:r>
                  </m:oMath>
                </a14:m>
                <a:r>
                  <a:rPr lang="uz-Latn-UZ" sz="2400" dirty="0"/>
                  <a:t>, 𝐴</a:t>
                </a:r>
                <a:r>
                  <a:rPr lang="uz-Latn-UZ" sz="2400" baseline="-25000" dirty="0"/>
                  <a:t>(𝑖−1</a:t>
                </a:r>
                <a:r>
                  <a:rPr lang="uz-Latn-UZ" sz="2400" baseline="-25000" dirty="0" smtClean="0"/>
                  <a:t>)</a:t>
                </a:r>
                <a:r>
                  <a:rPr lang="uz-Latn-UZ" sz="2400" baseline="-25000" dirty="0"/>
                  <a:t> </a:t>
                </a:r>
                <a:r>
                  <a:rPr lang="uz-Latn-UZ" sz="2400" dirty="0" smtClean="0"/>
                  <a:t>)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263" y="2946400"/>
                <a:ext cx="8200473" cy="1407437"/>
              </a:xfrm>
              <a:prstGeom prst="rect">
                <a:avLst/>
              </a:prstGeom>
              <a:blipFill rotWithShape="1">
                <a:blip r:embed="rId5"/>
                <a:stretch>
                  <a:fillRect t="-2165" b="-69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Овал 11"/>
          <p:cNvSpPr/>
          <p:nvPr/>
        </p:nvSpPr>
        <p:spPr>
          <a:xfrm>
            <a:off x="-2969005" y="2637352"/>
            <a:ext cx="2781300" cy="84336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3582022" y="4575073"/>
                <a:ext cx="467140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 smtClean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𝐿𝑀𝐵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𝐻𝑀𝐴𝐶</m:t>
                    </m:r>
                    <m:r>
                      <m:rPr>
                        <m:nor/>
                      </m:rPr>
                      <a:rPr lang="uz-Latn-UZ" sz="1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256 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(</m:t>
                    </m:r>
                    <m:r>
                      <a:rPr lang="uz-Latn-UZ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𝑃𝑆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uz-Latn-UZ" sz="1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1 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| 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uz-Latn-UZ" sz="24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022" y="4575073"/>
                <a:ext cx="4671407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2089" t="-13333" r="-653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Скругленный прямоугольник 13"/>
          <p:cNvSpPr/>
          <p:nvPr/>
        </p:nvSpPr>
        <p:spPr>
          <a:xfrm>
            <a:off x="-1651000" y="4575073"/>
            <a:ext cx="698500" cy="605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MS</a:t>
            </a:r>
            <a:endParaRPr lang="ru-RU" sz="24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-1651000" y="5337073"/>
            <a:ext cx="698500" cy="6053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MS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/>
              <p:cNvSpPr/>
              <p:nvPr/>
            </p:nvSpPr>
            <p:spPr>
              <a:xfrm>
                <a:off x="1597480" y="5436179"/>
                <a:ext cx="9124038" cy="111645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  <a:tabLst>
                    <a:tab pos="304800" algn="l"/>
                  </a:tabLs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||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||</m:t>
                        </m:r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||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uz-Latn-UZ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||</m:t>
                    </m:r>
                    <m:sSup>
                      <m:s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uz-Latn-UZ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||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r>
                  <a:rPr lang="uz-Latn-UZ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:endParaRPr lang="ru-RU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3048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𝐿𝑀𝐵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𝑃𝑅𝐹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𝑀𝑆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,"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key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expansion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",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800" i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)).</m:t>
                    </m:r>
                  </m:oMath>
                </a14:m>
                <a:endParaRPr lang="ru-RU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Прямоугольник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480" y="5436179"/>
                <a:ext cx="9124038" cy="1116459"/>
              </a:xfrm>
              <a:prstGeom prst="rect">
                <a:avLst/>
              </a:prstGeom>
              <a:blipFill rotWithShape="1">
                <a:blip r:embed="rId7"/>
                <a:stretch>
                  <a:fillRect t="-1087" b="-103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/>
              <p:cNvSpPr/>
              <p:nvPr/>
            </p:nvSpPr>
            <p:spPr>
              <a:xfrm>
                <a:off x="4961602" y="7148489"/>
                <a:ext cx="2912849" cy="1052468"/>
              </a:xfrm>
              <a:prstGeom prst="rect">
                <a:avLst/>
              </a:prstGeom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uz-Latn-UZ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endPara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uz-Latn-UZ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uz-Latn-UZ" sz="2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7" name="Прямоугольник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602" y="7148489"/>
                <a:ext cx="2912849" cy="1052468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Блок-схема: узел 17"/>
          <p:cNvSpPr/>
          <p:nvPr/>
        </p:nvSpPr>
        <p:spPr>
          <a:xfrm>
            <a:off x="338786" y="42168"/>
            <a:ext cx="728014" cy="630198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04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103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7526 0.02385 L 0.68151 0.2583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13" y="1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656 -0.01042 L 0.90573 -0.4233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58" y="-2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2552 -0.1206 L 0.30273 -0.5370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46" y="-2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942 -0.28379 L -0.04088 -0.8449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28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3" grpId="0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0" y="1155742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1595856" y="178240"/>
            <a:ext cx="9914688" cy="890205"/>
          </a:xfrm>
          <a:prstGeom prst="rect">
            <a:avLst/>
          </a:prstGeom>
        </p:spPr>
        <p:txBody>
          <a:bodyPr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Rossiya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Federatsiyasi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P 1323565.1.020 – 2018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davlat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standarti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shifrlash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rejimining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matematik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modeli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.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23000" y="480118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z-Latn-UZ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ru-RU" dirty="0"/>
          </a:p>
        </p:txBody>
      </p:sp>
      <p:sp>
        <p:nvSpPr>
          <p:cNvPr id="6" name="Блок-схема: узел 5"/>
          <p:cNvSpPr/>
          <p:nvPr/>
        </p:nvSpPr>
        <p:spPr>
          <a:xfrm>
            <a:off x="150102" y="0"/>
            <a:ext cx="1129828" cy="1068445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Algerian" panose="04020705040A02060702" pitchFamily="82" charset="0"/>
              </a:rPr>
              <a:t>2.3</a:t>
            </a:r>
            <a:endParaRPr lang="ru-RU" sz="3200" dirty="0"/>
          </a:p>
        </p:txBody>
      </p:sp>
      <p:sp>
        <p:nvSpPr>
          <p:cNvPr id="7" name="Arrow: Pentagon 3">
            <a:extLst>
              <a:ext uri="{FF2B5EF4-FFF2-40B4-BE49-F238E27FC236}">
                <a16:creationId xmlns="" xmlns:a16="http://schemas.microsoft.com/office/drawing/2014/main" id="{0EB70031-DD32-458A-82D9-326183F7A65B}"/>
              </a:ext>
            </a:extLst>
          </p:cNvPr>
          <p:cNvSpPr/>
          <p:nvPr/>
        </p:nvSpPr>
        <p:spPr>
          <a:xfrm>
            <a:off x="-4992967" y="1505522"/>
            <a:ext cx="4992967" cy="1531155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2800" dirty="0"/>
          </a:p>
        </p:txBody>
      </p:sp>
      <p:sp>
        <p:nvSpPr>
          <p:cNvPr id="8" name="Arrow: Pentagon 40">
            <a:extLst>
              <a:ext uri="{FF2B5EF4-FFF2-40B4-BE49-F238E27FC236}">
                <a16:creationId xmlns="" xmlns:a16="http://schemas.microsoft.com/office/drawing/2014/main" id="{82C363AB-F2BB-450B-979E-8DE4224CF3FA}"/>
              </a:ext>
            </a:extLst>
          </p:cNvPr>
          <p:cNvSpPr/>
          <p:nvPr/>
        </p:nvSpPr>
        <p:spPr>
          <a:xfrm>
            <a:off x="-5094567" y="3223399"/>
            <a:ext cx="5094567" cy="1455428"/>
          </a:xfrm>
          <a:prstGeom prst="homePlat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Yozuvlarni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himoyalash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kalitlarini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yaratish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uchun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i="1" dirty="0">
                <a:solidFill>
                  <a:schemeClr val="tx1"/>
                </a:solidFill>
              </a:rPr>
              <a:t>TLSTREE </a:t>
            </a:r>
            <a:r>
              <a:rPr lang="en-US" sz="2800" b="1" dirty="0" err="1">
                <a:solidFill>
                  <a:schemeClr val="tx1"/>
                </a:solidFill>
              </a:rPr>
              <a:t>algoritmi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9" name="Arrow: Pentagon 75">
            <a:extLst>
              <a:ext uri="{FF2B5EF4-FFF2-40B4-BE49-F238E27FC236}">
                <a16:creationId xmlns="" xmlns:a16="http://schemas.microsoft.com/office/drawing/2014/main" id="{7AB4DE56-A4BF-431A-AB74-9B93878F64AF}"/>
              </a:ext>
            </a:extLst>
          </p:cNvPr>
          <p:cNvSpPr/>
          <p:nvPr/>
        </p:nvSpPr>
        <p:spPr>
          <a:xfrm>
            <a:off x="-5196168" y="4808626"/>
            <a:ext cx="5094567" cy="1572088"/>
          </a:xfrm>
          <a:prstGeom prst="homePlat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1722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dirty="0" err="1" smtClean="0"/>
              <a:t>Shifrlash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rejimi</a:t>
            </a:r>
            <a:endParaRPr lang="en-US" sz="24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7596892" y="2042855"/>
            <a:ext cx="683505" cy="6337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/>
              <a:t>01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7596891" y="3674452"/>
            <a:ext cx="683505" cy="63378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02</a:t>
            </a:r>
            <a:endParaRPr lang="en-US" sz="3600" b="1" dirty="0"/>
          </a:p>
        </p:txBody>
      </p:sp>
      <p:sp>
        <p:nvSpPr>
          <p:cNvPr id="12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7596890" y="5346561"/>
            <a:ext cx="683505" cy="633786"/>
          </a:xfrm>
          <a:prstGeom prst="rect">
            <a:avLst/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03</a:t>
            </a:r>
            <a:endParaRPr lang="en-US" sz="3600" b="1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762850" y="1976143"/>
            <a:ext cx="39586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Latn-UZ" sz="2800" b="1" dirty="0">
                <a:solidFill>
                  <a:schemeClr val="bg1"/>
                </a:solidFill>
              </a:rPr>
              <a:t>Xabar autentifikatsiya kodini hisoblash</a:t>
            </a:r>
            <a:endParaRPr lang="en-US" sz="2400" b="1" cap="al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91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58907 0.0060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453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07407E-6 L 0.59427 -0.0037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71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458 0.00023 L 0.6099 0.013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24" y="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2948255" y="-25281"/>
            <a:ext cx="6865537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z-Latn-UZ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Xabar autentifikatsiya kodini hisoblash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4571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384723" y="52014"/>
            <a:ext cx="683505" cy="6337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01</a:t>
            </a:r>
            <a:endParaRPr lang="en-US" sz="3600" b="1" dirty="0"/>
          </a:p>
        </p:txBody>
      </p:sp>
      <p:pic>
        <p:nvPicPr>
          <p:cNvPr id="6" name="Рисунок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762000"/>
            <a:ext cx="7048500" cy="34619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497875" y="4840931"/>
                <a:ext cx="5883149" cy="21805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𝑀𝐴𝐶𝐷𝑎𝑡𝑎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…|</m:t>
                      </m:r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ru-RU" sz="2000" i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=1,2…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−1;</m:t>
                      </m:r>
                    </m:oMath>
                  </m:oMathPara>
                </a14:m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p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sSubSup>
                                    <m:sSubSup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𝑀𝐴𝐶</m:t>
                                      </m:r>
                                    </m:sub>
                                    <m:sup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</m:sub>
                              </m:sSub>
                              <m:d>
                                <m:d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⊕</m:t>
                                  </m:r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𝑀𝐴𝐶</m:t>
                              </m:r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𝑀𝑆𝐵</m:t>
                                  </m:r>
                                </m:e>
                                <m:sub>
                                  <m: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sSubSup>
                                        <m:sSubSupPr>
                                          <m:ctrlPr>
                                            <a:rPr lang="ru-RU" sz="2000" i="1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𝑀𝐴𝐶</m:t>
                                          </m:r>
                                        </m:sub>
                                        <m:sup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bSup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ru-RU" sz="2000" i="1">
                                              <a:latin typeface="Cambria Math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sub>
                                        <m:sup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b>
                                      </m:s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  <m:sSup>
                                        <m:sSupPr>
                                          <m:ctrlPr>
                                            <a:rPr lang="ru-RU" sz="2000" i="1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𝐾</m:t>
                                          </m:r>
                                        </m:e>
                                        <m:sup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400" dirty="0"/>
              </a:p>
              <a:p>
                <a:endParaRPr lang="ru-RU" sz="24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75" y="4840931"/>
                <a:ext cx="5883149" cy="21805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6705600" y="4840931"/>
                <a:ext cx="4635499" cy="16833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ru-RU" sz="240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4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𝑎𝑔𝑎𝑟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𝑎𝑘𝑠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h𝑜𝑙𝑑𝑎</m:t>
                              </m:r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80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ru-RU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ru-RU" sz="240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-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kalit</a:t>
                </a: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oxirgi</a:t>
                </a: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blok</a:t>
                </a: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uzunligi</a:t>
                </a: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ru-RU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ru-RU" sz="2400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ga bog’liq 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holda</a:t>
                </a:r>
                <a:r>
                  <a:rPr lang="en-US" sz="2400" dirty="0" smtClean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accent1">
                        <a:lumMod val="75000"/>
                      </a:schemeClr>
                    </a:solidFill>
                  </a:rPr>
                  <a:t>o’zgaradi</a:t>
                </a:r>
                <a:endParaRPr lang="ru-R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4840931"/>
                <a:ext cx="4635499" cy="1683346"/>
              </a:xfrm>
              <a:prstGeom prst="rect">
                <a:avLst/>
              </a:prstGeom>
              <a:blipFill rotWithShape="1">
                <a:blip r:embed="rId5"/>
                <a:stretch>
                  <a:fillRect l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657911" y="4223935"/>
                <a:ext cx="944622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𝑀𝐴𝐶𝑑𝑎𝑡𝑎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𝑆𝑇𝑅</m:t>
                          </m:r>
                        </m:e>
                        <m:sub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d>
                        <m:dPr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𝑠𝑒𝑞𝑛𝑢𝑚</m:t>
                          </m:r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𝑅𝑒𝑐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𝑡𝑦𝑝𝑒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𝑅𝑒𝑣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𝑣𝑒𝑟𝑠𝑖𝑜𝑛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𝑅𝑒𝑐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  <m:r>
                            <a:rPr lang="ru-RU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𝑅𝑒𝑐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ru-RU" sz="2000" i="1">
                          <a:latin typeface="Cambria Math" panose="02040503050406030204" pitchFamily="18" charset="0"/>
                        </a:rPr>
                        <m:t>𝑓𝑟𝑎𝑔𝑚𝑒𝑛𝑡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911" y="4223935"/>
                <a:ext cx="9446225" cy="400110"/>
              </a:xfrm>
              <a:prstGeom prst="rect">
                <a:avLst/>
              </a:prstGeom>
              <a:blipFill rotWithShape="1">
                <a:blip r:embed="rId6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65733" y="978886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92789" y="978886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9652000" y="1567393"/>
                <a:ext cx="2712011" cy="9563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0" y="1567393"/>
                <a:ext cx="2712011" cy="956352"/>
              </a:xfrm>
              <a:prstGeom prst="rect">
                <a:avLst/>
              </a:prstGeom>
              <a:blipFill rotWithShape="1">
                <a:blip r:embed="rId7"/>
                <a:stretch>
                  <a:fillRect t="-1274" b="-8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-61851" y="1722777"/>
                <a:ext cx="2712011" cy="9563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851" y="1722777"/>
                <a:ext cx="2712011" cy="956352"/>
              </a:xfrm>
              <a:prstGeom prst="rect">
                <a:avLst/>
              </a:prstGeom>
              <a:blipFill rotWithShape="1">
                <a:blip r:embed="rId8"/>
                <a:stretch>
                  <a:fillRect t="-1282" b="-9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693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1068228" y="7894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z-Latn-UZ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Xabar autentifikatsiya kodini hisoblash</a:t>
            </a:r>
            <a:endParaRPr lang="ru-RU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384723" y="52014"/>
            <a:ext cx="683505" cy="6337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01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7274997" y="946810"/>
                <a:ext cx="4586804" cy="33947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𝑀𝐴𝐶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ru-RU" sz="20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ru-RU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ru-RU" sz="2000" i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sz="2000" dirty="0" smtClean="0"/>
              </a:p>
              <a:p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≪1,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𝑎𝑔𝑎𝑟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𝑀𝑆𝐵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=0;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≪1)⨁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𝑎𝑘𝑠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h𝑜𝑙𝑑𝑎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ru-RU" sz="2000" i="1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000" i="1">
                                  <a:latin typeface="Cambria Math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≪1,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𝑎𝑔𝑎𝑟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𝑀𝑆𝐵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=0;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≪1)⨁</m:t>
                              </m:r>
                              <m:sSub>
                                <m:sSubPr>
                                  <m:ctrlPr>
                                    <a:rPr lang="ru-RU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𝑎𝑘𝑠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h𝑜𝑙𝑑𝑎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endParaRPr lang="en-US" sz="20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64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59</m:t>
                          </m:r>
                        </m:sup>
                      </m:sSup>
                      <m:r>
                        <a:rPr lang="ru-RU" sz="2000">
                          <a:latin typeface="Cambria Math" panose="02040503050406030204" pitchFamily="18" charset="0"/>
                        </a:rPr>
                        <m:t>||11011, </m:t>
                      </m:r>
                      <m:sSub>
                        <m:sSubPr>
                          <m:ctrlPr>
                            <a:rPr lang="ru-RU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128</m:t>
                          </m:r>
                        </m:sub>
                      </m:sSub>
                      <m:r>
                        <a:rPr lang="ru-RU"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ru-RU" sz="2000" i="1">
                              <a:latin typeface="Cambria Math" panose="02040503050406030204" pitchFamily="18" charset="0"/>
                            </a:rPr>
                            <m:t>120</m:t>
                          </m:r>
                        </m:sup>
                      </m:sSup>
                      <m:r>
                        <a:rPr lang="ru-RU" sz="2000">
                          <a:latin typeface="Cambria Math" panose="02040503050406030204" pitchFamily="18" charset="0"/>
                        </a:rPr>
                        <m:t>||10000111.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997" y="946810"/>
                <a:ext cx="4586804" cy="339471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" y="913198"/>
            <a:ext cx="7048500" cy="346193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вал 7"/>
          <p:cNvSpPr/>
          <p:nvPr/>
        </p:nvSpPr>
        <p:spPr>
          <a:xfrm>
            <a:off x="-2146300" y="2006600"/>
            <a:ext cx="1333500" cy="107829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477839" y="4920031"/>
                <a:ext cx="6096000" cy="103534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450215" algn="just">
                  <a:lnSpc>
                    <a:spcPct val="115000"/>
                  </a:lnSpc>
                  <a:spcAft>
                    <a:spcPts val="60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𝑠𝑒𝑞𝑛𝑢𝑚</m:t>
                        </m:r>
                      </m:sup>
                    </m:sSubSup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𝑇𝐿𝑆𝑇𝑅𝐸𝐸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28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</m:sSub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𝑠𝑒𝑞𝑛𝑢𝑚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8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39" y="4920031"/>
                <a:ext cx="6096000" cy="1035348"/>
              </a:xfrm>
              <a:prstGeom prst="rect">
                <a:avLst/>
              </a:prstGeom>
              <a:blipFill rotWithShape="1">
                <a:blip r:embed="rId5"/>
                <a:stretch>
                  <a:fillRect r="-1200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277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593 0.02709 L 0.22343 0.4437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20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1162357" y="7894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Yozuvlarni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himoyalash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kalitlarini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yaratish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uchun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TLSTREE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algoritmi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196465" y="52014"/>
            <a:ext cx="683505" cy="633786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03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838200" y="969008"/>
                <a:ext cx="10883900" cy="9417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𝑇𝐿𝑆𝑇𝑅𝐸𝐸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𝑟𝑜𝑜𝑡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𝐷𝑖𝑣𝑒𝑟𝑠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𝐷𝑖𝑣𝑒𝑟𝑠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𝐷𝑖𝑣𝑒𝑟𝑠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𝑟𝑜𝑜𝑡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𝑆𝑇𝑅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&amp;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)),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𝑆𝑇𝑅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&amp;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)),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𝑆𝑇𝑅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&amp;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969008"/>
                <a:ext cx="10883900" cy="941796"/>
              </a:xfrm>
              <a:prstGeom prst="rect">
                <a:avLst/>
              </a:prstGeom>
              <a:blipFill rotWithShape="1">
                <a:blip r:embed="rId3"/>
                <a:stretch>
                  <a:fillRect t="-2597" b="-110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838200" y="1721396"/>
                <a:ext cx="9918700" cy="8872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0"/>
                  </a:spcAft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sz="2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0,1,…..</m:t>
                        </m:r>
                        <m:sSup>
                          <m:sSupPr>
                            <m:ctrlPr>
                              <a:rPr lang="ru-RU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,2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64</m:t>
                            </m:r>
                          </m:sup>
                        </m:sSup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5000"/>
                  </a:lnSpc>
                  <a:spcAft>
                    <a:spcPts val="1200"/>
                  </a:spcAft>
                </a:pP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sSup>
                          <m:sSupPr>
                            <m:ctrlPr>
                              <a:rPr lang="ru-RU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64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konstantalari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ma’lum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kriptografik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to‘plam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aniqlanadi</a:t>
                </a:r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21396"/>
                <a:ext cx="9918700" cy="887294"/>
              </a:xfrm>
              <a:prstGeom prst="rect">
                <a:avLst/>
              </a:prstGeom>
              <a:blipFill rotWithShape="1">
                <a:blip r:embed="rId4"/>
                <a:stretch>
                  <a:fillRect l="-553" b="-95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04361"/>
              </p:ext>
            </p:extLst>
          </p:nvPr>
        </p:nvGraphicFramePr>
        <p:xfrm>
          <a:off x="1263651" y="2608690"/>
          <a:ext cx="9182100" cy="1822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35828"/>
                <a:gridCol w="3346272"/>
              </a:tblGrid>
              <a:tr h="3292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Kripto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to‘plam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C1, C2, C3 </a:t>
                      </a:r>
                      <a:r>
                        <a:rPr lang="en-US" sz="2000" dirty="0" err="1">
                          <a:effectLst/>
                        </a:rPr>
                        <a:t>konstantalari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4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TLS_GOSTR341112_256_WITH_MAGMA_CTR_OMAC</a:t>
                      </a:r>
                      <a:endParaRPr lang="ru-RU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С1 = 0xFFFFFFC000000000, 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С2 = 0xFFFFFFFFFE000000, 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С3 = 0xFFFFFFFFFFFFF000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94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TLS_GOSTR341112_256_WITH_KUZNYECHIK_CTR_OMAC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С1 = 0xFFFFFFFF00000000, 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С2 = 0xFFFFFFFFFFF80000, </a:t>
                      </a:r>
                      <a:endParaRPr lang="ru-RU" sz="18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С3 = 0xFFFFFFFFFFFFFFC0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460923" y="4558547"/>
                <a:ext cx="5736677" cy="1366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𝐷𝑖𝑣𝑒𝑟𝑠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𝐾𝐷𝐹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256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lavel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𝐷𝑖𝑣𝑒𝑟𝑠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𝐾𝐷𝐹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256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lavel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𝐷𝑖𝑣𝑒𝑟𝑠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𝐾𝐷𝐹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256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lavel</m:t>
                          </m:r>
                          <m:r>
                            <m:rPr>
                              <m:nor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23" y="4558547"/>
                <a:ext cx="5736677" cy="136652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Прямоугольник 9"/>
              <p:cNvSpPr/>
              <p:nvPr/>
            </p:nvSpPr>
            <p:spPr>
              <a:xfrm>
                <a:off x="6280150" y="4296915"/>
                <a:ext cx="5803900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𝐷𝑖𝑣𝑒𝑟𝑠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)</a:t>
                </a:r>
                <a:r>
                  <a:rPr lang="en-US" sz="3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{1,2,3} P 50.1.113-2016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standartida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keltirilgan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KDF_GOSTR3411_2012_256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algoritmi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bilan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aniqlangan</a:t>
                </a:r>
                <a:endParaRPr lang="ru-RU" sz="2400" dirty="0"/>
              </a:p>
            </p:txBody>
          </p:sp>
        </mc:Choice>
        <mc:Fallback xmlns="">
          <p:sp>
            <p:nvSpPr>
              <p:cNvPr id="10" name="Прямоугольник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150" y="4296915"/>
                <a:ext cx="5803900" cy="1754326"/>
              </a:xfrm>
              <a:prstGeom prst="rect">
                <a:avLst/>
              </a:prstGeom>
              <a:blipFill rotWithShape="1">
                <a:blip r:embed="rId6"/>
                <a:stretch>
                  <a:fillRect l="-1576" r="-945" b="-6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184150" y="5925075"/>
                <a:ext cx="6096000" cy="72212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𝐾𝐷𝐹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256</m:t>
                        </m:r>
                      </m:sub>
                    </m:sSub>
                    <m:d>
                      <m:d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lavel</m:t>
                        </m:r>
                        <m:r>
                          <m:rPr>
                            <m:nor/>
                          </m:rPr>
                          <a:rPr lang="en-US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𝐻𝑀𝐴𝐶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256</m:t>
                        </m:r>
                      </m:sub>
                    </m:sSub>
                    <m:d>
                      <m:dPr>
                        <m:endChr m:val="|"/>
                        <m:ctrlPr>
                          <a:rPr lang="ru-RU" i="1" smtClean="0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effectLst/>
                                <a:latin typeface="Cambria Math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𝑀𝐴𝐶</m:t>
                            </m:r>
                          </m:sub>
                        </m:s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, </m:t>
                        </m:r>
                      </m:e>
                    </m:d>
                    <m:r>
                      <m:rPr>
                        <m:nor/>
                      </m:rPr>
                      <a:rPr lang="en-US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lavel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00 </m:t>
                    </m:r>
                    <m:d>
                      <m:dPr>
                        <m:begChr m:val="|"/>
                        <m:endChr m:val="|"/>
                        <m:ctrlPr>
                          <a:rPr lang="ru-RU" i="1">
                            <a:effectLst/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𝑠𝑒𝑒𝑑</m:t>
                        </m:r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0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01 | 0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00)</m:t>
                    </m:r>
                  </m:oMath>
                </a14:m>
                <a:r>
                  <a:rPr lang="en-US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50" y="5925075"/>
                <a:ext cx="6096000" cy="722121"/>
              </a:xfrm>
              <a:prstGeom prst="rect">
                <a:avLst/>
              </a:prstGeom>
              <a:blipFill rotWithShape="1">
                <a:blip r:embed="rId7"/>
                <a:stretch>
                  <a:fillRect b="-93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4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4848443" y="50919"/>
            <a:ext cx="34096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Shifrlash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rejimi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384723" y="52014"/>
            <a:ext cx="683505" cy="633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04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65733" y="978886"/>
            <a:ext cx="1004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Client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92789" y="978886"/>
            <a:ext cx="987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Server</a:t>
            </a:r>
            <a:endParaRPr lang="ru-RU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9652000" y="1567393"/>
                <a:ext cx="2712011" cy="9563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000" y="1567393"/>
                <a:ext cx="2712011" cy="956352"/>
              </a:xfrm>
              <a:prstGeom prst="rect">
                <a:avLst/>
              </a:prstGeom>
              <a:blipFill rotWithShape="1">
                <a:blip r:embed="rId3"/>
                <a:stretch>
                  <a:fillRect t="-1274" b="-89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-61851" y="1722777"/>
                <a:ext cx="2712011" cy="9563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𝑀𝐴𝐶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i="1" smtClean="0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𝐸𝑁𝐶</m:t>
                        </m:r>
                      </m:sub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uz-Latn-UZ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𝐼𝑉</m:t>
                        </m:r>
                      </m:e>
                      <m:sup>
                        <m:r>
                          <a:rPr lang="uz-Latn-UZ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𝑅𝑒𝑎𝑑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851" y="1722777"/>
                <a:ext cx="2712011" cy="956352"/>
              </a:xfrm>
              <a:prstGeom prst="rect">
                <a:avLst/>
              </a:prstGeom>
              <a:blipFill rotWithShape="1">
                <a:blip r:embed="rId4"/>
                <a:stretch>
                  <a:fillRect t="-1282" b="-9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660" y="978886"/>
            <a:ext cx="7001839" cy="3781996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384723" y="4900537"/>
                <a:ext cx="6008248" cy="16422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𝐸𝑁𝐶𝐷𝑎𝑡𝑎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….|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400" dirty="0"/>
                  <a:t>,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=1,2…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𝑖𝑛𝑐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𝐶𝑇𝑅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𝐶𝑇𝑅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⊞1,   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23" y="4900537"/>
                <a:ext cx="6008248" cy="1642244"/>
              </a:xfrm>
              <a:prstGeom prst="rect">
                <a:avLst/>
              </a:prstGeom>
              <a:blipFill rotWithShape="1">
                <a:blip r:embed="rId6"/>
                <a:stretch>
                  <a:fillRect l="-2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 11"/>
              <p:cNvSpPr/>
              <p:nvPr/>
            </p:nvSpPr>
            <p:spPr>
              <a:xfrm>
                <a:off x="6096001" y="4863030"/>
                <a:ext cx="5799028" cy="1994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 smtClean="0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𝑀𝑆𝐵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ru-RU" sz="2400" i="1">
                                  <a:effectLst/>
                                  <a:latin typeface="Cambria Math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𝑃𝑖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24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effectLst/>
                                  <a:latin typeface="Cambria Math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effectLst/>
                                      <a:latin typeface="Cambria Math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𝐶𝑇𝑅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i="1" dirty="0" smtClean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=1,2…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 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  <a:tabLst>
                    <a:tab pos="266128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|"/>
                          <m:endChr m:val="|"/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effectLst/>
                                  <a:latin typeface="Cambria Math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….|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Прямоугольник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1" y="4863030"/>
                <a:ext cx="5799028" cy="199497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06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1589" y="685800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4516582" y="10323"/>
            <a:ext cx="3519055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Shifrlash</a:t>
            </a:r>
            <a:r>
              <a:rPr lang="en-US" sz="4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4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rejimi</a:t>
            </a:r>
            <a:endParaRPr lang="ru-RU" sz="40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53200" y="29464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ru-RU" dirty="0"/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B2737CE4-47F6-42BA-9D3D-C3B9C7FD0AC3}"/>
              </a:ext>
            </a:extLst>
          </p:cNvPr>
          <p:cNvSpPr/>
          <p:nvPr/>
        </p:nvSpPr>
        <p:spPr>
          <a:xfrm>
            <a:off x="384723" y="52014"/>
            <a:ext cx="683505" cy="633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600" b="1" dirty="0" smtClean="0"/>
              <a:t>04</a:t>
            </a:r>
            <a:endParaRPr lang="en-US" sz="3600" b="1" dirty="0"/>
          </a:p>
        </p:txBody>
      </p:sp>
      <p:pic>
        <p:nvPicPr>
          <p:cNvPr id="6" name="Рисунок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23" y="933943"/>
            <a:ext cx="7108277" cy="373965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7766050" y="2695592"/>
                <a:ext cx="4648200" cy="12529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 smtClean="0"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𝐸𝑁𝐶</m:t>
                          </m:r>
                        </m:sub>
                      </m:sSub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;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sz="24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𝐴𝐶𝑃𝐾𝑀</m:t>
                      </m:r>
                      <m:d>
                        <m:dPr>
                          <m:ctrlPr>
                            <a:rPr lang="ru-RU" sz="2400" i="1">
                              <a:effectLst/>
                              <a:latin typeface="Cambria Math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i="1">
                                  <a:effectLst/>
                                  <a:latin typeface="Cambria Math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=2,3…</m:t>
                      </m:r>
                      <m:r>
                        <a:rPr lang="en-US" sz="2400" b="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sz="2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  </m:t>
                      </m:r>
                    </m:oMath>
                  </m:oMathPara>
                </a14:m>
                <a:endParaRPr lang="ru-RU" sz="24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050" y="2695592"/>
                <a:ext cx="4648200" cy="125290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Овал 7"/>
          <p:cNvSpPr/>
          <p:nvPr/>
        </p:nvSpPr>
        <p:spPr>
          <a:xfrm>
            <a:off x="12687300" y="1383362"/>
            <a:ext cx="1092200" cy="88607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854623" y="4673600"/>
                <a:ext cx="10791277" cy="23606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ru-RU" sz="240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𝐴𝐶𝑃𝐾𝑀</m:t>
                          </m:r>
                          <m:d>
                            <m:d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400" i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</m:sSub>
                          <m:d>
                            <m:d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||…..||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ru-RU" sz="24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4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 smtClean="0"/>
              </a:p>
              <a:p>
                <a:pPr algn="ctr"/>
                <a:endParaRPr lang="en-US" sz="2400" dirty="0" smtClean="0"/>
              </a:p>
              <a:p>
                <a:pPr algn="ctr"/>
                <a:r>
                  <a:rPr lang="en-US" sz="2400" dirty="0" smtClean="0"/>
                  <a:t>J=k/n; k-</a:t>
                </a:r>
                <a:r>
                  <a:rPr lang="en-US" sz="2400" dirty="0" err="1" smtClean="0"/>
                  <a:t>kalit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uzunligi</a:t>
                </a:r>
                <a:r>
                  <a:rPr lang="en-US" sz="2400" dirty="0" smtClean="0"/>
                  <a:t>, n-</a:t>
                </a:r>
                <a:r>
                  <a:rPr lang="en-US" sz="2400" dirty="0" err="1" smtClean="0"/>
                  <a:t>blok</a:t>
                </a:r>
                <a:r>
                  <a:rPr lang="en-US" sz="2400" dirty="0" smtClean="0"/>
                  <a:t> </a:t>
                </a:r>
                <a:r>
                  <a:rPr lang="en-US" sz="2400" dirty="0" err="1" smtClean="0"/>
                  <a:t>uzunligi</a:t>
                </a:r>
                <a:endParaRPr lang="en-US" sz="2400" dirty="0"/>
              </a:p>
              <a:p>
                <a:pPr algn="ctr"/>
                <a:r>
                  <a:rPr lang="en-US" sz="2400" i="1" dirty="0"/>
                  <a:t>D = 80 81 82 83 84 85 86 87 88 89 8A 8B 8C 8D 8E 8F 90 91 92 93 94 95 96 97 98 99 9A 9B 9C 9D 9E 9 F</a:t>
                </a:r>
                <a:endParaRPr lang="ru-RU" sz="2400" dirty="0"/>
              </a:p>
              <a:p>
                <a:pPr algn="ctr"/>
                <a:endParaRPr lang="ru-RU" sz="24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23" y="4673600"/>
                <a:ext cx="10791277" cy="236064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390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2917 0.05649 L -0.42683 0.2476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17" y="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-7768" y="1031217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3"/>
          <p:cNvSpPr txBox="1">
            <a:spLocks/>
          </p:cNvSpPr>
          <p:nvPr/>
        </p:nvSpPr>
        <p:spPr>
          <a:xfrm>
            <a:off x="601674" y="108858"/>
            <a:ext cx="10969943" cy="71108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 smtClean="0"/>
              <a:t>IV </a:t>
            </a:r>
            <a:r>
              <a:rPr lang="en-US" sz="3200" dirty="0"/>
              <a:t>BOB. </a:t>
            </a:r>
            <a:r>
              <a:rPr lang="uz-Cyrl-UZ" sz="3200" dirty="0"/>
              <a:t>Rossiya </a:t>
            </a:r>
            <a:r>
              <a:rPr lang="uz-Latn-UZ" sz="3200" dirty="0"/>
              <a:t>davlat standarlari asosidagi</a:t>
            </a:r>
            <a:r>
              <a:rPr lang="en-US" sz="3200" dirty="0"/>
              <a:t> TLS </a:t>
            </a:r>
            <a:r>
              <a:rPr lang="en-US" sz="3200" dirty="0" err="1"/>
              <a:t>protokoli</a:t>
            </a:r>
            <a:r>
              <a:rPr lang="en-US" sz="3200" dirty="0"/>
              <a:t> </a:t>
            </a:r>
            <a:r>
              <a:rPr lang="en-US" sz="3200" dirty="0" err="1"/>
              <a:t>tarmoq</a:t>
            </a:r>
            <a:r>
              <a:rPr lang="en-US" sz="3200" dirty="0"/>
              <a:t> </a:t>
            </a:r>
            <a:r>
              <a:rPr lang="en-US" sz="3200" dirty="0" err="1"/>
              <a:t>trafigi</a:t>
            </a:r>
            <a:r>
              <a:rPr lang="en-US" sz="3200" dirty="0"/>
              <a:t> real </a:t>
            </a:r>
            <a:r>
              <a:rPr lang="en-US" sz="3200" dirty="0" err="1"/>
              <a:t>holati</a:t>
            </a:r>
            <a:r>
              <a:rPr lang="en-US" sz="3200" dirty="0"/>
              <a:t> </a:t>
            </a:r>
            <a:r>
              <a:rPr lang="en-US" sz="3200" dirty="0" err="1"/>
              <a:t>tahlili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41574" y="2580659"/>
            <a:ext cx="10424900" cy="2003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 algn="ctr">
              <a:lnSpc>
                <a:spcPct val="115000"/>
              </a:lnSpc>
              <a:spcAft>
                <a:spcPts val="800"/>
              </a:spcAft>
            </a:pPr>
            <a:r>
              <a:rPr lang="uz-Latn-UZ" sz="36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Ma’lumotlarni </a:t>
            </a:r>
            <a:r>
              <a:rPr lang="uz-Latn-UZ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kriptografik himoya qilish vositasi sifatida Cryptopro CSP dasturiy ta’minotini o‘rnatish</a:t>
            </a:r>
            <a:endParaRPr lang="ru-RU" sz="36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35"/>
          <p:cNvGrpSpPr/>
          <p:nvPr/>
        </p:nvGrpSpPr>
        <p:grpSpPr>
          <a:xfrm flipH="1">
            <a:off x="2496323" y="4038600"/>
            <a:ext cx="6417489" cy="2544383"/>
            <a:chOff x="-845377" y="1729527"/>
            <a:chExt cx="11749128" cy="4304546"/>
          </a:xfrm>
        </p:grpSpPr>
        <p:sp>
          <p:nvSpPr>
            <p:cNvPr id="6" name="Freeform 6"/>
            <p:cNvSpPr>
              <a:spLocks/>
            </p:cNvSpPr>
            <p:nvPr/>
          </p:nvSpPr>
          <p:spPr bwMode="auto">
            <a:xfrm>
              <a:off x="6169019" y="4378315"/>
              <a:ext cx="649287" cy="679448"/>
            </a:xfrm>
            <a:custGeom>
              <a:avLst/>
              <a:gdLst>
                <a:gd name="T0" fmla="*/ 259 w 409"/>
                <a:gd name="T1" fmla="*/ 0 h 428"/>
                <a:gd name="T2" fmla="*/ 290 w 409"/>
                <a:gd name="T3" fmla="*/ 4 h 428"/>
                <a:gd name="T4" fmla="*/ 317 w 409"/>
                <a:gd name="T5" fmla="*/ 13 h 428"/>
                <a:gd name="T6" fmla="*/ 338 w 409"/>
                <a:gd name="T7" fmla="*/ 31 h 428"/>
                <a:gd name="T8" fmla="*/ 355 w 409"/>
                <a:gd name="T9" fmla="*/ 56 h 428"/>
                <a:gd name="T10" fmla="*/ 373 w 409"/>
                <a:gd name="T11" fmla="*/ 84 h 428"/>
                <a:gd name="T12" fmla="*/ 386 w 409"/>
                <a:gd name="T13" fmla="*/ 117 h 428"/>
                <a:gd name="T14" fmla="*/ 398 w 409"/>
                <a:gd name="T15" fmla="*/ 152 h 428"/>
                <a:gd name="T16" fmla="*/ 405 w 409"/>
                <a:gd name="T17" fmla="*/ 188 h 428"/>
                <a:gd name="T18" fmla="*/ 409 w 409"/>
                <a:gd name="T19" fmla="*/ 225 h 428"/>
                <a:gd name="T20" fmla="*/ 409 w 409"/>
                <a:gd name="T21" fmla="*/ 261 h 428"/>
                <a:gd name="T22" fmla="*/ 405 w 409"/>
                <a:gd name="T23" fmla="*/ 298 h 428"/>
                <a:gd name="T24" fmla="*/ 396 w 409"/>
                <a:gd name="T25" fmla="*/ 330 h 428"/>
                <a:gd name="T26" fmla="*/ 380 w 409"/>
                <a:gd name="T27" fmla="*/ 359 h 428"/>
                <a:gd name="T28" fmla="*/ 361 w 409"/>
                <a:gd name="T29" fmla="*/ 386 h 428"/>
                <a:gd name="T30" fmla="*/ 334 w 409"/>
                <a:gd name="T31" fmla="*/ 405 h 428"/>
                <a:gd name="T32" fmla="*/ 303 w 409"/>
                <a:gd name="T33" fmla="*/ 421 h 428"/>
                <a:gd name="T34" fmla="*/ 265 w 409"/>
                <a:gd name="T35" fmla="*/ 428 h 428"/>
                <a:gd name="T36" fmla="*/ 229 w 409"/>
                <a:gd name="T37" fmla="*/ 428 h 428"/>
                <a:gd name="T38" fmla="*/ 194 w 409"/>
                <a:gd name="T39" fmla="*/ 419 h 428"/>
                <a:gd name="T40" fmla="*/ 163 w 409"/>
                <a:gd name="T41" fmla="*/ 405 h 428"/>
                <a:gd name="T42" fmla="*/ 133 w 409"/>
                <a:gd name="T43" fmla="*/ 388 h 428"/>
                <a:gd name="T44" fmla="*/ 108 w 409"/>
                <a:gd name="T45" fmla="*/ 367 h 428"/>
                <a:gd name="T46" fmla="*/ 85 w 409"/>
                <a:gd name="T47" fmla="*/ 346 h 428"/>
                <a:gd name="T48" fmla="*/ 65 w 409"/>
                <a:gd name="T49" fmla="*/ 325 h 428"/>
                <a:gd name="T50" fmla="*/ 48 w 409"/>
                <a:gd name="T51" fmla="*/ 305 h 428"/>
                <a:gd name="T52" fmla="*/ 37 w 409"/>
                <a:gd name="T53" fmla="*/ 290 h 428"/>
                <a:gd name="T54" fmla="*/ 31 w 409"/>
                <a:gd name="T55" fmla="*/ 278 h 428"/>
                <a:gd name="T56" fmla="*/ 27 w 409"/>
                <a:gd name="T57" fmla="*/ 275 h 428"/>
                <a:gd name="T58" fmla="*/ 8 w 409"/>
                <a:gd name="T59" fmla="*/ 240 h 428"/>
                <a:gd name="T60" fmla="*/ 0 w 409"/>
                <a:gd name="T61" fmla="*/ 204 h 428"/>
                <a:gd name="T62" fmla="*/ 4 w 409"/>
                <a:gd name="T63" fmla="*/ 171 h 428"/>
                <a:gd name="T64" fmla="*/ 14 w 409"/>
                <a:gd name="T65" fmla="*/ 138 h 428"/>
                <a:gd name="T66" fmla="*/ 33 w 409"/>
                <a:gd name="T67" fmla="*/ 109 h 428"/>
                <a:gd name="T68" fmla="*/ 58 w 409"/>
                <a:gd name="T69" fmla="*/ 83 h 428"/>
                <a:gd name="T70" fmla="*/ 86 w 409"/>
                <a:gd name="T71" fmla="*/ 58 h 428"/>
                <a:gd name="T72" fmla="*/ 119 w 409"/>
                <a:gd name="T73" fmla="*/ 38 h 428"/>
                <a:gd name="T74" fmla="*/ 156 w 409"/>
                <a:gd name="T75" fmla="*/ 21 h 428"/>
                <a:gd name="T76" fmla="*/ 190 w 409"/>
                <a:gd name="T77" fmla="*/ 10 h 428"/>
                <a:gd name="T78" fmla="*/ 227 w 409"/>
                <a:gd name="T79" fmla="*/ 2 h 428"/>
                <a:gd name="T80" fmla="*/ 259 w 409"/>
                <a:gd name="T81" fmla="*/ 0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9" h="428">
                  <a:moveTo>
                    <a:pt x="259" y="0"/>
                  </a:moveTo>
                  <a:lnTo>
                    <a:pt x="290" y="4"/>
                  </a:lnTo>
                  <a:lnTo>
                    <a:pt x="317" y="13"/>
                  </a:lnTo>
                  <a:lnTo>
                    <a:pt x="338" y="31"/>
                  </a:lnTo>
                  <a:lnTo>
                    <a:pt x="355" y="56"/>
                  </a:lnTo>
                  <a:lnTo>
                    <a:pt x="373" y="84"/>
                  </a:lnTo>
                  <a:lnTo>
                    <a:pt x="386" y="117"/>
                  </a:lnTo>
                  <a:lnTo>
                    <a:pt x="398" y="152"/>
                  </a:lnTo>
                  <a:lnTo>
                    <a:pt x="405" y="188"/>
                  </a:lnTo>
                  <a:lnTo>
                    <a:pt x="409" y="225"/>
                  </a:lnTo>
                  <a:lnTo>
                    <a:pt x="409" y="261"/>
                  </a:lnTo>
                  <a:lnTo>
                    <a:pt x="405" y="298"/>
                  </a:lnTo>
                  <a:lnTo>
                    <a:pt x="396" y="330"/>
                  </a:lnTo>
                  <a:lnTo>
                    <a:pt x="380" y="359"/>
                  </a:lnTo>
                  <a:lnTo>
                    <a:pt x="361" y="386"/>
                  </a:lnTo>
                  <a:lnTo>
                    <a:pt x="334" y="405"/>
                  </a:lnTo>
                  <a:lnTo>
                    <a:pt x="303" y="421"/>
                  </a:lnTo>
                  <a:lnTo>
                    <a:pt x="265" y="428"/>
                  </a:lnTo>
                  <a:lnTo>
                    <a:pt x="229" y="428"/>
                  </a:lnTo>
                  <a:lnTo>
                    <a:pt x="194" y="419"/>
                  </a:lnTo>
                  <a:lnTo>
                    <a:pt x="163" y="405"/>
                  </a:lnTo>
                  <a:lnTo>
                    <a:pt x="133" y="388"/>
                  </a:lnTo>
                  <a:lnTo>
                    <a:pt x="108" y="367"/>
                  </a:lnTo>
                  <a:lnTo>
                    <a:pt x="85" y="346"/>
                  </a:lnTo>
                  <a:lnTo>
                    <a:pt x="65" y="325"/>
                  </a:lnTo>
                  <a:lnTo>
                    <a:pt x="48" y="305"/>
                  </a:lnTo>
                  <a:lnTo>
                    <a:pt x="37" y="290"/>
                  </a:lnTo>
                  <a:lnTo>
                    <a:pt x="31" y="278"/>
                  </a:lnTo>
                  <a:lnTo>
                    <a:pt x="27" y="275"/>
                  </a:lnTo>
                  <a:lnTo>
                    <a:pt x="8" y="240"/>
                  </a:lnTo>
                  <a:lnTo>
                    <a:pt x="0" y="204"/>
                  </a:lnTo>
                  <a:lnTo>
                    <a:pt x="4" y="171"/>
                  </a:lnTo>
                  <a:lnTo>
                    <a:pt x="14" y="138"/>
                  </a:lnTo>
                  <a:lnTo>
                    <a:pt x="33" y="109"/>
                  </a:lnTo>
                  <a:lnTo>
                    <a:pt x="58" y="83"/>
                  </a:lnTo>
                  <a:lnTo>
                    <a:pt x="86" y="58"/>
                  </a:lnTo>
                  <a:lnTo>
                    <a:pt x="119" y="38"/>
                  </a:lnTo>
                  <a:lnTo>
                    <a:pt x="156" y="21"/>
                  </a:lnTo>
                  <a:lnTo>
                    <a:pt x="190" y="10"/>
                  </a:lnTo>
                  <a:lnTo>
                    <a:pt x="227" y="2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2898772" y="2197095"/>
              <a:ext cx="6264270" cy="3714742"/>
            </a:xfrm>
            <a:custGeom>
              <a:avLst/>
              <a:gdLst>
                <a:gd name="T0" fmla="*/ 2650 w 3946"/>
                <a:gd name="T1" fmla="*/ 1241 h 2340"/>
                <a:gd name="T2" fmla="*/ 2580 w 3946"/>
                <a:gd name="T3" fmla="*/ 1301 h 2340"/>
                <a:gd name="T4" fmla="*/ 2458 w 3946"/>
                <a:gd name="T5" fmla="*/ 1399 h 2340"/>
                <a:gd name="T6" fmla="*/ 2340 w 3946"/>
                <a:gd name="T7" fmla="*/ 1480 h 2340"/>
                <a:gd name="T8" fmla="*/ 2200 w 3946"/>
                <a:gd name="T9" fmla="*/ 1595 h 2340"/>
                <a:gd name="T10" fmla="*/ 1989 w 3946"/>
                <a:gd name="T11" fmla="*/ 1772 h 2340"/>
                <a:gd name="T12" fmla="*/ 1745 w 3946"/>
                <a:gd name="T13" fmla="*/ 1973 h 2340"/>
                <a:gd name="T14" fmla="*/ 1505 w 3946"/>
                <a:gd name="T15" fmla="*/ 2158 h 2340"/>
                <a:gd name="T16" fmla="*/ 1309 w 3946"/>
                <a:gd name="T17" fmla="*/ 2288 h 2340"/>
                <a:gd name="T18" fmla="*/ 1150 w 3946"/>
                <a:gd name="T19" fmla="*/ 2340 h 2340"/>
                <a:gd name="T20" fmla="*/ 1054 w 3946"/>
                <a:gd name="T21" fmla="*/ 2309 h 2340"/>
                <a:gd name="T22" fmla="*/ 1012 w 3946"/>
                <a:gd name="T23" fmla="*/ 2242 h 2340"/>
                <a:gd name="T24" fmla="*/ 1000 w 3946"/>
                <a:gd name="T25" fmla="*/ 2196 h 2340"/>
                <a:gd name="T26" fmla="*/ 960 w 3946"/>
                <a:gd name="T27" fmla="*/ 2204 h 2340"/>
                <a:gd name="T28" fmla="*/ 833 w 3946"/>
                <a:gd name="T29" fmla="*/ 2206 h 2340"/>
                <a:gd name="T30" fmla="*/ 741 w 3946"/>
                <a:gd name="T31" fmla="*/ 2131 h 2340"/>
                <a:gd name="T32" fmla="*/ 731 w 3946"/>
                <a:gd name="T33" fmla="*/ 2058 h 2340"/>
                <a:gd name="T34" fmla="*/ 689 w 3946"/>
                <a:gd name="T35" fmla="*/ 2075 h 2340"/>
                <a:gd name="T36" fmla="*/ 580 w 3946"/>
                <a:gd name="T37" fmla="*/ 2075 h 2340"/>
                <a:gd name="T38" fmla="*/ 459 w 3946"/>
                <a:gd name="T39" fmla="*/ 1967 h 2340"/>
                <a:gd name="T40" fmla="*/ 445 w 3946"/>
                <a:gd name="T41" fmla="*/ 1850 h 2340"/>
                <a:gd name="T42" fmla="*/ 465 w 3946"/>
                <a:gd name="T43" fmla="*/ 1798 h 2340"/>
                <a:gd name="T44" fmla="*/ 359 w 3946"/>
                <a:gd name="T45" fmla="*/ 1852 h 2340"/>
                <a:gd name="T46" fmla="*/ 213 w 3946"/>
                <a:gd name="T47" fmla="*/ 1891 h 2340"/>
                <a:gd name="T48" fmla="*/ 71 w 3946"/>
                <a:gd name="T49" fmla="*/ 1854 h 2340"/>
                <a:gd name="T50" fmla="*/ 0 w 3946"/>
                <a:gd name="T51" fmla="*/ 1714 h 2340"/>
                <a:gd name="T52" fmla="*/ 44 w 3946"/>
                <a:gd name="T53" fmla="*/ 1601 h 2340"/>
                <a:gd name="T54" fmla="*/ 88 w 3946"/>
                <a:gd name="T55" fmla="*/ 1554 h 2340"/>
                <a:gd name="T56" fmla="*/ 138 w 3946"/>
                <a:gd name="T57" fmla="*/ 1518 h 2340"/>
                <a:gd name="T58" fmla="*/ 213 w 3946"/>
                <a:gd name="T59" fmla="*/ 1460 h 2340"/>
                <a:gd name="T60" fmla="*/ 326 w 3946"/>
                <a:gd name="T61" fmla="*/ 1378 h 2340"/>
                <a:gd name="T62" fmla="*/ 513 w 3946"/>
                <a:gd name="T63" fmla="*/ 1239 h 2340"/>
                <a:gd name="T64" fmla="*/ 724 w 3946"/>
                <a:gd name="T65" fmla="*/ 1084 h 2340"/>
                <a:gd name="T66" fmla="*/ 910 w 3946"/>
                <a:gd name="T67" fmla="*/ 944 h 2340"/>
                <a:gd name="T68" fmla="*/ 1025 w 3946"/>
                <a:gd name="T69" fmla="*/ 859 h 2340"/>
                <a:gd name="T70" fmla="*/ 1075 w 3946"/>
                <a:gd name="T71" fmla="*/ 811 h 2340"/>
                <a:gd name="T72" fmla="*/ 1119 w 3946"/>
                <a:gd name="T73" fmla="*/ 742 h 2340"/>
                <a:gd name="T74" fmla="*/ 1110 w 3946"/>
                <a:gd name="T75" fmla="*/ 688 h 2340"/>
                <a:gd name="T76" fmla="*/ 1000 w 3946"/>
                <a:gd name="T77" fmla="*/ 692 h 2340"/>
                <a:gd name="T78" fmla="*/ 739 w 3946"/>
                <a:gd name="T79" fmla="*/ 728 h 2340"/>
                <a:gd name="T80" fmla="*/ 463 w 3946"/>
                <a:gd name="T81" fmla="*/ 725 h 2340"/>
                <a:gd name="T82" fmla="*/ 280 w 3946"/>
                <a:gd name="T83" fmla="*/ 692 h 2340"/>
                <a:gd name="T84" fmla="*/ 196 w 3946"/>
                <a:gd name="T85" fmla="*/ 596 h 2340"/>
                <a:gd name="T86" fmla="*/ 177 w 3946"/>
                <a:gd name="T87" fmla="*/ 486 h 2340"/>
                <a:gd name="T88" fmla="*/ 221 w 3946"/>
                <a:gd name="T89" fmla="*/ 465 h 2340"/>
                <a:gd name="T90" fmla="*/ 394 w 3946"/>
                <a:gd name="T91" fmla="*/ 471 h 2340"/>
                <a:gd name="T92" fmla="*/ 658 w 3946"/>
                <a:gd name="T93" fmla="*/ 446 h 2340"/>
                <a:gd name="T94" fmla="*/ 958 w 3946"/>
                <a:gd name="T95" fmla="*/ 344 h 2340"/>
                <a:gd name="T96" fmla="*/ 1167 w 3946"/>
                <a:gd name="T97" fmla="*/ 264 h 2340"/>
                <a:gd name="T98" fmla="*/ 1313 w 3946"/>
                <a:gd name="T99" fmla="*/ 265 h 2340"/>
                <a:gd name="T100" fmla="*/ 1448 w 3946"/>
                <a:gd name="T101" fmla="*/ 312 h 2340"/>
                <a:gd name="T102" fmla="*/ 1622 w 3946"/>
                <a:gd name="T103" fmla="*/ 369 h 2340"/>
                <a:gd name="T104" fmla="*/ 1768 w 3946"/>
                <a:gd name="T105" fmla="*/ 413 h 2340"/>
                <a:gd name="T106" fmla="*/ 1883 w 3946"/>
                <a:gd name="T107" fmla="*/ 448 h 2340"/>
                <a:gd name="T108" fmla="*/ 2026 w 3946"/>
                <a:gd name="T109" fmla="*/ 463 h 2340"/>
                <a:gd name="T110" fmla="*/ 2248 w 3946"/>
                <a:gd name="T111" fmla="*/ 448 h 2340"/>
                <a:gd name="T112" fmla="*/ 2594 w 3946"/>
                <a:gd name="T113" fmla="*/ 388 h 2340"/>
                <a:gd name="T114" fmla="*/ 2972 w 3946"/>
                <a:gd name="T115" fmla="*/ 300 h 2340"/>
                <a:gd name="T116" fmla="*/ 3337 w 3946"/>
                <a:gd name="T117" fmla="*/ 196 h 2340"/>
                <a:gd name="T118" fmla="*/ 3648 w 3946"/>
                <a:gd name="T119" fmla="*/ 100 h 2340"/>
                <a:gd name="T120" fmla="*/ 3865 w 3946"/>
                <a:gd name="T121" fmla="*/ 27 h 2340"/>
                <a:gd name="T122" fmla="*/ 3946 w 3946"/>
                <a:gd name="T123" fmla="*/ 0 h 2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46" h="2340">
                  <a:moveTo>
                    <a:pt x="3946" y="0"/>
                  </a:moveTo>
                  <a:lnTo>
                    <a:pt x="3946" y="1047"/>
                  </a:lnTo>
                  <a:lnTo>
                    <a:pt x="2653" y="1238"/>
                  </a:lnTo>
                  <a:lnTo>
                    <a:pt x="2650" y="1241"/>
                  </a:lnTo>
                  <a:lnTo>
                    <a:pt x="2640" y="1249"/>
                  </a:lnTo>
                  <a:lnTo>
                    <a:pt x="2625" y="1262"/>
                  </a:lnTo>
                  <a:lnTo>
                    <a:pt x="2603" y="1280"/>
                  </a:lnTo>
                  <a:lnTo>
                    <a:pt x="2580" y="1301"/>
                  </a:lnTo>
                  <a:lnTo>
                    <a:pt x="2552" y="1324"/>
                  </a:lnTo>
                  <a:lnTo>
                    <a:pt x="2523" y="1347"/>
                  </a:lnTo>
                  <a:lnTo>
                    <a:pt x="2490" y="1372"/>
                  </a:lnTo>
                  <a:lnTo>
                    <a:pt x="2458" y="1399"/>
                  </a:lnTo>
                  <a:lnTo>
                    <a:pt x="2425" y="1422"/>
                  </a:lnTo>
                  <a:lnTo>
                    <a:pt x="2392" y="1445"/>
                  </a:lnTo>
                  <a:lnTo>
                    <a:pt x="2362" y="1466"/>
                  </a:lnTo>
                  <a:lnTo>
                    <a:pt x="2340" y="1480"/>
                  </a:lnTo>
                  <a:lnTo>
                    <a:pt x="2314" y="1501"/>
                  </a:lnTo>
                  <a:lnTo>
                    <a:pt x="2281" y="1526"/>
                  </a:lnTo>
                  <a:lnTo>
                    <a:pt x="2242" y="1558"/>
                  </a:lnTo>
                  <a:lnTo>
                    <a:pt x="2200" y="1595"/>
                  </a:lnTo>
                  <a:lnTo>
                    <a:pt x="2152" y="1633"/>
                  </a:lnTo>
                  <a:lnTo>
                    <a:pt x="2100" y="1677"/>
                  </a:lnTo>
                  <a:lnTo>
                    <a:pt x="2047" y="1724"/>
                  </a:lnTo>
                  <a:lnTo>
                    <a:pt x="1989" y="1772"/>
                  </a:lnTo>
                  <a:lnTo>
                    <a:pt x="1930" y="1821"/>
                  </a:lnTo>
                  <a:lnTo>
                    <a:pt x="1868" y="1871"/>
                  </a:lnTo>
                  <a:lnTo>
                    <a:pt x="1807" y="1921"/>
                  </a:lnTo>
                  <a:lnTo>
                    <a:pt x="1745" y="1973"/>
                  </a:lnTo>
                  <a:lnTo>
                    <a:pt x="1682" y="2021"/>
                  </a:lnTo>
                  <a:lnTo>
                    <a:pt x="1622" y="2069"/>
                  </a:lnTo>
                  <a:lnTo>
                    <a:pt x="1563" y="2115"/>
                  </a:lnTo>
                  <a:lnTo>
                    <a:pt x="1505" y="2158"/>
                  </a:lnTo>
                  <a:lnTo>
                    <a:pt x="1451" y="2198"/>
                  </a:lnTo>
                  <a:lnTo>
                    <a:pt x="1400" y="2233"/>
                  </a:lnTo>
                  <a:lnTo>
                    <a:pt x="1352" y="2263"/>
                  </a:lnTo>
                  <a:lnTo>
                    <a:pt x="1309" y="2288"/>
                  </a:lnTo>
                  <a:lnTo>
                    <a:pt x="1271" y="2308"/>
                  </a:lnTo>
                  <a:lnTo>
                    <a:pt x="1225" y="2325"/>
                  </a:lnTo>
                  <a:lnTo>
                    <a:pt x="1185" y="2336"/>
                  </a:lnTo>
                  <a:lnTo>
                    <a:pt x="1150" y="2340"/>
                  </a:lnTo>
                  <a:lnTo>
                    <a:pt x="1119" y="2338"/>
                  </a:lnTo>
                  <a:lnTo>
                    <a:pt x="1094" y="2332"/>
                  </a:lnTo>
                  <a:lnTo>
                    <a:pt x="1071" y="2323"/>
                  </a:lnTo>
                  <a:lnTo>
                    <a:pt x="1054" y="2309"/>
                  </a:lnTo>
                  <a:lnTo>
                    <a:pt x="1039" y="2294"/>
                  </a:lnTo>
                  <a:lnTo>
                    <a:pt x="1027" y="2277"/>
                  </a:lnTo>
                  <a:lnTo>
                    <a:pt x="1018" y="2259"/>
                  </a:lnTo>
                  <a:lnTo>
                    <a:pt x="1012" y="2242"/>
                  </a:lnTo>
                  <a:lnTo>
                    <a:pt x="1006" y="2227"/>
                  </a:lnTo>
                  <a:lnTo>
                    <a:pt x="1002" y="2213"/>
                  </a:lnTo>
                  <a:lnTo>
                    <a:pt x="1002" y="2202"/>
                  </a:lnTo>
                  <a:lnTo>
                    <a:pt x="1000" y="2196"/>
                  </a:lnTo>
                  <a:lnTo>
                    <a:pt x="1000" y="2192"/>
                  </a:lnTo>
                  <a:lnTo>
                    <a:pt x="994" y="2194"/>
                  </a:lnTo>
                  <a:lnTo>
                    <a:pt x="981" y="2200"/>
                  </a:lnTo>
                  <a:lnTo>
                    <a:pt x="960" y="2204"/>
                  </a:lnTo>
                  <a:lnTo>
                    <a:pt x="933" y="2210"/>
                  </a:lnTo>
                  <a:lnTo>
                    <a:pt x="900" y="2211"/>
                  </a:lnTo>
                  <a:lnTo>
                    <a:pt x="868" y="2211"/>
                  </a:lnTo>
                  <a:lnTo>
                    <a:pt x="833" y="2206"/>
                  </a:lnTo>
                  <a:lnTo>
                    <a:pt x="801" y="2192"/>
                  </a:lnTo>
                  <a:lnTo>
                    <a:pt x="772" y="2175"/>
                  </a:lnTo>
                  <a:lnTo>
                    <a:pt x="753" y="2154"/>
                  </a:lnTo>
                  <a:lnTo>
                    <a:pt x="741" y="2131"/>
                  </a:lnTo>
                  <a:lnTo>
                    <a:pt x="733" y="2108"/>
                  </a:lnTo>
                  <a:lnTo>
                    <a:pt x="731" y="2087"/>
                  </a:lnTo>
                  <a:lnTo>
                    <a:pt x="731" y="2069"/>
                  </a:lnTo>
                  <a:lnTo>
                    <a:pt x="731" y="2058"/>
                  </a:lnTo>
                  <a:lnTo>
                    <a:pt x="733" y="2054"/>
                  </a:lnTo>
                  <a:lnTo>
                    <a:pt x="722" y="2060"/>
                  </a:lnTo>
                  <a:lnTo>
                    <a:pt x="708" y="2067"/>
                  </a:lnTo>
                  <a:lnTo>
                    <a:pt x="689" y="2075"/>
                  </a:lnTo>
                  <a:lnTo>
                    <a:pt x="666" y="2081"/>
                  </a:lnTo>
                  <a:lnTo>
                    <a:pt x="641" y="2085"/>
                  </a:lnTo>
                  <a:lnTo>
                    <a:pt x="612" y="2083"/>
                  </a:lnTo>
                  <a:lnTo>
                    <a:pt x="580" y="2075"/>
                  </a:lnTo>
                  <a:lnTo>
                    <a:pt x="545" y="2058"/>
                  </a:lnTo>
                  <a:lnTo>
                    <a:pt x="507" y="2029"/>
                  </a:lnTo>
                  <a:lnTo>
                    <a:pt x="478" y="1998"/>
                  </a:lnTo>
                  <a:lnTo>
                    <a:pt x="459" y="1967"/>
                  </a:lnTo>
                  <a:lnTo>
                    <a:pt x="447" y="1935"/>
                  </a:lnTo>
                  <a:lnTo>
                    <a:pt x="442" y="1904"/>
                  </a:lnTo>
                  <a:lnTo>
                    <a:pt x="442" y="1875"/>
                  </a:lnTo>
                  <a:lnTo>
                    <a:pt x="445" y="1850"/>
                  </a:lnTo>
                  <a:lnTo>
                    <a:pt x="451" y="1829"/>
                  </a:lnTo>
                  <a:lnTo>
                    <a:pt x="457" y="1814"/>
                  </a:lnTo>
                  <a:lnTo>
                    <a:pt x="463" y="1802"/>
                  </a:lnTo>
                  <a:lnTo>
                    <a:pt x="465" y="1798"/>
                  </a:lnTo>
                  <a:lnTo>
                    <a:pt x="445" y="1810"/>
                  </a:lnTo>
                  <a:lnTo>
                    <a:pt x="420" y="1823"/>
                  </a:lnTo>
                  <a:lnTo>
                    <a:pt x="392" y="1837"/>
                  </a:lnTo>
                  <a:lnTo>
                    <a:pt x="359" y="1852"/>
                  </a:lnTo>
                  <a:lnTo>
                    <a:pt x="324" y="1866"/>
                  </a:lnTo>
                  <a:lnTo>
                    <a:pt x="288" y="1877"/>
                  </a:lnTo>
                  <a:lnTo>
                    <a:pt x="251" y="1885"/>
                  </a:lnTo>
                  <a:lnTo>
                    <a:pt x="213" y="1891"/>
                  </a:lnTo>
                  <a:lnTo>
                    <a:pt x="175" y="1891"/>
                  </a:lnTo>
                  <a:lnTo>
                    <a:pt x="138" y="1887"/>
                  </a:lnTo>
                  <a:lnTo>
                    <a:pt x="104" y="1873"/>
                  </a:lnTo>
                  <a:lnTo>
                    <a:pt x="71" y="1854"/>
                  </a:lnTo>
                  <a:lnTo>
                    <a:pt x="42" y="1827"/>
                  </a:lnTo>
                  <a:lnTo>
                    <a:pt x="17" y="1787"/>
                  </a:lnTo>
                  <a:lnTo>
                    <a:pt x="4" y="1750"/>
                  </a:lnTo>
                  <a:lnTo>
                    <a:pt x="0" y="1714"/>
                  </a:lnTo>
                  <a:lnTo>
                    <a:pt x="4" y="1681"/>
                  </a:lnTo>
                  <a:lnTo>
                    <a:pt x="13" y="1651"/>
                  </a:lnTo>
                  <a:lnTo>
                    <a:pt x="29" y="1624"/>
                  </a:lnTo>
                  <a:lnTo>
                    <a:pt x="44" y="1601"/>
                  </a:lnTo>
                  <a:lnTo>
                    <a:pt x="61" y="1581"/>
                  </a:lnTo>
                  <a:lnTo>
                    <a:pt x="75" y="1568"/>
                  </a:lnTo>
                  <a:lnTo>
                    <a:pt x="84" y="1558"/>
                  </a:lnTo>
                  <a:lnTo>
                    <a:pt x="88" y="1554"/>
                  </a:lnTo>
                  <a:lnTo>
                    <a:pt x="92" y="1553"/>
                  </a:lnTo>
                  <a:lnTo>
                    <a:pt x="104" y="1545"/>
                  </a:lnTo>
                  <a:lnTo>
                    <a:pt x="119" y="1533"/>
                  </a:lnTo>
                  <a:lnTo>
                    <a:pt x="138" y="1518"/>
                  </a:lnTo>
                  <a:lnTo>
                    <a:pt x="159" y="1503"/>
                  </a:lnTo>
                  <a:lnTo>
                    <a:pt x="180" y="1485"/>
                  </a:lnTo>
                  <a:lnTo>
                    <a:pt x="203" y="1470"/>
                  </a:lnTo>
                  <a:lnTo>
                    <a:pt x="213" y="1460"/>
                  </a:lnTo>
                  <a:lnTo>
                    <a:pt x="232" y="1447"/>
                  </a:lnTo>
                  <a:lnTo>
                    <a:pt x="257" y="1428"/>
                  </a:lnTo>
                  <a:lnTo>
                    <a:pt x="290" y="1405"/>
                  </a:lnTo>
                  <a:lnTo>
                    <a:pt x="326" y="1378"/>
                  </a:lnTo>
                  <a:lnTo>
                    <a:pt x="367" y="1347"/>
                  </a:lnTo>
                  <a:lnTo>
                    <a:pt x="413" y="1314"/>
                  </a:lnTo>
                  <a:lnTo>
                    <a:pt x="461" y="1278"/>
                  </a:lnTo>
                  <a:lnTo>
                    <a:pt x="513" y="1239"/>
                  </a:lnTo>
                  <a:lnTo>
                    <a:pt x="564" y="1201"/>
                  </a:lnTo>
                  <a:lnTo>
                    <a:pt x="618" y="1163"/>
                  </a:lnTo>
                  <a:lnTo>
                    <a:pt x="670" y="1122"/>
                  </a:lnTo>
                  <a:lnTo>
                    <a:pt x="724" y="1084"/>
                  </a:lnTo>
                  <a:lnTo>
                    <a:pt x="774" y="1045"/>
                  </a:lnTo>
                  <a:lnTo>
                    <a:pt x="824" y="1009"/>
                  </a:lnTo>
                  <a:lnTo>
                    <a:pt x="870" y="976"/>
                  </a:lnTo>
                  <a:lnTo>
                    <a:pt x="910" y="944"/>
                  </a:lnTo>
                  <a:lnTo>
                    <a:pt x="948" y="917"/>
                  </a:lnTo>
                  <a:lnTo>
                    <a:pt x="981" y="894"/>
                  </a:lnTo>
                  <a:lnTo>
                    <a:pt x="1006" y="873"/>
                  </a:lnTo>
                  <a:lnTo>
                    <a:pt x="1025" y="859"/>
                  </a:lnTo>
                  <a:lnTo>
                    <a:pt x="1037" y="849"/>
                  </a:lnTo>
                  <a:lnTo>
                    <a:pt x="1048" y="840"/>
                  </a:lnTo>
                  <a:lnTo>
                    <a:pt x="1062" y="826"/>
                  </a:lnTo>
                  <a:lnTo>
                    <a:pt x="1075" y="811"/>
                  </a:lnTo>
                  <a:lnTo>
                    <a:pt x="1089" y="794"/>
                  </a:lnTo>
                  <a:lnTo>
                    <a:pt x="1100" y="776"/>
                  </a:lnTo>
                  <a:lnTo>
                    <a:pt x="1112" y="759"/>
                  </a:lnTo>
                  <a:lnTo>
                    <a:pt x="1119" y="742"/>
                  </a:lnTo>
                  <a:lnTo>
                    <a:pt x="1123" y="725"/>
                  </a:lnTo>
                  <a:lnTo>
                    <a:pt x="1123" y="711"/>
                  </a:lnTo>
                  <a:lnTo>
                    <a:pt x="1119" y="698"/>
                  </a:lnTo>
                  <a:lnTo>
                    <a:pt x="1110" y="688"/>
                  </a:lnTo>
                  <a:lnTo>
                    <a:pt x="1092" y="682"/>
                  </a:lnTo>
                  <a:lnTo>
                    <a:pt x="1069" y="680"/>
                  </a:lnTo>
                  <a:lnTo>
                    <a:pt x="1039" y="684"/>
                  </a:lnTo>
                  <a:lnTo>
                    <a:pt x="1000" y="692"/>
                  </a:lnTo>
                  <a:lnTo>
                    <a:pt x="943" y="705"/>
                  </a:lnTo>
                  <a:lnTo>
                    <a:pt x="877" y="717"/>
                  </a:lnTo>
                  <a:lnTo>
                    <a:pt x="810" y="723"/>
                  </a:lnTo>
                  <a:lnTo>
                    <a:pt x="739" y="728"/>
                  </a:lnTo>
                  <a:lnTo>
                    <a:pt x="668" y="730"/>
                  </a:lnTo>
                  <a:lnTo>
                    <a:pt x="597" y="730"/>
                  </a:lnTo>
                  <a:lnTo>
                    <a:pt x="528" y="728"/>
                  </a:lnTo>
                  <a:lnTo>
                    <a:pt x="463" y="725"/>
                  </a:lnTo>
                  <a:lnTo>
                    <a:pt x="405" y="719"/>
                  </a:lnTo>
                  <a:lnTo>
                    <a:pt x="353" y="711"/>
                  </a:lnTo>
                  <a:lnTo>
                    <a:pt x="311" y="703"/>
                  </a:lnTo>
                  <a:lnTo>
                    <a:pt x="280" y="692"/>
                  </a:lnTo>
                  <a:lnTo>
                    <a:pt x="251" y="677"/>
                  </a:lnTo>
                  <a:lnTo>
                    <a:pt x="228" y="654"/>
                  </a:lnTo>
                  <a:lnTo>
                    <a:pt x="209" y="627"/>
                  </a:lnTo>
                  <a:lnTo>
                    <a:pt x="196" y="596"/>
                  </a:lnTo>
                  <a:lnTo>
                    <a:pt x="184" y="565"/>
                  </a:lnTo>
                  <a:lnTo>
                    <a:pt x="178" y="534"/>
                  </a:lnTo>
                  <a:lnTo>
                    <a:pt x="177" y="508"/>
                  </a:lnTo>
                  <a:lnTo>
                    <a:pt x="177" y="486"/>
                  </a:lnTo>
                  <a:lnTo>
                    <a:pt x="180" y="471"/>
                  </a:lnTo>
                  <a:lnTo>
                    <a:pt x="188" y="463"/>
                  </a:lnTo>
                  <a:lnTo>
                    <a:pt x="200" y="463"/>
                  </a:lnTo>
                  <a:lnTo>
                    <a:pt x="221" y="465"/>
                  </a:lnTo>
                  <a:lnTo>
                    <a:pt x="251" y="467"/>
                  </a:lnTo>
                  <a:lnTo>
                    <a:pt x="292" y="469"/>
                  </a:lnTo>
                  <a:lnTo>
                    <a:pt x="340" y="471"/>
                  </a:lnTo>
                  <a:lnTo>
                    <a:pt x="394" y="471"/>
                  </a:lnTo>
                  <a:lnTo>
                    <a:pt x="453" y="469"/>
                  </a:lnTo>
                  <a:lnTo>
                    <a:pt x="518" y="465"/>
                  </a:lnTo>
                  <a:lnTo>
                    <a:pt x="587" y="458"/>
                  </a:lnTo>
                  <a:lnTo>
                    <a:pt x="658" y="446"/>
                  </a:lnTo>
                  <a:lnTo>
                    <a:pt x="731" y="429"/>
                  </a:lnTo>
                  <a:lnTo>
                    <a:pt x="808" y="408"/>
                  </a:lnTo>
                  <a:lnTo>
                    <a:pt x="883" y="379"/>
                  </a:lnTo>
                  <a:lnTo>
                    <a:pt x="958" y="344"/>
                  </a:lnTo>
                  <a:lnTo>
                    <a:pt x="1018" y="315"/>
                  </a:lnTo>
                  <a:lnTo>
                    <a:pt x="1073" y="292"/>
                  </a:lnTo>
                  <a:lnTo>
                    <a:pt x="1123" y="275"/>
                  </a:lnTo>
                  <a:lnTo>
                    <a:pt x="1167" y="264"/>
                  </a:lnTo>
                  <a:lnTo>
                    <a:pt x="1208" y="258"/>
                  </a:lnTo>
                  <a:lnTo>
                    <a:pt x="1244" y="256"/>
                  </a:lnTo>
                  <a:lnTo>
                    <a:pt x="1279" y="260"/>
                  </a:lnTo>
                  <a:lnTo>
                    <a:pt x="1313" y="265"/>
                  </a:lnTo>
                  <a:lnTo>
                    <a:pt x="1346" y="273"/>
                  </a:lnTo>
                  <a:lnTo>
                    <a:pt x="1378" y="285"/>
                  </a:lnTo>
                  <a:lnTo>
                    <a:pt x="1411" y="298"/>
                  </a:lnTo>
                  <a:lnTo>
                    <a:pt x="1448" y="312"/>
                  </a:lnTo>
                  <a:lnTo>
                    <a:pt x="1486" y="327"/>
                  </a:lnTo>
                  <a:lnTo>
                    <a:pt x="1526" y="342"/>
                  </a:lnTo>
                  <a:lnTo>
                    <a:pt x="1572" y="356"/>
                  </a:lnTo>
                  <a:lnTo>
                    <a:pt x="1622" y="369"/>
                  </a:lnTo>
                  <a:lnTo>
                    <a:pt x="1665" y="381"/>
                  </a:lnTo>
                  <a:lnTo>
                    <a:pt x="1703" y="390"/>
                  </a:lnTo>
                  <a:lnTo>
                    <a:pt x="1736" y="402"/>
                  </a:lnTo>
                  <a:lnTo>
                    <a:pt x="1768" y="413"/>
                  </a:lnTo>
                  <a:lnTo>
                    <a:pt x="1797" y="423"/>
                  </a:lnTo>
                  <a:lnTo>
                    <a:pt x="1826" y="433"/>
                  </a:lnTo>
                  <a:lnTo>
                    <a:pt x="1855" y="440"/>
                  </a:lnTo>
                  <a:lnTo>
                    <a:pt x="1883" y="448"/>
                  </a:lnTo>
                  <a:lnTo>
                    <a:pt x="1914" y="454"/>
                  </a:lnTo>
                  <a:lnTo>
                    <a:pt x="1947" y="460"/>
                  </a:lnTo>
                  <a:lnTo>
                    <a:pt x="1985" y="463"/>
                  </a:lnTo>
                  <a:lnTo>
                    <a:pt x="2026" y="463"/>
                  </a:lnTo>
                  <a:lnTo>
                    <a:pt x="2072" y="463"/>
                  </a:lnTo>
                  <a:lnTo>
                    <a:pt x="2123" y="461"/>
                  </a:lnTo>
                  <a:lnTo>
                    <a:pt x="2181" y="456"/>
                  </a:lnTo>
                  <a:lnTo>
                    <a:pt x="2248" y="448"/>
                  </a:lnTo>
                  <a:lnTo>
                    <a:pt x="2323" y="436"/>
                  </a:lnTo>
                  <a:lnTo>
                    <a:pt x="2408" y="423"/>
                  </a:lnTo>
                  <a:lnTo>
                    <a:pt x="2502" y="406"/>
                  </a:lnTo>
                  <a:lnTo>
                    <a:pt x="2594" y="388"/>
                  </a:lnTo>
                  <a:lnTo>
                    <a:pt x="2688" y="369"/>
                  </a:lnTo>
                  <a:lnTo>
                    <a:pt x="2782" y="346"/>
                  </a:lnTo>
                  <a:lnTo>
                    <a:pt x="2878" y="323"/>
                  </a:lnTo>
                  <a:lnTo>
                    <a:pt x="2972" y="300"/>
                  </a:lnTo>
                  <a:lnTo>
                    <a:pt x="3066" y="275"/>
                  </a:lnTo>
                  <a:lnTo>
                    <a:pt x="3158" y="248"/>
                  </a:lnTo>
                  <a:lnTo>
                    <a:pt x="3249" y="223"/>
                  </a:lnTo>
                  <a:lnTo>
                    <a:pt x="3337" y="196"/>
                  </a:lnTo>
                  <a:lnTo>
                    <a:pt x="3421" y="171"/>
                  </a:lnTo>
                  <a:lnTo>
                    <a:pt x="3502" y="146"/>
                  </a:lnTo>
                  <a:lnTo>
                    <a:pt x="3577" y="123"/>
                  </a:lnTo>
                  <a:lnTo>
                    <a:pt x="3648" y="100"/>
                  </a:lnTo>
                  <a:lnTo>
                    <a:pt x="3713" y="79"/>
                  </a:lnTo>
                  <a:lnTo>
                    <a:pt x="3771" y="60"/>
                  </a:lnTo>
                  <a:lnTo>
                    <a:pt x="3823" y="43"/>
                  </a:lnTo>
                  <a:lnTo>
                    <a:pt x="3865" y="27"/>
                  </a:lnTo>
                  <a:lnTo>
                    <a:pt x="3899" y="16"/>
                  </a:lnTo>
                  <a:lnTo>
                    <a:pt x="3924" y="8"/>
                  </a:lnTo>
                  <a:lnTo>
                    <a:pt x="3942" y="2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FEDDA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auto">
            <a:xfrm>
              <a:off x="6977056" y="2652707"/>
              <a:ext cx="1057275" cy="1658935"/>
            </a:xfrm>
            <a:custGeom>
              <a:avLst/>
              <a:gdLst>
                <a:gd name="T0" fmla="*/ 251 w 666"/>
                <a:gd name="T1" fmla="*/ 0 h 1045"/>
                <a:gd name="T2" fmla="*/ 666 w 666"/>
                <a:gd name="T3" fmla="*/ 1045 h 1045"/>
                <a:gd name="T4" fmla="*/ 370 w 666"/>
                <a:gd name="T5" fmla="*/ 1045 h 1045"/>
                <a:gd name="T6" fmla="*/ 0 w 666"/>
                <a:gd name="T7" fmla="*/ 65 h 1045"/>
                <a:gd name="T8" fmla="*/ 251 w 666"/>
                <a:gd name="T9" fmla="*/ 0 h 1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1045">
                  <a:moveTo>
                    <a:pt x="251" y="0"/>
                  </a:moveTo>
                  <a:lnTo>
                    <a:pt x="666" y="1045"/>
                  </a:lnTo>
                  <a:lnTo>
                    <a:pt x="370" y="1045"/>
                  </a:lnTo>
                  <a:lnTo>
                    <a:pt x="0" y="65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235818" y="1729527"/>
              <a:ext cx="3667933" cy="2758326"/>
            </a:xfrm>
            <a:custGeom>
              <a:avLst/>
              <a:gdLst>
                <a:gd name="T0" fmla="*/ 1778 w 1778"/>
                <a:gd name="T1" fmla="*/ 0 h 1579"/>
                <a:gd name="T2" fmla="*/ 1778 w 1778"/>
                <a:gd name="T3" fmla="*/ 1327 h 1579"/>
                <a:gd name="T4" fmla="*/ 484 w 1778"/>
                <a:gd name="T5" fmla="*/ 1579 h 1579"/>
                <a:gd name="T6" fmla="*/ 0 w 1778"/>
                <a:gd name="T7" fmla="*/ 425 h 1579"/>
                <a:gd name="T8" fmla="*/ 1778 w 1778"/>
                <a:gd name="T9" fmla="*/ 0 h 1579"/>
                <a:gd name="connsiteX0" fmla="*/ 12995 w 12995"/>
                <a:gd name="connsiteY0" fmla="*/ 0 h 11004"/>
                <a:gd name="connsiteX1" fmla="*/ 10000 w 12995"/>
                <a:gd name="connsiteY1" fmla="*/ 9408 h 11004"/>
                <a:gd name="connsiteX2" fmla="*/ 2722 w 12995"/>
                <a:gd name="connsiteY2" fmla="*/ 11004 h 11004"/>
                <a:gd name="connsiteX3" fmla="*/ 0 w 12995"/>
                <a:gd name="connsiteY3" fmla="*/ 3696 h 11004"/>
                <a:gd name="connsiteX4" fmla="*/ 12995 w 12995"/>
                <a:gd name="connsiteY4" fmla="*/ 0 h 11004"/>
                <a:gd name="connsiteX0" fmla="*/ 12995 w 12995"/>
                <a:gd name="connsiteY0" fmla="*/ 0 h 11004"/>
                <a:gd name="connsiteX1" fmla="*/ 12895 w 12995"/>
                <a:gd name="connsiteY1" fmla="*/ 8769 h 11004"/>
                <a:gd name="connsiteX2" fmla="*/ 2722 w 12995"/>
                <a:gd name="connsiteY2" fmla="*/ 11004 h 11004"/>
                <a:gd name="connsiteX3" fmla="*/ 0 w 12995"/>
                <a:gd name="connsiteY3" fmla="*/ 3696 h 11004"/>
                <a:gd name="connsiteX4" fmla="*/ 12995 w 12995"/>
                <a:gd name="connsiteY4" fmla="*/ 0 h 11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95" h="11004">
                  <a:moveTo>
                    <a:pt x="12995" y="0"/>
                  </a:moveTo>
                  <a:cubicBezTo>
                    <a:pt x="12962" y="2923"/>
                    <a:pt x="12928" y="5846"/>
                    <a:pt x="12895" y="8769"/>
                  </a:cubicBezTo>
                  <a:lnTo>
                    <a:pt x="2722" y="11004"/>
                  </a:lnTo>
                  <a:lnTo>
                    <a:pt x="0" y="3696"/>
                  </a:lnTo>
                  <a:lnTo>
                    <a:pt x="12995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828672" y="2813043"/>
              <a:ext cx="5029196" cy="1876421"/>
            </a:xfrm>
            <a:custGeom>
              <a:avLst/>
              <a:gdLst>
                <a:gd name="T0" fmla="*/ 1611 w 3168"/>
                <a:gd name="T1" fmla="*/ 360 h 1182"/>
                <a:gd name="T2" fmla="*/ 2813 w 3168"/>
                <a:gd name="T3" fmla="*/ 37 h 1182"/>
                <a:gd name="T4" fmla="*/ 3164 w 3168"/>
                <a:gd name="T5" fmla="*/ 423 h 1182"/>
                <a:gd name="T6" fmla="*/ 3139 w 3168"/>
                <a:gd name="T7" fmla="*/ 442 h 1182"/>
                <a:gd name="T8" fmla="*/ 3095 w 3168"/>
                <a:gd name="T9" fmla="*/ 473 h 1182"/>
                <a:gd name="T10" fmla="*/ 3036 w 3168"/>
                <a:gd name="T11" fmla="*/ 500 h 1182"/>
                <a:gd name="T12" fmla="*/ 2967 w 3168"/>
                <a:gd name="T13" fmla="*/ 517 h 1182"/>
                <a:gd name="T14" fmla="*/ 2894 w 3168"/>
                <a:gd name="T15" fmla="*/ 511 h 1182"/>
                <a:gd name="T16" fmla="*/ 2821 w 3168"/>
                <a:gd name="T17" fmla="*/ 471 h 1182"/>
                <a:gd name="T18" fmla="*/ 2742 w 3168"/>
                <a:gd name="T19" fmla="*/ 410 h 1182"/>
                <a:gd name="T20" fmla="*/ 2686 w 3168"/>
                <a:gd name="T21" fmla="*/ 375 h 1182"/>
                <a:gd name="T22" fmla="*/ 2650 w 3168"/>
                <a:gd name="T23" fmla="*/ 360 h 1182"/>
                <a:gd name="T24" fmla="*/ 2629 w 3168"/>
                <a:gd name="T25" fmla="*/ 356 h 1182"/>
                <a:gd name="T26" fmla="*/ 2623 w 3168"/>
                <a:gd name="T27" fmla="*/ 356 h 1182"/>
                <a:gd name="T28" fmla="*/ 2604 w 3168"/>
                <a:gd name="T29" fmla="*/ 363 h 1182"/>
                <a:gd name="T30" fmla="*/ 2548 w 3168"/>
                <a:gd name="T31" fmla="*/ 390 h 1182"/>
                <a:gd name="T32" fmla="*/ 2467 w 3168"/>
                <a:gd name="T33" fmla="*/ 433 h 1182"/>
                <a:gd name="T34" fmla="*/ 2366 w 3168"/>
                <a:gd name="T35" fmla="*/ 490 h 1182"/>
                <a:gd name="T36" fmla="*/ 2256 w 3168"/>
                <a:gd name="T37" fmla="*/ 561 h 1182"/>
                <a:gd name="T38" fmla="*/ 2131 w 3168"/>
                <a:gd name="T39" fmla="*/ 646 h 1182"/>
                <a:gd name="T40" fmla="*/ 1989 w 3168"/>
                <a:gd name="T41" fmla="*/ 746 h 1182"/>
                <a:gd name="T42" fmla="*/ 1840 w 3168"/>
                <a:gd name="T43" fmla="*/ 851 h 1182"/>
                <a:gd name="T44" fmla="*/ 1692 w 3168"/>
                <a:gd name="T45" fmla="*/ 957 h 1182"/>
                <a:gd name="T46" fmla="*/ 1552 w 3168"/>
                <a:gd name="T47" fmla="*/ 1057 h 1182"/>
                <a:gd name="T48" fmla="*/ 1431 w 3168"/>
                <a:gd name="T49" fmla="*/ 1142 h 1182"/>
                <a:gd name="T50" fmla="*/ 1377 w 3168"/>
                <a:gd name="T51" fmla="*/ 1178 h 1182"/>
                <a:gd name="T52" fmla="*/ 1340 w 3168"/>
                <a:gd name="T53" fmla="*/ 1182 h 1182"/>
                <a:gd name="T54" fmla="*/ 1275 w 3168"/>
                <a:gd name="T55" fmla="*/ 1172 h 1182"/>
                <a:gd name="T56" fmla="*/ 1187 w 3168"/>
                <a:gd name="T57" fmla="*/ 1136 h 1182"/>
                <a:gd name="T58" fmla="*/ 1129 w 3168"/>
                <a:gd name="T59" fmla="*/ 1111 h 1182"/>
                <a:gd name="T60" fmla="*/ 1043 w 3168"/>
                <a:gd name="T61" fmla="*/ 1082 h 1182"/>
                <a:gd name="T62" fmla="*/ 939 w 3168"/>
                <a:gd name="T63" fmla="*/ 1053 h 1182"/>
                <a:gd name="T64" fmla="*/ 828 w 3168"/>
                <a:gd name="T65" fmla="*/ 1022 h 1182"/>
                <a:gd name="T66" fmla="*/ 718 w 3168"/>
                <a:gd name="T67" fmla="*/ 996 h 1182"/>
                <a:gd name="T68" fmla="*/ 620 w 3168"/>
                <a:gd name="T69" fmla="*/ 971 h 1182"/>
                <a:gd name="T70" fmla="*/ 546 w 3168"/>
                <a:gd name="T71" fmla="*/ 953 h 1182"/>
                <a:gd name="T72" fmla="*/ 505 w 3168"/>
                <a:gd name="T73" fmla="*/ 944 h 1182"/>
                <a:gd name="T74" fmla="*/ 0 w 3168"/>
                <a:gd name="T75" fmla="*/ 836 h 1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168" h="1182">
                  <a:moveTo>
                    <a:pt x="244" y="0"/>
                  </a:moveTo>
                  <a:lnTo>
                    <a:pt x="1611" y="360"/>
                  </a:lnTo>
                  <a:lnTo>
                    <a:pt x="2295" y="56"/>
                  </a:lnTo>
                  <a:lnTo>
                    <a:pt x="2813" y="37"/>
                  </a:lnTo>
                  <a:lnTo>
                    <a:pt x="3168" y="421"/>
                  </a:lnTo>
                  <a:lnTo>
                    <a:pt x="3164" y="423"/>
                  </a:lnTo>
                  <a:lnTo>
                    <a:pt x="3155" y="431"/>
                  </a:lnTo>
                  <a:lnTo>
                    <a:pt x="3139" y="442"/>
                  </a:lnTo>
                  <a:lnTo>
                    <a:pt x="3120" y="458"/>
                  </a:lnTo>
                  <a:lnTo>
                    <a:pt x="3095" y="473"/>
                  </a:lnTo>
                  <a:lnTo>
                    <a:pt x="3066" y="486"/>
                  </a:lnTo>
                  <a:lnTo>
                    <a:pt x="3036" y="500"/>
                  </a:lnTo>
                  <a:lnTo>
                    <a:pt x="3003" y="511"/>
                  </a:lnTo>
                  <a:lnTo>
                    <a:pt x="2967" y="517"/>
                  </a:lnTo>
                  <a:lnTo>
                    <a:pt x="2930" y="517"/>
                  </a:lnTo>
                  <a:lnTo>
                    <a:pt x="2894" y="511"/>
                  </a:lnTo>
                  <a:lnTo>
                    <a:pt x="2857" y="496"/>
                  </a:lnTo>
                  <a:lnTo>
                    <a:pt x="2821" y="471"/>
                  </a:lnTo>
                  <a:lnTo>
                    <a:pt x="2778" y="436"/>
                  </a:lnTo>
                  <a:lnTo>
                    <a:pt x="2742" y="410"/>
                  </a:lnTo>
                  <a:lnTo>
                    <a:pt x="2711" y="388"/>
                  </a:lnTo>
                  <a:lnTo>
                    <a:pt x="2686" y="375"/>
                  </a:lnTo>
                  <a:lnTo>
                    <a:pt x="2665" y="365"/>
                  </a:lnTo>
                  <a:lnTo>
                    <a:pt x="2650" y="360"/>
                  </a:lnTo>
                  <a:lnTo>
                    <a:pt x="2636" y="356"/>
                  </a:lnTo>
                  <a:lnTo>
                    <a:pt x="2629" y="356"/>
                  </a:lnTo>
                  <a:lnTo>
                    <a:pt x="2625" y="356"/>
                  </a:lnTo>
                  <a:lnTo>
                    <a:pt x="2623" y="356"/>
                  </a:lnTo>
                  <a:lnTo>
                    <a:pt x="2617" y="358"/>
                  </a:lnTo>
                  <a:lnTo>
                    <a:pt x="2604" y="363"/>
                  </a:lnTo>
                  <a:lnTo>
                    <a:pt x="2581" y="375"/>
                  </a:lnTo>
                  <a:lnTo>
                    <a:pt x="2548" y="390"/>
                  </a:lnTo>
                  <a:lnTo>
                    <a:pt x="2512" y="410"/>
                  </a:lnTo>
                  <a:lnTo>
                    <a:pt x="2467" y="433"/>
                  </a:lnTo>
                  <a:lnTo>
                    <a:pt x="2418" y="460"/>
                  </a:lnTo>
                  <a:lnTo>
                    <a:pt x="2366" y="490"/>
                  </a:lnTo>
                  <a:lnTo>
                    <a:pt x="2308" y="527"/>
                  </a:lnTo>
                  <a:lnTo>
                    <a:pt x="2256" y="561"/>
                  </a:lnTo>
                  <a:lnTo>
                    <a:pt x="2197" y="602"/>
                  </a:lnTo>
                  <a:lnTo>
                    <a:pt x="2131" y="646"/>
                  </a:lnTo>
                  <a:lnTo>
                    <a:pt x="2062" y="694"/>
                  </a:lnTo>
                  <a:lnTo>
                    <a:pt x="1989" y="746"/>
                  </a:lnTo>
                  <a:lnTo>
                    <a:pt x="1916" y="798"/>
                  </a:lnTo>
                  <a:lnTo>
                    <a:pt x="1840" y="851"/>
                  </a:lnTo>
                  <a:lnTo>
                    <a:pt x="1765" y="903"/>
                  </a:lnTo>
                  <a:lnTo>
                    <a:pt x="1692" y="957"/>
                  </a:lnTo>
                  <a:lnTo>
                    <a:pt x="1619" y="1007"/>
                  </a:lnTo>
                  <a:lnTo>
                    <a:pt x="1552" y="1057"/>
                  </a:lnTo>
                  <a:lnTo>
                    <a:pt x="1488" y="1101"/>
                  </a:lnTo>
                  <a:lnTo>
                    <a:pt x="1431" y="1142"/>
                  </a:lnTo>
                  <a:lnTo>
                    <a:pt x="1381" y="1178"/>
                  </a:lnTo>
                  <a:lnTo>
                    <a:pt x="1377" y="1178"/>
                  </a:lnTo>
                  <a:lnTo>
                    <a:pt x="1363" y="1180"/>
                  </a:lnTo>
                  <a:lnTo>
                    <a:pt x="1340" y="1182"/>
                  </a:lnTo>
                  <a:lnTo>
                    <a:pt x="1312" y="1180"/>
                  </a:lnTo>
                  <a:lnTo>
                    <a:pt x="1275" y="1172"/>
                  </a:lnTo>
                  <a:lnTo>
                    <a:pt x="1233" y="1159"/>
                  </a:lnTo>
                  <a:lnTo>
                    <a:pt x="1187" y="1136"/>
                  </a:lnTo>
                  <a:lnTo>
                    <a:pt x="1162" y="1124"/>
                  </a:lnTo>
                  <a:lnTo>
                    <a:pt x="1129" y="1111"/>
                  </a:lnTo>
                  <a:lnTo>
                    <a:pt x="1089" y="1097"/>
                  </a:lnTo>
                  <a:lnTo>
                    <a:pt x="1043" y="1082"/>
                  </a:lnTo>
                  <a:lnTo>
                    <a:pt x="993" y="1069"/>
                  </a:lnTo>
                  <a:lnTo>
                    <a:pt x="939" y="1053"/>
                  </a:lnTo>
                  <a:lnTo>
                    <a:pt x="883" y="1038"/>
                  </a:lnTo>
                  <a:lnTo>
                    <a:pt x="828" y="1022"/>
                  </a:lnTo>
                  <a:lnTo>
                    <a:pt x="772" y="1009"/>
                  </a:lnTo>
                  <a:lnTo>
                    <a:pt x="718" y="996"/>
                  </a:lnTo>
                  <a:lnTo>
                    <a:pt x="666" y="982"/>
                  </a:lnTo>
                  <a:lnTo>
                    <a:pt x="620" y="971"/>
                  </a:lnTo>
                  <a:lnTo>
                    <a:pt x="580" y="961"/>
                  </a:lnTo>
                  <a:lnTo>
                    <a:pt x="546" y="953"/>
                  </a:lnTo>
                  <a:lnTo>
                    <a:pt x="521" y="947"/>
                  </a:lnTo>
                  <a:lnTo>
                    <a:pt x="505" y="944"/>
                  </a:lnTo>
                  <a:lnTo>
                    <a:pt x="499" y="942"/>
                  </a:lnTo>
                  <a:lnTo>
                    <a:pt x="0" y="836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5026020" y="4911713"/>
              <a:ext cx="817563" cy="801687"/>
            </a:xfrm>
            <a:custGeom>
              <a:avLst/>
              <a:gdLst>
                <a:gd name="T0" fmla="*/ 152 w 515"/>
                <a:gd name="T1" fmla="*/ 0 h 505"/>
                <a:gd name="T2" fmla="*/ 182 w 515"/>
                <a:gd name="T3" fmla="*/ 2 h 505"/>
                <a:gd name="T4" fmla="*/ 215 w 515"/>
                <a:gd name="T5" fmla="*/ 10 h 505"/>
                <a:gd name="T6" fmla="*/ 254 w 515"/>
                <a:gd name="T7" fmla="*/ 23 h 505"/>
                <a:gd name="T8" fmla="*/ 296 w 515"/>
                <a:gd name="T9" fmla="*/ 48 h 505"/>
                <a:gd name="T10" fmla="*/ 344 w 515"/>
                <a:gd name="T11" fmla="*/ 83 h 505"/>
                <a:gd name="T12" fmla="*/ 388 w 515"/>
                <a:gd name="T13" fmla="*/ 119 h 505"/>
                <a:gd name="T14" fmla="*/ 428 w 515"/>
                <a:gd name="T15" fmla="*/ 160 h 505"/>
                <a:gd name="T16" fmla="*/ 463 w 515"/>
                <a:gd name="T17" fmla="*/ 200 h 505"/>
                <a:gd name="T18" fmla="*/ 490 w 515"/>
                <a:gd name="T19" fmla="*/ 242 h 505"/>
                <a:gd name="T20" fmla="*/ 507 w 515"/>
                <a:gd name="T21" fmla="*/ 286 h 505"/>
                <a:gd name="T22" fmla="*/ 515 w 515"/>
                <a:gd name="T23" fmla="*/ 330 h 505"/>
                <a:gd name="T24" fmla="*/ 511 w 515"/>
                <a:gd name="T25" fmla="*/ 373 h 505"/>
                <a:gd name="T26" fmla="*/ 495 w 515"/>
                <a:gd name="T27" fmla="*/ 409 h 505"/>
                <a:gd name="T28" fmla="*/ 472 w 515"/>
                <a:gd name="T29" fmla="*/ 442 h 505"/>
                <a:gd name="T30" fmla="*/ 442 w 515"/>
                <a:gd name="T31" fmla="*/ 469 h 505"/>
                <a:gd name="T32" fmla="*/ 407 w 515"/>
                <a:gd name="T33" fmla="*/ 488 h 505"/>
                <a:gd name="T34" fmla="*/ 369 w 515"/>
                <a:gd name="T35" fmla="*/ 500 h 505"/>
                <a:gd name="T36" fmla="*/ 326 w 515"/>
                <a:gd name="T37" fmla="*/ 505 h 505"/>
                <a:gd name="T38" fmla="*/ 282 w 515"/>
                <a:gd name="T39" fmla="*/ 500 h 505"/>
                <a:gd name="T40" fmla="*/ 240 w 515"/>
                <a:gd name="T41" fmla="*/ 484 h 505"/>
                <a:gd name="T42" fmla="*/ 198 w 515"/>
                <a:gd name="T43" fmla="*/ 459 h 505"/>
                <a:gd name="T44" fmla="*/ 165 w 515"/>
                <a:gd name="T45" fmla="*/ 432 h 505"/>
                <a:gd name="T46" fmla="*/ 131 w 515"/>
                <a:gd name="T47" fmla="*/ 402 h 505"/>
                <a:gd name="T48" fmla="*/ 98 w 515"/>
                <a:gd name="T49" fmla="*/ 369 h 505"/>
                <a:gd name="T50" fmla="*/ 67 w 515"/>
                <a:gd name="T51" fmla="*/ 334 h 505"/>
                <a:gd name="T52" fmla="*/ 40 w 515"/>
                <a:gd name="T53" fmla="*/ 298 h 505"/>
                <a:gd name="T54" fmla="*/ 19 w 515"/>
                <a:gd name="T55" fmla="*/ 259 h 505"/>
                <a:gd name="T56" fmla="*/ 6 w 515"/>
                <a:gd name="T57" fmla="*/ 219 h 505"/>
                <a:gd name="T58" fmla="*/ 0 w 515"/>
                <a:gd name="T59" fmla="*/ 177 h 505"/>
                <a:gd name="T60" fmla="*/ 4 w 515"/>
                <a:gd name="T61" fmla="*/ 135 h 505"/>
                <a:gd name="T62" fmla="*/ 21 w 515"/>
                <a:gd name="T63" fmla="*/ 92 h 505"/>
                <a:gd name="T64" fmla="*/ 50 w 515"/>
                <a:gd name="T65" fmla="*/ 48 h 505"/>
                <a:gd name="T66" fmla="*/ 52 w 515"/>
                <a:gd name="T67" fmla="*/ 46 h 505"/>
                <a:gd name="T68" fmla="*/ 60 w 515"/>
                <a:gd name="T69" fmla="*/ 38 h 505"/>
                <a:gd name="T70" fmla="*/ 69 w 515"/>
                <a:gd name="T71" fmla="*/ 31 h 505"/>
                <a:gd name="T72" fmla="*/ 85 w 515"/>
                <a:gd name="T73" fmla="*/ 21 h 505"/>
                <a:gd name="T74" fmla="*/ 102 w 515"/>
                <a:gd name="T75" fmla="*/ 12 h 505"/>
                <a:gd name="T76" fmla="*/ 125 w 515"/>
                <a:gd name="T77" fmla="*/ 4 h 505"/>
                <a:gd name="T78" fmla="*/ 152 w 515"/>
                <a:gd name="T79" fmla="*/ 0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5" h="505">
                  <a:moveTo>
                    <a:pt x="152" y="0"/>
                  </a:moveTo>
                  <a:lnTo>
                    <a:pt x="182" y="2"/>
                  </a:lnTo>
                  <a:lnTo>
                    <a:pt x="215" y="10"/>
                  </a:lnTo>
                  <a:lnTo>
                    <a:pt x="254" y="23"/>
                  </a:lnTo>
                  <a:lnTo>
                    <a:pt x="296" y="48"/>
                  </a:lnTo>
                  <a:lnTo>
                    <a:pt x="344" y="83"/>
                  </a:lnTo>
                  <a:lnTo>
                    <a:pt x="388" y="119"/>
                  </a:lnTo>
                  <a:lnTo>
                    <a:pt x="428" y="160"/>
                  </a:lnTo>
                  <a:lnTo>
                    <a:pt x="463" y="200"/>
                  </a:lnTo>
                  <a:lnTo>
                    <a:pt x="490" y="242"/>
                  </a:lnTo>
                  <a:lnTo>
                    <a:pt x="507" y="286"/>
                  </a:lnTo>
                  <a:lnTo>
                    <a:pt x="515" y="330"/>
                  </a:lnTo>
                  <a:lnTo>
                    <a:pt x="511" y="373"/>
                  </a:lnTo>
                  <a:lnTo>
                    <a:pt x="495" y="409"/>
                  </a:lnTo>
                  <a:lnTo>
                    <a:pt x="472" y="442"/>
                  </a:lnTo>
                  <a:lnTo>
                    <a:pt x="442" y="469"/>
                  </a:lnTo>
                  <a:lnTo>
                    <a:pt x="407" y="488"/>
                  </a:lnTo>
                  <a:lnTo>
                    <a:pt x="369" y="500"/>
                  </a:lnTo>
                  <a:lnTo>
                    <a:pt x="326" y="505"/>
                  </a:lnTo>
                  <a:lnTo>
                    <a:pt x="282" y="500"/>
                  </a:lnTo>
                  <a:lnTo>
                    <a:pt x="240" y="484"/>
                  </a:lnTo>
                  <a:lnTo>
                    <a:pt x="198" y="459"/>
                  </a:lnTo>
                  <a:lnTo>
                    <a:pt x="165" y="432"/>
                  </a:lnTo>
                  <a:lnTo>
                    <a:pt x="131" y="402"/>
                  </a:lnTo>
                  <a:lnTo>
                    <a:pt x="98" y="369"/>
                  </a:lnTo>
                  <a:lnTo>
                    <a:pt x="67" y="334"/>
                  </a:lnTo>
                  <a:lnTo>
                    <a:pt x="40" y="298"/>
                  </a:lnTo>
                  <a:lnTo>
                    <a:pt x="19" y="259"/>
                  </a:lnTo>
                  <a:lnTo>
                    <a:pt x="6" y="219"/>
                  </a:lnTo>
                  <a:lnTo>
                    <a:pt x="0" y="177"/>
                  </a:lnTo>
                  <a:lnTo>
                    <a:pt x="4" y="135"/>
                  </a:lnTo>
                  <a:lnTo>
                    <a:pt x="21" y="92"/>
                  </a:lnTo>
                  <a:lnTo>
                    <a:pt x="50" y="48"/>
                  </a:lnTo>
                  <a:lnTo>
                    <a:pt x="52" y="46"/>
                  </a:lnTo>
                  <a:lnTo>
                    <a:pt x="60" y="38"/>
                  </a:lnTo>
                  <a:lnTo>
                    <a:pt x="69" y="31"/>
                  </a:lnTo>
                  <a:lnTo>
                    <a:pt x="85" y="21"/>
                  </a:lnTo>
                  <a:lnTo>
                    <a:pt x="102" y="12"/>
                  </a:lnTo>
                  <a:lnTo>
                    <a:pt x="125" y="4"/>
                  </a:lnTo>
                  <a:lnTo>
                    <a:pt x="152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5462582" y="4557702"/>
              <a:ext cx="769937" cy="765174"/>
            </a:xfrm>
            <a:custGeom>
              <a:avLst/>
              <a:gdLst>
                <a:gd name="T0" fmla="*/ 197 w 485"/>
                <a:gd name="T1" fmla="*/ 0 h 482"/>
                <a:gd name="T2" fmla="*/ 228 w 485"/>
                <a:gd name="T3" fmla="*/ 8 h 482"/>
                <a:gd name="T4" fmla="*/ 259 w 485"/>
                <a:gd name="T5" fmla="*/ 19 h 482"/>
                <a:gd name="T6" fmla="*/ 286 w 485"/>
                <a:gd name="T7" fmla="*/ 35 h 482"/>
                <a:gd name="T8" fmla="*/ 311 w 485"/>
                <a:gd name="T9" fmla="*/ 50 h 482"/>
                <a:gd name="T10" fmla="*/ 330 w 485"/>
                <a:gd name="T11" fmla="*/ 66 h 482"/>
                <a:gd name="T12" fmla="*/ 345 w 485"/>
                <a:gd name="T13" fmla="*/ 79 h 482"/>
                <a:gd name="T14" fmla="*/ 355 w 485"/>
                <a:gd name="T15" fmla="*/ 89 h 482"/>
                <a:gd name="T16" fmla="*/ 359 w 485"/>
                <a:gd name="T17" fmla="*/ 92 h 482"/>
                <a:gd name="T18" fmla="*/ 361 w 485"/>
                <a:gd name="T19" fmla="*/ 96 h 482"/>
                <a:gd name="T20" fmla="*/ 370 w 485"/>
                <a:gd name="T21" fmla="*/ 106 h 482"/>
                <a:gd name="T22" fmla="*/ 382 w 485"/>
                <a:gd name="T23" fmla="*/ 121 h 482"/>
                <a:gd name="T24" fmla="*/ 397 w 485"/>
                <a:gd name="T25" fmla="*/ 142 h 482"/>
                <a:gd name="T26" fmla="*/ 414 w 485"/>
                <a:gd name="T27" fmla="*/ 165 h 482"/>
                <a:gd name="T28" fmla="*/ 432 w 485"/>
                <a:gd name="T29" fmla="*/ 190 h 482"/>
                <a:gd name="T30" fmla="*/ 451 w 485"/>
                <a:gd name="T31" fmla="*/ 215 h 482"/>
                <a:gd name="T32" fmla="*/ 466 w 485"/>
                <a:gd name="T33" fmla="*/ 240 h 482"/>
                <a:gd name="T34" fmla="*/ 478 w 485"/>
                <a:gd name="T35" fmla="*/ 265 h 482"/>
                <a:gd name="T36" fmla="*/ 483 w 485"/>
                <a:gd name="T37" fmla="*/ 292 h 482"/>
                <a:gd name="T38" fmla="*/ 485 w 485"/>
                <a:gd name="T39" fmla="*/ 321 h 482"/>
                <a:gd name="T40" fmla="*/ 482 w 485"/>
                <a:gd name="T41" fmla="*/ 350 h 482"/>
                <a:gd name="T42" fmla="*/ 472 w 485"/>
                <a:gd name="T43" fmla="*/ 379 h 482"/>
                <a:gd name="T44" fmla="*/ 457 w 485"/>
                <a:gd name="T45" fmla="*/ 406 h 482"/>
                <a:gd name="T46" fmla="*/ 432 w 485"/>
                <a:gd name="T47" fmla="*/ 432 h 482"/>
                <a:gd name="T48" fmla="*/ 399 w 485"/>
                <a:gd name="T49" fmla="*/ 454 h 482"/>
                <a:gd name="T50" fmla="*/ 359 w 485"/>
                <a:gd name="T51" fmla="*/ 471 h 482"/>
                <a:gd name="T52" fmla="*/ 315 w 485"/>
                <a:gd name="T53" fmla="*/ 480 h 482"/>
                <a:gd name="T54" fmla="*/ 274 w 485"/>
                <a:gd name="T55" fmla="*/ 482 h 482"/>
                <a:gd name="T56" fmla="*/ 236 w 485"/>
                <a:gd name="T57" fmla="*/ 473 h 482"/>
                <a:gd name="T58" fmla="*/ 201 w 485"/>
                <a:gd name="T59" fmla="*/ 457 h 482"/>
                <a:gd name="T60" fmla="*/ 169 w 485"/>
                <a:gd name="T61" fmla="*/ 434 h 482"/>
                <a:gd name="T62" fmla="*/ 136 w 485"/>
                <a:gd name="T63" fmla="*/ 404 h 482"/>
                <a:gd name="T64" fmla="*/ 105 w 485"/>
                <a:gd name="T65" fmla="*/ 369 h 482"/>
                <a:gd name="T66" fmla="*/ 75 w 485"/>
                <a:gd name="T67" fmla="*/ 331 h 482"/>
                <a:gd name="T68" fmla="*/ 44 w 485"/>
                <a:gd name="T69" fmla="*/ 286 h 482"/>
                <a:gd name="T70" fmla="*/ 19 w 485"/>
                <a:gd name="T71" fmla="*/ 244 h 482"/>
                <a:gd name="T72" fmla="*/ 3 w 485"/>
                <a:gd name="T73" fmla="*/ 204 h 482"/>
                <a:gd name="T74" fmla="*/ 0 w 485"/>
                <a:gd name="T75" fmla="*/ 165 h 482"/>
                <a:gd name="T76" fmla="*/ 5 w 485"/>
                <a:gd name="T77" fmla="*/ 131 h 482"/>
                <a:gd name="T78" fmla="*/ 19 w 485"/>
                <a:gd name="T79" fmla="*/ 100 h 482"/>
                <a:gd name="T80" fmla="*/ 38 w 485"/>
                <a:gd name="T81" fmla="*/ 73 h 482"/>
                <a:gd name="T82" fmla="*/ 65 w 485"/>
                <a:gd name="T83" fmla="*/ 48 h 482"/>
                <a:gd name="T84" fmla="*/ 96 w 485"/>
                <a:gd name="T85" fmla="*/ 27 h 482"/>
                <a:gd name="T86" fmla="*/ 130 w 485"/>
                <a:gd name="T87" fmla="*/ 10 h 482"/>
                <a:gd name="T88" fmla="*/ 165 w 485"/>
                <a:gd name="T89" fmla="*/ 0 h 482"/>
                <a:gd name="T90" fmla="*/ 197 w 485"/>
                <a:gd name="T91" fmla="*/ 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85" h="482">
                  <a:moveTo>
                    <a:pt x="197" y="0"/>
                  </a:moveTo>
                  <a:lnTo>
                    <a:pt x="228" y="8"/>
                  </a:lnTo>
                  <a:lnTo>
                    <a:pt x="259" y="19"/>
                  </a:lnTo>
                  <a:lnTo>
                    <a:pt x="286" y="35"/>
                  </a:lnTo>
                  <a:lnTo>
                    <a:pt x="311" y="50"/>
                  </a:lnTo>
                  <a:lnTo>
                    <a:pt x="330" y="66"/>
                  </a:lnTo>
                  <a:lnTo>
                    <a:pt x="345" y="79"/>
                  </a:lnTo>
                  <a:lnTo>
                    <a:pt x="355" y="89"/>
                  </a:lnTo>
                  <a:lnTo>
                    <a:pt x="359" y="92"/>
                  </a:lnTo>
                  <a:lnTo>
                    <a:pt x="361" y="96"/>
                  </a:lnTo>
                  <a:lnTo>
                    <a:pt x="370" y="106"/>
                  </a:lnTo>
                  <a:lnTo>
                    <a:pt x="382" y="121"/>
                  </a:lnTo>
                  <a:lnTo>
                    <a:pt x="397" y="142"/>
                  </a:lnTo>
                  <a:lnTo>
                    <a:pt x="414" y="165"/>
                  </a:lnTo>
                  <a:lnTo>
                    <a:pt x="432" y="190"/>
                  </a:lnTo>
                  <a:lnTo>
                    <a:pt x="451" y="215"/>
                  </a:lnTo>
                  <a:lnTo>
                    <a:pt x="466" y="240"/>
                  </a:lnTo>
                  <a:lnTo>
                    <a:pt x="478" y="265"/>
                  </a:lnTo>
                  <a:lnTo>
                    <a:pt x="483" y="292"/>
                  </a:lnTo>
                  <a:lnTo>
                    <a:pt x="485" y="321"/>
                  </a:lnTo>
                  <a:lnTo>
                    <a:pt x="482" y="350"/>
                  </a:lnTo>
                  <a:lnTo>
                    <a:pt x="472" y="379"/>
                  </a:lnTo>
                  <a:lnTo>
                    <a:pt x="457" y="406"/>
                  </a:lnTo>
                  <a:lnTo>
                    <a:pt x="432" y="432"/>
                  </a:lnTo>
                  <a:lnTo>
                    <a:pt x="399" y="454"/>
                  </a:lnTo>
                  <a:lnTo>
                    <a:pt x="359" y="471"/>
                  </a:lnTo>
                  <a:lnTo>
                    <a:pt x="315" y="480"/>
                  </a:lnTo>
                  <a:lnTo>
                    <a:pt x="274" y="482"/>
                  </a:lnTo>
                  <a:lnTo>
                    <a:pt x="236" y="473"/>
                  </a:lnTo>
                  <a:lnTo>
                    <a:pt x="201" y="457"/>
                  </a:lnTo>
                  <a:lnTo>
                    <a:pt x="169" y="434"/>
                  </a:lnTo>
                  <a:lnTo>
                    <a:pt x="136" y="404"/>
                  </a:lnTo>
                  <a:lnTo>
                    <a:pt x="105" y="369"/>
                  </a:lnTo>
                  <a:lnTo>
                    <a:pt x="75" y="331"/>
                  </a:lnTo>
                  <a:lnTo>
                    <a:pt x="44" y="286"/>
                  </a:lnTo>
                  <a:lnTo>
                    <a:pt x="19" y="244"/>
                  </a:lnTo>
                  <a:lnTo>
                    <a:pt x="3" y="204"/>
                  </a:lnTo>
                  <a:lnTo>
                    <a:pt x="0" y="165"/>
                  </a:lnTo>
                  <a:lnTo>
                    <a:pt x="5" y="131"/>
                  </a:lnTo>
                  <a:lnTo>
                    <a:pt x="19" y="100"/>
                  </a:lnTo>
                  <a:lnTo>
                    <a:pt x="38" y="73"/>
                  </a:lnTo>
                  <a:lnTo>
                    <a:pt x="65" y="48"/>
                  </a:lnTo>
                  <a:lnTo>
                    <a:pt x="96" y="27"/>
                  </a:lnTo>
                  <a:lnTo>
                    <a:pt x="130" y="10"/>
                  </a:lnTo>
                  <a:lnTo>
                    <a:pt x="165" y="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3194047" y="2928931"/>
              <a:ext cx="423862" cy="165099"/>
            </a:xfrm>
            <a:custGeom>
              <a:avLst/>
              <a:gdLst>
                <a:gd name="T0" fmla="*/ 0 w 267"/>
                <a:gd name="T1" fmla="*/ 0 h 104"/>
                <a:gd name="T2" fmla="*/ 267 w 267"/>
                <a:gd name="T3" fmla="*/ 8 h 104"/>
                <a:gd name="T4" fmla="*/ 261 w 267"/>
                <a:gd name="T5" fmla="*/ 95 h 104"/>
                <a:gd name="T6" fmla="*/ 256 w 267"/>
                <a:gd name="T7" fmla="*/ 95 h 104"/>
                <a:gd name="T8" fmla="*/ 238 w 267"/>
                <a:gd name="T9" fmla="*/ 98 h 104"/>
                <a:gd name="T10" fmla="*/ 213 w 267"/>
                <a:gd name="T11" fmla="*/ 100 h 104"/>
                <a:gd name="T12" fmla="*/ 184 w 267"/>
                <a:gd name="T13" fmla="*/ 102 h 104"/>
                <a:gd name="T14" fmla="*/ 152 w 267"/>
                <a:gd name="T15" fmla="*/ 104 h 104"/>
                <a:gd name="T16" fmla="*/ 119 w 267"/>
                <a:gd name="T17" fmla="*/ 104 h 104"/>
                <a:gd name="T18" fmla="*/ 88 w 267"/>
                <a:gd name="T19" fmla="*/ 100 h 104"/>
                <a:gd name="T20" fmla="*/ 64 w 267"/>
                <a:gd name="T21" fmla="*/ 95 h 104"/>
                <a:gd name="T22" fmla="*/ 40 w 267"/>
                <a:gd name="T23" fmla="*/ 81 h 104"/>
                <a:gd name="T24" fmla="*/ 25 w 267"/>
                <a:gd name="T25" fmla="*/ 66 h 104"/>
                <a:gd name="T26" fmla="*/ 14 w 267"/>
                <a:gd name="T27" fmla="*/ 48 h 104"/>
                <a:gd name="T28" fmla="*/ 6 w 267"/>
                <a:gd name="T29" fmla="*/ 31 h 104"/>
                <a:gd name="T30" fmla="*/ 2 w 267"/>
                <a:gd name="T31" fmla="*/ 16 h 104"/>
                <a:gd name="T32" fmla="*/ 0 w 267"/>
                <a:gd name="T33" fmla="*/ 4 h 104"/>
                <a:gd name="T34" fmla="*/ 0 w 267"/>
                <a:gd name="T3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7" h="104">
                  <a:moveTo>
                    <a:pt x="0" y="0"/>
                  </a:moveTo>
                  <a:lnTo>
                    <a:pt x="267" y="8"/>
                  </a:lnTo>
                  <a:lnTo>
                    <a:pt x="261" y="95"/>
                  </a:lnTo>
                  <a:lnTo>
                    <a:pt x="256" y="95"/>
                  </a:lnTo>
                  <a:lnTo>
                    <a:pt x="238" y="98"/>
                  </a:lnTo>
                  <a:lnTo>
                    <a:pt x="213" y="100"/>
                  </a:lnTo>
                  <a:lnTo>
                    <a:pt x="184" y="102"/>
                  </a:lnTo>
                  <a:lnTo>
                    <a:pt x="152" y="104"/>
                  </a:lnTo>
                  <a:lnTo>
                    <a:pt x="119" y="104"/>
                  </a:lnTo>
                  <a:lnTo>
                    <a:pt x="88" y="100"/>
                  </a:lnTo>
                  <a:lnTo>
                    <a:pt x="64" y="95"/>
                  </a:lnTo>
                  <a:lnTo>
                    <a:pt x="40" y="81"/>
                  </a:lnTo>
                  <a:lnTo>
                    <a:pt x="25" y="66"/>
                  </a:lnTo>
                  <a:lnTo>
                    <a:pt x="14" y="48"/>
                  </a:lnTo>
                  <a:lnTo>
                    <a:pt x="6" y="31"/>
                  </a:lnTo>
                  <a:lnTo>
                    <a:pt x="2" y="16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5440358" y="3097206"/>
              <a:ext cx="400050" cy="423862"/>
            </a:xfrm>
            <a:custGeom>
              <a:avLst/>
              <a:gdLst>
                <a:gd name="T0" fmla="*/ 39 w 252"/>
                <a:gd name="T1" fmla="*/ 0 h 267"/>
                <a:gd name="T2" fmla="*/ 252 w 252"/>
                <a:gd name="T3" fmla="*/ 229 h 267"/>
                <a:gd name="T4" fmla="*/ 236 w 252"/>
                <a:gd name="T5" fmla="*/ 240 h 267"/>
                <a:gd name="T6" fmla="*/ 219 w 252"/>
                <a:gd name="T7" fmla="*/ 248 h 267"/>
                <a:gd name="T8" fmla="*/ 200 w 252"/>
                <a:gd name="T9" fmla="*/ 257 h 267"/>
                <a:gd name="T10" fmla="*/ 183 w 252"/>
                <a:gd name="T11" fmla="*/ 263 h 267"/>
                <a:gd name="T12" fmla="*/ 171 w 252"/>
                <a:gd name="T13" fmla="*/ 267 h 267"/>
                <a:gd name="T14" fmla="*/ 165 w 252"/>
                <a:gd name="T15" fmla="*/ 267 h 267"/>
                <a:gd name="T16" fmla="*/ 148 w 252"/>
                <a:gd name="T17" fmla="*/ 263 h 267"/>
                <a:gd name="T18" fmla="*/ 127 w 252"/>
                <a:gd name="T19" fmla="*/ 252 h 267"/>
                <a:gd name="T20" fmla="*/ 106 w 252"/>
                <a:gd name="T21" fmla="*/ 233 h 267"/>
                <a:gd name="T22" fmla="*/ 85 w 252"/>
                <a:gd name="T23" fmla="*/ 209 h 267"/>
                <a:gd name="T24" fmla="*/ 64 w 252"/>
                <a:gd name="T25" fmla="*/ 184 h 267"/>
                <a:gd name="T26" fmla="*/ 44 w 252"/>
                <a:gd name="T27" fmla="*/ 158 h 267"/>
                <a:gd name="T28" fmla="*/ 29 w 252"/>
                <a:gd name="T29" fmla="*/ 131 h 267"/>
                <a:gd name="T30" fmla="*/ 14 w 252"/>
                <a:gd name="T31" fmla="*/ 106 h 267"/>
                <a:gd name="T32" fmla="*/ 4 w 252"/>
                <a:gd name="T33" fmla="*/ 83 h 267"/>
                <a:gd name="T34" fmla="*/ 0 w 252"/>
                <a:gd name="T35" fmla="*/ 65 h 267"/>
                <a:gd name="T36" fmla="*/ 0 w 252"/>
                <a:gd name="T37" fmla="*/ 54 h 267"/>
                <a:gd name="T38" fmla="*/ 12 w 252"/>
                <a:gd name="T39" fmla="*/ 37 h 267"/>
                <a:gd name="T40" fmla="*/ 21 w 252"/>
                <a:gd name="T41" fmla="*/ 21 h 267"/>
                <a:gd name="T42" fmla="*/ 31 w 252"/>
                <a:gd name="T43" fmla="*/ 10 h 267"/>
                <a:gd name="T44" fmla="*/ 37 w 252"/>
                <a:gd name="T45" fmla="*/ 2 h 267"/>
                <a:gd name="T46" fmla="*/ 39 w 252"/>
                <a:gd name="T47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2" h="267">
                  <a:moveTo>
                    <a:pt x="39" y="0"/>
                  </a:moveTo>
                  <a:lnTo>
                    <a:pt x="252" y="229"/>
                  </a:lnTo>
                  <a:lnTo>
                    <a:pt x="236" y="240"/>
                  </a:lnTo>
                  <a:lnTo>
                    <a:pt x="219" y="248"/>
                  </a:lnTo>
                  <a:lnTo>
                    <a:pt x="200" y="257"/>
                  </a:lnTo>
                  <a:lnTo>
                    <a:pt x="183" y="263"/>
                  </a:lnTo>
                  <a:lnTo>
                    <a:pt x="171" y="267"/>
                  </a:lnTo>
                  <a:lnTo>
                    <a:pt x="165" y="267"/>
                  </a:lnTo>
                  <a:lnTo>
                    <a:pt x="148" y="263"/>
                  </a:lnTo>
                  <a:lnTo>
                    <a:pt x="127" y="252"/>
                  </a:lnTo>
                  <a:lnTo>
                    <a:pt x="106" y="233"/>
                  </a:lnTo>
                  <a:lnTo>
                    <a:pt x="85" y="209"/>
                  </a:lnTo>
                  <a:lnTo>
                    <a:pt x="64" y="184"/>
                  </a:lnTo>
                  <a:lnTo>
                    <a:pt x="44" y="158"/>
                  </a:lnTo>
                  <a:lnTo>
                    <a:pt x="29" y="131"/>
                  </a:lnTo>
                  <a:lnTo>
                    <a:pt x="14" y="106"/>
                  </a:lnTo>
                  <a:lnTo>
                    <a:pt x="4" y="83"/>
                  </a:lnTo>
                  <a:lnTo>
                    <a:pt x="0" y="65"/>
                  </a:lnTo>
                  <a:lnTo>
                    <a:pt x="0" y="54"/>
                  </a:lnTo>
                  <a:lnTo>
                    <a:pt x="12" y="37"/>
                  </a:lnTo>
                  <a:lnTo>
                    <a:pt x="21" y="21"/>
                  </a:lnTo>
                  <a:lnTo>
                    <a:pt x="31" y="10"/>
                  </a:lnTo>
                  <a:lnTo>
                    <a:pt x="37" y="2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5121270" y="4984738"/>
              <a:ext cx="465138" cy="433387"/>
            </a:xfrm>
            <a:custGeom>
              <a:avLst/>
              <a:gdLst>
                <a:gd name="T0" fmla="*/ 119 w 293"/>
                <a:gd name="T1" fmla="*/ 0 h 273"/>
                <a:gd name="T2" fmla="*/ 142 w 293"/>
                <a:gd name="T3" fmla="*/ 2 h 273"/>
                <a:gd name="T4" fmla="*/ 165 w 293"/>
                <a:gd name="T5" fmla="*/ 10 h 273"/>
                <a:gd name="T6" fmla="*/ 186 w 293"/>
                <a:gd name="T7" fmla="*/ 23 h 273"/>
                <a:gd name="T8" fmla="*/ 207 w 293"/>
                <a:gd name="T9" fmla="*/ 37 h 273"/>
                <a:gd name="T10" fmla="*/ 230 w 293"/>
                <a:gd name="T11" fmla="*/ 54 h 273"/>
                <a:gd name="T12" fmla="*/ 251 w 293"/>
                <a:gd name="T13" fmla="*/ 71 h 273"/>
                <a:gd name="T14" fmla="*/ 268 w 293"/>
                <a:gd name="T15" fmla="*/ 92 h 273"/>
                <a:gd name="T16" fmla="*/ 284 w 293"/>
                <a:gd name="T17" fmla="*/ 117 h 273"/>
                <a:gd name="T18" fmla="*/ 291 w 293"/>
                <a:gd name="T19" fmla="*/ 142 h 273"/>
                <a:gd name="T20" fmla="*/ 293 w 293"/>
                <a:gd name="T21" fmla="*/ 171 h 273"/>
                <a:gd name="T22" fmla="*/ 288 w 293"/>
                <a:gd name="T23" fmla="*/ 202 h 273"/>
                <a:gd name="T24" fmla="*/ 272 w 293"/>
                <a:gd name="T25" fmla="*/ 235 h 273"/>
                <a:gd name="T26" fmla="*/ 268 w 293"/>
                <a:gd name="T27" fmla="*/ 238 h 273"/>
                <a:gd name="T28" fmla="*/ 263 w 293"/>
                <a:gd name="T29" fmla="*/ 244 h 273"/>
                <a:gd name="T30" fmla="*/ 251 w 293"/>
                <a:gd name="T31" fmla="*/ 252 h 273"/>
                <a:gd name="T32" fmla="*/ 234 w 293"/>
                <a:gd name="T33" fmla="*/ 261 h 273"/>
                <a:gd name="T34" fmla="*/ 213 w 293"/>
                <a:gd name="T35" fmla="*/ 269 h 273"/>
                <a:gd name="T36" fmla="*/ 190 w 293"/>
                <a:gd name="T37" fmla="*/ 273 h 273"/>
                <a:gd name="T38" fmla="*/ 159 w 293"/>
                <a:gd name="T39" fmla="*/ 273 h 273"/>
                <a:gd name="T40" fmla="*/ 126 w 293"/>
                <a:gd name="T41" fmla="*/ 267 h 273"/>
                <a:gd name="T42" fmla="*/ 90 w 293"/>
                <a:gd name="T43" fmla="*/ 252 h 273"/>
                <a:gd name="T44" fmla="*/ 55 w 293"/>
                <a:gd name="T45" fmla="*/ 231 h 273"/>
                <a:gd name="T46" fmla="*/ 30 w 293"/>
                <a:gd name="T47" fmla="*/ 208 h 273"/>
                <a:gd name="T48" fmla="*/ 13 w 293"/>
                <a:gd name="T49" fmla="*/ 183 h 273"/>
                <a:gd name="T50" fmla="*/ 2 w 293"/>
                <a:gd name="T51" fmla="*/ 156 h 273"/>
                <a:gd name="T52" fmla="*/ 0 w 293"/>
                <a:gd name="T53" fmla="*/ 131 h 273"/>
                <a:gd name="T54" fmla="*/ 2 w 293"/>
                <a:gd name="T55" fmla="*/ 106 h 273"/>
                <a:gd name="T56" fmla="*/ 9 w 293"/>
                <a:gd name="T57" fmla="*/ 83 h 273"/>
                <a:gd name="T58" fmla="*/ 21 w 293"/>
                <a:gd name="T59" fmla="*/ 62 h 273"/>
                <a:gd name="T60" fmla="*/ 38 w 293"/>
                <a:gd name="T61" fmla="*/ 48 h 273"/>
                <a:gd name="T62" fmla="*/ 40 w 293"/>
                <a:gd name="T63" fmla="*/ 44 h 273"/>
                <a:gd name="T64" fmla="*/ 48 w 293"/>
                <a:gd name="T65" fmla="*/ 37 h 273"/>
                <a:gd name="T66" fmla="*/ 61 w 293"/>
                <a:gd name="T67" fmla="*/ 25 h 273"/>
                <a:gd name="T68" fmla="*/ 78 w 293"/>
                <a:gd name="T69" fmla="*/ 16 h 273"/>
                <a:gd name="T70" fmla="*/ 98 w 293"/>
                <a:gd name="T71" fmla="*/ 6 h 273"/>
                <a:gd name="T72" fmla="*/ 119 w 293"/>
                <a:gd name="T73" fmla="*/ 0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93" h="273">
                  <a:moveTo>
                    <a:pt x="119" y="0"/>
                  </a:moveTo>
                  <a:lnTo>
                    <a:pt x="142" y="2"/>
                  </a:lnTo>
                  <a:lnTo>
                    <a:pt x="165" y="10"/>
                  </a:lnTo>
                  <a:lnTo>
                    <a:pt x="186" y="23"/>
                  </a:lnTo>
                  <a:lnTo>
                    <a:pt x="207" y="37"/>
                  </a:lnTo>
                  <a:lnTo>
                    <a:pt x="230" y="54"/>
                  </a:lnTo>
                  <a:lnTo>
                    <a:pt x="251" y="71"/>
                  </a:lnTo>
                  <a:lnTo>
                    <a:pt x="268" y="92"/>
                  </a:lnTo>
                  <a:lnTo>
                    <a:pt x="284" y="117"/>
                  </a:lnTo>
                  <a:lnTo>
                    <a:pt x="291" y="142"/>
                  </a:lnTo>
                  <a:lnTo>
                    <a:pt x="293" y="171"/>
                  </a:lnTo>
                  <a:lnTo>
                    <a:pt x="288" y="202"/>
                  </a:lnTo>
                  <a:lnTo>
                    <a:pt x="272" y="235"/>
                  </a:lnTo>
                  <a:lnTo>
                    <a:pt x="268" y="238"/>
                  </a:lnTo>
                  <a:lnTo>
                    <a:pt x="263" y="244"/>
                  </a:lnTo>
                  <a:lnTo>
                    <a:pt x="251" y="252"/>
                  </a:lnTo>
                  <a:lnTo>
                    <a:pt x="234" y="261"/>
                  </a:lnTo>
                  <a:lnTo>
                    <a:pt x="213" y="269"/>
                  </a:lnTo>
                  <a:lnTo>
                    <a:pt x="190" y="273"/>
                  </a:lnTo>
                  <a:lnTo>
                    <a:pt x="159" y="273"/>
                  </a:lnTo>
                  <a:lnTo>
                    <a:pt x="126" y="267"/>
                  </a:lnTo>
                  <a:lnTo>
                    <a:pt x="90" y="252"/>
                  </a:lnTo>
                  <a:lnTo>
                    <a:pt x="55" y="231"/>
                  </a:lnTo>
                  <a:lnTo>
                    <a:pt x="30" y="208"/>
                  </a:lnTo>
                  <a:lnTo>
                    <a:pt x="13" y="183"/>
                  </a:lnTo>
                  <a:lnTo>
                    <a:pt x="2" y="156"/>
                  </a:lnTo>
                  <a:lnTo>
                    <a:pt x="0" y="131"/>
                  </a:lnTo>
                  <a:lnTo>
                    <a:pt x="2" y="106"/>
                  </a:lnTo>
                  <a:lnTo>
                    <a:pt x="9" y="83"/>
                  </a:lnTo>
                  <a:lnTo>
                    <a:pt x="21" y="62"/>
                  </a:lnTo>
                  <a:lnTo>
                    <a:pt x="38" y="48"/>
                  </a:lnTo>
                  <a:lnTo>
                    <a:pt x="40" y="44"/>
                  </a:lnTo>
                  <a:lnTo>
                    <a:pt x="48" y="37"/>
                  </a:lnTo>
                  <a:lnTo>
                    <a:pt x="61" y="25"/>
                  </a:lnTo>
                  <a:lnTo>
                    <a:pt x="78" y="16"/>
                  </a:lnTo>
                  <a:lnTo>
                    <a:pt x="98" y="6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562594" y="4649778"/>
              <a:ext cx="466724" cy="454024"/>
            </a:xfrm>
            <a:custGeom>
              <a:avLst/>
              <a:gdLst>
                <a:gd name="T0" fmla="*/ 129 w 294"/>
                <a:gd name="T1" fmla="*/ 0 h 286"/>
                <a:gd name="T2" fmla="*/ 150 w 294"/>
                <a:gd name="T3" fmla="*/ 6 h 286"/>
                <a:gd name="T4" fmla="*/ 165 w 294"/>
                <a:gd name="T5" fmla="*/ 15 h 286"/>
                <a:gd name="T6" fmla="*/ 184 w 294"/>
                <a:gd name="T7" fmla="*/ 31 h 286"/>
                <a:gd name="T8" fmla="*/ 207 w 294"/>
                <a:gd name="T9" fmla="*/ 52 h 286"/>
                <a:gd name="T10" fmla="*/ 232 w 294"/>
                <a:gd name="T11" fmla="*/ 75 h 286"/>
                <a:gd name="T12" fmla="*/ 255 w 294"/>
                <a:gd name="T13" fmla="*/ 100 h 286"/>
                <a:gd name="T14" fmla="*/ 276 w 294"/>
                <a:gd name="T15" fmla="*/ 125 h 286"/>
                <a:gd name="T16" fmla="*/ 290 w 294"/>
                <a:gd name="T17" fmla="*/ 148 h 286"/>
                <a:gd name="T18" fmla="*/ 294 w 294"/>
                <a:gd name="T19" fmla="*/ 173 h 286"/>
                <a:gd name="T20" fmla="*/ 290 w 294"/>
                <a:gd name="T21" fmla="*/ 196 h 286"/>
                <a:gd name="T22" fmla="*/ 280 w 294"/>
                <a:gd name="T23" fmla="*/ 219 h 286"/>
                <a:gd name="T24" fmla="*/ 265 w 294"/>
                <a:gd name="T25" fmla="*/ 240 h 286"/>
                <a:gd name="T26" fmla="*/ 248 w 294"/>
                <a:gd name="T27" fmla="*/ 259 h 286"/>
                <a:gd name="T28" fmla="*/ 230 w 294"/>
                <a:gd name="T29" fmla="*/ 271 h 286"/>
                <a:gd name="T30" fmla="*/ 209 w 294"/>
                <a:gd name="T31" fmla="*/ 282 h 286"/>
                <a:gd name="T32" fmla="*/ 186 w 294"/>
                <a:gd name="T33" fmla="*/ 286 h 286"/>
                <a:gd name="T34" fmla="*/ 159 w 294"/>
                <a:gd name="T35" fmla="*/ 286 h 286"/>
                <a:gd name="T36" fmla="*/ 129 w 294"/>
                <a:gd name="T37" fmla="*/ 278 h 286"/>
                <a:gd name="T38" fmla="*/ 98 w 294"/>
                <a:gd name="T39" fmla="*/ 263 h 286"/>
                <a:gd name="T40" fmla="*/ 63 w 294"/>
                <a:gd name="T41" fmla="*/ 238 h 286"/>
                <a:gd name="T42" fmla="*/ 31 w 294"/>
                <a:gd name="T43" fmla="*/ 207 h 286"/>
                <a:gd name="T44" fmla="*/ 12 w 294"/>
                <a:gd name="T45" fmla="*/ 177 h 286"/>
                <a:gd name="T46" fmla="*/ 2 w 294"/>
                <a:gd name="T47" fmla="*/ 148 h 286"/>
                <a:gd name="T48" fmla="*/ 0 w 294"/>
                <a:gd name="T49" fmla="*/ 121 h 286"/>
                <a:gd name="T50" fmla="*/ 4 w 294"/>
                <a:gd name="T51" fmla="*/ 96 h 286"/>
                <a:gd name="T52" fmla="*/ 15 w 294"/>
                <a:gd name="T53" fmla="*/ 75 h 286"/>
                <a:gd name="T54" fmla="*/ 29 w 294"/>
                <a:gd name="T55" fmla="*/ 57 h 286"/>
                <a:gd name="T56" fmla="*/ 33 w 294"/>
                <a:gd name="T57" fmla="*/ 56 h 286"/>
                <a:gd name="T58" fmla="*/ 40 w 294"/>
                <a:gd name="T59" fmla="*/ 46 h 286"/>
                <a:gd name="T60" fmla="*/ 54 w 294"/>
                <a:gd name="T61" fmla="*/ 34 h 286"/>
                <a:gd name="T62" fmla="*/ 69 w 294"/>
                <a:gd name="T63" fmla="*/ 23 h 286"/>
                <a:gd name="T64" fmla="*/ 88 w 294"/>
                <a:gd name="T65" fmla="*/ 11 h 286"/>
                <a:gd name="T66" fmla="*/ 109 w 294"/>
                <a:gd name="T67" fmla="*/ 4 h 286"/>
                <a:gd name="T68" fmla="*/ 129 w 294"/>
                <a:gd name="T69" fmla="*/ 0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" h="286">
                  <a:moveTo>
                    <a:pt x="129" y="0"/>
                  </a:moveTo>
                  <a:lnTo>
                    <a:pt x="150" y="6"/>
                  </a:lnTo>
                  <a:lnTo>
                    <a:pt x="165" y="15"/>
                  </a:lnTo>
                  <a:lnTo>
                    <a:pt x="184" y="31"/>
                  </a:lnTo>
                  <a:lnTo>
                    <a:pt x="207" y="52"/>
                  </a:lnTo>
                  <a:lnTo>
                    <a:pt x="232" y="75"/>
                  </a:lnTo>
                  <a:lnTo>
                    <a:pt x="255" y="100"/>
                  </a:lnTo>
                  <a:lnTo>
                    <a:pt x="276" y="125"/>
                  </a:lnTo>
                  <a:lnTo>
                    <a:pt x="290" y="148"/>
                  </a:lnTo>
                  <a:lnTo>
                    <a:pt x="294" y="173"/>
                  </a:lnTo>
                  <a:lnTo>
                    <a:pt x="290" y="196"/>
                  </a:lnTo>
                  <a:lnTo>
                    <a:pt x="280" y="219"/>
                  </a:lnTo>
                  <a:lnTo>
                    <a:pt x="265" y="240"/>
                  </a:lnTo>
                  <a:lnTo>
                    <a:pt x="248" y="259"/>
                  </a:lnTo>
                  <a:lnTo>
                    <a:pt x="230" y="271"/>
                  </a:lnTo>
                  <a:lnTo>
                    <a:pt x="209" y="282"/>
                  </a:lnTo>
                  <a:lnTo>
                    <a:pt x="186" y="286"/>
                  </a:lnTo>
                  <a:lnTo>
                    <a:pt x="159" y="286"/>
                  </a:lnTo>
                  <a:lnTo>
                    <a:pt x="129" y="278"/>
                  </a:lnTo>
                  <a:lnTo>
                    <a:pt x="98" y="263"/>
                  </a:lnTo>
                  <a:lnTo>
                    <a:pt x="63" y="238"/>
                  </a:lnTo>
                  <a:lnTo>
                    <a:pt x="31" y="207"/>
                  </a:lnTo>
                  <a:lnTo>
                    <a:pt x="12" y="177"/>
                  </a:lnTo>
                  <a:lnTo>
                    <a:pt x="2" y="148"/>
                  </a:lnTo>
                  <a:lnTo>
                    <a:pt x="0" y="121"/>
                  </a:lnTo>
                  <a:lnTo>
                    <a:pt x="4" y="96"/>
                  </a:lnTo>
                  <a:lnTo>
                    <a:pt x="15" y="75"/>
                  </a:lnTo>
                  <a:lnTo>
                    <a:pt x="29" y="57"/>
                  </a:lnTo>
                  <a:lnTo>
                    <a:pt x="33" y="56"/>
                  </a:lnTo>
                  <a:lnTo>
                    <a:pt x="40" y="46"/>
                  </a:lnTo>
                  <a:lnTo>
                    <a:pt x="54" y="34"/>
                  </a:lnTo>
                  <a:lnTo>
                    <a:pt x="69" y="23"/>
                  </a:lnTo>
                  <a:lnTo>
                    <a:pt x="88" y="11"/>
                  </a:lnTo>
                  <a:lnTo>
                    <a:pt x="109" y="4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1987548" y="3090856"/>
              <a:ext cx="895350" cy="1720846"/>
            </a:xfrm>
            <a:custGeom>
              <a:avLst/>
              <a:gdLst>
                <a:gd name="T0" fmla="*/ 297 w 564"/>
                <a:gd name="T1" fmla="*/ 0 h 1084"/>
                <a:gd name="T2" fmla="*/ 564 w 564"/>
                <a:gd name="T3" fmla="*/ 89 h 1084"/>
                <a:gd name="T4" fmla="*/ 272 w 564"/>
                <a:gd name="T5" fmla="*/ 1084 h 1084"/>
                <a:gd name="T6" fmla="*/ 0 w 564"/>
                <a:gd name="T7" fmla="*/ 982 h 1084"/>
                <a:gd name="T8" fmla="*/ 297 w 564"/>
                <a:gd name="T9" fmla="*/ 0 h 1084"/>
                <a:gd name="connsiteX0" fmla="*/ 5266 w 10000"/>
                <a:gd name="connsiteY0" fmla="*/ 0 h 10000"/>
                <a:gd name="connsiteX1" fmla="*/ 10000 w 10000"/>
                <a:gd name="connsiteY1" fmla="*/ 821 h 10000"/>
                <a:gd name="connsiteX2" fmla="*/ 4226 w 10000"/>
                <a:gd name="connsiteY2" fmla="*/ 10000 h 10000"/>
                <a:gd name="connsiteX3" fmla="*/ 0 w 10000"/>
                <a:gd name="connsiteY3" fmla="*/ 9059 h 10000"/>
                <a:gd name="connsiteX4" fmla="*/ 5266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5266" y="0"/>
                  </a:moveTo>
                  <a:lnTo>
                    <a:pt x="10000" y="821"/>
                  </a:lnTo>
                  <a:lnTo>
                    <a:pt x="4226" y="10000"/>
                  </a:lnTo>
                  <a:lnTo>
                    <a:pt x="0" y="9059"/>
                  </a:lnTo>
                  <a:lnTo>
                    <a:pt x="526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-845377" y="1884500"/>
              <a:ext cx="3515549" cy="2997050"/>
            </a:xfrm>
            <a:custGeom>
              <a:avLst/>
              <a:gdLst>
                <a:gd name="T0" fmla="*/ 0 w 1682"/>
                <a:gd name="T1" fmla="*/ 0 h 1718"/>
                <a:gd name="T2" fmla="*/ 1682 w 1682"/>
                <a:gd name="T3" fmla="*/ 629 h 1718"/>
                <a:gd name="T4" fmla="*/ 1308 w 1682"/>
                <a:gd name="T5" fmla="*/ 1718 h 1718"/>
                <a:gd name="T6" fmla="*/ 0 w 1682"/>
                <a:gd name="T7" fmla="*/ 1326 h 1718"/>
                <a:gd name="T8" fmla="*/ 0 w 1682"/>
                <a:gd name="T9" fmla="*/ 0 h 1718"/>
                <a:gd name="connsiteX0" fmla="*/ 0 w 13166"/>
                <a:gd name="connsiteY0" fmla="*/ 0 h 10989"/>
                <a:gd name="connsiteX1" fmla="*/ 13166 w 13166"/>
                <a:gd name="connsiteY1" fmla="*/ 4650 h 10989"/>
                <a:gd name="connsiteX2" fmla="*/ 10942 w 13166"/>
                <a:gd name="connsiteY2" fmla="*/ 10989 h 10989"/>
                <a:gd name="connsiteX3" fmla="*/ 3166 w 13166"/>
                <a:gd name="connsiteY3" fmla="*/ 8707 h 10989"/>
                <a:gd name="connsiteX4" fmla="*/ 0 w 13166"/>
                <a:gd name="connsiteY4" fmla="*/ 0 h 10989"/>
                <a:gd name="connsiteX0" fmla="*/ 0 w 13166"/>
                <a:gd name="connsiteY0" fmla="*/ 0 h 10989"/>
                <a:gd name="connsiteX1" fmla="*/ 13166 w 13166"/>
                <a:gd name="connsiteY1" fmla="*/ 4650 h 10989"/>
                <a:gd name="connsiteX2" fmla="*/ 10942 w 13166"/>
                <a:gd name="connsiteY2" fmla="*/ 10989 h 10989"/>
                <a:gd name="connsiteX3" fmla="*/ 68 w 13166"/>
                <a:gd name="connsiteY3" fmla="*/ 8179 h 10989"/>
                <a:gd name="connsiteX4" fmla="*/ 0 w 13166"/>
                <a:gd name="connsiteY4" fmla="*/ 0 h 10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66" h="10989">
                  <a:moveTo>
                    <a:pt x="0" y="0"/>
                  </a:moveTo>
                  <a:lnTo>
                    <a:pt x="13166" y="4650"/>
                  </a:lnTo>
                  <a:lnTo>
                    <a:pt x="10942" y="10989"/>
                  </a:lnTo>
                  <a:lnTo>
                    <a:pt x="68" y="8179"/>
                  </a:lnTo>
                  <a:cubicBezTo>
                    <a:pt x="45" y="5453"/>
                    <a:pt x="23" y="2726"/>
                    <a:pt x="0" y="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9"/>
            <p:cNvSpPr>
              <a:spLocks/>
            </p:cNvSpPr>
            <p:nvPr/>
          </p:nvSpPr>
          <p:spPr bwMode="auto">
            <a:xfrm>
              <a:off x="4654545" y="5308587"/>
              <a:ext cx="715962" cy="725486"/>
            </a:xfrm>
            <a:custGeom>
              <a:avLst/>
              <a:gdLst>
                <a:gd name="T0" fmla="*/ 144 w 451"/>
                <a:gd name="T1" fmla="*/ 0 h 457"/>
                <a:gd name="T2" fmla="*/ 184 w 451"/>
                <a:gd name="T3" fmla="*/ 0 h 457"/>
                <a:gd name="T4" fmla="*/ 223 w 451"/>
                <a:gd name="T5" fmla="*/ 9 h 457"/>
                <a:gd name="T6" fmla="*/ 259 w 451"/>
                <a:gd name="T7" fmla="*/ 25 h 457"/>
                <a:gd name="T8" fmla="*/ 292 w 451"/>
                <a:gd name="T9" fmla="*/ 48 h 457"/>
                <a:gd name="T10" fmla="*/ 322 w 451"/>
                <a:gd name="T11" fmla="*/ 73 h 457"/>
                <a:gd name="T12" fmla="*/ 351 w 451"/>
                <a:gd name="T13" fmla="*/ 102 h 457"/>
                <a:gd name="T14" fmla="*/ 378 w 451"/>
                <a:gd name="T15" fmla="*/ 132 h 457"/>
                <a:gd name="T16" fmla="*/ 399 w 451"/>
                <a:gd name="T17" fmla="*/ 159 h 457"/>
                <a:gd name="T18" fmla="*/ 418 w 451"/>
                <a:gd name="T19" fmla="*/ 186 h 457"/>
                <a:gd name="T20" fmla="*/ 432 w 451"/>
                <a:gd name="T21" fmla="*/ 209 h 457"/>
                <a:gd name="T22" fmla="*/ 447 w 451"/>
                <a:gd name="T23" fmla="*/ 242 h 457"/>
                <a:gd name="T24" fmla="*/ 451 w 451"/>
                <a:gd name="T25" fmla="*/ 276 h 457"/>
                <a:gd name="T26" fmla="*/ 449 w 451"/>
                <a:gd name="T27" fmla="*/ 311 h 457"/>
                <a:gd name="T28" fmla="*/ 440 w 451"/>
                <a:gd name="T29" fmla="*/ 344 h 457"/>
                <a:gd name="T30" fmla="*/ 426 w 451"/>
                <a:gd name="T31" fmla="*/ 372 h 457"/>
                <a:gd name="T32" fmla="*/ 409 w 451"/>
                <a:gd name="T33" fmla="*/ 397 h 457"/>
                <a:gd name="T34" fmla="*/ 392 w 451"/>
                <a:gd name="T35" fmla="*/ 417 h 457"/>
                <a:gd name="T36" fmla="*/ 361 w 451"/>
                <a:gd name="T37" fmla="*/ 436 h 457"/>
                <a:gd name="T38" fmla="*/ 328 w 451"/>
                <a:gd name="T39" fmla="*/ 447 h 457"/>
                <a:gd name="T40" fmla="*/ 294 w 451"/>
                <a:gd name="T41" fmla="*/ 453 h 457"/>
                <a:gd name="T42" fmla="*/ 261 w 451"/>
                <a:gd name="T43" fmla="*/ 455 h 457"/>
                <a:gd name="T44" fmla="*/ 234 w 451"/>
                <a:gd name="T45" fmla="*/ 457 h 457"/>
                <a:gd name="T46" fmla="*/ 219 w 451"/>
                <a:gd name="T47" fmla="*/ 453 h 457"/>
                <a:gd name="T48" fmla="*/ 200 w 451"/>
                <a:gd name="T49" fmla="*/ 444 h 457"/>
                <a:gd name="T50" fmla="*/ 176 w 451"/>
                <a:gd name="T51" fmla="*/ 428 h 457"/>
                <a:gd name="T52" fmla="*/ 152 w 451"/>
                <a:gd name="T53" fmla="*/ 409 h 457"/>
                <a:gd name="T54" fmla="*/ 125 w 451"/>
                <a:gd name="T55" fmla="*/ 386 h 457"/>
                <a:gd name="T56" fmla="*/ 98 w 451"/>
                <a:gd name="T57" fmla="*/ 359 h 457"/>
                <a:gd name="T58" fmla="*/ 71 w 451"/>
                <a:gd name="T59" fmla="*/ 328 h 457"/>
                <a:gd name="T60" fmla="*/ 48 w 451"/>
                <a:gd name="T61" fmla="*/ 298 h 457"/>
                <a:gd name="T62" fmla="*/ 27 w 451"/>
                <a:gd name="T63" fmla="*/ 263 h 457"/>
                <a:gd name="T64" fmla="*/ 11 w 451"/>
                <a:gd name="T65" fmla="*/ 230 h 457"/>
                <a:gd name="T66" fmla="*/ 4 w 451"/>
                <a:gd name="T67" fmla="*/ 196 h 457"/>
                <a:gd name="T68" fmla="*/ 0 w 451"/>
                <a:gd name="T69" fmla="*/ 155 h 457"/>
                <a:gd name="T70" fmla="*/ 8 w 451"/>
                <a:gd name="T71" fmla="*/ 121 h 457"/>
                <a:gd name="T72" fmla="*/ 19 w 451"/>
                <a:gd name="T73" fmla="*/ 92 h 457"/>
                <a:gd name="T74" fmla="*/ 36 w 451"/>
                <a:gd name="T75" fmla="*/ 67 h 457"/>
                <a:gd name="T76" fmla="*/ 54 w 451"/>
                <a:gd name="T77" fmla="*/ 46 h 457"/>
                <a:gd name="T78" fmla="*/ 73 w 451"/>
                <a:gd name="T79" fmla="*/ 29 h 457"/>
                <a:gd name="T80" fmla="*/ 88 w 451"/>
                <a:gd name="T81" fmla="*/ 17 h 457"/>
                <a:gd name="T82" fmla="*/ 100 w 451"/>
                <a:gd name="T83" fmla="*/ 11 h 457"/>
                <a:gd name="T84" fmla="*/ 104 w 451"/>
                <a:gd name="T85" fmla="*/ 9 h 457"/>
                <a:gd name="T86" fmla="*/ 144 w 451"/>
                <a:gd name="T87" fmla="*/ 0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51" h="457">
                  <a:moveTo>
                    <a:pt x="144" y="0"/>
                  </a:moveTo>
                  <a:lnTo>
                    <a:pt x="184" y="0"/>
                  </a:lnTo>
                  <a:lnTo>
                    <a:pt x="223" y="9"/>
                  </a:lnTo>
                  <a:lnTo>
                    <a:pt x="259" y="25"/>
                  </a:lnTo>
                  <a:lnTo>
                    <a:pt x="292" y="48"/>
                  </a:lnTo>
                  <a:lnTo>
                    <a:pt x="322" y="73"/>
                  </a:lnTo>
                  <a:lnTo>
                    <a:pt x="351" y="102"/>
                  </a:lnTo>
                  <a:lnTo>
                    <a:pt x="378" y="132"/>
                  </a:lnTo>
                  <a:lnTo>
                    <a:pt x="399" y="159"/>
                  </a:lnTo>
                  <a:lnTo>
                    <a:pt x="418" y="186"/>
                  </a:lnTo>
                  <a:lnTo>
                    <a:pt x="432" y="209"/>
                  </a:lnTo>
                  <a:lnTo>
                    <a:pt x="447" y="242"/>
                  </a:lnTo>
                  <a:lnTo>
                    <a:pt x="451" y="276"/>
                  </a:lnTo>
                  <a:lnTo>
                    <a:pt x="449" y="311"/>
                  </a:lnTo>
                  <a:lnTo>
                    <a:pt x="440" y="344"/>
                  </a:lnTo>
                  <a:lnTo>
                    <a:pt x="426" y="372"/>
                  </a:lnTo>
                  <a:lnTo>
                    <a:pt x="409" y="397"/>
                  </a:lnTo>
                  <a:lnTo>
                    <a:pt x="392" y="417"/>
                  </a:lnTo>
                  <a:lnTo>
                    <a:pt x="361" y="436"/>
                  </a:lnTo>
                  <a:lnTo>
                    <a:pt x="328" y="447"/>
                  </a:lnTo>
                  <a:lnTo>
                    <a:pt x="294" y="453"/>
                  </a:lnTo>
                  <a:lnTo>
                    <a:pt x="261" y="455"/>
                  </a:lnTo>
                  <a:lnTo>
                    <a:pt x="234" y="457"/>
                  </a:lnTo>
                  <a:lnTo>
                    <a:pt x="219" y="453"/>
                  </a:lnTo>
                  <a:lnTo>
                    <a:pt x="200" y="444"/>
                  </a:lnTo>
                  <a:lnTo>
                    <a:pt x="176" y="428"/>
                  </a:lnTo>
                  <a:lnTo>
                    <a:pt x="152" y="409"/>
                  </a:lnTo>
                  <a:lnTo>
                    <a:pt x="125" y="386"/>
                  </a:lnTo>
                  <a:lnTo>
                    <a:pt x="98" y="359"/>
                  </a:lnTo>
                  <a:lnTo>
                    <a:pt x="71" y="328"/>
                  </a:lnTo>
                  <a:lnTo>
                    <a:pt x="48" y="298"/>
                  </a:lnTo>
                  <a:lnTo>
                    <a:pt x="27" y="263"/>
                  </a:lnTo>
                  <a:lnTo>
                    <a:pt x="11" y="230"/>
                  </a:lnTo>
                  <a:lnTo>
                    <a:pt x="4" y="196"/>
                  </a:lnTo>
                  <a:lnTo>
                    <a:pt x="0" y="155"/>
                  </a:lnTo>
                  <a:lnTo>
                    <a:pt x="8" y="121"/>
                  </a:lnTo>
                  <a:lnTo>
                    <a:pt x="19" y="92"/>
                  </a:lnTo>
                  <a:lnTo>
                    <a:pt x="36" y="67"/>
                  </a:lnTo>
                  <a:lnTo>
                    <a:pt x="54" y="46"/>
                  </a:lnTo>
                  <a:lnTo>
                    <a:pt x="73" y="29"/>
                  </a:lnTo>
                  <a:lnTo>
                    <a:pt x="88" y="17"/>
                  </a:lnTo>
                  <a:lnTo>
                    <a:pt x="100" y="11"/>
                  </a:lnTo>
                  <a:lnTo>
                    <a:pt x="104" y="9"/>
                  </a:lnTo>
                  <a:lnTo>
                    <a:pt x="144" y="0"/>
                  </a:lnTo>
                  <a:close/>
                </a:path>
              </a:pathLst>
            </a:custGeom>
            <a:solidFill>
              <a:srgbClr val="FFC497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4764083" y="5384786"/>
              <a:ext cx="454025" cy="466724"/>
            </a:xfrm>
            <a:custGeom>
              <a:avLst/>
              <a:gdLst>
                <a:gd name="T0" fmla="*/ 127 w 286"/>
                <a:gd name="T1" fmla="*/ 0 h 294"/>
                <a:gd name="T2" fmla="*/ 148 w 286"/>
                <a:gd name="T3" fmla="*/ 6 h 294"/>
                <a:gd name="T4" fmla="*/ 171 w 286"/>
                <a:gd name="T5" fmla="*/ 17 h 294"/>
                <a:gd name="T6" fmla="*/ 196 w 286"/>
                <a:gd name="T7" fmla="*/ 36 h 294"/>
                <a:gd name="T8" fmla="*/ 217 w 286"/>
                <a:gd name="T9" fmla="*/ 57 h 294"/>
                <a:gd name="T10" fmla="*/ 238 w 286"/>
                <a:gd name="T11" fmla="*/ 79 h 294"/>
                <a:gd name="T12" fmla="*/ 255 w 286"/>
                <a:gd name="T13" fmla="*/ 102 h 294"/>
                <a:gd name="T14" fmla="*/ 269 w 286"/>
                <a:gd name="T15" fmla="*/ 123 h 294"/>
                <a:gd name="T16" fmla="*/ 278 w 286"/>
                <a:gd name="T17" fmla="*/ 140 h 294"/>
                <a:gd name="T18" fmla="*/ 284 w 286"/>
                <a:gd name="T19" fmla="*/ 154 h 294"/>
                <a:gd name="T20" fmla="*/ 286 w 286"/>
                <a:gd name="T21" fmla="*/ 171 h 294"/>
                <a:gd name="T22" fmla="*/ 284 w 286"/>
                <a:gd name="T23" fmla="*/ 192 h 294"/>
                <a:gd name="T24" fmla="*/ 276 w 286"/>
                <a:gd name="T25" fmla="*/ 215 h 294"/>
                <a:gd name="T26" fmla="*/ 265 w 286"/>
                <a:gd name="T27" fmla="*/ 238 h 294"/>
                <a:gd name="T28" fmla="*/ 248 w 286"/>
                <a:gd name="T29" fmla="*/ 259 h 294"/>
                <a:gd name="T30" fmla="*/ 228 w 286"/>
                <a:gd name="T31" fmla="*/ 273 h 294"/>
                <a:gd name="T32" fmla="*/ 203 w 286"/>
                <a:gd name="T33" fmla="*/ 286 h 294"/>
                <a:gd name="T34" fmla="*/ 177 w 286"/>
                <a:gd name="T35" fmla="*/ 294 h 294"/>
                <a:gd name="T36" fmla="*/ 150 w 286"/>
                <a:gd name="T37" fmla="*/ 294 h 294"/>
                <a:gd name="T38" fmla="*/ 121 w 286"/>
                <a:gd name="T39" fmla="*/ 288 h 294"/>
                <a:gd name="T40" fmla="*/ 94 w 286"/>
                <a:gd name="T41" fmla="*/ 271 h 294"/>
                <a:gd name="T42" fmla="*/ 79 w 286"/>
                <a:gd name="T43" fmla="*/ 257 h 294"/>
                <a:gd name="T44" fmla="*/ 61 w 286"/>
                <a:gd name="T45" fmla="*/ 242 h 294"/>
                <a:gd name="T46" fmla="*/ 44 w 286"/>
                <a:gd name="T47" fmla="*/ 225 h 294"/>
                <a:gd name="T48" fmla="*/ 27 w 286"/>
                <a:gd name="T49" fmla="*/ 205 h 294"/>
                <a:gd name="T50" fmla="*/ 13 w 286"/>
                <a:gd name="T51" fmla="*/ 184 h 294"/>
                <a:gd name="T52" fmla="*/ 4 w 286"/>
                <a:gd name="T53" fmla="*/ 163 h 294"/>
                <a:gd name="T54" fmla="*/ 0 w 286"/>
                <a:gd name="T55" fmla="*/ 138 h 294"/>
                <a:gd name="T56" fmla="*/ 2 w 286"/>
                <a:gd name="T57" fmla="*/ 111 h 294"/>
                <a:gd name="T58" fmla="*/ 13 w 286"/>
                <a:gd name="T59" fmla="*/ 81 h 294"/>
                <a:gd name="T60" fmla="*/ 31 w 286"/>
                <a:gd name="T61" fmla="*/ 50 h 294"/>
                <a:gd name="T62" fmla="*/ 35 w 286"/>
                <a:gd name="T63" fmla="*/ 46 h 294"/>
                <a:gd name="T64" fmla="*/ 42 w 286"/>
                <a:gd name="T65" fmla="*/ 40 h 294"/>
                <a:gd name="T66" fmla="*/ 54 w 286"/>
                <a:gd name="T67" fmla="*/ 31 h 294"/>
                <a:gd name="T68" fmla="*/ 69 w 286"/>
                <a:gd name="T69" fmla="*/ 19 h 294"/>
                <a:gd name="T70" fmla="*/ 88 w 286"/>
                <a:gd name="T71" fmla="*/ 9 h 294"/>
                <a:gd name="T72" fmla="*/ 107 w 286"/>
                <a:gd name="T73" fmla="*/ 2 h 294"/>
                <a:gd name="T74" fmla="*/ 127 w 286"/>
                <a:gd name="T75" fmla="*/ 0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6" h="294">
                  <a:moveTo>
                    <a:pt x="127" y="0"/>
                  </a:moveTo>
                  <a:lnTo>
                    <a:pt x="148" y="6"/>
                  </a:lnTo>
                  <a:lnTo>
                    <a:pt x="171" y="17"/>
                  </a:lnTo>
                  <a:lnTo>
                    <a:pt x="196" y="36"/>
                  </a:lnTo>
                  <a:lnTo>
                    <a:pt x="217" y="57"/>
                  </a:lnTo>
                  <a:lnTo>
                    <a:pt x="238" y="79"/>
                  </a:lnTo>
                  <a:lnTo>
                    <a:pt x="255" y="102"/>
                  </a:lnTo>
                  <a:lnTo>
                    <a:pt x="269" y="123"/>
                  </a:lnTo>
                  <a:lnTo>
                    <a:pt x="278" y="140"/>
                  </a:lnTo>
                  <a:lnTo>
                    <a:pt x="284" y="154"/>
                  </a:lnTo>
                  <a:lnTo>
                    <a:pt x="286" y="171"/>
                  </a:lnTo>
                  <a:lnTo>
                    <a:pt x="284" y="192"/>
                  </a:lnTo>
                  <a:lnTo>
                    <a:pt x="276" y="215"/>
                  </a:lnTo>
                  <a:lnTo>
                    <a:pt x="265" y="238"/>
                  </a:lnTo>
                  <a:lnTo>
                    <a:pt x="248" y="259"/>
                  </a:lnTo>
                  <a:lnTo>
                    <a:pt x="228" y="273"/>
                  </a:lnTo>
                  <a:lnTo>
                    <a:pt x="203" y="286"/>
                  </a:lnTo>
                  <a:lnTo>
                    <a:pt x="177" y="294"/>
                  </a:lnTo>
                  <a:lnTo>
                    <a:pt x="150" y="294"/>
                  </a:lnTo>
                  <a:lnTo>
                    <a:pt x="121" y="288"/>
                  </a:lnTo>
                  <a:lnTo>
                    <a:pt x="94" y="271"/>
                  </a:lnTo>
                  <a:lnTo>
                    <a:pt x="79" y="257"/>
                  </a:lnTo>
                  <a:lnTo>
                    <a:pt x="61" y="242"/>
                  </a:lnTo>
                  <a:lnTo>
                    <a:pt x="44" y="225"/>
                  </a:lnTo>
                  <a:lnTo>
                    <a:pt x="27" y="205"/>
                  </a:lnTo>
                  <a:lnTo>
                    <a:pt x="13" y="184"/>
                  </a:lnTo>
                  <a:lnTo>
                    <a:pt x="4" y="163"/>
                  </a:lnTo>
                  <a:lnTo>
                    <a:pt x="0" y="138"/>
                  </a:lnTo>
                  <a:lnTo>
                    <a:pt x="2" y="111"/>
                  </a:lnTo>
                  <a:lnTo>
                    <a:pt x="13" y="81"/>
                  </a:lnTo>
                  <a:lnTo>
                    <a:pt x="31" y="50"/>
                  </a:lnTo>
                  <a:lnTo>
                    <a:pt x="35" y="46"/>
                  </a:lnTo>
                  <a:lnTo>
                    <a:pt x="42" y="40"/>
                  </a:lnTo>
                  <a:lnTo>
                    <a:pt x="54" y="31"/>
                  </a:lnTo>
                  <a:lnTo>
                    <a:pt x="69" y="19"/>
                  </a:lnTo>
                  <a:lnTo>
                    <a:pt x="88" y="9"/>
                  </a:lnTo>
                  <a:lnTo>
                    <a:pt x="107" y="2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1"/>
            <p:cNvSpPr>
              <a:spLocks/>
            </p:cNvSpPr>
            <p:nvPr/>
          </p:nvSpPr>
          <p:spPr bwMode="auto">
            <a:xfrm>
              <a:off x="8439143" y="3971915"/>
              <a:ext cx="187325" cy="187325"/>
            </a:xfrm>
            <a:custGeom>
              <a:avLst/>
              <a:gdLst>
                <a:gd name="T0" fmla="*/ 60 w 118"/>
                <a:gd name="T1" fmla="*/ 0 h 118"/>
                <a:gd name="T2" fmla="*/ 83 w 118"/>
                <a:gd name="T3" fmla="*/ 6 h 118"/>
                <a:gd name="T4" fmla="*/ 102 w 118"/>
                <a:gd name="T5" fmla="*/ 20 h 118"/>
                <a:gd name="T6" fmla="*/ 114 w 118"/>
                <a:gd name="T7" fmla="*/ 39 h 118"/>
                <a:gd name="T8" fmla="*/ 118 w 118"/>
                <a:gd name="T9" fmla="*/ 62 h 118"/>
                <a:gd name="T10" fmla="*/ 112 w 118"/>
                <a:gd name="T11" fmla="*/ 85 h 118"/>
                <a:gd name="T12" fmla="*/ 98 w 118"/>
                <a:gd name="T13" fmla="*/ 102 h 118"/>
                <a:gd name="T14" fmla="*/ 79 w 118"/>
                <a:gd name="T15" fmla="*/ 114 h 118"/>
                <a:gd name="T16" fmla="*/ 56 w 118"/>
                <a:gd name="T17" fmla="*/ 118 h 118"/>
                <a:gd name="T18" fmla="*/ 33 w 118"/>
                <a:gd name="T19" fmla="*/ 112 h 118"/>
                <a:gd name="T20" fmla="*/ 16 w 118"/>
                <a:gd name="T21" fmla="*/ 100 h 118"/>
                <a:gd name="T22" fmla="*/ 4 w 118"/>
                <a:gd name="T23" fmla="*/ 81 h 118"/>
                <a:gd name="T24" fmla="*/ 0 w 118"/>
                <a:gd name="T25" fmla="*/ 58 h 118"/>
                <a:gd name="T26" fmla="*/ 6 w 118"/>
                <a:gd name="T27" fmla="*/ 35 h 118"/>
                <a:gd name="T28" fmla="*/ 18 w 118"/>
                <a:gd name="T29" fmla="*/ 16 h 118"/>
                <a:gd name="T30" fmla="*/ 37 w 118"/>
                <a:gd name="T31" fmla="*/ 4 h 118"/>
                <a:gd name="T32" fmla="*/ 60 w 118"/>
                <a:gd name="T3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118">
                  <a:moveTo>
                    <a:pt x="60" y="0"/>
                  </a:moveTo>
                  <a:lnTo>
                    <a:pt x="83" y="6"/>
                  </a:lnTo>
                  <a:lnTo>
                    <a:pt x="102" y="20"/>
                  </a:lnTo>
                  <a:lnTo>
                    <a:pt x="114" y="39"/>
                  </a:lnTo>
                  <a:lnTo>
                    <a:pt x="118" y="62"/>
                  </a:lnTo>
                  <a:lnTo>
                    <a:pt x="112" y="85"/>
                  </a:lnTo>
                  <a:lnTo>
                    <a:pt x="98" y="102"/>
                  </a:lnTo>
                  <a:lnTo>
                    <a:pt x="79" y="114"/>
                  </a:lnTo>
                  <a:lnTo>
                    <a:pt x="56" y="118"/>
                  </a:lnTo>
                  <a:lnTo>
                    <a:pt x="33" y="112"/>
                  </a:lnTo>
                  <a:lnTo>
                    <a:pt x="16" y="100"/>
                  </a:lnTo>
                  <a:lnTo>
                    <a:pt x="4" y="81"/>
                  </a:lnTo>
                  <a:lnTo>
                    <a:pt x="0" y="58"/>
                  </a:lnTo>
                  <a:lnTo>
                    <a:pt x="6" y="35"/>
                  </a:lnTo>
                  <a:lnTo>
                    <a:pt x="18" y="16"/>
                  </a:lnTo>
                  <a:lnTo>
                    <a:pt x="37" y="4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8699493" y="3927467"/>
              <a:ext cx="185738" cy="188913"/>
            </a:xfrm>
            <a:custGeom>
              <a:avLst/>
              <a:gdLst>
                <a:gd name="T0" fmla="*/ 61 w 117"/>
                <a:gd name="T1" fmla="*/ 0 h 119"/>
                <a:gd name="T2" fmla="*/ 84 w 117"/>
                <a:gd name="T3" fmla="*/ 5 h 119"/>
                <a:gd name="T4" fmla="*/ 101 w 117"/>
                <a:gd name="T5" fmla="*/ 19 h 119"/>
                <a:gd name="T6" fmla="*/ 113 w 117"/>
                <a:gd name="T7" fmla="*/ 38 h 119"/>
                <a:gd name="T8" fmla="*/ 117 w 117"/>
                <a:gd name="T9" fmla="*/ 61 h 119"/>
                <a:gd name="T10" fmla="*/ 111 w 117"/>
                <a:gd name="T11" fmla="*/ 84 h 119"/>
                <a:gd name="T12" fmla="*/ 100 w 117"/>
                <a:gd name="T13" fmla="*/ 101 h 119"/>
                <a:gd name="T14" fmla="*/ 80 w 117"/>
                <a:gd name="T15" fmla="*/ 115 h 119"/>
                <a:gd name="T16" fmla="*/ 57 w 117"/>
                <a:gd name="T17" fmla="*/ 119 h 119"/>
                <a:gd name="T18" fmla="*/ 34 w 117"/>
                <a:gd name="T19" fmla="*/ 113 h 119"/>
                <a:gd name="T20" fmla="*/ 15 w 117"/>
                <a:gd name="T21" fmla="*/ 99 h 119"/>
                <a:gd name="T22" fmla="*/ 4 w 117"/>
                <a:gd name="T23" fmla="*/ 80 h 119"/>
                <a:gd name="T24" fmla="*/ 0 w 117"/>
                <a:gd name="T25" fmla="*/ 57 h 119"/>
                <a:gd name="T26" fmla="*/ 5 w 117"/>
                <a:gd name="T27" fmla="*/ 34 h 119"/>
                <a:gd name="T28" fmla="*/ 19 w 117"/>
                <a:gd name="T29" fmla="*/ 17 h 119"/>
                <a:gd name="T30" fmla="*/ 38 w 117"/>
                <a:gd name="T31" fmla="*/ 3 h 119"/>
                <a:gd name="T32" fmla="*/ 61 w 11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9">
                  <a:moveTo>
                    <a:pt x="61" y="0"/>
                  </a:moveTo>
                  <a:lnTo>
                    <a:pt x="84" y="5"/>
                  </a:lnTo>
                  <a:lnTo>
                    <a:pt x="101" y="19"/>
                  </a:lnTo>
                  <a:lnTo>
                    <a:pt x="113" y="38"/>
                  </a:lnTo>
                  <a:lnTo>
                    <a:pt x="117" y="61"/>
                  </a:lnTo>
                  <a:lnTo>
                    <a:pt x="111" y="84"/>
                  </a:lnTo>
                  <a:lnTo>
                    <a:pt x="100" y="101"/>
                  </a:lnTo>
                  <a:lnTo>
                    <a:pt x="80" y="115"/>
                  </a:lnTo>
                  <a:lnTo>
                    <a:pt x="57" y="119"/>
                  </a:lnTo>
                  <a:lnTo>
                    <a:pt x="34" y="113"/>
                  </a:lnTo>
                  <a:lnTo>
                    <a:pt x="15" y="99"/>
                  </a:lnTo>
                  <a:lnTo>
                    <a:pt x="4" y="80"/>
                  </a:lnTo>
                  <a:lnTo>
                    <a:pt x="0" y="57"/>
                  </a:lnTo>
                  <a:lnTo>
                    <a:pt x="5" y="34"/>
                  </a:lnTo>
                  <a:lnTo>
                    <a:pt x="19" y="17"/>
                  </a:lnTo>
                  <a:lnTo>
                    <a:pt x="38" y="3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"/>
            <p:cNvSpPr>
              <a:spLocks/>
            </p:cNvSpPr>
            <p:nvPr/>
          </p:nvSpPr>
          <p:spPr bwMode="auto">
            <a:xfrm>
              <a:off x="1689097" y="4359266"/>
              <a:ext cx="185737" cy="188913"/>
            </a:xfrm>
            <a:custGeom>
              <a:avLst/>
              <a:gdLst>
                <a:gd name="T0" fmla="*/ 61 w 117"/>
                <a:gd name="T1" fmla="*/ 0 h 119"/>
                <a:gd name="T2" fmla="*/ 84 w 117"/>
                <a:gd name="T3" fmla="*/ 6 h 119"/>
                <a:gd name="T4" fmla="*/ 101 w 117"/>
                <a:gd name="T5" fmla="*/ 22 h 119"/>
                <a:gd name="T6" fmla="*/ 113 w 117"/>
                <a:gd name="T7" fmla="*/ 41 h 119"/>
                <a:gd name="T8" fmla="*/ 117 w 117"/>
                <a:gd name="T9" fmla="*/ 64 h 119"/>
                <a:gd name="T10" fmla="*/ 111 w 117"/>
                <a:gd name="T11" fmla="*/ 85 h 119"/>
                <a:gd name="T12" fmla="*/ 98 w 117"/>
                <a:gd name="T13" fmla="*/ 104 h 119"/>
                <a:gd name="T14" fmla="*/ 78 w 117"/>
                <a:gd name="T15" fmla="*/ 116 h 119"/>
                <a:gd name="T16" fmla="*/ 55 w 117"/>
                <a:gd name="T17" fmla="*/ 119 h 119"/>
                <a:gd name="T18" fmla="*/ 32 w 117"/>
                <a:gd name="T19" fmla="*/ 114 h 119"/>
                <a:gd name="T20" fmla="*/ 15 w 117"/>
                <a:gd name="T21" fmla="*/ 98 h 119"/>
                <a:gd name="T22" fmla="*/ 4 w 117"/>
                <a:gd name="T23" fmla="*/ 79 h 119"/>
                <a:gd name="T24" fmla="*/ 0 w 117"/>
                <a:gd name="T25" fmla="*/ 56 h 119"/>
                <a:gd name="T26" fmla="*/ 5 w 117"/>
                <a:gd name="T27" fmla="*/ 35 h 119"/>
                <a:gd name="T28" fmla="*/ 19 w 117"/>
                <a:gd name="T29" fmla="*/ 16 h 119"/>
                <a:gd name="T30" fmla="*/ 38 w 117"/>
                <a:gd name="T31" fmla="*/ 4 h 119"/>
                <a:gd name="T32" fmla="*/ 61 w 117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7" h="119">
                  <a:moveTo>
                    <a:pt x="61" y="0"/>
                  </a:moveTo>
                  <a:lnTo>
                    <a:pt x="84" y="6"/>
                  </a:lnTo>
                  <a:lnTo>
                    <a:pt x="101" y="22"/>
                  </a:lnTo>
                  <a:lnTo>
                    <a:pt x="113" y="41"/>
                  </a:lnTo>
                  <a:lnTo>
                    <a:pt x="117" y="64"/>
                  </a:lnTo>
                  <a:lnTo>
                    <a:pt x="111" y="85"/>
                  </a:lnTo>
                  <a:lnTo>
                    <a:pt x="98" y="104"/>
                  </a:lnTo>
                  <a:lnTo>
                    <a:pt x="78" y="116"/>
                  </a:lnTo>
                  <a:lnTo>
                    <a:pt x="55" y="119"/>
                  </a:lnTo>
                  <a:lnTo>
                    <a:pt x="32" y="114"/>
                  </a:lnTo>
                  <a:lnTo>
                    <a:pt x="15" y="98"/>
                  </a:lnTo>
                  <a:lnTo>
                    <a:pt x="4" y="79"/>
                  </a:lnTo>
                  <a:lnTo>
                    <a:pt x="0" y="56"/>
                  </a:lnTo>
                  <a:lnTo>
                    <a:pt x="5" y="35"/>
                  </a:lnTo>
                  <a:lnTo>
                    <a:pt x="19" y="16"/>
                  </a:lnTo>
                  <a:lnTo>
                    <a:pt x="38" y="4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1431925" y="4292600"/>
              <a:ext cx="188913" cy="188913"/>
            </a:xfrm>
            <a:custGeom>
              <a:avLst/>
              <a:gdLst>
                <a:gd name="T0" fmla="*/ 64 w 119"/>
                <a:gd name="T1" fmla="*/ 0 h 119"/>
                <a:gd name="T2" fmla="*/ 85 w 119"/>
                <a:gd name="T3" fmla="*/ 6 h 119"/>
                <a:gd name="T4" fmla="*/ 104 w 119"/>
                <a:gd name="T5" fmla="*/ 19 h 119"/>
                <a:gd name="T6" fmla="*/ 116 w 119"/>
                <a:gd name="T7" fmla="*/ 40 h 119"/>
                <a:gd name="T8" fmla="*/ 119 w 119"/>
                <a:gd name="T9" fmla="*/ 64 h 119"/>
                <a:gd name="T10" fmla="*/ 114 w 119"/>
                <a:gd name="T11" fmla="*/ 85 h 119"/>
                <a:gd name="T12" fmla="*/ 98 w 119"/>
                <a:gd name="T13" fmla="*/ 104 h 119"/>
                <a:gd name="T14" fmla="*/ 79 w 119"/>
                <a:gd name="T15" fmla="*/ 115 h 119"/>
                <a:gd name="T16" fmla="*/ 56 w 119"/>
                <a:gd name="T17" fmla="*/ 119 h 119"/>
                <a:gd name="T18" fmla="*/ 35 w 119"/>
                <a:gd name="T19" fmla="*/ 113 h 119"/>
                <a:gd name="T20" fmla="*/ 16 w 119"/>
                <a:gd name="T21" fmla="*/ 98 h 119"/>
                <a:gd name="T22" fmla="*/ 4 w 119"/>
                <a:gd name="T23" fmla="*/ 79 h 119"/>
                <a:gd name="T24" fmla="*/ 0 w 119"/>
                <a:gd name="T25" fmla="*/ 56 h 119"/>
                <a:gd name="T26" fmla="*/ 6 w 119"/>
                <a:gd name="T27" fmla="*/ 35 h 119"/>
                <a:gd name="T28" fmla="*/ 22 w 119"/>
                <a:gd name="T29" fmla="*/ 15 h 119"/>
                <a:gd name="T30" fmla="*/ 41 w 119"/>
                <a:gd name="T31" fmla="*/ 4 h 119"/>
                <a:gd name="T32" fmla="*/ 64 w 119"/>
                <a:gd name="T33" fmla="*/ 0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9" h="119">
                  <a:moveTo>
                    <a:pt x="64" y="0"/>
                  </a:moveTo>
                  <a:lnTo>
                    <a:pt x="85" y="6"/>
                  </a:lnTo>
                  <a:lnTo>
                    <a:pt x="104" y="19"/>
                  </a:lnTo>
                  <a:lnTo>
                    <a:pt x="116" y="40"/>
                  </a:lnTo>
                  <a:lnTo>
                    <a:pt x="119" y="64"/>
                  </a:lnTo>
                  <a:lnTo>
                    <a:pt x="114" y="85"/>
                  </a:lnTo>
                  <a:lnTo>
                    <a:pt x="98" y="104"/>
                  </a:lnTo>
                  <a:lnTo>
                    <a:pt x="79" y="115"/>
                  </a:lnTo>
                  <a:lnTo>
                    <a:pt x="56" y="119"/>
                  </a:lnTo>
                  <a:lnTo>
                    <a:pt x="35" y="113"/>
                  </a:lnTo>
                  <a:lnTo>
                    <a:pt x="16" y="98"/>
                  </a:lnTo>
                  <a:lnTo>
                    <a:pt x="4" y="79"/>
                  </a:lnTo>
                  <a:lnTo>
                    <a:pt x="0" y="56"/>
                  </a:lnTo>
                  <a:lnTo>
                    <a:pt x="6" y="35"/>
                  </a:lnTo>
                  <a:lnTo>
                    <a:pt x="22" y="15"/>
                  </a:lnTo>
                  <a:lnTo>
                    <a:pt x="41" y="4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E6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5" name="Grupo 770">
            <a:extLst>
              <a:ext uri="{FF2B5EF4-FFF2-40B4-BE49-F238E27FC236}">
                <a16:creationId xmlns="" xmlns:a16="http://schemas.microsoft.com/office/drawing/2014/main" xmlns:lc="http://schemas.openxmlformats.org/drawingml/2006/lockedCanvas" id="{84237A79-2FCE-4AE5-A55B-338823D36A7E}"/>
              </a:ext>
            </a:extLst>
          </p:cNvPr>
          <p:cNvGrpSpPr/>
          <p:nvPr/>
        </p:nvGrpSpPr>
        <p:grpSpPr>
          <a:xfrm>
            <a:off x="5298250" y="1327675"/>
            <a:ext cx="1329562" cy="1339325"/>
            <a:chOff x="4967549" y="646548"/>
            <a:chExt cx="1924211" cy="1937261"/>
          </a:xfrm>
        </p:grpSpPr>
        <p:pic>
          <p:nvPicPr>
            <p:cNvPr id="26" name="Gráfico 5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6751BD3-FB45-4D78-B409-A5DE02A300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xmlns:lc="http://schemas.openxmlformats.org/drawingml/2006/lockedCanvas" r:embed="rId7"/>
                </a:ext>
              </a:extLst>
            </a:blip>
            <a:stretch>
              <a:fillRect/>
            </a:stretch>
          </p:blipFill>
          <p:spPr>
            <a:xfrm>
              <a:off x="4967549" y="659598"/>
              <a:ext cx="1924211" cy="1924211"/>
            </a:xfrm>
            <a:prstGeom prst="rect">
              <a:avLst/>
            </a:prstGeom>
          </p:spPr>
        </p:pic>
        <p:sp>
          <p:nvSpPr>
            <p:cNvPr id="27" name="Elipse 52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ABAF8DE9-D55A-4183-92CB-40A241E46FC6}"/>
                </a:ext>
              </a:extLst>
            </p:cNvPr>
            <p:cNvSpPr/>
            <p:nvPr/>
          </p:nvSpPr>
          <p:spPr>
            <a:xfrm>
              <a:off x="5075851" y="669696"/>
              <a:ext cx="1782427" cy="1782427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  <p:sp>
          <p:nvSpPr>
            <p:cNvPr id="28" name="Forma libre: forma 46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32F0FA18-A3ED-4611-9410-86D8C0EB1A04}"/>
                </a:ext>
              </a:extLst>
            </p:cNvPr>
            <p:cNvSpPr/>
            <p:nvPr/>
          </p:nvSpPr>
          <p:spPr>
            <a:xfrm>
              <a:off x="5091766" y="690287"/>
              <a:ext cx="1750598" cy="1750598"/>
            </a:xfrm>
            <a:custGeom>
              <a:avLst/>
              <a:gdLst>
                <a:gd name="connsiteX0" fmla="*/ 3457575 w 3457575"/>
                <a:gd name="connsiteY0" fmla="*/ 1728788 h 3457575"/>
                <a:gd name="connsiteX1" fmla="*/ 1728788 w 3457575"/>
                <a:gd name="connsiteY1" fmla="*/ 3457575 h 3457575"/>
                <a:gd name="connsiteX2" fmla="*/ 0 w 3457575"/>
                <a:gd name="connsiteY2" fmla="*/ 1728788 h 3457575"/>
                <a:gd name="connsiteX3" fmla="*/ 1728788 w 3457575"/>
                <a:gd name="connsiteY3" fmla="*/ 0 h 3457575"/>
                <a:gd name="connsiteX4" fmla="*/ 3457575 w 3457575"/>
                <a:gd name="connsiteY4" fmla="*/ 1728788 h 3457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57575" h="3457575">
                  <a:moveTo>
                    <a:pt x="3457575" y="1728788"/>
                  </a:moveTo>
                  <a:cubicBezTo>
                    <a:pt x="3457575" y="2683571"/>
                    <a:pt x="2683571" y="3457575"/>
                    <a:pt x="1728788" y="3457575"/>
                  </a:cubicBezTo>
                  <a:cubicBezTo>
                    <a:pt x="774005" y="3457575"/>
                    <a:pt x="0" y="2683571"/>
                    <a:pt x="0" y="1728788"/>
                  </a:cubicBezTo>
                  <a:cubicBezTo>
                    <a:pt x="0" y="774005"/>
                    <a:pt x="774005" y="0"/>
                    <a:pt x="1728788" y="0"/>
                  </a:cubicBezTo>
                  <a:cubicBezTo>
                    <a:pt x="2683571" y="0"/>
                    <a:pt x="3457575" y="774005"/>
                    <a:pt x="3457575" y="1728788"/>
                  </a:cubicBezTo>
                  <a:close/>
                </a:path>
              </a:pathLst>
            </a:custGeom>
            <a:gradFill flip="none" rotWithShape="0">
              <a:gsLst>
                <a:gs pos="0">
                  <a:schemeClr val="bg1">
                    <a:lumMod val="5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9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29" name="Forma libre: forma 47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5F7B8A93-6844-4772-86F1-9D5C918FC15F}"/>
                </a:ext>
              </a:extLst>
            </p:cNvPr>
            <p:cNvSpPr/>
            <p:nvPr/>
          </p:nvSpPr>
          <p:spPr>
            <a:xfrm>
              <a:off x="5135169" y="733691"/>
              <a:ext cx="1663791" cy="1663791"/>
            </a:xfrm>
            <a:custGeom>
              <a:avLst/>
              <a:gdLst>
                <a:gd name="connsiteX0" fmla="*/ 3286125 w 3286125"/>
                <a:gd name="connsiteY0" fmla="*/ 1643063 h 3286125"/>
                <a:gd name="connsiteX1" fmla="*/ 1643063 w 3286125"/>
                <a:gd name="connsiteY1" fmla="*/ 3286125 h 3286125"/>
                <a:gd name="connsiteX2" fmla="*/ 0 w 3286125"/>
                <a:gd name="connsiteY2" fmla="*/ 1643063 h 3286125"/>
                <a:gd name="connsiteX3" fmla="*/ 1643063 w 3286125"/>
                <a:gd name="connsiteY3" fmla="*/ 0 h 3286125"/>
                <a:gd name="connsiteX4" fmla="*/ 3286125 w 3286125"/>
                <a:gd name="connsiteY4" fmla="*/ 1643063 h 328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86125" h="3286125">
                  <a:moveTo>
                    <a:pt x="3286125" y="1643063"/>
                  </a:moveTo>
                  <a:cubicBezTo>
                    <a:pt x="3286125" y="2550501"/>
                    <a:pt x="2550501" y="3286125"/>
                    <a:pt x="1643063" y="3286125"/>
                  </a:cubicBezTo>
                  <a:cubicBezTo>
                    <a:pt x="735624" y="3286125"/>
                    <a:pt x="0" y="2550501"/>
                    <a:pt x="0" y="1643063"/>
                  </a:cubicBezTo>
                  <a:cubicBezTo>
                    <a:pt x="0" y="735624"/>
                    <a:pt x="735624" y="0"/>
                    <a:pt x="1643063" y="0"/>
                  </a:cubicBezTo>
                  <a:cubicBezTo>
                    <a:pt x="2550501" y="0"/>
                    <a:pt x="3286125" y="735624"/>
                    <a:pt x="3286125" y="1643063"/>
                  </a:cubicBezTo>
                  <a:close/>
                </a:path>
              </a:pathLst>
            </a:cu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 dirty="0"/>
            </a:p>
          </p:txBody>
        </p:sp>
        <p:sp>
          <p:nvSpPr>
            <p:cNvPr id="30" name="Forma libre: forma 48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425DD1AF-B50C-4844-8DA8-1EC79D1AD312}"/>
                </a:ext>
              </a:extLst>
            </p:cNvPr>
            <p:cNvSpPr/>
            <p:nvPr/>
          </p:nvSpPr>
          <p:spPr>
            <a:xfrm>
              <a:off x="5337718" y="936239"/>
              <a:ext cx="1258694" cy="1258695"/>
            </a:xfrm>
            <a:custGeom>
              <a:avLst/>
              <a:gdLst>
                <a:gd name="connsiteX0" fmla="*/ 1243013 w 2486025"/>
                <a:gd name="connsiteY0" fmla="*/ 40958 h 2486025"/>
                <a:gd name="connsiteX1" fmla="*/ 2093595 w 2486025"/>
                <a:gd name="connsiteY1" fmla="*/ 393383 h 2486025"/>
                <a:gd name="connsiteX2" fmla="*/ 2446020 w 2486025"/>
                <a:gd name="connsiteY2" fmla="*/ 1243965 h 2486025"/>
                <a:gd name="connsiteX3" fmla="*/ 2093595 w 2486025"/>
                <a:gd name="connsiteY3" fmla="*/ 2094548 h 2486025"/>
                <a:gd name="connsiteX4" fmla="*/ 1243013 w 2486025"/>
                <a:gd name="connsiteY4" fmla="*/ 2446973 h 2486025"/>
                <a:gd name="connsiteX5" fmla="*/ 392430 w 2486025"/>
                <a:gd name="connsiteY5" fmla="*/ 2094548 h 2486025"/>
                <a:gd name="connsiteX6" fmla="*/ 40005 w 2486025"/>
                <a:gd name="connsiteY6" fmla="*/ 1243965 h 2486025"/>
                <a:gd name="connsiteX7" fmla="*/ 392430 w 2486025"/>
                <a:gd name="connsiteY7" fmla="*/ 393383 h 2486025"/>
                <a:gd name="connsiteX8" fmla="*/ 1243013 w 2486025"/>
                <a:gd name="connsiteY8" fmla="*/ 40958 h 2486025"/>
                <a:gd name="connsiteX9" fmla="*/ 1243013 w 2486025"/>
                <a:gd name="connsiteY9" fmla="*/ 0 h 2486025"/>
                <a:gd name="connsiteX10" fmla="*/ 0 w 2486025"/>
                <a:gd name="connsiteY10" fmla="*/ 1243013 h 2486025"/>
                <a:gd name="connsiteX11" fmla="*/ 1243013 w 2486025"/>
                <a:gd name="connsiteY11" fmla="*/ 2486025 h 2486025"/>
                <a:gd name="connsiteX12" fmla="*/ 2486025 w 2486025"/>
                <a:gd name="connsiteY12" fmla="*/ 1243013 h 2486025"/>
                <a:gd name="connsiteX13" fmla="*/ 1243013 w 2486025"/>
                <a:gd name="connsiteY13" fmla="*/ 0 h 2486025"/>
                <a:gd name="connsiteX14" fmla="*/ 1243013 w 2486025"/>
                <a:gd name="connsiteY14" fmla="*/ 0 h 2486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86025" h="2486025">
                  <a:moveTo>
                    <a:pt x="1243013" y="40958"/>
                  </a:moveTo>
                  <a:cubicBezTo>
                    <a:pt x="1564005" y="40958"/>
                    <a:pt x="1865948" y="165735"/>
                    <a:pt x="2093595" y="393383"/>
                  </a:cubicBezTo>
                  <a:cubicBezTo>
                    <a:pt x="2320290" y="620078"/>
                    <a:pt x="2446020" y="922020"/>
                    <a:pt x="2446020" y="1243965"/>
                  </a:cubicBezTo>
                  <a:cubicBezTo>
                    <a:pt x="2446020" y="1565910"/>
                    <a:pt x="2321243" y="1866900"/>
                    <a:pt x="2093595" y="2094548"/>
                  </a:cubicBezTo>
                  <a:cubicBezTo>
                    <a:pt x="1866900" y="2321243"/>
                    <a:pt x="1564958" y="2446973"/>
                    <a:pt x="1243013" y="2446973"/>
                  </a:cubicBezTo>
                  <a:cubicBezTo>
                    <a:pt x="921068" y="2446973"/>
                    <a:pt x="620078" y="2322195"/>
                    <a:pt x="392430" y="2094548"/>
                  </a:cubicBezTo>
                  <a:cubicBezTo>
                    <a:pt x="165735" y="1867853"/>
                    <a:pt x="40005" y="1565910"/>
                    <a:pt x="40005" y="1243965"/>
                  </a:cubicBezTo>
                  <a:cubicBezTo>
                    <a:pt x="40005" y="922020"/>
                    <a:pt x="164783" y="621030"/>
                    <a:pt x="392430" y="393383"/>
                  </a:cubicBezTo>
                  <a:cubicBezTo>
                    <a:pt x="620078" y="165735"/>
                    <a:pt x="922020" y="40958"/>
                    <a:pt x="1243013" y="40958"/>
                  </a:cubicBezTo>
                  <a:moveTo>
                    <a:pt x="1243013" y="0"/>
                  </a:moveTo>
                  <a:cubicBezTo>
                    <a:pt x="556260" y="0"/>
                    <a:pt x="0" y="556260"/>
                    <a:pt x="0" y="1243013"/>
                  </a:cubicBezTo>
                  <a:cubicBezTo>
                    <a:pt x="0" y="1929765"/>
                    <a:pt x="556260" y="2486025"/>
                    <a:pt x="1243013" y="2486025"/>
                  </a:cubicBezTo>
                  <a:cubicBezTo>
                    <a:pt x="1929765" y="2486025"/>
                    <a:pt x="2486025" y="1929765"/>
                    <a:pt x="2486025" y="1243013"/>
                  </a:cubicBezTo>
                  <a:cubicBezTo>
                    <a:pt x="2486025" y="556260"/>
                    <a:pt x="1929765" y="0"/>
                    <a:pt x="1243013" y="0"/>
                  </a:cubicBezTo>
                  <a:lnTo>
                    <a:pt x="1243013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25000"/>
                  </a:schemeClr>
                </a:gs>
                <a:gs pos="100000">
                  <a:schemeClr val="bg2"/>
                </a:gs>
              </a:gsLst>
              <a:lin ang="7800000" scaled="0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AR"/>
            </a:p>
          </p:txBody>
        </p:sp>
        <p:sp>
          <p:nvSpPr>
            <p:cNvPr id="31" name="Elipse 55">
              <a:extLst>
                <a:ext uri="{FF2B5EF4-FFF2-40B4-BE49-F238E27FC236}">
                  <a16:creationId xmlns="" xmlns:a16="http://schemas.microsoft.com/office/drawing/2014/main" xmlns:lc="http://schemas.openxmlformats.org/drawingml/2006/lockedCanvas" id="{F0FEE592-DE6E-490F-ADB1-4B00F65F2C31}"/>
                </a:ext>
              </a:extLst>
            </p:cNvPr>
            <p:cNvSpPr/>
            <p:nvPr/>
          </p:nvSpPr>
          <p:spPr>
            <a:xfrm>
              <a:off x="5052703" y="646548"/>
              <a:ext cx="1828724" cy="1828724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A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AR" dirty="0"/>
            </a:p>
          </p:txBody>
        </p:sp>
      </p:grpSp>
      <p:sp>
        <p:nvSpPr>
          <p:cNvPr id="32" name="CuadroTexto 1150">
            <a:extLst>
              <a:ext uri="{FF2B5EF4-FFF2-40B4-BE49-F238E27FC236}">
                <a16:creationId xmlns:a16="http://schemas.microsoft.com/office/drawing/2014/main" xmlns="" id="{F639D885-EEA2-448A-B165-67E12CBCBEE6}"/>
              </a:ext>
            </a:extLst>
          </p:cNvPr>
          <p:cNvSpPr txBox="1"/>
          <p:nvPr/>
        </p:nvSpPr>
        <p:spPr>
          <a:xfrm>
            <a:off x="5636859" y="1597751"/>
            <a:ext cx="704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ernard MT Condensed" panose="02050806060905020404" pitchFamily="18" charset="0"/>
              </a:rPr>
              <a:t>4</a:t>
            </a:r>
            <a:r>
              <a:rPr lang="en-US" sz="3600" dirty="0" smtClean="0">
                <a:solidFill>
                  <a:schemeClr val="bg1"/>
                </a:solidFill>
                <a:latin typeface="Bernard MT Condensed" panose="02050806060905020404" pitchFamily="18" charset="0"/>
              </a:rPr>
              <a:t>.1</a:t>
            </a:r>
            <a:endParaRPr lang="en-US" sz="3600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4119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4800" y="1207249"/>
            <a:ext cx="1179194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CSP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-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bu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elektron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imzolarni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yaratish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sertifikatlar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bilan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ishlash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kriptografik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yordam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dasturlari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to‘plami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Windows, Linux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macOS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operatsion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tizimlarida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qo‘llaniladi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CSP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dasturiy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ta’minoti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quydagi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vazifalarni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bajaradi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: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Elektron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imzoni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yaratish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tekshirish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Maxfiylikni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ta'minlash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ma'lumotlarning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yaxlitligini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shifrlash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orqali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nazorat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qilish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TLS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IPsec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protokollari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yordamida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ulanishlarning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haqiqiyligini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maxfiyligini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ta’minlash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Ruxsatsiz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o‘zgarishlardan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ishonchli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ishlashning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buzilishidan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himoya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qilish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tizim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amaliy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dasturlarning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yaxlitligini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nazorat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qilish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  <a:p>
            <a:pPr indent="449580" algn="just">
              <a:spcAft>
                <a:spcPts val="0"/>
              </a:spcAft>
            </a:pP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CSP 5.0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versiyasida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rus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kriptografik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algoritmlari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bilan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bir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qatorda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xorijiy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kriptografik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algoritmlar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ham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joriy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qilingan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Endi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foydalanuvchilar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RSA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ECDSA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shaxsiy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kalitlarini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saqlash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kalitni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tanish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vositalaridan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foydalanish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imkoniyatiga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ega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10221"/>
              </p:ext>
            </p:extLst>
          </p:nvPr>
        </p:nvGraphicFramePr>
        <p:xfrm>
          <a:off x="786580" y="5083277"/>
          <a:ext cx="10579510" cy="1554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44878"/>
                <a:gridCol w="7934632"/>
              </a:tblGrid>
              <a:tr h="31687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Elektron</a:t>
                      </a:r>
                      <a:r>
                        <a:rPr lang="en-US" sz="2400" dirty="0" smtClean="0"/>
                        <a:t>  </a:t>
                      </a:r>
                      <a:r>
                        <a:rPr lang="en-US" sz="2400" dirty="0" err="1" smtClean="0"/>
                        <a:t>imzo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GOST R 34.10-2012 (GOST 34.10-2018), ECDSA, RSA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Xesh</a:t>
                      </a:r>
                      <a:r>
                        <a:rPr lang="en-US" sz="2400" baseline="0" dirty="0" smtClean="0"/>
                        <a:t> </a:t>
                      </a:r>
                      <a:r>
                        <a:rPr lang="en-US" sz="2400" baseline="0" dirty="0" err="1" smtClean="0"/>
                        <a:t>funksiyalar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GOST R 34.11-2012 (GOST 34.11-2018), SHA-1, SHA-2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/>
                        <a:t>Shifrlash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GOST R 34.12-2015 (GOST 34.12-2018), GOST R 34.13-2015 (GOST 34.13-2018), GOST 28147-89, AES (128/192/256), 3DES, 3DES-112,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8691716" y="5122606"/>
            <a:ext cx="1238865" cy="324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459794" y="6297561"/>
            <a:ext cx="3470787" cy="324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8598309" y="5560088"/>
            <a:ext cx="1332272" cy="324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450695" y="-46873"/>
            <a:ext cx="112874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CSP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ning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turli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versiyalari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tomonidan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qo‘llab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quvvatlanadigan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algoritmlar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Блок-схема: узел 9"/>
          <p:cNvSpPr/>
          <p:nvPr/>
        </p:nvSpPr>
        <p:spPr>
          <a:xfrm>
            <a:off x="150102" y="0"/>
            <a:ext cx="1129828" cy="1068445"/>
          </a:xfrm>
          <a:prstGeom prst="flowChartConnector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latin typeface="Algerian" panose="04020705040A02060702" pitchFamily="82" charset="0"/>
              </a:rPr>
              <a:t>4.1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18795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https://cryptopro.ru/sites/default/files/products/tls/tls_client.pn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2"/>
          <a:stretch/>
        </p:blipFill>
        <p:spPr bwMode="auto">
          <a:xfrm>
            <a:off x="6351639" y="3008667"/>
            <a:ext cx="5692878" cy="316598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pic>
        <p:nvPicPr>
          <p:cNvPr id="3" name="Рисунок 2" descr="https://cryptopro.ru/sites/default/files/products/tls/tls_server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298"/>
          <a:stretch/>
        </p:blipFill>
        <p:spPr bwMode="auto">
          <a:xfrm>
            <a:off x="285135" y="2998841"/>
            <a:ext cx="5810865" cy="31659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</p:pic>
      <p:cxnSp>
        <p:nvCxnSpPr>
          <p:cNvPr id="4" name="Прямая соединительная линия 3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7755" y="6174655"/>
            <a:ext cx="46183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Serverda</a:t>
            </a:r>
            <a:r>
              <a:rPr lang="en-US" sz="2000" dirty="0" smtClean="0"/>
              <a:t> </a:t>
            </a:r>
            <a:r>
              <a:rPr lang="en-US" sz="2000" dirty="0" err="1" smtClean="0"/>
              <a:t>Cryptopro</a:t>
            </a:r>
            <a:r>
              <a:rPr lang="en-US" sz="2000" dirty="0" smtClean="0"/>
              <a:t> CSP </a:t>
            </a:r>
            <a:r>
              <a:rPr lang="en-US" sz="2000" dirty="0" err="1" smtClean="0"/>
              <a:t>dasturini</a:t>
            </a:r>
            <a:r>
              <a:rPr lang="en-US" sz="2000" dirty="0" smtClean="0"/>
              <a:t> </a:t>
            </a:r>
            <a:r>
              <a:rPr lang="en-US" sz="2000" dirty="0" err="1" smtClean="0"/>
              <a:t>o’rnatish</a:t>
            </a:r>
            <a:endParaRPr lang="en-US" sz="2000" dirty="0" smtClean="0"/>
          </a:p>
          <a:p>
            <a:pPr algn="ctr"/>
            <a:r>
              <a:rPr lang="en-US" sz="2000" dirty="0" smtClean="0"/>
              <a:t> </a:t>
            </a:r>
            <a:r>
              <a:rPr lang="en-US" sz="2000" dirty="0" err="1" smtClean="0"/>
              <a:t>yechimlari</a:t>
            </a:r>
            <a:r>
              <a:rPr lang="en-US" sz="2000" dirty="0" smtClean="0"/>
              <a:t> </a:t>
            </a:r>
            <a:endParaRPr lang="ru-RU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7111504" y="6150114"/>
            <a:ext cx="5204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Mijoz</a:t>
            </a:r>
            <a:r>
              <a:rPr lang="en-US" sz="2000" dirty="0" smtClean="0"/>
              <a:t> </a:t>
            </a:r>
            <a:r>
              <a:rPr lang="en-US" sz="2000" dirty="0" err="1" smtClean="0"/>
              <a:t>tononda</a:t>
            </a:r>
            <a:r>
              <a:rPr lang="en-US" sz="2000" dirty="0" smtClean="0"/>
              <a:t> </a:t>
            </a:r>
            <a:r>
              <a:rPr lang="en-US" sz="2000" dirty="0" err="1" smtClean="0"/>
              <a:t>Cryptopro</a:t>
            </a:r>
            <a:r>
              <a:rPr lang="en-US" sz="2000" dirty="0" smtClean="0"/>
              <a:t> CSP </a:t>
            </a:r>
            <a:r>
              <a:rPr lang="en-US" sz="2000" dirty="0" err="1" smtClean="0"/>
              <a:t>dasturini</a:t>
            </a:r>
            <a:r>
              <a:rPr lang="en-US" sz="2000" dirty="0" smtClean="0"/>
              <a:t> </a:t>
            </a:r>
            <a:r>
              <a:rPr lang="en-US" sz="2000" dirty="0" err="1" smtClean="0"/>
              <a:t>o’rnatish</a:t>
            </a:r>
            <a:endParaRPr lang="en-US" sz="2000" dirty="0" smtClean="0"/>
          </a:p>
          <a:p>
            <a:pPr algn="ctr"/>
            <a:r>
              <a:rPr lang="en-US" sz="2000" dirty="0" smtClean="0"/>
              <a:t> </a:t>
            </a:r>
            <a:r>
              <a:rPr lang="en-US" sz="2000" dirty="0" err="1" smtClean="0"/>
              <a:t>yechimlari</a:t>
            </a:r>
            <a:r>
              <a:rPr lang="en-US" sz="2000" dirty="0" smtClean="0"/>
              <a:t> </a:t>
            </a:r>
            <a:endParaRPr lang="ru-RU" sz="20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8324" y="1505759"/>
            <a:ext cx="115529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	</a:t>
            </a:r>
            <a:r>
              <a:rPr lang="en-US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CSP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dasturiy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ta’minoti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TLS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orqali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xizmatlar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bilan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ishlashda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foydalanuvchi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qulay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sharoitlarni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yaratish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maqsadida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bir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nechta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yechim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variantlarini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o‘z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ichiga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oladi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,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jumladan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, </a:t>
            </a:r>
            <a:r>
              <a:rPr lang="en-US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kopyuter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qurilmalari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tayyor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mijoz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yechimlari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shaxsiy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mobil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ilovalar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uchun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yechimlar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ishlab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chiqidi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2210" y="231533"/>
            <a:ext cx="121044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Mijoz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va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Server TLS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protokolini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(GOST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asosida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)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o‘rnatish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yechimi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8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072268"/>
              </p:ext>
            </p:extLst>
          </p:nvPr>
        </p:nvGraphicFramePr>
        <p:xfrm>
          <a:off x="580103" y="2566219"/>
          <a:ext cx="11189110" cy="4221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6542"/>
                <a:gridCol w="3455917"/>
                <a:gridCol w="3455917"/>
                <a:gridCol w="1850734"/>
              </a:tblGrid>
              <a:tr h="5139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Brauzer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Platforma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Sertifikatlash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Himoya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klassi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>
                    <a:solidFill>
                      <a:schemeClr val="accent5">
                        <a:lumMod val="50000"/>
                      </a:schemeClr>
                    </a:solidFill>
                  </a:tcPr>
                </a:tc>
              </a:tr>
              <a:tr h="95088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Internet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Explorer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Windows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>
                          <a:effectLst/>
                        </a:rPr>
                        <a:t>har qanday qo‘llab-quvvatlanadigan CSP versiyasi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1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2</a:t>
                      </a:r>
                      <a:r>
                        <a:rPr lang="ru-RU" sz="2000" dirty="0">
                          <a:effectLst/>
                        </a:rPr>
                        <a:t>*,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3</a:t>
                      </a:r>
                      <a:r>
                        <a:rPr lang="ru-RU" sz="2000" dirty="0">
                          <a:effectLst/>
                        </a:rPr>
                        <a:t>*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</a:tr>
              <a:tr h="5139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Sputnik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brauzeri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</a:rPr>
                        <a:t>Windows, Astra Linux, ALT Linux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mustaqil CIPF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1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2</a:t>
                      </a:r>
                      <a:r>
                        <a:rPr lang="ru-RU" sz="2000" dirty="0">
                          <a:effectLst/>
                        </a:rPr>
                        <a:t>*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</a:tr>
              <a:tr h="513923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Chromium-Gost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Astra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Linux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CSP 5.0 R2 dan boshlab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1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2</a:t>
                      </a:r>
                      <a:r>
                        <a:rPr lang="ru-RU" sz="2000" dirty="0">
                          <a:effectLst/>
                        </a:rPr>
                        <a:t>*,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3</a:t>
                      </a:r>
                      <a:r>
                        <a:rPr lang="ru-RU" sz="2000" dirty="0">
                          <a:effectLst/>
                        </a:rPr>
                        <a:t>*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</a:tr>
              <a:tr h="51392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err="1">
                          <a:effectLst/>
                        </a:rPr>
                        <a:t>Windows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err="1">
                          <a:effectLst/>
                        </a:rPr>
                        <a:t>Linux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err="1">
                          <a:effectLst/>
                        </a:rPr>
                        <a:t>MacOS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</a:rPr>
                        <a:t>-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-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</a:tr>
              <a:tr h="5139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Yandex brauzeri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>
                          <a:effectLst/>
                        </a:rPr>
                        <a:t>Windows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>
                          <a:effectLst/>
                        </a:rPr>
                        <a:t>CSP 5.0 R2 </a:t>
                      </a:r>
                      <a:r>
                        <a:rPr lang="ru-RU" sz="2000" dirty="0" err="1">
                          <a:effectLst/>
                        </a:rPr>
                        <a:t>dan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boshlab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1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2</a:t>
                      </a:r>
                      <a:r>
                        <a:rPr lang="ru-RU" sz="2000" dirty="0">
                          <a:effectLst/>
                        </a:rPr>
                        <a:t>*, </a:t>
                      </a:r>
                      <a:r>
                        <a:rPr lang="ru-RU" sz="2000" dirty="0" smtClean="0">
                          <a:effectLst/>
                        </a:rPr>
                        <a:t>K</a:t>
                      </a:r>
                      <a:r>
                        <a:rPr lang="en-US" sz="2000" dirty="0" smtClean="0">
                          <a:effectLst/>
                        </a:rPr>
                        <a:t>C</a:t>
                      </a:r>
                      <a:r>
                        <a:rPr lang="ru-RU" sz="2000" dirty="0" smtClean="0">
                          <a:effectLst/>
                        </a:rPr>
                        <a:t>3</a:t>
                      </a:r>
                      <a:r>
                        <a:rPr lang="ru-RU" sz="2000" dirty="0">
                          <a:effectLst/>
                        </a:rPr>
                        <a:t>*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 anchor="ctr"/>
                </a:tc>
              </a:tr>
              <a:tr h="513923">
                <a:tc gridSpan="4"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000" dirty="0">
                          <a:effectLst/>
                        </a:rPr>
                        <a:t> * – </a:t>
                      </a:r>
                      <a:r>
                        <a:rPr lang="en-US" sz="2000" dirty="0" err="1">
                          <a:effectLst/>
                        </a:rPr>
                        <a:t>qo‘shimcha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sozlamalar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texnik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himoya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vositalari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talab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qilinadi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0260" marR="40260" marT="40260" marB="4026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450695" y="-46873"/>
            <a:ext cx="1128743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CSP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ni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qo‘llab-quvvatlaydigan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brauzerlarning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xususiyatlarini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taqqoslash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3044" y="1106545"/>
            <a:ext cx="117381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 algn="just"/>
            <a:r>
              <a:rPr lang="en-US" sz="2000" dirty="0" err="1"/>
              <a:t>Mijoz</a:t>
            </a:r>
            <a:r>
              <a:rPr lang="en-US" sz="2000" dirty="0"/>
              <a:t> </a:t>
            </a:r>
            <a:r>
              <a:rPr lang="en-US" sz="2000" dirty="0" err="1"/>
              <a:t>mahalliy</a:t>
            </a:r>
            <a:r>
              <a:rPr lang="en-US" sz="2000" dirty="0"/>
              <a:t> </a:t>
            </a:r>
            <a:r>
              <a:rPr lang="en-US" sz="2000" dirty="0" err="1"/>
              <a:t>algoritmlar</a:t>
            </a:r>
            <a:r>
              <a:rPr lang="en-US" sz="2000" dirty="0"/>
              <a:t> (</a:t>
            </a:r>
            <a:r>
              <a:rPr lang="en-US" sz="2000" dirty="0" err="1"/>
              <a:t>masalan</a:t>
            </a:r>
            <a:r>
              <a:rPr lang="en-US" sz="2000" dirty="0"/>
              <a:t>, bank </a:t>
            </a:r>
            <a:r>
              <a:rPr lang="en-US" sz="2000" dirty="0" err="1"/>
              <a:t>veb-saytlari</a:t>
            </a:r>
            <a:r>
              <a:rPr lang="en-US" sz="2000" dirty="0"/>
              <a:t>) </a:t>
            </a:r>
            <a:r>
              <a:rPr lang="en-US" sz="2000" dirty="0" err="1"/>
              <a:t>yordamida</a:t>
            </a:r>
            <a:r>
              <a:rPr lang="en-US" sz="2000" dirty="0"/>
              <a:t> </a:t>
            </a:r>
            <a:r>
              <a:rPr lang="en-US" sz="2000" dirty="0" err="1"/>
              <a:t>ulanishni</a:t>
            </a:r>
            <a:r>
              <a:rPr lang="en-US" sz="2000" dirty="0"/>
              <a:t> </a:t>
            </a:r>
            <a:r>
              <a:rPr lang="en-US" sz="2000" dirty="0" err="1"/>
              <a:t>himoya</a:t>
            </a:r>
            <a:r>
              <a:rPr lang="en-US" sz="2000" dirty="0"/>
              <a:t> </a:t>
            </a:r>
            <a:r>
              <a:rPr lang="en-US" sz="2000" dirty="0" err="1"/>
              <a:t>qilishni</a:t>
            </a:r>
            <a:r>
              <a:rPr lang="en-US" sz="2000" dirty="0"/>
              <a:t> </a:t>
            </a:r>
            <a:r>
              <a:rPr lang="en-US" sz="2000" dirty="0" err="1"/>
              <a:t>talab</a:t>
            </a:r>
            <a:r>
              <a:rPr lang="en-US" sz="2000" dirty="0"/>
              <a:t> </a:t>
            </a:r>
            <a:r>
              <a:rPr lang="en-US" sz="2000" dirty="0" err="1"/>
              <a:t>qiladigan</a:t>
            </a:r>
            <a:r>
              <a:rPr lang="en-US" sz="2000" dirty="0"/>
              <a:t> </a:t>
            </a:r>
            <a:r>
              <a:rPr lang="en-US" sz="2000" dirty="0" err="1"/>
              <a:t>veb-sayt</a:t>
            </a:r>
            <a:r>
              <a:rPr lang="en-US" sz="2000" dirty="0"/>
              <a:t>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o‘zaro</a:t>
            </a:r>
            <a:r>
              <a:rPr lang="en-US" sz="2000" dirty="0"/>
              <a:t> </a:t>
            </a:r>
            <a:r>
              <a:rPr lang="en-US" sz="2000" dirty="0" err="1"/>
              <a:t>aloqa</a:t>
            </a:r>
            <a:r>
              <a:rPr lang="en-US" sz="2000" dirty="0"/>
              <a:t> </a:t>
            </a:r>
            <a:r>
              <a:rPr lang="en-US" sz="2000" dirty="0" err="1"/>
              <a:t>jarayonida</a:t>
            </a:r>
            <a:r>
              <a:rPr lang="en-US" sz="2000" dirty="0"/>
              <a:t> server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birga</a:t>
            </a:r>
            <a:r>
              <a:rPr lang="en-US" sz="2000" dirty="0"/>
              <a:t> TLS-</a:t>
            </a:r>
            <a:r>
              <a:rPr lang="en-US" sz="2000" dirty="0" err="1"/>
              <a:t>ni</a:t>
            </a:r>
            <a:r>
              <a:rPr lang="en-US" sz="2000" dirty="0"/>
              <a:t> GOST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ishlashini</a:t>
            </a:r>
            <a:r>
              <a:rPr lang="en-US" sz="2000" dirty="0"/>
              <a:t> </a:t>
            </a:r>
            <a:r>
              <a:rPr lang="en-US" sz="2000" dirty="0" err="1"/>
              <a:t>qo‘llab-quvvatlashi</a:t>
            </a:r>
            <a:r>
              <a:rPr lang="en-US" sz="2000" dirty="0"/>
              <a:t> </a:t>
            </a:r>
            <a:r>
              <a:rPr lang="en-US" sz="2000" dirty="0" err="1"/>
              <a:t>kerak</a:t>
            </a:r>
            <a:r>
              <a:rPr lang="en-US" sz="2000" dirty="0"/>
              <a:t>. </a:t>
            </a:r>
            <a:r>
              <a:rPr lang="en-US" sz="2000" dirty="0" err="1"/>
              <a:t>Eng</a:t>
            </a:r>
            <a:r>
              <a:rPr lang="en-US" sz="2000" dirty="0"/>
              <a:t> </a:t>
            </a:r>
            <a:r>
              <a:rPr lang="en-US" sz="2000" dirty="0" err="1"/>
              <a:t>qulay</a:t>
            </a:r>
            <a:r>
              <a:rPr lang="en-US" sz="2000" dirty="0"/>
              <a:t> </a:t>
            </a:r>
            <a:r>
              <a:rPr lang="en-US" sz="2000" dirty="0" err="1"/>
              <a:t>yechim</a:t>
            </a:r>
            <a:r>
              <a:rPr lang="en-US" sz="2000" dirty="0"/>
              <a:t> </a:t>
            </a:r>
            <a:r>
              <a:rPr lang="en-US" sz="2000" dirty="0" err="1"/>
              <a:t>qo‘llab-quvvatlanadigan</a:t>
            </a:r>
            <a:r>
              <a:rPr lang="en-US" sz="2000" dirty="0"/>
              <a:t> </a:t>
            </a:r>
            <a:r>
              <a:rPr lang="en-US" sz="2000" dirty="0" err="1"/>
              <a:t>brauzerlardan</a:t>
            </a:r>
            <a:r>
              <a:rPr lang="en-US" sz="2000" dirty="0"/>
              <a:t> </a:t>
            </a:r>
            <a:r>
              <a:rPr lang="en-US" sz="2000" dirty="0" err="1"/>
              <a:t>biri</a:t>
            </a:r>
            <a:r>
              <a:rPr lang="en-US" sz="2000" dirty="0"/>
              <a:t> </a:t>
            </a:r>
            <a:r>
              <a:rPr lang="en-US" sz="2000" dirty="0" err="1"/>
              <a:t>bilan</a:t>
            </a:r>
            <a:r>
              <a:rPr lang="en-US" sz="2000" dirty="0"/>
              <a:t> </a:t>
            </a:r>
            <a:r>
              <a:rPr lang="en-US" sz="2000" dirty="0" err="1"/>
              <a:t>birga</a:t>
            </a:r>
            <a:r>
              <a:rPr lang="en-US" sz="2000" dirty="0"/>
              <a:t> </a:t>
            </a:r>
            <a:r>
              <a:rPr lang="en-US" sz="2000" dirty="0" err="1"/>
              <a:t>mijoz</a:t>
            </a:r>
            <a:r>
              <a:rPr lang="en-US" sz="2000" dirty="0"/>
              <a:t> </a:t>
            </a:r>
            <a:r>
              <a:rPr lang="en-US" sz="2000" dirty="0" err="1"/>
              <a:t>tomonida</a:t>
            </a:r>
            <a:r>
              <a:rPr lang="en-US" sz="2000" dirty="0"/>
              <a:t> </a:t>
            </a:r>
            <a:r>
              <a:rPr lang="en-US" sz="2000" dirty="0" err="1"/>
              <a:t>CryptoPro</a:t>
            </a:r>
            <a:r>
              <a:rPr lang="en-US" sz="2000" dirty="0"/>
              <a:t> CSP </a:t>
            </a:r>
            <a:r>
              <a:rPr lang="en-US" sz="2000" dirty="0" err="1"/>
              <a:t>dasturiy</a:t>
            </a:r>
            <a:r>
              <a:rPr lang="en-US" sz="2000" dirty="0"/>
              <a:t> </a:t>
            </a:r>
            <a:r>
              <a:rPr lang="en-US" sz="2000" dirty="0" err="1"/>
              <a:t>ta’minotdan</a:t>
            </a:r>
            <a:r>
              <a:rPr lang="en-US" sz="2000" dirty="0"/>
              <a:t> </a:t>
            </a:r>
            <a:r>
              <a:rPr lang="en-US" sz="2000" dirty="0" err="1"/>
              <a:t>foydalanish</a:t>
            </a:r>
            <a:r>
              <a:rPr lang="en-US" sz="2000" dirty="0"/>
              <a:t>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9362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01281" y="1169503"/>
            <a:ext cx="11729881" cy="526297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/>
            <a:r>
              <a:rPr lang="en-US" sz="2800" dirty="0"/>
              <a:t>GOST </a:t>
            </a:r>
            <a:r>
              <a:rPr lang="en-US" sz="2800" dirty="0" err="1"/>
              <a:t>bo‘yicha</a:t>
            </a:r>
            <a:r>
              <a:rPr lang="en-US" sz="2800" dirty="0"/>
              <a:t> TLS </a:t>
            </a:r>
            <a:r>
              <a:rPr lang="en-US" sz="2800" dirty="0" err="1"/>
              <a:t>shifrlashni</a:t>
            </a:r>
            <a:r>
              <a:rPr lang="en-US" sz="2800" dirty="0"/>
              <a:t> </a:t>
            </a:r>
            <a:r>
              <a:rPr lang="en-US" sz="2800" dirty="0" err="1"/>
              <a:t>talab</a:t>
            </a:r>
            <a:r>
              <a:rPr lang="en-US" sz="2800" dirty="0"/>
              <a:t> </a:t>
            </a:r>
            <a:r>
              <a:rPr lang="en-US" sz="2800" dirty="0" err="1"/>
              <a:t>qiladigan</a:t>
            </a:r>
            <a:r>
              <a:rPr lang="en-US" sz="2800" dirty="0"/>
              <a:t> </a:t>
            </a:r>
            <a:r>
              <a:rPr lang="en-US" sz="2800" dirty="0" err="1"/>
              <a:t>saytlarga</a:t>
            </a:r>
            <a:r>
              <a:rPr lang="en-US" sz="2800" dirty="0"/>
              <a:t> </a:t>
            </a:r>
            <a:r>
              <a:rPr lang="en-US" sz="2800" dirty="0" err="1"/>
              <a:t>misollar</a:t>
            </a:r>
            <a:r>
              <a:rPr lang="en-US" sz="2800" dirty="0" smtClean="0"/>
              <a:t>: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rgbClr val="002060"/>
                </a:solidFill>
              </a:rPr>
              <a:t> </a:t>
            </a:r>
            <a:r>
              <a:rPr lang="en-US" sz="2800" b="1" dirty="0">
                <a:solidFill>
                  <a:srgbClr val="002060"/>
                </a:solidFill>
              </a:rPr>
              <a:t>www.gosuslugi.ru</a:t>
            </a:r>
            <a:r>
              <a:rPr lang="en-US" sz="2800" dirty="0"/>
              <a:t> – </a:t>
            </a:r>
            <a:r>
              <a:rPr lang="en-US" sz="2800" dirty="0" err="1"/>
              <a:t>Rossiya</a:t>
            </a:r>
            <a:r>
              <a:rPr lang="en-US" sz="2800" dirty="0"/>
              <a:t> </a:t>
            </a:r>
            <a:r>
              <a:rPr lang="en-US" sz="2800" dirty="0" err="1"/>
              <a:t>Federatsiyasining</a:t>
            </a:r>
            <a:r>
              <a:rPr lang="en-US" sz="2800" dirty="0"/>
              <a:t> </a:t>
            </a:r>
            <a:r>
              <a:rPr lang="en-US" sz="2800" dirty="0" err="1"/>
              <a:t>davlat</a:t>
            </a:r>
            <a:r>
              <a:rPr lang="en-US" sz="2800" dirty="0"/>
              <a:t>  </a:t>
            </a:r>
            <a:r>
              <a:rPr lang="en-US" sz="2800" dirty="0" err="1"/>
              <a:t>nazorati</a:t>
            </a:r>
            <a:r>
              <a:rPr lang="en-US" sz="2800" dirty="0"/>
              <a:t>, </a:t>
            </a:r>
            <a:r>
              <a:rPr lang="en-US" sz="2800" dirty="0" err="1"/>
              <a:t>nazorat</a:t>
            </a:r>
            <a:r>
              <a:rPr lang="en-US" sz="2800" dirty="0"/>
              <a:t> </a:t>
            </a:r>
            <a:r>
              <a:rPr lang="en-US" sz="2800" dirty="0" err="1"/>
              <a:t>funksiyalari</a:t>
            </a:r>
            <a:r>
              <a:rPr lang="en-US" sz="2800" dirty="0"/>
              <a:t>, </a:t>
            </a:r>
            <a:r>
              <a:rPr lang="en-US" sz="2800" dirty="0" err="1"/>
              <a:t>davlat</a:t>
            </a:r>
            <a:r>
              <a:rPr lang="en-US" sz="2800" dirty="0"/>
              <a:t> </a:t>
            </a:r>
            <a:r>
              <a:rPr lang="en-US" sz="2800" dirty="0" err="1"/>
              <a:t>tashkililiy</a:t>
            </a:r>
            <a:r>
              <a:rPr lang="en-US" sz="2800" dirty="0"/>
              <a:t> </a:t>
            </a:r>
            <a:r>
              <a:rPr lang="en-US" sz="2800" dirty="0" err="1"/>
              <a:t>xizlatlar</a:t>
            </a:r>
            <a:r>
              <a:rPr lang="en-US" sz="2800" dirty="0"/>
              <a:t> </a:t>
            </a:r>
            <a:r>
              <a:rPr lang="en-US" sz="2800" dirty="0" err="1"/>
              <a:t>to‘g‘risidagi</a:t>
            </a:r>
            <a:r>
              <a:rPr lang="en-US" sz="2800" dirty="0"/>
              <a:t> </a:t>
            </a:r>
            <a:r>
              <a:rPr lang="en-US" sz="2800" dirty="0" err="1"/>
              <a:t>ma’lumotlarga</a:t>
            </a:r>
            <a:r>
              <a:rPr lang="en-US" sz="2800" dirty="0"/>
              <a:t> </a:t>
            </a:r>
            <a:r>
              <a:rPr lang="en-US" sz="2800" dirty="0" err="1"/>
              <a:t>kirishni</a:t>
            </a:r>
            <a:r>
              <a:rPr lang="en-US" sz="2800" dirty="0"/>
              <a:t> </a:t>
            </a:r>
            <a:r>
              <a:rPr lang="en-US" sz="2800" dirty="0" err="1"/>
              <a:t>ta’minlaydi</a:t>
            </a:r>
            <a:r>
              <a:rPr lang="en-US" sz="2800" dirty="0"/>
              <a:t>.</a:t>
            </a:r>
            <a:endParaRPr lang="ru-RU" sz="28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</a:rPr>
              <a:t>www.cryptopro.ru</a:t>
            </a:r>
            <a:r>
              <a:rPr lang="en-US" sz="2800" b="1" dirty="0" smtClean="0"/>
              <a:t> </a:t>
            </a:r>
            <a:r>
              <a:rPr lang="en-US" sz="2800" b="1" dirty="0"/>
              <a:t>- </a:t>
            </a:r>
            <a:r>
              <a:rPr lang="en-US" sz="2800" dirty="0" err="1"/>
              <a:t>Rossiya</a:t>
            </a:r>
            <a:r>
              <a:rPr lang="en-US" sz="2800" dirty="0"/>
              <a:t> </a:t>
            </a:r>
            <a:r>
              <a:rPr lang="en-US" sz="2800" dirty="0" err="1"/>
              <a:t>Federatsiyasining</a:t>
            </a:r>
            <a:r>
              <a:rPr lang="en-US" sz="2800" dirty="0"/>
              <a:t> </a:t>
            </a:r>
            <a:r>
              <a:rPr lang="en-US" sz="2800" dirty="0" err="1"/>
              <a:t>kriptografiya</a:t>
            </a:r>
            <a:r>
              <a:rPr lang="en-US" sz="2800" dirty="0"/>
              <a:t> </a:t>
            </a:r>
            <a:r>
              <a:rPr lang="en-US" sz="2800" dirty="0" err="1"/>
              <a:t>sohasini</a:t>
            </a:r>
            <a:r>
              <a:rPr lang="en-US" sz="2800" dirty="0"/>
              <a:t> </a:t>
            </a:r>
            <a:r>
              <a:rPr lang="en-US" sz="2800" dirty="0" err="1"/>
              <a:t>tartibga</a:t>
            </a:r>
            <a:r>
              <a:rPr lang="en-US" sz="2800" dirty="0"/>
              <a:t> </a:t>
            </a:r>
            <a:r>
              <a:rPr lang="en-US" sz="2800" dirty="0" err="1"/>
              <a:t>soluvchi</a:t>
            </a:r>
            <a:r>
              <a:rPr lang="en-US" sz="2800" dirty="0"/>
              <a:t> “OOO </a:t>
            </a:r>
            <a:r>
              <a:rPr lang="en-US" sz="2800" dirty="0" err="1"/>
              <a:t>Kriptopro</a:t>
            </a:r>
            <a:r>
              <a:rPr lang="en-US" sz="2800" dirty="0"/>
              <a:t>” </a:t>
            </a:r>
            <a:r>
              <a:rPr lang="en-US" sz="2800" dirty="0" err="1"/>
              <a:t>kriptoprovayder</a:t>
            </a:r>
            <a:r>
              <a:rPr lang="en-US" sz="2800" dirty="0"/>
              <a:t> </a:t>
            </a:r>
            <a:r>
              <a:rPr lang="en-US" sz="2800" dirty="0" err="1"/>
              <a:t>kompaniyasinng</a:t>
            </a:r>
            <a:r>
              <a:rPr lang="en-US" sz="2800" dirty="0"/>
              <a:t> </a:t>
            </a:r>
            <a:r>
              <a:rPr lang="en-US" sz="2800" dirty="0" err="1"/>
              <a:t>rasmiy</a:t>
            </a:r>
            <a:r>
              <a:rPr lang="en-US" sz="2800" dirty="0"/>
              <a:t> </a:t>
            </a:r>
            <a:r>
              <a:rPr lang="en-US" sz="2800" dirty="0" err="1"/>
              <a:t>veb-sayti</a:t>
            </a:r>
            <a:r>
              <a:rPr lang="en-US" sz="2800" dirty="0"/>
              <a:t>.</a:t>
            </a:r>
            <a:r>
              <a:rPr lang="en-US" sz="2800" b="1" dirty="0"/>
              <a:t> </a:t>
            </a:r>
            <a:endParaRPr lang="ru-RU" sz="28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</a:rPr>
              <a:t>www.rosreestr.ru</a:t>
            </a:r>
            <a:r>
              <a:rPr lang="en-US" sz="2800" b="1" dirty="0"/>
              <a:t> – </a:t>
            </a:r>
            <a:r>
              <a:rPr lang="en-US" sz="2800" dirty="0" err="1"/>
              <a:t>Davlat</a:t>
            </a:r>
            <a:r>
              <a:rPr lang="en-US" sz="2800" dirty="0"/>
              <a:t> </a:t>
            </a:r>
            <a:r>
              <a:rPr lang="en-US" sz="2800" dirty="0" err="1"/>
              <a:t>ro‘yxatidan</a:t>
            </a:r>
            <a:r>
              <a:rPr lang="en-US" sz="2800" dirty="0"/>
              <a:t> </a:t>
            </a:r>
            <a:r>
              <a:rPr lang="en-US" sz="2800" dirty="0" err="1"/>
              <a:t>o‘tkazish</a:t>
            </a:r>
            <a:r>
              <a:rPr lang="en-US" sz="2800" dirty="0"/>
              <a:t>, </a:t>
            </a:r>
            <a:r>
              <a:rPr lang="en-US" sz="2800" dirty="0" err="1"/>
              <a:t>kadastr</a:t>
            </a:r>
            <a:r>
              <a:rPr lang="en-US" sz="2800" dirty="0"/>
              <a:t> </a:t>
            </a:r>
            <a:r>
              <a:rPr lang="en-US" sz="2800" dirty="0" err="1"/>
              <a:t>va</a:t>
            </a:r>
            <a:r>
              <a:rPr lang="en-US" sz="2800" dirty="0"/>
              <a:t> </a:t>
            </a:r>
            <a:r>
              <a:rPr lang="en-US" sz="2800" dirty="0" err="1"/>
              <a:t>kartografiya</a:t>
            </a:r>
            <a:r>
              <a:rPr lang="en-US" sz="2800" dirty="0"/>
              <a:t> federal </a:t>
            </a:r>
            <a:r>
              <a:rPr lang="en-US" sz="2800" dirty="0" err="1"/>
              <a:t>xizmati</a:t>
            </a:r>
            <a:r>
              <a:rPr lang="en-US" sz="2800" dirty="0"/>
              <a:t> </a:t>
            </a:r>
            <a:r>
              <a:rPr lang="en-US" sz="2800" dirty="0" err="1"/>
              <a:t>veb-sayti</a:t>
            </a:r>
            <a:r>
              <a:rPr lang="en-US" sz="2800" dirty="0"/>
              <a:t>.</a:t>
            </a:r>
            <a:endParaRPr lang="ru-RU" sz="28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</a:rPr>
              <a:t>.gov.ru </a:t>
            </a:r>
            <a:r>
              <a:rPr lang="en-US" sz="2800" b="1" dirty="0"/>
              <a:t>– </a:t>
            </a:r>
            <a:r>
              <a:rPr lang="en-US" sz="2800" dirty="0" err="1"/>
              <a:t>Rossiya</a:t>
            </a:r>
            <a:r>
              <a:rPr lang="en-US" sz="2800" dirty="0"/>
              <a:t> </a:t>
            </a:r>
            <a:r>
              <a:rPr lang="en-US" sz="2800" dirty="0" err="1"/>
              <a:t>Federatsiyasining</a:t>
            </a:r>
            <a:r>
              <a:rPr lang="en-US" sz="2800" dirty="0"/>
              <a:t> </a:t>
            </a:r>
            <a:r>
              <a:rPr lang="en-US" sz="2800" dirty="0" err="1"/>
              <a:t>davlat</a:t>
            </a:r>
            <a:r>
              <a:rPr lang="en-US" sz="2800" dirty="0"/>
              <a:t> </a:t>
            </a:r>
            <a:r>
              <a:rPr lang="en-US" sz="2800" dirty="0" err="1"/>
              <a:t>xizmatlar</a:t>
            </a:r>
            <a:r>
              <a:rPr lang="en-US" sz="2800" dirty="0"/>
              <a:t> portal </a:t>
            </a:r>
            <a:r>
              <a:rPr lang="en-US" sz="2800" dirty="0" err="1"/>
              <a:t>rasmiy</a:t>
            </a:r>
            <a:r>
              <a:rPr lang="en-US" sz="2800" dirty="0"/>
              <a:t> </a:t>
            </a:r>
            <a:r>
              <a:rPr lang="en-US" sz="2800" dirty="0" err="1"/>
              <a:t>domeni</a:t>
            </a:r>
            <a:r>
              <a:rPr lang="en-US" sz="2800" dirty="0"/>
              <a:t>.</a:t>
            </a:r>
            <a:endParaRPr lang="ru-RU" sz="28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</a:rPr>
              <a:t>.kamgov.ru </a:t>
            </a:r>
            <a:r>
              <a:rPr lang="en-US" sz="2800" b="1" dirty="0"/>
              <a:t>– </a:t>
            </a:r>
            <a:r>
              <a:rPr lang="en-US" sz="2800" dirty="0" err="1"/>
              <a:t>Rossiya</a:t>
            </a:r>
            <a:r>
              <a:rPr lang="en-US" sz="2800" dirty="0"/>
              <a:t> </a:t>
            </a:r>
            <a:r>
              <a:rPr lang="en-US" sz="2800" dirty="0" err="1"/>
              <a:t>davlat</a:t>
            </a:r>
            <a:r>
              <a:rPr lang="en-US" sz="2800" dirty="0"/>
              <a:t> </a:t>
            </a:r>
            <a:r>
              <a:rPr lang="en-US" sz="2800" dirty="0" err="1"/>
              <a:t>telekommunikatsiya</a:t>
            </a:r>
            <a:r>
              <a:rPr lang="en-US" sz="2800" dirty="0"/>
              <a:t> </a:t>
            </a:r>
            <a:r>
              <a:rPr lang="en-US" sz="2800" dirty="0" err="1"/>
              <a:t>sohasini</a:t>
            </a:r>
            <a:r>
              <a:rPr lang="en-US" sz="2800" dirty="0"/>
              <a:t> </a:t>
            </a:r>
            <a:r>
              <a:rPr lang="en-US" sz="2800" dirty="0" err="1"/>
              <a:t>tartibga</a:t>
            </a:r>
            <a:r>
              <a:rPr lang="en-US" sz="2800" dirty="0"/>
              <a:t> </a:t>
            </a:r>
            <a:r>
              <a:rPr lang="en-US" sz="2800" dirty="0" err="1"/>
              <a:t>soluvchi</a:t>
            </a:r>
            <a:r>
              <a:rPr lang="en-US" sz="2800" dirty="0"/>
              <a:t> “</a:t>
            </a:r>
            <a:r>
              <a:rPr lang="en-US" sz="2800" dirty="0" err="1"/>
              <a:t>Rostelecom</a:t>
            </a:r>
            <a:r>
              <a:rPr lang="en-US" sz="2800" dirty="0"/>
              <a:t>” </a:t>
            </a:r>
            <a:r>
              <a:rPr lang="en-US" sz="2800" dirty="0" err="1"/>
              <a:t>kompaniyasining</a:t>
            </a:r>
            <a:r>
              <a:rPr lang="en-US" sz="2800" dirty="0"/>
              <a:t> </a:t>
            </a:r>
            <a:r>
              <a:rPr lang="en-US" sz="2800" dirty="0" err="1"/>
              <a:t>rasmiy</a:t>
            </a:r>
            <a:r>
              <a:rPr lang="en-US" sz="2800" dirty="0"/>
              <a:t> </a:t>
            </a:r>
            <a:r>
              <a:rPr lang="en-US" sz="2800" dirty="0" err="1"/>
              <a:t>domeni</a:t>
            </a:r>
            <a:r>
              <a:rPr lang="en-US" sz="2800" dirty="0"/>
              <a:t> </a:t>
            </a:r>
            <a:r>
              <a:rPr lang="en-US" sz="2800" dirty="0" err="1"/>
              <a:t>hisoblanadi</a:t>
            </a:r>
            <a:r>
              <a:rPr lang="en-US" sz="2800" dirty="0"/>
              <a:t>.</a:t>
            </a:r>
            <a:endParaRPr lang="ru-RU" sz="2800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rgbClr val="002060"/>
                </a:solidFill>
              </a:rPr>
              <a:t>.nalog.ru </a:t>
            </a:r>
            <a:r>
              <a:rPr lang="en-US" sz="2800" b="1" dirty="0"/>
              <a:t>-   </a:t>
            </a:r>
            <a:r>
              <a:rPr lang="en-US" sz="2800" dirty="0" err="1"/>
              <a:t>Rossiya</a:t>
            </a:r>
            <a:r>
              <a:rPr lang="en-US" sz="2800" dirty="0"/>
              <a:t> </a:t>
            </a:r>
            <a:r>
              <a:rPr lang="en-US" sz="2800" dirty="0" err="1"/>
              <a:t>davlat</a:t>
            </a:r>
            <a:r>
              <a:rPr lang="en-US" sz="2800" dirty="0"/>
              <a:t> </a:t>
            </a:r>
            <a:r>
              <a:rPr lang="en-US" sz="2800" dirty="0" err="1"/>
              <a:t>soliq</a:t>
            </a:r>
            <a:r>
              <a:rPr lang="en-US" sz="2800" dirty="0"/>
              <a:t> </a:t>
            </a:r>
            <a:r>
              <a:rPr lang="en-US" sz="2800" dirty="0" err="1"/>
              <a:t>xizmatlari</a:t>
            </a:r>
            <a:r>
              <a:rPr lang="en-US" sz="2800" dirty="0"/>
              <a:t> portal </a:t>
            </a:r>
            <a:r>
              <a:rPr lang="en-US" sz="2800" dirty="0" err="1"/>
              <a:t>domeni</a:t>
            </a:r>
            <a:r>
              <a:rPr lang="en-US" sz="2800" dirty="0" smtClean="0"/>
              <a:t>.</a:t>
            </a:r>
            <a:endParaRPr lang="ru-RU" sz="28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755532" y="277810"/>
            <a:ext cx="86777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GOST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bo‘yicha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TLS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shifrlashni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talab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qiladigan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saytlar</a:t>
            </a:r>
            <a:endParaRPr lang="ru-RU" sz="32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66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/>
          <p:nvPr/>
        </p:nvPicPr>
        <p:blipFill>
          <a:blip r:embed="rId3"/>
          <a:stretch>
            <a:fillRect/>
          </a:stretch>
        </p:blipFill>
        <p:spPr>
          <a:xfrm>
            <a:off x="140345" y="1219201"/>
            <a:ext cx="8217074" cy="5122606"/>
          </a:xfrm>
          <a:prstGeom prst="rect">
            <a:avLst/>
          </a:prstGeom>
        </p:spPr>
      </p:pic>
      <p:pic>
        <p:nvPicPr>
          <p:cNvPr id="4" name="Рисунок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917" y="1504336"/>
            <a:ext cx="3733083" cy="483747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681969" y="185118"/>
            <a:ext cx="108248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Kriptoprovayder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kompaniyaning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Cryptopro.ru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rasmiy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sayti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4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0" y="1030345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/>
          <p:cNvPicPr/>
          <p:nvPr/>
        </p:nvPicPr>
        <p:blipFill rotWithShape="1">
          <a:blip r:embed="rId3"/>
          <a:srcRect b="5657"/>
          <a:stretch/>
        </p:blipFill>
        <p:spPr>
          <a:xfrm>
            <a:off x="717754" y="1209368"/>
            <a:ext cx="10894143" cy="5648632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4060723" y="3224981"/>
            <a:ext cx="3982064" cy="1966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471858" y="188460"/>
            <a:ext cx="73859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Yendex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browserning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sozlamalar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oynasi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.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89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/>
          <p:cNvCxnSpPr/>
          <p:nvPr/>
        </p:nvCxnSpPr>
        <p:spPr>
          <a:xfrm flipV="1">
            <a:off x="0" y="75457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3265304" y="38638"/>
            <a:ext cx="56582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Saytning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ip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addresini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aniqlash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1" y="850029"/>
            <a:ext cx="11393715" cy="5860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1155700" y="1955800"/>
            <a:ext cx="3810000" cy="2489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638800" y="2777824"/>
            <a:ext cx="3284720" cy="35086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48341" y="2133599"/>
            <a:ext cx="12020550" cy="41529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 smtClean="0"/>
              <a:t>4.2) </a:t>
            </a:r>
            <a:r>
              <a:rPr lang="uz-Latn-UZ" sz="3600" dirty="0" smtClean="0"/>
              <a:t>P </a:t>
            </a:r>
            <a:r>
              <a:rPr lang="uz-Latn-UZ" sz="3600" dirty="0"/>
              <a:t>1323565.1.020-2018 </a:t>
            </a:r>
            <a:r>
              <a:rPr lang="en-US" sz="3600" dirty="0" smtClean="0"/>
              <a:t>(TLS 1.2) </a:t>
            </a:r>
            <a:r>
              <a:rPr lang="uz-Latn-UZ" sz="3600" dirty="0" smtClean="0"/>
              <a:t>standart </a:t>
            </a:r>
            <a:r>
              <a:rPr lang="uz-Latn-UZ" sz="3600" dirty="0"/>
              <a:t>protokoli </a:t>
            </a:r>
            <a:r>
              <a:rPr lang="en-US" sz="3600" dirty="0" err="1"/>
              <a:t>paketlar</a:t>
            </a:r>
            <a:r>
              <a:rPr lang="en-US" sz="3600" dirty="0"/>
              <a:t> </a:t>
            </a:r>
            <a:r>
              <a:rPr lang="en-US" sz="3600" dirty="0" err="1"/>
              <a:t>oqimining</a:t>
            </a:r>
            <a:r>
              <a:rPr lang="en-US" sz="3600" dirty="0"/>
              <a:t> real </a:t>
            </a:r>
            <a:r>
              <a:rPr lang="en-US" sz="3600" dirty="0" err="1"/>
              <a:t>holati</a:t>
            </a:r>
            <a:r>
              <a:rPr lang="en-US" sz="3600" dirty="0"/>
              <a:t> </a:t>
            </a:r>
            <a:r>
              <a:rPr lang="en-US" sz="3600" dirty="0" err="1" smtClean="0"/>
              <a:t>tahlili</a:t>
            </a:r>
            <a:r>
              <a:rPr lang="en-US" sz="3600" dirty="0" smtClean="0"/>
              <a:t> </a:t>
            </a:r>
            <a:r>
              <a:rPr lang="en-US" sz="3600" dirty="0" err="1" smtClean="0"/>
              <a:t>ko‘rib</a:t>
            </a:r>
            <a:r>
              <a:rPr lang="en-US" sz="3600" dirty="0" smtClean="0"/>
              <a:t> </a:t>
            </a:r>
            <a:r>
              <a:rPr lang="en-US" sz="3600" dirty="0" err="1" smtClean="0"/>
              <a:t>chiqiladi</a:t>
            </a:r>
            <a:r>
              <a:rPr lang="en-US" sz="3600" dirty="0" smtClean="0"/>
              <a:t>;</a:t>
            </a:r>
          </a:p>
          <a:p>
            <a:pPr marL="514350" indent="-514350">
              <a:buAutoNum type="arabicParenR"/>
            </a:pPr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 smtClean="0"/>
              <a:t>4.3) </a:t>
            </a:r>
            <a:r>
              <a:rPr lang="uz-Latn-UZ" sz="3600" dirty="0" smtClean="0"/>
              <a:t>P 1323565.1.030-2020</a:t>
            </a:r>
            <a:r>
              <a:rPr lang="en-US" sz="3600" dirty="0" smtClean="0"/>
              <a:t> (TLS 1.3)</a:t>
            </a:r>
            <a:r>
              <a:rPr lang="uz-Latn-UZ" sz="3600" dirty="0" smtClean="0"/>
              <a:t> </a:t>
            </a:r>
            <a:r>
              <a:rPr lang="uz-Latn-UZ" sz="3600" dirty="0"/>
              <a:t>standart protokoli </a:t>
            </a:r>
            <a:r>
              <a:rPr lang="en-US" sz="3600" dirty="0" err="1"/>
              <a:t>paketlar</a:t>
            </a:r>
            <a:r>
              <a:rPr lang="en-US" sz="3600" dirty="0"/>
              <a:t> </a:t>
            </a:r>
            <a:r>
              <a:rPr lang="en-US" sz="3600" dirty="0" err="1"/>
              <a:t>oqimining</a:t>
            </a:r>
            <a:r>
              <a:rPr lang="en-US" sz="3600" dirty="0"/>
              <a:t> real </a:t>
            </a:r>
            <a:r>
              <a:rPr lang="en-US" sz="3600" dirty="0" err="1"/>
              <a:t>holati</a:t>
            </a:r>
            <a:r>
              <a:rPr lang="en-US" sz="3600" dirty="0"/>
              <a:t> </a:t>
            </a:r>
            <a:r>
              <a:rPr lang="en-US" sz="3600" dirty="0" err="1" smtClean="0"/>
              <a:t>tahlili</a:t>
            </a:r>
            <a:r>
              <a:rPr lang="en-US" sz="3600" dirty="0" smtClean="0"/>
              <a:t> </a:t>
            </a:r>
            <a:r>
              <a:rPr lang="en-US" sz="3600" dirty="0" err="1" smtClean="0"/>
              <a:t>ilovada</a:t>
            </a:r>
            <a:r>
              <a:rPr lang="en-US" sz="3600" dirty="0" smtClean="0"/>
              <a:t> </a:t>
            </a:r>
            <a:r>
              <a:rPr lang="en-US" sz="3600" dirty="0" err="1" smtClean="0"/>
              <a:t>keltirilgan</a:t>
            </a:r>
            <a:r>
              <a:rPr lang="en-US" sz="3600" dirty="0" smtClean="0"/>
              <a:t>;</a:t>
            </a:r>
            <a:endParaRPr lang="ru-RU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4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единительная линия 7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2395256" y="82945"/>
            <a:ext cx="75293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Mijozning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Client Hello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10" name="Рисунок 9"/>
          <p:cNvPicPr/>
          <p:nvPr/>
        </p:nvPicPr>
        <p:blipFill rotWithShape="1">
          <a:blip r:embed="rId3"/>
          <a:srcRect t="11461" b="7493"/>
          <a:stretch/>
        </p:blipFill>
        <p:spPr bwMode="auto">
          <a:xfrm>
            <a:off x="406400" y="1066800"/>
            <a:ext cx="11289791" cy="56769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749300" y="1363817"/>
            <a:ext cx="8470900" cy="287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749299" y="4334386"/>
            <a:ext cx="7734299" cy="15711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931810" y="2702540"/>
            <a:ext cx="7551789" cy="265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90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5" b="8160"/>
          <a:stretch/>
        </p:blipFill>
        <p:spPr bwMode="auto">
          <a:xfrm>
            <a:off x="376517" y="1005131"/>
            <a:ext cx="11483788" cy="5727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861646" y="4167840"/>
            <a:ext cx="5945554" cy="13589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2395256" y="82945"/>
            <a:ext cx="75293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Mijozning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Client Hello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76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2395256" y="82945"/>
            <a:ext cx="77694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Serverning</a:t>
            </a:r>
            <a:r>
              <a:rPr 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ServerHello</a:t>
            </a:r>
            <a:r>
              <a:rPr lang="en-US" sz="3600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36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/>
          <p:nvPr/>
        </p:nvPicPr>
        <p:blipFill rotWithShape="1">
          <a:blip r:embed="rId3"/>
          <a:srcRect b="9612"/>
          <a:stretch/>
        </p:blipFill>
        <p:spPr bwMode="auto">
          <a:xfrm>
            <a:off x="282389" y="995081"/>
            <a:ext cx="11793070" cy="5768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0276" y="2187677"/>
            <a:ext cx="10276311" cy="3000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750276" y="4474766"/>
            <a:ext cx="7815500" cy="2720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50276" y="3255566"/>
            <a:ext cx="7815500" cy="2720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16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2395256" y="82945"/>
            <a:ext cx="7431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Serverning</a:t>
            </a:r>
            <a:r>
              <a:rPr lang="en-US" sz="3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i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Sertificate</a:t>
            </a:r>
            <a:r>
              <a:rPr lang="en-US" sz="3600" b="1" i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3600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/>
          <p:nvPr/>
        </p:nvPicPr>
        <p:blipFill rotWithShape="1">
          <a:blip r:embed="rId3"/>
          <a:srcRect t="12270" b="7361"/>
          <a:stretch/>
        </p:blipFill>
        <p:spPr bwMode="auto">
          <a:xfrm>
            <a:off x="215151" y="1037388"/>
            <a:ext cx="11819531" cy="56208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Рисунок 2"/>
          <p:cNvPicPr/>
          <p:nvPr/>
        </p:nvPicPr>
        <p:blipFill>
          <a:blip r:embed="rId4"/>
          <a:stretch>
            <a:fillRect/>
          </a:stretch>
        </p:blipFill>
        <p:spPr>
          <a:xfrm>
            <a:off x="-1" y="-6172200"/>
            <a:ext cx="12034683" cy="5879193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601" y="4762500"/>
            <a:ext cx="9252699" cy="209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952500" y="6191250"/>
            <a:ext cx="6591300" cy="486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768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9 0.13889 L -0.00469 0.947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949990" y="113674"/>
            <a:ext cx="10295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Mijozning</a:t>
            </a:r>
            <a:r>
              <a:rPr lang="en-US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Client Key Exchange, Change Cipher Space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8" name="Рисунок 7"/>
          <p:cNvPicPr/>
          <p:nvPr/>
        </p:nvPicPr>
        <p:blipFill rotWithShape="1">
          <a:blip r:embed="rId3"/>
          <a:srcRect b="7311"/>
          <a:stretch/>
        </p:blipFill>
        <p:spPr>
          <a:xfrm>
            <a:off x="301869" y="1190170"/>
            <a:ext cx="11643388" cy="5667829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83576" y="3426486"/>
            <a:ext cx="6468767" cy="1029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725714" y="6270171"/>
            <a:ext cx="6516914" cy="3048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78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 flipV="1">
            <a:off x="3175" y="784429"/>
            <a:ext cx="12188825" cy="762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2933740" y="138098"/>
            <a:ext cx="63276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i="1" dirty="0" err="1">
                <a:latin typeface="+mj-lt"/>
                <a:ea typeface="+mj-ea"/>
                <a:cs typeface="Arial" panose="020B0604020202020204" pitchFamily="34" charset="0"/>
              </a:rPr>
              <a:t>Aplication</a:t>
            </a:r>
            <a:r>
              <a:rPr lang="en-US" sz="3600" i="1" dirty="0">
                <a:latin typeface="+mj-lt"/>
                <a:ea typeface="+mj-ea"/>
                <a:cs typeface="Arial" panose="020B0604020202020204" pitchFamily="34" charset="0"/>
              </a:rPr>
              <a:t> Data </a:t>
            </a:r>
            <a:r>
              <a:rPr lang="en-US" sz="3600" dirty="0" err="1">
                <a:latin typeface="+mj-lt"/>
                <a:ea typeface="+mj-ea"/>
                <a:cs typeface="Arial" panose="020B0604020202020204" pitchFamily="34" charset="0"/>
              </a:rPr>
              <a:t>xabari</a:t>
            </a:r>
            <a:r>
              <a:rPr lang="en-US" sz="3600" dirty="0">
                <a:latin typeface="+mj-lt"/>
                <a:ea typeface="+mj-ea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+mj-lt"/>
                <a:ea typeface="+mj-ea"/>
                <a:cs typeface="Arial" panose="020B0604020202020204" pitchFamily="34" charset="0"/>
              </a:rPr>
              <a:t>strukturasi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 rotWithShape="1">
          <a:blip r:embed="rId3"/>
          <a:srcRect b="7809"/>
          <a:stretch/>
        </p:blipFill>
        <p:spPr>
          <a:xfrm>
            <a:off x="472441" y="986971"/>
            <a:ext cx="11240588" cy="57476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35296" y="5128624"/>
            <a:ext cx="8323217" cy="4884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1103811" y="1922056"/>
            <a:ext cx="6501676" cy="2986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874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289785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5878" y="1377617"/>
            <a:ext cx="11935326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228600" algn="just">
              <a:spcAft>
                <a:spcPts val="800"/>
              </a:spcAft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davlat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asosidagi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TLS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protokolida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foydalanilgan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algoritmlar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o‘rniga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algoritmlardan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foydalanib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kripto-to‘plam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40488" y="4427471"/>
            <a:ext cx="11285622" cy="671851"/>
          </a:xfrm>
          <a:prstGeom prst="rect">
            <a:avLst/>
          </a:prstGeom>
          <a:solidFill>
            <a:srgbClr val="00FFFF"/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TLS_</a:t>
            </a:r>
            <a:r>
              <a:rPr lang="en-US" sz="2800" b="1" dirty="0">
                <a:solidFill>
                  <a:schemeClr val="accent4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ECDHE</a:t>
            </a:r>
            <a:r>
              <a:rPr lang="en-US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800" b="1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O‘zDST1106:2009_256_</a:t>
            </a:r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8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O‘zDST1105:2009_</a:t>
            </a:r>
            <a:r>
              <a:rPr lang="en-US" sz="28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AEAD</a:t>
            </a:r>
            <a:endParaRPr lang="ru-RU" sz="28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4000" y="2819400"/>
            <a:ext cx="11620500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smtClean="0"/>
              <a:t>	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Maxfiy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parametrlarni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almashish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bo‘yicha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Elliptik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Egrichiziqli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Diffi-Helman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(ECDHE)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protokolidan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Bu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borada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Xalqaro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TLS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protoklida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ushbu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i="1" dirty="0">
                <a:latin typeface="Cambria" panose="02040503050406030204" pitchFamily="18" charset="0"/>
                <a:ea typeface="Cambria" panose="02040503050406030204" pitchFamily="18" charset="0"/>
              </a:rPr>
              <a:t>ECDHE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foydalanilgan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Bu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protokolda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bir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martalik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2400" i="1" dirty="0" err="1">
                <a:latin typeface="Cambria" panose="02040503050406030204" pitchFamily="18" charset="0"/>
                <a:ea typeface="Cambria" panose="02040503050406030204" pitchFamily="18" charset="0"/>
              </a:rPr>
              <a:t>efemer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kalitdan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foydalanib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uning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parametrlari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mijoz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server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tomonidan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kelishib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olinadi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Amerika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tomoni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ushbu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protokolga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alternativ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boshqa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yoki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protokol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chiqilmagan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uning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qadamlar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ketma-ketligini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o‘zgartirmagan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holda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parametrlari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kelishiladi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291" y="2832099"/>
            <a:ext cx="11620500" cy="392400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GOST R 34.10-2012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raqamli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imzolarni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tekshirish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aloritmi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bo‘libo‘rniga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o‘rniga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quydagilar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tavsiya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lvl="0" algn="just"/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1-holat: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sifatida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O‘zDSt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1092:2009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raqamli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imzo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algoritmini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qo‘llash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Imzo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uzunligi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256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bitdan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iborat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2-holat: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Qadamlar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ketma-ketligi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GOST R 34.10-2012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ustm-ust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tushuvchi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parametrlar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algebrasiga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asoslangan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O‘zDSt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2826:2014 ERI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tavsiya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Uning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murakkabligi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/>
              <p:cNvSpPr/>
              <p:nvPr/>
            </p:nvSpPr>
            <p:spPr>
              <a:xfrm>
                <a:off x="254000" y="2819400"/>
                <a:ext cx="11620500" cy="3785652"/>
              </a:xfrm>
              <a:prstGeom prst="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marL="342900" lvl="0" indent="-342900" algn="just">
                  <a:buFont typeface="Wingdings" panose="05000000000000000000" pitchFamily="2" charset="2"/>
                  <a:buChar char="ü"/>
                </a:pP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GOST R 34.12-2015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standartda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blokli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shifrlash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sifatida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Magma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Kuznechik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algoritmidan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foydalaniladi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Kuznechik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uchun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blokining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16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bayt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(128 bit)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Magma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uchun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blokining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8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bayt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(64 bit)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tashkil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qiladi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Kalit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ikkala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holatda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ham 32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bayt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(256 bit)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tashkil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etadi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endParaRPr lang="ru-RU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1-holat: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Milliy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algoritm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sifatida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O‘zDSt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1105:2009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blok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 = 256 bit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hamda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foydalanadigan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kalit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256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yoki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512 bit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bo‘lgan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algoritmini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qo‘llash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;</a:t>
                </a:r>
                <a:endParaRPr lang="ru-RU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/>
                <a:r>
                  <a:rPr lang="en-US" sz="2400" b="1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2-holat: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Xalqaro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standart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sifatida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qabul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qilingan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GOST R 34.12 -2018 (Magma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Kuznechik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blokli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shifrlash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algoritmidan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rejim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sifatida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Xalqaro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standart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sifatida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qabul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qilingan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GOST R 34.13-2018 da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keltirilgan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(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gammalash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)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rejimidan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foydalanish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Odatda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gamma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uzunligi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s, 0 &lt; s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tx1"/>
                        </a:solidFill>
                        <a:latin typeface="Cambria Math"/>
                        <a:ea typeface="Cambria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n, 64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bitdan</a:t>
                </a:r>
                <a:r>
                  <a:rPr lang="en-US" sz="24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iborat</a:t>
                </a:r>
                <a:endParaRPr lang="ru-RU" sz="24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Прямоугольник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2819400"/>
                <a:ext cx="11620500" cy="378565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Прямоугольник 13"/>
          <p:cNvSpPr/>
          <p:nvPr/>
        </p:nvSpPr>
        <p:spPr>
          <a:xfrm>
            <a:off x="264994" y="2819400"/>
            <a:ext cx="11611209" cy="39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GOST R 34.11-2012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chiqish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qiymati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n = 256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bitni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tashkil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etuvchi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kalitli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Xesh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algoritmni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tavsiflaydi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Ushbu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o‘rniga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quydagilar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tavsiya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1-holat:</a:t>
            </a: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O‘zDST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1106:2009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(I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Bunda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chiqish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qiymati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n = 128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yoki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256 bit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bo‘lgan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kalit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uzunligi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k = 256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bitni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tasghkil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etadi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2-holat</a:t>
            </a:r>
            <a:r>
              <a:rPr lang="en-US" sz="2400" b="1" i="1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400" b="1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O‘zDST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1106:2009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(II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Bunda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chiqish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qiymati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n = 256 bit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bo‘lgan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kalit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uzunligi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k = 256 </a:t>
            </a:r>
            <a:r>
              <a:rPr lang="en-US" sz="2400" dirty="0" smtClean="0">
                <a:latin typeface="Cambria" panose="02040503050406030204" pitchFamily="18" charset="0"/>
                <a:ea typeface="Cambria" panose="02040503050406030204" pitchFamily="18" charset="0"/>
              </a:rPr>
              <a:t>bit.</a:t>
            </a:r>
            <a:endParaRPr lang="ru-RU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54000" y="2832099"/>
            <a:ext cx="11620500" cy="38625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TLS12_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KUZNECHIK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CTR_OMAC</a:t>
            </a:r>
            <a:endParaRPr lang="ru-RU" sz="2000" b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TLS12_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MAGMA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CTR_OMAC</a:t>
            </a:r>
            <a:endParaRPr lang="en-US" sz="2000" b="1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TLS13_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KUZNECHIK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MGM_</a:t>
            </a: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</a:p>
          <a:p>
            <a:pPr algn="ctr">
              <a:spcBef>
                <a:spcPts val="600"/>
              </a:spcBef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TLS13_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MAGMA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MGM_</a:t>
            </a: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endParaRPr lang="en-US" sz="2000" b="1" dirty="0" smtClean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TLS13_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KUZNECHIK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MGM_</a:t>
            </a: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</a:p>
          <a:p>
            <a:pPr algn="ctr">
              <a:spcBef>
                <a:spcPts val="600"/>
              </a:spcBef>
            </a:pP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TLS13_</a:t>
            </a:r>
            <a:r>
              <a:rPr lang="en-US" sz="2000" b="1" dirty="0" smtClean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GOSTR34112012_256_</a:t>
            </a:r>
            <a:r>
              <a:rPr lang="en-US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WITH_</a:t>
            </a:r>
            <a:r>
              <a:rPr lang="en-US" sz="2000" b="1" dirty="0" smtClean="0">
                <a:solidFill>
                  <a:schemeClr val="accent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MAGMA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2000" b="1" dirty="0" smtClean="0">
                <a:solidFill>
                  <a:srgbClr val="C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MGM_</a:t>
            </a:r>
            <a:r>
              <a:rPr lang="en-US" sz="20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GOSTR341112_256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GOST R 34.11-2012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xesh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qiymati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256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bit);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 smtClean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MAGMA, KUZNECHIK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- GOST R 34.12-2015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standartda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belgilangan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“Magma”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yoki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“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Kuznechik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”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blokli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shifrlash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CTR_OMAC, MGM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Shifrlash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algoritmi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rejimi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(L,S)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Immita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qiymat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uzunligi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L=256, S=512 bit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;</a:t>
            </a:r>
            <a:endParaRPr lang="ru-RU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35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2.91667E-6 -1.85185E-6 L 2.91667E-6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289785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05878" y="1395667"/>
            <a:ext cx="11935326" cy="95410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228600" algn="just">
              <a:spcAft>
                <a:spcPts val="800"/>
              </a:spcAft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en-US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800" dirty="0" err="1"/>
              <a:t>Blokli</a:t>
            </a:r>
            <a:r>
              <a:rPr lang="en-US" sz="2800" dirty="0"/>
              <a:t> </a:t>
            </a:r>
            <a:r>
              <a:rPr lang="en-US" sz="2800" dirty="0" err="1"/>
              <a:t>simmetrik</a:t>
            </a:r>
            <a:r>
              <a:rPr lang="en-US" sz="2800" dirty="0"/>
              <a:t> </a:t>
            </a:r>
            <a:r>
              <a:rPr lang="en-US" sz="2800" dirty="0" err="1"/>
              <a:t>shifrlash</a:t>
            </a:r>
            <a:r>
              <a:rPr lang="en-US" sz="2800" dirty="0"/>
              <a:t> </a:t>
            </a:r>
            <a:r>
              <a:rPr lang="en-US" sz="2800" dirty="0" err="1"/>
              <a:t>algoritmining</a:t>
            </a:r>
            <a:r>
              <a:rPr lang="en-US" sz="2800" dirty="0"/>
              <a:t> </a:t>
            </a:r>
            <a:r>
              <a:rPr lang="en-US" sz="2800" dirty="0" err="1"/>
              <a:t>shifrlash</a:t>
            </a:r>
            <a:r>
              <a:rPr lang="en-US" sz="2800" dirty="0"/>
              <a:t> </a:t>
            </a:r>
            <a:r>
              <a:rPr lang="en-US" sz="2800" dirty="0" err="1"/>
              <a:t>rejimi</a:t>
            </a:r>
            <a:r>
              <a:rPr lang="en-US" sz="2800" dirty="0"/>
              <a:t> </a:t>
            </a:r>
            <a:r>
              <a:rPr lang="en-US" sz="2800" dirty="0" err="1"/>
              <a:t>sifatida</a:t>
            </a:r>
            <a:r>
              <a:rPr lang="en-US" sz="2800" dirty="0"/>
              <a:t>, </a:t>
            </a:r>
            <a:r>
              <a:rPr lang="en-US" sz="2800" dirty="0" err="1"/>
              <a:t>zamonaviy</a:t>
            </a:r>
            <a:r>
              <a:rPr lang="en-US" sz="2800" dirty="0"/>
              <a:t> </a:t>
            </a:r>
            <a:r>
              <a:rPr lang="en-US" sz="2800" dirty="0" err="1"/>
              <a:t>Autentifikatsiyali</a:t>
            </a:r>
            <a:r>
              <a:rPr lang="en-US" sz="2800" dirty="0"/>
              <a:t> </a:t>
            </a:r>
            <a:r>
              <a:rPr lang="en-US" sz="2800" dirty="0" err="1"/>
              <a:t>shifrlash</a:t>
            </a:r>
            <a:r>
              <a:rPr lang="en-US" sz="2800" dirty="0"/>
              <a:t> </a:t>
            </a:r>
            <a:r>
              <a:rPr lang="en-US" sz="2800" dirty="0" err="1"/>
              <a:t>algoritmi</a:t>
            </a:r>
            <a:r>
              <a:rPr lang="en-US" sz="2800" dirty="0"/>
              <a:t> (AEAD) </a:t>
            </a:r>
            <a:r>
              <a:rPr lang="en-US" sz="2800" dirty="0" err="1"/>
              <a:t>yaratish</a:t>
            </a:r>
            <a:r>
              <a:rPr lang="en-US" sz="2800" dirty="0"/>
              <a:t>.</a:t>
            </a:r>
            <a:endParaRPr lang="ru-RU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877" y="2431351"/>
            <a:ext cx="5829501" cy="391291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025415" y="39463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13" name="Группа 12"/>
          <p:cNvGrpSpPr/>
          <p:nvPr/>
        </p:nvGrpSpPr>
        <p:grpSpPr>
          <a:xfrm>
            <a:off x="6208295" y="2451675"/>
            <a:ext cx="5832909" cy="3939500"/>
            <a:chOff x="6208295" y="2451675"/>
            <a:chExt cx="5832909" cy="3939500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6208295" y="2451675"/>
              <a:ext cx="5832909" cy="39395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graphicFrame>
          <p:nvGraphicFramePr>
            <p:cNvPr id="9" name="Объект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6578551"/>
                </p:ext>
              </p:extLst>
            </p:nvPr>
          </p:nvGraphicFramePr>
          <p:xfrm>
            <a:off x="6442713" y="2548776"/>
            <a:ext cx="5511866" cy="37839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6" r:id="rId5" imgW="14514881" imgH="9898075" progId="Visio.Drawing.11">
                    <p:embed/>
                  </p:oleObj>
                </mc:Choice>
                <mc:Fallback>
                  <p:oleObj r:id="rId5" imgW="14514881" imgH="9898075" progId="Visio.Drawing.11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2713" y="2548776"/>
                          <a:ext cx="5511866" cy="37839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Прямоугольник 10"/>
          <p:cNvSpPr/>
          <p:nvPr/>
        </p:nvSpPr>
        <p:spPr>
          <a:xfrm>
            <a:off x="-4016" y="6344261"/>
            <a:ext cx="6049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Autentifikatsiyali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shifrlashning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MGM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rejimi</a:t>
            </a:r>
            <a:endParaRPr lang="ru-RU" sz="2400" b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170592" y="6344260"/>
            <a:ext cx="59819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Autentifikatsiyali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shifrlashning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GCM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rejimi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398760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289785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30074" y="1341375"/>
            <a:ext cx="11906450" cy="156966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3. </a:t>
            </a:r>
            <a:r>
              <a:rPr lang="en-US" sz="2400" dirty="0" err="1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400" dirty="0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Xalqaro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TLS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protokolida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foydalanilgan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barcha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kalit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parametrlari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Psevdo-randon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funksiya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(PRF)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yaratilib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uning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assosi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kalitli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hesh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(HMAC)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algoritm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hisoblanadi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Shundan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kelib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chiqib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ushbu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kalitli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hesh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algaritm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o‘rniga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mos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ravishda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O‘zDST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1106:2009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kalitli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hesh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algoritmdan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foydalanish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taklif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4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400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130074" y="2949135"/>
                <a:ext cx="11906450" cy="2041965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/>
                <a:r>
                  <a:rPr lang="en-US" sz="2400" dirty="0" smtClean="0"/>
                  <a:t>	</a:t>
                </a:r>
                <a:r>
                  <a:rPr lang="en-US" sz="2400" dirty="0" err="1" smtClean="0"/>
                  <a:t>Rossiya</a:t>
                </a:r>
                <a:r>
                  <a:rPr lang="uz-Latn-UZ" sz="2400" dirty="0" smtClean="0"/>
                  <a:t> </a:t>
                </a:r>
                <a:r>
                  <a:rPr lang="uz-Latn-UZ" sz="2400" dirty="0"/>
                  <a:t>TLS protokolida psevdo-random funksiya </a:t>
                </a:r>
                <a:r>
                  <a:rPr lang="en-US" sz="2400" dirty="0"/>
                  <a:t>GOST R 34.11–2012 </a:t>
                </a:r>
                <a:r>
                  <a:rPr lang="uz-Latn-UZ" sz="2400" dirty="0" smtClean="0"/>
                  <a:t>bo‘lgan</a:t>
                </a:r>
                <a:r>
                  <a:rPr lang="uz-Latn-UZ" sz="2400" dirty="0"/>
                  <a:t>, HMAC kalitli hesh funksiyadan foydalanilgan:</a:t>
                </a:r>
                <a:endParaRPr lang="ru-RU" sz="240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uz-Latn-UZ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uz-Latn-UZ" sz="2400" i="1">
                            <a:latin typeface="Cambria Math"/>
                          </a:rPr>
                          <m:t>𝑀𝐴𝐶</m:t>
                        </m:r>
                      </m:sub>
                      <m:sup>
                        <m:r>
                          <a:rPr lang="uz-Latn-UZ" sz="2400" i="1">
                            <a:latin typeface="Cambria Math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sz="2400" dirty="0"/>
                  <a:t> ||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uz-Latn-UZ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uz-Latn-UZ" sz="2400" i="1">
                            <a:latin typeface="Cambria Math"/>
                          </a:rPr>
                          <m:t>𝑀𝐴𝐶</m:t>
                        </m:r>
                      </m:sub>
                      <m:sup>
                        <m:r>
                          <a:rPr lang="uz-Latn-UZ" sz="2400" i="1">
                            <a:latin typeface="Cambria Math"/>
                          </a:rPr>
                          <m:t>𝑅𝑒𝑎𝑑</m:t>
                        </m:r>
                      </m:sup>
                    </m:sSubSup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uz-Latn-UZ" sz="2400" i="1">
                            <a:latin typeface="Cambria Math"/>
                          </a:rPr>
                          <m:t>||</m:t>
                        </m:r>
                        <m:r>
                          <a:rPr lang="uz-Latn-UZ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uz-Latn-UZ" sz="2400" i="1">
                            <a:latin typeface="Cambria Math"/>
                          </a:rPr>
                          <m:t>𝐸𝑁𝐶</m:t>
                        </m:r>
                      </m:sub>
                      <m:sup>
                        <m:r>
                          <a:rPr lang="uz-Latn-UZ" sz="2400" i="1">
                            <a:latin typeface="Cambria Math"/>
                          </a:rPr>
                          <m:t>𝑊𝑟𝑖𝑡𝑒</m:t>
                        </m:r>
                      </m:sup>
                    </m:sSubSup>
                  </m:oMath>
                </a14:m>
                <a:r>
                  <a:rPr lang="uz-Latn-UZ" sz="2400" dirty="0"/>
                  <a:t> ||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i="1">
                            <a:latin typeface="Cambria Math"/>
                          </a:rPr>
                        </m:ctrlPr>
                      </m:sSubSupPr>
                      <m:e>
                        <m:r>
                          <a:rPr lang="uz-Latn-UZ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uz-Latn-UZ" sz="2400" i="1">
                            <a:latin typeface="Cambria Math"/>
                          </a:rPr>
                          <m:t>𝐸𝑁𝐶</m:t>
                        </m:r>
                      </m:sub>
                      <m:sup>
                        <m:r>
                          <a:rPr lang="uz-Latn-UZ" sz="2400" i="1">
                            <a:latin typeface="Cambria Math"/>
                          </a:rPr>
                          <m:t>𝑅𝑒𝑎𝑑</m:t>
                        </m:r>
                      </m:sup>
                    </m:sSubSup>
                    <m:r>
                      <a:rPr lang="uz-Latn-UZ" sz="2400" i="1">
                        <a:latin typeface="Cambria Math"/>
                      </a:rPr>
                      <m:t>||</m:t>
                    </m:r>
                    <m:sSup>
                      <m:sSupPr>
                        <m:ctrlPr>
                          <a:rPr lang="ru-R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uz-Latn-UZ" sz="2400" i="1">
                            <a:latin typeface="Cambria Math"/>
                          </a:rPr>
                          <m:t>𝐼𝑉</m:t>
                        </m:r>
                      </m:e>
                      <m:sup>
                        <m:r>
                          <a:rPr lang="uz-Latn-UZ" sz="2400" i="1">
                            <a:latin typeface="Cambria Math"/>
                          </a:rPr>
                          <m:t>𝑊𝑟𝑖𝑡𝑒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:r>
                  <a:rPr lang="uz-Latn-UZ" sz="2400" dirty="0"/>
                  <a:t>||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400" i="1">
                            <a:latin typeface="Cambria Math"/>
                          </a:rPr>
                        </m:ctrlPr>
                      </m:sSupPr>
                      <m:e>
                        <m:r>
                          <a:rPr lang="uz-Latn-UZ" sz="2400" i="1">
                            <a:latin typeface="Cambria Math"/>
                          </a:rPr>
                          <m:t>𝐼𝑉</m:t>
                        </m:r>
                      </m:e>
                      <m:sup>
                        <m:r>
                          <a:rPr lang="uz-Latn-UZ" sz="2400" i="1">
                            <a:latin typeface="Cambria Math"/>
                          </a:rPr>
                          <m:t>𝑅𝑒𝑎𝑑</m:t>
                        </m:r>
                      </m:sup>
                    </m:sSup>
                  </m:oMath>
                </a14:m>
                <a:r>
                  <a:rPr lang="uz-Latn-UZ" sz="2400" dirty="0"/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𝑃𝑅𝐹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</a:rPr>
                      <m:t>𝑀𝑆</m:t>
                    </m:r>
                    <m:r>
                      <a:rPr lang="en-US" sz="2400" i="1">
                        <a:latin typeface="Cambria Math"/>
                      </a:rPr>
                      <m:t>,"</m:t>
                    </m:r>
                    <m:r>
                      <m:rPr>
                        <m:nor/>
                      </m:rPr>
                      <a:rPr lang="en-US" sz="2400"/>
                      <m:t>key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expansion</m:t>
                    </m:r>
                    <m:r>
                      <a:rPr lang="en-US" sz="2400" i="1">
                        <a:latin typeface="Cambria Math"/>
                      </a:rPr>
                      <m:t>",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)).</m:t>
                    </m:r>
                  </m:oMath>
                </a14:m>
                <a:endParaRPr lang="ru-RU" sz="2400" dirty="0"/>
              </a:p>
              <a:p>
                <a:pPr algn="ctr"/>
                <a:r>
                  <a:rPr lang="uz-Latn-UZ" sz="2400" b="1" dirty="0" smtClean="0">
                    <a:solidFill>
                      <a:srgbClr val="FF0000"/>
                    </a:solidFill>
                  </a:rPr>
                  <a:t>𝑃𝑅𝐹(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𝑲</m:t>
                        </m:r>
                      </m:e>
                      <m:sub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𝑬𝑿𝑷</m:t>
                        </m:r>
                      </m:sub>
                    </m:sSub>
                  </m:oMath>
                </a14:m>
                <a:r>
                  <a:rPr lang="uz-Latn-UZ" sz="2400" b="1" dirty="0">
                    <a:solidFill>
                      <a:srgbClr val="FF0000"/>
                    </a:solidFill>
                  </a:rPr>
                  <a:t>, 𝑇)=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𝑯𝑴𝑨𝑪</m:t>
                        </m:r>
                      </m:e>
                      <m:sub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𝟐𝟓𝟔</m:t>
                        </m:r>
                      </m:sub>
                    </m:sSub>
                  </m:oMath>
                </a14:m>
                <a:r>
                  <a:rPr lang="uz-Latn-UZ" sz="2400" b="1" dirty="0">
                    <a:solidFill>
                      <a:srgbClr val="FF0000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𝑲</m:t>
                        </m:r>
                      </m:e>
                      <m:sub>
                        <m:r>
                          <a:rPr lang="uz-Latn-UZ" sz="24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𝑬𝑿𝑷</m:t>
                        </m:r>
                      </m:sub>
                    </m:sSub>
                  </m:oMath>
                </a14:m>
                <a:r>
                  <a:rPr lang="uz-Latn-UZ" sz="2400" b="1" dirty="0">
                    <a:solidFill>
                      <a:srgbClr val="FF0000"/>
                    </a:solidFill>
                  </a:rPr>
                  <a:t>, 𝑇)</a:t>
                </a:r>
                <a:endParaRPr lang="ru-RU" sz="2400" b="1" dirty="0">
                  <a:solidFill>
                    <a:srgbClr val="FF0000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uz-Latn-UZ" sz="24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uz-Latn-UZ" sz="2400" i="1">
                            <a:latin typeface="Cambria Math"/>
                          </a:rPr>
                          <m:t>𝐸𝑋𝑃</m:t>
                        </m:r>
                      </m:sub>
                    </m:sSub>
                  </m:oMath>
                </a14:m>
                <a:r>
                  <a:rPr lang="uz-Latn-UZ" sz="2400" dirty="0"/>
                  <a:t> – hesh funksiya </a:t>
                </a:r>
                <a:r>
                  <a:rPr lang="uz-Latn-UZ" sz="2400" dirty="0" smtClean="0"/>
                  <a:t>kaliti</a:t>
                </a:r>
                <a:r>
                  <a:rPr lang="en-US" sz="2400" dirty="0" smtClean="0"/>
                  <a:t> (MS)</a:t>
                </a:r>
                <a:r>
                  <a:rPr lang="uz-Latn-UZ" sz="2400" dirty="0" smtClean="0"/>
                  <a:t>, </a:t>
                </a:r>
                <a:r>
                  <a:rPr lang="uz-Latn-UZ" sz="2400" dirty="0"/>
                  <a:t>𝑇 – kiruvchi </a:t>
                </a:r>
                <a:r>
                  <a:rPr lang="uz-Latn-UZ" sz="2400" dirty="0" smtClean="0"/>
                  <a:t>ma’lumot</a:t>
                </a:r>
                <a:r>
                  <a:rPr lang="en-US" sz="2400" dirty="0" smtClean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,"</m:t>
                    </m:r>
                    <m:r>
                      <m:rPr>
                        <m:nor/>
                      </m:rPr>
                      <a:rPr lang="en-US" sz="2400"/>
                      <m:t>key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expansion</m:t>
                    </m:r>
                    <m:r>
                      <a:rPr lang="en-US" sz="2400" i="1">
                        <a:latin typeface="Cambria Math"/>
                      </a:rPr>
                      <m:t>",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uz-Latn-UZ" sz="2400" dirty="0" smtClean="0"/>
                  <a:t>.</a:t>
                </a:r>
                <a:endParaRPr lang="ru-RU" sz="24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4" y="2949135"/>
                <a:ext cx="11906450" cy="2041965"/>
              </a:xfrm>
              <a:prstGeom prst="rect">
                <a:avLst/>
              </a:prstGeom>
              <a:blipFill rotWithShape="1">
                <a:blip r:embed="rId3"/>
                <a:stretch>
                  <a:fillRect l="-768" t="-1488" r="-768" b="-5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130074" y="5034280"/>
                <a:ext cx="11906451" cy="1800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/>
                <a:r>
                  <a:rPr lang="en-US" sz="2400" dirty="0" smtClean="0"/>
                  <a:t>	</a:t>
                </a:r>
                <a:r>
                  <a:rPr lang="uz-Latn-UZ" sz="2400" dirty="0" smtClean="0"/>
                  <a:t>Xalqaro </a:t>
                </a:r>
                <a:r>
                  <a:rPr lang="uz-Latn-UZ" sz="2400" dirty="0"/>
                  <a:t>TLS protokolida psevdo-random funksiya SHA-256 va SHA-512 bo‘lgan, HMAC kalitli hesh funksiyadan foydalanilgan:</a:t>
                </a:r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uz-Latn-UZ" sz="24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uz-Latn-UZ" sz="2400" i="1">
                              <a:latin typeface="Cambria Math"/>
                            </a:rPr>
                            <m:t>𝑀𝐴𝐶</m:t>
                          </m:r>
                        </m:sub>
                        <m:sup>
                          <m:r>
                            <a:rPr lang="uz-Latn-UZ" sz="2400" i="1">
                              <a:latin typeface="Cambria Math"/>
                            </a:rPr>
                            <m:t>𝑊𝑟𝑖𝑡𝑒</m:t>
                          </m:r>
                        </m:sup>
                      </m:sSubSup>
                      <m:r>
                        <m:rPr>
                          <m:nor/>
                        </m:rPr>
                        <a:rPr lang="uz-Latn-UZ" sz="2400"/>
                        <m:t> || </m:t>
                      </m:r>
                      <m:sSubSup>
                        <m:sSub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uz-Latn-UZ" sz="24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uz-Latn-UZ" sz="2400" i="1">
                              <a:latin typeface="Cambria Math"/>
                            </a:rPr>
                            <m:t>𝑀𝐴𝐶</m:t>
                          </m:r>
                        </m:sub>
                        <m:sup>
                          <m:r>
                            <a:rPr lang="uz-Latn-UZ" sz="2400" i="1">
                              <a:latin typeface="Cambria Math"/>
                            </a:rPr>
                            <m:t>𝑅𝑒𝑎𝑑</m:t>
                          </m:r>
                        </m:sup>
                      </m:sSubSup>
                      <m:sSubSup>
                        <m:sSub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uz-Latn-UZ" sz="2400" i="1">
                              <a:latin typeface="Cambria Math"/>
                            </a:rPr>
                            <m:t>||</m:t>
                          </m:r>
                          <m:r>
                            <a:rPr lang="uz-Latn-UZ" sz="24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uz-Latn-UZ" sz="2400" i="1">
                              <a:latin typeface="Cambria Math"/>
                            </a:rPr>
                            <m:t>𝐸𝑁𝐶</m:t>
                          </m:r>
                        </m:sub>
                        <m:sup>
                          <m:r>
                            <a:rPr lang="uz-Latn-UZ" sz="2400" i="1">
                              <a:latin typeface="Cambria Math"/>
                            </a:rPr>
                            <m:t>𝑊𝑟𝑖𝑡𝑒</m:t>
                          </m:r>
                        </m:sup>
                      </m:sSubSup>
                      <m:r>
                        <m:rPr>
                          <m:nor/>
                        </m:rPr>
                        <a:rPr lang="uz-Latn-UZ" sz="2400"/>
                        <m:t> || </m:t>
                      </m:r>
                      <m:sSubSup>
                        <m:sSub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uz-Latn-UZ" sz="2400" i="1">
                              <a:latin typeface="Cambria Math"/>
                            </a:rPr>
                            <m:t>𝐾</m:t>
                          </m:r>
                        </m:e>
                        <m:sub>
                          <m:r>
                            <a:rPr lang="uz-Latn-UZ" sz="2400" i="1">
                              <a:latin typeface="Cambria Math"/>
                            </a:rPr>
                            <m:t>𝐸𝑁𝐶</m:t>
                          </m:r>
                        </m:sub>
                        <m:sup>
                          <m:r>
                            <a:rPr lang="uz-Latn-UZ" sz="2400" i="1">
                              <a:latin typeface="Cambria Math"/>
                            </a:rPr>
                            <m:t>𝑅𝑒𝑎𝑑</m:t>
                          </m:r>
                        </m:sup>
                      </m:sSubSup>
                      <m:r>
                        <a:rPr lang="uz-Latn-UZ" sz="2400" i="1">
                          <a:latin typeface="Cambria Math"/>
                        </a:rPr>
                        <m:t>||</m:t>
                      </m:r>
                      <m:sSup>
                        <m:s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uz-Latn-UZ" sz="2400" i="1">
                              <a:latin typeface="Cambria Math"/>
                            </a:rPr>
                            <m:t>𝐼𝑉</m:t>
                          </m:r>
                        </m:e>
                        <m:sup>
                          <m:r>
                            <a:rPr lang="uz-Latn-UZ" sz="2400" i="1">
                              <a:latin typeface="Cambria Math"/>
                            </a:rPr>
                            <m:t>𝑊𝑟𝑖𝑡𝑒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m:rPr>
                          <m:nor/>
                        </m:rPr>
                        <a:rPr lang="uz-Latn-UZ" sz="2400"/>
                        <m:t>|| </m:t>
                      </m:r>
                      <m:sSup>
                        <m:sSupPr>
                          <m:ctrlPr>
                            <a:rPr lang="ru-RU" sz="24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uz-Latn-UZ" sz="2400" i="1">
                              <a:latin typeface="Cambria Math"/>
                            </a:rPr>
                            <m:t>𝐼𝑉</m:t>
                          </m:r>
                        </m:e>
                        <m:sup>
                          <m:r>
                            <a:rPr lang="uz-Latn-UZ" sz="2400" i="1">
                              <a:latin typeface="Cambria Math"/>
                            </a:rPr>
                            <m:t>𝑅𝑒𝑎𝑑</m:t>
                          </m:r>
                        </m:sup>
                      </m:sSup>
                      <m:r>
                        <m:rPr>
                          <m:nor/>
                        </m:rPr>
                        <a:rPr lang="uz-Latn-UZ" sz="2400"/>
                        <m:t> = </m:t>
                      </m:r>
                      <m:r>
                        <a:rPr lang="en-US" sz="2400" i="1">
                          <a:latin typeface="Cambria Math"/>
                        </a:rPr>
                        <m:t>𝑃𝑅𝐹</m:t>
                      </m:r>
                      <m:r>
                        <a:rPr lang="en-US" sz="2400" i="1">
                          <a:latin typeface="Cambria Math"/>
                        </a:rPr>
                        <m:t>(</m:t>
                      </m:r>
                      <m:r>
                        <a:rPr lang="en-US" sz="2400" i="1">
                          <a:latin typeface="Cambria Math"/>
                        </a:rPr>
                        <m:t>𝑀𝑆</m:t>
                      </m:r>
                      <m:r>
                        <a:rPr lang="en-US" sz="2400" i="1">
                          <a:latin typeface="Cambria Math"/>
                        </a:rPr>
                        <m:t>,"</m:t>
                      </m:r>
                      <m:r>
                        <m:rPr>
                          <m:nor/>
                        </m:rPr>
                        <a:rPr lang="en-US" sz="2400"/>
                        <m:t>key</m:t>
                      </m:r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m:rPr>
                          <m:nor/>
                        </m:rPr>
                        <a:rPr lang="en-US" sz="2400"/>
                        <m:t>expansion</m:t>
                      </m:r>
                      <m:r>
                        <a:rPr lang="en-US" sz="2400" i="1">
                          <a:latin typeface="Cambria Math"/>
                        </a:rPr>
                        <m:t>",</m:t>
                      </m:r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 i="1"/>
                        <m:t>|</m:t>
                      </m:r>
                      <m:sSub>
                        <m:sSubPr>
                          <m:ctrlPr>
                            <a:rPr lang="ru-RU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)).</m:t>
                      </m:r>
                    </m:oMath>
                  </m:oMathPara>
                </a14:m>
                <a:endParaRPr lang="ru-RU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𝑷𝑹𝑭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𝑯𝑴𝑨𝑪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𝑺𝑯𝑨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_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𝟐𝟓𝟔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𝑲𝒆𝒚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𝒅𝒂𝒕𝒂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u-RU" sz="2400" b="1" dirty="0">
                  <a:solidFill>
                    <a:srgbClr val="FF0000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𝐾𝑒𝑦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en-US" sz="2400" dirty="0" err="1"/>
                  <a:t>hesh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funksiya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kaliti</a:t>
                </a:r>
                <a:r>
                  <a:rPr lang="en-US" sz="2400" dirty="0" smtClean="0"/>
                  <a:t> (</a:t>
                </a:r>
                <a:r>
                  <a:rPr lang="en-US" sz="2400" dirty="0" err="1" smtClean="0"/>
                  <a:t>MasterSecret</a:t>
                </a:r>
                <a:r>
                  <a:rPr lang="en-US" sz="2400" dirty="0" smtClean="0"/>
                  <a:t>),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, </m:t>
                    </m:r>
                    <m:r>
                      <a:rPr lang="en-US" sz="2400" b="0" i="1" smtClean="0">
                        <a:latin typeface="Cambria Math"/>
                      </a:rPr>
                      <m:t>𝑑𝑎𝑡𝑎</m:t>
                    </m:r>
                  </m:oMath>
                </a14:m>
                <a:r>
                  <a:rPr lang="en-US" sz="2400" dirty="0" smtClean="0"/>
                  <a:t>– </a:t>
                </a:r>
                <a:r>
                  <a:rPr lang="en-US" sz="2400" dirty="0" err="1"/>
                  <a:t>kiruvchi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ma’lumot</a:t>
                </a:r>
                <a:r>
                  <a:rPr lang="en-US" sz="2400" dirty="0" smtClean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,"</m:t>
                    </m:r>
                    <m:r>
                      <m:rPr>
                        <m:nor/>
                      </m:rPr>
                      <a:rPr lang="en-US" sz="2400"/>
                      <m:t>key</m:t>
                    </m:r>
                    <m:r>
                      <m:rPr>
                        <m:nor/>
                      </m:rPr>
                      <a:rPr lang="en-US" sz="2400"/>
                      <m:t> </m:t>
                    </m:r>
                    <m:r>
                      <m:rPr>
                        <m:nor/>
                      </m:rPr>
                      <a:rPr lang="en-US" sz="2400"/>
                      <m:t>expansion</m:t>
                    </m:r>
                    <m:r>
                      <a:rPr lang="en-US" sz="2400" i="1">
                        <a:latin typeface="Cambria Math"/>
                      </a:rPr>
                      <m:t>",</m:t>
                    </m:r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400" i="1" dirty="0"/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, </a:t>
                </a:r>
                <a:endParaRPr lang="ru-RU" sz="2400" dirty="0"/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74" y="5034280"/>
                <a:ext cx="11906451" cy="1800000"/>
              </a:xfrm>
              <a:prstGeom prst="rect">
                <a:avLst/>
              </a:prstGeom>
              <a:blipFill rotWithShape="1">
                <a:blip r:embed="rId4"/>
                <a:stretch>
                  <a:fillRect l="-768" t="-8446" r="-768" b="-131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0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289785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30074" y="1341375"/>
            <a:ext cx="11906450" cy="954107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4.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algoritmlar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protokollar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elliptik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egri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chiziq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parametrlarni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kelishish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bo‘yicha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standart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chiqish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tavfsiya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52399" y="2400299"/>
            <a:ext cx="11869555" cy="4282469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253999" y="2572992"/>
                <a:ext cx="11658600" cy="4511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2000" dirty="0" smtClean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	</a:t>
                </a:r>
                <a:r>
                  <a:rPr lang="en-US" sz="2000" dirty="0" smtClean="0">
                    <a:latin typeface="Cambria" panose="02040503050406030204" pitchFamily="18" charset="0"/>
                    <a:ea typeface="Cambria" panose="02040503050406030204" pitchFamily="18" charset="0"/>
                  </a:rPr>
                  <a:t>P 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1323565.1.024-2019 </a:t>
                </a:r>
                <a:r>
                  <a:rPr lang="en-US" sz="20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sonli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000" dirty="0" err="1"/>
                  <a:t>s</a:t>
                </a:r>
                <a:r>
                  <a:rPr lang="en-US" sz="2000" dirty="0" err="1" smtClean="0"/>
                  <a:t>tandartga</a:t>
                </a:r>
                <a:r>
                  <a:rPr lang="en-US" sz="2000" dirty="0" smtClean="0"/>
                  <a:t> </a:t>
                </a:r>
                <a:r>
                  <a:rPr lang="en-US" sz="2000" dirty="0" err="1"/>
                  <a:t>ko‘ra</a:t>
                </a:r>
                <a:r>
                  <a:rPr lang="en-US" sz="2000" dirty="0"/>
                  <a:t> GOST R 34.10-2012 </a:t>
                </a:r>
                <a:r>
                  <a:rPr lang="en-US" sz="2000" dirty="0" err="1"/>
                  <a:t>ERIga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muvofiq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quyidagi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beshta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parametrlari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taklif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etiladi</a:t>
                </a:r>
                <a:r>
                  <a:rPr lang="en-US" sz="2000" dirty="0"/>
                  <a:t>:</a:t>
                </a:r>
                <a:endParaRPr lang="ru-RU" sz="2000" dirty="0"/>
              </a:p>
              <a:p>
                <a:pPr algn="ctr"/>
                <a:r>
                  <a:rPr lang="en-US" sz="2000" dirty="0"/>
                  <a:t>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𝑎𝑥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r>
                      <a:rPr lang="en-US" sz="2000" i="1">
                        <a:latin typeface="Cambria Math"/>
                      </a:rPr>
                      <m:t>𝑏</m:t>
                    </m:r>
                    <m:d>
                      <m:dPr>
                        <m:ctrlPr>
                          <a:rPr lang="ru-RU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𝑚𝑜𝑑</m:t>
                        </m:r>
                        <m:r>
                          <a:rPr lang="en-US" sz="2000" i="1">
                            <a:latin typeface="Cambria Math"/>
                          </a:rPr>
                          <m:t> </m:t>
                        </m:r>
                        <m:r>
                          <a:rPr lang="en-US" sz="2000" i="1">
                            <a:latin typeface="Cambria Math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/>
                  <a:t> –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</a:t>
                </a:r>
                <a:r>
                  <a:rPr lang="en-US" sz="2000" dirty="0"/>
                  <a:t>;</a:t>
                </a:r>
                <a:endParaRPr lang="ru-RU" sz="2000" dirty="0"/>
              </a:p>
              <a:p>
                <a:r>
                  <a:rPr lang="en-US" sz="2000" dirty="0"/>
                  <a:t>p -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chiziqning</a:t>
                </a:r>
                <a:r>
                  <a:rPr lang="en-US" sz="2000" dirty="0"/>
                  <a:t> moduli;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𝑝</m:t>
                    </m:r>
                    <m:r>
                      <a:rPr lang="en-US" sz="2000" i="1">
                        <a:latin typeface="Cambria Math"/>
                      </a:rPr>
                      <m:t>&gt;3;</m:t>
                    </m:r>
                  </m:oMath>
                </a14:m>
                <a:endParaRPr lang="ru-RU" sz="2000" dirty="0"/>
              </a:p>
              <a:p>
                <a:r>
                  <a:rPr lang="en-US" sz="2000" dirty="0"/>
                  <a:t>a, b - </a:t>
                </a:r>
                <a:r>
                  <a:rPr lang="en-US" sz="2000" dirty="0" err="1"/>
                  <a:t>kanonik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shakldagi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tenglamaning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koeffitsientlari</a:t>
                </a:r>
                <a:r>
                  <a:rPr lang="en-US" sz="2000" dirty="0"/>
                  <a:t>;</a:t>
                </a:r>
                <a:endParaRPr lang="ru-RU" sz="2000" dirty="0"/>
              </a:p>
              <a:p>
                <a:r>
                  <a:rPr lang="en-US" sz="2000" dirty="0"/>
                  <a:t>m -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nuqtalar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guruhining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tartibi</a:t>
                </a:r>
                <a:r>
                  <a:rPr lang="en-US" sz="2000" dirty="0"/>
                  <a:t>;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i="1">
                        <a:latin typeface="Cambria Math"/>
                      </a:rPr>
                      <m:t>𝑚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𝑛</m:t>
                    </m:r>
                    <m:r>
                      <a:rPr lang="en-US" sz="2000" i="1">
                        <a:latin typeface="Cambria Math"/>
                      </a:rPr>
                      <m:t>∗</m:t>
                    </m:r>
                    <m:r>
                      <a:rPr lang="en-US" sz="2000" i="1">
                        <a:latin typeface="Cambria Math"/>
                      </a:rPr>
                      <m:t>𝑞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</a:rPr>
                      <m:t>𝑛</m:t>
                    </m:r>
                    <m:r>
                      <a:rPr lang="en-US" sz="2000" i="1">
                        <a:latin typeface="Cambria Math"/>
                      </a:rPr>
                      <m:t>∈</m:t>
                    </m:r>
                    <m:r>
                      <a:rPr lang="en-US" sz="2000" i="1">
                        <a:latin typeface="Cambria Math"/>
                      </a:rPr>
                      <m:t>𝑍</m:t>
                    </m:r>
                    <m:r>
                      <a:rPr lang="en-US" sz="2000" i="1">
                        <a:latin typeface="Cambria Math"/>
                      </a:rPr>
                      <m:t>, </m:t>
                    </m:r>
                    <m:r>
                      <a:rPr lang="en-US" sz="2000" i="1">
                        <a:latin typeface="Cambria Math"/>
                      </a:rPr>
                      <m:t>𝑛</m:t>
                    </m:r>
                    <m:r>
                      <a:rPr lang="en-US" sz="2000" i="1">
                        <a:latin typeface="Cambria Math"/>
                      </a:rPr>
                      <m:t>≥1;</m:t>
                    </m:r>
                  </m:oMath>
                </a14:m>
                <a:endParaRPr lang="ru-RU" sz="2000" dirty="0"/>
              </a:p>
              <a:p>
                <a:r>
                  <a:rPr lang="en-US" sz="2000" dirty="0"/>
                  <a:t>q -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nuqtalari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guruhining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tsiklik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kichik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guruhining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tartibi</a:t>
                </a:r>
                <a:r>
                  <a:rPr lang="en-US" sz="2000" dirty="0"/>
                  <a:t>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254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&lt;</m:t>
                    </m:r>
                    <m:r>
                      <a:rPr lang="en-US" sz="2000" i="1">
                        <a:latin typeface="Cambria Math"/>
                      </a:rPr>
                      <m:t>𝑞</m:t>
                    </m:r>
                    <m:r>
                      <a:rPr lang="en-US" sz="2000" i="1">
                        <a:latin typeface="Cambria Math"/>
                      </a:rPr>
                      <m:t>&lt;</m:t>
                    </m:r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256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r>
                      <a:rPr lang="en-US" sz="20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508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&lt;</m:t>
                    </m:r>
                    <m:r>
                      <a:rPr lang="en-US" sz="2000" i="1">
                        <a:latin typeface="Cambria Math"/>
                      </a:rPr>
                      <m:t>𝑞</m:t>
                    </m:r>
                    <m:r>
                      <a:rPr lang="en-US" sz="2000" i="1">
                        <a:latin typeface="Cambria Math"/>
                      </a:rPr>
                      <m:t>&lt;</m:t>
                    </m:r>
                    <m:sSup>
                      <m:sSupPr>
                        <m:ctrlPr>
                          <a:rPr lang="ru-RU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512</m:t>
                        </m:r>
                      </m:sup>
                    </m:sSup>
                  </m:oMath>
                </a14:m>
                <a:endParaRPr lang="ru-RU" sz="2000" dirty="0"/>
              </a:p>
              <a:p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u-RU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000" dirty="0"/>
                  <a:t>) - </a:t>
                </a:r>
                <a:r>
                  <a:rPr lang="en-US" sz="2000" dirty="0" err="1"/>
                  <a:t>kanonik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shakldagi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elliptik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egri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chiziqdagi</a:t>
                </a:r>
                <a:r>
                  <a:rPr lang="en-US" sz="2000" dirty="0"/>
                  <a:t> P </a:t>
                </a:r>
                <a:r>
                  <a:rPr lang="en-US" sz="2000" dirty="0" err="1"/>
                  <a:t>nuqtaning</a:t>
                </a:r>
                <a:r>
                  <a:rPr lang="en-US" sz="2000" dirty="0"/>
                  <a:t> (q </a:t>
                </a:r>
                <a:r>
                  <a:rPr lang="en-US" sz="2000" dirty="0" err="1"/>
                  <a:t>tartibli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kichik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guruhining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hosil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qiluvchi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elementi</a:t>
                </a:r>
                <a:r>
                  <a:rPr lang="en-US" sz="2000" dirty="0"/>
                  <a:t>) </a:t>
                </a:r>
                <a:r>
                  <a:rPr lang="en-US" sz="2000" dirty="0" err="1"/>
                  <a:t>koordinatalari</a:t>
                </a:r>
                <a:r>
                  <a:rPr lang="en-US" sz="2000" dirty="0" smtClean="0"/>
                  <a:t>.</a:t>
                </a:r>
              </a:p>
              <a:p>
                <a:pPr lvl="3"/>
                <a:r>
                  <a:rPr lang="en-US" sz="1600" dirty="0"/>
                  <a:t>p = 00 FF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FD;</a:t>
                </a:r>
                <a:endParaRPr lang="ru-RU" sz="1600" dirty="0"/>
              </a:p>
              <a:p>
                <a:pPr lvl="3"/>
                <a:r>
                  <a:rPr lang="en-US" sz="1600" dirty="0"/>
                  <a:t>(</a:t>
                </a:r>
                <a:r>
                  <a:rPr lang="en-US" sz="1600" dirty="0" err="1"/>
                  <a:t>a,b</a:t>
                </a:r>
                <a:r>
                  <a:rPr lang="en-US" sz="1600" dirty="0"/>
                  <a:t>) = 00 FF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FD;</a:t>
                </a:r>
                <a:endParaRPr lang="ru-RU" sz="1600" dirty="0"/>
              </a:p>
              <a:p>
                <a:pPr lvl="3"/>
                <a:r>
                  <a:rPr lang="en-US" sz="1600" dirty="0"/>
                  <a:t>m = 00 FF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6C 61 10 70 99 5A Dl 00 45 84 IB 09 B7 61 B9;</a:t>
                </a:r>
                <a:endParaRPr lang="ru-RU" sz="1600" dirty="0"/>
              </a:p>
              <a:p>
                <a:pPr lvl="3"/>
                <a:r>
                  <a:rPr lang="en-US" sz="1600" dirty="0"/>
                  <a:t>q = 00 FF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FF</a:t>
                </a:r>
                <a:r>
                  <a:rPr lang="en-US" sz="1600" dirty="0"/>
                  <a:t> 6C 61 10 70 99 5A Dl 00 45 84 IB 09 B7 61 B9;</a:t>
                </a:r>
                <a:endParaRPr lang="ru-RU" sz="1600" dirty="0"/>
              </a:p>
              <a:p>
                <a:pPr lvl="3"/>
                <a:r>
                  <a:rPr lang="en-US" sz="1600" dirty="0"/>
                  <a:t>(</a:t>
                </a:r>
                <a:r>
                  <a:rPr lang="en-US" sz="1600" dirty="0" err="1"/>
                  <a:t>x,y</a:t>
                </a:r>
                <a:r>
                  <a:rPr lang="en-US" sz="1600" dirty="0"/>
                  <a:t>) = 00 8D 91 E4 71 E0 98 9C DA 27 DF 50 5A 45 3F 2B 76 35 29 4F 2D DF 23 E3 B1 22 AC C9 9C 9E 9F 1E;</a:t>
                </a:r>
                <a:endParaRPr lang="ru-RU" sz="16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99" y="2572992"/>
                <a:ext cx="11658600" cy="4511043"/>
              </a:xfrm>
              <a:prstGeom prst="rect">
                <a:avLst/>
              </a:prstGeom>
              <a:blipFill rotWithShape="1">
                <a:blip r:embed="rId3"/>
                <a:stretch>
                  <a:fillRect l="-575" t="-946" r="-52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345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164656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154004" y="1339055"/>
            <a:ext cx="11771697" cy="138499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indent="449580" algn="just">
              <a:spcAft>
                <a:spcPts val="800"/>
              </a:spcAft>
            </a:pP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Xorijiy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davlatlar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tajribasida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kelib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chiqqan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holda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TLS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protokollarini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amaliyotga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joriy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eltilishi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bog‘liq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bo‘lgan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muammolarni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yechimi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sifatida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milliy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Brouzer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taklif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800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31036"/>
              </p:ext>
            </p:extLst>
          </p:nvPr>
        </p:nvGraphicFramePr>
        <p:xfrm>
          <a:off x="154004" y="3628722"/>
          <a:ext cx="5467150" cy="31018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3575"/>
                <a:gridCol w="2733575"/>
              </a:tblGrid>
              <a:tr h="4325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 err="1">
                          <a:effectLst/>
                        </a:rPr>
                        <a:t>Brauzer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 err="1">
                          <a:effectLst/>
                        </a:rPr>
                        <a:t>Platforma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/>
                </a:tc>
              </a:tr>
              <a:tr h="4325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>
                          <a:effectLst/>
                        </a:rPr>
                        <a:t>Internet Explorer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>
                          <a:effectLst/>
                        </a:rPr>
                        <a:t>Windows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9391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>
                          <a:effectLst/>
                        </a:rPr>
                        <a:t>Sputnik brauzeri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>
                          <a:effectLst/>
                        </a:rPr>
                        <a:t>Windows, Astra Linux, ALT Linux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43255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>
                          <a:effectLst/>
                        </a:rPr>
                        <a:t>Chromium-Gost brauzeri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2000" dirty="0">
                          <a:effectLst/>
                        </a:rPr>
                        <a:t>Astra Lin</a:t>
                      </a:r>
                      <a:r>
                        <a:rPr lang="ru-RU" sz="2000" dirty="0" err="1">
                          <a:effectLst/>
                        </a:rPr>
                        <a:t>ux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43255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2000" dirty="0" err="1">
                          <a:effectLst/>
                        </a:rPr>
                        <a:t>Windows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err="1">
                          <a:effectLst/>
                        </a:rPr>
                        <a:t>Linux</a:t>
                      </a:r>
                      <a:r>
                        <a:rPr lang="ru-RU" sz="2000" dirty="0">
                          <a:effectLst/>
                        </a:rPr>
                        <a:t>, </a:t>
                      </a:r>
                      <a:r>
                        <a:rPr lang="ru-RU" sz="2000" dirty="0" err="1">
                          <a:effectLst/>
                        </a:rPr>
                        <a:t>MacOS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  <a:tr h="4325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2000">
                          <a:effectLst/>
                        </a:rPr>
                        <a:t>Yandex brauzeri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ru-RU" sz="2000" dirty="0" err="1">
                          <a:effectLst/>
                        </a:rPr>
                        <a:t>Windows</a:t>
                      </a:r>
                      <a:endParaRPr lang="ru-RU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883230"/>
              </p:ext>
            </p:extLst>
          </p:nvPr>
        </p:nvGraphicFramePr>
        <p:xfrm>
          <a:off x="5736657" y="3612450"/>
          <a:ext cx="5996539" cy="336008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2196859"/>
                <a:gridCol w="3799680"/>
              </a:tblGrid>
              <a:tr h="4161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Brauzer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Platformalar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</a:tr>
              <a:tr h="8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u="none" dirty="0">
                          <a:effectLst/>
                        </a:rPr>
                        <a:t>Chrome</a:t>
                      </a:r>
                      <a:r>
                        <a:rPr lang="en-US" sz="2000" dirty="0">
                          <a:effectLst/>
                        </a:rPr>
                        <a:t> 29-53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Android, </a:t>
                      </a:r>
                      <a:r>
                        <a:rPr lang="en-US" sz="2000" dirty="0" err="1">
                          <a:effectLst/>
                        </a:rPr>
                        <a:t>iOS</a:t>
                      </a:r>
                      <a:r>
                        <a:rPr lang="en-US" sz="2000" dirty="0">
                          <a:effectLst/>
                        </a:rPr>
                        <a:t>, Linux, Mac OS X, </a:t>
                      </a:r>
                      <a:r>
                        <a:rPr lang="en-US" sz="2000" dirty="0" smtClean="0">
                          <a:effectLst/>
                        </a:rPr>
                        <a:t>Windows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</a:tr>
              <a:tr h="848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kern="1200" dirty="0" err="1">
                          <a:effectLst/>
                          <a:hlinkClick r:id="rId3" tooltip="Google Chrome"/>
                        </a:rPr>
                        <a:t>Chrome</a:t>
                      </a:r>
                      <a:r>
                        <a:rPr lang="ru-RU" sz="2000" u="none" dirty="0">
                          <a:effectLst/>
                        </a:rPr>
                        <a:t> 58+</a:t>
                      </a:r>
                      <a:endParaRPr lang="ru-RU" sz="2800" u="none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Android, </a:t>
                      </a:r>
                      <a:r>
                        <a:rPr lang="en-US" sz="2000" dirty="0" err="1">
                          <a:effectLst/>
                        </a:rPr>
                        <a:t>iOS</a:t>
                      </a:r>
                      <a:r>
                        <a:rPr lang="en-US" sz="2000" dirty="0">
                          <a:effectLst/>
                        </a:rPr>
                        <a:t>, Linux, Mac OS X, </a:t>
                      </a:r>
                      <a:r>
                        <a:rPr lang="en-US" sz="2000" dirty="0" smtClean="0">
                          <a:effectLst/>
                        </a:rPr>
                        <a:t>Windows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</a:tr>
              <a:tr h="4161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dirty="0">
                          <a:effectLst/>
                          <a:hlinkClick r:id="rId4" tooltip="Firefox"/>
                        </a:rPr>
                        <a:t>Firefox</a:t>
                      </a:r>
                      <a:r>
                        <a:rPr lang="ru-RU" sz="2000" dirty="0">
                          <a:effectLst/>
                        </a:rPr>
                        <a:t> 54+</a:t>
                      </a:r>
                      <a:endParaRPr lang="ru-RU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Linux, Mac OS X, </a:t>
                      </a:r>
                      <a:r>
                        <a:rPr lang="en-US" sz="2000" dirty="0" smtClean="0">
                          <a:effectLst/>
                        </a:rPr>
                        <a:t>Windows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</a:tr>
              <a:tr h="41618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000" u="none" dirty="0">
                          <a:effectLst/>
                          <a:hlinkClick r:id="rId5" tooltip="Opera"/>
                        </a:rPr>
                        <a:t>Opera</a:t>
                      </a:r>
                      <a:r>
                        <a:rPr lang="ru-RU" sz="2000" dirty="0">
                          <a:effectLst/>
                        </a:rPr>
                        <a:t> 44+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Linux, Mac OS X, Windows</a:t>
                      </a:r>
                      <a:endParaRPr lang="ru-RU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1936" marR="31936" marT="15968" marB="15968" anchor="ctr"/>
                </a:tc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6528711" y="2792054"/>
            <a:ext cx="500579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Xalqaro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TLS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protokollarini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qo‘llab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- </a:t>
            </a:r>
          </a:p>
          <a:p>
            <a:pPr algn="ctr"/>
            <a:r>
              <a:rPr lang="en-US" sz="2400" b="1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quvvatlovchi</a:t>
            </a:r>
            <a:r>
              <a:rPr lang="en-US" sz="2400" b="1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brauzerlar</a:t>
            </a:r>
            <a:endParaRPr lang="ru-RU" sz="2400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66936" y="2792053"/>
            <a:ext cx="511473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TLS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protokollarini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qo‘llab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endParaRPr lang="en-US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quvvatlovchi</a:t>
            </a:r>
            <a:r>
              <a:rPr lang="en-US" sz="24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b="1" dirty="0" err="1">
                <a:latin typeface="Cambria" panose="02040503050406030204" pitchFamily="18" charset="0"/>
                <a:ea typeface="Cambria" panose="02040503050406030204" pitchFamily="18" charset="0"/>
              </a:rPr>
              <a:t>brauzerlar</a:t>
            </a:r>
            <a:endParaRPr lang="ru-RU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4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640" y="41847"/>
            <a:ext cx="114925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 err="1">
                <a:cs typeface="Arial" panose="020B0604020202020204" pitchFamily="34" charset="0"/>
              </a:rPr>
              <a:t>K</a:t>
            </a:r>
            <a:r>
              <a:rPr lang="en-US" sz="3600" dirty="0" err="1" smtClean="0">
                <a:cs typeface="Arial" panose="020B0604020202020204" pitchFamily="34" charset="0"/>
              </a:rPr>
              <a:t>elgusida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milliy</a:t>
            </a:r>
            <a:r>
              <a:rPr lang="en-US" sz="3600" dirty="0">
                <a:cs typeface="Arial" panose="020B0604020202020204" pitchFamily="34" charset="0"/>
              </a:rPr>
              <a:t> TLS </a:t>
            </a:r>
            <a:r>
              <a:rPr lang="en-US" sz="3600" dirty="0" err="1">
                <a:cs typeface="Arial" panose="020B0604020202020204" pitchFamily="34" charset="0"/>
              </a:rPr>
              <a:t>protokoli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yaratish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bo‘yicha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endParaRPr lang="en-US" sz="3600" dirty="0" smtClean="0">
              <a:cs typeface="Arial" panose="020B0604020202020204" pitchFamily="34" charset="0"/>
            </a:endParaRPr>
          </a:p>
          <a:p>
            <a:pPr algn="ctr"/>
            <a:r>
              <a:rPr lang="en-US" sz="3600" dirty="0" err="1" smtClean="0">
                <a:cs typeface="Arial" panose="020B0604020202020204" pitchFamily="34" charset="0"/>
              </a:rPr>
              <a:t>taklif</a:t>
            </a:r>
            <a:r>
              <a:rPr lang="en-US" sz="3600" dirty="0" smtClean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va</a:t>
            </a:r>
            <a:r>
              <a:rPr lang="en-US" sz="3600" dirty="0">
                <a:cs typeface="Arial" panose="020B0604020202020204" pitchFamily="34" charset="0"/>
              </a:rPr>
              <a:t> </a:t>
            </a:r>
            <a:r>
              <a:rPr lang="en-US" sz="3600" dirty="0" err="1">
                <a:cs typeface="Arial" panose="020B0604020202020204" pitchFamily="34" charset="0"/>
              </a:rPr>
              <a:t>tavfsiyalar</a:t>
            </a:r>
            <a:endParaRPr lang="ru-RU" sz="3600" dirty="0">
              <a:latin typeface="+mj-lt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 flipV="1">
            <a:off x="3175" y="1164656"/>
            <a:ext cx="12160248" cy="3981"/>
          </a:xfrm>
          <a:prstGeom prst="line">
            <a:avLst/>
          </a:prstGeom>
          <a:ln w="28575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0" y="1242176"/>
            <a:ext cx="12047919" cy="181588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en-US" sz="2800" dirty="0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en-US" sz="2800" dirty="0" err="1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800" dirty="0" smtClean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imzolarni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sertifikatlar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yordam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dasturlari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’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qo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shimcha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axborotni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himoya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vositasi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‘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lgan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dasturiy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ta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’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minot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chiqish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Cryptopro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CSP 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misolida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tavfsiya</a:t>
            </a:r>
            <a:r>
              <a:rPr lang="en-US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etiladi</a:t>
            </a:r>
            <a:r>
              <a:rPr lang="ru-RU" sz="2800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98921" y="3289760"/>
            <a:ext cx="11848997" cy="347787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49580" algn="just">
              <a:spcAft>
                <a:spcPts val="0"/>
              </a:spcAft>
            </a:pP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imzolarni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sertifikatlar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Rossiya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davlatida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Kriptopro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kriptoprovayder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kompaniyasi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tomonidan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ishlab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chiqilgan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Cryptopro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CSP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dasturiy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ta</a:t>
            </a:r>
            <a:r>
              <a:rPr lang="ru-R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’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minoti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amalga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oshiriladi</a:t>
            </a:r>
            <a:r>
              <a:rPr lang="ru-RU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US" sz="20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Cryptopro</a:t>
            </a:r>
            <a:r>
              <a:rPr 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CSP 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imzolarni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sertifikatlar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kriptografik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yordam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dasturlari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to‘plami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Windows, Linux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macOS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operatsion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tizimlarida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qo‘llaniladi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sz="2000" dirty="0" smtClean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r>
              <a:rPr lang="en-US" sz="2000" b="1" dirty="0" err="1" smtClean="0"/>
              <a:t>CryptoPro</a:t>
            </a:r>
            <a:r>
              <a:rPr lang="en-US" sz="2000" b="1" dirty="0" smtClean="0"/>
              <a:t> </a:t>
            </a:r>
            <a:r>
              <a:rPr lang="en-US" sz="2000" b="1" dirty="0"/>
              <a:t>CSP </a:t>
            </a:r>
            <a:r>
              <a:rPr lang="en-US" sz="2000" b="1" dirty="0" err="1"/>
              <a:t>dasturiy</a:t>
            </a:r>
            <a:r>
              <a:rPr lang="en-US" sz="2000" b="1" dirty="0"/>
              <a:t> </a:t>
            </a:r>
            <a:r>
              <a:rPr lang="en-US" sz="2000" b="1" dirty="0" err="1"/>
              <a:t>ta’minoti</a:t>
            </a:r>
            <a:r>
              <a:rPr lang="en-US" sz="2000" b="1" dirty="0"/>
              <a:t> </a:t>
            </a:r>
            <a:r>
              <a:rPr lang="en-US" sz="2000" b="1" dirty="0" err="1"/>
              <a:t>quydagi</a:t>
            </a:r>
            <a:r>
              <a:rPr lang="en-US" sz="2000" b="1" dirty="0"/>
              <a:t> </a:t>
            </a:r>
            <a:r>
              <a:rPr lang="en-US" sz="2000" b="1" dirty="0" err="1"/>
              <a:t>vazifalarni</a:t>
            </a:r>
            <a:r>
              <a:rPr lang="en-US" sz="2000" b="1" dirty="0"/>
              <a:t> </a:t>
            </a:r>
            <a:r>
              <a:rPr lang="en-US" sz="2000" b="1" dirty="0" err="1"/>
              <a:t>bajaradi</a:t>
            </a:r>
            <a:r>
              <a:rPr lang="en-US" sz="2000" b="1" dirty="0"/>
              <a:t>:</a:t>
            </a:r>
            <a:endParaRPr lang="ru-RU" sz="2000" b="1" dirty="0"/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Elektron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imzoni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tekshirish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Maxfiylikni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ta’minlash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ma’lumotlarning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yaxlitligini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shifrlash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orqali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nazorat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TLS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IPsec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protokollari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yordamida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ulanishlarning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haqiqiyligini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maxfiyligini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ta’minlash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v"/>
            </a:pP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Ruxsatsiz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o‘zgarishlardan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ishonchli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ishlashning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buzilishidan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himoya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tizim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amaliy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dasturlarning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yaxlitligini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nazorat</a:t>
            </a:r>
            <a:r>
              <a:rPr lang="en-US" sz="20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r>
              <a:rPr lang="en-US" sz="20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ru-RU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7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0"/>
            <a:ext cx="12188825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38800" y="3200401"/>
            <a:ext cx="5930678" cy="711081"/>
          </a:xfrm>
        </p:spPr>
        <p:txBody>
          <a:bodyPr>
            <a:noAutofit/>
          </a:bodyPr>
          <a:lstStyle/>
          <a:p>
            <a:r>
              <a:rPr lang="en-US" sz="5400" dirty="0" err="1">
                <a:solidFill>
                  <a:srgbClr val="FFFF00"/>
                </a:solidFill>
                <a:effectLst/>
              </a:rPr>
              <a:t>E’tiboringiz</a:t>
            </a:r>
            <a:r>
              <a:rPr lang="en-US" sz="5400" dirty="0">
                <a:solidFill>
                  <a:srgbClr val="FFFF00"/>
                </a:solidFill>
                <a:effectLst/>
              </a:rPr>
              <a:t> </a:t>
            </a:r>
            <a:r>
              <a:rPr lang="en-US" sz="5400" dirty="0" err="1">
                <a:solidFill>
                  <a:srgbClr val="FFFF00"/>
                </a:solidFill>
                <a:effectLst/>
              </a:rPr>
              <a:t>uchun</a:t>
            </a:r>
            <a:r>
              <a:rPr lang="en-US" sz="5400" dirty="0">
                <a:solidFill>
                  <a:srgbClr val="FFFF00"/>
                </a:solidFill>
                <a:effectLst/>
              </a:rPr>
              <a:t> </a:t>
            </a:r>
            <a:r>
              <a:rPr lang="en-US" sz="5400" dirty="0" err="1">
                <a:solidFill>
                  <a:srgbClr val="FFFF00"/>
                </a:solidFill>
                <a:effectLst/>
              </a:rPr>
              <a:t>rahmat</a:t>
            </a:r>
            <a:r>
              <a:rPr lang="en-US" sz="5400" dirty="0">
                <a:solidFill>
                  <a:srgbClr val="FFFF00"/>
                </a:solidFill>
                <a:effectLst/>
              </a:rPr>
              <a:t> !</a:t>
            </a:r>
            <a:endParaRPr lang="ru-RU" sz="5400" dirty="0"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54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</TotalTime>
  <Words>3798</Words>
  <Application>Microsoft Office PowerPoint</Application>
  <PresentationFormat>Произвольный</PresentationFormat>
  <Paragraphs>475</Paragraphs>
  <Slides>42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4" baseType="lpstr">
      <vt:lpstr>Тема Office</vt:lpstr>
      <vt:lpstr>Visio.Drawing.11</vt:lpstr>
      <vt:lpstr>Презентация PowerPoint</vt:lpstr>
      <vt:lpstr>Презентация PowerPoint</vt:lpstr>
      <vt:lpstr>Презентация PowerPoint</vt:lpstr>
      <vt:lpstr>Презентация PowerPoint</vt:lpstr>
      <vt:lpstr>TLS protokoli tuzilishi   </vt:lpstr>
      <vt:lpstr>Презентация PowerPoint</vt:lpstr>
      <vt:lpstr>Презентация PowerPoint</vt:lpstr>
      <vt:lpstr>Alert protokoli va ChangeCipherSpace protokoli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E’tiboringiz uchun rahmat 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ECT</dc:creator>
  <cp:lastModifiedBy>HP</cp:lastModifiedBy>
  <cp:revision>202</cp:revision>
  <dcterms:created xsi:type="dcterms:W3CDTF">2024-04-01T04:13:58Z</dcterms:created>
  <dcterms:modified xsi:type="dcterms:W3CDTF">2024-06-06T19:07:04Z</dcterms:modified>
</cp:coreProperties>
</file>