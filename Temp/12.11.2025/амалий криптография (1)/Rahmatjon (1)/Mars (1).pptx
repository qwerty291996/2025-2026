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66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8" d="100"/>
          <a:sy n="48" d="100"/>
        </p:scale>
        <p:origin x="14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9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07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14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2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29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34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83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84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15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61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51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0AC1F-15E5-4158-B764-B0E01B0B8B05}" type="datetimeFigureOut">
              <a:rPr lang="ru-RU" smtClean="0"/>
              <a:t>06.05.2024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43287-34D2-4D1C-B02C-53323A0FA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&#1044;&#1086;&#1082;&#1091;&#1084;&#1077;&#1085;&#1090;%20Microsoft%20Word.docx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61423" y="2685448"/>
            <a:ext cx="8526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simmetrik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alogoritmi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48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31520" y="315390"/>
            <a:ext cx="11040177" cy="587853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Algoritmning</a:t>
            </a:r>
            <a:r>
              <a:rPr kumimoji="0" lang="ru-RU" altLang="ru-RU" sz="3200" b="1" i="0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3200" b="1" i="0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qisqacha</a:t>
            </a:r>
            <a:r>
              <a:rPr kumimoji="0" lang="ru-RU" altLang="ru-RU" sz="3200" b="1" i="0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3200" b="1" i="0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tavsifi</a:t>
            </a:r>
            <a:r>
              <a:rPr kumimoji="0" lang="en-US" altLang="ru-RU" sz="3200" b="1" i="0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3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sz="32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maxfiy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kalitga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blokli</a:t>
            </a:r>
            <a:r>
              <a:rPr kumimoji="0" lang="ru-RU" altLang="ru-RU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simmetrik</a:t>
            </a:r>
            <a:r>
              <a:rPr kumimoji="0" lang="ru-RU" altLang="ru-RU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shifrdir</a:t>
            </a:r>
            <a:r>
              <a:rPr kumimoji="0" lang="ru-RU" altLang="ru-RU" sz="2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ru-RU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ziga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xosligi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ajralib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turadi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chunki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kriptoalgoritmlarda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llaniladigan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deyarli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texnologiyalardan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foydalangan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xususan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shish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ayirish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eksklyuziv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almashtirishlar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belgilangan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tsiklik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siljish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paytirish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moduli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kumimoji="0" lang="ru-RU" altLang="ru-RU" sz="2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moduli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ru-RU" altLang="ru-RU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kalitni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oqartirish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aralashtirishdan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kriptotahlil</a:t>
            </a:r>
            <a:r>
              <a:rPr kumimoji="0" lang="en-US" altLang="ru-RU" sz="2600" b="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qiyinchilik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tug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diradi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zilar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algoritmning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noqulayligi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bog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laydi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hozirda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algoritmga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hujumlar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ru-RU" altLang="ru-RU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garchi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zaif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kalitlarni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25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5942" y="365761"/>
            <a:ext cx="4264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26628" t="29134" r="38690" b="24513"/>
          <a:stretch/>
        </p:blipFill>
        <p:spPr>
          <a:xfrm>
            <a:off x="505097" y="1288867"/>
            <a:ext cx="6331132" cy="4659546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13960"/>
              </p:ext>
            </p:extLst>
          </p:nvPr>
        </p:nvGraphicFramePr>
        <p:xfrm>
          <a:off x="7367452" y="1453415"/>
          <a:ext cx="4136571" cy="256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0663">
                <a:tc>
                  <a:txBody>
                    <a:bodyPr/>
                    <a:lstStyle/>
                    <a:p>
                      <a:r>
                        <a:rPr lang="en-US" dirty="0" err="1"/>
                        <a:t>Yaratuvchilari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Kerolin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barvik</a:t>
                      </a:r>
                      <a:r>
                        <a:rPr lang="en-US" dirty="0"/>
                        <a:t>, Don </a:t>
                      </a:r>
                      <a:r>
                        <a:rPr lang="en-US" dirty="0" err="1"/>
                        <a:t>Koppersmit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Yaratilgan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yili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1998 -</a:t>
                      </a:r>
                      <a:r>
                        <a:rPr lang="en-US" dirty="0" err="1"/>
                        <a:t>yil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Blok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uzunligi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128-bit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Kalit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uzunligi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128-448 bit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Roundlar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soni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Tipi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Feystal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tarmog’i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05575" y="4225491"/>
            <a:ext cx="43409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tugagandan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qo‘shiladi</a:t>
            </a:r>
            <a:endParaRPr 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3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5582" y="191588"/>
            <a:ext cx="10222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algoritmining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ridan-to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aralashtirish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akslantirishi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2880" y="3137836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di.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ru-RU" altLang="ru-RU" sz="28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MARS algoritmining to'g'ridan-to'g'ri aralashtirish bosqic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93" y="1008130"/>
            <a:ext cx="5668144" cy="523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69794" y="982708"/>
            <a:ext cx="5768105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00" b="1" dirty="0"/>
              <a:t>1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blokining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o'tkaziladi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blokiga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blokining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8 bit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o‘ngga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siklik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Oldingi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bosqichning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blokiga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bit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o'ngga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siklik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siklik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surilgandan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1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qo'shimcha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bit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o'ngga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siklik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blokqiymati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siklik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surilgandan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XOR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operatsiyasi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blokiga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/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Bloklar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rasmda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ko'rsatilganidek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almashtiriladi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299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RS algoritmining to'g'ridan-to'g'ri kripto konvertatsiyasining raund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51" y="1119822"/>
            <a:ext cx="5715000" cy="409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727108" y="178917"/>
            <a:ext cx="92953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To‘g‘ridan-to‘g‘ri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kripto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konvertatsiya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akslantirishi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14011" y="1342184"/>
            <a:ext cx="53644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Bosqichning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asosi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32-bitli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kirish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bloki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ya’ni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Helvetica Neue"/>
              </a:rPr>
              <a:t>A </a:t>
            </a:r>
            <a:r>
              <a:rPr lang="en-US" sz="2200" b="1" dirty="0" err="1">
                <a:solidFill>
                  <a:srgbClr val="000000"/>
                </a:solidFill>
                <a:latin typeface="Helvetica Neue"/>
              </a:rPr>
              <a:t>ni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uchta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32-bitli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chiqish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qiymatiga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aylantiradigan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kengayish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kriptotransformasi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200" b="1" dirty="0">
                <a:solidFill>
                  <a:srgbClr val="000000"/>
                </a:solidFill>
                <a:latin typeface="Helvetica Neue"/>
              </a:rPr>
              <a:t>E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operatsiyasidan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foydalaniladi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Ularning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har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biri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ma’lum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bir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tarzda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qolgan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pastki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bloklarga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uzatiladi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.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Shundan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so‘ng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, </a:t>
            </a:r>
            <a:r>
              <a:rPr lang="en-US" sz="2200" b="1" dirty="0">
                <a:solidFill>
                  <a:srgbClr val="000000"/>
                </a:solidFill>
                <a:latin typeface="Helvetica Neue"/>
              </a:rPr>
              <a:t>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blok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chapga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13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bitga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chapga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suriladi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so‘ngra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pastki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bloklar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oldinga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siljish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raundiga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o‘xshash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Helvetica Neue"/>
              </a:rPr>
              <a:t>almashtiriladi</a:t>
            </a:r>
            <a:r>
              <a:rPr lang="en-US" sz="2200" dirty="0">
                <a:solidFill>
                  <a:srgbClr val="000000"/>
                </a:solidFill>
                <a:latin typeface="Helvetica Neue"/>
              </a:rPr>
              <a:t>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009454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534400" y="1463287"/>
            <a:ext cx="309154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I,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&lt;&lt;&lt; 13,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+ k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2r+4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mod 2 </a:t>
            </a:r>
            <a:r>
              <a:rPr lang="pt-BR" b="1" baseline="30000" dirty="0">
                <a:solidFill>
                  <a:srgbClr val="000000"/>
                </a:solidFill>
                <a:latin typeface="Helvetica Neue"/>
              </a:rPr>
              <a:t>32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* k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2r+5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mod 2 </a:t>
            </a:r>
            <a:r>
              <a:rPr lang="pt-BR" b="1" baseline="30000" dirty="0">
                <a:solidFill>
                  <a:srgbClr val="000000"/>
                </a:solidFill>
                <a:latin typeface="Helvetica Neue"/>
              </a:rPr>
              <a:t>32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&lt;&lt; &lt; 5,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S(O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),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+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2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&lt;&lt;&lt;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',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&lt;&lt;&lt; 5,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+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,</a:t>
            </a:r>
            <a:br>
              <a:rPr lang="pt-BR" b="1" dirty="0">
                <a:solidFill>
                  <a:srgbClr val="000000"/>
                </a:solidFill>
                <a:latin typeface="Helvetica Neue"/>
              </a:rPr>
            </a:br>
            <a:r>
              <a:rPr lang="pt-BR" b="1" dirty="0">
                <a:solidFill>
                  <a:srgbClr val="000000"/>
                </a:solidFill>
                <a:latin typeface="Helvetica Neue"/>
              </a:rPr>
              <a:t>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=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&lt;&lt;&lt; O </a:t>
            </a:r>
            <a:r>
              <a:rPr lang="pt-BR" b="1" baseline="-25000" dirty="0">
                <a:solidFill>
                  <a:srgbClr val="000000"/>
                </a:solidFill>
                <a:latin typeface="Helvetica Neue"/>
              </a:rPr>
              <a:t>3</a:t>
            </a:r>
            <a:r>
              <a:rPr lang="pt-BR" b="1" dirty="0">
                <a:solidFill>
                  <a:srgbClr val="000000"/>
                </a:solidFill>
                <a:latin typeface="Helvetica Neue"/>
              </a:rPr>
              <a:t> ',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808043" y="239877"/>
            <a:ext cx="64652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algoritmining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operatsiyasi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61555" y="5128033"/>
            <a:ext cx="117304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r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-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joriy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turning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soni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, 0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dan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boshlab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bu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holda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turlarni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raqamlashda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faqat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algoritmning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kripto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yadrosining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davrlari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hisobga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olinadi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),</a:t>
            </a:r>
            <a:br>
              <a:rPr lang="en-US" dirty="0"/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S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-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operatsiya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jadvalni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almashtirish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yuqorida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tavsiflangan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Helvetica Neue"/>
              </a:rPr>
              <a:t>S </a:t>
            </a:r>
            <a:r>
              <a:rPr lang="en-US" b="1" baseline="-25000" dirty="0">
                <a:solidFill>
                  <a:srgbClr val="000000"/>
                </a:solidFill>
                <a:latin typeface="Helvetica Neue"/>
              </a:rPr>
              <a:t>0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va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Helvetica Neue"/>
              </a:rPr>
              <a:t>S </a:t>
            </a:r>
            <a:r>
              <a:rPr lang="en-US" b="1" baseline="-25000" dirty="0">
                <a:solidFill>
                  <a:srgbClr val="000000"/>
                </a:solidFill>
                <a:latin typeface="Helvetica Neue"/>
              </a:rPr>
              <a:t>1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jadvallarining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birlashmasi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bo'lgan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</a:t>
            </a:r>
          </a:p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E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 ;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birlashtirilgan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jadval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512 ta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qiymatni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o'z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ichiga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oladi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chiqish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qiymati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kirish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so'zining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9 ta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kichik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bitlarini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olib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jadvaldagi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(S)  index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bo`yicha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qiymatini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oladi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.</a:t>
            </a:r>
            <a:endParaRPr lang="ru-RU" dirty="0"/>
          </a:p>
        </p:txBody>
      </p:sp>
      <p:pic>
        <p:nvPicPr>
          <p:cNvPr id="8" name="Рисунок 7">
            <a:hlinkClick r:id="rId3" action="ppaction://hlinkfile"/>
          </p:cNvPr>
          <p:cNvPicPr>
            <a:picLocks noChangeAspect="1"/>
          </p:cNvPicPr>
          <p:nvPr/>
        </p:nvPicPr>
        <p:blipFill rotWithShape="1">
          <a:blip r:embed="rId4"/>
          <a:srcRect l="25647" t="26246" r="13770" b="13949"/>
          <a:stretch/>
        </p:blipFill>
        <p:spPr>
          <a:xfrm>
            <a:off x="322218" y="1071154"/>
            <a:ext cx="7454538" cy="3892918"/>
          </a:xfrm>
          <a:prstGeom prst="rect">
            <a:avLst/>
          </a:prstGeom>
        </p:spPr>
      </p:pic>
      <p:sp>
        <p:nvSpPr>
          <p:cNvPr id="2" name="Овал 1"/>
          <p:cNvSpPr/>
          <p:nvPr/>
        </p:nvSpPr>
        <p:spPr>
          <a:xfrm>
            <a:off x="9568206" y="3233394"/>
            <a:ext cx="169683" cy="1414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9568205" y="2150378"/>
            <a:ext cx="169683" cy="131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963886" y="4441371"/>
            <a:ext cx="278674" cy="426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78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RS algoritmining teskari kripto konvertatsiyasining raund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12" y="1105652"/>
            <a:ext cx="6958149" cy="477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237535" y="74076"/>
            <a:ext cx="83881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Teskari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kripto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konvertatsiya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akslantirishi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733211" y="1344320"/>
            <a:ext cx="41806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akslantirishning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to‘g‘ridan-to‘gְri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kripto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akslantirishdan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farqi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operatsiyadan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chiqayotgan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…..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O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O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teskari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akslantirish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baseline="-25000" dirty="0"/>
              <a:t>    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56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480458" y="144921"/>
            <a:ext cx="108334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algoritmining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teskari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aralashtirish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akslantirishi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MARS algoritmining orqaga aralashish davr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49" y="1081268"/>
            <a:ext cx="5948952" cy="506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6461760" y="872262"/>
            <a:ext cx="563444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blokining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o‘tkaziladi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>
              <a:buFont typeface="+mj-lt"/>
              <a:buAutoNum type="arabicPeriod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blokining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bit </a:t>
            </a:r>
            <a:r>
              <a:rPr lang="en-US" sz="2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blokining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bit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surilgan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 </a:t>
            </a:r>
            <a:r>
              <a:rPr lang="en-US" sz="22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ayriladi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algn="just"/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qadam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bit </a:t>
            </a:r>
            <a:r>
              <a:rPr lang="en-US" sz="2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Oldingi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qadamining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uzatamiz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chiqqan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ayriladi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.</a:t>
            </a:r>
          </a:p>
          <a:p>
            <a:pPr algn="just"/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4-qadamning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bit </a:t>
            </a:r>
            <a:r>
              <a:rPr lang="en-US" sz="2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Oldingi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qadamining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uzatamiz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chiqqan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XOR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operatsiyasi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blokiga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qo‘shiladi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sz="2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8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5018" y="156754"/>
            <a:ext cx="4963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83772" y="940420"/>
            <a:ext cx="1112955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128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448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bitgacha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karrali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hajmga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bo'lishi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kengaytirish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40 ta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shakllantirish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malum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muhokama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1-qadam.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Vaqtinchalik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...T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massivi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KI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,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KI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,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KI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,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n,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n+2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... = 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0,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...KI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so'zlardagi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o‘lchami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- 4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99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3143" y="414665"/>
            <a:ext cx="113124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2-qadam.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qadam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takrorlanadi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iteratsiya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ta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hisoblangan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kengaytirilgan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fragmentlarini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Chiziqli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transformatsiya:T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T </a:t>
            </a:r>
            <a:r>
              <a:rPr lang="en-US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i-7 mod 15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 mod 15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) &lt;&lt;&lt; 3)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(4i + j),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0 ,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0...14;</a:t>
            </a:r>
          </a:p>
          <a:p>
            <a:pPr lvl="1" algn="just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2.Aralashtirish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massivi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 </a:t>
            </a:r>
            <a:r>
              <a:rPr lang="en-US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(T </a:t>
            </a:r>
            <a:r>
              <a:rPr lang="en-US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S(T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 mod 15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)) &lt;&lt;&lt; 9,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operatsiyasida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qoidalarga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muvofiq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oshiriladigan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stolni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lvl="1" algn="just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3.Yakuniy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tartibga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solish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10j+n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T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 mod15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,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0...9.</a:t>
            </a: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92183" y="3830985"/>
            <a:ext cx="113733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3-qadam.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Hisoblangan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kalitlarga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talablarni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qo‘yish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quyidagilardan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operatsiyasida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ko'paytirish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ya'ni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 </a:t>
            </a:r>
            <a:r>
              <a:rPr 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toq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)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toq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Xuddi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.</a:t>
            </a:r>
            <a:endParaRPr lang="en-US" sz="24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8168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6861" t="16235" r="31926" b="9892"/>
          <a:stretch/>
        </p:blipFill>
        <p:spPr>
          <a:xfrm>
            <a:off x="0" y="-106531"/>
            <a:ext cx="12192000" cy="69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5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166378"/>
              </p:ext>
            </p:extLst>
          </p:nvPr>
        </p:nvGraphicFramePr>
        <p:xfrm>
          <a:off x="0" y="0"/>
          <a:ext cx="12192000" cy="7462163"/>
        </p:xfrm>
        <a:graphic>
          <a:graphicData uri="http://schemas.openxmlformats.org/drawingml/2006/table">
            <a:tbl>
              <a:tblPr/>
              <a:tblGrid>
                <a:gridCol w="1097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4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03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</a:t>
                      </a:r>
                      <a:endParaRPr lang="en-US" sz="1600" b="0" dirty="0">
                        <a:solidFill>
                          <a:srgbClr val="333333"/>
                        </a:solidFill>
                        <a:effectLst/>
                        <a:latin typeface="Roboto Condensed"/>
                      </a:endParaRP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Afzalliklar</a:t>
                      </a: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Kamchiliklar</a:t>
                      </a:r>
                      <a:endParaRPr lang="en-US" sz="2800" b="0" dirty="0">
                        <a:solidFill>
                          <a:srgbClr val="333333"/>
                        </a:solidFill>
                        <a:effectLst/>
                        <a:latin typeface="Roboto Condensed"/>
                      </a:endParaRP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3257">
                <a:tc>
                  <a:txBody>
                    <a:bodyPr/>
                    <a:lstStyle/>
                    <a:p>
                      <a:r>
                        <a:rPr lang="en-US" sz="1400" b="0" baseline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 </a:t>
                      </a:r>
                      <a:r>
                        <a:rPr lang="en-US" sz="1800" b="1" baseline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TWOFISH</a:t>
                      </a:r>
                      <a:endParaRPr lang="en-US" sz="1800" b="1" dirty="0">
                        <a:solidFill>
                          <a:srgbClr val="333333"/>
                        </a:solidFill>
                        <a:effectLst/>
                        <a:latin typeface="Roboto Condensed"/>
                      </a:endParaRP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Twofish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apparat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resurslar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cheklangan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sharoitlarda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samarali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oshirilishi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mumkin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Twofish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algoritmidagi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shifrlash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shifrni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ochish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deyarli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xil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Bu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tezkor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kalitlarni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kengaytirishni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qo'llab-quvvatlash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nuqtai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nazaridan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finalchi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algoritmlarning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eng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yaxshisidir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nechta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variantlari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muayyan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ilovalar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uchun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optimallashtirish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imkonini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beradi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strukturasining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murakkabligi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tahlil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qilishni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qiyinlashtiradi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Murakkab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sekin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kalitni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kengaytirish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tartibi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vaqti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quvvat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sarfi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hujumlaridan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himoyalanish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nisbatan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qiyin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Twofish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bilan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shifrlashda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hisob-kitoblarni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parallellashtirish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cheklovlar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bilan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oshiriladi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8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  MARS</a:t>
                      </a: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MARS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algoritmidagi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shifrlash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shifrni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ochish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deyarli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xil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Algoritmning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turli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xil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turlarga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ega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bo'lgan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o'ta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murakkab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tuzilishi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tahlil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qilishni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ham,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uni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oshirishni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ham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qiyinlashtiradi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32-bitli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ko'paytirish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o'zgaruvchan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bit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aylanishini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qo'llab-quvvatlamaydigan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platformalarda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dasturiy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ta'minotda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oshirilganda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muammolar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paydo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bo'ladi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MARS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algoritmini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apparat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resurs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cheklangan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sharoitlarda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samarali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mumkin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emas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Bajarish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vaqti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va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quvvat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sarfi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hujumlaridan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himoyalanish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qiyin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MARS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boshqa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finalchi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algoritmlarga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qaraganda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tezroq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kalitni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kengaytirishni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qo'llab-quvvatlaydi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  <a:p>
                      <a:pPr algn="just"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MARS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algoritmi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bilan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shifrlashda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hisob-kitoblarni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parallellashtirish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cheklovlar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bilan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amalga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oshiriladi</a:t>
                      </a:r>
                      <a:r>
                        <a:rPr lang="en-US" sz="1800" b="0" dirty="0">
                          <a:solidFill>
                            <a:srgbClr val="333333"/>
                          </a:solidFill>
                          <a:effectLst/>
                          <a:latin typeface="Roboto Condensed"/>
                        </a:rPr>
                        <a:t>.</a:t>
                      </a:r>
                    </a:p>
                  </a:txBody>
                  <a:tcPr marL="14565" marR="14565" marT="7282" marB="7282" anchor="ctr">
                    <a:lnL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EA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63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slide-20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" y="0"/>
            <a:ext cx="1214913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97438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1277</Words>
  <Application>Microsoft Office PowerPoint</Application>
  <PresentationFormat>Широкоэкранный</PresentationFormat>
  <Paragraphs>86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Helvetica Neue</vt:lpstr>
      <vt:lpstr>Roboto Condensed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ECT</dc:creator>
  <cp:lastModifiedBy>ФВЬШТ</cp:lastModifiedBy>
  <cp:revision>39</cp:revision>
  <dcterms:created xsi:type="dcterms:W3CDTF">2024-04-29T07:42:31Z</dcterms:created>
  <dcterms:modified xsi:type="dcterms:W3CDTF">2024-05-06T03:49:59Z</dcterms:modified>
</cp:coreProperties>
</file>