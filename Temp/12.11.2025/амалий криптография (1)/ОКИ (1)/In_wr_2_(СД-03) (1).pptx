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464" y="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50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1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04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31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777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55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50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31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92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96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096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753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024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04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710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51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21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55CE658-B65D-4EEA-9B34-36BE0372D23F}" type="datetimeFigureOut">
              <a:rPr lang="ru-RU" smtClean="0"/>
              <a:t>19.06.2024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71827-920C-4FA8-97C9-3991EEA00B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634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8%D0%B4%D0%B5%D0%BD%D1%82%D0%B8%D1%84%D0%B8%D0%BA%D0%B0%D1%86%D0%B8%D1%8F_(%D0%B8%D0%BD%D1%84%D0%BE%D1%80%D0%BC%D0%B0%D1%86%D0%B8%D0%BE%D0%BD%D0%BD%D1%8B%D0%B5_%D1%81%D0%B8%D1%81%D1%82%D0%B5%D0%BC%D1%8B)" TargetMode="External"/><Relationship Id="rId2" Type="http://schemas.openxmlformats.org/officeDocument/2006/relationships/hyperlink" Target="https://ru.wikipedia.org/wiki/%D0%AD%D0%BB%D0%B5%D0%BA%D1%82%D1%80%D0%BE%D0%BD%D0%BD%D0%B0%D1%8F_%D1%86%D0%B8%D1%84%D1%80%D0%BE%D0%B2%D0%B0%D1%8F_%D0%BF%D0%BE%D0%B4%D0%BF%D0%B8%D1%81%D1%8C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u.wikipedia.org/wiki/%D0%90%D0%B2%D1%82%D0%BE%D1%80%D0%B8%D0%B7%D0%B0%D1%86%D0%B8%D1%8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84464" y="158228"/>
            <a:ext cx="861406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2100" b="1" dirty="0">
                <a:latin typeface="Times New Roman" panose="02020603050405020304" pitchFamily="18" charset="0"/>
              </a:rPr>
              <a:t>ЦЕНТР РАДИОЭЛЕКТРОННЫХ СИСТЕМ И ИНФОРМАЦИОННЫХ ТЕХНОЛОГИЙ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81055" y="1470333"/>
            <a:ext cx="36761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</a:rPr>
              <a:t>САМОСТОЯТЕЛЬНАЯ РАБОТА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8858" y="2032087"/>
            <a:ext cx="33405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ru-RU" sz="1500" b="1" dirty="0">
                <a:latin typeface="Times New Roman" panose="02020603050405020304" pitchFamily="18" charset="0"/>
              </a:rPr>
              <a:t>На тему:</a:t>
            </a:r>
            <a:r>
              <a:rPr lang="ru-RU" sz="2100" b="1" dirty="0">
                <a:latin typeface="Times New Roman" panose="02020603050405020304" pitchFamily="18" charset="0"/>
              </a:rPr>
              <a:t> «</a:t>
            </a:r>
            <a:r>
              <a:rPr lang="ru-RU" sz="2400" dirty="0">
                <a:latin typeface="Times New Roman" panose="02020603050405020304" pitchFamily="18" charset="0"/>
              </a:rPr>
              <a:t>Стандарт Х.509</a:t>
            </a:r>
            <a:r>
              <a:rPr lang="ru-RU" sz="2100" b="1" dirty="0">
                <a:latin typeface="Times New Roman" panose="02020603050405020304" pitchFamily="18" charset="0"/>
              </a:rPr>
              <a:t>»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457191" y="5790854"/>
            <a:ext cx="254133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</a:rPr>
              <a:t>Выполнил: </a:t>
            </a:r>
            <a:r>
              <a:rPr lang="ru-RU" sz="1500" dirty="0" err="1">
                <a:latin typeface="Times New Roman" panose="02020603050405020304" pitchFamily="18" charset="0"/>
              </a:rPr>
              <a:t>Ибодуллоев</a:t>
            </a:r>
            <a:r>
              <a:rPr lang="ru-RU" sz="1500" dirty="0">
                <a:latin typeface="Times New Roman" panose="02020603050405020304" pitchFamily="18" charset="0"/>
              </a:rPr>
              <a:t> </a:t>
            </a:r>
            <a:r>
              <a:rPr lang="uz-Cyrl-UZ" sz="1500" dirty="0">
                <a:latin typeface="Times New Roman" panose="02020603050405020304" pitchFamily="18" charset="0"/>
              </a:rPr>
              <a:t>А.И.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523" y="2862819"/>
            <a:ext cx="3251200" cy="3251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579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9026" y="549606"/>
            <a:ext cx="7417809" cy="28623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 открытого ключа, обычно называемый просто сертификатом, - это документ с цифровой подписью, связывающий значение открытого ключа с удостоверением пользователя, устройства или службы, которым принадлежит соответствующий закрытый ключ. Одно из основных преимуществ использования сертификатов состоит в устранении необходимости использования на узлах паролей для отдельных субъектов, для предоставления доступа которым необходимо выполнять проверку их подлинности.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09026" y="2920975"/>
            <a:ext cx="68601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endParaRPr lang="ru-RU" sz="20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ru-RU" sz="20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latin typeface="Times New Roman" panose="02020603050405020304" pitchFamily="18" charset="0"/>
              </a:rPr>
              <a:t>	</a:t>
            </a:r>
            <a:r>
              <a:rPr lang="ru-RU" sz="2000" b="0" i="0" u="none" strike="noStrike" baseline="0" dirty="0">
                <a:latin typeface="Times New Roman" panose="02020603050405020304" pitchFamily="18" charset="0"/>
              </a:rPr>
              <a:t>Одним из самых распространенных в мире стандартов на структуру цифрового сертификата является стандарт X.509. Сертификат стандарта X.509 относится к группе сертификатов аутентификации, основным назначением которых является подтверждение подлинности сторон- участников информационного обмена, в отличие от ролевых сертификатов SPKI. 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91" y="3247593"/>
            <a:ext cx="1974809" cy="23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420937" y="-72736"/>
            <a:ext cx="4225925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58700" rIns="0" bIns="39675" anchor="ctr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Виды сертификатов X.509</a:t>
            </a:r>
          </a:p>
          <a:p>
            <a:pPr eaLnBrk="0" hangingPunct="0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57200" y="715340"/>
            <a:ext cx="7920038" cy="3741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7610" rIns="0" bIns="0" anchor="ctr">
            <a:spAutoFit/>
          </a:bodyPr>
          <a:lstStyle/>
          <a:p>
            <a:pPr algn="ctr"/>
            <a:r>
              <a:rPr lang="ru-RU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Сертификат открытого ключа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</a:rPr>
              <a:t>Сертификат открытого ключа удостоверяет принадлежность открытого ключа некоторому субъекту, например, пользователю. Сертификат открытого ключа содержит имя субъекта, открытый ключ, имя удостоверяющего центра, политику использования соответствующего удостоверяемому открытому ключу закрытого ключа и другие параметры, заверенные </a:t>
            </a:r>
            <a:r>
              <a:rPr lang="ru-RU" sz="2000" dirty="0">
                <a:latin typeface="Times New Roman" panose="02020603050405020304" pitchFamily="18" charset="0"/>
                <a:hlinkClick r:id="rId2" tooltip="Электронная цифровая подпись"/>
              </a:rPr>
              <a:t>подписью</a:t>
            </a:r>
            <a:r>
              <a:rPr lang="ru-RU" sz="2000" dirty="0">
                <a:latin typeface="Times New Roman" panose="02020603050405020304" pitchFamily="18" charset="0"/>
              </a:rPr>
              <a:t> удостоверяющего центра.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</a:rPr>
              <a:t>Сертификат открытого ключа используется для </a:t>
            </a:r>
            <a:r>
              <a:rPr lang="ru-RU" sz="2000" dirty="0">
                <a:latin typeface="Times New Roman" panose="02020603050405020304" pitchFamily="18" charset="0"/>
                <a:hlinkClick r:id="rId3" tooltip="Идентификация (информационные системы)"/>
              </a:rPr>
              <a:t>идентификации</a:t>
            </a:r>
            <a:r>
              <a:rPr lang="ru-RU" sz="2000" dirty="0">
                <a:latin typeface="Times New Roman" panose="02020603050405020304" pitchFamily="18" charset="0"/>
              </a:rPr>
              <a:t> субъекта и уточнения операций, которые субъекту разрешается совершать с использованием закрытого ключа, соответствующего открытому ключу, удостоверяемому данным сертификатом.</a:t>
            </a:r>
            <a:endParaRPr lang="ru-RU" sz="2000" b="1" dirty="0">
              <a:latin typeface="Times New Roman" panose="02020603050405020304" pitchFamily="18" charset="0"/>
            </a:endParaRPr>
          </a:p>
          <a:p>
            <a:pPr algn="just" eaLnBrk="0" hangingPunct="0"/>
            <a:endParaRPr lang="ru-RU" sz="2000" dirty="0">
              <a:latin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3400" y="4226395"/>
            <a:ext cx="8001000" cy="220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7610" rIns="0" bIns="0" anchor="ctr">
            <a:spAutoFit/>
          </a:bodyPr>
          <a:lstStyle/>
          <a:p>
            <a:pPr algn="ctr"/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Сертификат атрибутов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</a:rPr>
              <a:t>Структура сертификата атрибутов аналогична структуре сертификата открытого ключа. Отличие же заключается в том, что сертификат атрибутов удостоверяет не открытый ключ субъекта, а какие-либо его атрибуты — принадлежность к какой-либо группе, роль, полномочия и т. п. Сертификат атрибутов применяется для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hlinkClick r:id="rId4" tooltip="Авторизация"/>
              </a:rPr>
              <a:t>авторизации</a:t>
            </a:r>
            <a:r>
              <a:rPr lang="ru-RU" sz="2000" dirty="0">
                <a:latin typeface="Times New Roman" panose="02020603050405020304" pitchFamily="18" charset="0"/>
              </a:rPr>
              <a:t> субъекта.</a:t>
            </a:r>
          </a:p>
        </p:txBody>
      </p:sp>
    </p:spTree>
    <p:extLst>
      <p:ext uri="{BB962C8B-B14F-4D97-AF65-F5344CB8AC3E}">
        <p14:creationId xmlns:p14="http://schemas.microsoft.com/office/powerpoint/2010/main" val="311728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680080"/>
              </p:ext>
            </p:extLst>
          </p:nvPr>
        </p:nvGraphicFramePr>
        <p:xfrm>
          <a:off x="655493" y="772391"/>
          <a:ext cx="7886700" cy="54864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и название стандарта</a:t>
                      </a:r>
                    </a:p>
                  </a:txBody>
                  <a:tcPr marL="19050" marR="19050" marT="19050" marB="1905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стандарта</a:t>
                      </a:r>
                    </a:p>
                  </a:txBody>
                  <a:tcPr marL="19050" marR="19050" marT="19050" marB="1905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X.500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Каталог: обзор концепций, моделей и услуг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X.509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Каталог: структура аутентификации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X.509a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 изменений и дополнений для продления срока действия сертификатов (расширение версии 3)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X.208 (ISO/IEC 8825) Abstract Syntax Notation (ASN.1)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Абстрактная синтаксическая нотация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X.209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 правила кодирования для ASN.1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ISO/IEC 8824 Object Identifiers (OIDs)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Идентификаторы объектов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ISO/IEC 9594/8 Directory Services (X.509)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Сервисы каталога (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X.509)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20937" y="-72736"/>
            <a:ext cx="4225925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58700" rIns="0" bIns="39675" anchor="ctr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Виды сертификатов X.509</a:t>
            </a:r>
          </a:p>
          <a:p>
            <a:pPr eaLnBrk="0" hangingPunct="0"/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81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796072"/>
              </p:ext>
            </p:extLst>
          </p:nvPr>
        </p:nvGraphicFramePr>
        <p:xfrm>
          <a:off x="-1" y="-4"/>
          <a:ext cx="9144000" cy="6858008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31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и название стандарта</a:t>
                      </a:r>
                    </a:p>
                  </a:txBody>
                  <a:tcPr marL="8579" marR="8579" marT="8579" marB="8579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стандарта</a:t>
                      </a:r>
                    </a:p>
                  </a:txBody>
                  <a:tcPr marL="8579" marR="8579" marT="8579" marB="8579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2510 Certificate Management Protocols (CMP)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Инфраструктура открытых ключей Интернет X.509: протоколы управления сертификатами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542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2511 Certificate Request Protocol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запроса на сертификат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2527 Certificate Policy and Certification Practices Framework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Политика применения сертификатов и структура регламента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2559 LDAP V2 Operational Protocols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Эксплуатационные протоколы инфраструктуры открытых ключей 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542">
                <a:tc>
                  <a:txBody>
                    <a:bodyPr/>
                    <a:lstStyle/>
                    <a:p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2560 Online Certificate Status Protocol (OCSP)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Онлайновый протокол статуса сертификата 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2585 HTTP/FTP Operations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Применение протоколов HTTP/FTP для получения сертификатов и САС и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репозитория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PKI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542">
                <a:tc>
                  <a:txBody>
                    <a:bodyPr/>
                    <a:lstStyle/>
                    <a:p>
                      <a:r>
                        <a:rPr lang="de-DE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2587 LDAP V2 Schema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Схема поддержки PKIX в среде LDAP v2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2797 Certificate Management Messages over CMS (CMC)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управления сертификатами на базе сообщений управления сертификатами 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2875 Diffie-Hellman Proof-of-Possession (POP) Algorithms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Алгоритмы Диффи-Хэлмана доказывания владения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3029 Data Validation and Certification Server Protocols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Протоколы сервера сертификации и проверки достоверности данных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542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3039 Qualified Certificates Profile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Формат сертификата ограниченного пользования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542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3161 Time-Stamp Protocol (TSP)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Протокол меток времени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718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3279 (бывший RFC 2528) Algorithms and Identifiers for the Internet X.509 Public Key Infrastructure Certificate and Certificate Revocation List (CRL) Profile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Алгоритмы и идентификаторы для профилей сертификатов и САС PKIX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4361">
                <a:tc>
                  <a:txBody>
                    <a:bodyPr/>
                    <a:lstStyle/>
                    <a:p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3280 (бывший RFC 2459) Certificate &amp; CRL Profile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Форматы сертификата и списка аннулированных сертификатов X.509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5791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 3281 An Internet Attribute Certificate Profile for Authorization</a:t>
                      </a:r>
                    </a:p>
                  </a:txBody>
                  <a:tcPr marL="8579" marR="8579" marT="8579" marB="857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Формат атрибутного сертификата для авторизации</a:t>
                      </a:r>
                    </a:p>
                  </a:txBody>
                  <a:tcPr marL="8579" marR="8579" marT="8579" marB="8579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23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05780" y="63152"/>
            <a:ext cx="3937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Типы сертификатов</a:t>
            </a:r>
            <a:endParaRPr lang="ru-RU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3879" y="647927"/>
            <a:ext cx="849976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X.509 тесно связан с инфраструктурой открытых ключей (PKI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в рамках которой сертификаты данного формата применяются. PKI подразумевает иерархическую структуру сертификатов, в которой можно выделить четыре типа сертификатов: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 конечного пользователя (описанный выше).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 CA. Должен быть доступен для проверки ЭЦП сертификата конечного пользователя. Сертификат CA должен, в свою очередь, быть подписан секретным ключом CA верхнего уровня, причем эта ЭЦП также должна проверяться, для чего должен быть доступен сертификат CA верхнего уровня – и так далее.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Самоподписанный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сертификат. Является корневым для всей PKI. Данный сертификат является доверенным по определению – в результате проверки цепочки сертификатов CA выяснится, что один из них подписан корневым секретным ключом, после чего процесс проверки ЭЦП сертификатов заканчивается.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Кросс-сертификат. Кросс-сертификаты позволяют расширить действие конкретной PKI путем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взаимоподписания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корневых сертификатов двух разных PKI.</a:t>
            </a:r>
          </a:p>
        </p:txBody>
      </p:sp>
    </p:spTree>
    <p:extLst>
      <p:ext uri="{BB962C8B-B14F-4D97-AF65-F5344CB8AC3E}">
        <p14:creationId xmlns:p14="http://schemas.microsoft.com/office/powerpoint/2010/main" val="103140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6809" y="399426"/>
            <a:ext cx="721129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процесс проверки ЭЦП электронного документа с точки зрения PKI: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Проверяется ЭЦП собственно документа.</a:t>
            </a: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Проверяется ЭЦП сертификата, с помощью которого проверялась предыдущая ЭЦП.</a:t>
            </a:r>
          </a:p>
          <a:p>
            <a:pPr algn="just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Предыдущее действие повторяется в цикле до тех пор, пока цепочка сертификатов не приведет к корневому сертификату.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46" y="3204052"/>
            <a:ext cx="6986016" cy="34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2509" y="227247"/>
            <a:ext cx="734637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ЭЦП документа должна признаваться верной только в том случае, если верна не только она, но и все проверяемые в данном процессе ЭЦП сертификатов. При обнаружении неверной ЭЦП любого из сертификатов следует считать неверными все ЭЦП, проверенные на предыдущих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шагах.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Корневых сертификатов может быть несколько: каждая организация (или организационная единица) вправе устанавливать свои корневые сертификаты (один или несколько). Стандартом предусмотрено и наличие корневого сертификата для всего сообщества пользователей Интернет.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1" y="3659717"/>
            <a:ext cx="6282967" cy="30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5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01776" y="-12097"/>
            <a:ext cx="2434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X.509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E:\1-course\_DARS(2-semestr)\СД-03\Mustaqil_ish_СД-03\Ind_wr_2\Materiallar\структура сертификата Х.50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716" y="604641"/>
            <a:ext cx="5302248" cy="324973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112568" y="3687901"/>
            <a:ext cx="840797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 X.509 версии 3 состоит из следующего набора основных полей: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версии: номер редакции стандарта X.509,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Серийный номер: целое число, уникальным образом идентифицирующее сертификат в рамках одного издателя,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 алгоритма подписи: информация о </a:t>
            </a:r>
            <a:r>
              <a:rPr lang="ru-RU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криптоалгоритме</a:t>
            </a: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использованным при формировании подписи под сертификатом,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издателя/владельца: уникальное отличительное имя (DN) в нотации X.500, </a:t>
            </a:r>
          </a:p>
        </p:txBody>
      </p:sp>
    </p:spTree>
    <p:extLst>
      <p:ext uri="{BB962C8B-B14F-4D97-AF65-F5344CB8AC3E}">
        <p14:creationId xmlns:p14="http://schemas.microsoft.com/office/powerpoint/2010/main" val="232931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5389" y="3777280"/>
            <a:ext cx="79057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действия сертификата: период времени, в течение которого сертификат считается действительным,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открытого ключа: данные </a:t>
            </a:r>
            <a:r>
              <a:rPr lang="ru-RU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криптоалгоритма</a:t>
            </a: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 помощью которого может быть использован открытый ключ и собственно сам открытый ключ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Дополнения сертификата: набор проиндексированных полей, содержащих дополнительную информацию, необходимую для использования сертификата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ru-RU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Подпись: информация алгоритма подписи и данные подписи. </a:t>
            </a:r>
          </a:p>
        </p:txBody>
      </p:sp>
      <p:pic>
        <p:nvPicPr>
          <p:cNvPr id="3" name="Рисунок 2" descr="E:\1-course\_DARS(2-semestr)\СД-03\Mustaqil_ish_СД-03\Ind_wr_2\Materiallar\структура сертификата Х.50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518" y="481656"/>
            <a:ext cx="5417563" cy="32956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3088235" y="-41564"/>
            <a:ext cx="2434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X.509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3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4609" t="4150" r="10682" b="6102"/>
          <a:stretch/>
        </p:blipFill>
        <p:spPr>
          <a:xfrm>
            <a:off x="0" y="0"/>
            <a:ext cx="5991225" cy="331674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5695" t="1227" r="2279"/>
          <a:stretch/>
        </p:blipFill>
        <p:spPr>
          <a:xfrm>
            <a:off x="3810000" y="3315324"/>
            <a:ext cx="5334000" cy="35426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5324"/>
            <a:ext cx="3810000" cy="354267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654" y="-1"/>
            <a:ext cx="3151346" cy="331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7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0"/>
            <a:ext cx="7406120" cy="394320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496" y="3943208"/>
            <a:ext cx="4517928" cy="2914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4042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6249" y="1320304"/>
            <a:ext cx="8220075" cy="3209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Заключение</a:t>
            </a:r>
          </a:p>
          <a:p>
            <a:pPr indent="44958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заключение можно сказать что стандарт формата X.509 призван обеспечить совместимость различных средств криптографической защиты информации. Имея набор обязательных полей для обеспечения взаимопонимания между программными средствами разных производителей, в то же время, данный формат позволяет гибко настраивать содержимое сертификатов конкретных PKI для обеспечения максимальной эффективности их использования.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49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3374" y="2510929"/>
            <a:ext cx="8220075" cy="82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ru-RU" sz="4400" b="1" dirty="0">
                <a:latin typeface="Times New Roman" panose="02020603050405020304" pitchFamily="18" charset="0"/>
                <a:ea typeface="Calibri" panose="020F0502020204030204" pitchFamily="34" charset="0"/>
              </a:rPr>
              <a:t>Спасибо за внимание!!!</a:t>
            </a: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555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1090</Words>
  <Application>Microsoft Office PowerPoint</Application>
  <PresentationFormat>Экран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</vt:lpstr>
      <vt:lpstr>Wingdings 3</vt:lpstr>
      <vt:lpstr>Ион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david</dc:creator>
  <cp:lastModifiedBy>ФВЬШТ</cp:lastModifiedBy>
  <cp:revision>20</cp:revision>
  <dcterms:created xsi:type="dcterms:W3CDTF">2015-06-18T16:10:18Z</dcterms:created>
  <dcterms:modified xsi:type="dcterms:W3CDTF">2024-06-19T08:57:57Z</dcterms:modified>
</cp:coreProperties>
</file>