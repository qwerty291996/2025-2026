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68" r:id="rId4"/>
    <p:sldId id="290" r:id="rId5"/>
    <p:sldId id="270" r:id="rId6"/>
    <p:sldId id="271" r:id="rId7"/>
    <p:sldId id="269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89" r:id="rId16"/>
    <p:sldId id="280" r:id="rId17"/>
    <p:sldId id="283" r:id="rId18"/>
    <p:sldId id="291" r:id="rId19"/>
    <p:sldId id="284" r:id="rId20"/>
    <p:sldId id="285" r:id="rId21"/>
    <p:sldId id="286" r:id="rId22"/>
    <p:sldId id="282" r:id="rId23"/>
    <p:sldId id="281" r:id="rId24"/>
    <p:sldId id="287" r:id="rId25"/>
    <p:sldId id="288" r:id="rId26"/>
    <p:sldId id="266" r:id="rId27"/>
  </p:sldIdLst>
  <p:sldSz cx="9144000" cy="6858000" type="screen4x3"/>
  <p:notesSz cx="6742113" cy="9872663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000099"/>
    <a:srgbClr val="99CCFF"/>
    <a:srgbClr val="CCCCFF"/>
    <a:srgbClr val="CCFFFF"/>
    <a:srgbClr val="CCECFF"/>
    <a:srgbClr val="FFCC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97876" autoAdjust="0"/>
  </p:normalViewPr>
  <p:slideViewPr>
    <p:cSldViewPr>
      <p:cViewPr varScale="1">
        <p:scale>
          <a:sx n="111" d="100"/>
          <a:sy n="111" d="100"/>
        </p:scale>
        <p:origin x="-153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102"/>
      </p:cViewPr>
      <p:guideLst>
        <p:guide orient="horz" pos="3110"/>
        <p:guide pos="212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9525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CF82867-9CB6-434D-A9DC-AFC499DB3109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9525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3E1A956-F2A4-4FBA-825F-D414EEB5DBC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247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9525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1A951A8-86CA-4687-B36D-679AE97F3899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8713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4688" y="4689475"/>
            <a:ext cx="5392737" cy="4443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ru-R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9525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D5E8029-9056-461A-9CA3-742553B0856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9212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uz-Cyrl-UZ" altLang="uz-Cyrl-UZ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BFDFAA0E-7A8A-4DB5-BB36-DE70A4A0E1C1}" type="slidenum">
              <a:rPr lang="ru-RU" altLang="uz-Cyrl-UZ" smtClean="0"/>
              <a:pPr eaLnBrk="1" hangingPunct="1"/>
              <a:t>1</a:t>
            </a:fld>
            <a:endParaRPr lang="ru-RU" altLang="uz-Cyrl-U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2BCD9-8978-49A8-9240-BE14F5CBDAA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046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DFA3AD-D913-4F02-9FA0-6AD9F09A0C7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3157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70C266-C65D-452C-BEB8-2F6FBE03910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71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3FB4CB-296D-4F16-A256-D686426AA30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94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CF6EE-B5B6-4417-BFDE-6BE4EAFFA39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184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F9BC79-2BA5-4865-A5DB-3A904A88415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739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BAF909-4F27-4697-9F3C-A67A5DE70EE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0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AE4B84-19B9-4F73-8252-909715F576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76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341CAA-68F3-4072-8A04-1A988D99F6C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798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A17499-B7AC-4E7B-8A94-B35D988B713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105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EDA5A-5384-4B56-9C80-D61437454DB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920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AEAE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uz-Cyrl-UZ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uz-Cyrl-UZ" smtClean="0"/>
              <a:t>Образец текста</a:t>
            </a:r>
          </a:p>
          <a:p>
            <a:pPr lvl="1"/>
            <a:r>
              <a:rPr lang="ru-RU" altLang="uz-Cyrl-UZ" smtClean="0"/>
              <a:t>Второй уровень</a:t>
            </a:r>
          </a:p>
          <a:p>
            <a:pPr lvl="2"/>
            <a:r>
              <a:rPr lang="ru-RU" altLang="uz-Cyrl-UZ" smtClean="0"/>
              <a:t>Третий уровень</a:t>
            </a:r>
          </a:p>
          <a:p>
            <a:pPr lvl="3"/>
            <a:r>
              <a:rPr lang="ru-RU" altLang="uz-Cyrl-UZ" smtClean="0"/>
              <a:t>Четвертый уровень</a:t>
            </a:r>
          </a:p>
          <a:p>
            <a:pPr lvl="4"/>
            <a:r>
              <a:rPr lang="ru-RU" altLang="uz-Cyrl-UZ" smtClean="0"/>
              <a:t>Пятый уровень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77FBA2A-C8FF-425B-BD85-0E2159E6B3C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2" r:id="rId1"/>
    <p:sldLayoutId id="2147484012" r:id="rId2"/>
    <p:sldLayoutId id="2147484013" r:id="rId3"/>
    <p:sldLayoutId id="2147484014" r:id="rId4"/>
    <p:sldLayoutId id="2147484015" r:id="rId5"/>
    <p:sldLayoutId id="2147484016" r:id="rId6"/>
    <p:sldLayoutId id="2147484017" r:id="rId7"/>
    <p:sldLayoutId id="2147484018" r:id="rId8"/>
    <p:sldLayoutId id="2147484019" r:id="rId9"/>
    <p:sldLayoutId id="2147484020" r:id="rId10"/>
    <p:sldLayoutId id="2147484021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1.xml"/><Relationship Id="rId5" Type="http://schemas.openxmlformats.org/officeDocument/2006/relationships/slide" Target="slide20.xml"/><Relationship Id="rId4" Type="http://schemas.openxmlformats.org/officeDocument/2006/relationships/slide" Target="slide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214282" y="214290"/>
            <a:ext cx="8721900" cy="6429420"/>
          </a:xfrm>
          <a:prstGeom prst="flowChartProcess">
            <a:avLst/>
          </a:prstGeom>
          <a:noFill/>
          <a:ln w="57150">
            <a:solidFill>
              <a:srgbClr val="00206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538163" y="581025"/>
            <a:ext cx="8086725" cy="4302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2200" b="1" dirty="0" err="1">
                <a:solidFill>
                  <a:srgbClr val="800000"/>
                </a:solidFill>
                <a:latin typeface="Times New Roman" pitchFamily="18" charset="0"/>
              </a:rPr>
              <a:t>Радиоэлектрон</a:t>
            </a:r>
            <a:r>
              <a:rPr lang="ru-RU" sz="2200" b="1" dirty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latin typeface="Times New Roman" pitchFamily="18" charset="0"/>
              </a:rPr>
              <a:t>тизимлар</a:t>
            </a:r>
            <a:r>
              <a:rPr lang="ru-RU" sz="2200" b="1" dirty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latin typeface="Times New Roman" pitchFamily="18" charset="0"/>
              </a:rPr>
              <a:t>ва</a:t>
            </a:r>
            <a:r>
              <a:rPr lang="ru-RU" sz="2200" b="1" dirty="0">
                <a:solidFill>
                  <a:srgbClr val="800000"/>
                </a:solidFill>
                <a:latin typeface="Times New Roman" pitchFamily="18" charset="0"/>
              </a:rPr>
              <a:t> а</a:t>
            </a:r>
            <a:r>
              <a:rPr lang="uz-Cyrl-UZ" sz="2200" b="1" dirty="0">
                <a:solidFill>
                  <a:srgbClr val="800000"/>
                </a:solidFill>
                <a:latin typeface="Times New Roman" pitchFamily="18" charset="0"/>
              </a:rPr>
              <a:t>хборот технологиялари маркази</a:t>
            </a:r>
            <a:endParaRPr lang="ru-RU" sz="2200" b="1" dirty="0">
              <a:solidFill>
                <a:srgbClr val="800000"/>
              </a:solidFill>
              <a:latin typeface="Times New Roman" pitchFamily="18" charset="0"/>
            </a:endParaRPr>
          </a:p>
        </p:txBody>
      </p:sp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3487738" y="6148388"/>
            <a:ext cx="19446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uz-Cyrl-UZ" sz="2000" b="1" dirty="0">
                <a:latin typeface="Times New Roman" pitchFamily="18" charset="0"/>
              </a:rPr>
              <a:t>Тошкент - </a:t>
            </a:r>
            <a:r>
              <a:rPr lang="uz-Cyrl-UZ" sz="2000" b="1" dirty="0" smtClean="0">
                <a:latin typeface="Times New Roman" pitchFamily="18" charset="0"/>
              </a:rPr>
              <a:t>201</a:t>
            </a:r>
            <a:r>
              <a:rPr lang="en-US" sz="2000" b="1" dirty="0" smtClean="0">
                <a:latin typeface="Times New Roman" pitchFamily="18" charset="0"/>
              </a:rPr>
              <a:t>9</a:t>
            </a:r>
            <a:endParaRPr lang="ru-RU" sz="2000" b="1" dirty="0">
              <a:latin typeface="Times New Roman" pitchFamily="18" charset="0"/>
            </a:endParaRPr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1036638" y="1873250"/>
            <a:ext cx="6931025" cy="297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anchor="ctr">
            <a:spAutoFit/>
          </a:bodyPr>
          <a:lstStyle/>
          <a:p>
            <a:pPr algn="ctr" eaLnBrk="0" hangingPunct="0">
              <a:lnSpc>
                <a:spcPct val="130000"/>
              </a:lnSpc>
              <a:defRPr/>
            </a:pPr>
            <a:r>
              <a:rPr lang="en-US" sz="4000" b="1" dirty="0" err="1">
                <a:solidFill>
                  <a:srgbClr val="000099"/>
                </a:solidFill>
                <a:latin typeface="Times New Roman" pitchFamily="18" charset="0"/>
              </a:rPr>
              <a:t>O’zDSt</a:t>
            </a:r>
            <a:r>
              <a:rPr lang="uz-Cyrl-UZ" sz="4000" b="1" dirty="0">
                <a:solidFill>
                  <a:srgbClr val="000099"/>
                </a:solidFill>
                <a:latin typeface="Times New Roman" pitchFamily="18" charset="0"/>
              </a:rPr>
              <a:t> 1105:2009</a:t>
            </a:r>
          </a:p>
          <a:p>
            <a:pPr algn="ctr" eaLnBrk="0" hangingPunct="0">
              <a:lnSpc>
                <a:spcPct val="130000"/>
              </a:lnSpc>
              <a:defRPr/>
            </a:pPr>
            <a:r>
              <a:rPr lang="ru-RU" sz="2600" b="1" dirty="0" err="1">
                <a:latin typeface="Times New Roman" pitchFamily="18" charset="0"/>
              </a:rPr>
              <a:t>Ахборот</a:t>
            </a:r>
            <a:r>
              <a:rPr lang="ru-RU" sz="2600" b="1" dirty="0">
                <a:latin typeface="Times New Roman" pitchFamily="18" charset="0"/>
              </a:rPr>
              <a:t> </a:t>
            </a:r>
            <a:r>
              <a:rPr lang="ru-RU" sz="2600" b="1" dirty="0" err="1">
                <a:latin typeface="Times New Roman" pitchFamily="18" charset="0"/>
              </a:rPr>
              <a:t>технологияси</a:t>
            </a:r>
            <a:r>
              <a:rPr lang="en-US" sz="2600" b="1" dirty="0">
                <a:latin typeface="Times New Roman" pitchFamily="18" charset="0"/>
              </a:rPr>
              <a:t>.</a:t>
            </a:r>
            <a:endParaRPr lang="ru-RU" sz="2600" b="1" dirty="0">
              <a:latin typeface="Times New Roman" pitchFamily="18" charset="0"/>
            </a:endParaRPr>
          </a:p>
          <a:p>
            <a:pPr algn="ctr" eaLnBrk="0" hangingPunct="0">
              <a:lnSpc>
                <a:spcPct val="130000"/>
              </a:lnSpc>
              <a:defRPr/>
            </a:pPr>
            <a:r>
              <a:rPr lang="ru-RU" sz="2600" b="1" dirty="0">
                <a:latin typeface="Times New Roman" pitchFamily="18" charset="0"/>
              </a:rPr>
              <a:t>АХБОРОТНИНГ КРИПТОГРАФИК МУҲОФАЗАСИ</a:t>
            </a:r>
            <a:r>
              <a:rPr lang="en-US" sz="2600" b="1" dirty="0">
                <a:latin typeface="Times New Roman" pitchFamily="18" charset="0"/>
              </a:rPr>
              <a:t>.</a:t>
            </a:r>
            <a:endParaRPr lang="ru-RU" sz="2600" b="1" dirty="0">
              <a:latin typeface="Times New Roman" pitchFamily="18" charset="0"/>
            </a:endParaRPr>
          </a:p>
          <a:p>
            <a:pPr algn="ctr" eaLnBrk="0" hangingPunct="0">
              <a:lnSpc>
                <a:spcPct val="130000"/>
              </a:lnSpc>
              <a:defRPr/>
            </a:pPr>
            <a:r>
              <a:rPr lang="ru-RU" sz="2600" b="1" dirty="0" err="1">
                <a:latin typeface="Times New Roman" pitchFamily="18" charset="0"/>
              </a:rPr>
              <a:t>Маълумотларни</a:t>
            </a:r>
            <a:r>
              <a:rPr lang="ru-RU" sz="2600" b="1" dirty="0">
                <a:latin typeface="Times New Roman" pitchFamily="18" charset="0"/>
              </a:rPr>
              <a:t> </a:t>
            </a:r>
            <a:r>
              <a:rPr lang="ru-RU" sz="2600" b="1" dirty="0" err="1">
                <a:latin typeface="Times New Roman" pitchFamily="18" charset="0"/>
              </a:rPr>
              <a:t>шифрлаш</a:t>
            </a:r>
            <a:r>
              <a:rPr lang="ru-RU" sz="2600" b="1" dirty="0">
                <a:latin typeface="Times New Roman" pitchFamily="18" charset="0"/>
              </a:rPr>
              <a:t> </a:t>
            </a:r>
            <a:r>
              <a:rPr lang="ru-RU" sz="2600" b="1" dirty="0" err="1">
                <a:latin typeface="Times New Roman" pitchFamily="18" charset="0"/>
              </a:rPr>
              <a:t>алгоритми</a:t>
            </a:r>
            <a:r>
              <a:rPr lang="en-US" sz="2600" b="1" dirty="0">
                <a:latin typeface="Times New Roman" pitchFamily="18" charset="0"/>
              </a:rPr>
              <a:t>.</a:t>
            </a:r>
            <a:endParaRPr lang="uz-Cyrl-UZ" sz="2600" dirty="0">
              <a:latin typeface="Times New Roman" pitchFamily="18" charset="0"/>
            </a:endParaRPr>
          </a:p>
        </p:txBody>
      </p:sp>
      <p:sp>
        <p:nvSpPr>
          <p:cNvPr id="3080" name="Text Box 25"/>
          <p:cNvSpPr txBox="1">
            <a:spLocks noChangeArrowheads="1"/>
          </p:cNvSpPr>
          <p:nvPr/>
        </p:nvSpPr>
        <p:spPr bwMode="auto">
          <a:xfrm>
            <a:off x="2881313" y="1052513"/>
            <a:ext cx="3346450" cy="46196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737373"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/>
            <a:r>
              <a:rPr lang="uz-Cyrl-UZ" altLang="uz-Cyrl-UZ" sz="2400" b="1" i="1" u="sng">
                <a:latin typeface="Times New Roman" pitchFamily="18" charset="0"/>
              </a:rPr>
              <a:t>Амалий криптография</a:t>
            </a:r>
            <a:endParaRPr lang="ru-RU" altLang="uz-Cyrl-UZ" sz="2400" b="1" i="1" u="sng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"/>
          <p:cNvSpPr>
            <a:spLocks noChangeArrowheads="1"/>
          </p:cNvSpPr>
          <p:nvPr/>
        </p:nvSpPr>
        <p:spPr bwMode="auto">
          <a:xfrm>
            <a:off x="215900" y="700088"/>
            <a:ext cx="8748713" cy="2085975"/>
          </a:xfrm>
          <a:prstGeom prst="rect">
            <a:avLst/>
          </a:prstGeom>
          <a:pattFill prst="dkHorz">
            <a:fgClr>
              <a:srgbClr val="EAEAEA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rgbClr val="8C8C8C">
                <a:alpha val="50000"/>
              </a:srgbClr>
            </a:prstShdw>
          </a:effectLst>
        </p:spPr>
        <p:txBody>
          <a:bodyPr anchor="ctr">
            <a:spAutoFit/>
          </a:bodyPr>
          <a:lstStyle/>
          <a:p>
            <a:pPr indent="531813" algn="just" eaLnBrk="0" hangingPunct="0">
              <a:buClr>
                <a:schemeClr val="accent2"/>
              </a:buClr>
              <a:buFont typeface="Wingdings" pitchFamily="2" charset="2"/>
              <a:buChar char="v"/>
            </a:pPr>
            <a:r>
              <a:rPr lang="ru-RU" altLang="uz-Cyrl-UZ" sz="2600">
                <a:latin typeface="Times New Roman" pitchFamily="18" charset="0"/>
                <a:cs typeface="Times New Roman" pitchFamily="18" charset="0"/>
              </a:rPr>
              <a:t>Ўзбекистон алоқа ва ахборотлаштириш агентлигининг «</a:t>
            </a:r>
            <a:r>
              <a:rPr lang="en-US" altLang="uz-Cyrl-UZ" sz="2600">
                <a:latin typeface="Times New Roman" pitchFamily="18" charset="0"/>
                <a:cs typeface="Times New Roman" pitchFamily="18" charset="0"/>
              </a:rPr>
              <a:t>UNICON</a:t>
            </a:r>
            <a:r>
              <a:rPr lang="ru-RU" altLang="uz-Cyrl-UZ" sz="260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altLang="uz-Cyrl-UZ" sz="2600">
                <a:latin typeface="Times New Roman" pitchFamily="18" charset="0"/>
                <a:cs typeface="Times New Roman" pitchFamily="18" charset="0"/>
              </a:rPr>
              <a:t>UZ</a:t>
            </a:r>
            <a:r>
              <a:rPr lang="ru-RU" altLang="uz-Cyrl-UZ" sz="2600">
                <a:latin typeface="Times New Roman" pitchFamily="18" charset="0"/>
                <a:cs typeface="Times New Roman" pitchFamily="18" charset="0"/>
              </a:rPr>
              <a:t>» - </a:t>
            </a:r>
            <a:r>
              <a:rPr lang="ru-RU" altLang="uz-Cyrl-UZ" sz="26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Фан-техника ва маркетинг тад</a:t>
            </a:r>
            <a:r>
              <a:rPr lang="uz-Cyrl-UZ" altLang="uz-Cyrl-UZ" sz="26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қиқотлари маркази</a:t>
            </a:r>
            <a:r>
              <a:rPr lang="uz-Cyrl-UZ" altLang="uz-Cyrl-UZ" sz="2600">
                <a:latin typeface="Times New Roman" pitchFamily="18" charset="0"/>
                <a:cs typeface="Times New Roman" pitchFamily="18" charset="0"/>
              </a:rPr>
              <a:t> давлат унитар корхонаси (</a:t>
            </a:r>
            <a:r>
              <a:rPr lang="ru-RU" altLang="uz-Cyrl-UZ" sz="260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en-US" altLang="uz-Cyrl-UZ" sz="2600">
                <a:latin typeface="Times New Roman" pitchFamily="18" charset="0"/>
                <a:cs typeface="Times New Roman" pitchFamily="18" charset="0"/>
              </a:rPr>
              <a:t>UNICON</a:t>
            </a:r>
            <a:r>
              <a:rPr lang="ru-RU" altLang="uz-Cyrl-UZ" sz="260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altLang="uz-Cyrl-UZ" sz="2600">
                <a:latin typeface="Times New Roman" pitchFamily="18" charset="0"/>
                <a:cs typeface="Times New Roman" pitchFamily="18" charset="0"/>
              </a:rPr>
              <a:t>UZ</a:t>
            </a:r>
            <a:r>
              <a:rPr lang="ru-RU" altLang="uz-Cyrl-UZ" sz="260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uz-Cyrl-UZ" altLang="uz-Cyrl-UZ" sz="2600">
                <a:latin typeface="Times New Roman" pitchFamily="18" charset="0"/>
                <a:cs typeface="Times New Roman" pitchFamily="18" charset="0"/>
              </a:rPr>
              <a:t> ДУК)</a:t>
            </a:r>
            <a:r>
              <a:rPr lang="ru-RU" altLang="uz-Cyrl-UZ" sz="2600">
                <a:latin typeface="Times New Roman" pitchFamily="18" charset="0"/>
                <a:cs typeface="Times New Roman" pitchFamily="18" charset="0"/>
              </a:rPr>
              <a:t> томонидан ишлаб чиқилган ва киритилган</a:t>
            </a:r>
            <a:endParaRPr lang="uz-Cyrl-UZ" altLang="uz-Cyrl-UZ" sz="260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099" name="Group 12"/>
          <p:cNvGrpSpPr>
            <a:grpSpLocks/>
          </p:cNvGrpSpPr>
          <p:nvPr/>
        </p:nvGrpSpPr>
        <p:grpSpPr bwMode="auto">
          <a:xfrm>
            <a:off x="74613" y="6453188"/>
            <a:ext cx="8997950" cy="360362"/>
            <a:chOff x="47" y="4065"/>
            <a:chExt cx="5668" cy="227"/>
          </a:xfrm>
        </p:grpSpPr>
        <p:sp>
          <p:nvSpPr>
            <p:cNvPr id="4101" name="Line 16"/>
            <p:cNvSpPr>
              <a:spLocks noChangeShapeType="1"/>
            </p:cNvSpPr>
            <p:nvPr/>
          </p:nvSpPr>
          <p:spPr bwMode="auto">
            <a:xfrm>
              <a:off x="47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3313" y="4080"/>
              <a:ext cx="240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  <a:r>
                <a:rPr lang="uz-Cyrl-UZ" sz="1600" i="1" smtClean="0">
                  <a:solidFill>
                    <a:srgbClr val="6666FF"/>
                  </a:solidFill>
                  <a:latin typeface="Times New Roman" pitchFamily="18" charset="0"/>
                </a:rPr>
                <a:t>, </a:t>
              </a: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УзДСт 1105:2009</a:t>
              </a:r>
            </a:p>
          </p:txBody>
        </p:sp>
      </p:grpSp>
      <p:sp>
        <p:nvSpPr>
          <p:cNvPr id="4100" name="Rectangle 10"/>
          <p:cNvSpPr>
            <a:spLocks noChangeArrowheads="1"/>
          </p:cNvSpPr>
          <p:nvPr/>
        </p:nvSpPr>
        <p:spPr bwMode="auto">
          <a:xfrm>
            <a:off x="971550" y="3640138"/>
            <a:ext cx="7993063" cy="1382712"/>
          </a:xfrm>
          <a:prstGeom prst="rect">
            <a:avLst/>
          </a:prstGeom>
          <a:pattFill prst="dkHorz">
            <a:fgClr>
              <a:srgbClr val="EAEAEA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rgbClr val="8C8C8C">
                <a:alpha val="50000"/>
              </a:srgbClr>
            </a:prstShdw>
          </a:effectLst>
        </p:spPr>
        <p:txBody>
          <a:bodyPr anchor="ctr">
            <a:spAutoFit/>
          </a:bodyPr>
          <a:lstStyle/>
          <a:p>
            <a:pPr indent="531813" algn="just" eaLnBrk="0" hangingPunct="0">
              <a:buClr>
                <a:schemeClr val="accent2"/>
              </a:buClr>
              <a:buFont typeface="Wingdings" pitchFamily="2" charset="2"/>
              <a:buChar char="v"/>
            </a:pPr>
            <a:r>
              <a:rPr lang="ru-RU" altLang="ja-JP" sz="2800">
                <a:latin typeface="Times New Roman" pitchFamily="18" charset="0"/>
              </a:rPr>
              <a:t>Ўзбекистон стандартлаштириш, метрология ва сертификатлаштириш агентлиги</a:t>
            </a:r>
            <a:r>
              <a:rPr lang="uz-Cyrl-UZ" altLang="ja-JP" sz="2800">
                <a:latin typeface="Times New Roman" pitchFamily="18" charset="0"/>
              </a:rPr>
              <a:t> </a:t>
            </a:r>
            <a:r>
              <a:rPr lang="ru-RU" altLang="ja-JP" sz="2800">
                <a:latin typeface="Times New Roman" pitchFamily="18" charset="0"/>
              </a:rPr>
              <a:t>томонидан тасдиқланган ва амалга киритилган</a:t>
            </a:r>
            <a:endParaRPr lang="uz-Cyrl-UZ" altLang="uz-Cyrl-UZ" sz="28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3"/>
          <p:cNvGrpSpPr>
            <a:grpSpLocks/>
          </p:cNvGrpSpPr>
          <p:nvPr/>
        </p:nvGrpSpPr>
        <p:grpSpPr bwMode="auto">
          <a:xfrm>
            <a:off x="74613" y="6453188"/>
            <a:ext cx="8997950" cy="360362"/>
            <a:chOff x="47" y="4065"/>
            <a:chExt cx="5668" cy="227"/>
          </a:xfrm>
        </p:grpSpPr>
        <p:sp>
          <p:nvSpPr>
            <p:cNvPr id="5126" name="Line 16"/>
            <p:cNvSpPr>
              <a:spLocks noChangeShapeType="1"/>
            </p:cNvSpPr>
            <p:nvPr/>
          </p:nvSpPr>
          <p:spPr bwMode="auto">
            <a:xfrm>
              <a:off x="47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3313" y="4080"/>
              <a:ext cx="240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  <a:r>
                <a:rPr lang="uz-Cyrl-UZ" sz="1600" i="1" smtClean="0">
                  <a:solidFill>
                    <a:srgbClr val="6666FF"/>
                  </a:solidFill>
                  <a:latin typeface="Times New Roman" pitchFamily="18" charset="0"/>
                </a:rPr>
                <a:t>, </a:t>
              </a: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УзДСт 1105:2009</a:t>
              </a:r>
            </a:p>
          </p:txBody>
        </p:sp>
      </p:grp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250825" y="530225"/>
            <a:ext cx="8642350" cy="4194175"/>
          </a:xfrm>
          <a:prstGeom prst="rect">
            <a:avLst/>
          </a:prstGeom>
          <a:solidFill>
            <a:schemeClr val="bg1">
              <a:alpha val="86000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355600" algn="just">
              <a:spcBef>
                <a:spcPct val="30000"/>
              </a:spcBef>
              <a:buClr>
                <a:schemeClr val="accent2"/>
              </a:buClr>
              <a:buSzPct val="65000"/>
              <a:buFont typeface="Wingdings" pitchFamily="2" charset="2"/>
              <a:buNone/>
              <a:defRPr/>
            </a:pPr>
            <a:r>
              <a:rPr lang="uz-Cyrl-UZ" sz="2800" u="sng" dirty="0">
                <a:solidFill>
                  <a:srgbClr val="800000"/>
                </a:solidFill>
                <a:latin typeface="Times New Roman" pitchFamily="18" charset="0"/>
              </a:rPr>
              <a:t>ША </a:t>
            </a:r>
            <a:r>
              <a:rPr lang="en-US" sz="2800" u="sng" dirty="0">
                <a:solidFill>
                  <a:srgbClr val="800000"/>
                </a:solidFill>
                <a:latin typeface="Times New Roman" pitchFamily="18" charset="0"/>
              </a:rPr>
              <a:t>SP </a:t>
            </a:r>
            <a:r>
              <a:rPr lang="uz-Cyrl-UZ" sz="2800" u="sng" dirty="0">
                <a:solidFill>
                  <a:srgbClr val="800000"/>
                </a:solidFill>
                <a:latin typeface="Times New Roman" pitchFamily="18" charset="0"/>
              </a:rPr>
              <a:t>тармоғига асосланган симметрик блокли ША бўлиб, қуйидаги </a:t>
            </a:r>
            <a:r>
              <a:rPr lang="ru-RU" sz="2800" u="sng" dirty="0" err="1">
                <a:solidFill>
                  <a:srgbClr val="800000"/>
                </a:solidFill>
                <a:latin typeface="Times New Roman" pitchFamily="18" charset="0"/>
              </a:rPr>
              <a:t>асосий</a:t>
            </a:r>
            <a:r>
              <a:rPr lang="ru-RU" sz="2800" u="sng" dirty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uz-Cyrl-UZ" sz="2800" u="sng" dirty="0">
                <a:solidFill>
                  <a:srgbClr val="800000"/>
                </a:solidFill>
                <a:latin typeface="Times New Roman" pitchFamily="18" charset="0"/>
              </a:rPr>
              <a:t>кўрсатгичларга эга</a:t>
            </a:r>
            <a:r>
              <a:rPr lang="uz-Cyrl-UZ" sz="2800" dirty="0">
                <a:solidFill>
                  <a:srgbClr val="800000"/>
                </a:solidFill>
                <a:latin typeface="Times New Roman" pitchFamily="18" charset="0"/>
              </a:rPr>
              <a:t>:</a:t>
            </a: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SzPct val="65000"/>
              <a:buFont typeface="Wingdings" pitchFamily="2" charset="2"/>
              <a:buNone/>
              <a:defRPr/>
            </a:pPr>
            <a:endParaRPr lang="uz-Cyrl-UZ" sz="1000" dirty="0">
              <a:solidFill>
                <a:srgbClr val="800000"/>
              </a:solidFill>
              <a:latin typeface="Times New Roman" pitchFamily="18" charset="0"/>
            </a:endParaRP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SzPct val="65000"/>
              <a:buFont typeface="Wingdings" pitchFamily="2" charset="2"/>
              <a:buChar char="Ш"/>
              <a:defRPr/>
            </a:pPr>
            <a:r>
              <a:rPr lang="uz-Cyrl-UZ" sz="2800" i="1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шифрлаш блок</a:t>
            </a:r>
            <a:r>
              <a:rPr lang="uz-Cyrl-UZ" sz="2800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uz-Cyrl-UZ" sz="2800" i="1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узунлиги 	  – </a:t>
            </a:r>
            <a:r>
              <a:rPr lang="en-US" sz="2800" i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256</a:t>
            </a:r>
            <a:r>
              <a:rPr lang="uz-Cyrl-UZ" sz="2800" i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бит</a:t>
            </a:r>
            <a:r>
              <a:rPr lang="en-US" sz="2800" i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;</a:t>
            </a:r>
            <a:r>
              <a:rPr lang="uz-Cyrl-UZ" sz="2800" i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endParaRPr lang="en-US" sz="2800" i="1" dirty="0">
              <a:solidFill>
                <a:srgbClr val="00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SzPct val="65000"/>
              <a:buFont typeface="Wingdings" pitchFamily="2" charset="2"/>
              <a:buChar char="Ш"/>
              <a:defRPr/>
            </a:pPr>
            <a:r>
              <a:rPr lang="uz-Cyrl-UZ" sz="2800" i="1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шифрлаш</a:t>
            </a:r>
            <a:r>
              <a:rPr lang="en-US" sz="2800" i="1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uz-Cyrl-UZ" sz="2800" i="1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раундлар сони 	  – </a:t>
            </a:r>
            <a:r>
              <a:rPr lang="uz-Cyrl-UZ" sz="2800" i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8 та</a:t>
            </a:r>
            <a:r>
              <a:rPr lang="en-US" sz="2800" i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;</a:t>
            </a:r>
            <a:endParaRPr lang="uz-Cyrl-UZ" sz="2800" i="1" dirty="0">
              <a:solidFill>
                <a:srgbClr val="00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SzPct val="65000"/>
              <a:buFont typeface="Wingdings" pitchFamily="2" charset="2"/>
              <a:buChar char="Ш"/>
              <a:defRPr/>
            </a:pPr>
            <a:r>
              <a:rPr lang="uz-Cyrl-UZ" sz="2800" i="1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калит узунлиги 		  – </a:t>
            </a:r>
            <a:r>
              <a:rPr lang="uz-Cyrl-UZ" sz="2800" i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256 (512) бит</a:t>
            </a:r>
            <a:r>
              <a:rPr lang="en-US" sz="2800" i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;</a:t>
            </a:r>
            <a:endParaRPr lang="uz-Cyrl-UZ" sz="2800" i="1" dirty="0">
              <a:solidFill>
                <a:srgbClr val="00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SzPct val="65000"/>
              <a:buFont typeface="Wingdings" pitchFamily="2" charset="2"/>
              <a:buChar char="Ш"/>
              <a:defRPr/>
            </a:pPr>
            <a:r>
              <a:rPr lang="ru-RU" altLang="ja-JP" sz="28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режимлари</a:t>
            </a:r>
            <a:r>
              <a:rPr lang="ru-RU" altLang="ja-JP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  <a:r>
              <a:rPr lang="uz-Cyrl-UZ" altLang="ja-JP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		  – </a:t>
            </a:r>
            <a:r>
              <a:rPr lang="ru-RU" altLang="ja-JP" sz="2400" i="1" dirty="0" err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шифрматн</a:t>
            </a:r>
            <a:r>
              <a:rPr lang="ru-RU" altLang="ja-JP" sz="2400" i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altLang="ja-JP" sz="2400" i="1" dirty="0" err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блокларини</a:t>
            </a:r>
            <a:r>
              <a:rPr lang="ru-RU" altLang="ja-JP" sz="2400" i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uz-Cyrl-UZ" altLang="ja-JP" sz="2400" i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							</a:t>
            </a:r>
            <a:r>
              <a:rPr lang="ru-RU" altLang="ja-JP" sz="2400" i="1" dirty="0" err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илактириш</a:t>
            </a:r>
            <a:r>
              <a:rPr lang="uz-Cyrl-UZ" altLang="ja-JP" sz="2400" i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</a:t>
            </a:r>
          </a:p>
          <a:p>
            <a:pPr lvl="4" algn="just">
              <a:buClr>
                <a:schemeClr val="accent2"/>
              </a:buClr>
              <a:buSzPct val="65000"/>
              <a:buFont typeface="Wingdings" pitchFamily="2" charset="2"/>
              <a:buNone/>
              <a:defRPr/>
            </a:pPr>
            <a:r>
              <a:rPr lang="uz-Cyrl-UZ" altLang="ja-JP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		  –</a:t>
            </a:r>
            <a:r>
              <a:rPr lang="uz-Cyrl-UZ" altLang="ja-JP" sz="2800" dirty="0">
                <a:latin typeface="Times New Roman" pitchFamily="18" charset="0"/>
              </a:rPr>
              <a:t> </a:t>
            </a:r>
            <a:r>
              <a:rPr lang="ru-RU" altLang="ja-JP" sz="2400" i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электрон код </a:t>
            </a:r>
            <a:r>
              <a:rPr lang="ru-RU" altLang="ja-JP" sz="2400" i="1" dirty="0" err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китоби</a:t>
            </a:r>
            <a:r>
              <a:rPr lang="ru-RU" altLang="ja-JP" sz="2400" i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</a:t>
            </a:r>
            <a:endParaRPr lang="ru-RU" sz="2400" i="1" dirty="0">
              <a:solidFill>
                <a:srgbClr val="00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0" y="0"/>
            <a:ext cx="9144000" cy="427038"/>
          </a:xfrm>
          <a:prstGeom prst="rect">
            <a:avLst/>
          </a:prstGeom>
          <a:solidFill>
            <a:srgbClr val="00FF00">
              <a:alpha val="9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uz-Cyrl-UZ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Ўз</a:t>
            </a:r>
            <a:r>
              <a:rPr lang="ru-RU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ДСт</a:t>
            </a:r>
            <a:r>
              <a:rPr lang="uz-Cyrl-UZ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1105:2009 ША нинг умумий криптографик характеристикаси</a:t>
            </a:r>
            <a:endParaRPr kumimoji="1" lang="ru-RU" sz="22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50825" y="5049838"/>
            <a:ext cx="8640763" cy="8302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indent="355600" algn="just">
              <a:defRPr/>
            </a:pPr>
            <a:r>
              <a:rPr lang="uz-Cyrl-U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 дастурий, аппарат ёки аппарат-дастурий криптографик модулларда амалга ошириш учун мўлжалланган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z-Cyrl-U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>
            <a:grpSpLocks/>
          </p:cNvGrpSpPr>
          <p:nvPr/>
        </p:nvGrpSpPr>
        <p:grpSpPr bwMode="auto">
          <a:xfrm>
            <a:off x="74613" y="6453188"/>
            <a:ext cx="8997950" cy="360362"/>
            <a:chOff x="47" y="4065"/>
            <a:chExt cx="5668" cy="227"/>
          </a:xfrm>
        </p:grpSpPr>
        <p:sp>
          <p:nvSpPr>
            <p:cNvPr id="6148" name="Line 16"/>
            <p:cNvSpPr>
              <a:spLocks noChangeShapeType="1"/>
            </p:cNvSpPr>
            <p:nvPr/>
          </p:nvSpPr>
          <p:spPr bwMode="auto">
            <a:xfrm>
              <a:off x="47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3313" y="4080"/>
              <a:ext cx="240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  <a:r>
                <a:rPr lang="uz-Cyrl-UZ" sz="1600" i="1" smtClean="0">
                  <a:solidFill>
                    <a:srgbClr val="6666FF"/>
                  </a:solidFill>
                  <a:latin typeface="Times New Roman" pitchFamily="18" charset="0"/>
                </a:rPr>
                <a:t>, </a:t>
              </a: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УзДСт 1105:2009</a:t>
              </a:r>
            </a:p>
          </p:txBody>
        </p:sp>
      </p:grp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250825" y="550863"/>
            <a:ext cx="8642350" cy="5434012"/>
          </a:xfrm>
          <a:prstGeom prst="rect">
            <a:avLst/>
          </a:prstGeom>
          <a:solidFill>
            <a:schemeClr val="bg1">
              <a:alpha val="86000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355600" algn="just">
              <a:spcBef>
                <a:spcPct val="30000"/>
              </a:spcBef>
              <a:buClr>
                <a:schemeClr val="accent2"/>
              </a:buClr>
              <a:buSzPct val="65000"/>
              <a:buFont typeface="Wingdings" pitchFamily="2" charset="2"/>
              <a:buNone/>
              <a:defRPr/>
            </a:pPr>
            <a:r>
              <a:rPr lang="uz-Cyrl-UZ" sz="2800" u="sng" dirty="0">
                <a:solidFill>
                  <a:srgbClr val="800000"/>
                </a:solidFill>
                <a:latin typeface="Times New Roman" pitchFamily="18" charset="0"/>
              </a:rPr>
              <a:t>Алгоритм таркибида қуйидаги </a:t>
            </a:r>
            <a:r>
              <a:rPr lang="ru-RU" sz="2800" u="sng" dirty="0" err="1">
                <a:solidFill>
                  <a:srgbClr val="800000"/>
                </a:solidFill>
                <a:latin typeface="Times New Roman" pitchFamily="18" charset="0"/>
              </a:rPr>
              <a:t>асосий</a:t>
            </a:r>
            <a:r>
              <a:rPr lang="ru-RU" sz="2800" u="sng" dirty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uz-Cyrl-UZ" sz="2800" u="sng" dirty="0">
                <a:solidFill>
                  <a:srgbClr val="800000"/>
                </a:solidFill>
                <a:latin typeface="Times New Roman" pitchFamily="18" charset="0"/>
              </a:rPr>
              <a:t>акслантиришлардан фойдаланилади</a:t>
            </a:r>
            <a:r>
              <a:rPr lang="uz-Cyrl-UZ" sz="2800" dirty="0">
                <a:solidFill>
                  <a:srgbClr val="800000"/>
                </a:solidFill>
                <a:latin typeface="Times New Roman" pitchFamily="18" charset="0"/>
              </a:rPr>
              <a:t>:</a:t>
            </a:r>
          </a:p>
          <a:p>
            <a:pPr lvl="1" indent="355600" algn="just">
              <a:spcBef>
                <a:spcPct val="30000"/>
              </a:spcBef>
              <a:buClr>
                <a:schemeClr val="accent2"/>
              </a:buClr>
              <a:buSzPct val="65000"/>
              <a:buFont typeface="Wingdings" pitchFamily="2" charset="2"/>
              <a:buChar char="Ш"/>
              <a:defRPr/>
            </a:pPr>
            <a:r>
              <a:rPr lang="en-US" altLang="ja-JP" sz="2800" b="1" i="1" dirty="0" err="1">
                <a:latin typeface="Times New Roman" pitchFamily="18" charset="0"/>
                <a:ea typeface="ＭＳ Ｐゴシック" charset="-128"/>
              </a:rPr>
              <a:t>BaytAlmash</a:t>
            </a:r>
            <a:r>
              <a:rPr lang="ru-RU" altLang="ja-JP" sz="2800" b="1" i="1" dirty="0">
                <a:latin typeface="Times New Roman" pitchFamily="18" charset="0"/>
              </a:rPr>
              <a:t>(</a:t>
            </a:r>
            <a:r>
              <a:rPr lang="en-US" altLang="ja-JP" sz="2800" b="1" i="1" dirty="0" err="1">
                <a:latin typeface="Times New Roman" pitchFamily="18" charset="0"/>
                <a:ea typeface="ＭＳ Ｐゴシック" charset="-128"/>
              </a:rPr>
              <a:t>Holat,B</a:t>
            </a:r>
            <a:r>
              <a:rPr lang="en-US" altLang="ja-JP" sz="2800" b="1" i="1" baseline="-25000" dirty="0" err="1">
                <a:latin typeface="Times New Roman" pitchFamily="18" charset="0"/>
                <a:ea typeface="ＭＳ Ｐゴシック" charset="-128"/>
              </a:rPr>
              <a:t>a</a:t>
            </a:r>
            <a:r>
              <a:rPr lang="ru-RU" altLang="ja-JP" sz="2800" b="1" i="1" dirty="0">
                <a:latin typeface="Times New Roman" pitchFamily="18" charset="0"/>
              </a:rPr>
              <a:t>)</a:t>
            </a:r>
            <a:r>
              <a:rPr lang="en-US" altLang="ja-JP" sz="2800" b="1" i="1" dirty="0">
                <a:latin typeface="Times New Roman" pitchFamily="18" charset="0"/>
              </a:rPr>
              <a:t>;</a:t>
            </a:r>
          </a:p>
          <a:p>
            <a:pPr lvl="1" indent="355600" algn="just">
              <a:spcBef>
                <a:spcPct val="30000"/>
              </a:spcBef>
              <a:buClr>
                <a:schemeClr val="accent2"/>
              </a:buClr>
              <a:buSzPct val="65000"/>
              <a:buFont typeface="Wingdings" pitchFamily="2" charset="2"/>
              <a:buChar char="Ш"/>
              <a:defRPr/>
            </a:pPr>
            <a:r>
              <a:rPr lang="en-US" altLang="ja-JP" sz="2800" b="1" i="1" dirty="0">
                <a:latin typeface="Times New Roman" pitchFamily="18" charset="0"/>
                <a:ea typeface="ＭＳ Ｐゴシック" charset="-128"/>
              </a:rPr>
              <a:t>Sur</a:t>
            </a:r>
            <a:r>
              <a:rPr lang="ru-RU" altLang="ja-JP" sz="2800" b="1" i="1" dirty="0">
                <a:latin typeface="Times New Roman" pitchFamily="18" charset="0"/>
              </a:rPr>
              <a:t>(</a:t>
            </a:r>
            <a:r>
              <a:rPr lang="en-US" altLang="ja-JP" sz="2800" b="1" i="1" dirty="0" err="1">
                <a:latin typeface="Times New Roman" pitchFamily="18" charset="0"/>
                <a:ea typeface="ＭＳ Ｐゴシック" charset="-128"/>
              </a:rPr>
              <a:t>Holat</a:t>
            </a:r>
            <a:r>
              <a:rPr lang="ru-RU" altLang="ja-JP" sz="2800" b="1" i="1" dirty="0">
                <a:latin typeface="Times New Roman" pitchFamily="18" charset="0"/>
              </a:rPr>
              <a:t>)</a:t>
            </a:r>
            <a:r>
              <a:rPr lang="en-US" altLang="ja-JP" sz="2800" b="1" i="1" dirty="0">
                <a:latin typeface="Times New Roman" pitchFamily="18" charset="0"/>
              </a:rPr>
              <a:t>;</a:t>
            </a:r>
          </a:p>
          <a:p>
            <a:pPr lvl="1" indent="355600" algn="just">
              <a:spcBef>
                <a:spcPct val="30000"/>
              </a:spcBef>
              <a:buClr>
                <a:schemeClr val="accent2"/>
              </a:buClr>
              <a:buSzPct val="65000"/>
              <a:buFont typeface="Wingdings" pitchFamily="2" charset="2"/>
              <a:buChar char="Ш"/>
              <a:defRPr/>
            </a:pPr>
            <a:r>
              <a:rPr lang="en-US" altLang="ja-JP" sz="2800" b="1" i="1" dirty="0" err="1">
                <a:latin typeface="Times New Roman" pitchFamily="18" charset="0"/>
                <a:ea typeface="ＭＳ Ｐゴシック" charset="-128"/>
              </a:rPr>
              <a:t>Aralash</a:t>
            </a:r>
            <a:r>
              <a:rPr lang="ru-RU" altLang="ja-JP" sz="2800" b="1" i="1" dirty="0">
                <a:latin typeface="Times New Roman" pitchFamily="18" charset="0"/>
              </a:rPr>
              <a:t>(</a:t>
            </a:r>
            <a:r>
              <a:rPr lang="en-US" altLang="ja-JP" sz="2800" b="1" i="1" dirty="0" err="1">
                <a:latin typeface="Times New Roman" pitchFamily="18" charset="0"/>
                <a:ea typeface="ＭＳ Ｐゴシック" charset="-128"/>
              </a:rPr>
              <a:t>Holat,K</a:t>
            </a:r>
            <a:r>
              <a:rPr lang="en-US" altLang="ja-JP" sz="2800" b="1" i="1" baseline="-25000" dirty="0" err="1">
                <a:latin typeface="Times New Roman" pitchFamily="18" charset="0"/>
                <a:ea typeface="ＭＳ Ｐゴシック" charset="-128"/>
              </a:rPr>
              <a:t>se</a:t>
            </a:r>
            <a:r>
              <a:rPr lang="ru-RU" altLang="ja-JP" sz="2800" b="1" i="1" dirty="0">
                <a:latin typeface="Times New Roman" pitchFamily="18" charset="0"/>
              </a:rPr>
              <a:t>)</a:t>
            </a:r>
            <a:r>
              <a:rPr lang="en-US" altLang="ja-JP" sz="2800" b="1" i="1" dirty="0">
                <a:latin typeface="Times New Roman" pitchFamily="18" charset="0"/>
              </a:rPr>
              <a:t>;</a:t>
            </a:r>
          </a:p>
          <a:p>
            <a:pPr lvl="1" indent="355600" algn="just">
              <a:spcBef>
                <a:spcPct val="30000"/>
              </a:spcBef>
              <a:buClr>
                <a:schemeClr val="accent2"/>
              </a:buClr>
              <a:buSzPct val="65000"/>
              <a:buFont typeface="Wingdings" pitchFamily="2" charset="2"/>
              <a:buChar char="Ш"/>
              <a:defRPr/>
            </a:pPr>
            <a:r>
              <a:rPr lang="en-US" altLang="ja-JP" sz="2800" b="1" i="1" dirty="0" err="1">
                <a:latin typeface="Times New Roman" pitchFamily="18" charset="0"/>
                <a:ea typeface="ＭＳ Ｐゴシック" charset="-128"/>
              </a:rPr>
              <a:t>Qo</a:t>
            </a:r>
            <a:r>
              <a:rPr lang="ru-RU" altLang="ja-JP" sz="2800" b="1" i="1" dirty="0">
                <a:latin typeface="Times New Roman" pitchFamily="18" charset="0"/>
              </a:rPr>
              <a:t>’</a:t>
            </a:r>
            <a:r>
              <a:rPr lang="en-US" altLang="ja-JP" sz="2800" b="1" i="1" dirty="0" err="1">
                <a:latin typeface="Times New Roman" pitchFamily="18" charset="0"/>
                <a:ea typeface="ＭＳ Ｐゴシック" charset="-128"/>
              </a:rPr>
              <a:t>shBosqichKalit</a:t>
            </a:r>
            <a:r>
              <a:rPr lang="ru-RU" altLang="ja-JP" sz="2800" b="1" i="1" dirty="0">
                <a:latin typeface="Times New Roman" pitchFamily="18" charset="0"/>
              </a:rPr>
              <a:t>(</a:t>
            </a:r>
            <a:r>
              <a:rPr lang="en-US" altLang="ja-JP" sz="2800" b="1" i="1" dirty="0" err="1">
                <a:latin typeface="Times New Roman" pitchFamily="18" charset="0"/>
                <a:ea typeface="ＭＳ Ｐゴシック" charset="-128"/>
              </a:rPr>
              <a:t>Holat,K</a:t>
            </a:r>
            <a:r>
              <a:rPr lang="en-US" altLang="ja-JP" sz="2800" b="1" i="1" baseline="-25000" dirty="0" err="1">
                <a:latin typeface="Times New Roman" pitchFamily="18" charset="0"/>
                <a:ea typeface="ＭＳ Ｐゴシック" charset="-128"/>
              </a:rPr>
              <a:t>e</a:t>
            </a:r>
            <a:r>
              <a:rPr lang="ru-RU" altLang="ja-JP" sz="2800" b="1" i="1" dirty="0">
                <a:latin typeface="Times New Roman" pitchFamily="18" charset="0"/>
              </a:rPr>
              <a:t>)</a:t>
            </a:r>
            <a:r>
              <a:rPr lang="en-US" altLang="ja-JP" sz="2800" b="1" i="1" dirty="0">
                <a:latin typeface="Times New Roman" pitchFamily="18" charset="0"/>
              </a:rPr>
              <a:t>;</a:t>
            </a:r>
          </a:p>
          <a:p>
            <a:pPr lvl="1" indent="355600" algn="just">
              <a:spcBef>
                <a:spcPct val="30000"/>
              </a:spcBef>
              <a:buClr>
                <a:schemeClr val="accent2"/>
              </a:buClr>
              <a:buSzPct val="65000"/>
              <a:buFont typeface="Wingdings" pitchFamily="2" charset="2"/>
              <a:buChar char="Ш"/>
              <a:defRPr/>
            </a:pPr>
            <a:r>
              <a:rPr lang="en-US" altLang="ja-JP" sz="2800" b="1" i="1" dirty="0" err="1">
                <a:latin typeface="Times New Roman" pitchFamily="18" charset="0"/>
                <a:ea typeface="ＭＳ Ｐゴシック" charset="-128"/>
              </a:rPr>
              <a:t>Qo</a:t>
            </a:r>
            <a:r>
              <a:rPr lang="ru-RU" altLang="ja-JP" sz="2800" b="1" i="1" dirty="0">
                <a:latin typeface="Times New Roman" pitchFamily="18" charset="0"/>
              </a:rPr>
              <a:t>’</a:t>
            </a:r>
            <a:r>
              <a:rPr lang="en-US" altLang="ja-JP" sz="2800" b="1" i="1" dirty="0" err="1">
                <a:latin typeface="Times New Roman" pitchFamily="18" charset="0"/>
                <a:ea typeface="ＭＳ Ｐゴシック" charset="-128"/>
              </a:rPr>
              <a:t>shHolat</a:t>
            </a:r>
            <a:r>
              <a:rPr lang="ru-RU" altLang="ja-JP" sz="2800" b="1" i="1" dirty="0">
                <a:latin typeface="Times New Roman" pitchFamily="18" charset="0"/>
              </a:rPr>
              <a:t>(</a:t>
            </a:r>
            <a:r>
              <a:rPr lang="en-US" altLang="ja-JP" sz="2800" b="1" i="1" dirty="0" err="1">
                <a:latin typeface="Times New Roman" pitchFamily="18" charset="0"/>
                <a:ea typeface="ＭＳ Ｐゴシック" charset="-128"/>
              </a:rPr>
              <a:t>Holatm,Holat</a:t>
            </a:r>
            <a:r>
              <a:rPr lang="ru-RU" altLang="ja-JP" sz="2800" b="1" i="1" dirty="0">
                <a:latin typeface="Times New Roman" pitchFamily="18" charset="0"/>
              </a:rPr>
              <a:t>)</a:t>
            </a:r>
            <a:r>
              <a:rPr lang="en-US" altLang="ja-JP" sz="2800" b="1" i="1" dirty="0">
                <a:latin typeface="Times New Roman" pitchFamily="18" charset="0"/>
              </a:rPr>
              <a:t>.</a:t>
            </a:r>
            <a:endParaRPr lang="uz-Cyrl-UZ" altLang="ja-JP" sz="2800" b="1" i="1" dirty="0">
              <a:latin typeface="Times New Roman" pitchFamily="18" charset="0"/>
            </a:endParaRPr>
          </a:p>
          <a:p>
            <a:pPr lvl="1" indent="355600" algn="just">
              <a:spcBef>
                <a:spcPct val="30000"/>
              </a:spcBef>
              <a:buClr>
                <a:schemeClr val="accent2"/>
              </a:buClr>
              <a:buSzPct val="65000"/>
              <a:buFont typeface="Wingdings" pitchFamily="2" charset="2"/>
              <a:buChar char="Ш"/>
              <a:defRPr/>
            </a:pPr>
            <a:r>
              <a:rPr lang="en-US" altLang="ja-JP" sz="2800" b="1" i="1" dirty="0" err="1">
                <a:latin typeface="Times New Roman" pitchFamily="18" charset="0"/>
                <a:ea typeface="ＭＳ Ｐゴシック" charset="-128"/>
              </a:rPr>
              <a:t>ShaklSeansKalit</a:t>
            </a:r>
            <a:r>
              <a:rPr lang="ru-RU" altLang="ja-JP" sz="2800" b="1" i="1" dirty="0">
                <a:latin typeface="Times New Roman" pitchFamily="18" charset="0"/>
              </a:rPr>
              <a:t>(</a:t>
            </a:r>
            <a:r>
              <a:rPr lang="en-US" altLang="ja-JP" sz="2800" b="1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800" b="1" i="1" baseline="-25000" dirty="0" err="1">
                <a:latin typeface="Times New Roman" pitchFamily="18" charset="0"/>
                <a:ea typeface="ＭＳ Ｐゴシック" charset="-128"/>
              </a:rPr>
              <a:t>st</a:t>
            </a:r>
            <a:r>
              <a:rPr lang="ru-RU" altLang="ja-JP" sz="2800" b="1" i="1" dirty="0">
                <a:latin typeface="Times New Roman" pitchFamily="18" charset="0"/>
              </a:rPr>
              <a:t>)</a:t>
            </a:r>
            <a:r>
              <a:rPr lang="en-US" altLang="ja-JP" sz="2800" b="1" i="1" dirty="0">
                <a:latin typeface="Times New Roman" pitchFamily="18" charset="0"/>
              </a:rPr>
              <a:t>;</a:t>
            </a:r>
          </a:p>
          <a:p>
            <a:pPr lvl="1" indent="355600" algn="just">
              <a:spcBef>
                <a:spcPct val="30000"/>
              </a:spcBef>
              <a:buClr>
                <a:schemeClr val="accent2"/>
              </a:buClr>
              <a:buSzPct val="65000"/>
              <a:buFont typeface="Wingdings" pitchFamily="2" charset="2"/>
              <a:buChar char="Ш"/>
              <a:defRPr/>
            </a:pPr>
            <a:r>
              <a:rPr lang="en-US" altLang="ja-JP" sz="2800" b="1" i="1" dirty="0" err="1">
                <a:latin typeface="Times New Roman" pitchFamily="18" charset="0"/>
                <a:ea typeface="ＭＳ Ｐゴシック" charset="-128"/>
              </a:rPr>
              <a:t>ShaklBosqichKalit</a:t>
            </a:r>
            <a:r>
              <a:rPr lang="ru-RU" altLang="ja-JP" sz="2800" b="1" i="1" dirty="0">
                <a:latin typeface="Times New Roman" pitchFamily="18" charset="0"/>
              </a:rPr>
              <a:t>(</a:t>
            </a:r>
            <a:r>
              <a:rPr lang="en-US" altLang="ja-JP" sz="2800" b="1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800" b="1" i="1" baseline="-25000" dirty="0" err="1">
                <a:latin typeface="Times New Roman" pitchFamily="18" charset="0"/>
                <a:ea typeface="ＭＳ Ｐゴシック" charset="-128"/>
              </a:rPr>
              <a:t>se</a:t>
            </a:r>
            <a:r>
              <a:rPr lang="ru-RU" altLang="ja-JP" sz="2800" b="1" i="1" dirty="0">
                <a:latin typeface="Times New Roman" pitchFamily="18" charset="0"/>
              </a:rPr>
              <a:t>)</a:t>
            </a:r>
            <a:r>
              <a:rPr lang="en-US" altLang="ja-JP" sz="2800" b="1" i="1" dirty="0">
                <a:latin typeface="Times New Roman" pitchFamily="18" charset="0"/>
              </a:rPr>
              <a:t>;</a:t>
            </a:r>
          </a:p>
          <a:p>
            <a:pPr lvl="1" indent="355600" algn="just">
              <a:spcBef>
                <a:spcPct val="30000"/>
              </a:spcBef>
              <a:buClr>
                <a:schemeClr val="accent2"/>
              </a:buClr>
              <a:buSzPct val="65000"/>
              <a:buFont typeface="Wingdings" pitchFamily="2" charset="2"/>
              <a:buChar char="Ш"/>
              <a:defRPr/>
            </a:pPr>
            <a:r>
              <a:rPr lang="en-US" altLang="ja-JP" sz="2800" b="1" i="1" dirty="0" err="1">
                <a:latin typeface="Times New Roman" pitchFamily="18" charset="0"/>
                <a:ea typeface="ＭＳ Ｐゴシック" charset="-128"/>
              </a:rPr>
              <a:t>ShaklSeansKalitBayt</a:t>
            </a:r>
            <a:r>
              <a:rPr lang="ru-RU" altLang="ja-JP" sz="2800" b="1" i="1" dirty="0">
                <a:latin typeface="Times New Roman" pitchFamily="18" charset="0"/>
              </a:rPr>
              <a:t>(</a:t>
            </a:r>
            <a:r>
              <a:rPr lang="en-US" altLang="ja-JP" sz="2800" b="1" i="1" dirty="0" err="1">
                <a:latin typeface="Times New Roman" pitchFamily="18" charset="0"/>
                <a:ea typeface="ＭＳ Ｐゴシック" charset="-128"/>
              </a:rPr>
              <a:t>k,k</a:t>
            </a:r>
            <a:r>
              <a:rPr lang="en-US" altLang="ja-JP" sz="2800" b="1" i="1" baseline="-25000" dirty="0" err="1">
                <a:latin typeface="Times New Roman" pitchFamily="18" charset="0"/>
                <a:ea typeface="ＭＳ Ｐゴシック" charset="-128"/>
              </a:rPr>
              <a:t>f</a:t>
            </a:r>
            <a:r>
              <a:rPr lang="ru-RU" altLang="ja-JP" sz="2800" b="1" i="1" dirty="0">
                <a:latin typeface="Times New Roman" pitchFamily="18" charset="0"/>
              </a:rPr>
              <a:t>)</a:t>
            </a:r>
            <a:r>
              <a:rPr lang="en-US" altLang="ja-JP" sz="2800" b="1" i="1" dirty="0">
                <a:latin typeface="Times New Roman" pitchFamily="18" charset="0"/>
              </a:rPr>
              <a:t>.</a:t>
            </a:r>
            <a:r>
              <a:rPr lang="ru-RU" altLang="ja-JP" sz="2800" b="1" i="1" dirty="0">
                <a:latin typeface="Times New Roman" pitchFamily="18" charset="0"/>
              </a:rPr>
              <a:t> </a:t>
            </a:r>
            <a:endParaRPr lang="ru-RU" sz="2800" b="1" i="1" dirty="0">
              <a:solidFill>
                <a:srgbClr val="00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74613" y="6453188"/>
            <a:ext cx="8997950" cy="360362"/>
            <a:chOff x="47" y="4065"/>
            <a:chExt cx="5668" cy="227"/>
          </a:xfrm>
        </p:grpSpPr>
        <p:sp>
          <p:nvSpPr>
            <p:cNvPr id="7173" name="Line 16"/>
            <p:cNvSpPr>
              <a:spLocks noChangeShapeType="1"/>
            </p:cNvSpPr>
            <p:nvPr/>
          </p:nvSpPr>
          <p:spPr bwMode="auto">
            <a:xfrm>
              <a:off x="47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3313" y="4080"/>
              <a:ext cx="240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  <a:r>
                <a:rPr lang="uz-Cyrl-UZ" sz="1600" i="1" smtClean="0">
                  <a:solidFill>
                    <a:srgbClr val="6666FF"/>
                  </a:solidFill>
                  <a:latin typeface="Times New Roman" pitchFamily="18" charset="0"/>
                </a:rPr>
                <a:t>, </a:t>
              </a: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УзДСт 1105:2009</a:t>
              </a:r>
            </a:p>
          </p:txBody>
        </p:sp>
      </p:grpSp>
      <p:sp>
        <p:nvSpPr>
          <p:cNvPr id="7171" name="Rectangle 5"/>
          <p:cNvSpPr>
            <a:spLocks noChangeArrowheads="1"/>
          </p:cNvSpPr>
          <p:nvPr/>
        </p:nvSpPr>
        <p:spPr bwMode="auto">
          <a:xfrm>
            <a:off x="250825" y="565150"/>
            <a:ext cx="8642350" cy="5778500"/>
          </a:xfrm>
          <a:prstGeom prst="rect">
            <a:avLst/>
          </a:prstGeom>
          <a:solidFill>
            <a:schemeClr val="bg1">
              <a:alpha val="85881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355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 b="1" i="1">
                <a:solidFill>
                  <a:srgbClr val="0066CC"/>
                </a:solidFill>
                <a:latin typeface="Times New Roman" pitchFamily="18" charset="0"/>
              </a:rPr>
              <a:t>М</a:t>
            </a: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>
                <a:latin typeface="Times New Roman" pitchFamily="18" charset="0"/>
              </a:rPr>
              <a:t>– дастлабки (очиқ) маълумотлар (фойдаланувчи хабари);</a:t>
            </a:r>
            <a:endParaRPr lang="uz-Cyrl-UZ" altLang="ja-JP" sz="2000" b="1" i="1">
              <a:latin typeface="Times New Roman" pitchFamily="18" charset="0"/>
            </a:endParaRPr>
          </a:p>
          <a:p>
            <a:pPr indent="355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 b="1" i="1">
                <a:solidFill>
                  <a:srgbClr val="0066CC"/>
                </a:solidFill>
                <a:latin typeface="Times New Roman" pitchFamily="18" charset="0"/>
              </a:rPr>
              <a:t>С</a:t>
            </a: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>
                <a:latin typeface="Times New Roman" pitchFamily="18" charset="0"/>
              </a:rPr>
              <a:t>– шифрматн;</a:t>
            </a:r>
            <a:endParaRPr lang="uz-Cyrl-UZ" altLang="ja-JP" sz="2000" b="1" i="1">
              <a:latin typeface="Times New Roman" pitchFamily="18" charset="0"/>
            </a:endParaRPr>
          </a:p>
          <a:p>
            <a:pPr indent="355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 b="1" i="1">
                <a:solidFill>
                  <a:srgbClr val="0066CC"/>
                </a:solidFill>
                <a:latin typeface="Times New Roman" pitchFamily="18" charset="0"/>
              </a:rPr>
              <a:t>m</a:t>
            </a: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>
                <a:latin typeface="Times New Roman" pitchFamily="18" charset="0"/>
              </a:rPr>
              <a:t>–</a:t>
            </a: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>
                <a:latin typeface="Times New Roman" pitchFamily="18" charset="0"/>
              </a:rPr>
              <a:t>шифрлаш режими (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m={ShBil;Ekk}</a:t>
            </a:r>
            <a:r>
              <a:rPr lang="uz-Cyrl-UZ" altLang="ja-JP" sz="2000">
                <a:latin typeface="Times New Roman" pitchFamily="18" charset="0"/>
              </a:rPr>
              <a:t>)</a:t>
            </a:r>
            <a:r>
              <a:rPr lang="en-US" altLang="ja-JP" sz="2000">
                <a:latin typeface="Times New Roman" pitchFamily="18" charset="0"/>
                <a:ea typeface="ＭＳ Ｐゴシック" charset="-128"/>
              </a:rPr>
              <a:t>;</a:t>
            </a:r>
            <a:endParaRPr lang="uz-Cyrl-UZ" altLang="ja-JP" sz="2000" b="1" i="1">
              <a:latin typeface="Times New Roman" pitchFamily="18" charset="0"/>
            </a:endParaRPr>
          </a:p>
          <a:p>
            <a:pPr indent="355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 b="1" i="1">
                <a:solidFill>
                  <a:srgbClr val="0066CC"/>
                </a:solidFill>
                <a:latin typeface="Times New Roman" pitchFamily="18" charset="0"/>
              </a:rPr>
              <a:t>sh</a:t>
            </a:r>
            <a:r>
              <a:rPr lang="uz-Cyrl-UZ" altLang="ja-JP" sz="2000" b="1">
                <a:latin typeface="Times New Roman" pitchFamily="18" charset="0"/>
              </a:rPr>
              <a:t> – </a:t>
            </a:r>
            <a:r>
              <a:rPr lang="uz-Cyrl-UZ" altLang="ja-JP" sz="2000">
                <a:latin typeface="Times New Roman" pitchFamily="18" charset="0"/>
              </a:rPr>
              <a:t>дастлабки матнни шифрматнга ўгириш режими индекси;</a:t>
            </a:r>
            <a:endParaRPr lang="ru-RU" altLang="ja-JP" sz="2000" b="1">
              <a:latin typeface="Times New Roman" pitchFamily="18" charset="0"/>
            </a:endParaRPr>
          </a:p>
          <a:p>
            <a:pPr indent="355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en-US" altLang="ja-JP" sz="2000" b="1" i="1">
                <a:solidFill>
                  <a:srgbClr val="0066CC"/>
                </a:solidFill>
                <a:latin typeface="Times New Roman" pitchFamily="18" charset="0"/>
                <a:ea typeface="ＭＳ Ｐゴシック" charset="-128"/>
              </a:rPr>
              <a:t>d</a:t>
            </a:r>
            <a:r>
              <a:rPr lang="uz-Cyrl-UZ" altLang="ja-JP" sz="2000" b="1" i="1">
                <a:solidFill>
                  <a:srgbClr val="0066CC"/>
                </a:solidFill>
                <a:latin typeface="Times New Roman" pitchFamily="18" charset="0"/>
              </a:rPr>
              <a:t>sh</a:t>
            </a: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ru-RU" altLang="ja-JP" sz="2000" b="1">
                <a:latin typeface="Times New Roman" pitchFamily="18" charset="0"/>
              </a:rPr>
              <a:t>–</a:t>
            </a:r>
            <a:r>
              <a:rPr lang="uz-Cyrl-UZ" altLang="ja-JP" sz="2000" b="1">
                <a:latin typeface="Times New Roman" pitchFamily="18" charset="0"/>
              </a:rPr>
              <a:t> </a:t>
            </a:r>
            <a:r>
              <a:rPr lang="uz-Cyrl-UZ" altLang="ja-JP" sz="2000">
                <a:latin typeface="Times New Roman" pitchFamily="18" charset="0"/>
              </a:rPr>
              <a:t>шифрматнни дастлабки матнга ўгириш режими</a:t>
            </a:r>
            <a:r>
              <a:rPr lang="ru-RU" altLang="ja-JP" sz="2000">
                <a:latin typeface="Times New Roman" pitchFamily="18" charset="0"/>
              </a:rPr>
              <a:t> индекси</a:t>
            </a:r>
            <a:r>
              <a:rPr lang="uz-Cyrl-UZ" altLang="ja-JP" sz="2000">
                <a:latin typeface="Times New Roman" pitchFamily="18" charset="0"/>
              </a:rPr>
              <a:t>;</a:t>
            </a:r>
            <a:endParaRPr lang="ru-RU" altLang="ja-JP" sz="2000" b="1">
              <a:latin typeface="Times New Roman" pitchFamily="18" charset="0"/>
            </a:endParaRPr>
          </a:p>
          <a:p>
            <a:pPr indent="355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solidFill>
                  <a:srgbClr val="0066CC"/>
                </a:solidFill>
                <a:latin typeface="Times New Roman" pitchFamily="18" charset="0"/>
              </a:rPr>
              <a:t> Holat</a:t>
            </a: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>
                <a:latin typeface="Times New Roman" pitchFamily="18" charset="0"/>
              </a:rPr>
              <a:t>– 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4</a:t>
            </a:r>
            <a:r>
              <a:rPr lang="en-US" altLang="ja-JP" sz="2000">
                <a:latin typeface="Times New Roman" pitchFamily="18" charset="0"/>
                <a:ea typeface="ＭＳ Ｐゴシック" charset="-128"/>
              </a:rPr>
              <a:t>x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8</a:t>
            </a:r>
            <a:r>
              <a:rPr lang="en-US" altLang="ja-JP" sz="2000">
                <a:latin typeface="Times New Roman" pitchFamily="18" charset="0"/>
                <a:ea typeface="ＭＳ Ｐゴシック" charset="-128"/>
              </a:rPr>
              <a:t> (</a:t>
            </a:r>
            <a:r>
              <a:rPr lang="uz-Cyrl-UZ" altLang="ja-JP" sz="2000">
                <a:latin typeface="Times New Roman" pitchFamily="18" charset="0"/>
              </a:rPr>
              <a:t>ёки </a:t>
            </a:r>
            <a:r>
              <a:rPr lang="uz-Cyrl-UZ" altLang="ja-JP" sz="2000" i="1">
                <a:latin typeface="Times New Roman" pitchFamily="18" charset="0"/>
              </a:rPr>
              <a:t>8</a:t>
            </a:r>
            <a:r>
              <a:rPr lang="uz-Cyrl-UZ" altLang="ja-JP" sz="2000">
                <a:latin typeface="Times New Roman" pitchFamily="18" charset="0"/>
              </a:rPr>
              <a:t>х</a:t>
            </a:r>
            <a:r>
              <a:rPr lang="uz-Cyrl-UZ" altLang="ja-JP" sz="2000" i="1">
                <a:latin typeface="Times New Roman" pitchFamily="18" charset="0"/>
              </a:rPr>
              <a:t>4</a:t>
            </a:r>
            <a:r>
              <a:rPr lang="en-US" altLang="ja-JP" sz="2000">
                <a:latin typeface="Times New Roman" pitchFamily="18" charset="0"/>
                <a:ea typeface="ＭＳ Ｐゴシック" charset="-128"/>
              </a:rPr>
              <a:t>)</a:t>
            </a:r>
            <a:r>
              <a:rPr lang="uz-Cyrl-UZ" altLang="ja-JP" sz="2000">
                <a:latin typeface="Times New Roman" pitchFamily="18" charset="0"/>
              </a:rPr>
              <a:t> ўлчамли, байтлардан иборат ҳолат массиви;</a:t>
            </a:r>
            <a:endParaRPr lang="uz-Cyrl-UZ" altLang="ja-JP" sz="2000" b="1" i="1">
              <a:latin typeface="Times New Roman" pitchFamily="18" charset="0"/>
            </a:endParaRPr>
          </a:p>
          <a:p>
            <a:pPr indent="355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 b="1" i="1">
                <a:solidFill>
                  <a:srgbClr val="0066CC"/>
                </a:solidFill>
                <a:latin typeface="Times New Roman" pitchFamily="18" charset="0"/>
              </a:rPr>
              <a:t>H</a:t>
            </a:r>
            <a:r>
              <a:rPr lang="uz-Cyrl-UZ" altLang="ja-JP" sz="2000" b="1" i="1" baseline="-25000">
                <a:solidFill>
                  <a:srgbClr val="0066CC"/>
                </a:solidFill>
                <a:latin typeface="Times New Roman" pitchFamily="18" charset="0"/>
              </a:rPr>
              <a:t>ch</a:t>
            </a:r>
            <a:r>
              <a:rPr lang="uz-Cyrl-UZ" altLang="ja-JP" sz="2000" b="1" i="1">
                <a:solidFill>
                  <a:srgbClr val="0066CC"/>
                </a:solidFill>
                <a:latin typeface="Times New Roman" pitchFamily="18" charset="0"/>
              </a:rPr>
              <a:t>, H</a:t>
            </a:r>
            <a:r>
              <a:rPr lang="uz-Cyrl-UZ" altLang="ja-JP" sz="2000" b="1" i="1" baseline="-25000">
                <a:solidFill>
                  <a:srgbClr val="0066CC"/>
                </a:solidFill>
                <a:latin typeface="Times New Roman" pitchFamily="18" charset="0"/>
              </a:rPr>
              <a:t>o</a:t>
            </a:r>
            <a:r>
              <a:rPr lang="uz-Cyrl-UZ" altLang="ja-JP" sz="2000">
                <a:latin typeface="Times New Roman" pitchFamily="18" charset="0"/>
              </a:rPr>
              <a:t> – икки ўлчамли ҳолат массивининг чап (юқори) ва ўнг (қуйи) қисми;</a:t>
            </a:r>
            <a:endParaRPr lang="uz-Cyrl-UZ" altLang="ja-JP" sz="2000" b="1" i="1">
              <a:latin typeface="Times New Roman" pitchFamily="18" charset="0"/>
            </a:endParaRPr>
          </a:p>
          <a:p>
            <a:pPr indent="355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en-US" altLang="ja-JP" sz="2000" b="1" i="1">
                <a:solidFill>
                  <a:srgbClr val="0066CC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>
                <a:latin typeface="Times New Roman" pitchFamily="18" charset="0"/>
              </a:rPr>
              <a:t>– </a:t>
            </a:r>
            <a:r>
              <a:rPr lang="en-US" altLang="ja-JP" sz="2000">
                <a:latin typeface="Times New Roman" pitchFamily="18" charset="0"/>
                <a:ea typeface="ＭＳ Ｐゴシック" charset="-128"/>
              </a:rPr>
              <a:t>256 </a:t>
            </a:r>
            <a:r>
              <a:rPr lang="ru-RU" altLang="ja-JP" sz="2000">
                <a:latin typeface="Times New Roman" pitchFamily="18" charset="0"/>
              </a:rPr>
              <a:t>ёки </a:t>
            </a:r>
            <a:r>
              <a:rPr lang="uz-Cyrl-UZ" altLang="ja-JP" sz="2000">
                <a:latin typeface="Times New Roman" pitchFamily="18" charset="0"/>
              </a:rPr>
              <a:t>512 бит узунликдаги </a:t>
            </a:r>
            <a:r>
              <a:rPr lang="ru-RU" altLang="ja-JP" sz="2000">
                <a:latin typeface="Times New Roman" pitchFamily="18" charset="0"/>
              </a:rPr>
              <a:t>шифрлаш калити;</a:t>
            </a:r>
            <a:endParaRPr lang="uz-Cyrl-UZ" altLang="ja-JP" sz="2000" b="1" i="1">
              <a:latin typeface="Times New Roman" pitchFamily="18" charset="0"/>
            </a:endParaRPr>
          </a:p>
          <a:p>
            <a:pPr indent="355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en-US" altLang="ja-JP" sz="2000" b="1" i="1">
                <a:solidFill>
                  <a:srgbClr val="0066CC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000" b="1" i="1" baseline="-25000">
                <a:solidFill>
                  <a:srgbClr val="0066CC"/>
                </a:solidFill>
                <a:latin typeface="Times New Roman" pitchFamily="18" charset="0"/>
                <a:ea typeface="ＭＳ Ｐゴシック" charset="-128"/>
              </a:rPr>
              <a:t>f</a:t>
            </a:r>
            <a:r>
              <a:rPr lang="ru-RU" altLang="ja-JP" sz="2000" b="1" i="1">
                <a:latin typeface="Times New Roman" pitchFamily="18" charset="0"/>
              </a:rPr>
              <a:t>  </a:t>
            </a:r>
            <a:r>
              <a:rPr lang="ru-RU" altLang="ja-JP" sz="2000">
                <a:latin typeface="Times New Roman" pitchFamily="18" charset="0"/>
              </a:rPr>
              <a:t>–  </a:t>
            </a:r>
            <a:r>
              <a:rPr lang="uz-Cyrl-UZ" altLang="ja-JP" sz="2000">
                <a:latin typeface="Times New Roman" pitchFamily="18" charset="0"/>
              </a:rPr>
              <a:t>256 бит узунликдаги </a:t>
            </a:r>
            <a:r>
              <a:rPr lang="ru-RU" altLang="ja-JP" sz="2000">
                <a:latin typeface="Times New Roman" pitchFamily="18" charset="0"/>
              </a:rPr>
              <a:t>функционал калит;</a:t>
            </a:r>
            <a:endParaRPr lang="uz-Cyrl-UZ" altLang="ja-JP" sz="2000" b="1" i="1">
              <a:latin typeface="Times New Roman" pitchFamily="18" charset="0"/>
            </a:endParaRPr>
          </a:p>
          <a:p>
            <a:pPr indent="355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 b="1" i="1">
                <a:solidFill>
                  <a:srgbClr val="0066CC"/>
                </a:solidFill>
                <a:latin typeface="Times New Roman" pitchFamily="18" charset="0"/>
              </a:rPr>
              <a:t>k</a:t>
            </a:r>
            <a:r>
              <a:rPr lang="uz-Cyrl-UZ" altLang="ja-JP" sz="2000" b="1" i="1" baseline="-25000">
                <a:solidFill>
                  <a:srgbClr val="0066CC"/>
                </a:solidFill>
                <a:latin typeface="Times New Roman" pitchFamily="18" charset="0"/>
              </a:rPr>
              <a:t>sе</a:t>
            </a:r>
            <a:r>
              <a:rPr lang="uz-Cyrl-UZ" altLang="ja-JP" sz="2000">
                <a:latin typeface="Times New Roman" pitchFamily="18" charset="0"/>
              </a:rPr>
              <a:t> – сеанс-босқич калити;</a:t>
            </a:r>
            <a:endParaRPr lang="uz-Cyrl-UZ" altLang="ja-JP" sz="2000" b="1" i="1">
              <a:latin typeface="Times New Roman" pitchFamily="18" charset="0"/>
            </a:endParaRPr>
          </a:p>
          <a:p>
            <a:pPr indent="355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 b="1" i="1">
                <a:solidFill>
                  <a:srgbClr val="0066CC"/>
                </a:solidFill>
                <a:latin typeface="Times New Roman" pitchFamily="18" charset="0"/>
              </a:rPr>
              <a:t>B</a:t>
            </a:r>
            <a:r>
              <a:rPr lang="uz-Cyrl-UZ" altLang="ja-JP" sz="2000" b="1" i="1" baseline="-25000">
                <a:solidFill>
                  <a:srgbClr val="0066CC"/>
                </a:solidFill>
                <a:latin typeface="Times New Roman" pitchFamily="18" charset="0"/>
              </a:rPr>
              <a:t>a</a:t>
            </a:r>
            <a:r>
              <a:rPr lang="uz-Cyrl-UZ" altLang="ja-JP" sz="2000">
                <a:latin typeface="Times New Roman" pitchFamily="18" charset="0"/>
              </a:rPr>
              <a:t> – элементларни байт сатҳида алмаштириш чизиқли массиви;</a:t>
            </a:r>
            <a:endParaRPr lang="uz-Cyrl-UZ" altLang="ja-JP" sz="2000" b="1" i="1">
              <a:latin typeface="Times New Roman" pitchFamily="18" charset="0"/>
            </a:endParaRPr>
          </a:p>
          <a:p>
            <a:pPr indent="355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en-US" altLang="ja-JP" sz="2000" b="1" i="1">
                <a:solidFill>
                  <a:srgbClr val="0066CC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000" b="1" i="1" baseline="-25000">
                <a:solidFill>
                  <a:srgbClr val="0066CC"/>
                </a:solidFill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sz="2000">
                <a:latin typeface="Times New Roman" pitchFamily="18" charset="0"/>
              </a:rPr>
              <a:t> – шифрлаш сеанс калити элементларининг чизиқли массиви;</a:t>
            </a:r>
            <a:endParaRPr lang="uz-Cyrl-UZ" altLang="ja-JP" sz="2000" b="1" i="1">
              <a:latin typeface="Times New Roman" pitchFamily="18" charset="0"/>
            </a:endParaRPr>
          </a:p>
          <a:p>
            <a:pPr indent="355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en-US" altLang="ja-JP" sz="2000" b="1" i="1">
                <a:solidFill>
                  <a:srgbClr val="0066CC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000" b="1" i="1" baseline="-25000">
                <a:solidFill>
                  <a:srgbClr val="0066CC"/>
                </a:solidFill>
                <a:latin typeface="Times New Roman" pitchFamily="18" charset="0"/>
                <a:ea typeface="ＭＳ Ｐゴシック" charset="-128"/>
              </a:rPr>
              <a:t>s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 </a:t>
            </a:r>
            <a:r>
              <a:rPr lang="en-US" altLang="ja-JP" sz="2000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>
                <a:latin typeface="Times New Roman" pitchFamily="18" charset="0"/>
              </a:rPr>
              <a:t>– шифрлаш сеанс калитининг икки ўлчамли массиви;  </a:t>
            </a:r>
            <a:endParaRPr lang="uz-Cyrl-UZ" altLang="ja-JP" sz="2000" b="1" i="1">
              <a:latin typeface="Times New Roman" pitchFamily="18" charset="0"/>
            </a:endParaRPr>
          </a:p>
          <a:p>
            <a:pPr indent="355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solidFill>
                  <a:srgbClr val="0066CC"/>
                </a:solidFill>
                <a:latin typeface="Times New Roman" pitchFamily="18" charset="0"/>
              </a:rPr>
              <a:t> K</a:t>
            </a:r>
            <a:r>
              <a:rPr lang="uz-Cyrl-UZ" altLang="ja-JP" sz="2000" b="1" i="1" baseline="-25000">
                <a:solidFill>
                  <a:srgbClr val="0066CC"/>
                </a:solidFill>
                <a:latin typeface="Times New Roman" pitchFamily="18" charset="0"/>
              </a:rPr>
              <a:t>sch</a:t>
            </a:r>
            <a:r>
              <a:rPr lang="uz-Cyrl-UZ" altLang="ja-JP" sz="2000" b="1" i="1">
                <a:solidFill>
                  <a:srgbClr val="0066CC"/>
                </a:solidFill>
                <a:latin typeface="Times New Roman" pitchFamily="18" charset="0"/>
              </a:rPr>
              <a:t>, K</a:t>
            </a:r>
            <a:r>
              <a:rPr lang="uz-Cyrl-UZ" altLang="ja-JP" sz="2000" b="1" i="1" baseline="-25000">
                <a:solidFill>
                  <a:srgbClr val="0066CC"/>
                </a:solidFill>
                <a:latin typeface="Times New Roman" pitchFamily="18" charset="0"/>
              </a:rPr>
              <a:t>so</a:t>
            </a:r>
            <a:r>
              <a:rPr lang="uz-Cyrl-UZ" altLang="ja-JP" sz="2000">
                <a:latin typeface="Times New Roman" pitchFamily="18" charset="0"/>
              </a:rPr>
              <a:t> – шифрлаш сеанс калити массивининг чап (юқори) ва ўнг (қуйи) қисми (ярми);</a:t>
            </a:r>
            <a:endParaRPr lang="uz-Cyrl-UZ" altLang="uz-Cyrl-UZ" sz="2000">
              <a:latin typeface="Times New Roman" pitchFamily="18" charset="0"/>
            </a:endParaRPr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0"/>
            <a:ext cx="9144000" cy="427038"/>
          </a:xfrm>
          <a:prstGeom prst="rect">
            <a:avLst/>
          </a:prstGeom>
          <a:solidFill>
            <a:srgbClr val="00FF00">
              <a:alpha val="9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uz-Cyrl-UZ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Шифрлаш алгоритмининг параметрлари ва функциялари</a:t>
            </a:r>
            <a:endParaRPr lang="ru-RU" sz="22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74613" y="6453188"/>
            <a:ext cx="8997950" cy="360362"/>
            <a:chOff x="47" y="4065"/>
            <a:chExt cx="5668" cy="227"/>
          </a:xfrm>
        </p:grpSpPr>
        <p:sp>
          <p:nvSpPr>
            <p:cNvPr id="8196" name="Line 16"/>
            <p:cNvSpPr>
              <a:spLocks noChangeShapeType="1"/>
            </p:cNvSpPr>
            <p:nvPr/>
          </p:nvSpPr>
          <p:spPr bwMode="auto">
            <a:xfrm>
              <a:off x="47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3313" y="4080"/>
              <a:ext cx="240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  <a:r>
                <a:rPr lang="uz-Cyrl-UZ" sz="1600" i="1" smtClean="0">
                  <a:solidFill>
                    <a:srgbClr val="6666FF"/>
                  </a:solidFill>
                  <a:latin typeface="Times New Roman" pitchFamily="18" charset="0"/>
                </a:rPr>
                <a:t>, </a:t>
              </a: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УзДСт 1105:2009</a:t>
              </a:r>
            </a:p>
          </p:txBody>
        </p:sp>
      </p:grpSp>
      <p:sp>
        <p:nvSpPr>
          <p:cNvPr id="8195" name="Rectangle 5"/>
          <p:cNvSpPr>
            <a:spLocks noChangeArrowheads="1"/>
          </p:cNvSpPr>
          <p:nvPr/>
        </p:nvSpPr>
        <p:spPr bwMode="auto">
          <a:xfrm>
            <a:off x="250825" y="419100"/>
            <a:ext cx="8642350" cy="5702300"/>
          </a:xfrm>
          <a:prstGeom prst="rect">
            <a:avLst/>
          </a:prstGeom>
          <a:solidFill>
            <a:schemeClr val="bg1">
              <a:alpha val="85881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180975" lvl="1" indent="-1588"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>
                <a:latin typeface="Times New Roman" pitchFamily="18" charset="0"/>
              </a:rPr>
              <a:t> </a:t>
            </a:r>
            <a:r>
              <a:rPr lang="en-US" altLang="ja-JP" sz="2000" b="1" i="1">
                <a:solidFill>
                  <a:srgbClr val="0066CC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000" b="1" i="1" baseline="-25000">
                <a:solidFill>
                  <a:srgbClr val="0066CC"/>
                </a:solidFill>
                <a:latin typeface="Times New Roman" pitchFamily="18" charset="0"/>
                <a:ea typeface="ＭＳ Ｐゴシック" charset="-128"/>
              </a:rPr>
              <a:t>e</a:t>
            </a:r>
            <a:r>
              <a:rPr lang="en-US" altLang="ja-JP" sz="2000">
                <a:solidFill>
                  <a:srgbClr val="0066CC"/>
                </a:solidFill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>
                <a:latin typeface="Times New Roman" pitchFamily="18" charset="0"/>
              </a:rPr>
              <a:t>– </a:t>
            </a:r>
            <a:r>
              <a:rPr lang="uz-Cyrl-UZ" altLang="ja-JP" sz="2000" i="1">
                <a:latin typeface="Times New Roman" pitchFamily="18" charset="0"/>
              </a:rPr>
              <a:t>8</a:t>
            </a:r>
            <a:r>
              <a:rPr lang="uz-Cyrl-UZ" altLang="ja-JP" sz="2000">
                <a:latin typeface="Times New Roman" pitchFamily="18" charset="0"/>
              </a:rPr>
              <a:t>х</a:t>
            </a:r>
            <a:r>
              <a:rPr lang="uz-Cyrl-UZ" altLang="ja-JP" sz="2000" i="1">
                <a:latin typeface="Times New Roman" pitchFamily="18" charset="0"/>
              </a:rPr>
              <a:t>4</a:t>
            </a:r>
            <a:r>
              <a:rPr lang="uz-Cyrl-UZ" altLang="ja-JP" sz="2000">
                <a:latin typeface="Times New Roman" pitchFamily="18" charset="0"/>
              </a:rPr>
              <a:t> (ёки </a:t>
            </a:r>
            <a:r>
              <a:rPr lang="uz-Cyrl-UZ" altLang="ja-JP" sz="2000" i="1">
                <a:latin typeface="Times New Roman" pitchFamily="18" charset="0"/>
              </a:rPr>
              <a:t>4</a:t>
            </a:r>
            <a:r>
              <a:rPr lang="uz-Cyrl-UZ" altLang="ja-JP" sz="2000">
                <a:latin typeface="Times New Roman" pitchFamily="18" charset="0"/>
              </a:rPr>
              <a:t>х</a:t>
            </a:r>
            <a:r>
              <a:rPr lang="uz-Cyrl-UZ" altLang="ja-JP" sz="2000" i="1">
                <a:latin typeface="Times New Roman" pitchFamily="18" charset="0"/>
              </a:rPr>
              <a:t>8</a:t>
            </a:r>
            <a:r>
              <a:rPr lang="uz-Cyrl-UZ" altLang="ja-JP" sz="2000">
                <a:latin typeface="Times New Roman" pitchFamily="18" charset="0"/>
              </a:rPr>
              <a:t>) тартибли </a:t>
            </a:r>
            <a:r>
              <a:rPr lang="ru-RU" altLang="ja-JP" sz="2000">
                <a:latin typeface="Times New Roman" pitchFamily="18" charset="0"/>
              </a:rPr>
              <a:t>босқич калити</a:t>
            </a:r>
            <a:r>
              <a:rPr lang="uz-Cyrl-UZ" altLang="ja-JP" sz="2000">
                <a:latin typeface="Times New Roman" pitchFamily="18" charset="0"/>
              </a:rPr>
              <a:t> </a:t>
            </a:r>
            <a:r>
              <a:rPr lang="ru-RU" altLang="ja-JP" sz="2000">
                <a:latin typeface="Times New Roman" pitchFamily="18" charset="0"/>
              </a:rPr>
              <a:t>массиви;</a:t>
            </a:r>
            <a:endParaRPr lang="uz-Cyrl-UZ" altLang="ja-JP" sz="2000">
              <a:latin typeface="Times New Roman" pitchFamily="18" charset="0"/>
            </a:endParaRPr>
          </a:p>
          <a:p>
            <a:pPr marL="180975" lvl="1" indent="-1588"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 b="1" i="1">
                <a:solidFill>
                  <a:srgbClr val="0066CC"/>
                </a:solidFill>
                <a:latin typeface="Times New Roman" pitchFamily="18" charset="0"/>
              </a:rPr>
              <a:t>р, (p+1)</a:t>
            </a: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>
                <a:latin typeface="Times New Roman" pitchFamily="18" charset="0"/>
              </a:rPr>
              <a:t>– модуль,  </a:t>
            </a:r>
            <a:r>
              <a:rPr lang="uz-Cyrl-UZ" altLang="ja-JP" sz="2000" b="1" i="1">
                <a:latin typeface="Times New Roman" pitchFamily="18" charset="0"/>
              </a:rPr>
              <a:t>p = 256</a:t>
            </a:r>
            <a:r>
              <a:rPr lang="uz-Cyrl-UZ" altLang="ja-JP" sz="2000">
                <a:latin typeface="Times New Roman" pitchFamily="18" charset="0"/>
              </a:rPr>
              <a:t>;</a:t>
            </a:r>
            <a:endParaRPr lang="uz-Cyrl-UZ" altLang="ja-JP" sz="2000" b="1" i="1">
              <a:latin typeface="Times New Roman" pitchFamily="18" charset="0"/>
            </a:endParaRPr>
          </a:p>
          <a:p>
            <a:pPr marL="180975" lvl="1" indent="-1588"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 b="1" i="1">
                <a:solidFill>
                  <a:srgbClr val="0066CC"/>
                </a:solidFill>
                <a:latin typeface="Times New Roman" pitchFamily="18" charset="0"/>
              </a:rPr>
              <a:t>е</a:t>
            </a: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>
                <a:latin typeface="Times New Roman" pitchFamily="18" charset="0"/>
              </a:rPr>
              <a:t>– раундлар (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bosqich</a:t>
            </a:r>
            <a:r>
              <a:rPr lang="uz-Cyrl-UZ" altLang="ja-JP" sz="2000">
                <a:latin typeface="Times New Roman" pitchFamily="18" charset="0"/>
              </a:rPr>
              <a:t>) сони, 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e=8</a:t>
            </a:r>
            <a:r>
              <a:rPr lang="uz-Cyrl-UZ" altLang="ja-JP" sz="2000">
                <a:latin typeface="Times New Roman" pitchFamily="18" charset="0"/>
              </a:rPr>
              <a:t>;</a:t>
            </a:r>
            <a:endParaRPr lang="uz-Cyrl-UZ" altLang="uz-Cyrl-UZ" sz="2000">
              <a:latin typeface="Times New Roman" pitchFamily="18" charset="0"/>
            </a:endParaRPr>
          </a:p>
          <a:p>
            <a:pPr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solidFill>
                  <a:srgbClr val="0066CC"/>
                </a:solidFill>
                <a:latin typeface="Times New Roman" pitchFamily="18" charset="0"/>
              </a:rPr>
              <a:t> bosqich</a:t>
            </a:r>
            <a:r>
              <a:rPr lang="uz-Cyrl-UZ" altLang="ja-JP" sz="2000">
                <a:latin typeface="Times New Roman" pitchFamily="18" charset="0"/>
              </a:rPr>
              <a:t> – шифрматнга ўгириш ёки дастлабки матнга ўгириш процедурасининг тартиб рақами;</a:t>
            </a:r>
            <a:endParaRPr lang="uz-Cyrl-UZ" altLang="ja-JP" sz="2000" b="1" i="1">
              <a:latin typeface="Times New Roman" pitchFamily="18" charset="0"/>
            </a:endParaRPr>
          </a:p>
          <a:p>
            <a:pPr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en-US" altLang="ja-JP" sz="2000" b="1" i="1">
                <a:solidFill>
                  <a:srgbClr val="0066CC"/>
                </a:solidFill>
                <a:latin typeface="Times New Roman" pitchFamily="18" charset="0"/>
                <a:ea typeface="ＭＳ Ｐゴシック" charset="-128"/>
              </a:rPr>
              <a:t>R</a:t>
            </a:r>
            <a:r>
              <a:rPr lang="ru-RU" altLang="ja-JP" sz="2000">
                <a:latin typeface="Times New Roman" pitchFamily="18" charset="0"/>
              </a:rPr>
              <a:t> – параметр</a:t>
            </a:r>
            <a:r>
              <a:rPr lang="uz-Cyrl-UZ" altLang="ja-JP" sz="2000">
                <a:latin typeface="Times New Roman" pitchFamily="18" charset="0"/>
              </a:rPr>
              <a:t>;</a:t>
            </a:r>
            <a:endParaRPr lang="uz-Cyrl-UZ" altLang="ja-JP" sz="2000" b="1">
              <a:latin typeface="Times New Roman" pitchFamily="18" charset="0"/>
            </a:endParaRPr>
          </a:p>
          <a:p>
            <a:pPr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ja-JP" sz="2000" b="1">
                <a:solidFill>
                  <a:srgbClr val="0066CC"/>
                </a:solidFill>
                <a:latin typeface="Times New Roman" pitchFamily="18" charset="0"/>
                <a:ea typeface="ＭＳ Ｐゴシック" charset="-128"/>
                <a:sym typeface="Symbol" pitchFamily="18" charset="2"/>
              </a:rPr>
              <a:t></a:t>
            </a:r>
            <a:r>
              <a:rPr lang="en-US" altLang="ja-JP" sz="2000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>
                <a:latin typeface="Times New Roman" pitchFamily="18" charset="0"/>
              </a:rPr>
              <a:t>– 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XOR</a:t>
            </a:r>
            <a:r>
              <a:rPr lang="ru-RU" altLang="ja-JP" sz="2000">
                <a:latin typeface="Times New Roman" pitchFamily="18" charset="0"/>
              </a:rPr>
              <a:t> амалининг </a:t>
            </a:r>
            <a:r>
              <a:rPr lang="uz-Cyrl-UZ" altLang="ja-JP" sz="2000">
                <a:latin typeface="Times New Roman" pitchFamily="18" charset="0"/>
              </a:rPr>
              <a:t>белгис</a:t>
            </a:r>
            <a:r>
              <a:rPr lang="ru-RU" altLang="ja-JP" sz="2000">
                <a:latin typeface="Times New Roman" pitchFamily="18" charset="0"/>
              </a:rPr>
              <a:t>и (</a:t>
            </a:r>
            <a:r>
              <a:rPr lang="ru-RU" altLang="ja-JP" sz="2000" b="1" i="1">
                <a:latin typeface="Times New Roman" pitchFamily="18" charset="0"/>
              </a:rPr>
              <a:t>2 </a:t>
            </a:r>
            <a:r>
              <a:rPr lang="ru-RU" altLang="ja-JP" sz="2000">
                <a:latin typeface="Times New Roman" pitchFamily="18" charset="0"/>
              </a:rPr>
              <a:t>модул</a:t>
            </a:r>
            <a:r>
              <a:rPr lang="uz-Cyrl-UZ" altLang="ja-JP" sz="2000">
                <a:latin typeface="Times New Roman" pitchFamily="18" charset="0"/>
              </a:rPr>
              <a:t>ь </a:t>
            </a: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ru-RU" altLang="ja-JP" sz="2000">
                <a:latin typeface="Times New Roman" pitchFamily="18" charset="0"/>
              </a:rPr>
              <a:t>бўйича қўшиш амали);</a:t>
            </a:r>
            <a:endParaRPr lang="uz-Cyrl-UZ" altLang="ja-JP" sz="2000" b="1">
              <a:latin typeface="Times New Roman" pitchFamily="18" charset="0"/>
            </a:endParaRPr>
          </a:p>
          <a:p>
            <a:pPr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>
                <a:latin typeface="Times New Roman" pitchFamily="18" charset="0"/>
                <a:sym typeface="Symbol" pitchFamily="18" charset="2"/>
              </a:rPr>
              <a:t> </a:t>
            </a:r>
            <a:r>
              <a:rPr lang="ru-RU" altLang="ja-JP" sz="2000" b="1">
                <a:solidFill>
                  <a:srgbClr val="0066CC"/>
                </a:solidFill>
                <a:latin typeface="Times New Roman" pitchFamily="18" charset="0"/>
                <a:sym typeface="Symbol" pitchFamily="18" charset="2"/>
              </a:rPr>
              <a:t></a:t>
            </a:r>
            <a:r>
              <a:rPr lang="uz-Cyrl-UZ" altLang="ja-JP" sz="2000" b="1">
                <a:latin typeface="Times New Roman" pitchFamily="18" charset="0"/>
              </a:rPr>
              <a:t> </a:t>
            </a:r>
            <a:r>
              <a:rPr lang="uz-Cyrl-UZ" altLang="ja-JP" sz="2000">
                <a:latin typeface="Times New Roman" pitchFamily="18" charset="0"/>
              </a:rPr>
              <a:t>– сонларни</a:t>
            </a:r>
            <a:r>
              <a:rPr lang="uz-Cyrl-UZ" altLang="ja-JP" sz="2000" b="1" i="1">
                <a:latin typeface="Times New Roman" pitchFamily="18" charset="0"/>
              </a:rPr>
              <a:t> p</a:t>
            </a:r>
            <a:r>
              <a:rPr lang="uz-Cyrl-UZ" altLang="ja-JP" sz="2000">
                <a:latin typeface="Times New Roman" pitchFamily="18" charset="0"/>
              </a:rPr>
              <a:t> модуль бўйича</a:t>
            </a:r>
            <a:r>
              <a:rPr lang="uz-Cyrl-UZ" altLang="ja-JP" sz="2000" b="1" i="1">
                <a:latin typeface="Times New Roman" pitchFamily="18" charset="0"/>
              </a:rPr>
              <a:t> R</a:t>
            </a:r>
            <a:r>
              <a:rPr lang="uz-Cyrl-UZ" altLang="ja-JP" sz="2000">
                <a:latin typeface="Times New Roman" pitchFamily="18" charset="0"/>
              </a:rPr>
              <a:t> параметр билан</a:t>
            </a: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>
                <a:latin typeface="Times New Roman" pitchFamily="18" charset="0"/>
              </a:rPr>
              <a:t>кўпайтириш амалининг символи;</a:t>
            </a:r>
            <a:endParaRPr lang="uz-Cyrl-UZ" altLang="ja-JP" sz="2000" b="1">
              <a:latin typeface="Times New Roman" pitchFamily="18" charset="0"/>
            </a:endParaRPr>
          </a:p>
          <a:p>
            <a:pPr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>
                <a:latin typeface="Times New Roman" pitchFamily="18" charset="0"/>
                <a:sym typeface="Symbol" pitchFamily="18" charset="2"/>
              </a:rPr>
              <a:t> </a:t>
            </a:r>
            <a:r>
              <a:rPr lang="ru-RU" altLang="ja-JP" sz="2000" b="1">
                <a:solidFill>
                  <a:srgbClr val="0066CC"/>
                </a:solidFill>
                <a:latin typeface="Times New Roman" pitchFamily="18" charset="0"/>
                <a:sym typeface="Symbol" pitchFamily="18" charset="2"/>
              </a:rPr>
              <a:t></a:t>
            </a:r>
            <a:r>
              <a:rPr lang="uz-Cyrl-UZ" altLang="ja-JP" sz="2000" b="1" baseline="-25000">
                <a:solidFill>
                  <a:srgbClr val="0066CC"/>
                </a:solidFill>
                <a:latin typeface="Times New Roman" pitchFamily="18" charset="0"/>
              </a:rPr>
              <a:t>2</a:t>
            </a:r>
            <a:r>
              <a:rPr lang="uz-Cyrl-UZ" altLang="ja-JP" sz="2000" b="1">
                <a:latin typeface="Times New Roman" pitchFamily="18" charset="0"/>
              </a:rPr>
              <a:t> </a:t>
            </a:r>
            <a:r>
              <a:rPr lang="uz-Cyrl-UZ" altLang="ja-JP" sz="2000">
                <a:latin typeface="Times New Roman" pitchFamily="18" charset="0"/>
              </a:rPr>
              <a:t>– </a:t>
            </a:r>
            <a:r>
              <a:rPr lang="uz-Cyrl-UZ" altLang="ja-JP" sz="2000" b="1" i="1">
                <a:latin typeface="Times New Roman" pitchFamily="18" charset="0"/>
              </a:rPr>
              <a:t>p</a:t>
            </a:r>
            <a:r>
              <a:rPr lang="uz-Cyrl-UZ" altLang="ja-JP" sz="2000">
                <a:latin typeface="Times New Roman" pitchFamily="18" charset="0"/>
              </a:rPr>
              <a:t> модуль бўйича</a:t>
            </a: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>
                <a:latin typeface="Times New Roman" pitchFamily="18" charset="0"/>
              </a:rPr>
              <a:t>диаматрицавий кўпайтириш амалининг символи;</a:t>
            </a:r>
            <a:endParaRPr lang="uz-Cyrl-UZ" altLang="ja-JP" sz="2000" b="1" i="1">
              <a:latin typeface="Times New Roman" pitchFamily="18" charset="0"/>
            </a:endParaRPr>
          </a:p>
          <a:p>
            <a:pPr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ru-RU" altLang="ja-JP" sz="2000" b="1" i="1" baseline="30000">
                <a:solidFill>
                  <a:srgbClr val="0066CC"/>
                </a:solidFill>
                <a:latin typeface="Times New Roman" pitchFamily="18" charset="0"/>
              </a:rPr>
              <a:t>\-1</a:t>
            </a:r>
            <a:r>
              <a:rPr lang="ru-RU" altLang="ja-JP" sz="2000">
                <a:latin typeface="Times New Roman" pitchFamily="18" charset="0"/>
              </a:rPr>
              <a:t> –  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p</a:t>
            </a:r>
            <a:r>
              <a:rPr lang="ru-RU" altLang="ja-JP" sz="2000">
                <a:latin typeface="Times New Roman" pitchFamily="18" charset="0"/>
              </a:rPr>
              <a:t> модул</a:t>
            </a:r>
            <a:r>
              <a:rPr lang="uz-Cyrl-UZ" altLang="ja-JP" sz="2000">
                <a:latin typeface="Times New Roman" pitchFamily="18" charset="0"/>
              </a:rPr>
              <a:t>ь</a:t>
            </a:r>
            <a:r>
              <a:rPr lang="ru-RU" altLang="ja-JP" sz="2000">
                <a:latin typeface="Times New Roman" pitchFamily="18" charset="0"/>
              </a:rPr>
              <a:t> бўйича </a:t>
            </a:r>
            <a:r>
              <a:rPr lang="ru-RU" altLang="ja-JP" sz="2000" b="1" i="1">
                <a:latin typeface="Times New Roman" pitchFamily="18" charset="0"/>
              </a:rPr>
              <a:t> 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R</a:t>
            </a:r>
            <a:r>
              <a:rPr lang="en-US" altLang="ja-JP" sz="2000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>
                <a:latin typeface="Times New Roman" pitchFamily="18" charset="0"/>
              </a:rPr>
              <a:t>параметр билан</a:t>
            </a:r>
            <a:r>
              <a:rPr lang="ru-RU" altLang="ja-JP" sz="2000" b="1" i="1">
                <a:latin typeface="Times New Roman" pitchFamily="18" charset="0"/>
              </a:rPr>
              <a:t> </a:t>
            </a:r>
            <a:r>
              <a:rPr lang="ru-RU" altLang="ja-JP" sz="2000">
                <a:latin typeface="Times New Roman" pitchFamily="18" charset="0"/>
              </a:rPr>
              <a:t>тескарилаш амалининг символи;</a:t>
            </a:r>
            <a:endParaRPr lang="uz-Cyrl-UZ" altLang="ja-JP" sz="2000" b="1" i="1">
              <a:latin typeface="Times New Roman" pitchFamily="18" charset="0"/>
            </a:endParaRPr>
          </a:p>
          <a:p>
            <a:pPr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ru-RU" altLang="ja-JP" sz="2000" b="1" i="1" baseline="30000">
                <a:solidFill>
                  <a:srgbClr val="0066CC"/>
                </a:solidFill>
                <a:latin typeface="Times New Roman" pitchFamily="18" charset="0"/>
              </a:rPr>
              <a:t>\</a:t>
            </a:r>
            <a:r>
              <a:rPr lang="en-US" altLang="ja-JP" sz="2000" b="1" i="1" baseline="30000">
                <a:solidFill>
                  <a:srgbClr val="0066CC"/>
                </a:solidFill>
                <a:latin typeface="Times New Roman" pitchFamily="18" charset="0"/>
                <a:ea typeface="ＭＳ Ｐゴシック" charset="-128"/>
              </a:rPr>
              <a:t>d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>
                <a:latin typeface="Times New Roman" pitchFamily="18" charset="0"/>
              </a:rPr>
              <a:t>–  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p</a:t>
            </a:r>
            <a:r>
              <a:rPr lang="ru-RU" altLang="ja-JP" sz="2000">
                <a:latin typeface="Times New Roman" pitchFamily="18" charset="0"/>
              </a:rPr>
              <a:t> модул</a:t>
            </a:r>
            <a:r>
              <a:rPr lang="uz-Cyrl-UZ" altLang="ja-JP" sz="2000">
                <a:latin typeface="Times New Roman" pitchFamily="18" charset="0"/>
              </a:rPr>
              <a:t>ь</a:t>
            </a:r>
            <a:r>
              <a:rPr lang="ru-RU" altLang="ja-JP" sz="2000">
                <a:latin typeface="Times New Roman" pitchFamily="18" charset="0"/>
              </a:rPr>
              <a:t> бўйича </a:t>
            </a:r>
            <a:r>
              <a:rPr lang="ru-RU" altLang="ja-JP" sz="2000" b="1" i="1">
                <a:latin typeface="Times New Roman" pitchFamily="18" charset="0"/>
              </a:rPr>
              <a:t> 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R</a:t>
            </a:r>
            <a:r>
              <a:rPr lang="ru-RU" altLang="ja-JP" sz="2000">
                <a:latin typeface="Times New Roman" pitchFamily="18" charset="0"/>
              </a:rPr>
              <a:t> параметр билан</a:t>
            </a:r>
            <a:r>
              <a:rPr lang="ru-RU" altLang="ja-JP" sz="2000" b="1" i="1">
                <a:latin typeface="Times New Roman" pitchFamily="18" charset="0"/>
              </a:rPr>
              <a:t> 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d </a:t>
            </a:r>
            <a:r>
              <a:rPr lang="ru-RU" altLang="ja-JP" sz="2000">
                <a:latin typeface="Times New Roman" pitchFamily="18" charset="0"/>
              </a:rPr>
              <a:t>–</a:t>
            </a:r>
            <a:r>
              <a:rPr lang="en-US" altLang="ja-JP" sz="2000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>
                <a:latin typeface="Times New Roman" pitchFamily="18" charset="0"/>
              </a:rPr>
              <a:t>даражага ошириш амалининг символи;</a:t>
            </a:r>
            <a:endParaRPr lang="uz-Cyrl-UZ" altLang="ja-JP" sz="2000" b="1" i="1">
              <a:latin typeface="Times New Roman" pitchFamily="18" charset="0"/>
            </a:endParaRPr>
          </a:p>
          <a:p>
            <a:pPr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solidFill>
                  <a:srgbClr val="0066CC"/>
                </a:solidFill>
                <a:latin typeface="Times New Roman" pitchFamily="18" charset="0"/>
              </a:rPr>
              <a:t> </a:t>
            </a:r>
            <a:r>
              <a:rPr lang="uz-Cyrl-UZ" altLang="ja-JP" sz="2000" b="1" i="1" baseline="30000">
                <a:solidFill>
                  <a:srgbClr val="0066CC"/>
                </a:solidFill>
                <a:latin typeface="Times New Roman" pitchFamily="18" charset="0"/>
              </a:rPr>
              <a:t>-1</a:t>
            </a:r>
            <a:r>
              <a:rPr lang="uz-Cyrl-UZ" altLang="ja-JP" sz="2000">
                <a:latin typeface="Times New Roman" pitchFamily="18" charset="0"/>
              </a:rPr>
              <a:t>  – </a:t>
            </a:r>
            <a:r>
              <a:rPr lang="uz-Cyrl-UZ" altLang="ja-JP" sz="2000" b="1" i="1">
                <a:latin typeface="Times New Roman" pitchFamily="18" charset="0"/>
              </a:rPr>
              <a:t>p </a:t>
            </a:r>
            <a:r>
              <a:rPr lang="uz-Cyrl-UZ" altLang="ja-JP" sz="2000">
                <a:latin typeface="Times New Roman" pitchFamily="18" charset="0"/>
              </a:rPr>
              <a:t>ёки</a:t>
            </a:r>
            <a:r>
              <a:rPr lang="uz-Cyrl-UZ" altLang="ja-JP" sz="2000" b="1" i="1">
                <a:latin typeface="Times New Roman" pitchFamily="18" charset="0"/>
              </a:rPr>
              <a:t> p+1</a:t>
            </a:r>
            <a:r>
              <a:rPr lang="uz-Cyrl-UZ" altLang="ja-JP" sz="2000">
                <a:latin typeface="Times New Roman" pitchFamily="18" charset="0"/>
              </a:rPr>
              <a:t> модуль бўйича</a:t>
            </a: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>
                <a:latin typeface="Times New Roman" pitchFamily="18" charset="0"/>
              </a:rPr>
              <a:t>тескарилаш амалининг символи;</a:t>
            </a:r>
            <a:endParaRPr lang="uz-Cyrl-UZ" altLang="ja-JP" sz="2000" b="1" i="1">
              <a:latin typeface="Times New Roman" pitchFamily="18" charset="0"/>
            </a:endParaRPr>
          </a:p>
          <a:p>
            <a:pPr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 b="1" i="1">
                <a:solidFill>
                  <a:srgbClr val="0066CC"/>
                </a:solidFill>
                <a:latin typeface="Times New Roman" pitchFamily="18" charset="0"/>
              </a:rPr>
              <a:t>IV</a:t>
            </a:r>
            <a:r>
              <a:rPr lang="uz-Cyrl-UZ" altLang="ja-JP" sz="2000">
                <a:latin typeface="Times New Roman" pitchFamily="18" charset="0"/>
              </a:rPr>
              <a:t> – инициализация</a:t>
            </a:r>
            <a:r>
              <a:rPr lang="ru-RU" altLang="ja-JP" sz="2000">
                <a:latin typeface="Times New Roman" pitchFamily="18" charset="0"/>
              </a:rPr>
              <a:t>лаш</a:t>
            </a:r>
            <a:r>
              <a:rPr lang="uz-Cyrl-UZ" altLang="ja-JP" sz="2000">
                <a:latin typeface="Times New Roman" pitchFamily="18" charset="0"/>
              </a:rPr>
              <a:t> вектори.</a:t>
            </a:r>
            <a:endParaRPr lang="uz-Cyrl-UZ" altLang="uz-Cyrl-UZ" sz="20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74613" y="6453188"/>
            <a:ext cx="8997950" cy="360362"/>
            <a:chOff x="47" y="4065"/>
            <a:chExt cx="5668" cy="227"/>
          </a:xfrm>
        </p:grpSpPr>
        <p:sp>
          <p:nvSpPr>
            <p:cNvPr id="9220" name="Line 16"/>
            <p:cNvSpPr>
              <a:spLocks noChangeShapeType="1"/>
            </p:cNvSpPr>
            <p:nvPr/>
          </p:nvSpPr>
          <p:spPr bwMode="auto">
            <a:xfrm>
              <a:off x="47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3313" y="4080"/>
              <a:ext cx="240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  <a:r>
                <a:rPr lang="uz-Cyrl-UZ" sz="1600" i="1" smtClean="0">
                  <a:solidFill>
                    <a:srgbClr val="6666FF"/>
                  </a:solidFill>
                  <a:latin typeface="Times New Roman" pitchFamily="18" charset="0"/>
                </a:rPr>
                <a:t>, </a:t>
              </a: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УзДСт 1105:2009</a:t>
              </a:r>
            </a:p>
          </p:txBody>
        </p:sp>
      </p:grpSp>
      <p:sp>
        <p:nvSpPr>
          <p:cNvPr id="9219" name="Rectangle 5"/>
          <p:cNvSpPr>
            <a:spLocks noChangeArrowheads="1"/>
          </p:cNvSpPr>
          <p:nvPr/>
        </p:nvSpPr>
        <p:spPr bwMode="auto">
          <a:xfrm>
            <a:off x="250825" y="338138"/>
            <a:ext cx="8642350" cy="5861050"/>
          </a:xfrm>
          <a:prstGeom prst="rect">
            <a:avLst/>
          </a:prstGeom>
          <a:solidFill>
            <a:schemeClr val="bg1">
              <a:alpha val="85881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355600" algn="just">
              <a:spcBef>
                <a:spcPct val="8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100" b="1" i="1">
                <a:latin typeface="Times New Roman" pitchFamily="18" charset="0"/>
              </a:rPr>
              <a:t> </a:t>
            </a:r>
            <a:r>
              <a:rPr lang="en-US" altLang="ja-JP" sz="2100" b="1" i="1" u="sng">
                <a:latin typeface="Times New Roman" pitchFamily="18" charset="0"/>
                <a:ea typeface="ＭＳ Ｐゴシック" charset="-128"/>
              </a:rPr>
              <a:t>BaytAlmash</a:t>
            </a:r>
            <a:r>
              <a:rPr lang="ru-RU" altLang="ja-JP" sz="2100" b="1" i="1">
                <a:latin typeface="Times New Roman" pitchFamily="18" charset="0"/>
              </a:rPr>
              <a:t>(</a:t>
            </a:r>
            <a:r>
              <a:rPr lang="en-US" altLang="ja-JP" sz="2100" b="1" i="1">
                <a:latin typeface="Times New Roman" pitchFamily="18" charset="0"/>
                <a:ea typeface="ＭＳ Ｐゴシック" charset="-128"/>
              </a:rPr>
              <a:t>Holat,B</a:t>
            </a:r>
            <a:r>
              <a:rPr lang="en-US" altLang="ja-JP" sz="2100" b="1" i="1" baseline="-25000">
                <a:latin typeface="Times New Roman" pitchFamily="18" charset="0"/>
                <a:ea typeface="ＭＳ Ｐゴシック" charset="-128"/>
              </a:rPr>
              <a:t>a</a:t>
            </a:r>
            <a:r>
              <a:rPr lang="ru-RU" altLang="ja-JP" sz="2100" b="1" i="1">
                <a:latin typeface="Times New Roman" pitchFamily="18" charset="0"/>
              </a:rPr>
              <a:t>)</a:t>
            </a:r>
            <a:r>
              <a:rPr lang="ru-RU" altLang="ja-JP" sz="2100" i="1">
                <a:latin typeface="Times New Roman" pitchFamily="18" charset="0"/>
              </a:rPr>
              <a:t> – </a:t>
            </a:r>
            <a:r>
              <a:rPr lang="ru-RU" altLang="ja-JP" sz="2000" i="1">
                <a:solidFill>
                  <a:srgbClr val="800000"/>
                </a:solidFill>
                <a:latin typeface="Times New Roman" pitchFamily="18" charset="0"/>
              </a:rPr>
              <a:t>оддий шифралмаштириш бўлиб, дастлабки матнни шифрматнга ва тескари йўналишда </a:t>
            </a:r>
            <a:r>
              <a:rPr lang="en-US" altLang="ja-JP" sz="2000" b="1" i="1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Holat</a:t>
            </a:r>
            <a:r>
              <a:rPr lang="ru-RU" altLang="ja-JP" sz="2000" i="1">
                <a:solidFill>
                  <a:srgbClr val="800000"/>
                </a:solidFill>
                <a:latin typeface="Times New Roman" pitchFamily="18" charset="0"/>
              </a:rPr>
              <a:t> массиви элементларини алмаштириш массиви элементлари билан байт сатҳида алмаштириш учун фойдаланилади; мазкур шифралмаштириш кириши байт сатҳида </a:t>
            </a:r>
            <a:r>
              <a:rPr lang="en-US" altLang="ja-JP" sz="2000" b="1" i="1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Holat</a:t>
            </a:r>
            <a:r>
              <a:rPr lang="en-US" altLang="ja-JP" sz="2000" i="1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solidFill>
                  <a:srgbClr val="800000"/>
                </a:solidFill>
                <a:latin typeface="Times New Roman" pitchFamily="18" charset="0"/>
              </a:rPr>
              <a:t>массиви, алмаштириш масиви чизиқли</a:t>
            </a:r>
            <a:r>
              <a:rPr lang="uz-Cyrl-UZ" altLang="ja-JP" sz="2000" i="1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ru-RU" altLang="ja-JP" sz="2000" i="1">
                <a:solidFill>
                  <a:srgbClr val="800000"/>
                </a:solidFill>
                <a:latin typeface="Times New Roman" pitchFamily="18" charset="0"/>
              </a:rPr>
              <a:t>массив </a:t>
            </a:r>
            <a:r>
              <a:rPr lang="sv-SE" altLang="ja-JP" sz="2000" b="1" i="1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B</a:t>
            </a:r>
            <a:r>
              <a:rPr lang="sv-SE" altLang="ja-JP" sz="2000" b="1" i="1" baseline="-25000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sA</a:t>
            </a:r>
            <a:r>
              <a:rPr lang="sv-SE" altLang="ja-JP" sz="2000" b="1" i="1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b="1" i="1">
                <a:solidFill>
                  <a:srgbClr val="800000"/>
                </a:solidFill>
                <a:latin typeface="Times New Roman" pitchFamily="18" charset="0"/>
              </a:rPr>
              <a:t>[256] </a:t>
            </a:r>
            <a:r>
              <a:rPr lang="ru-RU" altLang="ja-JP" sz="2000" i="1">
                <a:solidFill>
                  <a:srgbClr val="800000"/>
                </a:solidFill>
                <a:latin typeface="Times New Roman" pitchFamily="18" charset="0"/>
              </a:rPr>
              <a:t>ёки</a:t>
            </a:r>
            <a:r>
              <a:rPr lang="ru-RU" altLang="ja-JP" sz="2000" b="1" i="1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sv-SE" altLang="ja-JP" sz="2000" b="1" i="1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B</a:t>
            </a:r>
            <a:r>
              <a:rPr lang="sv-SE" altLang="ja-JP" sz="2000" b="1" i="1" baseline="-25000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sAD</a:t>
            </a:r>
            <a:r>
              <a:rPr lang="sv-SE" altLang="ja-JP" sz="2000" b="1" i="1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b="1" i="1">
                <a:solidFill>
                  <a:srgbClr val="800000"/>
                </a:solidFill>
                <a:latin typeface="Times New Roman" pitchFamily="18" charset="0"/>
              </a:rPr>
              <a:t>[256] </a:t>
            </a:r>
            <a:r>
              <a:rPr lang="ru-RU" altLang="ja-JP" sz="2000" i="1">
                <a:solidFill>
                  <a:srgbClr val="800000"/>
                </a:solidFill>
                <a:latin typeface="Times New Roman" pitchFamily="18" charset="0"/>
              </a:rPr>
              <a:t>бўлиб, чиқиши байт сатҳида </a:t>
            </a:r>
            <a:r>
              <a:rPr lang="en-US" altLang="ja-JP" sz="2000" b="1" i="1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Holat</a:t>
            </a:r>
            <a:r>
              <a:rPr lang="en-US" altLang="ja-JP" sz="2000" i="1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solidFill>
                  <a:srgbClr val="800000"/>
                </a:solidFill>
                <a:latin typeface="Times New Roman" pitchFamily="18" charset="0"/>
              </a:rPr>
              <a:t> массивидир;</a:t>
            </a:r>
            <a:endParaRPr lang="ru-RU" altLang="ja-JP" sz="2000" b="1" i="1">
              <a:solidFill>
                <a:srgbClr val="800000"/>
              </a:solidFill>
              <a:latin typeface="Times New Roman" pitchFamily="18" charset="0"/>
            </a:endParaRPr>
          </a:p>
          <a:p>
            <a:pPr indent="355600" algn="just">
              <a:spcBef>
                <a:spcPct val="8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ru-RU" altLang="ja-JP" sz="2100" b="1" i="1">
                <a:latin typeface="Times New Roman" pitchFamily="18" charset="0"/>
              </a:rPr>
              <a:t> </a:t>
            </a:r>
            <a:r>
              <a:rPr lang="en-US" altLang="ja-JP" sz="2100" b="1" i="1" u="sng">
                <a:latin typeface="Times New Roman" pitchFamily="18" charset="0"/>
                <a:ea typeface="ＭＳ Ｐゴシック" charset="-128"/>
              </a:rPr>
              <a:t>Sur</a:t>
            </a:r>
            <a:r>
              <a:rPr lang="ru-RU" altLang="ja-JP" sz="2100" b="1" i="1">
                <a:latin typeface="Times New Roman" pitchFamily="18" charset="0"/>
              </a:rPr>
              <a:t>(</a:t>
            </a:r>
            <a:r>
              <a:rPr lang="en-US" altLang="ja-JP" sz="2100" b="1" i="1">
                <a:latin typeface="Times New Roman" pitchFamily="18" charset="0"/>
                <a:ea typeface="ＭＳ Ｐゴシック" charset="-128"/>
              </a:rPr>
              <a:t>Holat</a:t>
            </a:r>
            <a:r>
              <a:rPr lang="ru-RU" altLang="ja-JP" sz="2100" b="1" i="1">
                <a:latin typeface="Times New Roman" pitchFamily="18" charset="0"/>
              </a:rPr>
              <a:t>) – </a:t>
            </a:r>
            <a:r>
              <a:rPr lang="en-US" altLang="ja-JP" sz="2000" b="1" i="1">
                <a:solidFill>
                  <a:srgbClr val="000099"/>
                </a:solidFill>
                <a:latin typeface="Times New Roman" pitchFamily="18" charset="0"/>
                <a:ea typeface="ＭＳ Ｐゴシック" charset="-128"/>
              </a:rPr>
              <a:t>Holat</a:t>
            </a:r>
            <a:r>
              <a:rPr lang="ru-RU" altLang="ja-JP" sz="2000" i="1">
                <a:solidFill>
                  <a:srgbClr val="000099"/>
                </a:solidFill>
                <a:latin typeface="Times New Roman" pitchFamily="18" charset="0"/>
              </a:rPr>
              <a:t> массиви элементларини янада яхшироқ аралаштириш учун, дастлабки матнни шифрматнга ва тескари йўналишда алмаштиришда фойдаланилади; мазкур алмаштириш кириши байт сатҳида </a:t>
            </a:r>
            <a:r>
              <a:rPr lang="en-US" altLang="ja-JP" sz="2000" b="1" i="1">
                <a:solidFill>
                  <a:srgbClr val="000099"/>
                </a:solidFill>
                <a:latin typeface="Times New Roman" pitchFamily="18" charset="0"/>
                <a:ea typeface="ＭＳ Ｐゴシック" charset="-128"/>
              </a:rPr>
              <a:t>Holat</a:t>
            </a:r>
            <a:r>
              <a:rPr lang="ru-RU" altLang="ja-JP" sz="2000" i="1">
                <a:solidFill>
                  <a:srgbClr val="000099"/>
                </a:solidFill>
                <a:latin typeface="Times New Roman" pitchFamily="18" charset="0"/>
              </a:rPr>
              <a:t> массиви, чиқиши устун бўйлаб шифрлашда пастга ва сатр бўйлаб ўнгга ёки шифрни очишда устун бўйлаб юқорига ва сатр бўйлаб чапга сурилган байт сатҳида </a:t>
            </a:r>
            <a:r>
              <a:rPr lang="en-US" altLang="ja-JP" sz="2000" b="1" i="1">
                <a:solidFill>
                  <a:srgbClr val="000099"/>
                </a:solidFill>
                <a:latin typeface="Times New Roman" pitchFamily="18" charset="0"/>
                <a:ea typeface="ＭＳ Ｐゴシック" charset="-128"/>
              </a:rPr>
              <a:t>Holat</a:t>
            </a:r>
            <a:r>
              <a:rPr lang="en-US" altLang="ja-JP" sz="2000" i="1">
                <a:solidFill>
                  <a:srgbClr val="000099"/>
                </a:solidFill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solidFill>
                  <a:srgbClr val="000099"/>
                </a:solidFill>
                <a:latin typeface="Times New Roman" pitchFamily="18" charset="0"/>
              </a:rPr>
              <a:t>массивидир;</a:t>
            </a:r>
            <a:endParaRPr lang="en-US" altLang="ja-JP" sz="2000" b="1" i="1">
              <a:solidFill>
                <a:srgbClr val="000099"/>
              </a:solidFill>
              <a:latin typeface="Times New Roman" pitchFamily="18" charset="0"/>
              <a:ea typeface="ＭＳ Ｐゴシック" charset="-128"/>
            </a:endParaRPr>
          </a:p>
          <a:p>
            <a:pPr indent="355600" algn="just">
              <a:spcBef>
                <a:spcPct val="8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100" b="1" i="1">
                <a:latin typeface="Times New Roman" pitchFamily="18" charset="0"/>
              </a:rPr>
              <a:t> </a:t>
            </a:r>
            <a:r>
              <a:rPr lang="en-US" altLang="ja-JP" sz="2100" b="1" i="1" u="sng">
                <a:latin typeface="Times New Roman" pitchFamily="18" charset="0"/>
                <a:ea typeface="ＭＳ Ｐゴシック" charset="-128"/>
              </a:rPr>
              <a:t>ShaklSeansKalitBayt</a:t>
            </a:r>
            <a:r>
              <a:rPr lang="ru-RU" altLang="ja-JP" sz="2100" b="1" i="1">
                <a:latin typeface="Times New Roman" pitchFamily="18" charset="0"/>
              </a:rPr>
              <a:t>(</a:t>
            </a:r>
            <a:r>
              <a:rPr lang="en-US" altLang="ja-JP" sz="2100" b="1" i="1">
                <a:latin typeface="Times New Roman" pitchFamily="18" charset="0"/>
                <a:ea typeface="ＭＳ Ｐゴシック" charset="-128"/>
              </a:rPr>
              <a:t>k,k</a:t>
            </a:r>
            <a:r>
              <a:rPr lang="en-US" altLang="ja-JP" sz="2100" b="1" i="1" baseline="-25000">
                <a:latin typeface="Times New Roman" pitchFamily="18" charset="0"/>
                <a:ea typeface="ＭＳ Ｐゴシック" charset="-128"/>
              </a:rPr>
              <a:t>f</a:t>
            </a:r>
            <a:r>
              <a:rPr lang="ru-RU" altLang="ja-JP" sz="2100" b="1" i="1">
                <a:latin typeface="Times New Roman" pitchFamily="18" charset="0"/>
              </a:rPr>
              <a:t>)</a:t>
            </a:r>
            <a:r>
              <a:rPr lang="ru-RU" altLang="ja-JP" sz="2100" i="1">
                <a:latin typeface="Times New Roman" pitchFamily="18" charset="0"/>
              </a:rPr>
              <a:t> – </a:t>
            </a:r>
            <a:r>
              <a:rPr lang="ru-RU" altLang="ja-JP" sz="2000" i="1">
                <a:solidFill>
                  <a:schemeClr val="folHlink"/>
                </a:solidFill>
                <a:latin typeface="Times New Roman" pitchFamily="18" charset="0"/>
              </a:rPr>
              <a:t>сеанс учун калит шакллантириш бўлиб, дастлабки матнни шифрматнга ва тескари йўналишда алмаштиришда </a:t>
            </a:r>
            <a:r>
              <a:rPr lang="en-US" altLang="ja-JP" sz="20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BaytAlmash</a:t>
            </a:r>
            <a:r>
              <a:rPr lang="ru-RU" altLang="ja-JP" sz="2000" b="1" i="1">
                <a:solidFill>
                  <a:schemeClr val="folHlink"/>
                </a:solidFill>
                <a:latin typeface="Times New Roman" pitchFamily="18" charset="0"/>
              </a:rPr>
              <a:t>()</a:t>
            </a:r>
            <a:r>
              <a:rPr lang="ru-RU" altLang="ja-JP" sz="2000" i="1">
                <a:solidFill>
                  <a:schemeClr val="folHlink"/>
                </a:solidFill>
                <a:latin typeface="Times New Roman" pitchFamily="18" charset="0"/>
              </a:rPr>
              <a:t> шифралмаштиришини бажариш учун фойдаланилади; мазкур шифралмаштириш кириши шифрлаш калити </a:t>
            </a:r>
            <a:r>
              <a:rPr lang="en-US" altLang="ja-JP" sz="20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ru-RU" altLang="ja-JP" sz="2000" i="1">
                <a:solidFill>
                  <a:schemeClr val="folHlink"/>
                </a:solidFill>
                <a:latin typeface="Times New Roman" pitchFamily="18" charset="0"/>
              </a:rPr>
              <a:t> ва функционал калит </a:t>
            </a:r>
            <a:r>
              <a:rPr lang="en-US" altLang="ja-JP" sz="20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000" b="1" i="1" baseline="-25000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f</a:t>
            </a:r>
            <a:r>
              <a:rPr lang="en-US" altLang="ja-JP" sz="20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 </a:t>
            </a:r>
            <a:r>
              <a:rPr lang="en-US" altLang="ja-JP" sz="2000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solidFill>
                  <a:schemeClr val="folHlink"/>
                </a:solidFill>
                <a:latin typeface="Times New Roman" pitchFamily="18" charset="0"/>
              </a:rPr>
              <a:t>бўлиб, чиқиши байт сатҳида чизиқли массивлар </a:t>
            </a:r>
            <a:r>
              <a:rPr lang="sv-SE" altLang="ja-JP" sz="20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B</a:t>
            </a:r>
            <a:r>
              <a:rPr lang="sv-SE" altLang="ja-JP" sz="2000" b="1" i="1" baseline="-25000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sA</a:t>
            </a:r>
            <a:r>
              <a:rPr lang="sv-SE" altLang="ja-JP" sz="20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b="1" i="1">
                <a:solidFill>
                  <a:schemeClr val="folHlink"/>
                </a:solidFill>
                <a:latin typeface="Times New Roman" pitchFamily="18" charset="0"/>
              </a:rPr>
              <a:t>[256] </a:t>
            </a:r>
            <a:r>
              <a:rPr lang="ru-RU" altLang="ja-JP" sz="2000" i="1">
                <a:solidFill>
                  <a:schemeClr val="folHlink"/>
                </a:solidFill>
                <a:latin typeface="Times New Roman" pitchFamily="18" charset="0"/>
              </a:rPr>
              <a:t>ва </a:t>
            </a:r>
            <a:r>
              <a:rPr lang="sv-SE" altLang="ja-JP" sz="20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B</a:t>
            </a:r>
            <a:r>
              <a:rPr lang="sv-SE" altLang="ja-JP" sz="2000" b="1" i="1" baseline="-25000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sAD</a:t>
            </a:r>
            <a:r>
              <a:rPr lang="sv-SE" altLang="ja-JP" sz="20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b="1" i="1">
                <a:solidFill>
                  <a:schemeClr val="folHlink"/>
                </a:solidFill>
                <a:latin typeface="Times New Roman" pitchFamily="18" charset="0"/>
              </a:rPr>
              <a:t>[256]</a:t>
            </a:r>
            <a:r>
              <a:rPr lang="ru-RU" altLang="ja-JP" sz="2000" i="1">
                <a:solidFill>
                  <a:schemeClr val="folHlink"/>
                </a:solidFill>
                <a:latin typeface="Times New Roman" pitchFamily="18" charset="0"/>
              </a:rPr>
              <a:t>;</a:t>
            </a:r>
            <a:r>
              <a:rPr lang="ru-RU" altLang="ja-JP" sz="2000"/>
              <a:t> </a:t>
            </a:r>
            <a:endParaRPr lang="ru-RU" altLang="uz-Cyrl-UZ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74613" y="6453188"/>
            <a:ext cx="8997950" cy="360362"/>
            <a:chOff x="47" y="4065"/>
            <a:chExt cx="5668" cy="227"/>
          </a:xfrm>
        </p:grpSpPr>
        <p:sp>
          <p:nvSpPr>
            <p:cNvPr id="10244" name="Line 16"/>
            <p:cNvSpPr>
              <a:spLocks noChangeShapeType="1"/>
            </p:cNvSpPr>
            <p:nvPr/>
          </p:nvSpPr>
          <p:spPr bwMode="auto">
            <a:xfrm>
              <a:off x="47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3313" y="4080"/>
              <a:ext cx="240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  <a:r>
                <a:rPr lang="uz-Cyrl-UZ" sz="1600" i="1" smtClean="0">
                  <a:solidFill>
                    <a:srgbClr val="6666FF"/>
                  </a:solidFill>
                  <a:latin typeface="Times New Roman" pitchFamily="18" charset="0"/>
                </a:rPr>
                <a:t>, </a:t>
              </a: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УзДСт 1105:2009</a:t>
              </a:r>
            </a:p>
          </p:txBody>
        </p:sp>
      </p:grpSp>
      <p:sp>
        <p:nvSpPr>
          <p:cNvPr id="10243" name="Rectangle 5"/>
          <p:cNvSpPr>
            <a:spLocks noChangeArrowheads="1"/>
          </p:cNvSpPr>
          <p:nvPr/>
        </p:nvSpPr>
        <p:spPr bwMode="auto">
          <a:xfrm>
            <a:off x="250825" y="730250"/>
            <a:ext cx="8642350" cy="5076825"/>
          </a:xfrm>
          <a:prstGeom prst="rect">
            <a:avLst/>
          </a:prstGeom>
          <a:solidFill>
            <a:schemeClr val="bg1">
              <a:alpha val="85881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355600" algn="just">
              <a:spcBef>
                <a:spcPct val="7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400" b="1" i="1">
                <a:latin typeface="Times New Roman" pitchFamily="18" charset="0"/>
              </a:rPr>
              <a:t> </a:t>
            </a:r>
            <a:r>
              <a:rPr lang="en-US" altLang="ja-JP" sz="2400" b="1" i="1" u="sng">
                <a:latin typeface="Times New Roman" pitchFamily="18" charset="0"/>
                <a:ea typeface="ＭＳ Ｐゴシック" charset="-128"/>
              </a:rPr>
              <a:t>ShaklSeansKalit</a:t>
            </a:r>
            <a:r>
              <a:rPr lang="ru-RU" altLang="ja-JP" sz="2400" b="1" i="1">
                <a:latin typeface="Times New Roman" pitchFamily="18" charset="0"/>
              </a:rPr>
              <a:t>(</a:t>
            </a:r>
            <a:r>
              <a:rPr lang="en-US" altLang="ja-JP" sz="2400" b="1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400" b="1" i="1" baseline="-25000">
                <a:latin typeface="Times New Roman" pitchFamily="18" charset="0"/>
                <a:ea typeface="ＭＳ Ｐゴシック" charset="-128"/>
              </a:rPr>
              <a:t>st</a:t>
            </a:r>
            <a:r>
              <a:rPr lang="ru-RU" altLang="ja-JP" sz="2400" b="1" i="1">
                <a:latin typeface="Times New Roman" pitchFamily="18" charset="0"/>
              </a:rPr>
              <a:t>)</a:t>
            </a:r>
            <a:r>
              <a:rPr lang="ru-RU" altLang="ja-JP" sz="2400">
                <a:latin typeface="Times New Roman" pitchFamily="18" charset="0"/>
              </a:rPr>
              <a:t> – </a:t>
            </a:r>
            <a:r>
              <a:rPr lang="ru-RU" altLang="ja-JP" sz="2200" i="1">
                <a:solidFill>
                  <a:schemeClr val="folHlink"/>
                </a:solidFill>
                <a:latin typeface="Times New Roman" pitchFamily="18" charset="0"/>
              </a:rPr>
              <a:t>сеанс учун калит шакллантириш бўлиб, дастлабки матнни шифрматнга ва тескари йўналишда алмаштиришда </a:t>
            </a:r>
            <a:r>
              <a:rPr lang="en-US" altLang="ja-JP" sz="22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Aralash</a:t>
            </a:r>
            <a:r>
              <a:rPr lang="ru-RU" altLang="ja-JP" sz="2200" b="1" i="1">
                <a:solidFill>
                  <a:schemeClr val="folHlink"/>
                </a:solidFill>
                <a:latin typeface="Times New Roman" pitchFamily="18" charset="0"/>
              </a:rPr>
              <a:t>()</a:t>
            </a:r>
            <a:r>
              <a:rPr lang="ru-RU" altLang="ja-JP" sz="2200" i="1">
                <a:solidFill>
                  <a:schemeClr val="folHlink"/>
                </a:solidFill>
                <a:latin typeface="Times New Roman" pitchFamily="18" charset="0"/>
              </a:rPr>
              <a:t> шифралмаштиришини бажариш учун фойдаланилади; мазкур шифралмаштириш кириши байтли элементлардан таркиб топган чизиқли массив  </a:t>
            </a:r>
            <a:r>
              <a:rPr lang="en-US" altLang="ja-JP" sz="22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200" b="1" i="1" baseline="-25000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st</a:t>
            </a:r>
            <a:r>
              <a:rPr lang="ru-RU" altLang="ja-JP" sz="2200" b="1" i="1">
                <a:solidFill>
                  <a:schemeClr val="folHlink"/>
                </a:solidFill>
                <a:latin typeface="Times New Roman" pitchFamily="18" charset="0"/>
              </a:rPr>
              <a:t>=[32]</a:t>
            </a:r>
            <a:r>
              <a:rPr lang="ru-RU" altLang="ja-JP" sz="2200" i="1">
                <a:solidFill>
                  <a:schemeClr val="folHlink"/>
                </a:solidFill>
                <a:latin typeface="Times New Roman" pitchFamily="18" charset="0"/>
              </a:rPr>
              <a:t> бўлиб, чиқиши махсус тузилмали диаматрицалардан ташкил топган </a:t>
            </a:r>
            <a:r>
              <a:rPr lang="ru-RU" altLang="ja-JP" sz="2200" b="1" i="1">
                <a:solidFill>
                  <a:schemeClr val="folHlink"/>
                </a:solidFill>
                <a:latin typeface="Times New Roman" pitchFamily="18" charset="0"/>
              </a:rPr>
              <a:t>(</a:t>
            </a:r>
            <a:r>
              <a:rPr lang="en-US" altLang="ja-JP" sz="22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ru-RU" altLang="ja-JP" sz="2200" b="1" i="1" baseline="-25000">
                <a:solidFill>
                  <a:schemeClr val="folHlink"/>
                </a:solidFill>
                <a:latin typeface="Times New Roman" pitchFamily="18" charset="0"/>
              </a:rPr>
              <a:t>1</a:t>
            </a:r>
            <a:r>
              <a:rPr lang="en-US" altLang="ja-JP" sz="2200" b="1" i="1" baseline="-25000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t</a:t>
            </a:r>
            <a:r>
              <a:rPr lang="en-US" altLang="ja-JP" sz="22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200" i="1">
                <a:solidFill>
                  <a:schemeClr val="folHlink"/>
                </a:solidFill>
                <a:latin typeface="Times New Roman" pitchFamily="18" charset="0"/>
              </a:rPr>
              <a:t>, </a:t>
            </a:r>
            <a:r>
              <a:rPr lang="en-US" altLang="ja-JP" sz="22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ru-RU" altLang="ja-JP" sz="2200" b="1" i="1" baseline="-25000">
                <a:solidFill>
                  <a:schemeClr val="folHlink"/>
                </a:solidFill>
                <a:latin typeface="Times New Roman" pitchFamily="18" charset="0"/>
              </a:rPr>
              <a:t>2</a:t>
            </a:r>
            <a:r>
              <a:rPr lang="ru-RU" altLang="ja-JP" sz="2200" b="1" i="1">
                <a:solidFill>
                  <a:schemeClr val="folHlink"/>
                </a:solidFill>
                <a:latin typeface="Times New Roman" pitchFamily="18" charset="0"/>
              </a:rPr>
              <a:t> )</a:t>
            </a:r>
            <a:r>
              <a:rPr lang="ru-RU" altLang="ja-JP" sz="2200" i="1">
                <a:solidFill>
                  <a:schemeClr val="folHlink"/>
                </a:solidFill>
                <a:latin typeface="Times New Roman" pitchFamily="18" charset="0"/>
              </a:rPr>
              <a:t> ёки </a:t>
            </a:r>
            <a:r>
              <a:rPr lang="ru-RU" altLang="ja-JP" sz="2200" b="1" i="1">
                <a:solidFill>
                  <a:schemeClr val="folHlink"/>
                </a:solidFill>
                <a:latin typeface="Times New Roman" pitchFamily="18" charset="0"/>
              </a:rPr>
              <a:t>(</a:t>
            </a:r>
            <a:r>
              <a:rPr lang="en-US" altLang="ja-JP" sz="22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ru-RU" altLang="ja-JP" sz="2200" b="1" i="1" baseline="-25000">
                <a:solidFill>
                  <a:schemeClr val="folHlink"/>
                </a:solidFill>
                <a:latin typeface="Times New Roman" pitchFamily="18" charset="0"/>
              </a:rPr>
              <a:t>1</a:t>
            </a:r>
            <a:r>
              <a:rPr lang="ru-RU" altLang="ja-JP" sz="2200" b="1" i="1">
                <a:solidFill>
                  <a:schemeClr val="folHlink"/>
                </a:solidFill>
                <a:latin typeface="Times New Roman" pitchFamily="18" charset="0"/>
              </a:rPr>
              <a:t> , </a:t>
            </a:r>
            <a:r>
              <a:rPr lang="en-US" altLang="ja-JP" sz="22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ru-RU" altLang="ja-JP" sz="2200" b="1" i="1" baseline="-25000">
                <a:solidFill>
                  <a:schemeClr val="folHlink"/>
                </a:solidFill>
                <a:latin typeface="Times New Roman" pitchFamily="18" charset="0"/>
              </a:rPr>
              <a:t>2</a:t>
            </a:r>
            <a:r>
              <a:rPr lang="en-US" altLang="ja-JP" sz="2200" b="1" i="1" baseline="-25000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t</a:t>
            </a:r>
            <a:r>
              <a:rPr lang="en-US" altLang="ja-JP" sz="22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200" b="1" i="1">
                <a:solidFill>
                  <a:schemeClr val="folHlink"/>
                </a:solidFill>
                <a:latin typeface="Times New Roman" pitchFamily="18" charset="0"/>
              </a:rPr>
              <a:t>)</a:t>
            </a:r>
            <a:r>
              <a:rPr lang="ru-RU" altLang="ja-JP" sz="2200" i="1">
                <a:solidFill>
                  <a:schemeClr val="folHlink"/>
                </a:solidFill>
                <a:latin typeface="Times New Roman" pitchFamily="18" charset="0"/>
              </a:rPr>
              <a:t> массивлар жуфтликларидир;</a:t>
            </a:r>
            <a:r>
              <a:rPr lang="ru-RU" altLang="ja-JP" sz="2400">
                <a:solidFill>
                  <a:schemeClr val="folHlink"/>
                </a:solidFill>
                <a:latin typeface="Times New Roman" pitchFamily="18" charset="0"/>
              </a:rPr>
              <a:t> </a:t>
            </a:r>
            <a:endParaRPr lang="uz-Cyrl-UZ" altLang="ja-JP" sz="2400">
              <a:solidFill>
                <a:schemeClr val="folHlink"/>
              </a:solidFill>
              <a:latin typeface="Times New Roman" pitchFamily="18" charset="0"/>
            </a:endParaRPr>
          </a:p>
          <a:p>
            <a:pPr indent="355600" algn="just">
              <a:spcBef>
                <a:spcPct val="70000"/>
              </a:spcBef>
              <a:buClr>
                <a:schemeClr val="accent2"/>
              </a:buClr>
              <a:buFont typeface="Wingdings" pitchFamily="2" charset="2"/>
              <a:buNone/>
            </a:pPr>
            <a:endParaRPr lang="ru-RU" altLang="ja-JP" sz="1000" b="1" i="1">
              <a:solidFill>
                <a:schemeClr val="folHlink"/>
              </a:solidFill>
              <a:latin typeface="Times New Roman" pitchFamily="18" charset="0"/>
            </a:endParaRPr>
          </a:p>
          <a:p>
            <a:pPr indent="355600" algn="just">
              <a:spcBef>
                <a:spcPct val="7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ru-RU" altLang="ja-JP" sz="2400" b="1" i="1">
                <a:latin typeface="Times New Roman" pitchFamily="18" charset="0"/>
              </a:rPr>
              <a:t> </a:t>
            </a:r>
            <a:r>
              <a:rPr lang="en-US" altLang="ja-JP" sz="2400" b="1" i="1" u="sng">
                <a:latin typeface="Times New Roman" pitchFamily="18" charset="0"/>
                <a:ea typeface="ＭＳ Ｐゴシック" charset="-128"/>
              </a:rPr>
              <a:t>ShaklBosqichKalit</a:t>
            </a:r>
            <a:r>
              <a:rPr lang="ru-RU" altLang="ja-JP" sz="2400" b="1" i="1">
                <a:latin typeface="Times New Roman" pitchFamily="18" charset="0"/>
              </a:rPr>
              <a:t>(</a:t>
            </a:r>
            <a:r>
              <a:rPr lang="en-US" altLang="ja-JP" sz="2400" b="1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400" b="1" i="1" baseline="-25000">
                <a:latin typeface="Times New Roman" pitchFamily="18" charset="0"/>
                <a:ea typeface="ＭＳ Ｐゴシック" charset="-128"/>
              </a:rPr>
              <a:t>se</a:t>
            </a:r>
            <a:r>
              <a:rPr lang="ru-RU" altLang="ja-JP" sz="2400" b="1" i="1">
                <a:latin typeface="Times New Roman" pitchFamily="18" charset="0"/>
              </a:rPr>
              <a:t>)</a:t>
            </a:r>
            <a:r>
              <a:rPr lang="ru-RU" altLang="ja-JP" sz="2400" i="1">
                <a:latin typeface="Times New Roman" pitchFamily="18" charset="0"/>
              </a:rPr>
              <a:t> </a:t>
            </a:r>
            <a:r>
              <a:rPr lang="ru-RU" altLang="ja-JP" sz="2400">
                <a:latin typeface="Times New Roman" pitchFamily="18" charset="0"/>
              </a:rPr>
              <a:t>– </a:t>
            </a:r>
            <a:r>
              <a:rPr lang="ru-RU" altLang="ja-JP" sz="2200" i="1">
                <a:solidFill>
                  <a:srgbClr val="800000"/>
                </a:solidFill>
                <a:latin typeface="Times New Roman" pitchFamily="18" charset="0"/>
              </a:rPr>
              <a:t>сеанс давомида сеанс-босқич калитидан босқич калитини шакллантириш бўлиб, дастлабки матнни шифрматнга ва тескари йўналишда алмаштиришда </a:t>
            </a:r>
            <a:r>
              <a:rPr lang="en-US" altLang="ja-JP" sz="2200" b="1" i="1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Qo</a:t>
            </a:r>
            <a:r>
              <a:rPr lang="ru-RU" altLang="ja-JP" sz="2200" b="1" i="1">
                <a:solidFill>
                  <a:srgbClr val="800000"/>
                </a:solidFill>
                <a:latin typeface="Times New Roman" pitchFamily="18" charset="0"/>
              </a:rPr>
              <a:t>’</a:t>
            </a:r>
            <a:r>
              <a:rPr lang="en-US" altLang="ja-JP" sz="2200" b="1" i="1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shBosqichKalit</a:t>
            </a:r>
            <a:r>
              <a:rPr lang="ru-RU" altLang="ja-JP" sz="2200" b="1" i="1">
                <a:solidFill>
                  <a:srgbClr val="800000"/>
                </a:solidFill>
                <a:latin typeface="Times New Roman" pitchFamily="18" charset="0"/>
              </a:rPr>
              <a:t>()</a:t>
            </a:r>
            <a:r>
              <a:rPr lang="ru-RU" altLang="ja-JP" sz="2200" i="1">
                <a:solidFill>
                  <a:srgbClr val="800000"/>
                </a:solidFill>
                <a:latin typeface="Times New Roman" pitchFamily="18" charset="0"/>
              </a:rPr>
              <a:t> алмаштиришини бажариш учун фойдаланилади; мазкур алмаштириш кириши чизиқли сеанс-босқич калити массиви </a:t>
            </a:r>
            <a:r>
              <a:rPr lang="en-US" altLang="ja-JP" sz="2200" b="1" i="1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200" b="1" i="1" baseline="-25000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se</a:t>
            </a:r>
            <a:r>
              <a:rPr lang="ru-RU" altLang="ja-JP" sz="2200" i="1">
                <a:solidFill>
                  <a:srgbClr val="800000"/>
                </a:solidFill>
                <a:latin typeface="Times New Roman" pitchFamily="18" charset="0"/>
              </a:rPr>
              <a:t>, чиқиши байт сатҳида берилган </a:t>
            </a:r>
            <a:r>
              <a:rPr lang="uz-Cyrl-UZ" altLang="ja-JP" sz="2200" i="1">
                <a:solidFill>
                  <a:srgbClr val="800000"/>
                </a:solidFill>
                <a:latin typeface="Times New Roman" pitchFamily="18" charset="0"/>
              </a:rPr>
              <a:t>икки ўлчамли </a:t>
            </a:r>
            <a:r>
              <a:rPr lang="en-US" altLang="ja-JP" sz="2200" b="1" i="1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200" b="1" i="1" baseline="-25000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e</a:t>
            </a:r>
            <a:r>
              <a:rPr lang="ru-RU" altLang="ja-JP" sz="2200" b="1" i="1">
                <a:solidFill>
                  <a:srgbClr val="800000"/>
                </a:solidFill>
                <a:latin typeface="Times New Roman" pitchFamily="18" charset="0"/>
              </a:rPr>
              <a:t>[8,4]</a:t>
            </a:r>
            <a:r>
              <a:rPr lang="uz-Cyrl-UZ" altLang="ja-JP" sz="2200" i="1">
                <a:solidFill>
                  <a:srgbClr val="800000"/>
                </a:solidFill>
                <a:latin typeface="Times New Roman" pitchFamily="18" charset="0"/>
              </a:rPr>
              <a:t> массиви</a:t>
            </a:r>
            <a:r>
              <a:rPr lang="ru-RU" altLang="ja-JP" sz="2200" i="1">
                <a:solidFill>
                  <a:srgbClr val="800000"/>
                </a:solidFill>
                <a:latin typeface="Times New Roman" pitchFamily="18" charset="0"/>
              </a:rPr>
              <a:t>дир;</a:t>
            </a:r>
            <a:endParaRPr lang="ru-RU" altLang="uz-Cyrl-UZ" sz="2200" i="1">
              <a:solidFill>
                <a:srgbClr val="8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74613" y="6453188"/>
            <a:ext cx="8997950" cy="360362"/>
            <a:chOff x="47" y="4065"/>
            <a:chExt cx="5668" cy="227"/>
          </a:xfrm>
        </p:grpSpPr>
        <p:sp>
          <p:nvSpPr>
            <p:cNvPr id="11268" name="Line 16"/>
            <p:cNvSpPr>
              <a:spLocks noChangeShapeType="1"/>
            </p:cNvSpPr>
            <p:nvPr/>
          </p:nvSpPr>
          <p:spPr bwMode="auto">
            <a:xfrm>
              <a:off x="47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3313" y="4080"/>
              <a:ext cx="240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  <a:r>
                <a:rPr lang="uz-Cyrl-UZ" sz="1600" i="1" smtClean="0">
                  <a:solidFill>
                    <a:srgbClr val="6666FF"/>
                  </a:solidFill>
                  <a:latin typeface="Times New Roman" pitchFamily="18" charset="0"/>
                </a:rPr>
                <a:t>, </a:t>
              </a: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УзДСт 1105:2009</a:t>
              </a:r>
            </a:p>
          </p:txBody>
        </p:sp>
      </p:grpSp>
      <p:sp>
        <p:nvSpPr>
          <p:cNvPr id="11267" name="Rectangle 5"/>
          <p:cNvSpPr>
            <a:spLocks noChangeArrowheads="1"/>
          </p:cNvSpPr>
          <p:nvPr/>
        </p:nvSpPr>
        <p:spPr bwMode="auto">
          <a:xfrm>
            <a:off x="250825" y="146050"/>
            <a:ext cx="8642350" cy="6194425"/>
          </a:xfrm>
          <a:prstGeom prst="rect">
            <a:avLst/>
          </a:prstGeom>
          <a:solidFill>
            <a:schemeClr val="bg1">
              <a:alpha val="85881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355600" algn="just">
              <a:spcBef>
                <a:spcPct val="4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400" i="1">
                <a:latin typeface="Times New Roman" pitchFamily="18" charset="0"/>
              </a:rPr>
              <a:t> </a:t>
            </a:r>
            <a:r>
              <a:rPr lang="en-US" altLang="ja-JP" sz="2400" b="1" i="1" u="sng">
                <a:latin typeface="Times New Roman" pitchFamily="18" charset="0"/>
                <a:ea typeface="ＭＳ Ｐゴシック" charset="-128"/>
              </a:rPr>
              <a:t>Aralash</a:t>
            </a:r>
            <a:r>
              <a:rPr lang="ru-RU" altLang="ja-JP" sz="2400" b="1" i="1">
                <a:latin typeface="Times New Roman" pitchFamily="18" charset="0"/>
              </a:rPr>
              <a:t>(</a:t>
            </a:r>
            <a:r>
              <a:rPr lang="en-US" altLang="ja-JP" sz="2400" b="1" i="1">
                <a:latin typeface="Times New Roman" pitchFamily="18" charset="0"/>
                <a:ea typeface="ＭＳ Ｐゴシック" charset="-128"/>
              </a:rPr>
              <a:t>Holat,K</a:t>
            </a:r>
            <a:r>
              <a:rPr lang="en-US" altLang="ja-JP" sz="2400" b="1" i="1" baseline="-25000">
                <a:latin typeface="Times New Roman" pitchFamily="18" charset="0"/>
                <a:ea typeface="ＭＳ Ｐゴシック" charset="-128"/>
              </a:rPr>
              <a:t>se</a:t>
            </a:r>
            <a:r>
              <a:rPr lang="ru-RU" altLang="ja-JP" sz="2400" b="1" i="1">
                <a:latin typeface="Times New Roman" pitchFamily="18" charset="0"/>
              </a:rPr>
              <a:t>)</a:t>
            </a:r>
            <a:r>
              <a:rPr lang="ru-RU" altLang="ja-JP" sz="2400" i="1">
                <a:latin typeface="Times New Roman" pitchFamily="18" charset="0"/>
              </a:rPr>
              <a:t> – </a:t>
            </a:r>
            <a:r>
              <a:rPr lang="ru-RU" altLang="ja-JP" sz="2200" i="1">
                <a:solidFill>
                  <a:srgbClr val="000099"/>
                </a:solidFill>
                <a:latin typeface="Times New Roman" pitchFamily="18" charset="0"/>
              </a:rPr>
              <a:t>оддий шифралмаштириш бўлиб, дастлабки матнни шифрматнга ва тескари йўналишда алмаштириш учун диаматрицавий қисмлар устида амалга оширилади; мазкур шифралмаштириш кириши </a:t>
            </a:r>
            <a:r>
              <a:rPr lang="en-US" altLang="ja-JP" sz="2200" i="1">
                <a:solidFill>
                  <a:srgbClr val="000099"/>
                </a:solidFill>
                <a:latin typeface="Times New Roman" pitchFamily="18" charset="0"/>
                <a:ea typeface="ＭＳ Ｐゴシック" charset="-128"/>
              </a:rPr>
              <a:t>Holat </a:t>
            </a:r>
            <a:r>
              <a:rPr lang="ru-RU" altLang="ja-JP" sz="2200" i="1">
                <a:solidFill>
                  <a:srgbClr val="000099"/>
                </a:solidFill>
                <a:latin typeface="Times New Roman" pitchFamily="18" charset="0"/>
              </a:rPr>
              <a:t>массивининг диаматрицавий қисмлари ҳамда </a:t>
            </a:r>
            <a:r>
              <a:rPr lang="en-US" altLang="ja-JP" sz="2200" i="1">
                <a:solidFill>
                  <a:srgbClr val="000099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ru-RU" altLang="ja-JP" sz="2200" i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ru-RU" altLang="ja-JP" sz="2200" i="1">
                <a:solidFill>
                  <a:srgbClr val="000099"/>
                </a:solidFill>
                <a:latin typeface="Times New Roman" pitchFamily="18" charset="0"/>
              </a:rPr>
              <a:t> ва </a:t>
            </a:r>
            <a:r>
              <a:rPr lang="en-US" altLang="ja-JP" sz="2200" i="1">
                <a:solidFill>
                  <a:srgbClr val="000099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ru-RU" altLang="ja-JP" sz="2200" i="1" baseline="-25000">
                <a:solidFill>
                  <a:srgbClr val="000099"/>
                </a:solidFill>
                <a:latin typeface="Times New Roman" pitchFamily="18" charset="0"/>
              </a:rPr>
              <a:t>2</a:t>
            </a:r>
            <a:r>
              <a:rPr lang="ru-RU" altLang="ja-JP" sz="2200" i="1">
                <a:solidFill>
                  <a:srgbClr val="000099"/>
                </a:solidFill>
                <a:latin typeface="Times New Roman" pitchFamily="18" charset="0"/>
              </a:rPr>
              <a:t> массивлари бўлиб, чиқиши </a:t>
            </a:r>
            <a:r>
              <a:rPr lang="en-US" altLang="ja-JP" sz="2200" i="1">
                <a:solidFill>
                  <a:srgbClr val="000099"/>
                </a:solidFill>
                <a:latin typeface="Times New Roman" pitchFamily="18" charset="0"/>
                <a:ea typeface="ＭＳ Ｐゴシック" charset="-128"/>
              </a:rPr>
              <a:t>Holat </a:t>
            </a:r>
            <a:r>
              <a:rPr lang="ru-RU" altLang="ja-JP" sz="2200" i="1">
                <a:solidFill>
                  <a:srgbClr val="000099"/>
                </a:solidFill>
                <a:latin typeface="Times New Roman" pitchFamily="18" charset="0"/>
              </a:rPr>
              <a:t> массивидир;</a:t>
            </a:r>
            <a:r>
              <a:rPr lang="uz-Cyrl-UZ" altLang="ja-JP" sz="2200" i="1">
                <a:solidFill>
                  <a:srgbClr val="000099"/>
                </a:solidFill>
                <a:latin typeface="Times New Roman" pitchFamily="18" charset="0"/>
              </a:rPr>
              <a:t> </a:t>
            </a:r>
          </a:p>
          <a:p>
            <a:pPr indent="355600" algn="just">
              <a:spcBef>
                <a:spcPct val="4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en-US" altLang="ja-JP" sz="2400" b="1" i="1">
                <a:latin typeface="Times New Roman" pitchFamily="18" charset="0"/>
                <a:ea typeface="ＭＳ Ｐゴシック" charset="-128"/>
              </a:rPr>
              <a:t> </a:t>
            </a:r>
            <a:r>
              <a:rPr lang="en-US" altLang="ja-JP" sz="2400" b="1" i="1" u="sng">
                <a:latin typeface="Times New Roman" pitchFamily="18" charset="0"/>
                <a:ea typeface="ＭＳ Ｐゴシック" charset="-128"/>
              </a:rPr>
              <a:t>Qo</a:t>
            </a:r>
            <a:r>
              <a:rPr lang="ru-RU" altLang="ja-JP" sz="2400" b="1" i="1" u="sng">
                <a:latin typeface="Times New Roman" pitchFamily="18" charset="0"/>
              </a:rPr>
              <a:t>’</a:t>
            </a:r>
            <a:r>
              <a:rPr lang="en-US" altLang="ja-JP" sz="2400" b="1" i="1" u="sng">
                <a:latin typeface="Times New Roman" pitchFamily="18" charset="0"/>
                <a:ea typeface="ＭＳ Ｐゴシック" charset="-128"/>
              </a:rPr>
              <a:t>shBosqichKalit</a:t>
            </a:r>
            <a:r>
              <a:rPr lang="ru-RU" altLang="ja-JP" sz="2400" b="1" i="1">
                <a:latin typeface="Times New Roman" pitchFamily="18" charset="0"/>
              </a:rPr>
              <a:t>(</a:t>
            </a:r>
            <a:r>
              <a:rPr lang="en-US" altLang="ja-JP" sz="2400" b="1" i="1">
                <a:latin typeface="Times New Roman" pitchFamily="18" charset="0"/>
                <a:ea typeface="ＭＳ Ｐゴシック" charset="-128"/>
              </a:rPr>
              <a:t>Holat,K</a:t>
            </a:r>
            <a:r>
              <a:rPr lang="en-US" altLang="ja-JP" sz="2400" b="1" i="1" baseline="-25000">
                <a:latin typeface="Times New Roman" pitchFamily="18" charset="0"/>
                <a:ea typeface="ＭＳ Ｐゴシック" charset="-128"/>
              </a:rPr>
              <a:t>e</a:t>
            </a:r>
            <a:r>
              <a:rPr lang="ru-RU" altLang="ja-JP" sz="2400" b="1" i="1">
                <a:latin typeface="Times New Roman" pitchFamily="18" charset="0"/>
              </a:rPr>
              <a:t>)</a:t>
            </a:r>
            <a:r>
              <a:rPr lang="ru-RU" altLang="ja-JP" sz="2400" i="1">
                <a:latin typeface="Times New Roman" pitchFamily="18" charset="0"/>
              </a:rPr>
              <a:t> –  </a:t>
            </a:r>
            <a:r>
              <a:rPr lang="ru-RU" altLang="ja-JP" sz="2200" i="1">
                <a:solidFill>
                  <a:schemeClr val="folHlink"/>
                </a:solidFill>
                <a:latin typeface="Times New Roman" pitchFamily="18" charset="0"/>
              </a:rPr>
              <a:t>оддий шифралмаштириш бўлиб, дастлабки матнни шифрматнга ва тескари йўналишда </a:t>
            </a:r>
            <a:r>
              <a:rPr lang="en-US" altLang="ja-JP" sz="22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Holat</a:t>
            </a:r>
            <a:r>
              <a:rPr lang="ru-RU" altLang="ja-JP" sz="2200" i="1">
                <a:solidFill>
                  <a:schemeClr val="folHlink"/>
                </a:solidFill>
                <a:latin typeface="Times New Roman" pitchFamily="18" charset="0"/>
              </a:rPr>
              <a:t> ва босқич калити массиви </a:t>
            </a:r>
            <a:r>
              <a:rPr lang="en-US" altLang="ja-JP" sz="22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200" b="1" i="1" baseline="-25000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e</a:t>
            </a:r>
            <a:r>
              <a:rPr lang="ru-RU" altLang="ja-JP" sz="2200" i="1">
                <a:solidFill>
                  <a:schemeClr val="folHlink"/>
                </a:solidFill>
                <a:latin typeface="Times New Roman" pitchFamily="18" charset="0"/>
              </a:rPr>
              <a:t> элементлари устида </a:t>
            </a:r>
            <a:r>
              <a:rPr lang="en-US" altLang="ja-JP" sz="2200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XOR</a:t>
            </a:r>
            <a:r>
              <a:rPr lang="ru-RU" altLang="ja-JP" sz="2200" i="1">
                <a:solidFill>
                  <a:schemeClr val="folHlink"/>
                </a:solidFill>
                <a:latin typeface="Times New Roman" pitchFamily="18" charset="0"/>
              </a:rPr>
              <a:t> (</a:t>
            </a:r>
            <a:r>
              <a:rPr lang="ru-RU" altLang="ja-JP" sz="2200" b="1" i="1">
                <a:solidFill>
                  <a:schemeClr val="folHlink"/>
                </a:solidFill>
                <a:latin typeface="Times New Roman" pitchFamily="18" charset="0"/>
              </a:rPr>
              <a:t>2</a:t>
            </a:r>
            <a:r>
              <a:rPr lang="ru-RU" altLang="ja-JP" sz="2200" i="1">
                <a:solidFill>
                  <a:schemeClr val="folHlink"/>
                </a:solidFill>
                <a:latin typeface="Times New Roman" pitchFamily="18" charset="0"/>
              </a:rPr>
              <a:t> модули бўйича битлаб қўшиш) амалини бажаришдан иборат; мазкур шифралмаштириш кириши байт сатҳида </a:t>
            </a:r>
            <a:r>
              <a:rPr lang="en-US" altLang="ja-JP" sz="22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Holat</a:t>
            </a:r>
            <a:r>
              <a:rPr lang="ru-RU" altLang="ja-JP" sz="2200" i="1">
                <a:solidFill>
                  <a:schemeClr val="folHlink"/>
                </a:solidFill>
                <a:latin typeface="Times New Roman" pitchFamily="18" charset="0"/>
              </a:rPr>
              <a:t> массиви, </a:t>
            </a:r>
            <a:r>
              <a:rPr lang="en-US" altLang="ja-JP" sz="22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200" b="1" i="1" baseline="-25000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e</a:t>
            </a:r>
            <a:r>
              <a:rPr lang="ru-RU" altLang="ja-JP" sz="2200" i="1">
                <a:solidFill>
                  <a:schemeClr val="folHlink"/>
                </a:solidFill>
                <a:latin typeface="Times New Roman" pitchFamily="18" charset="0"/>
              </a:rPr>
              <a:t> массиви бўлиб, чиқиши байт сатҳида </a:t>
            </a:r>
            <a:r>
              <a:rPr lang="en-US" altLang="ja-JP" sz="2200" b="1" i="1">
                <a:solidFill>
                  <a:schemeClr val="folHlink"/>
                </a:solidFill>
                <a:latin typeface="Times New Roman" pitchFamily="18" charset="0"/>
                <a:ea typeface="ＭＳ Ｐゴシック" charset="-128"/>
              </a:rPr>
              <a:t>Holat </a:t>
            </a:r>
            <a:r>
              <a:rPr lang="ru-RU" altLang="ja-JP" sz="2200" i="1">
                <a:solidFill>
                  <a:schemeClr val="folHlink"/>
                </a:solidFill>
                <a:latin typeface="Times New Roman" pitchFamily="18" charset="0"/>
              </a:rPr>
              <a:t>массивидир; </a:t>
            </a:r>
            <a:endParaRPr lang="uz-Cyrl-UZ" altLang="ja-JP" sz="2200" i="1">
              <a:solidFill>
                <a:schemeClr val="folHlink"/>
              </a:solidFill>
              <a:latin typeface="Times New Roman" pitchFamily="18" charset="0"/>
            </a:endParaRPr>
          </a:p>
          <a:p>
            <a:pPr indent="355600" algn="just">
              <a:spcBef>
                <a:spcPct val="40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ru-RU" altLang="ja-JP" sz="2400" i="1">
                <a:latin typeface="Times New Roman" pitchFamily="18" charset="0"/>
              </a:rPr>
              <a:t> </a:t>
            </a:r>
            <a:r>
              <a:rPr lang="uz-Cyrl-UZ" altLang="ja-JP" sz="2400" i="1">
                <a:latin typeface="Times New Roman" pitchFamily="18" charset="0"/>
              </a:rPr>
              <a:t> </a:t>
            </a:r>
            <a:r>
              <a:rPr lang="en-US" altLang="ja-JP" sz="2400" b="1" i="1" u="sng">
                <a:latin typeface="Times New Roman" pitchFamily="18" charset="0"/>
                <a:ea typeface="ＭＳ Ｐゴシック" charset="-128"/>
              </a:rPr>
              <a:t>Qo</a:t>
            </a:r>
            <a:r>
              <a:rPr lang="ru-RU" altLang="ja-JP" sz="2400" b="1" i="1" u="sng">
                <a:latin typeface="Times New Roman" pitchFamily="18" charset="0"/>
              </a:rPr>
              <a:t>’</a:t>
            </a:r>
            <a:r>
              <a:rPr lang="en-US" altLang="ja-JP" sz="2400" b="1" i="1" u="sng">
                <a:latin typeface="Times New Roman" pitchFamily="18" charset="0"/>
                <a:ea typeface="ＭＳ Ｐゴシック" charset="-128"/>
              </a:rPr>
              <a:t>shHolat</a:t>
            </a:r>
            <a:r>
              <a:rPr lang="ru-RU" altLang="ja-JP" sz="2400" b="1" i="1">
                <a:latin typeface="Times New Roman" pitchFamily="18" charset="0"/>
              </a:rPr>
              <a:t>(</a:t>
            </a:r>
            <a:r>
              <a:rPr lang="en-US" altLang="ja-JP" sz="2400" b="1" i="1">
                <a:latin typeface="Times New Roman" pitchFamily="18" charset="0"/>
                <a:ea typeface="ＭＳ Ｐゴシック" charset="-128"/>
              </a:rPr>
              <a:t>Holatm,Holat</a:t>
            </a:r>
            <a:r>
              <a:rPr lang="ru-RU" altLang="ja-JP" sz="2400" b="1" i="1">
                <a:latin typeface="Times New Roman" pitchFamily="18" charset="0"/>
              </a:rPr>
              <a:t>)</a:t>
            </a:r>
            <a:r>
              <a:rPr lang="ru-RU" altLang="ja-JP" sz="2400" i="1">
                <a:latin typeface="Times New Roman" pitchFamily="18" charset="0"/>
              </a:rPr>
              <a:t> – </a:t>
            </a:r>
            <a:r>
              <a:rPr lang="ru-RU" altLang="ja-JP" sz="2200" i="1">
                <a:solidFill>
                  <a:srgbClr val="800000"/>
                </a:solidFill>
                <a:latin typeface="Times New Roman" pitchFamily="18" charset="0"/>
              </a:rPr>
              <a:t>оддий шифралмаштириш бўлиб, шифрлаш блоклари устида амалга ошириладиган электрон код китоби режимидан бошқа режимларда дастлабки матнни шифрматнга ва тескари йўналишда </a:t>
            </a:r>
            <a:r>
              <a:rPr lang="en-US" altLang="ja-JP" sz="2200" b="1" i="1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XOR</a:t>
            </a:r>
            <a:r>
              <a:rPr lang="ru-RU" altLang="ja-JP" sz="2200" i="1">
                <a:solidFill>
                  <a:srgbClr val="800000"/>
                </a:solidFill>
                <a:latin typeface="Times New Roman" pitchFamily="18" charset="0"/>
              </a:rPr>
              <a:t> амали иштирокида фойдаланиладиган алмаштириш.</a:t>
            </a:r>
            <a:endParaRPr lang="ru-RU" altLang="uz-Cyrl-UZ" sz="2200" i="1">
              <a:solidFill>
                <a:srgbClr val="8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-14288"/>
            <a:ext cx="7308850" cy="457201"/>
          </a:xfrm>
          <a:prstGeom prst="rect">
            <a:avLst/>
          </a:prstGeom>
          <a:solidFill>
            <a:srgbClr val="00FF00">
              <a:alpha val="9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ru-RU" sz="24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Калит</a:t>
            </a:r>
            <a:r>
              <a:rPr lang="uz-Cyrl-UZ" sz="24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лар </a:t>
            </a:r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(K</a:t>
            </a:r>
            <a:r>
              <a:rPr lang="en-US" sz="24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se</a:t>
            </a:r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, K</a:t>
            </a:r>
            <a:r>
              <a:rPr lang="en-US" sz="24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st</a:t>
            </a:r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, B</a:t>
            </a:r>
            <a:r>
              <a:rPr lang="en-US" sz="24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sA</a:t>
            </a:r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, B</a:t>
            </a:r>
            <a:r>
              <a:rPr lang="en-US" sz="24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sAD</a:t>
            </a:r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K</a:t>
            </a:r>
            <a:r>
              <a:rPr lang="en-US" sz="24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ss</a:t>
            </a:r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, K</a:t>
            </a:r>
            <a:r>
              <a:rPr lang="en-US" sz="24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s</a:t>
            </a:r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, K</a:t>
            </a:r>
            <a:r>
              <a:rPr lang="en-US" sz="24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e</a:t>
            </a:r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) </a:t>
            </a:r>
            <a:r>
              <a:rPr lang="ru-RU" sz="24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генерацияси</a:t>
            </a:r>
          </a:p>
        </p:txBody>
      </p:sp>
      <p:sp>
        <p:nvSpPr>
          <p:cNvPr id="36874" name="AutoShape 10"/>
          <p:cNvSpPr>
            <a:spLocks noChangeArrowheads="1"/>
          </p:cNvSpPr>
          <p:nvPr/>
        </p:nvSpPr>
        <p:spPr bwMode="auto">
          <a:xfrm>
            <a:off x="1957388" y="1125538"/>
            <a:ext cx="5126037" cy="5064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uz-Cyrl-UZ" sz="2400">
                <a:latin typeface="Times New Roman" pitchFamily="18" charset="0"/>
              </a:rPr>
              <a:t>Кирувчи маълумотлар (</a:t>
            </a:r>
            <a:r>
              <a:rPr lang="en-US" sz="2400">
                <a:latin typeface="Times New Roman" pitchFamily="18" charset="0"/>
              </a:rPr>
              <a:t> k[32], k</a:t>
            </a:r>
            <a:r>
              <a:rPr lang="en-US" sz="2400" baseline="-25000">
                <a:latin typeface="Times New Roman" pitchFamily="18" charset="0"/>
              </a:rPr>
              <a:t>f</a:t>
            </a:r>
            <a:r>
              <a:rPr lang="en-US" sz="2400">
                <a:latin typeface="Times New Roman" pitchFamily="18" charset="0"/>
              </a:rPr>
              <a:t>[32] </a:t>
            </a:r>
            <a:r>
              <a:rPr lang="uz-Cyrl-UZ" sz="2400">
                <a:latin typeface="Times New Roman" pitchFamily="18" charset="0"/>
              </a:rPr>
              <a:t>)</a:t>
            </a:r>
            <a:endParaRPr lang="ru-RU" sz="2400">
              <a:latin typeface="Times New Roman" pitchFamily="18" charset="0"/>
            </a:endParaRPr>
          </a:p>
        </p:txBody>
      </p:sp>
      <p:grpSp>
        <p:nvGrpSpPr>
          <p:cNvPr id="12292" name="Group 31"/>
          <p:cNvGrpSpPr>
            <a:grpSpLocks/>
          </p:cNvGrpSpPr>
          <p:nvPr/>
        </p:nvGrpSpPr>
        <p:grpSpPr bwMode="auto">
          <a:xfrm>
            <a:off x="74613" y="6453188"/>
            <a:ext cx="8997950" cy="360362"/>
            <a:chOff x="47" y="4065"/>
            <a:chExt cx="5668" cy="227"/>
          </a:xfrm>
        </p:grpSpPr>
        <p:sp>
          <p:nvSpPr>
            <p:cNvPr id="12300" name="Line 16"/>
            <p:cNvSpPr>
              <a:spLocks noChangeShapeType="1"/>
            </p:cNvSpPr>
            <p:nvPr/>
          </p:nvSpPr>
          <p:spPr bwMode="auto">
            <a:xfrm>
              <a:off x="47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3313" y="4080"/>
              <a:ext cx="240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  <a:r>
                <a:rPr lang="uz-Cyrl-UZ" sz="1600" i="1" smtClean="0">
                  <a:solidFill>
                    <a:srgbClr val="6666FF"/>
                  </a:solidFill>
                  <a:latin typeface="Times New Roman" pitchFamily="18" charset="0"/>
                </a:rPr>
                <a:t>, </a:t>
              </a: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УзДСт 1105:2009</a:t>
              </a:r>
            </a:p>
          </p:txBody>
        </p:sp>
      </p:grpSp>
      <p:sp>
        <p:nvSpPr>
          <p:cNvPr id="12293" name="Rectangle 34"/>
          <p:cNvSpPr>
            <a:spLocks noChangeArrowheads="1"/>
          </p:cNvSpPr>
          <p:nvPr/>
        </p:nvSpPr>
        <p:spPr bwMode="auto">
          <a:xfrm>
            <a:off x="2501900" y="1881188"/>
            <a:ext cx="4105275" cy="3055937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prstShdw prst="shdw17" dist="17961" dir="2700000">
              <a:srgbClr val="99995C">
                <a:alpha val="50000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uz-Cyrl-UZ" altLang="uz-Cyrl-UZ"/>
          </a:p>
        </p:txBody>
      </p:sp>
      <p:sp>
        <p:nvSpPr>
          <p:cNvPr id="36899" name="AutoShap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713038" y="2238375"/>
            <a:ext cx="3625850" cy="5064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400">
                <a:latin typeface="Times New Roman" pitchFamily="18" charset="0"/>
              </a:rPr>
              <a:t>ShaklSeansKalitBayt (k, k</a:t>
            </a:r>
            <a:r>
              <a:rPr lang="en-US" sz="2400" baseline="-25000">
                <a:latin typeface="Times New Roman" pitchFamily="18" charset="0"/>
              </a:rPr>
              <a:t>f</a:t>
            </a:r>
            <a:r>
              <a:rPr lang="uz-Cyrl-UZ" sz="2400">
                <a:latin typeface="Times New Roman" pitchFamily="18" charset="0"/>
              </a:rPr>
              <a:t>)</a:t>
            </a:r>
            <a:endParaRPr lang="ru-RU" sz="2400">
              <a:latin typeface="Times New Roman" pitchFamily="18" charset="0"/>
            </a:endParaRPr>
          </a:p>
        </p:txBody>
      </p:sp>
      <p:sp>
        <p:nvSpPr>
          <p:cNvPr id="36900" name="AutoShape 36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097213" y="3171825"/>
            <a:ext cx="2882900" cy="5064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400">
                <a:latin typeface="Times New Roman" pitchFamily="18" charset="0"/>
              </a:rPr>
              <a:t>ShaklSeansKalit (K</a:t>
            </a:r>
            <a:r>
              <a:rPr lang="en-US" sz="2400" baseline="-25000">
                <a:latin typeface="Times New Roman" pitchFamily="18" charset="0"/>
              </a:rPr>
              <a:t>st</a:t>
            </a:r>
            <a:r>
              <a:rPr lang="uz-Cyrl-UZ" sz="2400">
                <a:latin typeface="Times New Roman" pitchFamily="18" charset="0"/>
              </a:rPr>
              <a:t>)</a:t>
            </a:r>
            <a:endParaRPr lang="ru-RU" sz="2400">
              <a:latin typeface="Times New Roman" pitchFamily="18" charset="0"/>
            </a:endParaRPr>
          </a:p>
        </p:txBody>
      </p:sp>
      <p:sp>
        <p:nvSpPr>
          <p:cNvPr id="36901" name="AutoShape 37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906713" y="4106863"/>
            <a:ext cx="3187700" cy="5064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400">
                <a:latin typeface="Times New Roman" pitchFamily="18" charset="0"/>
              </a:rPr>
              <a:t>ShaklBosqishKalit (K</a:t>
            </a:r>
            <a:r>
              <a:rPr lang="en-US" sz="2400" baseline="-25000">
                <a:latin typeface="Times New Roman" pitchFamily="18" charset="0"/>
              </a:rPr>
              <a:t>se</a:t>
            </a:r>
            <a:r>
              <a:rPr lang="uz-Cyrl-UZ" sz="2400">
                <a:latin typeface="Times New Roman" pitchFamily="18" charset="0"/>
              </a:rPr>
              <a:t>)</a:t>
            </a:r>
            <a:endParaRPr lang="ru-RU" sz="2400">
              <a:latin typeface="Times New Roman" pitchFamily="18" charset="0"/>
            </a:endParaRPr>
          </a:p>
        </p:txBody>
      </p:sp>
      <p:sp>
        <p:nvSpPr>
          <p:cNvPr id="36902" name="Line 38"/>
          <p:cNvSpPr>
            <a:spLocks noChangeShapeType="1"/>
          </p:cNvSpPr>
          <p:nvPr/>
        </p:nvSpPr>
        <p:spPr bwMode="auto">
          <a:xfrm>
            <a:off x="4451350" y="1654175"/>
            <a:ext cx="0" cy="53975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6903" name="Line 39"/>
          <p:cNvSpPr>
            <a:spLocks noChangeShapeType="1"/>
          </p:cNvSpPr>
          <p:nvPr/>
        </p:nvSpPr>
        <p:spPr bwMode="auto">
          <a:xfrm>
            <a:off x="4451350" y="2765425"/>
            <a:ext cx="0" cy="360363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6904" name="Line 40"/>
          <p:cNvSpPr>
            <a:spLocks noChangeShapeType="1"/>
          </p:cNvSpPr>
          <p:nvPr/>
        </p:nvSpPr>
        <p:spPr bwMode="auto">
          <a:xfrm>
            <a:off x="4464050" y="3678238"/>
            <a:ext cx="0" cy="360362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0" y="0"/>
            <a:ext cx="1814513" cy="427038"/>
          </a:xfrm>
          <a:prstGeom prst="rect">
            <a:avLst/>
          </a:prstGeom>
          <a:solidFill>
            <a:srgbClr val="00FF00">
              <a:alpha val="9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Ekk </a:t>
            </a:r>
            <a:r>
              <a:rPr lang="uz-Cyrl-UZ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режими </a:t>
            </a:r>
            <a:endParaRPr lang="ru-RU" sz="22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 rot="-1535215">
            <a:off x="317500" y="873125"/>
            <a:ext cx="1770063" cy="396875"/>
          </a:xfrm>
          <a:prstGeom prst="rect">
            <a:avLst/>
          </a:prstGeom>
          <a:solidFill>
            <a:schemeClr val="tx2">
              <a:alpha val="9490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uz-Cyrl-UZ" altLang="uz-Cyrl-UZ" sz="2000" b="1">
                <a:solidFill>
                  <a:schemeClr val="bg1"/>
                </a:solidFill>
                <a:latin typeface="Times New Roman" pitchFamily="18" charset="0"/>
              </a:rPr>
              <a:t>ШИФРЛАШ</a:t>
            </a:r>
            <a:r>
              <a:rPr lang="en-US" altLang="uz-Cyrl-UZ" sz="2000" b="1">
                <a:solidFill>
                  <a:schemeClr val="bg1"/>
                </a:solidFill>
                <a:latin typeface="Times New Roman" pitchFamily="18" charset="0"/>
              </a:rPr>
              <a:t>:</a:t>
            </a:r>
            <a:endParaRPr lang="ru-RU" altLang="uz-Cyrl-UZ" sz="20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316" name="Rectangle 9"/>
          <p:cNvSpPr>
            <a:spLocks noChangeArrowheads="1"/>
          </p:cNvSpPr>
          <p:nvPr/>
        </p:nvSpPr>
        <p:spPr bwMode="auto">
          <a:xfrm>
            <a:off x="2051050" y="1333500"/>
            <a:ext cx="4725988" cy="27305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prstShdw prst="shdw17" dist="17961" dir="2700000">
              <a:srgbClr val="99995C">
                <a:alpha val="50000"/>
              </a:srgb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uz-Cyrl-UZ" altLang="uz-Cyrl-UZ"/>
          </a:p>
        </p:txBody>
      </p:sp>
      <p:sp>
        <p:nvSpPr>
          <p:cNvPr id="37904" name="Line 16"/>
          <p:cNvSpPr>
            <a:spLocks noChangeShapeType="1"/>
          </p:cNvSpPr>
          <p:nvPr/>
        </p:nvSpPr>
        <p:spPr bwMode="auto">
          <a:xfrm>
            <a:off x="4473575" y="579438"/>
            <a:ext cx="0" cy="215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7905" name="AutoShape 17"/>
          <p:cNvSpPr>
            <a:spLocks noChangeArrowheads="1"/>
          </p:cNvSpPr>
          <p:nvPr/>
        </p:nvSpPr>
        <p:spPr bwMode="auto">
          <a:xfrm>
            <a:off x="2724150" y="147638"/>
            <a:ext cx="3495675" cy="4397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 </a:t>
            </a:r>
            <a:r>
              <a:rPr lang="uz-Cyrl-UZ" sz="2000">
                <a:latin typeface="Times New Roman" pitchFamily="18" charset="0"/>
              </a:rPr>
              <a:t>Кирувчи маълумот (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uz-Cyrl-UZ" sz="2000">
                <a:latin typeface="Times New Roman" pitchFamily="18" charset="0"/>
              </a:rPr>
              <a:t>М</a:t>
            </a:r>
            <a:r>
              <a:rPr lang="en-US" sz="2000">
                <a:latin typeface="Times New Roman" pitchFamily="18" charset="0"/>
              </a:rPr>
              <a:t>i[32] ) 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7906" name="Line 18"/>
          <p:cNvSpPr>
            <a:spLocks noChangeShapeType="1"/>
          </p:cNvSpPr>
          <p:nvPr/>
        </p:nvSpPr>
        <p:spPr bwMode="auto">
          <a:xfrm>
            <a:off x="4468813" y="1196975"/>
            <a:ext cx="0" cy="2873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7907" name="AutoShape 19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857625" y="800100"/>
            <a:ext cx="1228725" cy="439738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Holat=Mi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7908" name="Line 20"/>
          <p:cNvSpPr>
            <a:spLocks noChangeShapeType="1"/>
          </p:cNvSpPr>
          <p:nvPr/>
        </p:nvSpPr>
        <p:spPr bwMode="auto">
          <a:xfrm>
            <a:off x="4468813" y="1844675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7909" name="AutoShape 21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817813" y="1512888"/>
            <a:ext cx="3351212" cy="439737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Qo’shBosqishKalit (Holat, K</a:t>
            </a:r>
            <a:r>
              <a:rPr lang="en-US" sz="2000" baseline="-25000">
                <a:latin typeface="Times New Roman" pitchFamily="18" charset="0"/>
              </a:rPr>
              <a:t>e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7910" name="Line 22"/>
          <p:cNvSpPr>
            <a:spLocks noChangeShapeType="1"/>
          </p:cNvSpPr>
          <p:nvPr/>
        </p:nvSpPr>
        <p:spPr bwMode="auto">
          <a:xfrm>
            <a:off x="4479925" y="2600325"/>
            <a:ext cx="0" cy="2524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7912" name="AutoShape 2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397250" y="2205038"/>
            <a:ext cx="2185988" cy="439737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Aralash (Holat, K</a:t>
            </a:r>
            <a:r>
              <a:rPr lang="en-US" sz="2000" baseline="-25000">
                <a:latin typeface="Times New Roman" pitchFamily="18" charset="0"/>
              </a:rPr>
              <a:t>s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7913" name="Line 25"/>
          <p:cNvSpPr>
            <a:spLocks noChangeShapeType="1"/>
          </p:cNvSpPr>
          <p:nvPr/>
        </p:nvSpPr>
        <p:spPr bwMode="auto">
          <a:xfrm>
            <a:off x="4492625" y="3249613"/>
            <a:ext cx="0" cy="2524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7914" name="AutoShape 26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3794125" y="2852738"/>
            <a:ext cx="1374775" cy="439737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Sur (Holat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7915" name="Line 27"/>
          <p:cNvSpPr>
            <a:spLocks noChangeShapeType="1"/>
          </p:cNvSpPr>
          <p:nvPr/>
        </p:nvSpPr>
        <p:spPr bwMode="auto">
          <a:xfrm>
            <a:off x="4492625" y="3897313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7916" name="AutoShape 28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3171825" y="3500438"/>
            <a:ext cx="2660650" cy="439737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BaytAlmash (Holat, B</a:t>
            </a:r>
            <a:r>
              <a:rPr lang="en-US" sz="2000" baseline="-25000">
                <a:latin typeface="Times New Roman" pitchFamily="18" charset="0"/>
              </a:rPr>
              <a:t>a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7917" name="Line 29"/>
          <p:cNvSpPr>
            <a:spLocks noChangeShapeType="1"/>
          </p:cNvSpPr>
          <p:nvPr/>
        </p:nvSpPr>
        <p:spPr bwMode="auto">
          <a:xfrm>
            <a:off x="4521200" y="4616450"/>
            <a:ext cx="0" cy="2873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7919" name="AutoShape 31"/>
          <p:cNvSpPr>
            <a:spLocks noChangeArrowheads="1"/>
          </p:cNvSpPr>
          <p:nvPr/>
        </p:nvSpPr>
        <p:spPr bwMode="auto">
          <a:xfrm>
            <a:off x="2827338" y="4257675"/>
            <a:ext cx="3365500" cy="43973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Qo’shBosqichKalit (Holat, K</a:t>
            </a:r>
            <a:r>
              <a:rPr lang="en-US" sz="2000" baseline="-25000">
                <a:latin typeface="Times New Roman" pitchFamily="18" charset="0"/>
              </a:rPr>
              <a:t>e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7921" name="Line 33"/>
          <p:cNvSpPr>
            <a:spLocks noChangeShapeType="1"/>
          </p:cNvSpPr>
          <p:nvPr/>
        </p:nvSpPr>
        <p:spPr bwMode="auto">
          <a:xfrm>
            <a:off x="4500563" y="5984875"/>
            <a:ext cx="0" cy="2873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7923" name="AutoShape 35"/>
          <p:cNvSpPr>
            <a:spLocks noChangeArrowheads="1"/>
          </p:cNvSpPr>
          <p:nvPr/>
        </p:nvSpPr>
        <p:spPr bwMode="auto">
          <a:xfrm>
            <a:off x="2805113" y="6273800"/>
            <a:ext cx="3432175" cy="43973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Чи</a:t>
            </a:r>
            <a:r>
              <a:rPr lang="uz-Cyrl-UZ" sz="2000">
                <a:latin typeface="Times New Roman" pitchFamily="18" charset="0"/>
              </a:rPr>
              <a:t>қ</a:t>
            </a:r>
            <a:r>
              <a:rPr lang="ru-RU" sz="2000">
                <a:latin typeface="Times New Roman" pitchFamily="18" charset="0"/>
              </a:rPr>
              <a:t>увчи</a:t>
            </a:r>
            <a:r>
              <a:rPr lang="uz-Cyrl-UZ" sz="2000">
                <a:latin typeface="Times New Roman" pitchFamily="18" charset="0"/>
              </a:rPr>
              <a:t> маълумот (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uz-Cyrl-UZ" sz="2000">
                <a:latin typeface="Times New Roman" pitchFamily="18" charset="0"/>
              </a:rPr>
              <a:t>С</a:t>
            </a:r>
            <a:r>
              <a:rPr lang="en-US" sz="2000">
                <a:latin typeface="Times New Roman" pitchFamily="18" charset="0"/>
              </a:rPr>
              <a:t>i[32] ) 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7925" name="Line 37"/>
          <p:cNvSpPr>
            <a:spLocks noChangeShapeType="1"/>
          </p:cNvSpPr>
          <p:nvPr/>
        </p:nvSpPr>
        <p:spPr bwMode="auto">
          <a:xfrm>
            <a:off x="4521200" y="5300663"/>
            <a:ext cx="0" cy="287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7926" name="AutoShape 38"/>
          <p:cNvSpPr>
            <a:spLocks noChangeArrowheads="1"/>
          </p:cNvSpPr>
          <p:nvPr/>
        </p:nvSpPr>
        <p:spPr bwMode="auto">
          <a:xfrm>
            <a:off x="3925888" y="5589588"/>
            <a:ext cx="1173162" cy="439737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Ci=Holat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7927" name="AutoShape 39"/>
          <p:cNvSpPr>
            <a:spLocks noChangeArrowheads="1"/>
          </p:cNvSpPr>
          <p:nvPr/>
        </p:nvSpPr>
        <p:spPr bwMode="auto">
          <a:xfrm>
            <a:off x="3419475" y="4905375"/>
            <a:ext cx="2185988" cy="43973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Aralash (Holat, K</a:t>
            </a:r>
            <a:r>
              <a:rPr lang="en-US" sz="2000" baseline="-25000">
                <a:latin typeface="Times New Roman" pitchFamily="18" charset="0"/>
              </a:rPr>
              <a:t>s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7930" name="Text Box 42"/>
          <p:cNvSpPr txBox="1">
            <a:spLocks noChangeArrowheads="1"/>
          </p:cNvSpPr>
          <p:nvPr/>
        </p:nvSpPr>
        <p:spPr bwMode="auto">
          <a:xfrm rot="5400000">
            <a:off x="6111082" y="2123281"/>
            <a:ext cx="927100" cy="24288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55000"/>
              </a:lnSpc>
              <a:defRPr/>
            </a:pPr>
            <a:r>
              <a:rPr lang="en-US" b="1">
                <a:solidFill>
                  <a:schemeClr val="accent2"/>
                </a:solidFill>
                <a:latin typeface="Times New Roman" pitchFamily="18" charset="0"/>
              </a:rPr>
              <a:t>1</a:t>
            </a:r>
            <a:r>
              <a:rPr lang="ru-RU" b="1">
                <a:solidFill>
                  <a:schemeClr val="accent2"/>
                </a:solidFill>
                <a:latin typeface="Times New Roman" pitchFamily="18" charset="0"/>
              </a:rPr>
              <a:t>, 2, 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</a:rPr>
              <a:t>. . .</a:t>
            </a:r>
            <a:endParaRPr lang="ru-RU" b="1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37931" name="Text Box 43"/>
          <p:cNvSpPr txBox="1">
            <a:spLocks noChangeArrowheads="1"/>
          </p:cNvSpPr>
          <p:nvPr/>
        </p:nvSpPr>
        <p:spPr bwMode="auto">
          <a:xfrm rot="16200000">
            <a:off x="2018507" y="2037556"/>
            <a:ext cx="812800" cy="24288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55000"/>
              </a:lnSpc>
              <a:defRPr/>
            </a:pPr>
            <a:r>
              <a:rPr lang="en-US" b="1">
                <a:solidFill>
                  <a:schemeClr val="accent2"/>
                </a:solidFill>
                <a:latin typeface="Times New Roman" pitchFamily="18" charset="0"/>
              </a:rPr>
              <a:t>. . .</a:t>
            </a:r>
            <a:r>
              <a:rPr lang="ru-RU" b="1">
                <a:solidFill>
                  <a:schemeClr val="accent2"/>
                </a:solidFill>
                <a:latin typeface="Times New Roman" pitchFamily="18" charset="0"/>
              </a:rPr>
              <a:t>7,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</a:rPr>
              <a:t> 8</a:t>
            </a:r>
            <a:endParaRPr lang="ru-RU" b="1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37933" name="AutoShape 45"/>
          <p:cNvSpPr>
            <a:spLocks/>
          </p:cNvSpPr>
          <p:nvPr/>
        </p:nvSpPr>
        <p:spPr bwMode="auto">
          <a:xfrm>
            <a:off x="6911975" y="1304925"/>
            <a:ext cx="360363" cy="2844800"/>
          </a:xfrm>
          <a:prstGeom prst="rightBrace">
            <a:avLst>
              <a:gd name="adj1" fmla="val 6578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7935" name="Text Box 47"/>
          <p:cNvSpPr txBox="1">
            <a:spLocks noChangeArrowheads="1"/>
          </p:cNvSpPr>
          <p:nvPr/>
        </p:nvSpPr>
        <p:spPr bwMode="auto">
          <a:xfrm>
            <a:off x="7321550" y="2243138"/>
            <a:ext cx="1571625" cy="9255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ru-RU" i="1">
                <a:latin typeface="Times New Roman" pitchFamily="18" charset="0"/>
              </a:rPr>
              <a:t>Раунд </a:t>
            </a:r>
          </a:p>
          <a:p>
            <a:pPr algn="ctr">
              <a:defRPr/>
            </a:pPr>
            <a:r>
              <a:rPr lang="ru-RU" i="1">
                <a:latin typeface="Times New Roman" pitchFamily="18" charset="0"/>
              </a:rPr>
              <a:t>аксланти-</a:t>
            </a:r>
          </a:p>
          <a:p>
            <a:pPr algn="ctr">
              <a:defRPr/>
            </a:pPr>
            <a:r>
              <a:rPr lang="ru-RU" i="1">
                <a:latin typeface="Times New Roman" pitchFamily="18" charset="0"/>
              </a:rPr>
              <a:t>ришлари</a:t>
            </a:r>
          </a:p>
        </p:txBody>
      </p:sp>
      <p:cxnSp>
        <p:nvCxnSpPr>
          <p:cNvPr id="37946" name="AutoShape 58"/>
          <p:cNvCxnSpPr>
            <a:cxnSpLocks noChangeShapeType="1"/>
            <a:stCxn id="37909" idx="3"/>
            <a:endCxn id="37916" idx="3"/>
          </p:cNvCxnSpPr>
          <p:nvPr/>
        </p:nvCxnSpPr>
        <p:spPr bwMode="auto">
          <a:xfrm flipH="1">
            <a:off x="5832475" y="1733550"/>
            <a:ext cx="336550" cy="1987550"/>
          </a:xfrm>
          <a:prstGeom prst="bentConnector3">
            <a:avLst>
              <a:gd name="adj1" fmla="val -67454"/>
            </a:avLst>
          </a:prstGeom>
          <a:noFill/>
          <a:ln w="25400">
            <a:solidFill>
              <a:schemeClr val="tx1"/>
            </a:solidFill>
            <a:prstDash val="sysDot"/>
            <a:miter lim="800000"/>
            <a:headEnd/>
            <a:tailEnd type="arrow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47" name="AutoShape 59"/>
          <p:cNvCxnSpPr>
            <a:cxnSpLocks noChangeShapeType="1"/>
            <a:stCxn id="37916" idx="1"/>
            <a:endCxn id="37909" idx="1"/>
          </p:cNvCxnSpPr>
          <p:nvPr/>
        </p:nvCxnSpPr>
        <p:spPr bwMode="auto">
          <a:xfrm rot="10800000">
            <a:off x="2817813" y="1733550"/>
            <a:ext cx="354012" cy="1987550"/>
          </a:xfrm>
          <a:prstGeom prst="bentConnector3">
            <a:avLst>
              <a:gd name="adj1" fmla="val 164574"/>
            </a:avLst>
          </a:prstGeom>
          <a:noFill/>
          <a:ln w="25400">
            <a:solidFill>
              <a:schemeClr val="tx1"/>
            </a:solidFill>
            <a:prstDash val="sysDot"/>
            <a:miter lim="800000"/>
            <a:headEnd/>
            <a:tailEnd type="arrow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0" y="0"/>
            <a:ext cx="1814513" cy="427038"/>
          </a:xfrm>
          <a:prstGeom prst="rect">
            <a:avLst/>
          </a:prstGeom>
          <a:solidFill>
            <a:srgbClr val="00FF00">
              <a:alpha val="9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Ekk </a:t>
            </a:r>
            <a:r>
              <a:rPr lang="uz-Cyrl-UZ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режими </a:t>
            </a:r>
            <a:endParaRPr lang="ru-RU" sz="22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 rot="-1535215">
            <a:off x="146050" y="873125"/>
            <a:ext cx="2114550" cy="396875"/>
          </a:xfrm>
          <a:prstGeom prst="rect">
            <a:avLst/>
          </a:prstGeom>
          <a:solidFill>
            <a:schemeClr val="tx2">
              <a:alpha val="9490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ru-RU" altLang="uz-Cyrl-UZ" sz="2000" b="1">
                <a:solidFill>
                  <a:schemeClr val="bg1"/>
                </a:solidFill>
                <a:latin typeface="Times New Roman" pitchFamily="18" charset="0"/>
              </a:rPr>
              <a:t>ДЕ</a:t>
            </a:r>
            <a:r>
              <a:rPr lang="uz-Cyrl-UZ" altLang="uz-Cyrl-UZ" sz="2000" b="1">
                <a:solidFill>
                  <a:schemeClr val="bg1"/>
                </a:solidFill>
                <a:latin typeface="Times New Roman" pitchFamily="18" charset="0"/>
              </a:rPr>
              <a:t>ШИФРЛАШ</a:t>
            </a:r>
            <a:r>
              <a:rPr lang="en-US" altLang="uz-Cyrl-UZ" sz="2000" b="1">
                <a:solidFill>
                  <a:schemeClr val="bg1"/>
                </a:solidFill>
                <a:latin typeface="Times New Roman" pitchFamily="18" charset="0"/>
              </a:rPr>
              <a:t>:</a:t>
            </a:r>
            <a:endParaRPr lang="ru-RU" altLang="uz-Cyrl-UZ" sz="20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8917" name="Line 5"/>
          <p:cNvSpPr>
            <a:spLocks noChangeShapeType="1"/>
          </p:cNvSpPr>
          <p:nvPr/>
        </p:nvSpPr>
        <p:spPr bwMode="auto">
          <a:xfrm>
            <a:off x="4473575" y="579438"/>
            <a:ext cx="0" cy="215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8918" name="AutoShape 6"/>
          <p:cNvSpPr>
            <a:spLocks noChangeArrowheads="1"/>
          </p:cNvSpPr>
          <p:nvPr/>
        </p:nvSpPr>
        <p:spPr bwMode="auto">
          <a:xfrm>
            <a:off x="2752725" y="147638"/>
            <a:ext cx="3440113" cy="4397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 </a:t>
            </a:r>
            <a:r>
              <a:rPr lang="uz-Cyrl-UZ" sz="2000">
                <a:latin typeface="Times New Roman" pitchFamily="18" charset="0"/>
              </a:rPr>
              <a:t>Кирувчи маълумот (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С</a:t>
            </a:r>
            <a:r>
              <a:rPr lang="en-US" sz="2000">
                <a:latin typeface="Times New Roman" pitchFamily="18" charset="0"/>
              </a:rPr>
              <a:t>i[32] ) 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8929" name="Line 17"/>
          <p:cNvSpPr>
            <a:spLocks noChangeShapeType="1"/>
          </p:cNvSpPr>
          <p:nvPr/>
        </p:nvSpPr>
        <p:spPr bwMode="auto">
          <a:xfrm>
            <a:off x="4462463" y="1160463"/>
            <a:ext cx="0" cy="287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8931" name="Line 19"/>
          <p:cNvSpPr>
            <a:spLocks noChangeShapeType="1"/>
          </p:cNvSpPr>
          <p:nvPr/>
        </p:nvSpPr>
        <p:spPr bwMode="auto">
          <a:xfrm>
            <a:off x="4500563" y="5986463"/>
            <a:ext cx="0" cy="287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8932" name="AutoShape 20"/>
          <p:cNvSpPr>
            <a:spLocks noChangeArrowheads="1"/>
          </p:cNvSpPr>
          <p:nvPr/>
        </p:nvSpPr>
        <p:spPr bwMode="auto">
          <a:xfrm>
            <a:off x="2776538" y="6302375"/>
            <a:ext cx="3487737" cy="43973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Чи</a:t>
            </a:r>
            <a:r>
              <a:rPr lang="uz-Cyrl-UZ" sz="2000">
                <a:latin typeface="Times New Roman" pitchFamily="18" charset="0"/>
              </a:rPr>
              <a:t>қ</a:t>
            </a:r>
            <a:r>
              <a:rPr lang="ru-RU" sz="2000">
                <a:latin typeface="Times New Roman" pitchFamily="18" charset="0"/>
              </a:rPr>
              <a:t>увчи</a:t>
            </a:r>
            <a:r>
              <a:rPr lang="uz-Cyrl-UZ" sz="2000">
                <a:latin typeface="Times New Roman" pitchFamily="18" charset="0"/>
              </a:rPr>
              <a:t> маълумот (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М</a:t>
            </a:r>
            <a:r>
              <a:rPr lang="en-US" sz="2000">
                <a:latin typeface="Times New Roman" pitchFamily="18" charset="0"/>
              </a:rPr>
              <a:t>i[32] ) 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8933" name="Line 21"/>
          <p:cNvSpPr>
            <a:spLocks noChangeShapeType="1"/>
          </p:cNvSpPr>
          <p:nvPr/>
        </p:nvSpPr>
        <p:spPr bwMode="auto">
          <a:xfrm>
            <a:off x="4452938" y="1844675"/>
            <a:ext cx="0" cy="2873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8934" name="AutoShape 22"/>
          <p:cNvSpPr>
            <a:spLocks noChangeArrowheads="1"/>
          </p:cNvSpPr>
          <p:nvPr/>
        </p:nvSpPr>
        <p:spPr bwMode="auto">
          <a:xfrm>
            <a:off x="3840163" y="5624513"/>
            <a:ext cx="1228725" cy="439737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ru-RU" sz="2000">
                <a:latin typeface="Times New Roman" pitchFamily="18" charset="0"/>
              </a:rPr>
              <a:t>М</a:t>
            </a:r>
            <a:r>
              <a:rPr lang="en-US" sz="2000">
                <a:latin typeface="Times New Roman" pitchFamily="18" charset="0"/>
              </a:rPr>
              <a:t>i=Holat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8935" name="AutoShape 23"/>
          <p:cNvSpPr>
            <a:spLocks noChangeArrowheads="1"/>
          </p:cNvSpPr>
          <p:nvPr/>
        </p:nvSpPr>
        <p:spPr bwMode="auto">
          <a:xfrm>
            <a:off x="3360738" y="1449388"/>
            <a:ext cx="2185987" cy="43973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Aralash (Holat, K</a:t>
            </a:r>
            <a:r>
              <a:rPr lang="en-US" sz="2000" baseline="-25000">
                <a:latin typeface="Times New Roman" pitchFamily="18" charset="0"/>
              </a:rPr>
              <a:t>s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grpSp>
        <p:nvGrpSpPr>
          <p:cNvPr id="14348" name="Group 30"/>
          <p:cNvGrpSpPr>
            <a:grpSpLocks/>
          </p:cNvGrpSpPr>
          <p:nvPr/>
        </p:nvGrpSpPr>
        <p:grpSpPr bwMode="auto">
          <a:xfrm>
            <a:off x="6840538" y="2636838"/>
            <a:ext cx="1981200" cy="2844800"/>
            <a:chOff x="4354" y="822"/>
            <a:chExt cx="1248" cy="1792"/>
          </a:xfrm>
        </p:grpSpPr>
        <p:sp>
          <p:nvSpPr>
            <p:cNvPr id="38938" name="AutoShape 26"/>
            <p:cNvSpPr>
              <a:spLocks/>
            </p:cNvSpPr>
            <p:nvPr/>
          </p:nvSpPr>
          <p:spPr bwMode="auto">
            <a:xfrm>
              <a:off x="4354" y="822"/>
              <a:ext cx="227" cy="1792"/>
            </a:xfrm>
            <a:prstGeom prst="rightBrace">
              <a:avLst>
                <a:gd name="adj1" fmla="val 6578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  <a:alpha val="50000"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38939" name="Text Box 27"/>
            <p:cNvSpPr txBox="1">
              <a:spLocks noChangeArrowheads="1"/>
            </p:cNvSpPr>
            <p:nvPr/>
          </p:nvSpPr>
          <p:spPr bwMode="auto">
            <a:xfrm>
              <a:off x="4612" y="1413"/>
              <a:ext cx="990" cy="5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ru-RU" i="1">
                  <a:latin typeface="Times New Roman" pitchFamily="18" charset="0"/>
                </a:rPr>
                <a:t>Раунд </a:t>
              </a:r>
            </a:p>
            <a:p>
              <a:pPr algn="ctr">
                <a:defRPr/>
              </a:pPr>
              <a:r>
                <a:rPr lang="ru-RU" i="1">
                  <a:latin typeface="Times New Roman" pitchFamily="18" charset="0"/>
                </a:rPr>
                <a:t>аксланти-</a:t>
              </a:r>
            </a:p>
            <a:p>
              <a:pPr algn="ctr">
                <a:defRPr/>
              </a:pPr>
              <a:r>
                <a:rPr lang="ru-RU" i="1">
                  <a:latin typeface="Times New Roman" pitchFamily="18" charset="0"/>
                </a:rPr>
                <a:t>ришлари</a:t>
              </a:r>
            </a:p>
          </p:txBody>
        </p:sp>
      </p:grpSp>
      <p:sp>
        <p:nvSpPr>
          <p:cNvPr id="14349" name="Rectangle 4"/>
          <p:cNvSpPr>
            <a:spLocks noChangeArrowheads="1"/>
          </p:cNvSpPr>
          <p:nvPr/>
        </p:nvSpPr>
        <p:spPr bwMode="auto">
          <a:xfrm>
            <a:off x="2035175" y="2700338"/>
            <a:ext cx="4725988" cy="27305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prstShdw prst="shdw17" dist="17961" dir="2700000">
              <a:srgbClr val="99995C">
                <a:alpha val="50000"/>
              </a:srgb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uz-Cyrl-UZ" altLang="uz-Cyrl-UZ"/>
          </a:p>
        </p:txBody>
      </p:sp>
      <p:sp>
        <p:nvSpPr>
          <p:cNvPr id="38919" name="Line 7"/>
          <p:cNvSpPr>
            <a:spLocks noChangeShapeType="1"/>
          </p:cNvSpPr>
          <p:nvPr/>
        </p:nvSpPr>
        <p:spPr bwMode="auto">
          <a:xfrm>
            <a:off x="4452938" y="2528888"/>
            <a:ext cx="0" cy="287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>
            <a:off x="4452938" y="3141663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>
            <a:off x="4464050" y="3933825"/>
            <a:ext cx="0" cy="2524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8925" name="Line 13"/>
          <p:cNvSpPr>
            <a:spLocks noChangeShapeType="1"/>
          </p:cNvSpPr>
          <p:nvPr/>
        </p:nvSpPr>
        <p:spPr bwMode="auto">
          <a:xfrm>
            <a:off x="4476750" y="4581525"/>
            <a:ext cx="0" cy="2524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8926" name="AutoShape 14"/>
          <p:cNvSpPr>
            <a:spLocks noChangeArrowheads="1"/>
          </p:cNvSpPr>
          <p:nvPr/>
        </p:nvSpPr>
        <p:spPr bwMode="auto">
          <a:xfrm>
            <a:off x="3759200" y="3500438"/>
            <a:ext cx="1374775" cy="439737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Sur (Holat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8927" name="Line 15"/>
          <p:cNvSpPr>
            <a:spLocks noChangeShapeType="1"/>
          </p:cNvSpPr>
          <p:nvPr/>
        </p:nvSpPr>
        <p:spPr bwMode="auto">
          <a:xfrm>
            <a:off x="4476750" y="5264150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8928" name="AutoShape 16"/>
          <p:cNvSpPr>
            <a:spLocks noChangeArrowheads="1"/>
          </p:cNvSpPr>
          <p:nvPr/>
        </p:nvSpPr>
        <p:spPr bwMode="auto">
          <a:xfrm>
            <a:off x="3122613" y="2841625"/>
            <a:ext cx="2660650" cy="439738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BaytAlmash (Holat, B</a:t>
            </a:r>
            <a:r>
              <a:rPr lang="en-US" sz="2000" baseline="-25000">
                <a:latin typeface="Times New Roman" pitchFamily="18" charset="0"/>
              </a:rPr>
              <a:t>a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8936" name="Text Box 24"/>
          <p:cNvSpPr txBox="1">
            <a:spLocks noChangeArrowheads="1"/>
          </p:cNvSpPr>
          <p:nvPr/>
        </p:nvSpPr>
        <p:spPr bwMode="auto">
          <a:xfrm rot="5400000">
            <a:off x="6095207" y="3455194"/>
            <a:ext cx="927100" cy="24288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55000"/>
              </a:lnSpc>
              <a:defRPr/>
            </a:pPr>
            <a:r>
              <a:rPr lang="en-US" b="1">
                <a:solidFill>
                  <a:schemeClr val="accent2"/>
                </a:solidFill>
                <a:latin typeface="Times New Roman" pitchFamily="18" charset="0"/>
              </a:rPr>
              <a:t>1</a:t>
            </a:r>
            <a:r>
              <a:rPr lang="ru-RU" b="1">
                <a:solidFill>
                  <a:schemeClr val="accent2"/>
                </a:solidFill>
                <a:latin typeface="Times New Roman" pitchFamily="18" charset="0"/>
              </a:rPr>
              <a:t>, 2, 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</a:rPr>
              <a:t>. . .</a:t>
            </a:r>
            <a:endParaRPr lang="ru-RU" b="1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38937" name="Text Box 25"/>
          <p:cNvSpPr txBox="1">
            <a:spLocks noChangeArrowheads="1"/>
          </p:cNvSpPr>
          <p:nvPr/>
        </p:nvSpPr>
        <p:spPr bwMode="auto">
          <a:xfrm rot="16200000">
            <a:off x="2002632" y="3369469"/>
            <a:ext cx="812800" cy="24288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55000"/>
              </a:lnSpc>
              <a:defRPr/>
            </a:pPr>
            <a:r>
              <a:rPr lang="en-US" b="1">
                <a:solidFill>
                  <a:schemeClr val="accent2"/>
                </a:solidFill>
                <a:latin typeface="Times New Roman" pitchFamily="18" charset="0"/>
              </a:rPr>
              <a:t>. . .</a:t>
            </a:r>
            <a:r>
              <a:rPr lang="ru-RU" b="1">
                <a:solidFill>
                  <a:schemeClr val="accent2"/>
                </a:solidFill>
                <a:latin typeface="Times New Roman" pitchFamily="18" charset="0"/>
              </a:rPr>
              <a:t>7,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</a:rPr>
              <a:t> 8</a:t>
            </a:r>
            <a:endParaRPr lang="ru-RU" b="1">
              <a:solidFill>
                <a:schemeClr val="accent2"/>
              </a:solidFill>
              <a:latin typeface="Times New Roman" pitchFamily="18" charset="0"/>
            </a:endParaRPr>
          </a:p>
        </p:txBody>
      </p:sp>
      <p:cxnSp>
        <p:nvCxnSpPr>
          <p:cNvPr id="38940" name="AutoShape 28"/>
          <p:cNvCxnSpPr>
            <a:cxnSpLocks noChangeShapeType="1"/>
            <a:endCxn id="38928" idx="3"/>
          </p:cNvCxnSpPr>
          <p:nvPr/>
        </p:nvCxnSpPr>
        <p:spPr bwMode="auto">
          <a:xfrm flipH="1" flipV="1">
            <a:off x="5783263" y="3062288"/>
            <a:ext cx="376237" cy="2027237"/>
          </a:xfrm>
          <a:prstGeom prst="bentConnector3">
            <a:avLst>
              <a:gd name="adj1" fmla="val -60338"/>
            </a:avLst>
          </a:prstGeom>
          <a:noFill/>
          <a:ln w="25400">
            <a:solidFill>
              <a:schemeClr val="tx1"/>
            </a:solidFill>
            <a:prstDash val="sysDot"/>
            <a:miter lim="800000"/>
            <a:headEnd type="arrow" w="med" len="med"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41" name="AutoShape 29"/>
          <p:cNvCxnSpPr>
            <a:cxnSpLocks noChangeShapeType="1"/>
            <a:stCxn id="38928" idx="1"/>
          </p:cNvCxnSpPr>
          <p:nvPr/>
        </p:nvCxnSpPr>
        <p:spPr bwMode="auto">
          <a:xfrm rot="10800000" flipV="1">
            <a:off x="2808288" y="3062288"/>
            <a:ext cx="314325" cy="2027237"/>
          </a:xfrm>
          <a:prstGeom prst="bentConnector3">
            <a:avLst>
              <a:gd name="adj1" fmla="val 172727"/>
            </a:avLst>
          </a:prstGeom>
          <a:noFill/>
          <a:ln w="25400">
            <a:solidFill>
              <a:schemeClr val="tx1"/>
            </a:solidFill>
            <a:prstDash val="sysDot"/>
            <a:miter lim="800000"/>
            <a:headEnd type="arrow" w="med" len="med"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45" name="AutoShape 33"/>
          <p:cNvSpPr>
            <a:spLocks noChangeArrowheads="1"/>
          </p:cNvSpPr>
          <p:nvPr/>
        </p:nvSpPr>
        <p:spPr bwMode="auto">
          <a:xfrm>
            <a:off x="3886200" y="800100"/>
            <a:ext cx="1173163" cy="439738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Holat=</a:t>
            </a:r>
            <a:r>
              <a:rPr lang="ru-RU" sz="2000">
                <a:latin typeface="Times New Roman" pitchFamily="18" charset="0"/>
              </a:rPr>
              <a:t>С</a:t>
            </a:r>
            <a:r>
              <a:rPr lang="en-US" sz="2000">
                <a:latin typeface="Times New Roman" pitchFamily="18" charset="0"/>
              </a:rPr>
              <a:t>i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8946" name="AutoShape 34"/>
          <p:cNvSpPr>
            <a:spLocks noChangeArrowheads="1"/>
          </p:cNvSpPr>
          <p:nvPr/>
        </p:nvSpPr>
        <p:spPr bwMode="auto">
          <a:xfrm>
            <a:off x="2771775" y="2133600"/>
            <a:ext cx="3365500" cy="43973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Qo’shBosqichKalit (Holat, K</a:t>
            </a:r>
            <a:r>
              <a:rPr lang="en-US" sz="2000" baseline="-25000">
                <a:latin typeface="Times New Roman" pitchFamily="18" charset="0"/>
              </a:rPr>
              <a:t>e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8947" name="AutoShape 35"/>
          <p:cNvSpPr>
            <a:spLocks noChangeArrowheads="1"/>
          </p:cNvSpPr>
          <p:nvPr/>
        </p:nvSpPr>
        <p:spPr bwMode="auto">
          <a:xfrm>
            <a:off x="2808288" y="4833938"/>
            <a:ext cx="3351212" cy="439737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Qo’shBosqishKalit (Holat, K</a:t>
            </a:r>
            <a:r>
              <a:rPr lang="en-US" sz="2000" baseline="-25000">
                <a:latin typeface="Times New Roman" pitchFamily="18" charset="0"/>
              </a:rPr>
              <a:t>e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8948" name="AutoShape 36"/>
          <p:cNvSpPr>
            <a:spLocks noChangeArrowheads="1"/>
          </p:cNvSpPr>
          <p:nvPr/>
        </p:nvSpPr>
        <p:spPr bwMode="auto">
          <a:xfrm>
            <a:off x="3378200" y="4184650"/>
            <a:ext cx="2185988" cy="439738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Aralash (Holat, K</a:t>
            </a:r>
            <a:r>
              <a:rPr lang="en-US" sz="2000" baseline="-25000">
                <a:latin typeface="Times New Roman" pitchFamily="18" charset="0"/>
              </a:rPr>
              <a:t>s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0" y="0"/>
            <a:ext cx="2039938" cy="427038"/>
          </a:xfrm>
          <a:prstGeom prst="rect">
            <a:avLst/>
          </a:prstGeom>
          <a:solidFill>
            <a:srgbClr val="00FFFF">
              <a:alpha val="9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ShBil </a:t>
            </a:r>
            <a:r>
              <a:rPr lang="uz-Cyrl-UZ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режими </a:t>
            </a:r>
            <a:endParaRPr lang="ru-RU" sz="22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 rot="-1535215">
            <a:off x="317500" y="873125"/>
            <a:ext cx="1770063" cy="396875"/>
          </a:xfrm>
          <a:prstGeom prst="rect">
            <a:avLst/>
          </a:prstGeom>
          <a:solidFill>
            <a:schemeClr val="tx2">
              <a:alpha val="9490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uz-Cyrl-UZ" altLang="uz-Cyrl-UZ" sz="2000" b="1">
                <a:solidFill>
                  <a:schemeClr val="bg1"/>
                </a:solidFill>
                <a:latin typeface="Times New Roman" pitchFamily="18" charset="0"/>
              </a:rPr>
              <a:t>ШИФРЛАШ</a:t>
            </a:r>
            <a:r>
              <a:rPr lang="en-US" altLang="uz-Cyrl-UZ" sz="2000" b="1">
                <a:solidFill>
                  <a:schemeClr val="bg1"/>
                </a:solidFill>
                <a:latin typeface="Times New Roman" pitchFamily="18" charset="0"/>
              </a:rPr>
              <a:t>:</a:t>
            </a:r>
            <a:endParaRPr lang="ru-RU" altLang="uz-Cyrl-UZ" sz="20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2051050" y="2281238"/>
            <a:ext cx="4725988" cy="230822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prstShdw prst="shdw17" dist="17961" dir="2700000">
              <a:srgbClr val="99995C">
                <a:alpha val="50000"/>
              </a:srgb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uz-Cyrl-UZ" altLang="uz-Cyrl-UZ"/>
          </a:p>
        </p:txBody>
      </p:sp>
      <p:sp>
        <p:nvSpPr>
          <p:cNvPr id="39941" name="Line 5"/>
          <p:cNvSpPr>
            <a:spLocks noChangeShapeType="1"/>
          </p:cNvSpPr>
          <p:nvPr/>
        </p:nvSpPr>
        <p:spPr bwMode="auto">
          <a:xfrm>
            <a:off x="4473575" y="404813"/>
            <a:ext cx="0" cy="215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9942" name="AutoShape 6"/>
          <p:cNvSpPr>
            <a:spLocks noChangeArrowheads="1"/>
          </p:cNvSpPr>
          <p:nvPr/>
        </p:nvSpPr>
        <p:spPr bwMode="auto">
          <a:xfrm>
            <a:off x="2720975" y="87313"/>
            <a:ext cx="3498850" cy="358775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tIns="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 </a:t>
            </a:r>
            <a:r>
              <a:rPr lang="uz-Cyrl-UZ" sz="2000">
                <a:latin typeface="Times New Roman" pitchFamily="18" charset="0"/>
              </a:rPr>
              <a:t>Кирувчи маълумот (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uz-Cyrl-UZ" sz="2000">
                <a:latin typeface="Times New Roman" pitchFamily="18" charset="0"/>
              </a:rPr>
              <a:t>М</a:t>
            </a:r>
            <a:r>
              <a:rPr lang="en-US" sz="2000">
                <a:latin typeface="Times New Roman" pitchFamily="18" charset="0"/>
              </a:rPr>
              <a:t>i[32] ) 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9943" name="Line 7"/>
          <p:cNvSpPr>
            <a:spLocks noChangeShapeType="1"/>
          </p:cNvSpPr>
          <p:nvPr/>
        </p:nvSpPr>
        <p:spPr bwMode="auto">
          <a:xfrm>
            <a:off x="4468813" y="873125"/>
            <a:ext cx="0" cy="2873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9944" name="AutoShape 8"/>
          <p:cNvSpPr>
            <a:spLocks noChangeArrowheads="1"/>
          </p:cNvSpPr>
          <p:nvPr/>
        </p:nvSpPr>
        <p:spPr bwMode="auto">
          <a:xfrm>
            <a:off x="3857625" y="620713"/>
            <a:ext cx="1228725" cy="369887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Holat=Mi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9945" name="Line 9"/>
          <p:cNvSpPr>
            <a:spLocks noChangeShapeType="1"/>
          </p:cNvSpPr>
          <p:nvPr/>
        </p:nvSpPr>
        <p:spPr bwMode="auto">
          <a:xfrm>
            <a:off x="4468813" y="2609850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9946" name="AutoShape 10"/>
          <p:cNvSpPr>
            <a:spLocks noChangeArrowheads="1"/>
          </p:cNvSpPr>
          <p:nvPr/>
        </p:nvSpPr>
        <p:spPr bwMode="auto">
          <a:xfrm>
            <a:off x="2817813" y="2419350"/>
            <a:ext cx="3351212" cy="369888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Qo’shBosqishKalit (Holat, K</a:t>
            </a:r>
            <a:r>
              <a:rPr lang="en-US" sz="2000" baseline="-25000">
                <a:latin typeface="Times New Roman" pitchFamily="18" charset="0"/>
              </a:rPr>
              <a:t>e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9947" name="Line 11"/>
          <p:cNvSpPr>
            <a:spLocks noChangeShapeType="1"/>
          </p:cNvSpPr>
          <p:nvPr/>
        </p:nvSpPr>
        <p:spPr bwMode="auto">
          <a:xfrm>
            <a:off x="4464050" y="3284538"/>
            <a:ext cx="0" cy="2524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9948" name="AutoShape 12"/>
          <p:cNvSpPr>
            <a:spLocks noChangeArrowheads="1"/>
          </p:cNvSpPr>
          <p:nvPr/>
        </p:nvSpPr>
        <p:spPr bwMode="auto">
          <a:xfrm>
            <a:off x="3397250" y="2968625"/>
            <a:ext cx="2185988" cy="369888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Aralash (Holat, K</a:t>
            </a:r>
            <a:r>
              <a:rPr lang="en-US" sz="2000" baseline="-25000">
                <a:latin typeface="Times New Roman" pitchFamily="18" charset="0"/>
              </a:rPr>
              <a:t>s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9949" name="Line 13"/>
          <p:cNvSpPr>
            <a:spLocks noChangeShapeType="1"/>
          </p:cNvSpPr>
          <p:nvPr/>
        </p:nvSpPr>
        <p:spPr bwMode="auto">
          <a:xfrm>
            <a:off x="4492625" y="3833813"/>
            <a:ext cx="0" cy="2524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9950" name="AutoShape 14"/>
          <p:cNvSpPr>
            <a:spLocks noChangeArrowheads="1"/>
          </p:cNvSpPr>
          <p:nvPr/>
        </p:nvSpPr>
        <p:spPr bwMode="auto">
          <a:xfrm>
            <a:off x="3794125" y="3535363"/>
            <a:ext cx="1374775" cy="369887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Sur (Holat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9951" name="Line 15"/>
          <p:cNvSpPr>
            <a:spLocks noChangeShapeType="1"/>
          </p:cNvSpPr>
          <p:nvPr/>
        </p:nvSpPr>
        <p:spPr bwMode="auto">
          <a:xfrm>
            <a:off x="4492625" y="4408488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9952" name="AutoShape 16"/>
          <p:cNvSpPr>
            <a:spLocks noChangeArrowheads="1"/>
          </p:cNvSpPr>
          <p:nvPr/>
        </p:nvSpPr>
        <p:spPr bwMode="auto">
          <a:xfrm>
            <a:off x="3171825" y="4075113"/>
            <a:ext cx="2660650" cy="369887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BaytAlmash (Holat, B</a:t>
            </a:r>
            <a:r>
              <a:rPr lang="en-US" sz="2000" baseline="-25000">
                <a:latin typeface="Times New Roman" pitchFamily="18" charset="0"/>
              </a:rPr>
              <a:t>a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9953" name="Line 17"/>
          <p:cNvSpPr>
            <a:spLocks noChangeShapeType="1"/>
          </p:cNvSpPr>
          <p:nvPr/>
        </p:nvSpPr>
        <p:spPr bwMode="auto">
          <a:xfrm>
            <a:off x="4521200" y="5013325"/>
            <a:ext cx="0" cy="2873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9954" name="AutoShape 18"/>
          <p:cNvSpPr>
            <a:spLocks noChangeArrowheads="1"/>
          </p:cNvSpPr>
          <p:nvPr/>
        </p:nvSpPr>
        <p:spPr bwMode="auto">
          <a:xfrm>
            <a:off x="2827338" y="4751388"/>
            <a:ext cx="3365500" cy="36988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Qo’shBosqichKalit (Holat, K</a:t>
            </a:r>
            <a:r>
              <a:rPr lang="en-US" sz="2000" baseline="-25000">
                <a:latin typeface="Times New Roman" pitchFamily="18" charset="0"/>
              </a:rPr>
              <a:t>e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9955" name="Line 19"/>
          <p:cNvSpPr>
            <a:spLocks noChangeShapeType="1"/>
          </p:cNvSpPr>
          <p:nvPr/>
        </p:nvSpPr>
        <p:spPr bwMode="auto">
          <a:xfrm>
            <a:off x="4500563" y="6092825"/>
            <a:ext cx="0" cy="2873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9956" name="AutoShape 20"/>
          <p:cNvSpPr>
            <a:spLocks noChangeArrowheads="1"/>
          </p:cNvSpPr>
          <p:nvPr/>
        </p:nvSpPr>
        <p:spPr bwMode="auto">
          <a:xfrm>
            <a:off x="2805113" y="6372225"/>
            <a:ext cx="3432175" cy="36988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Чи</a:t>
            </a:r>
            <a:r>
              <a:rPr lang="uz-Cyrl-UZ" sz="2000">
                <a:latin typeface="Times New Roman" pitchFamily="18" charset="0"/>
              </a:rPr>
              <a:t>қ</a:t>
            </a:r>
            <a:r>
              <a:rPr lang="ru-RU" sz="2000">
                <a:latin typeface="Times New Roman" pitchFamily="18" charset="0"/>
              </a:rPr>
              <a:t>увчи</a:t>
            </a:r>
            <a:r>
              <a:rPr lang="uz-Cyrl-UZ" sz="2000">
                <a:latin typeface="Times New Roman" pitchFamily="18" charset="0"/>
              </a:rPr>
              <a:t> маълумот (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uz-Cyrl-UZ" sz="2000">
                <a:latin typeface="Times New Roman" pitchFamily="18" charset="0"/>
              </a:rPr>
              <a:t>С</a:t>
            </a:r>
            <a:r>
              <a:rPr lang="en-US" sz="2000">
                <a:latin typeface="Times New Roman" pitchFamily="18" charset="0"/>
              </a:rPr>
              <a:t>i[32] ) 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9957" name="Line 21"/>
          <p:cNvSpPr>
            <a:spLocks noChangeShapeType="1"/>
          </p:cNvSpPr>
          <p:nvPr/>
        </p:nvSpPr>
        <p:spPr bwMode="auto">
          <a:xfrm>
            <a:off x="4521200" y="5554663"/>
            <a:ext cx="0" cy="287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9958" name="AutoShape 22"/>
          <p:cNvSpPr>
            <a:spLocks noChangeArrowheads="1"/>
          </p:cNvSpPr>
          <p:nvPr/>
        </p:nvSpPr>
        <p:spPr bwMode="auto">
          <a:xfrm>
            <a:off x="3925888" y="5830888"/>
            <a:ext cx="1173162" cy="369887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Ci=Holat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9959" name="AutoShape 23"/>
          <p:cNvSpPr>
            <a:spLocks noChangeArrowheads="1"/>
          </p:cNvSpPr>
          <p:nvPr/>
        </p:nvSpPr>
        <p:spPr bwMode="auto">
          <a:xfrm>
            <a:off x="3419475" y="5291138"/>
            <a:ext cx="2185988" cy="36988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Aralash (Holat, K</a:t>
            </a:r>
            <a:r>
              <a:rPr lang="en-US" sz="2000" baseline="-25000">
                <a:latin typeface="Times New Roman" pitchFamily="18" charset="0"/>
              </a:rPr>
              <a:t>s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39960" name="Text Box 24"/>
          <p:cNvSpPr txBox="1">
            <a:spLocks noChangeArrowheads="1"/>
          </p:cNvSpPr>
          <p:nvPr/>
        </p:nvSpPr>
        <p:spPr bwMode="auto">
          <a:xfrm rot="5400000">
            <a:off x="6111082" y="2994819"/>
            <a:ext cx="927100" cy="24288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55000"/>
              </a:lnSpc>
              <a:defRPr/>
            </a:pPr>
            <a:r>
              <a:rPr lang="en-US" b="1">
                <a:solidFill>
                  <a:schemeClr val="accent2"/>
                </a:solidFill>
                <a:latin typeface="Times New Roman" pitchFamily="18" charset="0"/>
              </a:rPr>
              <a:t>1</a:t>
            </a:r>
            <a:r>
              <a:rPr lang="ru-RU" b="1">
                <a:solidFill>
                  <a:schemeClr val="accent2"/>
                </a:solidFill>
                <a:latin typeface="Times New Roman" pitchFamily="18" charset="0"/>
              </a:rPr>
              <a:t>, 2, 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</a:rPr>
              <a:t>. . .</a:t>
            </a:r>
            <a:endParaRPr lang="ru-RU" b="1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39961" name="Text Box 25"/>
          <p:cNvSpPr txBox="1">
            <a:spLocks noChangeArrowheads="1"/>
          </p:cNvSpPr>
          <p:nvPr/>
        </p:nvSpPr>
        <p:spPr bwMode="auto">
          <a:xfrm rot="16200000">
            <a:off x="2018507" y="2909094"/>
            <a:ext cx="812800" cy="24288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55000"/>
              </a:lnSpc>
              <a:defRPr/>
            </a:pPr>
            <a:r>
              <a:rPr lang="en-US" b="1">
                <a:solidFill>
                  <a:schemeClr val="accent2"/>
                </a:solidFill>
                <a:latin typeface="Times New Roman" pitchFamily="18" charset="0"/>
              </a:rPr>
              <a:t>. . .</a:t>
            </a:r>
            <a:r>
              <a:rPr lang="ru-RU" b="1">
                <a:solidFill>
                  <a:schemeClr val="accent2"/>
                </a:solidFill>
                <a:latin typeface="Times New Roman" pitchFamily="18" charset="0"/>
              </a:rPr>
              <a:t>7,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</a:rPr>
              <a:t> 8</a:t>
            </a:r>
            <a:endParaRPr lang="ru-RU" b="1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39962" name="AutoShape 26"/>
          <p:cNvSpPr>
            <a:spLocks/>
          </p:cNvSpPr>
          <p:nvPr/>
        </p:nvSpPr>
        <p:spPr bwMode="auto">
          <a:xfrm>
            <a:off x="6877050" y="2241550"/>
            <a:ext cx="360363" cy="2303463"/>
          </a:xfrm>
          <a:prstGeom prst="rightBrace">
            <a:avLst>
              <a:gd name="adj1" fmla="val 532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9963" name="Text Box 27"/>
          <p:cNvSpPr txBox="1">
            <a:spLocks noChangeArrowheads="1"/>
          </p:cNvSpPr>
          <p:nvPr/>
        </p:nvSpPr>
        <p:spPr bwMode="auto">
          <a:xfrm>
            <a:off x="7343775" y="2960688"/>
            <a:ext cx="1571625" cy="9255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ru-RU" i="1">
                <a:latin typeface="Times New Roman" pitchFamily="18" charset="0"/>
              </a:rPr>
              <a:t>Раунд </a:t>
            </a:r>
          </a:p>
          <a:p>
            <a:pPr algn="ctr">
              <a:defRPr/>
            </a:pPr>
            <a:r>
              <a:rPr lang="ru-RU" i="1">
                <a:latin typeface="Times New Roman" pitchFamily="18" charset="0"/>
              </a:rPr>
              <a:t>аксланти-</a:t>
            </a:r>
          </a:p>
          <a:p>
            <a:pPr algn="ctr">
              <a:defRPr/>
            </a:pPr>
            <a:r>
              <a:rPr lang="ru-RU" i="1">
                <a:latin typeface="Times New Roman" pitchFamily="18" charset="0"/>
              </a:rPr>
              <a:t>ришлари</a:t>
            </a:r>
          </a:p>
        </p:txBody>
      </p:sp>
      <p:cxnSp>
        <p:nvCxnSpPr>
          <p:cNvPr id="39964" name="AutoShape 28"/>
          <p:cNvCxnSpPr>
            <a:cxnSpLocks noChangeShapeType="1"/>
            <a:stCxn id="39946" idx="3"/>
            <a:endCxn id="39952" idx="3"/>
          </p:cNvCxnSpPr>
          <p:nvPr/>
        </p:nvCxnSpPr>
        <p:spPr bwMode="auto">
          <a:xfrm flipH="1">
            <a:off x="5832475" y="2605088"/>
            <a:ext cx="336550" cy="1655762"/>
          </a:xfrm>
          <a:prstGeom prst="bentConnector3">
            <a:avLst>
              <a:gd name="adj1" fmla="val -67454"/>
            </a:avLst>
          </a:prstGeom>
          <a:noFill/>
          <a:ln w="25400">
            <a:solidFill>
              <a:schemeClr val="tx1"/>
            </a:solidFill>
            <a:prstDash val="sysDot"/>
            <a:miter lim="800000"/>
            <a:headEnd/>
            <a:tailEnd type="arrow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65" name="AutoShape 29"/>
          <p:cNvCxnSpPr>
            <a:cxnSpLocks noChangeShapeType="1"/>
            <a:stCxn id="39952" idx="1"/>
            <a:endCxn id="39946" idx="1"/>
          </p:cNvCxnSpPr>
          <p:nvPr/>
        </p:nvCxnSpPr>
        <p:spPr bwMode="auto">
          <a:xfrm rot="10800000">
            <a:off x="2817813" y="2605088"/>
            <a:ext cx="354012" cy="1655762"/>
          </a:xfrm>
          <a:prstGeom prst="bentConnector3">
            <a:avLst>
              <a:gd name="adj1" fmla="val 164574"/>
            </a:avLst>
          </a:prstGeom>
          <a:noFill/>
          <a:ln w="25400">
            <a:solidFill>
              <a:schemeClr val="tx1"/>
            </a:solidFill>
            <a:prstDash val="sysDot"/>
            <a:miter lim="800000"/>
            <a:headEnd/>
            <a:tailEnd type="arrow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67" name="Line 31"/>
          <p:cNvSpPr>
            <a:spLocks noChangeShapeType="1"/>
          </p:cNvSpPr>
          <p:nvPr/>
        </p:nvSpPr>
        <p:spPr bwMode="auto">
          <a:xfrm>
            <a:off x="4473575" y="1449388"/>
            <a:ext cx="0" cy="287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9969" name="AutoShape 33"/>
          <p:cNvSpPr>
            <a:spLocks noChangeArrowheads="1"/>
          </p:cNvSpPr>
          <p:nvPr/>
        </p:nvSpPr>
        <p:spPr bwMode="auto">
          <a:xfrm>
            <a:off x="3765550" y="1184275"/>
            <a:ext cx="1414463" cy="369888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Holatn=C</a:t>
            </a:r>
            <a:r>
              <a:rPr lang="en-US" sz="2000" baseline="-25000">
                <a:latin typeface="Times New Roman" pitchFamily="18" charset="0"/>
              </a:rPr>
              <a:t>i-1</a:t>
            </a:r>
            <a:endParaRPr lang="ru-RU" sz="2000" baseline="-25000">
              <a:latin typeface="Times New Roman" pitchFamily="18" charset="0"/>
            </a:endParaRPr>
          </a:p>
        </p:txBody>
      </p:sp>
      <p:sp>
        <p:nvSpPr>
          <p:cNvPr id="39970" name="AutoShape 34"/>
          <p:cNvSpPr>
            <a:spLocks/>
          </p:cNvSpPr>
          <p:nvPr/>
        </p:nvSpPr>
        <p:spPr bwMode="auto">
          <a:xfrm>
            <a:off x="5976938" y="1143000"/>
            <a:ext cx="503237" cy="1049338"/>
          </a:xfrm>
          <a:prstGeom prst="rightBrace">
            <a:avLst>
              <a:gd name="adj1" fmla="val 5212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9971" name="Text Box 35"/>
          <p:cNvSpPr txBox="1">
            <a:spLocks noChangeArrowheads="1"/>
          </p:cNvSpPr>
          <p:nvPr/>
        </p:nvSpPr>
        <p:spPr bwMode="auto">
          <a:xfrm>
            <a:off x="6529388" y="1463675"/>
            <a:ext cx="1571625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ru-RU" i="1">
                <a:latin typeface="Times New Roman" pitchFamily="18" charset="0"/>
              </a:rPr>
              <a:t>Илактириш</a:t>
            </a:r>
          </a:p>
        </p:txBody>
      </p:sp>
      <p:sp>
        <p:nvSpPr>
          <p:cNvPr id="39972" name="Line 36"/>
          <p:cNvSpPr>
            <a:spLocks noChangeShapeType="1"/>
          </p:cNvSpPr>
          <p:nvPr/>
        </p:nvSpPr>
        <p:spPr bwMode="auto">
          <a:xfrm>
            <a:off x="4464050" y="2097088"/>
            <a:ext cx="0" cy="287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9973" name="AutoShape 37"/>
          <p:cNvSpPr>
            <a:spLocks noChangeArrowheads="1"/>
          </p:cNvSpPr>
          <p:nvPr/>
        </p:nvSpPr>
        <p:spPr bwMode="auto">
          <a:xfrm>
            <a:off x="2903538" y="1760538"/>
            <a:ext cx="3151187" cy="369887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Qo’shHolatn (Holat, Holatn)</a:t>
            </a:r>
            <a:endParaRPr lang="ru-RU" sz="2000" baseline="-25000">
              <a:latin typeface="Times New Roman" pitchFamily="18" charset="0"/>
            </a:endParaRPr>
          </a:p>
        </p:txBody>
      </p:sp>
      <p:sp>
        <p:nvSpPr>
          <p:cNvPr id="39974" name="AutoShape 38"/>
          <p:cNvSpPr>
            <a:spLocks noChangeArrowheads="1"/>
          </p:cNvSpPr>
          <p:nvPr/>
        </p:nvSpPr>
        <p:spPr bwMode="auto">
          <a:xfrm>
            <a:off x="7920038" y="225425"/>
            <a:ext cx="890587" cy="369888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 i="1">
                <a:latin typeface="Times New Roman" pitchFamily="18" charset="0"/>
              </a:rPr>
              <a:t>C</a:t>
            </a:r>
            <a:r>
              <a:rPr lang="uz-Cyrl-UZ" sz="2000" i="1" baseline="-25000">
                <a:latin typeface="Times New Roman" pitchFamily="18" charset="0"/>
              </a:rPr>
              <a:t>0</a:t>
            </a:r>
            <a:r>
              <a:rPr lang="en-US" sz="2000" i="1">
                <a:latin typeface="Times New Roman" pitchFamily="18" charset="0"/>
              </a:rPr>
              <a:t>=IV</a:t>
            </a:r>
            <a:endParaRPr lang="ru-RU" sz="2000" i="1" baseline="-250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0" y="0"/>
            <a:ext cx="1970088" cy="427038"/>
          </a:xfrm>
          <a:prstGeom prst="rect">
            <a:avLst/>
          </a:prstGeom>
          <a:solidFill>
            <a:srgbClr val="00FFFF">
              <a:alpha val="9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ShBil </a:t>
            </a:r>
            <a:r>
              <a:rPr lang="uz-Cyrl-UZ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режими </a:t>
            </a:r>
            <a:endParaRPr lang="ru-RU" sz="22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 rot="-1535215">
            <a:off x="146050" y="873125"/>
            <a:ext cx="2114550" cy="396875"/>
          </a:xfrm>
          <a:prstGeom prst="rect">
            <a:avLst/>
          </a:prstGeom>
          <a:solidFill>
            <a:schemeClr val="tx2">
              <a:alpha val="9490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ru-RU" altLang="uz-Cyrl-UZ" sz="2000" b="1">
                <a:solidFill>
                  <a:schemeClr val="bg1"/>
                </a:solidFill>
                <a:latin typeface="Times New Roman" pitchFamily="18" charset="0"/>
              </a:rPr>
              <a:t>ДЕ</a:t>
            </a:r>
            <a:r>
              <a:rPr lang="uz-Cyrl-UZ" altLang="uz-Cyrl-UZ" sz="2000" b="1">
                <a:solidFill>
                  <a:schemeClr val="bg1"/>
                </a:solidFill>
                <a:latin typeface="Times New Roman" pitchFamily="18" charset="0"/>
              </a:rPr>
              <a:t>ШИФРЛАШ</a:t>
            </a:r>
            <a:r>
              <a:rPr lang="en-US" altLang="uz-Cyrl-UZ" sz="2000" b="1">
                <a:solidFill>
                  <a:schemeClr val="bg1"/>
                </a:solidFill>
                <a:latin typeface="Times New Roman" pitchFamily="18" charset="0"/>
              </a:rPr>
              <a:t>:</a:t>
            </a:r>
            <a:endParaRPr lang="ru-RU" altLang="uz-Cyrl-UZ" sz="20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40964" name="Line 4"/>
          <p:cNvSpPr>
            <a:spLocks noChangeShapeType="1"/>
          </p:cNvSpPr>
          <p:nvPr/>
        </p:nvSpPr>
        <p:spPr bwMode="auto">
          <a:xfrm>
            <a:off x="4473575" y="441325"/>
            <a:ext cx="0" cy="215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10800" bIns="10800"/>
          <a:lstStyle/>
          <a:p>
            <a:pPr>
              <a:defRPr/>
            </a:pPr>
            <a:endParaRPr lang="ru-RU"/>
          </a:p>
        </p:txBody>
      </p:sp>
      <p:sp>
        <p:nvSpPr>
          <p:cNvPr id="40965" name="AutoShape 5"/>
          <p:cNvSpPr>
            <a:spLocks noChangeArrowheads="1"/>
          </p:cNvSpPr>
          <p:nvPr/>
        </p:nvSpPr>
        <p:spPr bwMode="auto">
          <a:xfrm>
            <a:off x="2752725" y="80963"/>
            <a:ext cx="3440113" cy="36988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 </a:t>
            </a:r>
            <a:r>
              <a:rPr lang="uz-Cyrl-UZ" sz="2000">
                <a:latin typeface="Times New Roman" pitchFamily="18" charset="0"/>
              </a:rPr>
              <a:t>Кирувчи маълумот (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С</a:t>
            </a:r>
            <a:r>
              <a:rPr lang="en-US" sz="2000">
                <a:latin typeface="Times New Roman" pitchFamily="18" charset="0"/>
              </a:rPr>
              <a:t>i[32] ) 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40966" name="Line 6"/>
          <p:cNvSpPr>
            <a:spLocks noChangeShapeType="1"/>
          </p:cNvSpPr>
          <p:nvPr/>
        </p:nvSpPr>
        <p:spPr bwMode="auto">
          <a:xfrm>
            <a:off x="4462463" y="908050"/>
            <a:ext cx="0" cy="2873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10800" bIns="10800"/>
          <a:lstStyle/>
          <a:p>
            <a:pPr>
              <a:defRPr/>
            </a:pPr>
            <a:endParaRPr lang="ru-RU"/>
          </a:p>
        </p:txBody>
      </p:sp>
      <p:sp>
        <p:nvSpPr>
          <p:cNvPr id="40967" name="Line 7"/>
          <p:cNvSpPr>
            <a:spLocks noChangeShapeType="1"/>
          </p:cNvSpPr>
          <p:nvPr/>
        </p:nvSpPr>
        <p:spPr bwMode="auto">
          <a:xfrm>
            <a:off x="4464050" y="6129338"/>
            <a:ext cx="0" cy="287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10800" bIns="10800"/>
          <a:lstStyle/>
          <a:p>
            <a:pPr>
              <a:defRPr/>
            </a:pPr>
            <a:endParaRPr lang="ru-RU"/>
          </a:p>
        </p:txBody>
      </p:sp>
      <p:sp>
        <p:nvSpPr>
          <p:cNvPr id="40968" name="AutoShape 8"/>
          <p:cNvSpPr>
            <a:spLocks noChangeArrowheads="1"/>
          </p:cNvSpPr>
          <p:nvPr/>
        </p:nvSpPr>
        <p:spPr bwMode="auto">
          <a:xfrm>
            <a:off x="2776538" y="6407150"/>
            <a:ext cx="3487737" cy="36988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Чи</a:t>
            </a:r>
            <a:r>
              <a:rPr lang="uz-Cyrl-UZ" sz="2000">
                <a:latin typeface="Times New Roman" pitchFamily="18" charset="0"/>
              </a:rPr>
              <a:t>қ</a:t>
            </a:r>
            <a:r>
              <a:rPr lang="ru-RU" sz="2000">
                <a:latin typeface="Times New Roman" pitchFamily="18" charset="0"/>
              </a:rPr>
              <a:t>увчи</a:t>
            </a:r>
            <a:r>
              <a:rPr lang="uz-Cyrl-UZ" sz="2000">
                <a:latin typeface="Times New Roman" pitchFamily="18" charset="0"/>
              </a:rPr>
              <a:t> маълумот (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М</a:t>
            </a:r>
            <a:r>
              <a:rPr lang="en-US" sz="2000">
                <a:latin typeface="Times New Roman" pitchFamily="18" charset="0"/>
              </a:rPr>
              <a:t>i[32] ) 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40969" name="Line 9"/>
          <p:cNvSpPr>
            <a:spLocks noChangeShapeType="1"/>
          </p:cNvSpPr>
          <p:nvPr/>
        </p:nvSpPr>
        <p:spPr bwMode="auto">
          <a:xfrm>
            <a:off x="4452938" y="1485900"/>
            <a:ext cx="0" cy="2873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10800" bIns="10800"/>
          <a:lstStyle/>
          <a:p>
            <a:pPr>
              <a:defRPr/>
            </a:pPr>
            <a:endParaRPr lang="ru-RU"/>
          </a:p>
        </p:txBody>
      </p:sp>
      <p:sp>
        <p:nvSpPr>
          <p:cNvPr id="40970" name="AutoShape 10"/>
          <p:cNvSpPr>
            <a:spLocks noChangeArrowheads="1"/>
          </p:cNvSpPr>
          <p:nvPr/>
        </p:nvSpPr>
        <p:spPr bwMode="auto">
          <a:xfrm>
            <a:off x="3840163" y="5867400"/>
            <a:ext cx="1228725" cy="369888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ru-RU" sz="2000">
                <a:latin typeface="Times New Roman" pitchFamily="18" charset="0"/>
              </a:rPr>
              <a:t>М</a:t>
            </a:r>
            <a:r>
              <a:rPr lang="en-US" sz="2000">
                <a:latin typeface="Times New Roman" pitchFamily="18" charset="0"/>
              </a:rPr>
              <a:t>i=Holat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40971" name="AutoShape 11"/>
          <p:cNvSpPr>
            <a:spLocks noChangeArrowheads="1"/>
          </p:cNvSpPr>
          <p:nvPr/>
        </p:nvSpPr>
        <p:spPr bwMode="auto">
          <a:xfrm>
            <a:off x="3360738" y="1196975"/>
            <a:ext cx="2185987" cy="3698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Aralash (Holat, K</a:t>
            </a:r>
            <a:r>
              <a:rPr lang="en-US" sz="2000" baseline="-25000">
                <a:latin typeface="Times New Roman" pitchFamily="18" charset="0"/>
              </a:rPr>
              <a:t>s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grpSp>
        <p:nvGrpSpPr>
          <p:cNvPr id="16396" name="Group 12"/>
          <p:cNvGrpSpPr>
            <a:grpSpLocks/>
          </p:cNvGrpSpPr>
          <p:nvPr/>
        </p:nvGrpSpPr>
        <p:grpSpPr bwMode="auto">
          <a:xfrm>
            <a:off x="6840538" y="2132013"/>
            <a:ext cx="1981200" cy="2424112"/>
            <a:chOff x="4354" y="822"/>
            <a:chExt cx="1248" cy="1792"/>
          </a:xfrm>
        </p:grpSpPr>
        <p:sp>
          <p:nvSpPr>
            <p:cNvPr id="40973" name="AutoShape 13"/>
            <p:cNvSpPr>
              <a:spLocks/>
            </p:cNvSpPr>
            <p:nvPr/>
          </p:nvSpPr>
          <p:spPr bwMode="auto">
            <a:xfrm>
              <a:off x="4354" y="822"/>
              <a:ext cx="227" cy="1792"/>
            </a:xfrm>
            <a:prstGeom prst="rightBrace">
              <a:avLst>
                <a:gd name="adj1" fmla="val 6578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  <a:alpha val="50000"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tIns="10800" bIns="1080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40974" name="Text Box 14"/>
            <p:cNvSpPr txBox="1">
              <a:spLocks noChangeArrowheads="1"/>
            </p:cNvSpPr>
            <p:nvPr/>
          </p:nvSpPr>
          <p:spPr bwMode="auto">
            <a:xfrm>
              <a:off x="4612" y="1413"/>
              <a:ext cx="990" cy="6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tIns="10800" bIns="10800">
              <a:spAutoFit/>
            </a:bodyPr>
            <a:lstStyle/>
            <a:p>
              <a:pPr algn="ctr">
                <a:defRPr/>
              </a:pPr>
              <a:r>
                <a:rPr lang="ru-RU" i="1">
                  <a:latin typeface="Times New Roman" pitchFamily="18" charset="0"/>
                </a:rPr>
                <a:t>Раунд </a:t>
              </a:r>
            </a:p>
            <a:p>
              <a:pPr algn="ctr">
                <a:defRPr/>
              </a:pPr>
              <a:r>
                <a:rPr lang="ru-RU" i="1">
                  <a:latin typeface="Times New Roman" pitchFamily="18" charset="0"/>
                </a:rPr>
                <a:t>аксланти-</a:t>
              </a:r>
            </a:p>
            <a:p>
              <a:pPr algn="ctr">
                <a:defRPr/>
              </a:pPr>
              <a:r>
                <a:rPr lang="ru-RU" i="1">
                  <a:latin typeface="Times New Roman" pitchFamily="18" charset="0"/>
                </a:rPr>
                <a:t>ришлари</a:t>
              </a:r>
            </a:p>
          </p:txBody>
        </p:sp>
      </p:grpSp>
      <p:sp>
        <p:nvSpPr>
          <p:cNvPr id="16397" name="Rectangle 15"/>
          <p:cNvSpPr>
            <a:spLocks noChangeArrowheads="1"/>
          </p:cNvSpPr>
          <p:nvPr/>
        </p:nvSpPr>
        <p:spPr bwMode="auto">
          <a:xfrm>
            <a:off x="2035175" y="2195513"/>
            <a:ext cx="4725988" cy="235902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prstShdw prst="shdw17" dist="17961" dir="2700000">
              <a:srgbClr val="99995C">
                <a:alpha val="50000"/>
              </a:srgb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wrap="none" tIns="10800" bIns="10800" anchor="ctr"/>
          <a:lstStyle/>
          <a:p>
            <a:endParaRPr lang="uz-Cyrl-UZ" altLang="uz-Cyrl-UZ"/>
          </a:p>
        </p:txBody>
      </p:sp>
      <p:sp>
        <p:nvSpPr>
          <p:cNvPr id="40976" name="Line 16"/>
          <p:cNvSpPr>
            <a:spLocks noChangeShapeType="1"/>
          </p:cNvSpPr>
          <p:nvPr/>
        </p:nvSpPr>
        <p:spPr bwMode="auto">
          <a:xfrm>
            <a:off x="4452938" y="2060575"/>
            <a:ext cx="0" cy="2873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10800" bIns="10800"/>
          <a:lstStyle/>
          <a:p>
            <a:pPr>
              <a:defRPr/>
            </a:pPr>
            <a:endParaRPr lang="ru-RU"/>
          </a:p>
        </p:txBody>
      </p:sp>
      <p:sp>
        <p:nvSpPr>
          <p:cNvPr id="40977" name="Line 17"/>
          <p:cNvSpPr>
            <a:spLocks noChangeShapeType="1"/>
          </p:cNvSpPr>
          <p:nvPr/>
        </p:nvSpPr>
        <p:spPr bwMode="auto">
          <a:xfrm>
            <a:off x="4452938" y="2565400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10800" bIns="10800"/>
          <a:lstStyle/>
          <a:p>
            <a:pPr>
              <a:defRPr/>
            </a:pPr>
            <a:endParaRPr lang="ru-RU"/>
          </a:p>
        </p:txBody>
      </p:sp>
      <p:sp>
        <p:nvSpPr>
          <p:cNvPr id="40978" name="Line 18"/>
          <p:cNvSpPr>
            <a:spLocks noChangeShapeType="1"/>
          </p:cNvSpPr>
          <p:nvPr/>
        </p:nvSpPr>
        <p:spPr bwMode="auto">
          <a:xfrm>
            <a:off x="4464050" y="3249613"/>
            <a:ext cx="0" cy="2524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10800" bIns="10800"/>
          <a:lstStyle/>
          <a:p>
            <a:pPr>
              <a:defRPr/>
            </a:pPr>
            <a:endParaRPr lang="ru-RU"/>
          </a:p>
        </p:txBody>
      </p:sp>
      <p:sp>
        <p:nvSpPr>
          <p:cNvPr id="40979" name="Line 19"/>
          <p:cNvSpPr>
            <a:spLocks noChangeShapeType="1"/>
          </p:cNvSpPr>
          <p:nvPr/>
        </p:nvSpPr>
        <p:spPr bwMode="auto">
          <a:xfrm>
            <a:off x="4476750" y="3824288"/>
            <a:ext cx="0" cy="2524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10800" bIns="10800"/>
          <a:lstStyle/>
          <a:p>
            <a:pPr>
              <a:defRPr/>
            </a:pPr>
            <a:endParaRPr lang="ru-RU"/>
          </a:p>
        </p:txBody>
      </p:sp>
      <p:sp>
        <p:nvSpPr>
          <p:cNvPr id="40980" name="AutoShape 20"/>
          <p:cNvSpPr>
            <a:spLocks noChangeArrowheads="1"/>
          </p:cNvSpPr>
          <p:nvPr/>
        </p:nvSpPr>
        <p:spPr bwMode="auto">
          <a:xfrm>
            <a:off x="3759200" y="2924175"/>
            <a:ext cx="1374775" cy="369888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Sur (Holat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40981" name="Line 21"/>
          <p:cNvSpPr>
            <a:spLocks noChangeShapeType="1"/>
          </p:cNvSpPr>
          <p:nvPr/>
        </p:nvSpPr>
        <p:spPr bwMode="auto">
          <a:xfrm>
            <a:off x="4476750" y="4329113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10800" bIns="10800"/>
          <a:lstStyle/>
          <a:p>
            <a:pPr>
              <a:defRPr/>
            </a:pPr>
            <a:endParaRPr lang="ru-RU"/>
          </a:p>
        </p:txBody>
      </p:sp>
      <p:sp>
        <p:nvSpPr>
          <p:cNvPr id="40982" name="AutoShape 22"/>
          <p:cNvSpPr>
            <a:spLocks noChangeArrowheads="1"/>
          </p:cNvSpPr>
          <p:nvPr/>
        </p:nvSpPr>
        <p:spPr bwMode="auto">
          <a:xfrm>
            <a:off x="3122613" y="2349500"/>
            <a:ext cx="2660650" cy="369888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BaytAlmash (Holat, B</a:t>
            </a:r>
            <a:r>
              <a:rPr lang="en-US" sz="2000" baseline="-25000">
                <a:latin typeface="Times New Roman" pitchFamily="18" charset="0"/>
              </a:rPr>
              <a:t>a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40983" name="Text Box 23"/>
          <p:cNvSpPr txBox="1">
            <a:spLocks noChangeArrowheads="1"/>
          </p:cNvSpPr>
          <p:nvPr/>
        </p:nvSpPr>
        <p:spPr bwMode="auto">
          <a:xfrm rot="5400000">
            <a:off x="6130132" y="2985294"/>
            <a:ext cx="927100" cy="17303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10800" bIns="10800">
            <a:spAutoFit/>
          </a:bodyPr>
          <a:lstStyle/>
          <a:p>
            <a:pPr>
              <a:lnSpc>
                <a:spcPct val="55000"/>
              </a:lnSpc>
              <a:defRPr/>
            </a:pPr>
            <a:r>
              <a:rPr lang="en-US" b="1">
                <a:solidFill>
                  <a:schemeClr val="accent2"/>
                </a:solidFill>
                <a:latin typeface="Times New Roman" pitchFamily="18" charset="0"/>
              </a:rPr>
              <a:t>1</a:t>
            </a:r>
            <a:r>
              <a:rPr lang="ru-RU" b="1">
                <a:solidFill>
                  <a:schemeClr val="accent2"/>
                </a:solidFill>
                <a:latin typeface="Times New Roman" pitchFamily="18" charset="0"/>
              </a:rPr>
              <a:t>, 2, 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</a:rPr>
              <a:t>. . .</a:t>
            </a:r>
            <a:endParaRPr lang="ru-RU" b="1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40984" name="Text Box 24"/>
          <p:cNvSpPr txBox="1">
            <a:spLocks noChangeArrowheads="1"/>
          </p:cNvSpPr>
          <p:nvPr/>
        </p:nvSpPr>
        <p:spPr bwMode="auto">
          <a:xfrm rot="16200000">
            <a:off x="1969294" y="2899569"/>
            <a:ext cx="812800" cy="173038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10800" bIns="10800">
            <a:spAutoFit/>
          </a:bodyPr>
          <a:lstStyle/>
          <a:p>
            <a:pPr>
              <a:lnSpc>
                <a:spcPct val="55000"/>
              </a:lnSpc>
              <a:defRPr/>
            </a:pPr>
            <a:r>
              <a:rPr lang="en-US" b="1">
                <a:solidFill>
                  <a:schemeClr val="accent2"/>
                </a:solidFill>
                <a:latin typeface="Times New Roman" pitchFamily="18" charset="0"/>
              </a:rPr>
              <a:t>. . .</a:t>
            </a:r>
            <a:r>
              <a:rPr lang="ru-RU" b="1">
                <a:solidFill>
                  <a:schemeClr val="accent2"/>
                </a:solidFill>
                <a:latin typeface="Times New Roman" pitchFamily="18" charset="0"/>
              </a:rPr>
              <a:t>7,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</a:rPr>
              <a:t> 8</a:t>
            </a:r>
            <a:endParaRPr lang="ru-RU" b="1">
              <a:solidFill>
                <a:schemeClr val="accent2"/>
              </a:solidFill>
              <a:latin typeface="Times New Roman" pitchFamily="18" charset="0"/>
            </a:endParaRPr>
          </a:p>
        </p:txBody>
      </p:sp>
      <p:cxnSp>
        <p:nvCxnSpPr>
          <p:cNvPr id="40985" name="AutoShape 25"/>
          <p:cNvCxnSpPr>
            <a:cxnSpLocks noChangeShapeType="1"/>
            <a:stCxn id="40989" idx="3"/>
            <a:endCxn id="40982" idx="3"/>
          </p:cNvCxnSpPr>
          <p:nvPr/>
        </p:nvCxnSpPr>
        <p:spPr bwMode="auto">
          <a:xfrm flipH="1" flipV="1">
            <a:off x="5783263" y="2535238"/>
            <a:ext cx="376237" cy="1727200"/>
          </a:xfrm>
          <a:prstGeom prst="bentConnector3">
            <a:avLst>
              <a:gd name="adj1" fmla="val -60338"/>
            </a:avLst>
          </a:prstGeom>
          <a:noFill/>
          <a:ln w="25400">
            <a:solidFill>
              <a:schemeClr val="tx1"/>
            </a:solidFill>
            <a:prstDash val="sysDot"/>
            <a:miter lim="800000"/>
            <a:headEnd type="arrow" w="med" len="med"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6" name="AutoShape 26"/>
          <p:cNvCxnSpPr>
            <a:cxnSpLocks noChangeShapeType="1"/>
            <a:stCxn id="40982" idx="1"/>
            <a:endCxn id="40989" idx="1"/>
          </p:cNvCxnSpPr>
          <p:nvPr/>
        </p:nvCxnSpPr>
        <p:spPr bwMode="auto">
          <a:xfrm rot="10800000" flipV="1">
            <a:off x="2808288" y="2535238"/>
            <a:ext cx="314325" cy="1727200"/>
          </a:xfrm>
          <a:prstGeom prst="bentConnector3">
            <a:avLst>
              <a:gd name="adj1" fmla="val 172727"/>
            </a:avLst>
          </a:prstGeom>
          <a:noFill/>
          <a:ln w="25400">
            <a:solidFill>
              <a:schemeClr val="tx1"/>
            </a:solidFill>
            <a:prstDash val="sysDot"/>
            <a:miter lim="800000"/>
            <a:headEnd type="arrow" w="med" len="med"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87" name="AutoShape 27"/>
          <p:cNvSpPr>
            <a:spLocks noChangeArrowheads="1"/>
          </p:cNvSpPr>
          <p:nvPr/>
        </p:nvSpPr>
        <p:spPr bwMode="auto">
          <a:xfrm>
            <a:off x="3886200" y="657225"/>
            <a:ext cx="1173163" cy="369888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Holat=</a:t>
            </a:r>
            <a:r>
              <a:rPr lang="ru-RU" sz="2000">
                <a:latin typeface="Times New Roman" pitchFamily="18" charset="0"/>
              </a:rPr>
              <a:t>С</a:t>
            </a:r>
            <a:r>
              <a:rPr lang="en-US" sz="2000">
                <a:latin typeface="Times New Roman" pitchFamily="18" charset="0"/>
              </a:rPr>
              <a:t>i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40988" name="AutoShape 28"/>
          <p:cNvSpPr>
            <a:spLocks noChangeArrowheads="1"/>
          </p:cNvSpPr>
          <p:nvPr/>
        </p:nvSpPr>
        <p:spPr bwMode="auto">
          <a:xfrm>
            <a:off x="2771775" y="1773238"/>
            <a:ext cx="3365500" cy="36988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Qo’shBosqichKalit (Holat, K</a:t>
            </a:r>
            <a:r>
              <a:rPr lang="en-US" sz="2000" baseline="-25000">
                <a:latin typeface="Times New Roman" pitchFamily="18" charset="0"/>
              </a:rPr>
              <a:t>e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40989" name="AutoShape 29"/>
          <p:cNvSpPr>
            <a:spLocks noChangeArrowheads="1"/>
          </p:cNvSpPr>
          <p:nvPr/>
        </p:nvSpPr>
        <p:spPr bwMode="auto">
          <a:xfrm>
            <a:off x="2808288" y="4076700"/>
            <a:ext cx="3351212" cy="369888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Qo’shBosqishKalit (Holat, K</a:t>
            </a:r>
            <a:r>
              <a:rPr lang="en-US" sz="2000" baseline="-25000">
                <a:latin typeface="Times New Roman" pitchFamily="18" charset="0"/>
              </a:rPr>
              <a:t>e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40990" name="AutoShape 30"/>
          <p:cNvSpPr>
            <a:spLocks noChangeArrowheads="1"/>
          </p:cNvSpPr>
          <p:nvPr/>
        </p:nvSpPr>
        <p:spPr bwMode="auto">
          <a:xfrm>
            <a:off x="3378200" y="3500438"/>
            <a:ext cx="2185988" cy="369887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Aralash (Holat, K</a:t>
            </a:r>
            <a:r>
              <a:rPr lang="en-US" sz="2000" baseline="-25000">
                <a:latin typeface="Times New Roman" pitchFamily="18" charset="0"/>
              </a:rPr>
              <a:t>s</a:t>
            </a:r>
            <a:r>
              <a:rPr lang="uz-Cyrl-UZ" sz="2000">
                <a:latin typeface="Times New Roman" pitchFamily="18" charset="0"/>
              </a:rPr>
              <a:t>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40992" name="Line 32"/>
          <p:cNvSpPr>
            <a:spLocks noChangeShapeType="1"/>
          </p:cNvSpPr>
          <p:nvPr/>
        </p:nvSpPr>
        <p:spPr bwMode="auto">
          <a:xfrm>
            <a:off x="4486275" y="4970463"/>
            <a:ext cx="0" cy="287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993" name="AutoShape 33"/>
          <p:cNvSpPr>
            <a:spLocks noChangeArrowheads="1"/>
          </p:cNvSpPr>
          <p:nvPr/>
        </p:nvSpPr>
        <p:spPr bwMode="auto">
          <a:xfrm>
            <a:off x="3749675" y="4705350"/>
            <a:ext cx="1470025" cy="369888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Holatn=</a:t>
            </a:r>
            <a:r>
              <a:rPr lang="ru-RU" sz="2000">
                <a:latin typeface="Times New Roman" pitchFamily="18" charset="0"/>
              </a:rPr>
              <a:t>М</a:t>
            </a:r>
            <a:r>
              <a:rPr lang="en-US" sz="2000" baseline="-25000">
                <a:latin typeface="Times New Roman" pitchFamily="18" charset="0"/>
              </a:rPr>
              <a:t>i-1</a:t>
            </a:r>
            <a:endParaRPr lang="ru-RU" sz="2000" baseline="-25000">
              <a:latin typeface="Times New Roman" pitchFamily="18" charset="0"/>
            </a:endParaRPr>
          </a:p>
        </p:txBody>
      </p:sp>
      <p:sp>
        <p:nvSpPr>
          <p:cNvPr id="40994" name="AutoShape 34"/>
          <p:cNvSpPr>
            <a:spLocks/>
          </p:cNvSpPr>
          <p:nvPr/>
        </p:nvSpPr>
        <p:spPr bwMode="auto">
          <a:xfrm>
            <a:off x="5989638" y="4664075"/>
            <a:ext cx="503237" cy="1049338"/>
          </a:xfrm>
          <a:prstGeom prst="rightBrace">
            <a:avLst>
              <a:gd name="adj1" fmla="val 5212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0995" name="Text Box 35"/>
          <p:cNvSpPr txBox="1">
            <a:spLocks noChangeArrowheads="1"/>
          </p:cNvSpPr>
          <p:nvPr/>
        </p:nvSpPr>
        <p:spPr bwMode="auto">
          <a:xfrm>
            <a:off x="6542088" y="4984750"/>
            <a:ext cx="1571625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ru-RU" i="1">
                <a:latin typeface="Times New Roman" pitchFamily="18" charset="0"/>
              </a:rPr>
              <a:t>Илактириш</a:t>
            </a:r>
          </a:p>
        </p:txBody>
      </p:sp>
      <p:sp>
        <p:nvSpPr>
          <p:cNvPr id="40996" name="Line 36"/>
          <p:cNvSpPr>
            <a:spLocks noChangeShapeType="1"/>
          </p:cNvSpPr>
          <p:nvPr/>
        </p:nvSpPr>
        <p:spPr bwMode="auto">
          <a:xfrm>
            <a:off x="4476750" y="5553075"/>
            <a:ext cx="0" cy="2873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997" name="AutoShape 37"/>
          <p:cNvSpPr>
            <a:spLocks noChangeArrowheads="1"/>
          </p:cNvSpPr>
          <p:nvPr/>
        </p:nvSpPr>
        <p:spPr bwMode="auto">
          <a:xfrm>
            <a:off x="2916238" y="5281613"/>
            <a:ext cx="3151187" cy="369887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>
                <a:latin typeface="Times New Roman" pitchFamily="18" charset="0"/>
              </a:rPr>
              <a:t>Qo’shHolatn (Holat, Holatn)</a:t>
            </a:r>
            <a:endParaRPr lang="ru-RU" sz="2000" baseline="-25000">
              <a:latin typeface="Times New Roman" pitchFamily="18" charset="0"/>
            </a:endParaRPr>
          </a:p>
        </p:txBody>
      </p:sp>
      <p:sp>
        <p:nvSpPr>
          <p:cNvPr id="40998" name="AutoShape 38"/>
          <p:cNvSpPr>
            <a:spLocks noChangeArrowheads="1"/>
          </p:cNvSpPr>
          <p:nvPr/>
        </p:nvSpPr>
        <p:spPr bwMode="auto">
          <a:xfrm>
            <a:off x="323850" y="6154738"/>
            <a:ext cx="931863" cy="369887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tIns="10800" bIns="10800" anchor="ctr">
            <a:spAutoFit/>
          </a:bodyPr>
          <a:lstStyle/>
          <a:p>
            <a:pPr algn="ctr">
              <a:defRPr/>
            </a:pPr>
            <a:r>
              <a:rPr lang="en-US" sz="2000" i="1">
                <a:latin typeface="Times New Roman" pitchFamily="18" charset="0"/>
              </a:rPr>
              <a:t>M</a:t>
            </a:r>
            <a:r>
              <a:rPr lang="uz-Cyrl-UZ" sz="2000" i="1" baseline="-25000">
                <a:latin typeface="Times New Roman" pitchFamily="18" charset="0"/>
              </a:rPr>
              <a:t>0</a:t>
            </a:r>
            <a:r>
              <a:rPr lang="en-US" sz="2000" i="1">
                <a:latin typeface="Times New Roman" pitchFamily="18" charset="0"/>
              </a:rPr>
              <a:t>=IV</a:t>
            </a:r>
            <a:endParaRPr lang="ru-RU" sz="2000" i="1" baseline="-250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0" y="0"/>
            <a:ext cx="9144000" cy="427038"/>
          </a:xfrm>
          <a:prstGeom prst="rect">
            <a:avLst/>
          </a:prstGeom>
          <a:solidFill>
            <a:srgbClr val="00FF00">
              <a:alpha val="9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Holat[8,4]</a:t>
            </a:r>
            <a:r>
              <a:rPr lang="en-US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 </a:t>
            </a:r>
            <a:r>
              <a:rPr lang="uz-Cyrl-UZ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– </a:t>
            </a:r>
            <a:r>
              <a:rPr lang="ru-RU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массиви</a:t>
            </a:r>
            <a:endParaRPr lang="ru-RU" sz="2200" b="1" i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graphicFrame>
        <p:nvGraphicFramePr>
          <p:cNvPr id="53659" name="Group 411"/>
          <p:cNvGraphicFramePr>
            <a:graphicFrameLocks noGrp="1"/>
          </p:cNvGraphicFramePr>
          <p:nvPr/>
        </p:nvGraphicFramePr>
        <p:xfrm>
          <a:off x="1331913" y="620713"/>
          <a:ext cx="6292850" cy="2736850"/>
        </p:xfrm>
        <a:graphic>
          <a:graphicData uri="http://schemas.openxmlformats.org/drawingml/2006/table">
            <a:tbl>
              <a:tblPr/>
              <a:tblGrid>
                <a:gridCol w="1184275"/>
                <a:gridCol w="538162"/>
                <a:gridCol w="623888"/>
                <a:gridCol w="595312"/>
                <a:gridCol w="565150"/>
                <a:gridCol w="463550"/>
                <a:gridCol w="538163"/>
                <a:gridCol w="623887"/>
                <a:gridCol w="595313"/>
                <a:gridCol w="565150"/>
              </a:tblGrid>
              <a:tr h="306953">
                <a:tc rowSpan="8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h[8,4]=</a:t>
                      </a:r>
                    </a:p>
                  </a:txBody>
                  <a:tcPr marL="54000" marR="54000" marT="46797" marB="46797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=</a:t>
                      </a:r>
                      <a:r>
                        <a:rPr kumimoji="0" lang="ru-RU" altLang="ja-JP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endParaRPr kumimoji="0" lang="en-US" altLang="ja-JP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M[8]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M[16]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M[24]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0695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M[9]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M[17]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M[25]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0695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M[10]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M[18]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M[26]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9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M[11]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M[19]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M[27]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9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M[4]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M[12]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M[20]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M[28]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9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M[5]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M[13]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M[21]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M[29]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9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M[6]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M[14]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M[22]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M[30]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922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M[7]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M[15]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M[23]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M[31]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3400" name="AutoShape 15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025" y="5876925"/>
            <a:ext cx="611188" cy="503238"/>
          </a:xfrm>
          <a:prstGeom prst="actionButtonHome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graphicFrame>
        <p:nvGraphicFramePr>
          <p:cNvPr id="53680" name="Group 432"/>
          <p:cNvGraphicFramePr>
            <a:graphicFrameLocks noGrp="1"/>
          </p:cNvGraphicFramePr>
          <p:nvPr/>
        </p:nvGraphicFramePr>
        <p:xfrm>
          <a:off x="1195388" y="3573463"/>
          <a:ext cx="6413500" cy="1287464"/>
        </p:xfrm>
        <a:graphic>
          <a:graphicData uri="http://schemas.openxmlformats.org/drawingml/2006/table">
            <a:tbl>
              <a:tblPr/>
              <a:tblGrid>
                <a:gridCol w="1119187"/>
                <a:gridCol w="627063"/>
                <a:gridCol w="627062"/>
                <a:gridCol w="627063"/>
                <a:gridCol w="627062"/>
                <a:gridCol w="463550"/>
                <a:gridCol w="538163"/>
                <a:gridCol w="623887"/>
                <a:gridCol w="595313"/>
                <a:gridCol w="565150"/>
              </a:tblGrid>
              <a:tr h="306941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h</a:t>
                      </a:r>
                      <a:r>
                        <a:rPr kumimoji="0" lang="en-US" altLang="ja-JP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1</a:t>
                      </a:r>
                      <a:r>
                        <a:rPr kumimoji="0" lang="en-US" altLang="ja-JP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[4,4]=</a:t>
                      </a:r>
                    </a:p>
                  </a:txBody>
                  <a:tcPr marL="54000" marR="54000" marT="46791" marB="46791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[0,0]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[0,1]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[0,2]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[0,3]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=</a:t>
                      </a:r>
                      <a:r>
                        <a:rPr kumimoji="0" lang="ru-RU" altLang="ja-JP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endParaRPr kumimoji="0" lang="en-US" altLang="ja-JP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1" marB="467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0694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[1,0]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[1,1]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[1,2]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[1,3]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0694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[2,0]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[2,1]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[2,2]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[2,3]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[3,0]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[3,1]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[3,2]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[3,3]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700" name="Group 452"/>
          <p:cNvGraphicFramePr>
            <a:graphicFrameLocks noGrp="1"/>
          </p:cNvGraphicFramePr>
          <p:nvPr/>
        </p:nvGraphicFramePr>
        <p:xfrm>
          <a:off x="1196975" y="5084763"/>
          <a:ext cx="6413500" cy="1287464"/>
        </p:xfrm>
        <a:graphic>
          <a:graphicData uri="http://schemas.openxmlformats.org/drawingml/2006/table">
            <a:tbl>
              <a:tblPr/>
              <a:tblGrid>
                <a:gridCol w="1119188"/>
                <a:gridCol w="627062"/>
                <a:gridCol w="627063"/>
                <a:gridCol w="627062"/>
                <a:gridCol w="627063"/>
                <a:gridCol w="463550"/>
                <a:gridCol w="538162"/>
                <a:gridCol w="623888"/>
                <a:gridCol w="595312"/>
                <a:gridCol w="565150"/>
              </a:tblGrid>
              <a:tr h="306941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h</a:t>
                      </a:r>
                      <a:r>
                        <a:rPr kumimoji="0" lang="en-US" altLang="ja-JP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2</a:t>
                      </a:r>
                      <a:r>
                        <a:rPr kumimoji="0" lang="en-US" altLang="ja-JP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[4,4]=</a:t>
                      </a:r>
                    </a:p>
                  </a:txBody>
                  <a:tcPr marL="54000" marR="54000" marT="46791" marB="46791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[0,0]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[0,1]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[0,2]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[0,3]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=</a:t>
                      </a:r>
                      <a:r>
                        <a:rPr kumimoji="0" lang="ru-RU" altLang="ja-JP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endParaRPr kumimoji="0" lang="en-US" altLang="ja-JP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1" marB="467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0694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[1,0]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[1,1]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[1,2]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[1,3]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0694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[2,0]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[2,1]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[2,2]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[2,3]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[3,0]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[3,1]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[3,2]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[3,3]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1" marB="467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179388" y="908050"/>
            <a:ext cx="8842375" cy="787400"/>
          </a:xfrm>
          <a:prstGeom prst="rect">
            <a:avLst/>
          </a:prstGeom>
          <a:solidFill>
            <a:schemeClr val="bg1">
              <a:alpha val="86000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indent="266700" algn="just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Char char="v"/>
              <a:defRPr/>
            </a:pPr>
            <a:r>
              <a:rPr lang="en-US" altLang="ja-JP" sz="21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ＭＳ Ｐゴシック" charset="-128"/>
              </a:rPr>
              <a:t>Qo’shBosqichKalit()</a:t>
            </a:r>
            <a:r>
              <a:rPr lang="ru-RU" altLang="ja-JP" sz="2100">
                <a:latin typeface="Times New Roman" pitchFamily="18" charset="0"/>
              </a:rPr>
              <a:t> </a:t>
            </a:r>
            <a:r>
              <a:rPr lang="en-US" altLang="ja-JP" sz="2100">
                <a:latin typeface="Times New Roman" pitchFamily="18" charset="0"/>
                <a:ea typeface="ＭＳ Ｐゴシック" charset="-128"/>
              </a:rPr>
              <a:t>– </a:t>
            </a:r>
            <a:r>
              <a:rPr lang="ru-RU" altLang="ja-JP" sz="2100" i="1">
                <a:latin typeface="Times New Roman" pitchFamily="18" charset="0"/>
              </a:rPr>
              <a:t>акслантириши</a:t>
            </a:r>
            <a:r>
              <a:rPr lang="en-US" altLang="ja-JP" sz="21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en-US" altLang="ja-JP" sz="2100" b="1" i="1">
                <a:latin typeface="Times New Roman" pitchFamily="18" charset="0"/>
                <a:ea typeface="ＭＳ Ｐゴシック" charset="-128"/>
              </a:rPr>
              <a:t>Holat[8,4] </a:t>
            </a:r>
            <a:r>
              <a:rPr lang="ru-RU" altLang="ja-JP" sz="2100" i="1">
                <a:latin typeface="Times New Roman" pitchFamily="18" charset="0"/>
              </a:rPr>
              <a:t>ва</a:t>
            </a:r>
            <a:r>
              <a:rPr lang="en-US" altLang="ja-JP" sz="21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en-US" altLang="ja-JP" sz="2100" b="1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b="1" i="1" baseline="-25000">
                <a:latin typeface="Times New Roman" pitchFamily="18" charset="0"/>
                <a:ea typeface="ＭＳ Ｐゴシック" charset="-128"/>
              </a:rPr>
              <a:t>e</a:t>
            </a:r>
            <a:r>
              <a:rPr lang="en-US" altLang="ja-JP" sz="2100" b="1" i="1">
                <a:latin typeface="Times New Roman" pitchFamily="18" charset="0"/>
                <a:ea typeface="ＭＳ Ｐゴシック" charset="-128"/>
              </a:rPr>
              <a:t>[8,4]</a:t>
            </a:r>
            <a:r>
              <a:rPr lang="en-US" altLang="ja-JP" sz="21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100" i="1">
                <a:latin typeface="Times New Roman" pitchFamily="18" charset="0"/>
              </a:rPr>
              <a:t>массивларининг</a:t>
            </a:r>
            <a:r>
              <a:rPr lang="en-US" altLang="ja-JP" sz="21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uz-Cyrl-UZ" altLang="ja-JP" sz="2100" i="1">
                <a:latin typeface="Times New Roman" pitchFamily="18" charset="0"/>
              </a:rPr>
              <a:t>мос </a:t>
            </a:r>
            <a:r>
              <a:rPr lang="ru-RU" altLang="ja-JP" sz="2100" i="1">
                <a:latin typeface="Times New Roman" pitchFamily="18" charset="0"/>
              </a:rPr>
              <a:t>элементлари</a:t>
            </a:r>
            <a:r>
              <a:rPr lang="uz-Cyrl-UZ" altLang="ja-JP" sz="2100" i="1">
                <a:latin typeface="Times New Roman" pitchFamily="18" charset="0"/>
              </a:rPr>
              <a:t>ни </a:t>
            </a:r>
            <a:r>
              <a:rPr lang="en-US" altLang="ja-JP" sz="2100" i="1">
                <a:latin typeface="Times New Roman" pitchFamily="18" charset="0"/>
                <a:ea typeface="ＭＳ Ｐゴシック" charset="-128"/>
              </a:rPr>
              <a:t>X</a:t>
            </a:r>
            <a:r>
              <a:rPr lang="uz-Cyrl-UZ" altLang="ja-JP" sz="2100" i="1">
                <a:latin typeface="Times New Roman" pitchFamily="18" charset="0"/>
              </a:rPr>
              <a:t>О</a:t>
            </a:r>
            <a:r>
              <a:rPr lang="en-US" altLang="ja-JP" sz="2100" i="1">
                <a:latin typeface="Times New Roman" pitchFamily="18" charset="0"/>
                <a:ea typeface="ＭＳ Ｐゴシック" charset="-128"/>
              </a:rPr>
              <a:t>R </a:t>
            </a:r>
            <a:r>
              <a:rPr lang="uz-Cyrl-UZ" altLang="ja-JP" sz="2100" i="1">
                <a:latin typeface="Times New Roman" pitchFamily="18" charset="0"/>
              </a:rPr>
              <a:t>амали билан </a:t>
            </a:r>
            <a:r>
              <a:rPr lang="ru-RU" altLang="ja-JP" sz="2100" i="1">
                <a:latin typeface="Times New Roman" pitchFamily="18" charset="0"/>
              </a:rPr>
              <a:t>қўшиш</a:t>
            </a:r>
            <a:r>
              <a:rPr lang="uz-Cyrl-UZ" altLang="ja-JP" sz="2100" i="1">
                <a:latin typeface="Times New Roman" pitchFamily="18" charset="0"/>
              </a:rPr>
              <a:t>дан </a:t>
            </a:r>
            <a:r>
              <a:rPr lang="ru-RU" altLang="ja-JP" sz="2100" i="1">
                <a:latin typeface="Times New Roman" pitchFamily="18" charset="0"/>
              </a:rPr>
              <a:t>иборат</a:t>
            </a:r>
            <a:r>
              <a:rPr lang="en-US" altLang="ja-JP" sz="2100" i="1">
                <a:latin typeface="Times New Roman" pitchFamily="18" charset="0"/>
                <a:ea typeface="ＭＳ Ｐゴシック" charset="-128"/>
              </a:rPr>
              <a:t>. </a:t>
            </a:r>
          </a:p>
        </p:txBody>
      </p:sp>
      <p:sp>
        <p:nvSpPr>
          <p:cNvPr id="44038" name="Rectangle 6"/>
          <p:cNvSpPr>
            <a:spLocks noChangeArrowheads="1"/>
          </p:cNvSpPr>
          <p:nvPr/>
        </p:nvSpPr>
        <p:spPr bwMode="auto">
          <a:xfrm>
            <a:off x="0" y="0"/>
            <a:ext cx="9144000" cy="427038"/>
          </a:xfrm>
          <a:prstGeom prst="rect">
            <a:avLst/>
          </a:prstGeom>
          <a:solidFill>
            <a:srgbClr val="00CCFF">
              <a:alpha val="9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Qo’shBosqichKalit (Holat,</a:t>
            </a:r>
            <a:r>
              <a:rPr lang="uz-Cyrl-UZ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200" b="1" i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e</a:t>
            </a:r>
            <a:r>
              <a:rPr lang="uz-Cyrl-UZ" altLang="ja-JP" sz="2200" b="1" i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)</a:t>
            </a:r>
            <a:r>
              <a:rPr lang="en-US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 </a:t>
            </a:r>
            <a:r>
              <a:rPr lang="uz-Cyrl-UZ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– акслантириши </a:t>
            </a:r>
            <a:endParaRPr lang="ru-RU" sz="22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graphicFrame>
        <p:nvGraphicFramePr>
          <p:cNvPr id="44734" name="Group 702"/>
          <p:cNvGraphicFramePr>
            <a:graphicFrameLocks noGrp="1"/>
          </p:cNvGraphicFramePr>
          <p:nvPr/>
        </p:nvGraphicFramePr>
        <p:xfrm>
          <a:off x="503238" y="2276475"/>
          <a:ext cx="8212137" cy="2943248"/>
        </p:xfrm>
        <a:graphic>
          <a:graphicData uri="http://schemas.openxmlformats.org/drawingml/2006/table">
            <a:tbl>
              <a:tblPr/>
              <a:tblGrid>
                <a:gridCol w="538162"/>
                <a:gridCol w="623888"/>
                <a:gridCol w="595312"/>
                <a:gridCol w="565150"/>
                <a:gridCol w="381000"/>
                <a:gridCol w="538163"/>
                <a:gridCol w="623887"/>
                <a:gridCol w="595313"/>
                <a:gridCol w="565150"/>
                <a:gridCol w="400050"/>
                <a:gridCol w="682625"/>
                <a:gridCol w="682625"/>
                <a:gridCol w="738187"/>
                <a:gridCol w="682625"/>
              </a:tblGrid>
              <a:tr h="36790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altLang="ja-JP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=</a:t>
                      </a:r>
                      <a:r>
                        <a:rPr kumimoji="0" lang="ru-RU" altLang="ja-JP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endParaRPr kumimoji="0" lang="en-US" altLang="ja-JP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3" marB="467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ja-JP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sym typeface="Symbol" pitchFamily="18" charset="2"/>
                        </a:rPr>
                        <a:t></a:t>
                      </a:r>
                      <a:r>
                        <a:rPr kumimoji="0" lang="ru-RU" altLang="ja-JP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  <a:endParaRPr kumimoji="0" lang="en-US" altLang="ja-JP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sym typeface="Symbol" pitchFamily="18" charset="2"/>
                      </a:endParaRPr>
                    </a:p>
                  </a:txBody>
                  <a:tcPr marL="54000" marR="54000" marT="46793" marB="467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K</a:t>
                      </a:r>
                      <a:r>
                        <a:rPr kumimoji="0" lang="en-US" altLang="ja-JP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[0,4]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[0,5]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[0,6]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[0,7]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790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[1,4]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[1,5]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[1,6]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[1,7]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790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[2,4]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[2,5]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[2,6]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[2,7]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790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[3,4]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[3,5]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[3,6]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[3,7]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790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[4,4]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[4,5]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[4,6]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[4,7]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790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[5,4]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[5,5]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[5,6]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[5,7]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790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[6,4]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[6,5]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[6,6]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[6,7]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790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[7,4]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[7,5]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[7,6]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K</a:t>
                      </a:r>
                      <a:r>
                        <a:rPr kumimoji="0" lang="en-US" altLang="ja-JP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[7,7]</a:t>
                      </a:r>
                    </a:p>
                  </a:txBody>
                  <a:tcPr marL="54000" marR="54000" marT="46793" marB="46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18577" name="Group 698"/>
          <p:cNvGrpSpPr>
            <a:grpSpLocks/>
          </p:cNvGrpSpPr>
          <p:nvPr/>
        </p:nvGrpSpPr>
        <p:grpSpPr bwMode="auto">
          <a:xfrm>
            <a:off x="74613" y="6453188"/>
            <a:ext cx="8997950" cy="360362"/>
            <a:chOff x="47" y="4065"/>
            <a:chExt cx="5668" cy="227"/>
          </a:xfrm>
        </p:grpSpPr>
        <p:sp>
          <p:nvSpPr>
            <p:cNvPr id="18579" name="Line 16"/>
            <p:cNvSpPr>
              <a:spLocks noChangeShapeType="1"/>
            </p:cNvSpPr>
            <p:nvPr/>
          </p:nvSpPr>
          <p:spPr bwMode="auto">
            <a:xfrm>
              <a:off x="47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3313" y="4080"/>
              <a:ext cx="240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  <a:r>
                <a:rPr lang="uz-Cyrl-UZ" sz="1600" i="1" smtClean="0">
                  <a:solidFill>
                    <a:srgbClr val="6666FF"/>
                  </a:solidFill>
                  <a:latin typeface="Times New Roman" pitchFamily="18" charset="0"/>
                </a:rPr>
                <a:t>, </a:t>
              </a: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УзДСт 1105:2009</a:t>
              </a:r>
            </a:p>
          </p:txBody>
        </p:sp>
      </p:grpSp>
      <p:sp>
        <p:nvSpPr>
          <p:cNvPr id="44735" name="AutoShape 70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025" y="5876925"/>
            <a:ext cx="611188" cy="503238"/>
          </a:xfrm>
          <a:prstGeom prst="actionButtonHome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122238" y="488950"/>
            <a:ext cx="8842375" cy="6249988"/>
          </a:xfrm>
          <a:prstGeom prst="rect">
            <a:avLst/>
          </a:prstGeom>
          <a:solidFill>
            <a:schemeClr val="bg1">
              <a:alpha val="86000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266700" algn="just" defTabSz="723900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ja-JP" sz="2100" b="1" i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ＭＳ Ｐゴシック" charset="-128"/>
              </a:rPr>
              <a:t>Aralash()</a:t>
            </a:r>
            <a:r>
              <a:rPr lang="ru-RU" altLang="ja-JP" sz="2100" b="1" u="sng" dirty="0">
                <a:latin typeface="Times New Roman" pitchFamily="18" charset="0"/>
              </a:rPr>
              <a:t> </a:t>
            </a:r>
            <a:r>
              <a:rPr lang="en-US" altLang="ja-JP" sz="2100" b="1" u="sng" dirty="0">
                <a:latin typeface="Times New Roman" pitchFamily="18" charset="0"/>
                <a:ea typeface="ＭＳ Ｐゴシック" charset="-128"/>
              </a:rPr>
              <a:t>– </a:t>
            </a:r>
            <a:r>
              <a:rPr lang="ru-RU" altLang="ja-JP" sz="2100" b="1" i="1" u="sng" dirty="0" err="1">
                <a:latin typeface="Times New Roman" pitchFamily="18" charset="0"/>
              </a:rPr>
              <a:t>акслантириши</a:t>
            </a:r>
            <a:r>
              <a:rPr lang="en-US" altLang="ja-JP" sz="2100" b="1" i="1" u="sng" dirty="0">
                <a:latin typeface="Times New Roman" pitchFamily="18" charset="0"/>
                <a:ea typeface="ＭＳ Ｐゴシック" charset="-128"/>
              </a:rPr>
              <a:t> </a:t>
            </a:r>
            <a:r>
              <a:rPr lang="uz-Cyrl-UZ" altLang="ja-JP" sz="2100" b="1" i="1" u="sng" dirty="0">
                <a:latin typeface="Times New Roman" pitchFamily="18" charset="0"/>
              </a:rPr>
              <a:t>қуйидаги амалларни бажаришдан </a:t>
            </a:r>
            <a:r>
              <a:rPr lang="ru-RU" altLang="ja-JP" sz="2100" b="1" i="1" u="sng" dirty="0" err="1">
                <a:latin typeface="Times New Roman" pitchFamily="18" charset="0"/>
              </a:rPr>
              <a:t>иборат</a:t>
            </a:r>
            <a:r>
              <a:rPr lang="uz-Cyrl-UZ" altLang="ja-JP" sz="2100" b="1" i="1" dirty="0">
                <a:latin typeface="Times New Roman" pitchFamily="18" charset="0"/>
              </a:rPr>
              <a:t>:</a:t>
            </a:r>
          </a:p>
          <a:p>
            <a:pPr indent="266700" algn="just" defTabSz="723900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Char char="Ш"/>
              <a:defRPr/>
            </a:pPr>
            <a:r>
              <a:rPr lang="uz-Cyrl-UZ" altLang="ja-JP" sz="2100" i="1" dirty="0">
                <a:latin typeface="Times New Roman" pitchFamily="18" charset="0"/>
              </a:rPr>
              <a:t>Агар </a:t>
            </a:r>
            <a:r>
              <a:rPr lang="en-US" altLang="ja-JP" sz="2100" b="1" i="1" dirty="0">
                <a:latin typeface="Times New Roman" pitchFamily="18" charset="0"/>
                <a:ea typeface="ＭＳ Ｐゴシック" charset="-128"/>
              </a:rPr>
              <a:t>m=</a:t>
            </a:r>
            <a:r>
              <a:rPr lang="en-US" altLang="ja-JP" sz="2100" b="1" i="1" dirty="0" err="1">
                <a:latin typeface="Times New Roman" pitchFamily="18" charset="0"/>
                <a:ea typeface="ＭＳ Ｐゴシック" charset="-128"/>
              </a:rPr>
              <a:t>sh</a:t>
            </a:r>
            <a:r>
              <a:rPr lang="en-US" altLang="ja-JP" sz="2100" i="1" dirty="0">
                <a:latin typeface="Times New Roman" pitchFamily="18" charset="0"/>
                <a:ea typeface="ＭＳ Ｐゴシック" charset="-128"/>
              </a:rPr>
              <a:t> </a:t>
            </a:r>
            <a:r>
              <a:rPr lang="uz-Cyrl-UZ" altLang="ja-JP" sz="2100" i="1" dirty="0">
                <a:latin typeface="Times New Roman" pitchFamily="18" charset="0"/>
              </a:rPr>
              <a:t>бўлса </a:t>
            </a:r>
            <a:r>
              <a:rPr lang="en-US" altLang="ja-JP" sz="2100" b="1" i="1" dirty="0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b="1" i="1" baseline="-25000" dirty="0">
                <a:latin typeface="Times New Roman" pitchFamily="18" charset="0"/>
                <a:ea typeface="ＭＳ Ｐゴシック" charset="-128"/>
              </a:rPr>
              <a:t>1</a:t>
            </a:r>
            <a:r>
              <a:rPr lang="en-US" altLang="ja-JP" sz="2100" b="1" i="1" dirty="0">
                <a:latin typeface="Times New Roman" pitchFamily="18" charset="0"/>
                <a:ea typeface="ＭＳ Ｐゴシック" charset="-128"/>
              </a:rPr>
              <a:t>=K</a:t>
            </a:r>
            <a:r>
              <a:rPr lang="en-US" altLang="ja-JP" sz="2100" b="1" i="1" baseline="-25000" dirty="0">
                <a:latin typeface="Times New Roman" pitchFamily="18" charset="0"/>
                <a:ea typeface="ＭＳ Ｐゴシック" charset="-128"/>
              </a:rPr>
              <a:t>1t</a:t>
            </a:r>
            <a:r>
              <a:rPr lang="uz-Cyrl-UZ" altLang="ja-JP" sz="2100" b="1" i="1" baseline="-25000" dirty="0">
                <a:latin typeface="Times New Roman" pitchFamily="18" charset="0"/>
              </a:rPr>
              <a:t> </a:t>
            </a:r>
            <a:r>
              <a:rPr lang="en-US" altLang="ja-JP" sz="2100" i="1" dirty="0">
                <a:latin typeface="Times New Roman" pitchFamily="18" charset="0"/>
                <a:ea typeface="ＭＳ Ｐゴシック" charset="-128"/>
              </a:rPr>
              <a:t>, </a:t>
            </a:r>
            <a:r>
              <a:rPr lang="en-US" altLang="ja-JP" sz="2100" b="1" i="1" dirty="0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b="1" i="1" baseline="-25000" dirty="0">
                <a:latin typeface="Times New Roman" pitchFamily="18" charset="0"/>
                <a:ea typeface="ＭＳ Ｐゴシック" charset="-128"/>
              </a:rPr>
              <a:t>2</a:t>
            </a:r>
            <a:r>
              <a:rPr lang="en-US" altLang="ja-JP" sz="2100" b="1" i="1" dirty="0">
                <a:latin typeface="Times New Roman" pitchFamily="18" charset="0"/>
                <a:ea typeface="ＭＳ Ｐゴシック" charset="-128"/>
              </a:rPr>
              <a:t>=K</a:t>
            </a:r>
            <a:r>
              <a:rPr lang="en-US" altLang="ja-JP" sz="2100" b="1" i="1" baseline="-25000" dirty="0">
                <a:latin typeface="Times New Roman" pitchFamily="18" charset="0"/>
                <a:ea typeface="ＭＳ Ｐゴシック" charset="-128"/>
              </a:rPr>
              <a:t>2</a:t>
            </a:r>
            <a:r>
              <a:rPr lang="en-US" altLang="ja-JP" sz="2100" i="1" dirty="0">
                <a:latin typeface="Times New Roman" pitchFamily="18" charset="0"/>
                <a:ea typeface="ＭＳ Ｐゴシック" charset="-128"/>
              </a:rPr>
              <a:t>, </a:t>
            </a:r>
            <a:r>
              <a:rPr lang="uz-Cyrl-UZ" altLang="ja-JP" sz="2100" i="1" dirty="0">
                <a:latin typeface="Times New Roman" pitchFamily="18" charset="0"/>
              </a:rPr>
              <a:t>акс ҳолда агар </a:t>
            </a:r>
            <a:r>
              <a:rPr lang="en-US" altLang="ja-JP" sz="2100" b="1" i="1" dirty="0">
                <a:latin typeface="Times New Roman" pitchFamily="18" charset="0"/>
                <a:ea typeface="ＭＳ Ｐゴシック" charset="-128"/>
              </a:rPr>
              <a:t>m=</a:t>
            </a:r>
            <a:r>
              <a:rPr lang="en-US" altLang="ja-JP" sz="2100" b="1" i="1" dirty="0" err="1">
                <a:latin typeface="Times New Roman" pitchFamily="18" charset="0"/>
                <a:ea typeface="ＭＳ Ｐゴシック" charset="-128"/>
              </a:rPr>
              <a:t>dsh</a:t>
            </a:r>
            <a:r>
              <a:rPr lang="en-US" altLang="ja-JP" sz="2100" i="1" dirty="0">
                <a:latin typeface="Times New Roman" pitchFamily="18" charset="0"/>
                <a:ea typeface="ＭＳ Ｐゴシック" charset="-128"/>
              </a:rPr>
              <a:t> </a:t>
            </a:r>
            <a:r>
              <a:rPr lang="uz-Cyrl-UZ" altLang="ja-JP" sz="2100" i="1" dirty="0">
                <a:latin typeface="Times New Roman" pitchFamily="18" charset="0"/>
              </a:rPr>
              <a:t>бўлса </a:t>
            </a:r>
            <a:r>
              <a:rPr lang="en-US" altLang="ja-JP" b="1" i="1" dirty="0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b="1" i="1" baseline="-25000" dirty="0">
                <a:latin typeface="Times New Roman" pitchFamily="18" charset="0"/>
                <a:ea typeface="ＭＳ Ｐゴシック" charset="-128"/>
              </a:rPr>
              <a:t>1</a:t>
            </a:r>
            <a:r>
              <a:rPr lang="en-US" altLang="ja-JP" b="1" i="1" dirty="0">
                <a:latin typeface="Times New Roman" pitchFamily="18" charset="0"/>
                <a:ea typeface="ＭＳ Ｐゴシック" charset="-128"/>
              </a:rPr>
              <a:t>=K</a:t>
            </a:r>
            <a:r>
              <a:rPr lang="en-US" altLang="ja-JP" b="1" i="1" baseline="-25000" dirty="0">
                <a:latin typeface="Times New Roman" pitchFamily="18" charset="0"/>
                <a:ea typeface="ＭＳ Ｐゴシック" charset="-128"/>
              </a:rPr>
              <a:t>1</a:t>
            </a:r>
            <a:r>
              <a:rPr lang="uz-Cyrl-UZ" altLang="ja-JP" b="1" i="1" dirty="0">
                <a:latin typeface="Times New Roman" pitchFamily="18" charset="0"/>
              </a:rPr>
              <a:t> </a:t>
            </a:r>
            <a:r>
              <a:rPr lang="en-US" altLang="ja-JP" i="1" dirty="0">
                <a:latin typeface="Times New Roman" pitchFamily="18" charset="0"/>
                <a:ea typeface="ＭＳ Ｐゴシック" charset="-128"/>
              </a:rPr>
              <a:t>, </a:t>
            </a:r>
            <a:r>
              <a:rPr lang="en-US" altLang="ja-JP" b="1" i="1" dirty="0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b="1" i="1" baseline="-25000" dirty="0">
                <a:latin typeface="Times New Roman" pitchFamily="18" charset="0"/>
                <a:ea typeface="ＭＳ Ｐゴシック" charset="-128"/>
              </a:rPr>
              <a:t>2</a:t>
            </a:r>
            <a:r>
              <a:rPr lang="en-US" altLang="ja-JP" b="1" i="1" dirty="0">
                <a:latin typeface="Times New Roman" pitchFamily="18" charset="0"/>
                <a:ea typeface="ＭＳ Ｐゴシック" charset="-128"/>
              </a:rPr>
              <a:t>=K</a:t>
            </a:r>
            <a:r>
              <a:rPr lang="en-US" altLang="ja-JP" b="1" i="1" baseline="-25000" dirty="0">
                <a:latin typeface="Times New Roman" pitchFamily="18" charset="0"/>
                <a:ea typeface="ＭＳ Ｐゴシック" charset="-128"/>
              </a:rPr>
              <a:t>2t</a:t>
            </a:r>
            <a:r>
              <a:rPr lang="uz-Cyrl-UZ" altLang="ja-JP" dirty="0">
                <a:latin typeface="Times New Roman" pitchFamily="18" charset="0"/>
              </a:rPr>
              <a:t> </a:t>
            </a:r>
            <a:r>
              <a:rPr lang="uz-Cyrl-UZ" altLang="ja-JP" sz="2100" i="1" dirty="0">
                <a:latin typeface="Times New Roman" pitchFamily="18" charset="0"/>
              </a:rPr>
              <a:t>қабул қилинсин ва </a:t>
            </a:r>
            <a:r>
              <a:rPr lang="en-US" altLang="ja-JP" b="1" i="1" dirty="0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b="1" i="1" baseline="-25000" dirty="0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1</a:t>
            </a:r>
            <a:r>
              <a:rPr lang="en-US" altLang="ja-JP" b="1" i="1" dirty="0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=H</a:t>
            </a:r>
            <a:r>
              <a:rPr lang="ru-RU" altLang="ja-JP" b="1" i="1" baseline="-25000" dirty="0">
                <a:solidFill>
                  <a:srgbClr val="800000"/>
                </a:solidFill>
                <a:latin typeface="Times New Roman" pitchFamily="18" charset="0"/>
              </a:rPr>
              <a:t>1</a:t>
            </a:r>
            <a:r>
              <a:rPr lang="ru-RU" altLang="ja-JP" b="1" dirty="0">
                <a:solidFill>
                  <a:srgbClr val="800000"/>
                </a:solidFill>
                <a:latin typeface="Times New Roman" pitchFamily="18" charset="0"/>
                <a:sym typeface="Symbol" pitchFamily="18" charset="2"/>
              </a:rPr>
              <a:t></a:t>
            </a:r>
            <a:r>
              <a:rPr lang="ru-RU" altLang="ja-JP" b="1" baseline="-25000" dirty="0">
                <a:solidFill>
                  <a:srgbClr val="800000"/>
                </a:solidFill>
                <a:latin typeface="Times New Roman" pitchFamily="18" charset="0"/>
              </a:rPr>
              <a:t>2</a:t>
            </a:r>
            <a:r>
              <a:rPr lang="en-US" altLang="ja-JP" b="1" i="1" dirty="0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ru-RU" altLang="ja-JP" b="1" i="1" baseline="-25000" dirty="0">
                <a:solidFill>
                  <a:srgbClr val="800000"/>
                </a:solidFill>
                <a:latin typeface="Times New Roman" pitchFamily="18" charset="0"/>
              </a:rPr>
              <a:t>1</a:t>
            </a:r>
            <a:r>
              <a:rPr lang="ru-RU" altLang="ja-JP" b="1" i="1" dirty="0">
                <a:solidFill>
                  <a:srgbClr val="800000"/>
                </a:solidFill>
                <a:latin typeface="Times New Roman" pitchFamily="18" charset="0"/>
              </a:rPr>
              <a:t> (</a:t>
            </a:r>
            <a:r>
              <a:rPr lang="en-US" altLang="ja-JP" b="1" i="1" dirty="0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b="1" i="1" dirty="0">
                <a:solidFill>
                  <a:srgbClr val="800000"/>
                </a:solidFill>
                <a:latin typeface="Times New Roman" pitchFamily="18" charset="0"/>
              </a:rPr>
              <a:t>)</a:t>
            </a:r>
            <a:r>
              <a:rPr lang="en-US" altLang="ja-JP" i="1" dirty="0">
                <a:latin typeface="Times New Roman" pitchFamily="18" charset="0"/>
                <a:ea typeface="ＭＳ Ｐゴシック" charset="-128"/>
              </a:rPr>
              <a:t> </a:t>
            </a:r>
            <a:r>
              <a:rPr lang="uz-Cyrl-UZ" altLang="ja-JP" i="1" dirty="0">
                <a:latin typeface="Times New Roman" pitchFamily="18" charset="0"/>
              </a:rPr>
              <a:t>ҳамда </a:t>
            </a:r>
            <a:r>
              <a:rPr lang="en-US" altLang="ja-JP" b="1" i="1" dirty="0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b="1" i="1" baseline="-25000" dirty="0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2</a:t>
            </a:r>
            <a:r>
              <a:rPr lang="en-US" altLang="ja-JP" b="1" i="1" dirty="0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=H</a:t>
            </a:r>
            <a:r>
              <a:rPr lang="ru-RU" altLang="ja-JP" b="1" i="1" baseline="-25000" dirty="0">
                <a:solidFill>
                  <a:srgbClr val="800000"/>
                </a:solidFill>
                <a:latin typeface="Times New Roman" pitchFamily="18" charset="0"/>
              </a:rPr>
              <a:t>2</a:t>
            </a:r>
            <a:r>
              <a:rPr lang="ru-RU" altLang="ja-JP" b="1" dirty="0">
                <a:solidFill>
                  <a:srgbClr val="800000"/>
                </a:solidFill>
                <a:latin typeface="Times New Roman" pitchFamily="18" charset="0"/>
                <a:sym typeface="Symbol" pitchFamily="18" charset="2"/>
              </a:rPr>
              <a:t></a:t>
            </a:r>
            <a:r>
              <a:rPr lang="ru-RU" altLang="ja-JP" b="1" baseline="-25000" dirty="0">
                <a:solidFill>
                  <a:srgbClr val="800000"/>
                </a:solidFill>
                <a:latin typeface="Times New Roman" pitchFamily="18" charset="0"/>
              </a:rPr>
              <a:t>2</a:t>
            </a:r>
            <a:r>
              <a:rPr lang="en-US" altLang="ja-JP" b="1" i="1" dirty="0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K</a:t>
            </a:r>
            <a:r>
              <a:rPr lang="ru-RU" altLang="ja-JP" b="1" i="1" baseline="-25000" dirty="0">
                <a:solidFill>
                  <a:srgbClr val="800000"/>
                </a:solidFill>
                <a:latin typeface="Times New Roman" pitchFamily="18" charset="0"/>
              </a:rPr>
              <a:t>2</a:t>
            </a:r>
            <a:r>
              <a:rPr lang="uz-Cyrl-UZ" altLang="ja-JP" b="1" i="1" baseline="-25000" dirty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ru-RU" altLang="ja-JP" b="1" i="1" dirty="0">
                <a:solidFill>
                  <a:srgbClr val="800000"/>
                </a:solidFill>
                <a:latin typeface="Times New Roman" pitchFamily="18" charset="0"/>
              </a:rPr>
              <a:t>(</a:t>
            </a:r>
            <a:r>
              <a:rPr lang="en-US" altLang="ja-JP" b="1" i="1" dirty="0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b="1" i="1" dirty="0">
                <a:solidFill>
                  <a:srgbClr val="800000"/>
                </a:solidFill>
                <a:latin typeface="Times New Roman" pitchFamily="18" charset="0"/>
              </a:rPr>
              <a:t>)</a:t>
            </a:r>
            <a:r>
              <a:rPr lang="ru-RU" altLang="ja-JP" dirty="0">
                <a:latin typeface="Times New Roman" pitchFamily="18" charset="0"/>
              </a:rPr>
              <a:t> </a:t>
            </a:r>
            <a:r>
              <a:rPr lang="uz-Cyrl-UZ" altLang="ja-JP" dirty="0">
                <a:latin typeface="Times New Roman" pitchFamily="18" charset="0"/>
              </a:rPr>
              <a:t> </a:t>
            </a:r>
            <a:r>
              <a:rPr lang="uz-Cyrl-UZ" altLang="ja-JP" i="1" dirty="0">
                <a:latin typeface="Times New Roman" pitchFamily="18" charset="0"/>
              </a:rPr>
              <a:t>ҳисоблансин.</a:t>
            </a:r>
          </a:p>
          <a:p>
            <a:pPr indent="266700" algn="just" defTabSz="723900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ru-RU" altLang="ja-JP" sz="2100" i="1" dirty="0">
                <a:latin typeface="Times New Roman" pitchFamily="18" charset="0"/>
                <a:sym typeface="Symbol" pitchFamily="18" charset="2"/>
              </a:rPr>
              <a:t></a:t>
            </a:r>
            <a:r>
              <a:rPr lang="ru-RU" altLang="ja-JP" sz="2100" i="1" baseline="-25000" dirty="0">
                <a:latin typeface="Times New Roman" pitchFamily="18" charset="0"/>
              </a:rPr>
              <a:t>2</a:t>
            </a:r>
            <a:r>
              <a:rPr lang="uz-Cyrl-UZ" altLang="ja-JP" sz="2100" i="1" dirty="0">
                <a:latin typeface="Times New Roman" pitchFamily="18" charset="0"/>
              </a:rPr>
              <a:t> – </a:t>
            </a:r>
            <a:r>
              <a:rPr lang="uz-Cyrl-UZ" altLang="ja-JP" sz="2100" i="1" u="sng" dirty="0">
                <a:latin typeface="Times New Roman" pitchFamily="18" charset="0"/>
              </a:rPr>
              <a:t>диаматрицали кўпайтириш амали қуйидагича ҳисобланади:</a:t>
            </a:r>
          </a:p>
          <a:p>
            <a:pPr indent="266700" algn="just" defTabSz="723900">
              <a:defRPr/>
            </a:pPr>
            <a:r>
              <a:rPr lang="en-US" altLang="ja-JP" sz="2100" b="1" i="1" dirty="0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i=j – </a:t>
            </a:r>
            <a:r>
              <a:rPr lang="uz-Cyrl-UZ" altLang="ja-JP" sz="2100" i="1" dirty="0">
                <a:solidFill>
                  <a:srgbClr val="800000"/>
                </a:solidFill>
                <a:latin typeface="Times New Roman" pitchFamily="18" charset="0"/>
              </a:rPr>
              <a:t>лар учун:</a:t>
            </a:r>
            <a:endParaRPr lang="en-US" altLang="ja-JP" sz="2100" i="1" dirty="0">
              <a:solidFill>
                <a:srgbClr val="800000"/>
              </a:solidFill>
              <a:latin typeface="Times New Roman" pitchFamily="18" charset="0"/>
            </a:endParaRPr>
          </a:p>
          <a:p>
            <a:pPr indent="266700" algn="just" defTabSz="723900">
              <a:defRPr/>
            </a:pPr>
            <a:r>
              <a:rPr lang="en-US" altLang="ja-JP" sz="2100" b="1" i="1" dirty="0">
                <a:latin typeface="Times New Roman" pitchFamily="18" charset="0"/>
                <a:ea typeface="ＭＳ Ｐゴシック" charset="-128"/>
              </a:rPr>
              <a:t>	</a:t>
            </a:r>
            <a:r>
              <a:rPr lang="en-US" altLang="ja-JP" sz="2100" b="1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b="1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b="1" i="1" dirty="0">
                <a:latin typeface="Times New Roman" pitchFamily="18" charset="0"/>
              </a:rPr>
              <a:t>[0,0]=</a:t>
            </a:r>
            <a:r>
              <a:rPr lang="en-US" altLang="ja-JP" sz="2100" i="1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solidFill>
                  <a:srgbClr val="FF0000"/>
                </a:solidFill>
                <a:latin typeface="Times New Roman" pitchFamily="18" charset="0"/>
              </a:rPr>
              <a:t>[0,0]</a:t>
            </a:r>
            <a:r>
              <a:rPr lang="ru-RU" altLang="ja-JP" sz="2100" b="1" i="1" dirty="0">
                <a:latin typeface="Times New Roman" pitchFamily="18" charset="0"/>
              </a:rPr>
              <a:t>(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[0,0]+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[1,0]+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[2,0]+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[3,0]</a:t>
            </a:r>
            <a:r>
              <a:rPr lang="ru-RU" altLang="ja-JP" sz="2100" b="1" i="1" dirty="0">
                <a:latin typeface="Times New Roman" pitchFamily="18" charset="0"/>
              </a:rPr>
              <a:t>)</a:t>
            </a:r>
            <a:r>
              <a:rPr lang="ru-RU" altLang="ja-JP" sz="2100" i="1" dirty="0">
                <a:latin typeface="Times New Roman" pitchFamily="18" charset="0"/>
              </a:rPr>
              <a:t>-</a:t>
            </a:r>
            <a:r>
              <a:rPr lang="en-US" altLang="ja-JP" sz="2100" i="1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solidFill>
                  <a:srgbClr val="FF0000"/>
                </a:solidFill>
                <a:latin typeface="Times New Roman" pitchFamily="18" charset="0"/>
              </a:rPr>
              <a:t>[1,1]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[1,0]-</a:t>
            </a:r>
            <a:endParaRPr lang="en-US" altLang="ja-JP" sz="2100" i="1" dirty="0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>
              <a:defRPr/>
            </a:pPr>
            <a:r>
              <a:rPr lang="en-US" altLang="ja-JP" sz="2100" i="1" dirty="0">
                <a:latin typeface="Times New Roman" pitchFamily="18" charset="0"/>
                <a:ea typeface="ＭＳ Ｐゴシック" charset="-128"/>
              </a:rPr>
              <a:t>						-</a:t>
            </a:r>
            <a:r>
              <a:rPr lang="en-US" altLang="ja-JP" sz="2100" i="1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solidFill>
                  <a:srgbClr val="FF0000"/>
                </a:solidFill>
                <a:latin typeface="Times New Roman" pitchFamily="18" charset="0"/>
              </a:rPr>
              <a:t>[2,2]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[2,0]-</a:t>
            </a:r>
            <a:r>
              <a:rPr lang="en-US" altLang="ja-JP" sz="2100" i="1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solidFill>
                  <a:srgbClr val="FF0000"/>
                </a:solidFill>
                <a:latin typeface="Times New Roman" pitchFamily="18" charset="0"/>
              </a:rPr>
              <a:t>[3,3]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[3,0](</a:t>
            </a:r>
            <a:r>
              <a:rPr lang="en-US" altLang="ja-JP" sz="2100" i="1" dirty="0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sz="2100" i="1" dirty="0">
                <a:latin typeface="Times New Roman" pitchFamily="18" charset="0"/>
              </a:rPr>
              <a:t>), </a:t>
            </a:r>
            <a:endParaRPr lang="en-US" altLang="ja-JP" sz="2100" i="1" dirty="0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>
              <a:defRPr/>
            </a:pPr>
            <a:r>
              <a:rPr lang="en-US" altLang="ja-JP" sz="2100" b="1" i="1" dirty="0">
                <a:latin typeface="Times New Roman" pitchFamily="18" charset="0"/>
                <a:ea typeface="ＭＳ Ｐゴシック" charset="-128"/>
              </a:rPr>
              <a:t>	</a:t>
            </a:r>
            <a:r>
              <a:rPr lang="en-US" altLang="ja-JP" sz="2100" b="1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b="1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b="1" i="1" dirty="0">
                <a:latin typeface="Times New Roman" pitchFamily="18" charset="0"/>
              </a:rPr>
              <a:t>[1,1</a:t>
            </a:r>
            <a:r>
              <a:rPr lang="en-US" altLang="ja-JP" sz="2100" b="1" i="1" dirty="0">
                <a:latin typeface="Times New Roman" pitchFamily="18" charset="0"/>
                <a:ea typeface="ＭＳ Ｐゴシック" charset="-128"/>
              </a:rPr>
              <a:t>]</a:t>
            </a:r>
            <a:r>
              <a:rPr lang="ru-RU" altLang="ja-JP" sz="2100" b="1" i="1" dirty="0">
                <a:latin typeface="Times New Roman" pitchFamily="18" charset="0"/>
              </a:rPr>
              <a:t>=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[1,1](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[0,1]+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[1,1]+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[2,1]+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[3,1])-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[0,0]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[0,1]-</a:t>
            </a:r>
            <a:endParaRPr lang="en-US" altLang="ja-JP" sz="2100" i="1" dirty="0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>
              <a:defRPr/>
            </a:pPr>
            <a:r>
              <a:rPr lang="en-US" altLang="ja-JP" sz="2100" i="1" dirty="0">
                <a:latin typeface="Times New Roman" pitchFamily="18" charset="0"/>
                <a:ea typeface="ＭＳ Ｐゴシック" charset="-128"/>
              </a:rPr>
              <a:t>						</a:t>
            </a:r>
            <a:r>
              <a:rPr lang="ru-RU" altLang="ja-JP" sz="2100" i="1" dirty="0">
                <a:latin typeface="Times New Roman" pitchFamily="18" charset="0"/>
              </a:rPr>
              <a:t>-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[2,2]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[2,1]-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[3,3]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[3,1](</a:t>
            </a:r>
            <a:r>
              <a:rPr lang="en-US" altLang="ja-JP" sz="2100" i="1" dirty="0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sz="2100" i="1" dirty="0">
                <a:latin typeface="Times New Roman" pitchFamily="18" charset="0"/>
              </a:rPr>
              <a:t>), </a:t>
            </a:r>
            <a:endParaRPr lang="en-US" altLang="ja-JP" sz="2100" i="1" dirty="0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>
              <a:defRPr/>
            </a:pPr>
            <a:r>
              <a:rPr lang="en-US" altLang="ja-JP" sz="2100" b="1" i="1" dirty="0">
                <a:latin typeface="Times New Roman" pitchFamily="18" charset="0"/>
                <a:ea typeface="ＭＳ Ｐゴシック" charset="-128"/>
              </a:rPr>
              <a:t>	</a:t>
            </a:r>
            <a:r>
              <a:rPr lang="en-US" altLang="ja-JP" sz="2100" b="1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b="1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b="1" i="1" dirty="0">
                <a:latin typeface="Times New Roman" pitchFamily="18" charset="0"/>
              </a:rPr>
              <a:t>[2,2</a:t>
            </a:r>
            <a:r>
              <a:rPr lang="en-US" altLang="ja-JP" sz="2100" b="1" i="1" dirty="0">
                <a:latin typeface="Times New Roman" pitchFamily="18" charset="0"/>
                <a:ea typeface="ＭＳ Ｐゴシック" charset="-128"/>
              </a:rPr>
              <a:t>]</a:t>
            </a:r>
            <a:r>
              <a:rPr lang="ru-RU" altLang="ja-JP" sz="2100" b="1" i="1" dirty="0">
                <a:latin typeface="Times New Roman" pitchFamily="18" charset="0"/>
              </a:rPr>
              <a:t>=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[2,2](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[0,2]+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[1,2]+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[2,2]+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[3,2])-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[0,0]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[0,2]-</a:t>
            </a:r>
            <a:endParaRPr lang="en-US" altLang="ja-JP" sz="2100" i="1" dirty="0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>
              <a:defRPr/>
            </a:pPr>
            <a:r>
              <a:rPr lang="en-US" altLang="ja-JP" sz="2100" i="1" dirty="0">
                <a:latin typeface="Times New Roman" pitchFamily="18" charset="0"/>
                <a:ea typeface="ＭＳ Ｐゴシック" charset="-128"/>
              </a:rPr>
              <a:t>						</a:t>
            </a:r>
            <a:r>
              <a:rPr lang="ru-RU" altLang="ja-JP" sz="2100" i="1" dirty="0">
                <a:latin typeface="Times New Roman" pitchFamily="18" charset="0"/>
              </a:rPr>
              <a:t>-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[1,1]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[1,2]-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[3,3]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[3,2](</a:t>
            </a:r>
            <a:r>
              <a:rPr lang="en-US" altLang="ja-JP" sz="2100" i="1" dirty="0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sz="2100" i="1" dirty="0">
                <a:latin typeface="Times New Roman" pitchFamily="18" charset="0"/>
              </a:rPr>
              <a:t>), </a:t>
            </a:r>
            <a:endParaRPr lang="en-US" altLang="ja-JP" sz="2100" i="1" dirty="0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>
              <a:defRPr/>
            </a:pPr>
            <a:r>
              <a:rPr lang="en-US" altLang="ja-JP" sz="2100" b="1" i="1" dirty="0">
                <a:latin typeface="Times New Roman" pitchFamily="18" charset="0"/>
                <a:ea typeface="ＭＳ Ｐゴシック" charset="-128"/>
              </a:rPr>
              <a:t>	</a:t>
            </a:r>
            <a:r>
              <a:rPr lang="en-US" altLang="ja-JP" sz="2100" b="1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b="1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b="1" i="1" dirty="0">
                <a:latin typeface="Times New Roman" pitchFamily="18" charset="0"/>
              </a:rPr>
              <a:t>[3,3</a:t>
            </a:r>
            <a:r>
              <a:rPr lang="en-US" altLang="ja-JP" sz="2100" b="1" i="1" dirty="0">
                <a:latin typeface="Times New Roman" pitchFamily="18" charset="0"/>
                <a:ea typeface="ＭＳ Ｐゴシック" charset="-128"/>
              </a:rPr>
              <a:t>]</a:t>
            </a:r>
            <a:r>
              <a:rPr lang="ru-RU" altLang="ja-JP" sz="2100" b="1" i="1" dirty="0">
                <a:latin typeface="Times New Roman" pitchFamily="18" charset="0"/>
              </a:rPr>
              <a:t>=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[3,3](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[0,3]+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[1,3]+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[2,3]+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[3,3])-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[0,0]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[0,3]-</a:t>
            </a:r>
            <a:endParaRPr lang="en-US" altLang="ja-JP" sz="2100" i="1" dirty="0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>
              <a:defRPr/>
            </a:pPr>
            <a:r>
              <a:rPr lang="en-US" altLang="ja-JP" sz="2100" i="1" dirty="0">
                <a:latin typeface="Times New Roman" pitchFamily="18" charset="0"/>
                <a:ea typeface="ＭＳ Ｐゴシック" charset="-128"/>
              </a:rPr>
              <a:t>					</a:t>
            </a:r>
            <a:r>
              <a:rPr lang="ru-RU" altLang="ja-JP" sz="2100" i="1" dirty="0">
                <a:latin typeface="Times New Roman" pitchFamily="18" charset="0"/>
              </a:rPr>
              <a:t>-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[1,1]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[1,3]-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[2,2]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[2,3](</a:t>
            </a:r>
            <a:r>
              <a:rPr lang="en-US" altLang="ja-JP" sz="2100" i="1" dirty="0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sz="2100" i="1" dirty="0">
                <a:latin typeface="Times New Roman" pitchFamily="18" charset="0"/>
              </a:rPr>
              <a:t>).</a:t>
            </a:r>
            <a:r>
              <a:rPr lang="ru-RU" altLang="ja-JP" dirty="0"/>
              <a:t> </a:t>
            </a:r>
            <a:endParaRPr lang="uz-Cyrl-UZ" altLang="ja-JP" sz="2100" i="1" dirty="0">
              <a:latin typeface="Times New Roman" pitchFamily="18" charset="0"/>
            </a:endParaRPr>
          </a:p>
          <a:p>
            <a:pPr indent="266700" algn="just" defTabSz="723900">
              <a:defRPr/>
            </a:pPr>
            <a:r>
              <a:rPr lang="en-US" altLang="ja-JP" sz="2100" i="1" dirty="0" err="1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i≠j</a:t>
            </a:r>
            <a:r>
              <a:rPr lang="en-US" altLang="ja-JP" sz="2100" i="1" dirty="0">
                <a:solidFill>
                  <a:srgbClr val="800000"/>
                </a:solidFill>
                <a:latin typeface="Times New Roman" pitchFamily="18" charset="0"/>
                <a:ea typeface="ＭＳ Ｐゴシック" charset="-128"/>
              </a:rPr>
              <a:t> – </a:t>
            </a:r>
            <a:r>
              <a:rPr lang="uz-Cyrl-UZ" altLang="ja-JP" sz="2100" i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лар учун:</a:t>
            </a:r>
          </a:p>
          <a:p>
            <a:pPr indent="266700" algn="just" defTabSz="723900">
              <a:defRPr/>
            </a:pPr>
            <a:r>
              <a:rPr lang="uz-Cyrl-UZ" altLang="ja-JP" sz="2100" b="1" i="1" dirty="0">
                <a:latin typeface="Times New Roman" pitchFamily="18" charset="0"/>
              </a:rPr>
              <a:t>          </a:t>
            </a:r>
            <a:r>
              <a:rPr lang="en-US" altLang="ja-JP" sz="2100" b="1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b="1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b="1" i="1" dirty="0">
                <a:latin typeface="Times New Roman" pitchFamily="18" charset="0"/>
              </a:rPr>
              <a:t>[0,1]=</a:t>
            </a:r>
            <a:r>
              <a:rPr lang="en-US" altLang="ja-JP" sz="2100" i="1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solidFill>
                  <a:srgbClr val="FF0000"/>
                </a:solidFill>
                <a:latin typeface="Times New Roman" pitchFamily="18" charset="0"/>
              </a:rPr>
              <a:t>[0,1]</a:t>
            </a:r>
            <a:r>
              <a:rPr lang="ru-RU" altLang="ja-JP" sz="2100" b="1" i="1" dirty="0">
                <a:latin typeface="Times New Roman" pitchFamily="18" charset="0"/>
              </a:rPr>
              <a:t>(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[0,1]+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[1,1]+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[2,1]+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[3,1])+(</a:t>
            </a:r>
            <a:r>
              <a:rPr lang="en-US" altLang="ja-JP" sz="2100" i="1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solidFill>
                  <a:srgbClr val="FF0000"/>
                </a:solidFill>
                <a:latin typeface="Times New Roman" pitchFamily="18" charset="0"/>
              </a:rPr>
              <a:t>[0,0]+</a:t>
            </a:r>
            <a:r>
              <a:rPr lang="en-US" altLang="ja-JP" sz="2100" i="1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solidFill>
                  <a:srgbClr val="FF0000"/>
                </a:solidFill>
                <a:latin typeface="Times New Roman" pitchFamily="18" charset="0"/>
              </a:rPr>
              <a:t>[1,0]+</a:t>
            </a:r>
            <a:endParaRPr lang="uz-Cyrl-UZ" altLang="ja-JP" sz="2100" i="1" dirty="0">
              <a:solidFill>
                <a:srgbClr val="FF0000"/>
              </a:solidFill>
              <a:latin typeface="Times New Roman" pitchFamily="18" charset="0"/>
            </a:endParaRPr>
          </a:p>
          <a:p>
            <a:pPr indent="266700" algn="just" defTabSz="723900">
              <a:defRPr/>
            </a:pPr>
            <a:r>
              <a:rPr lang="uz-Cyrl-UZ" altLang="ja-JP" sz="2100" i="1" dirty="0">
                <a:solidFill>
                  <a:srgbClr val="FF0000"/>
                </a:solidFill>
                <a:latin typeface="Times New Roman" pitchFamily="18" charset="0"/>
              </a:rPr>
              <a:t>	      </a:t>
            </a:r>
            <a:r>
              <a:rPr lang="ru-RU" altLang="ja-JP" sz="2100" i="1" dirty="0">
                <a:solidFill>
                  <a:srgbClr val="FF0000"/>
                </a:solidFill>
                <a:latin typeface="Times New Roman" pitchFamily="18" charset="0"/>
              </a:rPr>
              <a:t>+</a:t>
            </a:r>
            <a:r>
              <a:rPr lang="en-US" altLang="ja-JP" sz="2100" i="1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solidFill>
                  <a:srgbClr val="FF0000"/>
                </a:solidFill>
                <a:latin typeface="Times New Roman" pitchFamily="18" charset="0"/>
              </a:rPr>
              <a:t>[2,0]+</a:t>
            </a:r>
            <a:r>
              <a:rPr lang="en-US" altLang="ja-JP" sz="2100" i="1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solidFill>
                  <a:srgbClr val="FF0000"/>
                </a:solidFill>
                <a:latin typeface="Times New Roman" pitchFamily="18" charset="0"/>
              </a:rPr>
              <a:t>[3,0]</a:t>
            </a:r>
            <a:r>
              <a:rPr lang="ru-RU" altLang="ja-JP" sz="2100" b="1" i="1" dirty="0">
                <a:latin typeface="Times New Roman" pitchFamily="18" charset="0"/>
              </a:rPr>
              <a:t>)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[0,1]-</a:t>
            </a:r>
            <a:r>
              <a:rPr lang="en-US" altLang="ja-JP" sz="2100" i="1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solidFill>
                  <a:srgbClr val="FF0000"/>
                </a:solidFill>
                <a:latin typeface="Times New Roman" pitchFamily="18" charset="0"/>
              </a:rPr>
              <a:t>[0,2]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[2,1]-</a:t>
            </a:r>
            <a:r>
              <a:rPr lang="en-US" altLang="ja-JP" sz="2100" i="1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solidFill>
                  <a:srgbClr val="FF0000"/>
                </a:solidFill>
                <a:latin typeface="Times New Roman" pitchFamily="18" charset="0"/>
              </a:rPr>
              <a:t>[0,3]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[3,1] (</a:t>
            </a:r>
            <a:r>
              <a:rPr lang="en-US" altLang="ja-JP" sz="2100" i="1" dirty="0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sz="2100" i="1" dirty="0">
                <a:latin typeface="Times New Roman" pitchFamily="18" charset="0"/>
              </a:rPr>
              <a:t>), </a:t>
            </a:r>
            <a:endParaRPr lang="en-US" altLang="ja-JP" sz="2100" i="1" dirty="0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>
              <a:defRPr/>
            </a:pPr>
            <a:r>
              <a:rPr lang="uz-Cyrl-UZ" altLang="ja-JP" sz="2100" b="1" i="1" dirty="0">
                <a:latin typeface="Times New Roman" pitchFamily="18" charset="0"/>
              </a:rPr>
              <a:t>          </a:t>
            </a:r>
            <a:r>
              <a:rPr lang="en-US" altLang="ja-JP" sz="2100" b="1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b="1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b="1" i="1" dirty="0">
                <a:latin typeface="Times New Roman" pitchFamily="18" charset="0"/>
              </a:rPr>
              <a:t>[0,2]=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[0,2](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[0,2]+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[1,2]+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[2,2]+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[3,2])+(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[0,0]+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[1,0]+ </a:t>
            </a:r>
            <a:r>
              <a:rPr lang="uz-Cyrl-UZ" altLang="ja-JP" sz="2100" i="1" dirty="0">
                <a:latin typeface="Times New Roman" pitchFamily="18" charset="0"/>
              </a:rPr>
              <a:t>          </a:t>
            </a:r>
          </a:p>
          <a:p>
            <a:pPr indent="266700" algn="just" defTabSz="723900">
              <a:defRPr/>
            </a:pPr>
            <a:r>
              <a:rPr lang="uz-Cyrl-UZ" altLang="ja-JP" sz="2100" i="1" dirty="0">
                <a:latin typeface="Times New Roman" pitchFamily="18" charset="0"/>
              </a:rPr>
              <a:t>                    </a:t>
            </a:r>
            <a:r>
              <a:rPr lang="ru-RU" altLang="ja-JP" sz="2100" i="1" dirty="0">
                <a:latin typeface="Times New Roman" pitchFamily="18" charset="0"/>
              </a:rPr>
              <a:t>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[2,0]+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[3,0])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[0,2]-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[0,1]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[1,2]-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[0,3]</a:t>
            </a:r>
            <a:r>
              <a:rPr lang="en-US" altLang="ja-JP" sz="21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1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2100" i="1" dirty="0">
                <a:latin typeface="Times New Roman" pitchFamily="18" charset="0"/>
              </a:rPr>
              <a:t>[3,2]</a:t>
            </a:r>
            <a:r>
              <a:rPr lang="uz-Cyrl-UZ" altLang="ja-JP" sz="2100" i="1" dirty="0">
                <a:latin typeface="Times New Roman" pitchFamily="18" charset="0"/>
              </a:rPr>
              <a:t> </a:t>
            </a:r>
            <a:r>
              <a:rPr lang="ru-RU" altLang="ja-JP" sz="2100" i="1" dirty="0">
                <a:latin typeface="Times New Roman" pitchFamily="18" charset="0"/>
              </a:rPr>
              <a:t>(</a:t>
            </a:r>
            <a:r>
              <a:rPr lang="en-US" altLang="ja-JP" sz="2100" i="1" dirty="0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sz="2100" i="1" dirty="0">
                <a:latin typeface="Times New Roman" pitchFamily="18" charset="0"/>
              </a:rPr>
              <a:t>),</a:t>
            </a:r>
            <a:endParaRPr lang="en-US" altLang="ja-JP" sz="2100" i="1" dirty="0"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0" y="0"/>
            <a:ext cx="9144000" cy="427038"/>
          </a:xfrm>
          <a:prstGeom prst="rect">
            <a:avLst/>
          </a:prstGeom>
          <a:solidFill>
            <a:srgbClr val="FFFF99">
              <a:alpha val="9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Aralash (Holat,</a:t>
            </a:r>
            <a:r>
              <a:rPr lang="uz-Cyrl-UZ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200" b="1" i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s</a:t>
            </a:r>
            <a:r>
              <a:rPr lang="uz-Cyrl-UZ" altLang="ja-JP" sz="2200" b="1" i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)</a:t>
            </a:r>
            <a:r>
              <a:rPr lang="en-US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 </a:t>
            </a:r>
            <a:r>
              <a:rPr lang="uz-Cyrl-UZ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– акслантириши </a:t>
            </a:r>
            <a:endParaRPr lang="ru-RU" sz="22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7257" name="AutoShape 15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42875" y="6200775"/>
            <a:ext cx="611188" cy="503238"/>
          </a:xfrm>
          <a:prstGeom prst="actionButtonHome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122238" y="546100"/>
            <a:ext cx="8842375" cy="5678488"/>
          </a:xfrm>
          <a:prstGeom prst="rect">
            <a:avLst/>
          </a:prstGeom>
          <a:solidFill>
            <a:schemeClr val="bg1">
              <a:alpha val="86000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defTabSz="723900">
              <a:spcAft>
                <a:spcPts val="1800"/>
              </a:spcAft>
              <a:defRPr/>
            </a:pPr>
            <a:r>
              <a:rPr lang="en-US" altLang="ja-JP" sz="4800" b="1" i="1" dirty="0" err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4800" b="1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4800" b="1" i="1" dirty="0">
                <a:latin typeface="Times New Roman" pitchFamily="18" charset="0"/>
              </a:rPr>
              <a:t>[0,0]</a:t>
            </a:r>
            <a:r>
              <a:rPr lang="en-US" altLang="ja-JP" sz="4800" b="1" i="1" dirty="0">
                <a:latin typeface="Times New Roman" pitchFamily="18" charset="0"/>
              </a:rPr>
              <a:t> </a:t>
            </a:r>
            <a:r>
              <a:rPr lang="ru-RU" altLang="ja-JP" sz="4800" b="1" i="1" dirty="0">
                <a:latin typeface="Times New Roman" pitchFamily="18" charset="0"/>
              </a:rPr>
              <a:t>=</a:t>
            </a:r>
            <a:r>
              <a:rPr lang="en-US" altLang="ja-JP" sz="4800" b="1" i="1" dirty="0">
                <a:latin typeface="Times New Roman" pitchFamily="18" charset="0"/>
              </a:rPr>
              <a:t> </a:t>
            </a:r>
          </a:p>
          <a:p>
            <a:pPr indent="266700" algn="just" defTabSz="723900">
              <a:spcAft>
                <a:spcPts val="1800"/>
              </a:spcAft>
              <a:defRPr/>
            </a:pPr>
            <a:r>
              <a:rPr lang="en-US" altLang="ja-JP" sz="4800" b="1" i="1" dirty="0">
                <a:latin typeface="Times New Roman" pitchFamily="18" charset="0"/>
                <a:ea typeface="ＭＳ Ｐゴシック" charset="-128"/>
              </a:rPr>
              <a:t>=</a:t>
            </a:r>
            <a:r>
              <a:rPr lang="en-US" altLang="ja-JP" sz="4800" i="1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4800" i="1" baseline="-25000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4800" i="1" dirty="0">
                <a:solidFill>
                  <a:srgbClr val="FF0000"/>
                </a:solidFill>
                <a:latin typeface="Times New Roman" pitchFamily="18" charset="0"/>
              </a:rPr>
              <a:t>[0,0]</a:t>
            </a:r>
            <a:r>
              <a:rPr lang="ru-RU" altLang="ja-JP" sz="4800" b="1" i="1" dirty="0">
                <a:latin typeface="Times New Roman" pitchFamily="18" charset="0"/>
              </a:rPr>
              <a:t>(</a:t>
            </a:r>
            <a:r>
              <a:rPr lang="en-US" altLang="ja-JP" sz="32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32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3200" i="1" dirty="0">
                <a:latin typeface="Times New Roman" pitchFamily="18" charset="0"/>
              </a:rPr>
              <a:t>[0,0]+</a:t>
            </a:r>
            <a:r>
              <a:rPr lang="en-US" altLang="ja-JP" sz="32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32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3200" i="1" dirty="0">
                <a:latin typeface="Times New Roman" pitchFamily="18" charset="0"/>
              </a:rPr>
              <a:t>[1,0]+</a:t>
            </a:r>
            <a:r>
              <a:rPr lang="en-US" altLang="ja-JP" sz="32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32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3200" i="1" dirty="0">
                <a:latin typeface="Times New Roman" pitchFamily="18" charset="0"/>
              </a:rPr>
              <a:t>[2,0]+</a:t>
            </a:r>
            <a:r>
              <a:rPr lang="en-US" altLang="ja-JP" sz="32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32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3200" i="1" dirty="0">
                <a:latin typeface="Times New Roman" pitchFamily="18" charset="0"/>
              </a:rPr>
              <a:t>[3,0]</a:t>
            </a:r>
            <a:r>
              <a:rPr lang="ru-RU" altLang="ja-JP" sz="4800" b="1" i="1" dirty="0">
                <a:latin typeface="Times New Roman" pitchFamily="18" charset="0"/>
              </a:rPr>
              <a:t>)</a:t>
            </a:r>
            <a:r>
              <a:rPr lang="ru-RU" altLang="ja-JP" sz="4800" i="1" dirty="0">
                <a:latin typeface="Times New Roman" pitchFamily="18" charset="0"/>
              </a:rPr>
              <a:t>-</a:t>
            </a:r>
            <a:endParaRPr lang="en-US" altLang="ja-JP" sz="4800" i="1" dirty="0">
              <a:latin typeface="Times New Roman" pitchFamily="18" charset="0"/>
            </a:endParaRPr>
          </a:p>
          <a:p>
            <a:pPr indent="266700" algn="ctr" defTabSz="723900">
              <a:spcAft>
                <a:spcPts val="1800"/>
              </a:spcAft>
              <a:defRPr/>
            </a:pPr>
            <a:r>
              <a:rPr lang="en-US" altLang="ja-JP" sz="4800" i="1" dirty="0">
                <a:latin typeface="Times New Roman" pitchFamily="18" charset="0"/>
                <a:ea typeface="ＭＳ Ｐゴシック" charset="-128"/>
              </a:rPr>
              <a:t>-</a:t>
            </a:r>
            <a:r>
              <a:rPr lang="en-US" altLang="ja-JP" sz="4800" i="1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4800" i="1" baseline="-25000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4800" i="1" dirty="0">
                <a:solidFill>
                  <a:srgbClr val="FF0000"/>
                </a:solidFill>
                <a:latin typeface="Times New Roman" pitchFamily="18" charset="0"/>
              </a:rPr>
              <a:t>[1,1]</a:t>
            </a:r>
            <a:r>
              <a:rPr lang="en-US" altLang="ja-JP" sz="48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48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4800" i="1" dirty="0">
                <a:latin typeface="Times New Roman" pitchFamily="18" charset="0"/>
              </a:rPr>
              <a:t>[1,0]</a:t>
            </a:r>
            <a:r>
              <a:rPr lang="en-US" altLang="ja-JP" sz="4800" i="1">
                <a:latin typeface="Times New Roman" pitchFamily="18" charset="0"/>
              </a:rPr>
              <a:t>-</a:t>
            </a:r>
            <a:endParaRPr lang="en-US" altLang="ja-JP" sz="4800" i="1" dirty="0">
              <a:latin typeface="Times New Roman" pitchFamily="18" charset="0"/>
            </a:endParaRPr>
          </a:p>
          <a:p>
            <a:pPr indent="266700" algn="ctr" defTabSz="723900">
              <a:spcAft>
                <a:spcPts val="1800"/>
              </a:spcAft>
              <a:defRPr/>
            </a:pPr>
            <a:r>
              <a:rPr lang="ru-RU" altLang="ja-JP" sz="4800" i="1" dirty="0">
                <a:latin typeface="Times New Roman" pitchFamily="18" charset="0"/>
              </a:rPr>
              <a:t>-</a:t>
            </a:r>
            <a:r>
              <a:rPr lang="en-US" altLang="ja-JP" sz="4800" i="1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4800" i="1" baseline="-25000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4800" i="1" dirty="0">
                <a:solidFill>
                  <a:srgbClr val="FF0000"/>
                </a:solidFill>
                <a:latin typeface="Times New Roman" pitchFamily="18" charset="0"/>
              </a:rPr>
              <a:t>[2,2]</a:t>
            </a:r>
            <a:r>
              <a:rPr lang="en-US" altLang="ja-JP" sz="48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48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4800" i="1" dirty="0">
                <a:latin typeface="Times New Roman" pitchFamily="18" charset="0"/>
              </a:rPr>
              <a:t>[2,0]-</a:t>
            </a:r>
            <a:endParaRPr lang="en-US" altLang="ja-JP" sz="4800" i="1" dirty="0">
              <a:latin typeface="Times New Roman" pitchFamily="18" charset="0"/>
            </a:endParaRPr>
          </a:p>
          <a:p>
            <a:pPr indent="266700" algn="ctr" defTabSz="723900">
              <a:spcAft>
                <a:spcPts val="1800"/>
              </a:spcAft>
              <a:defRPr/>
            </a:pPr>
            <a:r>
              <a:rPr lang="en-US" altLang="ja-JP" sz="4800" i="1" dirty="0">
                <a:latin typeface="Times New Roman" pitchFamily="18" charset="0"/>
                <a:ea typeface="ＭＳ Ｐゴシック" charset="-128"/>
              </a:rPr>
              <a:t>-</a:t>
            </a:r>
            <a:r>
              <a:rPr lang="en-US" altLang="ja-JP" sz="4800" i="1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sz="4800" i="1" baseline="-25000" dirty="0" err="1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4800" i="1" dirty="0">
                <a:solidFill>
                  <a:srgbClr val="FF0000"/>
                </a:solidFill>
                <a:latin typeface="Times New Roman" pitchFamily="18" charset="0"/>
              </a:rPr>
              <a:t>[3,3]</a:t>
            </a:r>
            <a:r>
              <a:rPr lang="en-US" altLang="ja-JP" sz="4800" i="1" dirty="0" err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4800" i="1" baseline="-25000" dirty="0" err="1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sz="4800" i="1" dirty="0">
                <a:latin typeface="Times New Roman" pitchFamily="18" charset="0"/>
              </a:rPr>
              <a:t>[3,0]</a:t>
            </a:r>
            <a:endParaRPr lang="en-US" altLang="ja-JP" sz="4800" i="1" dirty="0">
              <a:latin typeface="Times New Roman" pitchFamily="18" charset="0"/>
            </a:endParaRPr>
          </a:p>
          <a:p>
            <a:pPr indent="266700" algn="r" defTabSz="723900">
              <a:defRPr/>
            </a:pPr>
            <a:r>
              <a:rPr lang="ru-RU" altLang="ja-JP" sz="4800" i="1" dirty="0">
                <a:latin typeface="Times New Roman" pitchFamily="18" charset="0"/>
              </a:rPr>
              <a:t>(</a:t>
            </a:r>
            <a:r>
              <a:rPr lang="en-US" altLang="ja-JP" sz="4800" i="1" dirty="0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sz="4800" i="1" dirty="0">
                <a:latin typeface="Times New Roman" pitchFamily="18" charset="0"/>
              </a:rPr>
              <a:t>), </a:t>
            </a:r>
            <a:endParaRPr lang="en-US" altLang="ja-JP" sz="4800" i="1" dirty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179388" y="153988"/>
            <a:ext cx="8842375" cy="6438900"/>
          </a:xfrm>
          <a:prstGeom prst="rect">
            <a:avLst/>
          </a:prstGeom>
          <a:solidFill>
            <a:schemeClr val="bg1">
              <a:alpha val="85881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266700" algn="just" defTabSz="723900"/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b="1" i="1">
                <a:latin typeface="Times New Roman" pitchFamily="18" charset="0"/>
              </a:rPr>
              <a:t>[0,3]=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[0,3](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[3,3])+(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[0,0]+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[1,0]+</a:t>
            </a:r>
            <a:endParaRPr lang="uz-Cyrl-UZ" altLang="ja-JP" i="1">
              <a:latin typeface="Times New Roman" pitchFamily="18" charset="0"/>
            </a:endParaRPr>
          </a:p>
          <a:p>
            <a:pPr indent="266700" algn="just" defTabSz="723900"/>
            <a:r>
              <a:rPr lang="uz-Cyrl-UZ" altLang="ja-JP" i="1">
                <a:latin typeface="Times New Roman" pitchFamily="18" charset="0"/>
              </a:rPr>
              <a:t>		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	</a:t>
            </a:r>
            <a:r>
              <a:rPr lang="ru-RU" altLang="ja-JP" i="1">
                <a:latin typeface="Times New Roman" pitchFamily="18" charset="0"/>
              </a:rPr>
              <a:t>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[2,0]+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[3,0])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[0,3]-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[0,1]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[1,3]-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[0,2]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[2,3] 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i="1">
                <a:latin typeface="Times New Roman" pitchFamily="18" charset="0"/>
              </a:rPr>
              <a:t>),</a:t>
            </a:r>
            <a:endParaRPr lang="en-US" altLang="ja-JP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endParaRPr lang="en-US" altLang="ja-JP" sz="600" b="1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b="1" i="1">
                <a:latin typeface="Times New Roman" pitchFamily="18" charset="0"/>
              </a:rPr>
              <a:t>[1,0]=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[1,0](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[0,0]+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[1,0]+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[2,0]+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[3,0])+(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[0,1]+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[1,1]+ </a:t>
            </a:r>
            <a:r>
              <a:rPr lang="uz-Cyrl-UZ" altLang="ja-JP" i="1">
                <a:latin typeface="Times New Roman" pitchFamily="18" charset="0"/>
              </a:rPr>
              <a:t>			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			</a:t>
            </a:r>
            <a:r>
              <a:rPr lang="ru-RU" altLang="ja-JP" i="1">
                <a:latin typeface="Times New Roman" pitchFamily="18" charset="0"/>
              </a:rPr>
              <a:t>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[2,1]+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[3,1])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[1,0]-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[1,2]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[2,0]-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[1,3]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[3,0] 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i="1">
                <a:latin typeface="Times New Roman" pitchFamily="18" charset="0"/>
              </a:rPr>
              <a:t>), </a:t>
            </a:r>
            <a:endParaRPr lang="en-US" altLang="ja-JP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endParaRPr lang="en-US" altLang="ja-JP" sz="600" b="1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b="1" i="1">
                <a:latin typeface="Times New Roman" pitchFamily="18" charset="0"/>
              </a:rPr>
              <a:t>[1,2]=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[1,2](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[0,2]+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[1,2]+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[2,2]+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[3,2])+(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[0,1]+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[1,1]+</a:t>
            </a:r>
            <a:endParaRPr lang="uz-Cyrl-UZ" altLang="ja-JP" i="1">
              <a:latin typeface="Times New Roman" pitchFamily="18" charset="0"/>
            </a:endParaRPr>
          </a:p>
          <a:p>
            <a:pPr indent="266700" algn="just" defTabSz="723900"/>
            <a:r>
              <a:rPr lang="uz-Cyrl-UZ" altLang="ja-JP" i="1">
                <a:latin typeface="Times New Roman" pitchFamily="18" charset="0"/>
              </a:rPr>
              <a:t>		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	</a:t>
            </a:r>
            <a:r>
              <a:rPr lang="ru-RU" altLang="ja-JP" i="1">
                <a:latin typeface="Times New Roman" pitchFamily="18" charset="0"/>
              </a:rPr>
              <a:t>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[2,1]+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[3,1])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[1,2]-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[1,0]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[0,2]-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[1,3]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[3,2] 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i="1">
                <a:latin typeface="Times New Roman" pitchFamily="18" charset="0"/>
              </a:rPr>
              <a:t>), </a:t>
            </a:r>
            <a:endParaRPr lang="en-US" altLang="ja-JP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endParaRPr lang="en-US" altLang="ja-JP" sz="600" b="1" i="1">
              <a:ea typeface="ＭＳ Ｐゴシック" charset="-128"/>
            </a:endParaRPr>
          </a:p>
          <a:p>
            <a:pPr indent="266700" algn="just" defTabSz="723900"/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b="1" i="1">
                <a:latin typeface="Times New Roman" pitchFamily="18" charset="0"/>
              </a:rPr>
              <a:t>[1,3]=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[1,3](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[3,3])+(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[0,1]+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[1,1]+</a:t>
            </a:r>
            <a:endParaRPr lang="uz-Cyrl-UZ" altLang="ja-JP" i="1">
              <a:latin typeface="Times New Roman" pitchFamily="18" charset="0"/>
            </a:endParaRPr>
          </a:p>
          <a:p>
            <a:pPr indent="266700" algn="just" defTabSz="723900"/>
            <a:r>
              <a:rPr lang="uz-Cyrl-UZ" altLang="ja-JP" i="1">
                <a:latin typeface="Times New Roman" pitchFamily="18" charset="0"/>
              </a:rPr>
              <a:t>		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	</a:t>
            </a:r>
            <a:r>
              <a:rPr lang="ru-RU" altLang="ja-JP" i="1">
                <a:latin typeface="Times New Roman" pitchFamily="18" charset="0"/>
              </a:rPr>
              <a:t>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[2,1]+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[3,1])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[1,3]-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[1,0]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[0,3]-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[1,2]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[2,3] 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i="1">
                <a:latin typeface="Times New Roman" pitchFamily="18" charset="0"/>
              </a:rPr>
              <a:t>), </a:t>
            </a:r>
            <a:endParaRPr lang="en-US" altLang="ja-JP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endParaRPr lang="en-US" altLang="ja-JP" sz="600" b="1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b="1" i="1">
                <a:latin typeface="Times New Roman" pitchFamily="18" charset="0"/>
              </a:rPr>
              <a:t>[2,0]=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[2,0](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[0,0]+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[1,0]+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[2,0]+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[3,0])+(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[0,2]+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[1,2]+</a:t>
            </a:r>
            <a:endParaRPr lang="en-US" altLang="ja-JP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r>
              <a:rPr lang="en-US" altLang="ja-JP" i="1">
                <a:latin typeface="Times New Roman" pitchFamily="18" charset="0"/>
                <a:ea typeface="ＭＳ Ｐゴシック" charset="-128"/>
              </a:rPr>
              <a:t>			</a:t>
            </a:r>
            <a:r>
              <a:rPr lang="ru-RU" altLang="ja-JP" i="1">
                <a:latin typeface="Times New Roman" pitchFamily="18" charset="0"/>
              </a:rPr>
              <a:t>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[2,2]+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[3,2])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[2,0]-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[2,1]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[1,0]-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[2,3]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[3,0] 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i="1">
                <a:latin typeface="Times New Roman" pitchFamily="18" charset="0"/>
              </a:rPr>
              <a:t>)),</a:t>
            </a:r>
            <a:endParaRPr lang="en-US" altLang="ja-JP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endParaRPr lang="en-US" altLang="ja-JP" sz="600" b="1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b="1" i="1">
                <a:latin typeface="Times New Roman" pitchFamily="18" charset="0"/>
              </a:rPr>
              <a:t>[2,1]=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[2,1](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[0,1]+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[1,1]+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[2,1]+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[3,1])+(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[0,2]+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[1,2]+</a:t>
            </a:r>
            <a:endParaRPr lang="en-US" altLang="ja-JP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r>
              <a:rPr lang="en-US" altLang="ja-JP" i="1">
                <a:latin typeface="Times New Roman" pitchFamily="18" charset="0"/>
                <a:ea typeface="ＭＳ Ｐゴシック" charset="-128"/>
              </a:rPr>
              <a:t>			</a:t>
            </a:r>
            <a:r>
              <a:rPr lang="ru-RU" altLang="ja-JP" i="1">
                <a:latin typeface="Times New Roman" pitchFamily="18" charset="0"/>
              </a:rPr>
              <a:t>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[2,2]+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[3,2])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[2,1]-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[2,0]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[0,1]-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[2,3]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[3,1] 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i="1">
                <a:latin typeface="Times New Roman" pitchFamily="18" charset="0"/>
              </a:rPr>
              <a:t>),</a:t>
            </a:r>
            <a:endParaRPr lang="en-US" altLang="ja-JP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endParaRPr lang="en-US" altLang="ja-JP" sz="600" b="1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b="1" i="1">
                <a:latin typeface="Times New Roman" pitchFamily="18" charset="0"/>
              </a:rPr>
              <a:t>[2,3]=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[2,3](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[3,3])+(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[0,2]+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[1,2]+</a:t>
            </a:r>
            <a:endParaRPr lang="en-US" altLang="ja-JP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r>
              <a:rPr lang="en-US" altLang="ja-JP" i="1">
                <a:latin typeface="Times New Roman" pitchFamily="18" charset="0"/>
                <a:ea typeface="ＭＳ Ｐゴシック" charset="-128"/>
              </a:rPr>
              <a:t>			</a:t>
            </a:r>
            <a:r>
              <a:rPr lang="ru-RU" altLang="ja-JP" i="1">
                <a:latin typeface="Times New Roman" pitchFamily="18" charset="0"/>
              </a:rPr>
              <a:t>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[2,2]+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[3,2])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[2,3]-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[2,0]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[0,3]-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[2,1]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 [1,3] 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i="1">
                <a:latin typeface="Times New Roman" pitchFamily="18" charset="0"/>
              </a:rPr>
              <a:t>),</a:t>
            </a:r>
            <a:endParaRPr lang="en-US" altLang="ja-JP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endParaRPr lang="en-US" altLang="ja-JP" sz="600" b="1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b="1" i="1">
                <a:latin typeface="Times New Roman" pitchFamily="18" charset="0"/>
              </a:rPr>
              <a:t>[3,0]=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[3,0](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[0,0]+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[1,0]+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[2,0]+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[3,0])+(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[1,3]+</a:t>
            </a:r>
            <a:endParaRPr lang="en-US" altLang="ja-JP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r>
              <a:rPr lang="en-US" altLang="ja-JP" i="1">
                <a:latin typeface="Times New Roman" pitchFamily="18" charset="0"/>
                <a:ea typeface="ＭＳ Ｐゴシック" charset="-128"/>
              </a:rPr>
              <a:t>			</a:t>
            </a:r>
            <a:r>
              <a:rPr lang="ru-RU" altLang="ja-JP" i="1">
                <a:latin typeface="Times New Roman" pitchFamily="18" charset="0"/>
              </a:rPr>
              <a:t>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[3,3])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[3,0]-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[3,1]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[1,0]-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[3,2]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[2,0]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i="1">
                <a:latin typeface="Times New Roman" pitchFamily="18" charset="0"/>
              </a:rPr>
              <a:t>), </a:t>
            </a:r>
            <a:endParaRPr lang="en-US" altLang="ja-JP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endParaRPr lang="en-US" altLang="ja-JP" sz="600" b="1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b="1" i="1">
                <a:latin typeface="Times New Roman" pitchFamily="18" charset="0"/>
              </a:rPr>
              <a:t>[3,1]=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[3,1](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[0,1]+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[1,1]+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[2,1]+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[3,1])+(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[1,3]+</a:t>
            </a:r>
            <a:endParaRPr lang="en-US" altLang="ja-JP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r>
              <a:rPr lang="en-US" altLang="ja-JP" i="1">
                <a:latin typeface="Times New Roman" pitchFamily="18" charset="0"/>
                <a:ea typeface="ＭＳ Ｐゴシック" charset="-128"/>
              </a:rPr>
              <a:t>			</a:t>
            </a:r>
            <a:r>
              <a:rPr lang="ru-RU" altLang="ja-JP" i="1">
                <a:latin typeface="Times New Roman" pitchFamily="18" charset="0"/>
              </a:rPr>
              <a:t>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[3,3])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[3,1]-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[3,0]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[0,1]-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[3,2]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[2,1] 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i="1">
                <a:latin typeface="Times New Roman" pitchFamily="18" charset="0"/>
              </a:rPr>
              <a:t>), </a:t>
            </a:r>
            <a:endParaRPr lang="en-US" altLang="ja-JP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endParaRPr lang="en-US" altLang="ja-JP" sz="600" b="1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b="1" i="1">
                <a:latin typeface="Times New Roman" pitchFamily="18" charset="0"/>
              </a:rPr>
              <a:t>[3,2]=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[3,2](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[0,2]+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[1,2]+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[2,2]+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[3,2])+(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[1,3]+</a:t>
            </a:r>
            <a:endParaRPr lang="en-US" altLang="ja-JP" i="1">
              <a:latin typeface="Times New Roman" pitchFamily="18" charset="0"/>
              <a:ea typeface="ＭＳ Ｐゴシック" charset="-128"/>
            </a:endParaRPr>
          </a:p>
          <a:p>
            <a:pPr indent="266700" algn="just" defTabSz="723900"/>
            <a:r>
              <a:rPr lang="en-US" altLang="ja-JP" i="1">
                <a:latin typeface="Times New Roman" pitchFamily="18" charset="0"/>
                <a:ea typeface="ＭＳ Ｐゴシック" charset="-128"/>
              </a:rPr>
              <a:t>			</a:t>
            </a:r>
            <a:r>
              <a:rPr lang="ru-RU" altLang="ja-JP" i="1">
                <a:latin typeface="Times New Roman" pitchFamily="18" charset="0"/>
              </a:rPr>
              <a:t>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[2,3]+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[3,3])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[3,2]-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[3,0]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[0,2]-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h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[3,1]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i="1">
                <a:latin typeface="Times New Roman" pitchFamily="18" charset="0"/>
              </a:rPr>
              <a:t>[1,2] 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i="1">
                <a:latin typeface="Times New Roman" pitchFamily="18" charset="0"/>
              </a:rPr>
              <a:t>).</a:t>
            </a:r>
            <a:r>
              <a:rPr lang="ru-RU" altLang="ja-JP">
                <a:latin typeface="Times New Roman" pitchFamily="18" charset="0"/>
              </a:rPr>
              <a:t> </a:t>
            </a:r>
            <a:endParaRPr lang="en-US" altLang="ja-JP"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48132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67738" y="188913"/>
            <a:ext cx="396875" cy="322262"/>
          </a:xfrm>
          <a:prstGeom prst="actionButtonHome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93675" y="584200"/>
            <a:ext cx="8842375" cy="2587625"/>
          </a:xfrm>
          <a:prstGeom prst="rect">
            <a:avLst/>
          </a:prstGeom>
          <a:solidFill>
            <a:schemeClr val="bg1">
              <a:alpha val="85881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266700" algn="just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None/>
            </a:pPr>
            <a:r>
              <a:rPr lang="uz-Cyrl-UZ" altLang="ja-JP" sz="2100" b="1" u="sng">
                <a:solidFill>
                  <a:schemeClr val="accent2"/>
                </a:solidFill>
                <a:latin typeface="Times New Roman" pitchFamily="18" charset="0"/>
              </a:rPr>
              <a:t>Акслантириш қуйидаги амалларни бажаришдан иборат</a:t>
            </a:r>
            <a:r>
              <a:rPr lang="uz-Cyrl-UZ" altLang="ja-JP" sz="2100" b="1">
                <a:solidFill>
                  <a:schemeClr val="accent2"/>
                </a:solidFill>
                <a:latin typeface="Times New Roman" pitchFamily="18" charset="0"/>
              </a:rPr>
              <a:t>:</a:t>
            </a:r>
          </a:p>
          <a:p>
            <a:pPr indent="266700" algn="just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100" i="1">
                <a:latin typeface="Times New Roman" pitchFamily="18" charset="0"/>
              </a:rPr>
              <a:t>Агар </a:t>
            </a:r>
            <a:r>
              <a:rPr lang="uz-Cyrl-UZ" altLang="ja-JP" sz="2100" b="1" i="1">
                <a:latin typeface="Times New Roman" pitchFamily="18" charset="0"/>
              </a:rPr>
              <a:t>m=sh</a:t>
            </a:r>
            <a:r>
              <a:rPr lang="uz-Cyrl-UZ" altLang="ja-JP" sz="2100" i="1">
                <a:latin typeface="Times New Roman" pitchFamily="18" charset="0"/>
              </a:rPr>
              <a:t> бўлса, </a:t>
            </a:r>
            <a:r>
              <a:rPr lang="uz-Cyrl-UZ" altLang="ja-JP" sz="2100" b="1" i="1">
                <a:latin typeface="Times New Roman" pitchFamily="18" charset="0"/>
              </a:rPr>
              <a:t>Holat</a:t>
            </a:r>
            <a:r>
              <a:rPr lang="uz-Cyrl-UZ" altLang="ja-JP" sz="2100" i="1">
                <a:latin typeface="Times New Roman" pitchFamily="18" charset="0"/>
              </a:rPr>
              <a:t> массивининг </a:t>
            </a:r>
            <a:r>
              <a:rPr lang="uz-Cyrl-UZ" altLang="ja-JP" sz="2100" b="1" i="1">
                <a:latin typeface="Times New Roman" pitchFamily="18" charset="0"/>
              </a:rPr>
              <a:t>j</a:t>
            </a:r>
            <a:r>
              <a:rPr lang="uz-Cyrl-UZ" altLang="ja-JP" sz="2100" i="1">
                <a:latin typeface="Times New Roman" pitchFamily="18" charset="0"/>
              </a:rPr>
              <a:t>-устуни аввало, пастга </a:t>
            </a:r>
            <a:r>
              <a:rPr lang="uz-Cyrl-UZ" altLang="ja-JP" sz="2100" b="1" i="1">
                <a:latin typeface="Times New Roman" pitchFamily="18" charset="0"/>
              </a:rPr>
              <a:t>(j+1)(mod8)</a:t>
            </a:r>
            <a:r>
              <a:rPr lang="uz-Cyrl-UZ" altLang="ja-JP" sz="2100" i="1">
                <a:latin typeface="Times New Roman" pitchFamily="18" charset="0"/>
              </a:rPr>
              <a:t> байтга даврий сурилсин, сўнгра ҳосил бўлган массивнинг </a:t>
            </a:r>
            <a:r>
              <a:rPr lang="uz-Cyrl-UZ" altLang="ja-JP" sz="2100" b="1" i="1">
                <a:latin typeface="Times New Roman" pitchFamily="18" charset="0"/>
              </a:rPr>
              <a:t>i</a:t>
            </a:r>
            <a:r>
              <a:rPr lang="uz-Cyrl-UZ" altLang="ja-JP" sz="2100" i="1">
                <a:latin typeface="Times New Roman" pitchFamily="18" charset="0"/>
              </a:rPr>
              <a:t>-сатри ўнгга </a:t>
            </a:r>
            <a:r>
              <a:rPr lang="uz-Cyrl-UZ" altLang="ja-JP" sz="2100" b="1" i="1">
                <a:latin typeface="Times New Roman" pitchFamily="18" charset="0"/>
              </a:rPr>
              <a:t>(i+1)(mod 4)</a:t>
            </a:r>
            <a:r>
              <a:rPr lang="uz-Cyrl-UZ" altLang="ja-JP" sz="2100" i="1">
                <a:latin typeface="Times New Roman" pitchFamily="18" charset="0"/>
              </a:rPr>
              <a:t> байтга даврий сурилсин, </a:t>
            </a:r>
            <a:endParaRPr lang="en-US" altLang="ja-JP" sz="2100" i="1">
              <a:latin typeface="Times New Roman" pitchFamily="18" charset="0"/>
              <a:ea typeface="ＭＳ Ｐゴシック" charset="-128"/>
            </a:endParaRPr>
          </a:p>
          <a:p>
            <a:pPr indent="266700" algn="just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Char char="Ш"/>
            </a:pPr>
            <a:r>
              <a:rPr lang="ru-RU" altLang="ja-JP" sz="2100" i="1">
                <a:latin typeface="Times New Roman" pitchFamily="18" charset="0"/>
              </a:rPr>
              <a:t>Агар </a:t>
            </a:r>
            <a:r>
              <a:rPr lang="uz-Cyrl-UZ" altLang="ja-JP" sz="2100" b="1" i="1">
                <a:latin typeface="Times New Roman" pitchFamily="18" charset="0"/>
              </a:rPr>
              <a:t>m=dsh</a:t>
            </a:r>
            <a:r>
              <a:rPr lang="uz-Cyrl-UZ" altLang="ja-JP" sz="2100" i="1">
                <a:latin typeface="Times New Roman" pitchFamily="18" charset="0"/>
              </a:rPr>
              <a:t> бўлса, </a:t>
            </a:r>
            <a:r>
              <a:rPr lang="uz-Cyrl-UZ" altLang="ja-JP" sz="2100" b="1" i="1">
                <a:latin typeface="Times New Roman" pitchFamily="18" charset="0"/>
              </a:rPr>
              <a:t>Holat</a:t>
            </a:r>
            <a:r>
              <a:rPr lang="uz-Cyrl-UZ" altLang="ja-JP" sz="2100" i="1">
                <a:latin typeface="Times New Roman" pitchFamily="18" charset="0"/>
              </a:rPr>
              <a:t> массивининг </a:t>
            </a:r>
            <a:r>
              <a:rPr lang="uz-Cyrl-UZ" altLang="ja-JP" sz="2100" b="1" i="1">
                <a:latin typeface="Times New Roman" pitchFamily="18" charset="0"/>
              </a:rPr>
              <a:t>i</a:t>
            </a:r>
            <a:r>
              <a:rPr lang="uz-Cyrl-UZ" altLang="ja-JP" sz="2100" i="1">
                <a:latin typeface="Times New Roman" pitchFamily="18" charset="0"/>
              </a:rPr>
              <a:t>-сатри аввало, чапга </a:t>
            </a:r>
            <a:r>
              <a:rPr lang="uz-Cyrl-UZ" altLang="ja-JP" sz="2100" b="1" i="1">
                <a:latin typeface="Times New Roman" pitchFamily="18" charset="0"/>
              </a:rPr>
              <a:t>(i+1)(mod4)</a:t>
            </a:r>
            <a:r>
              <a:rPr lang="uz-Cyrl-UZ" altLang="ja-JP" sz="2100" i="1">
                <a:latin typeface="Times New Roman" pitchFamily="18" charset="0"/>
              </a:rPr>
              <a:t> байтга даврий сурилсин, сўнгра ҳосил бўлган массивнинг </a:t>
            </a:r>
            <a:r>
              <a:rPr lang="uz-Cyrl-UZ" altLang="ja-JP" sz="2100" b="1" i="1">
                <a:latin typeface="Times New Roman" pitchFamily="18" charset="0"/>
              </a:rPr>
              <a:t>j</a:t>
            </a:r>
            <a:r>
              <a:rPr lang="uz-Cyrl-UZ" altLang="ja-JP" sz="2100" i="1">
                <a:latin typeface="Times New Roman" pitchFamily="18" charset="0"/>
              </a:rPr>
              <a:t>-устуни юқорига </a:t>
            </a:r>
            <a:r>
              <a:rPr lang="uz-Cyrl-UZ" altLang="ja-JP" sz="2100" b="1" i="1">
                <a:latin typeface="Times New Roman" pitchFamily="18" charset="0"/>
              </a:rPr>
              <a:t>(j+1)(mod 8)</a:t>
            </a:r>
            <a:r>
              <a:rPr lang="uz-Cyrl-UZ" altLang="ja-JP" sz="2100" i="1">
                <a:latin typeface="Times New Roman" pitchFamily="18" charset="0"/>
              </a:rPr>
              <a:t> байтга даврий сурилсин. </a:t>
            </a:r>
            <a:r>
              <a:rPr lang="en-US" altLang="ja-JP" sz="2100" i="1">
                <a:latin typeface="Times New Roman" pitchFamily="18" charset="0"/>
                <a:ea typeface="ＭＳ Ｐゴシック" charset="-128"/>
              </a:rPr>
              <a:t>(</a:t>
            </a:r>
            <a:r>
              <a:rPr lang="ru-RU" altLang="ja-JP" i="1">
                <a:latin typeface="Times New Roman" pitchFamily="18" charset="0"/>
              </a:rPr>
              <a:t>Бу ерда 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0≤i&lt;8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, 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0≤j&lt;4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)</a:t>
            </a:r>
            <a:endParaRPr lang="uz-Cyrl-UZ" altLang="uz-Cyrl-UZ" i="1">
              <a:latin typeface="Times New Roman" pitchFamily="18" charset="0"/>
            </a:endParaRP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0" y="0"/>
            <a:ext cx="9144000" cy="427038"/>
          </a:xfrm>
          <a:prstGeom prst="rect">
            <a:avLst/>
          </a:prstGeom>
          <a:solidFill>
            <a:srgbClr val="00FF00">
              <a:alpha val="9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Sur</a:t>
            </a:r>
            <a:r>
              <a:rPr lang="uz-Cyrl-UZ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(Holat )</a:t>
            </a:r>
            <a:r>
              <a:rPr lang="en-US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 </a:t>
            </a:r>
            <a:r>
              <a:rPr lang="uz-Cyrl-UZ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– акслантириши </a:t>
            </a:r>
            <a:endParaRPr lang="ru-RU" sz="22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graphicFrame>
        <p:nvGraphicFramePr>
          <p:cNvPr id="49703" name="Group 551"/>
          <p:cNvGraphicFramePr>
            <a:graphicFrameLocks noGrp="1"/>
          </p:cNvGraphicFramePr>
          <p:nvPr/>
        </p:nvGraphicFramePr>
        <p:xfrm>
          <a:off x="573088" y="3398838"/>
          <a:ext cx="7773987" cy="2736850"/>
        </p:xfrm>
        <a:graphic>
          <a:graphicData uri="http://schemas.openxmlformats.org/drawingml/2006/table">
            <a:tbl>
              <a:tblPr/>
              <a:tblGrid>
                <a:gridCol w="538162"/>
                <a:gridCol w="623888"/>
                <a:gridCol w="595312"/>
                <a:gridCol w="565150"/>
                <a:gridCol w="358775"/>
                <a:gridCol w="538163"/>
                <a:gridCol w="623887"/>
                <a:gridCol w="595313"/>
                <a:gridCol w="565150"/>
                <a:gridCol w="360362"/>
                <a:gridCol w="538163"/>
                <a:gridCol w="623887"/>
                <a:gridCol w="623888"/>
                <a:gridCol w="623887"/>
              </a:tblGrid>
              <a:tr h="30695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sym typeface="Wingdings" pitchFamily="2" charset="2"/>
                        </a:rPr>
                        <a:t></a:t>
                      </a:r>
                      <a:endParaRPr kumimoji="0" lang="en-US" altLang="ja-JP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</a:t>
                      </a:r>
                      <a:r>
                        <a:rPr kumimoji="0" lang="uz-Cyrl-UZ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7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</a:t>
                      </a:r>
                      <a:r>
                        <a:rPr kumimoji="0" lang="uz-Cyrl-UZ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6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</a:t>
                      </a:r>
                      <a:r>
                        <a:rPr kumimoji="0" lang="uz-Cyrl-UZ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5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sym typeface="Wingdings" pitchFamily="2" charset="2"/>
                        </a:rPr>
                        <a:t>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h[4,3]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</a:t>
                      </a:r>
                      <a:r>
                        <a:rPr kumimoji="0" lang="uz-Cyrl-UZ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7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</a:t>
                      </a:r>
                      <a:r>
                        <a:rPr kumimoji="0" lang="uz-Cyrl-UZ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6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</a:t>
                      </a:r>
                      <a:r>
                        <a:rPr kumimoji="0" lang="uz-Cyrl-UZ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5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0695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</a:t>
                      </a:r>
                      <a:r>
                        <a:rPr kumimoji="0" lang="uz-Cyrl-UZ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7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</a:t>
                      </a:r>
                      <a:r>
                        <a:rPr kumimoji="0" lang="uz-Cyrl-UZ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6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</a:t>
                      </a:r>
                      <a:r>
                        <a:rPr kumimoji="0" lang="uz-Cyrl-UZ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6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</a:t>
                      </a:r>
                      <a:r>
                        <a:rPr kumimoji="0" lang="uz-Cyrl-UZ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7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0695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</a:t>
                      </a:r>
                      <a:r>
                        <a:rPr kumimoji="0" lang="uz-Cyrl-UZ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7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</a:t>
                      </a:r>
                      <a:r>
                        <a:rPr kumimoji="0" lang="uz-Cyrl-UZ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7</a:t>
                      </a: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ＭＳ Ｐゴシック" charset="-128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9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9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h[0,3]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9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h[1,3]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9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h[2,3]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h[5,0]</a:t>
                      </a: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92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h[7,3]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h[6,0]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h[5,1]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h[4,2]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charset="-128"/>
                          <a:cs typeface="Times New Roman" pitchFamily="18" charset="0"/>
                        </a:rPr>
                        <a:t>h[3,3]</a:t>
                      </a:r>
                      <a:endParaRPr kumimoji="0" lang="en-US" altLang="ja-JP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charset="-128"/>
                        <a:cs typeface="Times New Roman" pitchFamily="18" charset="0"/>
                      </a:endParaRPr>
                    </a:p>
                  </a:txBody>
                  <a:tcPr marL="54000" marR="54000" marT="46797" marB="467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673" name="Rectangle 153"/>
          <p:cNvSpPr>
            <a:spLocks noChangeArrowheads="1"/>
          </p:cNvSpPr>
          <p:nvPr/>
        </p:nvSpPr>
        <p:spPr bwMode="auto">
          <a:xfrm>
            <a:off x="142875" y="6338888"/>
            <a:ext cx="8842375" cy="438150"/>
          </a:xfrm>
          <a:prstGeom prst="rect">
            <a:avLst/>
          </a:prstGeom>
          <a:solidFill>
            <a:schemeClr val="bg1">
              <a:alpha val="8588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indent="266700" algn="ctr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None/>
            </a:pPr>
            <a:r>
              <a:rPr lang="uz-Cyrl-UZ" altLang="ja-JP" sz="2100">
                <a:latin typeface="Times New Roman" pitchFamily="18" charset="0"/>
              </a:rPr>
              <a:t>Шифрлаш (</a:t>
            </a:r>
            <a:r>
              <a:rPr lang="uz-Cyrl-UZ" altLang="ja-JP" sz="2100" b="1">
                <a:latin typeface="Times New Roman" pitchFamily="18" charset="0"/>
              </a:rPr>
              <a:t>m=sh)</a:t>
            </a:r>
            <a:r>
              <a:rPr lang="uz-Cyrl-UZ" altLang="ja-JP" sz="2100">
                <a:latin typeface="Times New Roman" pitchFamily="18" charset="0"/>
              </a:rPr>
              <a:t> жараёнидаги суриш амали</a:t>
            </a:r>
            <a:endParaRPr lang="uz-Cyrl-UZ" altLang="uz-Cyrl-UZ" sz="2100">
              <a:latin typeface="Times New Roman" pitchFamily="18" charset="0"/>
            </a:endParaRPr>
          </a:p>
        </p:txBody>
      </p:sp>
      <p:sp>
        <p:nvSpPr>
          <p:cNvPr id="49704" name="AutoShape 55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42875" y="6200775"/>
            <a:ext cx="611188" cy="503238"/>
          </a:xfrm>
          <a:prstGeom prst="actionButtonHome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65100" y="631825"/>
            <a:ext cx="8842375" cy="5195888"/>
          </a:xfrm>
          <a:prstGeom prst="rect">
            <a:avLst/>
          </a:prstGeom>
          <a:solidFill>
            <a:schemeClr val="bg1">
              <a:alpha val="85881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266700" algn="just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None/>
            </a:pPr>
            <a:r>
              <a:rPr lang="uz-Cyrl-UZ" altLang="ja-JP" sz="2400" b="1" u="sng">
                <a:solidFill>
                  <a:schemeClr val="accent2"/>
                </a:solidFill>
                <a:latin typeface="Times New Roman" pitchFamily="18" charset="0"/>
              </a:rPr>
              <a:t>Акслантириш қуйидаги амалларни бажаришдан иборат</a:t>
            </a:r>
            <a:r>
              <a:rPr lang="uz-Cyrl-UZ" altLang="ja-JP" sz="2400" b="1">
                <a:solidFill>
                  <a:schemeClr val="accent2"/>
                </a:solidFill>
                <a:latin typeface="Times New Roman" pitchFamily="18" charset="0"/>
              </a:rPr>
              <a:t>:</a:t>
            </a:r>
          </a:p>
          <a:p>
            <a:pPr indent="266700" algn="just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Агар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en-US" altLang="ja-JP" sz="2400" b="1" i="1">
                <a:latin typeface="Times New Roman" pitchFamily="18" charset="0"/>
                <a:ea typeface="ＭＳ Ｐゴシック" charset="-128"/>
              </a:rPr>
              <a:t>m=</a:t>
            </a:r>
            <a:r>
              <a:rPr lang="uz-Cyrl-UZ" altLang="ja-JP" sz="2400" b="1" i="1">
                <a:latin typeface="Times New Roman" pitchFamily="18" charset="0"/>
              </a:rPr>
              <a:t>sh</a:t>
            </a:r>
            <a:r>
              <a:rPr lang="uz-Cyrl-UZ" altLang="ja-JP" sz="2400" i="1">
                <a:latin typeface="Times New Roman" pitchFamily="18" charset="0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бўлса,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Holat[8,4] </a:t>
            </a:r>
            <a:r>
              <a:rPr lang="ru-RU" altLang="ja-JP" sz="2400" i="1">
                <a:latin typeface="Times New Roman" pitchFamily="18" charset="0"/>
              </a:rPr>
              <a:t>массивининг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ҳар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бир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байт элементи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B</a:t>
            </a:r>
            <a:r>
              <a:rPr lang="en-US" altLang="ja-JP" sz="2400" i="1" baseline="-25000">
                <a:latin typeface="Times New Roman" pitchFamily="18" charset="0"/>
                <a:ea typeface="ＭＳ Ｐゴシック" charset="-128"/>
              </a:rPr>
              <a:t>sA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[256] </a:t>
            </a:r>
            <a:r>
              <a:rPr lang="ru-RU" altLang="ja-JP" sz="2400" i="1">
                <a:latin typeface="Times New Roman" pitchFamily="18" charset="0"/>
              </a:rPr>
              <a:t>массивининг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адреси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бўйича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унга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мос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элементи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билан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алмаштирилсин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.  </a:t>
            </a:r>
          </a:p>
          <a:p>
            <a:pPr indent="266700" algn="ctr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ja-JP" sz="2400" b="1" i="1">
                <a:latin typeface="Times New Roman" pitchFamily="18" charset="0"/>
                <a:ea typeface="ＭＳ Ｐゴシック" charset="-128"/>
              </a:rPr>
              <a:t>Holat[i,j]=B</a:t>
            </a:r>
            <a:r>
              <a:rPr lang="en-US" altLang="ja-JP" sz="2400" b="1" i="1" baseline="-25000">
                <a:latin typeface="Times New Roman" pitchFamily="18" charset="0"/>
                <a:ea typeface="ＭＳ Ｐゴシック" charset="-128"/>
              </a:rPr>
              <a:t>sA</a:t>
            </a:r>
            <a:r>
              <a:rPr lang="en-US" altLang="ja-JP" sz="2400" b="1" i="1">
                <a:latin typeface="Times New Roman" pitchFamily="18" charset="0"/>
                <a:ea typeface="ＭＳ Ｐゴシック" charset="-128"/>
              </a:rPr>
              <a:t>[</a:t>
            </a:r>
            <a:r>
              <a:rPr lang="ru-RU" altLang="ja-JP" sz="2400" b="1" i="1">
                <a:latin typeface="Times New Roman" pitchFamily="18" charset="0"/>
              </a:rPr>
              <a:t> </a:t>
            </a:r>
            <a:r>
              <a:rPr lang="en-US" altLang="ja-JP" sz="2400" b="1" i="1">
                <a:solidFill>
                  <a:schemeClr val="accent2"/>
                </a:solidFill>
                <a:latin typeface="Times New Roman" pitchFamily="18" charset="0"/>
                <a:ea typeface="ＭＳ Ｐゴシック" charset="-128"/>
              </a:rPr>
              <a:t>Holat[i,j]</a:t>
            </a:r>
            <a:r>
              <a:rPr lang="ru-RU" altLang="ja-JP" sz="2400" b="1" i="1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 altLang="ja-JP" sz="2400" b="1" i="1">
                <a:latin typeface="Times New Roman" pitchFamily="18" charset="0"/>
                <a:ea typeface="ＭＳ Ｐゴシック" charset="-128"/>
              </a:rPr>
              <a:t>]</a:t>
            </a:r>
          </a:p>
          <a:p>
            <a:pPr indent="2667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ru-RU" altLang="ja-JP" sz="2200" i="1">
                <a:latin typeface="Times New Roman" pitchFamily="18" charset="0"/>
              </a:rPr>
              <a:t>бу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200" i="1">
                <a:latin typeface="Times New Roman" pitchFamily="18" charset="0"/>
              </a:rPr>
              <a:t>ерда,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200" i="1">
                <a:latin typeface="Times New Roman" pitchFamily="18" charset="0"/>
              </a:rPr>
              <a:t>то</a:t>
            </a:r>
            <a:r>
              <a:rPr lang="uz-Cyrl-UZ" altLang="ja-JP" sz="2200" i="1">
                <a:latin typeface="Times New Roman" pitchFamily="18" charset="0"/>
              </a:rPr>
              <a:t>қ босқичларда 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s=1, </a:t>
            </a:r>
            <a:r>
              <a:rPr lang="uz-Cyrl-UZ" altLang="ja-JP" sz="2200" i="1">
                <a:latin typeface="Times New Roman" pitchFamily="18" charset="0"/>
              </a:rPr>
              <a:t>жуфт босқичларда 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s=2</a:t>
            </a:r>
            <a:r>
              <a:rPr lang="ru-RU" altLang="ja-JP" sz="2200" i="1">
                <a:latin typeface="Times New Roman" pitchFamily="18" charset="0"/>
              </a:rPr>
              <a:t>, 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i=0,..8, j=0,..4.</a:t>
            </a:r>
            <a:endParaRPr lang="ru-RU" altLang="ja-JP" sz="2200" b="1" i="1">
              <a:latin typeface="Times New Roman" pitchFamily="18" charset="0"/>
            </a:endParaRPr>
          </a:p>
          <a:p>
            <a:pPr indent="266700" algn="just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None/>
            </a:pPr>
            <a:endParaRPr lang="en-US" altLang="ja-JP" sz="2400" i="1">
              <a:latin typeface="Times New Roman" pitchFamily="18" charset="0"/>
              <a:ea typeface="ＭＳ Ｐゴシック" charset="-128"/>
            </a:endParaRPr>
          </a:p>
          <a:p>
            <a:pPr indent="266700" algn="just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Ш"/>
            </a:pPr>
            <a:r>
              <a:rPr lang="ru-RU" altLang="ja-JP" sz="2400" i="1">
                <a:latin typeface="Times New Roman" pitchFamily="18" charset="0"/>
              </a:rPr>
              <a:t> </a:t>
            </a:r>
            <a:r>
              <a:rPr lang="uz-Cyrl-UZ" altLang="ja-JP" sz="2400" i="1">
                <a:latin typeface="Times New Roman" pitchFamily="18" charset="0"/>
              </a:rPr>
              <a:t>Агар </a:t>
            </a:r>
            <a:r>
              <a:rPr lang="en-US" altLang="ja-JP" sz="2400" b="1" i="1">
                <a:latin typeface="Times New Roman" pitchFamily="18" charset="0"/>
                <a:ea typeface="ＭＳ Ｐゴシック" charset="-128"/>
              </a:rPr>
              <a:t>m=d</a:t>
            </a:r>
            <a:r>
              <a:rPr lang="uz-Cyrl-UZ" altLang="ja-JP" sz="2400" b="1" i="1">
                <a:latin typeface="Times New Roman" pitchFamily="18" charset="0"/>
              </a:rPr>
              <a:t>sh </a:t>
            </a:r>
            <a:r>
              <a:rPr lang="ru-RU" altLang="ja-JP" sz="2400" i="1">
                <a:latin typeface="Times New Roman" pitchFamily="18" charset="0"/>
              </a:rPr>
              <a:t>бўлса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, Holat[8,4] </a:t>
            </a:r>
            <a:r>
              <a:rPr lang="ru-RU" altLang="ja-JP" sz="2400" i="1">
                <a:latin typeface="Times New Roman" pitchFamily="18" charset="0"/>
              </a:rPr>
              <a:t>массивининг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ҳар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бир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байт элементи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B</a:t>
            </a:r>
            <a:r>
              <a:rPr lang="en-US" altLang="ja-JP" sz="2400" i="1" baseline="-25000">
                <a:latin typeface="Times New Roman" pitchFamily="18" charset="0"/>
                <a:ea typeface="ＭＳ Ｐゴシック" charset="-128"/>
              </a:rPr>
              <a:t>sAD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массивининг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адреси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бўйича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унга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мос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элементи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билан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400" i="1">
                <a:latin typeface="Times New Roman" pitchFamily="18" charset="0"/>
              </a:rPr>
              <a:t>алмаштирилсин</a:t>
            </a:r>
            <a:r>
              <a:rPr lang="en-US" altLang="ja-JP" sz="2400" i="1">
                <a:latin typeface="Times New Roman" pitchFamily="18" charset="0"/>
                <a:ea typeface="ＭＳ Ｐゴシック" charset="-128"/>
              </a:rPr>
              <a:t>.</a:t>
            </a:r>
          </a:p>
          <a:p>
            <a:pPr indent="266700" algn="ctr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ja-JP" sz="2400" b="1" i="1">
                <a:latin typeface="Times New Roman" pitchFamily="18" charset="0"/>
                <a:ea typeface="ＭＳ Ｐゴシック" charset="-128"/>
              </a:rPr>
              <a:t>Holat[i,j]=B</a:t>
            </a:r>
            <a:r>
              <a:rPr lang="en-US" altLang="ja-JP" sz="2400" b="1" i="1" baseline="-25000">
                <a:latin typeface="Times New Roman" pitchFamily="18" charset="0"/>
                <a:ea typeface="ＭＳ Ｐゴシック" charset="-128"/>
              </a:rPr>
              <a:t>sAD</a:t>
            </a:r>
            <a:r>
              <a:rPr lang="en-US" altLang="ja-JP" sz="2400" b="1" i="1">
                <a:latin typeface="Times New Roman" pitchFamily="18" charset="0"/>
                <a:ea typeface="ＭＳ Ｐゴシック" charset="-128"/>
              </a:rPr>
              <a:t>[</a:t>
            </a:r>
            <a:r>
              <a:rPr lang="ru-RU" altLang="ja-JP" sz="2400" b="1" i="1">
                <a:latin typeface="Times New Roman" pitchFamily="18" charset="0"/>
              </a:rPr>
              <a:t> </a:t>
            </a:r>
            <a:r>
              <a:rPr lang="en-US" altLang="ja-JP" sz="2400" b="1" i="1">
                <a:solidFill>
                  <a:schemeClr val="accent2"/>
                </a:solidFill>
                <a:latin typeface="Times New Roman" pitchFamily="18" charset="0"/>
                <a:ea typeface="ＭＳ Ｐゴシック" charset="-128"/>
              </a:rPr>
              <a:t>Holat[i,j]</a:t>
            </a:r>
            <a:r>
              <a:rPr lang="ru-RU" altLang="ja-JP" sz="2400" b="1" i="1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 altLang="ja-JP" sz="2400" b="1" i="1">
                <a:latin typeface="Times New Roman" pitchFamily="18" charset="0"/>
                <a:ea typeface="ＭＳ Ｐゴシック" charset="-128"/>
              </a:rPr>
              <a:t>]</a:t>
            </a:r>
          </a:p>
          <a:p>
            <a:pPr indent="266700" algn="just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ru-RU" altLang="ja-JP" sz="2200" i="1">
                <a:latin typeface="Times New Roman" pitchFamily="18" charset="0"/>
              </a:rPr>
              <a:t>бу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200" i="1">
                <a:latin typeface="Times New Roman" pitchFamily="18" charset="0"/>
              </a:rPr>
              <a:t>ерда,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200" i="1">
                <a:latin typeface="Times New Roman" pitchFamily="18" charset="0"/>
              </a:rPr>
              <a:t>то</a:t>
            </a:r>
            <a:r>
              <a:rPr lang="uz-Cyrl-UZ" altLang="ja-JP" sz="2200" i="1">
                <a:latin typeface="Times New Roman" pitchFamily="18" charset="0"/>
              </a:rPr>
              <a:t>қ босқичларда 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s=2, </a:t>
            </a:r>
            <a:r>
              <a:rPr lang="uz-Cyrl-UZ" altLang="ja-JP" sz="2200" i="1">
                <a:latin typeface="Times New Roman" pitchFamily="18" charset="0"/>
              </a:rPr>
              <a:t>жуфт босқичларда 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s=1</a:t>
            </a:r>
            <a:r>
              <a:rPr lang="ru-RU" altLang="ja-JP" sz="2200" i="1">
                <a:latin typeface="Times New Roman" pitchFamily="18" charset="0"/>
              </a:rPr>
              <a:t>, 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i=0,..8, j=0,..4.</a:t>
            </a:r>
            <a:endParaRPr lang="uz-Cyrl-UZ" altLang="uz-Cyrl-UZ" sz="2200" i="1">
              <a:latin typeface="Times New Roman" pitchFamily="18" charset="0"/>
            </a:endParaRPr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0" y="0"/>
            <a:ext cx="9144000" cy="427038"/>
          </a:xfrm>
          <a:prstGeom prst="rect">
            <a:avLst/>
          </a:prstGeom>
          <a:solidFill>
            <a:srgbClr val="FFFF00">
              <a:alpha val="9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BaytAlmash</a:t>
            </a:r>
            <a:r>
              <a:rPr lang="uz-Cyrl-UZ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(Holat, B</a:t>
            </a:r>
            <a:r>
              <a:rPr lang="en-US" altLang="ja-JP" sz="2200" b="1" i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a</a:t>
            </a: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 )</a:t>
            </a:r>
            <a:r>
              <a:rPr lang="en-US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 </a:t>
            </a:r>
            <a:r>
              <a:rPr lang="uz-Cyrl-UZ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– акслантириши </a:t>
            </a:r>
            <a:endParaRPr lang="ru-RU" sz="22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50342" name="AutoShape 16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42875" y="6200775"/>
            <a:ext cx="611188" cy="503238"/>
          </a:xfrm>
          <a:prstGeom prst="actionButtonHome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179388" y="517525"/>
            <a:ext cx="8842375" cy="6223000"/>
          </a:xfrm>
          <a:prstGeom prst="rect">
            <a:avLst/>
          </a:prstGeom>
          <a:solidFill>
            <a:schemeClr val="bg1">
              <a:alpha val="85881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266700" algn="just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None/>
            </a:pPr>
            <a:r>
              <a:rPr lang="uz-Cyrl-UZ" altLang="ja-JP" b="1" u="sng">
                <a:solidFill>
                  <a:schemeClr val="accent2"/>
                </a:solidFill>
                <a:latin typeface="Times New Roman" pitchFamily="18" charset="0"/>
              </a:rPr>
              <a:t>Акслантириш қуйидаги қадамлар кетма-кетлигидан иборат</a:t>
            </a:r>
            <a:r>
              <a:rPr lang="uz-Cyrl-UZ" altLang="ja-JP" b="1">
                <a:solidFill>
                  <a:schemeClr val="accent2"/>
                </a:solidFill>
                <a:latin typeface="Times New Roman" pitchFamily="18" charset="0"/>
              </a:rPr>
              <a:t>:</a:t>
            </a:r>
          </a:p>
          <a:p>
            <a:pPr indent="266700" algn="just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i="1">
                <a:latin typeface="Times New Roman" pitchFamily="18" charset="0"/>
              </a:rPr>
              <a:t> 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b="1" i="1" baseline="-25000">
                <a:latin typeface="Times New Roman" pitchFamily="18" charset="0"/>
              </a:rPr>
              <a:t>е</a:t>
            </a:r>
            <a:r>
              <a:rPr lang="ru-RU" altLang="ja-JP" b="1" i="1">
                <a:latin typeface="Times New Roman" pitchFamily="18" charset="0"/>
              </a:rPr>
              <a:t>=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k</a:t>
            </a:r>
            <a:r>
              <a:rPr lang="ru-RU" altLang="ja-JP" b="1" i="1">
                <a:latin typeface="Times New Roman" pitchFamily="18" charset="0"/>
              </a:rPr>
              <a:t>+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k</a:t>
            </a:r>
            <a:r>
              <a:rPr lang="ru-RU" altLang="ja-JP" b="1" i="1">
                <a:latin typeface="Times New Roman" pitchFamily="18" charset="0"/>
              </a:rPr>
              <a:t>’*(1+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f</a:t>
            </a:r>
            <a:r>
              <a:rPr lang="ru-RU" altLang="ja-JP" b="1" i="1">
                <a:latin typeface="Times New Roman" pitchFamily="18" charset="0"/>
              </a:rPr>
              <a:t>*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k</a:t>
            </a:r>
            <a:r>
              <a:rPr lang="ru-RU" altLang="ja-JP" b="1" i="1">
                <a:latin typeface="Times New Roman" pitchFamily="18" charset="0"/>
              </a:rPr>
              <a:t>) </a:t>
            </a:r>
            <a:r>
              <a:rPr lang="ru-RU" altLang="ja-JP" i="1">
                <a:latin typeface="Times New Roman" pitchFamily="18" charset="0"/>
              </a:rPr>
              <a:t>ҳисоблансин ва чапдан 672 бит қолдирилсин, бу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ерда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ru-RU" altLang="ja-JP" i="1">
                <a:latin typeface="Times New Roman" pitchFamily="18" charset="0"/>
              </a:rPr>
              <a:t>’ –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f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нинг ўнгдан 192 битли қисми. </a:t>
            </a:r>
          </a:p>
          <a:p>
            <a:pPr indent="266700" algn="just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Char char="Ш"/>
            </a:pP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ru-RU" altLang="ja-JP" b="1" i="1" baseline="-25000">
                <a:latin typeface="Times New Roman" pitchFamily="18" charset="0"/>
              </a:rPr>
              <a:t>е</a:t>
            </a:r>
            <a:r>
              <a:rPr lang="ru-RU" altLang="ja-JP" i="1">
                <a:latin typeface="Times New Roman" pitchFamily="18" charset="0"/>
              </a:rPr>
              <a:t> да ўнгдан 256+64 битли қисм ажратиб олинсин</a:t>
            </a:r>
            <a:r>
              <a:rPr lang="uz-Cyrl-UZ" altLang="ja-JP" i="1">
                <a:latin typeface="Times New Roman" pitchFamily="18" charset="0"/>
              </a:rPr>
              <a:t> ва</a:t>
            </a:r>
            <a:r>
              <a:rPr lang="ru-RU" altLang="ja-JP" i="1">
                <a:latin typeface="Times New Roman" pitchFamily="18" charset="0"/>
              </a:rPr>
              <a:t> 256 битли қисмдан байтли чизиқли массив 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st</a:t>
            </a:r>
            <a:r>
              <a:rPr lang="ru-RU" altLang="ja-JP" b="1" i="1">
                <a:latin typeface="Times New Roman" pitchFamily="18" charset="0"/>
              </a:rPr>
              <a:t>=[0,1,2,3,… 31]</a:t>
            </a:r>
            <a:r>
              <a:rPr lang="ru-RU" altLang="ja-JP" i="1">
                <a:latin typeface="Times New Roman" pitchFamily="18" charset="0"/>
              </a:rPr>
              <a:t>, қолган 64 битли қисмдан байт</a:t>
            </a:r>
            <a:r>
              <a:rPr lang="uz-Cyrl-UZ" altLang="ja-JP" i="1">
                <a:latin typeface="Times New Roman" pitchFamily="18" charset="0"/>
              </a:rPr>
              <a:t>ли</a:t>
            </a:r>
            <a:r>
              <a:rPr lang="ru-RU" altLang="ja-JP" i="1">
                <a:latin typeface="Times New Roman" pitchFamily="18" charset="0"/>
              </a:rPr>
              <a:t> чизиқли массив 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B</a:t>
            </a:r>
            <a:r>
              <a:rPr lang="ru-RU" altLang="ja-JP" b="1" i="1">
                <a:latin typeface="Times New Roman" pitchFamily="18" charset="0"/>
              </a:rPr>
              <a:t>=[0,1,2,3,4,5,6,7]</a:t>
            </a:r>
            <a:r>
              <a:rPr lang="ru-RU" altLang="ja-JP" i="1">
                <a:latin typeface="Times New Roman" pitchFamily="18" charset="0"/>
              </a:rPr>
              <a:t> </a:t>
            </a:r>
            <a:r>
              <a:rPr lang="uz-Cyrl-UZ" altLang="ja-JP" i="1">
                <a:latin typeface="Times New Roman" pitchFamily="18" charset="0"/>
              </a:rPr>
              <a:t>(ҳамда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B</a:t>
            </a:r>
            <a:r>
              <a:rPr lang="ru-RU" altLang="ja-JP" i="1" baseline="-25000">
                <a:latin typeface="Times New Roman" pitchFamily="18" charset="0"/>
              </a:rPr>
              <a:t>1</a:t>
            </a:r>
            <a:r>
              <a:rPr lang="ru-RU" altLang="ja-JP" i="1">
                <a:latin typeface="Times New Roman" pitchFamily="18" charset="0"/>
              </a:rPr>
              <a:t>=[0,1,2,3]</a:t>
            </a:r>
            <a:r>
              <a:rPr lang="uz-Cyrl-UZ" altLang="ja-JP" i="1">
                <a:latin typeface="Times New Roman" pitchFamily="18" charset="0"/>
              </a:rPr>
              <a:t> ва</a:t>
            </a:r>
            <a:r>
              <a:rPr lang="ru-RU" altLang="ja-JP" i="1">
                <a:latin typeface="Times New Roman" pitchFamily="18" charset="0"/>
              </a:rPr>
              <a:t>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B</a:t>
            </a:r>
            <a:r>
              <a:rPr lang="ru-RU" altLang="ja-JP" i="1" baseline="-25000">
                <a:latin typeface="Times New Roman" pitchFamily="18" charset="0"/>
              </a:rPr>
              <a:t>2</a:t>
            </a:r>
            <a:r>
              <a:rPr lang="ru-RU" altLang="ja-JP" i="1">
                <a:latin typeface="Times New Roman" pitchFamily="18" charset="0"/>
              </a:rPr>
              <a:t>=[4,5,6,7]</a:t>
            </a:r>
            <a:r>
              <a:rPr lang="uz-Cyrl-UZ" altLang="ja-JP" i="1">
                <a:latin typeface="Times New Roman" pitchFamily="18" charset="0"/>
              </a:rPr>
              <a:t>) </a:t>
            </a:r>
            <a:r>
              <a:rPr lang="ru-RU" altLang="ja-JP" i="1">
                <a:latin typeface="Times New Roman" pitchFamily="18" charset="0"/>
              </a:rPr>
              <a:t>шакллантирилсин.</a:t>
            </a:r>
          </a:p>
          <a:p>
            <a:pPr indent="266700" algn="just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Char char="Ш"/>
            </a:pPr>
            <a:r>
              <a:rPr lang="ru-RU" altLang="ja-JP" i="1" u="sng">
                <a:latin typeface="Times New Roman" pitchFamily="18" charset="0"/>
              </a:rPr>
              <a:t>Қуйида келтирилган қоидалар асосида</a:t>
            </a:r>
            <a:r>
              <a:rPr lang="ru-RU" altLang="ja-JP" i="1">
                <a:latin typeface="Times New Roman" pitchFamily="18" charset="0"/>
              </a:rPr>
              <a:t> </a:t>
            </a:r>
            <a:r>
              <a:rPr lang="ru-RU" altLang="ja-JP" b="1" i="1">
                <a:latin typeface="Times New Roman" pitchFamily="18" charset="0"/>
              </a:rPr>
              <a:t>(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d</a:t>
            </a:r>
            <a:r>
              <a:rPr lang="ru-RU" altLang="ja-JP" b="1" i="1" baseline="-25000">
                <a:latin typeface="Times New Roman" pitchFamily="18" charset="0"/>
              </a:rPr>
              <a:t>1</a:t>
            </a:r>
            <a:r>
              <a:rPr lang="ru-RU" altLang="ja-JP" b="1" i="1">
                <a:latin typeface="Times New Roman" pitchFamily="18" charset="0"/>
              </a:rPr>
              <a:t>, 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R</a:t>
            </a:r>
            <a:r>
              <a:rPr lang="ru-RU" altLang="ja-JP" b="1" i="1" baseline="-25000">
                <a:latin typeface="Times New Roman" pitchFamily="18" charset="0"/>
              </a:rPr>
              <a:t>1</a:t>
            </a:r>
            <a:r>
              <a:rPr lang="ru-RU" altLang="ja-JP" b="1" i="1">
                <a:latin typeface="Times New Roman" pitchFamily="18" charset="0"/>
              </a:rPr>
              <a:t>, 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L</a:t>
            </a:r>
            <a:r>
              <a:rPr lang="ru-RU" altLang="ja-JP" b="1" i="1" baseline="-25000">
                <a:latin typeface="Times New Roman" pitchFamily="18" charset="0"/>
              </a:rPr>
              <a:t>1</a:t>
            </a:r>
            <a:r>
              <a:rPr lang="ru-RU" altLang="ja-JP" b="1" i="1">
                <a:latin typeface="Times New Roman" pitchFamily="18" charset="0"/>
              </a:rPr>
              <a:t>)</a:t>
            </a:r>
            <a:r>
              <a:rPr lang="ru-RU" altLang="ja-JP" i="1">
                <a:latin typeface="Times New Roman" pitchFamily="18" charset="0"/>
              </a:rPr>
              <a:t> </a:t>
            </a:r>
            <a:r>
              <a:rPr lang="ru-RU" altLang="ja-JP" i="1" u="sng">
                <a:latin typeface="Times New Roman" pitchFamily="18" charset="0"/>
              </a:rPr>
              <a:t>ва</a:t>
            </a:r>
            <a:r>
              <a:rPr lang="ru-RU" altLang="ja-JP" i="1">
                <a:latin typeface="Times New Roman" pitchFamily="18" charset="0"/>
              </a:rPr>
              <a:t> </a:t>
            </a:r>
            <a:r>
              <a:rPr lang="ru-RU" altLang="ja-JP" b="1" i="1">
                <a:latin typeface="Times New Roman" pitchFamily="18" charset="0"/>
              </a:rPr>
              <a:t>(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d</a:t>
            </a:r>
            <a:r>
              <a:rPr lang="ru-RU" altLang="ja-JP" b="1" i="1" baseline="-25000">
                <a:latin typeface="Times New Roman" pitchFamily="18" charset="0"/>
              </a:rPr>
              <a:t>2</a:t>
            </a:r>
            <a:r>
              <a:rPr lang="ru-RU" altLang="ja-JP" b="1" i="1">
                <a:latin typeface="Times New Roman" pitchFamily="18" charset="0"/>
              </a:rPr>
              <a:t>, 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R</a:t>
            </a:r>
            <a:r>
              <a:rPr lang="ru-RU" altLang="ja-JP" b="1" i="1" baseline="-25000">
                <a:latin typeface="Times New Roman" pitchFamily="18" charset="0"/>
              </a:rPr>
              <a:t>2</a:t>
            </a:r>
            <a:r>
              <a:rPr lang="ru-RU" altLang="ja-JP" b="1" i="1">
                <a:latin typeface="Times New Roman" pitchFamily="18" charset="0"/>
              </a:rPr>
              <a:t>, 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L</a:t>
            </a:r>
            <a:r>
              <a:rPr lang="ru-RU" altLang="ja-JP" b="1" i="1" baseline="-25000">
                <a:latin typeface="Times New Roman" pitchFamily="18" charset="0"/>
              </a:rPr>
              <a:t>2</a:t>
            </a:r>
            <a:r>
              <a:rPr lang="ru-RU" altLang="ja-JP" b="1" i="1">
                <a:latin typeface="Times New Roman" pitchFamily="18" charset="0"/>
              </a:rPr>
              <a:t>)</a:t>
            </a:r>
            <a:r>
              <a:rPr lang="ru-RU" altLang="ja-JP" i="1">
                <a:latin typeface="Times New Roman" pitchFamily="18" charset="0"/>
              </a:rPr>
              <a:t> </a:t>
            </a:r>
            <a:r>
              <a:rPr lang="ru-RU" altLang="ja-JP" i="1" u="sng">
                <a:latin typeface="Times New Roman" pitchFamily="18" charset="0"/>
              </a:rPr>
              <a:t>параметрлар учликлари шакллантирилсин: </a:t>
            </a:r>
          </a:p>
          <a:p>
            <a:pPr indent="266700" algn="just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None/>
            </a:pPr>
            <a:r>
              <a:rPr lang="uz-Cyrl-UZ" altLang="ja-JP" b="1" i="1">
                <a:latin typeface="Times New Roman" pitchFamily="18" charset="0"/>
              </a:rPr>
              <a:t>1)</a:t>
            </a:r>
            <a:r>
              <a:rPr lang="ru-RU" altLang="ja-JP" i="1">
                <a:latin typeface="Times New Roman" pitchFamily="18" charset="0"/>
              </a:rPr>
              <a:t> </a:t>
            </a:r>
            <a:r>
              <a:rPr lang="uz-Cyrl-UZ" altLang="ja-JP" i="1">
                <a:latin typeface="Times New Roman" pitchFamily="18" charset="0"/>
              </a:rPr>
              <a:t>агар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b</a:t>
            </a:r>
            <a:r>
              <a:rPr lang="ru-RU" altLang="ja-JP" i="1">
                <a:latin typeface="Times New Roman" pitchFamily="18" charset="0"/>
              </a:rPr>
              <a:t>[</a:t>
            </a:r>
            <a:r>
              <a:rPr lang="uz-Cyrl-UZ" altLang="ja-JP" i="1">
                <a:latin typeface="Times New Roman" pitchFamily="18" charset="0"/>
              </a:rPr>
              <a:t>0</a:t>
            </a:r>
            <a:r>
              <a:rPr lang="ru-RU" altLang="ja-JP" i="1">
                <a:latin typeface="Times New Roman" pitchFamily="18" charset="0"/>
              </a:rPr>
              <a:t>]&lt;3 бўлса,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d</a:t>
            </a:r>
            <a:r>
              <a:rPr lang="ru-RU" altLang="ja-JP" i="1" baseline="-25000">
                <a:latin typeface="Times New Roman" pitchFamily="18" charset="0"/>
              </a:rPr>
              <a:t>1</a:t>
            </a:r>
            <a:r>
              <a:rPr lang="ru-RU" altLang="ja-JP" i="1">
                <a:latin typeface="Times New Roman" pitchFamily="18" charset="0"/>
              </a:rPr>
              <a:t>=3, акс ҳолда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d</a:t>
            </a:r>
            <a:r>
              <a:rPr lang="ru-RU" altLang="ja-JP" i="1" baseline="-25000">
                <a:latin typeface="Times New Roman" pitchFamily="18" charset="0"/>
              </a:rPr>
              <a:t>1</a:t>
            </a:r>
            <a:r>
              <a:rPr lang="ru-RU" altLang="ja-JP" i="1">
                <a:latin typeface="Times New Roman" pitchFamily="18" charset="0"/>
              </a:rPr>
              <a:t>=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b</a:t>
            </a:r>
            <a:r>
              <a:rPr lang="ru-RU" altLang="ja-JP" i="1">
                <a:latin typeface="Times New Roman" pitchFamily="18" charset="0"/>
              </a:rPr>
              <a:t>[0] қабул қилинсин; </a:t>
            </a:r>
            <a:endParaRPr lang="uz-Cyrl-UZ" altLang="ja-JP" i="1">
              <a:latin typeface="Times New Roman" pitchFamily="18" charset="0"/>
            </a:endParaRPr>
          </a:p>
          <a:p>
            <a:pPr indent="266700" algn="just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None/>
            </a:pPr>
            <a:r>
              <a:rPr lang="en-US" altLang="ja-JP" i="1">
                <a:latin typeface="Times New Roman" pitchFamily="18" charset="0"/>
                <a:ea typeface="ＭＳ Ｐゴシック" charset="-128"/>
              </a:rPr>
              <a:t>    </a:t>
            </a:r>
            <a:r>
              <a:rPr lang="ru-RU" altLang="ja-JP" i="1">
                <a:latin typeface="Times New Roman" pitchFamily="18" charset="0"/>
              </a:rPr>
              <a:t>агар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b</a:t>
            </a:r>
            <a:r>
              <a:rPr lang="ru-RU" altLang="ja-JP" i="1">
                <a:latin typeface="Times New Roman" pitchFamily="18" charset="0"/>
              </a:rPr>
              <a:t>[</a:t>
            </a:r>
            <a:r>
              <a:rPr lang="uz-Cyrl-UZ" altLang="ja-JP" i="1">
                <a:latin typeface="Times New Roman" pitchFamily="18" charset="0"/>
              </a:rPr>
              <a:t>4</a:t>
            </a:r>
            <a:r>
              <a:rPr lang="ru-RU" altLang="ja-JP" i="1">
                <a:latin typeface="Times New Roman" pitchFamily="18" charset="0"/>
              </a:rPr>
              <a:t>]&lt;3 бўлса,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d</a:t>
            </a:r>
            <a:r>
              <a:rPr lang="ru-RU" altLang="ja-JP" i="1" baseline="-25000">
                <a:latin typeface="Times New Roman" pitchFamily="18" charset="0"/>
              </a:rPr>
              <a:t>2</a:t>
            </a:r>
            <a:r>
              <a:rPr lang="ru-RU" altLang="ja-JP" i="1">
                <a:latin typeface="Times New Roman" pitchFamily="18" charset="0"/>
              </a:rPr>
              <a:t>=3, акс ҳолда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d</a:t>
            </a:r>
            <a:r>
              <a:rPr lang="ru-RU" altLang="ja-JP" i="1" baseline="-25000">
                <a:latin typeface="Times New Roman" pitchFamily="18" charset="0"/>
              </a:rPr>
              <a:t>2</a:t>
            </a:r>
            <a:r>
              <a:rPr lang="ru-RU" altLang="ja-JP" i="1">
                <a:latin typeface="Times New Roman" pitchFamily="18" charset="0"/>
              </a:rPr>
              <a:t>=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b</a:t>
            </a:r>
            <a:r>
              <a:rPr lang="ru-RU" altLang="ja-JP" i="1">
                <a:latin typeface="Times New Roman" pitchFamily="18" charset="0"/>
              </a:rPr>
              <a:t>[4] қабул қилинсин.</a:t>
            </a:r>
          </a:p>
          <a:p>
            <a:pPr indent="266700" algn="just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None/>
            </a:pPr>
            <a:r>
              <a:rPr lang="uz-Cyrl-UZ" altLang="ja-JP" b="1" i="1">
                <a:latin typeface="Times New Roman" pitchFamily="18" charset="0"/>
              </a:rPr>
              <a:t>2)</a:t>
            </a:r>
            <a:r>
              <a:rPr lang="uz-Cyrl-UZ" altLang="ja-JP" i="1">
                <a:latin typeface="Times New Roman" pitchFamily="18" charset="0"/>
              </a:rPr>
              <a:t> </a:t>
            </a:r>
            <a:r>
              <a:rPr lang="ru-RU" altLang="ja-JP" i="1">
                <a:latin typeface="Times New Roman" pitchFamily="18" charset="0"/>
              </a:rPr>
              <a:t>агар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b</a:t>
            </a:r>
            <a:r>
              <a:rPr lang="ru-RU" altLang="ja-JP" i="1">
                <a:latin typeface="Times New Roman" pitchFamily="18" charset="0"/>
              </a:rPr>
              <a:t>[</a:t>
            </a:r>
            <a:r>
              <a:rPr lang="uz-Cyrl-UZ" altLang="ja-JP" i="1">
                <a:latin typeface="Times New Roman" pitchFamily="18" charset="0"/>
              </a:rPr>
              <a:t>1</a:t>
            </a:r>
            <a:r>
              <a:rPr lang="ru-RU" altLang="ja-JP" i="1">
                <a:latin typeface="Times New Roman" pitchFamily="18" charset="0"/>
              </a:rPr>
              <a:t>]=0 бўлса,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R</a:t>
            </a:r>
            <a:r>
              <a:rPr lang="ru-RU" altLang="ja-JP" i="1" baseline="-25000">
                <a:latin typeface="Times New Roman" pitchFamily="18" charset="0"/>
              </a:rPr>
              <a:t>1</a:t>
            </a:r>
            <a:r>
              <a:rPr lang="ru-RU" altLang="ja-JP" i="1">
                <a:latin typeface="Times New Roman" pitchFamily="18" charset="0"/>
              </a:rPr>
              <a:t>=1, акс ҳолда</a:t>
            </a:r>
            <a:r>
              <a:rPr lang="uz-Cyrl-UZ" altLang="ja-JP" i="1">
                <a:latin typeface="Times New Roman" pitchFamily="18" charset="0"/>
              </a:rPr>
              <a:t>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R</a:t>
            </a:r>
            <a:r>
              <a:rPr lang="ru-RU" altLang="ja-JP" i="1" baseline="-25000">
                <a:latin typeface="Times New Roman" pitchFamily="18" charset="0"/>
              </a:rPr>
              <a:t>1</a:t>
            </a:r>
            <a:r>
              <a:rPr lang="ru-RU" altLang="ja-JP" i="1">
                <a:latin typeface="Times New Roman" pitchFamily="18" charset="0"/>
              </a:rPr>
              <a:t>=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b</a:t>
            </a:r>
            <a:r>
              <a:rPr lang="ru-RU" altLang="ja-JP" i="1">
                <a:latin typeface="Times New Roman" pitchFamily="18" charset="0"/>
              </a:rPr>
              <a:t>[1] қабул қилинсин; </a:t>
            </a:r>
            <a:endParaRPr lang="uz-Cyrl-UZ" altLang="ja-JP" i="1">
              <a:latin typeface="Times New Roman" pitchFamily="18" charset="0"/>
            </a:endParaRPr>
          </a:p>
          <a:p>
            <a:pPr indent="266700" algn="just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None/>
            </a:pPr>
            <a:r>
              <a:rPr lang="uz-Cyrl-UZ" altLang="ja-JP" i="1">
                <a:latin typeface="Times New Roman" pitchFamily="18" charset="0"/>
              </a:rPr>
              <a:t>    </a:t>
            </a:r>
            <a:r>
              <a:rPr lang="ru-RU" altLang="ja-JP" i="1">
                <a:latin typeface="Times New Roman" pitchFamily="18" charset="0"/>
              </a:rPr>
              <a:t>агар,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b</a:t>
            </a:r>
            <a:r>
              <a:rPr lang="ru-RU" altLang="ja-JP" i="1">
                <a:latin typeface="Times New Roman" pitchFamily="18" charset="0"/>
              </a:rPr>
              <a:t>[</a:t>
            </a:r>
            <a:r>
              <a:rPr lang="uz-Cyrl-UZ" altLang="ja-JP" i="1">
                <a:latin typeface="Times New Roman" pitchFamily="18" charset="0"/>
              </a:rPr>
              <a:t>5</a:t>
            </a:r>
            <a:r>
              <a:rPr lang="ru-RU" altLang="ja-JP" i="1">
                <a:latin typeface="Times New Roman" pitchFamily="18" charset="0"/>
              </a:rPr>
              <a:t>]=0 бўлса,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R</a:t>
            </a:r>
            <a:r>
              <a:rPr lang="ru-RU" altLang="ja-JP" i="1" baseline="-25000">
                <a:latin typeface="Times New Roman" pitchFamily="18" charset="0"/>
              </a:rPr>
              <a:t>2</a:t>
            </a:r>
            <a:r>
              <a:rPr lang="ru-RU" altLang="ja-JP" i="1">
                <a:latin typeface="Times New Roman" pitchFamily="18" charset="0"/>
              </a:rPr>
              <a:t>=1, акс ҳолда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R</a:t>
            </a:r>
            <a:r>
              <a:rPr lang="ru-RU" altLang="ja-JP" i="1" baseline="-25000">
                <a:latin typeface="Times New Roman" pitchFamily="18" charset="0"/>
              </a:rPr>
              <a:t>2</a:t>
            </a:r>
            <a:r>
              <a:rPr lang="ru-RU" altLang="ja-JP" i="1">
                <a:latin typeface="Times New Roman" pitchFamily="18" charset="0"/>
              </a:rPr>
              <a:t>=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b</a:t>
            </a:r>
            <a:r>
              <a:rPr lang="ru-RU" altLang="ja-JP" i="1">
                <a:latin typeface="Times New Roman" pitchFamily="18" charset="0"/>
              </a:rPr>
              <a:t>[5] қабул қилинсин.</a:t>
            </a:r>
            <a:endParaRPr lang="uz-Cyrl-UZ" altLang="ja-JP" i="1">
              <a:latin typeface="Times New Roman" pitchFamily="18" charset="0"/>
            </a:endParaRPr>
          </a:p>
          <a:p>
            <a:pPr indent="266700" algn="just">
              <a:spcAft>
                <a:spcPct val="35000"/>
              </a:spcAft>
            </a:pPr>
            <a:r>
              <a:rPr lang="uz-Cyrl-UZ" altLang="ja-JP" b="1" i="1">
                <a:latin typeface="Times New Roman" pitchFamily="18" charset="0"/>
              </a:rPr>
              <a:t>3) </a:t>
            </a:r>
            <a:r>
              <a:rPr lang="ru-RU" altLang="ja-JP" i="1">
                <a:latin typeface="Times New Roman" pitchFamily="18" charset="0"/>
              </a:rPr>
              <a:t>агар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b</a:t>
            </a:r>
            <a:r>
              <a:rPr lang="ru-RU" altLang="ja-JP" i="1">
                <a:latin typeface="Times New Roman" pitchFamily="18" charset="0"/>
              </a:rPr>
              <a:t>[</a:t>
            </a:r>
            <a:r>
              <a:rPr lang="uz-Cyrl-UZ" altLang="ja-JP" i="1">
                <a:latin typeface="Times New Roman" pitchFamily="18" charset="0"/>
              </a:rPr>
              <a:t>2</a:t>
            </a:r>
            <a:r>
              <a:rPr lang="ru-RU" altLang="ja-JP" i="1">
                <a:latin typeface="Times New Roman" pitchFamily="18" charset="0"/>
              </a:rPr>
              <a:t>]=0 бўлса,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L</a:t>
            </a:r>
            <a:r>
              <a:rPr lang="ru-RU" altLang="ja-JP" i="1" baseline="-25000">
                <a:latin typeface="Times New Roman" pitchFamily="18" charset="0"/>
              </a:rPr>
              <a:t>1</a:t>
            </a:r>
            <a:r>
              <a:rPr lang="ru-RU" altLang="ja-JP" i="1">
                <a:latin typeface="Times New Roman" pitchFamily="18" charset="0"/>
              </a:rPr>
              <a:t>=1, акс ҳолда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L</a:t>
            </a:r>
            <a:r>
              <a:rPr lang="ru-RU" altLang="ja-JP" i="1" baseline="-25000">
                <a:latin typeface="Times New Roman" pitchFamily="18" charset="0"/>
              </a:rPr>
              <a:t>1</a:t>
            </a:r>
            <a:r>
              <a:rPr lang="ru-RU" altLang="ja-JP" i="1">
                <a:latin typeface="Times New Roman" pitchFamily="18" charset="0"/>
              </a:rPr>
              <a:t>=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b</a:t>
            </a:r>
            <a:r>
              <a:rPr lang="ru-RU" altLang="ja-JP" i="1">
                <a:latin typeface="Times New Roman" pitchFamily="18" charset="0"/>
              </a:rPr>
              <a:t>[2] қабул қилинсин; </a:t>
            </a:r>
            <a:endParaRPr lang="uz-Cyrl-UZ" altLang="ja-JP" i="1">
              <a:latin typeface="Times New Roman" pitchFamily="18" charset="0"/>
            </a:endParaRPr>
          </a:p>
          <a:p>
            <a:pPr indent="266700" algn="just">
              <a:spcAft>
                <a:spcPct val="35000"/>
              </a:spcAft>
            </a:pPr>
            <a:r>
              <a:rPr lang="uz-Cyrl-UZ" altLang="ja-JP" i="1">
                <a:latin typeface="Times New Roman" pitchFamily="18" charset="0"/>
              </a:rPr>
              <a:t>    </a:t>
            </a:r>
            <a:r>
              <a:rPr lang="ru-RU" altLang="ja-JP" i="1">
                <a:latin typeface="Times New Roman" pitchFamily="18" charset="0"/>
              </a:rPr>
              <a:t>агар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b</a:t>
            </a:r>
            <a:r>
              <a:rPr lang="ru-RU" altLang="ja-JP" i="1">
                <a:latin typeface="Times New Roman" pitchFamily="18" charset="0"/>
              </a:rPr>
              <a:t>[</a:t>
            </a:r>
            <a:r>
              <a:rPr lang="uz-Cyrl-UZ" altLang="ja-JP" i="1">
                <a:latin typeface="Times New Roman" pitchFamily="18" charset="0"/>
              </a:rPr>
              <a:t>6</a:t>
            </a:r>
            <a:r>
              <a:rPr lang="ru-RU" altLang="ja-JP" i="1">
                <a:latin typeface="Times New Roman" pitchFamily="18" charset="0"/>
              </a:rPr>
              <a:t>]=0 бўлса,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L</a:t>
            </a:r>
            <a:r>
              <a:rPr lang="ru-RU" altLang="ja-JP" i="1" baseline="-25000">
                <a:latin typeface="Times New Roman" pitchFamily="18" charset="0"/>
              </a:rPr>
              <a:t>2</a:t>
            </a:r>
            <a:r>
              <a:rPr lang="ru-RU" altLang="ja-JP" i="1">
                <a:latin typeface="Times New Roman" pitchFamily="18" charset="0"/>
              </a:rPr>
              <a:t>=1, акс ҳолда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L</a:t>
            </a:r>
            <a:r>
              <a:rPr lang="ru-RU" altLang="ja-JP" i="1" baseline="-25000">
                <a:latin typeface="Times New Roman" pitchFamily="18" charset="0"/>
              </a:rPr>
              <a:t>2</a:t>
            </a:r>
            <a:r>
              <a:rPr lang="ru-RU" altLang="ja-JP" i="1">
                <a:latin typeface="Times New Roman" pitchFamily="18" charset="0"/>
              </a:rPr>
              <a:t>=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b</a:t>
            </a:r>
            <a:r>
              <a:rPr lang="ru-RU" altLang="ja-JP" i="1">
                <a:latin typeface="Times New Roman" pitchFamily="18" charset="0"/>
              </a:rPr>
              <a:t>[6] қабул қилинсин.</a:t>
            </a:r>
            <a:endParaRPr lang="en-US" altLang="ja-JP" i="1">
              <a:latin typeface="Times New Roman" pitchFamily="18" charset="0"/>
              <a:ea typeface="ＭＳ Ｐゴシック" charset="-128"/>
            </a:endParaRPr>
          </a:p>
          <a:p>
            <a:pPr indent="266700" algn="just">
              <a:spcAft>
                <a:spcPct val="35000"/>
              </a:spcAft>
            </a:pP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4)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d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(mod 2)=0 </a:t>
            </a:r>
            <a:r>
              <a:rPr lang="ru-RU" altLang="ja-JP" i="1">
                <a:latin typeface="Times New Roman" pitchFamily="18" charset="0"/>
              </a:rPr>
              <a:t>учун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агар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d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(mod 4)=0 </a:t>
            </a:r>
            <a:r>
              <a:rPr lang="ru-RU" altLang="ja-JP" i="1">
                <a:latin typeface="Times New Roman" pitchFamily="18" charset="0"/>
              </a:rPr>
              <a:t>бўлса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, d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=d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-1, </a:t>
            </a:r>
            <a:r>
              <a:rPr lang="ru-RU" altLang="ja-JP" i="1">
                <a:latin typeface="Times New Roman" pitchFamily="18" charset="0"/>
              </a:rPr>
              <a:t>акс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ҳолда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d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=d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+1 </a:t>
            </a:r>
            <a:r>
              <a:rPr lang="ru-RU" altLang="ja-JP" i="1">
                <a:latin typeface="Times New Roman" pitchFamily="18" charset="0"/>
              </a:rPr>
              <a:t>қабул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қилинсин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, </a:t>
            </a:r>
            <a:r>
              <a:rPr lang="ru-RU" altLang="ja-JP" i="1">
                <a:latin typeface="Times New Roman" pitchFamily="18" charset="0"/>
              </a:rPr>
              <a:t>бу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ерда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s</a:t>
            </a:r>
            <a:r>
              <a:rPr lang="en-US" altLang="ja-JP" i="1">
                <a:latin typeface="Times New Roman" pitchFamily="18" charset="0"/>
                <a:ea typeface="ＭＳ Ｐゴシック" charset="-128"/>
                <a:sym typeface="Symbol" pitchFamily="18" charset="2"/>
              </a:rPr>
              <a:t>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{1,2}.</a:t>
            </a:r>
          </a:p>
          <a:p>
            <a:pPr indent="266700" algn="just">
              <a:spcAft>
                <a:spcPct val="35000"/>
              </a:spcAft>
            </a:pP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5)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d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uz-Cyrl-UZ" altLang="ja-JP" i="1">
                <a:latin typeface="Times New Roman" pitchFamily="18" charset="0"/>
              </a:rPr>
              <a:t>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(mod 2)=1 </a:t>
            </a:r>
            <a:r>
              <a:rPr lang="ru-RU" altLang="ja-JP" i="1">
                <a:latin typeface="Times New Roman" pitchFamily="18" charset="0"/>
              </a:rPr>
              <a:t>учун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агар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, d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-1 (mod 4)=0 </a:t>
            </a:r>
            <a:r>
              <a:rPr lang="ru-RU" altLang="ja-JP" i="1">
                <a:latin typeface="Times New Roman" pitchFamily="18" charset="0"/>
              </a:rPr>
              <a:t>бўлса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, d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=d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-2 </a:t>
            </a:r>
            <a:r>
              <a:rPr lang="ru-RU" altLang="ja-JP" i="1">
                <a:latin typeface="Times New Roman" pitchFamily="18" charset="0"/>
              </a:rPr>
              <a:t>қабул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қилинсин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.</a:t>
            </a:r>
          </a:p>
          <a:p>
            <a:pPr indent="266700" algn="just">
              <a:spcAft>
                <a:spcPct val="35000"/>
              </a:spcAft>
            </a:pPr>
            <a:r>
              <a:rPr lang="uz-Cyrl-UZ" altLang="ja-JP" b="1" i="1">
                <a:latin typeface="Times New Roman" pitchFamily="18" charset="0"/>
              </a:rPr>
              <a:t>6)</a:t>
            </a:r>
            <a:r>
              <a:rPr lang="uz-Cyrl-UZ" altLang="ja-JP" i="1">
                <a:latin typeface="Times New Roman" pitchFamily="18" charset="0"/>
              </a:rPr>
              <a:t> агар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b[</a:t>
            </a:r>
            <a:r>
              <a:rPr lang="uz-Cyrl-UZ" altLang="ja-JP" i="1">
                <a:latin typeface="Times New Roman" pitchFamily="18" charset="0"/>
              </a:rPr>
              <a:t>3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]=0 </a:t>
            </a:r>
            <a:r>
              <a:rPr lang="ru-RU" altLang="ja-JP" i="1">
                <a:latin typeface="Times New Roman" pitchFamily="18" charset="0"/>
              </a:rPr>
              <a:t>бўлса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, b[</a:t>
            </a:r>
            <a:r>
              <a:rPr lang="uz-Cyrl-UZ" altLang="ja-JP" i="1">
                <a:latin typeface="Times New Roman" pitchFamily="18" charset="0"/>
              </a:rPr>
              <a:t>3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]=1,  </a:t>
            </a:r>
            <a:r>
              <a:rPr lang="ru-RU" altLang="ja-JP" i="1">
                <a:latin typeface="Times New Roman" pitchFamily="18" charset="0"/>
              </a:rPr>
              <a:t>агар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b[</a:t>
            </a:r>
            <a:r>
              <a:rPr lang="uz-Cyrl-UZ" altLang="ja-JP" i="1">
                <a:latin typeface="Times New Roman" pitchFamily="18" charset="0"/>
              </a:rPr>
              <a:t>7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]=0 </a:t>
            </a:r>
            <a:r>
              <a:rPr lang="ru-RU" altLang="ja-JP" i="1">
                <a:latin typeface="Times New Roman" pitchFamily="18" charset="0"/>
              </a:rPr>
              <a:t>бўлса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, b[</a:t>
            </a:r>
            <a:r>
              <a:rPr lang="uz-Cyrl-UZ" altLang="ja-JP" i="1">
                <a:latin typeface="Times New Roman" pitchFamily="18" charset="0"/>
              </a:rPr>
              <a:t>7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]=1 </a:t>
            </a:r>
            <a:r>
              <a:rPr lang="ru-RU" altLang="ja-JP" i="1">
                <a:latin typeface="Times New Roman" pitchFamily="18" charset="0"/>
              </a:rPr>
              <a:t>қабул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қилинсин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.</a:t>
            </a:r>
            <a:endParaRPr lang="uz-Cyrl-UZ" altLang="uz-Cyrl-UZ" i="1">
              <a:latin typeface="Times New Roman" pitchFamily="18" charset="0"/>
            </a:endParaRPr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0" y="0"/>
            <a:ext cx="9144000" cy="427038"/>
          </a:xfrm>
          <a:prstGeom prst="rect">
            <a:avLst/>
          </a:prstGeom>
          <a:solidFill>
            <a:srgbClr val="00FF00">
              <a:alpha val="9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ShaklSeansKalitBayt</a:t>
            </a:r>
            <a:r>
              <a:rPr lang="uz-Cyrl-UZ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(</a:t>
            </a:r>
            <a:r>
              <a:rPr lang="uz-Cyrl-UZ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k,</a:t>
            </a:r>
            <a:r>
              <a:rPr lang="uz-Cyrl-UZ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200" b="1" i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f</a:t>
            </a:r>
            <a:r>
              <a:rPr lang="uz-Cyrl-UZ" altLang="ja-JP" sz="2200" b="1" i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)</a:t>
            </a:r>
            <a:r>
              <a:rPr lang="en-US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 </a:t>
            </a:r>
            <a:r>
              <a:rPr lang="uz-Cyrl-UZ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– акслантириши </a:t>
            </a:r>
            <a:endParaRPr lang="ru-RU" sz="22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6084" name="Line 4"/>
          <p:cNvSpPr>
            <a:spLocks noChangeShapeType="1"/>
          </p:cNvSpPr>
          <p:nvPr/>
        </p:nvSpPr>
        <p:spPr bwMode="auto">
          <a:xfrm>
            <a:off x="250825" y="1571625"/>
            <a:ext cx="86772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>
            <a:prstShdw prst="shdw17" dist="17961" dir="2700000">
              <a:schemeClr val="accent2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6085" name="Line 5"/>
          <p:cNvSpPr>
            <a:spLocks noChangeShapeType="1"/>
          </p:cNvSpPr>
          <p:nvPr/>
        </p:nvSpPr>
        <p:spPr bwMode="auto">
          <a:xfrm>
            <a:off x="250825" y="2497138"/>
            <a:ext cx="86772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>
            <a:prstShdw prst="shdw17" dist="17961" dir="2700000">
              <a:schemeClr val="accent2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6086" name="AutoShape 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96300" y="6273800"/>
            <a:ext cx="468313" cy="404813"/>
          </a:xfrm>
          <a:prstGeom prst="actionButtonHome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158750" y="377825"/>
            <a:ext cx="8842375" cy="6121400"/>
          </a:xfrm>
          <a:prstGeom prst="rect">
            <a:avLst/>
          </a:prstGeom>
          <a:solidFill>
            <a:schemeClr val="bg1">
              <a:alpha val="85881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266700" algn="just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Char char="Ш"/>
            </a:pPr>
            <a:r>
              <a:rPr lang="ru-RU" altLang="ja-JP" sz="2000" i="1" u="sng">
                <a:latin typeface="Times New Roman" pitchFamily="18" charset="0"/>
              </a:rPr>
              <a:t>Қуйида келтирилган қоидалар асосида</a:t>
            </a:r>
            <a:r>
              <a:rPr lang="ru-RU" altLang="ja-JP" sz="2000" i="1">
                <a:latin typeface="Times New Roman" pitchFamily="18" charset="0"/>
              </a:rPr>
              <a:t> 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m=sh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учун 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B</a:t>
            </a:r>
            <a:r>
              <a:rPr lang="en-US" altLang="ja-JP" sz="2000" b="1" i="1" baseline="-25000">
                <a:latin typeface="Times New Roman" pitchFamily="18" charset="0"/>
                <a:ea typeface="ＭＳ Ｐゴシック" charset="-128"/>
              </a:rPr>
              <a:t>1A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[256] </a:t>
            </a:r>
            <a:r>
              <a:rPr lang="uz-Cyrl-UZ" altLang="ja-JP" sz="2000" i="1">
                <a:latin typeface="Times New Roman" pitchFamily="18" charset="0"/>
              </a:rPr>
              <a:t>ва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 B</a:t>
            </a:r>
            <a:r>
              <a:rPr lang="en-US" altLang="ja-JP" sz="2000" b="1" i="1" baseline="-25000">
                <a:latin typeface="Times New Roman" pitchFamily="18" charset="0"/>
                <a:ea typeface="ＭＳ Ｐゴシック" charset="-128"/>
              </a:rPr>
              <a:t>2A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[256]</a:t>
            </a:r>
            <a:r>
              <a:rPr lang="ru-RU" altLang="ja-JP" sz="2000">
                <a:latin typeface="Times New Roman" pitchFamily="18" charset="0"/>
              </a:rPr>
              <a:t> </a:t>
            </a:r>
            <a:r>
              <a:rPr lang="ru-RU" altLang="ja-JP" sz="2000" i="1" u="sng">
                <a:latin typeface="Times New Roman" pitchFamily="18" charset="0"/>
              </a:rPr>
              <a:t>чизиқли</a:t>
            </a:r>
            <a:r>
              <a:rPr lang="en-US" altLang="ja-JP" sz="2000" i="1" u="sng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 u="sng">
                <a:latin typeface="Times New Roman" pitchFamily="18" charset="0"/>
              </a:rPr>
              <a:t>массивлар</a:t>
            </a:r>
            <a:r>
              <a:rPr lang="en-US" altLang="ja-JP" sz="2000" i="1" u="sng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 u="sng">
                <a:latin typeface="Times New Roman" pitchFamily="18" charset="0"/>
              </a:rPr>
              <a:t>жуфтлиги</a:t>
            </a:r>
            <a:r>
              <a:rPr lang="en-US" altLang="ja-JP" sz="2000" i="1" u="sng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 u="sng">
                <a:latin typeface="Times New Roman" pitchFamily="18" charset="0"/>
              </a:rPr>
              <a:t>шакллантирилсин: </a:t>
            </a:r>
            <a:endParaRPr lang="uz-Cyrl-UZ" altLang="ja-JP" sz="2000" i="1" u="sng">
              <a:latin typeface="Times New Roman" pitchFamily="18" charset="0"/>
            </a:endParaRPr>
          </a:p>
          <a:p>
            <a:pPr indent="266700" algn="just"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None/>
            </a:pPr>
            <a:r>
              <a:rPr lang="sv-SE" altLang="ja-JP" sz="2000" b="1" i="1">
                <a:latin typeface="Times New Roman" pitchFamily="18" charset="0"/>
                <a:ea typeface="ＭＳ Ｐゴシック" charset="-128"/>
              </a:rPr>
              <a:t>i=0,..,255, s=1,2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учун</a:t>
            </a:r>
            <a:r>
              <a:rPr lang="uz-Cyrl-UZ" altLang="ja-JP" sz="2000" i="1">
                <a:latin typeface="Times New Roman" pitchFamily="18" charset="0"/>
              </a:rPr>
              <a:t>:</a:t>
            </a:r>
          </a:p>
          <a:p>
            <a:pPr indent="266700" algn="just"/>
            <a:r>
              <a:rPr lang="uz-Cyrl-UZ" altLang="ja-JP" sz="2000" i="1">
                <a:latin typeface="Times New Roman" pitchFamily="18" charset="0"/>
              </a:rPr>
              <a:t>	</a:t>
            </a:r>
            <a:r>
              <a:rPr lang="uz-Cyrl-UZ" altLang="ja-JP" sz="2000" b="1" i="1">
                <a:latin typeface="Times New Roman" pitchFamily="18" charset="0"/>
              </a:rPr>
              <a:t>-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sv-SE" altLang="ja-JP" sz="2000" b="1" i="1">
                <a:latin typeface="Times New Roman" pitchFamily="18" charset="0"/>
                <a:ea typeface="ＭＳ Ｐゴシック" charset="-128"/>
              </a:rPr>
              <a:t>B</a:t>
            </a:r>
            <a:r>
              <a:rPr lang="sv-SE" altLang="ja-JP" sz="2000" b="1" i="1" baseline="-25000">
                <a:latin typeface="Times New Roman" pitchFamily="18" charset="0"/>
                <a:ea typeface="ＭＳ Ｐゴシック" charset="-128"/>
              </a:rPr>
              <a:t>sA</a:t>
            </a:r>
            <a:r>
              <a:rPr lang="sv-SE" altLang="ja-JP" sz="2000" b="1" i="1">
                <a:latin typeface="Times New Roman" pitchFamily="18" charset="0"/>
                <a:ea typeface="ＭＳ Ｐゴシック" charset="-128"/>
              </a:rPr>
              <a:t>[i]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  <a:sym typeface="Symbol" pitchFamily="18" charset="2"/>
              </a:rPr>
              <a:t></a:t>
            </a:r>
            <a:r>
              <a:rPr lang="sv-SE" altLang="ja-JP" sz="2000" b="1" i="1">
                <a:latin typeface="Times New Roman" pitchFamily="18" charset="0"/>
                <a:ea typeface="ＭＳ Ｐゴシック" charset="-128"/>
              </a:rPr>
              <a:t>(((i+L</a:t>
            </a:r>
            <a:r>
              <a:rPr lang="sv-SE" altLang="ja-JP" sz="2000" b="1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sv-SE" altLang="ja-JP" sz="2000" b="1" i="1">
                <a:latin typeface="Times New Roman" pitchFamily="18" charset="0"/>
                <a:ea typeface="ＭＳ Ｐゴシック" charset="-128"/>
              </a:rPr>
              <a:t>) mod256)+1 )</a:t>
            </a:r>
            <a:r>
              <a:rPr lang="sv-SE" altLang="ja-JP" sz="2000" b="1" i="1" baseline="30000">
                <a:latin typeface="Times New Roman" pitchFamily="18" charset="0"/>
                <a:ea typeface="ＭＳ Ｐゴシック" charset="-128"/>
              </a:rPr>
              <a:t>|ds</a:t>
            </a:r>
            <a:r>
              <a:rPr lang="sv-SE" altLang="ja-JP" sz="2000" b="1" i="1">
                <a:latin typeface="Times New Roman" pitchFamily="18" charset="0"/>
                <a:ea typeface="ＭＳ Ｐゴシック" charset="-128"/>
              </a:rPr>
              <a:t> (mod 257)(mod 256)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ҳисоблансин</a:t>
            </a:r>
            <a:r>
              <a:rPr lang="uz-Cyrl-UZ" altLang="ja-JP" sz="2000" i="1">
                <a:latin typeface="Times New Roman" pitchFamily="18" charset="0"/>
              </a:rPr>
              <a:t>,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</a:p>
          <a:p>
            <a:pPr indent="266700" algn="just"/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      </a:t>
            </a:r>
            <a:r>
              <a:rPr lang="uz-Cyrl-UZ" altLang="ja-JP" sz="2000" i="1">
                <a:latin typeface="Times New Roman" pitchFamily="18" charset="0"/>
              </a:rPr>
              <a:t>       </a:t>
            </a:r>
            <a:r>
              <a:rPr lang="uz-Cyrl-UZ" altLang="ja-JP" sz="2000" b="1" i="1">
                <a:latin typeface="Times New Roman" pitchFamily="18" charset="0"/>
              </a:rPr>
              <a:t>-</a:t>
            </a:r>
            <a:r>
              <a:rPr lang="uz-Cyrl-UZ" altLang="ja-JP" sz="2000" i="1">
                <a:latin typeface="Times New Roman" pitchFamily="18" charset="0"/>
              </a:rPr>
              <a:t> агар 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i-B</a:t>
            </a:r>
            <a:r>
              <a:rPr lang="sv-SE" altLang="ja-JP" sz="2000" i="1" baseline="-25000">
                <a:latin typeface="Times New Roman" pitchFamily="18" charset="0"/>
                <a:ea typeface="ＭＳ Ｐゴシック" charset="-128"/>
              </a:rPr>
              <a:t>sA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[i]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=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0 </a:t>
            </a:r>
            <a:r>
              <a:rPr lang="ru-RU" altLang="ja-JP" sz="2000" i="1">
                <a:latin typeface="Times New Roman" pitchFamily="18" charset="0"/>
              </a:rPr>
              <a:t>ва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he-IL" altLang="ja-JP" sz="2000" i="1">
                <a:latin typeface="Times New Roman" pitchFamily="18" charset="0"/>
              </a:rPr>
              <a:t>׀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B</a:t>
            </a:r>
            <a:r>
              <a:rPr lang="sv-SE" altLang="ja-JP" sz="2000" i="1" baseline="-25000">
                <a:latin typeface="Times New Roman" pitchFamily="18" charset="0"/>
                <a:ea typeface="ＭＳ Ｐゴシック" charset="-128"/>
              </a:rPr>
              <a:t>sA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[i-1]-B</a:t>
            </a:r>
            <a:r>
              <a:rPr lang="sv-SE" altLang="ja-JP" sz="2000" i="1" baseline="-25000">
                <a:latin typeface="Times New Roman" pitchFamily="18" charset="0"/>
                <a:ea typeface="ＭＳ Ｐゴシック" charset="-128"/>
              </a:rPr>
              <a:t>sA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[i]</a:t>
            </a:r>
            <a:r>
              <a:rPr lang="he-IL" altLang="ja-JP" sz="2000" i="1">
                <a:latin typeface="Times New Roman" pitchFamily="18" charset="0"/>
              </a:rPr>
              <a:t>׀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≤8 </a:t>
            </a:r>
            <a:r>
              <a:rPr lang="uz-Cyrl-UZ" altLang="ja-JP" sz="2000" i="1">
                <a:latin typeface="Times New Roman" pitchFamily="18" charset="0"/>
              </a:rPr>
              <a:t>бўлса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, 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s=1 </a:t>
            </a:r>
            <a:r>
              <a:rPr lang="ru-RU" altLang="ja-JP" sz="2000" i="1">
                <a:latin typeface="Times New Roman" pitchFamily="18" charset="0"/>
              </a:rPr>
              <a:t>да 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B</a:t>
            </a:r>
            <a:r>
              <a:rPr lang="en-US" altLang="ja-JP" sz="2000" i="1" baseline="-25000">
                <a:latin typeface="Times New Roman" pitchFamily="18" charset="0"/>
                <a:ea typeface="ＭＳ Ｐゴシック" charset="-128"/>
              </a:rPr>
              <a:t>s</a:t>
            </a:r>
            <a:r>
              <a:rPr lang="sv-SE" altLang="ja-JP" sz="2000" i="1" baseline="-25000">
                <a:latin typeface="Times New Roman" pitchFamily="18" charset="0"/>
                <a:ea typeface="ＭＳ Ｐゴシック" charset="-128"/>
              </a:rPr>
              <a:t>A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[i] </a:t>
            </a:r>
            <a:r>
              <a:rPr lang="ru-RU" altLang="ja-JP" sz="2000" i="1">
                <a:latin typeface="Times New Roman" pitchFamily="18" charset="0"/>
              </a:rPr>
              <a:t>нинг </a:t>
            </a:r>
            <a:r>
              <a:rPr lang="uz-Cyrl-UZ" altLang="ja-JP" sz="2000" i="1">
                <a:latin typeface="Times New Roman" pitchFamily="18" charset="0"/>
              </a:rPr>
              <a:t>қиймати 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(i-b[3]) (mod 256) </a:t>
            </a:r>
            <a:r>
              <a:rPr lang="ru-RU" altLang="ja-JP" sz="2000" i="1">
                <a:latin typeface="Times New Roman" pitchFamily="18" charset="0"/>
              </a:rPr>
              <a:t>ёки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s=2 </a:t>
            </a:r>
            <a:r>
              <a:rPr lang="uz-Cyrl-UZ" altLang="ja-JP" sz="2000" i="1">
                <a:latin typeface="Times New Roman" pitchFamily="18" charset="0"/>
              </a:rPr>
              <a:t>да 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B</a:t>
            </a:r>
            <a:r>
              <a:rPr lang="sv-SE" altLang="ja-JP" sz="2000" i="1" baseline="-25000">
                <a:latin typeface="Times New Roman" pitchFamily="18" charset="0"/>
                <a:ea typeface="ＭＳ Ｐゴシック" charset="-128"/>
              </a:rPr>
              <a:t>sA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[i] </a:t>
            </a:r>
            <a:r>
              <a:rPr lang="uz-Cyrl-UZ" altLang="ja-JP" sz="2000" i="1">
                <a:latin typeface="Times New Roman" pitchFamily="18" charset="0"/>
              </a:rPr>
              <a:t>нинг қиймати 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(i-b[7])(mod 256)</a:t>
            </a:r>
            <a:r>
              <a:rPr lang="ru-RU" altLang="ja-JP" sz="2000" i="1">
                <a:latin typeface="Times New Roman" pitchFamily="18" charset="0"/>
              </a:rPr>
              <a:t>га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тенг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манзилдаги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элемент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билан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жойлари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алмаштирилсин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ва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s=1 </a:t>
            </a:r>
            <a:r>
              <a:rPr lang="ru-RU" altLang="ja-JP" sz="2000" i="1">
                <a:latin typeface="Times New Roman" pitchFamily="18" charset="0"/>
              </a:rPr>
              <a:t>учун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uz-Cyrl-UZ" altLang="ja-JP" sz="2000" i="1">
                <a:latin typeface="Times New Roman" pitchFamily="18" charset="0"/>
              </a:rPr>
              <a:t>          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b[3]=b[3]-5 (mod 256) </a:t>
            </a:r>
            <a:r>
              <a:rPr lang="ru-RU" altLang="ja-JP" sz="2000" i="1">
                <a:latin typeface="Times New Roman" pitchFamily="18" charset="0"/>
              </a:rPr>
              <a:t>ёки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s=2 </a:t>
            </a:r>
            <a:r>
              <a:rPr lang="ru-RU" altLang="ja-JP" sz="2000" i="1">
                <a:latin typeface="Times New Roman" pitchFamily="18" charset="0"/>
              </a:rPr>
              <a:t>учун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b[7]= b[7]-5 (mod 256) </a:t>
            </a:r>
            <a:r>
              <a:rPr lang="ru-RU" altLang="ja-JP" sz="2000" i="1">
                <a:latin typeface="Times New Roman" pitchFamily="18" charset="0"/>
              </a:rPr>
              <a:t>қабул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қилинсин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. </a:t>
            </a:r>
            <a:endParaRPr lang="uz-Cyrl-UZ" altLang="ja-JP" sz="2000" i="1">
              <a:latin typeface="Times New Roman" pitchFamily="18" charset="0"/>
            </a:endParaRPr>
          </a:p>
          <a:p>
            <a:pPr indent="266700" algn="just"/>
            <a:endParaRPr lang="sv-SE" altLang="ja-JP" sz="1000" i="1">
              <a:latin typeface="Times New Roman" pitchFamily="18" charset="0"/>
              <a:ea typeface="ＭＳ Ｐゴシック" charset="-128"/>
            </a:endParaRPr>
          </a:p>
          <a:p>
            <a:pPr indent="266700" algn="just"/>
            <a:r>
              <a:rPr lang="ru-RU" altLang="ja-JP" sz="2000" b="1" i="1">
                <a:latin typeface="Times New Roman" pitchFamily="18" charset="0"/>
              </a:rPr>
              <a:t>Изоҳ</a:t>
            </a: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–</a:t>
            </a:r>
            <a:r>
              <a:rPr lang="uz-Cyrl-UZ" altLang="ja-JP" sz="2000" i="1">
                <a:latin typeface="Times New Roman" pitchFamily="18" charset="0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тоқ</a:t>
            </a:r>
            <a:r>
              <a:rPr lang="uz-Cyrl-UZ" altLang="ja-JP" sz="2000" i="1">
                <a:latin typeface="Times New Roman" pitchFamily="18" charset="0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босқичларда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 B</a:t>
            </a:r>
            <a:r>
              <a:rPr lang="en-US" altLang="ja-JP" sz="2000" i="1" baseline="-25000">
                <a:latin typeface="Times New Roman" pitchFamily="18" charset="0"/>
                <a:ea typeface="ＭＳ Ｐゴシック" charset="-128"/>
              </a:rPr>
              <a:t>1A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, </a:t>
            </a:r>
            <a:r>
              <a:rPr lang="ru-RU" altLang="ja-JP" sz="2000" i="1">
                <a:latin typeface="Times New Roman" pitchFamily="18" charset="0"/>
              </a:rPr>
              <a:t>жуфт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босқичларда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 B</a:t>
            </a:r>
            <a:r>
              <a:rPr lang="en-US" altLang="ja-JP" sz="2000" i="1" baseline="-25000">
                <a:latin typeface="Times New Roman" pitchFamily="18" charset="0"/>
                <a:ea typeface="ＭＳ Ｐゴシック" charset="-128"/>
              </a:rPr>
              <a:t>2A</a:t>
            </a:r>
            <a:r>
              <a:rPr lang="uz-Cyrl-UZ" altLang="ja-JP" sz="2000" i="1" baseline="-25000">
                <a:latin typeface="Times New Roman" pitchFamily="18" charset="0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массивдан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фойдаланилади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.</a:t>
            </a:r>
            <a:endParaRPr lang="uz-Cyrl-UZ" altLang="ja-JP" sz="2000" i="1">
              <a:latin typeface="Times New Roman" pitchFamily="18" charset="0"/>
            </a:endParaRPr>
          </a:p>
          <a:p>
            <a:pPr indent="266700" algn="just"/>
            <a:endParaRPr lang="uz-Cyrl-UZ" altLang="ja-JP" sz="2000" i="1" u="sng">
              <a:latin typeface="Times New Roman" pitchFamily="18" charset="0"/>
            </a:endParaRPr>
          </a:p>
          <a:p>
            <a:pPr indent="266700" algn="just">
              <a:buClr>
                <a:schemeClr val="accent2"/>
              </a:buClr>
              <a:buFont typeface="Wingdings" pitchFamily="2" charset="2"/>
              <a:buChar char="Ш"/>
            </a:pPr>
            <a:r>
              <a:rPr lang="uz-Cyrl-UZ" altLang="ja-JP" sz="2000" i="1">
                <a:latin typeface="Times New Roman" pitchFamily="18" charset="0"/>
              </a:rPr>
              <a:t> </a:t>
            </a:r>
            <a:r>
              <a:rPr lang="ru-RU" altLang="ja-JP" sz="2000" i="1" u="sng">
                <a:latin typeface="Times New Roman" pitchFamily="18" charset="0"/>
              </a:rPr>
              <a:t>Қуйида келтирилган қоидалар асосида</a:t>
            </a:r>
            <a:r>
              <a:rPr lang="ru-RU" altLang="ja-JP" sz="2000" i="1">
                <a:latin typeface="Times New Roman" pitchFamily="18" charset="0"/>
              </a:rPr>
              <a:t> 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m=dsh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uz-Cyrl-UZ" altLang="ja-JP" sz="2000" i="1">
                <a:latin typeface="Times New Roman" pitchFamily="18" charset="0"/>
              </a:rPr>
              <a:t>учун 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B</a:t>
            </a:r>
            <a:r>
              <a:rPr lang="en-US" altLang="ja-JP" sz="2000" b="1" i="1" baseline="-25000">
                <a:latin typeface="Times New Roman" pitchFamily="18" charset="0"/>
                <a:ea typeface="ＭＳ Ｐゴシック" charset="-128"/>
              </a:rPr>
              <a:t>1AD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[256] </a:t>
            </a:r>
            <a:r>
              <a:rPr lang="uz-Cyrl-UZ" altLang="ja-JP" sz="2000" i="1">
                <a:latin typeface="Times New Roman" pitchFamily="18" charset="0"/>
              </a:rPr>
              <a:t>ва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 B</a:t>
            </a:r>
            <a:r>
              <a:rPr lang="en-US" altLang="ja-JP" sz="2000" b="1" i="1" baseline="-25000">
                <a:latin typeface="Times New Roman" pitchFamily="18" charset="0"/>
                <a:ea typeface="ＭＳ Ｐゴシック" charset="-128"/>
              </a:rPr>
              <a:t>2AD</a:t>
            </a:r>
            <a:r>
              <a:rPr lang="en-US" altLang="ja-JP" sz="2000" b="1" i="1">
                <a:latin typeface="Times New Roman" pitchFamily="18" charset="0"/>
                <a:ea typeface="ＭＳ Ｐゴシック" charset="-128"/>
              </a:rPr>
              <a:t>[256]</a:t>
            </a:r>
            <a:r>
              <a:rPr lang="ru-RU" altLang="ja-JP" sz="2000">
                <a:latin typeface="Times New Roman" pitchFamily="18" charset="0"/>
              </a:rPr>
              <a:t> </a:t>
            </a:r>
            <a:r>
              <a:rPr lang="ru-RU" altLang="ja-JP" sz="2000" i="1" u="sng">
                <a:latin typeface="Times New Roman" pitchFamily="18" charset="0"/>
              </a:rPr>
              <a:t>чизиқли</a:t>
            </a:r>
            <a:r>
              <a:rPr lang="en-US" altLang="ja-JP" sz="2000" i="1" u="sng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 u="sng">
                <a:latin typeface="Times New Roman" pitchFamily="18" charset="0"/>
              </a:rPr>
              <a:t>массивлар</a:t>
            </a:r>
            <a:r>
              <a:rPr lang="en-US" altLang="ja-JP" sz="2000" i="1" u="sng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 u="sng">
                <a:latin typeface="Times New Roman" pitchFamily="18" charset="0"/>
              </a:rPr>
              <a:t>жуфтлиги</a:t>
            </a:r>
            <a:r>
              <a:rPr lang="en-US" altLang="ja-JP" sz="2000" i="1" u="sng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 u="sng">
                <a:latin typeface="Times New Roman" pitchFamily="18" charset="0"/>
              </a:rPr>
              <a:t>шакллантирилсин: </a:t>
            </a:r>
            <a:endParaRPr lang="uz-Cyrl-UZ" altLang="ja-JP" sz="2000" i="1" u="sng">
              <a:latin typeface="Times New Roman" pitchFamily="18" charset="0"/>
            </a:endParaRPr>
          </a:p>
          <a:p>
            <a:pPr indent="266700" algn="just"/>
            <a:r>
              <a:rPr lang="uz-Cyrl-UZ" altLang="ja-JP" sz="2000" b="1" i="1">
                <a:latin typeface="Times New Roman" pitchFamily="18" charset="0"/>
              </a:rPr>
              <a:t>-</a:t>
            </a:r>
            <a:r>
              <a:rPr lang="uz-Cyrl-UZ" altLang="ja-JP" sz="2000" i="1">
                <a:latin typeface="Times New Roman" pitchFamily="18" charset="0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чизиқли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массив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sv-SE" altLang="ja-JP" sz="2000" b="1" i="1">
                <a:latin typeface="Times New Roman" pitchFamily="18" charset="0"/>
                <a:ea typeface="ＭＳ Ｐゴシック" charset="-128"/>
              </a:rPr>
              <a:t>B</a:t>
            </a:r>
            <a:r>
              <a:rPr lang="sv-SE" altLang="ja-JP" sz="2000" b="1" i="1" baseline="-25000">
                <a:latin typeface="Times New Roman" pitchFamily="18" charset="0"/>
                <a:ea typeface="ＭＳ Ｐゴシック" charset="-128"/>
              </a:rPr>
              <a:t>sA</a:t>
            </a:r>
            <a:r>
              <a:rPr lang="sv-SE" altLang="ja-JP" sz="2000" b="1" i="1">
                <a:latin typeface="Times New Roman" pitchFamily="18" charset="0"/>
                <a:ea typeface="ＭＳ Ｐゴシック" charset="-128"/>
              </a:rPr>
              <a:t>[256]</a:t>
            </a: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uz-Cyrl-UZ" altLang="ja-JP" sz="2000" i="1">
                <a:latin typeface="Times New Roman" pitchFamily="18" charset="0"/>
              </a:rPr>
              <a:t>(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s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  <a:sym typeface="Symbol" pitchFamily="18" charset="2"/>
              </a:rPr>
              <a:t>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{1,2}</a:t>
            </a:r>
            <a:r>
              <a:rPr lang="uz-Cyrl-UZ" altLang="ja-JP" sz="2000" i="1">
                <a:latin typeface="Times New Roman" pitchFamily="18" charset="0"/>
              </a:rPr>
              <a:t>)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uz-Cyrl-UZ" altLang="ja-JP" sz="2000" i="1">
                <a:latin typeface="Times New Roman" pitchFamily="18" charset="0"/>
              </a:rPr>
              <a:t>нинг </a:t>
            </a:r>
            <a:r>
              <a:rPr lang="ru-RU" altLang="ja-JP" sz="2000" i="1">
                <a:latin typeface="Times New Roman" pitchFamily="18" charset="0"/>
              </a:rPr>
              <a:t>ҳар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бир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uz-Cyrl-UZ" altLang="ja-JP" sz="2000" i="1">
                <a:latin typeface="Times New Roman" pitchFamily="18" charset="0"/>
              </a:rPr>
              <a:t>байт </a:t>
            </a:r>
            <a:r>
              <a:rPr lang="ru-RU" altLang="ja-JP" sz="2000" i="1">
                <a:latin typeface="Times New Roman" pitchFamily="18" charset="0"/>
              </a:rPr>
              <a:t>элемент</a:t>
            </a:r>
            <a:r>
              <a:rPr lang="uz-Cyrl-UZ" altLang="ja-JP" sz="2000" i="1">
                <a:latin typeface="Times New Roman" pitchFamily="18" charset="0"/>
              </a:rPr>
              <a:t>и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унинг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манзили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(</a:t>
            </a:r>
            <a:r>
              <a:rPr lang="ru-RU" altLang="ja-JP" sz="2000" i="1">
                <a:latin typeface="Times New Roman" pitchFamily="18" charset="0"/>
              </a:rPr>
              <a:t>индекси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)</a:t>
            </a:r>
            <a:r>
              <a:rPr lang="ru-RU" altLang="ja-JP" sz="2000" i="1">
                <a:latin typeface="Times New Roman" pitchFamily="18" charset="0"/>
              </a:rPr>
              <a:t>га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тенг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қийматга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алмаштириш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ва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ҳосил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бўлган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массивни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манзиллар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ортиб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бориши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тартибида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жойлаштириш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кифоя</a:t>
            </a:r>
            <a:r>
              <a:rPr lang="sv-SE" altLang="ja-JP" sz="2000" i="1">
                <a:latin typeface="Times New Roman" pitchFamily="18" charset="0"/>
                <a:ea typeface="ＭＳ Ｐゴシック" charset="-128"/>
              </a:rPr>
              <a:t>.</a:t>
            </a:r>
          </a:p>
          <a:p>
            <a:pPr indent="266700" algn="just"/>
            <a:endParaRPr lang="uz-Cyrl-UZ" altLang="ja-JP" sz="1000" b="1" i="1">
              <a:latin typeface="Times New Roman" pitchFamily="18" charset="0"/>
            </a:endParaRPr>
          </a:p>
          <a:p>
            <a:pPr indent="266700" algn="just"/>
            <a:r>
              <a:rPr lang="ru-RU" altLang="ja-JP" sz="2000" b="1" i="1">
                <a:latin typeface="Times New Roman" pitchFamily="18" charset="0"/>
              </a:rPr>
              <a:t>Изоҳ</a:t>
            </a:r>
            <a:r>
              <a:rPr lang="uz-Cyrl-UZ" altLang="ja-JP" sz="2000" b="1" i="1">
                <a:latin typeface="Times New Roman" pitchFamily="18" charset="0"/>
              </a:rPr>
              <a:t> 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–</a:t>
            </a:r>
            <a:r>
              <a:rPr lang="uz-Cyrl-UZ" altLang="ja-JP" sz="2000" i="1">
                <a:latin typeface="Times New Roman" pitchFamily="18" charset="0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тоқ</a:t>
            </a:r>
            <a:r>
              <a:rPr lang="uz-Cyrl-UZ" altLang="ja-JP" sz="2000" i="1">
                <a:latin typeface="Times New Roman" pitchFamily="18" charset="0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босқичларда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 B</a:t>
            </a:r>
            <a:r>
              <a:rPr lang="en-US" altLang="ja-JP" sz="2000" i="1" baseline="-25000">
                <a:latin typeface="Times New Roman" pitchFamily="18" charset="0"/>
                <a:ea typeface="ＭＳ Ｐゴシック" charset="-128"/>
              </a:rPr>
              <a:t>2AD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, </a:t>
            </a:r>
            <a:r>
              <a:rPr lang="ru-RU" altLang="ja-JP" sz="2000" i="1">
                <a:latin typeface="Times New Roman" pitchFamily="18" charset="0"/>
              </a:rPr>
              <a:t>жуфт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босқичларда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 B</a:t>
            </a:r>
            <a:r>
              <a:rPr lang="en-US" altLang="ja-JP" sz="2000" i="1" baseline="-25000">
                <a:latin typeface="Times New Roman" pitchFamily="18" charset="0"/>
                <a:ea typeface="ＭＳ Ｐゴシック" charset="-128"/>
              </a:rPr>
              <a:t>1AD</a:t>
            </a:r>
            <a:r>
              <a:rPr lang="uz-Cyrl-UZ" altLang="ja-JP" sz="2000" i="1">
                <a:latin typeface="Times New Roman" pitchFamily="18" charset="0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массивдан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000" i="1">
                <a:latin typeface="Times New Roman" pitchFamily="18" charset="0"/>
              </a:rPr>
              <a:t>фойдаланилади</a:t>
            </a:r>
            <a:r>
              <a:rPr lang="en-US" altLang="ja-JP" sz="2000" i="1">
                <a:latin typeface="Times New Roman" pitchFamily="18" charset="0"/>
                <a:ea typeface="ＭＳ Ｐゴシック" charset="-128"/>
              </a:rPr>
              <a:t>.</a:t>
            </a:r>
            <a:endParaRPr lang="uz-Cyrl-UZ" altLang="ja-JP" sz="2000" i="1">
              <a:latin typeface="Times New Roman" pitchFamily="18" charset="0"/>
            </a:endParaRPr>
          </a:p>
        </p:txBody>
      </p:sp>
      <p:sp>
        <p:nvSpPr>
          <p:cNvPr id="45062" name="AutoShape 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6408738"/>
            <a:ext cx="468313" cy="404812"/>
          </a:xfrm>
          <a:prstGeom prst="actionButtonHome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179388" y="646113"/>
            <a:ext cx="8842375" cy="5956300"/>
          </a:xfrm>
          <a:prstGeom prst="rect">
            <a:avLst/>
          </a:prstGeom>
          <a:solidFill>
            <a:schemeClr val="bg1">
              <a:alpha val="85881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355600" algn="just">
              <a:spcBef>
                <a:spcPct val="30000"/>
              </a:spcBef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None/>
              <a:tabLst>
                <a:tab pos="444500" algn="l"/>
              </a:tabLst>
            </a:pPr>
            <a:r>
              <a:rPr lang="uz-Cyrl-UZ" altLang="ja-JP" b="1" i="1" u="sng">
                <a:solidFill>
                  <a:schemeClr val="accent2"/>
                </a:solidFill>
                <a:latin typeface="Times New Roman" pitchFamily="18" charset="0"/>
              </a:rPr>
              <a:t>Акслантириш қуйидаги қадамлар кетма-кетлигидан иборат</a:t>
            </a:r>
            <a:r>
              <a:rPr lang="uz-Cyrl-UZ" altLang="ja-JP" b="1" i="1">
                <a:solidFill>
                  <a:schemeClr val="accent2"/>
                </a:solidFill>
                <a:latin typeface="Times New Roman" pitchFamily="18" charset="0"/>
              </a:rPr>
              <a:t>:</a:t>
            </a: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  <a:tabLst>
                <a:tab pos="444500" algn="l"/>
              </a:tabLst>
            </a:pPr>
            <a:r>
              <a:rPr lang="uz-Cyrl-UZ" altLang="ja-JP" b="1" i="1">
                <a:latin typeface="Times New Roman" pitchFamily="18" charset="0"/>
              </a:rPr>
              <a:t> 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b="1" i="1">
                <a:latin typeface="Times New Roman" pitchFamily="18" charset="0"/>
              </a:rPr>
              <a:t>[0,1,2,3,… 19]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=K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st</a:t>
            </a:r>
            <a:r>
              <a:rPr lang="ru-RU" altLang="ja-JP" b="1" i="1">
                <a:latin typeface="Times New Roman" pitchFamily="18" charset="0"/>
              </a:rPr>
              <a:t>[0,1,2,3,…</a:t>
            </a:r>
            <a:r>
              <a:rPr lang="uz-Cyrl-UZ" altLang="ja-JP" b="1" i="1">
                <a:latin typeface="Times New Roman" pitchFamily="18" charset="0"/>
              </a:rPr>
              <a:t>19,</a:t>
            </a:r>
            <a:r>
              <a:rPr lang="uz-Cyrl-UZ" altLang="ja-JP" b="1" i="1">
                <a:solidFill>
                  <a:schemeClr val="accent2"/>
                </a:solidFill>
                <a:latin typeface="Times New Roman" pitchFamily="18" charset="0"/>
              </a:rPr>
              <a:t>20,..</a:t>
            </a:r>
            <a:r>
              <a:rPr lang="ru-RU" altLang="ja-JP" b="1" i="1">
                <a:solidFill>
                  <a:schemeClr val="accent2"/>
                </a:solidFill>
                <a:latin typeface="Times New Roman" pitchFamily="18" charset="0"/>
              </a:rPr>
              <a:t> 31</a:t>
            </a:r>
            <a:r>
              <a:rPr lang="ru-RU" altLang="ja-JP" b="1" i="1">
                <a:latin typeface="Times New Roman" pitchFamily="18" charset="0"/>
              </a:rPr>
              <a:t>]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 </a:t>
            </a:r>
            <a:r>
              <a:rPr lang="uz-Cyrl-UZ" altLang="ja-JP" i="1">
                <a:latin typeface="Times New Roman" pitchFamily="18" charset="0"/>
              </a:rPr>
              <a:t>ҳисоблансин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,</a:t>
            </a:r>
            <a:endParaRPr lang="en-US" altLang="ja-JP" b="1" i="1">
              <a:latin typeface="Times New Roman" pitchFamily="18" charset="0"/>
              <a:ea typeface="ＭＳ Ｐゴシック" charset="-128"/>
            </a:endParaRP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Tx/>
              <a:buChar char="•"/>
              <a:tabLst>
                <a:tab pos="444500" algn="l"/>
              </a:tabLst>
            </a:pPr>
            <a:r>
              <a:rPr lang="uz-Cyrl-UZ" altLang="ja-JP" b="1" i="1">
                <a:latin typeface="Times New Roman" pitchFamily="18" charset="0"/>
              </a:rPr>
              <a:t>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i</a:t>
            </a:r>
            <a:r>
              <a:rPr lang="ru-RU" altLang="ja-JP" i="1">
                <a:latin typeface="Times New Roman" pitchFamily="18" charset="0"/>
              </a:rPr>
              <a:t>=0</a:t>
            </a:r>
            <a:r>
              <a:rPr lang="uz-Cyrl-UZ" altLang="ja-JP" i="1">
                <a:latin typeface="Times New Roman" pitchFamily="18" charset="0"/>
              </a:rPr>
              <a:t>,..</a:t>
            </a:r>
            <a:r>
              <a:rPr lang="ru-RU" altLang="ja-JP" i="1">
                <a:latin typeface="Times New Roman" pitchFamily="18" charset="0"/>
              </a:rPr>
              <a:t>19 учун</a:t>
            </a:r>
            <a:r>
              <a:rPr lang="uz-Cyrl-UZ" altLang="ja-JP" i="1">
                <a:latin typeface="Times New Roman" pitchFamily="18" charset="0"/>
              </a:rPr>
              <a:t>,</a:t>
            </a:r>
            <a:r>
              <a:rPr lang="ru-RU" altLang="ja-JP" i="1">
                <a:latin typeface="Times New Roman" pitchFamily="18" charset="0"/>
              </a:rPr>
              <a:t> агар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i</a:t>
            </a:r>
            <a:r>
              <a:rPr lang="ru-RU" altLang="ja-JP" i="1">
                <a:latin typeface="Times New Roman" pitchFamily="18" charset="0"/>
              </a:rPr>
              <a:t>]=0 бўлса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i</a:t>
            </a:r>
            <a:r>
              <a:rPr lang="ru-RU" altLang="ja-JP" i="1">
                <a:latin typeface="Times New Roman" pitchFamily="18" charset="0"/>
              </a:rPr>
              <a:t>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=K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i</a:t>
            </a:r>
            <a:r>
              <a:rPr lang="ru-RU" altLang="ja-JP" i="1">
                <a:latin typeface="Times New Roman" pitchFamily="18" charset="0"/>
              </a:rPr>
              <a:t>]–1(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i="1">
                <a:latin typeface="Times New Roman" pitchFamily="18" charset="0"/>
              </a:rPr>
              <a:t>)</a:t>
            </a: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Tx/>
              <a:buChar char="•"/>
              <a:tabLst>
                <a:tab pos="444500" algn="l"/>
              </a:tabLst>
            </a:pP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агар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[6](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</a:t>
            </a:r>
            <a:r>
              <a:rPr lang="ru-RU" altLang="ja-JP" i="1">
                <a:latin typeface="Times New Roman" pitchFamily="18" charset="0"/>
              </a:rPr>
              <a:t> 2)=0 бўлса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[6]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=K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[6]–1(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i="1">
                <a:latin typeface="Times New Roman" pitchFamily="18" charset="0"/>
              </a:rPr>
              <a:t>)</a:t>
            </a: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Tx/>
              <a:buChar char="•"/>
              <a:tabLst>
                <a:tab pos="444500" algn="l"/>
              </a:tabLst>
            </a:pP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агар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[16](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</a:t>
            </a:r>
            <a:r>
              <a:rPr lang="ru-RU" altLang="ja-JP" i="1">
                <a:latin typeface="Times New Roman" pitchFamily="18" charset="0"/>
              </a:rPr>
              <a:t> 2)=0 бўлса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[16]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=K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[16]–1(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i="1">
                <a:latin typeface="Times New Roman" pitchFamily="18" charset="0"/>
              </a:rPr>
              <a:t>)</a:t>
            </a: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Tx/>
              <a:buChar char="•"/>
              <a:tabLst>
                <a:tab pos="444500" algn="l"/>
              </a:tabLst>
            </a:pP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агар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[6]+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[0]+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[8]+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[5](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</a:t>
            </a:r>
            <a:r>
              <a:rPr lang="ru-RU" altLang="ja-JP" i="1">
                <a:latin typeface="Times New Roman" pitchFamily="18" charset="0"/>
              </a:rPr>
              <a:t> 2)=0 бўлса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[8]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=K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[8]–1(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i="1">
                <a:latin typeface="Times New Roman" pitchFamily="18" charset="0"/>
              </a:rPr>
              <a:t>)</a:t>
            </a: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Tx/>
              <a:buChar char="•"/>
              <a:tabLst>
                <a:tab pos="444500" algn="l"/>
              </a:tabLst>
            </a:pP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агар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[16]+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[10]+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[18]+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[15](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</a:t>
            </a:r>
            <a:r>
              <a:rPr lang="ru-RU" altLang="ja-JP" i="1">
                <a:latin typeface="Times New Roman" pitchFamily="18" charset="0"/>
              </a:rPr>
              <a:t>2)=0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бўлса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[18]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=K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[18]–1(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modp</a:t>
            </a:r>
            <a:r>
              <a:rPr lang="ru-RU" altLang="ja-JP" i="1">
                <a:latin typeface="Times New Roman" pitchFamily="18" charset="0"/>
              </a:rPr>
              <a:t>)</a:t>
            </a: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Tx/>
              <a:buChar char="•"/>
              <a:tabLst>
                <a:tab pos="444500" algn="l"/>
              </a:tabLst>
            </a:pP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агар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[6]+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[9]+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[4](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</a:t>
            </a:r>
            <a:r>
              <a:rPr lang="ru-RU" altLang="ja-JP" i="1">
                <a:latin typeface="Times New Roman" pitchFamily="18" charset="0"/>
              </a:rPr>
              <a:t> 2)=0 бўлса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[9]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=K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[9]–1(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i="1">
                <a:latin typeface="Times New Roman" pitchFamily="18" charset="0"/>
              </a:rPr>
              <a:t>)</a:t>
            </a: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Tx/>
              <a:buChar char="•"/>
              <a:tabLst>
                <a:tab pos="444500" algn="l"/>
              </a:tabLst>
            </a:pP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агар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[16]+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[11]+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[19]+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[14](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</a:t>
            </a:r>
            <a:r>
              <a:rPr lang="ru-RU" altLang="ja-JP" i="1">
                <a:latin typeface="Times New Roman" pitchFamily="18" charset="0"/>
              </a:rPr>
              <a:t>2)=0 бўлса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[19]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=K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[19]–1(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modp</a:t>
            </a:r>
            <a:r>
              <a:rPr lang="ru-RU" altLang="ja-JP" i="1">
                <a:latin typeface="Times New Roman" pitchFamily="18" charset="0"/>
              </a:rPr>
              <a:t>)</a:t>
            </a: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Tx/>
              <a:buChar char="•"/>
              <a:tabLst>
                <a:tab pos="444500" algn="l"/>
              </a:tabLst>
            </a:pP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агар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[6]+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[2]+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[4]+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[7](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</a:t>
            </a:r>
            <a:r>
              <a:rPr lang="ru-RU" altLang="ja-JP" i="1">
                <a:latin typeface="Times New Roman" pitchFamily="18" charset="0"/>
              </a:rPr>
              <a:t> 2)=0 бўлса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kss</a:t>
            </a:r>
            <a:r>
              <a:rPr lang="ru-RU" altLang="ja-JP" i="1">
                <a:latin typeface="Times New Roman" pitchFamily="18" charset="0"/>
              </a:rPr>
              <a:t>[7]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=K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[7]–1(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 p</a:t>
            </a:r>
            <a:r>
              <a:rPr lang="ru-RU" altLang="ja-JP" i="1">
                <a:latin typeface="Times New Roman" pitchFamily="18" charset="0"/>
              </a:rPr>
              <a:t>)</a:t>
            </a: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Tx/>
              <a:buChar char="•"/>
              <a:tabLst>
                <a:tab pos="444500" algn="l"/>
              </a:tabLst>
            </a:pPr>
            <a:r>
              <a:rPr lang="en-US" altLang="ja-JP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i="1">
                <a:latin typeface="Times New Roman" pitchFamily="18" charset="0"/>
              </a:rPr>
              <a:t>агар 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[16]+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[12]+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[13]+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[14]+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[17](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</a:t>
            </a:r>
            <a:r>
              <a:rPr lang="ru-RU" altLang="ja-JP" i="1">
                <a:latin typeface="Times New Roman" pitchFamily="18" charset="0"/>
              </a:rPr>
              <a:t>2)=0 бўлса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 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[17]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=K</a:t>
            </a:r>
            <a:r>
              <a:rPr lang="en-US" altLang="ja-JP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i="1">
                <a:latin typeface="Times New Roman" pitchFamily="18" charset="0"/>
              </a:rPr>
              <a:t>[17]–1(</a:t>
            </a:r>
            <a:r>
              <a:rPr lang="en-US" altLang="ja-JP" i="1">
                <a:latin typeface="Times New Roman" pitchFamily="18" charset="0"/>
                <a:ea typeface="ＭＳ Ｐゴシック" charset="-128"/>
              </a:rPr>
              <a:t>modp</a:t>
            </a:r>
            <a:r>
              <a:rPr lang="ru-RU" altLang="ja-JP" i="1">
                <a:latin typeface="Times New Roman" pitchFamily="18" charset="0"/>
              </a:rPr>
              <a:t>)</a:t>
            </a:r>
            <a:endParaRPr lang="en-US" altLang="ja-JP" i="1">
              <a:latin typeface="Times New Roman" pitchFamily="18" charset="0"/>
              <a:ea typeface="ＭＳ Ｐゴシック" charset="-128"/>
            </a:endParaRP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  <a:tabLst>
                <a:tab pos="444500" algn="l"/>
              </a:tabLst>
            </a:pP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b="1" i="1" baseline="-25000">
                <a:latin typeface="Times New Roman" pitchFamily="18" charset="0"/>
              </a:rPr>
              <a:t>1</a:t>
            </a:r>
            <a:r>
              <a:rPr lang="ru-RU" altLang="ja-JP" b="1" i="1">
                <a:latin typeface="Times New Roman" pitchFamily="18" charset="0"/>
              </a:rPr>
              <a:t>[0,1,2,3,…9]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=K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b="1" i="1">
                <a:latin typeface="Times New Roman" pitchFamily="18" charset="0"/>
              </a:rPr>
              <a:t>[0,1,2,…9] </a:t>
            </a:r>
            <a:r>
              <a:rPr lang="ru-RU" altLang="ja-JP" i="1">
                <a:latin typeface="Times New Roman" pitchFamily="18" charset="0"/>
              </a:rPr>
              <a:t>ва 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b="1" i="1" baseline="-25000">
                <a:latin typeface="Times New Roman" pitchFamily="18" charset="0"/>
              </a:rPr>
              <a:t>2</a:t>
            </a:r>
            <a:r>
              <a:rPr lang="ru-RU" altLang="ja-JP" b="1" i="1">
                <a:latin typeface="Times New Roman" pitchFamily="18" charset="0"/>
              </a:rPr>
              <a:t>[0,1,2,…,9]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=K</a:t>
            </a:r>
            <a:r>
              <a:rPr lang="en-US" altLang="ja-JP" b="1" i="1" baseline="-25000">
                <a:latin typeface="Times New Roman" pitchFamily="18" charset="0"/>
                <a:ea typeface="ＭＳ Ｐゴシック" charset="-128"/>
              </a:rPr>
              <a:t>ss</a:t>
            </a:r>
            <a:r>
              <a:rPr lang="ru-RU" altLang="ja-JP" b="1" i="1">
                <a:latin typeface="Times New Roman" pitchFamily="18" charset="0"/>
              </a:rPr>
              <a:t>[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10</a:t>
            </a:r>
            <a:r>
              <a:rPr lang="ru-RU" altLang="ja-JP" b="1" i="1">
                <a:latin typeface="Times New Roman" pitchFamily="18" charset="0"/>
              </a:rPr>
              <a:t>,</a:t>
            </a:r>
            <a:r>
              <a:rPr lang="en-US" altLang="ja-JP" b="1" i="1">
                <a:latin typeface="Times New Roman" pitchFamily="18" charset="0"/>
                <a:ea typeface="ＭＳ Ｐゴシック" charset="-128"/>
              </a:rPr>
              <a:t>1</a:t>
            </a:r>
            <a:r>
              <a:rPr lang="ru-RU" altLang="ja-JP" b="1" i="1">
                <a:latin typeface="Times New Roman" pitchFamily="18" charset="0"/>
              </a:rPr>
              <a:t>1,2,3,…9] </a:t>
            </a:r>
            <a:r>
              <a:rPr lang="uz-Cyrl-UZ" altLang="ja-JP" i="1">
                <a:latin typeface="Times New Roman" pitchFamily="18" charset="0"/>
              </a:rPr>
              <a:t>ҳисоблансин </a:t>
            </a:r>
            <a:r>
              <a:rPr lang="ru-RU" altLang="ja-JP" i="1">
                <a:latin typeface="Times New Roman" pitchFamily="18" charset="0"/>
              </a:rPr>
              <a:t>ва</a:t>
            </a:r>
            <a:endParaRPr lang="uz-Cyrl-UZ" altLang="ja-JP" i="1">
              <a:latin typeface="Times New Roman" pitchFamily="18" charset="0"/>
            </a:endParaRP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  <a:tabLst>
                <a:tab pos="444500" algn="l"/>
              </a:tabLst>
            </a:pPr>
            <a:r>
              <a:rPr lang="uz-Cyrl-UZ" altLang="ja-JP" i="1">
                <a:latin typeface="Times New Roman" pitchFamily="18" charset="0"/>
              </a:rPr>
              <a:t>+++++++</a:t>
            </a: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  <a:tabLst>
                <a:tab pos="444500" algn="l"/>
              </a:tabLst>
            </a:pPr>
            <a:r>
              <a:rPr lang="uz-Cyrl-UZ" altLang="ja-JP" i="1">
                <a:latin typeface="Times New Roman" pitchFamily="18" charset="0"/>
              </a:rPr>
              <a:t>+++++++</a:t>
            </a:r>
            <a:endParaRPr lang="uz-Cyrl-UZ" altLang="uz-Cyrl-UZ" i="1">
              <a:latin typeface="Times New Roman" pitchFamily="18" charset="0"/>
            </a:endParaRPr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0" y="0"/>
            <a:ext cx="9144000" cy="427038"/>
          </a:xfrm>
          <a:prstGeom prst="rect">
            <a:avLst/>
          </a:prstGeom>
          <a:solidFill>
            <a:srgbClr val="00FF00">
              <a:alpha val="9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ShaklSeansKalit</a:t>
            </a:r>
            <a:r>
              <a:rPr lang="uz-Cyrl-UZ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(</a:t>
            </a:r>
            <a:r>
              <a:rPr lang="uz-Cyrl-UZ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200" b="1" i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st</a:t>
            </a:r>
            <a:r>
              <a:rPr lang="uz-Cyrl-UZ" altLang="ja-JP" sz="2200" b="1" i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)</a:t>
            </a:r>
            <a:r>
              <a:rPr lang="en-US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 </a:t>
            </a:r>
            <a:r>
              <a:rPr lang="uz-Cyrl-UZ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– акслантириши </a:t>
            </a:r>
            <a:endParaRPr lang="ru-RU" sz="22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51206" name="AutoShape 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2813" y="6300788"/>
            <a:ext cx="468312" cy="404812"/>
          </a:xfrm>
          <a:prstGeom prst="actionButtonHome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179388" y="1074738"/>
            <a:ext cx="8842375" cy="5092700"/>
          </a:xfrm>
          <a:prstGeom prst="rect">
            <a:avLst/>
          </a:prstGeom>
          <a:solidFill>
            <a:schemeClr val="bg1">
              <a:alpha val="85881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355600" algn="just">
              <a:spcBef>
                <a:spcPct val="30000"/>
              </a:spcBef>
              <a:spcAft>
                <a:spcPct val="35000"/>
              </a:spcAft>
              <a:buClr>
                <a:schemeClr val="accent2"/>
              </a:buClr>
              <a:buFont typeface="Wingdings" pitchFamily="2" charset="2"/>
              <a:buNone/>
              <a:tabLst>
                <a:tab pos="444500" algn="l"/>
              </a:tabLst>
            </a:pPr>
            <a:r>
              <a:rPr lang="uz-Cyrl-UZ" altLang="ja-JP" sz="2200" b="1" i="1" u="sng">
                <a:solidFill>
                  <a:schemeClr val="accent2"/>
                </a:solidFill>
                <a:latin typeface="Times New Roman" pitchFamily="18" charset="0"/>
              </a:rPr>
              <a:t>Акслантириш қуйидаги қадамлар кетма-кетлигидан иборат</a:t>
            </a:r>
            <a:r>
              <a:rPr lang="uz-Cyrl-UZ" altLang="ja-JP" sz="2200" b="1" i="1">
                <a:solidFill>
                  <a:schemeClr val="accent2"/>
                </a:solidFill>
                <a:latin typeface="Times New Roman" pitchFamily="18" charset="0"/>
              </a:rPr>
              <a:t>:</a:t>
            </a: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444500" algn="l"/>
              </a:tabLst>
            </a:pPr>
            <a:r>
              <a:rPr lang="ru-RU" altLang="ja-JP" sz="2200" i="1" u="sng">
                <a:latin typeface="Times New Roman" pitchFamily="18" charset="0"/>
              </a:rPr>
              <a:t>Барча </a:t>
            </a:r>
            <a:r>
              <a:rPr lang="en-US" altLang="ja-JP" sz="2200" b="1" i="1" u="sng">
                <a:latin typeface="Times New Roman" pitchFamily="18" charset="0"/>
                <a:ea typeface="ＭＳ Ｐゴシック" charset="-128"/>
              </a:rPr>
              <a:t>e=1,2,..8 </a:t>
            </a:r>
            <a:r>
              <a:rPr lang="ru-RU" altLang="ja-JP" sz="2200" i="1" u="sng">
                <a:latin typeface="Times New Roman" pitchFamily="18" charset="0"/>
              </a:rPr>
              <a:t>бо</a:t>
            </a:r>
            <a:r>
              <a:rPr lang="uz-Cyrl-UZ" altLang="ja-JP" sz="2200" i="1" u="sng">
                <a:latin typeface="Times New Roman" pitchFamily="18" charset="0"/>
              </a:rPr>
              <a:t>сқичлар </a:t>
            </a:r>
            <a:r>
              <a:rPr lang="ru-RU" altLang="ja-JP" sz="2200" i="1" u="sng">
                <a:latin typeface="Times New Roman" pitchFamily="18" charset="0"/>
              </a:rPr>
              <a:t>учун</a:t>
            </a:r>
            <a:r>
              <a:rPr lang="uz-Cyrl-UZ" altLang="ja-JP" sz="2200" i="1">
                <a:latin typeface="Times New Roman" pitchFamily="18" charset="0"/>
              </a:rPr>
              <a:t>:</a:t>
            </a:r>
            <a:r>
              <a:rPr lang="ru-RU" altLang="ja-JP" sz="2200" i="1">
                <a:latin typeface="Times New Roman" pitchFamily="18" charset="0"/>
              </a:rPr>
              <a:t> </a:t>
            </a:r>
            <a:endParaRPr lang="en-US" altLang="ja-JP" sz="2200" i="1">
              <a:latin typeface="Times New Roman" pitchFamily="18" charset="0"/>
              <a:ea typeface="ＭＳ Ｐゴシック" charset="-128"/>
            </a:endParaRP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  <a:tabLst>
                <a:tab pos="444500" algn="l"/>
              </a:tabLst>
            </a:pPr>
            <a:r>
              <a:rPr lang="uz-Cyrl-UZ" altLang="ja-JP" sz="2200" i="1">
                <a:latin typeface="Times New Roman" pitchFamily="18" charset="0"/>
              </a:rPr>
              <a:t> </a:t>
            </a:r>
            <a:r>
              <a:rPr lang="ru-RU" altLang="ja-JP" sz="2200" i="1">
                <a:latin typeface="Times New Roman" pitchFamily="18" charset="0"/>
              </a:rPr>
              <a:t>Агар </a:t>
            </a:r>
            <a:r>
              <a:rPr lang="uz-Cyrl-UZ" altLang="ja-JP" sz="2200" b="1" i="1">
                <a:latin typeface="Times New Roman" pitchFamily="18" charset="0"/>
              </a:rPr>
              <a:t>bosqich=1 </a:t>
            </a:r>
            <a:r>
              <a:rPr lang="uz-Cyrl-UZ" altLang="ja-JP" sz="2200" i="1">
                <a:latin typeface="Times New Roman" pitchFamily="18" charset="0"/>
              </a:rPr>
              <a:t>бўлиб, </a:t>
            </a:r>
            <a:r>
              <a:rPr lang="uz-Cyrl-UZ" altLang="ja-JP" sz="2200" b="1" i="1">
                <a:latin typeface="Times New Roman" pitchFamily="18" charset="0"/>
              </a:rPr>
              <a:t>m=sh</a:t>
            </a:r>
            <a:r>
              <a:rPr lang="uz-Cyrl-UZ" altLang="ja-JP" sz="2200" i="1">
                <a:latin typeface="Times New Roman" pitchFamily="18" charset="0"/>
              </a:rPr>
              <a:t> бўлса</a:t>
            </a:r>
            <a:r>
              <a:rPr lang="ru-RU" altLang="ja-JP" sz="2200" i="1">
                <a:latin typeface="Times New Roman" pitchFamily="18" charset="0"/>
              </a:rPr>
              <a:t> </a:t>
            </a:r>
            <a:r>
              <a:rPr lang="uz-Cyrl-UZ" altLang="ja-JP" sz="2200" i="1">
                <a:latin typeface="Times New Roman" pitchFamily="18" charset="0"/>
              </a:rPr>
              <a:t>k</a:t>
            </a:r>
            <a:r>
              <a:rPr lang="uz-Cyrl-UZ" altLang="ja-JP" sz="2200" i="1" baseline="-25000">
                <a:latin typeface="Times New Roman" pitchFamily="18" charset="0"/>
              </a:rPr>
              <a:t>se</a:t>
            </a:r>
            <a:r>
              <a:rPr lang="uz-Cyrl-UZ" altLang="ja-JP" sz="2200" i="1">
                <a:latin typeface="Times New Roman" pitchFamily="18" charset="0"/>
              </a:rPr>
              <a:t> (</a:t>
            </a:r>
            <a:r>
              <a:rPr lang="uz-Cyrl-UZ" altLang="ja-JP" i="1">
                <a:latin typeface="Times New Roman" pitchFamily="18" charset="0"/>
              </a:rPr>
              <a:t>ЧИЗИҚЛИ СЕАНС-БОСҚИЧ КАЛИТИ</a:t>
            </a:r>
            <a:r>
              <a:rPr lang="uz-Cyrl-UZ" altLang="ja-JP" sz="2200" i="1">
                <a:latin typeface="Times New Roman" pitchFamily="18" charset="0"/>
              </a:rPr>
              <a:t>) ўзгармай қолсин, </a:t>
            </a:r>
            <a:r>
              <a:rPr lang="uz-Cyrl-UZ" altLang="ja-JP" sz="2200" b="1" i="1">
                <a:latin typeface="Times New Roman" pitchFamily="18" charset="0"/>
              </a:rPr>
              <a:t>m=dsh </a:t>
            </a:r>
            <a:r>
              <a:rPr lang="uz-Cyrl-UZ" altLang="ja-JP" sz="2200" i="1">
                <a:latin typeface="Times New Roman" pitchFamily="18" charset="0"/>
              </a:rPr>
              <a:t>бўлса k</a:t>
            </a:r>
            <a:r>
              <a:rPr lang="uz-Cyrl-UZ" altLang="ja-JP" sz="2200" i="1" baseline="-25000">
                <a:latin typeface="Times New Roman" pitchFamily="18" charset="0"/>
              </a:rPr>
              <a:t>se</a:t>
            </a:r>
            <a:r>
              <a:rPr lang="uz-Cyrl-UZ" altLang="ja-JP" sz="2200" i="1">
                <a:latin typeface="Times New Roman" pitchFamily="18" charset="0"/>
              </a:rPr>
              <a:t> массиви </a:t>
            </a:r>
            <a:r>
              <a:rPr lang="ru-RU" altLang="ja-JP" sz="2200" i="1">
                <a:latin typeface="Times New Roman" pitchFamily="18" charset="0"/>
              </a:rPr>
              <a:t>даврий </a:t>
            </a:r>
            <a:r>
              <a:rPr lang="uz-Cyrl-UZ" altLang="ja-JP" sz="2200" i="1">
                <a:latin typeface="Times New Roman" pitchFamily="18" charset="0"/>
              </a:rPr>
              <a:t>ўнгга         672-(е х 83) mod 672  битга сурилсин.</a:t>
            </a:r>
            <a:endParaRPr lang="en-US" altLang="ja-JP" sz="2200" i="1">
              <a:latin typeface="Times New Roman" pitchFamily="18" charset="0"/>
              <a:ea typeface="ＭＳ Ｐゴシック" charset="-128"/>
            </a:endParaRP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444500" algn="l"/>
              </a:tabLst>
            </a:pPr>
            <a:endParaRPr lang="uz-Cyrl-UZ" altLang="ja-JP" sz="600" i="1">
              <a:latin typeface="Times New Roman" pitchFamily="18" charset="0"/>
            </a:endParaRP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444500" algn="l"/>
              </a:tabLst>
            </a:pP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      k</a:t>
            </a:r>
            <a:r>
              <a:rPr lang="en-US" altLang="ja-JP" sz="2200" i="1" baseline="-25000">
                <a:latin typeface="Times New Roman" pitchFamily="18" charset="0"/>
                <a:ea typeface="ＭＳ Ｐゴシック" charset="-128"/>
              </a:rPr>
              <a:t>se </a:t>
            </a:r>
            <a:r>
              <a:rPr lang="uz-Cyrl-UZ" altLang="ja-JP" sz="2200" i="1">
                <a:latin typeface="Times New Roman" pitchFamily="18" charset="0"/>
              </a:rPr>
              <a:t>нинг чап томонидан 256 битли қисмини ажратиб олиб, K</a:t>
            </a:r>
            <a:r>
              <a:rPr lang="uz-Cyrl-UZ" altLang="ja-JP" sz="2200" i="1" baseline="-25000">
                <a:latin typeface="Times New Roman" pitchFamily="18" charset="0"/>
              </a:rPr>
              <a:t>e</a:t>
            </a:r>
            <a:r>
              <a:rPr lang="uz-Cyrl-UZ" altLang="ja-JP" sz="2200" i="1">
                <a:latin typeface="Times New Roman" pitchFamily="18" charset="0"/>
              </a:rPr>
              <a:t>[8,4] массиви шакллантирилсин. </a:t>
            </a: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444500" algn="l"/>
              </a:tabLst>
            </a:pPr>
            <a:endParaRPr lang="uz-Cyrl-UZ" altLang="ja-JP" sz="2200" i="1">
              <a:latin typeface="Times New Roman" pitchFamily="18" charset="0"/>
            </a:endParaRP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  <a:tabLst>
                <a:tab pos="444500" algn="l"/>
              </a:tabLst>
            </a:pPr>
            <a:r>
              <a:rPr lang="uz-Cyrl-UZ" altLang="ja-JP" sz="2200" i="1">
                <a:latin typeface="Times New Roman" pitchFamily="18" charset="0"/>
              </a:rPr>
              <a:t> Агар </a:t>
            </a:r>
            <a:r>
              <a:rPr lang="uz-Cyrl-UZ" altLang="ja-JP" sz="2200" b="1" i="1">
                <a:latin typeface="Times New Roman" pitchFamily="18" charset="0"/>
              </a:rPr>
              <a:t>bosqich&gt;1 </a:t>
            </a:r>
            <a:r>
              <a:rPr lang="uz-Cyrl-UZ" altLang="ja-JP" sz="2200" i="1">
                <a:latin typeface="Times New Roman" pitchFamily="18" charset="0"/>
              </a:rPr>
              <a:t>бўлиб,</a:t>
            </a:r>
            <a:r>
              <a:rPr lang="uz-Cyrl-UZ" altLang="ja-JP" sz="2200" b="1" i="1">
                <a:latin typeface="Times New Roman" pitchFamily="18" charset="0"/>
              </a:rPr>
              <a:t> m=sh </a:t>
            </a:r>
            <a:r>
              <a:rPr lang="uz-Cyrl-UZ" altLang="ja-JP" sz="2200" i="1">
                <a:latin typeface="Times New Roman" pitchFamily="18" charset="0"/>
              </a:rPr>
              <a:t>бўлса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 k</a:t>
            </a:r>
            <a:r>
              <a:rPr lang="en-US" altLang="ja-JP" sz="2200" i="1" baseline="-25000">
                <a:latin typeface="Times New Roman" pitchFamily="18" charset="0"/>
                <a:ea typeface="ＭＳ Ｐゴシック" charset="-128"/>
              </a:rPr>
              <a:t>se </a:t>
            </a:r>
            <a:r>
              <a:rPr lang="uz-Cyrl-UZ" altLang="ja-JP" sz="2200" i="1">
                <a:latin typeface="Times New Roman" pitchFamily="18" charset="0"/>
              </a:rPr>
              <a:t>даврий ўнгга 83 битга сурилсин, </a:t>
            </a:r>
            <a:r>
              <a:rPr lang="uz-Cyrl-UZ" altLang="ja-JP" sz="2200" b="1" i="1">
                <a:latin typeface="Times New Roman" pitchFamily="18" charset="0"/>
              </a:rPr>
              <a:t>m=dsh </a:t>
            </a:r>
            <a:r>
              <a:rPr lang="uz-Cyrl-UZ" altLang="ja-JP" sz="2200" i="1">
                <a:latin typeface="Times New Roman" pitchFamily="18" charset="0"/>
              </a:rPr>
              <a:t>бўлса, унда 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200" i="1" baseline="-25000">
                <a:latin typeface="Times New Roman" pitchFamily="18" charset="0"/>
                <a:ea typeface="ＭＳ Ｐゴシック" charset="-128"/>
              </a:rPr>
              <a:t>se </a:t>
            </a:r>
            <a:r>
              <a:rPr lang="uz-Cyrl-UZ" altLang="ja-JP" sz="2200" i="1">
                <a:latin typeface="Times New Roman" pitchFamily="18" charset="0"/>
              </a:rPr>
              <a:t>даврий чапга 83 битга сурилсин.</a:t>
            </a:r>
            <a:endParaRPr lang="ru-RU" altLang="ja-JP" sz="2200" i="1">
              <a:latin typeface="Times New Roman" pitchFamily="18" charset="0"/>
            </a:endParaRPr>
          </a:p>
          <a:p>
            <a:pPr indent="355600" algn="just">
              <a:spcBef>
                <a:spcPct val="30000"/>
              </a:spcBef>
              <a:tabLst>
                <a:tab pos="444500" algn="l"/>
              </a:tabLst>
            </a:pPr>
            <a:endParaRPr lang="uz-Cyrl-UZ" altLang="ja-JP" sz="600" i="1">
              <a:latin typeface="Times New Roman" pitchFamily="18" charset="0"/>
            </a:endParaRPr>
          </a:p>
          <a:p>
            <a:pPr indent="355600" algn="just">
              <a:spcBef>
                <a:spcPct val="30000"/>
              </a:spcBef>
              <a:tabLst>
                <a:tab pos="444500" algn="l"/>
              </a:tabLst>
            </a:pP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    k</a:t>
            </a:r>
            <a:r>
              <a:rPr lang="en-US" altLang="ja-JP" sz="2200" i="1" baseline="-25000">
                <a:latin typeface="Times New Roman" pitchFamily="18" charset="0"/>
                <a:ea typeface="ＭＳ Ｐゴシック" charset="-128"/>
              </a:rPr>
              <a:t>se </a:t>
            </a:r>
            <a:r>
              <a:rPr lang="ru-RU" altLang="ja-JP" sz="2200" i="1">
                <a:latin typeface="Times New Roman" pitchFamily="18" charset="0"/>
              </a:rPr>
              <a:t>нинг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200" i="1">
                <a:latin typeface="Times New Roman" pitchFamily="18" charset="0"/>
              </a:rPr>
              <a:t>чап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200" i="1">
                <a:latin typeface="Times New Roman" pitchFamily="18" charset="0"/>
              </a:rPr>
              <a:t>томонидан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 256 </a:t>
            </a:r>
            <a:r>
              <a:rPr lang="ru-RU" altLang="ja-JP" sz="2200" i="1">
                <a:latin typeface="Times New Roman" pitchFamily="18" charset="0"/>
              </a:rPr>
              <a:t>битли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200" i="1">
                <a:latin typeface="Times New Roman" pitchFamily="18" charset="0"/>
              </a:rPr>
              <a:t>қисмини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200" i="1">
                <a:latin typeface="Times New Roman" pitchFamily="18" charset="0"/>
              </a:rPr>
              <a:t>ажратиб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200" i="1">
                <a:latin typeface="Times New Roman" pitchFamily="18" charset="0"/>
              </a:rPr>
              <a:t>олиб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, K</a:t>
            </a:r>
            <a:r>
              <a:rPr lang="en-US" altLang="ja-JP" sz="2200" i="1" baseline="-25000">
                <a:latin typeface="Times New Roman" pitchFamily="18" charset="0"/>
                <a:ea typeface="ＭＳ Ｐゴシック" charset="-128"/>
              </a:rPr>
              <a:t>e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[8,4] </a:t>
            </a:r>
            <a:r>
              <a:rPr lang="ru-RU" altLang="ja-JP" sz="2200" i="1">
                <a:latin typeface="Times New Roman" pitchFamily="18" charset="0"/>
              </a:rPr>
              <a:t>массиви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 </a:t>
            </a:r>
            <a:r>
              <a:rPr lang="ru-RU" altLang="ja-JP" sz="2200" i="1">
                <a:latin typeface="Times New Roman" pitchFamily="18" charset="0"/>
              </a:rPr>
              <a:t>шакллантирилсин</a:t>
            </a:r>
            <a:r>
              <a:rPr lang="en-US" altLang="ja-JP" sz="2200" i="1">
                <a:latin typeface="Times New Roman" pitchFamily="18" charset="0"/>
                <a:ea typeface="ＭＳ Ｐゴシック" charset="-128"/>
              </a:rPr>
              <a:t>.</a:t>
            </a:r>
            <a:endParaRPr lang="uz-Cyrl-UZ" altLang="uz-Cyrl-UZ" sz="2200" i="1">
              <a:latin typeface="Times New Roman" pitchFamily="18" charset="0"/>
            </a:endParaRPr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0" y="0"/>
            <a:ext cx="9144000" cy="427038"/>
          </a:xfrm>
          <a:prstGeom prst="rect">
            <a:avLst/>
          </a:prstGeom>
          <a:solidFill>
            <a:srgbClr val="FFFF00">
              <a:alpha val="9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ShaklBosqichKalit</a:t>
            </a:r>
            <a:r>
              <a:rPr lang="uz-Cyrl-UZ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(</a:t>
            </a:r>
            <a:r>
              <a:rPr lang="uz-Cyrl-UZ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k</a:t>
            </a:r>
            <a:r>
              <a:rPr lang="en-US" altLang="ja-JP" sz="2200" b="1" i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se</a:t>
            </a:r>
            <a:r>
              <a:rPr lang="uz-Cyrl-UZ" altLang="ja-JP" sz="2200" b="1" i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)</a:t>
            </a:r>
            <a:r>
              <a:rPr lang="en-US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 </a:t>
            </a:r>
            <a:r>
              <a:rPr lang="uz-Cyrl-UZ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– акслантириши </a:t>
            </a:r>
            <a:endParaRPr lang="ru-RU" sz="22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52228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96300" y="6273800"/>
            <a:ext cx="468313" cy="404813"/>
          </a:xfrm>
          <a:prstGeom prst="actionButtonHome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2" name="Rectangle 22"/>
          <p:cNvSpPr>
            <a:spLocks noChangeArrowheads="1"/>
          </p:cNvSpPr>
          <p:nvPr/>
        </p:nvSpPr>
        <p:spPr bwMode="auto">
          <a:xfrm>
            <a:off x="0" y="981075"/>
            <a:ext cx="9144000" cy="5492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uz-Cyrl-UZ" sz="2600" b="1">
                <a:latin typeface="Times New Roman" pitchFamily="18" charset="0"/>
              </a:rPr>
              <a:t> </a:t>
            </a:r>
            <a:r>
              <a:rPr lang="uz-Cyrl-UZ" sz="3000" b="1">
                <a:latin typeface="Times New Roman" pitchFamily="18" charset="0"/>
              </a:rPr>
              <a:t>Маъруза тамом</a:t>
            </a:r>
          </a:p>
        </p:txBody>
      </p:sp>
      <p:grpSp>
        <p:nvGrpSpPr>
          <p:cNvPr id="28675" name="Group 7"/>
          <p:cNvGrpSpPr>
            <a:grpSpLocks/>
          </p:cNvGrpSpPr>
          <p:nvPr/>
        </p:nvGrpSpPr>
        <p:grpSpPr bwMode="auto">
          <a:xfrm>
            <a:off x="74613" y="6453188"/>
            <a:ext cx="8997950" cy="360362"/>
            <a:chOff x="47" y="4065"/>
            <a:chExt cx="5668" cy="227"/>
          </a:xfrm>
        </p:grpSpPr>
        <p:sp>
          <p:nvSpPr>
            <p:cNvPr id="28676" name="Line 16"/>
            <p:cNvSpPr>
              <a:spLocks noChangeShapeType="1"/>
            </p:cNvSpPr>
            <p:nvPr/>
          </p:nvSpPr>
          <p:spPr bwMode="auto">
            <a:xfrm>
              <a:off x="47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3313" y="4080"/>
              <a:ext cx="240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  <a:r>
                <a:rPr lang="uz-Cyrl-UZ" sz="1600" i="1" smtClean="0">
                  <a:solidFill>
                    <a:srgbClr val="6666FF"/>
                  </a:solidFill>
                  <a:latin typeface="Times New Roman" pitchFamily="18" charset="0"/>
                </a:rPr>
                <a:t>, </a:t>
              </a:r>
              <a:r>
                <a:rPr lang="ru-RU" sz="1600" i="1" smtClean="0">
                  <a:solidFill>
                    <a:srgbClr val="6666FF"/>
                  </a:solidFill>
                  <a:latin typeface="Times New Roman" pitchFamily="18" charset="0"/>
                </a:rPr>
                <a:t>УзДСт 1105:2009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Профиль">
  <a:themeElements>
    <a:clrScheme name="Профиль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Профиль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рофиль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рофиль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5622</TotalTime>
  <Words>3191</Words>
  <Application>Microsoft Office PowerPoint</Application>
  <PresentationFormat>Экран (4:3)</PresentationFormat>
  <Paragraphs>606</Paragraphs>
  <Slides>26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7" baseType="lpstr">
      <vt:lpstr>Профиль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Тошкент - 2009</dc:title>
  <dc:creator>USER</dc:creator>
  <cp:lastModifiedBy>Microsoft Office</cp:lastModifiedBy>
  <cp:revision>945</cp:revision>
  <dcterms:created xsi:type="dcterms:W3CDTF">2010-10-01T16:11:11Z</dcterms:created>
  <dcterms:modified xsi:type="dcterms:W3CDTF">2019-08-21T09:08:24Z</dcterms:modified>
</cp:coreProperties>
</file>