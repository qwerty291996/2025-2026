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"/>
  </p:handoutMasterIdLst>
  <p:sldIdLst>
    <p:sldId id="275" r:id="rId2"/>
    <p:sldId id="258" r:id="rId3"/>
    <p:sldId id="276" r:id="rId4"/>
    <p:sldId id="259" r:id="rId5"/>
  </p:sldIdLst>
  <p:sldSz cx="9144000" cy="6858000" type="screen4x3"/>
  <p:notesSz cx="6797675" cy="987425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CCFF"/>
    <a:srgbClr val="CCFFFF"/>
    <a:srgbClr val="009999"/>
    <a:srgbClr val="FF9900"/>
    <a:srgbClr val="00CC00"/>
    <a:srgbClr val="33CC3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Средний стиль 1 -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Темный стиль 2 -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60" autoAdjust="0"/>
  </p:normalViewPr>
  <p:slideViewPr>
    <p:cSldViewPr>
      <p:cViewPr varScale="1">
        <p:scale>
          <a:sx n="105" d="100"/>
          <a:sy n="105" d="100"/>
        </p:scale>
        <p:origin x="-17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61CE6AB-5EE8-4D16-8752-031E0CC787AA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DE21377B-8ED9-4E8F-9E09-0AB5542B2E0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8305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CE937E-74E6-48B8-96CD-6251C13EDA81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844C2A-BA5F-4DDD-AB88-284C9B260C3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911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FD28C-FBA2-4E19-B601-AA330EFF8455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298793-70B4-4B86-AA71-6272259FAC9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460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5ACB7-40C4-4B26-8823-07FFD6543516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1ABB9-2BF2-40B8-A0B8-5FCB37AA488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15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AD5C3F-C4ED-4B66-9A31-70ECDB181C60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2FF173-A14E-424D-B943-E173CF262EE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336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6697F2-B395-4F8B-9292-2B8542CBF53F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F8B73F-C24B-45DA-B30E-E7D77A50A3A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678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A0933-43D8-48E0-BB31-13DF571C0311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B82DB6-4DCC-409E-8B91-CDC3AE7EC63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38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C2477A-D9CB-49DA-AAE0-5846B3914B6F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9D93B-98B4-4816-A457-86FEE3DD25E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624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E40CF-55E0-446A-AE89-3EF71C44A0CB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0CF157-27C6-4220-AD68-8D50690BF17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28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C4012-E080-438C-9723-628C4F4B37ED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6430D-CD41-40CF-9A88-51654500435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1242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25A0C3-3D05-43EF-B1AA-772261C0BF48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9F969-B6DA-4080-839A-55516D6232B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712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D72C5-7190-41DE-9C85-70A55BE23B8A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0D8F9-2336-4F09-A232-5360F73BF0D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351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C2156-A0A6-4CFE-91D8-D502FADCA16B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56BFE-F362-46CD-AC04-FDBB3E34DA5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369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uz-Cyrl-UZ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uz-Cyrl-UZ" smtClean="0"/>
              <a:t>Образец текста</a:t>
            </a:r>
          </a:p>
          <a:p>
            <a:pPr lvl="1"/>
            <a:r>
              <a:rPr lang="ru-RU" altLang="uz-Cyrl-UZ" smtClean="0"/>
              <a:t>Второй уровень</a:t>
            </a:r>
          </a:p>
          <a:p>
            <a:pPr lvl="2"/>
            <a:r>
              <a:rPr lang="ru-RU" altLang="uz-Cyrl-UZ" smtClean="0"/>
              <a:t>Третий уровень</a:t>
            </a:r>
          </a:p>
          <a:p>
            <a:pPr lvl="3"/>
            <a:r>
              <a:rPr lang="ru-RU" altLang="uz-Cyrl-UZ" smtClean="0"/>
              <a:t>Четвертый уровень</a:t>
            </a:r>
          </a:p>
          <a:p>
            <a:pPr lvl="4"/>
            <a:r>
              <a:rPr lang="ru-RU" altLang="uz-Cyrl-UZ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676B7BB-7AEF-4C8E-86CC-983A9A59FE59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35749A3-0A25-4528-BA73-508AA51E5ED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539750" y="1532643"/>
            <a:ext cx="8229600" cy="1200329"/>
          </a:xfrm>
        </p:spPr>
        <p:txBody>
          <a:bodyPr>
            <a:spAutoFit/>
          </a:bodyPr>
          <a:lstStyle/>
          <a:p>
            <a:pPr eaLnBrk="1" hangingPunct="1"/>
            <a:r>
              <a:rPr lang="uz-Cyrl-UZ" altLang="uz-Cyrl-UZ" sz="3600" b="1" dirty="0" smtClean="0">
                <a:latin typeface="Times New Roman" pitchFamily="18" charset="0"/>
              </a:rPr>
              <a:t>Миллий стандарт криптографик алгоритмлар математик асослари</a:t>
            </a:r>
            <a:endParaRPr lang="ru-RU" altLang="uz-Cyrl-UZ" sz="2400" dirty="0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Содержимое 2"/>
          <p:cNvSpPr>
            <a:spLocks noGrp="1"/>
          </p:cNvSpPr>
          <p:nvPr>
            <p:ph idx="1"/>
          </p:nvPr>
        </p:nvSpPr>
        <p:spPr>
          <a:xfrm>
            <a:off x="193675" y="692150"/>
            <a:ext cx="8713788" cy="5545138"/>
          </a:xfrm>
        </p:spPr>
        <p:txBody>
          <a:bodyPr/>
          <a:lstStyle/>
          <a:p>
            <a:pPr marL="0" indent="533400" algn="just" eaLnBrk="1" hangingPunct="1">
              <a:buFont typeface="Arial" pitchFamily="34" charset="0"/>
              <a:buNone/>
            </a:pPr>
            <a:endParaRPr lang="uz-Cyrl-UZ" altLang="uz-Cyrl-UZ" sz="2400" b="1" i="1" dirty="0" smtClean="0">
              <a:latin typeface="Times New Roman" pitchFamily="18" charset="0"/>
            </a:endParaRPr>
          </a:p>
          <a:p>
            <a:pPr marL="0" indent="533400" algn="just" eaLnBrk="1" hangingPunct="1">
              <a:buFont typeface="Arial" pitchFamily="34" charset="0"/>
              <a:buNone/>
            </a:pPr>
            <a:r>
              <a:rPr lang="uz-Cyrl-UZ" altLang="uz-Cyrl-UZ" sz="2400" b="1" i="1" dirty="0" smtClean="0">
                <a:latin typeface="Times New Roman" pitchFamily="18" charset="0"/>
              </a:rPr>
              <a:t>Таъриф</a:t>
            </a:r>
            <a:r>
              <a:rPr lang="uz-Cyrl-UZ" altLang="uz-Cyrl-UZ" sz="2400" b="1" i="1" dirty="0" smtClean="0">
                <a:latin typeface="Times New Roman" pitchFamily="18" charset="0"/>
              </a:rPr>
              <a:t>:</a:t>
            </a:r>
            <a:r>
              <a:rPr lang="uz-Cyrl-UZ" altLang="uz-Cyrl-UZ" sz="2400" dirty="0" smtClean="0">
                <a:latin typeface="Times New Roman" pitchFamily="18" charset="0"/>
              </a:rPr>
              <a:t> Модуль арифметикасида параметр </a:t>
            </a:r>
            <a:r>
              <a:rPr lang="en-US" altLang="uz-Cyrl-UZ" sz="2400" dirty="0" smtClean="0">
                <a:latin typeface="Times New Roman" pitchFamily="18" charset="0"/>
              </a:rPr>
              <a:t>R</a:t>
            </a:r>
            <a:r>
              <a:rPr lang="ru-RU" altLang="uz-Cyrl-UZ" sz="2400" dirty="0" smtClean="0">
                <a:latin typeface="Times New Roman" pitchFamily="18" charset="0"/>
              </a:rPr>
              <a:t>≥1 </a:t>
            </a:r>
            <a:r>
              <a:rPr lang="uz-Cyrl-UZ" altLang="uz-Cyrl-UZ" sz="2400" dirty="0" smtClean="0">
                <a:latin typeface="Times New Roman" pitchFamily="18" charset="0"/>
              </a:rPr>
              <a:t>билан даражага</a:t>
            </a:r>
            <a:r>
              <a:rPr lang="ru-RU" altLang="uz-Cyrl-UZ" sz="2400" dirty="0" smtClean="0">
                <a:latin typeface="Times New Roman" pitchFamily="18" charset="0"/>
              </a:rPr>
              <a:t> </a:t>
            </a:r>
            <a:r>
              <a:rPr lang="uz-Cyrl-UZ" altLang="uz-Cyrl-UZ" sz="2400" dirty="0" smtClean="0">
                <a:latin typeface="Times New Roman" pitchFamily="18" charset="0"/>
              </a:rPr>
              <a:t>ошириш функцияси </a:t>
            </a:r>
            <a:r>
              <a:rPr lang="uz-Cyrl-UZ" altLang="uz-Cyrl-UZ" sz="2400" b="1" u="sng" dirty="0" smtClean="0">
                <a:latin typeface="Times New Roman" pitchFamily="18" charset="0"/>
              </a:rPr>
              <a:t>параметрли</a:t>
            </a:r>
            <a:r>
              <a:rPr lang="uz-Cyrl-UZ" altLang="uz-Cyrl-UZ" sz="2400" b="1" dirty="0" smtClean="0">
                <a:latin typeface="Times New Roman" pitchFamily="18" charset="0"/>
              </a:rPr>
              <a:t> </a:t>
            </a:r>
            <a:r>
              <a:rPr lang="uz-Cyrl-UZ" altLang="uz-Cyrl-UZ" sz="2400" b="1" u="sng" dirty="0" smtClean="0">
                <a:latin typeface="Times New Roman" pitchFamily="18" charset="0"/>
              </a:rPr>
              <a:t>функция</a:t>
            </a:r>
            <a:r>
              <a:rPr lang="uz-Cyrl-UZ" altLang="uz-Cyrl-UZ" sz="2400" b="1" dirty="0" smtClean="0">
                <a:latin typeface="Times New Roman" pitchFamily="18" charset="0"/>
              </a:rPr>
              <a:t> </a:t>
            </a:r>
            <a:r>
              <a:rPr lang="ru-RU" altLang="uz-Cyrl-UZ" sz="2400" b="1" dirty="0" smtClean="0">
                <a:latin typeface="Times New Roman" pitchFamily="18" charset="0"/>
              </a:rPr>
              <a:t>(</a:t>
            </a:r>
            <a:r>
              <a:rPr lang="en-US" altLang="uz-Cyrl-UZ" sz="2400" b="1" i="1" dirty="0" smtClean="0">
                <a:latin typeface="Times New Roman" pitchFamily="18" charset="0"/>
              </a:rPr>
              <a:t>F(x)</a:t>
            </a:r>
            <a:r>
              <a:rPr lang="ru-RU" altLang="uz-Cyrl-UZ" sz="2400" b="1" dirty="0" smtClean="0">
                <a:latin typeface="Times New Roman" pitchFamily="18" charset="0"/>
              </a:rPr>
              <a:t>)</a:t>
            </a:r>
            <a:r>
              <a:rPr lang="en-US" altLang="uz-Cyrl-UZ" sz="2400" b="1" dirty="0" smtClean="0">
                <a:latin typeface="Times New Roman" pitchFamily="18" charset="0"/>
              </a:rPr>
              <a:t> </a:t>
            </a:r>
            <a:r>
              <a:rPr lang="uz-Cyrl-UZ" altLang="uz-Cyrl-UZ" sz="2400" dirty="0" smtClean="0">
                <a:latin typeface="Times New Roman" pitchFamily="18" charset="0"/>
              </a:rPr>
              <a:t>деб аталади.</a:t>
            </a:r>
            <a:r>
              <a:rPr lang="ru-RU" altLang="uz-Cyrl-UZ" sz="2400" dirty="0" smtClean="0"/>
              <a:t> </a:t>
            </a:r>
            <a:endParaRPr lang="en-US" altLang="uz-Cyrl-UZ" sz="2400" dirty="0" smtClean="0"/>
          </a:p>
          <a:p>
            <a:pPr marL="0" indent="533400" algn="just" eaLnBrk="1" hangingPunct="1">
              <a:buFont typeface="Arial" pitchFamily="34" charset="0"/>
              <a:buNone/>
            </a:pPr>
            <a:r>
              <a:rPr lang="en-US" altLang="uz-Cyrl-UZ" sz="3600" dirty="0" smtClean="0"/>
              <a:t>	</a:t>
            </a:r>
            <a:endParaRPr lang="uz-Cyrl-UZ" altLang="uz-Cyrl-UZ" sz="3600" dirty="0" smtClean="0"/>
          </a:p>
          <a:p>
            <a:pPr marL="0" indent="533400" algn="just" eaLnBrk="1" hangingPunct="1">
              <a:buFont typeface="Arial" pitchFamily="34" charset="0"/>
              <a:buNone/>
            </a:pPr>
            <a:r>
              <a:rPr lang="ru-RU" altLang="uz-Cyrl-UZ" sz="2400" b="1" i="1" dirty="0" smtClean="0">
                <a:latin typeface="Academy" pitchFamily="2" charset="0"/>
              </a:rPr>
              <a:t>Теорема</a:t>
            </a:r>
            <a:r>
              <a:rPr lang="ru-RU" altLang="uz-Cyrl-UZ" sz="2400" b="1" i="1" dirty="0" smtClean="0">
                <a:latin typeface="Academy" pitchFamily="2" charset="0"/>
              </a:rPr>
              <a:t>: </a:t>
            </a:r>
            <a:r>
              <a:rPr lang="en-US" altLang="uz-Cyrl-UZ" sz="2400" b="1" i="1" dirty="0" smtClean="0">
                <a:latin typeface="Times New Roman" pitchFamily="18" charset="0"/>
              </a:rPr>
              <a:t>F(x) </a:t>
            </a:r>
            <a:r>
              <a:rPr lang="ru-RU" altLang="uz-Cyrl-UZ" sz="2400" dirty="0" err="1" smtClean="0">
                <a:latin typeface="Times New Roman" pitchFamily="18" charset="0"/>
              </a:rPr>
              <a:t>параметрли</a:t>
            </a:r>
            <a:r>
              <a:rPr lang="ru-RU" altLang="uz-Cyrl-UZ" sz="2400" dirty="0" smtClean="0">
                <a:latin typeface="Times New Roman" pitchFamily="18" charset="0"/>
              </a:rPr>
              <a:t> функция </a:t>
            </a:r>
            <a:r>
              <a:rPr lang="uz-Cyrl-UZ" altLang="uz-Cyrl-UZ" sz="2400" dirty="0" smtClean="0">
                <a:latin typeface="Times New Roman" pitchFamily="18" charset="0"/>
              </a:rPr>
              <a:t>қуйидаги ифода орқали аниқланади</a:t>
            </a:r>
            <a:r>
              <a:rPr lang="en-US" altLang="uz-Cyrl-UZ" sz="2400" dirty="0" smtClean="0">
                <a:latin typeface="Times New Roman" pitchFamily="18" charset="0"/>
              </a:rPr>
              <a:t>:</a:t>
            </a:r>
            <a:r>
              <a:rPr lang="uz-Cyrl-UZ" altLang="uz-Cyrl-UZ" sz="2400" dirty="0" smtClean="0">
                <a:latin typeface="Times New Roman" pitchFamily="18" charset="0"/>
              </a:rPr>
              <a:t>	</a:t>
            </a:r>
            <a:r>
              <a:rPr lang="en-US" altLang="uz-Cyrl-UZ" sz="2400" dirty="0" smtClean="0">
                <a:latin typeface="Times New Roman" pitchFamily="18" charset="0"/>
              </a:rPr>
              <a:t> </a:t>
            </a:r>
            <a:r>
              <a:rPr lang="en-US" altLang="uz-Cyrl-UZ" sz="2400" b="1" i="1" dirty="0" smtClean="0">
                <a:latin typeface="Times New Roman" pitchFamily="18" charset="0"/>
              </a:rPr>
              <a:t>F(x)=1+R*x</a:t>
            </a:r>
          </a:p>
          <a:p>
            <a:pPr marL="0" indent="533400" algn="just" eaLnBrk="1" hangingPunct="1">
              <a:buFont typeface="Arial" pitchFamily="34" charset="0"/>
              <a:buNone/>
            </a:pPr>
            <a:endParaRPr lang="ru-RU" altLang="uz-Cyrl-UZ" sz="2400" b="1" i="1" dirty="0" smtClean="0">
              <a:latin typeface="Times New Roman" pitchFamily="18" charset="0"/>
            </a:endParaRPr>
          </a:p>
          <a:p>
            <a:pPr marL="0" indent="533400" algn="just" eaLnBrk="1" hangingPunct="1">
              <a:buFont typeface="Arial" pitchFamily="34" charset="0"/>
              <a:buNone/>
            </a:pPr>
            <a:r>
              <a:rPr lang="ru-RU" altLang="uz-Cyrl-UZ" sz="2400" b="1" i="1" dirty="0" err="1" smtClean="0">
                <a:latin typeface="Times New Roman" pitchFamily="18" charset="0"/>
              </a:rPr>
              <a:t>Мисол</a:t>
            </a:r>
            <a:r>
              <a:rPr lang="ru-RU" altLang="uz-Cyrl-UZ" sz="2400" b="1" i="1" dirty="0" smtClean="0">
                <a:latin typeface="Times New Roman" pitchFamily="18" charset="0"/>
              </a:rPr>
              <a:t>: </a:t>
            </a:r>
            <a:r>
              <a:rPr lang="en-US" altLang="uz-Cyrl-UZ" sz="2400" i="1" dirty="0" smtClean="0">
                <a:latin typeface="Times New Roman" pitchFamily="18" charset="0"/>
              </a:rPr>
              <a:t>R=2, x=21</a:t>
            </a:r>
            <a:r>
              <a:rPr lang="ru-RU" altLang="uz-Cyrl-UZ" sz="2400" i="1" dirty="0" smtClean="0">
                <a:latin typeface="Times New Roman" pitchFamily="18" charset="0"/>
              </a:rPr>
              <a:t> да </a:t>
            </a:r>
            <a:r>
              <a:rPr lang="en-US" altLang="uz-Cyrl-UZ" sz="2400" i="1" dirty="0" smtClean="0">
                <a:latin typeface="Times New Roman" pitchFamily="18" charset="0"/>
              </a:rPr>
              <a:t>F(</a:t>
            </a:r>
            <a:r>
              <a:rPr lang="ru-RU" altLang="uz-Cyrl-UZ" sz="2400" i="1" dirty="0" smtClean="0">
                <a:latin typeface="Times New Roman" pitchFamily="18" charset="0"/>
              </a:rPr>
              <a:t>21</a:t>
            </a:r>
            <a:r>
              <a:rPr lang="en-US" altLang="uz-Cyrl-UZ" sz="2400" i="1" dirty="0" smtClean="0">
                <a:latin typeface="Times New Roman" pitchFamily="18" charset="0"/>
              </a:rPr>
              <a:t>)</a:t>
            </a:r>
            <a:r>
              <a:rPr lang="ru-RU" altLang="uz-Cyrl-UZ" sz="2400" i="1" dirty="0" smtClean="0">
                <a:latin typeface="Times New Roman" pitchFamily="18" charset="0"/>
              </a:rPr>
              <a:t>=1+2*21=43</a:t>
            </a:r>
            <a:endParaRPr lang="ru-RU" altLang="uz-Cyrl-UZ" sz="2400" i="1" dirty="0" smtClean="0">
              <a:latin typeface="Academy" pitchFamily="2" charset="0"/>
            </a:endParaRPr>
          </a:p>
          <a:p>
            <a:pPr marL="0" indent="533400" algn="just" eaLnBrk="1" hangingPunct="1">
              <a:buFont typeface="Arial" pitchFamily="34" charset="0"/>
              <a:buNone/>
            </a:pPr>
            <a:endParaRPr lang="ru-RU" altLang="uz-Cyrl-UZ" sz="1050" b="1" dirty="0" smtClean="0">
              <a:latin typeface="Times New Roman" pitchFamily="18" charset="0"/>
            </a:endParaRPr>
          </a:p>
        </p:txBody>
      </p: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 altLang="uz-Cyrl-UZ">
              <a:latin typeface="Calibri" pitchFamily="34" charset="0"/>
            </a:endParaRPr>
          </a:p>
        </p:txBody>
      </p:sp>
      <p:sp>
        <p:nvSpPr>
          <p:cNvPr id="5124" name="Rectangle 17"/>
          <p:cNvSpPr>
            <a:spLocks noChangeArrowheads="1"/>
          </p:cNvSpPr>
          <p:nvPr/>
        </p:nvSpPr>
        <p:spPr bwMode="auto">
          <a:xfrm>
            <a:off x="144463" y="139700"/>
            <a:ext cx="8842375" cy="4984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buFont typeface="Arial" pitchFamily="34" charset="0"/>
              <a:buNone/>
            </a:pPr>
            <a:r>
              <a:rPr lang="uz-Cyrl-UZ" altLang="uz-Cyrl-UZ" sz="2600" b="1" dirty="0" smtClean="0">
                <a:latin typeface="Times New Roman" pitchFamily="18" charset="0"/>
              </a:rPr>
              <a:t>Математик асослар</a:t>
            </a:r>
            <a:endParaRPr lang="uz-Cyrl-UZ" altLang="uz-Cyrl-UZ" sz="2600" b="1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Содержимое 2"/>
          <p:cNvSpPr>
            <a:spLocks noGrp="1"/>
          </p:cNvSpPr>
          <p:nvPr>
            <p:ph idx="1"/>
          </p:nvPr>
        </p:nvSpPr>
        <p:spPr>
          <a:xfrm>
            <a:off x="193675" y="692150"/>
            <a:ext cx="8713788" cy="5545138"/>
          </a:xfrm>
        </p:spPr>
        <p:txBody>
          <a:bodyPr/>
          <a:lstStyle/>
          <a:p>
            <a:pPr algn="just" eaLnBrk="1" hangingPunct="1">
              <a:buFont typeface="Arial" pitchFamily="34" charset="0"/>
              <a:buNone/>
            </a:pPr>
            <a:r>
              <a:rPr lang="uz-Cyrl-UZ" altLang="uz-Cyrl-UZ" sz="2200" b="1" dirty="0" smtClean="0">
                <a:solidFill>
                  <a:srgbClr val="FF3300"/>
                </a:solidFill>
                <a:latin typeface="Times New Roman" pitchFamily="18" charset="0"/>
              </a:rPr>
              <a:t>1</a:t>
            </a:r>
            <a:r>
              <a:rPr lang="uz-Cyrl-UZ" altLang="uz-Cyrl-UZ" sz="2200" b="1" dirty="0" smtClean="0">
                <a:solidFill>
                  <a:srgbClr val="FF3300"/>
                </a:solidFill>
                <a:latin typeface="Times New Roman" pitchFamily="18" charset="0"/>
              </a:rPr>
              <a:t>.</a:t>
            </a:r>
            <a:r>
              <a:rPr lang="en-US" altLang="uz-Cyrl-UZ" sz="2200" b="1" dirty="0" smtClean="0">
                <a:solidFill>
                  <a:srgbClr val="FF3300"/>
                </a:solidFill>
                <a:latin typeface="Times New Roman" pitchFamily="18" charset="0"/>
              </a:rPr>
              <a:t> </a:t>
            </a:r>
            <a:r>
              <a:rPr lang="en-US" altLang="uz-Cyrl-UZ" sz="2200" b="1" i="1" dirty="0" smtClean="0">
                <a:solidFill>
                  <a:srgbClr val="FF3300"/>
                </a:solidFill>
                <a:latin typeface="Times New Roman" pitchFamily="18" charset="0"/>
              </a:rPr>
              <a:t>R</a:t>
            </a:r>
            <a:r>
              <a:rPr lang="en-US" altLang="uz-Cyrl-UZ" sz="2200" dirty="0" smtClean="0">
                <a:solidFill>
                  <a:srgbClr val="FF3300"/>
                </a:solidFill>
                <a:latin typeface="Times New Roman" pitchFamily="18" charset="0"/>
              </a:rPr>
              <a:t> </a:t>
            </a:r>
            <a:r>
              <a:rPr lang="uz-Cyrl-UZ" altLang="uz-Cyrl-UZ" sz="2200" dirty="0" smtClean="0">
                <a:solidFill>
                  <a:srgbClr val="FF3300"/>
                </a:solidFill>
                <a:latin typeface="Times New Roman" pitchFamily="18" charset="0"/>
              </a:rPr>
              <a:t>коофицентли </a:t>
            </a:r>
            <a:r>
              <a:rPr lang="en-US" altLang="uz-Cyrl-UZ" sz="2200" b="1" i="1" dirty="0" smtClean="0">
                <a:solidFill>
                  <a:srgbClr val="FF3300"/>
                </a:solidFill>
                <a:latin typeface="Times New Roman" pitchFamily="18" charset="0"/>
              </a:rPr>
              <a:t>p</a:t>
            </a:r>
            <a:r>
              <a:rPr lang="uz-Cyrl-UZ" altLang="uz-Cyrl-UZ" sz="2200" dirty="0" smtClean="0">
                <a:solidFill>
                  <a:srgbClr val="FF3300"/>
                </a:solidFill>
                <a:latin typeface="Times New Roman" pitchFamily="18" charset="0"/>
              </a:rPr>
              <a:t> модул бўйича кўпайтириш жараёни куйдагича аниқланади:</a:t>
            </a:r>
            <a:endParaRPr lang="ru-RU" altLang="uz-Cyrl-UZ" sz="2200" dirty="0" smtClean="0">
              <a:solidFill>
                <a:srgbClr val="FF3300"/>
              </a:solidFill>
              <a:latin typeface="Times New Roman" pitchFamily="18" charset="0"/>
            </a:endParaRPr>
          </a:p>
          <a:p>
            <a:pPr algn="ctr" eaLnBrk="1" hangingPunct="1">
              <a:buFont typeface="Arial" pitchFamily="34" charset="0"/>
              <a:buNone/>
            </a:pPr>
            <a:r>
              <a:rPr lang="en-US" altLang="uz-Cyrl-UZ" sz="2200" b="1" i="1" dirty="0" smtClean="0">
                <a:latin typeface="Times New Roman" pitchFamily="18" charset="0"/>
              </a:rPr>
              <a:t>X </a:t>
            </a:r>
            <a:r>
              <a:rPr lang="en-US" altLang="uz-Cyrl-UZ" sz="2200" b="1" dirty="0" smtClean="0">
                <a:latin typeface="Times New Roman" pitchFamily="18" charset="0"/>
                <a:sym typeface="Symbol" pitchFamily="18" charset="2"/>
              </a:rPr>
              <a:t></a:t>
            </a:r>
            <a:r>
              <a:rPr lang="en-US" altLang="uz-Cyrl-UZ" sz="2200" b="1" dirty="0" smtClean="0">
                <a:latin typeface="Times New Roman" pitchFamily="18" charset="0"/>
              </a:rPr>
              <a:t> </a:t>
            </a:r>
            <a:r>
              <a:rPr lang="en-US" altLang="uz-Cyrl-UZ" sz="2200" b="1" i="1" dirty="0" smtClean="0">
                <a:latin typeface="Times New Roman" pitchFamily="18" charset="0"/>
              </a:rPr>
              <a:t>Y (mod p) </a:t>
            </a:r>
            <a:r>
              <a:rPr lang="en-US" altLang="uz-Cyrl-UZ" sz="2200" b="1" i="1" dirty="0" smtClean="0">
                <a:latin typeface="Times New Roman" pitchFamily="18" charset="0"/>
                <a:sym typeface="Symbol" pitchFamily="18" charset="2"/>
              </a:rPr>
              <a:t></a:t>
            </a:r>
            <a:r>
              <a:rPr lang="en-US" altLang="uz-Cyrl-UZ" sz="2200" b="1" i="1" dirty="0" smtClean="0">
                <a:latin typeface="Times New Roman" pitchFamily="18" charset="0"/>
              </a:rPr>
              <a:t> </a:t>
            </a:r>
            <a:r>
              <a:rPr lang="uz-Cyrl-UZ" altLang="uz-Cyrl-UZ" sz="2200" b="1" i="1" dirty="0" smtClean="0">
                <a:latin typeface="Times New Roman" pitchFamily="18" charset="0"/>
              </a:rPr>
              <a:t>Х+</a:t>
            </a:r>
            <a:r>
              <a:rPr lang="en-US" altLang="uz-Cyrl-UZ" sz="2200" b="1" i="1" dirty="0" smtClean="0">
                <a:latin typeface="Times New Roman" pitchFamily="18" charset="0"/>
              </a:rPr>
              <a:t>F(X) </a:t>
            </a:r>
            <a:r>
              <a:rPr lang="en-US" altLang="uz-Cyrl-UZ" sz="2500" b="1" i="1" baseline="30000" dirty="0" smtClean="0">
                <a:latin typeface="Times New Roman" pitchFamily="18" charset="0"/>
              </a:rPr>
              <a:t>.</a:t>
            </a:r>
            <a:r>
              <a:rPr lang="en-US" altLang="uz-Cyrl-UZ" sz="2200" b="1" i="1" dirty="0" smtClean="0">
                <a:latin typeface="Times New Roman" pitchFamily="18" charset="0"/>
              </a:rPr>
              <a:t>Y (mod p)</a:t>
            </a:r>
            <a:r>
              <a:rPr lang="en-US" altLang="uz-Cyrl-UZ" sz="2200" b="1" i="1" dirty="0" smtClean="0">
                <a:latin typeface="Times New Roman" pitchFamily="18" charset="0"/>
                <a:sym typeface="Symbol" pitchFamily="18" charset="2"/>
              </a:rPr>
              <a:t></a:t>
            </a:r>
            <a:r>
              <a:rPr lang="en-US" altLang="uz-Cyrl-UZ" sz="2200" b="1" i="1" dirty="0" smtClean="0">
                <a:latin typeface="Times New Roman" pitchFamily="18" charset="0"/>
              </a:rPr>
              <a:t> X + (1 + X </a:t>
            </a:r>
            <a:r>
              <a:rPr lang="en-US" altLang="uz-Cyrl-UZ" sz="2200" b="1" dirty="0" smtClean="0">
                <a:latin typeface="Times New Roman" pitchFamily="18" charset="0"/>
              </a:rPr>
              <a:t>х</a:t>
            </a:r>
            <a:r>
              <a:rPr lang="en-US" altLang="uz-Cyrl-UZ" sz="2200" b="1" i="1" dirty="0" smtClean="0">
                <a:latin typeface="Times New Roman" pitchFamily="18" charset="0"/>
              </a:rPr>
              <a:t> R)  </a:t>
            </a:r>
            <a:r>
              <a:rPr lang="en-US" altLang="uz-Cyrl-UZ" sz="2200" b="1" dirty="0" smtClean="0">
                <a:latin typeface="Times New Roman" pitchFamily="18" charset="0"/>
              </a:rPr>
              <a:t>х </a:t>
            </a:r>
            <a:r>
              <a:rPr lang="en-US" altLang="uz-Cyrl-UZ" sz="2200" b="1" i="1" dirty="0" smtClean="0">
                <a:latin typeface="Times New Roman" pitchFamily="18" charset="0"/>
              </a:rPr>
              <a:t>Y (mod p)</a:t>
            </a:r>
            <a:r>
              <a:rPr lang="en-US" altLang="uz-Cyrl-UZ" sz="2200" b="1" dirty="0" smtClean="0">
                <a:latin typeface="Times New Roman" pitchFamily="18" charset="0"/>
              </a:rPr>
              <a:t>.</a:t>
            </a:r>
          </a:p>
          <a:p>
            <a:pPr eaLnBrk="1" hangingPunct="1">
              <a:buFont typeface="Arial" pitchFamily="34" charset="0"/>
              <a:buNone/>
            </a:pPr>
            <a:r>
              <a:rPr lang="ru-RU" altLang="uz-Cyrl-UZ" sz="2200" b="1" i="1" dirty="0" err="1" smtClean="0">
                <a:latin typeface="Times New Roman" pitchFamily="18" charset="0"/>
              </a:rPr>
              <a:t>Мисол</a:t>
            </a:r>
            <a:r>
              <a:rPr lang="ru-RU" altLang="uz-Cyrl-UZ" sz="2200" b="1" i="1" dirty="0" smtClean="0">
                <a:latin typeface="Times New Roman" pitchFamily="18" charset="0"/>
              </a:rPr>
              <a:t>: </a:t>
            </a:r>
            <a:r>
              <a:rPr lang="en-US" altLang="uz-Cyrl-UZ" sz="2200" i="1" dirty="0" smtClean="0">
                <a:latin typeface="Times New Roman" pitchFamily="18" charset="0"/>
              </a:rPr>
              <a:t>R=5, </a:t>
            </a:r>
            <a:r>
              <a:rPr lang="ru-RU" altLang="uz-Cyrl-UZ" sz="2200" i="1" dirty="0" smtClean="0">
                <a:latin typeface="Times New Roman" pitchFamily="18" charset="0"/>
              </a:rPr>
              <a:t>х=3, у=4, р=7 б</a:t>
            </a:r>
            <a:r>
              <a:rPr lang="en-US" altLang="uz-Cyrl-UZ" sz="2200" i="1" dirty="0" smtClean="0">
                <a:latin typeface="Times New Roman" pitchFamily="18" charset="0"/>
              </a:rPr>
              <a:t>/</a:t>
            </a:r>
            <a:r>
              <a:rPr lang="uz-Cyrl-UZ" altLang="uz-Cyrl-UZ" sz="2200" i="1" dirty="0" smtClean="0">
                <a:latin typeface="Times New Roman" pitchFamily="18" charset="0"/>
              </a:rPr>
              <a:t>да 3</a:t>
            </a:r>
            <a:r>
              <a:rPr lang="en-US" altLang="uz-Cyrl-UZ" sz="2200" i="1" dirty="0" smtClean="0">
                <a:latin typeface="Times New Roman" pitchFamily="18" charset="0"/>
              </a:rPr>
              <a:t> </a:t>
            </a:r>
            <a:r>
              <a:rPr lang="en-US" altLang="uz-Cyrl-UZ" sz="2200" dirty="0" smtClean="0">
                <a:latin typeface="Times New Roman" pitchFamily="18" charset="0"/>
                <a:sym typeface="Symbol" pitchFamily="18" charset="2"/>
              </a:rPr>
              <a:t></a:t>
            </a:r>
            <a:r>
              <a:rPr lang="en-US" altLang="uz-Cyrl-UZ" sz="2200" dirty="0" smtClean="0">
                <a:latin typeface="Times New Roman" pitchFamily="18" charset="0"/>
              </a:rPr>
              <a:t> </a:t>
            </a:r>
            <a:r>
              <a:rPr lang="uz-Cyrl-UZ" altLang="uz-Cyrl-UZ" sz="2200" i="1" dirty="0" smtClean="0">
                <a:latin typeface="Times New Roman" pitchFamily="18" charset="0"/>
              </a:rPr>
              <a:t>4</a:t>
            </a:r>
            <a:r>
              <a:rPr lang="en-US" altLang="uz-Cyrl-UZ" sz="2200" i="1" dirty="0" smtClean="0">
                <a:latin typeface="Times New Roman" pitchFamily="18" charset="0"/>
              </a:rPr>
              <a:t> (mod </a:t>
            </a:r>
            <a:r>
              <a:rPr lang="uz-Cyrl-UZ" altLang="uz-Cyrl-UZ" sz="2200" i="1" dirty="0" smtClean="0">
                <a:latin typeface="Times New Roman" pitchFamily="18" charset="0"/>
              </a:rPr>
              <a:t>7</a:t>
            </a:r>
            <a:r>
              <a:rPr lang="en-US" altLang="uz-Cyrl-UZ" sz="2200" i="1" dirty="0" smtClean="0">
                <a:latin typeface="Times New Roman" pitchFamily="18" charset="0"/>
              </a:rPr>
              <a:t>)</a:t>
            </a:r>
            <a:r>
              <a:rPr lang="en-US" altLang="uz-Cyrl-UZ" sz="2200" i="1" dirty="0" smtClean="0">
                <a:latin typeface="Times New Roman" pitchFamily="18" charset="0"/>
                <a:sym typeface="Symbol" pitchFamily="18" charset="2"/>
              </a:rPr>
              <a:t></a:t>
            </a:r>
            <a:r>
              <a:rPr lang="uz-Cyrl-UZ" altLang="uz-Cyrl-UZ" sz="2200" i="1" dirty="0" smtClean="0">
                <a:latin typeface="Times New Roman" pitchFamily="18" charset="0"/>
              </a:rPr>
              <a:t>3+(1</a:t>
            </a:r>
            <a:r>
              <a:rPr lang="en-US" altLang="uz-Cyrl-UZ" sz="2200" i="1" dirty="0" smtClean="0">
                <a:latin typeface="Times New Roman" pitchFamily="18" charset="0"/>
              </a:rPr>
              <a:t>+3*5)*4(mod7)</a:t>
            </a:r>
            <a:r>
              <a:rPr lang="en-US" altLang="uz-Cyrl-UZ" sz="2200" b="1" i="1" dirty="0" smtClean="0">
                <a:latin typeface="Times New Roman" pitchFamily="18" charset="0"/>
                <a:sym typeface="Symbol" pitchFamily="18" charset="2"/>
              </a:rPr>
              <a:t></a:t>
            </a:r>
            <a:r>
              <a:rPr lang="en-US" altLang="uz-Cyrl-UZ" sz="2200" b="1" i="1" dirty="0" smtClean="0">
                <a:latin typeface="Times New Roman" pitchFamily="18" charset="0"/>
              </a:rPr>
              <a:t> </a:t>
            </a:r>
            <a:r>
              <a:rPr lang="ru-RU" altLang="uz-Cyrl-UZ" sz="2200" i="1" dirty="0" smtClean="0">
                <a:latin typeface="Times New Roman" pitchFamily="18" charset="0"/>
              </a:rPr>
              <a:t>4</a:t>
            </a:r>
          </a:p>
          <a:p>
            <a:pPr algn="just" eaLnBrk="1" hangingPunct="1">
              <a:buFont typeface="Arial" pitchFamily="34" charset="0"/>
              <a:buNone/>
            </a:pPr>
            <a:r>
              <a:rPr lang="ru-RU" altLang="uz-Cyrl-UZ" sz="1000" b="1" dirty="0" smtClean="0">
                <a:latin typeface="Times New Roman" pitchFamily="18" charset="0"/>
              </a:rPr>
              <a:t> </a:t>
            </a:r>
          </a:p>
          <a:p>
            <a:pPr algn="just" eaLnBrk="1" hangingPunct="1">
              <a:buFont typeface="Arial" pitchFamily="34" charset="0"/>
              <a:buNone/>
            </a:pPr>
            <a:endParaRPr lang="ru-RU" altLang="uz-Cyrl-UZ" sz="2200" b="1" dirty="0" smtClean="0">
              <a:solidFill>
                <a:srgbClr val="FF3300"/>
              </a:solidFill>
              <a:latin typeface="Times New Roman" pitchFamily="18" charset="0"/>
            </a:endParaRPr>
          </a:p>
          <a:p>
            <a:pPr algn="just" eaLnBrk="1" hangingPunct="1">
              <a:buFont typeface="Arial" pitchFamily="34" charset="0"/>
              <a:buNone/>
            </a:pPr>
            <a:r>
              <a:rPr lang="ru-RU" altLang="uz-Cyrl-UZ" sz="2200" b="1" dirty="0" smtClean="0">
                <a:solidFill>
                  <a:srgbClr val="FF3300"/>
                </a:solidFill>
                <a:latin typeface="Times New Roman" pitchFamily="18" charset="0"/>
              </a:rPr>
              <a:t>2</a:t>
            </a:r>
            <a:r>
              <a:rPr lang="uz-Cyrl-UZ" altLang="uz-Cyrl-UZ" sz="2200" dirty="0" smtClean="0">
                <a:solidFill>
                  <a:srgbClr val="FF3300"/>
                </a:solidFill>
                <a:latin typeface="Times New Roman" pitchFamily="18" charset="0"/>
              </a:rPr>
              <a:t> </a:t>
            </a:r>
            <a:r>
              <a:rPr lang="uz-Cyrl-UZ" altLang="uz-Cyrl-UZ" sz="2200" b="1" i="1" dirty="0" smtClean="0">
                <a:solidFill>
                  <a:srgbClr val="FF3300"/>
                </a:solidFill>
                <a:latin typeface="Times New Roman" pitchFamily="18" charset="0"/>
              </a:rPr>
              <a:t>R</a:t>
            </a:r>
            <a:r>
              <a:rPr lang="uz-Cyrl-UZ" altLang="uz-Cyrl-UZ" sz="2200" dirty="0" smtClean="0">
                <a:solidFill>
                  <a:srgbClr val="FF3300"/>
                </a:solidFill>
                <a:latin typeface="Times New Roman" pitchFamily="18" charset="0"/>
              </a:rPr>
              <a:t> коофицентли </a:t>
            </a:r>
            <a:r>
              <a:rPr lang="uz-Cyrl-UZ" altLang="uz-Cyrl-UZ" sz="2200" b="1" i="1" dirty="0" smtClean="0">
                <a:solidFill>
                  <a:srgbClr val="FF3300"/>
                </a:solidFill>
                <a:latin typeface="Times New Roman" pitchFamily="18" charset="0"/>
              </a:rPr>
              <a:t>p</a:t>
            </a:r>
            <a:r>
              <a:rPr lang="uz-Cyrl-UZ" altLang="uz-Cyrl-UZ" sz="2200" dirty="0" smtClean="0">
                <a:solidFill>
                  <a:srgbClr val="FF3300"/>
                </a:solidFill>
                <a:latin typeface="Times New Roman" pitchFamily="18" charset="0"/>
              </a:rPr>
              <a:t> модул бўйича </a:t>
            </a:r>
            <a:r>
              <a:rPr lang="uz-Cyrl-UZ" altLang="uz-Cyrl-UZ" sz="2200" b="1" i="1" dirty="0" smtClean="0">
                <a:solidFill>
                  <a:srgbClr val="FF3300"/>
                </a:solidFill>
                <a:latin typeface="Times New Roman" pitchFamily="18" charset="0"/>
              </a:rPr>
              <a:t>Х</a:t>
            </a:r>
            <a:r>
              <a:rPr lang="uz-Cyrl-UZ" altLang="uz-Cyrl-UZ" sz="2200" dirty="0" smtClean="0">
                <a:solidFill>
                  <a:srgbClr val="FF3300"/>
                </a:solidFill>
                <a:latin typeface="Times New Roman" pitchFamily="18" charset="0"/>
              </a:rPr>
              <a:t> асосини </a:t>
            </a:r>
            <a:r>
              <a:rPr lang="uz-Cyrl-UZ" altLang="uz-Cyrl-UZ" sz="2200" b="1" i="1" dirty="0" smtClean="0">
                <a:solidFill>
                  <a:srgbClr val="FF3300"/>
                </a:solidFill>
                <a:latin typeface="Times New Roman" pitchFamily="18" charset="0"/>
              </a:rPr>
              <a:t>е</a:t>
            </a:r>
            <a:r>
              <a:rPr lang="uz-Cyrl-UZ" altLang="uz-Cyrl-UZ" sz="2200" i="1" dirty="0" smtClean="0">
                <a:solidFill>
                  <a:srgbClr val="FF3300"/>
                </a:solidFill>
                <a:latin typeface="Times New Roman" pitchFamily="18" charset="0"/>
              </a:rPr>
              <a:t> </a:t>
            </a:r>
            <a:r>
              <a:rPr lang="uz-Cyrl-UZ" altLang="uz-Cyrl-UZ" sz="2200" dirty="0" smtClean="0">
                <a:solidFill>
                  <a:srgbClr val="FF3300"/>
                </a:solidFill>
                <a:latin typeface="Times New Roman" pitchFamily="18" charset="0"/>
              </a:rPr>
              <a:t>даражага</a:t>
            </a:r>
            <a:r>
              <a:rPr lang="uz-Cyrl-UZ" altLang="uz-Cyrl-UZ" sz="2200" i="1" dirty="0" smtClean="0">
                <a:solidFill>
                  <a:srgbClr val="FF3300"/>
                </a:solidFill>
                <a:latin typeface="Times New Roman" pitchFamily="18" charset="0"/>
              </a:rPr>
              <a:t> </a:t>
            </a:r>
            <a:r>
              <a:rPr lang="uz-Cyrl-UZ" altLang="uz-Cyrl-UZ" sz="2200" dirty="0" smtClean="0">
                <a:solidFill>
                  <a:srgbClr val="FF3300"/>
                </a:solidFill>
                <a:latin typeface="Times New Roman" pitchFamily="18" charset="0"/>
              </a:rPr>
              <a:t>кўтариш </a:t>
            </a:r>
            <a:r>
              <a:rPr lang="en-US" altLang="uz-Cyrl-UZ" sz="2200" dirty="0" smtClean="0">
                <a:solidFill>
                  <a:srgbClr val="FF3300"/>
                </a:solidFill>
                <a:latin typeface="Times New Roman" pitchFamily="18" charset="0"/>
              </a:rPr>
              <a:t>	</a:t>
            </a:r>
            <a:r>
              <a:rPr lang="uz-Cyrl-UZ" altLang="uz-Cyrl-UZ" sz="2200" dirty="0" smtClean="0">
                <a:solidFill>
                  <a:srgbClr val="FF3300"/>
                </a:solidFill>
                <a:latin typeface="Times New Roman" pitchFamily="18" charset="0"/>
              </a:rPr>
              <a:t>жараёни куйдаги кўринишда ифодаланади:</a:t>
            </a:r>
            <a:endParaRPr lang="en-US" altLang="uz-Cyrl-UZ" sz="2200" i="1" dirty="0" smtClean="0">
              <a:solidFill>
                <a:srgbClr val="FF3300"/>
              </a:solidFill>
              <a:latin typeface="Times New Roman" pitchFamily="18" charset="0"/>
            </a:endParaRPr>
          </a:p>
          <a:p>
            <a:pPr eaLnBrk="1" hangingPunct="1">
              <a:buFont typeface="Arial" pitchFamily="34" charset="0"/>
              <a:buNone/>
            </a:pPr>
            <a:r>
              <a:rPr lang="uz-Cyrl-UZ" altLang="uz-Cyrl-UZ" sz="2200" b="1" i="1" dirty="0" smtClean="0">
                <a:latin typeface="Times New Roman" pitchFamily="18" charset="0"/>
              </a:rPr>
              <a:t>	</a:t>
            </a:r>
            <a:endParaRPr lang="uz-Cyrl-UZ" altLang="uz-Cyrl-UZ" sz="2200" b="1" i="1" dirty="0" smtClean="0">
              <a:latin typeface="Times New Roman" pitchFamily="18" charset="0"/>
            </a:endParaRPr>
          </a:p>
          <a:p>
            <a:pPr eaLnBrk="1" hangingPunct="1">
              <a:buFont typeface="Arial" pitchFamily="34" charset="0"/>
              <a:buNone/>
            </a:pPr>
            <a:r>
              <a:rPr lang="uz-Cyrl-UZ" altLang="uz-Cyrl-UZ" sz="2200" b="1" i="1" dirty="0">
                <a:latin typeface="Times New Roman" pitchFamily="18" charset="0"/>
              </a:rPr>
              <a:t>	</a:t>
            </a:r>
            <a:r>
              <a:rPr lang="uz-Cyrl-UZ" altLang="uz-Cyrl-UZ" sz="2200" i="1" dirty="0" smtClean="0">
                <a:latin typeface="Times New Roman" pitchFamily="18" charset="0"/>
              </a:rPr>
              <a:t>X</a:t>
            </a:r>
            <a:r>
              <a:rPr lang="ru-RU" altLang="uz-Cyrl-UZ" sz="2200" i="1" baseline="30000" dirty="0" smtClean="0">
                <a:latin typeface="Times New Roman" pitchFamily="18" charset="0"/>
              </a:rPr>
              <a:t>\</a:t>
            </a:r>
            <a:r>
              <a:rPr lang="en-US" altLang="uz-Cyrl-UZ" sz="2200" i="1" baseline="30000" dirty="0" smtClean="0">
                <a:latin typeface="Times New Roman" pitchFamily="18" charset="0"/>
              </a:rPr>
              <a:t>e</a:t>
            </a:r>
            <a:r>
              <a:rPr lang="uz-Cyrl-UZ" altLang="uz-Cyrl-UZ" sz="2200" i="1" dirty="0" smtClean="0">
                <a:latin typeface="Times New Roman" pitchFamily="18" charset="0"/>
              </a:rPr>
              <a:t> (mod p)</a:t>
            </a:r>
            <a:endParaRPr lang="en-US" altLang="uz-Cyrl-UZ" sz="2200" dirty="0" smtClean="0">
              <a:latin typeface="Times New Roman" pitchFamily="18" charset="0"/>
            </a:endParaRPr>
          </a:p>
          <a:p>
            <a:pPr algn="just" eaLnBrk="1" hangingPunct="1">
              <a:buFont typeface="Arial" pitchFamily="34" charset="0"/>
              <a:buNone/>
            </a:pPr>
            <a:endParaRPr lang="uz-Cyrl-UZ" altLang="uz-Cyrl-UZ" sz="1000" i="1" dirty="0" smtClean="0">
              <a:latin typeface="Times New Roman" pitchFamily="18" charset="0"/>
            </a:endParaRPr>
          </a:p>
          <a:p>
            <a:pPr algn="just" eaLnBrk="1" hangingPunct="1">
              <a:buFont typeface="Arial" pitchFamily="34" charset="0"/>
              <a:buNone/>
            </a:pPr>
            <a:endParaRPr lang="en-US" altLang="uz-Cyrl-UZ" sz="500" b="1" i="1" dirty="0" smtClean="0">
              <a:latin typeface="Times New Roman" pitchFamily="18" charset="0"/>
            </a:endParaRPr>
          </a:p>
        </p:txBody>
      </p: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 altLang="uz-Cyrl-UZ">
              <a:latin typeface="Calibri" pitchFamily="34" charset="0"/>
            </a:endParaRPr>
          </a:p>
        </p:txBody>
      </p:sp>
      <p:graphicFrame>
        <p:nvGraphicFramePr>
          <p:cNvPr id="512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015668"/>
              </p:ext>
            </p:extLst>
          </p:nvPr>
        </p:nvGraphicFramePr>
        <p:xfrm>
          <a:off x="1907704" y="3800078"/>
          <a:ext cx="296227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Формула" r:id="rId3" imgW="1612900" imgH="431800" progId="Equation.3">
                  <p:embed/>
                </p:oleObj>
              </mc:Choice>
              <mc:Fallback>
                <p:oleObj name="Формула" r:id="rId3" imgW="1612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3800078"/>
                        <a:ext cx="2962275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415305"/>
              </p:ext>
            </p:extLst>
          </p:nvPr>
        </p:nvGraphicFramePr>
        <p:xfrm>
          <a:off x="4932040" y="3800078"/>
          <a:ext cx="321786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Формула" r:id="rId5" imgW="1752600" imgH="431800" progId="Equation.3">
                  <p:embed/>
                </p:oleObj>
              </mc:Choice>
              <mc:Fallback>
                <p:oleObj name="Формула" r:id="rId5" imgW="1752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3800078"/>
                        <a:ext cx="321786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179512" y="5229200"/>
            <a:ext cx="885698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uz-Cyrl-UZ" altLang="uz-Cyrl-UZ" sz="2000" b="1" i="1" dirty="0">
                <a:latin typeface="Times New Roman" pitchFamily="18" charset="0"/>
              </a:rPr>
              <a:t>Мисол: </a:t>
            </a:r>
            <a:r>
              <a:rPr lang="en-US" altLang="uz-Cyrl-UZ" sz="2000" i="1" dirty="0">
                <a:latin typeface="Times New Roman" pitchFamily="18" charset="0"/>
              </a:rPr>
              <a:t>R=7, </a:t>
            </a:r>
            <a:r>
              <a:rPr lang="uz-Cyrl-UZ" altLang="uz-Cyrl-UZ" sz="2000" i="1" dirty="0">
                <a:latin typeface="Times New Roman" pitchFamily="18" charset="0"/>
              </a:rPr>
              <a:t>е</a:t>
            </a:r>
            <a:r>
              <a:rPr lang="en-US" altLang="uz-Cyrl-UZ" sz="2000" i="1" dirty="0">
                <a:latin typeface="Times New Roman" pitchFamily="18" charset="0"/>
              </a:rPr>
              <a:t>=4, p=3</a:t>
            </a:r>
            <a:r>
              <a:rPr lang="uz-Cyrl-UZ" altLang="uz-Cyrl-UZ" sz="2000" i="1" dirty="0">
                <a:latin typeface="Times New Roman" pitchFamily="18" charset="0"/>
              </a:rPr>
              <a:t>, Х</a:t>
            </a:r>
            <a:r>
              <a:rPr lang="en-US" altLang="uz-Cyrl-UZ" sz="2000" i="1" dirty="0">
                <a:latin typeface="Times New Roman" pitchFamily="18" charset="0"/>
              </a:rPr>
              <a:t>=2 </a:t>
            </a:r>
            <a:r>
              <a:rPr lang="ru-RU" altLang="uz-Cyrl-UZ" sz="2000" i="1" dirty="0">
                <a:latin typeface="Times New Roman" pitchFamily="18" charset="0"/>
              </a:rPr>
              <a:t>да</a:t>
            </a:r>
            <a:r>
              <a:rPr lang="uz-Cyrl-UZ" altLang="uz-Cyrl-UZ" sz="2000" i="1" dirty="0">
                <a:latin typeface="Times New Roman" pitchFamily="18" charset="0"/>
              </a:rPr>
              <a:t> </a:t>
            </a:r>
            <a:r>
              <a:rPr lang="en-US" altLang="uz-Cyrl-UZ" sz="2000" b="1" i="1" dirty="0">
                <a:latin typeface="Times New Roman" pitchFamily="18" charset="0"/>
              </a:rPr>
              <a:t>2</a:t>
            </a:r>
            <a:r>
              <a:rPr lang="ru-RU" altLang="uz-Cyrl-UZ" sz="2000" b="1" i="1" baseline="30000" dirty="0">
                <a:latin typeface="Times New Roman" pitchFamily="18" charset="0"/>
              </a:rPr>
              <a:t>\</a:t>
            </a:r>
            <a:r>
              <a:rPr lang="en-US" altLang="uz-Cyrl-UZ" sz="2000" b="1" i="1" baseline="30000" dirty="0">
                <a:latin typeface="Times New Roman" pitchFamily="18" charset="0"/>
              </a:rPr>
              <a:t>4</a:t>
            </a:r>
            <a:r>
              <a:rPr lang="uz-Cyrl-UZ" altLang="uz-Cyrl-UZ" sz="2000" b="1" i="1" dirty="0">
                <a:latin typeface="Times New Roman" pitchFamily="18" charset="0"/>
              </a:rPr>
              <a:t> (mod </a:t>
            </a:r>
            <a:r>
              <a:rPr lang="en-US" altLang="uz-Cyrl-UZ" sz="2000" b="1" i="1" dirty="0">
                <a:latin typeface="Times New Roman" pitchFamily="18" charset="0"/>
              </a:rPr>
              <a:t>3</a:t>
            </a:r>
            <a:r>
              <a:rPr lang="uz-Cyrl-UZ" altLang="uz-Cyrl-UZ" sz="2000" b="1" i="1" dirty="0">
                <a:latin typeface="Times New Roman" pitchFamily="18" charset="0"/>
              </a:rPr>
              <a:t>)</a:t>
            </a:r>
            <a:r>
              <a:rPr lang="en-US" altLang="uz-Cyrl-UZ" sz="2000" i="1" dirty="0" smtClean="0">
                <a:latin typeface="Times New Roman" pitchFamily="18" charset="0"/>
              </a:rPr>
              <a:t>=</a:t>
            </a:r>
            <a:endParaRPr lang="uz-Cyrl-UZ" altLang="uz-Cyrl-UZ" sz="2000" i="1" dirty="0" smtClean="0">
              <a:latin typeface="Times New Roman" pitchFamily="18" charset="0"/>
            </a:endParaRPr>
          </a:p>
          <a:p>
            <a:r>
              <a:rPr lang="en-US" altLang="uz-Cyrl-UZ" sz="2000" i="1" dirty="0">
                <a:latin typeface="Times New Roman" pitchFamily="18" charset="0"/>
              </a:rPr>
              <a:t>=</a:t>
            </a:r>
            <a:r>
              <a:rPr lang="en-US" altLang="uz-Cyrl-UZ" sz="2000" i="1" dirty="0" smtClean="0">
                <a:latin typeface="Times New Roman" pitchFamily="18" charset="0"/>
              </a:rPr>
              <a:t>2(1+15+225+3375</a:t>
            </a:r>
            <a:r>
              <a:rPr lang="en-US" altLang="uz-Cyrl-UZ" sz="2000" i="1" dirty="0">
                <a:latin typeface="Times New Roman" pitchFamily="18" charset="0"/>
              </a:rPr>
              <a:t>)</a:t>
            </a:r>
            <a:r>
              <a:rPr lang="ru-RU" altLang="uz-Cyrl-UZ" sz="2000" i="1" dirty="0">
                <a:latin typeface="Times New Roman" pitchFamily="18" charset="0"/>
              </a:rPr>
              <a:t> </a:t>
            </a:r>
            <a:r>
              <a:rPr lang="en-US" altLang="uz-Cyrl-UZ" sz="2000" i="1" dirty="0">
                <a:latin typeface="Times New Roman" pitchFamily="18" charset="0"/>
              </a:rPr>
              <a:t>mod3=</a:t>
            </a:r>
            <a:r>
              <a:rPr lang="en-US" altLang="uz-Cyrl-UZ" sz="2000" b="1" i="1" dirty="0">
                <a:latin typeface="Times New Roman" pitchFamily="18" charset="0"/>
              </a:rPr>
              <a:t>2</a:t>
            </a:r>
            <a:endParaRPr lang="uz-Cyrl-UZ" altLang="uz-Cyrl-UZ" sz="2000" b="1" i="1" dirty="0">
              <a:latin typeface="Times New Roman" pitchFamily="18" charset="0"/>
            </a:endParaRPr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006891"/>
              </p:ext>
            </p:extLst>
          </p:nvPr>
        </p:nvGraphicFramePr>
        <p:xfrm>
          <a:off x="4950146" y="5067078"/>
          <a:ext cx="286702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Формула" r:id="rId7" imgW="1562100" imgH="431800" progId="Equation.3">
                  <p:embed/>
                </p:oleObj>
              </mc:Choice>
              <mc:Fallback>
                <p:oleObj name="Формула" r:id="rId7" imgW="1562100" imgH="4318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0146" y="5067078"/>
                        <a:ext cx="2867025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956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 altLang="uz-Cyrl-UZ">
              <a:latin typeface="Calibri" pitchFamily="34" charset="0"/>
            </a:endParaRPr>
          </a:p>
        </p:txBody>
      </p:sp>
      <p:sp>
        <p:nvSpPr>
          <p:cNvPr id="6147" name="Rectangle 21"/>
          <p:cNvSpPr>
            <a:spLocks noChangeArrowheads="1"/>
          </p:cNvSpPr>
          <p:nvPr/>
        </p:nvSpPr>
        <p:spPr bwMode="auto">
          <a:xfrm>
            <a:off x="207963" y="315913"/>
            <a:ext cx="871378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ru-RU" altLang="uz-Cyrl-UZ" sz="2400" b="1" dirty="0" smtClean="0">
                <a:solidFill>
                  <a:srgbClr val="FF3300"/>
                </a:solidFill>
                <a:latin typeface="Times New Roman" pitchFamily="18" charset="0"/>
              </a:rPr>
              <a:t>3</a:t>
            </a:r>
            <a:r>
              <a:rPr lang="en-US" altLang="uz-Cyrl-UZ" sz="2400" b="1" dirty="0">
                <a:solidFill>
                  <a:srgbClr val="FF3300"/>
                </a:solidFill>
                <a:latin typeface="Times New Roman" pitchFamily="18" charset="0"/>
              </a:rPr>
              <a:t>. </a:t>
            </a:r>
            <a:r>
              <a:rPr lang="en-US" altLang="uz-Cyrl-UZ" sz="2400" b="1" i="1" dirty="0">
                <a:solidFill>
                  <a:srgbClr val="FF3300"/>
                </a:solidFill>
                <a:latin typeface="Times New Roman" pitchFamily="18" charset="0"/>
              </a:rPr>
              <a:t>R</a:t>
            </a:r>
            <a:r>
              <a:rPr lang="en-US" altLang="uz-Cyrl-UZ" sz="2400" dirty="0">
                <a:solidFill>
                  <a:srgbClr val="FF3300"/>
                </a:solidFill>
                <a:latin typeface="Times New Roman" pitchFamily="18" charset="0"/>
              </a:rPr>
              <a:t> </a:t>
            </a:r>
            <a:r>
              <a:rPr lang="uz-Cyrl-UZ" altLang="uz-Cyrl-UZ" sz="2400" dirty="0">
                <a:solidFill>
                  <a:srgbClr val="FF3300"/>
                </a:solidFill>
                <a:latin typeface="Times New Roman" pitchFamily="18" charset="0"/>
              </a:rPr>
              <a:t>коофицентли </a:t>
            </a:r>
            <a:r>
              <a:rPr lang="en-US" altLang="uz-Cyrl-UZ" sz="2400" b="1" i="1" dirty="0">
                <a:solidFill>
                  <a:srgbClr val="FF3300"/>
                </a:solidFill>
                <a:latin typeface="Times New Roman" pitchFamily="18" charset="0"/>
              </a:rPr>
              <a:t>p</a:t>
            </a:r>
            <a:r>
              <a:rPr lang="uz-Cyrl-UZ" altLang="uz-Cyrl-UZ" sz="2400" b="1" dirty="0">
                <a:solidFill>
                  <a:srgbClr val="FF3300"/>
                </a:solidFill>
                <a:latin typeface="Times New Roman" pitchFamily="18" charset="0"/>
              </a:rPr>
              <a:t> </a:t>
            </a:r>
            <a:r>
              <a:rPr lang="uz-Cyrl-UZ" altLang="uz-Cyrl-UZ" sz="2400" dirty="0">
                <a:solidFill>
                  <a:srgbClr val="FF3300"/>
                </a:solidFill>
                <a:latin typeface="Times New Roman" pitchFamily="18" charset="0"/>
              </a:rPr>
              <a:t>модул бўйича </a:t>
            </a:r>
            <a:r>
              <a:rPr lang="ru-RU" altLang="uz-Cyrl-UZ" sz="2400" b="1" i="1" dirty="0">
                <a:solidFill>
                  <a:srgbClr val="FF3300"/>
                </a:solidFill>
                <a:latin typeface="Times New Roman" pitchFamily="18" charset="0"/>
              </a:rPr>
              <a:t>Х</a:t>
            </a:r>
            <a:r>
              <a:rPr lang="uz-Cyrl-UZ" altLang="uz-Cyrl-UZ" sz="2400" dirty="0">
                <a:solidFill>
                  <a:srgbClr val="FF3300"/>
                </a:solidFill>
                <a:latin typeface="Times New Roman" pitchFamily="18" charset="0"/>
              </a:rPr>
              <a:t> ўзгарувчига мурожат жараёни </a:t>
            </a:r>
            <a:r>
              <a:rPr lang="ru-RU" altLang="uz-Cyrl-UZ" sz="2400" dirty="0">
                <a:solidFill>
                  <a:srgbClr val="FF3300"/>
                </a:solidFill>
                <a:latin typeface="Times New Roman" pitchFamily="18" charset="0"/>
              </a:rPr>
              <a:t> </a:t>
            </a:r>
            <a:r>
              <a:rPr lang="en-US" altLang="uz-Cyrl-UZ" sz="2400" b="1" i="1" dirty="0">
                <a:solidFill>
                  <a:srgbClr val="FF3300"/>
                </a:solidFill>
                <a:latin typeface="Times New Roman" pitchFamily="18" charset="0"/>
              </a:rPr>
              <a:t>X</a:t>
            </a:r>
            <a:r>
              <a:rPr lang="en-US" altLang="uz-Cyrl-UZ" sz="2400" b="1" i="1" baseline="30000" dirty="0">
                <a:solidFill>
                  <a:srgbClr val="FF3300"/>
                </a:solidFill>
                <a:latin typeface="Times New Roman" pitchFamily="18" charset="0"/>
              </a:rPr>
              <a:t>\-1</a:t>
            </a:r>
            <a:r>
              <a:rPr lang="en-US" altLang="uz-Cyrl-UZ" sz="2400" dirty="0">
                <a:solidFill>
                  <a:srgbClr val="FF3300"/>
                </a:solidFill>
                <a:latin typeface="Times New Roman" pitchFamily="18" charset="0"/>
              </a:rPr>
              <a:t> </a:t>
            </a:r>
            <a:r>
              <a:rPr lang="uz-Cyrl-UZ" altLang="uz-Cyrl-UZ" sz="2400" dirty="0">
                <a:solidFill>
                  <a:srgbClr val="FF3300"/>
                </a:solidFill>
                <a:latin typeface="Times New Roman" pitchFamily="18" charset="0"/>
              </a:rPr>
              <a:t>кўринишда белгиланади ва куйдагича аниқланади:</a:t>
            </a:r>
            <a:endParaRPr lang="en-US" altLang="uz-Cyrl-UZ" sz="2400" b="1" i="1" dirty="0">
              <a:solidFill>
                <a:srgbClr val="FF3300"/>
              </a:solidFill>
              <a:latin typeface="Times New Roman" pitchFamily="18" charset="0"/>
            </a:endParaRPr>
          </a:p>
          <a:p>
            <a:pPr algn="ctr"/>
            <a:endParaRPr lang="en-US" altLang="uz-Cyrl-UZ" sz="2400" b="1" i="1" dirty="0" smtClean="0">
              <a:latin typeface="Times New Roman" pitchFamily="18" charset="0"/>
            </a:endParaRPr>
          </a:p>
          <a:p>
            <a:pPr algn="ctr"/>
            <a:r>
              <a:rPr lang="en-US" altLang="uz-Cyrl-UZ" sz="2400" b="1" i="1" dirty="0" smtClean="0">
                <a:latin typeface="Times New Roman" pitchFamily="18" charset="0"/>
              </a:rPr>
              <a:t>X</a:t>
            </a:r>
            <a:r>
              <a:rPr lang="en-US" altLang="uz-Cyrl-UZ" sz="2400" b="1" i="1" baseline="30000" dirty="0">
                <a:latin typeface="Times New Roman" pitchFamily="18" charset="0"/>
              </a:rPr>
              <a:t>\-1</a:t>
            </a:r>
            <a:r>
              <a:rPr lang="en-US" altLang="uz-Cyrl-UZ" sz="2400" b="1" i="1" dirty="0">
                <a:latin typeface="Times New Roman" pitchFamily="18" charset="0"/>
              </a:rPr>
              <a:t> </a:t>
            </a:r>
            <a:r>
              <a:rPr lang="en-US" altLang="uz-Cyrl-UZ" sz="2400" b="1" i="1" dirty="0">
                <a:latin typeface="Times New Roman" pitchFamily="18" charset="0"/>
                <a:sym typeface="Symbol" pitchFamily="18" charset="2"/>
              </a:rPr>
              <a:t></a:t>
            </a:r>
            <a:r>
              <a:rPr lang="en-US" altLang="uz-Cyrl-UZ" sz="2400" b="1" i="1" dirty="0">
                <a:latin typeface="Times New Roman" pitchFamily="18" charset="0"/>
              </a:rPr>
              <a:t>  (p - X) </a:t>
            </a:r>
            <a:r>
              <a:rPr lang="en-US" altLang="uz-Cyrl-UZ" sz="2400" b="1" dirty="0">
                <a:latin typeface="Times New Roman" pitchFamily="18" charset="0"/>
              </a:rPr>
              <a:t>х </a:t>
            </a:r>
            <a:r>
              <a:rPr lang="en-US" altLang="uz-Cyrl-UZ" sz="2400" b="1" i="1" dirty="0">
                <a:latin typeface="Times New Roman" pitchFamily="18" charset="0"/>
              </a:rPr>
              <a:t>(F(X))</a:t>
            </a:r>
            <a:r>
              <a:rPr lang="en-US" altLang="uz-Cyrl-UZ" sz="2400" b="1" i="1" baseline="30000" dirty="0">
                <a:latin typeface="Times New Roman" pitchFamily="18" charset="0"/>
              </a:rPr>
              <a:t>-1</a:t>
            </a:r>
            <a:r>
              <a:rPr lang="en-US" altLang="uz-Cyrl-UZ" sz="2400" b="1" i="1" dirty="0">
                <a:latin typeface="Times New Roman" pitchFamily="18" charset="0"/>
              </a:rPr>
              <a:t> (mod p) </a:t>
            </a:r>
            <a:r>
              <a:rPr lang="en-US" altLang="uz-Cyrl-UZ" sz="2400" b="1" i="1" dirty="0">
                <a:latin typeface="Times New Roman" pitchFamily="18" charset="0"/>
                <a:sym typeface="Symbol" pitchFamily="18" charset="2"/>
              </a:rPr>
              <a:t></a:t>
            </a:r>
            <a:r>
              <a:rPr lang="en-US" altLang="uz-Cyrl-UZ" sz="2400" b="1" i="1" dirty="0">
                <a:latin typeface="Times New Roman" pitchFamily="18" charset="0"/>
              </a:rPr>
              <a:t>  (p - X) </a:t>
            </a:r>
            <a:r>
              <a:rPr lang="en-US" altLang="uz-Cyrl-UZ" sz="2400" b="1" dirty="0">
                <a:latin typeface="Times New Roman" pitchFamily="18" charset="0"/>
              </a:rPr>
              <a:t>х </a:t>
            </a:r>
            <a:r>
              <a:rPr lang="en-US" altLang="uz-Cyrl-UZ" sz="2400" b="1" i="1" dirty="0">
                <a:latin typeface="Times New Roman" pitchFamily="18" charset="0"/>
              </a:rPr>
              <a:t>(1 + X </a:t>
            </a:r>
            <a:r>
              <a:rPr lang="en-US" altLang="uz-Cyrl-UZ" sz="2400" b="1" dirty="0" err="1">
                <a:latin typeface="Times New Roman" pitchFamily="18" charset="0"/>
              </a:rPr>
              <a:t>x</a:t>
            </a:r>
            <a:r>
              <a:rPr lang="en-US" altLang="uz-Cyrl-UZ" sz="2400" b="1" i="1" dirty="0">
                <a:latin typeface="Times New Roman" pitchFamily="18" charset="0"/>
              </a:rPr>
              <a:t> R)</a:t>
            </a:r>
            <a:r>
              <a:rPr lang="en-US" altLang="uz-Cyrl-UZ" sz="2400" b="1" i="1" baseline="30000" dirty="0">
                <a:latin typeface="Times New Roman" pitchFamily="18" charset="0"/>
              </a:rPr>
              <a:t>-1</a:t>
            </a:r>
            <a:r>
              <a:rPr lang="en-US" altLang="uz-Cyrl-UZ" sz="2400" b="1" i="1" dirty="0">
                <a:latin typeface="Times New Roman" pitchFamily="18" charset="0"/>
              </a:rPr>
              <a:t> (mod p).</a:t>
            </a:r>
            <a:endParaRPr lang="ru-RU" altLang="uz-Cyrl-UZ" sz="2400" b="1" i="1" dirty="0">
              <a:latin typeface="Times New Roman" pitchFamily="18" charset="0"/>
            </a:endParaRPr>
          </a:p>
          <a:p>
            <a:endParaRPr lang="en-US" altLang="uz-Cyrl-UZ" sz="2400" b="1" i="1" dirty="0" smtClean="0">
              <a:latin typeface="Times New Roman" pitchFamily="18" charset="0"/>
            </a:endParaRPr>
          </a:p>
          <a:p>
            <a:r>
              <a:rPr lang="ru-RU" altLang="uz-Cyrl-UZ" sz="2400" b="1" i="1" dirty="0" err="1" smtClean="0">
                <a:latin typeface="Times New Roman" pitchFamily="18" charset="0"/>
                <a:cs typeface="Times New Roman" pitchFamily="18" charset="0"/>
              </a:rPr>
              <a:t>Мисол</a:t>
            </a:r>
            <a:r>
              <a:rPr lang="ru-RU" altLang="uz-Cyrl-UZ" sz="2400" b="1" i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altLang="uz-Cyrl-UZ" sz="2000" i="1" dirty="0">
                <a:latin typeface="Times New Roman" pitchFamily="18" charset="0"/>
                <a:cs typeface="Times New Roman" pitchFamily="18" charset="0"/>
              </a:rPr>
              <a:t>х=3,</a:t>
            </a:r>
            <a:r>
              <a:rPr lang="ru-RU" altLang="uz-Cyrl-UZ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uz-Cyrl-UZ" sz="2000" i="1" dirty="0">
                <a:latin typeface="Times New Roman" pitchFamily="18" charset="0"/>
                <a:cs typeface="Times New Roman" pitchFamily="18" charset="0"/>
              </a:rPr>
              <a:t>R=</a:t>
            </a:r>
            <a:r>
              <a:rPr lang="ru-RU" altLang="uz-Cyrl-UZ" sz="2000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uz-Cyrl-UZ" sz="20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altLang="uz-Cyrl-UZ" sz="2000" i="1" dirty="0">
                <a:latin typeface="Times New Roman" pitchFamily="18" charset="0"/>
                <a:cs typeface="Times New Roman" pitchFamily="18" charset="0"/>
              </a:rPr>
              <a:t>р=</a:t>
            </a:r>
            <a:r>
              <a:rPr lang="en-US" altLang="uz-Cyrl-UZ" sz="2000" i="1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ru-RU" altLang="uz-Cyrl-UZ" sz="2000" i="1" dirty="0">
                <a:latin typeface="Times New Roman" pitchFamily="18" charset="0"/>
                <a:cs typeface="Times New Roman" pitchFamily="18" charset="0"/>
              </a:rPr>
              <a:t>  б</a:t>
            </a:r>
            <a:r>
              <a:rPr lang="en-US" altLang="uz-Cyrl-UZ" sz="2000" i="1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altLang="uz-Cyrl-UZ" sz="2000" i="1" dirty="0" err="1">
                <a:latin typeface="Times New Roman" pitchFamily="18" charset="0"/>
                <a:cs typeface="Times New Roman" pitchFamily="18" charset="0"/>
              </a:rPr>
              <a:t>са</a:t>
            </a:r>
            <a:r>
              <a:rPr lang="ru-RU" altLang="uz-Cyrl-UZ" sz="2000" i="1" dirty="0">
                <a:latin typeface="Times New Roman" pitchFamily="18" charset="0"/>
                <a:cs typeface="Times New Roman" pitchFamily="18" charset="0"/>
              </a:rPr>
              <a:t> 3</a:t>
            </a:r>
            <a:r>
              <a:rPr lang="en-US" altLang="uz-Cyrl-UZ" sz="2000" i="1" baseline="30000" dirty="0">
                <a:latin typeface="Times New Roman" pitchFamily="18" charset="0"/>
                <a:cs typeface="Times New Roman" pitchFamily="18" charset="0"/>
              </a:rPr>
              <a:t>\-1</a:t>
            </a:r>
            <a:r>
              <a:rPr lang="en-US" altLang="uz-Cyrl-UZ" sz="20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</a:t>
            </a:r>
            <a:r>
              <a:rPr lang="ru-RU" altLang="uz-Cyrl-UZ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uz-Cyrl-UZ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11</a:t>
            </a:r>
            <a:r>
              <a:rPr lang="ru-RU" altLang="uz-Cyrl-UZ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-3)*(1+3*2)</a:t>
            </a:r>
            <a:r>
              <a:rPr lang="ru-RU" altLang="uz-Cyrl-UZ" sz="2000" i="1" baseline="30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-1</a:t>
            </a:r>
            <a:r>
              <a:rPr lang="ru-RU" altLang="uz-Cyrl-UZ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uz-Cyrl-UZ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mod11)</a:t>
            </a:r>
            <a:r>
              <a:rPr lang="en-US" altLang="uz-Cyrl-UZ" sz="20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</a:t>
            </a:r>
            <a:r>
              <a:rPr lang="ru-RU" altLang="uz-Cyrl-UZ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uz-Cyrl-UZ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8</a:t>
            </a:r>
            <a:r>
              <a:rPr lang="ru-RU" altLang="uz-Cyrl-UZ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)*(</a:t>
            </a:r>
            <a:r>
              <a:rPr lang="en-US" altLang="uz-Cyrl-UZ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7)</a:t>
            </a:r>
            <a:r>
              <a:rPr lang="en-US" altLang="uz-Cyrl-UZ" sz="2000" i="1" baseline="30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9</a:t>
            </a:r>
            <a:r>
              <a:rPr lang="ru-RU" altLang="uz-Cyrl-UZ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uz-Cyrl-UZ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mod11)=9</a:t>
            </a:r>
            <a:endParaRPr lang="ru-RU" altLang="uz-Cyrl-UZ" sz="2000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2885</TotalTime>
  <Words>230</Words>
  <Application>Microsoft Office PowerPoint</Application>
  <PresentationFormat>Экран (4:3)</PresentationFormat>
  <Paragraphs>23</Paragraphs>
  <Slides>4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6" baseType="lpstr">
      <vt:lpstr>Тема Office</vt:lpstr>
      <vt:lpstr>Формула</vt:lpstr>
      <vt:lpstr>Миллий стандарт криптографик алгоритмлар математик асослари</vt:lpstr>
      <vt:lpstr>Презентация PowerPoint</vt:lpstr>
      <vt:lpstr>Презентация PowerPoint</vt:lpstr>
      <vt:lpstr>Презентация PowerPoint</vt:lpstr>
    </vt:vector>
  </TitlesOfParts>
  <Company>WareZ Provider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АСИММЕТРИК ШИФРЛАШ АЛГОРИТМИ ЭЛ - ГАМАЛЬ</dc:title>
  <dc:creator>Muhiddin</dc:creator>
  <cp:lastModifiedBy>Microsoft Office</cp:lastModifiedBy>
  <cp:revision>607</cp:revision>
  <dcterms:created xsi:type="dcterms:W3CDTF">2007-12-27T03:29:38Z</dcterms:created>
  <dcterms:modified xsi:type="dcterms:W3CDTF">2019-08-21T09:07:02Z</dcterms:modified>
</cp:coreProperties>
</file>