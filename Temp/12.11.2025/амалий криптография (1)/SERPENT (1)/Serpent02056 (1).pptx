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26"/>
  </p:notesMasterIdLst>
  <p:sldIdLst>
    <p:sldId id="256" r:id="rId2"/>
    <p:sldId id="349" r:id="rId3"/>
    <p:sldId id="350" r:id="rId4"/>
    <p:sldId id="374" r:id="rId5"/>
    <p:sldId id="370" r:id="rId6"/>
    <p:sldId id="371" r:id="rId7"/>
    <p:sldId id="360" r:id="rId8"/>
    <p:sldId id="358" r:id="rId9"/>
    <p:sldId id="352" r:id="rId10"/>
    <p:sldId id="353" r:id="rId11"/>
    <p:sldId id="354" r:id="rId12"/>
    <p:sldId id="355" r:id="rId13"/>
    <p:sldId id="361" r:id="rId14"/>
    <p:sldId id="380" r:id="rId15"/>
    <p:sldId id="356" r:id="rId16"/>
    <p:sldId id="363" r:id="rId17"/>
    <p:sldId id="364" r:id="rId18"/>
    <p:sldId id="365" r:id="rId19"/>
    <p:sldId id="366" r:id="rId20"/>
    <p:sldId id="367" r:id="rId21"/>
    <p:sldId id="379" r:id="rId22"/>
    <p:sldId id="377" r:id="rId23"/>
    <p:sldId id="378" r:id="rId24"/>
    <p:sldId id="375" r:id="rId2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95C6"/>
    <a:srgbClr val="CCFF33"/>
    <a:srgbClr val="CCFFCC"/>
    <a:srgbClr val="FFFF66"/>
    <a:srgbClr val="FFFF99"/>
    <a:srgbClr val="F8FBFD"/>
    <a:srgbClr val="E3E3E1"/>
    <a:srgbClr val="B4F7FA"/>
    <a:srgbClr val="FFFFFF"/>
    <a:srgbClr val="1539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-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Средний стиль 3 - акцент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Средний стиль 4 -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Средний стиль 4 -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25E5076-3810-47DD-B79F-674D7AD40C01}" styleName="Темный стиль 1 - акцент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8" autoAdjust="0"/>
    <p:restoredTop sz="95827" autoAdjust="0"/>
  </p:normalViewPr>
  <p:slideViewPr>
    <p:cSldViewPr>
      <p:cViewPr>
        <p:scale>
          <a:sx n="66" d="100"/>
          <a:sy n="66" d="100"/>
        </p:scale>
        <p:origin x="516" y="72"/>
      </p:cViewPr>
      <p:guideLst>
        <p:guide orient="horz" pos="2160"/>
        <p:guide pos="292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-14802"/>
    </p:cViewPr>
  </p:sorterViewPr>
  <p:notesViewPr>
    <p:cSldViewPr>
      <p:cViewPr varScale="1">
        <p:scale>
          <a:sx n="70" d="100"/>
          <a:sy n="70" d="100"/>
        </p:scale>
        <p:origin x="-2766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BADD8C-ADD2-4F59-A867-5AE7CAE27CAC}" type="doc">
      <dgm:prSet loTypeId="urn:microsoft.com/office/officeart/2005/8/layout/hProcess9" loCatId="process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FD22B386-10BF-46AD-B8FF-2A0FB4E32C30}">
      <dgm:prSet custT="1"/>
      <dgm:spPr>
        <a:effectLst>
          <a:glow rad="2286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 rtl="0"/>
          <a:r>
            <a:rPr lang="en-US" sz="2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AES</a:t>
          </a:r>
          <a:r>
            <a:rPr lang="ru-RU" sz="2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z-Cyrl-UZ" sz="2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конкурсида иштирок этган </a:t>
          </a:r>
          <a:r>
            <a:rPr lang="en-US" sz="2400" b="1" dirty="0">
              <a:solidFill>
                <a:srgbClr val="000099"/>
              </a:solidFill>
              <a:latin typeface="Times New Roman" pitchFamily="18" charset="0"/>
            </a:rPr>
            <a:t>SERPENT</a:t>
          </a:r>
          <a:r>
            <a:rPr lang="ru-RU" sz="2400" b="1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симметрик</a:t>
          </a:r>
          <a:r>
            <a:rPr lang="ru-RU" sz="2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2400" b="1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блокли</a:t>
          </a:r>
          <a:r>
            <a:rPr lang="ru-RU" sz="2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2400" b="1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шифрлаш</a:t>
          </a:r>
          <a:r>
            <a:rPr lang="ru-RU" sz="2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z-Cyrl-UZ" sz="2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алгоритми</a:t>
          </a:r>
          <a:endParaRPr lang="ru-RU" sz="2400" b="1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818070C-A3D0-4B0E-9033-36B3A3647A96}" type="sibTrans" cxnId="{67764A32-CDAE-4243-B16D-D4EB88540D44}">
      <dgm:prSet/>
      <dgm:spPr/>
      <dgm:t>
        <a:bodyPr/>
        <a:lstStyle/>
        <a:p>
          <a:endParaRPr lang="ru-RU"/>
        </a:p>
      </dgm:t>
    </dgm:pt>
    <dgm:pt modelId="{8122EBA6-161E-47B4-9286-A67E1A276A5D}" type="parTrans" cxnId="{67764A32-CDAE-4243-B16D-D4EB88540D44}">
      <dgm:prSet/>
      <dgm:spPr/>
      <dgm:t>
        <a:bodyPr/>
        <a:lstStyle/>
        <a:p>
          <a:endParaRPr lang="ru-RU"/>
        </a:p>
      </dgm:t>
    </dgm:pt>
    <dgm:pt modelId="{5E208D8E-7535-4376-B4CB-C2CE61BDF5CF}" type="pres">
      <dgm:prSet presAssocID="{D3BADD8C-ADD2-4F59-A867-5AE7CAE27CAC}" presName="CompostProcess" presStyleCnt="0">
        <dgm:presLayoutVars>
          <dgm:dir/>
          <dgm:resizeHandles val="exact"/>
        </dgm:presLayoutVars>
      </dgm:prSet>
      <dgm:spPr/>
    </dgm:pt>
    <dgm:pt modelId="{4512A086-8C95-4C7A-9214-2EDCDBAAC303}" type="pres">
      <dgm:prSet presAssocID="{D3BADD8C-ADD2-4F59-A867-5AE7CAE27CAC}" presName="arrow" presStyleLbl="bgShp" presStyleIdx="0" presStyleCnt="1" custScaleX="88266" custScaleY="44856" custLinFactNeighborX="9687"/>
      <dgm:spPr/>
    </dgm:pt>
    <dgm:pt modelId="{AC035E67-7D52-42B0-92E2-DDE297C8B33E}" type="pres">
      <dgm:prSet presAssocID="{D3BADD8C-ADD2-4F59-A867-5AE7CAE27CAC}" presName="linearProcess" presStyleCnt="0"/>
      <dgm:spPr/>
    </dgm:pt>
    <dgm:pt modelId="{CE423292-3AEB-4D68-9021-3E96D5261507}" type="pres">
      <dgm:prSet presAssocID="{FD22B386-10BF-46AD-B8FF-2A0FB4E32C30}" presName="textNode" presStyleLbl="node1" presStyleIdx="0" presStyleCnt="1" custScaleX="227873" custScaleY="212281" custLinFactNeighborX="3245" custLinFactNeighborY="-6788">
        <dgm:presLayoutVars>
          <dgm:bulletEnabled val="1"/>
        </dgm:presLayoutVars>
      </dgm:prSet>
      <dgm:spPr/>
    </dgm:pt>
  </dgm:ptLst>
  <dgm:cxnLst>
    <dgm:cxn modelId="{67764A32-CDAE-4243-B16D-D4EB88540D44}" srcId="{D3BADD8C-ADD2-4F59-A867-5AE7CAE27CAC}" destId="{FD22B386-10BF-46AD-B8FF-2A0FB4E32C30}" srcOrd="0" destOrd="0" parTransId="{8122EBA6-161E-47B4-9286-A67E1A276A5D}" sibTransId="{9818070C-A3D0-4B0E-9033-36B3A3647A96}"/>
    <dgm:cxn modelId="{75739B5C-FA67-47EC-A9E7-416CEFB628BF}" type="presOf" srcId="{FD22B386-10BF-46AD-B8FF-2A0FB4E32C30}" destId="{CE423292-3AEB-4D68-9021-3E96D5261507}" srcOrd="0" destOrd="0" presId="urn:microsoft.com/office/officeart/2005/8/layout/hProcess9"/>
    <dgm:cxn modelId="{82B48EF7-381A-4CF3-B731-273D3CC91E77}" type="presOf" srcId="{D3BADD8C-ADD2-4F59-A867-5AE7CAE27CAC}" destId="{5E208D8E-7535-4376-B4CB-C2CE61BDF5CF}" srcOrd="0" destOrd="0" presId="urn:microsoft.com/office/officeart/2005/8/layout/hProcess9"/>
    <dgm:cxn modelId="{3286FA44-F401-4DAE-B58F-F979A5E38667}" type="presParOf" srcId="{5E208D8E-7535-4376-B4CB-C2CE61BDF5CF}" destId="{4512A086-8C95-4C7A-9214-2EDCDBAAC303}" srcOrd="0" destOrd="0" presId="urn:microsoft.com/office/officeart/2005/8/layout/hProcess9"/>
    <dgm:cxn modelId="{496B8E78-C7AE-4A02-85D5-F073FF073159}" type="presParOf" srcId="{5E208D8E-7535-4376-B4CB-C2CE61BDF5CF}" destId="{AC035E67-7D52-42B0-92E2-DDE297C8B33E}" srcOrd="1" destOrd="0" presId="urn:microsoft.com/office/officeart/2005/8/layout/hProcess9"/>
    <dgm:cxn modelId="{6252E74B-167F-427F-8A78-0D665C8A21F5}" type="presParOf" srcId="{AC035E67-7D52-42B0-92E2-DDE297C8B33E}" destId="{CE423292-3AEB-4D68-9021-3E96D5261507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12A086-8C95-4C7A-9214-2EDCDBAAC303}">
      <dsp:nvSpPr>
        <dsp:cNvPr id="0" name=""/>
        <dsp:cNvSpPr/>
      </dsp:nvSpPr>
      <dsp:spPr>
        <a:xfrm>
          <a:off x="1671427" y="435117"/>
          <a:ext cx="6051894" cy="707878"/>
        </a:xfrm>
        <a:prstGeom prst="rightArrow">
          <a:avLst/>
        </a:prstGeom>
        <a:gradFill rotWithShape="0">
          <a:gsLst>
            <a:gs pos="0">
              <a:schemeClr val="accent1">
                <a:tint val="40000"/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tint val="40000"/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CE423292-3AEB-4D68-9021-3E96D5261507}">
      <dsp:nvSpPr>
        <dsp:cNvPr id="0" name=""/>
        <dsp:cNvSpPr/>
      </dsp:nvSpPr>
      <dsp:spPr>
        <a:xfrm>
          <a:off x="2041" y="76200"/>
          <a:ext cx="8064343" cy="134001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glow rad="2286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AES</a:t>
          </a:r>
          <a:r>
            <a:rPr lang="ru-RU" sz="24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z-Cyrl-UZ" sz="24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конкурсида иштирок этган </a:t>
          </a:r>
          <a:r>
            <a:rPr lang="en-US" sz="2400" b="1" kern="1200" dirty="0">
              <a:solidFill>
                <a:srgbClr val="000099"/>
              </a:solidFill>
              <a:latin typeface="Times New Roman" pitchFamily="18" charset="0"/>
            </a:rPr>
            <a:t>SERPENT</a:t>
          </a:r>
          <a:r>
            <a:rPr lang="ru-RU" sz="2400" b="1" kern="1200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симметрик</a:t>
          </a:r>
          <a:r>
            <a:rPr lang="ru-RU" sz="24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2400" b="1" kern="1200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блокли</a:t>
          </a:r>
          <a:r>
            <a:rPr lang="ru-RU" sz="24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2400" b="1" kern="1200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шифрлаш</a:t>
          </a:r>
          <a:r>
            <a:rPr lang="ru-RU" sz="24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uz-Cyrl-UZ" sz="24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алгоритми</a:t>
          </a:r>
          <a:endParaRPr lang="ru-RU" sz="2400" b="1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7455" y="141614"/>
        <a:ext cx="7933515" cy="12091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BFB70100-3EB9-42EC-9C63-CF419013A8A1}" type="datetimeFigureOut">
              <a:rPr lang="ru-RU"/>
              <a:pPr>
                <a:defRPr/>
              </a:pPr>
              <a:t>17.05.2024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5937DCAC-3A17-45BC-931B-30F5DEA5072B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62785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6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6" y="4050836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1E98E5-3262-43B4-A5D9-C4C77D0E5213}" type="datetimeFigureOut">
              <a:rPr lang="en-US" smtClean="0"/>
              <a:pPr>
                <a:defRPr/>
              </a:pPr>
              <a:t>5/17/2024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317F-26BB-4D66-B62E-1F14C8DD9F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090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1E98E5-3262-43B4-A5D9-C4C77D0E5213}" type="datetimeFigureOut">
              <a:rPr lang="en-US" smtClean="0"/>
              <a:pPr>
                <a:defRPr/>
              </a:pPr>
              <a:t>5/17/2024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317F-26BB-4D66-B62E-1F14C8DD9F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802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2700870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1E98E5-3262-43B4-A5D9-C4C77D0E5213}" type="datetimeFigureOut">
              <a:rPr lang="en-US" smtClean="0"/>
              <a:pPr>
                <a:defRPr/>
              </a:pPr>
              <a:t>5/17/2024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317F-26BB-4D66-B62E-1F14C8DD9F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296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609600"/>
            <a:ext cx="6347714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1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1E98E5-3262-43B4-A5D9-C4C77D0E5213}" type="datetimeFigureOut">
              <a:rPr lang="en-US" smtClean="0"/>
              <a:pPr>
                <a:defRPr/>
              </a:pPr>
              <a:t>5/17/2024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317F-26BB-4D66-B62E-1F14C8DD9F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432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8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8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1E98E5-3262-43B4-A5D9-C4C77D0E5213}" type="datetimeFigureOut">
              <a:rPr lang="en-US" smtClean="0"/>
              <a:pPr>
                <a:defRPr/>
              </a:pPr>
              <a:t>5/17/2024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317F-26BB-4D66-B62E-1F14C8DD9F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256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1E98E5-3262-43B4-A5D9-C4C77D0E5213}" type="datetimeFigureOut">
              <a:rPr lang="en-US" smtClean="0"/>
              <a:pPr>
                <a:defRPr/>
              </a:pPr>
              <a:t>5/17/2024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317F-26BB-4D66-B62E-1F14C8DD9F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081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1E98E5-3262-43B4-A5D9-C4C77D0E5213}" type="datetimeFigureOut">
              <a:rPr lang="en-US" smtClean="0"/>
              <a:pPr>
                <a:defRPr/>
              </a:pPr>
              <a:t>5/17/2024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317F-26BB-4D66-B62E-1F14C8DD9F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799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6" y="514927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1E98E5-3262-43B4-A5D9-C4C77D0E5213}" type="datetimeFigureOut">
              <a:rPr lang="en-US" smtClean="0"/>
              <a:pPr>
                <a:defRPr/>
              </a:pPr>
              <a:t>5/17/2024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317F-26BB-4D66-B62E-1F14C8DD9F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52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600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1E98E5-3262-43B4-A5D9-C4C77D0E5213}" type="datetimeFigureOut">
              <a:rPr lang="en-US" smtClean="0"/>
              <a:pPr>
                <a:defRPr/>
              </a:pPr>
              <a:t>5/17/2024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317F-26BB-4D66-B62E-1F14C8DD9F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243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1E98E5-3262-43B4-A5D9-C4C77D0E5213}" type="datetimeFigureOut">
              <a:rPr lang="en-US" smtClean="0"/>
              <a:pPr>
                <a:defRPr/>
              </a:pPr>
              <a:t>5/17/2024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317F-26BB-4D66-B62E-1F14C8DD9F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554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6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5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1E98E5-3262-43B4-A5D9-C4C77D0E5213}" type="datetimeFigureOut">
              <a:rPr lang="en-US" smtClean="0"/>
              <a:pPr>
                <a:defRPr/>
              </a:pPr>
              <a:t>5/17/2024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317F-26BB-4D66-B62E-1F14C8DD9F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2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700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94291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1E98E5-3262-43B4-A5D9-C4C77D0E5213}" type="datetimeFigureOut">
              <a:rPr lang="en-US" smtClean="0"/>
              <a:pPr>
                <a:defRPr/>
              </a:pPr>
              <a:t>5/17/2024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317F-26BB-4D66-B62E-1F14C8DD9F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3331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6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1E98E5-3262-43B4-A5D9-C4C77D0E5213}" type="datetimeFigureOut">
              <a:rPr lang="en-US" smtClean="0"/>
              <a:pPr>
                <a:defRPr/>
              </a:pPr>
              <a:t>5/17/2024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317F-26BB-4D66-B62E-1F14C8DD9F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2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700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900934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9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1E98E5-3262-43B4-A5D9-C4C77D0E5213}" type="datetimeFigureOut">
              <a:rPr lang="en-US" smtClean="0"/>
              <a:pPr>
                <a:defRPr/>
              </a:pPr>
              <a:t>5/17/2024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317F-26BB-4D66-B62E-1F14C8DD9F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2703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1E98E5-3262-43B4-A5D9-C4C77D0E5213}" type="datetimeFigureOut">
              <a:rPr lang="en-US" smtClean="0"/>
              <a:pPr>
                <a:defRPr/>
              </a:pPr>
              <a:t>5/17/2024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317F-26BB-4D66-B62E-1F14C8DD9F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5364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2"/>
            <a:ext cx="978812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2"/>
            <a:ext cx="5195026" cy="525145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1E98E5-3262-43B4-A5D9-C4C77D0E5213}" type="datetimeFigureOut">
              <a:rPr lang="en-US" smtClean="0"/>
              <a:pPr>
                <a:defRPr/>
              </a:pPr>
              <a:t>5/17/2024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317F-26BB-4D66-B62E-1F14C8DD9F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254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6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5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21E98E5-3262-43B4-A5D9-C4C77D0E5213}" type="datetimeFigureOut">
              <a:rPr lang="en-US" smtClean="0"/>
              <a:pPr>
                <a:defRPr/>
              </a:pPr>
              <a:t>5/17/2024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5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7" y="6041365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65A317F-26BB-4D66-B62E-1F14C8DD9F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075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slide" Target="slide12.xml"/><Relationship Id="rId9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3.png"/><Relationship Id="rId7" Type="http://schemas.openxmlformats.org/officeDocument/2006/relationships/image" Target="../media/image30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microsoft.com/office/2007/relationships/hdphoto" Target="../media/hdphoto1.wdp"/><Relationship Id="rId5" Type="http://schemas.openxmlformats.org/officeDocument/2006/relationships/image" Target="../media/image25.png"/><Relationship Id="rId10" Type="http://schemas.openxmlformats.org/officeDocument/2006/relationships/image" Target="../media/image32.png"/><Relationship Id="rId4" Type="http://schemas.openxmlformats.org/officeDocument/2006/relationships/image" Target="../media/image24.png"/><Relationship Id="rId9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228600" y="304800"/>
            <a:ext cx="86106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RADIOELEKTRON TIZIMLAR VA AXBOROT </a:t>
            </a:r>
            <a:r>
              <a:rPr lang="uz-Cyrl-UZ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ТЕХ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NOLOGIYALARI MARKAZI</a:t>
            </a:r>
            <a:endParaRPr lang="ru-RU" dirty="0"/>
          </a:p>
        </p:txBody>
      </p:sp>
      <p:sp>
        <p:nvSpPr>
          <p:cNvPr id="7" name="Rectangle 150"/>
          <p:cNvSpPr>
            <a:spLocks noChangeArrowheads="1"/>
          </p:cNvSpPr>
          <p:nvPr/>
        </p:nvSpPr>
        <p:spPr bwMode="auto">
          <a:xfrm>
            <a:off x="228600" y="685800"/>
            <a:ext cx="8643938" cy="46038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0" name="Text Box 154"/>
          <p:cNvSpPr txBox="1">
            <a:spLocks noChangeArrowheads="1"/>
          </p:cNvSpPr>
          <p:nvPr/>
        </p:nvSpPr>
        <p:spPr bwMode="auto">
          <a:xfrm>
            <a:off x="3886200" y="6215063"/>
            <a:ext cx="20574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Toshkent – 20</a:t>
            </a:r>
            <a:r>
              <a:rPr lang="uz-Cyrl-UZ" sz="2000" b="1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24</a:t>
            </a:r>
            <a:endParaRPr lang="ru-RU" sz="2000" b="1" dirty="0">
              <a:solidFill>
                <a:schemeClr val="tx2">
                  <a:lumMod val="50000"/>
                </a:schemeClr>
              </a:solidFill>
              <a:effectLst>
                <a:outerShdw blurRad="60007" dist="310007" dir="7680000" sy="30000" kx="1300200" algn="ctr" rotWithShape="0">
                  <a:prstClr val="black">
                    <a:alpha val="32000"/>
                  </a:prst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15887" y="118383"/>
            <a:ext cx="8839200" cy="6496110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graphicFrame>
        <p:nvGraphicFramePr>
          <p:cNvPr id="14" name="Схема 13"/>
          <p:cNvGraphicFramePr/>
          <p:nvPr>
            <p:extLst>
              <p:ext uri="{D42A27DB-BD31-4B8C-83A1-F6EECF244321}">
                <p14:modId xmlns:p14="http://schemas.microsoft.com/office/powerpoint/2010/main" val="3484809481"/>
              </p:ext>
            </p:extLst>
          </p:nvPr>
        </p:nvGraphicFramePr>
        <p:xfrm>
          <a:off x="806154" y="2438400"/>
          <a:ext cx="8066385" cy="15781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214285" y="797720"/>
            <a:ext cx="8167717" cy="5703117"/>
          </a:xfrm>
        </p:spPr>
        <p:txBody>
          <a:bodyPr>
            <a:normAutofit fontScale="92500" lnSpcReduction="20000"/>
          </a:bodyPr>
          <a:lstStyle/>
          <a:p>
            <a:pPr marL="0" indent="363538" algn="just">
              <a:buNone/>
            </a:pPr>
            <a:r>
              <a:rPr lang="en-US" sz="19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Serpent </a:t>
            </a:r>
            <a:r>
              <a:rPr lang="uz-Cyrl-UZ" sz="1900" dirty="0">
                <a:latin typeface="Times New Roman" pitchFamily="18" charset="0"/>
                <a:cs typeface="Times New Roman" pitchFamily="18" charset="0"/>
              </a:rPr>
              <a:t>алгоритми </a:t>
            </a:r>
            <a:r>
              <a:rPr lang="en-US" sz="19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AES </a:t>
            </a:r>
            <a:r>
              <a:rPr lang="uz-Cyrl-UZ" sz="1900" dirty="0">
                <a:latin typeface="Times New Roman" pitchFamily="18" charset="0"/>
                <a:cs typeface="Times New Roman" pitchFamily="18" charset="0"/>
              </a:rPr>
              <a:t>танловининг финал босқичига чиққан. </a:t>
            </a:r>
            <a:r>
              <a:rPr lang="uz-Cyrl-UZ" sz="19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Шифрлаш стандартини алмаштириш борасидаги дастлабки қадам </a:t>
            </a:r>
            <a:r>
              <a:rPr lang="uz-Cyrl-UZ" sz="19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1997 йилда </a:t>
            </a:r>
            <a:r>
              <a:rPr lang="uz-Cyrl-UZ" sz="19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қўйилган эди. </a:t>
            </a:r>
            <a:r>
              <a:rPr lang="en-US" sz="19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DES</a:t>
            </a:r>
            <a:r>
              <a:rPr lang="en-US" sz="19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19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алгоритмининг заиф нуқталари топилгандан сўнг </a:t>
            </a:r>
            <a:r>
              <a:rPr lang="uz-Cyrl-UZ" sz="19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АҚШ</a:t>
            </a:r>
            <a:r>
              <a:rPr lang="uz-Cyrl-UZ" sz="19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нинг </a:t>
            </a:r>
            <a:r>
              <a:rPr lang="en-US" sz="1900" b="1" dirty="0">
                <a:latin typeface="Times New Roman" pitchFamily="18" charset="0"/>
                <a:cs typeface="Times New Roman" pitchFamily="18" charset="0"/>
              </a:rPr>
              <a:t>NIST</a:t>
            </a:r>
            <a:r>
              <a:rPr lang="ru-RU" sz="19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1900" i="1" dirty="0">
                <a:latin typeface="Times New Roman" pitchFamily="18" charset="0"/>
                <a:cs typeface="Times New Roman" pitchFamily="18" charset="0"/>
              </a:rPr>
              <a:t>National Institute of Standards and Technology</a:t>
            </a:r>
            <a:r>
              <a:rPr lang="ru-RU" sz="1900" i="1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ru-RU" sz="1900" dirty="0" err="1">
                <a:latin typeface="Times New Roman" pitchFamily="18" charset="0"/>
                <a:cs typeface="Times New Roman" pitchFamily="18" charset="0"/>
              </a:rPr>
              <a:t>Миллий</a:t>
            </a:r>
            <a:r>
              <a:rPr lang="ru-RU" sz="19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900" dirty="0" err="1">
                <a:latin typeface="Times New Roman" pitchFamily="18" charset="0"/>
                <a:cs typeface="Times New Roman" pitchFamily="18" charset="0"/>
              </a:rPr>
              <a:t>стандартлар</a:t>
            </a:r>
            <a:r>
              <a:rPr lang="ru-RU" sz="19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900" dirty="0" err="1">
                <a:latin typeface="Times New Roman" pitchFamily="18" charset="0"/>
                <a:cs typeface="Times New Roman" pitchFamily="18" charset="0"/>
              </a:rPr>
              <a:t>ва</a:t>
            </a:r>
            <a:r>
              <a:rPr lang="ru-RU" sz="19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900" dirty="0" err="1">
                <a:latin typeface="Times New Roman" pitchFamily="18" charset="0"/>
                <a:cs typeface="Times New Roman" pitchFamily="18" charset="0"/>
              </a:rPr>
              <a:t>технологиялар</a:t>
            </a:r>
            <a:r>
              <a:rPr lang="ru-RU" sz="19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900" dirty="0" err="1">
                <a:latin typeface="Times New Roman" pitchFamily="18" charset="0"/>
                <a:cs typeface="Times New Roman" pitchFamily="18" charset="0"/>
              </a:rPr>
              <a:t>институти</a:t>
            </a:r>
            <a:r>
              <a:rPr lang="ru-RU" sz="19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900" dirty="0" err="1">
                <a:latin typeface="Times New Roman" pitchFamily="18" charset="0"/>
                <a:cs typeface="Times New Roman" pitchFamily="18" charset="0"/>
              </a:rPr>
              <a:t>янги</a:t>
            </a:r>
            <a:r>
              <a:rPr lang="ru-RU" sz="19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900" dirty="0" err="1">
                <a:latin typeface="Times New Roman" pitchFamily="18" charset="0"/>
                <a:cs typeface="Times New Roman" pitchFamily="18" charset="0"/>
              </a:rPr>
              <a:t>шифрлаш</a:t>
            </a:r>
            <a:r>
              <a:rPr lang="ru-RU" sz="19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900" dirty="0" err="1">
                <a:latin typeface="Times New Roman" pitchFamily="18" charset="0"/>
                <a:cs typeface="Times New Roman" pitchFamily="18" charset="0"/>
              </a:rPr>
              <a:t>алгоритми</a:t>
            </a:r>
            <a:r>
              <a:rPr lang="ru-RU" sz="19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900" dirty="0" err="1">
                <a:latin typeface="Times New Roman" pitchFamily="18" charset="0"/>
                <a:cs typeface="Times New Roman" pitchFamily="18" charset="0"/>
              </a:rPr>
              <a:t>учун</a:t>
            </a:r>
            <a:r>
              <a:rPr lang="ru-RU" sz="19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900" dirty="0" err="1">
                <a:latin typeface="Times New Roman" pitchFamily="18" charset="0"/>
                <a:cs typeface="Times New Roman" pitchFamily="18" charset="0"/>
              </a:rPr>
              <a:t>очиқ</a:t>
            </a:r>
            <a:r>
              <a:rPr lang="ru-RU" sz="19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900" dirty="0" err="1">
                <a:latin typeface="Times New Roman" pitchFamily="18" charset="0"/>
                <a:cs typeface="Times New Roman" pitchFamily="18" charset="0"/>
              </a:rPr>
              <a:t>танлов</a:t>
            </a:r>
            <a:r>
              <a:rPr lang="ru-RU" sz="19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900" b="1" dirty="0" err="1">
                <a:latin typeface="Times New Roman" pitchFamily="18" charset="0"/>
                <a:cs typeface="Times New Roman" pitchFamily="18" charset="0"/>
              </a:rPr>
              <a:t>эълон</a:t>
            </a:r>
            <a:r>
              <a:rPr lang="ru-RU" sz="19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900" b="1" dirty="0" err="1">
                <a:latin typeface="Times New Roman" pitchFamily="18" charset="0"/>
                <a:cs typeface="Times New Roman" pitchFamily="18" charset="0"/>
              </a:rPr>
              <a:t>қилди</a:t>
            </a:r>
            <a:r>
              <a:rPr lang="ru-RU" sz="19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1900" dirty="0" err="1">
                <a:latin typeface="Times New Roman" pitchFamily="18" charset="0"/>
                <a:cs typeface="Times New Roman" pitchFamily="18" charset="0"/>
              </a:rPr>
              <a:t>Танловда</a:t>
            </a:r>
            <a:r>
              <a:rPr lang="ru-RU" sz="19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900" dirty="0" err="1">
                <a:latin typeface="Times New Roman" pitchFamily="18" charset="0"/>
                <a:cs typeface="Times New Roman" pitchFamily="18" charset="0"/>
              </a:rPr>
              <a:t>ғолиб</a:t>
            </a:r>
            <a:r>
              <a:rPr lang="ru-RU" sz="19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900" dirty="0" err="1">
                <a:latin typeface="Times New Roman" pitchFamily="18" charset="0"/>
                <a:cs typeface="Times New Roman" pitchFamily="18" charset="0"/>
              </a:rPr>
              <a:t>чиққадиган</a:t>
            </a:r>
            <a:r>
              <a:rPr lang="ru-RU" sz="1900" dirty="0">
                <a:latin typeface="Times New Roman" pitchFamily="18" charset="0"/>
                <a:cs typeface="Times New Roman" pitchFamily="18" charset="0"/>
              </a:rPr>
              <a:t> алгоритм </a:t>
            </a:r>
            <a:r>
              <a:rPr lang="ru-RU" sz="1900" dirty="0" err="1">
                <a:latin typeface="Times New Roman" pitchFamily="18" charset="0"/>
                <a:cs typeface="Times New Roman" pitchFamily="18" charset="0"/>
              </a:rPr>
              <a:t>АҚШнинг</a:t>
            </a:r>
            <a:r>
              <a:rPr lang="ru-RU" sz="19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900" dirty="0" err="1">
                <a:latin typeface="Times New Roman" pitchFamily="18" charset="0"/>
                <a:cs typeface="Times New Roman" pitchFamily="18" charset="0"/>
              </a:rPr>
              <a:t>янги</a:t>
            </a:r>
            <a:r>
              <a:rPr lang="ru-RU" sz="19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900" dirty="0" err="1">
                <a:latin typeface="Times New Roman" pitchFamily="18" charset="0"/>
                <a:cs typeface="Times New Roman" pitchFamily="18" charset="0"/>
              </a:rPr>
              <a:t>симметрик</a:t>
            </a:r>
            <a:r>
              <a:rPr lang="ru-RU" sz="19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900" dirty="0" err="1">
                <a:latin typeface="Times New Roman" pitchFamily="18" charset="0"/>
                <a:cs typeface="Times New Roman" pitchFamily="18" charset="0"/>
              </a:rPr>
              <a:t>шифрлаш</a:t>
            </a:r>
            <a:r>
              <a:rPr lang="ru-RU" sz="19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900" dirty="0" err="1">
                <a:latin typeface="Times New Roman" pitchFamily="18" charset="0"/>
                <a:cs typeface="Times New Roman" pitchFamily="18" charset="0"/>
              </a:rPr>
              <a:t>стандарти</a:t>
            </a:r>
            <a:r>
              <a:rPr lang="ru-RU" sz="19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900" dirty="0" err="1">
                <a:latin typeface="Times New Roman" pitchFamily="18" charset="0"/>
                <a:cs typeface="Times New Roman" pitchFamily="18" charset="0"/>
              </a:rPr>
              <a:t>бўлади</a:t>
            </a:r>
            <a:r>
              <a:rPr lang="ru-RU" sz="19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1900" dirty="0">
              <a:latin typeface="Times New Roman" pitchFamily="18" charset="0"/>
              <a:cs typeface="Times New Roman" pitchFamily="18" charset="0"/>
            </a:endParaRPr>
          </a:p>
          <a:p>
            <a:pPr marL="0" indent="363538" algn="just">
              <a:buNone/>
            </a:pPr>
            <a:r>
              <a:rPr lang="en-US" sz="19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NIST</a:t>
            </a:r>
            <a:r>
              <a:rPr lang="uz-Cyrl-UZ" sz="19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танловда қатнашувчи алгоритмлар учун бор йўғи иккита қатъий талаб қўйди:</a:t>
            </a:r>
            <a:endParaRPr lang="en-US" sz="1900" b="1" dirty="0">
              <a:latin typeface="Times New Roman" pitchFamily="18" charset="0"/>
              <a:cs typeface="Times New Roman" pitchFamily="18" charset="0"/>
            </a:endParaRPr>
          </a:p>
          <a:p>
            <a:pPr marL="0" indent="363538" algn="just">
              <a:buNone/>
            </a:pP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 marL="0" indent="363538" algn="just">
              <a:buNone/>
            </a:pP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 marL="0" indent="363538" algn="just">
              <a:buNone/>
            </a:pPr>
            <a:endParaRPr lang="ru-RU" sz="2200" b="1" dirty="0">
              <a:latin typeface="Times New Roman" pitchFamily="18" charset="0"/>
              <a:cs typeface="Times New Roman" pitchFamily="18" charset="0"/>
            </a:endParaRPr>
          </a:p>
          <a:p>
            <a:pPr marL="0" indent="363538" algn="just">
              <a:buNone/>
            </a:pPr>
            <a:r>
              <a:rPr lang="en-US" sz="1900" b="1" dirty="0">
                <a:latin typeface="Times New Roman" pitchFamily="18" charset="0"/>
                <a:cs typeface="Times New Roman" pitchFamily="18" charset="0"/>
              </a:rPr>
              <a:t>AES3 </a:t>
            </a:r>
            <a:r>
              <a:rPr lang="en-US" sz="1900" b="1" dirty="0" err="1">
                <a:latin typeface="Times New Roman" pitchFamily="18" charset="0"/>
                <a:cs typeface="Times New Roman" pitchFamily="18" charset="0"/>
              </a:rPr>
              <a:t>konferentsiyasining</a:t>
            </a:r>
            <a:r>
              <a:rPr lang="en-US" sz="19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900" b="1" dirty="0" err="1">
                <a:latin typeface="Times New Roman" pitchFamily="18" charset="0"/>
                <a:cs typeface="Times New Roman" pitchFamily="18" charset="0"/>
              </a:rPr>
              <a:t>ovozlar</a:t>
            </a:r>
            <a:endParaRPr lang="en-US" sz="19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it-IT" sz="19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Rijndael:  </a:t>
            </a:r>
            <a:r>
              <a:rPr lang="it-IT" sz="19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86 positive, 10 negative</a:t>
            </a:r>
          </a:p>
          <a:p>
            <a:r>
              <a:rPr lang="en-US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Serpent:   </a:t>
            </a:r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59 positive, </a:t>
            </a:r>
            <a:r>
              <a:rPr lang="en-US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 negative</a:t>
            </a:r>
          </a:p>
          <a:p>
            <a:r>
              <a:rPr lang="en-US" sz="19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Twofish</a:t>
            </a:r>
            <a:r>
              <a:rPr lang="en-US" sz="19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</a:t>
            </a:r>
            <a:r>
              <a:rPr lang="en-US" sz="19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 positive, 21 negative</a:t>
            </a:r>
          </a:p>
          <a:p>
            <a:r>
              <a:rPr lang="it-IT" sz="19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RC6:         </a:t>
            </a:r>
            <a:r>
              <a:rPr lang="it-IT" sz="19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 positive, 37 negative</a:t>
            </a:r>
          </a:p>
          <a:p>
            <a:r>
              <a:rPr lang="fr-FR" sz="19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MARS:     </a:t>
            </a:r>
            <a:r>
              <a:rPr lang="fr-FR" sz="19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 positive, 84 negative</a:t>
            </a:r>
            <a:endParaRPr lang="ru-RU" sz="19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7358083" y="6537329"/>
            <a:ext cx="1643075" cy="320675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SERPENT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685800" y="-10732"/>
            <a:ext cx="802841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ru-RU" sz="10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algn="ctr"/>
            <a:r>
              <a:rPr lang="en-US" sz="1000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339758" y="2998604"/>
            <a:ext cx="8661398" cy="31411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363538"/>
            <a:r>
              <a:rPr lang="en-US" sz="1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Маълумотларни</a:t>
            </a:r>
            <a:r>
              <a:rPr lang="ru-RU" sz="1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шифрлаш</a:t>
            </a:r>
            <a:r>
              <a:rPr lang="ru-RU" sz="1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блокининг</a:t>
            </a:r>
            <a:r>
              <a:rPr lang="ru-RU" sz="1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узунлиги</a:t>
            </a:r>
            <a:r>
              <a:rPr lang="ru-RU" sz="1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128-бит</a:t>
            </a:r>
            <a:r>
              <a:rPr lang="ru-RU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</a:t>
            </a: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339759" y="3444062"/>
            <a:ext cx="8661399" cy="31411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363538"/>
            <a:r>
              <a:rPr lang="ru-RU" sz="16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Учтадан</a:t>
            </a:r>
            <a:r>
              <a:rPr lang="ru-RU" sz="1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кам</a:t>
            </a:r>
            <a:r>
              <a:rPr lang="ru-RU" sz="1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бўлмаган</a:t>
            </a:r>
            <a:r>
              <a:rPr lang="ru-RU" sz="1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ўлчамдаги</a:t>
            </a:r>
            <a:r>
              <a:rPr lang="ru-RU" sz="1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шифрлаш</a:t>
            </a:r>
            <a:r>
              <a:rPr lang="ru-RU" sz="1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калитлари</a:t>
            </a:r>
            <a:r>
              <a:rPr lang="ru-RU" sz="1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 128, 192 </a:t>
            </a:r>
            <a:r>
              <a:rPr lang="ru-RU" sz="16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ва</a:t>
            </a:r>
            <a:r>
              <a:rPr lang="ru-RU" sz="1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256 бит.</a:t>
            </a:r>
            <a:endParaRPr lang="en-US" sz="1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Овал 9"/>
          <p:cNvSpPr/>
          <p:nvPr/>
        </p:nvSpPr>
        <p:spPr>
          <a:xfrm>
            <a:off x="457200" y="3012626"/>
            <a:ext cx="320780" cy="2860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ru-RU" dirty="0"/>
          </a:p>
        </p:txBody>
      </p:sp>
      <p:sp>
        <p:nvSpPr>
          <p:cNvPr id="14" name="Овал 13"/>
          <p:cNvSpPr/>
          <p:nvPr/>
        </p:nvSpPr>
        <p:spPr>
          <a:xfrm>
            <a:off x="456511" y="3458084"/>
            <a:ext cx="320780" cy="2860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ru-RU" dirty="0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247214" y="100248"/>
            <a:ext cx="8753943" cy="578263"/>
          </a:xfrm>
          <a:prstGeom prst="round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SERPENT</a:t>
            </a:r>
            <a:r>
              <a:rPr lang="ru-RU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симметрик</a:t>
            </a:r>
            <a:r>
              <a:rPr lang="ru-RU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блокли</a:t>
            </a:r>
            <a:r>
              <a:rPr lang="ru-RU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шифрлаш</a:t>
            </a:r>
            <a:r>
              <a:rPr lang="ru-RU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алгоритми</a:t>
            </a:r>
            <a:endParaRPr lang="ru-RU" sz="2800" dirty="0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255679" y="3894502"/>
            <a:ext cx="4155730" cy="2819401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buNone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AES3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konferentsiyasining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ovozlari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quyidagicha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indent="363538" algn="just"/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Rijndael:  </a:t>
            </a:r>
            <a:r>
              <a:rPr lang="it-IT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86 positive, 10 negative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Serpent:  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59 positive, </a:t>
            </a:r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 negative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Twofish</a:t>
            </a:r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</a:t>
            </a:r>
            <a:r>
              <a:rPr 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 positive, 21 negative</a:t>
            </a:r>
          </a:p>
          <a:p>
            <a:pPr marL="342900" indent="-342900">
              <a:buFont typeface="+mj-lt"/>
              <a:buAutoNum type="arabicPeriod"/>
            </a:pPr>
            <a:r>
              <a:rPr lang="it-IT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RC6:         </a:t>
            </a:r>
            <a:r>
              <a:rPr lang="it-IT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 positive, 37 negative</a:t>
            </a:r>
          </a:p>
          <a:p>
            <a:pPr marL="342900" indent="-342900">
              <a:buFont typeface="+mj-lt"/>
              <a:buAutoNum type="arabicPeriod"/>
            </a:pP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MARS:     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 positive, 84 negative</a:t>
            </a:r>
            <a:endParaRPr lang="ru-RU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4624185" y="3814982"/>
            <a:ext cx="4278927" cy="296847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indent="363538" algn="just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AES2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konferentsiyasining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ovozlari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quyidagicha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>
              <a:buFont typeface="+mj-lt"/>
              <a:buAutoNum type="arabicParenR"/>
            </a:pPr>
            <a:r>
              <a:rPr lang="it-IT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Rijndael:</a:t>
            </a:r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77 positive, 1 negative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>
              <a:buFont typeface="+mj-lt"/>
              <a:buAutoNum type="arabicParenR"/>
            </a:pPr>
            <a:r>
              <a:rPr lang="it-IT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RC6:</a:t>
            </a:r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79 positive, 6 negative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>
              <a:buFont typeface="+mj-lt"/>
              <a:buAutoNum type="arabicParenR"/>
            </a:pP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Twofish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64 positive, 3 negative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>
              <a:buFont typeface="+mj-lt"/>
              <a:buAutoNum type="arabicParenR"/>
            </a:pPr>
            <a:r>
              <a: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MARS:</a:t>
            </a: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58 positive, 6 negative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>
              <a:buFont typeface="+mj-lt"/>
              <a:buAutoNum type="arabicParenR"/>
            </a:pPr>
            <a:r>
              <a:rPr lang="en-US" sz="1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Serpent:       </a:t>
            </a:r>
            <a:r>
              <a: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52 positive, 7 negative</a:t>
            </a:r>
            <a:endParaRPr lang="ru-RU" sz="1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>
              <a:buFont typeface="+mj-lt"/>
              <a:buAutoNum type="arabicParenR"/>
            </a:pPr>
            <a:r>
              <a:rPr lang="it-IT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E2:                </a:t>
            </a:r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 positive, 13 negative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>
              <a:buFont typeface="+mj-lt"/>
              <a:buAutoNum type="arabicParenR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CAST-256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16 positive, 18 negative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>
              <a:buFont typeface="+mj-lt"/>
              <a:buAutoNum type="arabicParenR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SAFER+:     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positive, 24 negative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>
              <a:buFont typeface="+mj-lt"/>
              <a:buAutoNum type="arabicParenR"/>
            </a:pPr>
            <a:r>
              <a:rPr lang="it-IT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DFC:             </a:t>
            </a:r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 positive, 27 negative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>
              <a:buFont typeface="+mj-lt"/>
              <a:buAutoNum type="arabicParenR"/>
            </a:pPr>
            <a:r>
              <a:rPr lang="it-IT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Crypton:       </a:t>
            </a:r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 positive, 31 negative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>
              <a:buFont typeface="+mj-lt"/>
              <a:buAutoNum type="arabicParenR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DEAL:         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positive, 71 negative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>
              <a:buFont typeface="+mj-lt"/>
              <a:buAutoNum type="arabicParenR"/>
            </a:pPr>
            <a:r>
              <a:rPr lang="it-IT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HPC:             </a:t>
            </a:r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positive, 78 negative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>
              <a:buFont typeface="+mj-lt"/>
              <a:buAutoNum type="arabicParenR"/>
            </a:pPr>
            <a:r>
              <a:rPr lang="it-IT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MAGENTA:</a:t>
            </a:r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positive, 84 negative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>
              <a:buFont typeface="+mj-lt"/>
              <a:buAutoNum type="arabicParenR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Frog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          1 positive, 86 negative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>
              <a:buFont typeface="+mj-lt"/>
              <a:buAutoNum type="arabicParenR"/>
            </a:pPr>
            <a:r>
              <a:rPr lang="it-IT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LOKI97:       </a:t>
            </a:r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positive, 86 negative</a:t>
            </a:r>
          </a:p>
        </p:txBody>
      </p:sp>
    </p:spTree>
    <p:extLst>
      <p:ext uri="{BB962C8B-B14F-4D97-AF65-F5344CB8AC3E}">
        <p14:creationId xmlns:p14="http://schemas.microsoft.com/office/powerpoint/2010/main" val="3956395164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368163" y="511131"/>
            <a:ext cx="8991600" cy="5286412"/>
          </a:xfrm>
        </p:spPr>
        <p:txBody>
          <a:bodyPr>
            <a:normAutofit/>
          </a:bodyPr>
          <a:lstStyle/>
          <a:p>
            <a:pPr marL="0" lvl="1" indent="363538" algn="just">
              <a:lnSpc>
                <a:spcPct val="80000"/>
              </a:lnSpc>
              <a:buNone/>
            </a:pP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ru-RU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Serpent</a:t>
            </a:r>
            <a:r>
              <a:rPr lang="ru-RU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симметрик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блочли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шифровлаш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алгоритми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Ross Anderson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Biham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Lars Knudsen </a:t>
            </a:r>
            <a:r>
              <a:rPr lang="uz-Cyrl-UZ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томонидан ишлаб чикилган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AES </a:t>
            </a:r>
            <a:r>
              <a:rPr lang="uz-Cyrl-UZ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танлови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2-этапининг финалистларидан бири ҳисобланади.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363538" algn="just">
              <a:lnSpc>
                <a:spcPct val="80000"/>
              </a:lnSpc>
              <a:buNone/>
            </a:pPr>
            <a:endParaRPr lang="ru-RU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7358083" y="6537329"/>
            <a:ext cx="1643075" cy="320675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SERPENT</a:t>
            </a: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47626" y="3352800"/>
            <a:ext cx="4143374" cy="241776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indent="180975" algn="just"/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SERPENT</a:t>
            </a:r>
            <a:r>
              <a:rPr lang="ru-RU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нинг</a:t>
            </a:r>
            <a:r>
              <a:rPr lang="ru-RU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характеристикалари</a:t>
            </a:r>
            <a:r>
              <a:rPr lang="ru-RU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363538" algn="just"/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80975" algn="just">
              <a:buFont typeface="Wingdings" pitchFamily="2" charset="2"/>
              <a:buChar char="v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блок </a:t>
            </a:r>
            <a:r>
              <a:rPr lang="ru-RU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ўлчами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128 бит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180975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калит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узунликлари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128, 192 </a:t>
            </a:r>
            <a:r>
              <a:rPr lang="ru-RU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</a:t>
            </a:r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256</a:t>
            </a:r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бит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lvl="1" indent="180975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қисм</a:t>
            </a:r>
            <a:r>
              <a:rPr lang="ru-RU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калитлар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33 </a:t>
            </a:r>
            <a:r>
              <a:rPr lang="uz-Cyrl-UZ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180975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раундлар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сони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 та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lvl="1" indent="180975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тармоғига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асосланган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1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152402" y="222001"/>
            <a:ext cx="8753943" cy="578263"/>
          </a:xfrm>
          <a:prstGeom prst="round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SERPENT</a:t>
            </a:r>
            <a:r>
              <a:rPr lang="ru-RU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симметрик</a:t>
            </a:r>
            <a:r>
              <a:rPr lang="ru-RU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блокли</a:t>
            </a:r>
            <a:r>
              <a:rPr lang="ru-RU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шифрлаш</a:t>
            </a:r>
            <a:r>
              <a:rPr lang="ru-RU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алгоритми</a:t>
            </a:r>
            <a:endParaRPr lang="ru-RU" sz="2800" dirty="0"/>
          </a:p>
        </p:txBody>
      </p:sp>
      <p:pic>
        <p:nvPicPr>
          <p:cNvPr id="6" name="Объект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2" y="2743202"/>
            <a:ext cx="4834071" cy="36925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76601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77" name="Rectangle 157"/>
          <p:cNvSpPr>
            <a:spLocks noChangeArrowheads="1"/>
          </p:cNvSpPr>
          <p:nvPr/>
        </p:nvSpPr>
        <p:spPr bwMode="auto">
          <a:xfrm>
            <a:off x="3608388" y="1812080"/>
            <a:ext cx="2016125" cy="360363"/>
          </a:xfrm>
          <a:prstGeom prst="rect">
            <a:avLst/>
          </a:prstGeom>
          <a:solidFill>
            <a:srgbClr val="CCFF33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uz-Cyrl-UZ" altLang="uz-Cyrl-UZ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Кириш блоки</a:t>
            </a:r>
            <a:endParaRPr lang="ru-RU" altLang="uz-Cyrl-UZ" sz="1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478" name="Rectangle 158"/>
          <p:cNvSpPr>
            <a:spLocks noChangeArrowheads="1"/>
          </p:cNvSpPr>
          <p:nvPr/>
        </p:nvSpPr>
        <p:spPr bwMode="auto">
          <a:xfrm>
            <a:off x="2135187" y="2542066"/>
            <a:ext cx="4752975" cy="504825"/>
          </a:xfrm>
          <a:prstGeom prst="rect">
            <a:avLst/>
          </a:prstGeom>
          <a:solidFill>
            <a:srgbClr val="FFC000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None/>
            </a:pPr>
            <a:r>
              <a:rPr lang="uz-Cyrl-UZ" altLang="uz-Cyrl-UZ" sz="1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Бошланғич</a:t>
            </a:r>
            <a:r>
              <a:rPr lang="ru-RU" sz="1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ўрин</a:t>
            </a:r>
            <a:r>
              <a:rPr lang="ru-RU" sz="1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алмаштириш</a:t>
            </a:r>
            <a:r>
              <a:rPr lang="ru-RU" sz="1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ru-RU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altLang="uz-Cyrl-UZ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6483" name="AutoShape 163"/>
          <p:cNvSpPr>
            <a:spLocks noChangeArrowheads="1"/>
          </p:cNvSpPr>
          <p:nvPr/>
        </p:nvSpPr>
        <p:spPr bwMode="auto">
          <a:xfrm>
            <a:off x="4330702" y="2180908"/>
            <a:ext cx="287337" cy="360362"/>
          </a:xfrm>
          <a:prstGeom prst="downArrow">
            <a:avLst>
              <a:gd name="adj1" fmla="val 50000"/>
              <a:gd name="adj2" fmla="val 31354"/>
            </a:avLst>
          </a:prstGeom>
          <a:solidFill>
            <a:schemeClr val="accent1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uz-Cyrl-UZ" altLang="uz-Cyrl-UZ" sz="1800" dirty="0"/>
          </a:p>
        </p:txBody>
      </p:sp>
      <p:sp>
        <p:nvSpPr>
          <p:cNvPr id="56491" name="Rectangle 171"/>
          <p:cNvSpPr>
            <a:spLocks noChangeArrowheads="1"/>
          </p:cNvSpPr>
          <p:nvPr/>
        </p:nvSpPr>
        <p:spPr bwMode="auto">
          <a:xfrm>
            <a:off x="1808162" y="3404872"/>
            <a:ext cx="6421438" cy="504825"/>
          </a:xfrm>
          <a:prstGeom prst="rect">
            <a:avLst/>
          </a:prstGeom>
          <a:solidFill>
            <a:srgbClr val="CCFF33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marL="0" lvl="1" indent="0" algn="ctr" eaLnBrk="1" hangingPunct="1">
              <a:spcBef>
                <a:spcPct val="0"/>
              </a:spcBef>
              <a:buNone/>
            </a:pPr>
            <a:r>
              <a:rPr lang="uz-Cyrl-UZ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Маълумотга </a:t>
            </a:r>
            <a:r>
              <a:rPr lang="uz-Cyrl-UZ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128</a:t>
            </a:r>
            <a:r>
              <a:rPr lang="uz-Cyrl-UZ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битли калит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XOR </a:t>
            </a:r>
            <a:r>
              <a:rPr lang="uz-Cyrl-UZ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амали билан қўшилади</a:t>
            </a:r>
            <a:r>
              <a:rPr lang="ru-RU" altLang="uz-Cyrl-UZ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6492" name="Rectangle 172"/>
          <p:cNvSpPr>
            <a:spLocks noChangeArrowheads="1"/>
          </p:cNvSpPr>
          <p:nvPr/>
        </p:nvSpPr>
        <p:spPr bwMode="auto">
          <a:xfrm>
            <a:off x="1808162" y="4176477"/>
            <a:ext cx="6421438" cy="504825"/>
          </a:xfrm>
          <a:prstGeom prst="rect">
            <a:avLst/>
          </a:prstGeom>
          <a:solidFill>
            <a:srgbClr val="CCFF33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marL="0" lvl="1" indent="0" algn="ctr" eaLnBrk="1" hangingPunct="1">
              <a:spcBef>
                <a:spcPct val="0"/>
              </a:spcBef>
              <a:buNone/>
            </a:pPr>
            <a:r>
              <a:rPr lang="uz-Cyrl-UZ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Маълумот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 </a:t>
            </a:r>
            <a:r>
              <a:rPr lang="uz-Cyrl-UZ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блокдан ўтказилади </a:t>
            </a:r>
            <a:r>
              <a:rPr lang="ru-RU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(S-</a:t>
            </a:r>
            <a:r>
              <a:rPr lang="ru-RU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box</a:t>
            </a:r>
            <a:r>
              <a:rPr lang="ru-RU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uz-Cyrl-UZ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altLang="uz-Cyrl-UZ" sz="1800" dirty="0"/>
          </a:p>
        </p:txBody>
      </p:sp>
      <p:sp>
        <p:nvSpPr>
          <p:cNvPr id="56493" name="Rectangle 173"/>
          <p:cNvSpPr>
            <a:spLocks noChangeArrowheads="1"/>
          </p:cNvSpPr>
          <p:nvPr/>
        </p:nvSpPr>
        <p:spPr bwMode="auto">
          <a:xfrm>
            <a:off x="1808162" y="4953002"/>
            <a:ext cx="6421438" cy="504825"/>
          </a:xfrm>
          <a:prstGeom prst="rect">
            <a:avLst/>
          </a:prstGeom>
          <a:solidFill>
            <a:srgbClr val="CCFF33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marL="0" lvl="1" indent="0" algn="ctr" eaLnBrk="1" hangingPunct="1">
              <a:spcBef>
                <a:spcPct val="0"/>
              </a:spcBef>
              <a:buNone/>
            </a:pPr>
            <a:r>
              <a:rPr lang="uz-Cyrl-UZ" altLang="uz-Cyrl-UZ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Чизиқли акслантириш амалга оширилади </a:t>
            </a:r>
            <a:r>
              <a:rPr lang="ru-RU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LT</a:t>
            </a:r>
            <a:r>
              <a:rPr lang="ru-RU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altLang="uz-Cyrl-UZ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497" name="AutoShape 177"/>
          <p:cNvSpPr>
            <a:spLocks noChangeArrowheads="1"/>
          </p:cNvSpPr>
          <p:nvPr/>
        </p:nvSpPr>
        <p:spPr bwMode="auto">
          <a:xfrm>
            <a:off x="4333877" y="3918575"/>
            <a:ext cx="285749" cy="2579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uz-Cyrl-UZ" altLang="uz-Cyrl-UZ" sz="1800"/>
          </a:p>
        </p:txBody>
      </p:sp>
      <p:sp>
        <p:nvSpPr>
          <p:cNvPr id="56501" name="AutoShape 181"/>
          <p:cNvSpPr>
            <a:spLocks noChangeArrowheads="1"/>
          </p:cNvSpPr>
          <p:nvPr/>
        </p:nvSpPr>
        <p:spPr bwMode="auto">
          <a:xfrm>
            <a:off x="4329114" y="4681300"/>
            <a:ext cx="287337" cy="2717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uz-Cyrl-UZ" altLang="uz-Cyrl-UZ" sz="1800"/>
          </a:p>
        </p:txBody>
      </p:sp>
      <p:sp>
        <p:nvSpPr>
          <p:cNvPr id="56504" name="AutoShape 184"/>
          <p:cNvSpPr>
            <a:spLocks/>
          </p:cNvSpPr>
          <p:nvPr/>
        </p:nvSpPr>
        <p:spPr bwMode="auto">
          <a:xfrm rot="10800000">
            <a:off x="1379535" y="3335020"/>
            <a:ext cx="330200" cy="2227580"/>
          </a:xfrm>
          <a:prstGeom prst="rightBrace">
            <a:avLst>
              <a:gd name="adj1" fmla="val 52788"/>
              <a:gd name="adj2" fmla="val 50000"/>
            </a:avLst>
          </a:prstGeom>
          <a:noFill/>
          <a:ln w="254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uz-Cyrl-UZ" altLang="uz-Cyrl-UZ" sz="1800"/>
          </a:p>
        </p:txBody>
      </p:sp>
      <p:sp>
        <p:nvSpPr>
          <p:cNvPr id="56505" name="AutoShape 185"/>
          <p:cNvSpPr>
            <a:spLocks noChangeArrowheads="1"/>
          </p:cNvSpPr>
          <p:nvPr/>
        </p:nvSpPr>
        <p:spPr bwMode="auto">
          <a:xfrm>
            <a:off x="4330700" y="5486400"/>
            <a:ext cx="287338" cy="533400"/>
          </a:xfrm>
          <a:prstGeom prst="downArrow">
            <a:avLst>
              <a:gd name="adj1" fmla="val 50000"/>
              <a:gd name="adj2" fmla="val 81044"/>
            </a:avLst>
          </a:prstGeom>
          <a:solidFill>
            <a:schemeClr val="accent1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uz-Cyrl-UZ" altLang="uz-Cyrl-UZ" sz="1800"/>
          </a:p>
        </p:txBody>
      </p:sp>
      <p:sp>
        <p:nvSpPr>
          <p:cNvPr id="56508" name="Text Box 188"/>
          <p:cNvSpPr txBox="1">
            <a:spLocks noChangeArrowheads="1"/>
          </p:cNvSpPr>
          <p:nvPr/>
        </p:nvSpPr>
        <p:spPr bwMode="auto">
          <a:xfrm>
            <a:off x="91282" y="4151868"/>
            <a:ext cx="1216024" cy="369332"/>
          </a:xfrm>
          <a:prstGeom prst="rect">
            <a:avLst/>
          </a:prstGeom>
          <a:solidFill>
            <a:srgbClr val="00B050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uz-Cyrl-UZ" altLang="uz-Cyrl-UZ" sz="1800" b="1" i="1" dirty="0">
                <a:solidFill>
                  <a:schemeClr val="bg1"/>
                </a:solidFill>
                <a:cs typeface="Times New Roman" panose="02020603050405020304" pitchFamily="18" charset="0"/>
              </a:rPr>
              <a:t>1- раунд</a:t>
            </a:r>
            <a:endParaRPr lang="ru-RU" altLang="uz-Cyrl-UZ" sz="1800" b="1" i="1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4117" name="AutoShape 190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8066468" y="6421279"/>
            <a:ext cx="863600" cy="404812"/>
          </a:xfrm>
          <a:prstGeom prst="rightArrow">
            <a:avLst>
              <a:gd name="adj1" fmla="val 50000"/>
              <a:gd name="adj2" fmla="val 5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uz-Cyrl-UZ" altLang="uz-Cyrl-UZ" sz="1800"/>
          </a:p>
        </p:txBody>
      </p:sp>
      <p:sp>
        <p:nvSpPr>
          <p:cNvPr id="56512" name="Rectangle 192"/>
          <p:cNvSpPr>
            <a:spLocks noChangeArrowheads="1"/>
          </p:cNvSpPr>
          <p:nvPr/>
        </p:nvSpPr>
        <p:spPr bwMode="auto">
          <a:xfrm>
            <a:off x="4043364" y="1822133"/>
            <a:ext cx="936625" cy="360362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uz-Cyrl-UZ" altLang="uz-Cyrl-UZ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128 бит</a:t>
            </a:r>
            <a:endParaRPr lang="ru-RU" altLang="uz-Cyrl-UZ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6" name="Скругленный прямоугольник 215"/>
          <p:cNvSpPr/>
          <p:nvPr/>
        </p:nvSpPr>
        <p:spPr>
          <a:xfrm>
            <a:off x="577017" y="170055"/>
            <a:ext cx="7489453" cy="503374"/>
          </a:xfrm>
          <a:prstGeom prst="round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Serpent </a:t>
            </a:r>
            <a:r>
              <a:rPr lang="uz-Cyrl-UZ" altLang="uz-Cyrl-UZ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алгоритмининг шифрлаш жараёнининг блок схемаси</a:t>
            </a:r>
            <a:endParaRPr lang="ru-RU" sz="2000" dirty="0"/>
          </a:p>
        </p:txBody>
      </p:sp>
      <p:sp>
        <p:nvSpPr>
          <p:cNvPr id="228" name="Rectangle 193"/>
          <p:cNvSpPr>
            <a:spLocks noChangeArrowheads="1"/>
          </p:cNvSpPr>
          <p:nvPr/>
        </p:nvSpPr>
        <p:spPr bwMode="auto">
          <a:xfrm>
            <a:off x="2797175" y="862520"/>
            <a:ext cx="3168650" cy="360362"/>
          </a:xfrm>
          <a:prstGeom prst="rect">
            <a:avLst/>
          </a:prstGeom>
          <a:solidFill>
            <a:srgbClr val="4695C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uz-Cyrl-UZ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uz-Cyrl-UZ" altLang="uz-Cyrl-UZ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бит маълумот</a:t>
            </a:r>
            <a:endParaRPr lang="ru-RU" altLang="uz-Cyrl-UZ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9" name="Rectangle 194"/>
          <p:cNvSpPr>
            <a:spLocks noChangeArrowheads="1"/>
          </p:cNvSpPr>
          <p:nvPr/>
        </p:nvSpPr>
        <p:spPr bwMode="auto">
          <a:xfrm>
            <a:off x="5605464" y="862520"/>
            <a:ext cx="358775" cy="360362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uz-Cyrl-UZ" sz="1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 </a:t>
            </a:r>
            <a:endParaRPr lang="ru-RU" altLang="uz-Cyrl-UZ" sz="18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0" name="Rectangle 195"/>
          <p:cNvSpPr>
            <a:spLocks noChangeArrowheads="1"/>
          </p:cNvSpPr>
          <p:nvPr/>
        </p:nvSpPr>
        <p:spPr bwMode="auto">
          <a:xfrm>
            <a:off x="5029200" y="862520"/>
            <a:ext cx="576262" cy="360362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uz-Cyrl-UZ" sz="1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uz-Cyrl-UZ" altLang="uz-Cyrl-UZ" sz="1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r>
              <a:rPr lang="en-US" altLang="uz-Cyrl-UZ" sz="1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altLang="uz-Cyrl-UZ" sz="18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1" name="Rectangle 196"/>
          <p:cNvSpPr>
            <a:spLocks noChangeArrowheads="1"/>
          </p:cNvSpPr>
          <p:nvPr/>
        </p:nvSpPr>
        <p:spPr bwMode="auto">
          <a:xfrm>
            <a:off x="3733802" y="862520"/>
            <a:ext cx="936625" cy="360362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uz-Cyrl-UZ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128 </a:t>
            </a:r>
            <a:r>
              <a:rPr lang="uz-Cyrl-UZ" altLang="uz-Cyrl-UZ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бит</a:t>
            </a:r>
            <a:endParaRPr lang="ru-RU" altLang="uz-Cyrl-UZ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2" name="Rectangle 197"/>
          <p:cNvSpPr>
            <a:spLocks noChangeArrowheads="1"/>
          </p:cNvSpPr>
          <p:nvPr/>
        </p:nvSpPr>
        <p:spPr bwMode="auto">
          <a:xfrm>
            <a:off x="2797177" y="862520"/>
            <a:ext cx="936625" cy="360362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uz-Cyrl-UZ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128 </a:t>
            </a:r>
            <a:r>
              <a:rPr lang="uz-Cyrl-UZ" altLang="uz-Cyrl-UZ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бит</a:t>
            </a:r>
            <a:endParaRPr lang="ru-RU" altLang="uz-Cyrl-UZ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3" name="Rectangle 198"/>
          <p:cNvSpPr>
            <a:spLocks noChangeArrowheads="1"/>
          </p:cNvSpPr>
          <p:nvPr/>
        </p:nvSpPr>
        <p:spPr bwMode="auto">
          <a:xfrm>
            <a:off x="4670427" y="872575"/>
            <a:ext cx="358775" cy="360362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uz-Cyrl-UZ" altLang="uz-Cyrl-UZ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</a:t>
            </a:r>
            <a:endParaRPr lang="ru-RU" altLang="uz-Cyrl-UZ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4" name="Rectangle 199"/>
          <p:cNvSpPr>
            <a:spLocks noChangeArrowheads="1"/>
          </p:cNvSpPr>
          <p:nvPr/>
        </p:nvSpPr>
        <p:spPr bwMode="auto">
          <a:xfrm>
            <a:off x="5029202" y="862520"/>
            <a:ext cx="936625" cy="360362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uz-Cyrl-UZ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128 </a:t>
            </a:r>
            <a:r>
              <a:rPr lang="uz-Cyrl-UZ" altLang="uz-Cyrl-UZ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бит</a:t>
            </a:r>
            <a:endParaRPr lang="ru-RU" altLang="uz-Cyrl-UZ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6" name="AutoShape 187"/>
          <p:cNvSpPr>
            <a:spLocks noChangeArrowheads="1"/>
          </p:cNvSpPr>
          <p:nvPr/>
        </p:nvSpPr>
        <p:spPr bwMode="auto">
          <a:xfrm>
            <a:off x="6248402" y="5614035"/>
            <a:ext cx="1584325" cy="1009650"/>
          </a:xfrm>
          <a:prstGeom prst="wedgeEllipseCallout">
            <a:avLst>
              <a:gd name="adj1" fmla="val -160110"/>
              <a:gd name="adj2" fmla="val -13361"/>
            </a:avLst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defRPr/>
            </a:pPr>
            <a:r>
              <a:rPr lang="uz-Cyrl-UZ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Кейинги раундга</a:t>
            </a:r>
            <a:endParaRPr lang="ru-RU" b="1" i="1" dirty="0">
              <a:solidFill>
                <a:srgbClr val="66003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AutoShape 163"/>
          <p:cNvSpPr>
            <a:spLocks noChangeArrowheads="1"/>
          </p:cNvSpPr>
          <p:nvPr/>
        </p:nvSpPr>
        <p:spPr bwMode="auto">
          <a:xfrm>
            <a:off x="4329114" y="3063020"/>
            <a:ext cx="287337" cy="360362"/>
          </a:xfrm>
          <a:prstGeom prst="downArrow">
            <a:avLst>
              <a:gd name="adj1" fmla="val 50000"/>
              <a:gd name="adj2" fmla="val 31354"/>
            </a:avLst>
          </a:prstGeom>
          <a:solidFill>
            <a:schemeClr val="accent1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uz-Cyrl-UZ" altLang="uz-Cyrl-UZ" sz="1800"/>
          </a:p>
        </p:txBody>
      </p:sp>
    </p:spTree>
    <p:extLst>
      <p:ext uri="{BB962C8B-B14F-4D97-AF65-F5344CB8AC3E}">
        <p14:creationId xmlns:p14="http://schemas.microsoft.com/office/powerpoint/2010/main" val="6296615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4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6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6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64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6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64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64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6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6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4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6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6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4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6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6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8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56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6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56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9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564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64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56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0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565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65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56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95 -0.00046 L 0.13629 0.14004 " pathEditMode="relative" rAng="0" ptsTypes="AA">
                                      <p:cBhvr>
                                        <p:cTn id="110" dur="30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80" y="71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19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18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3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100"/>
                                        <p:tgtEl>
                                          <p:spTgt spid="56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4.44444E-6 L 4.72222E-6 0.1095 L -0.0573 0.1095 L 0.05989 0.10718 L 4.72222E-6 0.1095 L 0.00156 0.24051 L -0.04914 0.23774 L 0.0651 0.23774 L 0.00156 0.24051 C 0.00208 0.27362 0.00312 0.30764 0.00364 0.34098 L -0.04532 0.34098 L 0.07291 0.33866 L 0.00156 0.33704 C 0.00208 0.37246 0.00312 0.40811 0.00364 0.44375 L -0.04688 0.44537 L 0.05625 0.44375 L 0.00156 0.44537 C 0.00208 0.47755 0.00312 0.50973 0.00364 0.54167 L 0.00156 0.54167 C 0.00104 0.61227 0.00364 0.54399 0.00312 0.61482 " pathEditMode="relative" rAng="0" ptsTypes="AAAAAAAAAAAAAAAAAAAA">
                                      <p:cBhvr>
                                        <p:cTn id="128" dur="5000" fill="hold"/>
                                        <p:tgtEl>
                                          <p:spTgt spid="565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307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1000"/>
                                        <p:tgtEl>
                                          <p:spTgt spid="565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6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000"/>
                            </p:stCondLst>
                            <p:childTnLst>
                              <p:par>
                                <p:cTn id="135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477" grpId="0" animBg="1"/>
      <p:bldP spid="56478" grpId="0" animBg="1"/>
      <p:bldP spid="56483" grpId="0" animBg="1"/>
      <p:bldP spid="56491" grpId="0" animBg="1"/>
      <p:bldP spid="56492" grpId="0" animBg="1"/>
      <p:bldP spid="56493" grpId="0" animBg="1"/>
      <p:bldP spid="56497" grpId="0" animBg="1"/>
      <p:bldP spid="56501" grpId="0" animBg="1"/>
      <p:bldP spid="56512" grpId="0" animBg="1"/>
      <p:bldP spid="56512" grpId="1" animBg="1"/>
      <p:bldP spid="228" grpId="0" animBg="1"/>
      <p:bldP spid="228" grpId="1" animBg="1"/>
      <p:bldP spid="229" grpId="0" animBg="1"/>
      <p:bldP spid="229" grpId="1" animBg="1"/>
      <p:bldP spid="230" grpId="0" animBg="1"/>
      <p:bldP spid="230" grpId="1" animBg="1"/>
      <p:bldP spid="231" grpId="0" animBg="1"/>
      <p:bldP spid="232" grpId="0" animBg="1"/>
      <p:bldP spid="232" grpId="1" animBg="1"/>
      <p:bldP spid="232" grpId="2" animBg="1"/>
      <p:bldP spid="233" grpId="0" animBg="1"/>
      <p:bldP spid="234" grpId="0" animBg="1"/>
      <p:bldP spid="236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55" name="AutoShape 167"/>
          <p:cNvSpPr>
            <a:spLocks/>
          </p:cNvSpPr>
          <p:nvPr/>
        </p:nvSpPr>
        <p:spPr bwMode="auto">
          <a:xfrm rot="10800000">
            <a:off x="2133601" y="2286000"/>
            <a:ext cx="244132" cy="2057400"/>
          </a:xfrm>
          <a:prstGeom prst="rightBrace">
            <a:avLst>
              <a:gd name="adj1" fmla="val 52788"/>
              <a:gd name="adj2" fmla="val 50000"/>
            </a:avLst>
          </a:prstGeom>
          <a:noFill/>
          <a:ln w="254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uz-Cyrl-UZ" altLang="uz-Cyrl-UZ" sz="1350"/>
          </a:p>
        </p:txBody>
      </p:sp>
      <p:sp>
        <p:nvSpPr>
          <p:cNvPr id="63657" name="AutoShape 169"/>
          <p:cNvSpPr>
            <a:spLocks noChangeArrowheads="1"/>
          </p:cNvSpPr>
          <p:nvPr/>
        </p:nvSpPr>
        <p:spPr bwMode="auto">
          <a:xfrm>
            <a:off x="7235154" y="4837656"/>
            <a:ext cx="1757815" cy="757238"/>
          </a:xfrm>
          <a:prstGeom prst="wedgeEllipseCallout">
            <a:avLst>
              <a:gd name="adj1" fmla="val -192290"/>
              <a:gd name="adj2" fmla="val 44230"/>
            </a:avLst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defRPr/>
            </a:pPr>
            <a:r>
              <a:rPr lang="uz-Cyrl-UZ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Кейинги раундга</a:t>
            </a:r>
            <a:endParaRPr lang="ru-RU" b="1" i="1" dirty="0">
              <a:solidFill>
                <a:srgbClr val="66003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658" name="Text Box 170"/>
          <p:cNvSpPr txBox="1">
            <a:spLocks noChangeArrowheads="1"/>
          </p:cNvSpPr>
          <p:nvPr/>
        </p:nvSpPr>
        <p:spPr bwMode="auto">
          <a:xfrm>
            <a:off x="4235783" y="1644506"/>
            <a:ext cx="958917" cy="300082"/>
          </a:xfrm>
          <a:prstGeom prst="rect">
            <a:avLst/>
          </a:prstGeom>
          <a:solidFill>
            <a:srgbClr val="00B050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uz-Cyrl-UZ" altLang="uz-Cyrl-UZ" sz="1350" b="1" i="1" dirty="0">
                <a:solidFill>
                  <a:schemeClr val="bg1"/>
                </a:solidFill>
                <a:cs typeface="Times New Roman" panose="02020603050405020304" pitchFamily="18" charset="0"/>
              </a:rPr>
              <a:t>1- раунд</a:t>
            </a:r>
            <a:endParaRPr lang="ru-RU" altLang="uz-Cyrl-UZ" sz="1350" b="1" i="1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63660" name="Text Box 172"/>
          <p:cNvSpPr txBox="1">
            <a:spLocks noChangeArrowheads="1"/>
          </p:cNvSpPr>
          <p:nvPr/>
        </p:nvSpPr>
        <p:spPr bwMode="auto">
          <a:xfrm>
            <a:off x="1082597" y="3278959"/>
            <a:ext cx="958917" cy="300082"/>
          </a:xfrm>
          <a:prstGeom prst="rect">
            <a:avLst/>
          </a:prstGeom>
          <a:solidFill>
            <a:srgbClr val="00B050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uz-Cyrl-UZ" altLang="uz-Cyrl-UZ" sz="1350" b="1" i="1" dirty="0">
                <a:solidFill>
                  <a:schemeClr val="bg1"/>
                </a:solidFill>
                <a:cs typeface="Times New Roman" panose="02020603050405020304" pitchFamily="18" charset="0"/>
              </a:rPr>
              <a:t>2- раунд</a:t>
            </a:r>
            <a:endParaRPr lang="ru-RU" altLang="uz-Cyrl-UZ" sz="1350" b="1" i="1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63661" name="AutoShape 173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7924800" y="6285751"/>
            <a:ext cx="647700" cy="357188"/>
          </a:xfrm>
          <a:prstGeom prst="rightArrow">
            <a:avLst>
              <a:gd name="adj1" fmla="val 50000"/>
              <a:gd name="adj2" fmla="val 45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uz-Cyrl-UZ" altLang="uz-Cyrl-UZ" sz="1350"/>
          </a:p>
        </p:txBody>
      </p:sp>
      <p:sp>
        <p:nvSpPr>
          <p:cNvPr id="63662" name="AutoShape 174">
            <a:hlinkClick r:id="rId3" action="ppaction://hlinksldjump"/>
          </p:cNvPr>
          <p:cNvSpPr>
            <a:spLocks noChangeArrowheads="1"/>
          </p:cNvSpPr>
          <p:nvPr/>
        </p:nvSpPr>
        <p:spPr bwMode="auto">
          <a:xfrm rot="10800000">
            <a:off x="6562474" y="6285751"/>
            <a:ext cx="647700" cy="357188"/>
          </a:xfrm>
          <a:prstGeom prst="rightArrow">
            <a:avLst>
              <a:gd name="adj1" fmla="val 50000"/>
              <a:gd name="adj2" fmla="val 45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uz-Cyrl-UZ" altLang="uz-Cyrl-UZ" sz="1350"/>
          </a:p>
        </p:txBody>
      </p:sp>
      <p:sp>
        <p:nvSpPr>
          <p:cNvPr id="63663" name="Text Box 175"/>
          <p:cNvSpPr txBox="1">
            <a:spLocks noChangeArrowheads="1"/>
          </p:cNvSpPr>
          <p:nvPr/>
        </p:nvSpPr>
        <p:spPr bwMode="auto">
          <a:xfrm>
            <a:off x="3615972" y="4648202"/>
            <a:ext cx="2159794" cy="507831"/>
          </a:xfrm>
          <a:prstGeom prst="rect">
            <a:avLst/>
          </a:prstGeom>
          <a:solidFill>
            <a:srgbClr val="00B050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uz-Cyrl-UZ" altLang="uz-Cyrl-UZ" sz="1350" b="1" i="1" dirty="0">
                <a:solidFill>
                  <a:schemeClr val="bg1"/>
                </a:solidFill>
                <a:cs typeface="Times New Roman" panose="02020603050405020304" pitchFamily="18" charset="0"/>
              </a:rPr>
              <a:t>3,4</a:t>
            </a:r>
            <a:r>
              <a:rPr lang="en-US" altLang="uz-Cyrl-UZ" sz="1350" b="1" i="1" dirty="0">
                <a:solidFill>
                  <a:schemeClr val="bg1"/>
                </a:solidFill>
                <a:cs typeface="Times New Roman" panose="02020603050405020304" pitchFamily="18" charset="0"/>
              </a:rPr>
              <a:t>,…,30,31</a:t>
            </a:r>
            <a:r>
              <a:rPr lang="uz-Cyrl-UZ" altLang="uz-Cyrl-UZ" sz="1350" b="1" i="1" dirty="0">
                <a:solidFill>
                  <a:schemeClr val="bg1"/>
                </a:solidFill>
                <a:cs typeface="Times New Roman" panose="02020603050405020304" pitchFamily="18" charset="0"/>
              </a:rPr>
              <a:t> - раундлар</a:t>
            </a:r>
            <a:endParaRPr lang="ru-RU" altLang="uz-Cyrl-UZ" sz="1350" b="1" i="1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173" name="AutoShape 158"/>
          <p:cNvSpPr>
            <a:spLocks noChangeArrowheads="1"/>
          </p:cNvSpPr>
          <p:nvPr/>
        </p:nvSpPr>
        <p:spPr bwMode="auto">
          <a:xfrm>
            <a:off x="4547616" y="1983793"/>
            <a:ext cx="263656" cy="402892"/>
          </a:xfrm>
          <a:prstGeom prst="downArrow">
            <a:avLst>
              <a:gd name="adj1" fmla="val 50000"/>
              <a:gd name="adj2" fmla="val 56181"/>
            </a:avLst>
          </a:prstGeom>
          <a:solidFill>
            <a:schemeClr val="accent1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uz-Cyrl-UZ" altLang="uz-Cyrl-UZ" sz="1350"/>
          </a:p>
        </p:txBody>
      </p:sp>
      <p:sp>
        <p:nvSpPr>
          <p:cNvPr id="24" name="Rectangle 171"/>
          <p:cNvSpPr>
            <a:spLocks noChangeArrowheads="1"/>
          </p:cNvSpPr>
          <p:nvPr/>
        </p:nvSpPr>
        <p:spPr bwMode="auto">
          <a:xfrm>
            <a:off x="2494680" y="2375741"/>
            <a:ext cx="6314441" cy="399355"/>
          </a:xfrm>
          <a:prstGeom prst="rect">
            <a:avLst/>
          </a:prstGeom>
          <a:solidFill>
            <a:srgbClr val="CCFF33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marL="0" lvl="1" indent="0" algn="ctr" eaLnBrk="1" hangingPunct="1">
              <a:spcBef>
                <a:spcPct val="0"/>
              </a:spcBef>
              <a:buNone/>
            </a:pPr>
            <a:r>
              <a:rPr lang="uz-Cyrl-UZ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Маълумотга 128 битли калит 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XOR </a:t>
            </a:r>
            <a:r>
              <a:rPr lang="uz-Cyrl-UZ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амали билан қўшилади</a:t>
            </a:r>
            <a:r>
              <a:rPr lang="ru-RU" altLang="uz-Cyrl-UZ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5" name="Rectangle 172"/>
          <p:cNvSpPr>
            <a:spLocks noChangeArrowheads="1"/>
          </p:cNvSpPr>
          <p:nvPr/>
        </p:nvSpPr>
        <p:spPr bwMode="auto">
          <a:xfrm>
            <a:off x="2464067" y="3145392"/>
            <a:ext cx="6345053" cy="339887"/>
          </a:xfrm>
          <a:prstGeom prst="rect">
            <a:avLst/>
          </a:prstGeom>
          <a:solidFill>
            <a:srgbClr val="CCFF33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marL="0" lvl="1" indent="0" algn="ctr" eaLnBrk="1" hangingPunct="1">
              <a:spcBef>
                <a:spcPct val="0"/>
              </a:spcBef>
              <a:buNone/>
            </a:pPr>
            <a:r>
              <a:rPr lang="uz-Cyrl-UZ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Маълумот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 </a:t>
            </a:r>
            <a:r>
              <a:rPr lang="uz-Cyrl-UZ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блокдан ўтказилади </a:t>
            </a:r>
            <a:r>
              <a:rPr lang="ru-RU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(S-</a:t>
            </a:r>
            <a:r>
              <a:rPr lang="ru-RU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box</a:t>
            </a:r>
            <a:r>
              <a:rPr lang="ru-RU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uz-Cyrl-UZ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altLang="uz-Cyrl-UZ" sz="1800" dirty="0"/>
          </a:p>
        </p:txBody>
      </p:sp>
      <p:sp>
        <p:nvSpPr>
          <p:cNvPr id="26" name="Rectangle 173"/>
          <p:cNvSpPr>
            <a:spLocks noChangeArrowheads="1"/>
          </p:cNvSpPr>
          <p:nvPr/>
        </p:nvSpPr>
        <p:spPr bwMode="auto">
          <a:xfrm>
            <a:off x="2494149" y="3886202"/>
            <a:ext cx="6345053" cy="386779"/>
          </a:xfrm>
          <a:prstGeom prst="rect">
            <a:avLst/>
          </a:prstGeom>
          <a:solidFill>
            <a:srgbClr val="CCFF33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marL="0" lvl="1" indent="0" algn="ctr" eaLnBrk="1" hangingPunct="1">
              <a:spcBef>
                <a:spcPct val="0"/>
              </a:spcBef>
              <a:buNone/>
            </a:pPr>
            <a:r>
              <a:rPr lang="uz-Cyrl-UZ" altLang="uz-Cyrl-UZ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Чизиқли акслантириш амалга оширилади </a:t>
            </a:r>
            <a:r>
              <a:rPr lang="ru-RU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LT</a:t>
            </a:r>
            <a:r>
              <a:rPr lang="ru-RU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altLang="uz-Cyrl-UZ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AutoShape 176"/>
          <p:cNvSpPr>
            <a:spLocks noChangeArrowheads="1"/>
          </p:cNvSpPr>
          <p:nvPr/>
        </p:nvSpPr>
        <p:spPr bwMode="auto">
          <a:xfrm>
            <a:off x="4552203" y="2794773"/>
            <a:ext cx="287337" cy="360363"/>
          </a:xfrm>
          <a:prstGeom prst="downArrow">
            <a:avLst>
              <a:gd name="adj1" fmla="val 50000"/>
              <a:gd name="adj2" fmla="val 31354"/>
            </a:avLst>
          </a:prstGeom>
          <a:solidFill>
            <a:schemeClr val="accent1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uz-Cyrl-UZ" altLang="uz-Cyrl-UZ" sz="1800"/>
          </a:p>
        </p:txBody>
      </p:sp>
      <p:sp>
        <p:nvSpPr>
          <p:cNvPr id="28" name="AutoShape 176"/>
          <p:cNvSpPr>
            <a:spLocks noChangeArrowheads="1"/>
          </p:cNvSpPr>
          <p:nvPr/>
        </p:nvSpPr>
        <p:spPr bwMode="auto">
          <a:xfrm>
            <a:off x="4536682" y="3525839"/>
            <a:ext cx="287337" cy="360363"/>
          </a:xfrm>
          <a:prstGeom prst="downArrow">
            <a:avLst>
              <a:gd name="adj1" fmla="val 50000"/>
              <a:gd name="adj2" fmla="val 31354"/>
            </a:avLst>
          </a:prstGeom>
          <a:solidFill>
            <a:schemeClr val="accent1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uz-Cyrl-UZ" altLang="uz-Cyrl-UZ" sz="1800"/>
          </a:p>
        </p:txBody>
      </p:sp>
      <p:sp>
        <p:nvSpPr>
          <p:cNvPr id="29" name="AutoShape 176"/>
          <p:cNvSpPr>
            <a:spLocks noChangeArrowheads="1"/>
          </p:cNvSpPr>
          <p:nvPr/>
        </p:nvSpPr>
        <p:spPr bwMode="auto">
          <a:xfrm>
            <a:off x="4548323" y="5202239"/>
            <a:ext cx="287337" cy="360363"/>
          </a:xfrm>
          <a:prstGeom prst="downArrow">
            <a:avLst>
              <a:gd name="adj1" fmla="val 50000"/>
              <a:gd name="adj2" fmla="val 31354"/>
            </a:avLst>
          </a:prstGeom>
          <a:solidFill>
            <a:schemeClr val="accent1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uz-Cyrl-UZ" altLang="uz-Cyrl-UZ" sz="1800"/>
          </a:p>
        </p:txBody>
      </p:sp>
      <p:sp>
        <p:nvSpPr>
          <p:cNvPr id="30" name="AutoShape 176"/>
          <p:cNvSpPr>
            <a:spLocks noChangeArrowheads="1"/>
          </p:cNvSpPr>
          <p:nvPr/>
        </p:nvSpPr>
        <p:spPr bwMode="auto">
          <a:xfrm>
            <a:off x="4532404" y="4267202"/>
            <a:ext cx="287337" cy="360363"/>
          </a:xfrm>
          <a:prstGeom prst="downArrow">
            <a:avLst>
              <a:gd name="adj1" fmla="val 50000"/>
              <a:gd name="adj2" fmla="val 31354"/>
            </a:avLst>
          </a:prstGeom>
          <a:solidFill>
            <a:schemeClr val="accent1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uz-Cyrl-UZ" altLang="uz-Cyrl-UZ" sz="1800"/>
          </a:p>
        </p:txBody>
      </p:sp>
      <p:sp>
        <p:nvSpPr>
          <p:cNvPr id="31" name="Скругленный прямоугольник 30"/>
          <p:cNvSpPr/>
          <p:nvPr/>
        </p:nvSpPr>
        <p:spPr>
          <a:xfrm>
            <a:off x="970514" y="518985"/>
            <a:ext cx="7489453" cy="503374"/>
          </a:xfrm>
          <a:prstGeom prst="round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Serpent </a:t>
            </a:r>
            <a:r>
              <a:rPr lang="uz-Cyrl-UZ" altLang="uz-Cyrl-UZ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алгоритмининг шифрлаш жараёнининг блок схемаси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64775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36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36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36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3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36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36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36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3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36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366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36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36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92" decel="100000"/>
                                        <p:tgtEl>
                                          <p:spTgt spid="636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192" decel="100000"/>
                                        <p:tgtEl>
                                          <p:spTgt spid="63663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27" dur="308" accel="100000" fill="hold">
                                          <p:stCondLst>
                                            <p:cond delay="192"/>
                                          </p:stCondLst>
                                        </p:cTn>
                                        <p:tgtEl>
                                          <p:spTgt spid="63663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28" dur="192" fill="hold"/>
                                        <p:tgtEl>
                                          <p:spTgt spid="636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29" dur="308" accel="100000" fill="hold">
                                          <p:stCondLst>
                                            <p:cond delay="192"/>
                                          </p:stCondLst>
                                        </p:cTn>
                                        <p:tgtEl>
                                          <p:spTgt spid="636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0" dur="192" fill="hold"/>
                                        <p:tgtEl>
                                          <p:spTgt spid="636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31" dur="308" accel="100000" fill="hold">
                                          <p:stCondLst>
                                            <p:cond delay="192"/>
                                          </p:stCondLst>
                                        </p:cTn>
                                        <p:tgtEl>
                                          <p:spTgt spid="636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636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" fill="hold"/>
                                        <p:tgtEl>
                                          <p:spTgt spid="636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00" fill="hold"/>
                                        <p:tgtEl>
                                          <p:spTgt spid="636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63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63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63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655" grpId="0" animBg="1"/>
      <p:bldP spid="63657" grpId="0" animBg="1"/>
      <p:bldP spid="63658" grpId="0" animBg="1"/>
      <p:bldP spid="63660" grpId="0" animBg="1"/>
      <p:bldP spid="63661" grpId="0" animBg="1"/>
      <p:bldP spid="63662" grpId="0" animBg="1"/>
      <p:bldP spid="63663" grpId="0" animBg="1"/>
      <p:bldP spid="17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00" name="AutoShape 164"/>
          <p:cNvSpPr>
            <a:spLocks/>
          </p:cNvSpPr>
          <p:nvPr/>
        </p:nvSpPr>
        <p:spPr bwMode="auto">
          <a:xfrm rot="10800000">
            <a:off x="1750725" y="2270361"/>
            <a:ext cx="336443" cy="1728469"/>
          </a:xfrm>
          <a:prstGeom prst="rightBrace">
            <a:avLst>
              <a:gd name="adj1" fmla="val 38144"/>
              <a:gd name="adj2" fmla="val 50000"/>
            </a:avLst>
          </a:prstGeom>
          <a:noFill/>
          <a:ln w="254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uz-Cyrl-UZ" altLang="uz-Cyrl-UZ" sz="1350"/>
          </a:p>
        </p:txBody>
      </p:sp>
      <p:sp>
        <p:nvSpPr>
          <p:cNvPr id="65701" name="AutoShape 165"/>
          <p:cNvSpPr>
            <a:spLocks noChangeArrowheads="1"/>
          </p:cNvSpPr>
          <p:nvPr/>
        </p:nvSpPr>
        <p:spPr bwMode="auto">
          <a:xfrm>
            <a:off x="4429466" y="4746857"/>
            <a:ext cx="251650" cy="440883"/>
          </a:xfrm>
          <a:prstGeom prst="downArrow">
            <a:avLst>
              <a:gd name="adj1" fmla="val 50000"/>
              <a:gd name="adj2" fmla="val 81044"/>
            </a:avLst>
          </a:prstGeom>
          <a:solidFill>
            <a:schemeClr val="accent1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uz-Cyrl-UZ" altLang="uz-Cyrl-UZ" sz="1350"/>
          </a:p>
        </p:txBody>
      </p:sp>
      <p:sp>
        <p:nvSpPr>
          <p:cNvPr id="65705" name="Text Box 169"/>
          <p:cNvSpPr txBox="1">
            <a:spLocks noChangeArrowheads="1"/>
          </p:cNvSpPr>
          <p:nvPr/>
        </p:nvSpPr>
        <p:spPr bwMode="auto">
          <a:xfrm>
            <a:off x="536591" y="3030854"/>
            <a:ext cx="1018227" cy="300082"/>
          </a:xfrm>
          <a:prstGeom prst="rect">
            <a:avLst/>
          </a:prstGeom>
          <a:solidFill>
            <a:srgbClr val="00B050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uz-Cyrl-UZ" sz="1350" b="1" i="1" dirty="0">
                <a:solidFill>
                  <a:schemeClr val="bg1"/>
                </a:solidFill>
                <a:cs typeface="Times New Roman" panose="02020603050405020304" pitchFamily="18" charset="0"/>
              </a:rPr>
              <a:t>32</a:t>
            </a:r>
            <a:r>
              <a:rPr lang="uz-Cyrl-UZ" altLang="uz-Cyrl-UZ" sz="1350" b="1" i="1" dirty="0">
                <a:solidFill>
                  <a:schemeClr val="bg1"/>
                </a:solidFill>
                <a:cs typeface="Times New Roman" panose="02020603050405020304" pitchFamily="18" charset="0"/>
              </a:rPr>
              <a:t>-раунд</a:t>
            </a:r>
            <a:endParaRPr lang="ru-RU" altLang="uz-Cyrl-UZ" sz="1350" b="1" i="1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65707" name="AutoShape 171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7515820" y="6204922"/>
            <a:ext cx="594122" cy="270272"/>
          </a:xfrm>
          <a:prstGeom prst="rightArrow">
            <a:avLst>
              <a:gd name="adj1" fmla="val 50000"/>
              <a:gd name="adj2" fmla="val 54956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uz-Cyrl-UZ" altLang="uz-Cyrl-UZ" sz="1350"/>
          </a:p>
        </p:txBody>
      </p:sp>
      <p:sp>
        <p:nvSpPr>
          <p:cNvPr id="65708" name="AutoShape 172">
            <a:hlinkClick r:id="rId3" action="ppaction://hlinksldjump"/>
          </p:cNvPr>
          <p:cNvSpPr>
            <a:spLocks noChangeArrowheads="1"/>
          </p:cNvSpPr>
          <p:nvPr/>
        </p:nvSpPr>
        <p:spPr bwMode="auto">
          <a:xfrm rot="10800000">
            <a:off x="6564298" y="6210633"/>
            <a:ext cx="594122" cy="270272"/>
          </a:xfrm>
          <a:prstGeom prst="rightArrow">
            <a:avLst>
              <a:gd name="adj1" fmla="val 50000"/>
              <a:gd name="adj2" fmla="val 54956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uz-Cyrl-UZ" altLang="uz-Cyrl-UZ" sz="1350"/>
          </a:p>
        </p:txBody>
      </p:sp>
      <p:sp>
        <p:nvSpPr>
          <p:cNvPr id="173" name="Text Box 175"/>
          <p:cNvSpPr txBox="1">
            <a:spLocks noChangeArrowheads="1"/>
          </p:cNvSpPr>
          <p:nvPr/>
        </p:nvSpPr>
        <p:spPr bwMode="auto">
          <a:xfrm>
            <a:off x="3437336" y="1553768"/>
            <a:ext cx="2159794" cy="507831"/>
          </a:xfrm>
          <a:prstGeom prst="rect">
            <a:avLst/>
          </a:prstGeom>
          <a:solidFill>
            <a:srgbClr val="00B050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uz-Cyrl-UZ" altLang="uz-Cyrl-UZ" sz="1350" b="1" i="1" dirty="0">
                <a:solidFill>
                  <a:schemeClr val="bg1"/>
                </a:solidFill>
                <a:cs typeface="Times New Roman" panose="02020603050405020304" pitchFamily="18" charset="0"/>
              </a:rPr>
              <a:t>3,4</a:t>
            </a:r>
            <a:r>
              <a:rPr lang="en-US" altLang="uz-Cyrl-UZ" sz="1350" b="1" i="1" dirty="0">
                <a:solidFill>
                  <a:schemeClr val="bg1"/>
                </a:solidFill>
                <a:cs typeface="Times New Roman" panose="02020603050405020304" pitchFamily="18" charset="0"/>
              </a:rPr>
              <a:t>,…,30,31</a:t>
            </a:r>
            <a:r>
              <a:rPr lang="uz-Cyrl-UZ" altLang="uz-Cyrl-UZ" sz="1350" b="1" i="1" dirty="0">
                <a:solidFill>
                  <a:schemeClr val="bg1"/>
                </a:solidFill>
                <a:cs typeface="Times New Roman" panose="02020603050405020304" pitchFamily="18" charset="0"/>
              </a:rPr>
              <a:t> - раундлар</a:t>
            </a:r>
            <a:endParaRPr lang="ru-RU" altLang="uz-Cyrl-UZ" sz="1350" b="1" i="1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18" name="Rectangle 171"/>
          <p:cNvSpPr>
            <a:spLocks noChangeArrowheads="1"/>
          </p:cNvSpPr>
          <p:nvPr/>
        </p:nvSpPr>
        <p:spPr bwMode="auto">
          <a:xfrm>
            <a:off x="2372361" y="2362202"/>
            <a:ext cx="6314441" cy="399355"/>
          </a:xfrm>
          <a:prstGeom prst="rect">
            <a:avLst/>
          </a:prstGeom>
          <a:solidFill>
            <a:srgbClr val="CCFF33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marL="0" lvl="1" indent="0" algn="ctr" eaLnBrk="1" hangingPunct="1">
              <a:spcBef>
                <a:spcPct val="0"/>
              </a:spcBef>
              <a:buNone/>
            </a:pPr>
            <a:r>
              <a:rPr lang="uz-Cyrl-UZ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Маълумотга 128 битли калит 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XOR </a:t>
            </a:r>
            <a:r>
              <a:rPr lang="uz-Cyrl-UZ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амали билан қўшилади</a:t>
            </a:r>
            <a:r>
              <a:rPr lang="ru-RU" altLang="uz-Cyrl-UZ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9" name="Rectangle 172"/>
          <p:cNvSpPr>
            <a:spLocks noChangeArrowheads="1"/>
          </p:cNvSpPr>
          <p:nvPr/>
        </p:nvSpPr>
        <p:spPr bwMode="auto">
          <a:xfrm>
            <a:off x="2349349" y="2985919"/>
            <a:ext cx="6337453" cy="389957"/>
          </a:xfrm>
          <a:prstGeom prst="rect">
            <a:avLst/>
          </a:prstGeom>
          <a:solidFill>
            <a:srgbClr val="CCFF33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marL="0" lvl="1" indent="0" algn="ctr" eaLnBrk="1" hangingPunct="1">
              <a:spcBef>
                <a:spcPct val="0"/>
              </a:spcBef>
              <a:buNone/>
            </a:pPr>
            <a:r>
              <a:rPr lang="uz-Cyrl-UZ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Маълумот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 </a:t>
            </a:r>
            <a:r>
              <a:rPr lang="uz-Cyrl-UZ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блокдан ўтказилади </a:t>
            </a:r>
            <a:r>
              <a:rPr lang="ru-RU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(S-</a:t>
            </a:r>
            <a:r>
              <a:rPr lang="ru-RU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box</a:t>
            </a:r>
            <a:r>
              <a:rPr lang="ru-RU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uz-Cyrl-UZ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altLang="uz-Cyrl-UZ" sz="1800" dirty="0"/>
          </a:p>
        </p:txBody>
      </p:sp>
      <p:sp>
        <p:nvSpPr>
          <p:cNvPr id="21" name="AutoShape 176"/>
          <p:cNvSpPr>
            <a:spLocks noChangeArrowheads="1"/>
          </p:cNvSpPr>
          <p:nvPr/>
        </p:nvSpPr>
        <p:spPr bwMode="auto">
          <a:xfrm>
            <a:off x="4424440" y="2083845"/>
            <a:ext cx="261707" cy="278357"/>
          </a:xfrm>
          <a:prstGeom prst="downArrow">
            <a:avLst>
              <a:gd name="adj1" fmla="val 50000"/>
              <a:gd name="adj2" fmla="val 31354"/>
            </a:avLst>
          </a:prstGeom>
          <a:solidFill>
            <a:schemeClr val="accent1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uz-Cyrl-UZ" altLang="uz-Cyrl-UZ" sz="1800"/>
          </a:p>
        </p:txBody>
      </p:sp>
      <p:sp>
        <p:nvSpPr>
          <p:cNvPr id="22" name="AutoShape 176"/>
          <p:cNvSpPr>
            <a:spLocks noChangeArrowheads="1"/>
          </p:cNvSpPr>
          <p:nvPr/>
        </p:nvSpPr>
        <p:spPr bwMode="auto">
          <a:xfrm>
            <a:off x="4428489" y="3363440"/>
            <a:ext cx="262201" cy="259146"/>
          </a:xfrm>
          <a:prstGeom prst="downArrow">
            <a:avLst>
              <a:gd name="adj1" fmla="val 50000"/>
              <a:gd name="adj2" fmla="val 31354"/>
            </a:avLst>
          </a:prstGeom>
          <a:solidFill>
            <a:schemeClr val="accent1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uz-Cyrl-UZ" altLang="uz-Cyrl-UZ" sz="1800"/>
          </a:p>
        </p:txBody>
      </p:sp>
      <p:sp>
        <p:nvSpPr>
          <p:cNvPr id="23" name="AutoShape 176"/>
          <p:cNvSpPr>
            <a:spLocks noChangeArrowheads="1"/>
          </p:cNvSpPr>
          <p:nvPr/>
        </p:nvSpPr>
        <p:spPr bwMode="auto">
          <a:xfrm>
            <a:off x="4427739" y="4009508"/>
            <a:ext cx="272507" cy="291197"/>
          </a:xfrm>
          <a:prstGeom prst="downArrow">
            <a:avLst>
              <a:gd name="adj1" fmla="val 50000"/>
              <a:gd name="adj2" fmla="val 31354"/>
            </a:avLst>
          </a:prstGeom>
          <a:solidFill>
            <a:schemeClr val="accent1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uz-Cyrl-UZ" altLang="uz-Cyrl-UZ" sz="1800"/>
          </a:p>
        </p:txBody>
      </p:sp>
      <p:sp>
        <p:nvSpPr>
          <p:cNvPr id="24" name="AutoShape 176"/>
          <p:cNvSpPr>
            <a:spLocks noChangeArrowheads="1"/>
          </p:cNvSpPr>
          <p:nvPr/>
        </p:nvSpPr>
        <p:spPr bwMode="auto">
          <a:xfrm>
            <a:off x="4424438" y="2766070"/>
            <a:ext cx="275806" cy="224072"/>
          </a:xfrm>
          <a:prstGeom prst="downArrow">
            <a:avLst>
              <a:gd name="adj1" fmla="val 50000"/>
              <a:gd name="adj2" fmla="val 31354"/>
            </a:avLst>
          </a:prstGeom>
          <a:solidFill>
            <a:schemeClr val="accent1"/>
          </a:soli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uz-Cyrl-UZ" altLang="uz-Cyrl-UZ" sz="1800"/>
          </a:p>
        </p:txBody>
      </p:sp>
      <p:sp>
        <p:nvSpPr>
          <p:cNvPr id="25" name="Rectangle 158"/>
          <p:cNvSpPr>
            <a:spLocks noChangeArrowheads="1"/>
          </p:cNvSpPr>
          <p:nvPr/>
        </p:nvSpPr>
        <p:spPr bwMode="auto">
          <a:xfrm>
            <a:off x="2359008" y="4311211"/>
            <a:ext cx="6262197" cy="425136"/>
          </a:xfrm>
          <a:prstGeom prst="rect">
            <a:avLst/>
          </a:prstGeom>
          <a:solidFill>
            <a:srgbClr val="FFC000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None/>
            </a:pPr>
            <a:r>
              <a:rPr lang="ru-RU" sz="1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Охирги</a:t>
            </a:r>
            <a:r>
              <a:rPr lang="ru-RU" sz="1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ўрин</a:t>
            </a:r>
            <a:r>
              <a:rPr lang="ru-RU" sz="1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алмаштириш</a:t>
            </a:r>
            <a:r>
              <a:rPr lang="ru-RU" sz="1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lang="ru-RU" sz="1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altLang="uz-Cyrl-UZ" sz="1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Рисунок 25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62285" y="4399955"/>
            <a:ext cx="1101197" cy="247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" name="Rectangle 157"/>
          <p:cNvSpPr>
            <a:spLocks noChangeArrowheads="1"/>
          </p:cNvSpPr>
          <p:nvPr/>
        </p:nvSpPr>
        <p:spPr bwMode="auto">
          <a:xfrm>
            <a:off x="3581007" y="5133777"/>
            <a:ext cx="2016125" cy="360363"/>
          </a:xfrm>
          <a:prstGeom prst="rect">
            <a:avLst/>
          </a:prstGeom>
          <a:solidFill>
            <a:srgbClr val="CCFF33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None/>
            </a:pPr>
            <a:r>
              <a:rPr lang="uz-Cyrl-UZ" altLang="uz-Cyrl-UZ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Чиқиш блоки</a:t>
            </a:r>
            <a:endParaRPr lang="ru-RU" altLang="uz-Cyrl-UZ" sz="1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Скругленный прямоугольник 27"/>
          <p:cNvSpPr/>
          <p:nvPr/>
        </p:nvSpPr>
        <p:spPr>
          <a:xfrm>
            <a:off x="941421" y="634466"/>
            <a:ext cx="7489453" cy="503374"/>
          </a:xfrm>
          <a:prstGeom prst="round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Serpent </a:t>
            </a:r>
            <a:r>
              <a:rPr lang="uz-Cyrl-UZ" altLang="uz-Cyrl-UZ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алгоритмининг шифрлаш жараёнининг блок схемаси</a:t>
            </a:r>
            <a:endParaRPr lang="ru-RU" sz="2000" dirty="0"/>
          </a:p>
        </p:txBody>
      </p:sp>
      <p:sp>
        <p:nvSpPr>
          <p:cNvPr id="29" name="Rectangle 171"/>
          <p:cNvSpPr>
            <a:spLocks noChangeArrowheads="1"/>
          </p:cNvSpPr>
          <p:nvPr/>
        </p:nvSpPr>
        <p:spPr bwMode="auto">
          <a:xfrm>
            <a:off x="2332885" y="3610153"/>
            <a:ext cx="6314441" cy="399355"/>
          </a:xfrm>
          <a:prstGeom prst="rect">
            <a:avLst/>
          </a:prstGeom>
          <a:solidFill>
            <a:srgbClr val="CCFF33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marL="0" lvl="1" indent="0" algn="ctr" eaLnBrk="1" hangingPunct="1">
              <a:spcBef>
                <a:spcPct val="0"/>
              </a:spcBef>
              <a:buNone/>
            </a:pPr>
            <a:r>
              <a:rPr lang="uz-Cyrl-UZ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Маълумотга 128 битли калит 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XOR </a:t>
            </a:r>
            <a:r>
              <a:rPr lang="uz-Cyrl-UZ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амали билан қўшилади</a:t>
            </a:r>
            <a:r>
              <a:rPr lang="ru-RU" altLang="uz-Cyrl-UZ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37811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57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570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57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57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57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570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57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57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57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570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57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57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600"/>
                                        <p:tgtEl>
                                          <p:spTgt spid="65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600"/>
                                        <p:tgtEl>
                                          <p:spTgt spid="65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92" decel="100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192" decel="100000"/>
                                        <p:tgtEl>
                                          <p:spTgt spid="173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33" dur="308" accel="100000" fill="hold">
                                          <p:stCondLst>
                                            <p:cond delay="192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34" dur="192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35" dur="308" accel="100000" fill="hold">
                                          <p:stCondLst>
                                            <p:cond delay="192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6" dur="192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37" dur="308" accel="100000" fill="hold">
                                          <p:stCondLst>
                                            <p:cond delay="192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700" grpId="0" animBg="1"/>
      <p:bldP spid="65701" grpId="0" animBg="1"/>
      <p:bldP spid="65705" grpId="0" animBg="1"/>
      <p:bldP spid="65707" grpId="0" animBg="1"/>
      <p:bldP spid="65708" grpId="0" animBg="1"/>
      <p:bldP spid="173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7587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50866" y="966761"/>
                <a:ext cx="8715436" cy="5286412"/>
              </a:xfrm>
            </p:spPr>
            <p:txBody>
              <a:bodyPr>
                <a:normAutofit fontScale="25000" lnSpcReduction="20000"/>
              </a:bodyPr>
              <a:lstStyle/>
              <a:p>
                <a:pPr marL="0" lvl="1" indent="180975" algn="just" defTabSz="324000">
                  <a:lnSpc>
                    <a:spcPct val="120000"/>
                  </a:lnSpc>
                  <a:buNone/>
                </a:pPr>
                <a:r>
                  <a:rPr lang="en-US" sz="8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Serpent</a:t>
                </a:r>
                <a:r>
                  <a:rPr lang="ru-RU" sz="8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узунлиги</a:t>
                </a:r>
                <a:r>
                  <a:rPr lang="ru-RU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128</a:t>
                </a:r>
                <a:r>
                  <a:rPr lang="ru-RU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бит </a:t>
                </a:r>
                <a:r>
                  <a:rPr lang="ru-RU" sz="8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sz="8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очиқ</a:t>
                </a:r>
                <a:r>
                  <a:rPr lang="ru-RU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матнни</a:t>
                </a:r>
                <a:r>
                  <a:rPr lang="en-US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худди</a:t>
                </a:r>
                <a:r>
                  <a:rPr lang="ru-RU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шундай</a:t>
                </a:r>
                <a:r>
                  <a:rPr lang="ru-RU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128</a:t>
                </a:r>
                <a:r>
                  <a:rPr lang="ru-RU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бит </a:t>
                </a:r>
                <a:r>
                  <a:rPr lang="ru-RU" sz="8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узунликдаги</a:t>
                </a:r>
                <a:r>
                  <a:rPr lang="en-US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ru-RU" sz="8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  </a:t>
                </a:r>
                <a:r>
                  <a:rPr lang="ru-RU" sz="8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шифрматнга</a:t>
                </a:r>
                <a:r>
                  <a:rPr lang="ru-RU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32 </a:t>
                </a:r>
                <a:r>
                  <a:rPr lang="ru-RU" sz="8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раундда</a:t>
                </a:r>
                <a:r>
                  <a:rPr lang="ru-RU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узунлиги</a:t>
                </a:r>
                <a:r>
                  <a:rPr lang="ru-RU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128</a:t>
                </a:r>
                <a:r>
                  <a:rPr lang="ru-RU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битли</a:t>
                </a:r>
                <a:r>
                  <a:rPr lang="ru-RU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33 та </a:t>
                </a:r>
                <a:r>
                  <a:rPr lang="en-US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4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,…,K</a:t>
                </a:r>
                <a:r>
                  <a:rPr lang="en-US" sz="4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32</a:t>
                </a:r>
                <a:r>
                  <a:rPr lang="en-US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қисм</a:t>
                </a:r>
                <a:r>
                  <a:rPr lang="ru-RU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калитлар</a:t>
                </a:r>
                <a:r>
                  <a:rPr lang="ru-RU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ёрдамида</a:t>
                </a:r>
                <a:r>
                  <a:rPr lang="ru-RU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шифрлайди</a:t>
                </a:r>
                <a:r>
                  <a:rPr lang="ru-RU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8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1" indent="180975" algn="just" defTabSz="324000">
                  <a:lnSpc>
                    <a:spcPct val="120000"/>
                  </a:lnSpc>
                  <a:buNone/>
                </a:pPr>
                <a:endParaRPr lang="ru-RU" sz="8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363538" algn="just"/>
                <a:r>
                  <a:rPr lang="ru-RU" sz="8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Дастлаб</a:t>
                </a:r>
                <a:r>
                  <a:rPr lang="ru-RU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калит </a:t>
                </a:r>
                <a:r>
                  <a:rPr lang="ru-RU" sz="8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256 </a:t>
                </a:r>
                <a:r>
                  <a:rPr lang="ru-RU" sz="8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битдан</a:t>
                </a:r>
                <a:r>
                  <a:rPr lang="ru-RU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кичик</a:t>
                </a:r>
                <a:r>
                  <a:rPr lang="ru-RU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булса</a:t>
                </a:r>
                <a:r>
                  <a:rPr lang="ru-RU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тўлдирилиши</a:t>
                </a:r>
                <a:r>
                  <a:rPr lang="ru-RU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керак</a:t>
                </a:r>
                <a:r>
                  <a:rPr lang="ru-RU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ru-RU" sz="8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масалан</a:t>
                </a:r>
                <a:r>
                  <a:rPr lang="en-US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ru-RU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128 бит </a:t>
                </a:r>
                <a:r>
                  <a:rPr lang="ru-RU" sz="8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булса</a:t>
                </a:r>
                <a:r>
                  <a:rPr lang="ru-RU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охиридан</a:t>
                </a:r>
                <a:r>
                  <a:rPr lang="ru-RU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128</a:t>
                </a:r>
                <a:r>
                  <a:rPr lang="en-US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||</a:t>
                </a:r>
                <a:r>
                  <a:rPr lang="uz-Cyrl-UZ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||0,…,0 </a:t>
                </a:r>
                <a:r>
                  <a:rPr lang="uz-Cyrl-UZ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куринишида </a:t>
                </a:r>
                <a:r>
                  <a:rPr lang="ru-RU" sz="8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тўлдирилади</a:t>
                </a:r>
                <a:r>
                  <a:rPr lang="ru-RU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ru-RU" sz="8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ва</a:t>
                </a:r>
                <a:r>
                  <a:rPr lang="ru-RU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33та</a:t>
                </a:r>
                <a:r>
                  <a:rPr lang="ru-RU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</a:t>
                </a:r>
                <a:r>
                  <a:rPr lang="ru-RU" sz="8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128 </a:t>
                </a:r>
                <a:r>
                  <a:rPr lang="ru-RU" sz="8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битли</a:t>
                </a:r>
                <a:r>
                  <a:rPr lang="ru-RU" sz="8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қисм</a:t>
                </a:r>
                <a:r>
                  <a:rPr lang="ru-RU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калитлар</a:t>
                </a:r>
                <a:r>
                  <a:rPr lang="ru-RU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қуйидагича</a:t>
                </a:r>
                <a:r>
                  <a:rPr lang="ru-RU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шакллантирилади</a:t>
                </a:r>
                <a:r>
                  <a:rPr lang="ru-RU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buNone/>
                </a:pPr>
                <a:r>
                  <a:rPr lang="ru-RU" sz="8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Дастлабки</a:t>
                </a:r>
                <a:r>
                  <a:rPr lang="ru-RU" sz="8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кирувчи</a:t>
                </a:r>
                <a:r>
                  <a:rPr lang="ru-RU" sz="8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калит 8 та 32 </a:t>
                </a:r>
                <a:r>
                  <a:rPr lang="ru-RU" sz="8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битли</a:t>
                </a:r>
                <a:r>
                  <a:rPr lang="ru-RU" sz="8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бўлакка</a:t>
                </a:r>
                <a:r>
                  <a:rPr lang="ru-RU" sz="8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бўлинади</a:t>
                </a:r>
                <a:endParaRPr lang="ru-RU" sz="8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ru-RU" sz="8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Оралиқ</a:t>
                </a:r>
                <a:r>
                  <a:rPr lang="ru-RU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калитлар</a:t>
                </a:r>
                <a:r>
                  <a:rPr lang="ru-RU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қуйидаги</a:t>
                </a:r>
                <a:r>
                  <a:rPr lang="ru-RU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формула </a:t>
                </a:r>
                <a:r>
                  <a:rPr lang="ru-RU" sz="8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асосида</a:t>
                </a:r>
                <a:r>
                  <a:rPr lang="ru-RU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ҳисобланади</a:t>
                </a:r>
                <a:r>
                  <a:rPr lang="ru-RU" sz="8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ru-RU" sz="8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1" indent="363538" algn="just">
                  <a:lnSpc>
                    <a:spcPct val="80000"/>
                  </a:lnSpc>
                  <a:buNone/>
                </a:pPr>
                <a:r>
                  <a:rPr lang="ru-RU" sz="8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lvl="1" indent="363538" algn="just">
                  <a:lnSpc>
                    <a:spcPct val="80000"/>
                  </a:lnSpc>
                  <a:buNone/>
                </a:pPr>
                <a:endParaRPr lang="ru-RU" sz="8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1" indent="363538" algn="just">
                  <a:lnSpc>
                    <a:spcPct val="80000"/>
                  </a:lnSpc>
                  <a:buNone/>
                </a:pPr>
                <a:endParaRPr lang="en-US" sz="8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1" indent="363538" algn="just">
                  <a:lnSpc>
                    <a:spcPct val="132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8000" i="1">
                        <a:latin typeface="Cambria Math"/>
                      </a:rPr>
                      <m:t>𝜙</m:t>
                    </m:r>
                    <m:r>
                      <a:rPr lang="uz-Cyrl-UZ" sz="8000" i="1">
                        <a:latin typeface="Cambria Math"/>
                      </a:rPr>
                      <m:t> </m:t>
                    </m:r>
                  </m:oMath>
                </a14:m>
                <a:r>
                  <a:rPr lang="ru-RU" sz="8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—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8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ru-RU" sz="8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uz-Cyrl-UZ" sz="8000" i="1">
                                <a:latin typeface="Cambria Math"/>
                              </a:rPr>
                              <m:t>5</m:t>
                            </m:r>
                          </m:e>
                        </m:rad>
                        <m:r>
                          <a:rPr lang="uz-Cyrl-UZ" sz="8000" i="1">
                            <a:latin typeface="Cambria Math"/>
                          </a:rPr>
                          <m:t>+1 </m:t>
                        </m:r>
                      </m:num>
                      <m:den>
                        <m:r>
                          <a:rPr lang="uz-Cyrl-UZ" sz="8000" i="1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ru-RU" sz="8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олтин</a:t>
                </a:r>
                <a:r>
                  <a:rPr lang="ru-RU" sz="8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кесимнинг</a:t>
                </a:r>
                <a:r>
                  <a:rPr lang="ru-RU" sz="8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каср</a:t>
                </a:r>
                <a:r>
                  <a:rPr lang="ru-RU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қисми</a:t>
                </a:r>
                <a:r>
                  <a:rPr lang="ru-RU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ёки</a:t>
                </a:r>
                <a:r>
                  <a:rPr lang="ru-RU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ўн</a:t>
                </a:r>
                <a:r>
                  <a:rPr lang="ru-RU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олтилик</a:t>
                </a:r>
                <a:r>
                  <a:rPr lang="ru-RU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саноқ</a:t>
                </a:r>
                <a:r>
                  <a:rPr lang="ru-RU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тизимидаги</a:t>
                </a:r>
                <a:r>
                  <a:rPr lang="ru-RU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0x9e3779b9</a:t>
                </a:r>
                <a:r>
                  <a:rPr lang="ru-RU" sz="8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қиймат</a:t>
                </a:r>
                <a:r>
                  <a:rPr lang="ru-RU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ru-RU" sz="8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&lt;&lt;&lt; </a:t>
                </a:r>
                <a:r>
                  <a:rPr lang="ru-RU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— </a:t>
                </a:r>
                <a:r>
                  <a:rPr lang="ru-RU" sz="8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битли</a:t>
                </a:r>
                <a:r>
                  <a:rPr lang="ru-RU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циклик</a:t>
                </a:r>
                <a:r>
                  <a:rPr lang="ru-RU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суриш</a:t>
                </a:r>
                <a:r>
                  <a:rPr lang="ru-RU" sz="8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lvl="1" indent="363538" algn="just">
                  <a:lnSpc>
                    <a:spcPct val="80000"/>
                  </a:lnSpc>
                  <a:buNone/>
                </a:pPr>
                <a:endParaRPr lang="ru-RU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1" indent="363538" algn="just">
                  <a:lnSpc>
                    <a:spcPct val="80000"/>
                  </a:lnSpc>
                  <a:buNone/>
                </a:pPr>
                <a:r>
                  <a:rPr lang="ru-RU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lvl="1" indent="363538" algn="just">
                  <a:lnSpc>
                    <a:spcPct val="80000"/>
                  </a:lnSpc>
                  <a:buNone/>
                </a:pPr>
                <a:endParaRPr lang="ru-RU" sz="20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758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0866" y="966761"/>
                <a:ext cx="8715436" cy="5286412"/>
              </a:xfrm>
              <a:blipFill>
                <a:blip r:embed="rId2"/>
                <a:stretch>
                  <a:fillRect l="-770" t="-692" r="-7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4" y="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4" y="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1066800" y="140753"/>
            <a:ext cx="7636404" cy="656967"/>
          </a:xfrm>
          <a:prstGeom prst="round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Калитларни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генерация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қилиш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алгоритми</a:t>
            </a:r>
            <a:endParaRPr lang="ru-RU" sz="2800" dirty="0"/>
          </a:p>
        </p:txBody>
      </p:sp>
      <p:sp>
        <p:nvSpPr>
          <p:cNvPr id="2" name="Объект 1"/>
          <p:cNvSpPr txBox="1"/>
          <p:nvPr/>
        </p:nvSpPr>
        <p:spPr>
          <a:xfrm>
            <a:off x="4514850" y="3321050"/>
            <a:ext cx="114300" cy="215900"/>
          </a:xfrm>
          <a:prstGeom prst="rect">
            <a:avLst/>
          </a:prstGeom>
        </p:spPr>
        <p:txBody>
          <a:bodyPr>
            <a:normAutofit fontScale="47500" lnSpcReduction="20000"/>
          </a:bodyPr>
          <a:lstStyle/>
          <a:p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1" y="4374989"/>
            <a:ext cx="6172200" cy="386164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6804" y="3329401"/>
            <a:ext cx="1676400" cy="2728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22">
                <a:extLst>
                  <a:ext uri="{FF2B5EF4-FFF2-40B4-BE49-F238E27FC236}">
                    <a16:creationId xmlns:a16="http://schemas.microsoft.com/office/drawing/2014/main" id="{C5B8152C-23F8-FCD6-10DD-64076B972437}"/>
                  </a:ext>
                </a:extLst>
              </p:cNvPr>
              <p:cNvSpPr txBox="1"/>
              <p:nvPr/>
            </p:nvSpPr>
            <p:spPr>
              <a:xfrm>
                <a:off x="6934200" y="4433549"/>
                <a:ext cx="1447800" cy="327604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ru-RU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=0,…,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31</a:t>
                </a:r>
                <a:endParaRPr lang="ru-RU" dirty="0"/>
              </a:p>
            </p:txBody>
          </p:sp>
        </mc:Choice>
        <mc:Fallback xmlns="">
          <p:sp>
            <p:nvSpPr>
              <p:cNvPr id="7" name="Объект 22">
                <a:extLst>
                  <a:ext uri="{FF2B5EF4-FFF2-40B4-BE49-F238E27FC236}">
                    <a16:creationId xmlns:a16="http://schemas.microsoft.com/office/drawing/2014/main" id="{C5B8152C-23F8-FCD6-10DD-64076B972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0" y="4433549"/>
                <a:ext cx="1447800" cy="327604"/>
              </a:xfrm>
              <a:prstGeom prst="rect">
                <a:avLst/>
              </a:prstGeom>
              <a:blipFill>
                <a:blip r:embed="rId5"/>
                <a:stretch>
                  <a:fillRect t="-12963" b="-2407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0294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914400"/>
            <a:ext cx="8715436" cy="528641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Раунд </a:t>
            </a:r>
            <a:r>
              <a:rPr lang="ru-RU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калитлари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оралиқ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калитлардан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алмаштириш</a:t>
            </a:r>
            <a:r>
              <a:rPr lang="ru-RU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жадвалидан</a:t>
            </a:r>
            <a:r>
              <a:rPr lang="ru-RU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фойдаланилиб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қуйидагича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ҳисобланади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363538" algn="just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363538" algn="just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363538" algn="just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363538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363538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363538" algn="just">
              <a:lnSpc>
                <a:spcPct val="1500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1000"/>
              </a:lnSpc>
              <a:buFont typeface="Wingdings" panose="05000000000000000000" pitchFamily="2" charset="2"/>
              <a:buChar char="Ø"/>
            </a:pPr>
            <a:r>
              <a:rPr lang="ru-RU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Оралиқ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0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32-битли </a:t>
            </a:r>
            <a:r>
              <a:rPr lang="ru-RU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катталик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қайта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рақамланади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128-битли </a:t>
            </a:r>
            <a:r>
              <a:rPr lang="ru-RU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қисм</a:t>
            </a:r>
            <a:r>
              <a:rPr lang="ru-RU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калит </a:t>
            </a:r>
            <a:r>
              <a:rPr lang="ru-RU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шакллантирилади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</a:t>
            </a:r>
          </a:p>
          <a:p>
            <a:pPr marL="342900" lvl="1" indent="-342900" algn="just">
              <a:buFont typeface="Wingdings" panose="05000000000000000000" pitchFamily="2" charset="2"/>
              <a:buChar char="Ø"/>
            </a:pPr>
            <a:r>
              <a:rPr lang="uz-Cyrl-UZ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Стандартда келтирилгани бўйича раунд калитларига </a:t>
            </a:r>
            <a:r>
              <a:rPr lang="uz-Cyrl-UZ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бошланғич ўрин алмаштириш </a:t>
            </a:r>
            <a:r>
              <a:rPr lang="uz-Cyrl-UZ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қўлланилади: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363538" algn="just">
              <a:buNone/>
            </a:pPr>
            <a:endParaRPr lang="en-US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7358083" y="6537329"/>
            <a:ext cx="1643075" cy="320675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SERPENT</a:t>
            </a: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971600" y="140753"/>
            <a:ext cx="7636404" cy="656967"/>
          </a:xfrm>
          <a:prstGeom prst="round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Калитларни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генерация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қилиш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алгоритми</a:t>
            </a:r>
            <a:endParaRPr lang="ru-RU" sz="28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608646"/>
            <a:ext cx="3889268" cy="2767552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2818" y="5872201"/>
            <a:ext cx="2514600" cy="657225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4791612"/>
            <a:ext cx="3173098" cy="3312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2">
                <a:extLst>
                  <a:ext uri="{FF2B5EF4-FFF2-40B4-BE49-F238E27FC236}">
                    <a16:creationId xmlns:a16="http://schemas.microsoft.com/office/drawing/2014/main" id="{06C2D18C-B689-3976-E6D8-B53F8871F53E}"/>
                  </a:ext>
                </a:extLst>
              </p:cNvPr>
              <p:cNvSpPr txBox="1"/>
              <p:nvPr/>
            </p:nvSpPr>
            <p:spPr>
              <a:xfrm>
                <a:off x="6553200" y="4841124"/>
                <a:ext cx="2314636" cy="41667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=0,…,3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2">
                <a:extLst>
                  <a:ext uri="{FF2B5EF4-FFF2-40B4-BE49-F238E27FC236}">
                    <a16:creationId xmlns:a16="http://schemas.microsoft.com/office/drawing/2014/main" id="{06C2D18C-B689-3976-E6D8-B53F8871F5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0" y="4841124"/>
                <a:ext cx="2314636" cy="4166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5701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214283" y="1214423"/>
            <a:ext cx="8715436" cy="5286412"/>
          </a:xfrm>
        </p:spPr>
        <p:txBody>
          <a:bodyPr>
            <a:normAutofit/>
          </a:bodyPr>
          <a:lstStyle/>
          <a:p>
            <a:pPr marL="0" indent="360363" algn="just">
              <a:buNone/>
            </a:pPr>
            <a:r>
              <a:rPr lang="ru-RU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Шифрлаш</a:t>
            </a:r>
            <a:r>
              <a:rPr lang="ru-RU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қуйидаги</a:t>
            </a:r>
            <a:r>
              <a:rPr lang="ru-RU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асосий</a:t>
            </a:r>
            <a:r>
              <a:rPr lang="ru-RU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қадамлардан</a:t>
            </a:r>
            <a:r>
              <a:rPr lang="ru-RU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иборат</a:t>
            </a:r>
            <a:r>
              <a:rPr lang="ru-RU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Бошланғич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ўрин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алмаштириш</a:t>
            </a:r>
            <a:r>
              <a:rPr lang="ru-RU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b="1" dirty="0"/>
              <a:t>Initial permutation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ru-RU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 algn="just">
              <a:buClr>
                <a:srgbClr val="FF0000"/>
              </a:buClr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Ҳар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бир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раундда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2.1) </a:t>
            </a:r>
            <a:r>
              <a:rPr lang="uz-Cyrl-UZ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Маълумотга 128 битли калитлар мос равишда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XOR </a:t>
            </a:r>
            <a:r>
              <a:rPr lang="uz-Cyrl-UZ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амали билан қўшилади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2.2) </a:t>
            </a:r>
            <a:r>
              <a:rPr lang="uz-Cyrl-UZ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Маълумот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 </a:t>
            </a:r>
            <a:r>
              <a:rPr lang="uz-Cyrl-UZ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блокдан ўтказилади </a:t>
            </a:r>
            <a:r>
              <a:rPr lang="ru-RU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(S-</a:t>
            </a:r>
            <a:r>
              <a:rPr lang="ru-RU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box</a:t>
            </a:r>
            <a:r>
              <a:rPr lang="ru-RU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uz-Cyrl-U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2.3)</a:t>
            </a:r>
            <a:r>
              <a:rPr lang="uz-Cyrl-UZ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Чизиқли акслантириш  </a:t>
            </a:r>
            <a:r>
              <a:rPr lang="ru-RU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/>
              <a:t>Linear transformation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LT</a:t>
            </a:r>
            <a:r>
              <a:rPr lang="ru-RU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uz-Cyrl-UZ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Фақат охирги раундда </a:t>
            </a:r>
            <a:r>
              <a:rPr lang="uz-Cyrl-UZ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икки марта калит қўшилади</a:t>
            </a:r>
            <a:r>
              <a:rPr lang="uz-Cyrl-UZ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Чизиқли акслантириш қўлланилмайди.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Охирги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ўрин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алмаштириш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/>
              <a:t>Final permutation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lang="ru-RU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1" indent="360363" algn="just">
              <a:lnSpc>
                <a:spcPct val="80000"/>
              </a:lnSpc>
              <a:buNone/>
            </a:pPr>
            <a:endParaRPr lang="en-US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7358083" y="6537329"/>
            <a:ext cx="1643075" cy="320675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SERPENT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753799" y="381002"/>
            <a:ext cx="7636404" cy="656967"/>
          </a:xfrm>
          <a:prstGeom prst="round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Алгоритмнинг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шифрлаш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жараёни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2635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214283" y="1214423"/>
            <a:ext cx="8715436" cy="5286412"/>
          </a:xfrm>
          <a:noFill/>
          <a:ln>
            <a:noFill/>
          </a:ln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ru-RU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Алгоритмнинг</a:t>
            </a:r>
            <a:r>
              <a:rPr lang="ru-RU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тенгламалар</a:t>
            </a:r>
            <a:r>
              <a:rPr lang="ru-RU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структуралари</a:t>
            </a:r>
            <a:r>
              <a:rPr lang="ru-RU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ошланғич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ўрин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алмаштириш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Раунд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операциялари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Охирги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ўрин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алмаштириш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бу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ерда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       —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алмаштириш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жадвалини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қўллаш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               32  марта) </a:t>
            </a:r>
          </a:p>
          <a:p>
            <a:pPr>
              <a:buNone/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uz-Cyrl-UZ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чизиқли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акслантириш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80000"/>
              </a:lnSpc>
              <a:buNone/>
            </a:pP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7358083" y="6537329"/>
            <a:ext cx="1643075" cy="320675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SERPENT</a:t>
            </a:r>
          </a:p>
        </p:txBody>
      </p:sp>
      <p:pic>
        <p:nvPicPr>
          <p:cNvPr id="7" name="Рисунок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94866" y="2323647"/>
            <a:ext cx="1987592" cy="3255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Рисунок 7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24503" y="3014743"/>
            <a:ext cx="1919857" cy="388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Рисунок 8">
            <a:hlinkClick r:id="rId4" action="ppaction://hlinksldjump"/>
          </p:cNvPr>
          <p:cNvPicPr/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09810" y="5638800"/>
            <a:ext cx="202039" cy="2730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Рисунок 9"/>
          <p:cNvPicPr/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105400" y="5638800"/>
            <a:ext cx="609600" cy="2730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Скругленный прямоугольник 13"/>
          <p:cNvSpPr/>
          <p:nvPr/>
        </p:nvSpPr>
        <p:spPr>
          <a:xfrm>
            <a:off x="859936" y="354054"/>
            <a:ext cx="7636404" cy="656967"/>
          </a:xfrm>
          <a:prstGeom prst="round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Алгоритмнинг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шифрлаш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жараёни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Скругленная прямоугольная выноска 3"/>
          <p:cNvSpPr/>
          <p:nvPr/>
        </p:nvSpPr>
        <p:spPr>
          <a:xfrm>
            <a:off x="1592041" y="3729428"/>
            <a:ext cx="6172199" cy="1582722"/>
          </a:xfrm>
          <a:prstGeom prst="wedgeRoundRectCallout">
            <a:avLst>
              <a:gd name="adj1" fmla="val 33300"/>
              <a:gd name="adj2" fmla="val -122926"/>
              <a:gd name="adj3" fmla="val 16667"/>
            </a:avLst>
          </a:prstGeom>
          <a:gradFill>
            <a:gsLst>
              <a:gs pos="10000">
                <a:schemeClr val="accent6">
                  <a:tint val="65000"/>
                  <a:lumMod val="110000"/>
                </a:schemeClr>
              </a:gs>
              <a:gs pos="88000">
                <a:schemeClr val="accent6">
                  <a:tint val="90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Объект 21"/>
              <p:cNvSpPr txBox="1"/>
              <p:nvPr/>
            </p:nvSpPr>
            <p:spPr>
              <a:xfrm>
                <a:off x="1863769" y="4680340"/>
                <a:ext cx="5610225" cy="5842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⊕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</m:acc>
                            </m:e>
                            <m: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=31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2" name="Объект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3769" y="4680340"/>
                <a:ext cx="5610225" cy="584200"/>
              </a:xfrm>
              <a:prstGeom prst="rect">
                <a:avLst/>
              </a:prstGeom>
              <a:blipFill>
                <a:blip r:embed="rId7"/>
                <a:stretch>
                  <a:fillRect t="-31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Объект 22"/>
              <p:cNvSpPr txBox="1"/>
              <p:nvPr/>
            </p:nvSpPr>
            <p:spPr>
              <a:xfrm>
                <a:off x="1873250" y="3906840"/>
                <a:ext cx="5608638" cy="53657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ru-R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⊕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ru-RU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ru-R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=0,…,30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3" name="Объект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3250" y="3906840"/>
                <a:ext cx="5608638" cy="5365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Скругленная прямоугольная выноска 23"/>
          <p:cNvSpPr/>
          <p:nvPr/>
        </p:nvSpPr>
        <p:spPr>
          <a:xfrm>
            <a:off x="601343" y="5999921"/>
            <a:ext cx="3089129" cy="433358"/>
          </a:xfrm>
          <a:prstGeom prst="wedgeRoundRectCallout">
            <a:avLst>
              <a:gd name="adj1" fmla="val 40013"/>
              <a:gd name="adj2" fmla="val -435702"/>
              <a:gd name="adj3" fmla="val 16667"/>
            </a:avLst>
          </a:prstGeom>
          <a:solidFill>
            <a:srgbClr val="FFFF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uz-Cyrl-UZ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чизиқли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акслантириш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43553" y="1583176"/>
            <a:ext cx="1653241" cy="50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510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4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4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4" grpId="0" uiExpan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214283" y="1214423"/>
            <a:ext cx="8715436" cy="5286412"/>
          </a:xfrm>
        </p:spPr>
        <p:txBody>
          <a:bodyPr/>
          <a:lstStyle/>
          <a:p>
            <a:pPr lvl="1">
              <a:lnSpc>
                <a:spcPct val="80000"/>
              </a:lnSpc>
              <a:buNone/>
            </a:pPr>
            <a:endParaRPr lang="en-US" sz="2900" dirty="0">
              <a:solidFill>
                <a:schemeClr val="tx2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7358083" y="6537329"/>
            <a:ext cx="1643075" cy="320675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SERPENT</a:t>
            </a:r>
          </a:p>
        </p:txBody>
      </p:sp>
      <p:pic>
        <p:nvPicPr>
          <p:cNvPr id="6" name="Рисунок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3" y="1214424"/>
            <a:ext cx="8715436" cy="4652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Скругленный прямоугольник 8"/>
          <p:cNvSpPr/>
          <p:nvPr/>
        </p:nvSpPr>
        <p:spPr>
          <a:xfrm>
            <a:off x="914400" y="140753"/>
            <a:ext cx="7636404" cy="656967"/>
          </a:xfrm>
          <a:prstGeom prst="round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Бошланғич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ўрин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алмаштириш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uz-Cyrl-UZ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952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964484"/>
            <a:ext cx="8715436" cy="5286412"/>
          </a:xfrm>
        </p:spPr>
        <p:txBody>
          <a:bodyPr/>
          <a:lstStyle/>
          <a:p>
            <a:pPr marL="0" lvl="1" indent="360363" algn="just">
              <a:lnSpc>
                <a:spcPct val="114000"/>
              </a:lnSpc>
              <a:spcBef>
                <a:spcPts val="600"/>
              </a:spcBef>
              <a:buNone/>
            </a:pP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Ҳар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бир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раундда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битта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S-блок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қўлланилади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алгоритмдаги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S-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блоклар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сони 8 та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бўлиб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(S0...S7)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32 раунд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шифрлаш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жараёнида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циклик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равишда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фойдаланилади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1" indent="360363" algn="ctr">
              <a:lnSpc>
                <a:spcPct val="80000"/>
              </a:lnSpc>
              <a:buNone/>
            </a:pP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dirty="0">
              <a:solidFill>
                <a:schemeClr val="tx2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dirty="0">
              <a:solidFill>
                <a:schemeClr val="tx2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dirty="0">
              <a:solidFill>
                <a:schemeClr val="tx2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dirty="0">
              <a:solidFill>
                <a:schemeClr val="tx2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dirty="0">
              <a:solidFill>
                <a:schemeClr val="tx2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dirty="0">
              <a:solidFill>
                <a:schemeClr val="tx2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dirty="0">
              <a:solidFill>
                <a:schemeClr val="tx2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dirty="0">
              <a:solidFill>
                <a:schemeClr val="tx2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dirty="0">
              <a:solidFill>
                <a:schemeClr val="tx2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dirty="0">
              <a:solidFill>
                <a:schemeClr val="tx2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dirty="0">
              <a:solidFill>
                <a:schemeClr val="tx2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dirty="0">
              <a:solidFill>
                <a:schemeClr val="tx2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dirty="0">
              <a:solidFill>
                <a:schemeClr val="tx2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dirty="0">
              <a:solidFill>
                <a:schemeClr val="tx2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7358083" y="6537329"/>
            <a:ext cx="1643075" cy="320675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SERPENT</a:t>
            </a:r>
          </a:p>
        </p:txBody>
      </p:sp>
      <p:pic>
        <p:nvPicPr>
          <p:cNvPr id="6" name="Рисунок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700" y="2590800"/>
            <a:ext cx="3967845" cy="232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Скругленный прямоугольник 7"/>
          <p:cNvSpPr/>
          <p:nvPr/>
        </p:nvSpPr>
        <p:spPr>
          <a:xfrm>
            <a:off x="914400" y="140753"/>
            <a:ext cx="7636404" cy="656967"/>
          </a:xfrm>
          <a:prstGeom prst="round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S-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блоклар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9629" y="2438402"/>
            <a:ext cx="5014231" cy="352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694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214283" y="1214424"/>
            <a:ext cx="8715436" cy="5491177"/>
          </a:xfrm>
        </p:spPr>
        <p:txBody>
          <a:bodyPr>
            <a:normAutofit/>
          </a:bodyPr>
          <a:lstStyle/>
          <a:p>
            <a:pPr marL="0" lvl="1" indent="360363" algn="just">
              <a:lnSpc>
                <a:spcPct val="80000"/>
              </a:lnSpc>
              <a:buNone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Чизиқли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акслантириш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32-битли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сўз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қуйидагича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акслантирилади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uz-Cyrl-U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360363" algn="just">
              <a:lnSpc>
                <a:spcPct val="80000"/>
              </a:lnSpc>
              <a:buNone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ерда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&lt;&lt;&lt;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битли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циклик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суриш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эса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битли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суриш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Охирги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раундда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ушбу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чизиқли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акслантириш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қўшимча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калитни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қўшиш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билан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алмаштирилади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2000" dirty="0"/>
          </a:p>
          <a:p>
            <a:pPr marL="0" lvl="1" indent="360363" algn="just">
              <a:lnSpc>
                <a:spcPct val="80000"/>
              </a:lnSpc>
              <a:buNone/>
            </a:pPr>
            <a:endParaRPr lang="ru-RU" sz="2000" dirty="0"/>
          </a:p>
          <a:p>
            <a:pPr marL="0" lvl="1" indent="360363" algn="just">
              <a:lnSpc>
                <a:spcPct val="80000"/>
              </a:lnSpc>
              <a:buNone/>
            </a:pPr>
            <a:endParaRPr lang="ru-RU" sz="2000" dirty="0"/>
          </a:p>
          <a:p>
            <a:pPr marL="0" lvl="1" indent="360363" algn="just">
              <a:lnSpc>
                <a:spcPct val="80000"/>
              </a:lnSpc>
              <a:buNone/>
            </a:pPr>
            <a:endParaRPr lang="ru-RU" sz="2000" dirty="0"/>
          </a:p>
          <a:p>
            <a:pPr marL="0" lvl="1" indent="360363" algn="just">
              <a:lnSpc>
                <a:spcPct val="80000"/>
              </a:lnSpc>
              <a:buNone/>
            </a:pP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914400" y="280344"/>
            <a:ext cx="7636404" cy="656967"/>
          </a:xfrm>
          <a:prstGeom prst="round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Чизиқли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акслантириш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LT</a:t>
            </a:r>
            <a:r>
              <a:rPr lang="uz-Cyrl-UZ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909" y="1676400"/>
            <a:ext cx="4038730" cy="3674203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96" y="6172202"/>
            <a:ext cx="3228282" cy="356749"/>
          </a:xfrm>
          <a:prstGeom prst="rect">
            <a:avLst/>
          </a:prstGeom>
        </p:spPr>
      </p:pic>
      <p:grpSp>
        <p:nvGrpSpPr>
          <p:cNvPr id="67600" name="Группа 67599">
            <a:extLst>
              <a:ext uri="{FF2B5EF4-FFF2-40B4-BE49-F238E27FC236}">
                <a16:creationId xmlns:a16="http://schemas.microsoft.com/office/drawing/2014/main" id="{CBA244D6-245E-101E-4778-F3AC78E9CF6A}"/>
              </a:ext>
            </a:extLst>
          </p:cNvPr>
          <p:cNvGrpSpPr/>
          <p:nvPr/>
        </p:nvGrpSpPr>
        <p:grpSpPr>
          <a:xfrm>
            <a:off x="5444896" y="1779402"/>
            <a:ext cx="2714765" cy="3484143"/>
            <a:chOff x="5444896" y="1779402"/>
            <a:chExt cx="2714765" cy="3484143"/>
          </a:xfrm>
        </p:grpSpPr>
        <p:grpSp>
          <p:nvGrpSpPr>
            <p:cNvPr id="67595" name="Группа 67594">
              <a:extLst>
                <a:ext uri="{FF2B5EF4-FFF2-40B4-BE49-F238E27FC236}">
                  <a16:creationId xmlns:a16="http://schemas.microsoft.com/office/drawing/2014/main" id="{4E32C065-BBE8-5B7B-9C44-7FE75B7E176E}"/>
                </a:ext>
              </a:extLst>
            </p:cNvPr>
            <p:cNvGrpSpPr/>
            <p:nvPr/>
          </p:nvGrpSpPr>
          <p:grpSpPr>
            <a:xfrm>
              <a:off x="5473870" y="1794867"/>
              <a:ext cx="2682180" cy="3468678"/>
              <a:chOff x="5424268" y="1676400"/>
              <a:chExt cx="2682180" cy="3492529"/>
            </a:xfrm>
          </p:grpSpPr>
          <p:pic>
            <p:nvPicPr>
              <p:cNvPr id="9" name="Рисунок 8"/>
              <p:cNvPicPr/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5424268" y="1692505"/>
                <a:ext cx="2682180" cy="34290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grpSp>
            <p:nvGrpSpPr>
              <p:cNvPr id="4" name="Группа 3">
                <a:extLst>
                  <a:ext uri="{FF2B5EF4-FFF2-40B4-BE49-F238E27FC236}">
                    <a16:creationId xmlns:a16="http://schemas.microsoft.com/office/drawing/2014/main" id="{2152EC02-7C60-B663-D1FD-51AC75D0F22E}"/>
                  </a:ext>
                </a:extLst>
              </p:cNvPr>
              <p:cNvGrpSpPr/>
              <p:nvPr/>
            </p:nvGrpSpPr>
            <p:grpSpPr>
              <a:xfrm>
                <a:off x="5424268" y="1676400"/>
                <a:ext cx="502737" cy="188412"/>
                <a:chOff x="6541907" y="961370"/>
                <a:chExt cx="502737" cy="188412"/>
              </a:xfrm>
            </p:grpSpPr>
            <p:sp>
              <p:nvSpPr>
                <p:cNvPr id="5" name="Прямоугольник 4">
                  <a:extLst>
                    <a:ext uri="{FF2B5EF4-FFF2-40B4-BE49-F238E27FC236}">
                      <a16:creationId xmlns:a16="http://schemas.microsoft.com/office/drawing/2014/main" id="{0C31D216-EEF7-D0E9-E80E-88E920483FC2}"/>
                    </a:ext>
                  </a:extLst>
                </p:cNvPr>
                <p:cNvSpPr/>
                <p:nvPr/>
              </p:nvSpPr>
              <p:spPr>
                <a:xfrm>
                  <a:off x="6541907" y="961370"/>
                  <a:ext cx="502737" cy="188412"/>
                </a:xfrm>
                <a:prstGeom prst="rect">
                  <a:avLst/>
                </a:prstGeom>
                <a:solidFill>
                  <a:srgbClr val="FFEF7F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b="1" baseline="-25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</a:t>
                  </a:r>
                  <a:endParaRPr lang="ru-RU" sz="1600" b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pic>
              <p:nvPicPr>
                <p:cNvPr id="6" name="Рисунок 5">
                  <a:extLst>
                    <a:ext uri="{FF2B5EF4-FFF2-40B4-BE49-F238E27FC236}">
                      <a16:creationId xmlns:a16="http://schemas.microsoft.com/office/drawing/2014/main" id="{CD60BFA7-986F-E695-CFFC-11A2652CAA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695881" y="967485"/>
                  <a:ext cx="212580" cy="173929"/>
                </a:xfrm>
                <a:prstGeom prst="rect">
                  <a:avLst/>
                </a:prstGeom>
              </p:spPr>
            </p:pic>
          </p:grpSp>
          <p:grpSp>
            <p:nvGrpSpPr>
              <p:cNvPr id="7" name="Группа 6">
                <a:extLst>
                  <a:ext uri="{FF2B5EF4-FFF2-40B4-BE49-F238E27FC236}">
                    <a16:creationId xmlns:a16="http://schemas.microsoft.com/office/drawing/2014/main" id="{22F1B816-F4E6-0345-3C20-881D524FFA51}"/>
                  </a:ext>
                </a:extLst>
              </p:cNvPr>
              <p:cNvGrpSpPr/>
              <p:nvPr/>
            </p:nvGrpSpPr>
            <p:grpSpPr>
              <a:xfrm>
                <a:off x="5424268" y="4980517"/>
                <a:ext cx="502737" cy="188412"/>
                <a:chOff x="6541907" y="961370"/>
                <a:chExt cx="502737" cy="188412"/>
              </a:xfrm>
            </p:grpSpPr>
            <p:sp>
              <p:nvSpPr>
                <p:cNvPr id="8" name="Прямоугольник 7">
                  <a:extLst>
                    <a:ext uri="{FF2B5EF4-FFF2-40B4-BE49-F238E27FC236}">
                      <a16:creationId xmlns:a16="http://schemas.microsoft.com/office/drawing/2014/main" id="{9CD37FDE-999F-B610-E53A-440AD11A8B0E}"/>
                    </a:ext>
                  </a:extLst>
                </p:cNvPr>
                <p:cNvSpPr/>
                <p:nvPr/>
              </p:nvSpPr>
              <p:spPr>
                <a:xfrm>
                  <a:off x="6541907" y="961370"/>
                  <a:ext cx="502737" cy="188412"/>
                </a:xfrm>
                <a:prstGeom prst="rect">
                  <a:avLst/>
                </a:prstGeom>
                <a:solidFill>
                  <a:srgbClr val="FFEF7F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b="1" baseline="-25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</a:t>
                  </a:r>
                  <a:endParaRPr lang="ru-RU" sz="1600" b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pic>
              <p:nvPicPr>
                <p:cNvPr id="11" name="Рисунок 10">
                  <a:extLst>
                    <a:ext uri="{FF2B5EF4-FFF2-40B4-BE49-F238E27FC236}">
                      <a16:creationId xmlns:a16="http://schemas.microsoft.com/office/drawing/2014/main" id="{001BEAAB-F5C2-CDFC-7250-3030B349DC9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695881" y="967485"/>
                  <a:ext cx="212580" cy="173929"/>
                </a:xfrm>
                <a:prstGeom prst="rect">
                  <a:avLst/>
                </a:prstGeom>
              </p:spPr>
            </p:pic>
          </p:grpSp>
          <p:grpSp>
            <p:nvGrpSpPr>
              <p:cNvPr id="12" name="Группа 11">
                <a:extLst>
                  <a:ext uri="{FF2B5EF4-FFF2-40B4-BE49-F238E27FC236}">
                    <a16:creationId xmlns:a16="http://schemas.microsoft.com/office/drawing/2014/main" id="{0F6C9DEA-CD9F-2686-FDD8-FA560D910F2A}"/>
                  </a:ext>
                </a:extLst>
              </p:cNvPr>
              <p:cNvGrpSpPr/>
              <p:nvPr/>
            </p:nvGrpSpPr>
            <p:grpSpPr>
              <a:xfrm>
                <a:off x="6150048" y="1682515"/>
                <a:ext cx="502737" cy="188412"/>
                <a:chOff x="7267687" y="967485"/>
                <a:chExt cx="502737" cy="188412"/>
              </a:xfrm>
            </p:grpSpPr>
            <p:grpSp>
              <p:nvGrpSpPr>
                <p:cNvPr id="13" name="Группа 12">
                  <a:extLst>
                    <a:ext uri="{FF2B5EF4-FFF2-40B4-BE49-F238E27FC236}">
                      <a16:creationId xmlns:a16="http://schemas.microsoft.com/office/drawing/2014/main" id="{C3542C7E-5B27-935A-BC90-9360972EC659}"/>
                    </a:ext>
                  </a:extLst>
                </p:cNvPr>
                <p:cNvGrpSpPr/>
                <p:nvPr/>
              </p:nvGrpSpPr>
              <p:grpSpPr>
                <a:xfrm>
                  <a:off x="7267687" y="967485"/>
                  <a:ext cx="502737" cy="188412"/>
                  <a:chOff x="6541907" y="961370"/>
                  <a:chExt cx="502737" cy="188412"/>
                </a:xfrm>
              </p:grpSpPr>
              <p:sp>
                <p:nvSpPr>
                  <p:cNvPr id="15" name="Прямоугольник 14">
                    <a:extLst>
                      <a:ext uri="{FF2B5EF4-FFF2-40B4-BE49-F238E27FC236}">
                        <a16:creationId xmlns:a16="http://schemas.microsoft.com/office/drawing/2014/main" id="{094C46B1-0BBE-68CA-1786-87DF579EAF27}"/>
                      </a:ext>
                    </a:extLst>
                  </p:cNvPr>
                  <p:cNvSpPr/>
                  <p:nvPr/>
                </p:nvSpPr>
                <p:spPr>
                  <a:xfrm>
                    <a:off x="6541907" y="961370"/>
                    <a:ext cx="502737" cy="188412"/>
                  </a:xfrm>
                  <a:prstGeom prst="rect">
                    <a:avLst/>
                  </a:prstGeom>
                  <a:solidFill>
                    <a:srgbClr val="FFEF7F"/>
                  </a:solidFill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b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x</a:t>
                    </a:r>
                    <a:endParaRPr lang="ru-RU" sz="1600" b="1" baseline="-25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pic>
                <p:nvPicPr>
                  <p:cNvPr id="16" name="Рисунок 15">
                    <a:extLst>
                      <a:ext uri="{FF2B5EF4-FFF2-40B4-BE49-F238E27FC236}">
                        <a16:creationId xmlns:a16="http://schemas.microsoft.com/office/drawing/2014/main" id="{25D81C6B-FC75-5F9F-5767-4A007A0851F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6695881" y="967485"/>
                    <a:ext cx="212580" cy="173929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4" name="Рисунок 13">
                  <a:extLst>
                    <a:ext uri="{FF2B5EF4-FFF2-40B4-BE49-F238E27FC236}">
                      <a16:creationId xmlns:a16="http://schemas.microsoft.com/office/drawing/2014/main" id="{EECAF1F5-F366-D346-9DE4-D19585E560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421661" y="973599"/>
                  <a:ext cx="214305" cy="173929"/>
                </a:xfrm>
                <a:prstGeom prst="rect">
                  <a:avLst/>
                </a:prstGeom>
              </p:spPr>
            </p:pic>
          </p:grpSp>
          <p:grpSp>
            <p:nvGrpSpPr>
              <p:cNvPr id="17" name="Группа 16">
                <a:extLst>
                  <a:ext uri="{FF2B5EF4-FFF2-40B4-BE49-F238E27FC236}">
                    <a16:creationId xmlns:a16="http://schemas.microsoft.com/office/drawing/2014/main" id="{4BED8C5E-494D-57A8-8552-D6F1602C762D}"/>
                  </a:ext>
                </a:extLst>
              </p:cNvPr>
              <p:cNvGrpSpPr/>
              <p:nvPr/>
            </p:nvGrpSpPr>
            <p:grpSpPr>
              <a:xfrm>
                <a:off x="6870481" y="1682515"/>
                <a:ext cx="502737" cy="188412"/>
                <a:chOff x="7988120" y="967485"/>
                <a:chExt cx="502737" cy="188412"/>
              </a:xfrm>
            </p:grpSpPr>
            <p:grpSp>
              <p:nvGrpSpPr>
                <p:cNvPr id="18" name="Группа 17">
                  <a:extLst>
                    <a:ext uri="{FF2B5EF4-FFF2-40B4-BE49-F238E27FC236}">
                      <a16:creationId xmlns:a16="http://schemas.microsoft.com/office/drawing/2014/main" id="{563D893A-F036-F3C6-8FEF-1D4442D88BAE}"/>
                    </a:ext>
                  </a:extLst>
                </p:cNvPr>
                <p:cNvGrpSpPr/>
                <p:nvPr/>
              </p:nvGrpSpPr>
              <p:grpSpPr>
                <a:xfrm>
                  <a:off x="7988120" y="967485"/>
                  <a:ext cx="502737" cy="188412"/>
                  <a:chOff x="6541907" y="961370"/>
                  <a:chExt cx="502737" cy="188412"/>
                </a:xfrm>
              </p:grpSpPr>
              <p:sp>
                <p:nvSpPr>
                  <p:cNvPr id="20" name="Прямоугольник 19">
                    <a:extLst>
                      <a:ext uri="{FF2B5EF4-FFF2-40B4-BE49-F238E27FC236}">
                        <a16:creationId xmlns:a16="http://schemas.microsoft.com/office/drawing/2014/main" id="{EDC8D47F-F7A7-27D5-A86C-47C655A06E0E}"/>
                      </a:ext>
                    </a:extLst>
                  </p:cNvPr>
                  <p:cNvSpPr/>
                  <p:nvPr/>
                </p:nvSpPr>
                <p:spPr>
                  <a:xfrm>
                    <a:off x="6541907" y="961370"/>
                    <a:ext cx="502737" cy="188412"/>
                  </a:xfrm>
                  <a:prstGeom prst="rect">
                    <a:avLst/>
                  </a:prstGeom>
                  <a:solidFill>
                    <a:srgbClr val="FFEF7F"/>
                  </a:solidFill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b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x</a:t>
                    </a:r>
                    <a:endParaRPr lang="ru-RU" sz="1600" b="1" baseline="-25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pic>
                <p:nvPicPr>
                  <p:cNvPr id="21" name="Рисунок 20">
                    <a:extLst>
                      <a:ext uri="{FF2B5EF4-FFF2-40B4-BE49-F238E27FC236}">
                        <a16:creationId xmlns:a16="http://schemas.microsoft.com/office/drawing/2014/main" id="{E6D546AF-FA6D-BF45-9602-B0F4757BB68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6695881" y="967485"/>
                    <a:ext cx="212580" cy="173929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9" name="Рисунок 18">
                  <a:extLst>
                    <a:ext uri="{FF2B5EF4-FFF2-40B4-BE49-F238E27FC236}">
                      <a16:creationId xmlns:a16="http://schemas.microsoft.com/office/drawing/2014/main" id="{E144122E-0B9C-B54B-6BA2-6A5EACED2A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142094" y="971934"/>
                  <a:ext cx="212580" cy="165029"/>
                </a:xfrm>
                <a:prstGeom prst="rect">
                  <a:avLst/>
                </a:prstGeom>
              </p:spPr>
            </p:pic>
          </p:grpSp>
          <p:grpSp>
            <p:nvGrpSpPr>
              <p:cNvPr id="22" name="Группа 21">
                <a:extLst>
                  <a:ext uri="{FF2B5EF4-FFF2-40B4-BE49-F238E27FC236}">
                    <a16:creationId xmlns:a16="http://schemas.microsoft.com/office/drawing/2014/main" id="{1EC28438-B46A-E189-BF31-3C0C8D1A5801}"/>
                  </a:ext>
                </a:extLst>
              </p:cNvPr>
              <p:cNvGrpSpPr/>
              <p:nvPr/>
            </p:nvGrpSpPr>
            <p:grpSpPr>
              <a:xfrm>
                <a:off x="7590914" y="1682515"/>
                <a:ext cx="502737" cy="188412"/>
                <a:chOff x="8708553" y="967485"/>
                <a:chExt cx="502737" cy="188412"/>
              </a:xfrm>
            </p:grpSpPr>
            <p:grpSp>
              <p:nvGrpSpPr>
                <p:cNvPr id="23" name="Группа 22">
                  <a:extLst>
                    <a:ext uri="{FF2B5EF4-FFF2-40B4-BE49-F238E27FC236}">
                      <a16:creationId xmlns:a16="http://schemas.microsoft.com/office/drawing/2014/main" id="{432BBD91-30B4-27A8-41E1-B9340CC2821E}"/>
                    </a:ext>
                  </a:extLst>
                </p:cNvPr>
                <p:cNvGrpSpPr/>
                <p:nvPr/>
              </p:nvGrpSpPr>
              <p:grpSpPr>
                <a:xfrm>
                  <a:off x="8708553" y="967485"/>
                  <a:ext cx="502737" cy="188412"/>
                  <a:chOff x="6541907" y="961370"/>
                  <a:chExt cx="502737" cy="188412"/>
                </a:xfrm>
              </p:grpSpPr>
              <p:sp>
                <p:nvSpPr>
                  <p:cNvPr id="25" name="Прямоугольник 24">
                    <a:extLst>
                      <a:ext uri="{FF2B5EF4-FFF2-40B4-BE49-F238E27FC236}">
                        <a16:creationId xmlns:a16="http://schemas.microsoft.com/office/drawing/2014/main" id="{2A7F4D55-21DA-9979-1259-E87626FA632B}"/>
                      </a:ext>
                    </a:extLst>
                  </p:cNvPr>
                  <p:cNvSpPr/>
                  <p:nvPr/>
                </p:nvSpPr>
                <p:spPr>
                  <a:xfrm>
                    <a:off x="6541907" y="961370"/>
                    <a:ext cx="502737" cy="188412"/>
                  </a:xfrm>
                  <a:prstGeom prst="rect">
                    <a:avLst/>
                  </a:prstGeom>
                  <a:solidFill>
                    <a:srgbClr val="FFEF7F"/>
                  </a:solidFill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b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x</a:t>
                    </a:r>
                    <a:endParaRPr lang="ru-RU" sz="1600" b="1" baseline="-25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pic>
                <p:nvPicPr>
                  <p:cNvPr id="26" name="Рисунок 25">
                    <a:extLst>
                      <a:ext uri="{FF2B5EF4-FFF2-40B4-BE49-F238E27FC236}">
                        <a16:creationId xmlns:a16="http://schemas.microsoft.com/office/drawing/2014/main" id="{1164244A-94B4-9C38-B932-9AEEF5DD3E7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6695881" y="967485"/>
                    <a:ext cx="212580" cy="173929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24" name="Рисунок 23">
                  <a:extLst>
                    <a:ext uri="{FF2B5EF4-FFF2-40B4-BE49-F238E27FC236}">
                      <a16:creationId xmlns:a16="http://schemas.microsoft.com/office/drawing/2014/main" id="{A45690DA-0CB4-912C-52A0-23C647200A9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862527" y="977476"/>
                  <a:ext cx="212580" cy="173929"/>
                </a:xfrm>
                <a:prstGeom prst="rect">
                  <a:avLst/>
                </a:prstGeom>
              </p:spPr>
            </p:pic>
          </p:grpSp>
          <p:grpSp>
            <p:nvGrpSpPr>
              <p:cNvPr id="27" name="Группа 26">
                <a:extLst>
                  <a:ext uri="{FF2B5EF4-FFF2-40B4-BE49-F238E27FC236}">
                    <a16:creationId xmlns:a16="http://schemas.microsoft.com/office/drawing/2014/main" id="{3D5C7133-3640-4605-B15D-0E7518062BF5}"/>
                  </a:ext>
                </a:extLst>
              </p:cNvPr>
              <p:cNvGrpSpPr/>
              <p:nvPr/>
            </p:nvGrpSpPr>
            <p:grpSpPr>
              <a:xfrm>
                <a:off x="6139786" y="4966654"/>
                <a:ext cx="502737" cy="188412"/>
                <a:chOff x="7267687" y="967485"/>
                <a:chExt cx="502737" cy="188412"/>
              </a:xfrm>
            </p:grpSpPr>
            <p:grpSp>
              <p:nvGrpSpPr>
                <p:cNvPr id="28" name="Группа 27">
                  <a:extLst>
                    <a:ext uri="{FF2B5EF4-FFF2-40B4-BE49-F238E27FC236}">
                      <a16:creationId xmlns:a16="http://schemas.microsoft.com/office/drawing/2014/main" id="{9752E398-CEEB-A138-E028-13265D78C402}"/>
                    </a:ext>
                  </a:extLst>
                </p:cNvPr>
                <p:cNvGrpSpPr/>
                <p:nvPr/>
              </p:nvGrpSpPr>
              <p:grpSpPr>
                <a:xfrm>
                  <a:off x="7267687" y="967485"/>
                  <a:ext cx="502737" cy="188412"/>
                  <a:chOff x="6541907" y="961370"/>
                  <a:chExt cx="502737" cy="188412"/>
                </a:xfrm>
              </p:grpSpPr>
              <p:sp>
                <p:nvSpPr>
                  <p:cNvPr id="30" name="Прямоугольник 29">
                    <a:extLst>
                      <a:ext uri="{FF2B5EF4-FFF2-40B4-BE49-F238E27FC236}">
                        <a16:creationId xmlns:a16="http://schemas.microsoft.com/office/drawing/2014/main" id="{4F1B18D9-54EC-135A-15A3-39ADDBF54106}"/>
                      </a:ext>
                    </a:extLst>
                  </p:cNvPr>
                  <p:cNvSpPr/>
                  <p:nvPr/>
                </p:nvSpPr>
                <p:spPr>
                  <a:xfrm>
                    <a:off x="6541907" y="961370"/>
                    <a:ext cx="502737" cy="188412"/>
                  </a:xfrm>
                  <a:prstGeom prst="rect">
                    <a:avLst/>
                  </a:prstGeom>
                  <a:solidFill>
                    <a:srgbClr val="FFEF7F"/>
                  </a:solidFill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b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x</a:t>
                    </a:r>
                    <a:endParaRPr lang="ru-RU" sz="1600" b="1" baseline="-25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pic>
                <p:nvPicPr>
                  <p:cNvPr id="31" name="Рисунок 30">
                    <a:extLst>
                      <a:ext uri="{FF2B5EF4-FFF2-40B4-BE49-F238E27FC236}">
                        <a16:creationId xmlns:a16="http://schemas.microsoft.com/office/drawing/2014/main" id="{3A3CECE6-4984-D457-7D7C-ADDB1FE7673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6695881" y="967485"/>
                    <a:ext cx="212580" cy="173929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29" name="Рисунок 28">
                  <a:extLst>
                    <a:ext uri="{FF2B5EF4-FFF2-40B4-BE49-F238E27FC236}">
                      <a16:creationId xmlns:a16="http://schemas.microsoft.com/office/drawing/2014/main" id="{C3A88E85-2BBA-71B4-BFAF-789CF4BE7D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421661" y="973599"/>
                  <a:ext cx="214305" cy="173929"/>
                </a:xfrm>
                <a:prstGeom prst="rect">
                  <a:avLst/>
                </a:prstGeom>
              </p:spPr>
            </p:pic>
          </p:grpSp>
          <p:grpSp>
            <p:nvGrpSpPr>
              <p:cNvPr id="67584" name="Группа 67583">
                <a:extLst>
                  <a:ext uri="{FF2B5EF4-FFF2-40B4-BE49-F238E27FC236}">
                    <a16:creationId xmlns:a16="http://schemas.microsoft.com/office/drawing/2014/main" id="{BD833681-1EAF-870E-79CB-72A71E46ECF0}"/>
                  </a:ext>
                </a:extLst>
              </p:cNvPr>
              <p:cNvGrpSpPr/>
              <p:nvPr/>
            </p:nvGrpSpPr>
            <p:grpSpPr>
              <a:xfrm>
                <a:off x="7024454" y="4969483"/>
                <a:ext cx="212580" cy="175595"/>
                <a:chOff x="8142094" y="971934"/>
                <a:chExt cx="212580" cy="175595"/>
              </a:xfrm>
            </p:grpSpPr>
            <p:pic>
              <p:nvPicPr>
                <p:cNvPr id="67589" name="Рисунок 67588">
                  <a:extLst>
                    <a:ext uri="{FF2B5EF4-FFF2-40B4-BE49-F238E27FC236}">
                      <a16:creationId xmlns:a16="http://schemas.microsoft.com/office/drawing/2014/main" id="{15C90D94-D125-6227-CC61-8DA3B5FC86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142094" y="973600"/>
                  <a:ext cx="212580" cy="173929"/>
                </a:xfrm>
                <a:prstGeom prst="rect">
                  <a:avLst/>
                </a:prstGeom>
              </p:spPr>
            </p:pic>
            <p:pic>
              <p:nvPicPr>
                <p:cNvPr id="67586" name="Рисунок 67585">
                  <a:extLst>
                    <a:ext uri="{FF2B5EF4-FFF2-40B4-BE49-F238E27FC236}">
                      <a16:creationId xmlns:a16="http://schemas.microsoft.com/office/drawing/2014/main" id="{6C6E4545-0814-E22F-D958-79AF7F48D3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142094" y="971934"/>
                  <a:ext cx="212580" cy="165029"/>
                </a:xfrm>
                <a:prstGeom prst="rect">
                  <a:avLst/>
                </a:prstGeom>
              </p:spPr>
            </p:pic>
          </p:grpSp>
          <p:grpSp>
            <p:nvGrpSpPr>
              <p:cNvPr id="67590" name="Группа 67589">
                <a:extLst>
                  <a:ext uri="{FF2B5EF4-FFF2-40B4-BE49-F238E27FC236}">
                    <a16:creationId xmlns:a16="http://schemas.microsoft.com/office/drawing/2014/main" id="{86CDD7E0-4DA9-98D1-A2CA-89FFED1C7652}"/>
                  </a:ext>
                </a:extLst>
              </p:cNvPr>
              <p:cNvGrpSpPr/>
              <p:nvPr/>
            </p:nvGrpSpPr>
            <p:grpSpPr>
              <a:xfrm>
                <a:off x="7585999" y="4970838"/>
                <a:ext cx="502737" cy="188412"/>
                <a:chOff x="8708553" y="967485"/>
                <a:chExt cx="502737" cy="188412"/>
              </a:xfrm>
            </p:grpSpPr>
            <p:grpSp>
              <p:nvGrpSpPr>
                <p:cNvPr id="67591" name="Группа 67590">
                  <a:extLst>
                    <a:ext uri="{FF2B5EF4-FFF2-40B4-BE49-F238E27FC236}">
                      <a16:creationId xmlns:a16="http://schemas.microsoft.com/office/drawing/2014/main" id="{B8A55DE7-F8ED-AD98-8B2F-43D9F4E03BFB}"/>
                    </a:ext>
                  </a:extLst>
                </p:cNvPr>
                <p:cNvGrpSpPr/>
                <p:nvPr/>
              </p:nvGrpSpPr>
              <p:grpSpPr>
                <a:xfrm>
                  <a:off x="8708553" y="967485"/>
                  <a:ext cx="502737" cy="188412"/>
                  <a:chOff x="6541907" y="961370"/>
                  <a:chExt cx="502737" cy="188412"/>
                </a:xfrm>
              </p:grpSpPr>
              <p:sp>
                <p:nvSpPr>
                  <p:cNvPr id="67593" name="Прямоугольник 67592">
                    <a:extLst>
                      <a:ext uri="{FF2B5EF4-FFF2-40B4-BE49-F238E27FC236}">
                        <a16:creationId xmlns:a16="http://schemas.microsoft.com/office/drawing/2014/main" id="{77AB486E-55CF-3D45-D770-6276581DA73C}"/>
                      </a:ext>
                    </a:extLst>
                  </p:cNvPr>
                  <p:cNvSpPr/>
                  <p:nvPr/>
                </p:nvSpPr>
                <p:spPr>
                  <a:xfrm>
                    <a:off x="6541907" y="961370"/>
                    <a:ext cx="502737" cy="188412"/>
                  </a:xfrm>
                  <a:prstGeom prst="rect">
                    <a:avLst/>
                  </a:prstGeom>
                  <a:solidFill>
                    <a:srgbClr val="FFEF7F"/>
                  </a:solidFill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b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x</a:t>
                    </a:r>
                    <a:endParaRPr lang="ru-RU" sz="1600" b="1" baseline="-25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pic>
                <p:nvPicPr>
                  <p:cNvPr id="67594" name="Рисунок 67593">
                    <a:extLst>
                      <a:ext uri="{FF2B5EF4-FFF2-40B4-BE49-F238E27FC236}">
                        <a16:creationId xmlns:a16="http://schemas.microsoft.com/office/drawing/2014/main" id="{E57F9BC1-DD9B-C2E0-0FC2-05B01881B14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6695881" y="967485"/>
                    <a:ext cx="212580" cy="173929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67592" name="Рисунок 67591">
                  <a:extLst>
                    <a:ext uri="{FF2B5EF4-FFF2-40B4-BE49-F238E27FC236}">
                      <a16:creationId xmlns:a16="http://schemas.microsoft.com/office/drawing/2014/main" id="{1BBF1467-12A0-B97D-51AD-FEF97ED1EC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862527" y="977476"/>
                  <a:ext cx="212580" cy="173929"/>
                </a:xfrm>
                <a:prstGeom prst="rect">
                  <a:avLst/>
                </a:prstGeom>
              </p:spPr>
            </p:pic>
          </p:grpSp>
        </p:grpSp>
        <p:pic>
          <p:nvPicPr>
            <p:cNvPr id="67597" name="Рисунок 67596">
              <a:extLst>
                <a:ext uri="{FF2B5EF4-FFF2-40B4-BE49-F238E27FC236}">
                  <a16:creationId xmlns:a16="http://schemas.microsoft.com/office/drawing/2014/main" id="{F7ADF50F-FD91-34F6-8D84-BBEFDA00764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4437" t="16186" r="2033" b="17753"/>
            <a:stretch/>
          </p:blipFill>
          <p:spPr>
            <a:xfrm>
              <a:off x="5480969" y="1779402"/>
              <a:ext cx="2678536" cy="212381"/>
            </a:xfrm>
            <a:prstGeom prst="rect">
              <a:avLst/>
            </a:prstGeom>
          </p:spPr>
        </p:pic>
        <p:pic>
          <p:nvPicPr>
            <p:cNvPr id="67599" name="Рисунок 67598">
              <a:extLst>
                <a:ext uri="{FF2B5EF4-FFF2-40B4-BE49-F238E27FC236}">
                  <a16:creationId xmlns:a16="http://schemas.microsoft.com/office/drawing/2014/main" id="{CFECE26A-7795-C73D-E547-B579B1F56A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l="1027" t="12446" r="1632" b="5560"/>
            <a:stretch/>
          </p:blipFill>
          <p:spPr>
            <a:xfrm>
              <a:off x="5444896" y="5057425"/>
              <a:ext cx="2714765" cy="2061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85203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214283" y="1214424"/>
            <a:ext cx="8715436" cy="5491177"/>
          </a:xfrm>
        </p:spPr>
        <p:txBody>
          <a:bodyPr>
            <a:normAutofit/>
          </a:bodyPr>
          <a:lstStyle/>
          <a:p>
            <a:pPr marL="0" lvl="1" indent="360363" algn="just">
              <a:lnSpc>
                <a:spcPct val="80000"/>
              </a:lnSpc>
              <a:buNone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Тескари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чизиқли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акслантириш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32-битли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сўз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қуйидагича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акслантирилади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uz-Cyrl-UZ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2000" dirty="0"/>
          </a:p>
          <a:p>
            <a:pPr marL="0" lvl="1" indent="360363" algn="just">
              <a:lnSpc>
                <a:spcPct val="80000"/>
              </a:lnSpc>
              <a:buNone/>
            </a:pPr>
            <a:endParaRPr lang="ru-RU" sz="2000" dirty="0"/>
          </a:p>
          <a:p>
            <a:pPr marL="0" lvl="1" indent="360363" algn="just">
              <a:lnSpc>
                <a:spcPct val="80000"/>
              </a:lnSpc>
              <a:buNone/>
            </a:pPr>
            <a:endParaRPr lang="ru-RU" sz="2000" dirty="0"/>
          </a:p>
          <a:p>
            <a:pPr marL="0" lvl="1" indent="360363" algn="just">
              <a:lnSpc>
                <a:spcPct val="80000"/>
              </a:lnSpc>
              <a:buNone/>
            </a:pPr>
            <a:endParaRPr lang="ru-RU" sz="2000" dirty="0"/>
          </a:p>
          <a:p>
            <a:pPr marL="0" lvl="1" indent="360363" algn="just">
              <a:lnSpc>
                <a:spcPct val="80000"/>
              </a:lnSpc>
              <a:buNone/>
            </a:pP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4" name="Скругленный прямоугольник 7">
            <a:extLst>
              <a:ext uri="{FF2B5EF4-FFF2-40B4-BE49-F238E27FC236}">
                <a16:creationId xmlns:a16="http://schemas.microsoft.com/office/drawing/2014/main" id="{9BC16B9F-9959-7766-A7AA-0A01B2BAC7D1}"/>
              </a:ext>
            </a:extLst>
          </p:cNvPr>
          <p:cNvSpPr/>
          <p:nvPr/>
        </p:nvSpPr>
        <p:spPr>
          <a:xfrm>
            <a:off x="838200" y="322148"/>
            <a:ext cx="7636404" cy="656967"/>
          </a:xfrm>
          <a:prstGeom prst="round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Тескари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чизиқли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акслантириш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ILT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7607" name="Рисунок 67606">
            <a:extLst>
              <a:ext uri="{FF2B5EF4-FFF2-40B4-BE49-F238E27FC236}">
                <a16:creationId xmlns:a16="http://schemas.microsoft.com/office/drawing/2014/main" id="{F44118B3-724A-9735-8ABA-E8DB691D63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1920248"/>
            <a:ext cx="2834640" cy="3468624"/>
          </a:xfrm>
          <a:prstGeom prst="rect">
            <a:avLst/>
          </a:prstGeom>
        </p:spPr>
      </p:pic>
      <p:sp>
        <p:nvSpPr>
          <p:cNvPr id="67684" name="Прямоугольник 67683">
            <a:extLst>
              <a:ext uri="{FF2B5EF4-FFF2-40B4-BE49-F238E27FC236}">
                <a16:creationId xmlns:a16="http://schemas.microsoft.com/office/drawing/2014/main" id="{351C0134-C19A-7B47-8FAB-14086A89A965}"/>
              </a:ext>
            </a:extLst>
          </p:cNvPr>
          <p:cNvSpPr/>
          <p:nvPr/>
        </p:nvSpPr>
        <p:spPr>
          <a:xfrm>
            <a:off x="5407784" y="1934443"/>
            <a:ext cx="502737" cy="188412"/>
          </a:xfrm>
          <a:prstGeom prst="rect">
            <a:avLst/>
          </a:prstGeom>
          <a:solidFill>
            <a:srgbClr val="FFEF7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600" b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7686" name="Группа 67685">
            <a:extLst>
              <a:ext uri="{FF2B5EF4-FFF2-40B4-BE49-F238E27FC236}">
                <a16:creationId xmlns:a16="http://schemas.microsoft.com/office/drawing/2014/main" id="{79E18E67-3E5E-FD34-83D4-419594B17669}"/>
              </a:ext>
            </a:extLst>
          </p:cNvPr>
          <p:cNvGrpSpPr/>
          <p:nvPr/>
        </p:nvGrpSpPr>
        <p:grpSpPr>
          <a:xfrm>
            <a:off x="5407784" y="5238560"/>
            <a:ext cx="502737" cy="188412"/>
            <a:chOff x="6541907" y="961370"/>
            <a:chExt cx="502737" cy="188412"/>
          </a:xfrm>
        </p:grpSpPr>
        <p:sp>
          <p:nvSpPr>
            <p:cNvPr id="67687" name="Прямоугольник 67686">
              <a:extLst>
                <a:ext uri="{FF2B5EF4-FFF2-40B4-BE49-F238E27FC236}">
                  <a16:creationId xmlns:a16="http://schemas.microsoft.com/office/drawing/2014/main" id="{B5BA9FD5-4629-8A3C-CC55-FD0B1EDF960F}"/>
                </a:ext>
              </a:extLst>
            </p:cNvPr>
            <p:cNvSpPr/>
            <p:nvPr/>
          </p:nvSpPr>
          <p:spPr>
            <a:xfrm>
              <a:off x="6541907" y="961370"/>
              <a:ext cx="502737" cy="188412"/>
            </a:xfrm>
            <a:prstGeom prst="rect">
              <a:avLst/>
            </a:prstGeom>
            <a:solidFill>
              <a:srgbClr val="FFEF7F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16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67688" name="Рисунок 67687" hidden="1">
              <a:extLst>
                <a:ext uri="{FF2B5EF4-FFF2-40B4-BE49-F238E27FC236}">
                  <a16:creationId xmlns:a16="http://schemas.microsoft.com/office/drawing/2014/main" id="{4FDD19E9-A501-F33F-2ECC-6FB9C53D64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95881" y="967485"/>
              <a:ext cx="212580" cy="173929"/>
            </a:xfrm>
            <a:prstGeom prst="rect">
              <a:avLst/>
            </a:prstGeom>
          </p:spPr>
        </p:pic>
      </p:grpSp>
      <p:sp>
        <p:nvSpPr>
          <p:cNvPr id="67692" name="Прямоугольник 67691">
            <a:extLst>
              <a:ext uri="{FF2B5EF4-FFF2-40B4-BE49-F238E27FC236}">
                <a16:creationId xmlns:a16="http://schemas.microsoft.com/office/drawing/2014/main" id="{50D1EEF7-047B-47A8-532E-AA694850710F}"/>
              </a:ext>
            </a:extLst>
          </p:cNvPr>
          <p:cNvSpPr/>
          <p:nvPr/>
        </p:nvSpPr>
        <p:spPr>
          <a:xfrm>
            <a:off x="6147466" y="1940558"/>
            <a:ext cx="502737" cy="188412"/>
          </a:xfrm>
          <a:prstGeom prst="rect">
            <a:avLst/>
          </a:prstGeom>
          <a:solidFill>
            <a:srgbClr val="FFEF7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600" b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697" name="Прямоугольник 67696">
            <a:extLst>
              <a:ext uri="{FF2B5EF4-FFF2-40B4-BE49-F238E27FC236}">
                <a16:creationId xmlns:a16="http://schemas.microsoft.com/office/drawing/2014/main" id="{DCA2D976-3E33-B8B3-FE09-E4C1A6D299A9}"/>
              </a:ext>
            </a:extLst>
          </p:cNvPr>
          <p:cNvSpPr/>
          <p:nvPr/>
        </p:nvSpPr>
        <p:spPr>
          <a:xfrm>
            <a:off x="6853997" y="1940558"/>
            <a:ext cx="502737" cy="188412"/>
          </a:xfrm>
          <a:prstGeom prst="rect">
            <a:avLst/>
          </a:prstGeom>
          <a:solidFill>
            <a:srgbClr val="FFEF7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600" b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702" name="Прямоугольник 67701">
            <a:extLst>
              <a:ext uri="{FF2B5EF4-FFF2-40B4-BE49-F238E27FC236}">
                <a16:creationId xmlns:a16="http://schemas.microsoft.com/office/drawing/2014/main" id="{7F06D94E-D809-363D-1D93-F7EFC8A131FE}"/>
              </a:ext>
            </a:extLst>
          </p:cNvPr>
          <p:cNvSpPr/>
          <p:nvPr/>
        </p:nvSpPr>
        <p:spPr>
          <a:xfrm>
            <a:off x="7574430" y="1940558"/>
            <a:ext cx="502737" cy="188412"/>
          </a:xfrm>
          <a:prstGeom prst="rect">
            <a:avLst/>
          </a:prstGeom>
          <a:solidFill>
            <a:srgbClr val="FFEF7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600" b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7704" name="Группа 67703">
            <a:extLst>
              <a:ext uri="{FF2B5EF4-FFF2-40B4-BE49-F238E27FC236}">
                <a16:creationId xmlns:a16="http://schemas.microsoft.com/office/drawing/2014/main" id="{4600B0DE-BE43-E23E-8621-414F6FD26F92}"/>
              </a:ext>
            </a:extLst>
          </p:cNvPr>
          <p:cNvGrpSpPr/>
          <p:nvPr/>
        </p:nvGrpSpPr>
        <p:grpSpPr>
          <a:xfrm>
            <a:off x="6123302" y="5224697"/>
            <a:ext cx="502737" cy="188412"/>
            <a:chOff x="7267687" y="967485"/>
            <a:chExt cx="502737" cy="188412"/>
          </a:xfrm>
        </p:grpSpPr>
        <p:grpSp>
          <p:nvGrpSpPr>
            <p:cNvPr id="67705" name="Группа 67704">
              <a:extLst>
                <a:ext uri="{FF2B5EF4-FFF2-40B4-BE49-F238E27FC236}">
                  <a16:creationId xmlns:a16="http://schemas.microsoft.com/office/drawing/2014/main" id="{1D00F8A1-D691-2C7D-2866-44916E5A36A9}"/>
                </a:ext>
              </a:extLst>
            </p:cNvPr>
            <p:cNvGrpSpPr/>
            <p:nvPr/>
          </p:nvGrpSpPr>
          <p:grpSpPr>
            <a:xfrm>
              <a:off x="7267687" y="967485"/>
              <a:ext cx="502737" cy="188412"/>
              <a:chOff x="6541907" y="961370"/>
              <a:chExt cx="502737" cy="188412"/>
            </a:xfrm>
          </p:grpSpPr>
          <p:sp>
            <p:nvSpPr>
              <p:cNvPr id="67707" name="Прямоугольник 67706">
                <a:extLst>
                  <a:ext uri="{FF2B5EF4-FFF2-40B4-BE49-F238E27FC236}">
                    <a16:creationId xmlns:a16="http://schemas.microsoft.com/office/drawing/2014/main" id="{21CF55BA-4BFA-68D2-62A9-9460CCD4FCBC}"/>
                  </a:ext>
                </a:extLst>
              </p:cNvPr>
              <p:cNvSpPr/>
              <p:nvPr/>
            </p:nvSpPr>
            <p:spPr>
              <a:xfrm>
                <a:off x="6541907" y="961370"/>
                <a:ext cx="502737" cy="188412"/>
              </a:xfrm>
              <a:prstGeom prst="rect">
                <a:avLst/>
              </a:prstGeom>
              <a:solidFill>
                <a:srgbClr val="FFEF7F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sz="16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67708" name="Рисунок 67707" hidden="1">
                <a:extLst>
                  <a:ext uri="{FF2B5EF4-FFF2-40B4-BE49-F238E27FC236}">
                    <a16:creationId xmlns:a16="http://schemas.microsoft.com/office/drawing/2014/main" id="{091D4ED3-46EA-3FC1-C506-A31989B085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95881" y="967485"/>
                <a:ext cx="212580" cy="173929"/>
              </a:xfrm>
              <a:prstGeom prst="rect">
                <a:avLst/>
              </a:prstGeom>
            </p:spPr>
          </p:pic>
        </p:grpSp>
        <p:pic>
          <p:nvPicPr>
            <p:cNvPr id="67706" name="Рисунок 67705" hidden="1">
              <a:extLst>
                <a:ext uri="{FF2B5EF4-FFF2-40B4-BE49-F238E27FC236}">
                  <a16:creationId xmlns:a16="http://schemas.microsoft.com/office/drawing/2014/main" id="{4495C6FD-F8E1-B4C7-F7D1-ED538A6DFD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21661" y="973599"/>
              <a:ext cx="214305" cy="173929"/>
            </a:xfrm>
            <a:prstGeom prst="rect">
              <a:avLst/>
            </a:prstGeom>
          </p:spPr>
        </p:pic>
      </p:grpSp>
      <p:grpSp>
        <p:nvGrpSpPr>
          <p:cNvPr id="67709" name="Группа 67708">
            <a:extLst>
              <a:ext uri="{FF2B5EF4-FFF2-40B4-BE49-F238E27FC236}">
                <a16:creationId xmlns:a16="http://schemas.microsoft.com/office/drawing/2014/main" id="{964AC645-40CD-B5C1-3C78-8F09D01AC332}"/>
              </a:ext>
            </a:extLst>
          </p:cNvPr>
          <p:cNvGrpSpPr/>
          <p:nvPr/>
        </p:nvGrpSpPr>
        <p:grpSpPr>
          <a:xfrm>
            <a:off x="6872002" y="5232168"/>
            <a:ext cx="502737" cy="188412"/>
            <a:chOff x="7988120" y="967485"/>
            <a:chExt cx="502737" cy="188412"/>
          </a:xfrm>
        </p:grpSpPr>
        <p:grpSp>
          <p:nvGrpSpPr>
            <p:cNvPr id="67710" name="Группа 67709">
              <a:extLst>
                <a:ext uri="{FF2B5EF4-FFF2-40B4-BE49-F238E27FC236}">
                  <a16:creationId xmlns:a16="http://schemas.microsoft.com/office/drawing/2014/main" id="{BAC63C89-263D-859E-8243-3914684821CE}"/>
                </a:ext>
              </a:extLst>
            </p:cNvPr>
            <p:cNvGrpSpPr/>
            <p:nvPr/>
          </p:nvGrpSpPr>
          <p:grpSpPr>
            <a:xfrm>
              <a:off x="7988120" y="967485"/>
              <a:ext cx="502737" cy="188412"/>
              <a:chOff x="6541907" y="961370"/>
              <a:chExt cx="502737" cy="188412"/>
            </a:xfrm>
          </p:grpSpPr>
          <p:sp>
            <p:nvSpPr>
              <p:cNvPr id="67712" name="Прямоугольник 67711">
                <a:extLst>
                  <a:ext uri="{FF2B5EF4-FFF2-40B4-BE49-F238E27FC236}">
                    <a16:creationId xmlns:a16="http://schemas.microsoft.com/office/drawing/2014/main" id="{3239DCD7-87E5-B2F2-5B9A-41CA728EF86F}"/>
                  </a:ext>
                </a:extLst>
              </p:cNvPr>
              <p:cNvSpPr/>
              <p:nvPr/>
            </p:nvSpPr>
            <p:spPr>
              <a:xfrm>
                <a:off x="6541907" y="961370"/>
                <a:ext cx="502737" cy="188412"/>
              </a:xfrm>
              <a:prstGeom prst="rect">
                <a:avLst/>
              </a:prstGeom>
              <a:solidFill>
                <a:srgbClr val="FFEF7F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sz="16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67713" name="Рисунок 67712" hidden="1">
                <a:extLst>
                  <a:ext uri="{FF2B5EF4-FFF2-40B4-BE49-F238E27FC236}">
                    <a16:creationId xmlns:a16="http://schemas.microsoft.com/office/drawing/2014/main" id="{DCB73DEF-A584-3E95-582D-8E920926AD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95881" y="967485"/>
                <a:ext cx="212580" cy="173929"/>
              </a:xfrm>
              <a:prstGeom prst="rect">
                <a:avLst/>
              </a:prstGeom>
            </p:spPr>
          </p:pic>
        </p:grpSp>
        <p:pic>
          <p:nvPicPr>
            <p:cNvPr id="67711" name="Рисунок 67710" hidden="1">
              <a:extLst>
                <a:ext uri="{FF2B5EF4-FFF2-40B4-BE49-F238E27FC236}">
                  <a16:creationId xmlns:a16="http://schemas.microsoft.com/office/drawing/2014/main" id="{9052E0E0-66FB-F40D-5790-D3C67E65500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42094" y="971934"/>
              <a:ext cx="212580" cy="165029"/>
            </a:xfrm>
            <a:prstGeom prst="rect">
              <a:avLst/>
            </a:prstGeom>
          </p:spPr>
        </p:pic>
      </p:grpSp>
      <p:grpSp>
        <p:nvGrpSpPr>
          <p:cNvPr id="67714" name="Группа 67713">
            <a:extLst>
              <a:ext uri="{FF2B5EF4-FFF2-40B4-BE49-F238E27FC236}">
                <a16:creationId xmlns:a16="http://schemas.microsoft.com/office/drawing/2014/main" id="{6F1B9551-EA66-6839-4E0E-4C62D7D1AB9B}"/>
              </a:ext>
            </a:extLst>
          </p:cNvPr>
          <p:cNvGrpSpPr/>
          <p:nvPr/>
        </p:nvGrpSpPr>
        <p:grpSpPr>
          <a:xfrm>
            <a:off x="7569515" y="5228881"/>
            <a:ext cx="502737" cy="188412"/>
            <a:chOff x="8708553" y="967485"/>
            <a:chExt cx="502737" cy="188412"/>
          </a:xfrm>
        </p:grpSpPr>
        <p:grpSp>
          <p:nvGrpSpPr>
            <p:cNvPr id="67715" name="Группа 67714">
              <a:extLst>
                <a:ext uri="{FF2B5EF4-FFF2-40B4-BE49-F238E27FC236}">
                  <a16:creationId xmlns:a16="http://schemas.microsoft.com/office/drawing/2014/main" id="{DA636E77-D44F-AA47-5BD2-2841080DFFC7}"/>
                </a:ext>
              </a:extLst>
            </p:cNvPr>
            <p:cNvGrpSpPr/>
            <p:nvPr/>
          </p:nvGrpSpPr>
          <p:grpSpPr>
            <a:xfrm>
              <a:off x="8708553" y="967485"/>
              <a:ext cx="502737" cy="188412"/>
              <a:chOff x="6541907" y="961370"/>
              <a:chExt cx="502737" cy="188412"/>
            </a:xfrm>
          </p:grpSpPr>
          <p:sp>
            <p:nvSpPr>
              <p:cNvPr id="67717" name="Прямоугольник 67716">
                <a:extLst>
                  <a:ext uri="{FF2B5EF4-FFF2-40B4-BE49-F238E27FC236}">
                    <a16:creationId xmlns:a16="http://schemas.microsoft.com/office/drawing/2014/main" id="{58359C2B-F6A8-FE0E-BC7C-4CA505F75FBD}"/>
                  </a:ext>
                </a:extLst>
              </p:cNvPr>
              <p:cNvSpPr/>
              <p:nvPr/>
            </p:nvSpPr>
            <p:spPr>
              <a:xfrm>
                <a:off x="6541907" y="961370"/>
                <a:ext cx="502737" cy="188412"/>
              </a:xfrm>
              <a:prstGeom prst="rect">
                <a:avLst/>
              </a:prstGeom>
              <a:solidFill>
                <a:srgbClr val="FFEF7F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sz="16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67718" name="Рисунок 67717" hidden="1">
                <a:extLst>
                  <a:ext uri="{FF2B5EF4-FFF2-40B4-BE49-F238E27FC236}">
                    <a16:creationId xmlns:a16="http://schemas.microsoft.com/office/drawing/2014/main" id="{AD6CDDAD-5050-A92B-543E-846B79344F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95881" y="967485"/>
                <a:ext cx="212580" cy="173929"/>
              </a:xfrm>
              <a:prstGeom prst="rect">
                <a:avLst/>
              </a:prstGeom>
            </p:spPr>
          </p:pic>
        </p:grpSp>
        <p:pic>
          <p:nvPicPr>
            <p:cNvPr id="67716" name="Рисунок 67715" hidden="1">
              <a:extLst>
                <a:ext uri="{FF2B5EF4-FFF2-40B4-BE49-F238E27FC236}">
                  <a16:creationId xmlns:a16="http://schemas.microsoft.com/office/drawing/2014/main" id="{FEC688C1-DE7E-8BEB-51FE-7F9E7BBC82D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62527" y="977476"/>
              <a:ext cx="212580" cy="173929"/>
            </a:xfrm>
            <a:prstGeom prst="rect">
              <a:avLst/>
            </a:prstGeom>
          </p:spPr>
        </p:pic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0B0B1EBC-DE96-CC1B-014D-464693BAB0AA}"/>
              </a:ext>
            </a:extLst>
          </p:cNvPr>
          <p:cNvGrpSpPr/>
          <p:nvPr/>
        </p:nvGrpSpPr>
        <p:grpSpPr>
          <a:xfrm>
            <a:off x="378061" y="1923012"/>
            <a:ext cx="4098472" cy="3362646"/>
            <a:chOff x="370668" y="1945007"/>
            <a:chExt cx="4098472" cy="3362646"/>
          </a:xfrm>
        </p:grpSpPr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D20ECAE9-86D4-E392-AEEC-5CA1946A0ED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51616" y="4741954"/>
              <a:ext cx="2347584" cy="285096"/>
            </a:xfrm>
            <a:prstGeom prst="rect">
              <a:avLst/>
            </a:prstGeom>
          </p:spPr>
        </p:pic>
        <p:grpSp>
          <p:nvGrpSpPr>
            <p:cNvPr id="23" name="Группа 22">
              <a:extLst>
                <a:ext uri="{FF2B5EF4-FFF2-40B4-BE49-F238E27FC236}">
                  <a16:creationId xmlns:a16="http://schemas.microsoft.com/office/drawing/2014/main" id="{951917FF-5670-C5F4-E95F-2898E50C06EF}"/>
                </a:ext>
              </a:extLst>
            </p:cNvPr>
            <p:cNvGrpSpPr/>
            <p:nvPr/>
          </p:nvGrpSpPr>
          <p:grpSpPr>
            <a:xfrm>
              <a:off x="370668" y="1945007"/>
              <a:ext cx="4098472" cy="3362646"/>
              <a:chOff x="370668" y="1945007"/>
              <a:chExt cx="4098472" cy="3362646"/>
            </a:xfrm>
          </p:grpSpPr>
          <p:grpSp>
            <p:nvGrpSpPr>
              <p:cNvPr id="67751" name="Группа 67750">
                <a:extLst>
                  <a:ext uri="{FF2B5EF4-FFF2-40B4-BE49-F238E27FC236}">
                    <a16:creationId xmlns:a16="http://schemas.microsoft.com/office/drawing/2014/main" id="{9C6922D4-EE44-32BB-1FDC-0C7BDA095352}"/>
                  </a:ext>
                </a:extLst>
              </p:cNvPr>
              <p:cNvGrpSpPr/>
              <p:nvPr/>
            </p:nvGrpSpPr>
            <p:grpSpPr>
              <a:xfrm>
                <a:off x="370668" y="1945007"/>
                <a:ext cx="4098472" cy="3362646"/>
                <a:chOff x="612115" y="1814028"/>
                <a:chExt cx="4098472" cy="3362646"/>
              </a:xfrm>
            </p:grpSpPr>
            <p:pic>
              <p:nvPicPr>
                <p:cNvPr id="2" name="Рисунок 1"/>
                <p:cNvPicPr>
                  <a:picLocks noChangeAspect="1"/>
                </p:cNvPicPr>
                <p:nvPr/>
              </p:nvPicPr>
              <p:blipFill rotWithShape="1">
                <a:blip r:embed="rId8"/>
                <a:srcRect t="14595" b="77109"/>
                <a:stretch/>
              </p:blipFill>
              <p:spPr>
                <a:xfrm>
                  <a:off x="671857" y="4871874"/>
                  <a:ext cx="4038730" cy="304800"/>
                </a:xfrm>
                <a:prstGeom prst="rect">
                  <a:avLst/>
                </a:prstGeom>
              </p:spPr>
            </p:pic>
            <p:pic>
              <p:nvPicPr>
                <p:cNvPr id="67731" name="Рисунок 67730">
                  <a:extLst>
                    <a:ext uri="{FF2B5EF4-FFF2-40B4-BE49-F238E27FC236}">
                      <a16:creationId xmlns:a16="http://schemas.microsoft.com/office/drawing/2014/main" id="{C6BB1D66-DB3B-DF06-193F-83DE157F44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8"/>
                <a:srcRect t="80246" b="11936"/>
                <a:stretch/>
              </p:blipFill>
              <p:spPr>
                <a:xfrm>
                  <a:off x="617672" y="1814028"/>
                  <a:ext cx="4038730" cy="287228"/>
                </a:xfrm>
                <a:prstGeom prst="rect">
                  <a:avLst/>
                </a:prstGeom>
              </p:spPr>
            </p:pic>
            <p:pic>
              <p:nvPicPr>
                <p:cNvPr id="67732" name="Рисунок 67731">
                  <a:extLst>
                    <a:ext uri="{FF2B5EF4-FFF2-40B4-BE49-F238E27FC236}">
                      <a16:creationId xmlns:a16="http://schemas.microsoft.com/office/drawing/2014/main" id="{726D008D-BCFF-EE42-DEDF-2D2FE90EC5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8"/>
                <a:srcRect t="72587" b="19117"/>
                <a:stretch/>
              </p:blipFill>
              <p:spPr>
                <a:xfrm>
                  <a:off x="616348" y="2121027"/>
                  <a:ext cx="4038730" cy="304800"/>
                </a:xfrm>
                <a:prstGeom prst="rect">
                  <a:avLst/>
                </a:prstGeom>
              </p:spPr>
            </p:pic>
            <p:pic>
              <p:nvPicPr>
                <p:cNvPr id="67734" name="Рисунок 67733">
                  <a:extLst>
                    <a:ext uri="{FF2B5EF4-FFF2-40B4-BE49-F238E27FC236}">
                      <a16:creationId xmlns:a16="http://schemas.microsoft.com/office/drawing/2014/main" id="{2980EFB1-1C16-3329-CD06-910DFB2C46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8"/>
                <a:srcRect t="65598" b="26107"/>
                <a:stretch/>
              </p:blipFill>
              <p:spPr>
                <a:xfrm>
                  <a:off x="616348" y="2508735"/>
                  <a:ext cx="4038730" cy="304801"/>
                </a:xfrm>
                <a:prstGeom prst="rect">
                  <a:avLst/>
                </a:prstGeom>
              </p:spPr>
            </p:pic>
            <p:pic>
              <p:nvPicPr>
                <p:cNvPr id="67735" name="Рисунок 67734">
                  <a:extLst>
                    <a:ext uri="{FF2B5EF4-FFF2-40B4-BE49-F238E27FC236}">
                      <a16:creationId xmlns:a16="http://schemas.microsoft.com/office/drawing/2014/main" id="{F545A8F8-3AA0-A5D4-724A-EF7A5F0C76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8"/>
                <a:srcRect l="-231" t="58665" r="231" b="34171"/>
                <a:stretch/>
              </p:blipFill>
              <p:spPr>
                <a:xfrm>
                  <a:off x="616348" y="2899184"/>
                  <a:ext cx="4038730" cy="263222"/>
                </a:xfrm>
                <a:prstGeom prst="rect">
                  <a:avLst/>
                </a:prstGeom>
              </p:spPr>
            </p:pic>
            <p:pic>
              <p:nvPicPr>
                <p:cNvPr id="67736" name="Рисунок 67735">
                  <a:extLst>
                    <a:ext uri="{FF2B5EF4-FFF2-40B4-BE49-F238E27FC236}">
                      <a16:creationId xmlns:a16="http://schemas.microsoft.com/office/drawing/2014/main" id="{256A286C-E8DC-94ED-64D4-7B81F4CE457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8"/>
                <a:srcRect l="-37" t="51384" r="37" b="41714"/>
                <a:stretch/>
              </p:blipFill>
              <p:spPr>
                <a:xfrm>
                  <a:off x="612115" y="3247400"/>
                  <a:ext cx="4038730" cy="253567"/>
                </a:xfrm>
                <a:prstGeom prst="rect">
                  <a:avLst/>
                </a:prstGeom>
              </p:spPr>
            </p:pic>
            <p:pic>
              <p:nvPicPr>
                <p:cNvPr id="67737" name="Рисунок 67736">
                  <a:extLst>
                    <a:ext uri="{FF2B5EF4-FFF2-40B4-BE49-F238E27FC236}">
                      <a16:creationId xmlns:a16="http://schemas.microsoft.com/office/drawing/2014/main" id="{4C543EA9-D5DA-B554-E587-3C21649F64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8"/>
                <a:srcRect t="44511" b="48473"/>
                <a:stretch/>
              </p:blipFill>
              <p:spPr>
                <a:xfrm>
                  <a:off x="612115" y="3607376"/>
                  <a:ext cx="4038730" cy="257800"/>
                </a:xfrm>
                <a:prstGeom prst="rect">
                  <a:avLst/>
                </a:prstGeom>
              </p:spPr>
            </p:pic>
            <p:pic>
              <p:nvPicPr>
                <p:cNvPr id="67738" name="Рисунок 67737">
                  <a:extLst>
                    <a:ext uri="{FF2B5EF4-FFF2-40B4-BE49-F238E27FC236}">
                      <a16:creationId xmlns:a16="http://schemas.microsoft.com/office/drawing/2014/main" id="{7E3F1B95-109C-0AA8-204D-A800F3D3EC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8"/>
                <a:srcRect l="127" t="36283" r="-127" b="55421"/>
                <a:stretch/>
              </p:blipFill>
              <p:spPr>
                <a:xfrm>
                  <a:off x="612115" y="3953302"/>
                  <a:ext cx="4038730" cy="304800"/>
                </a:xfrm>
                <a:prstGeom prst="rect">
                  <a:avLst/>
                </a:prstGeom>
              </p:spPr>
            </p:pic>
            <p:pic>
              <p:nvPicPr>
                <p:cNvPr id="67739" name="Рисунок 67738">
                  <a:extLst>
                    <a:ext uri="{FF2B5EF4-FFF2-40B4-BE49-F238E27FC236}">
                      <a16:creationId xmlns:a16="http://schemas.microsoft.com/office/drawing/2014/main" id="{1CBEA17F-068A-27E8-87A8-18E3074043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8"/>
                <a:srcRect l="248" t="29186" r="-248" b="62518"/>
                <a:stretch/>
              </p:blipFill>
              <p:spPr>
                <a:xfrm>
                  <a:off x="612115" y="4291911"/>
                  <a:ext cx="4038730" cy="304801"/>
                </a:xfrm>
                <a:prstGeom prst="rect">
                  <a:avLst/>
                </a:prstGeom>
              </p:spPr>
            </p:pic>
          </p:grpSp>
          <p:pic>
            <p:nvPicPr>
              <p:cNvPr id="5" name="Рисунок 4">
                <a:extLst>
                  <a:ext uri="{FF2B5EF4-FFF2-40B4-BE49-F238E27FC236}">
                    <a16:creationId xmlns:a16="http://schemas.microsoft.com/office/drawing/2014/main" id="{75A1BCC6-5CE3-5B99-599B-1D782060DB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 flipH="1">
                <a:off x="1981200" y="1981759"/>
                <a:ext cx="648734" cy="217859"/>
              </a:xfrm>
              <a:prstGeom prst="rect">
                <a:avLst/>
              </a:prstGeom>
            </p:spPr>
          </p:pic>
          <p:pic>
            <p:nvPicPr>
              <p:cNvPr id="6" name="Рисунок 5">
                <a:extLst>
                  <a:ext uri="{FF2B5EF4-FFF2-40B4-BE49-F238E27FC236}">
                    <a16:creationId xmlns:a16="http://schemas.microsoft.com/office/drawing/2014/main" id="{AF2E8A4D-F9C0-773E-18B1-8D5542E62C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 flipH="1">
                <a:off x="1981200" y="2292928"/>
                <a:ext cx="648734" cy="217859"/>
              </a:xfrm>
              <a:prstGeom prst="rect">
                <a:avLst/>
              </a:prstGeom>
            </p:spPr>
          </p:pic>
          <p:pic>
            <p:nvPicPr>
              <p:cNvPr id="7" name="Рисунок 6">
                <a:extLst>
                  <a:ext uri="{FF2B5EF4-FFF2-40B4-BE49-F238E27FC236}">
                    <a16:creationId xmlns:a16="http://schemas.microsoft.com/office/drawing/2014/main" id="{5480777E-0040-0681-8007-AC72DB06AA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 flipH="1">
                <a:off x="1962150" y="3404117"/>
                <a:ext cx="648734" cy="217859"/>
              </a:xfrm>
              <a:prstGeom prst="rect">
                <a:avLst/>
              </a:prstGeom>
            </p:spPr>
          </p:pic>
          <p:pic>
            <p:nvPicPr>
              <p:cNvPr id="8" name="Рисунок 7">
                <a:extLst>
                  <a:ext uri="{FF2B5EF4-FFF2-40B4-BE49-F238E27FC236}">
                    <a16:creationId xmlns:a16="http://schemas.microsoft.com/office/drawing/2014/main" id="{7D26FBDE-173A-41DF-60F6-1AD6043302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 flipH="1">
                <a:off x="1962150" y="3750660"/>
                <a:ext cx="648734" cy="217859"/>
              </a:xfrm>
              <a:prstGeom prst="rect">
                <a:avLst/>
              </a:prstGeom>
            </p:spPr>
          </p:pic>
          <p:pic>
            <p:nvPicPr>
              <p:cNvPr id="9" name="Рисунок 8">
                <a:extLst>
                  <a:ext uri="{FF2B5EF4-FFF2-40B4-BE49-F238E27FC236}">
                    <a16:creationId xmlns:a16="http://schemas.microsoft.com/office/drawing/2014/main" id="{0B86D8B9-22B8-0ADD-C527-B9F7582C0A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 flipH="1">
                <a:off x="1990435" y="5051247"/>
                <a:ext cx="648734" cy="217859"/>
              </a:xfrm>
              <a:prstGeom prst="rect">
                <a:avLst/>
              </a:prstGeom>
            </p:spPr>
          </p:pic>
          <p:pic>
            <p:nvPicPr>
              <p:cNvPr id="22" name="Рисунок 21">
                <a:extLst>
                  <a:ext uri="{FF2B5EF4-FFF2-40B4-BE49-F238E27FC236}">
                    <a16:creationId xmlns:a16="http://schemas.microsoft.com/office/drawing/2014/main" id="{24F4622D-0DDF-E4E1-90B5-725CD301BF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 flipH="1">
                <a:off x="2125408" y="4763746"/>
                <a:ext cx="648734" cy="217859"/>
              </a:xfrm>
              <a:prstGeom prst="rect">
                <a:avLst/>
              </a:prstGeom>
            </p:spPr>
          </p:pic>
        </p:grpSp>
      </p:grp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C071AF51-C5C0-124F-FBE4-E04C15A741C6}"/>
              </a:ext>
            </a:extLst>
          </p:cNvPr>
          <p:cNvGrpSpPr/>
          <p:nvPr/>
        </p:nvGrpSpPr>
        <p:grpSpPr>
          <a:xfrm>
            <a:off x="5598541" y="1940556"/>
            <a:ext cx="304257" cy="245368"/>
            <a:chOff x="5598541" y="1940556"/>
            <a:chExt cx="304257" cy="245368"/>
          </a:xfrm>
        </p:grpSpPr>
        <p:pic>
          <p:nvPicPr>
            <p:cNvPr id="25" name="Рисунок 24">
              <a:extLst>
                <a:ext uri="{FF2B5EF4-FFF2-40B4-BE49-F238E27FC236}">
                  <a16:creationId xmlns:a16="http://schemas.microsoft.com/office/drawing/2014/main" id="{C63ACFD8-E81E-EC94-8A38-613C2C0067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598541" y="1940556"/>
              <a:ext cx="212580" cy="173929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3C32D73-5DA6-7D0B-0E7D-ECDA4C936D41}"/>
                </a:ext>
              </a:extLst>
            </p:cNvPr>
            <p:cNvSpPr txBox="1"/>
            <p:nvPr/>
          </p:nvSpPr>
          <p:spPr>
            <a:xfrm>
              <a:off x="5659152" y="1955092"/>
              <a:ext cx="24364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900" b="1" dirty="0"/>
                <a:t>0</a:t>
              </a:r>
            </a:p>
          </p:txBody>
        </p:sp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2A94CF73-4011-3853-BB6C-379FFBF04E60}"/>
              </a:ext>
            </a:extLst>
          </p:cNvPr>
          <p:cNvGrpSpPr/>
          <p:nvPr/>
        </p:nvGrpSpPr>
        <p:grpSpPr>
          <a:xfrm>
            <a:off x="6305759" y="1949764"/>
            <a:ext cx="304257" cy="245368"/>
            <a:chOff x="5598541" y="1940556"/>
            <a:chExt cx="304257" cy="245368"/>
          </a:xfrm>
        </p:grpSpPr>
        <p:pic>
          <p:nvPicPr>
            <p:cNvPr id="30" name="Рисунок 29">
              <a:extLst>
                <a:ext uri="{FF2B5EF4-FFF2-40B4-BE49-F238E27FC236}">
                  <a16:creationId xmlns:a16="http://schemas.microsoft.com/office/drawing/2014/main" id="{BD0AAEC5-13E5-6332-4AEC-4AD3BDAC61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598541" y="1940556"/>
              <a:ext cx="212580" cy="173929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0DE7DA4-5A7C-AD0F-17FE-7C121C2A5F93}"/>
                </a:ext>
              </a:extLst>
            </p:cNvPr>
            <p:cNvSpPr txBox="1"/>
            <p:nvPr/>
          </p:nvSpPr>
          <p:spPr>
            <a:xfrm>
              <a:off x="5659152" y="1955092"/>
              <a:ext cx="24364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900" b="1" dirty="0"/>
                <a:t>1</a:t>
              </a:r>
            </a:p>
          </p:txBody>
        </p:sp>
      </p:grpSp>
      <p:grpSp>
        <p:nvGrpSpPr>
          <p:cNvPr id="67680" name="Группа 67679">
            <a:extLst>
              <a:ext uri="{FF2B5EF4-FFF2-40B4-BE49-F238E27FC236}">
                <a16:creationId xmlns:a16="http://schemas.microsoft.com/office/drawing/2014/main" id="{EEEE0C18-B65B-3EF1-D10C-DD083459FB16}"/>
              </a:ext>
            </a:extLst>
          </p:cNvPr>
          <p:cNvGrpSpPr/>
          <p:nvPr/>
        </p:nvGrpSpPr>
        <p:grpSpPr>
          <a:xfrm>
            <a:off x="7017081" y="1949764"/>
            <a:ext cx="304257" cy="245368"/>
            <a:chOff x="5598541" y="1940556"/>
            <a:chExt cx="304257" cy="245368"/>
          </a:xfrm>
        </p:grpSpPr>
        <p:pic>
          <p:nvPicPr>
            <p:cNvPr id="67681" name="Рисунок 67680">
              <a:extLst>
                <a:ext uri="{FF2B5EF4-FFF2-40B4-BE49-F238E27FC236}">
                  <a16:creationId xmlns:a16="http://schemas.microsoft.com/office/drawing/2014/main" id="{45465BFA-FEDA-6870-0BBA-FC50A737F8C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598541" y="1940556"/>
              <a:ext cx="212580" cy="173929"/>
            </a:xfrm>
            <a:prstGeom prst="rect">
              <a:avLst/>
            </a:prstGeom>
          </p:spPr>
        </p:pic>
        <p:sp>
          <p:nvSpPr>
            <p:cNvPr id="67682" name="TextBox 67681">
              <a:extLst>
                <a:ext uri="{FF2B5EF4-FFF2-40B4-BE49-F238E27FC236}">
                  <a16:creationId xmlns:a16="http://schemas.microsoft.com/office/drawing/2014/main" id="{71FEB870-DF74-AFFE-A930-B610D1E03AB9}"/>
                </a:ext>
              </a:extLst>
            </p:cNvPr>
            <p:cNvSpPr txBox="1"/>
            <p:nvPr/>
          </p:nvSpPr>
          <p:spPr>
            <a:xfrm>
              <a:off x="5659152" y="1955092"/>
              <a:ext cx="24364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900" b="1" dirty="0"/>
                <a:t>2</a:t>
              </a:r>
            </a:p>
          </p:txBody>
        </p:sp>
      </p:grpSp>
      <p:grpSp>
        <p:nvGrpSpPr>
          <p:cNvPr id="67719" name="Группа 67718">
            <a:extLst>
              <a:ext uri="{FF2B5EF4-FFF2-40B4-BE49-F238E27FC236}">
                <a16:creationId xmlns:a16="http://schemas.microsoft.com/office/drawing/2014/main" id="{94731605-B53D-D0FB-CF80-54E95DE49265}"/>
              </a:ext>
            </a:extLst>
          </p:cNvPr>
          <p:cNvGrpSpPr/>
          <p:nvPr/>
        </p:nvGrpSpPr>
        <p:grpSpPr>
          <a:xfrm>
            <a:off x="7727332" y="1941338"/>
            <a:ext cx="304257" cy="245368"/>
            <a:chOff x="5598541" y="1940556"/>
            <a:chExt cx="304257" cy="245368"/>
          </a:xfrm>
        </p:grpSpPr>
        <p:pic>
          <p:nvPicPr>
            <p:cNvPr id="67720" name="Рисунок 67719">
              <a:extLst>
                <a:ext uri="{FF2B5EF4-FFF2-40B4-BE49-F238E27FC236}">
                  <a16:creationId xmlns:a16="http://schemas.microsoft.com/office/drawing/2014/main" id="{9D18678F-8921-45A7-6F1F-165E05211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598541" y="1940556"/>
              <a:ext cx="212580" cy="173929"/>
            </a:xfrm>
            <a:prstGeom prst="rect">
              <a:avLst/>
            </a:prstGeom>
          </p:spPr>
        </p:pic>
        <p:sp>
          <p:nvSpPr>
            <p:cNvPr id="67721" name="TextBox 67720">
              <a:extLst>
                <a:ext uri="{FF2B5EF4-FFF2-40B4-BE49-F238E27FC236}">
                  <a16:creationId xmlns:a16="http://schemas.microsoft.com/office/drawing/2014/main" id="{EA6D185E-BA2C-1905-87B8-3EA59553850D}"/>
                </a:ext>
              </a:extLst>
            </p:cNvPr>
            <p:cNvSpPr txBox="1"/>
            <p:nvPr/>
          </p:nvSpPr>
          <p:spPr>
            <a:xfrm>
              <a:off x="5659152" y="1955092"/>
              <a:ext cx="24364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900" b="1" dirty="0"/>
                <a:t>3</a:t>
              </a:r>
            </a:p>
          </p:txBody>
        </p:sp>
      </p:grpSp>
      <p:grpSp>
        <p:nvGrpSpPr>
          <p:cNvPr id="67722" name="Группа 67721">
            <a:extLst>
              <a:ext uri="{FF2B5EF4-FFF2-40B4-BE49-F238E27FC236}">
                <a16:creationId xmlns:a16="http://schemas.microsoft.com/office/drawing/2014/main" id="{0FC5A121-DCE2-D604-EBC7-67E4C0F798B8}"/>
              </a:ext>
            </a:extLst>
          </p:cNvPr>
          <p:cNvGrpSpPr/>
          <p:nvPr/>
        </p:nvGrpSpPr>
        <p:grpSpPr>
          <a:xfrm>
            <a:off x="5560526" y="5257629"/>
            <a:ext cx="304257" cy="245368"/>
            <a:chOff x="5598541" y="1940556"/>
            <a:chExt cx="304257" cy="245368"/>
          </a:xfrm>
        </p:grpSpPr>
        <p:pic>
          <p:nvPicPr>
            <p:cNvPr id="67723" name="Рисунок 67722">
              <a:extLst>
                <a:ext uri="{FF2B5EF4-FFF2-40B4-BE49-F238E27FC236}">
                  <a16:creationId xmlns:a16="http://schemas.microsoft.com/office/drawing/2014/main" id="{9F61C3D2-51A5-8A50-675F-44386CAED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598541" y="1940556"/>
              <a:ext cx="212580" cy="173929"/>
            </a:xfrm>
            <a:prstGeom prst="rect">
              <a:avLst/>
            </a:prstGeom>
          </p:spPr>
        </p:pic>
        <p:sp>
          <p:nvSpPr>
            <p:cNvPr id="67724" name="TextBox 67723">
              <a:extLst>
                <a:ext uri="{FF2B5EF4-FFF2-40B4-BE49-F238E27FC236}">
                  <a16:creationId xmlns:a16="http://schemas.microsoft.com/office/drawing/2014/main" id="{D46982CA-050F-CFA3-5685-D0F1CF4537DD}"/>
                </a:ext>
              </a:extLst>
            </p:cNvPr>
            <p:cNvSpPr txBox="1"/>
            <p:nvPr/>
          </p:nvSpPr>
          <p:spPr>
            <a:xfrm>
              <a:off x="5659152" y="1955092"/>
              <a:ext cx="24364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900" b="1" dirty="0"/>
                <a:t>0</a:t>
              </a:r>
            </a:p>
          </p:txBody>
        </p:sp>
      </p:grpSp>
      <p:grpSp>
        <p:nvGrpSpPr>
          <p:cNvPr id="67725" name="Группа 67724">
            <a:extLst>
              <a:ext uri="{FF2B5EF4-FFF2-40B4-BE49-F238E27FC236}">
                <a16:creationId xmlns:a16="http://schemas.microsoft.com/office/drawing/2014/main" id="{1A4C763B-4992-72D8-BF79-974AA8AF82A7}"/>
              </a:ext>
            </a:extLst>
          </p:cNvPr>
          <p:cNvGrpSpPr/>
          <p:nvPr/>
        </p:nvGrpSpPr>
        <p:grpSpPr>
          <a:xfrm>
            <a:off x="6267868" y="5236353"/>
            <a:ext cx="304257" cy="245368"/>
            <a:chOff x="5598541" y="1940556"/>
            <a:chExt cx="304257" cy="245368"/>
          </a:xfrm>
        </p:grpSpPr>
        <p:pic>
          <p:nvPicPr>
            <p:cNvPr id="67726" name="Рисунок 67725">
              <a:extLst>
                <a:ext uri="{FF2B5EF4-FFF2-40B4-BE49-F238E27FC236}">
                  <a16:creationId xmlns:a16="http://schemas.microsoft.com/office/drawing/2014/main" id="{AEA5F4AA-29E4-31AA-BF9B-E8DB5B24ED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598541" y="1940556"/>
              <a:ext cx="212580" cy="173929"/>
            </a:xfrm>
            <a:prstGeom prst="rect">
              <a:avLst/>
            </a:prstGeom>
          </p:spPr>
        </p:pic>
        <p:sp>
          <p:nvSpPr>
            <p:cNvPr id="67727" name="TextBox 67726">
              <a:extLst>
                <a:ext uri="{FF2B5EF4-FFF2-40B4-BE49-F238E27FC236}">
                  <a16:creationId xmlns:a16="http://schemas.microsoft.com/office/drawing/2014/main" id="{49C88B4F-3E2E-519E-5BF9-761086836E44}"/>
                </a:ext>
              </a:extLst>
            </p:cNvPr>
            <p:cNvSpPr txBox="1"/>
            <p:nvPr/>
          </p:nvSpPr>
          <p:spPr>
            <a:xfrm>
              <a:off x="5659152" y="1955092"/>
              <a:ext cx="24364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900" b="1" dirty="0"/>
                <a:t>1</a:t>
              </a:r>
            </a:p>
          </p:txBody>
        </p:sp>
      </p:grpSp>
      <p:grpSp>
        <p:nvGrpSpPr>
          <p:cNvPr id="67728" name="Группа 67727">
            <a:extLst>
              <a:ext uri="{FF2B5EF4-FFF2-40B4-BE49-F238E27FC236}">
                <a16:creationId xmlns:a16="http://schemas.microsoft.com/office/drawing/2014/main" id="{0EE6E00F-18E4-C6B4-05B4-11CA40C8BEE4}"/>
              </a:ext>
            </a:extLst>
          </p:cNvPr>
          <p:cNvGrpSpPr/>
          <p:nvPr/>
        </p:nvGrpSpPr>
        <p:grpSpPr>
          <a:xfrm>
            <a:off x="7037807" y="5232717"/>
            <a:ext cx="304257" cy="245368"/>
            <a:chOff x="5598541" y="1940556"/>
            <a:chExt cx="304257" cy="245368"/>
          </a:xfrm>
        </p:grpSpPr>
        <p:pic>
          <p:nvPicPr>
            <p:cNvPr id="67730" name="Рисунок 67729">
              <a:extLst>
                <a:ext uri="{FF2B5EF4-FFF2-40B4-BE49-F238E27FC236}">
                  <a16:creationId xmlns:a16="http://schemas.microsoft.com/office/drawing/2014/main" id="{C34DEEA9-6652-4F70-42E9-9DE77D3951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598541" y="1940556"/>
              <a:ext cx="212580" cy="173929"/>
            </a:xfrm>
            <a:prstGeom prst="rect">
              <a:avLst/>
            </a:prstGeom>
          </p:spPr>
        </p:pic>
        <p:sp>
          <p:nvSpPr>
            <p:cNvPr id="67733" name="TextBox 67732">
              <a:extLst>
                <a:ext uri="{FF2B5EF4-FFF2-40B4-BE49-F238E27FC236}">
                  <a16:creationId xmlns:a16="http://schemas.microsoft.com/office/drawing/2014/main" id="{2F449AB9-E62A-BF09-2E25-567D1280924A}"/>
                </a:ext>
              </a:extLst>
            </p:cNvPr>
            <p:cNvSpPr txBox="1"/>
            <p:nvPr/>
          </p:nvSpPr>
          <p:spPr>
            <a:xfrm>
              <a:off x="5659152" y="1955092"/>
              <a:ext cx="24364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900" b="1" dirty="0"/>
                <a:t>2</a:t>
              </a:r>
            </a:p>
          </p:txBody>
        </p:sp>
      </p:grpSp>
      <p:grpSp>
        <p:nvGrpSpPr>
          <p:cNvPr id="67744" name="Группа 67743">
            <a:extLst>
              <a:ext uri="{FF2B5EF4-FFF2-40B4-BE49-F238E27FC236}">
                <a16:creationId xmlns:a16="http://schemas.microsoft.com/office/drawing/2014/main" id="{1FFB6ADB-EF92-5B50-0DFD-1DEE3A6CF4C3}"/>
              </a:ext>
            </a:extLst>
          </p:cNvPr>
          <p:cNvGrpSpPr/>
          <p:nvPr/>
        </p:nvGrpSpPr>
        <p:grpSpPr>
          <a:xfrm>
            <a:off x="7733458" y="5232168"/>
            <a:ext cx="304257" cy="245368"/>
            <a:chOff x="5598541" y="1940556"/>
            <a:chExt cx="304257" cy="245368"/>
          </a:xfrm>
        </p:grpSpPr>
        <p:pic>
          <p:nvPicPr>
            <p:cNvPr id="67745" name="Рисунок 67744">
              <a:extLst>
                <a:ext uri="{FF2B5EF4-FFF2-40B4-BE49-F238E27FC236}">
                  <a16:creationId xmlns:a16="http://schemas.microsoft.com/office/drawing/2014/main" id="{41262E36-8564-0E24-1202-10BB5B023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598541" y="1940556"/>
              <a:ext cx="212580" cy="173929"/>
            </a:xfrm>
            <a:prstGeom prst="rect">
              <a:avLst/>
            </a:prstGeom>
          </p:spPr>
        </p:pic>
        <p:sp>
          <p:nvSpPr>
            <p:cNvPr id="67746" name="TextBox 67745">
              <a:extLst>
                <a:ext uri="{FF2B5EF4-FFF2-40B4-BE49-F238E27FC236}">
                  <a16:creationId xmlns:a16="http://schemas.microsoft.com/office/drawing/2014/main" id="{BD2BDD4A-23CC-4BC0-5D30-CD19AAB32F1A}"/>
                </a:ext>
              </a:extLst>
            </p:cNvPr>
            <p:cNvSpPr txBox="1"/>
            <p:nvPr/>
          </p:nvSpPr>
          <p:spPr>
            <a:xfrm>
              <a:off x="5659152" y="1955092"/>
              <a:ext cx="24364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900" b="1" dirty="0"/>
                <a:t>3</a:t>
              </a:r>
            </a:p>
          </p:txBody>
        </p:sp>
      </p:grpSp>
      <p:sp>
        <p:nvSpPr>
          <p:cNvPr id="67747" name="TextBox 67746">
            <a:extLst>
              <a:ext uri="{FF2B5EF4-FFF2-40B4-BE49-F238E27FC236}">
                <a16:creationId xmlns:a16="http://schemas.microsoft.com/office/drawing/2014/main" id="{6F23B412-FBAF-5566-5C3B-E1C8EA8B9C0C}"/>
              </a:ext>
            </a:extLst>
          </p:cNvPr>
          <p:cNvSpPr txBox="1"/>
          <p:nvPr/>
        </p:nvSpPr>
        <p:spPr>
          <a:xfrm>
            <a:off x="5626229" y="5186189"/>
            <a:ext cx="35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`</a:t>
            </a:r>
            <a:endParaRPr lang="ru-RU" sz="900" b="1" dirty="0"/>
          </a:p>
        </p:txBody>
      </p:sp>
      <p:sp>
        <p:nvSpPr>
          <p:cNvPr id="67748" name="TextBox 67747">
            <a:extLst>
              <a:ext uri="{FF2B5EF4-FFF2-40B4-BE49-F238E27FC236}">
                <a16:creationId xmlns:a16="http://schemas.microsoft.com/office/drawing/2014/main" id="{0346DF2C-1AC4-4969-532D-D8A795A3475E}"/>
              </a:ext>
            </a:extLst>
          </p:cNvPr>
          <p:cNvSpPr txBox="1"/>
          <p:nvPr/>
        </p:nvSpPr>
        <p:spPr>
          <a:xfrm>
            <a:off x="6362526" y="5178039"/>
            <a:ext cx="35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`</a:t>
            </a:r>
            <a:endParaRPr lang="ru-RU" sz="900" b="1" dirty="0"/>
          </a:p>
        </p:txBody>
      </p:sp>
      <p:sp>
        <p:nvSpPr>
          <p:cNvPr id="67749" name="TextBox 67748">
            <a:extLst>
              <a:ext uri="{FF2B5EF4-FFF2-40B4-BE49-F238E27FC236}">
                <a16:creationId xmlns:a16="http://schemas.microsoft.com/office/drawing/2014/main" id="{2D5C0E47-D966-A557-D9A8-61FAC5324DB2}"/>
              </a:ext>
            </a:extLst>
          </p:cNvPr>
          <p:cNvSpPr txBox="1"/>
          <p:nvPr/>
        </p:nvSpPr>
        <p:spPr>
          <a:xfrm>
            <a:off x="7114458" y="5179601"/>
            <a:ext cx="35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`</a:t>
            </a:r>
            <a:endParaRPr lang="ru-RU" sz="900" b="1" dirty="0"/>
          </a:p>
        </p:txBody>
      </p:sp>
      <p:sp>
        <p:nvSpPr>
          <p:cNvPr id="67750" name="TextBox 67749">
            <a:extLst>
              <a:ext uri="{FF2B5EF4-FFF2-40B4-BE49-F238E27FC236}">
                <a16:creationId xmlns:a16="http://schemas.microsoft.com/office/drawing/2014/main" id="{7ACD0394-02C9-3107-2AB8-E7F1C3741940}"/>
              </a:ext>
            </a:extLst>
          </p:cNvPr>
          <p:cNvSpPr txBox="1"/>
          <p:nvPr/>
        </p:nvSpPr>
        <p:spPr>
          <a:xfrm>
            <a:off x="7824345" y="5174823"/>
            <a:ext cx="3514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`</a:t>
            </a:r>
            <a:endParaRPr lang="ru-RU" sz="900" b="1" dirty="0"/>
          </a:p>
        </p:txBody>
      </p:sp>
    </p:spTree>
    <p:extLst>
      <p:ext uri="{BB962C8B-B14F-4D97-AF65-F5344CB8AC3E}">
        <p14:creationId xmlns:p14="http://schemas.microsoft.com/office/powerpoint/2010/main" val="774110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70519" y="685800"/>
            <a:ext cx="8715436" cy="5286412"/>
          </a:xfrm>
        </p:spPr>
        <p:txBody>
          <a:bodyPr/>
          <a:lstStyle/>
          <a:p>
            <a:pPr marL="0" lvl="1" indent="360363" algn="just">
              <a:lnSpc>
                <a:spcPct val="112000"/>
              </a:lnSpc>
              <a:buNone/>
            </a:pPr>
            <a:r>
              <a:rPr lang="uz-Cyrl-U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Чизиқли акслантириш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LT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қуйидаги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жадвалда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ифодаланган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Жадвалда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 дан 127 чага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битлар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жойлаштирилган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Масалан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чиқувчи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2-бит 2, 9, 15, 30, 76, 84, 126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ларнинг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модуль 2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бўйича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йиғиндиси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натижасига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тенг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Ҳар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бир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қаторда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чиқувчи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битни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олинади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endParaRPr lang="ru-RU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1800" dirty="0">
              <a:solidFill>
                <a:schemeClr val="tx2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1800" dirty="0">
              <a:solidFill>
                <a:schemeClr val="tx2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1800" dirty="0">
              <a:solidFill>
                <a:schemeClr val="tx2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1800" dirty="0">
              <a:solidFill>
                <a:schemeClr val="tx2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1800" dirty="0">
              <a:solidFill>
                <a:schemeClr val="tx2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ru-RU" sz="1800" dirty="0">
              <a:solidFill>
                <a:schemeClr val="tx2"/>
              </a:solidFill>
            </a:endParaRPr>
          </a:p>
          <a:p>
            <a:pPr marL="0" lvl="1" indent="360363" algn="just">
              <a:lnSpc>
                <a:spcPct val="80000"/>
              </a:lnSpc>
              <a:buNone/>
            </a:pPr>
            <a:endParaRPr lang="en-US" sz="1800" dirty="0">
              <a:solidFill>
                <a:schemeClr val="tx2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7358083" y="6537329"/>
            <a:ext cx="1643075" cy="320675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SERPENT</a:t>
            </a:r>
          </a:p>
        </p:txBody>
      </p:sp>
      <p:pic>
        <p:nvPicPr>
          <p:cNvPr id="6" name="Рисунок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2" y="2209802"/>
            <a:ext cx="7332475" cy="6015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Скругленный прямоугольник 7"/>
          <p:cNvSpPr/>
          <p:nvPr/>
        </p:nvSpPr>
        <p:spPr>
          <a:xfrm>
            <a:off x="914400" y="140753"/>
            <a:ext cx="7636404" cy="468849"/>
          </a:xfrm>
          <a:prstGeom prst="round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Чизиқли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акслантириш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жадвали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LT</a:t>
            </a:r>
            <a:r>
              <a:rPr lang="uz-Cyrl-UZ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075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0.31157 L -0.00833 -0.2217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7" y="-26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214283" y="1214423"/>
            <a:ext cx="8715436" cy="5286412"/>
          </a:xfrm>
        </p:spPr>
        <p:txBody>
          <a:bodyPr/>
          <a:lstStyle/>
          <a:p>
            <a:pPr marL="0" indent="360363" algn="just">
              <a:buNone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Ушбу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ўрин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алмаштириш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бошланғич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ўрин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алмаштиришга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тескари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ҳисобланади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яъни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lang="ru-RU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ru-RU" sz="22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у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қуйидаги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жадвал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орқали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амалга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оширилади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1" indent="360363" algn="just">
              <a:lnSpc>
                <a:spcPct val="80000"/>
              </a:lnSpc>
              <a:buNone/>
            </a:pP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7358083" y="6537329"/>
            <a:ext cx="1643075" cy="320675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SERPENT</a:t>
            </a:r>
          </a:p>
        </p:txBody>
      </p:sp>
      <p:pic>
        <p:nvPicPr>
          <p:cNvPr id="6" name="Рисунок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6665" y="2514600"/>
            <a:ext cx="8563054" cy="3672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Скругленный прямоугольник 7"/>
          <p:cNvSpPr/>
          <p:nvPr/>
        </p:nvSpPr>
        <p:spPr>
          <a:xfrm>
            <a:off x="914400" y="150975"/>
            <a:ext cx="7636404" cy="656967"/>
          </a:xfrm>
          <a:prstGeom prst="round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Охирги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ўрин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алмаштириш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(FP)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9852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214283" y="1214423"/>
            <a:ext cx="8715436" cy="5286412"/>
          </a:xfrm>
        </p:spPr>
        <p:txBody>
          <a:bodyPr/>
          <a:lstStyle/>
          <a:p>
            <a:pPr marL="0" indent="360363" algn="just">
              <a:buNone/>
            </a:pP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Дешифрлаш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шифрлашдан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фақат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инверс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тескари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алмаштириш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жадвалини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қўллаш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билан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фарқланади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Ундан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ташқари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тескари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чизиқли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акслантириш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билан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ҳам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Калитлар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тескари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тартибда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берилади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1" indent="360363">
              <a:lnSpc>
                <a:spcPct val="80000"/>
              </a:lnSpc>
              <a:buNone/>
            </a:pP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360363" algn="just">
              <a:lnSpc>
                <a:spcPct val="80000"/>
              </a:lnSpc>
              <a:buClr>
                <a:srgbClr val="FF0000"/>
              </a:buClr>
              <a:buFont typeface="+mj-lt"/>
              <a:buAutoNum type="arabicPeriod"/>
            </a:pPr>
            <a:r>
              <a:rPr lang="ru-RU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Инверс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тескари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алмаштириш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жадвали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1" indent="360363" algn="just">
              <a:lnSpc>
                <a:spcPct val="80000"/>
              </a:lnSpc>
              <a:buClr>
                <a:srgbClr val="FF0000"/>
              </a:buClr>
              <a:buFont typeface="+mj-lt"/>
              <a:buAutoNum type="arabicPeriod"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360363" algn="just">
              <a:lnSpc>
                <a:spcPct val="80000"/>
              </a:lnSpc>
              <a:buClr>
                <a:srgbClr val="FF0000"/>
              </a:buClr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Тескари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чизиқли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акслантириш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ILT</a:t>
            </a:r>
            <a:endParaRPr lang="en-US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7358083" y="6537329"/>
            <a:ext cx="1643075" cy="320675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SERPENT</a:t>
            </a:r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4" y="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239000" y="3276602"/>
            <a:ext cx="512676" cy="424283"/>
          </a:xfrm>
          <a:prstGeom prst="rect">
            <a:avLst/>
          </a:prstGeom>
          <a:noFill/>
        </p:spPr>
      </p:pic>
      <p:sp>
        <p:nvSpPr>
          <p:cNvPr id="9" name="Скругленный прямоугольник 8"/>
          <p:cNvSpPr/>
          <p:nvPr/>
        </p:nvSpPr>
        <p:spPr>
          <a:xfrm>
            <a:off x="914400" y="246447"/>
            <a:ext cx="7636404" cy="656967"/>
          </a:xfrm>
          <a:prstGeom prst="round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uz-Cyrl-UZ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ешифрлаш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жараёни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1352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7358083" y="6537329"/>
            <a:ext cx="1643075" cy="320675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SERPENT</a:t>
            </a:r>
          </a:p>
        </p:txBody>
      </p:sp>
      <p:pic>
        <p:nvPicPr>
          <p:cNvPr id="6" name="Рисунок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51620" y="1772816"/>
            <a:ext cx="7194904" cy="42124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Скругленный прямоугольник 7"/>
          <p:cNvSpPr/>
          <p:nvPr/>
        </p:nvSpPr>
        <p:spPr>
          <a:xfrm>
            <a:off x="914400" y="246447"/>
            <a:ext cx="7636404" cy="656967"/>
          </a:xfrm>
          <a:prstGeom prst="round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Инверс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алмаштириш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жадвали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17664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7358083" y="6537329"/>
            <a:ext cx="1643075" cy="320675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SERPENT</a:t>
            </a:r>
          </a:p>
        </p:txBody>
      </p:sp>
      <p:pic>
        <p:nvPicPr>
          <p:cNvPr id="6" name="Рисунок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1434" y="1142984"/>
            <a:ext cx="8347030" cy="9027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Скругленный прямоугольник 7"/>
          <p:cNvSpPr/>
          <p:nvPr/>
        </p:nvSpPr>
        <p:spPr>
          <a:xfrm>
            <a:off x="914400" y="140753"/>
            <a:ext cx="7636404" cy="656967"/>
          </a:xfrm>
          <a:prstGeom prst="round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Тескари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чизиқли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акслантириш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ILT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33875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7358083" y="6537329"/>
            <a:ext cx="1643075" cy="320675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SERPENT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000108"/>
            <a:ext cx="4270238" cy="5857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4572000" y="1000108"/>
            <a:ext cx="4173766" cy="5857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Скругленный прямоугольник 9"/>
          <p:cNvSpPr/>
          <p:nvPr/>
        </p:nvSpPr>
        <p:spPr>
          <a:xfrm>
            <a:off x="914400" y="149220"/>
            <a:ext cx="7636404" cy="656967"/>
          </a:xfrm>
          <a:prstGeom prst="round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Шифрлаш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дешифрлаш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блок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схемаси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39575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5089813"/>
              </p:ext>
            </p:extLst>
          </p:nvPr>
        </p:nvGraphicFramePr>
        <p:xfrm>
          <a:off x="419102" y="1143000"/>
          <a:ext cx="7119257" cy="49276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8805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6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6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02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74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Rijndael</a:t>
                      </a:r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Serpent</a:t>
                      </a:r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Twofish</a:t>
                      </a:r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MARS</a:t>
                      </a:r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RC6</a:t>
                      </a:r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Umumumiy</a:t>
                      </a:r>
                      <a:endParaRPr lang="en-US" dirty="0"/>
                    </a:p>
                    <a:p>
                      <a:r>
                        <a:rPr lang="en-US" dirty="0" err="1"/>
                        <a:t>Xavfsizlik</a:t>
                      </a:r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Amalga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oshirish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qiyinligi</a:t>
                      </a:r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Dasturiy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ta’minotning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ishlashi</a:t>
                      </a:r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Smart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kartasini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ishlashi</a:t>
                      </a:r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Uskunada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ishlashi</a:t>
                      </a:r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Dizayn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xususiyatlari</a:t>
                      </a:r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Umumiy</a:t>
                      </a:r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ru-RU" dirty="0"/>
                    </a:p>
                  </a:txBody>
                  <a:tcPr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Скругленный прямоугольник 3"/>
          <p:cNvSpPr/>
          <p:nvPr/>
        </p:nvSpPr>
        <p:spPr>
          <a:xfrm>
            <a:off x="838200" y="228602"/>
            <a:ext cx="7636404" cy="656967"/>
          </a:xfrm>
          <a:prstGeom prst="round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algoritmlar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taqqoshlanishi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31123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1002" y="228600"/>
            <a:ext cx="8534399" cy="5334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/>
              <a:t>                        </a:t>
            </a:r>
            <a:r>
              <a:rPr lang="en-US" b="1" dirty="0" err="1"/>
              <a:t>Afzalliklari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4802" y="1066800"/>
            <a:ext cx="8305799" cy="5486400"/>
          </a:xfrm>
        </p:spPr>
        <p:txBody>
          <a:bodyPr>
            <a:normAutofit/>
          </a:bodyPr>
          <a:lstStyle/>
          <a:p>
            <a:pPr algn="just"/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Xavfsizlik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Serpent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juda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xavfsiz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kriptoanalitik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hujumlarga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chidamli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murakkab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dizayni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jumladan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ko'p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sonli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raundlar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operatsiyalar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ma'lum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bo'lgan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hujum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usullari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sindirishni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qiyinlashtiradi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Yuqori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darajada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tahlil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qilingan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Serpent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AES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tanlovi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davomida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kriptografik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hamjamiyat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tomonidan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qamrovli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tekshiruv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tahlillardan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o'tdi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xavfsizlik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da'volarini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tasdiqlashga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yordam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beradi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Samaradorlik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Yuqori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darajadagi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xavfsizlikka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qaramay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Serpent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tezlik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jihatidan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nisbatan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samarali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U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apparat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dasturiy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ta'minotda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samarali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tarzda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amalga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oshirilishi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Platforma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mustaqilligi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Serpent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platformadan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mustaqil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ya'ni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hisoblash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platformalarida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sezilarli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o'zgarishlarsiz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amalga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oshirilishi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6152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1002" y="228600"/>
            <a:ext cx="8534399" cy="5334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/>
              <a:t>                  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Kamchiliklari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4802" y="1066800"/>
            <a:ext cx="8305799" cy="5486400"/>
          </a:xfrm>
        </p:spPr>
        <p:txBody>
          <a:bodyPr/>
          <a:lstStyle/>
          <a:p>
            <a:pPr algn="just"/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Serpent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ko'plab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yuqori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xavfsizlik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algoritmlariga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nisbatan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samarali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bo'lsa-da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odatda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Rijndael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AES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finalchilariga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qaraganda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sekinroq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yuqori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darajadagi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xavfsizligi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hisob-kitoblarga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qo'shimcha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xarajatlarning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oshishi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hisobiga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keladi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Murakkablik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Serpentning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murakkab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tuzilishi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to'g'ri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amalga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oshirishni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qiyinlashtirishi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ayniqsa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resurslar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cheklangan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muhitda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Ushbu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murakkablik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xavfsizlik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zaifliklariga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olib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kelishi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bo'lgan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amalga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oshirish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xatolari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xavfini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oshirishi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Kalitni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o'rnatish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Serpent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kalitlarini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o'rnatish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jarayoni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nosimmetrik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algoritmlariga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nisbatan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nisbatan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murakkab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kalitlarni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zarur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bo'lgan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vaqt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resurslarni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oshirishi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6415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8" y="228602"/>
            <a:ext cx="9152467" cy="6480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774515"/>
      </p:ext>
    </p:extLst>
  </p:cSld>
  <p:clrMapOvr>
    <a:masterClrMapping/>
  </p:clrMapOvr>
</p:sld>
</file>

<file path=ppt/theme/theme1.xml><?xml version="1.0" encoding="utf-8"?>
<a:theme xmlns:a="http://schemas.openxmlformats.org/drawingml/2006/main" name="Грань">
  <a:themeElements>
    <a:clrScheme name="Грань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Грань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рань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6894</TotalTime>
  <Words>1352</Words>
  <Application>Microsoft Office PowerPoint</Application>
  <PresentationFormat>Экран (4:3)</PresentationFormat>
  <Paragraphs>295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4" baseType="lpstr">
      <vt:lpstr>Arial</vt:lpstr>
      <vt:lpstr>Calibri</vt:lpstr>
      <vt:lpstr>Cambria Math</vt:lpstr>
      <vt:lpstr>Georgia</vt:lpstr>
      <vt:lpstr>Tahoma</vt:lpstr>
      <vt:lpstr>Times New Roman</vt:lpstr>
      <vt:lpstr>Trebuchet MS</vt:lpstr>
      <vt:lpstr>Wingdings</vt:lpstr>
      <vt:lpstr>Wingdings 3</vt:lpstr>
      <vt:lpstr>Грань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                        Afzalliklari</vt:lpstr>
      <vt:lpstr>                    Kamchiliklari: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Erkin</dc:creator>
  <cp:lastModifiedBy>ФВЬШТ</cp:lastModifiedBy>
  <cp:revision>857</cp:revision>
  <dcterms:created xsi:type="dcterms:W3CDTF">2012-09-04T09:12:11Z</dcterms:created>
  <dcterms:modified xsi:type="dcterms:W3CDTF">2024-05-17T03:49:48Z</dcterms:modified>
</cp:coreProperties>
</file>