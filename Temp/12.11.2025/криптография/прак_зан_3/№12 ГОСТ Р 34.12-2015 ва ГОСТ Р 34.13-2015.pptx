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333" r:id="rId3"/>
    <p:sldId id="334" r:id="rId4"/>
    <p:sldId id="337" r:id="rId5"/>
    <p:sldId id="292" r:id="rId6"/>
    <p:sldId id="336" r:id="rId7"/>
    <p:sldId id="341" r:id="rId8"/>
    <p:sldId id="343" r:id="rId9"/>
    <p:sldId id="345" r:id="rId10"/>
    <p:sldId id="330" r:id="rId11"/>
    <p:sldId id="309" r:id="rId12"/>
    <p:sldId id="310" r:id="rId13"/>
    <p:sldId id="311" r:id="rId14"/>
    <p:sldId id="312" r:id="rId15"/>
    <p:sldId id="313" r:id="rId1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E3E1"/>
    <a:srgbClr val="B4F7FA"/>
    <a:srgbClr val="F8FBFD"/>
    <a:srgbClr val="FFFFFF"/>
    <a:srgbClr val="4695C6"/>
    <a:srgbClr val="153943"/>
    <a:srgbClr val="1F3651"/>
    <a:srgbClr val="0919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-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Средний стиль 3 -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Средний стиль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Средний стиль 4 -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25E5076-3810-47DD-B79F-674D7AD40C01}" styleName="Темный стиль 1 - акцент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8" autoAdjust="0"/>
    <p:restoredTop sz="95827" autoAdjust="0"/>
  </p:normalViewPr>
  <p:slideViewPr>
    <p:cSldViewPr>
      <p:cViewPr>
        <p:scale>
          <a:sx n="70" d="100"/>
          <a:sy n="70" d="100"/>
        </p:scale>
        <p:origin x="-1666" y="-480"/>
      </p:cViewPr>
      <p:guideLst>
        <p:guide orient="horz" pos="2160"/>
        <p:guide pos="292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3648"/>
    </p:cViewPr>
  </p:sorterViewPr>
  <p:notesViewPr>
    <p:cSldViewPr>
      <p:cViewPr varScale="1">
        <p:scale>
          <a:sx n="70" d="100"/>
          <a:sy n="70" d="100"/>
        </p:scale>
        <p:origin x="-2766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BADD8C-ADD2-4F59-A867-5AE7CAE27CAC}" type="doc">
      <dgm:prSet loTypeId="urn:microsoft.com/office/officeart/2005/8/layout/hProcess9" loCatId="process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D22B386-10BF-46AD-B8FF-2A0FB4E32C30}">
      <dgm:prSet custT="1"/>
      <dgm:spPr>
        <a:effectLst>
          <a:glow rad="2286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 rtl="0"/>
          <a:r>
            <a:rPr lang="ru-RU" sz="2400" b="1" i="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ГОСТ Р 34.12–2015 Россия </a:t>
          </a:r>
          <a:r>
            <a:rPr lang="ru-RU" sz="2400" b="1" i="0" dirty="0" err="1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блокли</a:t>
          </a:r>
          <a:r>
            <a:rPr lang="ru-RU" sz="2400" b="1" i="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400" b="1" i="0" dirty="0" err="1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шифрлаш</a:t>
          </a:r>
          <a:r>
            <a:rPr lang="ru-RU" sz="2400" b="1" i="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400" b="1" i="0" dirty="0" err="1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стандарти</a:t>
          </a:r>
          <a:r>
            <a:rPr lang="ru-RU" sz="2400" b="1" i="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. ГОСТ Р 34.13–2015 Россия </a:t>
          </a:r>
          <a:r>
            <a:rPr lang="ru-RU" sz="2400" b="1" i="0" dirty="0" err="1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блокли</a:t>
          </a:r>
          <a:r>
            <a:rPr lang="ru-RU" sz="2400" b="1" i="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400" b="1" i="0" dirty="0" err="1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шифри</a:t>
          </a:r>
          <a:r>
            <a:rPr lang="ru-RU" sz="2400" b="1" i="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400" b="1" i="0" dirty="0" err="1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иш</a:t>
          </a:r>
          <a:r>
            <a:rPr lang="ru-RU" sz="2400" b="1" i="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400" b="1" i="0" dirty="0" err="1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режимлари</a:t>
          </a:r>
          <a:r>
            <a:rPr lang="ru-RU" sz="2400" b="1" i="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.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9818070C-A3D0-4B0E-9033-36B3A3647A96}" type="sibTrans" cxnId="{67764A32-CDAE-4243-B16D-D4EB88540D44}">
      <dgm:prSet/>
      <dgm:spPr/>
      <dgm:t>
        <a:bodyPr/>
        <a:lstStyle/>
        <a:p>
          <a:endParaRPr lang="ru-RU"/>
        </a:p>
      </dgm:t>
    </dgm:pt>
    <dgm:pt modelId="{8122EBA6-161E-47B4-9286-A67E1A276A5D}" type="parTrans" cxnId="{67764A32-CDAE-4243-B16D-D4EB88540D44}">
      <dgm:prSet/>
      <dgm:spPr/>
      <dgm:t>
        <a:bodyPr/>
        <a:lstStyle/>
        <a:p>
          <a:endParaRPr lang="ru-RU"/>
        </a:p>
      </dgm:t>
    </dgm:pt>
    <dgm:pt modelId="{5E208D8E-7535-4376-B4CB-C2CE61BDF5CF}" type="pres">
      <dgm:prSet presAssocID="{D3BADD8C-ADD2-4F59-A867-5AE7CAE27CAC}" presName="CompostProcess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512A086-8C95-4C7A-9214-2EDCDBAAC303}" type="pres">
      <dgm:prSet presAssocID="{D3BADD8C-ADD2-4F59-A867-5AE7CAE27CAC}" presName="arrow" presStyleLbl="bgShp" presStyleIdx="0" presStyleCnt="1" custScaleX="88266" custScaleY="44856" custLinFactNeighborX="9687"/>
      <dgm:spPr/>
      <dgm:t>
        <a:bodyPr/>
        <a:lstStyle/>
        <a:p>
          <a:endParaRPr lang="ru-RU"/>
        </a:p>
      </dgm:t>
    </dgm:pt>
    <dgm:pt modelId="{AC035E67-7D52-42B0-92E2-DDE297C8B33E}" type="pres">
      <dgm:prSet presAssocID="{D3BADD8C-ADD2-4F59-A867-5AE7CAE27CAC}" presName="linearProcess" presStyleCnt="0"/>
      <dgm:spPr/>
      <dgm:t>
        <a:bodyPr/>
        <a:lstStyle/>
        <a:p>
          <a:endParaRPr lang="ru-RU"/>
        </a:p>
      </dgm:t>
    </dgm:pt>
    <dgm:pt modelId="{CE423292-3AEB-4D68-9021-3E96D5261507}" type="pres">
      <dgm:prSet presAssocID="{FD22B386-10BF-46AD-B8FF-2A0FB4E32C30}" presName="textNode" presStyleLbl="node1" presStyleIdx="0" presStyleCnt="1" custScaleY="21228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5739B5C-FA67-47EC-A9E7-416CEFB628BF}" type="presOf" srcId="{FD22B386-10BF-46AD-B8FF-2A0FB4E32C30}" destId="{CE423292-3AEB-4D68-9021-3E96D5261507}" srcOrd="0" destOrd="0" presId="urn:microsoft.com/office/officeart/2005/8/layout/hProcess9"/>
    <dgm:cxn modelId="{82B48EF7-381A-4CF3-B731-273D3CC91E77}" type="presOf" srcId="{D3BADD8C-ADD2-4F59-A867-5AE7CAE27CAC}" destId="{5E208D8E-7535-4376-B4CB-C2CE61BDF5CF}" srcOrd="0" destOrd="0" presId="urn:microsoft.com/office/officeart/2005/8/layout/hProcess9"/>
    <dgm:cxn modelId="{67764A32-CDAE-4243-B16D-D4EB88540D44}" srcId="{D3BADD8C-ADD2-4F59-A867-5AE7CAE27CAC}" destId="{FD22B386-10BF-46AD-B8FF-2A0FB4E32C30}" srcOrd="0" destOrd="0" parTransId="{8122EBA6-161E-47B4-9286-A67E1A276A5D}" sibTransId="{9818070C-A3D0-4B0E-9033-36B3A3647A96}"/>
    <dgm:cxn modelId="{3286FA44-F401-4DAE-B58F-F979A5E38667}" type="presParOf" srcId="{5E208D8E-7535-4376-B4CB-C2CE61BDF5CF}" destId="{4512A086-8C95-4C7A-9214-2EDCDBAAC303}" srcOrd="0" destOrd="0" presId="urn:microsoft.com/office/officeart/2005/8/layout/hProcess9"/>
    <dgm:cxn modelId="{496B8E78-C7AE-4A02-85D5-F073FF073159}" type="presParOf" srcId="{5E208D8E-7535-4376-B4CB-C2CE61BDF5CF}" destId="{AC035E67-7D52-42B0-92E2-DDE297C8B33E}" srcOrd="1" destOrd="0" presId="urn:microsoft.com/office/officeart/2005/8/layout/hProcess9"/>
    <dgm:cxn modelId="{6252E74B-167F-427F-8A78-0D665C8A21F5}" type="presParOf" srcId="{AC035E67-7D52-42B0-92E2-DDE297C8B33E}" destId="{CE423292-3AEB-4D68-9021-3E96D5261507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GOST 28147-89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algoritmining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i-raund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sxemasi</a:t>
          </a:r>
          <a:endParaRPr lang="ru-RU" sz="20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ScaleY="157302" custLinFactY="176600" custLinFactNeighborX="81676" custLinFactNeighborY="2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Y="66016" custLinFactNeighborX="1639" custLinFactNeighborY="100000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5E688523-C8ED-4028-9373-DF1453EC2AEF}" type="presOf" srcId="{05180D63-CA70-44CD-AB70-B4570874155E}" destId="{BB5D1775-85DD-419E-8748-9578A6C4DD9D}" srcOrd="0" destOrd="0" presId="urn:microsoft.com/office/officeart/2005/8/layout/list1"/>
    <dgm:cxn modelId="{84C2777E-124E-41F1-A223-8F62EBE02568}" type="presOf" srcId="{05180D63-CA70-44CD-AB70-B4570874155E}" destId="{258288F4-8C82-4F82-8D99-16EEA303237F}" srcOrd="1" destOrd="0" presId="urn:microsoft.com/office/officeart/2005/8/layout/list1"/>
    <dgm:cxn modelId="{6241636C-8799-4F80-B964-70C6BD7FEF5C}" type="presOf" srcId="{3456E1E7-2A7B-4CDD-B060-EF99BF17FF5D}" destId="{15D68BAD-8F6B-4827-9C01-3CDC1119B96E}" srcOrd="0" destOrd="0" presId="urn:microsoft.com/office/officeart/2005/8/layout/list1"/>
    <dgm:cxn modelId="{4C824FEB-B43C-403A-A504-73D18D3E0681}" type="presParOf" srcId="{15D68BAD-8F6B-4827-9C01-3CDC1119B96E}" destId="{697B0516-B105-4895-B40A-8F5F2831FF39}" srcOrd="0" destOrd="0" presId="urn:microsoft.com/office/officeart/2005/8/layout/list1"/>
    <dgm:cxn modelId="{8A0C67AA-D09D-4B0B-8304-6D78E95F89F9}" type="presParOf" srcId="{697B0516-B105-4895-B40A-8F5F2831FF39}" destId="{BB5D1775-85DD-419E-8748-9578A6C4DD9D}" srcOrd="0" destOrd="0" presId="urn:microsoft.com/office/officeart/2005/8/layout/list1"/>
    <dgm:cxn modelId="{2431C913-5ACD-43AA-A2FC-6A0FA64DF434}" type="presParOf" srcId="{697B0516-B105-4895-B40A-8F5F2831FF39}" destId="{258288F4-8C82-4F82-8D99-16EEA303237F}" srcOrd="1" destOrd="0" presId="urn:microsoft.com/office/officeart/2005/8/layout/list1"/>
    <dgm:cxn modelId="{480EAA46-E811-48A6-8E24-A9B19739D9AF}" type="presParOf" srcId="{15D68BAD-8F6B-4827-9C01-3CDC1119B96E}" destId="{7B6CC6D5-221F-4BF1-B7B1-B453A24282C7}" srcOrd="1" destOrd="0" presId="urn:microsoft.com/office/officeart/2005/8/layout/list1"/>
    <dgm:cxn modelId="{D48FE639-3E7C-4EB1-901C-0BB4317B0697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GOST 28147-89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algoritmida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ishlatilgan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akslantirishlar</a:t>
          </a:r>
          <a:endParaRPr lang="ru-RU" sz="20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ScaleY="157302" custLinFactY="176600" custLinFactNeighborX="81676" custLinFactNeighborY="2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Y="66016" custLinFactNeighborX="1639" custLinFactNeighborY="100000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1209E7B2-EAE5-4E9F-A7C0-421F368ABEF7}" type="presOf" srcId="{05180D63-CA70-44CD-AB70-B4570874155E}" destId="{258288F4-8C82-4F82-8D99-16EEA303237F}" srcOrd="1" destOrd="0" presId="urn:microsoft.com/office/officeart/2005/8/layout/list1"/>
    <dgm:cxn modelId="{ECDDFEC9-AA88-4720-873B-DB4989CAB965}" type="presOf" srcId="{05180D63-CA70-44CD-AB70-B4570874155E}" destId="{BB5D1775-85DD-419E-8748-9578A6C4DD9D}" srcOrd="0" destOrd="0" presId="urn:microsoft.com/office/officeart/2005/8/layout/list1"/>
    <dgm:cxn modelId="{E4BAEB7C-6EDE-465B-9A6A-91A7A98FAAC5}" type="presOf" srcId="{3456E1E7-2A7B-4CDD-B060-EF99BF17FF5D}" destId="{15D68BAD-8F6B-4827-9C01-3CDC1119B96E}" srcOrd="0" destOrd="0" presId="urn:microsoft.com/office/officeart/2005/8/layout/list1"/>
    <dgm:cxn modelId="{DC5C7554-229F-4787-9F89-3A5DF73B3596}" type="presParOf" srcId="{15D68BAD-8F6B-4827-9C01-3CDC1119B96E}" destId="{697B0516-B105-4895-B40A-8F5F2831FF39}" srcOrd="0" destOrd="0" presId="urn:microsoft.com/office/officeart/2005/8/layout/list1"/>
    <dgm:cxn modelId="{C9D67559-F313-4E32-A550-69DF77ACEEA5}" type="presParOf" srcId="{697B0516-B105-4895-B40A-8F5F2831FF39}" destId="{BB5D1775-85DD-419E-8748-9578A6C4DD9D}" srcOrd="0" destOrd="0" presId="urn:microsoft.com/office/officeart/2005/8/layout/list1"/>
    <dgm:cxn modelId="{32D0DB3C-5F63-400C-B645-072AC34A64BF}" type="presParOf" srcId="{697B0516-B105-4895-B40A-8F5F2831FF39}" destId="{258288F4-8C82-4F82-8D99-16EEA303237F}" srcOrd="1" destOrd="0" presId="urn:microsoft.com/office/officeart/2005/8/layout/list1"/>
    <dgm:cxn modelId="{EFA70AF5-DE56-40B1-B77F-5CD1F7D7FA22}" type="presParOf" srcId="{15D68BAD-8F6B-4827-9C01-3CDC1119B96E}" destId="{7B6CC6D5-221F-4BF1-B7B1-B453A24282C7}" srcOrd="1" destOrd="0" presId="urn:microsoft.com/office/officeart/2005/8/layout/list1"/>
    <dgm:cxn modelId="{1796DA2C-2DDD-4216-84DC-5B6C47C584CD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GOST 28147-89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algoritmida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raund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kalitlari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generatsiyasi</a:t>
          </a:r>
          <a:endParaRPr lang="ru-RU" sz="20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ScaleY="157302" custLinFactY="176600" custLinFactNeighborX="81676" custLinFactNeighborY="2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Y="66016" custLinFactNeighborX="1639" custLinFactNeighborY="100000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C5661D10-FBE7-46BF-B4C3-221D8BEFF063}" type="presOf" srcId="{05180D63-CA70-44CD-AB70-B4570874155E}" destId="{258288F4-8C82-4F82-8D99-16EEA303237F}" srcOrd="1" destOrd="0" presId="urn:microsoft.com/office/officeart/2005/8/layout/list1"/>
    <dgm:cxn modelId="{BC4F8101-2F7F-4F3A-94BD-9A4BC6771C1A}" type="presOf" srcId="{05180D63-CA70-44CD-AB70-B4570874155E}" destId="{BB5D1775-85DD-419E-8748-9578A6C4DD9D}" srcOrd="0" destOrd="0" presId="urn:microsoft.com/office/officeart/2005/8/layout/list1"/>
    <dgm:cxn modelId="{4698ACE7-1506-4941-9AD5-06560951C397}" type="presOf" srcId="{3456E1E7-2A7B-4CDD-B060-EF99BF17FF5D}" destId="{15D68BAD-8F6B-4827-9C01-3CDC1119B96E}" srcOrd="0" destOrd="0" presId="urn:microsoft.com/office/officeart/2005/8/layout/list1"/>
    <dgm:cxn modelId="{3508B414-2B73-4DE8-AE6D-2100A17530FF}" type="presParOf" srcId="{15D68BAD-8F6B-4827-9C01-3CDC1119B96E}" destId="{697B0516-B105-4895-B40A-8F5F2831FF39}" srcOrd="0" destOrd="0" presId="urn:microsoft.com/office/officeart/2005/8/layout/list1"/>
    <dgm:cxn modelId="{D42074B8-13D0-4A27-8C3D-1ECF792434B3}" type="presParOf" srcId="{697B0516-B105-4895-B40A-8F5F2831FF39}" destId="{BB5D1775-85DD-419E-8748-9578A6C4DD9D}" srcOrd="0" destOrd="0" presId="urn:microsoft.com/office/officeart/2005/8/layout/list1"/>
    <dgm:cxn modelId="{E405D698-D4A0-4509-895E-975066498899}" type="presParOf" srcId="{697B0516-B105-4895-B40A-8F5F2831FF39}" destId="{258288F4-8C82-4F82-8D99-16EEA303237F}" srcOrd="1" destOrd="0" presId="urn:microsoft.com/office/officeart/2005/8/layout/list1"/>
    <dgm:cxn modelId="{0BCF6BAE-11F5-48AA-AF3D-E4150A0CE4D3}" type="presParOf" srcId="{15D68BAD-8F6B-4827-9C01-3CDC1119B96E}" destId="{7B6CC6D5-221F-4BF1-B7B1-B453A24282C7}" srcOrd="1" destOrd="0" presId="urn:microsoft.com/office/officeart/2005/8/layout/list1"/>
    <dgm:cxn modelId="{EBB8481E-679F-49F2-B430-A0101E3D7D94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 smtClean="0">
              <a:latin typeface="Arial" pitchFamily="34" charset="0"/>
            </a:rPr>
            <a:t>GOST 28147-89 </a:t>
          </a:r>
          <a:r>
            <a:rPr lang="en-US" sz="2000" b="1" dirty="0" err="1" smtClean="0">
              <a:latin typeface="Arial" pitchFamily="34" charset="0"/>
            </a:rPr>
            <a:t>shifrlash</a:t>
          </a:r>
          <a:r>
            <a:rPr lang="en-US" sz="2000" b="1" dirty="0" smtClean="0">
              <a:latin typeface="Arial" pitchFamily="34" charset="0"/>
            </a:rPr>
            <a:t> </a:t>
          </a:r>
          <a:r>
            <a:rPr lang="en-US" sz="2000" b="1" dirty="0" err="1" smtClean="0">
              <a:latin typeface="Arial" pitchFamily="34" charset="0"/>
            </a:rPr>
            <a:t>algoritmi</a:t>
          </a:r>
          <a:r>
            <a:rPr lang="en-US" sz="2000" b="1" dirty="0" smtClean="0">
              <a:latin typeface="Arial" pitchFamily="34" charset="0"/>
            </a:rPr>
            <a:t> </a:t>
          </a:r>
          <a:r>
            <a:rPr lang="en-US" sz="2000" b="1" dirty="0" err="1" smtClean="0">
              <a:latin typeface="Arial" pitchFamily="34" charset="0"/>
            </a:rPr>
            <a:t>ish</a:t>
          </a:r>
          <a:r>
            <a:rPr lang="en-US" sz="2000" b="1" dirty="0" smtClean="0">
              <a:latin typeface="Arial" pitchFamily="34" charset="0"/>
            </a:rPr>
            <a:t> </a:t>
          </a:r>
          <a:r>
            <a:rPr lang="en-US" sz="2000" b="1" dirty="0" err="1" smtClean="0">
              <a:latin typeface="Arial" pitchFamily="34" charset="0"/>
            </a:rPr>
            <a:t>rejimlari</a:t>
          </a:r>
          <a:r>
            <a:rPr lang="en-US" sz="2000" b="1" dirty="0" smtClean="0">
              <a:latin typeface="Arial" pitchFamily="34" charset="0"/>
            </a:rPr>
            <a:t>:</a:t>
          </a:r>
          <a:endParaRPr lang="ru-RU" sz="20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LinFactY="47977" custLinFactNeighborX="561" custLinFactNeighborY="1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NeighborY="-29504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185A204E-47AF-48FB-8ED7-79C5596B95D2}" type="presOf" srcId="{05180D63-CA70-44CD-AB70-B4570874155E}" destId="{258288F4-8C82-4F82-8D99-16EEA303237F}" srcOrd="1" destOrd="0" presId="urn:microsoft.com/office/officeart/2005/8/layout/list1"/>
    <dgm:cxn modelId="{81D956CC-CE24-4F79-86B8-81AF23FA5E67}" type="presOf" srcId="{05180D63-CA70-44CD-AB70-B4570874155E}" destId="{BB5D1775-85DD-419E-8748-9578A6C4DD9D}" srcOrd="0" destOrd="0" presId="urn:microsoft.com/office/officeart/2005/8/layout/list1"/>
    <dgm:cxn modelId="{71AA4E8F-1E7B-45A9-BFBA-D4CF68E8B138}" type="presOf" srcId="{3456E1E7-2A7B-4CDD-B060-EF99BF17FF5D}" destId="{15D68BAD-8F6B-4827-9C01-3CDC1119B96E}" srcOrd="0" destOrd="0" presId="urn:microsoft.com/office/officeart/2005/8/layout/list1"/>
    <dgm:cxn modelId="{74585E9D-CFF0-4F94-B853-051164D5DF9F}" type="presParOf" srcId="{15D68BAD-8F6B-4827-9C01-3CDC1119B96E}" destId="{697B0516-B105-4895-B40A-8F5F2831FF39}" srcOrd="0" destOrd="0" presId="urn:microsoft.com/office/officeart/2005/8/layout/list1"/>
    <dgm:cxn modelId="{D6F55F77-D77C-43F3-85B9-CF4AF6884529}" type="presParOf" srcId="{697B0516-B105-4895-B40A-8F5F2831FF39}" destId="{BB5D1775-85DD-419E-8748-9578A6C4DD9D}" srcOrd="0" destOrd="0" presId="urn:microsoft.com/office/officeart/2005/8/layout/list1"/>
    <dgm:cxn modelId="{C3666526-8AFE-4F84-BF2C-0A2A725CF502}" type="presParOf" srcId="{697B0516-B105-4895-B40A-8F5F2831FF39}" destId="{258288F4-8C82-4F82-8D99-16EEA303237F}" srcOrd="1" destOrd="0" presId="urn:microsoft.com/office/officeart/2005/8/layout/list1"/>
    <dgm:cxn modelId="{2BF01576-1B39-422B-8F94-D9A90855510B}" type="presParOf" srcId="{15D68BAD-8F6B-4827-9C01-3CDC1119B96E}" destId="{7B6CC6D5-221F-4BF1-B7B1-B453A24282C7}" srcOrd="1" destOrd="0" presId="urn:microsoft.com/office/officeart/2005/8/layout/list1"/>
    <dgm:cxn modelId="{7ACA88FE-6A93-4D92-B313-3F082ADED91A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 smtClean="0">
              <a:latin typeface="Times New Roman" pitchFamily="18" charset="0"/>
              <a:cs typeface="Times New Roman" pitchFamily="18" charset="0"/>
            </a:rPr>
            <a:t>GOST R 34.12-2015 </a:t>
          </a:r>
          <a:r>
            <a:rPr lang="en-US" sz="2000" b="1" dirty="0" err="1" smtClean="0">
              <a:latin typeface="Times New Roman" pitchFamily="18" charset="0"/>
              <a:cs typeface="Times New Roman" pitchFamily="18" charset="0"/>
            </a:rPr>
            <a:t>standart</a:t>
          </a:r>
          <a:r>
            <a:rPr lang="en-US" sz="2000" b="1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2000" b="1" dirty="0" err="1" smtClean="0">
              <a:latin typeface="Times New Roman" pitchFamily="18" charset="0"/>
              <a:cs typeface="Times New Roman" pitchFamily="18" charset="0"/>
            </a:rPr>
            <a:t>shifrlash</a:t>
          </a:r>
          <a:r>
            <a:rPr lang="en-US" sz="2000" b="1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2000" b="1" dirty="0" err="1" smtClean="0">
              <a:latin typeface="Times New Roman" pitchFamily="18" charset="0"/>
              <a:cs typeface="Times New Roman" pitchFamily="18" charset="0"/>
            </a:rPr>
            <a:t>algoritmi</a:t>
          </a:r>
          <a:endParaRPr lang="ru-RU" sz="20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LinFactY="47977" custLinFactNeighborX="561" custLinFactNeighborY="1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NeighborY="-29504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5CC437B3-67EE-4FA4-878D-F18704101E6A}" type="presOf" srcId="{05180D63-CA70-44CD-AB70-B4570874155E}" destId="{BB5D1775-85DD-419E-8748-9578A6C4DD9D}" srcOrd="0" destOrd="0" presId="urn:microsoft.com/office/officeart/2005/8/layout/list1"/>
    <dgm:cxn modelId="{891F12EE-4560-4156-96EE-508117B2A4BF}" type="presOf" srcId="{3456E1E7-2A7B-4CDD-B060-EF99BF17FF5D}" destId="{15D68BAD-8F6B-4827-9C01-3CDC1119B96E}" srcOrd="0" destOrd="0" presId="urn:microsoft.com/office/officeart/2005/8/layout/list1"/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3AB488D0-E622-40AF-B1E8-C4E43360A6C3}" type="presOf" srcId="{05180D63-CA70-44CD-AB70-B4570874155E}" destId="{258288F4-8C82-4F82-8D99-16EEA303237F}" srcOrd="1" destOrd="0" presId="urn:microsoft.com/office/officeart/2005/8/layout/list1"/>
    <dgm:cxn modelId="{82932E26-FB76-48F3-9FE1-53B54B9B1310}" type="presParOf" srcId="{15D68BAD-8F6B-4827-9C01-3CDC1119B96E}" destId="{697B0516-B105-4895-B40A-8F5F2831FF39}" srcOrd="0" destOrd="0" presId="urn:microsoft.com/office/officeart/2005/8/layout/list1"/>
    <dgm:cxn modelId="{C798A14C-C014-4D35-812F-0D3F3E2AF4C3}" type="presParOf" srcId="{697B0516-B105-4895-B40A-8F5F2831FF39}" destId="{BB5D1775-85DD-419E-8748-9578A6C4DD9D}" srcOrd="0" destOrd="0" presId="urn:microsoft.com/office/officeart/2005/8/layout/list1"/>
    <dgm:cxn modelId="{16866103-F2D8-4C9E-A5F2-54E3E56D44B7}" type="presParOf" srcId="{697B0516-B105-4895-B40A-8F5F2831FF39}" destId="{258288F4-8C82-4F82-8D99-16EEA303237F}" srcOrd="1" destOrd="0" presId="urn:microsoft.com/office/officeart/2005/8/layout/list1"/>
    <dgm:cxn modelId="{97B0ADF1-BFD0-4623-BCB5-2C4CC6C91BA3}" type="presParOf" srcId="{15D68BAD-8F6B-4827-9C01-3CDC1119B96E}" destId="{7B6CC6D5-221F-4BF1-B7B1-B453A24282C7}" srcOrd="1" destOrd="0" presId="urn:microsoft.com/office/officeart/2005/8/layout/list1"/>
    <dgm:cxn modelId="{94455F1D-D174-4C83-B96A-232B1107B8D4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GOST R 34.12-2015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algoritmida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ishlatilgan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akslantirishlar</a:t>
          </a:r>
          <a:endParaRPr lang="ru-RU" sz="20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ScaleY="157302" custLinFactY="176600" custLinFactNeighborX="81676" custLinFactNeighborY="2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Y="66016" custLinFactNeighborX="1639" custLinFactNeighborY="100000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6C5F30FC-07DB-4609-A0EA-7F70023874AB}" type="presOf" srcId="{05180D63-CA70-44CD-AB70-B4570874155E}" destId="{BB5D1775-85DD-419E-8748-9578A6C4DD9D}" srcOrd="0" destOrd="0" presId="urn:microsoft.com/office/officeart/2005/8/layout/list1"/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19B8841E-75BF-4AD7-BAB2-7C2F8657E427}" type="presOf" srcId="{05180D63-CA70-44CD-AB70-B4570874155E}" destId="{258288F4-8C82-4F82-8D99-16EEA303237F}" srcOrd="1" destOrd="0" presId="urn:microsoft.com/office/officeart/2005/8/layout/list1"/>
    <dgm:cxn modelId="{D5935E36-61A4-4C45-933A-ADB9196FEBAF}" type="presOf" srcId="{3456E1E7-2A7B-4CDD-B060-EF99BF17FF5D}" destId="{15D68BAD-8F6B-4827-9C01-3CDC1119B96E}" srcOrd="0" destOrd="0" presId="urn:microsoft.com/office/officeart/2005/8/layout/list1"/>
    <dgm:cxn modelId="{3549823C-7291-4E4E-A09C-6D71E77BAF34}" type="presParOf" srcId="{15D68BAD-8F6B-4827-9C01-3CDC1119B96E}" destId="{697B0516-B105-4895-B40A-8F5F2831FF39}" srcOrd="0" destOrd="0" presId="urn:microsoft.com/office/officeart/2005/8/layout/list1"/>
    <dgm:cxn modelId="{03B27C7F-F870-416B-931B-18CD8A9C888A}" type="presParOf" srcId="{697B0516-B105-4895-B40A-8F5F2831FF39}" destId="{BB5D1775-85DD-419E-8748-9578A6C4DD9D}" srcOrd="0" destOrd="0" presId="urn:microsoft.com/office/officeart/2005/8/layout/list1"/>
    <dgm:cxn modelId="{BAAE9B61-3B14-488A-95D8-00E9ED8C0C3E}" type="presParOf" srcId="{697B0516-B105-4895-B40A-8F5F2831FF39}" destId="{258288F4-8C82-4F82-8D99-16EEA303237F}" srcOrd="1" destOrd="0" presId="urn:microsoft.com/office/officeart/2005/8/layout/list1"/>
    <dgm:cxn modelId="{8F3D4BF9-9C57-48B3-B936-DE948CF6BDAB}" type="presParOf" srcId="{15D68BAD-8F6B-4827-9C01-3CDC1119B96E}" destId="{7B6CC6D5-221F-4BF1-B7B1-B453A24282C7}" srcOrd="1" destOrd="0" presId="urn:microsoft.com/office/officeart/2005/8/layout/list1"/>
    <dgm:cxn modelId="{BBC87B1D-362F-4400-81B5-FC46999020BD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800" b="1" dirty="0" err="1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Raund</a:t>
          </a:r>
          <a:r>
            <a:rPr lang="en-US" sz="2800" b="1" dirty="0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 </a:t>
          </a:r>
          <a:r>
            <a:rPr lang="en-US" sz="2800" b="1" dirty="0" err="1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kalitlari</a:t>
          </a:r>
          <a:r>
            <a:rPr lang="en-US" sz="2800" b="1" dirty="0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 </a:t>
          </a:r>
          <a:r>
            <a:rPr lang="en-US" sz="2800" b="1" dirty="0" err="1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generatsiyasi</a:t>
          </a:r>
          <a:endParaRPr lang="ru-RU" sz="28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ScaleY="157302" custLinFactY="176600" custLinFactNeighborX="81676" custLinFactNeighborY="2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Y="66016" custLinFactNeighborX="1639" custLinFactNeighborY="100000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E4D70480-D523-4907-AC22-36EA429846A5}" type="presOf" srcId="{05180D63-CA70-44CD-AB70-B4570874155E}" destId="{BB5D1775-85DD-419E-8748-9578A6C4DD9D}" srcOrd="0" destOrd="0" presId="urn:microsoft.com/office/officeart/2005/8/layout/list1"/>
    <dgm:cxn modelId="{447A198C-62CD-4212-9C6C-0CF3E71FEF79}" type="presOf" srcId="{05180D63-CA70-44CD-AB70-B4570874155E}" destId="{258288F4-8C82-4F82-8D99-16EEA303237F}" srcOrd="1" destOrd="0" presId="urn:microsoft.com/office/officeart/2005/8/layout/list1"/>
    <dgm:cxn modelId="{56D5890A-C621-4C8E-8C82-22135A5C2E95}" type="presOf" srcId="{3456E1E7-2A7B-4CDD-B060-EF99BF17FF5D}" destId="{15D68BAD-8F6B-4827-9C01-3CDC1119B96E}" srcOrd="0" destOrd="0" presId="urn:microsoft.com/office/officeart/2005/8/layout/list1"/>
    <dgm:cxn modelId="{14BACF6F-3C81-4D06-81EA-6C395C86446F}" type="presParOf" srcId="{15D68BAD-8F6B-4827-9C01-3CDC1119B96E}" destId="{697B0516-B105-4895-B40A-8F5F2831FF39}" srcOrd="0" destOrd="0" presId="urn:microsoft.com/office/officeart/2005/8/layout/list1"/>
    <dgm:cxn modelId="{48F90453-C588-49FA-9CD7-1473658B1C1F}" type="presParOf" srcId="{697B0516-B105-4895-B40A-8F5F2831FF39}" destId="{BB5D1775-85DD-419E-8748-9578A6C4DD9D}" srcOrd="0" destOrd="0" presId="urn:microsoft.com/office/officeart/2005/8/layout/list1"/>
    <dgm:cxn modelId="{A351B9BF-4D08-440D-8439-3D2257A93CDA}" type="presParOf" srcId="{697B0516-B105-4895-B40A-8F5F2831FF39}" destId="{258288F4-8C82-4F82-8D99-16EEA303237F}" srcOrd="1" destOrd="0" presId="urn:microsoft.com/office/officeart/2005/8/layout/list1"/>
    <dgm:cxn modelId="{AE1D7385-F474-425E-BEEA-546344ED49E9}" type="presParOf" srcId="{15D68BAD-8F6B-4827-9C01-3CDC1119B96E}" destId="{7B6CC6D5-221F-4BF1-B7B1-B453A24282C7}" srcOrd="1" destOrd="0" presId="urn:microsoft.com/office/officeart/2005/8/layout/list1"/>
    <dgm:cxn modelId="{5C17491B-BDF4-4E77-8698-A0191AA9C4CD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800" b="1" dirty="0" err="1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Raund</a:t>
          </a:r>
          <a:r>
            <a:rPr lang="en-US" sz="2800" b="1" dirty="0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 </a:t>
          </a:r>
          <a:r>
            <a:rPr lang="en-US" sz="2800" b="1" dirty="0" err="1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kalitlari</a:t>
          </a:r>
          <a:r>
            <a:rPr lang="en-US" sz="2800" b="1" dirty="0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 </a:t>
          </a:r>
          <a:r>
            <a:rPr lang="en-US" sz="2800" b="1" dirty="0" err="1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generatsiyasi</a:t>
          </a:r>
          <a:endParaRPr lang="ru-RU" sz="28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ScaleY="157302" custLinFactY="176600" custLinFactNeighborX="81676" custLinFactNeighborY="2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Y="66016" custLinFactNeighborX="1639" custLinFactNeighborY="100000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24A2A00A-F53F-4AFD-94E8-83955C5E4A48}" type="presOf" srcId="{3456E1E7-2A7B-4CDD-B060-EF99BF17FF5D}" destId="{15D68BAD-8F6B-4827-9C01-3CDC1119B96E}" srcOrd="0" destOrd="0" presId="urn:microsoft.com/office/officeart/2005/8/layout/list1"/>
    <dgm:cxn modelId="{458B8A70-82C4-49E8-A818-21CCB4CD2126}" type="presOf" srcId="{05180D63-CA70-44CD-AB70-B4570874155E}" destId="{BB5D1775-85DD-419E-8748-9578A6C4DD9D}" srcOrd="0" destOrd="0" presId="urn:microsoft.com/office/officeart/2005/8/layout/list1"/>
    <dgm:cxn modelId="{BF33BDED-2B5F-45A7-B44B-146EE5D53DB9}" type="presOf" srcId="{05180D63-CA70-44CD-AB70-B4570874155E}" destId="{258288F4-8C82-4F82-8D99-16EEA303237F}" srcOrd="1" destOrd="0" presId="urn:microsoft.com/office/officeart/2005/8/layout/list1"/>
    <dgm:cxn modelId="{CD6CAAE5-D33E-4D9A-866A-E96B92C5EE59}" type="presParOf" srcId="{15D68BAD-8F6B-4827-9C01-3CDC1119B96E}" destId="{697B0516-B105-4895-B40A-8F5F2831FF39}" srcOrd="0" destOrd="0" presId="urn:microsoft.com/office/officeart/2005/8/layout/list1"/>
    <dgm:cxn modelId="{ABC1AB27-C25F-4E29-AB07-DDFF63DD9C10}" type="presParOf" srcId="{697B0516-B105-4895-B40A-8F5F2831FF39}" destId="{BB5D1775-85DD-419E-8748-9578A6C4DD9D}" srcOrd="0" destOrd="0" presId="urn:microsoft.com/office/officeart/2005/8/layout/list1"/>
    <dgm:cxn modelId="{9A2EB2DE-838D-486D-87EE-C5907AAA5292}" type="presParOf" srcId="{697B0516-B105-4895-B40A-8F5F2831FF39}" destId="{258288F4-8C82-4F82-8D99-16EEA303237F}" srcOrd="1" destOrd="0" presId="urn:microsoft.com/office/officeart/2005/8/layout/list1"/>
    <dgm:cxn modelId="{4558D3E3-20BA-4420-AFB1-CC59D1AF258F}" type="presParOf" srcId="{15D68BAD-8F6B-4827-9C01-3CDC1119B96E}" destId="{7B6CC6D5-221F-4BF1-B7B1-B453A24282C7}" srcOrd="1" destOrd="0" presId="urn:microsoft.com/office/officeart/2005/8/layout/list1"/>
    <dgm:cxn modelId="{611EEB52-F417-4618-A09D-BBFBA64DCC40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GOST R 34.13-2015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standart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bo’yicha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blokli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ish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rejimlari</a:t>
          </a:r>
          <a:endParaRPr lang="ru-RU" sz="20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LinFactY="47977" custLinFactNeighborX="561" custLinFactNeighborY="1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NeighborY="-29504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9C449344-B73B-4BC6-80FC-5357160CB0F8}" type="presOf" srcId="{05180D63-CA70-44CD-AB70-B4570874155E}" destId="{BB5D1775-85DD-419E-8748-9578A6C4DD9D}" srcOrd="0" destOrd="0" presId="urn:microsoft.com/office/officeart/2005/8/layout/list1"/>
    <dgm:cxn modelId="{01A31170-5CCD-45E0-AB2C-D95E79EEDA79}" type="presOf" srcId="{3456E1E7-2A7B-4CDD-B060-EF99BF17FF5D}" destId="{15D68BAD-8F6B-4827-9C01-3CDC1119B96E}" srcOrd="0" destOrd="0" presId="urn:microsoft.com/office/officeart/2005/8/layout/list1"/>
    <dgm:cxn modelId="{09E49116-7825-49D9-B673-757487196688}" type="presOf" srcId="{05180D63-CA70-44CD-AB70-B4570874155E}" destId="{258288F4-8C82-4F82-8D99-16EEA303237F}" srcOrd="1" destOrd="0" presId="urn:microsoft.com/office/officeart/2005/8/layout/list1"/>
    <dgm:cxn modelId="{9DB96564-DE86-407A-8CC4-563C77E1D971}" type="presParOf" srcId="{15D68BAD-8F6B-4827-9C01-3CDC1119B96E}" destId="{697B0516-B105-4895-B40A-8F5F2831FF39}" srcOrd="0" destOrd="0" presId="urn:microsoft.com/office/officeart/2005/8/layout/list1"/>
    <dgm:cxn modelId="{214A88D4-B790-4BA6-9E50-419296D9E744}" type="presParOf" srcId="{697B0516-B105-4895-B40A-8F5F2831FF39}" destId="{BB5D1775-85DD-419E-8748-9578A6C4DD9D}" srcOrd="0" destOrd="0" presId="urn:microsoft.com/office/officeart/2005/8/layout/list1"/>
    <dgm:cxn modelId="{D6F9F004-5EE7-4BF0-BF18-7027B78A7E4A}" type="presParOf" srcId="{697B0516-B105-4895-B40A-8F5F2831FF39}" destId="{258288F4-8C82-4F82-8D99-16EEA303237F}" srcOrd="1" destOrd="0" presId="urn:microsoft.com/office/officeart/2005/8/layout/list1"/>
    <dgm:cxn modelId="{C8FA2CCB-1336-400B-B480-510BAE89A81B}" type="presParOf" srcId="{15D68BAD-8F6B-4827-9C01-3CDC1119B96E}" destId="{7B6CC6D5-221F-4BF1-B7B1-B453A24282C7}" srcOrd="1" destOrd="0" presId="urn:microsoft.com/office/officeart/2005/8/layout/list1"/>
    <dgm:cxn modelId="{297F5415-A402-4BDF-92DB-8BA3DCABC722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2.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Gammalash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rejimi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(Counter, CTR)</a:t>
          </a:r>
          <a:endParaRPr lang="ru-RU" sz="20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ScaleY="139820" custLinFactNeighborX="561" custLinFactNeighborY="2919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Y="66016" custLinFactNeighborX="1639" custLinFactNeighborY="100000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92C24D0C-39FF-42AB-8CC1-927A863FD883}" type="presOf" srcId="{3456E1E7-2A7B-4CDD-B060-EF99BF17FF5D}" destId="{15D68BAD-8F6B-4827-9C01-3CDC1119B96E}" srcOrd="0" destOrd="0" presId="urn:microsoft.com/office/officeart/2005/8/layout/list1"/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E3F409B5-1271-482F-9F1E-F1BB1B88B868}" type="presOf" srcId="{05180D63-CA70-44CD-AB70-B4570874155E}" destId="{258288F4-8C82-4F82-8D99-16EEA303237F}" srcOrd="1" destOrd="0" presId="urn:microsoft.com/office/officeart/2005/8/layout/list1"/>
    <dgm:cxn modelId="{D99D3D50-1740-4A18-8DB7-95F25424F3D8}" type="presOf" srcId="{05180D63-CA70-44CD-AB70-B4570874155E}" destId="{BB5D1775-85DD-419E-8748-9578A6C4DD9D}" srcOrd="0" destOrd="0" presId="urn:microsoft.com/office/officeart/2005/8/layout/list1"/>
    <dgm:cxn modelId="{EA0A11F5-3EEF-46E7-88E3-0D274E61594D}" type="presParOf" srcId="{15D68BAD-8F6B-4827-9C01-3CDC1119B96E}" destId="{697B0516-B105-4895-B40A-8F5F2831FF39}" srcOrd="0" destOrd="0" presId="urn:microsoft.com/office/officeart/2005/8/layout/list1"/>
    <dgm:cxn modelId="{3049C450-BAD5-4232-A9E4-DDB37B529D7E}" type="presParOf" srcId="{697B0516-B105-4895-B40A-8F5F2831FF39}" destId="{BB5D1775-85DD-419E-8748-9578A6C4DD9D}" srcOrd="0" destOrd="0" presId="urn:microsoft.com/office/officeart/2005/8/layout/list1"/>
    <dgm:cxn modelId="{AE583F22-8264-4E18-8E75-9FA2E2E5064A}" type="presParOf" srcId="{697B0516-B105-4895-B40A-8F5F2831FF39}" destId="{258288F4-8C82-4F82-8D99-16EEA303237F}" srcOrd="1" destOrd="0" presId="urn:microsoft.com/office/officeart/2005/8/layout/list1"/>
    <dgm:cxn modelId="{97D2851D-C070-4A14-BF05-AE7048071EE6}" type="presParOf" srcId="{15D68BAD-8F6B-4827-9C01-3CDC1119B96E}" destId="{7B6CC6D5-221F-4BF1-B7B1-B453A24282C7}" srcOrd="1" destOrd="0" presId="urn:microsoft.com/office/officeart/2005/8/layout/list1"/>
    <dgm:cxn modelId="{F261B8B8-3D2F-48FA-A97B-E2AD4BB27BE9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sv-SE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3. Chiqish bo‘yicha teskari aloqali gammalash rejimi </a:t>
          </a:r>
          <a:endParaRPr lang="ru-RU" sz="20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ScaleY="157302" custLinFactY="176600" custLinFactNeighborX="81676" custLinFactNeighborY="2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Y="66016" custLinFactNeighborX="1639" custLinFactNeighborY="100000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78435717-573B-4967-AFBE-4B45EABF85E8}" type="presOf" srcId="{3456E1E7-2A7B-4CDD-B060-EF99BF17FF5D}" destId="{15D68BAD-8F6B-4827-9C01-3CDC1119B96E}" srcOrd="0" destOrd="0" presId="urn:microsoft.com/office/officeart/2005/8/layout/list1"/>
    <dgm:cxn modelId="{ED066506-2C52-4528-B926-4BBB447375FC}" type="presOf" srcId="{05180D63-CA70-44CD-AB70-B4570874155E}" destId="{BB5D1775-85DD-419E-8748-9578A6C4DD9D}" srcOrd="0" destOrd="0" presId="urn:microsoft.com/office/officeart/2005/8/layout/list1"/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C04EF477-7B76-4D5F-8E9C-AB8156E4B9F1}" type="presOf" srcId="{05180D63-CA70-44CD-AB70-B4570874155E}" destId="{258288F4-8C82-4F82-8D99-16EEA303237F}" srcOrd="1" destOrd="0" presId="urn:microsoft.com/office/officeart/2005/8/layout/list1"/>
    <dgm:cxn modelId="{4E84B5A2-79A5-473C-ACCF-3B0A0B021D38}" type="presParOf" srcId="{15D68BAD-8F6B-4827-9C01-3CDC1119B96E}" destId="{697B0516-B105-4895-B40A-8F5F2831FF39}" srcOrd="0" destOrd="0" presId="urn:microsoft.com/office/officeart/2005/8/layout/list1"/>
    <dgm:cxn modelId="{FD1FEE34-45DA-4B54-94E2-45B1F7BA3FD9}" type="presParOf" srcId="{697B0516-B105-4895-B40A-8F5F2831FF39}" destId="{BB5D1775-85DD-419E-8748-9578A6C4DD9D}" srcOrd="0" destOrd="0" presId="urn:microsoft.com/office/officeart/2005/8/layout/list1"/>
    <dgm:cxn modelId="{D6B6461A-8FE1-4AFB-AEBE-15373522A2F2}" type="presParOf" srcId="{697B0516-B105-4895-B40A-8F5F2831FF39}" destId="{258288F4-8C82-4F82-8D99-16EEA303237F}" srcOrd="1" destOrd="0" presId="urn:microsoft.com/office/officeart/2005/8/layout/list1"/>
    <dgm:cxn modelId="{1B0860F1-8DE5-4A11-A3DB-205A84309BCB}" type="presParOf" srcId="{15D68BAD-8F6B-4827-9C01-3CDC1119B96E}" destId="{7B6CC6D5-221F-4BF1-B7B1-B453A24282C7}" srcOrd="1" destOrd="0" presId="urn:microsoft.com/office/officeart/2005/8/layout/list1"/>
    <dgm:cxn modelId="{3ED934FA-47CD-411B-8750-852172E709CF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4.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Ilaktirishli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oddiy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almashtirish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rejimi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ru-RU" sz="20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ScaleY="157302" custLinFactY="176600" custLinFactNeighborX="81676" custLinFactNeighborY="2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Y="66016" custLinFactNeighborX="1639" custLinFactNeighborY="100000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D98D4EC5-704A-4CE1-B3DF-40920F2B8F87}" type="presOf" srcId="{05180D63-CA70-44CD-AB70-B4570874155E}" destId="{BB5D1775-85DD-419E-8748-9578A6C4DD9D}" srcOrd="0" destOrd="0" presId="urn:microsoft.com/office/officeart/2005/8/layout/list1"/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8AFF08D2-5F6A-4938-90F6-06B7C45822BD}" type="presOf" srcId="{05180D63-CA70-44CD-AB70-B4570874155E}" destId="{258288F4-8C82-4F82-8D99-16EEA303237F}" srcOrd="1" destOrd="0" presId="urn:microsoft.com/office/officeart/2005/8/layout/list1"/>
    <dgm:cxn modelId="{054850D8-9A02-4B76-AF8C-B94874DA9D42}" type="presOf" srcId="{3456E1E7-2A7B-4CDD-B060-EF99BF17FF5D}" destId="{15D68BAD-8F6B-4827-9C01-3CDC1119B96E}" srcOrd="0" destOrd="0" presId="urn:microsoft.com/office/officeart/2005/8/layout/list1"/>
    <dgm:cxn modelId="{53DBB5B6-BACA-4EFE-9176-02AE479CB51C}" type="presParOf" srcId="{15D68BAD-8F6B-4827-9C01-3CDC1119B96E}" destId="{697B0516-B105-4895-B40A-8F5F2831FF39}" srcOrd="0" destOrd="0" presId="urn:microsoft.com/office/officeart/2005/8/layout/list1"/>
    <dgm:cxn modelId="{B39F5502-FFE1-49A9-8768-F59A0EDCA3E6}" type="presParOf" srcId="{697B0516-B105-4895-B40A-8F5F2831FF39}" destId="{BB5D1775-85DD-419E-8748-9578A6C4DD9D}" srcOrd="0" destOrd="0" presId="urn:microsoft.com/office/officeart/2005/8/layout/list1"/>
    <dgm:cxn modelId="{F49FF8EF-864B-4938-BD25-65D5A6BE3493}" type="presParOf" srcId="{697B0516-B105-4895-B40A-8F5F2831FF39}" destId="{258288F4-8C82-4F82-8D99-16EEA303237F}" srcOrd="1" destOrd="0" presId="urn:microsoft.com/office/officeart/2005/8/layout/list1"/>
    <dgm:cxn modelId="{63B9EA33-33E0-4E7B-ACF2-27868732147A}" type="presParOf" srcId="{15D68BAD-8F6B-4827-9C01-3CDC1119B96E}" destId="{7B6CC6D5-221F-4BF1-B7B1-B453A24282C7}" srcOrd="1" destOrd="0" presId="urn:microsoft.com/office/officeart/2005/8/layout/list1"/>
    <dgm:cxn modelId="{051B3995-2AF1-42A4-8824-77D3A8CB3FC3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5.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Shifrmatn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bo‘yicha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teskari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aloqali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gammalash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rejimi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ru-RU" sz="20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ScaleY="157302" custLinFactY="176600" custLinFactNeighborX="81676" custLinFactNeighborY="2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Y="66016" custLinFactNeighborX="1639" custLinFactNeighborY="100000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02A0D492-007D-4BE1-A035-2D86C05882A8}" type="presOf" srcId="{3456E1E7-2A7B-4CDD-B060-EF99BF17FF5D}" destId="{15D68BAD-8F6B-4827-9C01-3CDC1119B96E}" srcOrd="0" destOrd="0" presId="urn:microsoft.com/office/officeart/2005/8/layout/list1"/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AD1C3FB2-3056-473A-B4C6-6F3B68ED7A49}" type="presOf" srcId="{05180D63-CA70-44CD-AB70-B4570874155E}" destId="{BB5D1775-85DD-419E-8748-9578A6C4DD9D}" srcOrd="0" destOrd="0" presId="urn:microsoft.com/office/officeart/2005/8/layout/list1"/>
    <dgm:cxn modelId="{8194D39B-CA06-498B-BAF4-931F17235318}" type="presOf" srcId="{05180D63-CA70-44CD-AB70-B4570874155E}" destId="{258288F4-8C82-4F82-8D99-16EEA303237F}" srcOrd="1" destOrd="0" presId="urn:microsoft.com/office/officeart/2005/8/layout/list1"/>
    <dgm:cxn modelId="{E4B2B709-4923-4DBB-8B14-21B806AFE376}" type="presParOf" srcId="{15D68BAD-8F6B-4827-9C01-3CDC1119B96E}" destId="{697B0516-B105-4895-B40A-8F5F2831FF39}" srcOrd="0" destOrd="0" presId="urn:microsoft.com/office/officeart/2005/8/layout/list1"/>
    <dgm:cxn modelId="{4CC6A089-E158-44EE-8E91-3FC1BD381DEC}" type="presParOf" srcId="{697B0516-B105-4895-B40A-8F5F2831FF39}" destId="{BB5D1775-85DD-419E-8748-9578A6C4DD9D}" srcOrd="0" destOrd="0" presId="urn:microsoft.com/office/officeart/2005/8/layout/list1"/>
    <dgm:cxn modelId="{CEC812D5-5F16-4835-BE24-1A2FACB9546C}" type="presParOf" srcId="{697B0516-B105-4895-B40A-8F5F2831FF39}" destId="{258288F4-8C82-4F82-8D99-16EEA303237F}" srcOrd="1" destOrd="0" presId="urn:microsoft.com/office/officeart/2005/8/layout/list1"/>
    <dgm:cxn modelId="{20CCC9EA-3352-4CEE-9D15-321D7A84CC14}" type="presParOf" srcId="{15D68BAD-8F6B-4827-9C01-3CDC1119B96E}" destId="{7B6CC6D5-221F-4BF1-B7B1-B453A24282C7}" srcOrd="1" destOrd="0" presId="urn:microsoft.com/office/officeart/2005/8/layout/list1"/>
    <dgm:cxn modelId="{B27869D1-2C84-488E-9882-48B74F42FE6A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6.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Imitoqo’shish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ishlab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chiqish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rejimi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ru-RU" sz="20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ScaleY="157302" custLinFactY="176600" custLinFactNeighborX="81676" custLinFactNeighborY="2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Y="66016" custLinFactNeighborX="1639" custLinFactNeighborY="100000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695755CF-F280-4FF8-A4D7-F8D75EBC6024}" type="presOf" srcId="{3456E1E7-2A7B-4CDD-B060-EF99BF17FF5D}" destId="{15D68BAD-8F6B-4827-9C01-3CDC1119B96E}" srcOrd="0" destOrd="0" presId="urn:microsoft.com/office/officeart/2005/8/layout/list1"/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894ACDC0-A5A5-435B-829E-685700EF56C8}" type="presOf" srcId="{05180D63-CA70-44CD-AB70-B4570874155E}" destId="{BB5D1775-85DD-419E-8748-9578A6C4DD9D}" srcOrd="0" destOrd="0" presId="urn:microsoft.com/office/officeart/2005/8/layout/list1"/>
    <dgm:cxn modelId="{6FA5C215-229F-4EE4-9747-75C1150BB99C}" type="presOf" srcId="{05180D63-CA70-44CD-AB70-B4570874155E}" destId="{258288F4-8C82-4F82-8D99-16EEA303237F}" srcOrd="1" destOrd="0" presId="urn:microsoft.com/office/officeart/2005/8/layout/list1"/>
    <dgm:cxn modelId="{FDDE435A-3BB0-401D-8416-8F6F98489EA1}" type="presParOf" srcId="{15D68BAD-8F6B-4827-9C01-3CDC1119B96E}" destId="{697B0516-B105-4895-B40A-8F5F2831FF39}" srcOrd="0" destOrd="0" presId="urn:microsoft.com/office/officeart/2005/8/layout/list1"/>
    <dgm:cxn modelId="{2DD4CAB8-5BC1-4ED8-A3BB-A10A51C09B02}" type="presParOf" srcId="{697B0516-B105-4895-B40A-8F5F2831FF39}" destId="{BB5D1775-85DD-419E-8748-9578A6C4DD9D}" srcOrd="0" destOrd="0" presId="urn:microsoft.com/office/officeart/2005/8/layout/list1"/>
    <dgm:cxn modelId="{F167C80A-22C0-44DC-9BED-C55491A3EA76}" type="presParOf" srcId="{697B0516-B105-4895-B40A-8F5F2831FF39}" destId="{258288F4-8C82-4F82-8D99-16EEA303237F}" srcOrd="1" destOrd="0" presId="urn:microsoft.com/office/officeart/2005/8/layout/list1"/>
    <dgm:cxn modelId="{4C23940A-9EFF-4CDC-A5A4-D828735912D2}" type="presParOf" srcId="{15D68BAD-8F6B-4827-9C01-3CDC1119B96E}" destId="{7B6CC6D5-221F-4BF1-B7B1-B453A24282C7}" srcOrd="1" destOrd="0" presId="urn:microsoft.com/office/officeart/2005/8/layout/list1"/>
    <dgm:cxn modelId="{3434FBC9-BB31-468E-9D22-E4E69750BCCE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12A086-8C95-4C7A-9214-2EDCDBAAC303}">
      <dsp:nvSpPr>
        <dsp:cNvPr id="0" name=""/>
        <dsp:cNvSpPr/>
      </dsp:nvSpPr>
      <dsp:spPr>
        <a:xfrm>
          <a:off x="1551753" y="435117"/>
          <a:ext cx="5618578" cy="707878"/>
        </a:xfrm>
        <a:prstGeom prst="rightArrow">
          <a:avLst/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4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CE423292-3AEB-4D68-9021-3E96D5261507}">
      <dsp:nvSpPr>
        <dsp:cNvPr id="0" name=""/>
        <dsp:cNvSpPr/>
      </dsp:nvSpPr>
      <dsp:spPr>
        <a:xfrm>
          <a:off x="737181" y="119049"/>
          <a:ext cx="6014468" cy="134001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2286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b="1" i="0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ГОСТ Р 34.12–2015 Россия </a:t>
          </a:r>
          <a:r>
            <a:rPr lang="ru-RU" sz="2400" b="1" i="0" kern="1200" dirty="0" err="1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блокли</a:t>
          </a:r>
          <a:r>
            <a:rPr lang="ru-RU" sz="2400" b="1" i="0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400" b="1" i="0" kern="1200" dirty="0" err="1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шифрлаш</a:t>
          </a:r>
          <a:r>
            <a:rPr lang="ru-RU" sz="2400" b="1" i="0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400" b="1" i="0" kern="1200" dirty="0" err="1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стандарти</a:t>
          </a:r>
          <a:r>
            <a:rPr lang="ru-RU" sz="2400" b="1" i="0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. ГОСТ Р 34.13–2015 Россия </a:t>
          </a:r>
          <a:r>
            <a:rPr lang="ru-RU" sz="2400" b="1" i="0" kern="1200" dirty="0" err="1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блокли</a:t>
          </a:r>
          <a:r>
            <a:rPr lang="ru-RU" sz="2400" b="1" i="0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400" b="1" i="0" kern="1200" dirty="0" err="1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шифри</a:t>
          </a:r>
          <a:r>
            <a:rPr lang="ru-RU" sz="2400" b="1" i="0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400" b="1" i="0" kern="1200" dirty="0" err="1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иш</a:t>
          </a:r>
          <a:r>
            <a:rPr lang="ru-RU" sz="2400" b="1" i="0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400" b="1" i="0" kern="1200" dirty="0" err="1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режимлари</a:t>
          </a:r>
          <a:r>
            <a:rPr lang="ru-RU" sz="2400" b="1" i="0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.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802595" y="184463"/>
        <a:ext cx="5883640" cy="12091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562199"/>
          <a:ext cx="9296400" cy="4284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01195"/>
          <a:ext cx="8837645" cy="7894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GOST 28147-89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algoritmining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i-raund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sxemasi</a:t>
          </a:r>
          <a:endParaRPr lang="ru-RU" sz="20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7290" y="239731"/>
        <a:ext cx="8760573" cy="7123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562199"/>
          <a:ext cx="9296400" cy="4284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01195"/>
          <a:ext cx="8837645" cy="7894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GOST 28147-89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algoritmida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ishlatilgan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akslantirishlar</a:t>
          </a:r>
          <a:endParaRPr lang="ru-RU" sz="20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7290" y="239731"/>
        <a:ext cx="8760573" cy="7123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562199"/>
          <a:ext cx="9296400" cy="4284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01195"/>
          <a:ext cx="8837645" cy="7894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GOST 28147-89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algoritmida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raund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kalitlari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generatsiyasi</a:t>
          </a:r>
          <a:endParaRPr lang="ru-RU" sz="20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7290" y="239731"/>
        <a:ext cx="8760573" cy="71233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214904"/>
          <a:ext cx="9296400" cy="5040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22400"/>
          <a:ext cx="8837645" cy="5904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latin typeface="Arial" pitchFamily="34" charset="0"/>
            </a:rPr>
            <a:t>GOST 28147-89 </a:t>
          </a:r>
          <a:r>
            <a:rPr lang="en-US" sz="2000" b="1" kern="1200" dirty="0" err="1" smtClean="0">
              <a:latin typeface="Arial" pitchFamily="34" charset="0"/>
            </a:rPr>
            <a:t>shifrlash</a:t>
          </a:r>
          <a:r>
            <a:rPr lang="en-US" sz="2000" b="1" kern="1200" dirty="0" smtClean="0">
              <a:latin typeface="Arial" pitchFamily="34" charset="0"/>
            </a:rPr>
            <a:t> </a:t>
          </a:r>
          <a:r>
            <a:rPr lang="en-US" sz="2000" b="1" kern="1200" dirty="0" err="1" smtClean="0">
              <a:latin typeface="Arial" pitchFamily="34" charset="0"/>
            </a:rPr>
            <a:t>algoritmi</a:t>
          </a:r>
          <a:r>
            <a:rPr lang="en-US" sz="2000" b="1" kern="1200" dirty="0" smtClean="0">
              <a:latin typeface="Arial" pitchFamily="34" charset="0"/>
            </a:rPr>
            <a:t> </a:t>
          </a:r>
          <a:r>
            <a:rPr lang="en-US" sz="2000" b="1" kern="1200" dirty="0" err="1" smtClean="0">
              <a:latin typeface="Arial" pitchFamily="34" charset="0"/>
            </a:rPr>
            <a:t>ish</a:t>
          </a:r>
          <a:r>
            <a:rPr lang="en-US" sz="2000" b="1" kern="1200" dirty="0" smtClean="0">
              <a:latin typeface="Arial" pitchFamily="34" charset="0"/>
            </a:rPr>
            <a:t> </a:t>
          </a:r>
          <a:r>
            <a:rPr lang="en-US" sz="2000" b="1" kern="1200" dirty="0" err="1" smtClean="0">
              <a:latin typeface="Arial" pitchFamily="34" charset="0"/>
            </a:rPr>
            <a:t>rejimlari</a:t>
          </a:r>
          <a:r>
            <a:rPr lang="en-US" sz="2000" b="1" kern="1200" dirty="0" smtClean="0">
              <a:latin typeface="Arial" pitchFamily="34" charset="0"/>
            </a:rPr>
            <a:t>:</a:t>
          </a:r>
          <a:endParaRPr lang="ru-RU" sz="20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87575" y="251221"/>
        <a:ext cx="8780003" cy="53275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265505"/>
          <a:ext cx="9296400" cy="6048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82119"/>
          <a:ext cx="8837645" cy="7084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latin typeface="Times New Roman" pitchFamily="18" charset="0"/>
              <a:cs typeface="Times New Roman" pitchFamily="18" charset="0"/>
            </a:rPr>
            <a:t>GOST R 34.12-2015 </a:t>
          </a:r>
          <a:r>
            <a:rPr lang="en-US" sz="2000" b="1" kern="1200" dirty="0" err="1" smtClean="0">
              <a:latin typeface="Times New Roman" pitchFamily="18" charset="0"/>
              <a:cs typeface="Times New Roman" pitchFamily="18" charset="0"/>
            </a:rPr>
            <a:t>standart</a:t>
          </a:r>
          <a:r>
            <a:rPr lang="en-US" sz="2000" b="1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2000" b="1" kern="1200" dirty="0" err="1" smtClean="0">
              <a:latin typeface="Times New Roman" pitchFamily="18" charset="0"/>
              <a:cs typeface="Times New Roman" pitchFamily="18" charset="0"/>
            </a:rPr>
            <a:t>shifrlash</a:t>
          </a:r>
          <a:r>
            <a:rPr lang="en-US" sz="2000" b="1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2000" b="1" kern="1200" dirty="0" err="1" smtClean="0">
              <a:latin typeface="Times New Roman" pitchFamily="18" charset="0"/>
              <a:cs typeface="Times New Roman" pitchFamily="18" charset="0"/>
            </a:rPr>
            <a:t>algoritmi</a:t>
          </a:r>
          <a:endParaRPr lang="ru-RU" sz="20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3339" y="316704"/>
        <a:ext cx="8768475" cy="63931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562199"/>
          <a:ext cx="9296400" cy="4284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01195"/>
          <a:ext cx="8837645" cy="7894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GOST R 34.12-2015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algoritmida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ishlatilgan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akslantirishlar</a:t>
          </a:r>
          <a:endParaRPr lang="ru-RU" sz="20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7290" y="239731"/>
        <a:ext cx="8760573" cy="71233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562199"/>
          <a:ext cx="9296400" cy="4284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01195"/>
          <a:ext cx="8837645" cy="7894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err="1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Raund</a:t>
          </a:r>
          <a:r>
            <a:rPr lang="en-US" sz="2800" b="1" kern="1200" dirty="0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 </a:t>
          </a:r>
          <a:r>
            <a:rPr lang="en-US" sz="2800" b="1" kern="1200" dirty="0" err="1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kalitlari</a:t>
          </a:r>
          <a:r>
            <a:rPr lang="en-US" sz="2800" b="1" kern="1200" dirty="0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 </a:t>
          </a:r>
          <a:r>
            <a:rPr lang="en-US" sz="2800" b="1" kern="1200" dirty="0" err="1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generatsiyasi</a:t>
          </a:r>
          <a:endParaRPr lang="ru-RU" sz="28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7290" y="239731"/>
        <a:ext cx="8760573" cy="71233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562199"/>
          <a:ext cx="9296400" cy="4284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01195"/>
          <a:ext cx="8837645" cy="7894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err="1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Raund</a:t>
          </a:r>
          <a:r>
            <a:rPr lang="en-US" sz="2800" b="1" kern="1200" dirty="0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 </a:t>
          </a:r>
          <a:r>
            <a:rPr lang="en-US" sz="2800" b="1" kern="1200" dirty="0" err="1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kalitlari</a:t>
          </a:r>
          <a:r>
            <a:rPr lang="en-US" sz="2800" b="1" kern="1200" dirty="0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 </a:t>
          </a:r>
          <a:r>
            <a:rPr lang="en-US" sz="2800" b="1" kern="1200" dirty="0" err="1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generatsiyasi</a:t>
          </a:r>
          <a:endParaRPr lang="ru-RU" sz="28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7290" y="239731"/>
        <a:ext cx="8760573" cy="71233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265505"/>
          <a:ext cx="9296400" cy="6048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82119"/>
          <a:ext cx="8837645" cy="7084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GOST R 34.13-2015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standart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bo’yicha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blokli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ish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rejimlari</a:t>
          </a:r>
          <a:endParaRPr lang="ru-RU" sz="20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3339" y="316704"/>
        <a:ext cx="8768475" cy="63931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511800"/>
          <a:ext cx="9296400" cy="4788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167740"/>
          <a:ext cx="8837645" cy="78422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2.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Gammalash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rejimi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(Counter, CTR)</a:t>
          </a:r>
          <a:endParaRPr lang="ru-RU" sz="20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7037" y="206023"/>
        <a:ext cx="8761079" cy="70765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562199"/>
          <a:ext cx="9296400" cy="4284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01195"/>
          <a:ext cx="8837645" cy="7894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v-SE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3. Chiqish bo‘yicha teskari aloqali gammalash rejimi </a:t>
          </a:r>
          <a:endParaRPr lang="ru-RU" sz="20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7290" y="239731"/>
        <a:ext cx="8760573" cy="71233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562199"/>
          <a:ext cx="9296400" cy="4284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01195"/>
          <a:ext cx="8837645" cy="7894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4.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Ilaktirishli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oddiy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almashtirish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rejimi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ru-RU" sz="20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7290" y="239731"/>
        <a:ext cx="8760573" cy="71233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562199"/>
          <a:ext cx="9296400" cy="4284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01195"/>
          <a:ext cx="8837645" cy="7894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5.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Shifrmatn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bo‘yicha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teskari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aloqali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gammalash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rejimi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ru-RU" sz="20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7290" y="239731"/>
        <a:ext cx="8760573" cy="71233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562199"/>
          <a:ext cx="9296400" cy="4284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01195"/>
          <a:ext cx="8837645" cy="7894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6.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Imitoqo’shish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ishlab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chiqish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rejimi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ru-RU" sz="20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7290" y="239731"/>
        <a:ext cx="8760573" cy="7123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FB70100-3EB9-42EC-9C63-CF419013A8A1}" type="datetimeFigureOut">
              <a:rPr lang="ru-RU"/>
              <a:pPr>
                <a:defRPr/>
              </a:pPr>
              <a:t>07.10.2021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937DCAC-3A17-45BC-931B-30F5DEA5072B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62785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CE5A6E-BBF1-450F-80C1-D24E707EED79}" type="datetimeFigureOut">
              <a:rPr lang="en-US"/>
              <a:pPr>
                <a:defRPr/>
              </a:pPr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B68AC2-4117-411F-9002-A235484225D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824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A95D1B-D76D-448C-BAFB-F6E1D8B1AF97}" type="datetimeFigureOut">
              <a:rPr lang="en-US"/>
              <a:pPr>
                <a:defRPr/>
              </a:pPr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E66408-C952-4766-A62C-1332D84AF1C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999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F1E9E2-F2E5-4408-9CC9-A0F9E85DA536}" type="datetimeFigureOut">
              <a:rPr lang="en-US"/>
              <a:pPr>
                <a:defRPr/>
              </a:pPr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38F46C-2FED-4200-9339-FFE6A5F563F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53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599C47-C760-4200-8C55-34BFEE2CDF09}" type="datetimeFigureOut">
              <a:rPr lang="en-US"/>
              <a:pPr>
                <a:defRPr/>
              </a:pPr>
              <a:t>10/7/2021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A15C47-6CFC-4126-AD53-32700C000DC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623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FA984B-2BF2-44E8-BCBD-1FA9DC6CF670}" type="datetimeFigureOut">
              <a:rPr lang="en-US"/>
              <a:pPr>
                <a:defRPr/>
              </a:pPr>
              <a:t>10/7/2021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1ED126-8912-4E45-9523-9C4BB1E8FA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03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174DFC-C365-46B4-9FD1-8F4AF540D93E}" type="datetimeFigureOut">
              <a:rPr lang="en-US"/>
              <a:pPr>
                <a:defRPr/>
              </a:pPr>
              <a:t>10/7/2021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F39158-7EDC-426C-9CC6-AB6408FDEB8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697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0CF2BB-65FA-49CA-847B-F371379CB216}" type="datetimeFigureOut">
              <a:rPr lang="en-US"/>
              <a:pPr>
                <a:defRPr/>
              </a:pPr>
              <a:t>10/7/2021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72BF4A-0BE1-4561-85E5-75F15BBF91F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881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A724C5-D8E6-471A-8254-75F1CEA265B1}" type="datetimeFigureOut">
              <a:rPr lang="en-US"/>
              <a:pPr>
                <a:defRPr/>
              </a:pPr>
              <a:t>10/7/2021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824FC8-5F6B-4439-86DA-6AB518B7701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870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97AE0C-88DF-4077-9EAB-BD4D421491CC}" type="datetimeFigureOut">
              <a:rPr lang="en-US"/>
              <a:pPr>
                <a:defRPr/>
              </a:pPr>
              <a:t>10/7/2021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7A5A3E-4982-4959-BAC5-9E522D5289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75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03607E-124B-40FA-A40E-7E54A931FFEB}" type="datetimeFigureOut">
              <a:rPr lang="en-US"/>
              <a:pPr>
                <a:defRPr/>
              </a:pPr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225C40-1BA7-4B54-8EAE-DAF06D9711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548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add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BF410A-1197-4C96-832E-DBDE1A43488B}" type="datetimeFigureOut">
              <a:rPr lang="en-US"/>
              <a:pPr>
                <a:defRPr/>
              </a:pPr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ADBE1D-7B27-42CE-A1D5-AD7BD2F74DE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715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21E98E5-3262-43B4-A5D9-C4C77D0E5213}" type="datetimeFigureOut">
              <a:rPr lang="en-US"/>
              <a:pPr>
                <a:defRPr/>
              </a:pPr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A65A317F-26BB-4D66-B62E-1F14C8DD9FF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3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4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5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13" Type="http://schemas.openxmlformats.org/officeDocument/2006/relationships/image" Target="../media/image9.jpe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12" Type="http://schemas.openxmlformats.org/officeDocument/2006/relationships/image" Target="../media/image7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diagramColors" Target="../diagrams/colors11.xml"/><Relationship Id="rId11" Type="http://schemas.openxmlformats.org/officeDocument/2006/relationships/oleObject" Target="../embeddings/oleObject2.bin"/><Relationship Id="rId5" Type="http://schemas.openxmlformats.org/officeDocument/2006/relationships/diagramQuickStyle" Target="../diagrams/quickStyle11.xml"/><Relationship Id="rId10" Type="http://schemas.openxmlformats.org/officeDocument/2006/relationships/image" Target="../media/image8.jpeg"/><Relationship Id="rId4" Type="http://schemas.openxmlformats.org/officeDocument/2006/relationships/diagramLayout" Target="../diagrams/layout11.xml"/><Relationship Id="rId9" Type="http://schemas.openxmlformats.org/officeDocument/2006/relationships/image" Target="../media/image6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12" Type="http://schemas.openxmlformats.org/officeDocument/2006/relationships/image" Target="../media/image13.jpe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diagramColors" Target="../diagrams/colors12.xml"/><Relationship Id="rId11" Type="http://schemas.openxmlformats.org/officeDocument/2006/relationships/image" Target="../media/image12.png"/><Relationship Id="rId5" Type="http://schemas.openxmlformats.org/officeDocument/2006/relationships/diagramQuickStyle" Target="../diagrams/quickStyle12.xml"/><Relationship Id="rId10" Type="http://schemas.openxmlformats.org/officeDocument/2006/relationships/image" Target="../media/image11.jpeg"/><Relationship Id="rId4" Type="http://schemas.openxmlformats.org/officeDocument/2006/relationships/diagramLayout" Target="../diagrams/layout12.xml"/><Relationship Id="rId9" Type="http://schemas.openxmlformats.org/officeDocument/2006/relationships/image" Target="../media/image10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diagramLayout" Target="../diagrams/layout13.xml"/><Relationship Id="rId7" Type="http://schemas.openxmlformats.org/officeDocument/2006/relationships/image" Target="../media/image14.pn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3.xml"/><Relationship Id="rId11" Type="http://schemas.openxmlformats.org/officeDocument/2006/relationships/image" Target="../media/image18.jpeg"/><Relationship Id="rId5" Type="http://schemas.openxmlformats.org/officeDocument/2006/relationships/diagramColors" Target="../diagrams/colors13.xml"/><Relationship Id="rId10" Type="http://schemas.openxmlformats.org/officeDocument/2006/relationships/image" Target="../media/image17.png"/><Relationship Id="rId4" Type="http://schemas.openxmlformats.org/officeDocument/2006/relationships/diagramQuickStyle" Target="../diagrams/quickStyle13.xml"/><Relationship Id="rId9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diagramLayout" Target="../diagrams/layout14.xml"/><Relationship Id="rId7" Type="http://schemas.openxmlformats.org/officeDocument/2006/relationships/image" Target="../media/image19.pn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10" Type="http://schemas.openxmlformats.org/officeDocument/2006/relationships/image" Target="../media/image22.jpeg"/><Relationship Id="rId4" Type="http://schemas.openxmlformats.org/officeDocument/2006/relationships/diagramQuickStyle" Target="../diagrams/quickStyle14.xml"/><Relationship Id="rId9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diagramLayout" Target="../diagrams/layout15.xml"/><Relationship Id="rId7" Type="http://schemas.openxmlformats.org/officeDocument/2006/relationships/image" Target="../media/image23.png"/><Relationship Id="rId12" Type="http://schemas.openxmlformats.org/officeDocument/2006/relationships/image" Target="../media/image28.jpe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5.xml"/><Relationship Id="rId11" Type="http://schemas.openxmlformats.org/officeDocument/2006/relationships/image" Target="../media/image27.png"/><Relationship Id="rId5" Type="http://schemas.openxmlformats.org/officeDocument/2006/relationships/diagramColors" Target="../diagrams/colors15.xml"/><Relationship Id="rId10" Type="http://schemas.openxmlformats.org/officeDocument/2006/relationships/image" Target="../media/image26.png"/><Relationship Id="rId4" Type="http://schemas.openxmlformats.org/officeDocument/2006/relationships/diagramQuickStyle" Target="../diagrams/quickStyle15.xml"/><Relationship Id="rId9" Type="http://schemas.openxmlformats.org/officeDocument/2006/relationships/image" Target="../media/image25.png"/><Relationship Id="rId14" Type="http://schemas.openxmlformats.org/officeDocument/2006/relationships/image" Target="../media/image3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28600" y="304800"/>
            <a:ext cx="86106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RADIOELEKTRON TIZIMLAR VA AXBOROT </a:t>
            </a:r>
            <a:r>
              <a:rPr lang="uz-Cyrl-UZ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ТЕХ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NOLOGIYALARI MARKAZI</a:t>
            </a:r>
            <a:endParaRPr lang="ru-RU" dirty="0"/>
          </a:p>
        </p:txBody>
      </p:sp>
      <p:sp>
        <p:nvSpPr>
          <p:cNvPr id="7" name="Rectangle 150"/>
          <p:cNvSpPr>
            <a:spLocks noChangeArrowheads="1"/>
          </p:cNvSpPr>
          <p:nvPr/>
        </p:nvSpPr>
        <p:spPr bwMode="auto">
          <a:xfrm>
            <a:off x="228600" y="685800"/>
            <a:ext cx="8643938" cy="46038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0" name="Text Box 154"/>
          <p:cNvSpPr txBox="1">
            <a:spLocks noChangeArrowheads="1"/>
          </p:cNvSpPr>
          <p:nvPr/>
        </p:nvSpPr>
        <p:spPr bwMode="auto">
          <a:xfrm>
            <a:off x="3886200" y="6215063"/>
            <a:ext cx="1752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Toshkent 2019</a:t>
            </a:r>
            <a:endParaRPr lang="ru-RU" sz="2000" b="1" dirty="0" smtClean="0">
              <a:solidFill>
                <a:schemeClr val="tx2">
                  <a:lumMod val="50000"/>
                </a:schemeClr>
              </a:solidFill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15887" y="118383"/>
            <a:ext cx="8839200" cy="6496110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graphicFrame>
        <p:nvGraphicFramePr>
          <p:cNvPr id="14" name="Схема 13"/>
          <p:cNvGraphicFramePr/>
          <p:nvPr>
            <p:extLst>
              <p:ext uri="{D42A27DB-BD31-4B8C-83A1-F6EECF244321}">
                <p14:modId xmlns:p14="http://schemas.microsoft.com/office/powerpoint/2010/main" val="4051994456"/>
              </p:ext>
            </p:extLst>
          </p:nvPr>
        </p:nvGraphicFramePr>
        <p:xfrm>
          <a:off x="805544" y="2787056"/>
          <a:ext cx="7488832" cy="15781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52400" y="228600"/>
            <a:ext cx="8839200" cy="64770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graphicFrame>
        <p:nvGraphicFramePr>
          <p:cNvPr id="5" name="Схема 4"/>
          <p:cNvGraphicFramePr/>
          <p:nvPr/>
        </p:nvGraphicFramePr>
        <p:xfrm>
          <a:off x="-290945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419100" y="5345113"/>
            <a:ext cx="8458200" cy="9540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8197" name="TextBox 7"/>
          <p:cNvSpPr txBox="1">
            <a:spLocks noChangeArrowheads="1"/>
          </p:cNvSpPr>
          <p:nvPr/>
        </p:nvSpPr>
        <p:spPr bwMode="auto">
          <a:xfrm>
            <a:off x="514350" y="5300663"/>
            <a:ext cx="81153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1800" baseline="-25000"/>
              <a:t>i</a:t>
            </a:r>
            <a:r>
              <a:rPr lang="en-US" sz="1800"/>
              <a:t> , 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1800" baseline="-2500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 –  mos holda i-raundga kuruvchi qiymatning chap va o’ng tomonlari</a:t>
            </a:r>
          </a:p>
          <a:p>
            <a:r>
              <a:rPr lang="en-US" sz="1800">
                <a:latin typeface="Times New Roman" pitchFamily="18" charset="0"/>
                <a:cs typeface="Times New Roman" pitchFamily="18" charset="0"/>
              </a:rPr>
              <a:t>F – Feystel tarmog’i funksiyasi</a:t>
            </a:r>
          </a:p>
          <a:p>
            <a:r>
              <a:rPr lang="en-US" sz="180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1800" baseline="-25000"/>
              <a:t>i+1</a:t>
            </a:r>
            <a:r>
              <a:rPr lang="en-US" sz="1800"/>
              <a:t> , 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1800" baseline="-25000">
                <a:latin typeface="Times New Roman" pitchFamily="18" charset="0"/>
                <a:cs typeface="Times New Roman" pitchFamily="18" charset="0"/>
              </a:rPr>
              <a:t>i+1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 –  mos holda i-raunddan chiquvchi qiymatning chap va o’ng tomonlari</a:t>
            </a:r>
          </a:p>
        </p:txBody>
      </p:sp>
      <p:pic>
        <p:nvPicPr>
          <p:cNvPr id="8198" name="Рисунок 9" descr="C:\Users\Agent007\Desktop\gost28147-89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" y="1138238"/>
            <a:ext cx="5029200" cy="415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Скругленный прямоугольник 1"/>
          <p:cNvSpPr/>
          <p:nvPr/>
        </p:nvSpPr>
        <p:spPr>
          <a:xfrm>
            <a:off x="5810250" y="1138887"/>
            <a:ext cx="2705099" cy="3810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/>
              <a:t>Xarakteristikasi</a:t>
            </a:r>
            <a:endParaRPr lang="ru-RU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5365748" y="1621768"/>
            <a:ext cx="3578227" cy="2042449"/>
          </a:xfrm>
          <a:prstGeom prst="roundRect">
            <a:avLst/>
          </a:prstGeom>
          <a:solidFill>
            <a:schemeClr val="bg1"/>
          </a:solidFill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blok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uzunligi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64 bit;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 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maxfiy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kalit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uzunligi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256 bit;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raund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kalitlari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uzunligi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32 bit;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raundlar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32 ta;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Feystel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tarmog’i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asoslangan</a:t>
            </a:r>
            <a:endParaRPr lang="ru-RU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5972174" y="3763444"/>
            <a:ext cx="2495549" cy="3810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/>
              <a:t>Akslantirishlari</a:t>
            </a:r>
            <a:endParaRPr lang="ru-RU" dirty="0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5365747" y="4238184"/>
            <a:ext cx="3578227" cy="1051370"/>
          </a:xfrm>
          <a:prstGeom prst="roundRect">
            <a:avLst/>
          </a:prstGeom>
          <a:solidFill>
            <a:schemeClr val="bg1"/>
          </a:solidFill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⊞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28600" y="228600"/>
            <a:ext cx="8763000" cy="64770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graphicFrame>
        <p:nvGraphicFramePr>
          <p:cNvPr id="4" name="Схема 3"/>
          <p:cNvGraphicFramePr/>
          <p:nvPr/>
        </p:nvGraphicFramePr>
        <p:xfrm>
          <a:off x="-290945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457200" y="1219200"/>
            <a:ext cx="8305800" cy="5181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7" name="TextBox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57200" y="1295400"/>
            <a:ext cx="8305800" cy="5017720"/>
          </a:xfrm>
          <a:prstGeom prst="rect">
            <a:avLst/>
          </a:prstGeom>
          <a:blipFill rotWithShape="0">
            <a:blip r:embed="rId7"/>
            <a:stretch>
              <a:fillRect l="-587" t="-365" r="-514"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  <a:cs typeface="Arial" panose="020B0604020202020204" pitchFamily="34" charset="0"/>
              </a:rPr>
              <a:t> 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1604963" y="3773488"/>
          <a:ext cx="6091243" cy="3413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1313"/>
                <a:gridCol w="380662"/>
                <a:gridCol w="380662"/>
                <a:gridCol w="380662"/>
                <a:gridCol w="380662"/>
                <a:gridCol w="380662"/>
                <a:gridCol w="380662"/>
                <a:gridCol w="380662"/>
                <a:gridCol w="380662"/>
                <a:gridCol w="380662"/>
                <a:gridCol w="380662"/>
                <a:gridCol w="380662"/>
                <a:gridCol w="380662"/>
                <a:gridCol w="380662"/>
                <a:gridCol w="380662"/>
                <a:gridCol w="380662"/>
              </a:tblGrid>
              <a:tr h="3413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12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10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8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9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15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3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11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5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13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14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4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6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7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11" name="Прямоугольник 10"/>
          <p:cNvSpPr/>
          <p:nvPr/>
        </p:nvSpPr>
        <p:spPr>
          <a:xfrm>
            <a:off x="3048000" y="3733800"/>
            <a:ext cx="457200" cy="381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28600" y="228600"/>
            <a:ext cx="8763000" cy="64770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graphicFrame>
        <p:nvGraphicFramePr>
          <p:cNvPr id="4" name="Схема 3"/>
          <p:cNvGraphicFramePr/>
          <p:nvPr/>
        </p:nvGraphicFramePr>
        <p:xfrm>
          <a:off x="-290945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457200" y="1219200"/>
            <a:ext cx="8305800" cy="5181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" name="TextBox 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09600" y="1371600"/>
            <a:ext cx="7924800" cy="2779992"/>
          </a:xfrm>
          <a:prstGeom prst="rect">
            <a:avLst/>
          </a:prstGeom>
          <a:blipFill rotWithShape="0">
            <a:blip r:embed="rId7"/>
            <a:stretch>
              <a:fillRect l="-615" t="-1096" b="-2632"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  <a:cs typeface="Arial" panose="020B0604020202020204" pitchFamily="34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Прямоугольник 126"/>
          <p:cNvSpPr/>
          <p:nvPr/>
        </p:nvSpPr>
        <p:spPr>
          <a:xfrm>
            <a:off x="609600" y="977674"/>
            <a:ext cx="8382000" cy="5540828"/>
          </a:xfrm>
          <a:prstGeom prst="rect">
            <a:avLst/>
          </a:prstGeom>
          <a:pattFill prst="pct5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Oddiy almashtirish rejimi</a:t>
            </a:r>
          </a:p>
        </p:txBody>
      </p:sp>
      <p:sp>
        <p:nvSpPr>
          <p:cNvPr id="117" name="Прямоугольник 116"/>
          <p:cNvSpPr/>
          <p:nvPr/>
        </p:nvSpPr>
        <p:spPr>
          <a:xfrm>
            <a:off x="152400" y="185058"/>
            <a:ext cx="8839200" cy="6496110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3" name="Двойная волна 12"/>
          <p:cNvSpPr/>
          <p:nvPr/>
        </p:nvSpPr>
        <p:spPr>
          <a:xfrm>
            <a:off x="1031875" y="1728788"/>
            <a:ext cx="609600" cy="476250"/>
          </a:xfrm>
          <a:prstGeom prst="doubleWave">
            <a:avLst/>
          </a:prstGeom>
          <a:solidFill>
            <a:srgbClr val="B4F7FA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2019302" y="1729392"/>
            <a:ext cx="6324600" cy="475646"/>
          </a:xfrm>
          <a:prstGeom prst="roundRect">
            <a:avLst/>
          </a:prstGeom>
          <a:solidFill>
            <a:srgbClr val="FFFFFF"/>
          </a:solidFill>
          <a:ln>
            <a:solidFill>
              <a:srgbClr val="00B0F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eaLnBrk="1" hangingPunct="1">
              <a:defRPr/>
            </a:pP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Oddiy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almashtirish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rejimi</a:t>
            </a:r>
            <a:endParaRPr lang="en-US" b="1" dirty="0">
              <a:ln/>
              <a:solidFill>
                <a:schemeClr val="accent4"/>
              </a:solidFill>
              <a:latin typeface="Arial" panose="020B0604020202020204" pitchFamily="34" charset="0"/>
            </a:endParaRPr>
          </a:p>
        </p:txBody>
      </p:sp>
      <p:sp>
        <p:nvSpPr>
          <p:cNvPr id="124" name="Двойная волна 123"/>
          <p:cNvSpPr/>
          <p:nvPr/>
        </p:nvSpPr>
        <p:spPr>
          <a:xfrm>
            <a:off x="1031875" y="2500313"/>
            <a:ext cx="609600" cy="476250"/>
          </a:xfrm>
          <a:prstGeom prst="doubleWave">
            <a:avLst/>
          </a:prstGeom>
          <a:solidFill>
            <a:srgbClr val="B4F7FA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Скругленный прямоугольник 124"/>
          <p:cNvSpPr/>
          <p:nvPr/>
        </p:nvSpPr>
        <p:spPr>
          <a:xfrm>
            <a:off x="2019302" y="2500298"/>
            <a:ext cx="6324600" cy="475646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00B0F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eaLnBrk="1" hangingPunct="1">
              <a:defRPr/>
            </a:pP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Gammalash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rejimi</a:t>
            </a:r>
            <a:endParaRPr lang="en-US" b="1" dirty="0">
              <a:ln/>
              <a:solidFill>
                <a:schemeClr val="accent4"/>
              </a:solidFill>
              <a:latin typeface="Arial" panose="020B0604020202020204" pitchFamily="34" charset="0"/>
            </a:endParaRPr>
          </a:p>
        </p:txBody>
      </p:sp>
      <p:sp>
        <p:nvSpPr>
          <p:cNvPr id="126" name="Двойная волна 125"/>
          <p:cNvSpPr/>
          <p:nvPr/>
        </p:nvSpPr>
        <p:spPr>
          <a:xfrm>
            <a:off x="1031875" y="3271838"/>
            <a:ext cx="609600" cy="476250"/>
          </a:xfrm>
          <a:prstGeom prst="doubleWave">
            <a:avLst/>
          </a:prstGeom>
          <a:solidFill>
            <a:srgbClr val="B4F7FA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Двойная волна 127"/>
          <p:cNvSpPr/>
          <p:nvPr/>
        </p:nvSpPr>
        <p:spPr>
          <a:xfrm>
            <a:off x="1031875" y="4044950"/>
            <a:ext cx="609600" cy="476250"/>
          </a:xfrm>
          <a:prstGeom prst="doubleWave">
            <a:avLst/>
          </a:prstGeom>
          <a:solidFill>
            <a:srgbClr val="B4F7FA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Скругленный прямоугольник 128"/>
          <p:cNvSpPr/>
          <p:nvPr/>
        </p:nvSpPr>
        <p:spPr>
          <a:xfrm>
            <a:off x="2019302" y="3273143"/>
            <a:ext cx="6324600" cy="475646"/>
          </a:xfrm>
          <a:prstGeom prst="roundRect">
            <a:avLst/>
          </a:prstGeom>
          <a:solidFill>
            <a:srgbClr val="FFFFFF"/>
          </a:solidFill>
          <a:ln>
            <a:solidFill>
              <a:srgbClr val="00B0F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eaLnBrk="1" hangingPunct="1">
              <a:defRPr/>
            </a:pPr>
            <a:r>
              <a:rPr lang="sv-SE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Teskari aloqa bilan gammalash rejimi</a:t>
            </a:r>
          </a:p>
        </p:txBody>
      </p:sp>
      <p:sp>
        <p:nvSpPr>
          <p:cNvPr id="130" name="Скругленный прямоугольник 129"/>
          <p:cNvSpPr/>
          <p:nvPr/>
        </p:nvSpPr>
        <p:spPr>
          <a:xfrm>
            <a:off x="2019302" y="4045384"/>
            <a:ext cx="6324600" cy="475646"/>
          </a:xfrm>
          <a:prstGeom prst="roundRect">
            <a:avLst/>
          </a:prstGeom>
          <a:solidFill>
            <a:srgbClr val="F8FBFD"/>
          </a:solidFill>
          <a:ln>
            <a:solidFill>
              <a:srgbClr val="00B0F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eaLnBrk="1" hangingPunct="1">
              <a:defRPr/>
            </a:pP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Imitoqo’shish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rejimi</a:t>
            </a:r>
            <a:endParaRPr lang="en-US" b="1" dirty="0">
              <a:ln/>
              <a:solidFill>
                <a:schemeClr val="accent4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31" name="Схема 130"/>
          <p:cNvGraphicFramePr/>
          <p:nvPr/>
        </p:nvGraphicFramePr>
        <p:xfrm>
          <a:off x="-304800" y="0"/>
          <a:ext cx="9296400" cy="812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24" grpId="0" animBg="1"/>
      <p:bldP spid="126" grpId="0" animBg="1"/>
      <p:bldP spid="1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рямоугольник 70"/>
          <p:cNvSpPr/>
          <p:nvPr/>
        </p:nvSpPr>
        <p:spPr>
          <a:xfrm>
            <a:off x="152400" y="185058"/>
            <a:ext cx="8839200" cy="6496110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graphicFrame>
        <p:nvGraphicFramePr>
          <p:cNvPr id="79" name="Схема 78"/>
          <p:cNvGraphicFramePr/>
          <p:nvPr>
            <p:extLst>
              <p:ext uri="{D42A27DB-BD31-4B8C-83A1-F6EECF244321}">
                <p14:modId xmlns:p14="http://schemas.microsoft.com/office/powerpoint/2010/main" val="3076792913"/>
              </p:ext>
            </p:extLst>
          </p:nvPr>
        </p:nvGraphicFramePr>
        <p:xfrm>
          <a:off x="-304800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6390" name="Рисунок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152525"/>
            <a:ext cx="3829050" cy="551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Скругленный прямоугольник 5"/>
          <p:cNvSpPr/>
          <p:nvPr/>
        </p:nvSpPr>
        <p:spPr>
          <a:xfrm>
            <a:off x="4876800" y="1029415"/>
            <a:ext cx="3048000" cy="3810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/>
              <a:t>Xarakteristikasi</a:t>
            </a:r>
            <a:endParaRPr lang="ru-RU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4133850" y="1542270"/>
            <a:ext cx="4712277" cy="2042449"/>
          </a:xfrm>
          <a:prstGeom prst="roundRect">
            <a:avLst/>
          </a:prstGeom>
          <a:solidFill>
            <a:schemeClr val="bg1"/>
          </a:solidFill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blok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uzunligi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128 bit;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 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maxfiy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kalit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uzunligi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256 bit;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raund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kalitlari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uzunligi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128 bit;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raundlar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10 ta;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 </a:t>
            </a:r>
            <a:r>
              <a:rPr lang="en-US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tarmog’iga</a:t>
            </a: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asoslangan</a:t>
            </a:r>
            <a:endParaRPr lang="ru-RU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5006180" y="3719325"/>
            <a:ext cx="3036889" cy="3810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/>
              <a:t>Foydalanilgan</a:t>
            </a:r>
            <a:r>
              <a:rPr lang="en-US" dirty="0"/>
              <a:t> </a:t>
            </a:r>
            <a:r>
              <a:rPr lang="en-US" dirty="0" err="1"/>
              <a:t>akslantirishlari</a:t>
            </a:r>
            <a:endParaRPr lang="ru-RU" dirty="0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4140777" y="4231294"/>
            <a:ext cx="4705350" cy="2449874"/>
          </a:xfrm>
          <a:prstGeom prst="roundRect">
            <a:avLst/>
          </a:prstGeom>
          <a:solidFill>
            <a:schemeClr val="bg1"/>
          </a:solidFill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– mod2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amali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bo’yicha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qo’shish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blok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o’rniga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qo’yish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 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chiziqli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baseline="30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S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akslantirishiga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teskari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baseline="30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L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akslantirishiga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teskari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</a:t>
            </a:r>
            <a:endParaRPr lang="en-US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28600" y="228600"/>
            <a:ext cx="8686800" cy="6477000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04800" y="304800"/>
            <a:ext cx="8534400" cy="6324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7412" name="TextBox 5"/>
          <p:cNvSpPr txBox="1">
            <a:spLocks noChangeArrowheads="1"/>
          </p:cNvSpPr>
          <p:nvPr/>
        </p:nvSpPr>
        <p:spPr bwMode="auto">
          <a:xfrm>
            <a:off x="533400" y="1338263"/>
            <a:ext cx="8077200" cy="540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	S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akslantirishi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chiziqsiz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akslantirishi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hisoblanib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kiruvchi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128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bitlik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qiymatni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128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bitlik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yangi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qiymatga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o’zgartiradi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Bu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almashtirish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'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massivdan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foydalanib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amalga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oshiriladi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	L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akslantirishi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chiziqli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akslantirish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bo’lib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qisqa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masofada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maksimal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aralashtirish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(Maximum Distance Separate)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ya’ni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MDS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prinsipiga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asoslanadi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Bu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akslantirish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128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bitlik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kiruvchi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ma’lumot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ustida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akslantirishni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ketma-ket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16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marta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bajarilishini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o’z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ichiga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oladi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r>
              <a:rPr lang="uz-Cyrl-UZ" b="1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b="1" i="1" dirty="0">
                <a:latin typeface="Times New Roman" pitchFamily="18" charset="0"/>
                <a:cs typeface="Times New Roman" pitchFamily="18" charset="0"/>
              </a:rPr>
              <a:t> = R</a:t>
            </a:r>
            <a:r>
              <a:rPr lang="uz-Cyrl-UZ" b="1" baseline="30000" dirty="0">
                <a:latin typeface="Times New Roman" pitchFamily="18" charset="0"/>
                <a:cs typeface="Times New Roman" pitchFamily="18" charset="0"/>
              </a:rPr>
              <a:t>16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	R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akslantirishi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ko’phadlar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ustida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quyidagicha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amallar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bajariladi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ru-RU" sz="10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15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||…||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) = ℓ(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15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, …, 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)||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15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||…||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sz="9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bu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yerda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ℓ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(a)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ifoda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quyidagicha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aniqlanadi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r>
              <a:rPr lang="uz-Cyrl-UZ" dirty="0">
                <a:latin typeface="Times New Roman" pitchFamily="18" charset="0"/>
                <a:cs typeface="Times New Roman" pitchFamily="18" charset="0"/>
              </a:rPr>
              <a:t>ℓ(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15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, … , 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) = (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148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15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32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14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133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13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16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194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192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r>
              <a:rPr lang="uz-Cyrl-UZ" dirty="0">
                <a:latin typeface="Times New Roman" pitchFamily="18" charset="0"/>
                <a:cs typeface="Times New Roman" pitchFamily="18" charset="0"/>
              </a:rPr>
              <a:t>+{01}∙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9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+{251}∙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+{01}∙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+{192}∙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+{194}∙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+{16}∙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+{133}∙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+{32}∙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{148}∙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+{01}∙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) mod 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bunda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(i ∈ 15…..0) 128 bitlik kirish blokining 16 ta 8 bitlik bloklarga bo’linishidan hosil bo’lgan i-blok. Har bir a</a:t>
            </a:r>
            <a:r>
              <a:rPr lang="uz-Cyrl-UZ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ni sonlarga ko’paytirish ko’phadlar algebrasi bo’yicha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hisoblanadi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.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endParaRPr lang="ru-RU" dirty="0"/>
          </a:p>
        </p:txBody>
      </p:sp>
      <p:graphicFrame>
        <p:nvGraphicFramePr>
          <p:cNvPr id="7" name="Схема 6"/>
          <p:cNvGraphicFramePr/>
          <p:nvPr/>
        </p:nvGraphicFramePr>
        <p:xfrm>
          <a:off x="-290945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28600" y="228600"/>
            <a:ext cx="8686800" cy="6477000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04800" y="304800"/>
            <a:ext cx="8534400" cy="6324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533400" y="1219200"/>
            <a:ext cx="8077200" cy="3600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buFontTx/>
              <a:buAutoNum type="arabicPeriod"/>
              <a:defRPr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Seans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kaliti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K=(k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255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,…,k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qismga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ajratiladi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Tx/>
              <a:buAutoNum type="arabicPeriod"/>
              <a:defRPr/>
            </a:pPr>
            <a:endParaRPr lang="ru-RU" dirty="0"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255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||…||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uz-Cyrl-U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127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||…||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defRPr/>
            </a:pPr>
            <a:endParaRPr 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Keyingi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raund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kaliti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quyidagicha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chiqiladi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uz-Cyrl-UZ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uz-Cyrl-UZ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+2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8(</a:t>
            </a:r>
            <a:r>
              <a:rPr lang="uz-Cyrl-UZ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- 1)+8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]…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8(</a:t>
            </a:r>
            <a:r>
              <a:rPr lang="uz-Cyrl-UZ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- 1)+1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](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uz-Cyrl-UZ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- 1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uz-Cyrl-UZ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1, 2, 3, 4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yerda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uz-Cyrl-UZ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L(i)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1, 2, …, 32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](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(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LSX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](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⊕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dirty="0">
                <a:cs typeface="Arial" panose="020B0604020202020204" pitchFamily="34" charset="0"/>
              </a:rPr>
              <a:t> </a:t>
            </a:r>
            <a:endParaRPr lang="ru-RU" dirty="0">
              <a:cs typeface="Arial" panose="020B0604020202020204" pitchFamily="34" charset="0"/>
            </a:endParaRPr>
          </a:p>
        </p:txBody>
      </p:sp>
      <p:graphicFrame>
        <p:nvGraphicFramePr>
          <p:cNvPr id="7" name="Схема 6"/>
          <p:cNvGraphicFramePr/>
          <p:nvPr/>
        </p:nvGraphicFramePr>
        <p:xfrm>
          <a:off x="-290945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28600" y="228600"/>
            <a:ext cx="8686800" cy="6477000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04800" y="304800"/>
            <a:ext cx="8534400" cy="6324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graphicFrame>
        <p:nvGraphicFramePr>
          <p:cNvPr id="7" name="Схема 6"/>
          <p:cNvGraphicFramePr/>
          <p:nvPr/>
        </p:nvGraphicFramePr>
        <p:xfrm>
          <a:off x="-290945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9461" name="Объект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143000"/>
            <a:ext cx="45720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Прямоугольник 126"/>
          <p:cNvSpPr/>
          <p:nvPr/>
        </p:nvSpPr>
        <p:spPr>
          <a:xfrm>
            <a:off x="381000" y="990600"/>
            <a:ext cx="8382000" cy="5540828"/>
          </a:xfrm>
          <a:prstGeom prst="rect">
            <a:avLst/>
          </a:prstGeom>
          <a:pattFill prst="pct5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Oddiy almashtirish rejimi</a:t>
            </a:r>
          </a:p>
        </p:txBody>
      </p:sp>
      <p:sp>
        <p:nvSpPr>
          <p:cNvPr id="117" name="Прямоугольник 116"/>
          <p:cNvSpPr/>
          <p:nvPr/>
        </p:nvSpPr>
        <p:spPr>
          <a:xfrm>
            <a:off x="152400" y="185058"/>
            <a:ext cx="8839200" cy="6496110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3" name="Двойная волна 12"/>
          <p:cNvSpPr/>
          <p:nvPr/>
        </p:nvSpPr>
        <p:spPr>
          <a:xfrm>
            <a:off x="1028700" y="1509713"/>
            <a:ext cx="609600" cy="476250"/>
          </a:xfrm>
          <a:prstGeom prst="doubleWave">
            <a:avLst/>
          </a:prstGeom>
          <a:solidFill>
            <a:srgbClr val="B4F7FA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2050475" y="1509582"/>
            <a:ext cx="6324600" cy="475646"/>
          </a:xfrm>
          <a:prstGeom prst="roundRect">
            <a:avLst/>
          </a:prstGeom>
          <a:solidFill>
            <a:srgbClr val="FFFFFF"/>
          </a:solidFill>
          <a:ln>
            <a:solidFill>
              <a:srgbClr val="00B0F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eaLnBrk="1" hangingPunct="1">
              <a:defRPr/>
            </a:pP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Oddiy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almashtirish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(Electronic Codebook, </a:t>
            </a:r>
            <a:r>
              <a:rPr lang="ru-RU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ЕСВ)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rejimi</a:t>
            </a:r>
            <a:endParaRPr lang="en-US" b="1" dirty="0">
              <a:ln/>
              <a:solidFill>
                <a:schemeClr val="accent4"/>
              </a:solidFill>
              <a:latin typeface="Arial" panose="020B0604020202020204" pitchFamily="34" charset="0"/>
            </a:endParaRPr>
          </a:p>
        </p:txBody>
      </p:sp>
      <p:sp>
        <p:nvSpPr>
          <p:cNvPr id="124" name="Двойная волна 123"/>
          <p:cNvSpPr/>
          <p:nvPr/>
        </p:nvSpPr>
        <p:spPr>
          <a:xfrm>
            <a:off x="1028700" y="2265363"/>
            <a:ext cx="609600" cy="476250"/>
          </a:xfrm>
          <a:prstGeom prst="doubleWave">
            <a:avLst/>
          </a:prstGeom>
          <a:solidFill>
            <a:srgbClr val="B4F7FA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Скругленный прямоугольник 124"/>
          <p:cNvSpPr/>
          <p:nvPr/>
        </p:nvSpPr>
        <p:spPr>
          <a:xfrm>
            <a:off x="2005445" y="2266085"/>
            <a:ext cx="6324600" cy="475646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00B0F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eaLnBrk="1" hangingPunct="1">
              <a:defRPr/>
            </a:pP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Gammalash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rejimi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(Counter, CTR)</a:t>
            </a:r>
          </a:p>
        </p:txBody>
      </p:sp>
      <p:sp>
        <p:nvSpPr>
          <p:cNvPr id="126" name="Двойная волна 125"/>
          <p:cNvSpPr/>
          <p:nvPr/>
        </p:nvSpPr>
        <p:spPr>
          <a:xfrm>
            <a:off x="1028700" y="3022600"/>
            <a:ext cx="609600" cy="476250"/>
          </a:xfrm>
          <a:prstGeom prst="doubleWave">
            <a:avLst/>
          </a:prstGeom>
          <a:solidFill>
            <a:srgbClr val="B4F7FA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Двойная волна 127"/>
          <p:cNvSpPr/>
          <p:nvPr/>
        </p:nvSpPr>
        <p:spPr>
          <a:xfrm>
            <a:off x="1028700" y="3778250"/>
            <a:ext cx="609600" cy="476250"/>
          </a:xfrm>
          <a:prstGeom prst="doubleWave">
            <a:avLst/>
          </a:prstGeom>
          <a:solidFill>
            <a:srgbClr val="B4F7FA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Скругленный прямоугольник 128"/>
          <p:cNvSpPr/>
          <p:nvPr/>
        </p:nvSpPr>
        <p:spPr>
          <a:xfrm>
            <a:off x="2005445" y="2966930"/>
            <a:ext cx="6324600" cy="588963"/>
          </a:xfrm>
          <a:prstGeom prst="roundRect">
            <a:avLst/>
          </a:prstGeom>
          <a:solidFill>
            <a:srgbClr val="FFFFFF"/>
          </a:solidFill>
          <a:ln>
            <a:solidFill>
              <a:srgbClr val="00B0F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eaLnBrk="1" hangingPunct="1">
              <a:defRPr/>
            </a:pPr>
            <a:r>
              <a:rPr lang="sv-SE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Chiqish bo‘yicha teskari aloqali gammalash rejimi (Output Feedback, OFB)</a:t>
            </a:r>
          </a:p>
        </p:txBody>
      </p:sp>
      <p:sp>
        <p:nvSpPr>
          <p:cNvPr id="130" name="Скругленный прямоугольник 129"/>
          <p:cNvSpPr/>
          <p:nvPr/>
        </p:nvSpPr>
        <p:spPr>
          <a:xfrm>
            <a:off x="2003569" y="3711998"/>
            <a:ext cx="6324600" cy="587429"/>
          </a:xfrm>
          <a:prstGeom prst="roundRect">
            <a:avLst/>
          </a:prstGeom>
          <a:solidFill>
            <a:srgbClr val="F8FBFD"/>
          </a:solidFill>
          <a:ln>
            <a:solidFill>
              <a:srgbClr val="00B0F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eaLnBrk="1" hangingPunct="1">
              <a:defRPr/>
            </a:pP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Ilaktirishli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oddiy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almashtirish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rejimi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(Cipher Block Chaining, </a:t>
            </a:r>
            <a:r>
              <a:rPr lang="ru-RU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СВС)</a:t>
            </a:r>
            <a:endParaRPr lang="en-US" b="1" dirty="0">
              <a:ln/>
              <a:solidFill>
                <a:schemeClr val="accent4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31" name="Схема 130"/>
          <p:cNvGraphicFramePr/>
          <p:nvPr/>
        </p:nvGraphicFramePr>
        <p:xfrm>
          <a:off x="-304800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Двойная волна 13"/>
          <p:cNvSpPr/>
          <p:nvPr/>
        </p:nvSpPr>
        <p:spPr>
          <a:xfrm>
            <a:off x="1046163" y="4535488"/>
            <a:ext cx="609600" cy="476250"/>
          </a:xfrm>
          <a:prstGeom prst="doubleWave">
            <a:avLst/>
          </a:prstGeom>
          <a:solidFill>
            <a:srgbClr val="B4F7FA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Двойная волна 15"/>
          <p:cNvSpPr/>
          <p:nvPr/>
        </p:nvSpPr>
        <p:spPr>
          <a:xfrm>
            <a:off x="1028700" y="5291138"/>
            <a:ext cx="609600" cy="476250"/>
          </a:xfrm>
          <a:prstGeom prst="doubleWave">
            <a:avLst/>
          </a:prstGeom>
          <a:solidFill>
            <a:srgbClr val="B4F7FA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2003569" y="4477461"/>
            <a:ext cx="6324600" cy="587429"/>
          </a:xfrm>
          <a:prstGeom prst="roundRect">
            <a:avLst/>
          </a:prstGeom>
          <a:solidFill>
            <a:srgbClr val="F8FBFD"/>
          </a:solidFill>
          <a:ln>
            <a:solidFill>
              <a:srgbClr val="00B0F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eaLnBrk="1" hangingPunct="1">
              <a:defRPr/>
            </a:pP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Shifrmatn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bo‘yicha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teskari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aloqali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gammalash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rejimi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(Cipher Feedback, CFB)</a:t>
            </a:r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2003569" y="5235903"/>
            <a:ext cx="6324600" cy="587429"/>
          </a:xfrm>
          <a:prstGeom prst="roundRect">
            <a:avLst/>
          </a:prstGeom>
          <a:solidFill>
            <a:srgbClr val="F8FBFD"/>
          </a:solidFill>
          <a:ln>
            <a:solidFill>
              <a:srgbClr val="00B0F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eaLnBrk="1" hangingPunct="1">
              <a:defRPr/>
            </a:pP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Imitoqo’shish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ishlab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chiqish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rejimi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(Message Authentication Code algorithm)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7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7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7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24" grpId="0" animBg="1"/>
      <p:bldP spid="126" grpId="0" animBg="1"/>
      <p:bldP spid="128" grpId="0" animBg="1"/>
      <p:bldP spid="14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90500" y="3756025"/>
            <a:ext cx="8801100" cy="30178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71" name="Прямоугольник 70"/>
          <p:cNvSpPr/>
          <p:nvPr/>
        </p:nvSpPr>
        <p:spPr>
          <a:xfrm>
            <a:off x="152400" y="185058"/>
            <a:ext cx="8839200" cy="6496110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graphicFrame>
        <p:nvGraphicFramePr>
          <p:cNvPr id="8" name="Схема 7"/>
          <p:cNvGraphicFramePr/>
          <p:nvPr/>
        </p:nvGraphicFramePr>
        <p:xfrm>
          <a:off x="-304800" y="17318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152400" y="1143000"/>
            <a:ext cx="8839200" cy="2667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228600" y="1050925"/>
            <a:ext cx="87630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450850" algn="just">
              <a:tabLst>
                <a:tab pos="180975" algn="l"/>
              </a:tabLst>
            </a:pPr>
            <a:r>
              <a:rPr lang="en-US" b="1" u="sng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Shifrlash jarayoni</a:t>
            </a:r>
            <a:r>
              <a:rPr lang="en-US" u="sng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:  </a:t>
            </a:r>
            <a:r>
              <a:rPr lang="uz-Cyrl-UZ" i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</a:t>
            </a:r>
            <a:r>
              <a:rPr lang="uz-Cyrl-UZ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– </a:t>
            </a:r>
            <a:r>
              <a:rPr lang="en-US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ochiq matn quyidagi ko’rinishda bloklarga ajratiladi</a:t>
            </a:r>
            <a:r>
              <a:rPr lang="uz-Cyrl-UZ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:</a:t>
            </a:r>
            <a:endParaRPr lang="en-US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indent="450850" algn="just">
              <a:tabLst>
                <a:tab pos="180975" algn="l"/>
              </a:tabLst>
            </a:pPr>
            <a:r>
              <a:rPr lang="uz-Cyrl-UZ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uz-Cyrl-UZ" i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P=P</a:t>
            </a:r>
            <a:r>
              <a:rPr lang="uz-Cyrl-UZ" baseline="-3000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1</a:t>
            </a:r>
            <a:r>
              <a:rPr lang="uz-Cyrl-UZ" i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||P</a:t>
            </a:r>
            <a:r>
              <a:rPr lang="uz-Cyrl-UZ" baseline="-3000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2</a:t>
            </a:r>
            <a:r>
              <a:rPr lang="uz-Cyrl-UZ" i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|| … ||P</a:t>
            </a:r>
            <a:r>
              <a:rPr lang="uz-Cyrl-UZ" i="1" baseline="-3000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q</a:t>
            </a:r>
            <a:r>
              <a:rPr lang="uz-Cyrl-UZ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, </a:t>
            </a:r>
            <a:r>
              <a:rPr lang="uz-Cyrl-UZ" i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</a:t>
            </a:r>
            <a:r>
              <a:rPr lang="uz-Cyrl-UZ" i="1" baseline="-3000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</a:t>
            </a:r>
            <a:r>
              <a:rPr lang="uz-Cyrl-UZ" i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– s </a:t>
            </a:r>
            <a:r>
              <a:rPr lang="uz-Cyrl-UZ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bit, </a:t>
            </a:r>
            <a:r>
              <a:rPr lang="uz-Cyrl-UZ" i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 </a:t>
            </a:r>
            <a:r>
              <a:rPr lang="uz-Cyrl-UZ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=1,2,…,</a:t>
            </a:r>
            <a:r>
              <a:rPr lang="uz-Cyrl-UZ" i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q-</a:t>
            </a:r>
            <a:r>
              <a:rPr lang="uz-Cyrl-UZ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1, </a:t>
            </a:r>
            <a:r>
              <a:rPr lang="uz-Cyrl-UZ" i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</a:t>
            </a:r>
            <a:r>
              <a:rPr lang="uz-Cyrl-UZ" i="1" baseline="-3000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q</a:t>
            </a:r>
            <a:r>
              <a:rPr lang="uz-Cyrl-UZ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– </a:t>
            </a:r>
            <a:r>
              <a:rPr lang="uz-Cyrl-UZ" i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 </a:t>
            </a:r>
            <a:r>
              <a:rPr lang="uz-Cyrl-UZ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bit, </a:t>
            </a:r>
            <a:r>
              <a:rPr lang="uz-Cyrl-UZ" i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 ≤ s</a:t>
            </a:r>
            <a:r>
              <a:rPr lang="uz-Cyrl-UZ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 r – ochiq matnning oxirgi bl</a:t>
            </a:r>
            <a:r>
              <a:rPr lang="en-US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ok</a:t>
            </a:r>
            <a:r>
              <a:rPr lang="uz-Cyrl-UZ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 uzunligi. Shifrmatn bloklari quyidagicha hisoblanadi</a:t>
            </a:r>
            <a:r>
              <a:rPr lang="uz-Cyrl-UZ" sz="140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:</a:t>
            </a:r>
            <a:endParaRPr lang="ru-RU" sz="800">
              <a:ea typeface="Calibri" pitchFamily="34" charset="0"/>
            </a:endParaRPr>
          </a:p>
          <a:p>
            <a:pPr indent="450850">
              <a:tabLst>
                <a:tab pos="180975" algn="l"/>
              </a:tabLst>
            </a:pPr>
            <a:endParaRPr lang="ru-RU">
              <a:ea typeface="Calibri" pitchFamily="34" charset="0"/>
            </a:endParaRPr>
          </a:p>
        </p:txBody>
      </p:sp>
      <p:graphicFrame>
        <p:nvGraphicFramePr>
          <p:cNvPr id="12" name="Объект 11"/>
          <p:cNvGraphicFramePr>
            <a:graphicFrameLocks noChangeAspect="1"/>
          </p:cNvGraphicFramePr>
          <p:nvPr/>
        </p:nvGraphicFramePr>
        <p:xfrm>
          <a:off x="2667000" y="1936750"/>
          <a:ext cx="4130675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0" name="Уравнение" r:id="rId8" imgW="2501900" imgH="482600" progId="Equation.3">
                  <p:embed/>
                </p:oleObj>
              </mc:Choice>
              <mc:Fallback>
                <p:oleObj name="Уравнение" r:id="rId8" imgW="2501900" imgH="482600" progId="Equation.3">
                  <p:embed/>
                  <p:pic>
                    <p:nvPicPr>
                      <p:cNvPr id="0" name="Объект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936750"/>
                        <a:ext cx="4130675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152400" y="2781300"/>
            <a:ext cx="8610600" cy="922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450850"/>
            <a:r>
              <a:rPr lang="en-US">
                <a:latin typeface="Times New Roman" pitchFamily="18" charset="0"/>
                <a:cs typeface="Calibri" pitchFamily="34" charset="0"/>
              </a:rPr>
              <a:t>Bu yerda 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CTR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i="1" baseline="-2500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IV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)=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IV||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i="1" baseline="30000">
                <a:latin typeface="Times New Roman" pitchFamily="18" charset="0"/>
                <a:cs typeface="Times New Roman" pitchFamily="18" charset="0"/>
              </a:rPr>
              <a:t>n/2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IV - sinxrojo’natma, T</a:t>
            </a:r>
            <a:r>
              <a:rPr lang="en-US" baseline="-2500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s, </a:t>
            </a:r>
            <a:r>
              <a:rPr lang="en-US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</a:t>
            </a:r>
            <a:r>
              <a:rPr lang="en-US" baseline="-2500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 </a:t>
            </a:r>
            <a:r>
              <a:rPr lang="en-US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– mos holda kiruvchi qiymatning kichik s va r bitini olish funksiyasi, </a:t>
            </a:r>
            <a:r>
              <a:rPr lang="it-IT">
                <a:latin typeface="Times New Roman" pitchFamily="18" charset="0"/>
                <a:cs typeface="Calibri" pitchFamily="34" charset="0"/>
              </a:rPr>
              <a:t>CTR</a:t>
            </a:r>
            <a:r>
              <a:rPr lang="it-IT" baseline="-25000">
                <a:latin typeface="Times New Roman" pitchFamily="18" charset="0"/>
                <a:cs typeface="Calibri" pitchFamily="34" charset="0"/>
              </a:rPr>
              <a:t>i+1</a:t>
            </a:r>
            <a:r>
              <a:rPr lang="it-IT">
                <a:latin typeface="Times New Roman" pitchFamily="18" charset="0"/>
                <a:cs typeface="Calibri" pitchFamily="34" charset="0"/>
              </a:rPr>
              <a:t> = Add(CTR</a:t>
            </a:r>
            <a:r>
              <a:rPr lang="it-IT" baseline="-25000">
                <a:latin typeface="Times New Roman" pitchFamily="18" charset="0"/>
                <a:cs typeface="Calibri" pitchFamily="34" charset="0"/>
              </a:rPr>
              <a:t>i</a:t>
            </a:r>
            <a:r>
              <a:rPr lang="it-IT">
                <a:latin typeface="Times New Roman" pitchFamily="18" charset="0"/>
                <a:cs typeface="Calibri" pitchFamily="34" charset="0"/>
              </a:rPr>
              <a:t>) = CTR</a:t>
            </a:r>
            <a:r>
              <a:rPr lang="it-IT" baseline="-25000">
                <a:latin typeface="Times New Roman" pitchFamily="18" charset="0"/>
                <a:cs typeface="Calibri" pitchFamily="34" charset="0"/>
              </a:rPr>
              <a:t>i</a:t>
            </a:r>
            <a:r>
              <a:rPr lang="it-IT">
                <a:latin typeface="Times New Roman" pitchFamily="18" charset="0"/>
                <a:cs typeface="Calibri" pitchFamily="34" charset="0"/>
              </a:rPr>
              <a:t> ⊞</a:t>
            </a:r>
            <a:r>
              <a:rPr lang="it-IT" baseline="-25000">
                <a:latin typeface="Times New Roman" pitchFamily="18" charset="0"/>
                <a:cs typeface="Calibri" pitchFamily="34" charset="0"/>
              </a:rPr>
              <a:t>n</a:t>
            </a:r>
            <a:r>
              <a:rPr lang="it-IT">
                <a:latin typeface="Times New Roman" pitchFamily="18" charset="0"/>
                <a:cs typeface="Calibri" pitchFamily="34" charset="0"/>
              </a:rPr>
              <a:t> 1</a:t>
            </a:r>
            <a:endParaRPr lang="en-US">
              <a:latin typeface="Times New Roman" pitchFamily="18" charset="0"/>
              <a:cs typeface="Calibri" pitchFamily="34" charset="0"/>
            </a:endParaRPr>
          </a:p>
          <a:p>
            <a:pPr indent="450850"/>
            <a:r>
              <a:rPr lang="uz-Cyrl-UZ">
                <a:latin typeface="Times New Roman" pitchFamily="18" charset="0"/>
                <a:cs typeface="Calibri" pitchFamily="34" charset="0"/>
              </a:rPr>
              <a:t>Natijaviy shifrmatn: </a:t>
            </a:r>
            <a:r>
              <a:rPr lang="uz-Cyrl-UZ" i="1">
                <a:latin typeface="Times New Roman" pitchFamily="18" charset="0"/>
                <a:cs typeface="Calibri" pitchFamily="34" charset="0"/>
              </a:rPr>
              <a:t>C = C</a:t>
            </a:r>
            <a:r>
              <a:rPr lang="uz-Cyrl-UZ" baseline="-30000">
                <a:latin typeface="Times New Roman" pitchFamily="18" charset="0"/>
                <a:cs typeface="Calibri" pitchFamily="34" charset="0"/>
              </a:rPr>
              <a:t>1</a:t>
            </a:r>
            <a:r>
              <a:rPr lang="uz-Cyrl-UZ" i="1">
                <a:latin typeface="Times New Roman" pitchFamily="18" charset="0"/>
                <a:cs typeface="Calibri" pitchFamily="34" charset="0"/>
              </a:rPr>
              <a:t>||C</a:t>
            </a:r>
            <a:r>
              <a:rPr lang="uz-Cyrl-UZ" baseline="-30000">
                <a:latin typeface="Times New Roman" pitchFamily="18" charset="0"/>
                <a:cs typeface="Calibri" pitchFamily="34" charset="0"/>
              </a:rPr>
              <a:t>2</a:t>
            </a:r>
            <a:r>
              <a:rPr lang="uz-Cyrl-UZ" i="1">
                <a:latin typeface="Times New Roman" pitchFamily="18" charset="0"/>
                <a:cs typeface="Calibri" pitchFamily="34" charset="0"/>
              </a:rPr>
              <a:t>||...||C</a:t>
            </a:r>
            <a:r>
              <a:rPr lang="uz-Cyrl-UZ" i="1" baseline="-30000">
                <a:latin typeface="Times New Roman" pitchFamily="18" charset="0"/>
                <a:cs typeface="Calibri" pitchFamily="34" charset="0"/>
              </a:rPr>
              <a:t>q</a:t>
            </a:r>
            <a:r>
              <a:rPr lang="uz-Cyrl-UZ" i="1">
                <a:latin typeface="Times New Roman" pitchFamily="18" charset="0"/>
                <a:cs typeface="Calibri" pitchFamily="34" charset="0"/>
              </a:rPr>
              <a:t>.</a:t>
            </a:r>
            <a:r>
              <a:rPr lang="en-US" i="1">
                <a:latin typeface="Times New Roman" pitchFamily="18" charset="0"/>
                <a:cs typeface="Calibri" pitchFamily="34" charset="0"/>
              </a:rPr>
              <a:t> </a:t>
            </a:r>
            <a:endParaRPr lang="uz-Cyrl-UZ"/>
          </a:p>
        </p:txBody>
      </p:sp>
      <p:pic>
        <p:nvPicPr>
          <p:cNvPr id="15" name="Рисунок 14" descr="D:\НИР\2016-2017\Курс лекции\СД-03 маърузалар\Безымянный.jp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840163"/>
            <a:ext cx="5410200" cy="284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Прямоугольник 15"/>
          <p:cNvSpPr/>
          <p:nvPr/>
        </p:nvSpPr>
        <p:spPr>
          <a:xfrm>
            <a:off x="152400" y="1143000"/>
            <a:ext cx="8839200" cy="2667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112713" y="1149350"/>
            <a:ext cx="8802687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Deshifrlash jarayoni</a:t>
            </a:r>
            <a:r>
              <a:rPr lang="uz-Cyrl-UZ" sz="1800" u="sng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- shifrmatn quyidagi ko‘rinishda bloklarga ajratiladi: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С=С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||С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||…||С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– s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bit,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=1,2, …,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q-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1,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– r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bit,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r ≤ s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1800">
              <a:latin typeface="Times New Roman" pitchFamily="18" charset="0"/>
              <a:cs typeface="Times New Roman" pitchFamily="18" charset="0"/>
            </a:endParaRPr>
          </a:p>
          <a:p>
            <a:r>
              <a:rPr lang="uz-Cyrl-UZ" sz="1800">
                <a:latin typeface="Times New Roman" pitchFamily="18" charset="0"/>
                <a:cs typeface="Times New Roman" pitchFamily="18" charset="0"/>
              </a:rPr>
              <a:t>Ochiq matn bloklari quyidagi qoida bo‘yicha hisoblanadi: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518" name="Rectangle 17"/>
          <p:cNvSpPr>
            <a:spLocks noChangeArrowheads="1"/>
          </p:cNvSpPr>
          <p:nvPr/>
        </p:nvSpPr>
        <p:spPr bwMode="auto">
          <a:xfrm>
            <a:off x="423863" y="3524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9" name="Объект 18"/>
          <p:cNvGraphicFramePr>
            <a:graphicFrameLocks noChangeAspect="1"/>
          </p:cNvGraphicFramePr>
          <p:nvPr/>
        </p:nvGraphicFramePr>
        <p:xfrm>
          <a:off x="2819400" y="2073275"/>
          <a:ext cx="3938588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1" name="Уравнение" r:id="rId11" imgW="2501900" imgH="482600" progId="Equation.3">
                  <p:embed/>
                </p:oleObj>
              </mc:Choice>
              <mc:Fallback>
                <p:oleObj name="Уравнение" r:id="rId11" imgW="2501900" imgH="482600" progId="Equation.3">
                  <p:embed/>
                  <p:pic>
                    <p:nvPicPr>
                      <p:cNvPr id="0" name="Объект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073275"/>
                        <a:ext cx="3938588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190500" y="2919413"/>
            <a:ext cx="5257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>
                <a:latin typeface="Times New Roman" pitchFamily="18" charset="0"/>
                <a:cs typeface="Times New Roman" pitchFamily="18" charset="0"/>
              </a:rPr>
              <a:t>Natijaviy ochiq matn: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 = 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||...||P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.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  <a:p>
            <a:endParaRPr lang="ru-RU" sz="1800"/>
          </a:p>
        </p:txBody>
      </p:sp>
      <p:pic>
        <p:nvPicPr>
          <p:cNvPr id="25" name="Рисунок 24" descr="D:\НИР\2016-2017\Курс лекции\СД-03 маърузалар\Безымянный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3714750"/>
            <a:ext cx="6172200" cy="294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6" grpId="0" animBg="1"/>
      <p:bldP spid="17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рямоугольник 70"/>
          <p:cNvSpPr/>
          <p:nvPr/>
        </p:nvSpPr>
        <p:spPr>
          <a:xfrm>
            <a:off x="152400" y="185058"/>
            <a:ext cx="8839200" cy="6496110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graphicFrame>
        <p:nvGraphicFramePr>
          <p:cNvPr id="6" name="Схема 5"/>
          <p:cNvGraphicFramePr/>
          <p:nvPr/>
        </p:nvGraphicFramePr>
        <p:xfrm>
          <a:off x="-308264" y="27709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244475" y="1944688"/>
            <a:ext cx="8763000" cy="3733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v</a:t>
            </a:r>
            <a:endParaRPr lang="ru-RU" dirty="0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44475" y="1943100"/>
            <a:ext cx="4327525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>
                <a:latin typeface="Times New Roman" pitchFamily="18" charset="0"/>
                <a:cs typeface="Times New Roman" pitchFamily="18" charset="0"/>
              </a:rPr>
              <a:t>Shifrlash jarayoni: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– ochiq matn quyidagi ko‘rinishda ifodalanadi: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P=P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||…||P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– s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bit,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= 1, 2, …,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q-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1,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bit,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r ≤ s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. Shifrmatn bloklari quyidagi qoida bo‘yicha hisoblanadi: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536" name="Rectangle 7"/>
          <p:cNvSpPr>
            <a:spLocks noChangeArrowheads="1"/>
          </p:cNvSpPr>
          <p:nvPr/>
        </p:nvSpPr>
        <p:spPr bwMode="auto">
          <a:xfrm>
            <a:off x="-38100" y="-360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/>
        </p:nvGraphicFramePr>
        <p:xfrm>
          <a:off x="1008063" y="3457575"/>
          <a:ext cx="2390775" cy="150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9" name="Уравнение" r:id="rId8" imgW="2235200" imgH="1447800" progId="Equation.3">
                  <p:embed/>
                </p:oleObj>
              </mc:Choice>
              <mc:Fallback>
                <p:oleObj name="Уравнение" r:id="rId8" imgW="2235200" imgH="1447800" progId="Equation.3">
                  <p:embed/>
                  <p:pic>
                    <p:nvPicPr>
                      <p:cNvPr id="0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063" y="3457575"/>
                        <a:ext cx="2390775" cy="150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09550" y="4956175"/>
            <a:ext cx="39862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>
                <a:latin typeface="Times New Roman" pitchFamily="18" charset="0"/>
                <a:cs typeface="Times New Roman" pitchFamily="18" charset="0"/>
              </a:rPr>
              <a:t>Natijaviy shifrmatn quyidacha hosil 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qilinadi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C = C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||C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||...||C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 i="1"/>
              <a:t>.</a:t>
            </a:r>
            <a:endParaRPr lang="ru-RU" sz="1800"/>
          </a:p>
        </p:txBody>
      </p:sp>
      <p:pic>
        <p:nvPicPr>
          <p:cNvPr id="9" name="Рисунок 8" descr="D:\НИР\2016-2017\Курс лекции\СД-03 маърузалар\Безымянный.jp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3900" y="1943100"/>
            <a:ext cx="4387850" cy="356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Прямоугольник 12"/>
          <p:cNvSpPr/>
          <p:nvPr/>
        </p:nvSpPr>
        <p:spPr>
          <a:xfrm>
            <a:off x="168275" y="1666875"/>
            <a:ext cx="8839200" cy="411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95275" y="1774825"/>
            <a:ext cx="3814763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 u="sng">
                <a:latin typeface="Times New Roman" pitchFamily="18" charset="0"/>
                <a:cs typeface="Times New Roman" pitchFamily="18" charset="0"/>
              </a:rPr>
              <a:t>Deshifrlash jarayoni: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– shifrmatn quyidagi ko‘rinishda ifodalanadi: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С=С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||С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 … ||С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– s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бит,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=1, 2, …,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q-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1,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– r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бит,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r ≤ s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. Ochiq matn bloklari quyidagi qoida bo‘yicha hisoblanadi: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725" y="3457575"/>
            <a:ext cx="2963863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295275" y="5299075"/>
            <a:ext cx="42005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>
                <a:latin typeface="Times New Roman" pitchFamily="18" charset="0"/>
                <a:cs typeface="Times New Roman" pitchFamily="18" charset="0"/>
              </a:rPr>
              <a:t>Natijaviy ochiq matn: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 = 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||...||P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.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7" name="Рисунок 16" descr="D:\НИР\2016-2017\Курс лекции\СД-03 маърузалар\Безымянный.jp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8663" y="1822450"/>
            <a:ext cx="4383087" cy="395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3" grpId="0" animBg="1"/>
      <p:bldP spid="10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рямоугольник 70"/>
          <p:cNvSpPr/>
          <p:nvPr/>
        </p:nvSpPr>
        <p:spPr>
          <a:xfrm>
            <a:off x="152400" y="185058"/>
            <a:ext cx="8839200" cy="6496110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graphicFrame>
        <p:nvGraphicFramePr>
          <p:cNvPr id="8" name="Схема 7"/>
          <p:cNvGraphicFramePr/>
          <p:nvPr/>
        </p:nvGraphicFramePr>
        <p:xfrm>
          <a:off x="-290945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609600" y="1371600"/>
            <a:ext cx="8077200" cy="3657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762000" y="1425575"/>
            <a:ext cx="38100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>
                <a:latin typeface="Times New Roman" pitchFamily="18" charset="0"/>
                <a:cs typeface="Times New Roman" pitchFamily="18" charset="0"/>
              </a:rPr>
              <a:t>Shifrlash jarayoni: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– ochiq (to‘ldirilgan) matn (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|P| = n∙q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) quyidagi ko‘rinishda ifodalanadi: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P=P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 … ||P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– n 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bit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= 1, 2, …,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. 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  <a:p>
            <a:r>
              <a:rPr lang="uz-Cyrl-UZ" sz="1800">
                <a:latin typeface="Times New Roman" pitchFamily="18" charset="0"/>
                <a:cs typeface="Times New Roman" pitchFamily="18" charset="0"/>
              </a:rPr>
              <a:t>Shifrmatn bloklari quyidagi qoida bo‘yicha hisoblanadi: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963" y="3235325"/>
            <a:ext cx="2886075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4270375"/>
            <a:ext cx="39243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41350" y="4568825"/>
            <a:ext cx="3962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>
                <a:latin typeface="Times New Roman" pitchFamily="18" charset="0"/>
                <a:cs typeface="Times New Roman" pitchFamily="18" charset="0"/>
              </a:rPr>
              <a:t>Natijaviy shifrmatn: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C =C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||C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||...||C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.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" name="Рисунок 15" descr="D:\wert\Безымянный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1571625"/>
            <a:ext cx="3968750" cy="318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Прямоугольник 14"/>
          <p:cNvSpPr/>
          <p:nvPr/>
        </p:nvSpPr>
        <p:spPr>
          <a:xfrm>
            <a:off x="457200" y="1219200"/>
            <a:ext cx="8382000" cy="4038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457200" y="1236663"/>
            <a:ext cx="39624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 b="1">
                <a:latin typeface="Times New Roman" pitchFamily="18" charset="0"/>
                <a:cs typeface="Times New Roman" pitchFamily="18" charset="0"/>
              </a:rPr>
              <a:t>Deshifrlash jarayoni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– shifrmatn quyidagi ko‘rinishda ifodalanadi: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С=С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||С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 … ||С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– n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bit,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=1, 2, …,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. Ochiq matn bloklari quyidagi qoida bo‘yicha hisoblanadi: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760663"/>
            <a:ext cx="29146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590550" y="3932238"/>
            <a:ext cx="351948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>
                <a:latin typeface="Times New Roman" pitchFamily="18" charset="0"/>
                <a:cs typeface="Times New Roman" pitchFamily="18" charset="0"/>
              </a:rPr>
              <a:t>Natijaviy ochiq matn quyidacha hosil bo‘ladi: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 = 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||...||P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. 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" name="Рисунок 20" descr="D:\wert\Безымянный.jp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1988" y="1435100"/>
            <a:ext cx="4246562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4" grpId="0"/>
      <p:bldP spid="15" grpId="0" animBg="1"/>
      <p:bldP spid="17" grpId="0"/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рямоугольник 70"/>
          <p:cNvSpPr/>
          <p:nvPr/>
        </p:nvSpPr>
        <p:spPr>
          <a:xfrm>
            <a:off x="152400" y="185058"/>
            <a:ext cx="8839200" cy="6496110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graphicFrame>
        <p:nvGraphicFramePr>
          <p:cNvPr id="6" name="Схема 5"/>
          <p:cNvGraphicFramePr/>
          <p:nvPr/>
        </p:nvGraphicFramePr>
        <p:xfrm>
          <a:off x="-290945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266700" y="1333500"/>
            <a:ext cx="8610600" cy="419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381000" y="1350963"/>
            <a:ext cx="3810000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 u="sng">
                <a:latin typeface="Times New Roman" pitchFamily="18" charset="0"/>
                <a:cs typeface="Times New Roman" pitchFamily="18" charset="0"/>
              </a:rPr>
              <a:t>Shifrlash jarayoni: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– ochiq matn quyidagi ko‘rinishda ifodalanadi: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P=P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 … ||P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– s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bit,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= 1, 2, …,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q-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1,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bit,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r ≤ s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. Shifrmatn bloklari quyidagi qoida bo‘yicha hisoblanadi: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159125"/>
            <a:ext cx="3048000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342900" y="4311650"/>
            <a:ext cx="4076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>
                <a:latin typeface="Times New Roman" pitchFamily="18" charset="0"/>
                <a:cs typeface="Times New Roman" pitchFamily="18" charset="0"/>
              </a:rPr>
              <a:t>Natishaviy shifrmatn: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C = C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||C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||...||C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.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Рисунок 7" descr="D:\wert\Безымянный.jp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5300" y="1524000"/>
            <a:ext cx="44577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266700" y="1333500"/>
            <a:ext cx="8610600" cy="43053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266700" y="1439863"/>
            <a:ext cx="42672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 u="sng">
                <a:latin typeface="Times New Roman" pitchFamily="18" charset="0"/>
                <a:cs typeface="Times New Roman" pitchFamily="18" charset="0"/>
              </a:rPr>
              <a:t>Deshifrlash jarayoni: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– shifrmatn quyidagi ko‘rinishda ifodalanadi: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С=С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||С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 … ||С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– s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bit,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=1, 2, …,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q-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1,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– r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bit,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r ≤ s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. Ochiq matn bloklari quyidagi qoida bo‘yicha hisoblanadi: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3054350"/>
            <a:ext cx="3028950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209550" y="4138613"/>
            <a:ext cx="4038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>
                <a:latin typeface="Times New Roman" pitchFamily="18" charset="0"/>
                <a:cs typeface="Times New Roman" pitchFamily="18" charset="0"/>
              </a:rPr>
              <a:t>Natijaviy ochiq matn 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 = 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||...||P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.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" name="Рисунок 12" descr="D:\wert\Безымянный.jp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2463" y="1628775"/>
            <a:ext cx="4357687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 animBg="1"/>
      <p:bldP spid="9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рямоугольник 70"/>
          <p:cNvSpPr/>
          <p:nvPr/>
        </p:nvSpPr>
        <p:spPr>
          <a:xfrm>
            <a:off x="152400" y="185058"/>
            <a:ext cx="8839200" cy="6496110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graphicFrame>
        <p:nvGraphicFramePr>
          <p:cNvPr id="6" name="Схема 5"/>
          <p:cNvGraphicFramePr/>
          <p:nvPr/>
        </p:nvGraphicFramePr>
        <p:xfrm>
          <a:off x="-290945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304800" y="1163638"/>
            <a:ext cx="8534400" cy="533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339725" y="1163638"/>
            <a:ext cx="84994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just"/>
            <a:r>
              <a:rPr lang="uz-Cyrl-UZ" sz="1800">
                <a:latin typeface="Times New Roman" pitchFamily="18" charset="0"/>
                <a:cs typeface="Times New Roman" pitchFamily="18" charset="0"/>
              </a:rPr>
              <a:t>Imitovstavka hisoblash talab etiluvchi dastlabki ma'lumot P quyidagi ko‘rinishda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ifodalanadi: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 = 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||...||P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>
                <a:latin typeface="Times New Roman" pitchFamily="18" charset="0"/>
                <a:cs typeface="Times New Roman" pitchFamily="18" charset="0"/>
              </a:rPr>
              <a:t>bu yerda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– n 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bit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= 1, 2, …,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q-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1,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bit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r ≤ n.</a:t>
            </a:r>
            <a:endParaRPr lang="en-US" sz="1800" i="1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pt-BR" sz="1800">
                <a:latin typeface="Times New Roman" pitchFamily="18" charset="0"/>
                <a:cs typeface="Times New Roman" pitchFamily="18" charset="0"/>
              </a:rPr>
              <a:t>Imitoqo’shishni hisoblash quyidagicha amalga oshiriladi: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2336800"/>
            <a:ext cx="3017838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533400" y="3489325"/>
            <a:ext cx="1371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>
                <a:latin typeface="Times New Roman" pitchFamily="18" charset="0"/>
                <a:cs typeface="Times New Roman" pitchFamily="18" charset="0"/>
              </a:rPr>
              <a:t>bu yerda</a:t>
            </a:r>
            <a:r>
              <a:rPr lang="uz-Cyrl-UZ" sz="1800"/>
              <a:t>, </a:t>
            </a:r>
            <a:endParaRPr lang="ru-RU" sz="180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325" y="3775075"/>
            <a:ext cx="257492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47700" y="4510192"/>
            <a:ext cx="7848600" cy="390748"/>
          </a:xfrm>
          <a:prstGeom prst="rect">
            <a:avLst/>
          </a:prstGeom>
          <a:blipFill rotWithShape="0">
            <a:blip r:embed="rId9"/>
            <a:stretch>
              <a:fillRect t="-9375" b="-18750"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  <a:cs typeface="Arial" panose="020B0604020202020204" pitchFamily="34" charset="0"/>
              </a:rPr>
              <a:t> 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75" y="5060950"/>
            <a:ext cx="2695575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Прямоугольник 25"/>
          <p:cNvSpPr/>
          <p:nvPr/>
        </p:nvSpPr>
        <p:spPr>
          <a:xfrm>
            <a:off x="304800" y="1163638"/>
            <a:ext cx="8534400" cy="53371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533400" y="1295400"/>
            <a:ext cx="5486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>
                <a:latin typeface="Times New Roman" pitchFamily="18" charset="0"/>
                <a:cs typeface="Times New Roman" pitchFamily="18" charset="0"/>
              </a:rPr>
              <a:t>bu yerda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sz="1800" baseline="-25000">
                <a:latin typeface="Times New Roman" pitchFamily="18" charset="0"/>
                <a:cs typeface="Times New Roman" pitchFamily="18" charset="0"/>
              </a:rPr>
              <a:t>64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=0</a:t>
            </a:r>
            <a:r>
              <a:rPr lang="ru-RU" sz="1800" baseline="30000">
                <a:latin typeface="Times New Roman" pitchFamily="18" charset="0"/>
                <a:cs typeface="Times New Roman" pitchFamily="18" charset="0"/>
              </a:rPr>
              <a:t>59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||11011, 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sz="1800" baseline="-25000">
                <a:latin typeface="Times New Roman" pitchFamily="18" charset="0"/>
                <a:cs typeface="Times New Roman" pitchFamily="18" charset="0"/>
              </a:rPr>
              <a:t>128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=0</a:t>
            </a:r>
            <a:r>
              <a:rPr lang="ru-RU" sz="1800" baseline="30000">
                <a:latin typeface="Times New Roman" pitchFamily="18" charset="0"/>
                <a:cs typeface="Times New Roman" pitchFamily="18" charset="0"/>
              </a:rPr>
              <a:t>120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||10000111.</a:t>
            </a:r>
          </a:p>
        </p:txBody>
      </p:sp>
      <p:sp>
        <p:nvSpPr>
          <p:cNvPr id="28" name="TextBox 2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47700" y="1800721"/>
            <a:ext cx="3009900" cy="390748"/>
          </a:xfrm>
          <a:prstGeom prst="rect">
            <a:avLst/>
          </a:prstGeom>
          <a:blipFill rotWithShape="0">
            <a:blip r:embed="rId11"/>
            <a:stretch>
              <a:fillRect l="-1619" t="-7813" b="-18750"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  <a:cs typeface="Arial" panose="020B0604020202020204" pitchFamily="34" charset="0"/>
              </a:rPr>
              <a:t> </a:t>
            </a:r>
          </a:p>
        </p:txBody>
      </p:sp>
      <p:pic>
        <p:nvPicPr>
          <p:cNvPr id="30" name="Рисунок 29" descr="D:\wert\Безымянный.jp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4838" y="1744663"/>
            <a:ext cx="4827587" cy="2411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2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33400" y="4104190"/>
            <a:ext cx="1905000" cy="390748"/>
          </a:xfrm>
          <a:prstGeom prst="rect">
            <a:avLst/>
          </a:prstGeom>
          <a:blipFill rotWithShape="0">
            <a:blip r:embed="rId13"/>
            <a:stretch>
              <a:fillRect l="-2885" t="-7813" b="-20313"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  <a:cs typeface="Arial" panose="020B0604020202020204" pitchFamily="34" charset="0"/>
              </a:rPr>
              <a:t> </a:t>
            </a:r>
          </a:p>
        </p:txBody>
      </p:sp>
      <p:pic>
        <p:nvPicPr>
          <p:cNvPr id="32" name="Рисунок 31" descr="D:\wert\Безымянный.jp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825" y="4271963"/>
            <a:ext cx="4778375" cy="212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26" grpId="0" animBg="1"/>
      <p:bldP spid="2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5011</TotalTime>
  <Words>1000</Words>
  <Application>Microsoft Office PowerPoint</Application>
  <PresentationFormat>Экран (4:3)</PresentationFormat>
  <Paragraphs>136</Paragraphs>
  <Slides>15</Slides>
  <Notes>0</Notes>
  <HiddenSlides>4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7" baseType="lpstr">
      <vt:lpstr>Office Theme</vt:lpstr>
      <vt:lpstr>Уравнение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Erkin</dc:creator>
  <cp:lastModifiedBy>Ахмедов</cp:lastModifiedBy>
  <cp:revision>666</cp:revision>
  <dcterms:created xsi:type="dcterms:W3CDTF">2012-09-04T09:12:11Z</dcterms:created>
  <dcterms:modified xsi:type="dcterms:W3CDTF">2021-10-07T03:53:58Z</dcterms:modified>
</cp:coreProperties>
</file>