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4.xml" ContentType="application/vnd.openxmlformats-officedocument.theme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02" r:id="rId2"/>
    <p:sldMasterId id="2147483726" r:id="rId3"/>
    <p:sldMasterId id="2147483738" r:id="rId4"/>
    <p:sldMasterId id="2147483768" r:id="rId5"/>
  </p:sldMasterIdLst>
  <p:notesMasterIdLst>
    <p:notesMasterId r:id="rId36"/>
  </p:notesMasterIdLst>
  <p:sldIdLst>
    <p:sldId id="256" r:id="rId6"/>
    <p:sldId id="293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94" r:id="rId15"/>
    <p:sldId id="264" r:id="rId16"/>
    <p:sldId id="265" r:id="rId17"/>
    <p:sldId id="295" r:id="rId18"/>
    <p:sldId id="266" r:id="rId19"/>
    <p:sldId id="267" r:id="rId20"/>
    <p:sldId id="268" r:id="rId21"/>
    <p:sldId id="269" r:id="rId22"/>
    <p:sldId id="286" r:id="rId23"/>
    <p:sldId id="287" r:id="rId24"/>
    <p:sldId id="272" r:id="rId25"/>
    <p:sldId id="288" r:id="rId26"/>
    <p:sldId id="273" r:id="rId27"/>
    <p:sldId id="274" r:id="rId28"/>
    <p:sldId id="275" r:id="rId29"/>
    <p:sldId id="276" r:id="rId30"/>
    <p:sldId id="290" r:id="rId31"/>
    <p:sldId id="291" r:id="rId32"/>
    <p:sldId id="292" r:id="rId33"/>
    <p:sldId id="278" r:id="rId34"/>
    <p:sldId id="279" r:id="rId35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NICON" initials="U" lastIdx="1" clrIdx="0">
    <p:extLst>
      <p:ext uri="{19B8F6BF-5375-455C-9EA6-DF929625EA0E}">
        <p15:presenceInfo xmlns:p15="http://schemas.microsoft.com/office/powerpoint/2012/main" userId="UNICO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66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5758FB7-9AC5-4552-8A53-C91805E547FA}" styleName="Стиль из темы 1 - акцент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501" autoAdjust="0"/>
  </p:normalViewPr>
  <p:slideViewPr>
    <p:cSldViewPr snapToGrid="0">
      <p:cViewPr varScale="1">
        <p:scale>
          <a:sx n="111" d="100"/>
          <a:sy n="111" d="100"/>
        </p:scale>
        <p:origin x="16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2DED409-0C2B-4CE8-94AD-195B9520A57B}" type="doc">
      <dgm:prSet loTypeId="urn:microsoft.com/office/officeart/2008/layout/VerticalCurvedList" loCatId="list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C1C305BA-70DE-4D16-82F2-B71A8919B4DB}">
      <dgm:prSet phldrT="[Текст]" custT="1"/>
      <dgm:spPr/>
      <dgm:t>
        <a:bodyPr/>
        <a:lstStyle/>
        <a:p>
          <a:r>
            <a:rPr lang="en-US" sz="2400" b="1" dirty="0" err="1" smtClean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Turli</a:t>
          </a:r>
          <a:r>
            <a:rPr lang="en-US" sz="2400" b="1" dirty="0" smtClean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400" b="1" dirty="0" err="1" smtClean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xil</a:t>
          </a:r>
          <a:r>
            <a:rPr lang="en-US" sz="2400" b="1" dirty="0" smtClean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uz-Cyrl-UZ" sz="2400" b="1" dirty="0" smtClean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kriptovalyuta</a:t>
          </a:r>
          <a:r>
            <a:rPr lang="en-US" sz="2400" b="1" dirty="0" err="1" smtClean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larning</a:t>
          </a:r>
          <a:r>
            <a:rPr lang="en-US" sz="2400" b="1" dirty="0" smtClean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uz-Cyrl-UZ" sz="2400" b="1" dirty="0" smtClean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yaratish </a:t>
          </a:r>
          <a:r>
            <a:rPr lang="en-US" sz="2400" b="1" dirty="0" err="1" smtClean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asos</a:t>
          </a:r>
          <a:r>
            <a:rPr lang="uz-Cyrl-UZ" sz="2400" b="1" dirty="0" smtClean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lari</a:t>
          </a:r>
          <a:r>
            <a:rPr lang="en-US" sz="2400" b="1" dirty="0" err="1" smtClean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ni</a:t>
          </a:r>
          <a:r>
            <a:rPr lang="en-US" sz="2400" b="1" dirty="0" smtClean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uz-Cyrl-UZ" sz="2400" b="1" dirty="0" smtClean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tadqiq qilish</a:t>
          </a:r>
          <a:r>
            <a:rPr lang="en-US" sz="2400" b="1" dirty="0" smtClean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.</a:t>
          </a:r>
          <a:endParaRPr lang="ru-RU" sz="2400" dirty="0">
            <a:solidFill>
              <a:schemeClr val="tx1"/>
            </a:solidFill>
          </a:endParaRPr>
        </a:p>
      </dgm:t>
    </dgm:pt>
    <dgm:pt modelId="{575B9367-0DA1-4A7D-ABC1-FA14C43EDE51}" type="parTrans" cxnId="{973A7E85-38B3-4FA6-887F-7E2B4944011A}">
      <dgm:prSet/>
      <dgm:spPr/>
      <dgm:t>
        <a:bodyPr/>
        <a:lstStyle/>
        <a:p>
          <a:endParaRPr lang="ru-RU" sz="700"/>
        </a:p>
      </dgm:t>
    </dgm:pt>
    <dgm:pt modelId="{4C5BCEEF-B8B9-40A6-BACA-FC95DFE67D0F}" type="sibTrans" cxnId="{973A7E85-38B3-4FA6-887F-7E2B4944011A}">
      <dgm:prSet/>
      <dgm:spPr/>
      <dgm:t>
        <a:bodyPr/>
        <a:lstStyle/>
        <a:p>
          <a:endParaRPr lang="ru-RU" sz="700"/>
        </a:p>
      </dgm:t>
    </dgm:pt>
    <dgm:pt modelId="{530B184D-3424-4D4B-9D1F-4A0E1B132E44}">
      <dgm:prSet phldrT="[Текст]" custT="1"/>
      <dgm:spPr/>
      <dgm:t>
        <a:bodyPr/>
        <a:lstStyle/>
        <a:p>
          <a:r>
            <a:rPr lang="en-US" sz="2400" b="1" dirty="0" err="1" smtClean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Milliy</a:t>
          </a:r>
          <a:r>
            <a:rPr lang="en-US" sz="2400" b="1" dirty="0" smtClean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400" b="1" dirty="0" err="1" smtClean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kriptovalyuta</a:t>
          </a:r>
          <a:r>
            <a:rPr lang="en-US" sz="2400" b="1" dirty="0" smtClean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400" b="1" dirty="0" err="1" smtClean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yaratishning</a:t>
          </a:r>
          <a:r>
            <a:rPr lang="en-US" sz="2400" b="1" dirty="0" smtClean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400" b="1" dirty="0" err="1" smtClean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nazariy</a:t>
          </a:r>
          <a:r>
            <a:rPr lang="en-US" sz="2400" b="1" dirty="0" smtClean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400" b="1" dirty="0" err="1" smtClean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asoslarini</a:t>
          </a:r>
          <a:r>
            <a:rPr lang="en-US" sz="2400" b="1" dirty="0" smtClean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400" b="1" dirty="0" err="1" smtClean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tadqiq</a:t>
          </a:r>
          <a:r>
            <a:rPr lang="en-US" sz="2400" b="1" dirty="0" smtClean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400" b="1" dirty="0" err="1" smtClean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etish</a:t>
          </a:r>
          <a:r>
            <a:rPr lang="en-US" sz="2400" b="1" dirty="0" smtClean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.</a:t>
          </a:r>
          <a:endParaRPr lang="ru-RU" sz="2400" dirty="0">
            <a:solidFill>
              <a:schemeClr val="tx1"/>
            </a:solidFill>
          </a:endParaRPr>
        </a:p>
      </dgm:t>
    </dgm:pt>
    <dgm:pt modelId="{A13766D3-2CC9-4568-B8F9-B4381D9B6824}" type="parTrans" cxnId="{D837D639-0AC0-46A8-8561-3A7EF6EFE44C}">
      <dgm:prSet/>
      <dgm:spPr/>
      <dgm:t>
        <a:bodyPr/>
        <a:lstStyle/>
        <a:p>
          <a:endParaRPr lang="ru-RU" sz="700"/>
        </a:p>
      </dgm:t>
    </dgm:pt>
    <dgm:pt modelId="{6C06FC4B-67F6-4838-BCBB-136EB619F9EE}" type="sibTrans" cxnId="{D837D639-0AC0-46A8-8561-3A7EF6EFE44C}">
      <dgm:prSet/>
      <dgm:spPr/>
      <dgm:t>
        <a:bodyPr/>
        <a:lstStyle/>
        <a:p>
          <a:endParaRPr lang="ru-RU" sz="700"/>
        </a:p>
      </dgm:t>
    </dgm:pt>
    <dgm:pt modelId="{AF58C8FA-B1E5-4F07-A2F5-01E03C1415FD}" type="pres">
      <dgm:prSet presAssocID="{12DED409-0C2B-4CE8-94AD-195B9520A57B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ru-RU"/>
        </a:p>
      </dgm:t>
    </dgm:pt>
    <dgm:pt modelId="{E0BCA0FF-CA6E-48FD-99A5-6022EA73B288}" type="pres">
      <dgm:prSet presAssocID="{12DED409-0C2B-4CE8-94AD-195B9520A57B}" presName="Name1" presStyleCnt="0"/>
      <dgm:spPr/>
    </dgm:pt>
    <dgm:pt modelId="{59AE8941-4257-4F1E-A1FA-9B337A38DA93}" type="pres">
      <dgm:prSet presAssocID="{12DED409-0C2B-4CE8-94AD-195B9520A57B}" presName="cycle" presStyleCnt="0"/>
      <dgm:spPr/>
    </dgm:pt>
    <dgm:pt modelId="{C74AAB4D-5A21-410B-BF13-65F2E1DC05C8}" type="pres">
      <dgm:prSet presAssocID="{12DED409-0C2B-4CE8-94AD-195B9520A57B}" presName="srcNode" presStyleLbl="node1" presStyleIdx="0" presStyleCnt="2"/>
      <dgm:spPr/>
    </dgm:pt>
    <dgm:pt modelId="{A87D4942-C92F-4C94-9E94-0F5B64BDBCF0}" type="pres">
      <dgm:prSet presAssocID="{12DED409-0C2B-4CE8-94AD-195B9520A57B}" presName="conn" presStyleLbl="parChTrans1D2" presStyleIdx="0" presStyleCnt="1"/>
      <dgm:spPr/>
      <dgm:t>
        <a:bodyPr/>
        <a:lstStyle/>
        <a:p>
          <a:endParaRPr lang="ru-RU"/>
        </a:p>
      </dgm:t>
    </dgm:pt>
    <dgm:pt modelId="{4465A53B-31D8-4270-AAEF-C399B346445D}" type="pres">
      <dgm:prSet presAssocID="{12DED409-0C2B-4CE8-94AD-195B9520A57B}" presName="extraNode" presStyleLbl="node1" presStyleIdx="0" presStyleCnt="2"/>
      <dgm:spPr/>
    </dgm:pt>
    <dgm:pt modelId="{8B938483-091A-4E2C-96B6-55E50B33B257}" type="pres">
      <dgm:prSet presAssocID="{12DED409-0C2B-4CE8-94AD-195B9520A57B}" presName="dstNode" presStyleLbl="node1" presStyleIdx="0" presStyleCnt="2"/>
      <dgm:spPr/>
    </dgm:pt>
    <dgm:pt modelId="{EB7534A7-DC14-48AA-900B-B59E09587A28}" type="pres">
      <dgm:prSet presAssocID="{C1C305BA-70DE-4D16-82F2-B71A8919B4DB}" presName="text_1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E159D54-D256-4B55-903B-E8DA6260AE73}" type="pres">
      <dgm:prSet presAssocID="{C1C305BA-70DE-4D16-82F2-B71A8919B4DB}" presName="accent_1" presStyleCnt="0"/>
      <dgm:spPr/>
    </dgm:pt>
    <dgm:pt modelId="{47301ADC-11DD-4E60-BBD9-BF1B02AC99DA}" type="pres">
      <dgm:prSet presAssocID="{C1C305BA-70DE-4D16-82F2-B71A8919B4DB}" presName="accentRepeatNode" presStyleLbl="solidFgAcc1" presStyleIdx="0" presStyleCnt="2"/>
      <dgm:spPr>
        <a:prstGeom prst="ellipse">
          <a:avLst/>
        </a:prstGeom>
      </dgm:spPr>
    </dgm:pt>
    <dgm:pt modelId="{7A244915-C224-42A8-B81D-EBBF51AAC8F1}" type="pres">
      <dgm:prSet presAssocID="{530B184D-3424-4D4B-9D1F-4A0E1B132E44}" presName="text_2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C4BC5DC-FE84-4971-A062-3E5EC246CF27}" type="pres">
      <dgm:prSet presAssocID="{530B184D-3424-4D4B-9D1F-4A0E1B132E44}" presName="accent_2" presStyleCnt="0"/>
      <dgm:spPr/>
    </dgm:pt>
    <dgm:pt modelId="{5FA50131-75C6-444E-B9D6-1E1D3FA8252A}" type="pres">
      <dgm:prSet presAssocID="{530B184D-3424-4D4B-9D1F-4A0E1B132E44}" presName="accentRepeatNode" presStyleLbl="solidFgAcc1" presStyleIdx="1" presStyleCnt="2"/>
      <dgm:spPr/>
    </dgm:pt>
  </dgm:ptLst>
  <dgm:cxnLst>
    <dgm:cxn modelId="{D837D639-0AC0-46A8-8561-3A7EF6EFE44C}" srcId="{12DED409-0C2B-4CE8-94AD-195B9520A57B}" destId="{530B184D-3424-4D4B-9D1F-4A0E1B132E44}" srcOrd="1" destOrd="0" parTransId="{A13766D3-2CC9-4568-B8F9-B4381D9B6824}" sibTransId="{6C06FC4B-67F6-4838-BCBB-136EB619F9EE}"/>
    <dgm:cxn modelId="{55BD00F0-2F23-4D08-9387-05F572FEF180}" type="presOf" srcId="{12DED409-0C2B-4CE8-94AD-195B9520A57B}" destId="{AF58C8FA-B1E5-4F07-A2F5-01E03C1415FD}" srcOrd="0" destOrd="0" presId="urn:microsoft.com/office/officeart/2008/layout/VerticalCurvedList"/>
    <dgm:cxn modelId="{8B6209EE-EC94-497F-A066-5F7415700029}" type="presOf" srcId="{4C5BCEEF-B8B9-40A6-BACA-FC95DFE67D0F}" destId="{A87D4942-C92F-4C94-9E94-0F5B64BDBCF0}" srcOrd="0" destOrd="0" presId="urn:microsoft.com/office/officeart/2008/layout/VerticalCurvedList"/>
    <dgm:cxn modelId="{AE3C6903-DCF7-4FBF-97C3-04E355D711C5}" type="presOf" srcId="{530B184D-3424-4D4B-9D1F-4A0E1B132E44}" destId="{7A244915-C224-42A8-B81D-EBBF51AAC8F1}" srcOrd="0" destOrd="0" presId="urn:microsoft.com/office/officeart/2008/layout/VerticalCurvedList"/>
    <dgm:cxn modelId="{973A7E85-38B3-4FA6-887F-7E2B4944011A}" srcId="{12DED409-0C2B-4CE8-94AD-195B9520A57B}" destId="{C1C305BA-70DE-4D16-82F2-B71A8919B4DB}" srcOrd="0" destOrd="0" parTransId="{575B9367-0DA1-4A7D-ABC1-FA14C43EDE51}" sibTransId="{4C5BCEEF-B8B9-40A6-BACA-FC95DFE67D0F}"/>
    <dgm:cxn modelId="{AC4F0CA6-0ECD-42C1-A74C-E2490FABCE1F}" type="presOf" srcId="{C1C305BA-70DE-4D16-82F2-B71A8919B4DB}" destId="{EB7534A7-DC14-48AA-900B-B59E09587A28}" srcOrd="0" destOrd="0" presId="urn:microsoft.com/office/officeart/2008/layout/VerticalCurvedList"/>
    <dgm:cxn modelId="{9776471F-583B-4F2E-808A-B1DD096793E0}" type="presParOf" srcId="{AF58C8FA-B1E5-4F07-A2F5-01E03C1415FD}" destId="{E0BCA0FF-CA6E-48FD-99A5-6022EA73B288}" srcOrd="0" destOrd="0" presId="urn:microsoft.com/office/officeart/2008/layout/VerticalCurvedList"/>
    <dgm:cxn modelId="{C6C1ACE9-7A1D-477B-822C-18F78390BC8D}" type="presParOf" srcId="{E0BCA0FF-CA6E-48FD-99A5-6022EA73B288}" destId="{59AE8941-4257-4F1E-A1FA-9B337A38DA93}" srcOrd="0" destOrd="0" presId="urn:microsoft.com/office/officeart/2008/layout/VerticalCurvedList"/>
    <dgm:cxn modelId="{A605B2AA-86EF-4207-A24F-1461C33E33B3}" type="presParOf" srcId="{59AE8941-4257-4F1E-A1FA-9B337A38DA93}" destId="{C74AAB4D-5A21-410B-BF13-65F2E1DC05C8}" srcOrd="0" destOrd="0" presId="urn:microsoft.com/office/officeart/2008/layout/VerticalCurvedList"/>
    <dgm:cxn modelId="{8193F771-4DC2-49A5-AEAD-EEB97BB771EC}" type="presParOf" srcId="{59AE8941-4257-4F1E-A1FA-9B337A38DA93}" destId="{A87D4942-C92F-4C94-9E94-0F5B64BDBCF0}" srcOrd="1" destOrd="0" presId="urn:microsoft.com/office/officeart/2008/layout/VerticalCurvedList"/>
    <dgm:cxn modelId="{D6CE195B-8763-46A8-A6E1-BD0848538903}" type="presParOf" srcId="{59AE8941-4257-4F1E-A1FA-9B337A38DA93}" destId="{4465A53B-31D8-4270-AAEF-C399B346445D}" srcOrd="2" destOrd="0" presId="urn:microsoft.com/office/officeart/2008/layout/VerticalCurvedList"/>
    <dgm:cxn modelId="{932FBB3C-B46A-455B-B31B-71093453B06D}" type="presParOf" srcId="{59AE8941-4257-4F1E-A1FA-9B337A38DA93}" destId="{8B938483-091A-4E2C-96B6-55E50B33B257}" srcOrd="3" destOrd="0" presId="urn:microsoft.com/office/officeart/2008/layout/VerticalCurvedList"/>
    <dgm:cxn modelId="{BD5DB82C-7FB6-4E00-A62F-8D958F948541}" type="presParOf" srcId="{E0BCA0FF-CA6E-48FD-99A5-6022EA73B288}" destId="{EB7534A7-DC14-48AA-900B-B59E09587A28}" srcOrd="1" destOrd="0" presId="urn:microsoft.com/office/officeart/2008/layout/VerticalCurvedList"/>
    <dgm:cxn modelId="{A82AF3F2-6B75-4608-BA68-A3BCEE5BE23F}" type="presParOf" srcId="{E0BCA0FF-CA6E-48FD-99A5-6022EA73B288}" destId="{BE159D54-D256-4B55-903B-E8DA6260AE73}" srcOrd="2" destOrd="0" presId="urn:microsoft.com/office/officeart/2008/layout/VerticalCurvedList"/>
    <dgm:cxn modelId="{2914DDA8-3D21-42DB-9F70-7445ADE7DAFD}" type="presParOf" srcId="{BE159D54-D256-4B55-903B-E8DA6260AE73}" destId="{47301ADC-11DD-4E60-BBD9-BF1B02AC99DA}" srcOrd="0" destOrd="0" presId="urn:microsoft.com/office/officeart/2008/layout/VerticalCurvedList"/>
    <dgm:cxn modelId="{0475D880-2E0D-4963-BF13-1E5BD5DF9E36}" type="presParOf" srcId="{E0BCA0FF-CA6E-48FD-99A5-6022EA73B288}" destId="{7A244915-C224-42A8-B81D-EBBF51AAC8F1}" srcOrd="3" destOrd="0" presId="urn:microsoft.com/office/officeart/2008/layout/VerticalCurvedList"/>
    <dgm:cxn modelId="{D16BD05C-4B04-4F37-8D66-D1C37D862B70}" type="presParOf" srcId="{E0BCA0FF-CA6E-48FD-99A5-6022EA73B288}" destId="{3C4BC5DC-FE84-4971-A062-3E5EC246CF27}" srcOrd="4" destOrd="0" presId="urn:microsoft.com/office/officeart/2008/layout/VerticalCurvedList"/>
    <dgm:cxn modelId="{A4597752-CD0E-4652-8168-D8462F8A5B9B}" type="presParOf" srcId="{3C4BC5DC-FE84-4971-A062-3E5EC246CF27}" destId="{5FA50131-75C6-444E-B9D6-1E1D3FA8252A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5F85617-D6AF-4B5B-80AB-00BCC8C62BB7}" type="doc">
      <dgm:prSet loTypeId="urn:microsoft.com/office/officeart/2005/8/layout/vList2" loCatId="list" qsTypeId="urn:microsoft.com/office/officeart/2005/8/quickstyle/simple3" qsCatId="simple" csTypeId="urn:microsoft.com/office/officeart/2005/8/colors/accent0_3" csCatId="mainScheme" phldr="1"/>
      <dgm:spPr/>
      <dgm:t>
        <a:bodyPr/>
        <a:lstStyle/>
        <a:p>
          <a:endParaRPr lang="ru-RU"/>
        </a:p>
      </dgm:t>
    </dgm:pt>
    <dgm:pt modelId="{6C539B87-0BDC-4CA9-B950-BE52C6001A4A}">
      <dgm:prSet phldrT="[Текст]" custT="1"/>
      <dgm:spPr>
        <a:ln>
          <a:noFill/>
        </a:ln>
        <a:effectLst>
          <a:outerShdw blurRad="57785" dist="33020" dir="318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>
          <a:bevelT w="38100" h="57150" prst="angle"/>
        </a:sp3d>
      </dgm:spPr>
      <dgm:t>
        <a:bodyPr/>
        <a:lstStyle/>
        <a:p>
          <a:r>
            <a:rPr lang="en-US" sz="1800" b="1" dirty="0" err="1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Emissiya</a:t>
          </a:r>
          <a:r>
            <a:rPr lang="en-US" sz="1800" b="1" dirty="0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 - </a:t>
          </a:r>
          <a:r>
            <a:rPr lang="en-US" sz="1800" dirty="0" err="1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Generatsiya</a:t>
          </a:r>
          <a:r>
            <a:rPr lang="en-US" sz="1800" dirty="0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800" dirty="0" err="1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qilinuvchi</a:t>
          </a:r>
          <a:r>
            <a:rPr lang="en-US" sz="1800" dirty="0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800" dirty="0" err="1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kriptovalyutalar</a:t>
          </a:r>
          <a:r>
            <a:rPr lang="en-US" sz="1800" dirty="0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800" dirty="0" err="1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soni</a:t>
          </a:r>
          <a:r>
            <a:rPr lang="en-US" sz="1800" dirty="0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 84000000 LTC </a:t>
          </a:r>
          <a:r>
            <a:rPr lang="en-US" sz="1800" dirty="0" err="1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etib</a:t>
          </a:r>
          <a:r>
            <a:rPr lang="en-US" sz="1800" dirty="0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800" dirty="0" err="1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belgilangan</a:t>
          </a:r>
          <a:r>
            <a:rPr lang="en-US" sz="1800" dirty="0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;</a:t>
          </a:r>
          <a:endParaRPr lang="ru-RU" sz="1800" dirty="0">
            <a:effectLst>
              <a:innerShdw blurRad="63500" dist="50800" dir="18900000">
                <a:prstClr val="black">
                  <a:alpha val="50000"/>
                </a:prstClr>
              </a:innerShdw>
            </a:effectLst>
          </a:endParaRPr>
        </a:p>
      </dgm:t>
    </dgm:pt>
    <dgm:pt modelId="{D010E99F-3CA2-4E0C-BF72-50ADF7AF67A5}" type="parTrans" cxnId="{95C3F417-92FD-4365-952B-26A0540B25E2}">
      <dgm:prSet/>
      <dgm:spPr/>
      <dgm:t>
        <a:bodyPr/>
        <a:lstStyle/>
        <a:p>
          <a:endParaRPr lang="ru-RU" sz="3600">
            <a:effectLst>
              <a:innerShdw blurRad="63500" dist="50800" dir="18900000">
                <a:prstClr val="black">
                  <a:alpha val="50000"/>
                </a:prstClr>
              </a:innerShdw>
            </a:effectLst>
          </a:endParaRPr>
        </a:p>
      </dgm:t>
    </dgm:pt>
    <dgm:pt modelId="{F619CD55-476A-40E9-A0F6-1AEFCD0B9763}" type="sibTrans" cxnId="{95C3F417-92FD-4365-952B-26A0540B25E2}">
      <dgm:prSet/>
      <dgm:spPr/>
      <dgm:t>
        <a:bodyPr/>
        <a:lstStyle/>
        <a:p>
          <a:endParaRPr lang="ru-RU" sz="3600">
            <a:effectLst>
              <a:innerShdw blurRad="63500" dist="50800" dir="18900000">
                <a:prstClr val="black">
                  <a:alpha val="50000"/>
                </a:prstClr>
              </a:innerShdw>
            </a:effectLst>
          </a:endParaRPr>
        </a:p>
      </dgm:t>
    </dgm:pt>
    <dgm:pt modelId="{018206D6-0AE5-4AC7-8933-FF65DAD9D3B4}">
      <dgm:prSet phldrT="[Текст]" custT="1"/>
      <dgm:spPr>
        <a:ln>
          <a:noFill/>
        </a:ln>
        <a:effectLst>
          <a:outerShdw blurRad="57785" dist="33020" dir="318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>
          <a:bevelT w="38100" h="57150" prst="angle"/>
        </a:sp3d>
      </dgm:spPr>
      <dgm:t>
        <a:bodyPr/>
        <a:lstStyle/>
        <a:p>
          <a:pPr>
            <a:lnSpc>
              <a:spcPct val="150000"/>
            </a:lnSpc>
          </a:pPr>
          <a:r>
            <a:rPr lang="en-US" sz="1800" b="1" dirty="0" err="1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Mukofot</a:t>
          </a:r>
          <a:r>
            <a:rPr lang="en-US" sz="1800" b="1" dirty="0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 -</a:t>
          </a:r>
          <a:r>
            <a:rPr lang="en-US" sz="1800" dirty="0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 </a:t>
          </a:r>
          <a:r>
            <a:rPr lang="en-US" sz="1800" dirty="0" err="1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Dastlab</a:t>
          </a:r>
          <a:r>
            <a:rPr lang="en-US" sz="1800" dirty="0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800" dirty="0" err="1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yaratilgan</a:t>
          </a:r>
          <a:r>
            <a:rPr lang="en-US" sz="1800" dirty="0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800" dirty="0" err="1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blok</a:t>
          </a:r>
          <a:r>
            <a:rPr lang="en-US" sz="1800" dirty="0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800" dirty="0" err="1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uchun</a:t>
          </a:r>
          <a:r>
            <a:rPr lang="en-US" sz="1800" dirty="0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800" dirty="0" err="1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mukofot</a:t>
          </a:r>
          <a:r>
            <a:rPr lang="en-US" sz="1800" dirty="0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 50 LTC </a:t>
          </a:r>
          <a:r>
            <a:rPr lang="en-US" sz="1800" dirty="0" err="1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bo’lgan</a:t>
          </a:r>
          <a:r>
            <a:rPr lang="en-US" sz="1800" dirty="0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US" sz="1800" dirty="0" err="1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ushbu</a:t>
          </a:r>
          <a:r>
            <a:rPr lang="en-US" sz="1800" dirty="0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800" dirty="0" err="1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mukofot</a:t>
          </a:r>
          <a:r>
            <a:rPr lang="en-US" sz="1800" dirty="0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800" dirty="0" err="1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har</a:t>
          </a:r>
          <a:r>
            <a:rPr lang="en-US" sz="1800" dirty="0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 840,000 </a:t>
          </a:r>
          <a:r>
            <a:rPr lang="en-US" sz="1800" dirty="0" err="1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blokda</a:t>
          </a:r>
          <a:r>
            <a:rPr lang="en-US" sz="1800" dirty="0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 2 </a:t>
          </a:r>
          <a:r>
            <a:rPr lang="en-US" sz="1800" dirty="0" err="1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martadan</a:t>
          </a:r>
          <a:r>
            <a:rPr lang="en-US" sz="1800" dirty="0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800" dirty="0" err="1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kamayadi</a:t>
          </a:r>
          <a:r>
            <a:rPr lang="en-US" sz="1800" dirty="0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;</a:t>
          </a:r>
          <a:endParaRPr lang="ru-RU" sz="1800" dirty="0">
            <a:effectLst>
              <a:innerShdw blurRad="63500" dist="50800" dir="18900000">
                <a:prstClr val="black">
                  <a:alpha val="50000"/>
                </a:prstClr>
              </a:innerShdw>
            </a:effectLst>
          </a:endParaRPr>
        </a:p>
      </dgm:t>
    </dgm:pt>
    <dgm:pt modelId="{6A83DC65-0EB9-4235-943D-DCEB32A69CEA}" type="parTrans" cxnId="{E0D3510E-117E-4FD1-B707-F7B6E9C4D018}">
      <dgm:prSet/>
      <dgm:spPr/>
      <dgm:t>
        <a:bodyPr/>
        <a:lstStyle/>
        <a:p>
          <a:endParaRPr lang="ru-RU" sz="3600">
            <a:effectLst>
              <a:innerShdw blurRad="63500" dist="50800" dir="18900000">
                <a:prstClr val="black">
                  <a:alpha val="50000"/>
                </a:prstClr>
              </a:innerShdw>
            </a:effectLst>
          </a:endParaRPr>
        </a:p>
      </dgm:t>
    </dgm:pt>
    <dgm:pt modelId="{4680BAC0-3F06-4D79-AD15-B15D249DA2F7}" type="sibTrans" cxnId="{E0D3510E-117E-4FD1-B707-F7B6E9C4D018}">
      <dgm:prSet/>
      <dgm:spPr/>
      <dgm:t>
        <a:bodyPr/>
        <a:lstStyle/>
        <a:p>
          <a:endParaRPr lang="ru-RU" sz="3600">
            <a:effectLst>
              <a:innerShdw blurRad="63500" dist="50800" dir="18900000">
                <a:prstClr val="black">
                  <a:alpha val="50000"/>
                </a:prstClr>
              </a:innerShdw>
            </a:effectLst>
          </a:endParaRPr>
        </a:p>
      </dgm:t>
    </dgm:pt>
    <dgm:pt modelId="{CD5A7F27-8B6E-45BB-8063-6140ABC557C2}">
      <dgm:prSet phldrT="[Текст]" custT="1"/>
      <dgm:spPr>
        <a:ln>
          <a:noFill/>
        </a:ln>
        <a:effectLst>
          <a:outerShdw blurRad="57785" dist="33020" dir="318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>
          <a:bevelT w="38100" h="57150" prst="angle"/>
        </a:sp3d>
      </dgm:spPr>
      <dgm:t>
        <a:bodyPr/>
        <a:lstStyle/>
        <a:p>
          <a:r>
            <a:rPr lang="en-US" sz="1800" b="1" dirty="0" err="1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Murakkablik</a:t>
          </a:r>
          <a:r>
            <a:rPr lang="en-US" sz="1800" b="1" dirty="0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 -</a:t>
          </a:r>
          <a:r>
            <a:rPr lang="en-US" sz="1800" dirty="0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800" dirty="0" err="1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Bloklarni</a:t>
          </a:r>
          <a:r>
            <a:rPr lang="en-US" sz="1800" dirty="0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800" dirty="0" err="1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yaratish</a:t>
          </a:r>
          <a:r>
            <a:rPr lang="en-US" sz="1800" dirty="0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800" dirty="0" err="1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jarayoni</a:t>
          </a:r>
          <a:r>
            <a:rPr lang="en-US" sz="1800" dirty="0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800" dirty="0" err="1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har</a:t>
          </a:r>
          <a:r>
            <a:rPr lang="en-US" sz="1800" dirty="0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 3,5 </a:t>
          </a:r>
          <a:r>
            <a:rPr lang="en-US" sz="1800" dirty="0" err="1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kunda</a:t>
          </a:r>
          <a:r>
            <a:rPr lang="en-US" sz="1800" dirty="0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800" dirty="0" err="1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qayta</a:t>
          </a:r>
          <a:r>
            <a:rPr lang="en-US" sz="1800" dirty="0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800" dirty="0" err="1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hisoblanadi</a:t>
          </a:r>
          <a:r>
            <a:rPr lang="en-US" sz="1800" dirty="0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;</a:t>
          </a:r>
          <a:endParaRPr lang="ru-RU" sz="1800" dirty="0">
            <a:effectLst>
              <a:innerShdw blurRad="63500" dist="50800" dir="18900000">
                <a:prstClr val="black">
                  <a:alpha val="50000"/>
                </a:prstClr>
              </a:innerShdw>
            </a:effectLst>
          </a:endParaRPr>
        </a:p>
      </dgm:t>
    </dgm:pt>
    <dgm:pt modelId="{3B398AFE-7268-4FED-A376-4B4211C5E137}" type="parTrans" cxnId="{E14A7352-117C-4AD5-A047-437538612E18}">
      <dgm:prSet/>
      <dgm:spPr/>
      <dgm:t>
        <a:bodyPr/>
        <a:lstStyle/>
        <a:p>
          <a:endParaRPr lang="ru-RU" sz="3600">
            <a:effectLst>
              <a:innerShdw blurRad="63500" dist="50800" dir="18900000">
                <a:prstClr val="black">
                  <a:alpha val="50000"/>
                </a:prstClr>
              </a:innerShdw>
            </a:effectLst>
          </a:endParaRPr>
        </a:p>
      </dgm:t>
    </dgm:pt>
    <dgm:pt modelId="{22BF6E99-C85D-41BF-A35E-36CCD954ABB3}" type="sibTrans" cxnId="{E14A7352-117C-4AD5-A047-437538612E18}">
      <dgm:prSet/>
      <dgm:spPr/>
      <dgm:t>
        <a:bodyPr/>
        <a:lstStyle/>
        <a:p>
          <a:endParaRPr lang="ru-RU" sz="3600">
            <a:effectLst>
              <a:innerShdw blurRad="63500" dist="50800" dir="18900000">
                <a:prstClr val="black">
                  <a:alpha val="50000"/>
                </a:prstClr>
              </a:innerShdw>
            </a:effectLst>
          </a:endParaRPr>
        </a:p>
      </dgm:t>
    </dgm:pt>
    <dgm:pt modelId="{AEC3F1A4-2720-4563-8F63-307284D38DE6}">
      <dgm:prSet phldrT="[Текст]" custT="1"/>
      <dgm:spPr>
        <a:ln>
          <a:noFill/>
        </a:ln>
        <a:effectLst>
          <a:outerShdw blurRad="57785" dist="33020" dir="318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>
          <a:bevelT w="38100" h="57150" prst="angle"/>
        </a:sp3d>
      </dgm:spPr>
      <dgm:t>
        <a:bodyPr/>
        <a:lstStyle/>
        <a:p>
          <a:pPr>
            <a:lnSpc>
              <a:spcPct val="150000"/>
            </a:lnSpc>
          </a:pPr>
          <a:r>
            <a:rPr lang="en-US" sz="1800" b="1" dirty="0" err="1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Yangi</a:t>
          </a:r>
          <a:r>
            <a:rPr lang="en-US" sz="1800" b="1" dirty="0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800" b="1" dirty="0" err="1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bloklar</a:t>
          </a:r>
          <a:r>
            <a:rPr lang="en-US" sz="1800" b="1" dirty="0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 -</a:t>
          </a:r>
          <a:r>
            <a:rPr lang="en-US" sz="1800" dirty="0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 Blok </a:t>
          </a:r>
          <a:r>
            <a:rPr lang="en-US" sz="1800" dirty="0" err="1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har</a:t>
          </a:r>
          <a:r>
            <a:rPr lang="en-US" sz="1800" dirty="0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 2,5 </a:t>
          </a:r>
          <a:r>
            <a:rPr lang="en-US" sz="1800" dirty="0" err="1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daqiqada</a:t>
          </a:r>
          <a:r>
            <a:rPr lang="en-US" sz="1800" dirty="0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800" dirty="0" err="1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yaratiladi</a:t>
          </a:r>
          <a:r>
            <a:rPr lang="en-US" sz="1800" dirty="0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. Bu </a:t>
          </a:r>
          <a:r>
            <a:rPr lang="en-US" sz="1800" dirty="0" err="1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operatsiyalarni</a:t>
          </a:r>
          <a:r>
            <a:rPr lang="en-US" sz="1800" dirty="0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800" dirty="0" err="1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tezroq</a:t>
          </a:r>
          <a:r>
            <a:rPr lang="en-US" sz="1800" dirty="0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800" dirty="0" err="1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tasdiqlash</a:t>
          </a:r>
          <a:r>
            <a:rPr lang="en-US" sz="1800" dirty="0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800" dirty="0" err="1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imkonini</a:t>
          </a:r>
          <a:r>
            <a:rPr lang="en-US" sz="1800" dirty="0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800" dirty="0" err="1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beradi</a:t>
          </a:r>
          <a:r>
            <a:rPr lang="en-US" sz="1800" dirty="0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;</a:t>
          </a:r>
          <a:endParaRPr lang="ru-RU" sz="1800" dirty="0">
            <a:effectLst>
              <a:innerShdw blurRad="63500" dist="50800" dir="18900000">
                <a:prstClr val="black">
                  <a:alpha val="50000"/>
                </a:prstClr>
              </a:innerShdw>
            </a:effectLst>
          </a:endParaRPr>
        </a:p>
      </dgm:t>
    </dgm:pt>
    <dgm:pt modelId="{36ABBE6D-9CB3-4ED2-AF8F-26C276194A70}" type="parTrans" cxnId="{004BC341-E69D-4E91-AA93-692D470EA706}">
      <dgm:prSet/>
      <dgm:spPr/>
      <dgm:t>
        <a:bodyPr/>
        <a:lstStyle/>
        <a:p>
          <a:endParaRPr lang="ru-RU" sz="3600">
            <a:effectLst>
              <a:innerShdw blurRad="63500" dist="50800" dir="18900000">
                <a:prstClr val="black">
                  <a:alpha val="50000"/>
                </a:prstClr>
              </a:innerShdw>
            </a:effectLst>
          </a:endParaRPr>
        </a:p>
      </dgm:t>
    </dgm:pt>
    <dgm:pt modelId="{23F02655-BFED-4F75-81A3-C690E2FB3E1D}" type="sibTrans" cxnId="{004BC341-E69D-4E91-AA93-692D470EA706}">
      <dgm:prSet/>
      <dgm:spPr/>
      <dgm:t>
        <a:bodyPr/>
        <a:lstStyle/>
        <a:p>
          <a:endParaRPr lang="ru-RU" sz="3600">
            <a:effectLst>
              <a:innerShdw blurRad="63500" dist="50800" dir="18900000">
                <a:prstClr val="black">
                  <a:alpha val="50000"/>
                </a:prstClr>
              </a:innerShdw>
            </a:effectLst>
          </a:endParaRPr>
        </a:p>
      </dgm:t>
    </dgm:pt>
    <dgm:pt modelId="{C8547A07-1CA9-4E18-A247-6710F4E6A262}">
      <dgm:prSet phldrT="[Текст]" custT="1"/>
      <dgm:spPr>
        <a:ln>
          <a:noFill/>
        </a:ln>
        <a:effectLst>
          <a:outerShdw blurRad="57785" dist="33020" dir="318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>
          <a:bevelT w="38100" h="57150" prst="angle"/>
        </a:sp3d>
      </dgm:spPr>
      <dgm:t>
        <a:bodyPr/>
        <a:lstStyle/>
        <a:p>
          <a:pPr>
            <a:lnSpc>
              <a:spcPct val="150000"/>
            </a:lnSpc>
          </a:pPr>
          <a:r>
            <a:rPr lang="en-US" sz="1800" b="1" dirty="0" err="1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Kapitalizatsiya</a:t>
          </a:r>
          <a:r>
            <a:rPr lang="en-US" sz="1800" b="1" dirty="0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 -</a:t>
          </a:r>
          <a:r>
            <a:rPr lang="en-US" sz="1800" dirty="0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 </a:t>
          </a:r>
          <a:r>
            <a:rPr lang="en-US" sz="1800" i="1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(18.01.2021)</a:t>
          </a:r>
          <a:r>
            <a: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8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dagi</a:t>
          </a:r>
          <a:r>
            <a: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8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qiymati</a:t>
          </a:r>
          <a:r>
            <a: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$153 </a:t>
          </a:r>
          <a:r>
            <a:rPr lang="en-US" sz="18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yuqori</a:t>
          </a:r>
          <a:r>
            <a: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US" sz="18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generatsiya</a:t>
          </a:r>
          <a:r>
            <a: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8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qilingan</a:t>
          </a:r>
          <a:r>
            <a: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8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Litecoinlar</a:t>
          </a:r>
          <a:r>
            <a: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66,305,591 LTC </a:t>
          </a:r>
          <a:r>
            <a:rPr lang="en-US" sz="18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ni</a:t>
          </a:r>
          <a:r>
            <a: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8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tashkil</a:t>
          </a:r>
          <a:r>
            <a: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8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qiladi</a:t>
          </a:r>
          <a:r>
            <a: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US" sz="18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bu</a:t>
          </a:r>
          <a:r>
            <a: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8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esa</a:t>
          </a:r>
          <a:r>
            <a: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8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umumiy</a:t>
          </a:r>
          <a:r>
            <a: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8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emissiyaning</a:t>
          </a:r>
          <a:r>
            <a: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79% </a:t>
          </a:r>
          <a:r>
            <a:rPr lang="en-US" sz="18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ni</a:t>
          </a:r>
          <a:r>
            <a: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8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tashkil</a:t>
          </a:r>
          <a:r>
            <a: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8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qiladi</a:t>
          </a:r>
          <a:r>
            <a: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. </a:t>
          </a:r>
          <a:r>
            <a:rPr lang="en-US" sz="18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Kriptovalyutaning</a:t>
          </a:r>
          <a:r>
            <a: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8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hozirgi</a:t>
          </a:r>
          <a:r>
            <a: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8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kundagi</a:t>
          </a:r>
          <a:r>
            <a: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8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kapitalizatsiyasi</a:t>
          </a:r>
          <a:r>
            <a: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$10,144,755,423 </a:t>
          </a:r>
          <a:r>
            <a:rPr lang="en-US" sz="18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ni</a:t>
          </a:r>
          <a:r>
            <a: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8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tashkil</a:t>
          </a:r>
          <a:r>
            <a: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8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qiladi</a:t>
          </a:r>
          <a:r>
            <a: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. </a:t>
          </a:r>
          <a:endParaRPr lang="ru-RU" sz="1800" dirty="0">
            <a:effectLst>
              <a:innerShdw blurRad="63500" dist="50800" dir="18900000">
                <a:prstClr val="black">
                  <a:alpha val="50000"/>
                </a:prstClr>
              </a:innerShdw>
            </a:effectLst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35B23FF-2978-4A04-916A-0E3492F3F6C6}" type="parTrans" cxnId="{9470C525-42DE-4E0E-A62D-1A7CDDCF7C1B}">
      <dgm:prSet/>
      <dgm:spPr/>
      <dgm:t>
        <a:bodyPr/>
        <a:lstStyle/>
        <a:p>
          <a:endParaRPr lang="ru-RU"/>
        </a:p>
      </dgm:t>
    </dgm:pt>
    <dgm:pt modelId="{D385CC6E-F691-4894-9A4B-2B12D319FECC}" type="sibTrans" cxnId="{9470C525-42DE-4E0E-A62D-1A7CDDCF7C1B}">
      <dgm:prSet/>
      <dgm:spPr/>
      <dgm:t>
        <a:bodyPr/>
        <a:lstStyle/>
        <a:p>
          <a:endParaRPr lang="ru-RU"/>
        </a:p>
      </dgm:t>
    </dgm:pt>
    <dgm:pt modelId="{302189ED-FF51-48F3-9FFA-F54B2494BF18}" type="pres">
      <dgm:prSet presAssocID="{B5F85617-D6AF-4B5B-80AB-00BCC8C62BB7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8EE3D431-8827-432D-86CC-74400A4977D5}" type="pres">
      <dgm:prSet presAssocID="{6C539B87-0BDC-4CA9-B950-BE52C6001A4A}" presName="parentText" presStyleLbl="node1" presStyleIdx="0" presStyleCnt="5" custScaleY="57118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0610DC6-F715-46A5-8D2E-F83D490EB781}" type="pres">
      <dgm:prSet presAssocID="{F619CD55-476A-40E9-A0F6-1AEFCD0B9763}" presName="spacer" presStyleCnt="0"/>
      <dgm:spPr/>
      <dgm:t>
        <a:bodyPr/>
        <a:lstStyle/>
        <a:p>
          <a:endParaRPr lang="ru-RU"/>
        </a:p>
      </dgm:t>
    </dgm:pt>
    <dgm:pt modelId="{2BB08733-670A-4042-98F2-5451EBA58336}" type="pres">
      <dgm:prSet presAssocID="{CD5A7F27-8B6E-45BB-8063-6140ABC557C2}" presName="parentText" presStyleLbl="node1" presStyleIdx="1" presStyleCnt="5" custScaleY="35390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A708BB6-01B4-41F0-9108-903E7E043762}" type="pres">
      <dgm:prSet presAssocID="{22BF6E99-C85D-41BF-A35E-36CCD954ABB3}" presName="spacer" presStyleCnt="0"/>
      <dgm:spPr/>
      <dgm:t>
        <a:bodyPr/>
        <a:lstStyle/>
        <a:p>
          <a:endParaRPr lang="ru-RU"/>
        </a:p>
      </dgm:t>
    </dgm:pt>
    <dgm:pt modelId="{BA3D2183-846C-45E7-AC35-36AAF88BB92A}" type="pres">
      <dgm:prSet presAssocID="{AEC3F1A4-2720-4563-8F63-307284D38DE6}" presName="parentText" presStyleLbl="node1" presStyleIdx="2" presStyleCnt="5" custScaleY="48671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12CFD01-B8E4-47A9-AA0D-C0ABB5D0B447}" type="pres">
      <dgm:prSet presAssocID="{23F02655-BFED-4F75-81A3-C690E2FB3E1D}" presName="spacer" presStyleCnt="0"/>
      <dgm:spPr/>
      <dgm:t>
        <a:bodyPr/>
        <a:lstStyle/>
        <a:p>
          <a:endParaRPr lang="ru-RU"/>
        </a:p>
      </dgm:t>
    </dgm:pt>
    <dgm:pt modelId="{AA3B23C3-5168-4F77-A8A0-69FB138D9995}" type="pres">
      <dgm:prSet presAssocID="{018206D6-0AE5-4AC7-8933-FF65DAD9D3B4}" presName="parentText" presStyleLbl="node1" presStyleIdx="3" presStyleCnt="5" custScaleY="75828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B168E71-8878-4139-B0AC-A427AA8E6868}" type="pres">
      <dgm:prSet presAssocID="{4680BAC0-3F06-4D79-AD15-B15D249DA2F7}" presName="spacer" presStyleCnt="0"/>
      <dgm:spPr/>
    </dgm:pt>
    <dgm:pt modelId="{6A7954D6-28ED-4BD9-A36F-E4731C1870F5}" type="pres">
      <dgm:prSet presAssocID="{C8547A07-1CA9-4E18-A247-6710F4E6A262}" presName="parentText" presStyleLbl="node1" presStyleIdx="4" presStyleCnt="5" custScaleY="97712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51B20276-568F-432E-9357-F474401250CA}" type="presOf" srcId="{6C539B87-0BDC-4CA9-B950-BE52C6001A4A}" destId="{8EE3D431-8827-432D-86CC-74400A4977D5}" srcOrd="0" destOrd="0" presId="urn:microsoft.com/office/officeart/2005/8/layout/vList2"/>
    <dgm:cxn modelId="{3728A0D5-6D8B-4814-9924-07AFF932BED6}" type="presOf" srcId="{CD5A7F27-8B6E-45BB-8063-6140ABC557C2}" destId="{2BB08733-670A-4042-98F2-5451EBA58336}" srcOrd="0" destOrd="0" presId="urn:microsoft.com/office/officeart/2005/8/layout/vList2"/>
    <dgm:cxn modelId="{C870DBBD-4A28-485F-A92F-678A37C6BAA0}" type="presOf" srcId="{AEC3F1A4-2720-4563-8F63-307284D38DE6}" destId="{BA3D2183-846C-45E7-AC35-36AAF88BB92A}" srcOrd="0" destOrd="0" presId="urn:microsoft.com/office/officeart/2005/8/layout/vList2"/>
    <dgm:cxn modelId="{004BC341-E69D-4E91-AA93-692D470EA706}" srcId="{B5F85617-D6AF-4B5B-80AB-00BCC8C62BB7}" destId="{AEC3F1A4-2720-4563-8F63-307284D38DE6}" srcOrd="2" destOrd="0" parTransId="{36ABBE6D-9CB3-4ED2-AF8F-26C276194A70}" sibTransId="{23F02655-BFED-4F75-81A3-C690E2FB3E1D}"/>
    <dgm:cxn modelId="{226BDE00-9C70-4B91-9852-5AAC52AC984F}" type="presOf" srcId="{C8547A07-1CA9-4E18-A247-6710F4E6A262}" destId="{6A7954D6-28ED-4BD9-A36F-E4731C1870F5}" srcOrd="0" destOrd="0" presId="urn:microsoft.com/office/officeart/2005/8/layout/vList2"/>
    <dgm:cxn modelId="{95C3F417-92FD-4365-952B-26A0540B25E2}" srcId="{B5F85617-D6AF-4B5B-80AB-00BCC8C62BB7}" destId="{6C539B87-0BDC-4CA9-B950-BE52C6001A4A}" srcOrd="0" destOrd="0" parTransId="{D010E99F-3CA2-4E0C-BF72-50ADF7AF67A5}" sibTransId="{F619CD55-476A-40E9-A0F6-1AEFCD0B9763}"/>
    <dgm:cxn modelId="{219CCBF2-9C82-4376-8336-0B524BE41499}" type="presOf" srcId="{B5F85617-D6AF-4B5B-80AB-00BCC8C62BB7}" destId="{302189ED-FF51-48F3-9FFA-F54B2494BF18}" srcOrd="0" destOrd="0" presId="urn:microsoft.com/office/officeart/2005/8/layout/vList2"/>
    <dgm:cxn modelId="{1AB58705-27D6-4103-9388-1029E1450CDD}" type="presOf" srcId="{018206D6-0AE5-4AC7-8933-FF65DAD9D3B4}" destId="{AA3B23C3-5168-4F77-A8A0-69FB138D9995}" srcOrd="0" destOrd="0" presId="urn:microsoft.com/office/officeart/2005/8/layout/vList2"/>
    <dgm:cxn modelId="{E0D3510E-117E-4FD1-B707-F7B6E9C4D018}" srcId="{B5F85617-D6AF-4B5B-80AB-00BCC8C62BB7}" destId="{018206D6-0AE5-4AC7-8933-FF65DAD9D3B4}" srcOrd="3" destOrd="0" parTransId="{6A83DC65-0EB9-4235-943D-DCEB32A69CEA}" sibTransId="{4680BAC0-3F06-4D79-AD15-B15D249DA2F7}"/>
    <dgm:cxn modelId="{9470C525-42DE-4E0E-A62D-1A7CDDCF7C1B}" srcId="{B5F85617-D6AF-4B5B-80AB-00BCC8C62BB7}" destId="{C8547A07-1CA9-4E18-A247-6710F4E6A262}" srcOrd="4" destOrd="0" parTransId="{A35B23FF-2978-4A04-916A-0E3492F3F6C6}" sibTransId="{D385CC6E-F691-4894-9A4B-2B12D319FECC}"/>
    <dgm:cxn modelId="{E14A7352-117C-4AD5-A047-437538612E18}" srcId="{B5F85617-D6AF-4B5B-80AB-00BCC8C62BB7}" destId="{CD5A7F27-8B6E-45BB-8063-6140ABC557C2}" srcOrd="1" destOrd="0" parTransId="{3B398AFE-7268-4FED-A376-4B4211C5E137}" sibTransId="{22BF6E99-C85D-41BF-A35E-36CCD954ABB3}"/>
    <dgm:cxn modelId="{6FF9BA34-E1A6-4791-ACA0-22E02E0DEFF5}" type="presParOf" srcId="{302189ED-FF51-48F3-9FFA-F54B2494BF18}" destId="{8EE3D431-8827-432D-86CC-74400A4977D5}" srcOrd="0" destOrd="0" presId="urn:microsoft.com/office/officeart/2005/8/layout/vList2"/>
    <dgm:cxn modelId="{12F30A90-57E0-41E2-84A7-6DCF4531FC7F}" type="presParOf" srcId="{302189ED-FF51-48F3-9FFA-F54B2494BF18}" destId="{E0610DC6-F715-46A5-8D2E-F83D490EB781}" srcOrd="1" destOrd="0" presId="urn:microsoft.com/office/officeart/2005/8/layout/vList2"/>
    <dgm:cxn modelId="{A769C896-24FF-40F1-8E7E-EB3BFDDF57A8}" type="presParOf" srcId="{302189ED-FF51-48F3-9FFA-F54B2494BF18}" destId="{2BB08733-670A-4042-98F2-5451EBA58336}" srcOrd="2" destOrd="0" presId="urn:microsoft.com/office/officeart/2005/8/layout/vList2"/>
    <dgm:cxn modelId="{CD9A590C-0C05-4B16-9E9C-ED51551EE9F6}" type="presParOf" srcId="{302189ED-FF51-48F3-9FFA-F54B2494BF18}" destId="{2A708BB6-01B4-41F0-9108-903E7E043762}" srcOrd="3" destOrd="0" presId="urn:microsoft.com/office/officeart/2005/8/layout/vList2"/>
    <dgm:cxn modelId="{33BEB6C9-296E-4575-AC97-0C28B947E96B}" type="presParOf" srcId="{302189ED-FF51-48F3-9FFA-F54B2494BF18}" destId="{BA3D2183-846C-45E7-AC35-36AAF88BB92A}" srcOrd="4" destOrd="0" presId="urn:microsoft.com/office/officeart/2005/8/layout/vList2"/>
    <dgm:cxn modelId="{7D66DE86-C994-4A4A-8E6D-96DDAA8C605F}" type="presParOf" srcId="{302189ED-FF51-48F3-9FFA-F54B2494BF18}" destId="{612CFD01-B8E4-47A9-AA0D-C0ABB5D0B447}" srcOrd="5" destOrd="0" presId="urn:microsoft.com/office/officeart/2005/8/layout/vList2"/>
    <dgm:cxn modelId="{9D9F018E-D62E-419E-BB86-C4291DFADCB3}" type="presParOf" srcId="{302189ED-FF51-48F3-9FFA-F54B2494BF18}" destId="{AA3B23C3-5168-4F77-A8A0-69FB138D9995}" srcOrd="6" destOrd="0" presId="urn:microsoft.com/office/officeart/2005/8/layout/vList2"/>
    <dgm:cxn modelId="{7272A52F-DA65-495B-A988-D5276573A9BD}" type="presParOf" srcId="{302189ED-FF51-48F3-9FFA-F54B2494BF18}" destId="{FB168E71-8878-4139-B0AC-A427AA8E6868}" srcOrd="7" destOrd="0" presId="urn:microsoft.com/office/officeart/2005/8/layout/vList2"/>
    <dgm:cxn modelId="{0CF45F49-5800-4C73-8981-A30E3681D091}" type="presParOf" srcId="{302189ED-FF51-48F3-9FFA-F54B2494BF18}" destId="{6A7954D6-28ED-4BD9-A36F-E4731C1870F5}" srcOrd="8" destOrd="0" presId="urn:microsoft.com/office/officeart/2005/8/layout/vList2"/>
  </dgm:cxnLst>
  <dgm:bg>
    <a:solidFill>
      <a:srgbClr val="00B0F0"/>
    </a:solidFill>
  </dgm:bg>
  <dgm:whole>
    <a:ln>
      <a:solidFill>
        <a:schemeClr val="accent1">
          <a:lumMod val="40000"/>
          <a:lumOff val="60000"/>
        </a:schemeClr>
      </a:solidFill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5F85617-D6AF-4B5B-80AB-00BCC8C62BB7}" type="doc">
      <dgm:prSet loTypeId="urn:microsoft.com/office/officeart/2005/8/layout/vList2" loCatId="list" qsTypeId="urn:microsoft.com/office/officeart/2005/8/quickstyle/simple3" qsCatId="simple" csTypeId="urn:microsoft.com/office/officeart/2005/8/colors/accent0_3" csCatId="mainScheme" phldr="1"/>
      <dgm:spPr/>
      <dgm:t>
        <a:bodyPr/>
        <a:lstStyle/>
        <a:p>
          <a:endParaRPr lang="ru-RU"/>
        </a:p>
      </dgm:t>
    </dgm:pt>
    <dgm:pt modelId="{6C539B87-0BDC-4CA9-B950-BE52C6001A4A}">
      <dgm:prSet phldrT="[Текст]" custT="1"/>
      <dgm:spPr>
        <a:ln>
          <a:noFill/>
        </a:ln>
        <a:effectLst>
          <a:outerShdw blurRad="190500" dist="228600" dir="270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glow" dir="t">
            <a:rot lat="0" lon="0" rev="4800000"/>
          </a:lightRig>
        </a:scene3d>
        <a:sp3d prstMaterial="matte">
          <a:bevelT w="127000" h="63500"/>
        </a:sp3d>
      </dgm:spPr>
      <dgm:t>
        <a:bodyPr/>
        <a:lstStyle/>
        <a:p>
          <a:r>
            <a:rPr lang="en-US" sz="1800" b="1" dirty="0" err="1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Emissiya</a:t>
          </a:r>
          <a:r>
            <a:rPr lang="en-US" sz="1800" b="1" dirty="0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 - </a:t>
          </a:r>
          <a:r>
            <a:rPr lang="en-US" sz="1800" b="0" dirty="0" err="1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ge</a:t>
          </a:r>
          <a:r>
            <a:rPr lang="en-US" sz="1800" dirty="0" err="1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neratsiya</a:t>
          </a:r>
          <a:r>
            <a:rPr lang="en-US" sz="1800" dirty="0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800" dirty="0" err="1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qilinuvchi</a:t>
          </a:r>
          <a:r>
            <a:rPr lang="en-US" sz="1800" dirty="0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800" dirty="0" err="1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kriptovalyutalar</a:t>
          </a:r>
          <a:r>
            <a:rPr lang="en-US" sz="1800" dirty="0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800" dirty="0" err="1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soni</a:t>
          </a:r>
          <a:r>
            <a:rPr lang="en-US" sz="1800" dirty="0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 18,900,000 DASH </a:t>
          </a:r>
          <a:r>
            <a:rPr lang="en-US" sz="1800" dirty="0" err="1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etib</a:t>
          </a:r>
          <a:r>
            <a:rPr lang="en-US" sz="1800" dirty="0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800" dirty="0" err="1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belgilangan</a:t>
          </a:r>
          <a:r>
            <a:rPr lang="en-US" sz="1800" dirty="0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;</a:t>
          </a:r>
          <a:endParaRPr lang="ru-RU" sz="1800" dirty="0">
            <a:effectLst>
              <a:innerShdw blurRad="63500" dist="50800" dir="18900000">
                <a:prstClr val="black">
                  <a:alpha val="50000"/>
                </a:prstClr>
              </a:innerShdw>
            </a:effectLst>
          </a:endParaRPr>
        </a:p>
      </dgm:t>
    </dgm:pt>
    <dgm:pt modelId="{D010E99F-3CA2-4E0C-BF72-50ADF7AF67A5}" type="parTrans" cxnId="{95C3F417-92FD-4365-952B-26A0540B25E2}">
      <dgm:prSet/>
      <dgm:spPr/>
      <dgm:t>
        <a:bodyPr/>
        <a:lstStyle/>
        <a:p>
          <a:endParaRPr lang="ru-RU" sz="3600">
            <a:effectLst>
              <a:innerShdw blurRad="63500" dist="50800" dir="18900000">
                <a:prstClr val="black">
                  <a:alpha val="50000"/>
                </a:prstClr>
              </a:innerShdw>
            </a:effectLst>
          </a:endParaRPr>
        </a:p>
      </dgm:t>
    </dgm:pt>
    <dgm:pt modelId="{F619CD55-476A-40E9-A0F6-1AEFCD0B9763}" type="sibTrans" cxnId="{95C3F417-92FD-4365-952B-26A0540B25E2}">
      <dgm:prSet/>
      <dgm:spPr/>
      <dgm:t>
        <a:bodyPr/>
        <a:lstStyle/>
        <a:p>
          <a:endParaRPr lang="ru-RU" sz="3600">
            <a:effectLst>
              <a:innerShdw blurRad="63500" dist="50800" dir="18900000">
                <a:prstClr val="black">
                  <a:alpha val="50000"/>
                </a:prstClr>
              </a:innerShdw>
            </a:effectLst>
          </a:endParaRPr>
        </a:p>
      </dgm:t>
    </dgm:pt>
    <dgm:pt modelId="{018206D6-0AE5-4AC7-8933-FF65DAD9D3B4}">
      <dgm:prSet phldrT="[Текст]" custT="1"/>
      <dgm:spPr>
        <a:ln>
          <a:noFill/>
        </a:ln>
        <a:effectLst>
          <a:outerShdw blurRad="190500" dist="228600" dir="270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glow" dir="t">
            <a:rot lat="0" lon="0" rev="4800000"/>
          </a:lightRig>
        </a:scene3d>
        <a:sp3d prstMaterial="matte">
          <a:bevelT w="127000" h="63500"/>
        </a:sp3d>
      </dgm:spPr>
      <dgm:t>
        <a:bodyPr/>
        <a:lstStyle/>
        <a:p>
          <a:r>
            <a:rPr lang="en-US" sz="1800" b="1" dirty="0" err="1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Mukofot</a:t>
          </a:r>
          <a:r>
            <a:rPr lang="en-US" sz="1800" b="1" dirty="0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 -</a:t>
          </a:r>
          <a:r>
            <a:rPr lang="en-US" sz="1800" dirty="0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 </a:t>
          </a:r>
          <a:r>
            <a:rPr lang="en-US" sz="1800" dirty="0" err="1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har</a:t>
          </a:r>
          <a:r>
            <a:rPr lang="en-US" sz="1800" dirty="0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 383 </a:t>
          </a:r>
          <a:r>
            <a:rPr lang="en-US" sz="1800" dirty="0" err="1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kunda</a:t>
          </a:r>
          <a:r>
            <a:rPr lang="en-US" sz="1800" dirty="0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 7,14% </a:t>
          </a:r>
          <a:r>
            <a:rPr lang="en-US" sz="1800" dirty="0" err="1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ga</a:t>
          </a:r>
          <a:r>
            <a:rPr lang="en-US" sz="1800" dirty="0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800" dirty="0" err="1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kamayadi</a:t>
          </a:r>
          <a:r>
            <a:rPr lang="en-US" sz="1800" dirty="0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;</a:t>
          </a:r>
          <a:endParaRPr lang="ru-RU" sz="1800" dirty="0">
            <a:effectLst>
              <a:innerShdw blurRad="63500" dist="50800" dir="18900000">
                <a:prstClr val="black">
                  <a:alpha val="50000"/>
                </a:prstClr>
              </a:innerShdw>
            </a:effectLst>
          </a:endParaRPr>
        </a:p>
      </dgm:t>
    </dgm:pt>
    <dgm:pt modelId="{6A83DC65-0EB9-4235-943D-DCEB32A69CEA}" type="parTrans" cxnId="{E0D3510E-117E-4FD1-B707-F7B6E9C4D018}">
      <dgm:prSet/>
      <dgm:spPr/>
      <dgm:t>
        <a:bodyPr/>
        <a:lstStyle/>
        <a:p>
          <a:endParaRPr lang="ru-RU" sz="3600">
            <a:effectLst>
              <a:innerShdw blurRad="63500" dist="50800" dir="18900000">
                <a:prstClr val="black">
                  <a:alpha val="50000"/>
                </a:prstClr>
              </a:innerShdw>
            </a:effectLst>
          </a:endParaRPr>
        </a:p>
      </dgm:t>
    </dgm:pt>
    <dgm:pt modelId="{4680BAC0-3F06-4D79-AD15-B15D249DA2F7}" type="sibTrans" cxnId="{E0D3510E-117E-4FD1-B707-F7B6E9C4D018}">
      <dgm:prSet/>
      <dgm:spPr/>
      <dgm:t>
        <a:bodyPr/>
        <a:lstStyle/>
        <a:p>
          <a:endParaRPr lang="ru-RU" sz="3600">
            <a:effectLst>
              <a:innerShdw blurRad="63500" dist="50800" dir="18900000">
                <a:prstClr val="black">
                  <a:alpha val="50000"/>
                </a:prstClr>
              </a:innerShdw>
            </a:effectLst>
          </a:endParaRPr>
        </a:p>
      </dgm:t>
    </dgm:pt>
    <dgm:pt modelId="{AEC3F1A4-2720-4563-8F63-307284D38DE6}">
      <dgm:prSet phldrT="[Текст]" custT="1"/>
      <dgm:spPr>
        <a:ln>
          <a:noFill/>
        </a:ln>
        <a:effectLst>
          <a:outerShdw blurRad="190500" dist="228600" dir="270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glow" dir="t">
            <a:rot lat="0" lon="0" rev="4800000"/>
          </a:lightRig>
        </a:scene3d>
        <a:sp3d prstMaterial="matte">
          <a:bevelT w="127000" h="63500"/>
        </a:sp3d>
      </dgm:spPr>
      <dgm:t>
        <a:bodyPr/>
        <a:lstStyle/>
        <a:p>
          <a:r>
            <a:rPr lang="en-US" sz="1800" b="1" dirty="0" err="1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Yangi</a:t>
          </a:r>
          <a:r>
            <a:rPr lang="en-US" sz="1800" b="1" dirty="0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800" b="1" dirty="0" err="1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bloklar</a:t>
          </a:r>
          <a:r>
            <a:rPr lang="en-US" sz="1800" b="1" dirty="0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 -</a:t>
          </a:r>
          <a:r>
            <a:rPr lang="en-US" sz="1800" dirty="0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 </a:t>
          </a:r>
          <a:r>
            <a:rPr lang="en-US" sz="1800" dirty="0" err="1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blok</a:t>
          </a:r>
          <a:r>
            <a:rPr lang="en-US" sz="1800" dirty="0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800" dirty="0" err="1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har</a:t>
          </a:r>
          <a:r>
            <a:rPr lang="en-US" sz="1800" dirty="0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 2,6 </a:t>
          </a:r>
          <a:r>
            <a:rPr lang="en-US" sz="1800" dirty="0" err="1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daqiqada</a:t>
          </a:r>
          <a:r>
            <a:rPr lang="en-US" sz="1800" dirty="0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800" dirty="0" err="1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yaratiladi</a:t>
          </a:r>
          <a:r>
            <a:rPr lang="en-US" sz="1800" dirty="0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. Bu </a:t>
          </a:r>
          <a:r>
            <a:rPr lang="en-US" sz="1800" dirty="0" err="1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operatsiyalarni</a:t>
          </a:r>
          <a:r>
            <a:rPr lang="en-US" sz="1800" dirty="0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800" dirty="0" err="1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tezroq</a:t>
          </a:r>
          <a:r>
            <a:rPr lang="en-US" sz="1800" dirty="0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800" dirty="0" err="1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tasdiqlash</a:t>
          </a:r>
          <a:r>
            <a:rPr lang="en-US" sz="1800" dirty="0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800" dirty="0" err="1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imkonini</a:t>
          </a:r>
          <a:r>
            <a:rPr lang="en-US" sz="1800" dirty="0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800" dirty="0" err="1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beradi</a:t>
          </a:r>
          <a:r>
            <a:rPr lang="en-US" sz="1800" dirty="0" smtClean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;</a:t>
          </a:r>
          <a:endParaRPr lang="ru-RU" sz="1800" dirty="0">
            <a:effectLst>
              <a:innerShdw blurRad="63500" dist="50800" dir="18900000">
                <a:prstClr val="black">
                  <a:alpha val="50000"/>
                </a:prstClr>
              </a:innerShdw>
            </a:effectLst>
          </a:endParaRPr>
        </a:p>
      </dgm:t>
    </dgm:pt>
    <dgm:pt modelId="{23F02655-BFED-4F75-81A3-C690E2FB3E1D}" type="sibTrans" cxnId="{004BC341-E69D-4E91-AA93-692D470EA706}">
      <dgm:prSet/>
      <dgm:spPr/>
      <dgm:t>
        <a:bodyPr/>
        <a:lstStyle/>
        <a:p>
          <a:endParaRPr lang="ru-RU" sz="3600">
            <a:effectLst>
              <a:innerShdw blurRad="63500" dist="50800" dir="18900000">
                <a:prstClr val="black">
                  <a:alpha val="50000"/>
                </a:prstClr>
              </a:innerShdw>
            </a:effectLst>
          </a:endParaRPr>
        </a:p>
      </dgm:t>
    </dgm:pt>
    <dgm:pt modelId="{36ABBE6D-9CB3-4ED2-AF8F-26C276194A70}" type="parTrans" cxnId="{004BC341-E69D-4E91-AA93-692D470EA706}">
      <dgm:prSet/>
      <dgm:spPr/>
      <dgm:t>
        <a:bodyPr/>
        <a:lstStyle/>
        <a:p>
          <a:endParaRPr lang="ru-RU" sz="3600">
            <a:effectLst>
              <a:innerShdw blurRad="63500" dist="50800" dir="18900000">
                <a:prstClr val="black">
                  <a:alpha val="50000"/>
                </a:prstClr>
              </a:innerShdw>
            </a:effectLst>
          </a:endParaRPr>
        </a:p>
      </dgm:t>
    </dgm:pt>
    <dgm:pt modelId="{39FBFACF-D995-45D8-AC08-333207C60726}">
      <dgm:prSet phldrT="[Текст]" custT="1"/>
      <dgm:spPr>
        <a:ln>
          <a:noFill/>
        </a:ln>
        <a:effectLst>
          <a:outerShdw blurRad="190500" dist="228600" dir="270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glow" dir="t">
            <a:rot lat="0" lon="0" rev="4800000"/>
          </a:lightRig>
        </a:scene3d>
        <a:sp3d prstMaterial="matte">
          <a:bevelT w="127000" h="63500"/>
        </a:sp3d>
      </dgm:spPr>
      <dgm:t>
        <a:bodyPr/>
        <a:lstStyle/>
        <a:p>
          <a:r>
            <a:rPr lang="en-US" sz="1800" b="1" dirty="0" err="1" smtClean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</a:rPr>
            <a:t>Narx</a:t>
          </a:r>
          <a:r>
            <a:rPr lang="en-US" sz="1800" dirty="0" smtClean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</a:rPr>
            <a:t> - </a:t>
          </a:r>
          <a:r>
            <a:rPr lang="en-US" sz="1800" i="1" dirty="0" smtClean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</a:rPr>
            <a:t>(18.01.2021) </a:t>
          </a:r>
          <a:r>
            <a:rPr lang="en-US" sz="1800" dirty="0" err="1" smtClean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</a:rPr>
            <a:t>dagi</a:t>
          </a:r>
          <a:r>
            <a:rPr lang="en-US" sz="1800" dirty="0" smtClean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</a:rPr>
            <a:t> </a:t>
          </a:r>
          <a:r>
            <a:rPr lang="en-US" sz="1800" dirty="0" err="1" smtClean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</a:rPr>
            <a:t>qiymati</a:t>
          </a:r>
          <a:r>
            <a:rPr lang="en-US" sz="1800" dirty="0" smtClean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</a:rPr>
            <a:t> $122,6 </a:t>
          </a:r>
          <a:r>
            <a:rPr lang="en-US" sz="1800" dirty="0" err="1" smtClean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</a:rPr>
            <a:t>ni</a:t>
          </a:r>
          <a:r>
            <a:rPr lang="en-US" sz="1800" dirty="0" smtClean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</a:rPr>
            <a:t> </a:t>
          </a:r>
          <a:r>
            <a:rPr lang="en-US" sz="1800" dirty="0" err="1" smtClean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</a:rPr>
            <a:t>tashkil</a:t>
          </a:r>
          <a:r>
            <a:rPr lang="en-US" sz="1800" dirty="0" smtClean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</a:rPr>
            <a:t> </a:t>
          </a:r>
          <a:r>
            <a:rPr lang="en-US" sz="1800" dirty="0" err="1" smtClean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</a:rPr>
            <a:t>qiladi</a:t>
          </a:r>
          <a:r>
            <a:rPr lang="en-US" sz="1800" dirty="0" smtClean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</a:rPr>
            <a:t>;</a:t>
          </a:r>
          <a:endParaRPr lang="ru-RU" sz="1800" dirty="0">
            <a:effectLst>
              <a:innerShdw blurRad="63500" dist="50800" dir="18900000">
                <a:prstClr val="black">
                  <a:alpha val="50000"/>
                </a:prstClr>
              </a:innerShdw>
            </a:effectLst>
          </a:endParaRPr>
        </a:p>
      </dgm:t>
    </dgm:pt>
    <dgm:pt modelId="{225D5055-CC32-4832-AE3E-D75166394C70}" type="parTrans" cxnId="{27A4A9CD-2F88-4D01-80F7-C0F9332278CF}">
      <dgm:prSet/>
      <dgm:spPr/>
      <dgm:t>
        <a:bodyPr/>
        <a:lstStyle/>
        <a:p>
          <a:endParaRPr lang="ru-RU"/>
        </a:p>
      </dgm:t>
    </dgm:pt>
    <dgm:pt modelId="{3EA45DDF-9B5B-4CCE-9A1E-BC19E6A10171}" type="sibTrans" cxnId="{27A4A9CD-2F88-4D01-80F7-C0F9332278CF}">
      <dgm:prSet/>
      <dgm:spPr/>
      <dgm:t>
        <a:bodyPr/>
        <a:lstStyle/>
        <a:p>
          <a:endParaRPr lang="ru-RU"/>
        </a:p>
      </dgm:t>
    </dgm:pt>
    <dgm:pt modelId="{873C3B31-4E4A-4B7F-B06A-C2D74AA203F8}">
      <dgm:prSet phldrT="[Текст]" custT="1"/>
      <dgm:spPr>
        <a:ln>
          <a:noFill/>
        </a:ln>
        <a:effectLst>
          <a:outerShdw blurRad="190500" dist="228600" dir="270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glow" dir="t">
            <a:rot lat="0" lon="0" rev="4800000"/>
          </a:lightRig>
        </a:scene3d>
        <a:sp3d prstMaterial="matte">
          <a:bevelT w="127000" h="63500"/>
        </a:sp3d>
      </dgm:spPr>
      <dgm:t>
        <a:bodyPr/>
        <a:lstStyle/>
        <a:p>
          <a:r>
            <a:rPr lang="en-US" sz="1800" b="1" dirty="0" err="1" smtClean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</a:rPr>
            <a:t>Muomalada</a:t>
          </a:r>
          <a:r>
            <a:rPr lang="en-US" sz="1800" b="1" dirty="0" smtClean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</a:rPr>
            <a:t> </a:t>
          </a:r>
          <a:r>
            <a:rPr lang="en-US" sz="1800" dirty="0" smtClean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</a:rPr>
            <a:t>-  </a:t>
          </a:r>
          <a:r>
            <a:rPr lang="en-US" sz="1800" dirty="0" err="1" smtClean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</a:rPr>
            <a:t>generatsiya</a:t>
          </a:r>
          <a:r>
            <a:rPr lang="en-US" sz="1800" dirty="0" smtClean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</a:rPr>
            <a:t> </a:t>
          </a:r>
          <a:r>
            <a:rPr lang="en-US" sz="1800" dirty="0" err="1" smtClean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</a:rPr>
            <a:t>qilingan</a:t>
          </a:r>
          <a:r>
            <a:rPr lang="en-US" sz="1800" dirty="0" smtClean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</a:rPr>
            <a:t> </a:t>
          </a:r>
          <a:r>
            <a:rPr lang="en-US" sz="1800" dirty="0" err="1" smtClean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</a:rPr>
            <a:t>Dashlar</a:t>
          </a:r>
          <a:r>
            <a:rPr lang="en-US" sz="1800" dirty="0" smtClean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</a:rPr>
            <a:t> </a:t>
          </a:r>
          <a:r>
            <a:rPr lang="en-US" sz="1800" dirty="0" err="1" smtClean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</a:rPr>
            <a:t>soni</a:t>
          </a:r>
          <a:r>
            <a:rPr lang="en-US" sz="1800" dirty="0" smtClean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</a:rPr>
            <a:t> 9,925,905 </a:t>
          </a:r>
          <a:r>
            <a:rPr lang="en-US" sz="1800" dirty="0" err="1" smtClean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</a:rPr>
            <a:t>taga</a:t>
          </a:r>
          <a:r>
            <a:rPr lang="en-US" sz="1800" dirty="0" smtClean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</a:rPr>
            <a:t> </a:t>
          </a:r>
          <a:r>
            <a:rPr lang="en-US" sz="1800" dirty="0" err="1" smtClean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</a:rPr>
            <a:t>teng</a:t>
          </a:r>
          <a:r>
            <a:rPr lang="en-US" sz="1800" dirty="0" smtClean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</a:rPr>
            <a:t>, </a:t>
          </a:r>
          <a:r>
            <a:rPr lang="en-US" sz="1800" dirty="0" err="1" smtClean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</a:rPr>
            <a:t>bu</a:t>
          </a:r>
          <a:r>
            <a:rPr lang="en-US" sz="1800" dirty="0" smtClean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</a:rPr>
            <a:t> </a:t>
          </a:r>
          <a:r>
            <a:rPr lang="en-US" sz="1800" dirty="0" err="1" smtClean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</a:rPr>
            <a:t>esa</a:t>
          </a:r>
          <a:r>
            <a:rPr lang="en-US" sz="1800" dirty="0" smtClean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</a:rPr>
            <a:t> </a:t>
          </a:r>
          <a:r>
            <a:rPr lang="en-US" sz="1800" dirty="0" err="1" smtClean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</a:rPr>
            <a:t>umumiy</a:t>
          </a:r>
          <a:r>
            <a:rPr lang="en-US" sz="1800" dirty="0" smtClean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</a:rPr>
            <a:t> </a:t>
          </a:r>
          <a:r>
            <a:rPr lang="en-US" sz="1800" dirty="0" err="1" smtClean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</a:rPr>
            <a:t>emissiyaning</a:t>
          </a:r>
          <a:r>
            <a:rPr lang="en-US" sz="1800" dirty="0" smtClean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</a:rPr>
            <a:t> 53% </a:t>
          </a:r>
          <a:r>
            <a:rPr lang="en-US" sz="1800" dirty="0" err="1" smtClean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</a:rPr>
            <a:t>ga</a:t>
          </a:r>
          <a:r>
            <a:rPr lang="en-US" sz="1800" dirty="0" smtClean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</a:rPr>
            <a:t> </a:t>
          </a:r>
          <a:r>
            <a:rPr lang="en-US" sz="1800" dirty="0" err="1" smtClean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</a:rPr>
            <a:t>tengdir</a:t>
          </a:r>
          <a:r>
            <a:rPr lang="en-US" sz="1800" dirty="0" smtClean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</a:rPr>
            <a:t>;</a:t>
          </a:r>
          <a:endParaRPr lang="ru-RU" sz="1800" dirty="0">
            <a:effectLst>
              <a:innerShdw blurRad="63500" dist="50800" dir="18900000">
                <a:prstClr val="black">
                  <a:alpha val="50000"/>
                </a:prstClr>
              </a:innerShdw>
            </a:effectLst>
          </a:endParaRPr>
        </a:p>
      </dgm:t>
    </dgm:pt>
    <dgm:pt modelId="{F228EC05-F3A6-4D82-B1DF-6AF5CB4F6865}" type="parTrans" cxnId="{50C15651-1A40-4381-8534-686EEE21F67B}">
      <dgm:prSet/>
      <dgm:spPr/>
      <dgm:t>
        <a:bodyPr/>
        <a:lstStyle/>
        <a:p>
          <a:endParaRPr lang="ru-RU"/>
        </a:p>
      </dgm:t>
    </dgm:pt>
    <dgm:pt modelId="{15587F1B-68D2-4DD4-956B-A069E281D027}" type="sibTrans" cxnId="{50C15651-1A40-4381-8534-686EEE21F67B}">
      <dgm:prSet/>
      <dgm:spPr/>
      <dgm:t>
        <a:bodyPr/>
        <a:lstStyle/>
        <a:p>
          <a:endParaRPr lang="ru-RU"/>
        </a:p>
      </dgm:t>
    </dgm:pt>
    <dgm:pt modelId="{47D95CEE-0A92-49EB-A9BA-9B9D03A29DBD}">
      <dgm:prSet phldrT="[Текст]" custT="1"/>
      <dgm:spPr>
        <a:ln>
          <a:noFill/>
        </a:ln>
        <a:effectLst>
          <a:outerShdw blurRad="190500" dist="228600" dir="270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glow" dir="t">
            <a:rot lat="0" lon="0" rev="4800000"/>
          </a:lightRig>
        </a:scene3d>
        <a:sp3d prstMaterial="matte">
          <a:bevelT w="127000" h="63500"/>
        </a:sp3d>
      </dgm:spPr>
      <dgm:t>
        <a:bodyPr/>
        <a:lstStyle/>
        <a:p>
          <a:r>
            <a:rPr lang="en-US" sz="1800" b="1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Kapitalizatsiya</a:t>
          </a:r>
          <a:r>
            <a:rPr lang="en-US" sz="1800" b="1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- </a:t>
          </a:r>
          <a:r>
            <a:rPr lang="en-US" sz="1800" b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d</a:t>
          </a:r>
          <a:r>
            <a:rPr lang="en-US" sz="18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ashning</a:t>
          </a:r>
          <a:r>
            <a: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8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hozirgi</a:t>
          </a:r>
          <a:r>
            <a: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8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paytdagi</a:t>
          </a:r>
          <a:r>
            <a: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8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kapitalizatsiyasi</a:t>
          </a:r>
          <a:r>
            <a: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$1,216,915,953 </a:t>
          </a:r>
          <a:r>
            <a:rPr lang="en-US" sz="18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ni</a:t>
          </a:r>
          <a:r>
            <a: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8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tashkil</a:t>
          </a:r>
          <a:r>
            <a: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8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qiladi</a:t>
          </a:r>
          <a:r>
            <a: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ru-RU" sz="1800" dirty="0">
            <a:effectLst>
              <a:innerShdw blurRad="63500" dist="50800" dir="18900000">
                <a:prstClr val="black">
                  <a:alpha val="50000"/>
                </a:prstClr>
              </a:innerShdw>
            </a:effectLst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DE7B9F5-9303-499B-A850-0898066214E5}" type="parTrans" cxnId="{B9E79AB8-AD87-4E6F-ABBC-8BF10D8D31B0}">
      <dgm:prSet/>
      <dgm:spPr/>
      <dgm:t>
        <a:bodyPr/>
        <a:lstStyle/>
        <a:p>
          <a:endParaRPr lang="ru-RU"/>
        </a:p>
      </dgm:t>
    </dgm:pt>
    <dgm:pt modelId="{A088F433-3BD7-4D29-99C1-C0B9F16FB2E4}" type="sibTrans" cxnId="{B9E79AB8-AD87-4E6F-ABBC-8BF10D8D31B0}">
      <dgm:prSet/>
      <dgm:spPr/>
      <dgm:t>
        <a:bodyPr/>
        <a:lstStyle/>
        <a:p>
          <a:endParaRPr lang="ru-RU"/>
        </a:p>
      </dgm:t>
    </dgm:pt>
    <dgm:pt modelId="{302189ED-FF51-48F3-9FFA-F54B2494BF18}" type="pres">
      <dgm:prSet presAssocID="{B5F85617-D6AF-4B5B-80AB-00BCC8C62BB7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8EE3D431-8827-432D-86CC-74400A4977D5}" type="pres">
      <dgm:prSet presAssocID="{6C539B87-0BDC-4CA9-B950-BE52C6001A4A}" presName="parentText" presStyleLbl="node1" presStyleIdx="0" presStyleCnt="6" custScaleY="77481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0610DC6-F715-46A5-8D2E-F83D490EB781}" type="pres">
      <dgm:prSet presAssocID="{F619CD55-476A-40E9-A0F6-1AEFCD0B9763}" presName="spacer" presStyleCnt="0"/>
      <dgm:spPr/>
      <dgm:t>
        <a:bodyPr/>
        <a:lstStyle/>
        <a:p>
          <a:endParaRPr lang="ru-RU"/>
        </a:p>
      </dgm:t>
    </dgm:pt>
    <dgm:pt modelId="{BA3D2183-846C-45E7-AC35-36AAF88BB92A}" type="pres">
      <dgm:prSet presAssocID="{AEC3F1A4-2720-4563-8F63-307284D38DE6}" presName="parentText" presStyleLbl="node1" presStyleIdx="1" presStyleCnt="6" custScaleY="90753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12CFD01-B8E4-47A9-AA0D-C0ABB5D0B447}" type="pres">
      <dgm:prSet presAssocID="{23F02655-BFED-4F75-81A3-C690E2FB3E1D}" presName="spacer" presStyleCnt="0"/>
      <dgm:spPr/>
      <dgm:t>
        <a:bodyPr/>
        <a:lstStyle/>
        <a:p>
          <a:endParaRPr lang="ru-RU"/>
        </a:p>
      </dgm:t>
    </dgm:pt>
    <dgm:pt modelId="{AA3B23C3-5168-4F77-A8A0-69FB138D9995}" type="pres">
      <dgm:prSet presAssocID="{018206D6-0AE5-4AC7-8933-FF65DAD9D3B4}" presName="parentText" presStyleLbl="node1" presStyleIdx="2" presStyleCnt="6" custScaleY="70126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B5F51BC-E4D9-4952-8C3E-D5D85D90D855}" type="pres">
      <dgm:prSet presAssocID="{4680BAC0-3F06-4D79-AD15-B15D249DA2F7}" presName="spacer" presStyleCnt="0"/>
      <dgm:spPr/>
    </dgm:pt>
    <dgm:pt modelId="{205B88C0-1729-4FC2-BF41-35EEE0921AC3}" type="pres">
      <dgm:prSet presAssocID="{39FBFACF-D995-45D8-AC08-333207C60726}" presName="parentText" presStyleLbl="node1" presStyleIdx="3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F448D55-4C78-462E-80FB-000B72756EC0}" type="pres">
      <dgm:prSet presAssocID="{3EA45DDF-9B5B-4CCE-9A1E-BC19E6A10171}" presName="spacer" presStyleCnt="0"/>
      <dgm:spPr/>
    </dgm:pt>
    <dgm:pt modelId="{B3C10961-9D6F-427B-B503-E447F95FA512}" type="pres">
      <dgm:prSet presAssocID="{873C3B31-4E4A-4B7F-B06A-C2D74AA203F8}" presName="parentText" presStyleLbl="node1" presStyleIdx="4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22EBFA7-A037-4953-95A6-41AD689C8BD1}" type="pres">
      <dgm:prSet presAssocID="{15587F1B-68D2-4DD4-956B-A069E281D027}" presName="spacer" presStyleCnt="0"/>
      <dgm:spPr/>
    </dgm:pt>
    <dgm:pt modelId="{0EA69C4F-FE16-4449-A0ED-2B9B16C9BA7D}" type="pres">
      <dgm:prSet presAssocID="{47D95CEE-0A92-49EB-A9BA-9B9D03A29DBD}" presName="parentText" presStyleLbl="node1" presStyleIdx="5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F97D997E-023D-49CF-B4AE-DDB489AEEFBA}" type="presOf" srcId="{39FBFACF-D995-45D8-AC08-333207C60726}" destId="{205B88C0-1729-4FC2-BF41-35EEE0921AC3}" srcOrd="0" destOrd="0" presId="urn:microsoft.com/office/officeart/2005/8/layout/vList2"/>
    <dgm:cxn modelId="{B9E79AB8-AD87-4E6F-ABBC-8BF10D8D31B0}" srcId="{B5F85617-D6AF-4B5B-80AB-00BCC8C62BB7}" destId="{47D95CEE-0A92-49EB-A9BA-9B9D03A29DBD}" srcOrd="5" destOrd="0" parTransId="{EDE7B9F5-9303-499B-A850-0898066214E5}" sibTransId="{A088F433-3BD7-4D29-99C1-C0B9F16FB2E4}"/>
    <dgm:cxn modelId="{3DD164D1-37B5-4D50-93B3-16C7D4FFF7F3}" type="presOf" srcId="{AEC3F1A4-2720-4563-8F63-307284D38DE6}" destId="{BA3D2183-846C-45E7-AC35-36AAF88BB92A}" srcOrd="0" destOrd="0" presId="urn:microsoft.com/office/officeart/2005/8/layout/vList2"/>
    <dgm:cxn modelId="{004BC341-E69D-4E91-AA93-692D470EA706}" srcId="{B5F85617-D6AF-4B5B-80AB-00BCC8C62BB7}" destId="{AEC3F1A4-2720-4563-8F63-307284D38DE6}" srcOrd="1" destOrd="0" parTransId="{36ABBE6D-9CB3-4ED2-AF8F-26C276194A70}" sibTransId="{23F02655-BFED-4F75-81A3-C690E2FB3E1D}"/>
    <dgm:cxn modelId="{D1313F4C-EEEB-45D0-AE91-72735367F723}" type="presOf" srcId="{018206D6-0AE5-4AC7-8933-FF65DAD9D3B4}" destId="{AA3B23C3-5168-4F77-A8A0-69FB138D9995}" srcOrd="0" destOrd="0" presId="urn:microsoft.com/office/officeart/2005/8/layout/vList2"/>
    <dgm:cxn modelId="{E0D3510E-117E-4FD1-B707-F7B6E9C4D018}" srcId="{B5F85617-D6AF-4B5B-80AB-00BCC8C62BB7}" destId="{018206D6-0AE5-4AC7-8933-FF65DAD9D3B4}" srcOrd="2" destOrd="0" parTransId="{6A83DC65-0EB9-4235-943D-DCEB32A69CEA}" sibTransId="{4680BAC0-3F06-4D79-AD15-B15D249DA2F7}"/>
    <dgm:cxn modelId="{CC660103-1D76-4160-8F54-A5172E107C2C}" type="presOf" srcId="{6C539B87-0BDC-4CA9-B950-BE52C6001A4A}" destId="{8EE3D431-8827-432D-86CC-74400A4977D5}" srcOrd="0" destOrd="0" presId="urn:microsoft.com/office/officeart/2005/8/layout/vList2"/>
    <dgm:cxn modelId="{95C3F417-92FD-4365-952B-26A0540B25E2}" srcId="{B5F85617-D6AF-4B5B-80AB-00BCC8C62BB7}" destId="{6C539B87-0BDC-4CA9-B950-BE52C6001A4A}" srcOrd="0" destOrd="0" parTransId="{D010E99F-3CA2-4E0C-BF72-50ADF7AF67A5}" sibTransId="{F619CD55-476A-40E9-A0F6-1AEFCD0B9763}"/>
    <dgm:cxn modelId="{176FBB65-9B4D-47D7-BD5C-86C8357BA4AF}" type="presOf" srcId="{47D95CEE-0A92-49EB-A9BA-9B9D03A29DBD}" destId="{0EA69C4F-FE16-4449-A0ED-2B9B16C9BA7D}" srcOrd="0" destOrd="0" presId="urn:microsoft.com/office/officeart/2005/8/layout/vList2"/>
    <dgm:cxn modelId="{B1596FC8-8A3C-405F-8B12-BB9F8FCA728D}" type="presOf" srcId="{873C3B31-4E4A-4B7F-B06A-C2D74AA203F8}" destId="{B3C10961-9D6F-427B-B503-E447F95FA512}" srcOrd="0" destOrd="0" presId="urn:microsoft.com/office/officeart/2005/8/layout/vList2"/>
    <dgm:cxn modelId="{B39C4B86-CD55-43E0-876D-87256FDB9D78}" type="presOf" srcId="{B5F85617-D6AF-4B5B-80AB-00BCC8C62BB7}" destId="{302189ED-FF51-48F3-9FFA-F54B2494BF18}" srcOrd="0" destOrd="0" presId="urn:microsoft.com/office/officeart/2005/8/layout/vList2"/>
    <dgm:cxn modelId="{27A4A9CD-2F88-4D01-80F7-C0F9332278CF}" srcId="{B5F85617-D6AF-4B5B-80AB-00BCC8C62BB7}" destId="{39FBFACF-D995-45D8-AC08-333207C60726}" srcOrd="3" destOrd="0" parTransId="{225D5055-CC32-4832-AE3E-D75166394C70}" sibTransId="{3EA45DDF-9B5B-4CCE-9A1E-BC19E6A10171}"/>
    <dgm:cxn modelId="{50C15651-1A40-4381-8534-686EEE21F67B}" srcId="{B5F85617-D6AF-4B5B-80AB-00BCC8C62BB7}" destId="{873C3B31-4E4A-4B7F-B06A-C2D74AA203F8}" srcOrd="4" destOrd="0" parTransId="{F228EC05-F3A6-4D82-B1DF-6AF5CB4F6865}" sibTransId="{15587F1B-68D2-4DD4-956B-A069E281D027}"/>
    <dgm:cxn modelId="{DAB7733C-51C7-4A93-AA03-FA36139B3228}" type="presParOf" srcId="{302189ED-FF51-48F3-9FFA-F54B2494BF18}" destId="{8EE3D431-8827-432D-86CC-74400A4977D5}" srcOrd="0" destOrd="0" presId="urn:microsoft.com/office/officeart/2005/8/layout/vList2"/>
    <dgm:cxn modelId="{7EBFCF03-3C93-45A1-A94E-82B1E4304CFC}" type="presParOf" srcId="{302189ED-FF51-48F3-9FFA-F54B2494BF18}" destId="{E0610DC6-F715-46A5-8D2E-F83D490EB781}" srcOrd="1" destOrd="0" presId="urn:microsoft.com/office/officeart/2005/8/layout/vList2"/>
    <dgm:cxn modelId="{F1781ADE-AAAA-475E-80A7-BF7FB1B3E753}" type="presParOf" srcId="{302189ED-FF51-48F3-9FFA-F54B2494BF18}" destId="{BA3D2183-846C-45E7-AC35-36AAF88BB92A}" srcOrd="2" destOrd="0" presId="urn:microsoft.com/office/officeart/2005/8/layout/vList2"/>
    <dgm:cxn modelId="{1A76217E-585E-47B8-8BA9-F2147B6D2EFD}" type="presParOf" srcId="{302189ED-FF51-48F3-9FFA-F54B2494BF18}" destId="{612CFD01-B8E4-47A9-AA0D-C0ABB5D0B447}" srcOrd="3" destOrd="0" presId="urn:microsoft.com/office/officeart/2005/8/layout/vList2"/>
    <dgm:cxn modelId="{088300D8-4AC4-47C2-A15B-A09F52AA8D72}" type="presParOf" srcId="{302189ED-FF51-48F3-9FFA-F54B2494BF18}" destId="{AA3B23C3-5168-4F77-A8A0-69FB138D9995}" srcOrd="4" destOrd="0" presId="urn:microsoft.com/office/officeart/2005/8/layout/vList2"/>
    <dgm:cxn modelId="{3A0EC297-ECBC-476E-BAAC-0BDABED3522E}" type="presParOf" srcId="{302189ED-FF51-48F3-9FFA-F54B2494BF18}" destId="{CB5F51BC-E4D9-4952-8C3E-D5D85D90D855}" srcOrd="5" destOrd="0" presId="urn:microsoft.com/office/officeart/2005/8/layout/vList2"/>
    <dgm:cxn modelId="{E0E42DF8-0EF2-4620-A544-38838B810C00}" type="presParOf" srcId="{302189ED-FF51-48F3-9FFA-F54B2494BF18}" destId="{205B88C0-1729-4FC2-BF41-35EEE0921AC3}" srcOrd="6" destOrd="0" presId="urn:microsoft.com/office/officeart/2005/8/layout/vList2"/>
    <dgm:cxn modelId="{07A8BE04-192C-4075-95D9-88528E9A1FB0}" type="presParOf" srcId="{302189ED-FF51-48F3-9FFA-F54B2494BF18}" destId="{9F448D55-4C78-462E-80FB-000B72756EC0}" srcOrd="7" destOrd="0" presId="urn:microsoft.com/office/officeart/2005/8/layout/vList2"/>
    <dgm:cxn modelId="{83E5D6F6-4F8B-4991-B95B-EB7280B3A96B}" type="presParOf" srcId="{302189ED-FF51-48F3-9FFA-F54B2494BF18}" destId="{B3C10961-9D6F-427B-B503-E447F95FA512}" srcOrd="8" destOrd="0" presId="urn:microsoft.com/office/officeart/2005/8/layout/vList2"/>
    <dgm:cxn modelId="{C097C275-E4BC-4D96-B3CD-AA1B506C83C4}" type="presParOf" srcId="{302189ED-FF51-48F3-9FFA-F54B2494BF18}" destId="{722EBFA7-A037-4953-95A6-41AD689C8BD1}" srcOrd="9" destOrd="0" presId="urn:microsoft.com/office/officeart/2005/8/layout/vList2"/>
    <dgm:cxn modelId="{0844F7E1-0D3E-4DEA-9AA8-56491799E975}" type="presParOf" srcId="{302189ED-FF51-48F3-9FFA-F54B2494BF18}" destId="{0EA69C4F-FE16-4449-A0ED-2B9B16C9BA7D}" srcOrd="10" destOrd="0" presId="urn:microsoft.com/office/officeart/2005/8/layout/vList2"/>
  </dgm:cxnLst>
  <dgm:bg>
    <a:solidFill>
      <a:srgbClr val="00B0F0"/>
    </a:solidFill>
  </dgm:bg>
  <dgm:whole>
    <a:ln>
      <a:solidFill>
        <a:schemeClr val="accent1">
          <a:lumMod val="40000"/>
          <a:lumOff val="60000"/>
        </a:schemeClr>
      </a:solidFill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0D0D649-762E-460A-861C-3C138E94985C}" type="doc">
      <dgm:prSet loTypeId="urn:microsoft.com/office/officeart/2008/layout/VerticalCurvedList" loCatId="list" qsTypeId="urn:microsoft.com/office/officeart/2005/8/quickstyle/3d1" qsCatId="3D" csTypeId="urn:microsoft.com/office/officeart/2005/8/colors/colorful5" csCatId="colorful" phldr="1"/>
      <dgm:spPr>
        <a:scene3d>
          <a:camera prst="orthographicFront">
            <a:rot lat="0" lon="0" rev="0"/>
          </a:camera>
          <a:lightRig rig="glow" dir="t">
            <a:rot lat="0" lon="0" rev="4800000"/>
          </a:lightRig>
        </a:scene3d>
      </dgm:spPr>
      <dgm:t>
        <a:bodyPr/>
        <a:lstStyle/>
        <a:p>
          <a:endParaRPr lang="ru-RU"/>
        </a:p>
      </dgm:t>
    </dgm:pt>
    <dgm:pt modelId="{1F69C708-1F95-4FBB-8105-ACCFE93DE83B}">
      <dgm:prSet phldrT="[Текст]" custT="1"/>
      <dgm:spPr>
        <a:ln>
          <a:noFill/>
        </a:ln>
        <a:effectLst>
          <a:outerShdw blurRad="190500" dist="228600" dir="270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glow" dir="t">
            <a:rot lat="0" lon="0" rev="4800000"/>
          </a:lightRig>
        </a:scene3d>
        <a:sp3d prstMaterial="matte">
          <a:bevelT w="127000" h="63500"/>
        </a:sp3d>
      </dgm:spPr>
      <dgm:t>
        <a:bodyPr/>
        <a:lstStyle/>
        <a:p>
          <a:r>
            <a:rPr lang="en-US" sz="3600" dirty="0" err="1" smtClean="0">
              <a:latin typeface="Times New Roman" panose="02020603050405020304" pitchFamily="18" charset="0"/>
              <a:ea typeface="Times New Roman" panose="02020603050405020304" pitchFamily="18" charset="0"/>
            </a:rPr>
            <a:t>Birinchi</a:t>
          </a:r>
          <a:r>
            <a:rPr lang="en-US" sz="3600" dirty="0" smtClean="0">
              <a:latin typeface="Times New Roman" panose="02020603050405020304" pitchFamily="18" charset="0"/>
              <a:ea typeface="Times New Roman" panose="02020603050405020304" pitchFamily="18" charset="0"/>
            </a:rPr>
            <a:t> </a:t>
          </a:r>
          <a:r>
            <a:rPr lang="en-US" sz="3600" dirty="0" err="1" smtClean="0">
              <a:latin typeface="Times New Roman" panose="02020603050405020304" pitchFamily="18" charset="0"/>
              <a:ea typeface="Times New Roman" panose="02020603050405020304" pitchFamily="18" charset="0"/>
            </a:rPr>
            <a:t>yo’nalish</a:t>
          </a:r>
          <a:r>
            <a:rPr lang="en-US" sz="3600" dirty="0" smtClean="0">
              <a:latin typeface="Times New Roman" panose="02020603050405020304" pitchFamily="18" charset="0"/>
              <a:ea typeface="Times New Roman" panose="02020603050405020304" pitchFamily="18" charset="0"/>
            </a:rPr>
            <a:t> </a:t>
          </a:r>
          <a:endParaRPr lang="ru-RU" sz="3600" dirty="0"/>
        </a:p>
      </dgm:t>
    </dgm:pt>
    <dgm:pt modelId="{C03D2AF4-E2DA-4388-A49C-96A039DC1D8E}" type="parTrans" cxnId="{53B94DAF-69F9-43BB-AE80-F74A0FCCE864}">
      <dgm:prSet/>
      <dgm:spPr/>
      <dgm:t>
        <a:bodyPr/>
        <a:lstStyle/>
        <a:p>
          <a:endParaRPr lang="ru-RU"/>
        </a:p>
      </dgm:t>
    </dgm:pt>
    <dgm:pt modelId="{14F7418D-2D60-4E88-9AD8-58761C65AF2C}" type="sibTrans" cxnId="{53B94DAF-69F9-43BB-AE80-F74A0FCCE864}">
      <dgm:prSet/>
      <dgm:spPr>
        <a:ln>
          <a:noFill/>
        </a:ln>
        <a:effectLst>
          <a:outerShdw blurRad="190500" dist="228600" dir="270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glow" dir="t">
            <a:rot lat="0" lon="0" rev="4800000"/>
          </a:lightRig>
        </a:scene3d>
        <a:sp3d prstMaterial="matte">
          <a:bevelT w="127000" h="63500"/>
        </a:sp3d>
      </dgm:spPr>
      <dgm:t>
        <a:bodyPr/>
        <a:lstStyle/>
        <a:p>
          <a:endParaRPr lang="ru-RU"/>
        </a:p>
      </dgm:t>
    </dgm:pt>
    <dgm:pt modelId="{3C841CB9-370A-4841-BA3B-CC6DAF64E254}" type="pres">
      <dgm:prSet presAssocID="{E0D0D649-762E-460A-861C-3C138E94985C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ru-RU"/>
        </a:p>
      </dgm:t>
    </dgm:pt>
    <dgm:pt modelId="{E796BBCB-6976-4B0C-B407-44FAC28BF7DC}" type="pres">
      <dgm:prSet presAssocID="{E0D0D649-762E-460A-861C-3C138E94985C}" presName="Name1" presStyleCnt="0"/>
      <dgm:spPr>
        <a:ln>
          <a:noFill/>
        </a:ln>
        <a:effectLst>
          <a:outerShdw blurRad="190500" dist="228600" dir="270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glow" dir="t">
            <a:rot lat="0" lon="0" rev="4800000"/>
          </a:lightRig>
        </a:scene3d>
        <a:sp3d prstMaterial="matte">
          <a:bevelT w="127000" h="63500"/>
        </a:sp3d>
      </dgm:spPr>
    </dgm:pt>
    <dgm:pt modelId="{73A038FD-6DB6-4D1F-9ABC-EC1DB984B8B1}" type="pres">
      <dgm:prSet presAssocID="{E0D0D649-762E-460A-861C-3C138E94985C}" presName="cycle" presStyleCnt="0"/>
      <dgm:spPr>
        <a:ln>
          <a:noFill/>
        </a:ln>
        <a:effectLst>
          <a:outerShdw blurRad="190500" dist="228600" dir="270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glow" dir="t">
            <a:rot lat="0" lon="0" rev="4800000"/>
          </a:lightRig>
        </a:scene3d>
        <a:sp3d prstMaterial="matte">
          <a:bevelT w="127000" h="63500"/>
        </a:sp3d>
      </dgm:spPr>
    </dgm:pt>
    <dgm:pt modelId="{A42C594C-C3D6-4097-8896-380DF0D053C9}" type="pres">
      <dgm:prSet presAssocID="{E0D0D649-762E-460A-861C-3C138E94985C}" presName="srcNode" presStyleLbl="node1" presStyleIdx="0" presStyleCnt="1"/>
      <dgm:spPr>
        <a:ln>
          <a:noFill/>
        </a:ln>
        <a:effectLst>
          <a:outerShdw blurRad="190500" dist="228600" dir="270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glow" dir="t">
            <a:rot lat="0" lon="0" rev="4800000"/>
          </a:lightRig>
        </a:scene3d>
        <a:sp3d prstMaterial="matte">
          <a:bevelT w="127000" h="63500"/>
        </a:sp3d>
      </dgm:spPr>
    </dgm:pt>
    <dgm:pt modelId="{A81F9A7D-94CB-40CE-8A14-107EA74885BF}" type="pres">
      <dgm:prSet presAssocID="{E0D0D649-762E-460A-861C-3C138E94985C}" presName="conn" presStyleLbl="parChTrans1D2" presStyleIdx="0" presStyleCnt="1"/>
      <dgm:spPr/>
      <dgm:t>
        <a:bodyPr/>
        <a:lstStyle/>
        <a:p>
          <a:endParaRPr lang="ru-RU"/>
        </a:p>
      </dgm:t>
    </dgm:pt>
    <dgm:pt modelId="{44376622-E69B-4C3E-975F-8A2175FCB08B}" type="pres">
      <dgm:prSet presAssocID="{E0D0D649-762E-460A-861C-3C138E94985C}" presName="extraNode" presStyleLbl="node1" presStyleIdx="0" presStyleCnt="1"/>
      <dgm:spPr>
        <a:ln>
          <a:noFill/>
        </a:ln>
        <a:effectLst>
          <a:outerShdw blurRad="190500" dist="228600" dir="270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glow" dir="t">
            <a:rot lat="0" lon="0" rev="4800000"/>
          </a:lightRig>
        </a:scene3d>
        <a:sp3d prstMaterial="matte">
          <a:bevelT w="127000" h="63500"/>
        </a:sp3d>
      </dgm:spPr>
    </dgm:pt>
    <dgm:pt modelId="{F0061813-B7E2-47C4-B7B5-9AB9B8A3C994}" type="pres">
      <dgm:prSet presAssocID="{E0D0D649-762E-460A-861C-3C138E94985C}" presName="dstNode" presStyleLbl="node1" presStyleIdx="0" presStyleCnt="1"/>
      <dgm:spPr>
        <a:ln>
          <a:noFill/>
        </a:ln>
        <a:effectLst>
          <a:outerShdw blurRad="190500" dist="228600" dir="270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glow" dir="t">
            <a:rot lat="0" lon="0" rev="4800000"/>
          </a:lightRig>
        </a:scene3d>
        <a:sp3d prstMaterial="matte">
          <a:bevelT w="127000" h="63500"/>
        </a:sp3d>
      </dgm:spPr>
    </dgm:pt>
    <dgm:pt modelId="{947996D3-3344-4B63-AA0A-9B386CAFCBAC}" type="pres">
      <dgm:prSet presAssocID="{1F69C708-1F95-4FBB-8105-ACCFE93DE83B}" presName="text_1" presStyleLbl="node1" presStyleIdx="0" presStyleCnt="1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F558387-F767-453A-895C-77F0051D9346}" type="pres">
      <dgm:prSet presAssocID="{1F69C708-1F95-4FBB-8105-ACCFE93DE83B}" presName="accent_1" presStyleCnt="0"/>
      <dgm:spPr>
        <a:ln>
          <a:noFill/>
        </a:ln>
        <a:effectLst>
          <a:outerShdw blurRad="190500" dist="228600" dir="270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glow" dir="t">
            <a:rot lat="0" lon="0" rev="4800000"/>
          </a:lightRig>
        </a:scene3d>
        <a:sp3d prstMaterial="matte">
          <a:bevelT w="127000" h="63500"/>
        </a:sp3d>
      </dgm:spPr>
    </dgm:pt>
    <dgm:pt modelId="{19F7F217-5779-401D-9AEB-FF092CF31B4F}" type="pres">
      <dgm:prSet presAssocID="{1F69C708-1F95-4FBB-8105-ACCFE93DE83B}" presName="accentRepeatNode" presStyleLbl="solidFgAcc1" presStyleIdx="0" presStyleCnt="1"/>
      <dgm:spPr>
        <a:ln>
          <a:noFill/>
        </a:ln>
        <a:effectLst>
          <a:outerShdw blurRad="190500" dist="228600" dir="270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glow" dir="t">
            <a:rot lat="0" lon="0" rev="4800000"/>
          </a:lightRig>
        </a:scene3d>
        <a:sp3d z="190500" prstMaterial="matte">
          <a:bevelT w="127000" h="63500"/>
        </a:sp3d>
      </dgm:spPr>
    </dgm:pt>
  </dgm:ptLst>
  <dgm:cxnLst>
    <dgm:cxn modelId="{E60EDD35-BAFD-493F-BC02-621EFC7915C9}" type="presOf" srcId="{E0D0D649-762E-460A-861C-3C138E94985C}" destId="{3C841CB9-370A-4841-BA3B-CC6DAF64E254}" srcOrd="0" destOrd="0" presId="urn:microsoft.com/office/officeart/2008/layout/VerticalCurvedList"/>
    <dgm:cxn modelId="{53B94DAF-69F9-43BB-AE80-F74A0FCCE864}" srcId="{E0D0D649-762E-460A-861C-3C138E94985C}" destId="{1F69C708-1F95-4FBB-8105-ACCFE93DE83B}" srcOrd="0" destOrd="0" parTransId="{C03D2AF4-E2DA-4388-A49C-96A039DC1D8E}" sibTransId="{14F7418D-2D60-4E88-9AD8-58761C65AF2C}"/>
    <dgm:cxn modelId="{850922B3-EA48-4FB6-81EB-5656914736A7}" type="presOf" srcId="{14F7418D-2D60-4E88-9AD8-58761C65AF2C}" destId="{A81F9A7D-94CB-40CE-8A14-107EA74885BF}" srcOrd="0" destOrd="0" presId="urn:microsoft.com/office/officeart/2008/layout/VerticalCurvedList"/>
    <dgm:cxn modelId="{58D70205-6B0D-4053-BCF0-73DC0F076ACE}" type="presOf" srcId="{1F69C708-1F95-4FBB-8105-ACCFE93DE83B}" destId="{947996D3-3344-4B63-AA0A-9B386CAFCBAC}" srcOrd="0" destOrd="0" presId="urn:microsoft.com/office/officeart/2008/layout/VerticalCurvedList"/>
    <dgm:cxn modelId="{B27914E2-DDC1-4823-BC83-C3355BBA23A7}" type="presParOf" srcId="{3C841CB9-370A-4841-BA3B-CC6DAF64E254}" destId="{E796BBCB-6976-4B0C-B407-44FAC28BF7DC}" srcOrd="0" destOrd="0" presId="urn:microsoft.com/office/officeart/2008/layout/VerticalCurvedList"/>
    <dgm:cxn modelId="{41411684-E50E-4569-8FEE-D4E07DAE15C4}" type="presParOf" srcId="{E796BBCB-6976-4B0C-B407-44FAC28BF7DC}" destId="{73A038FD-6DB6-4D1F-9ABC-EC1DB984B8B1}" srcOrd="0" destOrd="0" presId="urn:microsoft.com/office/officeart/2008/layout/VerticalCurvedList"/>
    <dgm:cxn modelId="{F1B57A79-11C6-49C4-8B8C-32B631EE099D}" type="presParOf" srcId="{73A038FD-6DB6-4D1F-9ABC-EC1DB984B8B1}" destId="{A42C594C-C3D6-4097-8896-380DF0D053C9}" srcOrd="0" destOrd="0" presId="urn:microsoft.com/office/officeart/2008/layout/VerticalCurvedList"/>
    <dgm:cxn modelId="{0F9E3B02-2E3A-4AFD-948D-CA41F374224E}" type="presParOf" srcId="{73A038FD-6DB6-4D1F-9ABC-EC1DB984B8B1}" destId="{A81F9A7D-94CB-40CE-8A14-107EA74885BF}" srcOrd="1" destOrd="0" presId="urn:microsoft.com/office/officeart/2008/layout/VerticalCurvedList"/>
    <dgm:cxn modelId="{441550E6-EE89-4AF5-9087-B81E6E38CB8E}" type="presParOf" srcId="{73A038FD-6DB6-4D1F-9ABC-EC1DB984B8B1}" destId="{44376622-E69B-4C3E-975F-8A2175FCB08B}" srcOrd="2" destOrd="0" presId="urn:microsoft.com/office/officeart/2008/layout/VerticalCurvedList"/>
    <dgm:cxn modelId="{CFB3D670-295F-4845-8FAB-FB49254F4A69}" type="presParOf" srcId="{73A038FD-6DB6-4D1F-9ABC-EC1DB984B8B1}" destId="{F0061813-B7E2-47C4-B7B5-9AB9B8A3C994}" srcOrd="3" destOrd="0" presId="urn:microsoft.com/office/officeart/2008/layout/VerticalCurvedList"/>
    <dgm:cxn modelId="{68B3F463-572B-4362-ABF0-ED6E201B0894}" type="presParOf" srcId="{E796BBCB-6976-4B0C-B407-44FAC28BF7DC}" destId="{947996D3-3344-4B63-AA0A-9B386CAFCBAC}" srcOrd="1" destOrd="0" presId="urn:microsoft.com/office/officeart/2008/layout/VerticalCurvedList"/>
    <dgm:cxn modelId="{B4570A69-A973-4192-8B7A-B2CE910FAF5C}" type="presParOf" srcId="{E796BBCB-6976-4B0C-B407-44FAC28BF7DC}" destId="{7F558387-F767-453A-895C-77F0051D9346}" srcOrd="2" destOrd="0" presId="urn:microsoft.com/office/officeart/2008/layout/VerticalCurvedList"/>
    <dgm:cxn modelId="{4E86C6F8-CD35-4010-A6FE-30643266BD98}" type="presParOf" srcId="{7F558387-F767-453A-895C-77F0051D9346}" destId="{19F7F217-5779-401D-9AEB-FF092CF31B4F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0D0D649-762E-460A-861C-3C138E94985C}" type="doc">
      <dgm:prSet loTypeId="urn:microsoft.com/office/officeart/2008/layout/VerticalCurvedList" loCatId="list" qsTypeId="urn:microsoft.com/office/officeart/2005/8/quickstyle/3d1" qsCatId="3D" csTypeId="urn:microsoft.com/office/officeart/2005/8/colors/colorful5" csCatId="colorful" phldr="1"/>
      <dgm:spPr>
        <a:scene3d>
          <a:camera prst="orthographicFront">
            <a:rot lat="0" lon="0" rev="0"/>
          </a:camera>
          <a:lightRig rig="glow" dir="t">
            <a:rot lat="0" lon="0" rev="4800000"/>
          </a:lightRig>
        </a:scene3d>
      </dgm:spPr>
      <dgm:t>
        <a:bodyPr/>
        <a:lstStyle/>
        <a:p>
          <a:endParaRPr lang="ru-RU"/>
        </a:p>
      </dgm:t>
    </dgm:pt>
    <dgm:pt modelId="{1F69C708-1F95-4FBB-8105-ACCFE93DE83B}">
      <dgm:prSet phldrT="[Текст]"/>
      <dgm:spPr>
        <a:ln>
          <a:noFill/>
        </a:ln>
        <a:effectLst>
          <a:outerShdw blurRad="190500" dist="228600" dir="270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glow" dir="t">
            <a:rot lat="0" lon="0" rev="4800000"/>
          </a:lightRig>
        </a:scene3d>
        <a:sp3d prstMaterial="matte">
          <a:bevelT w="127000" h="63500"/>
        </a:sp3d>
      </dgm:spPr>
      <dgm:t>
        <a:bodyPr/>
        <a:lstStyle/>
        <a:p>
          <a:r>
            <a:rPr lang="en-US" dirty="0" err="1" smtClean="0">
              <a:latin typeface="Times New Roman" panose="02020603050405020304" pitchFamily="18" charset="0"/>
              <a:ea typeface="Times New Roman" panose="02020603050405020304" pitchFamily="18" charset="0"/>
            </a:rPr>
            <a:t>Ikkinchi</a:t>
          </a:r>
          <a:r>
            <a:rPr lang="en-US" dirty="0" smtClean="0">
              <a:latin typeface="Times New Roman" panose="02020603050405020304" pitchFamily="18" charset="0"/>
              <a:ea typeface="Times New Roman" panose="02020603050405020304" pitchFamily="18" charset="0"/>
            </a:rPr>
            <a:t> </a:t>
          </a:r>
          <a:r>
            <a:rPr lang="en-US" dirty="0" err="1" smtClean="0">
              <a:latin typeface="Times New Roman" panose="02020603050405020304" pitchFamily="18" charset="0"/>
              <a:ea typeface="Times New Roman" panose="02020603050405020304" pitchFamily="18" charset="0"/>
            </a:rPr>
            <a:t>yo’nalish</a:t>
          </a:r>
          <a:endParaRPr lang="ru-RU" dirty="0"/>
        </a:p>
      </dgm:t>
    </dgm:pt>
    <dgm:pt modelId="{C03D2AF4-E2DA-4388-A49C-96A039DC1D8E}" type="parTrans" cxnId="{53B94DAF-69F9-43BB-AE80-F74A0FCCE864}">
      <dgm:prSet/>
      <dgm:spPr/>
      <dgm:t>
        <a:bodyPr/>
        <a:lstStyle/>
        <a:p>
          <a:endParaRPr lang="ru-RU"/>
        </a:p>
      </dgm:t>
    </dgm:pt>
    <dgm:pt modelId="{14F7418D-2D60-4E88-9AD8-58761C65AF2C}" type="sibTrans" cxnId="{53B94DAF-69F9-43BB-AE80-F74A0FCCE864}">
      <dgm:prSet/>
      <dgm:spPr>
        <a:ln>
          <a:noFill/>
        </a:ln>
        <a:effectLst>
          <a:outerShdw blurRad="190500" dist="228600" dir="270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glow" dir="t">
            <a:rot lat="0" lon="0" rev="4800000"/>
          </a:lightRig>
        </a:scene3d>
        <a:sp3d prstMaterial="matte">
          <a:bevelT w="127000" h="63500"/>
        </a:sp3d>
      </dgm:spPr>
      <dgm:t>
        <a:bodyPr/>
        <a:lstStyle/>
        <a:p>
          <a:endParaRPr lang="ru-RU"/>
        </a:p>
      </dgm:t>
    </dgm:pt>
    <dgm:pt modelId="{3C841CB9-370A-4841-BA3B-CC6DAF64E254}" type="pres">
      <dgm:prSet presAssocID="{E0D0D649-762E-460A-861C-3C138E94985C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ru-RU"/>
        </a:p>
      </dgm:t>
    </dgm:pt>
    <dgm:pt modelId="{E796BBCB-6976-4B0C-B407-44FAC28BF7DC}" type="pres">
      <dgm:prSet presAssocID="{E0D0D649-762E-460A-861C-3C138E94985C}" presName="Name1" presStyleCnt="0"/>
      <dgm:spPr>
        <a:ln>
          <a:noFill/>
        </a:ln>
        <a:effectLst>
          <a:outerShdw blurRad="190500" dist="228600" dir="270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glow" dir="t">
            <a:rot lat="0" lon="0" rev="4800000"/>
          </a:lightRig>
        </a:scene3d>
        <a:sp3d prstMaterial="matte">
          <a:bevelT w="127000" h="63500"/>
        </a:sp3d>
      </dgm:spPr>
    </dgm:pt>
    <dgm:pt modelId="{73A038FD-6DB6-4D1F-9ABC-EC1DB984B8B1}" type="pres">
      <dgm:prSet presAssocID="{E0D0D649-762E-460A-861C-3C138E94985C}" presName="cycle" presStyleCnt="0"/>
      <dgm:spPr>
        <a:ln>
          <a:noFill/>
        </a:ln>
        <a:effectLst>
          <a:outerShdw blurRad="190500" dist="228600" dir="270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glow" dir="t">
            <a:rot lat="0" lon="0" rev="4800000"/>
          </a:lightRig>
        </a:scene3d>
        <a:sp3d prstMaterial="matte">
          <a:bevelT w="127000" h="63500"/>
        </a:sp3d>
      </dgm:spPr>
    </dgm:pt>
    <dgm:pt modelId="{A42C594C-C3D6-4097-8896-380DF0D053C9}" type="pres">
      <dgm:prSet presAssocID="{E0D0D649-762E-460A-861C-3C138E94985C}" presName="srcNode" presStyleLbl="node1" presStyleIdx="0" presStyleCnt="1"/>
      <dgm:spPr>
        <a:ln>
          <a:noFill/>
        </a:ln>
        <a:effectLst>
          <a:outerShdw blurRad="190500" dist="228600" dir="270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glow" dir="t">
            <a:rot lat="0" lon="0" rev="4800000"/>
          </a:lightRig>
        </a:scene3d>
        <a:sp3d prstMaterial="matte">
          <a:bevelT w="127000" h="63500"/>
        </a:sp3d>
      </dgm:spPr>
    </dgm:pt>
    <dgm:pt modelId="{A81F9A7D-94CB-40CE-8A14-107EA74885BF}" type="pres">
      <dgm:prSet presAssocID="{E0D0D649-762E-460A-861C-3C138E94985C}" presName="conn" presStyleLbl="parChTrans1D2" presStyleIdx="0" presStyleCnt="1"/>
      <dgm:spPr/>
      <dgm:t>
        <a:bodyPr/>
        <a:lstStyle/>
        <a:p>
          <a:endParaRPr lang="ru-RU"/>
        </a:p>
      </dgm:t>
    </dgm:pt>
    <dgm:pt modelId="{44376622-E69B-4C3E-975F-8A2175FCB08B}" type="pres">
      <dgm:prSet presAssocID="{E0D0D649-762E-460A-861C-3C138E94985C}" presName="extraNode" presStyleLbl="node1" presStyleIdx="0" presStyleCnt="1"/>
      <dgm:spPr>
        <a:ln>
          <a:noFill/>
        </a:ln>
        <a:effectLst>
          <a:outerShdw blurRad="190500" dist="228600" dir="270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glow" dir="t">
            <a:rot lat="0" lon="0" rev="4800000"/>
          </a:lightRig>
        </a:scene3d>
        <a:sp3d prstMaterial="matte">
          <a:bevelT w="127000" h="63500"/>
        </a:sp3d>
      </dgm:spPr>
    </dgm:pt>
    <dgm:pt modelId="{F0061813-B7E2-47C4-B7B5-9AB9B8A3C994}" type="pres">
      <dgm:prSet presAssocID="{E0D0D649-762E-460A-861C-3C138E94985C}" presName="dstNode" presStyleLbl="node1" presStyleIdx="0" presStyleCnt="1"/>
      <dgm:spPr>
        <a:ln>
          <a:noFill/>
        </a:ln>
        <a:effectLst>
          <a:outerShdw blurRad="190500" dist="228600" dir="270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glow" dir="t">
            <a:rot lat="0" lon="0" rev="4800000"/>
          </a:lightRig>
        </a:scene3d>
        <a:sp3d prstMaterial="matte">
          <a:bevelT w="127000" h="63500"/>
        </a:sp3d>
      </dgm:spPr>
    </dgm:pt>
    <dgm:pt modelId="{947996D3-3344-4B63-AA0A-9B386CAFCBAC}" type="pres">
      <dgm:prSet presAssocID="{1F69C708-1F95-4FBB-8105-ACCFE93DE83B}" presName="text_1" presStyleLbl="node1" presStyleIdx="0" presStyleCnt="1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F558387-F767-453A-895C-77F0051D9346}" type="pres">
      <dgm:prSet presAssocID="{1F69C708-1F95-4FBB-8105-ACCFE93DE83B}" presName="accent_1" presStyleCnt="0"/>
      <dgm:spPr>
        <a:ln>
          <a:noFill/>
        </a:ln>
        <a:effectLst>
          <a:outerShdw blurRad="190500" dist="228600" dir="270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glow" dir="t">
            <a:rot lat="0" lon="0" rev="4800000"/>
          </a:lightRig>
        </a:scene3d>
        <a:sp3d prstMaterial="matte">
          <a:bevelT w="127000" h="63500"/>
        </a:sp3d>
      </dgm:spPr>
    </dgm:pt>
    <dgm:pt modelId="{19F7F217-5779-401D-9AEB-FF092CF31B4F}" type="pres">
      <dgm:prSet presAssocID="{1F69C708-1F95-4FBB-8105-ACCFE93DE83B}" presName="accentRepeatNode" presStyleLbl="solidFgAcc1" presStyleIdx="0" presStyleCnt="1"/>
      <dgm:spPr>
        <a:ln>
          <a:noFill/>
        </a:ln>
        <a:effectLst>
          <a:outerShdw blurRad="190500" dist="228600" dir="270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glow" dir="t">
            <a:rot lat="0" lon="0" rev="4800000"/>
          </a:lightRig>
        </a:scene3d>
        <a:sp3d z="190500" prstMaterial="matte">
          <a:bevelT w="127000" h="63500"/>
        </a:sp3d>
      </dgm:spPr>
    </dgm:pt>
  </dgm:ptLst>
  <dgm:cxnLst>
    <dgm:cxn modelId="{F1814566-D3AF-45C8-9B98-DB1380526CFF}" type="presOf" srcId="{14F7418D-2D60-4E88-9AD8-58761C65AF2C}" destId="{A81F9A7D-94CB-40CE-8A14-107EA74885BF}" srcOrd="0" destOrd="0" presId="urn:microsoft.com/office/officeart/2008/layout/VerticalCurvedList"/>
    <dgm:cxn modelId="{B195A79D-9015-4542-A08C-E1F4942CE204}" type="presOf" srcId="{E0D0D649-762E-460A-861C-3C138E94985C}" destId="{3C841CB9-370A-4841-BA3B-CC6DAF64E254}" srcOrd="0" destOrd="0" presId="urn:microsoft.com/office/officeart/2008/layout/VerticalCurvedList"/>
    <dgm:cxn modelId="{53B94DAF-69F9-43BB-AE80-F74A0FCCE864}" srcId="{E0D0D649-762E-460A-861C-3C138E94985C}" destId="{1F69C708-1F95-4FBB-8105-ACCFE93DE83B}" srcOrd="0" destOrd="0" parTransId="{C03D2AF4-E2DA-4388-A49C-96A039DC1D8E}" sibTransId="{14F7418D-2D60-4E88-9AD8-58761C65AF2C}"/>
    <dgm:cxn modelId="{61F5E2DB-6CA3-4EC8-9D5D-E0C430083F11}" type="presOf" srcId="{1F69C708-1F95-4FBB-8105-ACCFE93DE83B}" destId="{947996D3-3344-4B63-AA0A-9B386CAFCBAC}" srcOrd="0" destOrd="0" presId="urn:microsoft.com/office/officeart/2008/layout/VerticalCurvedList"/>
    <dgm:cxn modelId="{77AE1D04-7613-40E5-BB77-BA9D2A1F1C6E}" type="presParOf" srcId="{3C841CB9-370A-4841-BA3B-CC6DAF64E254}" destId="{E796BBCB-6976-4B0C-B407-44FAC28BF7DC}" srcOrd="0" destOrd="0" presId="urn:microsoft.com/office/officeart/2008/layout/VerticalCurvedList"/>
    <dgm:cxn modelId="{A26EE205-5FE6-424C-BDBE-11317FB9D7D5}" type="presParOf" srcId="{E796BBCB-6976-4B0C-B407-44FAC28BF7DC}" destId="{73A038FD-6DB6-4D1F-9ABC-EC1DB984B8B1}" srcOrd="0" destOrd="0" presId="urn:microsoft.com/office/officeart/2008/layout/VerticalCurvedList"/>
    <dgm:cxn modelId="{EF52BFF1-3ED9-427B-B0C4-5513A246E1E5}" type="presParOf" srcId="{73A038FD-6DB6-4D1F-9ABC-EC1DB984B8B1}" destId="{A42C594C-C3D6-4097-8896-380DF0D053C9}" srcOrd="0" destOrd="0" presId="urn:microsoft.com/office/officeart/2008/layout/VerticalCurvedList"/>
    <dgm:cxn modelId="{40D5BA03-8E21-4C52-8CAE-FFC65DEF6C90}" type="presParOf" srcId="{73A038FD-6DB6-4D1F-9ABC-EC1DB984B8B1}" destId="{A81F9A7D-94CB-40CE-8A14-107EA74885BF}" srcOrd="1" destOrd="0" presId="urn:microsoft.com/office/officeart/2008/layout/VerticalCurvedList"/>
    <dgm:cxn modelId="{BF0644A9-8281-462F-B326-60F3BD5AF6DD}" type="presParOf" srcId="{73A038FD-6DB6-4D1F-9ABC-EC1DB984B8B1}" destId="{44376622-E69B-4C3E-975F-8A2175FCB08B}" srcOrd="2" destOrd="0" presId="urn:microsoft.com/office/officeart/2008/layout/VerticalCurvedList"/>
    <dgm:cxn modelId="{4CC041A3-6C35-40AA-B017-26888FC62323}" type="presParOf" srcId="{73A038FD-6DB6-4D1F-9ABC-EC1DB984B8B1}" destId="{F0061813-B7E2-47C4-B7B5-9AB9B8A3C994}" srcOrd="3" destOrd="0" presId="urn:microsoft.com/office/officeart/2008/layout/VerticalCurvedList"/>
    <dgm:cxn modelId="{E7036D49-B32F-453F-8BE6-4CC59FA905F1}" type="presParOf" srcId="{E796BBCB-6976-4B0C-B407-44FAC28BF7DC}" destId="{947996D3-3344-4B63-AA0A-9B386CAFCBAC}" srcOrd="1" destOrd="0" presId="urn:microsoft.com/office/officeart/2008/layout/VerticalCurvedList"/>
    <dgm:cxn modelId="{F435D67F-E144-4A6D-919F-4533F480DACD}" type="presParOf" srcId="{E796BBCB-6976-4B0C-B407-44FAC28BF7DC}" destId="{7F558387-F767-453A-895C-77F0051D9346}" srcOrd="2" destOrd="0" presId="urn:microsoft.com/office/officeart/2008/layout/VerticalCurvedList"/>
    <dgm:cxn modelId="{A7CD4C25-9FD6-46C9-871D-39CFBFA72311}" type="presParOf" srcId="{7F558387-F767-453A-895C-77F0051D9346}" destId="{19F7F217-5779-401D-9AEB-FF092CF31B4F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0D0D649-762E-460A-861C-3C138E94985C}" type="doc">
      <dgm:prSet loTypeId="urn:microsoft.com/office/officeart/2008/layout/VerticalCurvedList" loCatId="list" qsTypeId="urn:microsoft.com/office/officeart/2005/8/quickstyle/3d1" qsCatId="3D" csTypeId="urn:microsoft.com/office/officeart/2005/8/colors/colorful1" csCatId="colorful" phldr="1"/>
      <dgm:spPr>
        <a:scene3d>
          <a:camera prst="orthographicFront">
            <a:rot lat="0" lon="0" rev="0"/>
          </a:camera>
          <a:lightRig rig="glow" dir="t">
            <a:rot lat="0" lon="0" rev="4800000"/>
          </a:lightRig>
        </a:scene3d>
      </dgm:spPr>
      <dgm:t>
        <a:bodyPr/>
        <a:lstStyle/>
        <a:p>
          <a:endParaRPr lang="ru-RU"/>
        </a:p>
      </dgm:t>
    </dgm:pt>
    <dgm:pt modelId="{1F69C708-1F95-4FBB-8105-ACCFE93DE83B}">
      <dgm:prSet phldrT="[Текст]"/>
      <dgm:spPr>
        <a:ln>
          <a:noFill/>
        </a:ln>
        <a:effectLst>
          <a:outerShdw blurRad="190500" dist="228600" dir="270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glow" dir="t">
            <a:rot lat="0" lon="0" rev="4800000"/>
          </a:lightRig>
        </a:scene3d>
        <a:sp3d prstMaterial="matte">
          <a:bevelT w="127000" h="63500"/>
        </a:sp3d>
      </dgm:spPr>
      <dgm:t>
        <a:bodyPr/>
        <a:lstStyle/>
        <a:p>
          <a:r>
            <a:rPr lang="en-US" dirty="0" err="1" smtClean="0">
              <a:latin typeface="Times New Roman" panose="02020603050405020304" pitchFamily="18" charset="0"/>
              <a:ea typeface="Times New Roman" panose="02020603050405020304" pitchFamily="18" charset="0"/>
            </a:rPr>
            <a:t>Uchinchi</a:t>
          </a:r>
          <a:r>
            <a:rPr lang="en-US" dirty="0" smtClean="0">
              <a:latin typeface="Times New Roman" panose="02020603050405020304" pitchFamily="18" charset="0"/>
              <a:ea typeface="Times New Roman" panose="02020603050405020304" pitchFamily="18" charset="0"/>
            </a:rPr>
            <a:t> </a:t>
          </a:r>
          <a:r>
            <a:rPr lang="en-US" dirty="0" err="1" smtClean="0">
              <a:latin typeface="Times New Roman" panose="02020603050405020304" pitchFamily="18" charset="0"/>
              <a:ea typeface="Times New Roman" panose="02020603050405020304" pitchFamily="18" charset="0"/>
            </a:rPr>
            <a:t>yo’nalish</a:t>
          </a:r>
          <a:endParaRPr lang="ru-RU" dirty="0"/>
        </a:p>
      </dgm:t>
    </dgm:pt>
    <dgm:pt modelId="{C03D2AF4-E2DA-4388-A49C-96A039DC1D8E}" type="parTrans" cxnId="{53B94DAF-69F9-43BB-AE80-F74A0FCCE864}">
      <dgm:prSet/>
      <dgm:spPr/>
      <dgm:t>
        <a:bodyPr/>
        <a:lstStyle/>
        <a:p>
          <a:endParaRPr lang="ru-RU"/>
        </a:p>
      </dgm:t>
    </dgm:pt>
    <dgm:pt modelId="{14F7418D-2D60-4E88-9AD8-58761C65AF2C}" type="sibTrans" cxnId="{53B94DAF-69F9-43BB-AE80-F74A0FCCE864}">
      <dgm:prSet/>
      <dgm:spPr>
        <a:ln>
          <a:noFill/>
        </a:ln>
        <a:effectLst>
          <a:outerShdw blurRad="190500" dist="228600" dir="270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glow" dir="t">
            <a:rot lat="0" lon="0" rev="4800000"/>
          </a:lightRig>
        </a:scene3d>
        <a:sp3d prstMaterial="matte">
          <a:bevelT w="127000" h="63500"/>
        </a:sp3d>
      </dgm:spPr>
      <dgm:t>
        <a:bodyPr/>
        <a:lstStyle/>
        <a:p>
          <a:endParaRPr lang="ru-RU"/>
        </a:p>
      </dgm:t>
    </dgm:pt>
    <dgm:pt modelId="{3C841CB9-370A-4841-BA3B-CC6DAF64E254}" type="pres">
      <dgm:prSet presAssocID="{E0D0D649-762E-460A-861C-3C138E94985C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ru-RU"/>
        </a:p>
      </dgm:t>
    </dgm:pt>
    <dgm:pt modelId="{E796BBCB-6976-4B0C-B407-44FAC28BF7DC}" type="pres">
      <dgm:prSet presAssocID="{E0D0D649-762E-460A-861C-3C138E94985C}" presName="Name1" presStyleCnt="0"/>
      <dgm:spPr>
        <a:ln>
          <a:noFill/>
        </a:ln>
        <a:effectLst>
          <a:outerShdw blurRad="190500" dist="228600" dir="270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glow" dir="t">
            <a:rot lat="0" lon="0" rev="4800000"/>
          </a:lightRig>
        </a:scene3d>
        <a:sp3d prstMaterial="matte">
          <a:bevelT w="127000" h="63500"/>
        </a:sp3d>
      </dgm:spPr>
    </dgm:pt>
    <dgm:pt modelId="{73A038FD-6DB6-4D1F-9ABC-EC1DB984B8B1}" type="pres">
      <dgm:prSet presAssocID="{E0D0D649-762E-460A-861C-3C138E94985C}" presName="cycle" presStyleCnt="0"/>
      <dgm:spPr>
        <a:ln>
          <a:noFill/>
        </a:ln>
        <a:effectLst>
          <a:outerShdw blurRad="190500" dist="228600" dir="270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glow" dir="t">
            <a:rot lat="0" lon="0" rev="4800000"/>
          </a:lightRig>
        </a:scene3d>
        <a:sp3d prstMaterial="matte">
          <a:bevelT w="127000" h="63500"/>
        </a:sp3d>
      </dgm:spPr>
    </dgm:pt>
    <dgm:pt modelId="{A42C594C-C3D6-4097-8896-380DF0D053C9}" type="pres">
      <dgm:prSet presAssocID="{E0D0D649-762E-460A-861C-3C138E94985C}" presName="srcNode" presStyleLbl="node1" presStyleIdx="0" presStyleCnt="1"/>
      <dgm:spPr>
        <a:ln>
          <a:noFill/>
        </a:ln>
        <a:effectLst>
          <a:outerShdw blurRad="190500" dist="228600" dir="270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glow" dir="t">
            <a:rot lat="0" lon="0" rev="4800000"/>
          </a:lightRig>
        </a:scene3d>
        <a:sp3d prstMaterial="matte">
          <a:bevelT w="127000" h="63500"/>
        </a:sp3d>
      </dgm:spPr>
    </dgm:pt>
    <dgm:pt modelId="{A81F9A7D-94CB-40CE-8A14-107EA74885BF}" type="pres">
      <dgm:prSet presAssocID="{E0D0D649-762E-460A-861C-3C138E94985C}" presName="conn" presStyleLbl="parChTrans1D2" presStyleIdx="0" presStyleCnt="1"/>
      <dgm:spPr/>
      <dgm:t>
        <a:bodyPr/>
        <a:lstStyle/>
        <a:p>
          <a:endParaRPr lang="ru-RU"/>
        </a:p>
      </dgm:t>
    </dgm:pt>
    <dgm:pt modelId="{44376622-E69B-4C3E-975F-8A2175FCB08B}" type="pres">
      <dgm:prSet presAssocID="{E0D0D649-762E-460A-861C-3C138E94985C}" presName="extraNode" presStyleLbl="node1" presStyleIdx="0" presStyleCnt="1"/>
      <dgm:spPr>
        <a:ln>
          <a:noFill/>
        </a:ln>
        <a:effectLst>
          <a:outerShdw blurRad="190500" dist="228600" dir="270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glow" dir="t">
            <a:rot lat="0" lon="0" rev="4800000"/>
          </a:lightRig>
        </a:scene3d>
        <a:sp3d prstMaterial="matte">
          <a:bevelT w="127000" h="63500"/>
        </a:sp3d>
      </dgm:spPr>
    </dgm:pt>
    <dgm:pt modelId="{F0061813-B7E2-47C4-B7B5-9AB9B8A3C994}" type="pres">
      <dgm:prSet presAssocID="{E0D0D649-762E-460A-861C-3C138E94985C}" presName="dstNode" presStyleLbl="node1" presStyleIdx="0" presStyleCnt="1"/>
      <dgm:spPr>
        <a:ln>
          <a:noFill/>
        </a:ln>
        <a:effectLst>
          <a:outerShdw blurRad="190500" dist="228600" dir="270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glow" dir="t">
            <a:rot lat="0" lon="0" rev="4800000"/>
          </a:lightRig>
        </a:scene3d>
        <a:sp3d prstMaterial="matte">
          <a:bevelT w="127000" h="63500"/>
        </a:sp3d>
      </dgm:spPr>
    </dgm:pt>
    <dgm:pt modelId="{947996D3-3344-4B63-AA0A-9B386CAFCBAC}" type="pres">
      <dgm:prSet presAssocID="{1F69C708-1F95-4FBB-8105-ACCFE93DE83B}" presName="text_1" presStyleLbl="node1" presStyleIdx="0" presStyleCnt="1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F558387-F767-453A-895C-77F0051D9346}" type="pres">
      <dgm:prSet presAssocID="{1F69C708-1F95-4FBB-8105-ACCFE93DE83B}" presName="accent_1" presStyleCnt="0"/>
      <dgm:spPr>
        <a:ln>
          <a:noFill/>
        </a:ln>
        <a:effectLst>
          <a:outerShdw blurRad="190500" dist="228600" dir="270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glow" dir="t">
            <a:rot lat="0" lon="0" rev="4800000"/>
          </a:lightRig>
        </a:scene3d>
        <a:sp3d prstMaterial="matte">
          <a:bevelT w="127000" h="63500"/>
        </a:sp3d>
      </dgm:spPr>
    </dgm:pt>
    <dgm:pt modelId="{19F7F217-5779-401D-9AEB-FF092CF31B4F}" type="pres">
      <dgm:prSet presAssocID="{1F69C708-1F95-4FBB-8105-ACCFE93DE83B}" presName="accentRepeatNode" presStyleLbl="solidFgAcc1" presStyleIdx="0" presStyleCnt="1"/>
      <dgm:spPr>
        <a:ln>
          <a:noFill/>
        </a:ln>
        <a:effectLst>
          <a:outerShdw blurRad="190500" dist="228600" dir="270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glow" dir="t">
            <a:rot lat="0" lon="0" rev="4800000"/>
          </a:lightRig>
        </a:scene3d>
        <a:sp3d z="190500" prstMaterial="matte">
          <a:bevelT w="127000" h="63500"/>
        </a:sp3d>
      </dgm:spPr>
    </dgm:pt>
  </dgm:ptLst>
  <dgm:cxnLst>
    <dgm:cxn modelId="{53B94DAF-69F9-43BB-AE80-F74A0FCCE864}" srcId="{E0D0D649-762E-460A-861C-3C138E94985C}" destId="{1F69C708-1F95-4FBB-8105-ACCFE93DE83B}" srcOrd="0" destOrd="0" parTransId="{C03D2AF4-E2DA-4388-A49C-96A039DC1D8E}" sibTransId="{14F7418D-2D60-4E88-9AD8-58761C65AF2C}"/>
    <dgm:cxn modelId="{C2BE59B5-A54C-4528-91D1-7FDD765EE8FA}" type="presOf" srcId="{1F69C708-1F95-4FBB-8105-ACCFE93DE83B}" destId="{947996D3-3344-4B63-AA0A-9B386CAFCBAC}" srcOrd="0" destOrd="0" presId="urn:microsoft.com/office/officeart/2008/layout/VerticalCurvedList"/>
    <dgm:cxn modelId="{C6AD5AA2-CD0D-4006-9D93-0431A9B96EEE}" type="presOf" srcId="{14F7418D-2D60-4E88-9AD8-58761C65AF2C}" destId="{A81F9A7D-94CB-40CE-8A14-107EA74885BF}" srcOrd="0" destOrd="0" presId="urn:microsoft.com/office/officeart/2008/layout/VerticalCurvedList"/>
    <dgm:cxn modelId="{E954D8CA-FB4F-450A-B2FB-0C66E5A12CF8}" type="presOf" srcId="{E0D0D649-762E-460A-861C-3C138E94985C}" destId="{3C841CB9-370A-4841-BA3B-CC6DAF64E254}" srcOrd="0" destOrd="0" presId="urn:microsoft.com/office/officeart/2008/layout/VerticalCurvedList"/>
    <dgm:cxn modelId="{42F4AA91-A519-4B15-9486-3D9310617417}" type="presParOf" srcId="{3C841CB9-370A-4841-BA3B-CC6DAF64E254}" destId="{E796BBCB-6976-4B0C-B407-44FAC28BF7DC}" srcOrd="0" destOrd="0" presId="urn:microsoft.com/office/officeart/2008/layout/VerticalCurvedList"/>
    <dgm:cxn modelId="{5553698F-0112-416E-930B-4887FDA95651}" type="presParOf" srcId="{E796BBCB-6976-4B0C-B407-44FAC28BF7DC}" destId="{73A038FD-6DB6-4D1F-9ABC-EC1DB984B8B1}" srcOrd="0" destOrd="0" presId="urn:microsoft.com/office/officeart/2008/layout/VerticalCurvedList"/>
    <dgm:cxn modelId="{1BAD6B55-413D-405E-A3B4-2CFDC14506B0}" type="presParOf" srcId="{73A038FD-6DB6-4D1F-9ABC-EC1DB984B8B1}" destId="{A42C594C-C3D6-4097-8896-380DF0D053C9}" srcOrd="0" destOrd="0" presId="urn:microsoft.com/office/officeart/2008/layout/VerticalCurvedList"/>
    <dgm:cxn modelId="{66F81A3F-E1E0-47F2-B2CA-87EA697D7ED0}" type="presParOf" srcId="{73A038FD-6DB6-4D1F-9ABC-EC1DB984B8B1}" destId="{A81F9A7D-94CB-40CE-8A14-107EA74885BF}" srcOrd="1" destOrd="0" presId="urn:microsoft.com/office/officeart/2008/layout/VerticalCurvedList"/>
    <dgm:cxn modelId="{147F780D-5E57-42B4-B5E8-DD621336B2B0}" type="presParOf" srcId="{73A038FD-6DB6-4D1F-9ABC-EC1DB984B8B1}" destId="{44376622-E69B-4C3E-975F-8A2175FCB08B}" srcOrd="2" destOrd="0" presId="urn:microsoft.com/office/officeart/2008/layout/VerticalCurvedList"/>
    <dgm:cxn modelId="{EB58CF01-800A-41D7-B4C0-9007B877565B}" type="presParOf" srcId="{73A038FD-6DB6-4D1F-9ABC-EC1DB984B8B1}" destId="{F0061813-B7E2-47C4-B7B5-9AB9B8A3C994}" srcOrd="3" destOrd="0" presId="urn:microsoft.com/office/officeart/2008/layout/VerticalCurvedList"/>
    <dgm:cxn modelId="{FFC2B70C-058E-48BC-BF2A-019DC99E35AA}" type="presParOf" srcId="{E796BBCB-6976-4B0C-B407-44FAC28BF7DC}" destId="{947996D3-3344-4B63-AA0A-9B386CAFCBAC}" srcOrd="1" destOrd="0" presId="urn:microsoft.com/office/officeart/2008/layout/VerticalCurvedList"/>
    <dgm:cxn modelId="{9618F133-83FA-4BC5-BCC8-EE152E01371B}" type="presParOf" srcId="{E796BBCB-6976-4B0C-B407-44FAC28BF7DC}" destId="{7F558387-F767-453A-895C-77F0051D9346}" srcOrd="2" destOrd="0" presId="urn:microsoft.com/office/officeart/2008/layout/VerticalCurvedList"/>
    <dgm:cxn modelId="{AFDCB56D-9270-4598-9C51-029636FD3F53}" type="presParOf" srcId="{7F558387-F767-453A-895C-77F0051D9346}" destId="{19F7F217-5779-401D-9AEB-FF092CF31B4F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0D0D649-762E-460A-861C-3C138E94985C}" type="doc">
      <dgm:prSet loTypeId="urn:microsoft.com/office/officeart/2008/layout/VerticalCurvedList" loCatId="list" qsTypeId="urn:microsoft.com/office/officeart/2005/8/quickstyle/3d1" qsCatId="3D" csTypeId="urn:microsoft.com/office/officeart/2005/8/colors/colorful5" csCatId="colorful" phldr="1"/>
      <dgm:spPr>
        <a:scene3d>
          <a:camera prst="orthographicFront">
            <a:rot lat="0" lon="0" rev="0"/>
          </a:camera>
          <a:lightRig rig="glow" dir="t">
            <a:rot lat="0" lon="0" rev="4800000"/>
          </a:lightRig>
        </a:scene3d>
      </dgm:spPr>
      <dgm:t>
        <a:bodyPr/>
        <a:lstStyle/>
        <a:p>
          <a:endParaRPr lang="ru-RU"/>
        </a:p>
      </dgm:t>
    </dgm:pt>
    <dgm:pt modelId="{1F69C708-1F95-4FBB-8105-ACCFE93DE83B}">
      <dgm:prSet phldrT="[Текст]"/>
      <dgm:spPr>
        <a:ln>
          <a:noFill/>
        </a:ln>
        <a:effectLst>
          <a:outerShdw blurRad="190500" dist="228600" dir="270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glow" dir="t">
            <a:rot lat="0" lon="0" rev="4800000"/>
          </a:lightRig>
        </a:scene3d>
        <a:sp3d prstMaterial="matte">
          <a:bevelT w="127000" h="63500"/>
        </a:sp3d>
      </dgm:spPr>
      <dgm:t>
        <a:bodyPr/>
        <a:lstStyle/>
        <a:p>
          <a:r>
            <a:rPr lang="en-US" dirty="0" err="1" smtClean="0">
              <a:latin typeface="Times New Roman" panose="02020603050405020304" pitchFamily="18" charset="0"/>
              <a:ea typeface="Times New Roman" panose="02020603050405020304" pitchFamily="18" charset="0"/>
            </a:rPr>
            <a:t>To’rtinchi</a:t>
          </a:r>
          <a:r>
            <a:rPr lang="en-US" dirty="0" smtClean="0">
              <a:latin typeface="Times New Roman" panose="02020603050405020304" pitchFamily="18" charset="0"/>
              <a:ea typeface="Times New Roman" panose="02020603050405020304" pitchFamily="18" charset="0"/>
            </a:rPr>
            <a:t> </a:t>
          </a:r>
          <a:r>
            <a:rPr lang="en-US" dirty="0" err="1" smtClean="0">
              <a:latin typeface="Times New Roman" panose="02020603050405020304" pitchFamily="18" charset="0"/>
              <a:ea typeface="Times New Roman" panose="02020603050405020304" pitchFamily="18" charset="0"/>
            </a:rPr>
            <a:t>yo’nalish</a:t>
          </a:r>
          <a:endParaRPr lang="ru-RU" dirty="0"/>
        </a:p>
      </dgm:t>
    </dgm:pt>
    <dgm:pt modelId="{C03D2AF4-E2DA-4388-A49C-96A039DC1D8E}" type="parTrans" cxnId="{53B94DAF-69F9-43BB-AE80-F74A0FCCE864}">
      <dgm:prSet/>
      <dgm:spPr/>
      <dgm:t>
        <a:bodyPr/>
        <a:lstStyle/>
        <a:p>
          <a:endParaRPr lang="ru-RU"/>
        </a:p>
      </dgm:t>
    </dgm:pt>
    <dgm:pt modelId="{14F7418D-2D60-4E88-9AD8-58761C65AF2C}" type="sibTrans" cxnId="{53B94DAF-69F9-43BB-AE80-F74A0FCCE864}">
      <dgm:prSet/>
      <dgm:spPr>
        <a:ln>
          <a:noFill/>
        </a:ln>
        <a:effectLst>
          <a:outerShdw blurRad="190500" dist="228600" dir="270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glow" dir="t">
            <a:rot lat="0" lon="0" rev="4800000"/>
          </a:lightRig>
        </a:scene3d>
        <a:sp3d prstMaterial="matte">
          <a:bevelT w="127000" h="63500"/>
        </a:sp3d>
      </dgm:spPr>
      <dgm:t>
        <a:bodyPr/>
        <a:lstStyle/>
        <a:p>
          <a:endParaRPr lang="ru-RU"/>
        </a:p>
      </dgm:t>
    </dgm:pt>
    <dgm:pt modelId="{3C841CB9-370A-4841-BA3B-CC6DAF64E254}" type="pres">
      <dgm:prSet presAssocID="{E0D0D649-762E-460A-861C-3C138E94985C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ru-RU"/>
        </a:p>
      </dgm:t>
    </dgm:pt>
    <dgm:pt modelId="{E796BBCB-6976-4B0C-B407-44FAC28BF7DC}" type="pres">
      <dgm:prSet presAssocID="{E0D0D649-762E-460A-861C-3C138E94985C}" presName="Name1" presStyleCnt="0"/>
      <dgm:spPr>
        <a:ln>
          <a:noFill/>
        </a:ln>
        <a:effectLst>
          <a:outerShdw blurRad="190500" dist="228600" dir="270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glow" dir="t">
            <a:rot lat="0" lon="0" rev="4800000"/>
          </a:lightRig>
        </a:scene3d>
        <a:sp3d prstMaterial="matte">
          <a:bevelT w="127000" h="63500"/>
        </a:sp3d>
      </dgm:spPr>
    </dgm:pt>
    <dgm:pt modelId="{73A038FD-6DB6-4D1F-9ABC-EC1DB984B8B1}" type="pres">
      <dgm:prSet presAssocID="{E0D0D649-762E-460A-861C-3C138E94985C}" presName="cycle" presStyleCnt="0"/>
      <dgm:spPr>
        <a:ln>
          <a:noFill/>
        </a:ln>
        <a:effectLst>
          <a:outerShdw blurRad="190500" dist="228600" dir="270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glow" dir="t">
            <a:rot lat="0" lon="0" rev="4800000"/>
          </a:lightRig>
        </a:scene3d>
        <a:sp3d prstMaterial="matte">
          <a:bevelT w="127000" h="63500"/>
        </a:sp3d>
      </dgm:spPr>
    </dgm:pt>
    <dgm:pt modelId="{A42C594C-C3D6-4097-8896-380DF0D053C9}" type="pres">
      <dgm:prSet presAssocID="{E0D0D649-762E-460A-861C-3C138E94985C}" presName="srcNode" presStyleLbl="node1" presStyleIdx="0" presStyleCnt="1"/>
      <dgm:spPr>
        <a:ln>
          <a:noFill/>
        </a:ln>
        <a:effectLst>
          <a:outerShdw blurRad="190500" dist="228600" dir="270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glow" dir="t">
            <a:rot lat="0" lon="0" rev="4800000"/>
          </a:lightRig>
        </a:scene3d>
        <a:sp3d prstMaterial="matte">
          <a:bevelT w="127000" h="63500"/>
        </a:sp3d>
      </dgm:spPr>
    </dgm:pt>
    <dgm:pt modelId="{A81F9A7D-94CB-40CE-8A14-107EA74885BF}" type="pres">
      <dgm:prSet presAssocID="{E0D0D649-762E-460A-861C-3C138E94985C}" presName="conn" presStyleLbl="parChTrans1D2" presStyleIdx="0" presStyleCnt="1"/>
      <dgm:spPr/>
      <dgm:t>
        <a:bodyPr/>
        <a:lstStyle/>
        <a:p>
          <a:endParaRPr lang="ru-RU"/>
        </a:p>
      </dgm:t>
    </dgm:pt>
    <dgm:pt modelId="{44376622-E69B-4C3E-975F-8A2175FCB08B}" type="pres">
      <dgm:prSet presAssocID="{E0D0D649-762E-460A-861C-3C138E94985C}" presName="extraNode" presStyleLbl="node1" presStyleIdx="0" presStyleCnt="1"/>
      <dgm:spPr>
        <a:ln>
          <a:noFill/>
        </a:ln>
        <a:effectLst>
          <a:outerShdw blurRad="190500" dist="228600" dir="270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glow" dir="t">
            <a:rot lat="0" lon="0" rev="4800000"/>
          </a:lightRig>
        </a:scene3d>
        <a:sp3d prstMaterial="matte">
          <a:bevelT w="127000" h="63500"/>
        </a:sp3d>
      </dgm:spPr>
    </dgm:pt>
    <dgm:pt modelId="{F0061813-B7E2-47C4-B7B5-9AB9B8A3C994}" type="pres">
      <dgm:prSet presAssocID="{E0D0D649-762E-460A-861C-3C138E94985C}" presName="dstNode" presStyleLbl="node1" presStyleIdx="0" presStyleCnt="1"/>
      <dgm:spPr>
        <a:ln>
          <a:noFill/>
        </a:ln>
        <a:effectLst>
          <a:outerShdw blurRad="190500" dist="228600" dir="270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glow" dir="t">
            <a:rot lat="0" lon="0" rev="4800000"/>
          </a:lightRig>
        </a:scene3d>
        <a:sp3d prstMaterial="matte">
          <a:bevelT w="127000" h="63500"/>
        </a:sp3d>
      </dgm:spPr>
    </dgm:pt>
    <dgm:pt modelId="{947996D3-3344-4B63-AA0A-9B386CAFCBAC}" type="pres">
      <dgm:prSet presAssocID="{1F69C708-1F95-4FBB-8105-ACCFE93DE83B}" presName="text_1" presStyleLbl="node1" presStyleIdx="0" presStyleCnt="1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F558387-F767-453A-895C-77F0051D9346}" type="pres">
      <dgm:prSet presAssocID="{1F69C708-1F95-4FBB-8105-ACCFE93DE83B}" presName="accent_1" presStyleCnt="0"/>
      <dgm:spPr>
        <a:ln>
          <a:noFill/>
        </a:ln>
        <a:effectLst>
          <a:outerShdw blurRad="190500" dist="228600" dir="270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glow" dir="t">
            <a:rot lat="0" lon="0" rev="4800000"/>
          </a:lightRig>
        </a:scene3d>
        <a:sp3d prstMaterial="matte">
          <a:bevelT w="127000" h="63500"/>
        </a:sp3d>
      </dgm:spPr>
    </dgm:pt>
    <dgm:pt modelId="{19F7F217-5779-401D-9AEB-FF092CF31B4F}" type="pres">
      <dgm:prSet presAssocID="{1F69C708-1F95-4FBB-8105-ACCFE93DE83B}" presName="accentRepeatNode" presStyleLbl="solidFgAcc1" presStyleIdx="0" presStyleCnt="1"/>
      <dgm:spPr>
        <a:ln>
          <a:noFill/>
        </a:ln>
        <a:effectLst>
          <a:outerShdw blurRad="190500" dist="228600" dir="270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glow" dir="t">
            <a:rot lat="0" lon="0" rev="4800000"/>
          </a:lightRig>
        </a:scene3d>
        <a:sp3d z="190500" prstMaterial="matte">
          <a:bevelT w="127000" h="63500"/>
        </a:sp3d>
      </dgm:spPr>
    </dgm:pt>
  </dgm:ptLst>
  <dgm:cxnLst>
    <dgm:cxn modelId="{D1C06BD7-7F98-4F24-94D1-98B1C3231803}" type="presOf" srcId="{1F69C708-1F95-4FBB-8105-ACCFE93DE83B}" destId="{947996D3-3344-4B63-AA0A-9B386CAFCBAC}" srcOrd="0" destOrd="0" presId="urn:microsoft.com/office/officeart/2008/layout/VerticalCurvedList"/>
    <dgm:cxn modelId="{4B6F09B9-003C-45EB-B99F-AD757CABD313}" type="presOf" srcId="{E0D0D649-762E-460A-861C-3C138E94985C}" destId="{3C841CB9-370A-4841-BA3B-CC6DAF64E254}" srcOrd="0" destOrd="0" presId="urn:microsoft.com/office/officeart/2008/layout/VerticalCurvedList"/>
    <dgm:cxn modelId="{53B94DAF-69F9-43BB-AE80-F74A0FCCE864}" srcId="{E0D0D649-762E-460A-861C-3C138E94985C}" destId="{1F69C708-1F95-4FBB-8105-ACCFE93DE83B}" srcOrd="0" destOrd="0" parTransId="{C03D2AF4-E2DA-4388-A49C-96A039DC1D8E}" sibTransId="{14F7418D-2D60-4E88-9AD8-58761C65AF2C}"/>
    <dgm:cxn modelId="{5D3FD178-3ACB-40EB-A14F-681FCF1DCC46}" type="presOf" srcId="{14F7418D-2D60-4E88-9AD8-58761C65AF2C}" destId="{A81F9A7D-94CB-40CE-8A14-107EA74885BF}" srcOrd="0" destOrd="0" presId="urn:microsoft.com/office/officeart/2008/layout/VerticalCurvedList"/>
    <dgm:cxn modelId="{39B9D1F8-3B7C-4CD7-B390-70D14E6B7DBA}" type="presParOf" srcId="{3C841CB9-370A-4841-BA3B-CC6DAF64E254}" destId="{E796BBCB-6976-4B0C-B407-44FAC28BF7DC}" srcOrd="0" destOrd="0" presId="urn:microsoft.com/office/officeart/2008/layout/VerticalCurvedList"/>
    <dgm:cxn modelId="{E0695C61-F533-4A9E-89F2-F90B853D1A8C}" type="presParOf" srcId="{E796BBCB-6976-4B0C-B407-44FAC28BF7DC}" destId="{73A038FD-6DB6-4D1F-9ABC-EC1DB984B8B1}" srcOrd="0" destOrd="0" presId="urn:microsoft.com/office/officeart/2008/layout/VerticalCurvedList"/>
    <dgm:cxn modelId="{815B0277-5AA3-4BEE-BB45-1B7E6A9577E0}" type="presParOf" srcId="{73A038FD-6DB6-4D1F-9ABC-EC1DB984B8B1}" destId="{A42C594C-C3D6-4097-8896-380DF0D053C9}" srcOrd="0" destOrd="0" presId="urn:microsoft.com/office/officeart/2008/layout/VerticalCurvedList"/>
    <dgm:cxn modelId="{8FB9F627-D148-4687-9FFD-C8C9DF9D0159}" type="presParOf" srcId="{73A038FD-6DB6-4D1F-9ABC-EC1DB984B8B1}" destId="{A81F9A7D-94CB-40CE-8A14-107EA74885BF}" srcOrd="1" destOrd="0" presId="urn:microsoft.com/office/officeart/2008/layout/VerticalCurvedList"/>
    <dgm:cxn modelId="{607959D6-F4AE-4904-B2AD-92D0765B0622}" type="presParOf" srcId="{73A038FD-6DB6-4D1F-9ABC-EC1DB984B8B1}" destId="{44376622-E69B-4C3E-975F-8A2175FCB08B}" srcOrd="2" destOrd="0" presId="urn:microsoft.com/office/officeart/2008/layout/VerticalCurvedList"/>
    <dgm:cxn modelId="{FDD97A82-FC97-48C8-BDD7-E7ED0BD0E7C8}" type="presParOf" srcId="{73A038FD-6DB6-4D1F-9ABC-EC1DB984B8B1}" destId="{F0061813-B7E2-47C4-B7B5-9AB9B8A3C994}" srcOrd="3" destOrd="0" presId="urn:microsoft.com/office/officeart/2008/layout/VerticalCurvedList"/>
    <dgm:cxn modelId="{1C1E1150-49DF-4B06-900B-1C7EA519FCAB}" type="presParOf" srcId="{E796BBCB-6976-4B0C-B407-44FAC28BF7DC}" destId="{947996D3-3344-4B63-AA0A-9B386CAFCBAC}" srcOrd="1" destOrd="0" presId="urn:microsoft.com/office/officeart/2008/layout/VerticalCurvedList"/>
    <dgm:cxn modelId="{52B18CC7-CC60-4B57-B18A-BCFCE2BC2927}" type="presParOf" srcId="{E796BBCB-6976-4B0C-B407-44FAC28BF7DC}" destId="{7F558387-F767-453A-895C-77F0051D9346}" srcOrd="2" destOrd="0" presId="urn:microsoft.com/office/officeart/2008/layout/VerticalCurvedList"/>
    <dgm:cxn modelId="{AE9D30CE-BEE3-45D1-9A64-24222B2C3D23}" type="presParOf" srcId="{7F558387-F767-453A-895C-77F0051D9346}" destId="{19F7F217-5779-401D-9AEB-FF092CF31B4F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7D4942-C92F-4C94-9E94-0F5B64BDBCF0}">
      <dsp:nvSpPr>
        <dsp:cNvPr id="0" name=""/>
        <dsp:cNvSpPr/>
      </dsp:nvSpPr>
      <dsp:spPr>
        <a:xfrm>
          <a:off x="-4962178" y="-766033"/>
          <a:ext cx="5954355" cy="5954355"/>
        </a:xfrm>
        <a:prstGeom prst="blockArc">
          <a:avLst>
            <a:gd name="adj1" fmla="val 18900000"/>
            <a:gd name="adj2" fmla="val 2700000"/>
            <a:gd name="adj3" fmla="val 363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B7534A7-DC14-48AA-900B-B59E09587A28}">
      <dsp:nvSpPr>
        <dsp:cNvPr id="0" name=""/>
        <dsp:cNvSpPr/>
      </dsp:nvSpPr>
      <dsp:spPr>
        <a:xfrm>
          <a:off x="812927" y="631768"/>
          <a:ext cx="8307745" cy="1263359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02791" tIns="60960" rIns="60960" bIns="6096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 err="1" smtClean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Turli</a:t>
          </a:r>
          <a:r>
            <a:rPr lang="en-US" sz="2400" b="1" kern="1200" dirty="0" smtClean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400" b="1" kern="1200" dirty="0" err="1" smtClean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xil</a:t>
          </a:r>
          <a:r>
            <a:rPr lang="en-US" sz="2400" b="1" kern="1200" dirty="0" smtClean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uz-Cyrl-UZ" sz="2400" b="1" kern="1200" dirty="0" smtClean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kriptovalyuta</a:t>
          </a:r>
          <a:r>
            <a:rPr lang="en-US" sz="2400" b="1" kern="1200" dirty="0" err="1" smtClean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larning</a:t>
          </a:r>
          <a:r>
            <a:rPr lang="en-US" sz="2400" b="1" kern="1200" dirty="0" smtClean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uz-Cyrl-UZ" sz="2400" b="1" kern="1200" dirty="0" smtClean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yaratish </a:t>
          </a:r>
          <a:r>
            <a:rPr lang="en-US" sz="2400" b="1" kern="1200" dirty="0" err="1" smtClean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asos</a:t>
          </a:r>
          <a:r>
            <a:rPr lang="uz-Cyrl-UZ" sz="2400" b="1" kern="1200" dirty="0" smtClean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lari</a:t>
          </a:r>
          <a:r>
            <a:rPr lang="en-US" sz="2400" b="1" kern="1200" dirty="0" err="1" smtClean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ni</a:t>
          </a:r>
          <a:r>
            <a:rPr lang="en-US" sz="2400" b="1" kern="1200" dirty="0" smtClean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uz-Cyrl-UZ" sz="2400" b="1" kern="1200" dirty="0" smtClean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tadqiq qilish</a:t>
          </a:r>
          <a:r>
            <a:rPr lang="en-US" sz="2400" b="1" kern="1200" dirty="0" smtClean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.</a:t>
          </a:r>
          <a:endParaRPr lang="ru-RU" sz="2400" kern="1200" dirty="0">
            <a:solidFill>
              <a:schemeClr val="tx1"/>
            </a:solidFill>
          </a:endParaRPr>
        </a:p>
      </dsp:txBody>
      <dsp:txXfrm>
        <a:off x="812927" y="631768"/>
        <a:ext cx="8307745" cy="1263359"/>
      </dsp:txXfrm>
    </dsp:sp>
    <dsp:sp modelId="{47301ADC-11DD-4E60-BBD9-BF1B02AC99DA}">
      <dsp:nvSpPr>
        <dsp:cNvPr id="0" name=""/>
        <dsp:cNvSpPr/>
      </dsp:nvSpPr>
      <dsp:spPr>
        <a:xfrm>
          <a:off x="23327" y="473848"/>
          <a:ext cx="1579199" cy="157919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7A244915-C224-42A8-B81D-EBBF51AAC8F1}">
      <dsp:nvSpPr>
        <dsp:cNvPr id="0" name=""/>
        <dsp:cNvSpPr/>
      </dsp:nvSpPr>
      <dsp:spPr>
        <a:xfrm>
          <a:off x="812927" y="2527160"/>
          <a:ext cx="8307745" cy="1263359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02791" tIns="60960" rIns="60960" bIns="6096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 err="1" smtClean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Milliy</a:t>
          </a:r>
          <a:r>
            <a:rPr lang="en-US" sz="2400" b="1" kern="1200" dirty="0" smtClean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400" b="1" kern="1200" dirty="0" err="1" smtClean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kriptovalyuta</a:t>
          </a:r>
          <a:r>
            <a:rPr lang="en-US" sz="2400" b="1" kern="1200" dirty="0" smtClean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400" b="1" kern="1200" dirty="0" err="1" smtClean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yaratishning</a:t>
          </a:r>
          <a:r>
            <a:rPr lang="en-US" sz="2400" b="1" kern="1200" dirty="0" smtClean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400" b="1" kern="1200" dirty="0" err="1" smtClean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nazariy</a:t>
          </a:r>
          <a:r>
            <a:rPr lang="en-US" sz="2400" b="1" kern="1200" dirty="0" smtClean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400" b="1" kern="1200" dirty="0" err="1" smtClean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asoslarini</a:t>
          </a:r>
          <a:r>
            <a:rPr lang="en-US" sz="2400" b="1" kern="1200" dirty="0" smtClean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400" b="1" kern="1200" dirty="0" err="1" smtClean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tadqiq</a:t>
          </a:r>
          <a:r>
            <a:rPr lang="en-US" sz="2400" b="1" kern="1200" dirty="0" smtClean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400" b="1" kern="1200" dirty="0" err="1" smtClean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etish</a:t>
          </a:r>
          <a:r>
            <a:rPr lang="en-US" sz="2400" b="1" kern="1200" dirty="0" smtClean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.</a:t>
          </a:r>
          <a:endParaRPr lang="ru-RU" sz="2400" kern="1200" dirty="0">
            <a:solidFill>
              <a:schemeClr val="tx1"/>
            </a:solidFill>
          </a:endParaRPr>
        </a:p>
      </dsp:txBody>
      <dsp:txXfrm>
        <a:off x="812927" y="2527160"/>
        <a:ext cx="8307745" cy="1263359"/>
      </dsp:txXfrm>
    </dsp:sp>
    <dsp:sp modelId="{5FA50131-75C6-444E-B9D6-1E1D3FA8252A}">
      <dsp:nvSpPr>
        <dsp:cNvPr id="0" name=""/>
        <dsp:cNvSpPr/>
      </dsp:nvSpPr>
      <dsp:spPr>
        <a:xfrm>
          <a:off x="23327" y="2369240"/>
          <a:ext cx="1579199" cy="157919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EF313F-07DE-473D-B190-4EC9A63F186A}" type="datetimeFigureOut">
              <a:rPr lang="ru-RU" smtClean="0"/>
              <a:t>23.06.2022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76AA38-7786-4103-8597-43C112F486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16448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76AA38-7786-4103-8597-43C112F486F2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7026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ABCE0-AA79-479D-8A2F-B9E18EB62257}" type="datetimeFigureOut">
              <a:rPr lang="ru-RU" smtClean="0"/>
              <a:t>23.06.2022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58BEB-B4A7-49B5-84C6-309229AE86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637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ippl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ABCE0-AA79-479D-8A2F-B9E18EB62257}" type="datetimeFigureOut">
              <a:rPr lang="ru-RU" smtClean="0"/>
              <a:t>23.06.2022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58BEB-B4A7-49B5-84C6-309229AE86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3093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ippl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ABCE0-AA79-479D-8A2F-B9E18EB62257}" type="datetimeFigureOut">
              <a:rPr lang="ru-RU" smtClean="0"/>
              <a:t>23.06.2022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58BEB-B4A7-49B5-84C6-309229AE86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434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ippl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ABCE0-AA79-479D-8A2F-B9E18EB62257}" type="datetimeFigureOut">
              <a:rPr lang="ru-RU" smtClean="0"/>
              <a:t>23.06.2022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58BEB-B4A7-49B5-84C6-309229AE86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2811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ippl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ABCE0-AA79-479D-8A2F-B9E18EB62257}" type="datetimeFigureOut">
              <a:rPr lang="ru-RU" smtClean="0"/>
              <a:t>23.06.2022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58BEB-B4A7-49B5-84C6-309229AE86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9733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ippl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ABCE0-AA79-479D-8A2F-B9E18EB62257}" type="datetimeFigureOut">
              <a:rPr lang="ru-RU" smtClean="0"/>
              <a:t>23.06.2022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58BEB-B4A7-49B5-84C6-309229AE86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4717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ippl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ABCE0-AA79-479D-8A2F-B9E18EB62257}" type="datetimeFigureOut">
              <a:rPr lang="ru-RU" smtClean="0"/>
              <a:t>23.06.2022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58BEB-B4A7-49B5-84C6-309229AE86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8449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ippl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ABCE0-AA79-479D-8A2F-B9E18EB62257}" type="datetimeFigureOut">
              <a:rPr lang="ru-RU" smtClean="0"/>
              <a:t>23.06.2022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58BEB-B4A7-49B5-84C6-309229AE86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9027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ippl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ABCE0-AA79-479D-8A2F-B9E18EB62257}" type="datetimeFigureOut">
              <a:rPr lang="ru-RU" smtClean="0"/>
              <a:t>23.06.2022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58BEB-B4A7-49B5-84C6-309229AE86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7052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ippl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ABCE0-AA79-479D-8A2F-B9E18EB62257}" type="datetimeFigureOut">
              <a:rPr lang="ru-RU" smtClean="0"/>
              <a:t>23.06.2022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58BEB-B4A7-49B5-84C6-309229AE86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0577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ippl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ABCE0-AA79-479D-8A2F-B9E18EB62257}" type="datetimeFigureOut">
              <a:rPr lang="ru-RU" smtClean="0"/>
              <a:t>23.06.2022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58BEB-B4A7-49B5-84C6-309229AE86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9118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ippl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ABCE0-AA79-479D-8A2F-B9E18EB62257}" type="datetimeFigureOut">
              <a:rPr lang="ru-RU" smtClean="0"/>
              <a:t>23.06.2022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58BEB-B4A7-49B5-84C6-309229AE8602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1574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ippl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ABCE0-AA79-479D-8A2F-B9E18EB62257}" type="datetimeFigureOut">
              <a:rPr lang="ru-RU" smtClean="0"/>
              <a:t>23.06.2022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58BEB-B4A7-49B5-84C6-309229AE86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7157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ippl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ABCE0-AA79-479D-8A2F-B9E18EB62257}" type="datetimeFigureOut">
              <a:rPr lang="ru-RU" smtClean="0"/>
              <a:t>23.06.2022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58BEB-B4A7-49B5-84C6-309229AE8602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13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ippl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5"/>
            <a:ext cx="3703320" cy="4023359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5"/>
            <a:ext cx="3703320" cy="402336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ABCE0-AA79-479D-8A2F-B9E18EB62257}" type="datetimeFigureOut">
              <a:rPr lang="ru-RU" smtClean="0"/>
              <a:t>23.06.2022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58BEB-B4A7-49B5-84C6-309229AE86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6282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ippl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5"/>
            <a:ext cx="3703320" cy="328676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ABCE0-AA79-479D-8A2F-B9E18EB62257}" type="datetimeFigureOut">
              <a:rPr lang="ru-RU" smtClean="0"/>
              <a:t>23.06.2022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58BEB-B4A7-49B5-84C6-309229AE86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6768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ippl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ABCE0-AA79-479D-8A2F-B9E18EB62257}" type="datetimeFigureOut">
              <a:rPr lang="ru-RU" smtClean="0"/>
              <a:t>23.06.2022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58BEB-B4A7-49B5-84C6-309229AE86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2680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ippl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ABCE0-AA79-479D-8A2F-B9E18EB62257}" type="datetimeFigureOut">
              <a:rPr lang="ru-RU" smtClean="0"/>
              <a:t>23.06.2022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58BEB-B4A7-49B5-84C6-309229AE86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5319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ippl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731520"/>
            <a:ext cx="4869180" cy="52578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9EBABCE0-AA79-479D-8A2F-B9E18EB62257}" type="datetimeFigureOut">
              <a:rPr lang="ru-RU" smtClean="0"/>
              <a:t>23.06.2022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558BEB-B4A7-49B5-84C6-309229AE86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0288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ippl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ABCE0-AA79-479D-8A2F-B9E18EB62257}" type="datetimeFigureOut">
              <a:rPr lang="ru-RU" smtClean="0"/>
              <a:t>23.06.2022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58BEB-B4A7-49B5-84C6-309229AE86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8524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ippl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ABCE0-AA79-479D-8A2F-B9E18EB62257}" type="datetimeFigureOut">
              <a:rPr lang="ru-RU" smtClean="0"/>
              <a:t>23.06.2022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58BEB-B4A7-49B5-84C6-309229AE86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9236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ippl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2302"/>
            <a:ext cx="1971675" cy="575989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2302"/>
            <a:ext cx="5800725" cy="5759898"/>
          </a:xfrm>
        </p:spPr>
        <p:txBody>
          <a:bodyPr vert="eaVert" lIns="45720" tIns="0" rIns="45720" bIns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ABCE0-AA79-479D-8A2F-B9E18EB62257}" type="datetimeFigureOut">
              <a:rPr lang="ru-RU" smtClean="0"/>
              <a:t>23.06.2022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58BEB-B4A7-49B5-84C6-309229AE86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2934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ippl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ABCE0-AA79-479D-8A2F-B9E18EB62257}" type="datetimeFigureOut">
              <a:rPr lang="ru-RU" smtClean="0"/>
              <a:t>23.06.2022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58BEB-B4A7-49B5-84C6-309229AE86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8650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ippl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ABCE0-AA79-479D-8A2F-B9E18EB62257}" type="datetimeFigureOut">
              <a:rPr lang="ru-RU" smtClean="0"/>
              <a:t>23.06.2022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58BEB-B4A7-49B5-84C6-309229AE86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7225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ippl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ABCE0-AA79-479D-8A2F-B9E18EB62257}" type="datetimeFigureOut">
              <a:rPr lang="ru-RU" smtClean="0"/>
              <a:t>23.06.2022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58BEB-B4A7-49B5-84C6-309229AE86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3247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ippl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ABCE0-AA79-479D-8A2F-B9E18EB62257}" type="datetimeFigureOut">
              <a:rPr lang="ru-RU" smtClean="0"/>
              <a:t>23.06.2022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58BEB-B4A7-49B5-84C6-309229AE86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170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ippl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ABCE0-AA79-479D-8A2F-B9E18EB62257}" type="datetimeFigureOut">
              <a:rPr lang="ru-RU" smtClean="0"/>
              <a:t>23.06.2022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58BEB-B4A7-49B5-84C6-309229AE86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0812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ippl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ABCE0-AA79-479D-8A2F-B9E18EB62257}" type="datetimeFigureOut">
              <a:rPr lang="ru-RU" smtClean="0"/>
              <a:t>23.06.2022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58BEB-B4A7-49B5-84C6-309229AE86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2213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ippl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ABCE0-AA79-479D-8A2F-B9E18EB62257}" type="datetimeFigureOut">
              <a:rPr lang="ru-RU" smtClean="0"/>
              <a:t>23.06.2022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58BEB-B4A7-49B5-84C6-309229AE86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6507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ippl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ABCE0-AA79-479D-8A2F-B9E18EB62257}" type="datetimeFigureOut">
              <a:rPr lang="ru-RU" smtClean="0"/>
              <a:t>23.06.2022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58BEB-B4A7-49B5-84C6-309229AE86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2450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ippl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ABCE0-AA79-479D-8A2F-B9E18EB62257}" type="datetimeFigureOut">
              <a:rPr lang="ru-RU" smtClean="0"/>
              <a:t>23.06.2022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58BEB-B4A7-49B5-84C6-309229AE86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6801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ippl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ABCE0-AA79-479D-8A2F-B9E18EB62257}" type="datetimeFigureOut">
              <a:rPr lang="ru-RU" smtClean="0"/>
              <a:t>23.06.2022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58BEB-B4A7-49B5-84C6-309229AE86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1960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ippl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ABCE0-AA79-479D-8A2F-B9E18EB62257}" type="datetimeFigureOut">
              <a:rPr lang="ru-RU" smtClean="0"/>
              <a:t>23.06.2022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58BEB-B4A7-49B5-84C6-309229AE86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1190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ippl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4334933" y="1169931"/>
            <a:ext cx="4814835" cy="4993802"/>
            <a:chOff x="4334933" y="1169931"/>
            <a:chExt cx="4814835" cy="4993802"/>
          </a:xfrm>
        </p:grpSpPr>
        <p:cxnSp>
          <p:nvCxnSpPr>
            <p:cNvPr id="17" name="Straight Connector 16"/>
            <p:cNvCxnSpPr/>
            <p:nvPr/>
          </p:nvCxnSpPr>
          <p:spPr>
            <a:xfrm flipH="1">
              <a:off x="6009259" y="1169931"/>
              <a:ext cx="3134741" cy="313474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H="1">
              <a:off x="4334933" y="1348898"/>
              <a:ext cx="4814835" cy="481483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5225595" y="1469269"/>
              <a:ext cx="3912054" cy="391205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flipH="1">
              <a:off x="5304588" y="1307856"/>
              <a:ext cx="3839412" cy="3839412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flipH="1">
              <a:off x="5707078" y="1770196"/>
              <a:ext cx="3430571" cy="343057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533400"/>
            <a:ext cx="6154713" cy="3124201"/>
          </a:xfrm>
        </p:spPr>
        <p:txBody>
          <a:bodyPr anchor="b">
            <a:normAutofit/>
          </a:bodyPr>
          <a:lstStyle>
            <a:lvl1pPr algn="l">
              <a:defRPr sz="4400">
                <a:effectLst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3843868"/>
            <a:ext cx="4954250" cy="1913466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ABCE0-AA79-479D-8A2F-B9E18EB62257}" type="datetimeFigureOut">
              <a:rPr lang="ru-RU" smtClean="0"/>
              <a:t>23.06.2022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58BEB-B4A7-49B5-84C6-309229AE86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4011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ippl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533400"/>
            <a:ext cx="6554867" cy="3767670"/>
          </a:xfrm>
        </p:spPr>
        <p:txBody>
          <a:bodyPr anchor="ctr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ABCE0-AA79-479D-8A2F-B9E18EB62257}" type="datetimeFigureOut">
              <a:rPr lang="ru-RU" smtClean="0"/>
              <a:t>23.06.2022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58BEB-B4A7-49B5-84C6-309229AE86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8869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ippl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981199"/>
            <a:ext cx="6402468" cy="2319867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487333"/>
            <a:ext cx="6402467" cy="1532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ABCE0-AA79-479D-8A2F-B9E18EB62257}" type="datetimeFigureOut">
              <a:rPr lang="ru-RU" smtClean="0"/>
              <a:t>23.06.2022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58BEB-B4A7-49B5-84C6-309229AE86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594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ippl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13"/>
          </p:nvPr>
        </p:nvSpPr>
        <p:spPr>
          <a:xfrm>
            <a:off x="533400" y="533400"/>
            <a:ext cx="3949967" cy="3767667"/>
          </a:xfrm>
        </p:spPr>
        <p:txBody>
          <a:bodyPr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4"/>
          </p:nvPr>
        </p:nvSpPr>
        <p:spPr>
          <a:xfrm>
            <a:off x="4662362" y="533400"/>
            <a:ext cx="3948238" cy="3759200"/>
          </a:xfrm>
        </p:spPr>
        <p:txBody>
          <a:bodyPr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ABCE0-AA79-479D-8A2F-B9E18EB62257}" type="datetimeFigureOut">
              <a:rPr lang="ru-RU" smtClean="0"/>
              <a:t>23.06.2022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58BEB-B4A7-49B5-84C6-309229AE86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9490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ippl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1" y="533400"/>
            <a:ext cx="3716866" cy="609600"/>
          </a:xfrm>
        </p:spPr>
        <p:txBody>
          <a:bodyPr anchor="b">
            <a:noAutofit/>
          </a:bodyPr>
          <a:lstStyle>
            <a:lvl1pPr marL="0" indent="0"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399" y="1143000"/>
            <a:ext cx="3945467" cy="3158067"/>
          </a:xfrm>
        </p:spPr>
        <p:txBody>
          <a:bodyPr anchor="t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5016" y="566738"/>
            <a:ext cx="376405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2362" y="1143000"/>
            <a:ext cx="3956705" cy="3149600"/>
          </a:xfrm>
        </p:spPr>
        <p:txBody>
          <a:bodyPr anchor="t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ABCE0-AA79-479D-8A2F-B9E18EB62257}" type="datetimeFigureOut">
              <a:rPr lang="ru-RU" smtClean="0"/>
              <a:t>23.06.2022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58BEB-B4A7-49B5-84C6-309229AE86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6390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ippl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ABCE0-AA79-479D-8A2F-B9E18EB62257}" type="datetimeFigureOut">
              <a:rPr lang="ru-RU" smtClean="0"/>
              <a:t>23.06.2022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58BEB-B4A7-49B5-84C6-309229AE86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931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ippl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ABCE0-AA79-479D-8A2F-B9E18EB62257}" type="datetimeFigureOut">
              <a:rPr lang="ru-RU" smtClean="0"/>
              <a:t>23.06.2022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58BEB-B4A7-49B5-84C6-309229AE86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4985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ippl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8667" y="533400"/>
            <a:ext cx="3200400" cy="1524000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399" y="533400"/>
            <a:ext cx="4438755" cy="5486400"/>
          </a:xfrm>
        </p:spPr>
        <p:txBody>
          <a:bodyPr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18667" y="2209802"/>
            <a:ext cx="32004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ABCE0-AA79-479D-8A2F-B9E18EB62257}" type="datetimeFigureOut">
              <a:rPr lang="ru-RU" smtClean="0"/>
              <a:t>23.06.2022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58BEB-B4A7-49B5-84C6-309229AE86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0294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ippl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5800" y="1447800"/>
            <a:ext cx="3563258" cy="11430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762000" y="914400"/>
            <a:ext cx="3280974" cy="48006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96027" y="2743200"/>
            <a:ext cx="3564223" cy="2082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ABCE0-AA79-479D-8A2F-B9E18EB62257}" type="datetimeFigureOut">
              <a:rPr lang="ru-RU" smtClean="0"/>
              <a:t>23.06.2022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33400" y="6172200"/>
            <a:ext cx="5811724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58BEB-B4A7-49B5-84C6-309229AE86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3155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ippl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6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33400" y="533400"/>
            <a:ext cx="8077200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762002" y="3843867"/>
            <a:ext cx="7281332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ABCE0-AA79-479D-8A2F-B9E18EB62257}" type="datetimeFigureOut">
              <a:rPr lang="ru-RU" smtClean="0"/>
              <a:t>23.06.2022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58BEB-B4A7-49B5-84C6-309229AE86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9945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ippl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8077200" cy="2895600"/>
          </a:xfrm>
        </p:spPr>
        <p:txBody>
          <a:bodyPr anchor="ctr">
            <a:normAutofit/>
          </a:bodyPr>
          <a:lstStyle>
            <a:lvl1pPr algn="l">
              <a:defRPr sz="2800" b="0" cap="all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114800"/>
            <a:ext cx="6383552" cy="19050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ABCE0-AA79-479D-8A2F-B9E18EB62257}" type="datetimeFigureOut">
              <a:rPr lang="ru-RU" smtClean="0"/>
              <a:t>23.06.2022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58BEB-B4A7-49B5-84C6-309229AE86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4104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ippl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283" y="533400"/>
            <a:ext cx="6859787" cy="2895600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66800" y="3429000"/>
            <a:ext cx="6402467" cy="4826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301070"/>
            <a:ext cx="6382361" cy="171873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ABCE0-AA79-479D-8A2F-B9E18EB62257}" type="datetimeFigureOut">
              <a:rPr lang="ru-RU" smtClean="0"/>
              <a:t>23.06.2022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58BEB-B4A7-49B5-84C6-309229AE8602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228600" y="71062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200" y="276860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56501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ippl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429000"/>
            <a:ext cx="6382361" cy="1697400"/>
          </a:xfrm>
        </p:spPr>
        <p:txBody>
          <a:bodyPr anchor="b">
            <a:normAutofit/>
          </a:bodyPr>
          <a:lstStyle>
            <a:lvl1pPr algn="l">
              <a:defRPr sz="2800" b="0" cap="all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5132980"/>
            <a:ext cx="6383552" cy="886819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ABCE0-AA79-479D-8A2F-B9E18EB62257}" type="datetimeFigureOut">
              <a:rPr lang="ru-RU" smtClean="0"/>
              <a:t>23.06.2022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58BEB-B4A7-49B5-84C6-309229AE86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0803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ippl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284" y="533400"/>
            <a:ext cx="6859786" cy="2895600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33400" y="3886200"/>
            <a:ext cx="638236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953000"/>
            <a:ext cx="63823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ABCE0-AA79-479D-8A2F-B9E18EB62257}" type="datetimeFigureOut">
              <a:rPr lang="ru-RU" smtClean="0"/>
              <a:t>23.06.2022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58BEB-B4A7-49B5-84C6-309229AE8602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228600" y="71062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200" y="276860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34607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ippl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7525658" cy="28956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33400" y="3928534"/>
            <a:ext cx="6382361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766735"/>
            <a:ext cx="6382360" cy="1253065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ABCE0-AA79-479D-8A2F-B9E18EB62257}" type="datetimeFigureOut">
              <a:rPr lang="ru-RU" smtClean="0"/>
              <a:t>23.06.2022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58BEB-B4A7-49B5-84C6-309229AE86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3006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ippl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1"/>
            <a:ext cx="6554867" cy="3767670"/>
          </a:xfrm>
        </p:spPr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ABCE0-AA79-479D-8A2F-B9E18EB62257}" type="datetimeFigureOut">
              <a:rPr lang="ru-RU" smtClean="0"/>
              <a:t>23.06.2022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58BEB-B4A7-49B5-84C6-309229AE86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8569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ippl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66406" y="533400"/>
            <a:ext cx="2044194" cy="4419600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0"/>
            <a:ext cx="5850012" cy="5486400"/>
          </a:xfrm>
        </p:spPr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ABCE0-AA79-479D-8A2F-B9E18EB62257}" type="datetimeFigureOut">
              <a:rPr lang="ru-RU" smtClean="0"/>
              <a:t>23.06.2022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58BEB-B4A7-49B5-84C6-309229AE86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2017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ipple/>
      </p:transition>
    </mc:Choice>
    <mc:Fallback xmlns=""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ABCE0-AA79-479D-8A2F-B9E18EB62257}" type="datetimeFigureOut">
              <a:rPr lang="ru-RU" smtClean="0"/>
              <a:t>23.06.2022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58BEB-B4A7-49B5-84C6-309229AE8602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9514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ippl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ABCE0-AA79-479D-8A2F-B9E18EB62257}" type="datetimeFigureOut">
              <a:rPr lang="ru-RU" smtClean="0"/>
              <a:t>23.06.2022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58BEB-B4A7-49B5-84C6-309229AE86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1292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ippl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ABCE0-AA79-479D-8A2F-B9E18EB62257}" type="datetimeFigureOut">
              <a:rPr lang="ru-RU" smtClean="0"/>
              <a:t>23.06.2022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58BEB-B4A7-49B5-84C6-309229AE8602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4808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ippl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5"/>
            <a:ext cx="3703320" cy="4023359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5"/>
            <a:ext cx="3703320" cy="402336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ABCE0-AA79-479D-8A2F-B9E18EB62257}" type="datetimeFigureOut">
              <a:rPr lang="ru-RU" smtClean="0"/>
              <a:t>23.06.2022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58BEB-B4A7-49B5-84C6-309229AE86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2718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ippl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5"/>
            <a:ext cx="3703320" cy="328676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ABCE0-AA79-479D-8A2F-B9E18EB62257}" type="datetimeFigureOut">
              <a:rPr lang="ru-RU" smtClean="0"/>
              <a:t>23.06.2022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58BEB-B4A7-49B5-84C6-309229AE86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70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ippl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ABCE0-AA79-479D-8A2F-B9E18EB62257}" type="datetimeFigureOut">
              <a:rPr lang="ru-RU" smtClean="0"/>
              <a:t>23.06.2022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58BEB-B4A7-49B5-84C6-309229AE86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5071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ippl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ABCE0-AA79-479D-8A2F-B9E18EB62257}" type="datetimeFigureOut">
              <a:rPr lang="ru-RU" smtClean="0"/>
              <a:t>23.06.2022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58BEB-B4A7-49B5-84C6-309229AE86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4495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ippl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731520"/>
            <a:ext cx="4869180" cy="52578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9EBABCE0-AA79-479D-8A2F-B9E18EB62257}" type="datetimeFigureOut">
              <a:rPr lang="ru-RU" smtClean="0"/>
              <a:t>23.06.2022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558BEB-B4A7-49B5-84C6-309229AE86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7304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ippl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ABCE0-AA79-479D-8A2F-B9E18EB62257}" type="datetimeFigureOut">
              <a:rPr lang="ru-RU" smtClean="0"/>
              <a:t>23.06.2022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58BEB-B4A7-49B5-84C6-309229AE86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418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ippl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ABCE0-AA79-479D-8A2F-B9E18EB62257}" type="datetimeFigureOut">
              <a:rPr lang="ru-RU" smtClean="0"/>
              <a:t>23.06.2022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58BEB-B4A7-49B5-84C6-309229AE86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8777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ippl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2302"/>
            <a:ext cx="1971675" cy="575989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2302"/>
            <a:ext cx="5800725" cy="5759898"/>
          </a:xfrm>
        </p:spPr>
        <p:txBody>
          <a:bodyPr vert="eaVert" lIns="45720" tIns="0" rIns="45720" bIns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ABCE0-AA79-479D-8A2F-B9E18EB62257}" type="datetimeFigureOut">
              <a:rPr lang="ru-RU" smtClean="0"/>
              <a:t>23.06.2022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58BEB-B4A7-49B5-84C6-309229AE86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7184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ippl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slideLayout" Target="../slideLayouts/slideLayout46.xml"/><Relationship Id="rId18" Type="http://schemas.openxmlformats.org/officeDocument/2006/relationships/theme" Target="../theme/theme4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45.xml"/><Relationship Id="rId17" Type="http://schemas.openxmlformats.org/officeDocument/2006/relationships/slideLayout" Target="../slideLayouts/slideLayout50.xml"/><Relationship Id="rId2" Type="http://schemas.openxmlformats.org/officeDocument/2006/relationships/slideLayout" Target="../slideLayouts/slideLayout35.xml"/><Relationship Id="rId16" Type="http://schemas.openxmlformats.org/officeDocument/2006/relationships/slideLayout" Target="../slideLayouts/slideLayout49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5" Type="http://schemas.openxmlformats.org/officeDocument/2006/relationships/slideLayout" Target="../slideLayouts/slideLayout4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slideLayout" Target="../slideLayouts/slideLayout47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8.xml"/><Relationship Id="rId3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7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2.xml"/><Relationship Id="rId1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61.xml"/><Relationship Id="rId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BABCE0-AA79-479D-8A2F-B9E18EB62257}" type="datetimeFigureOut">
              <a:rPr lang="ru-RU" smtClean="0"/>
              <a:t>23.06.2022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558BEB-B4A7-49B5-84C6-309229AE86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7400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>
        <p14:rippl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9144001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EBABCE0-AA79-479D-8A2F-B9E18EB62257}" type="datetimeFigureOut">
              <a:rPr lang="ru-RU" smtClean="0"/>
              <a:t>23.06.2022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3A558BEB-B4A7-49B5-84C6-309229AE8602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6402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mc:AlternateContent xmlns:mc="http://schemas.openxmlformats.org/markup-compatibility/2006" xmlns:p14="http://schemas.microsoft.com/office/powerpoint/2010/main">
    <mc:Choice Requires="p14">
      <p:transition spd="med">
        <p14:rippl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BABCE0-AA79-479D-8A2F-B9E18EB62257}" type="datetimeFigureOut">
              <a:rPr lang="ru-RU" smtClean="0"/>
              <a:t>23.06.2022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558BEB-B4A7-49B5-84C6-309229AE86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0580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mc:AlternateContent xmlns:mc="http://schemas.openxmlformats.org/markup-compatibility/2006" xmlns:p14="http://schemas.microsoft.com/office/powerpoint/2010/main">
    <mc:Choice Requires="p14">
      <p:transition spd="med">
        <p14:ripple/>
      </p:transition>
    </mc:Choice>
    <mc:Fallback xmlns="">
      <p:transition spd="med">
        <p:fade/>
      </p:transition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6670675" y="3894667"/>
            <a:ext cx="2470456" cy="2658533"/>
            <a:chOff x="6687077" y="3259666"/>
            <a:chExt cx="2981857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8756120" y="3259666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6687077" y="3486677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7772400" y="3581400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7923214" y="3433394"/>
              <a:ext cx="1739738" cy="173974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8398935" y="3985317"/>
              <a:ext cx="1264017" cy="12640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533401"/>
            <a:ext cx="6554867" cy="3767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30245" y="6172203"/>
            <a:ext cx="1200463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9EBABCE0-AA79-479D-8A2F-B9E18EB62257}" type="datetimeFigureOut">
              <a:rPr lang="ru-RU" smtClean="0"/>
              <a:t>23.06.2022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6172200"/>
            <a:ext cx="5811724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74426" y="5578478"/>
            <a:ext cx="856907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28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3A558BEB-B4A7-49B5-84C6-309229AE86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81370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0" r:id="rId12"/>
    <p:sldLayoutId id="2147483751" r:id="rId13"/>
    <p:sldLayoutId id="2147483752" r:id="rId14"/>
    <p:sldLayoutId id="2147483753" r:id="rId15"/>
    <p:sldLayoutId id="2147483754" r:id="rId16"/>
    <p:sldLayoutId id="2147483755" r:id="rId17"/>
  </p:sldLayoutIdLst>
  <mc:AlternateContent xmlns:mc="http://schemas.openxmlformats.org/markup-compatibility/2006" xmlns:p14="http://schemas.microsoft.com/office/powerpoint/2010/main">
    <mc:Choice Requires="p14">
      <p:transition spd="med">
        <p14:ripple/>
      </p:transition>
    </mc:Choice>
    <mc:Fallback xmlns="">
      <p:transition spd="med">
        <p:fade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9144001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EBABCE0-AA79-479D-8A2F-B9E18EB62257}" type="datetimeFigureOut">
              <a:rPr lang="ru-RU" smtClean="0"/>
              <a:t>23.06.2022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3A558BEB-B4A7-49B5-84C6-309229AE8602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2484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mc:AlternateContent xmlns:mc="http://schemas.openxmlformats.org/markup-compatibility/2006" xmlns:p14="http://schemas.microsoft.com/office/powerpoint/2010/main">
    <mc:Choice Requires="p14">
      <p:transition spd="med">
        <p14:rippl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34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3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Relationship Id="rId9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diagramLayout" Target="../diagrams/layout5.xml"/><Relationship Id="rId7" Type="http://schemas.openxmlformats.org/officeDocument/2006/relationships/image" Target="../media/image18.jp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7" Type="http://schemas.openxmlformats.org/officeDocument/2006/relationships/image" Target="../media/image21.png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  <a:alpha val="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="" xmlns:a16="http://schemas.microsoft.com/office/drawing/2014/main" id="{97EDA135-348C-4A97-A9FB-0E136D0F11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3115" y="418118"/>
            <a:ext cx="7271656" cy="830997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RADIOELEKTRON TIZIMLAR VA AXBOROT TEXNOLOGIYALARI MARKAZI</a:t>
            </a:r>
            <a:endParaRPr lang="ru-RU" altLang="ru-RU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="" xmlns:a16="http://schemas.microsoft.com/office/drawing/2014/main" id="{E1DC6277-3130-446F-8A2F-32DF2BB7CE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230" y="188025"/>
            <a:ext cx="1356499" cy="12911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Прямоугольник 12"/>
          <p:cNvSpPr/>
          <p:nvPr/>
        </p:nvSpPr>
        <p:spPr>
          <a:xfrm>
            <a:off x="2362197" y="1643333"/>
            <a:ext cx="4572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ru-RU" sz="2000" b="1" dirty="0" err="1" smtClean="0">
                <a:latin typeface="Times New Roman" panose="02020603050405020304" pitchFamily="18" charset="0"/>
              </a:rPr>
              <a:t>Axborot</a:t>
            </a:r>
            <a:r>
              <a:rPr lang="en-US" altLang="ru-RU" sz="2000" b="1" dirty="0" smtClean="0">
                <a:latin typeface="Times New Roman" panose="02020603050405020304" pitchFamily="18" charset="0"/>
              </a:rPr>
              <a:t> </a:t>
            </a:r>
            <a:r>
              <a:rPr lang="en-US" altLang="ru-RU" sz="2000" b="1" dirty="0" err="1" smtClean="0">
                <a:latin typeface="Times New Roman" panose="02020603050405020304" pitchFamily="18" charset="0"/>
              </a:rPr>
              <a:t>xavfsizligi</a:t>
            </a:r>
            <a:r>
              <a:rPr lang="en-US" altLang="ru-RU" sz="2000" b="1" dirty="0" smtClean="0">
                <a:latin typeface="Times New Roman" panose="02020603050405020304" pitchFamily="18" charset="0"/>
              </a:rPr>
              <a:t> </a:t>
            </a:r>
            <a:r>
              <a:rPr lang="en-US" altLang="ru-RU" sz="2000" b="1" dirty="0" err="1" smtClean="0">
                <a:latin typeface="Times New Roman" panose="02020603050405020304" pitchFamily="18" charset="0"/>
              </a:rPr>
              <a:t>yo’nalishi</a:t>
            </a:r>
            <a:r>
              <a:rPr lang="en-US" altLang="ru-RU" sz="2000" b="1" dirty="0" smtClean="0">
                <a:latin typeface="Times New Roman" panose="02020603050405020304" pitchFamily="18" charset="0"/>
              </a:rPr>
              <a:t> </a:t>
            </a:r>
            <a:r>
              <a:rPr lang="en-US" altLang="ru-RU" sz="2000" b="1" dirty="0" err="1" smtClean="0">
                <a:latin typeface="Times New Roman" panose="02020603050405020304" pitchFamily="18" charset="0"/>
              </a:rPr>
              <a:t>bo’yicha</a:t>
            </a:r>
            <a:r>
              <a:rPr lang="en-US" altLang="ru-RU" sz="2000" b="1" dirty="0" smtClean="0">
                <a:latin typeface="Times New Roman" panose="02020603050405020304" pitchFamily="18" charset="0"/>
              </a:rPr>
              <a:t> </a:t>
            </a:r>
            <a:r>
              <a:rPr lang="en-US" altLang="ru-RU" sz="2000" b="1" dirty="0" err="1" smtClean="0">
                <a:latin typeface="Times New Roman" panose="02020603050405020304" pitchFamily="18" charset="0"/>
              </a:rPr>
              <a:t>magistrlik</a:t>
            </a:r>
            <a:r>
              <a:rPr lang="en-US" altLang="ru-RU" sz="2000" b="1" dirty="0" smtClean="0">
                <a:latin typeface="Times New Roman" panose="02020603050405020304" pitchFamily="18" charset="0"/>
              </a:rPr>
              <a:t> </a:t>
            </a:r>
            <a:r>
              <a:rPr lang="en-US" altLang="ru-RU" sz="2000" b="1" dirty="0" err="1" smtClean="0">
                <a:latin typeface="Times New Roman" panose="02020603050405020304" pitchFamily="18" charset="0"/>
              </a:rPr>
              <a:t>darajasidagi</a:t>
            </a:r>
            <a:endParaRPr lang="uz-Cyrl-UZ" altLang="ru-RU" sz="2000" b="1" dirty="0" smtClean="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endParaRPr lang="en-US" altLang="ru-RU" sz="2000" dirty="0">
              <a:latin typeface="Calibri Light" panose="020F0302020204030204" pitchFamily="34" charset="0"/>
            </a:endParaRPr>
          </a:p>
        </p:txBody>
      </p:sp>
      <p:sp>
        <p:nvSpPr>
          <p:cNvPr id="15" name="Прямоугольник 14"/>
          <p:cNvSpPr/>
          <p:nvPr/>
        </p:nvSpPr>
        <p:spPr>
          <a:xfrm>
            <a:off x="342901" y="3670982"/>
            <a:ext cx="8458198" cy="523220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800" b="1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Kriptovalyutalar</a:t>
            </a:r>
            <a:r>
              <a:rPr lang="en-US" sz="28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yaratish</a:t>
            </a:r>
            <a:r>
              <a:rPr lang="en-US" sz="28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mexanizmlari</a:t>
            </a:r>
            <a:r>
              <a:rPr lang="en-US" sz="28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tadqiqi</a:t>
            </a:r>
            <a:endParaRPr lang="en-US" altLang="ru-RU" sz="3200" dirty="0">
              <a:solidFill>
                <a:srgbClr val="FFFF00"/>
              </a:solidFill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3865001" y="6296580"/>
            <a:ext cx="1566391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Toshkent</a:t>
            </a:r>
            <a: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-20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21</a:t>
            </a:r>
            <a:endParaRPr lang="ru-RU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</a:endParaRPr>
          </a:p>
        </p:txBody>
      </p:sp>
      <p:grpSp>
        <p:nvGrpSpPr>
          <p:cNvPr id="18" name="Группа 17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19" name="Блок-схема: процесс 18"/>
            <p:cNvSpPr/>
            <p:nvPr/>
          </p:nvSpPr>
          <p:spPr>
            <a:xfrm>
              <a:off x="0" y="0"/>
              <a:ext cx="76199" cy="6858000"/>
            </a:xfrm>
            <a:prstGeom prst="flowChartProcess">
              <a:avLst/>
            </a:prstGeom>
            <a:solidFill>
              <a:srgbClr val="00B0F0"/>
            </a:solidFill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Блок-схема: процесс 19"/>
            <p:cNvSpPr/>
            <p:nvPr/>
          </p:nvSpPr>
          <p:spPr>
            <a:xfrm>
              <a:off x="76199" y="1"/>
              <a:ext cx="9035143" cy="76200"/>
            </a:xfrm>
            <a:prstGeom prst="flowChartProcess">
              <a:avLst/>
            </a:prstGeom>
            <a:solidFill>
              <a:srgbClr val="00B0F0"/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" name="Блок-схема: процесс 20"/>
            <p:cNvSpPr/>
            <p:nvPr/>
          </p:nvSpPr>
          <p:spPr>
            <a:xfrm>
              <a:off x="65313" y="6781800"/>
              <a:ext cx="9067801" cy="76200"/>
            </a:xfrm>
            <a:prstGeom prst="flowChartProcess">
              <a:avLst/>
            </a:prstGeom>
            <a:solidFill>
              <a:srgbClr val="00B0F0"/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" name="Блок-схема: процесс 21"/>
            <p:cNvSpPr/>
            <p:nvPr/>
          </p:nvSpPr>
          <p:spPr>
            <a:xfrm>
              <a:off x="9067801" y="0"/>
              <a:ext cx="76199" cy="6858000"/>
            </a:xfrm>
            <a:prstGeom prst="flowChartProcess">
              <a:avLst/>
            </a:prstGeom>
            <a:solidFill>
              <a:srgbClr val="00B0F0"/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1122154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ippl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914400" y="2967335"/>
            <a:ext cx="7260771" cy="38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49580" algn="ctr">
              <a:lnSpc>
                <a:spcPct val="150000"/>
              </a:lnSpc>
              <a:spcAft>
                <a:spcPts val="800"/>
              </a:spcAft>
            </a:pP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0" y="0"/>
            <a:ext cx="9144000" cy="1200329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800"/>
              </a:spcAft>
            </a:pPr>
            <a:r>
              <a:rPr lang="uz-Cyrl-UZ" sz="24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2- BOB. Kriptovalyutalar yaratishning nazariy asoslarini tadqiq etish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7" name="Группа 6"/>
          <p:cNvGrpSpPr/>
          <p:nvPr/>
        </p:nvGrpSpPr>
        <p:grpSpPr>
          <a:xfrm>
            <a:off x="0" y="1771683"/>
            <a:ext cx="9144000" cy="4422288"/>
            <a:chOff x="0" y="3508744"/>
            <a:chExt cx="24384000" cy="6769001"/>
          </a:xfrm>
        </p:grpSpPr>
        <p:graphicFrame>
          <p:nvGraphicFramePr>
            <p:cNvPr id="8" name="Схема 7"/>
            <p:cNvGraphicFramePr/>
            <p:nvPr>
              <p:extLst>
                <p:ext uri="{D42A27DB-BD31-4B8C-83A1-F6EECF244321}">
                  <p14:modId xmlns:p14="http://schemas.microsoft.com/office/powerpoint/2010/main" val="3978680444"/>
                </p:ext>
              </p:extLst>
            </p:nvPr>
          </p:nvGraphicFramePr>
          <p:xfrm>
            <a:off x="0" y="3508744"/>
            <a:ext cx="24384000" cy="6769001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3" r:lo="rId4" r:qs="rId5" r:cs="rId6"/>
            </a:graphicData>
          </a:graphic>
        </p:graphicFrame>
        <p:sp>
          <p:nvSpPr>
            <p:cNvPr id="9" name="Овал 8"/>
            <p:cNvSpPr/>
            <p:nvPr/>
          </p:nvSpPr>
          <p:spPr>
            <a:xfrm>
              <a:off x="21265" y="4231758"/>
              <a:ext cx="4295363" cy="2424224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3600" b="1" dirty="0" smtClean="0">
                  <a:solidFill>
                    <a:schemeClr val="tx1"/>
                  </a:solidFill>
                </a:rPr>
                <a:t>2.1</a:t>
              </a:r>
              <a:endParaRPr lang="ru-RU" sz="3600" b="1" dirty="0">
                <a:solidFill>
                  <a:schemeClr val="tx1"/>
                </a:solidFill>
              </a:endParaRPr>
            </a:p>
          </p:txBody>
        </p:sp>
        <p:sp>
          <p:nvSpPr>
            <p:cNvPr id="10" name="Овал 9"/>
            <p:cNvSpPr/>
            <p:nvPr/>
          </p:nvSpPr>
          <p:spPr>
            <a:xfrm>
              <a:off x="21265" y="7123812"/>
              <a:ext cx="4295363" cy="2424224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3600" b="1" dirty="0" smtClean="0">
                  <a:solidFill>
                    <a:schemeClr val="tx1"/>
                  </a:solidFill>
                </a:rPr>
                <a:t>2.2</a:t>
              </a:r>
              <a:endParaRPr lang="ru-RU" sz="3600" b="1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61551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ippl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849086" y="279248"/>
            <a:ext cx="7271657" cy="86325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uz-Cyrl-UZ" sz="2400" b="1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2- BOB. Kriptovalyutalar yaratishning nazariy asoslarini tadqiq etish</a:t>
            </a:r>
            <a:endParaRPr lang="ru-RU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5" name="Группа 4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6" name="Блок-схема: процесс 5"/>
            <p:cNvSpPr/>
            <p:nvPr/>
          </p:nvSpPr>
          <p:spPr>
            <a:xfrm>
              <a:off x="0" y="0"/>
              <a:ext cx="76199" cy="6858000"/>
            </a:xfrm>
            <a:prstGeom prst="flowChartProcess">
              <a:avLst/>
            </a:prstGeom>
            <a:solidFill>
              <a:srgbClr val="00B0F0"/>
            </a:solidFill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Блок-схема: процесс 6"/>
            <p:cNvSpPr/>
            <p:nvPr/>
          </p:nvSpPr>
          <p:spPr>
            <a:xfrm>
              <a:off x="76199" y="1"/>
              <a:ext cx="9035143" cy="76200"/>
            </a:xfrm>
            <a:prstGeom prst="flowChartProcess">
              <a:avLst/>
            </a:prstGeom>
            <a:solidFill>
              <a:srgbClr val="00B0F0"/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Блок-схема: процесс 7"/>
            <p:cNvSpPr/>
            <p:nvPr/>
          </p:nvSpPr>
          <p:spPr>
            <a:xfrm>
              <a:off x="65313" y="6781800"/>
              <a:ext cx="9067801" cy="76200"/>
            </a:xfrm>
            <a:prstGeom prst="flowChartProcess">
              <a:avLst/>
            </a:prstGeom>
            <a:solidFill>
              <a:srgbClr val="00B0F0"/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Блок-схема: процесс 8"/>
            <p:cNvSpPr/>
            <p:nvPr/>
          </p:nvSpPr>
          <p:spPr>
            <a:xfrm>
              <a:off x="9067801" y="0"/>
              <a:ext cx="76199" cy="6858000"/>
            </a:xfrm>
            <a:prstGeom prst="flowChartProcess">
              <a:avLst/>
            </a:prstGeom>
            <a:solidFill>
              <a:srgbClr val="00B0F0"/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0" name="Прямоугольник с двумя усеченными противолежащими углами 9"/>
          <p:cNvSpPr/>
          <p:nvPr/>
        </p:nvSpPr>
        <p:spPr>
          <a:xfrm>
            <a:off x="849085" y="2520330"/>
            <a:ext cx="7271657" cy="3596195"/>
          </a:xfrm>
          <a:prstGeom prst="snip2DiagRect">
            <a:avLst/>
          </a:prstGeom>
          <a:noFill/>
          <a:ln w="76200">
            <a:solidFill>
              <a:srgbClr val="00B0F0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sz="28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	</a:t>
            </a:r>
            <a:r>
              <a:rPr lang="uz-Cyrl-UZ" sz="28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Hozirgi kunda kriptovalyutalarning yangi turlari deyarli har kuni paydo bo‘lmoqda. Dunyoda kriptovalyutalarning umumiy soni kun sayin o‘sib bormoqda. </a:t>
            </a:r>
            <a:r>
              <a:rPr lang="en-US" sz="28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U</a:t>
            </a:r>
            <a:r>
              <a:rPr lang="uz-Cyrl-UZ" sz="28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larning alohida birjalari tashkil etilgan. </a:t>
            </a:r>
            <a:r>
              <a:rPr lang="ru-RU" sz="28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Quyida</a:t>
            </a:r>
            <a:r>
              <a:rPr lang="ru-RU" sz="28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1-jadvalda </a:t>
            </a:r>
            <a:r>
              <a:rPr lang="ru-RU" sz="28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eng</a:t>
            </a:r>
            <a:r>
              <a:rPr lang="ru-RU" sz="28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sz="28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mashhur</a:t>
            </a:r>
            <a:r>
              <a:rPr lang="ru-RU" sz="28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sz="28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kriptovalyutalar</a:t>
            </a:r>
            <a:r>
              <a:rPr lang="ru-RU" sz="28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sz="28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ro‘yxati</a:t>
            </a:r>
            <a:r>
              <a:rPr lang="ru-RU" sz="28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sz="28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keltirilgan</a:t>
            </a:r>
            <a:r>
              <a:rPr lang="en-US" sz="28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  <a:endParaRPr lang="ru-RU" sz="2800" dirty="0" smtClean="0"/>
          </a:p>
          <a:p>
            <a:pPr algn="just"/>
            <a:endParaRPr lang="ru-RU" sz="2800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849085" y="1454033"/>
            <a:ext cx="7271657" cy="83099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indent="449580" algn="ctr">
              <a:spcAft>
                <a:spcPts val="800"/>
              </a:spcAft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2.1 </a:t>
            </a:r>
            <a:r>
              <a:rPr lang="en-US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Turli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xil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uz-Cyrl-UZ" sz="24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kriptovalyuta</a:t>
            </a:r>
            <a:r>
              <a:rPr lang="en-US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lar</a:t>
            </a:r>
            <a:r>
              <a:rPr lang="uz-Cyrl-UZ" sz="24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yaratish </a:t>
            </a:r>
            <a:r>
              <a:rPr lang="en-US"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asoslarini</a:t>
            </a:r>
            <a:r>
              <a:rPr 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uz-Cyrl-UZ" sz="24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tadqiq </a:t>
            </a:r>
            <a:r>
              <a:rPr lang="uz-Cyrl-UZ" sz="24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qilish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6530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ippl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9136317"/>
              </p:ext>
            </p:extLst>
          </p:nvPr>
        </p:nvGraphicFramePr>
        <p:xfrm>
          <a:off x="76198" y="827314"/>
          <a:ext cx="8991601" cy="5508174"/>
        </p:xfrm>
        <a:graphic>
          <a:graphicData uri="http://schemas.openxmlformats.org/drawingml/2006/table">
            <a:tbl>
              <a:tblPr firstRow="1" firstCol="1" bandRow="1"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tableStyleId>{3B4B98B0-60AC-42C2-AFA5-B58CD77FA1E5}</a:tableStyleId>
              </a:tblPr>
              <a:tblGrid>
                <a:gridCol w="1913782"/>
                <a:gridCol w="1272005"/>
                <a:gridCol w="1765606"/>
                <a:gridCol w="1878182"/>
                <a:gridCol w="2162026"/>
              </a:tblGrid>
              <a:tr h="1529126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Kriptovalyuta</a:t>
                      </a:r>
                      <a:endParaRPr lang="ru-RU" sz="16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Ishlab</a:t>
                      </a:r>
                      <a:r>
                        <a:rPr lang="en-US" sz="2000" dirty="0"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chiqilgan</a:t>
                      </a:r>
                      <a:r>
                        <a:rPr lang="en-US" sz="2000" dirty="0"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yili</a:t>
                      </a:r>
                      <a:endParaRPr lang="ru-RU" sz="16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Belgilanishi</a:t>
                      </a:r>
                      <a:endParaRPr lang="ru-RU" sz="16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Kriptografik</a:t>
                      </a:r>
                      <a:r>
                        <a:rPr lang="en-US" sz="2000" dirty="0"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algoritm</a:t>
                      </a:r>
                      <a:endParaRPr lang="ru-RU" sz="16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Ishlab</a:t>
                      </a:r>
                      <a:r>
                        <a:rPr lang="en-US" sz="2000" dirty="0"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chiqishda</a:t>
                      </a:r>
                      <a:r>
                        <a:rPr lang="en-US" sz="2000" dirty="0"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foydalanilgan</a:t>
                      </a:r>
                      <a:r>
                        <a:rPr lang="en-US" sz="2000" dirty="0"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dasturlash</a:t>
                      </a:r>
                      <a:r>
                        <a:rPr lang="en-US" sz="2000" dirty="0"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tili</a:t>
                      </a:r>
                      <a:endParaRPr lang="ru-RU" sz="16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9186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Bitcoin</a:t>
                      </a:r>
                      <a:endParaRPr lang="ru-RU" sz="16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2000" dirty="0">
                          <a:solidFill>
                            <a:sysClr val="windowText" lastClr="000000"/>
                          </a:solidFill>
                          <a:effectLst/>
                        </a:rPr>
                        <a:t>2009</a:t>
                      </a:r>
                      <a:endParaRPr lang="ru-RU" sz="16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ysClr val="windowText" lastClr="000000"/>
                          </a:solidFill>
                          <a:effectLst/>
                        </a:rPr>
                        <a:t>BTC, XBT</a:t>
                      </a:r>
                      <a:endParaRPr lang="ru-RU" sz="16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ysClr val="windowText" lastClr="000000"/>
                          </a:solidFill>
                          <a:effectLst/>
                        </a:rPr>
                        <a:t>SHA-256d</a:t>
                      </a:r>
                      <a:endParaRPr lang="ru-RU" sz="160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ysClr val="windowText" lastClr="000000"/>
                          </a:solidFill>
                          <a:effectLst/>
                        </a:rPr>
                        <a:t>C++</a:t>
                      </a:r>
                      <a:endParaRPr lang="ru-RU" sz="160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9186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ysClr val="windowText" lastClr="000000"/>
                          </a:solidFill>
                          <a:effectLst/>
                        </a:rPr>
                        <a:t>Litecoin</a:t>
                      </a:r>
                      <a:endParaRPr lang="ru-RU" sz="160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2000">
                          <a:solidFill>
                            <a:sysClr val="windowText" lastClr="000000"/>
                          </a:solidFill>
                          <a:effectLst/>
                        </a:rPr>
                        <a:t>2011</a:t>
                      </a:r>
                      <a:endParaRPr lang="ru-RU" sz="160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2000">
                          <a:solidFill>
                            <a:sysClr val="windowText" lastClr="000000"/>
                          </a:solidFill>
                          <a:effectLst/>
                        </a:rPr>
                        <a:t>LTC</a:t>
                      </a:r>
                      <a:endParaRPr lang="ru-RU" sz="160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ysClr val="windowText" lastClr="000000"/>
                          </a:solidFill>
                          <a:effectLst/>
                        </a:rPr>
                        <a:t>Scrypt</a:t>
                      </a:r>
                      <a:endParaRPr lang="ru-RU" sz="160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ysClr val="windowText" lastClr="000000"/>
                          </a:solidFill>
                          <a:effectLst/>
                        </a:rPr>
                        <a:t>C++</a:t>
                      </a:r>
                      <a:endParaRPr lang="ru-RU" sz="160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9186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2000">
                          <a:solidFill>
                            <a:sysClr val="windowText" lastClr="000000"/>
                          </a:solidFill>
                          <a:effectLst/>
                        </a:rPr>
                        <a:t>Dogecoin</a:t>
                      </a:r>
                      <a:endParaRPr lang="ru-RU" sz="160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2000">
                          <a:solidFill>
                            <a:sysClr val="windowText" lastClr="000000"/>
                          </a:solidFill>
                          <a:effectLst/>
                        </a:rPr>
                        <a:t>2013</a:t>
                      </a:r>
                      <a:endParaRPr lang="ru-RU" sz="160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ysClr val="windowText" lastClr="000000"/>
                          </a:solidFill>
                          <a:effectLst/>
                        </a:rPr>
                        <a:t>DOGE, XDG</a:t>
                      </a:r>
                      <a:endParaRPr lang="ru-RU" sz="160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ysClr val="windowText" lastClr="000000"/>
                          </a:solidFill>
                          <a:effectLst/>
                        </a:rPr>
                        <a:t>Scrypt</a:t>
                      </a:r>
                      <a:endParaRPr lang="ru-RU" sz="160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ysClr val="windowText" lastClr="000000"/>
                          </a:solidFill>
                          <a:effectLst/>
                        </a:rPr>
                        <a:t>C++</a:t>
                      </a:r>
                      <a:endParaRPr lang="ru-RU" sz="16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9186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2000">
                          <a:solidFill>
                            <a:sysClr val="windowText" lastClr="000000"/>
                          </a:solidFill>
                          <a:effectLst/>
                        </a:rPr>
                        <a:t>Ripple</a:t>
                      </a:r>
                      <a:endParaRPr lang="ru-RU" sz="160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2000">
                          <a:solidFill>
                            <a:sysClr val="windowText" lastClr="000000"/>
                          </a:solidFill>
                          <a:effectLst/>
                        </a:rPr>
                        <a:t>2013</a:t>
                      </a:r>
                      <a:endParaRPr lang="ru-RU" sz="160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ysClr val="windowText" lastClr="000000"/>
                          </a:solidFill>
                          <a:effectLst/>
                        </a:rPr>
                        <a:t>XRP</a:t>
                      </a:r>
                      <a:endParaRPr lang="ru-RU" sz="160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ysClr val="windowText" lastClr="000000"/>
                          </a:solidFill>
                          <a:effectLst/>
                        </a:rPr>
                        <a:t>ECDSA</a:t>
                      </a:r>
                      <a:endParaRPr lang="ru-RU" sz="160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ysClr val="windowText" lastClr="000000"/>
                          </a:solidFill>
                          <a:effectLst/>
                        </a:rPr>
                        <a:t>Noma’lum</a:t>
                      </a:r>
                      <a:endParaRPr lang="ru-RU" sz="160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9186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2000">
                          <a:solidFill>
                            <a:sysClr val="windowText" lastClr="000000"/>
                          </a:solidFill>
                          <a:effectLst/>
                        </a:rPr>
                        <a:t>Dash</a:t>
                      </a:r>
                      <a:endParaRPr lang="ru-RU" sz="160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2000">
                          <a:solidFill>
                            <a:sysClr val="windowText" lastClr="000000"/>
                          </a:solidFill>
                          <a:effectLst/>
                        </a:rPr>
                        <a:t>2014</a:t>
                      </a:r>
                      <a:endParaRPr lang="ru-RU" sz="160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ysClr val="windowText" lastClr="000000"/>
                          </a:solidFill>
                          <a:effectLst/>
                        </a:rPr>
                        <a:t>DASH</a:t>
                      </a:r>
                      <a:endParaRPr lang="ru-RU" sz="160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ysClr val="windowText" lastClr="000000"/>
                          </a:solidFill>
                          <a:effectLst/>
                        </a:rPr>
                        <a:t>X11</a:t>
                      </a:r>
                      <a:endParaRPr lang="ru-RU" sz="160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ysClr val="windowText" lastClr="000000"/>
                          </a:solidFill>
                          <a:effectLst/>
                        </a:rPr>
                        <a:t>Noma’lum</a:t>
                      </a:r>
                      <a:endParaRPr lang="ru-RU" sz="160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9186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ysClr val="windowText" lastClr="000000"/>
                          </a:solidFill>
                          <a:effectLst/>
                        </a:rPr>
                        <a:t>Monero</a:t>
                      </a:r>
                      <a:endParaRPr lang="ru-RU" sz="160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2000">
                          <a:solidFill>
                            <a:sysClr val="windowText" lastClr="000000"/>
                          </a:solidFill>
                          <a:effectLst/>
                        </a:rPr>
                        <a:t>2014</a:t>
                      </a:r>
                      <a:endParaRPr lang="ru-RU" sz="160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ysClr val="windowText" lastClr="000000"/>
                          </a:solidFill>
                          <a:effectLst/>
                        </a:rPr>
                        <a:t>XMR</a:t>
                      </a:r>
                      <a:endParaRPr lang="ru-RU" sz="160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ysClr val="windowText" lastClr="000000"/>
                          </a:solidFill>
                          <a:effectLst/>
                        </a:rPr>
                        <a:t>CryptoNight</a:t>
                      </a:r>
                      <a:endParaRPr lang="ru-RU" sz="160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ysClr val="windowText" lastClr="000000"/>
                          </a:solidFill>
                          <a:effectLst/>
                        </a:rPr>
                        <a:t>Noma’lum</a:t>
                      </a:r>
                      <a:endParaRPr lang="ru-RU" sz="160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02784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ysClr val="windowText" lastClr="000000"/>
                          </a:solidFill>
                          <a:effectLst/>
                        </a:rPr>
                        <a:t>Ether</a:t>
                      </a:r>
                      <a:r>
                        <a:rPr lang="uz-Cyrl-UZ" sz="2000" dirty="0">
                          <a:solidFill>
                            <a:sysClr val="windowText" lastClr="000000"/>
                          </a:solidFill>
                          <a:effectLst/>
                        </a:rPr>
                        <a:t>/Ethereum</a:t>
                      </a:r>
                      <a:endParaRPr lang="ru-RU" sz="16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2000">
                          <a:solidFill>
                            <a:sysClr val="windowText" lastClr="000000"/>
                          </a:solidFill>
                          <a:effectLst/>
                        </a:rPr>
                        <a:t>2015</a:t>
                      </a:r>
                      <a:endParaRPr lang="ru-RU" sz="160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ysClr val="windowText" lastClr="000000"/>
                          </a:solidFill>
                          <a:effectLst/>
                        </a:rPr>
                        <a:t>ETH</a:t>
                      </a:r>
                      <a:endParaRPr lang="ru-RU" sz="160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Ethash</a:t>
                      </a:r>
                      <a:endParaRPr lang="ru-RU" sz="16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Noma’lum</a:t>
                      </a:r>
                      <a:endParaRPr lang="ru-RU" sz="16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4" name="Прямоугольник 3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uz-Cyrl-UZ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Kriptovalyuta turlari</a:t>
            </a:r>
            <a:endParaRPr kumimoji="0" lang="uz-Cyrl-UZ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7" name="Группа 6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8" name="Блок-схема: процесс 7"/>
            <p:cNvSpPr/>
            <p:nvPr/>
          </p:nvSpPr>
          <p:spPr>
            <a:xfrm>
              <a:off x="0" y="0"/>
              <a:ext cx="76199" cy="6858000"/>
            </a:xfrm>
            <a:prstGeom prst="flowChartProcess">
              <a:avLst/>
            </a:prstGeom>
            <a:solidFill>
              <a:srgbClr val="00B0F0"/>
            </a:solidFill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Блок-схема: процесс 8"/>
            <p:cNvSpPr/>
            <p:nvPr/>
          </p:nvSpPr>
          <p:spPr>
            <a:xfrm>
              <a:off x="76199" y="1"/>
              <a:ext cx="9035143" cy="76200"/>
            </a:xfrm>
            <a:prstGeom prst="flowChartProcess">
              <a:avLst/>
            </a:prstGeom>
            <a:solidFill>
              <a:srgbClr val="00B0F0"/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Блок-схема: процесс 9"/>
            <p:cNvSpPr/>
            <p:nvPr/>
          </p:nvSpPr>
          <p:spPr>
            <a:xfrm>
              <a:off x="65313" y="6781800"/>
              <a:ext cx="9067801" cy="76200"/>
            </a:xfrm>
            <a:prstGeom prst="flowChartProcess">
              <a:avLst/>
            </a:prstGeom>
            <a:solidFill>
              <a:srgbClr val="00B0F0"/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Блок-схема: процесс 10"/>
            <p:cNvSpPr/>
            <p:nvPr/>
          </p:nvSpPr>
          <p:spPr>
            <a:xfrm>
              <a:off x="9067801" y="0"/>
              <a:ext cx="76199" cy="6858000"/>
            </a:xfrm>
            <a:prstGeom prst="flowChartProcess">
              <a:avLst/>
            </a:prstGeom>
            <a:solidFill>
              <a:srgbClr val="00B0F0"/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677784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ippl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па 3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5" name="Блок-схема: процесс 4"/>
            <p:cNvSpPr/>
            <p:nvPr/>
          </p:nvSpPr>
          <p:spPr>
            <a:xfrm>
              <a:off x="0" y="0"/>
              <a:ext cx="76199" cy="6858000"/>
            </a:xfrm>
            <a:prstGeom prst="flowChartProcess">
              <a:avLst/>
            </a:prstGeom>
            <a:solidFill>
              <a:srgbClr val="00B0F0"/>
            </a:solidFill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Блок-схема: процесс 5"/>
            <p:cNvSpPr/>
            <p:nvPr/>
          </p:nvSpPr>
          <p:spPr>
            <a:xfrm>
              <a:off x="76199" y="1"/>
              <a:ext cx="9035143" cy="76200"/>
            </a:xfrm>
            <a:prstGeom prst="flowChartProcess">
              <a:avLst/>
            </a:prstGeom>
            <a:solidFill>
              <a:srgbClr val="00B0F0"/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Блок-схема: процесс 6"/>
            <p:cNvSpPr/>
            <p:nvPr/>
          </p:nvSpPr>
          <p:spPr>
            <a:xfrm>
              <a:off x="65313" y="6781800"/>
              <a:ext cx="9067801" cy="76200"/>
            </a:xfrm>
            <a:prstGeom prst="flowChartProcess">
              <a:avLst/>
            </a:prstGeom>
            <a:solidFill>
              <a:srgbClr val="00B0F0"/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Блок-схема: процесс 7"/>
            <p:cNvSpPr/>
            <p:nvPr/>
          </p:nvSpPr>
          <p:spPr>
            <a:xfrm>
              <a:off x="9067801" y="0"/>
              <a:ext cx="76199" cy="6858000"/>
            </a:xfrm>
            <a:prstGeom prst="flowChartProcess">
              <a:avLst/>
            </a:prstGeom>
            <a:solidFill>
              <a:srgbClr val="00B0F0"/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2" name="Лента лицом вниз 11"/>
          <p:cNvSpPr/>
          <p:nvPr/>
        </p:nvSpPr>
        <p:spPr>
          <a:xfrm>
            <a:off x="674914" y="381000"/>
            <a:ext cx="7794172" cy="901919"/>
          </a:xfrm>
          <a:prstGeom prst="ribbon">
            <a:avLst>
              <a:gd name="adj1" fmla="val 33333"/>
              <a:gd name="adj2" fmla="val 75000"/>
            </a:avLst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Litecoin</a:t>
            </a:r>
            <a:endParaRPr lang="ru-RU" sz="24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Прямоугольник с двумя усеченными противолежащими углами 12"/>
          <p:cNvSpPr/>
          <p:nvPr/>
        </p:nvSpPr>
        <p:spPr>
          <a:xfrm>
            <a:off x="674914" y="1534886"/>
            <a:ext cx="7794172" cy="2002971"/>
          </a:xfrm>
          <a:prstGeom prst="snip2DiagRect">
            <a:avLst/>
          </a:prstGeom>
          <a:noFill/>
          <a:ln w="76200">
            <a:solidFill>
              <a:srgbClr val="00B0F0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just">
              <a:lnSpc>
                <a:spcPct val="150000"/>
              </a:lnSpc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   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Bozoriy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kapitalizatsiya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bo’yicha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beshinchi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o’rinda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turadigan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kriptovalyuta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Litecoin</a:t>
            </a:r>
            <a:r>
              <a:rPr lang="en-US" b="1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hisoblanadi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Bu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raqamli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valyuta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turi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2011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yil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oktyabr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oyida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bitkoinning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bir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turi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i="1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i="1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forki</a:t>
            </a:r>
            <a:r>
              <a:rPr lang="en-US" i="1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sifatida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dunyo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yuzini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ko’rdi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Uning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asoschisi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oldingi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davrda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Google 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ishlagan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dasturchi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Charli Lee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hisoblanadi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endParaRPr lang="ru-RU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914" y="3929717"/>
            <a:ext cx="3894867" cy="2369947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1999" y="3929717"/>
            <a:ext cx="3894729" cy="2369947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267530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ippl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па 3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5" name="Блок-схема: процесс 4"/>
            <p:cNvSpPr/>
            <p:nvPr/>
          </p:nvSpPr>
          <p:spPr>
            <a:xfrm>
              <a:off x="0" y="0"/>
              <a:ext cx="76199" cy="6858000"/>
            </a:xfrm>
            <a:prstGeom prst="flowChartProcess">
              <a:avLst/>
            </a:prstGeom>
            <a:solidFill>
              <a:srgbClr val="00B0F0"/>
            </a:solidFill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Блок-схема: процесс 5"/>
            <p:cNvSpPr/>
            <p:nvPr/>
          </p:nvSpPr>
          <p:spPr>
            <a:xfrm>
              <a:off x="76199" y="1"/>
              <a:ext cx="9035143" cy="76200"/>
            </a:xfrm>
            <a:prstGeom prst="flowChartProcess">
              <a:avLst/>
            </a:prstGeom>
            <a:solidFill>
              <a:srgbClr val="00B0F0"/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Блок-схема: процесс 6"/>
            <p:cNvSpPr/>
            <p:nvPr/>
          </p:nvSpPr>
          <p:spPr>
            <a:xfrm>
              <a:off x="65313" y="6781800"/>
              <a:ext cx="9067801" cy="76200"/>
            </a:xfrm>
            <a:prstGeom prst="flowChartProcess">
              <a:avLst/>
            </a:prstGeom>
            <a:solidFill>
              <a:srgbClr val="00B0F0"/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Блок-схема: процесс 7"/>
            <p:cNvSpPr/>
            <p:nvPr/>
          </p:nvSpPr>
          <p:spPr>
            <a:xfrm>
              <a:off x="9067801" y="0"/>
              <a:ext cx="76199" cy="6858000"/>
            </a:xfrm>
            <a:prstGeom prst="flowChartProcess">
              <a:avLst/>
            </a:prstGeom>
            <a:solidFill>
              <a:srgbClr val="00B0F0"/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aphicFrame>
        <p:nvGraphicFramePr>
          <p:cNvPr id="11" name="Схема 10"/>
          <p:cNvGraphicFramePr/>
          <p:nvPr>
            <p:extLst>
              <p:ext uri="{D42A27DB-BD31-4B8C-83A1-F6EECF244321}">
                <p14:modId xmlns:p14="http://schemas.microsoft.com/office/powerpoint/2010/main" val="3295432524"/>
              </p:ext>
            </p:extLst>
          </p:nvPr>
        </p:nvGraphicFramePr>
        <p:xfrm>
          <a:off x="304800" y="1360716"/>
          <a:ext cx="8545286" cy="52360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2" name="Лента лицом вниз 11"/>
          <p:cNvSpPr/>
          <p:nvPr/>
        </p:nvSpPr>
        <p:spPr>
          <a:xfrm>
            <a:off x="674914" y="206829"/>
            <a:ext cx="7794172" cy="1023258"/>
          </a:xfrm>
          <a:prstGeom prst="ribbon">
            <a:avLst>
              <a:gd name="adj1" fmla="val 13661"/>
              <a:gd name="adj2" fmla="val 75000"/>
            </a:avLst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</a:pPr>
            <a:r>
              <a:rPr lang="en-US" sz="2000" b="1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Litecoin</a:t>
            </a:r>
            <a:r>
              <a:rPr lang="en-US" sz="2000" b="1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asoschisi</a:t>
            </a:r>
            <a:r>
              <a:rPr lang="en-US" sz="2000" b="1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ushbu</a:t>
            </a:r>
            <a:r>
              <a:rPr lang="en-US" sz="2000" b="1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kriptovalyuta</a:t>
            </a:r>
            <a:r>
              <a:rPr lang="en-US" sz="2000" b="1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yaratilishida</a:t>
            </a:r>
            <a:r>
              <a:rPr lang="en-US" sz="2000" b="1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sz="2000" b="1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qancha</a:t>
            </a:r>
            <a:r>
              <a:rPr lang="en-US" sz="2000" b="1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o'zgarishlarni</a:t>
            </a:r>
            <a:r>
              <a:rPr lang="en-US" sz="2000" b="1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amalga</a:t>
            </a:r>
            <a:r>
              <a:rPr lang="en-US" sz="2000" b="1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oshirgan</a:t>
            </a:r>
            <a:r>
              <a:rPr lang="en-US" sz="2000" b="1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1600" b="1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319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ippl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72140" y="190920"/>
            <a:ext cx="8643257" cy="5305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2800" b="1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Dogecoin</a:t>
            </a:r>
            <a:endParaRPr lang="ru-RU" sz="14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4" name="Группа 3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5" name="Блок-схема: процесс 4"/>
            <p:cNvSpPr/>
            <p:nvPr/>
          </p:nvSpPr>
          <p:spPr>
            <a:xfrm>
              <a:off x="0" y="0"/>
              <a:ext cx="76199" cy="6858000"/>
            </a:xfrm>
            <a:prstGeom prst="flowChartProcess">
              <a:avLst/>
            </a:prstGeom>
            <a:solidFill>
              <a:srgbClr val="00B0F0"/>
            </a:solidFill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Блок-схема: процесс 5"/>
            <p:cNvSpPr/>
            <p:nvPr/>
          </p:nvSpPr>
          <p:spPr>
            <a:xfrm>
              <a:off x="76199" y="1"/>
              <a:ext cx="9035143" cy="76200"/>
            </a:xfrm>
            <a:prstGeom prst="flowChartProcess">
              <a:avLst/>
            </a:prstGeom>
            <a:solidFill>
              <a:srgbClr val="00B0F0"/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Блок-схема: процесс 6"/>
            <p:cNvSpPr/>
            <p:nvPr/>
          </p:nvSpPr>
          <p:spPr>
            <a:xfrm>
              <a:off x="65313" y="6781800"/>
              <a:ext cx="9067801" cy="76200"/>
            </a:xfrm>
            <a:prstGeom prst="flowChartProcess">
              <a:avLst/>
            </a:prstGeom>
            <a:solidFill>
              <a:srgbClr val="00B0F0"/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Блок-схема: процесс 7"/>
            <p:cNvSpPr/>
            <p:nvPr/>
          </p:nvSpPr>
          <p:spPr>
            <a:xfrm>
              <a:off x="9067801" y="0"/>
              <a:ext cx="76199" cy="6858000"/>
            </a:xfrm>
            <a:prstGeom prst="flowChartProcess">
              <a:avLst/>
            </a:prstGeom>
            <a:solidFill>
              <a:srgbClr val="00B0F0"/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6" name="Прямоугольник с двумя усеченными противолежащими углами 15"/>
          <p:cNvSpPr/>
          <p:nvPr/>
        </p:nvSpPr>
        <p:spPr>
          <a:xfrm>
            <a:off x="446315" y="759809"/>
            <a:ext cx="8273142" cy="2516791"/>
          </a:xfrm>
          <a:prstGeom prst="snip2DiagRect">
            <a:avLst/>
          </a:prstGeom>
          <a:noFill/>
          <a:ln w="76200">
            <a:solidFill>
              <a:srgbClr val="00B0F0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</a:t>
            </a:r>
            <a:r>
              <a:rPr lang="en-US" sz="16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Dogecoin</a:t>
            </a:r>
            <a:r>
              <a:rPr lang="en-US" sz="16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- 2013 </a:t>
            </a:r>
            <a:r>
              <a:rPr lang="en-US" sz="16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yilda</a:t>
            </a: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8-dekabrda </a:t>
            </a:r>
            <a:r>
              <a:rPr lang="en-US" sz="16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Jekson</a:t>
            </a: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Palmer </a:t>
            </a:r>
            <a:r>
              <a:rPr lang="en-US" sz="16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Billi</a:t>
            </a: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Markus </a:t>
            </a:r>
            <a:r>
              <a:rPr lang="en-US" sz="16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tomonidan</a:t>
            </a: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yaratilgan</a:t>
            </a: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ochiq</a:t>
            </a: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manbali</a:t>
            </a: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kriptovalyutadir</a:t>
            </a: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lang="en-US" sz="1600" dirty="0" smtClean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6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en-US" sz="16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Dogecoinning</a:t>
            </a:r>
            <a:r>
              <a:rPr lang="en-US" sz="16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emissiya</a:t>
            </a: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chegarasi</a:t>
            </a: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yo'q</a:t>
            </a: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16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Dogecoin</a:t>
            </a: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manzillari</a:t>
            </a: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34 (</a:t>
            </a:r>
            <a:r>
              <a:rPr lang="en-US" sz="16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katta</a:t>
            </a: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kichik</a:t>
            </a: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 </a:t>
            </a:r>
            <a:r>
              <a:rPr lang="en-US" sz="16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belgidan</a:t>
            </a: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iborat</a:t>
            </a:r>
            <a:r>
              <a:rPr lang="en-US" sz="16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lang="en-US" sz="1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6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en-US" sz="16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Dogecoin</a:t>
            </a:r>
            <a:r>
              <a:rPr lang="en-US" sz="16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(DOGE) - </a:t>
            </a:r>
            <a:r>
              <a:rPr lang="en-US" sz="16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ochiq</a:t>
            </a:r>
            <a:r>
              <a:rPr lang="en-US" sz="16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manbali</a:t>
            </a: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kripto</a:t>
            </a: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valyutasi</a:t>
            </a: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logotipi</a:t>
            </a: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Shiba</a:t>
            </a: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Inu</a:t>
            </a: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itining</a:t>
            </a: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tasviriga</a:t>
            </a: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ega</a:t>
            </a: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lang="en-US" sz="1600" dirty="0" smtClean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600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      </a:t>
            </a:r>
            <a:r>
              <a:rPr lang="en-US" sz="1600" dirty="0" err="1" smtClean="0">
                <a:latin typeface="Times New Roman" panose="02020603050405020304" pitchFamily="18" charset="0"/>
                <a:ea typeface="Calibri" panose="020F0502020204030204" pitchFamily="34" charset="0"/>
              </a:rPr>
              <a:t>Dogecoin</a:t>
            </a:r>
            <a:r>
              <a:rPr lang="en-US" sz="1600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blokini</a:t>
            </a: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yaratish</a:t>
            </a: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uchun</a:t>
            </a: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o'rtacha</a:t>
            </a: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vaqt</a:t>
            </a: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</a:rPr>
              <a:t> 1 </a:t>
            </a:r>
            <a:r>
              <a:rPr lang="en-US" sz="16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daqiqani</a:t>
            </a: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tashkil</a:t>
            </a: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qiladi</a:t>
            </a:r>
            <a:r>
              <a:rPr lang="en-US" sz="1600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  <a:endParaRPr lang="en-US" sz="1600" dirty="0" smtClean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600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     2017 </a:t>
            </a:r>
            <a:r>
              <a:rPr lang="en-US" sz="16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yil</a:t>
            </a: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</a:rPr>
              <a:t> 30 </a:t>
            </a:r>
            <a:r>
              <a:rPr lang="en-US" sz="16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sentyabr</a:t>
            </a: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holatiga</a:t>
            </a: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ko'ra</a:t>
            </a: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</a:rPr>
              <a:t> 111 milliard DOGE </a:t>
            </a:r>
            <a:r>
              <a:rPr lang="en-US" sz="16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muomalada</a:t>
            </a: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bo'lib</a:t>
            </a: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ularning</a:t>
            </a: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kapitallashuvi</a:t>
            </a: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</a:rPr>
              <a:t> 126 million </a:t>
            </a:r>
            <a:r>
              <a:rPr lang="en-US" sz="16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dollarni</a:t>
            </a: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tashkil</a:t>
            </a: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etgan</a:t>
            </a:r>
            <a:r>
              <a:rPr lang="en-US" sz="1600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315" y="3733484"/>
            <a:ext cx="4071256" cy="2112023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0" name="Прямоугольник 9"/>
          <p:cNvSpPr/>
          <p:nvPr/>
        </p:nvSpPr>
        <p:spPr>
          <a:xfrm>
            <a:off x="4767945" y="4829844"/>
            <a:ext cx="4049482" cy="1015663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kriptovalyutaning</a:t>
            </a:r>
            <a:r>
              <a:rPr lang="en-US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hozirgi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kundagi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kapitalizatsiyasi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$1,151,979,959 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dollorni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tashkil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qiladi</a:t>
            </a:r>
            <a:r>
              <a:rPr lang="en-US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  <a:endParaRPr lang="ru-RU" sz="2000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4767945" y="3733484"/>
            <a:ext cx="4049482" cy="707886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Uning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hozirgi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kundagi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0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(18.01.2021) 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dagi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qiymati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$0,009 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ni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tashkil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qiladi</a:t>
            </a:r>
            <a:r>
              <a:rPr lang="en-US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; 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041191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ippl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544285" y="194625"/>
            <a:ext cx="8011885" cy="5305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2800" b="1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Ripple</a:t>
            </a:r>
            <a:endParaRPr lang="ru-RU" sz="20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5" name="Группа 4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6" name="Блок-схема: процесс 5"/>
            <p:cNvSpPr/>
            <p:nvPr/>
          </p:nvSpPr>
          <p:spPr>
            <a:xfrm>
              <a:off x="0" y="0"/>
              <a:ext cx="76199" cy="6858000"/>
            </a:xfrm>
            <a:prstGeom prst="flowChartProcess">
              <a:avLst/>
            </a:prstGeom>
            <a:solidFill>
              <a:srgbClr val="00B0F0"/>
            </a:solidFill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Блок-схема: процесс 6"/>
            <p:cNvSpPr/>
            <p:nvPr/>
          </p:nvSpPr>
          <p:spPr>
            <a:xfrm>
              <a:off x="76199" y="1"/>
              <a:ext cx="9035143" cy="76200"/>
            </a:xfrm>
            <a:prstGeom prst="flowChartProcess">
              <a:avLst/>
            </a:prstGeom>
            <a:solidFill>
              <a:srgbClr val="00B0F0"/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Блок-схема: процесс 7"/>
            <p:cNvSpPr/>
            <p:nvPr/>
          </p:nvSpPr>
          <p:spPr>
            <a:xfrm>
              <a:off x="65313" y="6781800"/>
              <a:ext cx="9067801" cy="76200"/>
            </a:xfrm>
            <a:prstGeom prst="flowChartProcess">
              <a:avLst/>
            </a:prstGeom>
            <a:solidFill>
              <a:srgbClr val="00B0F0"/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Блок-схема: процесс 8"/>
            <p:cNvSpPr/>
            <p:nvPr/>
          </p:nvSpPr>
          <p:spPr>
            <a:xfrm>
              <a:off x="9067801" y="0"/>
              <a:ext cx="76199" cy="6858000"/>
            </a:xfrm>
            <a:prstGeom prst="flowChartProcess">
              <a:avLst/>
            </a:prstGeom>
            <a:solidFill>
              <a:srgbClr val="00B0F0"/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4" name="Прямоугольник с двумя усеченными противолежащими углами 3"/>
          <p:cNvSpPr/>
          <p:nvPr/>
        </p:nvSpPr>
        <p:spPr>
          <a:xfrm>
            <a:off x="555170" y="1027356"/>
            <a:ext cx="8011886" cy="2508920"/>
          </a:xfrm>
          <a:prstGeom prst="snip2DiagRect">
            <a:avLst/>
          </a:prstGeom>
          <a:noFill/>
          <a:ln w="76200">
            <a:solidFill>
              <a:srgbClr val="00B0F0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just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    </a:t>
            </a:r>
            <a:r>
              <a:rPr lang="en-US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Ripple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tizimi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2012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yilda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ishga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tushirilgan</a:t>
            </a:r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tezda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moliyaviy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institutlar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banklarning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diqqat-e’tiborini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o’ziga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tortgan</a:t>
            </a:r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 Bu </a:t>
            </a:r>
            <a:r>
              <a:rPr lang="en-US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kriptovalyutaning</a:t>
            </a:r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protokoli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tomonlar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orasidagi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pul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o’tkazmalarini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istalgan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ko’rinishda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bevosita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amalga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oshiradi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hamda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buning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uchun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komissiya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miqdori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minimal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miqdorda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o’rnatilgan</a:t>
            </a:r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2017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yilning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aprel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oyiga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bo’lgan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ma’lumotlarga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ko’ra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Ripple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mijozlari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ichida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75 ta bank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mavjud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bo’lgan</a:t>
            </a:r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056" y="3838414"/>
            <a:ext cx="4005943" cy="2738234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" name="Прямоугольник 2"/>
          <p:cNvSpPr/>
          <p:nvPr/>
        </p:nvSpPr>
        <p:spPr>
          <a:xfrm>
            <a:off x="4713513" y="5991872"/>
            <a:ext cx="3842657" cy="584775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Ripplening</a:t>
            </a:r>
            <a:r>
              <a:rPr lang="en-US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xozirgi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paytdagi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kapitalizasiyasi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$12,713,128,019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ni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tashkil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qiladi</a:t>
            </a:r>
            <a:r>
              <a:rPr lang="en-US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4713513" y="3838413"/>
            <a:ext cx="3842657" cy="584775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Generatsiya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qilinadigan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umumiy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XRP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lar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soni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100,000,000,000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ni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tashkil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qiladi</a:t>
            </a:r>
            <a:r>
              <a:rPr lang="en-US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r>
              <a:rPr lang="en-US" sz="16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ru-RU" sz="1600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4713514" y="4476562"/>
            <a:ext cx="3842658" cy="584775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Uning</a:t>
            </a:r>
            <a:r>
              <a:rPr lang="en-US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hozirgi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(18.01.2021)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dagi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qiymati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$0,28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ni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tashkil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qiladi</a:t>
            </a:r>
            <a:r>
              <a:rPr lang="en-US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 </a:t>
            </a:r>
            <a:endParaRPr lang="ru-RU" sz="1600" dirty="0"/>
          </a:p>
        </p:txBody>
      </p:sp>
      <p:sp>
        <p:nvSpPr>
          <p:cNvPr id="14" name="Прямоугольник 13"/>
          <p:cNvSpPr/>
          <p:nvPr/>
        </p:nvSpPr>
        <p:spPr>
          <a:xfrm>
            <a:off x="4713513" y="5117201"/>
            <a:ext cx="3842658" cy="830997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Generatsiya</a:t>
            </a:r>
            <a:r>
              <a:rPr lang="en-US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qilingan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XRP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lar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soni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45,404,028,640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tani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tashkil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qiladi</a:t>
            </a:r>
            <a:r>
              <a:rPr lang="en-US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bu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esa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umumiy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emissiyaning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45%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ga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tengdir</a:t>
            </a:r>
            <a:r>
              <a:rPr lang="en-US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3127497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ippl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па 3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5" name="Блок-схема: процесс 4"/>
            <p:cNvSpPr/>
            <p:nvPr/>
          </p:nvSpPr>
          <p:spPr>
            <a:xfrm>
              <a:off x="0" y="0"/>
              <a:ext cx="76199" cy="6858000"/>
            </a:xfrm>
            <a:prstGeom prst="flowChartProcess">
              <a:avLst/>
            </a:prstGeom>
            <a:solidFill>
              <a:srgbClr val="00B0F0"/>
            </a:solidFill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Блок-схема: процесс 5"/>
            <p:cNvSpPr/>
            <p:nvPr/>
          </p:nvSpPr>
          <p:spPr>
            <a:xfrm>
              <a:off x="76199" y="1"/>
              <a:ext cx="9035143" cy="76200"/>
            </a:xfrm>
            <a:prstGeom prst="flowChartProcess">
              <a:avLst/>
            </a:prstGeom>
            <a:solidFill>
              <a:srgbClr val="00B0F0"/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Блок-схема: процесс 6"/>
            <p:cNvSpPr/>
            <p:nvPr/>
          </p:nvSpPr>
          <p:spPr>
            <a:xfrm>
              <a:off x="65313" y="6781800"/>
              <a:ext cx="9067801" cy="76200"/>
            </a:xfrm>
            <a:prstGeom prst="flowChartProcess">
              <a:avLst/>
            </a:prstGeom>
            <a:solidFill>
              <a:srgbClr val="00B0F0"/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Блок-схема: процесс 7"/>
            <p:cNvSpPr/>
            <p:nvPr/>
          </p:nvSpPr>
          <p:spPr>
            <a:xfrm>
              <a:off x="9067801" y="0"/>
              <a:ext cx="76199" cy="6858000"/>
            </a:xfrm>
            <a:prstGeom prst="flowChartProcess">
              <a:avLst/>
            </a:prstGeom>
            <a:solidFill>
              <a:srgbClr val="00B0F0"/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0" name="Прямоугольник с двумя усеченными противолежащими углами 9"/>
          <p:cNvSpPr/>
          <p:nvPr/>
        </p:nvSpPr>
        <p:spPr>
          <a:xfrm>
            <a:off x="566057" y="776019"/>
            <a:ext cx="8011886" cy="2402609"/>
          </a:xfrm>
          <a:prstGeom prst="snip2DiagRect">
            <a:avLst/>
          </a:prstGeom>
          <a:noFill/>
          <a:ln w="76200">
            <a:solidFill>
              <a:srgbClr val="00B0F0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just">
              <a:lnSpc>
                <a:spcPct val="120000"/>
              </a:lnSpc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     </a:t>
            </a:r>
            <a:r>
              <a:rPr lang="uz-Cyrl-UZ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2014 </a:t>
            </a:r>
            <a:r>
              <a:rPr lang="uz-Cyrl-UZ" dirty="0">
                <a:latin typeface="Times New Roman" panose="02020603050405020304" pitchFamily="18" charset="0"/>
                <a:ea typeface="Calibri" panose="020F0502020204030204" pitchFamily="34" charset="0"/>
              </a:rPr>
              <a:t>yilda yaratilgan Dash kriptovalyutasi dastlab Darkcoin nomi bilan </a:t>
            </a:r>
            <a:r>
              <a:rPr lang="uz-Cyrl-UZ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tanilgan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,</a:t>
            </a:r>
            <a:r>
              <a:rPr lang="uz-Cyrl-UZ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 Evan </a:t>
            </a:r>
            <a:r>
              <a:rPr lang="uz-Cyrl-UZ" dirty="0">
                <a:latin typeface="Times New Roman" panose="02020603050405020304" pitchFamily="18" charset="0"/>
                <a:ea typeface="Calibri" panose="020F0502020204030204" pitchFamily="34" charset="0"/>
              </a:rPr>
              <a:t>Duffild va Deniel Diyaz muallifi hisoblangan ushbu kriptovalyuta Nakamoto asarlari asosida "birinchi shaxsiy hayotga asoslangan kriptografik valyuta" deb ta'riflanadi. </a:t>
            </a:r>
            <a:r>
              <a:rPr lang="en-US" dirty="0" err="1" smtClean="0">
                <a:latin typeface="Times New Roman" panose="02020603050405020304" pitchFamily="18" charset="0"/>
                <a:ea typeface="Calibri" panose="020F0502020204030204" pitchFamily="34" charset="0"/>
              </a:rPr>
              <a:t>Endilikda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 dash </a:t>
            </a:r>
            <a:r>
              <a:rPr lang="en-US" dirty="0" err="1" smtClean="0">
                <a:latin typeface="Times New Roman" panose="02020603050405020304" pitchFamily="18" charset="0"/>
                <a:ea typeface="Calibri" panose="020F0502020204030204" pitchFamily="34" charset="0"/>
              </a:rPr>
              <a:t>kriptovalyutasi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kunlik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operatsiyalar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uchun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vositaga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aylanishni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maqsad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qilgan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. 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3001963" y="206006"/>
            <a:ext cx="2748188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49580" algn="ctr">
              <a:lnSpc>
                <a:spcPct val="150000"/>
              </a:lnSpc>
              <a:spcAft>
                <a:spcPts val="0"/>
              </a:spcAft>
            </a:pPr>
            <a:r>
              <a:rPr lang="uz-Cyrl-UZ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Dash Kriptovalyutasi</a:t>
            </a:r>
            <a:endParaRPr lang="ru-RU" b="1" i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746" y="3485912"/>
            <a:ext cx="4010024" cy="2697174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3770" y="3485912"/>
            <a:ext cx="4051981" cy="2697174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977481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ippl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па 3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5" name="Блок-схема: процесс 4"/>
            <p:cNvSpPr/>
            <p:nvPr/>
          </p:nvSpPr>
          <p:spPr>
            <a:xfrm>
              <a:off x="0" y="0"/>
              <a:ext cx="76199" cy="6858000"/>
            </a:xfrm>
            <a:prstGeom prst="flowChartProcess">
              <a:avLst/>
            </a:prstGeom>
            <a:solidFill>
              <a:srgbClr val="00B0F0"/>
            </a:solidFill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Блок-схема: процесс 5"/>
            <p:cNvSpPr/>
            <p:nvPr/>
          </p:nvSpPr>
          <p:spPr>
            <a:xfrm>
              <a:off x="76199" y="1"/>
              <a:ext cx="9035143" cy="76200"/>
            </a:xfrm>
            <a:prstGeom prst="flowChartProcess">
              <a:avLst/>
            </a:prstGeom>
            <a:solidFill>
              <a:srgbClr val="00B0F0"/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Блок-схема: процесс 6"/>
            <p:cNvSpPr/>
            <p:nvPr/>
          </p:nvSpPr>
          <p:spPr>
            <a:xfrm>
              <a:off x="65313" y="6781800"/>
              <a:ext cx="9067801" cy="76200"/>
            </a:xfrm>
            <a:prstGeom prst="flowChartProcess">
              <a:avLst/>
            </a:prstGeom>
            <a:solidFill>
              <a:srgbClr val="00B0F0"/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Блок-схема: процесс 7"/>
            <p:cNvSpPr/>
            <p:nvPr/>
          </p:nvSpPr>
          <p:spPr>
            <a:xfrm>
              <a:off x="9067801" y="0"/>
              <a:ext cx="76199" cy="6858000"/>
            </a:xfrm>
            <a:prstGeom prst="flowChartProcess">
              <a:avLst/>
            </a:prstGeom>
            <a:solidFill>
              <a:srgbClr val="00B0F0"/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aphicFrame>
        <p:nvGraphicFramePr>
          <p:cNvPr id="11" name="Схема 10"/>
          <p:cNvGraphicFramePr/>
          <p:nvPr>
            <p:extLst>
              <p:ext uri="{D42A27DB-BD31-4B8C-83A1-F6EECF244321}">
                <p14:modId xmlns:p14="http://schemas.microsoft.com/office/powerpoint/2010/main" val="1669740731"/>
              </p:ext>
            </p:extLst>
          </p:nvPr>
        </p:nvGraphicFramePr>
        <p:xfrm>
          <a:off x="304800" y="1627412"/>
          <a:ext cx="8545286" cy="49693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2" name="Лента лицом вниз 11"/>
          <p:cNvSpPr/>
          <p:nvPr/>
        </p:nvSpPr>
        <p:spPr>
          <a:xfrm>
            <a:off x="674914" y="206829"/>
            <a:ext cx="7794172" cy="1012372"/>
          </a:xfrm>
          <a:prstGeom prst="ribbon">
            <a:avLst>
              <a:gd name="adj1" fmla="val 13661"/>
              <a:gd name="adj2" fmla="val 75000"/>
            </a:avLst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</a:pPr>
            <a:r>
              <a:rPr lang="en-US" sz="2000" b="1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Dash </a:t>
            </a:r>
            <a:r>
              <a:rPr lang="en-US" sz="2000" b="1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asoschisi</a:t>
            </a:r>
            <a:r>
              <a:rPr lang="en-US" sz="2000" b="1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ushbu</a:t>
            </a:r>
            <a:r>
              <a:rPr lang="en-US" sz="2000" b="1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kriptovalyuta</a:t>
            </a:r>
            <a:r>
              <a:rPr lang="en-US" sz="2000" b="1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yaratilishida</a:t>
            </a:r>
            <a:r>
              <a:rPr lang="en-US" sz="2000" b="1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sz="2000" b="1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qancha</a:t>
            </a:r>
            <a:r>
              <a:rPr lang="en-US" sz="2000" b="1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o'zgarishlarni</a:t>
            </a:r>
            <a:r>
              <a:rPr lang="en-US" sz="2000" b="1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amalga</a:t>
            </a:r>
            <a:r>
              <a:rPr lang="en-US" sz="2000" b="1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oshirgan</a:t>
            </a:r>
            <a:r>
              <a:rPr lang="en-US" sz="2000" b="1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1600" b="1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853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ippl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па 3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5" name="Блок-схема: процесс 4"/>
            <p:cNvSpPr/>
            <p:nvPr/>
          </p:nvSpPr>
          <p:spPr>
            <a:xfrm>
              <a:off x="0" y="0"/>
              <a:ext cx="76199" cy="6858000"/>
            </a:xfrm>
            <a:prstGeom prst="flowChartProcess">
              <a:avLst/>
            </a:prstGeom>
            <a:solidFill>
              <a:srgbClr val="00B0F0"/>
            </a:solidFill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Блок-схема: процесс 5"/>
            <p:cNvSpPr/>
            <p:nvPr/>
          </p:nvSpPr>
          <p:spPr>
            <a:xfrm>
              <a:off x="76199" y="1"/>
              <a:ext cx="9035143" cy="76200"/>
            </a:xfrm>
            <a:prstGeom prst="flowChartProcess">
              <a:avLst/>
            </a:prstGeom>
            <a:solidFill>
              <a:srgbClr val="00B0F0"/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Блок-схема: процесс 6"/>
            <p:cNvSpPr/>
            <p:nvPr/>
          </p:nvSpPr>
          <p:spPr>
            <a:xfrm>
              <a:off x="65313" y="6781800"/>
              <a:ext cx="9067801" cy="76200"/>
            </a:xfrm>
            <a:prstGeom prst="flowChartProcess">
              <a:avLst/>
            </a:prstGeom>
            <a:solidFill>
              <a:srgbClr val="00B0F0"/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Блок-схема: процесс 7"/>
            <p:cNvSpPr/>
            <p:nvPr/>
          </p:nvSpPr>
          <p:spPr>
            <a:xfrm>
              <a:off x="9067801" y="0"/>
              <a:ext cx="76199" cy="6858000"/>
            </a:xfrm>
            <a:prstGeom prst="flowChartProcess">
              <a:avLst/>
            </a:prstGeom>
            <a:solidFill>
              <a:srgbClr val="00B0F0"/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9" name="Прямоугольник с двумя усеченными противолежащими углами 8"/>
          <p:cNvSpPr/>
          <p:nvPr/>
        </p:nvSpPr>
        <p:spPr>
          <a:xfrm>
            <a:off x="566057" y="800981"/>
            <a:ext cx="8011886" cy="2040190"/>
          </a:xfrm>
          <a:prstGeom prst="snip2DiagRect">
            <a:avLst/>
          </a:prstGeom>
          <a:noFill/>
          <a:ln w="76200">
            <a:solidFill>
              <a:srgbClr val="00B0F0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indent="449580" algn="just">
              <a:lnSpc>
                <a:spcPct val="130000"/>
              </a:lnSpc>
              <a:spcAft>
                <a:spcPts val="0"/>
              </a:spcAft>
            </a:pPr>
            <a:r>
              <a:rPr lang="en-US" sz="16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So'nggi</a:t>
            </a:r>
            <a:r>
              <a:rPr lang="en-US" sz="16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yillarda</a:t>
            </a: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ko'plab</a:t>
            </a: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kriptovalyutalar</a:t>
            </a:r>
            <a:r>
              <a:rPr lang="en-US" sz="16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ishga</a:t>
            </a: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tushirildi</a:t>
            </a: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16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Ushbu</a:t>
            </a: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kriptovalyutalarning</a:t>
            </a:r>
            <a:r>
              <a:rPr lang="en-US" sz="16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bir</a:t>
            </a: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nechtasi</a:t>
            </a: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barcha</a:t>
            </a: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operatsiyalarni</a:t>
            </a: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ommaviy</a:t>
            </a: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ravishda</a:t>
            </a: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ko'rish</a:t>
            </a: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imkoniyatini</a:t>
            </a: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beradi</a:t>
            </a: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ayrimlari</a:t>
            </a: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esa</a:t>
            </a: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maxfiy</a:t>
            </a:r>
            <a:r>
              <a:rPr lang="en-US" sz="16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hisoblanadi</a:t>
            </a: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16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Monero</a:t>
            </a: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kriptovalyutasi</a:t>
            </a:r>
            <a:r>
              <a:rPr lang="en-US" sz="16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maxfiylikka</a:t>
            </a: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yo'naltirilgan</a:t>
            </a: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xususiyatlari</a:t>
            </a: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uchun</a:t>
            </a: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yuqori</a:t>
            </a: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darajadagi</a:t>
            </a: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mashhurlik</a:t>
            </a: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darajasiga</a:t>
            </a: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erishdi</a:t>
            </a: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2014 </a:t>
            </a:r>
            <a:r>
              <a:rPr lang="en-US" sz="16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yilda</a:t>
            </a: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yaratilgan</a:t>
            </a: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Monero</a:t>
            </a: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(XMR) </a:t>
            </a:r>
            <a:r>
              <a:rPr lang="en-US" sz="16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blokcheyn</a:t>
            </a: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kontseptsiyasi</a:t>
            </a: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asosida</a:t>
            </a: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qurilgan</a:t>
            </a: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ochiq</a:t>
            </a: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manbali</a:t>
            </a:r>
            <a:r>
              <a:rPr lang="en-US" sz="16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 </a:t>
            </a:r>
            <a:r>
              <a:rPr lang="en-US" sz="16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kriptovalyutadir</a:t>
            </a: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lang="ru-RU" sz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951814" y="244243"/>
            <a:ext cx="3283912" cy="3886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Monero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(XMR) </a:t>
            </a:r>
            <a:r>
              <a:rPr lang="en-US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kriptovalyutasi</a:t>
            </a:r>
            <a:endParaRPr lang="ru-RU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3397909"/>
            <a:ext cx="4060373" cy="2760556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2" name="Прямоугольник 11"/>
          <p:cNvSpPr/>
          <p:nvPr/>
        </p:nvSpPr>
        <p:spPr>
          <a:xfrm>
            <a:off x="4771682" y="5595298"/>
            <a:ext cx="3942659" cy="584775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Moneroning</a:t>
            </a:r>
            <a:r>
              <a:rPr lang="en-US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hozirgi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paytdagi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kapitalizatsiyasi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$2,788,254,393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ni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tashkil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qiladi</a:t>
            </a:r>
            <a:r>
              <a:rPr lang="en-US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  <a:endParaRPr lang="ru-RU" sz="1600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4771682" y="3397909"/>
            <a:ext cx="3942659" cy="584775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Generatsiya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qilinadigan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umumiy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XMR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lar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soni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cheklanmagan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ru-RU" sz="1600" dirty="0"/>
          </a:p>
        </p:txBody>
      </p:sp>
      <p:sp>
        <p:nvSpPr>
          <p:cNvPr id="14" name="Прямоугольник 13"/>
          <p:cNvSpPr/>
          <p:nvPr/>
        </p:nvSpPr>
        <p:spPr>
          <a:xfrm>
            <a:off x="4771682" y="4130372"/>
            <a:ext cx="3942660" cy="584775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Uning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hozirgi</a:t>
            </a:r>
            <a:r>
              <a:rPr lang="en-US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(18.01.2021)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dagi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qiymati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$156,5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ni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tashkil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qiladi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;</a:t>
            </a:r>
            <a:endParaRPr lang="ru-RU" sz="1600" dirty="0"/>
          </a:p>
        </p:txBody>
      </p:sp>
      <p:sp>
        <p:nvSpPr>
          <p:cNvPr id="15" name="Прямоугольник 14"/>
          <p:cNvSpPr/>
          <p:nvPr/>
        </p:nvSpPr>
        <p:spPr>
          <a:xfrm>
            <a:off x="4771682" y="4862835"/>
            <a:ext cx="3942660" cy="584775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G</a:t>
            </a:r>
            <a:r>
              <a:rPr lang="en-US" sz="16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eneratsiya</a:t>
            </a:r>
            <a:r>
              <a:rPr lang="en-US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qilingan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kriptovalyutalar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soni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17,816,322 XMR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ga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teng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;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1525628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ippl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998618" y="152791"/>
            <a:ext cx="13644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lang="uz-Cyrl-UZ" b="1" i="1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«Ethereum»</a:t>
            </a:r>
            <a:endParaRPr lang="ru-RU" sz="1600" b="1" i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pSp>
        <p:nvGrpSpPr>
          <p:cNvPr id="5" name="Группа 4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6" name="Блок-схема: процесс 5"/>
            <p:cNvSpPr/>
            <p:nvPr/>
          </p:nvSpPr>
          <p:spPr>
            <a:xfrm>
              <a:off x="0" y="0"/>
              <a:ext cx="76199" cy="6858000"/>
            </a:xfrm>
            <a:prstGeom prst="flowChartProcess">
              <a:avLst/>
            </a:prstGeom>
            <a:solidFill>
              <a:srgbClr val="00B0F0"/>
            </a:solidFill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Блок-схема: процесс 6"/>
            <p:cNvSpPr/>
            <p:nvPr/>
          </p:nvSpPr>
          <p:spPr>
            <a:xfrm>
              <a:off x="76199" y="1"/>
              <a:ext cx="9035143" cy="76200"/>
            </a:xfrm>
            <a:prstGeom prst="flowChartProcess">
              <a:avLst/>
            </a:prstGeom>
            <a:solidFill>
              <a:srgbClr val="00B0F0"/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Блок-схема: процесс 7"/>
            <p:cNvSpPr/>
            <p:nvPr/>
          </p:nvSpPr>
          <p:spPr>
            <a:xfrm>
              <a:off x="65313" y="6781800"/>
              <a:ext cx="9067801" cy="76200"/>
            </a:xfrm>
            <a:prstGeom prst="flowChartProcess">
              <a:avLst/>
            </a:prstGeom>
            <a:solidFill>
              <a:srgbClr val="00B0F0"/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Блок-схема: процесс 8"/>
            <p:cNvSpPr/>
            <p:nvPr/>
          </p:nvSpPr>
          <p:spPr>
            <a:xfrm>
              <a:off x="9067801" y="0"/>
              <a:ext cx="76199" cy="6858000"/>
            </a:xfrm>
            <a:prstGeom prst="flowChartProcess">
              <a:avLst/>
            </a:prstGeom>
            <a:solidFill>
              <a:srgbClr val="00B0F0"/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0" name="Прямоугольник с двумя усеченными противолежащими углами 9"/>
          <p:cNvSpPr/>
          <p:nvPr/>
        </p:nvSpPr>
        <p:spPr>
          <a:xfrm>
            <a:off x="566057" y="682668"/>
            <a:ext cx="8011886" cy="2746332"/>
          </a:xfrm>
          <a:prstGeom prst="snip2Diag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indent="449580" algn="just">
              <a:lnSpc>
                <a:spcPct val="130000"/>
              </a:lnSpc>
              <a:spcAft>
                <a:spcPts val="0"/>
              </a:spcAft>
            </a:pPr>
            <a:r>
              <a:rPr lang="uz-Cyrl-UZ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2015 yilda ishga tushirilgan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ushbu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kriptovalyuta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Kanadalik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dasturchi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Vitalik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Buterin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tomonidan</a:t>
            </a:r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yaratilgan</a:t>
            </a:r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. </a:t>
            </a:r>
            <a:r>
              <a:rPr lang="en-US" b="1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Ethereum</a:t>
            </a:r>
            <a:r>
              <a:rPr lang="en-US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dasturi</a:t>
            </a:r>
            <a:r>
              <a:rPr lang="en-US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ochiq</a:t>
            </a:r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platforma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bo'lib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uning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asosiy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g’oyasi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istalgan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dasturchiga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blokcheyn</a:t>
            </a: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texnologiya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asosida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qo’shimcha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amaliy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dasturlar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ishlab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chiqish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imkoniyatini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yaratishdir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.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Ushbu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kriptovalyutaning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chiqarilish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vaqtida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(</a:t>
            </a:r>
            <a:r>
              <a:rPr lang="en-US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2015-yil</a:t>
            </a:r>
            <a:r>
              <a:rPr lang="en-US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)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uning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narxi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2,9 dollar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bo’lgan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(2017-yil)</a:t>
            </a:r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esa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uning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qiymati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224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dollordan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oshgan</a:t>
            </a:r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. 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242" y="3660966"/>
            <a:ext cx="4045857" cy="2387294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1" name="Прямоугольник 10"/>
          <p:cNvSpPr/>
          <p:nvPr/>
        </p:nvSpPr>
        <p:spPr>
          <a:xfrm>
            <a:off x="4841914" y="5401929"/>
            <a:ext cx="3736029" cy="923330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U</a:t>
            </a:r>
            <a:r>
              <a:rPr lang="en-US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ning</a:t>
            </a:r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hozirgi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kundagi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kapitalizatsiyasi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$139,757,052,954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ni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tashkil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qiladi</a:t>
            </a:r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  <a:endParaRPr lang="ru-RU" dirty="0"/>
          </a:p>
        </p:txBody>
      </p:sp>
      <p:sp>
        <p:nvSpPr>
          <p:cNvPr id="12" name="Прямоугольник 11"/>
          <p:cNvSpPr/>
          <p:nvPr/>
        </p:nvSpPr>
        <p:spPr>
          <a:xfrm>
            <a:off x="4841914" y="3660966"/>
            <a:ext cx="3736029" cy="646331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Uning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hozirgi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(18.01.2021)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dagi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qiymati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$</a:t>
            </a:r>
            <a:r>
              <a:rPr lang="en-US" dirty="0" smtClean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1,222</a:t>
            </a:r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ni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tashkil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qiladi</a:t>
            </a:r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;</a:t>
            </a:r>
            <a:endParaRPr lang="ru-RU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4841914" y="4575052"/>
            <a:ext cx="3736029" cy="646331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G</a:t>
            </a:r>
            <a:r>
              <a:rPr lang="en-US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eneratsiya</a:t>
            </a:r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qilingan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ethereumlar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soni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114,301,998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taga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teng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;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25036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ippl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473527" y="675812"/>
            <a:ext cx="8240485" cy="4247317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indent="449580" algn="just">
              <a:lnSpc>
                <a:spcPct val="150000"/>
              </a:lnSpc>
              <a:spcAft>
                <a:spcPts val="0"/>
              </a:spcAft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Ularning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qo‘llanilish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sohasi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ham kun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sayin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ko‘paymoqda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2013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yili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asosan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birjalarda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kazino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turli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oldi-sotdilarda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ishlatilgan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bo‘lsa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bugungi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kunda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jahon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bozorlarida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kriptovalyutalarni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savdo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do‘konlarida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onlayn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do‘konlarda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xizmat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ko‘rsatishda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mehmonxona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xonasini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qilishda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mashinani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ijaraga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olishda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futbolchilarni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transferlarini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amalga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oshirishda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elektron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pullarni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sotib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olishda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ishlatilmoqda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dirty="0" smtClean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49580" algn="just">
              <a:lnSpc>
                <a:spcPct val="150000"/>
              </a:lnSpc>
              <a:spcAft>
                <a:spcPts val="0"/>
              </a:spcAft>
            </a:pPr>
            <a:r>
              <a:rPr lang="en-US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Yuqoridagi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kriptovalyutalarning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yaratilish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jarayoni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sabablari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maqsadidan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kelib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chiqqan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holda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O‘zbekiston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Respublikasida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ham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milliy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kriptovalyuta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yaratish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amalyotga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tadbiq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qilishda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ma’lum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bir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soha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doirasida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amalga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oshirish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uchun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davlat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miqyosida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bir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qancha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muommo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masalalarga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yechim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topish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zarur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hisoblanadi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b="1" i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Группа 4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6" name="Блок-схема: процесс 5"/>
            <p:cNvSpPr/>
            <p:nvPr/>
          </p:nvSpPr>
          <p:spPr>
            <a:xfrm>
              <a:off x="0" y="0"/>
              <a:ext cx="76199" cy="6858000"/>
            </a:xfrm>
            <a:prstGeom prst="flowChartProcess">
              <a:avLst/>
            </a:prstGeom>
            <a:solidFill>
              <a:srgbClr val="00B0F0"/>
            </a:solidFill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Блок-схема: процесс 6"/>
            <p:cNvSpPr/>
            <p:nvPr/>
          </p:nvSpPr>
          <p:spPr>
            <a:xfrm>
              <a:off x="76199" y="1"/>
              <a:ext cx="9035143" cy="76200"/>
            </a:xfrm>
            <a:prstGeom prst="flowChartProcess">
              <a:avLst/>
            </a:prstGeom>
            <a:solidFill>
              <a:srgbClr val="00B0F0"/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Блок-схема: процесс 7"/>
            <p:cNvSpPr/>
            <p:nvPr/>
          </p:nvSpPr>
          <p:spPr>
            <a:xfrm>
              <a:off x="65313" y="6781800"/>
              <a:ext cx="9067801" cy="76200"/>
            </a:xfrm>
            <a:prstGeom prst="flowChartProcess">
              <a:avLst/>
            </a:prstGeom>
            <a:solidFill>
              <a:srgbClr val="00B0F0"/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Блок-схема: процесс 8"/>
            <p:cNvSpPr/>
            <p:nvPr/>
          </p:nvSpPr>
          <p:spPr>
            <a:xfrm>
              <a:off x="9067801" y="0"/>
              <a:ext cx="76199" cy="6858000"/>
            </a:xfrm>
            <a:prstGeom prst="flowChartProcess">
              <a:avLst/>
            </a:prstGeom>
            <a:solidFill>
              <a:srgbClr val="00B0F0"/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2218934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ippl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Группа 4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6" name="Блок-схема: процесс 5"/>
            <p:cNvSpPr/>
            <p:nvPr/>
          </p:nvSpPr>
          <p:spPr>
            <a:xfrm>
              <a:off x="0" y="0"/>
              <a:ext cx="76199" cy="6858000"/>
            </a:xfrm>
            <a:prstGeom prst="flowChartProcess">
              <a:avLst/>
            </a:prstGeom>
            <a:solidFill>
              <a:srgbClr val="00B0F0"/>
            </a:solidFill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Блок-схема: процесс 6"/>
            <p:cNvSpPr/>
            <p:nvPr/>
          </p:nvSpPr>
          <p:spPr>
            <a:xfrm>
              <a:off x="76199" y="1"/>
              <a:ext cx="9035143" cy="76200"/>
            </a:xfrm>
            <a:prstGeom prst="flowChartProcess">
              <a:avLst/>
            </a:prstGeom>
            <a:solidFill>
              <a:srgbClr val="00B0F0"/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Блок-схема: процесс 7"/>
            <p:cNvSpPr/>
            <p:nvPr/>
          </p:nvSpPr>
          <p:spPr>
            <a:xfrm>
              <a:off x="65313" y="6781800"/>
              <a:ext cx="9067801" cy="76200"/>
            </a:xfrm>
            <a:prstGeom prst="flowChartProcess">
              <a:avLst/>
            </a:prstGeom>
            <a:solidFill>
              <a:srgbClr val="00B0F0"/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Блок-схема: процесс 8"/>
            <p:cNvSpPr/>
            <p:nvPr/>
          </p:nvSpPr>
          <p:spPr>
            <a:xfrm>
              <a:off x="9067801" y="0"/>
              <a:ext cx="76199" cy="6858000"/>
            </a:xfrm>
            <a:prstGeom prst="flowChartProcess">
              <a:avLst/>
            </a:prstGeom>
            <a:solidFill>
              <a:srgbClr val="00B0F0"/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1" name="Прямоугольник с двумя усеченными противолежащими углами 10"/>
          <p:cNvSpPr/>
          <p:nvPr/>
        </p:nvSpPr>
        <p:spPr>
          <a:xfrm>
            <a:off x="551087" y="1232078"/>
            <a:ext cx="8011886" cy="2471057"/>
          </a:xfrm>
          <a:prstGeom prst="snip2DiagRect">
            <a:avLst/>
          </a:prstGeom>
          <a:noFill/>
          <a:ln w="76200">
            <a:solidFill>
              <a:srgbClr val="00B0F0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indent="444500" algn="just">
              <a:lnSpc>
                <a:spcPct val="120000"/>
              </a:lnSpc>
              <a:spcAft>
                <a:spcPts val="0"/>
              </a:spcAft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ICO </a:t>
            </a:r>
            <a:r>
              <a:rPr lang="en-US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(Initial Coin Offering) - </a:t>
            </a:r>
            <a:r>
              <a:rPr lang="en-US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tangani</a:t>
            </a:r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birlamchi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joylashtirish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Uni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tushunish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uchun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attraksionlar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parkini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tasavvur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qilish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mumkin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Uning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kirish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qismida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park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emblemasi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tushirilgan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jetonni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harid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qilib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turli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ko‘ngilochar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o‘yinlar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attraksionlar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uchun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u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bilan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to‘lov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qilish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mumkin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Blokcheyn-loyihalar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tokenlar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chiqarganda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ularni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odamlar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harid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qila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olishi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uchun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bozorga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joylashtiradi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 Bu –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tokenlarni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birlamchi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joylashtirish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— </a:t>
            </a:r>
            <a:r>
              <a:rPr lang="en-US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ICO - Initial Coin Offering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dir</a:t>
            </a:r>
            <a:r>
              <a:rPr lang="en-US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087" y="3943567"/>
            <a:ext cx="3932927" cy="2597801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4015" y="3943568"/>
            <a:ext cx="4093928" cy="2597800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2" name="Прямоугольник 11"/>
          <p:cNvSpPr/>
          <p:nvPr/>
        </p:nvSpPr>
        <p:spPr>
          <a:xfrm>
            <a:off x="551087" y="238641"/>
            <a:ext cx="8011886" cy="830997"/>
          </a:xfrm>
          <a:prstGeom prst="rect">
            <a:avLst/>
          </a:prstGeom>
          <a:solidFill>
            <a:srgbClr val="FFCC66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indent="449580" algn="ctr">
              <a:spcAft>
                <a:spcPts val="800"/>
              </a:spcAft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2.2 </a:t>
            </a:r>
            <a:r>
              <a:rPr lang="en-US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Milliy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kriptovalyuta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yaratishning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nazariy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asoslarini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tadqiq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etish</a:t>
            </a:r>
            <a:endParaRPr lang="ru-RU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8205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ippl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па 3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5" name="Блок-схема: процесс 4"/>
            <p:cNvSpPr/>
            <p:nvPr/>
          </p:nvSpPr>
          <p:spPr>
            <a:xfrm>
              <a:off x="0" y="0"/>
              <a:ext cx="76199" cy="6858000"/>
            </a:xfrm>
            <a:prstGeom prst="flowChartProcess">
              <a:avLst/>
            </a:prstGeom>
            <a:solidFill>
              <a:srgbClr val="00B0F0"/>
            </a:solidFill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Блок-схема: процесс 5"/>
            <p:cNvSpPr/>
            <p:nvPr/>
          </p:nvSpPr>
          <p:spPr>
            <a:xfrm>
              <a:off x="76199" y="1"/>
              <a:ext cx="9035143" cy="76200"/>
            </a:xfrm>
            <a:prstGeom prst="flowChartProcess">
              <a:avLst/>
            </a:prstGeom>
            <a:solidFill>
              <a:srgbClr val="00B0F0"/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Блок-схема: процесс 6"/>
            <p:cNvSpPr/>
            <p:nvPr/>
          </p:nvSpPr>
          <p:spPr>
            <a:xfrm>
              <a:off x="65313" y="6781800"/>
              <a:ext cx="9067801" cy="76200"/>
            </a:xfrm>
            <a:prstGeom prst="flowChartProcess">
              <a:avLst/>
            </a:prstGeom>
            <a:solidFill>
              <a:srgbClr val="00B0F0"/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Блок-схема: процесс 7"/>
            <p:cNvSpPr/>
            <p:nvPr/>
          </p:nvSpPr>
          <p:spPr>
            <a:xfrm>
              <a:off x="9067801" y="0"/>
              <a:ext cx="76199" cy="6858000"/>
            </a:xfrm>
            <a:prstGeom prst="flowChartProcess">
              <a:avLst/>
            </a:prstGeom>
            <a:solidFill>
              <a:srgbClr val="00B0F0"/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9" name="Прямоугольник с двумя усеченными противолежащими углами 8"/>
          <p:cNvSpPr/>
          <p:nvPr/>
        </p:nvSpPr>
        <p:spPr>
          <a:xfrm>
            <a:off x="587827" y="371968"/>
            <a:ext cx="7892144" cy="2764971"/>
          </a:xfrm>
          <a:prstGeom prst="snip2DiagRect">
            <a:avLst/>
          </a:prstGeom>
          <a:noFill/>
          <a:ln w="76200">
            <a:solidFill>
              <a:srgbClr val="00B0F0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indent="457200" algn="just">
              <a:lnSpc>
                <a:spcPct val="130000"/>
              </a:lnSpc>
              <a:spcAft>
                <a:spcPts val="0"/>
              </a:spcAft>
            </a:pP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Kriptovalyuta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-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ommaviy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blokcheynning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ichki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hisob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birligi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bo’lsa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tokenlar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-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investorning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kompaniya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tomonidan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pulga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alishtiriladigan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raqamli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aktividir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Kriptovalyutani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mayning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yordamida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topadilar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tokenlar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emissiyasini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esa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uni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chiqargan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tashkilot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amalga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oshiradi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Token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biror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bir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loyihaga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pul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jalb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qilish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uchun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chiqariladi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sotiladi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pul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to’lab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kontrakt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funktsiyasini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bajaruvchi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tokenlar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sotib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olgan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insonlarga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esa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tokenlar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o’rniga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tovar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yoki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xizmat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ko’rsatish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taklif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etiladi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73"/>
          <a:stretch/>
        </p:blipFill>
        <p:spPr>
          <a:xfrm>
            <a:off x="587827" y="3294043"/>
            <a:ext cx="7892144" cy="3173260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973217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ippl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947058" y="516968"/>
            <a:ext cx="7445828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69900" algn="just">
              <a:lnSpc>
                <a:spcPct val="150000"/>
              </a:lnSpc>
              <a:spcAft>
                <a:spcPts val="0"/>
              </a:spcAft>
            </a:pP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Demak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investor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kriptovalyuta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yoki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tokenlar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uchun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kelajakda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nimanidir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olish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huquqiga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ega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bo'ladi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Uning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kelajakda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nima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olishi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startap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loyihaning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qanchalik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muvaffaqiyatli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chiqishiga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bog’liq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bo’ladi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Deyarli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barcha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ICO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lar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bir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xilda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amalga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oshiriladi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tashkilotchilar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elektron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hamyonning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adresini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bildiradilar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ma’lum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bir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shartlar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asosida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unga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pul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jo’natishni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taklif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qiladilar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Mablag’lar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yig’ilib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bo'linganidan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so’ng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investorlarning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elektron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hamyonlariga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raqamli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aktsiyalarni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(token)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larni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jo’natadilar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Tokenlar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xaridorlarning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ICO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ga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jo’natgan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pullari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miqdoriga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proportsional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ravishda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taqsimlanadilar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pSp>
        <p:nvGrpSpPr>
          <p:cNvPr id="4" name="Группа 3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5" name="Блок-схема: процесс 4"/>
            <p:cNvSpPr/>
            <p:nvPr/>
          </p:nvSpPr>
          <p:spPr>
            <a:xfrm>
              <a:off x="0" y="0"/>
              <a:ext cx="76199" cy="6858000"/>
            </a:xfrm>
            <a:prstGeom prst="flowChartProcess">
              <a:avLst/>
            </a:prstGeom>
            <a:solidFill>
              <a:srgbClr val="00B0F0"/>
            </a:solidFill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Блок-схема: процесс 5"/>
            <p:cNvSpPr/>
            <p:nvPr/>
          </p:nvSpPr>
          <p:spPr>
            <a:xfrm>
              <a:off x="76199" y="1"/>
              <a:ext cx="9035143" cy="76200"/>
            </a:xfrm>
            <a:prstGeom prst="flowChartProcess">
              <a:avLst/>
            </a:prstGeom>
            <a:solidFill>
              <a:srgbClr val="00B0F0"/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Блок-схема: процесс 6"/>
            <p:cNvSpPr/>
            <p:nvPr/>
          </p:nvSpPr>
          <p:spPr>
            <a:xfrm>
              <a:off x="65313" y="6781800"/>
              <a:ext cx="9067801" cy="76200"/>
            </a:xfrm>
            <a:prstGeom prst="flowChartProcess">
              <a:avLst/>
            </a:prstGeom>
            <a:solidFill>
              <a:srgbClr val="00B0F0"/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Блок-схема: процесс 7"/>
            <p:cNvSpPr/>
            <p:nvPr/>
          </p:nvSpPr>
          <p:spPr>
            <a:xfrm>
              <a:off x="9067801" y="0"/>
              <a:ext cx="76199" cy="6858000"/>
            </a:xfrm>
            <a:prstGeom prst="flowChartProcess">
              <a:avLst/>
            </a:prstGeom>
            <a:solidFill>
              <a:srgbClr val="00B0F0"/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1661490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ippl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751114" y="553307"/>
            <a:ext cx="7750629" cy="30008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44500" algn="just">
              <a:lnSpc>
                <a:spcPct val="150000"/>
              </a:lnSpc>
              <a:spcAft>
                <a:spcPts val="0"/>
              </a:spcAft>
            </a:pP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Tokenlarni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birja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orqali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b="1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ICO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jarayonida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yoki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boshqa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insonlardan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sotib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olish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mumkin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Ba’zi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xollarda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ICO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saytida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registratsiya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qilinish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talab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etilishi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mumkin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-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shartlarga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rozilik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beriladi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tokenlar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sotib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olinadi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Shundan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so’ng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tokenlar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birjalarda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turli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narxlarda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sotilishi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mumkin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ammo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hech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qachon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uning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narxi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ortadi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deb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ishonish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mumkin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emas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Investorlar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o’z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tokenlarini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birjalarga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kiritishi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uni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boshqa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kriptoaktivlarga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yoki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an’anaviy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valyutalarga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almashtirishlari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ham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mumkin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endParaRPr lang="ru-RU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pSp>
        <p:nvGrpSpPr>
          <p:cNvPr id="4" name="Группа 3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5" name="Блок-схема: процесс 4"/>
            <p:cNvSpPr/>
            <p:nvPr/>
          </p:nvSpPr>
          <p:spPr>
            <a:xfrm>
              <a:off x="0" y="0"/>
              <a:ext cx="76199" cy="6858000"/>
            </a:xfrm>
            <a:prstGeom prst="flowChartProcess">
              <a:avLst/>
            </a:prstGeom>
            <a:solidFill>
              <a:srgbClr val="00B0F0"/>
            </a:solidFill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Блок-схема: процесс 5"/>
            <p:cNvSpPr/>
            <p:nvPr/>
          </p:nvSpPr>
          <p:spPr>
            <a:xfrm>
              <a:off x="76199" y="1"/>
              <a:ext cx="9035143" cy="76200"/>
            </a:xfrm>
            <a:prstGeom prst="flowChartProcess">
              <a:avLst/>
            </a:prstGeom>
            <a:solidFill>
              <a:srgbClr val="00B0F0"/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Блок-схема: процесс 6"/>
            <p:cNvSpPr/>
            <p:nvPr/>
          </p:nvSpPr>
          <p:spPr>
            <a:xfrm>
              <a:off x="65313" y="6781800"/>
              <a:ext cx="9067801" cy="76200"/>
            </a:xfrm>
            <a:prstGeom prst="flowChartProcess">
              <a:avLst/>
            </a:prstGeom>
            <a:solidFill>
              <a:srgbClr val="00B0F0"/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Блок-схема: процесс 7"/>
            <p:cNvSpPr/>
            <p:nvPr/>
          </p:nvSpPr>
          <p:spPr>
            <a:xfrm>
              <a:off x="9067801" y="0"/>
              <a:ext cx="76199" cy="6858000"/>
            </a:xfrm>
            <a:prstGeom prst="flowChartProcess">
              <a:avLst/>
            </a:prstGeom>
            <a:solidFill>
              <a:srgbClr val="00B0F0"/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3954840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ippl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图片 28" descr="light 5.png">
            <a:extLst>
              <a:ext uri="{FF2B5EF4-FFF2-40B4-BE49-F238E27FC236}">
                <a16:creationId xmlns="" xmlns:a16="http://schemas.microsoft.com/office/drawing/2014/main" id="{22527B34-0A0D-4DC4-8EB6-35862B0203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123532">
            <a:off x="-1573833" y="-1073109"/>
            <a:ext cx="13860152" cy="149939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<p:cNvSpPr>
            <a:spLocks/>
          </p:cNvSpPr>
          <p:nvPr/>
        </p:nvSpPr>
        <p:spPr bwMode="auto">
          <a:xfrm>
            <a:off x="0" y="32332"/>
            <a:ext cx="9144000" cy="738664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close/>
              </a:path>
            </a:pathLst>
          </a:cu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  <a:ex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lIns="0" tIns="0" rIns="0" bIns="0">
            <a:spAutoFit/>
          </a:bodyPr>
          <a:lstStyle/>
          <a:p>
            <a:pPr algn="ctr" defTabSz="323850">
              <a:spcBef>
                <a:spcPts val="850"/>
              </a:spcBef>
              <a:defRPr/>
            </a:pPr>
            <a:r>
              <a:rPr lang="en-US" sz="2400" b="1" dirty="0" err="1">
                <a:solidFill>
                  <a:srgbClr val="000000"/>
                </a:solidFill>
                <a:latin typeface="Agency FB" panose="020B0503020202020204" pitchFamily="34" charset="0"/>
                <a:ea typeface="Times New Roman" panose="02020603050405020304" pitchFamily="18" charset="0"/>
              </a:rPr>
              <a:t>Yuqoridagilardan</a:t>
            </a:r>
            <a:r>
              <a:rPr lang="en-US" sz="2400" b="1" dirty="0">
                <a:solidFill>
                  <a:srgbClr val="000000"/>
                </a:solidFill>
                <a:latin typeface="Agency FB" panose="020B0503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Agency FB" panose="020B0503020202020204" pitchFamily="34" charset="0"/>
                <a:ea typeface="Times New Roman" panose="02020603050405020304" pitchFamily="18" charset="0"/>
              </a:rPr>
              <a:t>kelib</a:t>
            </a:r>
            <a:r>
              <a:rPr lang="en-US" sz="2400" b="1" dirty="0">
                <a:solidFill>
                  <a:srgbClr val="000000"/>
                </a:solidFill>
                <a:latin typeface="Agency FB" panose="020B0503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Agency FB" panose="020B0503020202020204" pitchFamily="34" charset="0"/>
                <a:ea typeface="Times New Roman" panose="02020603050405020304" pitchFamily="18" charset="0"/>
              </a:rPr>
              <a:t>chiqqan</a:t>
            </a:r>
            <a:r>
              <a:rPr lang="en-US" sz="2400" b="1" dirty="0">
                <a:solidFill>
                  <a:srgbClr val="000000"/>
                </a:solidFill>
                <a:latin typeface="Agency FB" panose="020B0503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Agency FB" panose="020B0503020202020204" pitchFamily="34" charset="0"/>
                <a:ea typeface="Times New Roman" panose="02020603050405020304" pitchFamily="18" charset="0"/>
              </a:rPr>
              <a:t>holda</a:t>
            </a:r>
            <a:r>
              <a:rPr lang="en-US" sz="2400" b="1" dirty="0">
                <a:solidFill>
                  <a:srgbClr val="000000"/>
                </a:solidFill>
                <a:latin typeface="Agency FB" panose="020B0503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Agency FB" panose="020B0503020202020204" pitchFamily="34" charset="0"/>
                <a:ea typeface="Times New Roman" panose="02020603050405020304" pitchFamily="18" charset="0"/>
              </a:rPr>
              <a:t>o’zbek</a:t>
            </a:r>
            <a:r>
              <a:rPr lang="en-US" sz="2400" b="1" dirty="0">
                <a:solidFill>
                  <a:srgbClr val="000000"/>
                </a:solidFill>
                <a:latin typeface="Agency FB" panose="020B0503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Agency FB" panose="020B0503020202020204" pitchFamily="34" charset="0"/>
                <a:ea typeface="Times New Roman" panose="02020603050405020304" pitchFamily="18" charset="0"/>
              </a:rPr>
              <a:t>milliy</a:t>
            </a:r>
            <a:r>
              <a:rPr lang="en-US" sz="2400" b="1" dirty="0">
                <a:solidFill>
                  <a:srgbClr val="000000"/>
                </a:solidFill>
                <a:latin typeface="Agency FB" panose="020B0503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Agency FB" panose="020B0503020202020204" pitchFamily="34" charset="0"/>
                <a:ea typeface="Times New Roman" panose="02020603050405020304" pitchFamily="18" charset="0"/>
              </a:rPr>
              <a:t>valyutasi</a:t>
            </a:r>
            <a:r>
              <a:rPr lang="en-US" sz="2400" b="1" dirty="0">
                <a:solidFill>
                  <a:srgbClr val="000000"/>
                </a:solidFill>
                <a:latin typeface="Agency FB" panose="020B0503020202020204" pitchFamily="34" charset="0"/>
                <a:ea typeface="Times New Roman" panose="02020603050405020304" pitchFamily="18" charset="0"/>
              </a:rPr>
              <a:t> - </a:t>
            </a:r>
            <a:r>
              <a:rPr lang="en-US" sz="2400" b="1" dirty="0" err="1">
                <a:solidFill>
                  <a:srgbClr val="000000"/>
                </a:solidFill>
                <a:latin typeface="Agency FB" panose="020B0503020202020204" pitchFamily="34" charset="0"/>
                <a:ea typeface="Times New Roman" panose="02020603050405020304" pitchFamily="18" charset="0"/>
              </a:rPr>
              <a:t>so'mni</a:t>
            </a:r>
            <a:r>
              <a:rPr lang="en-US" sz="2400" b="1" dirty="0">
                <a:solidFill>
                  <a:srgbClr val="000000"/>
                </a:solidFill>
                <a:latin typeface="Agency FB" panose="020B0503020202020204" pitchFamily="34" charset="0"/>
                <a:ea typeface="Times New Roman" panose="02020603050405020304" pitchFamily="18" charset="0"/>
              </a:rPr>
              <a:t> ham </a:t>
            </a:r>
            <a:r>
              <a:rPr lang="en-US" sz="2400" b="1" dirty="0" err="1">
                <a:solidFill>
                  <a:srgbClr val="000000"/>
                </a:solidFill>
                <a:latin typeface="Agency FB" panose="020B0503020202020204" pitchFamily="34" charset="0"/>
                <a:ea typeface="Times New Roman" panose="02020603050405020304" pitchFamily="18" charset="0"/>
              </a:rPr>
              <a:t>blokcheynga</a:t>
            </a:r>
            <a:r>
              <a:rPr lang="en-US" sz="2400" b="1" dirty="0">
                <a:solidFill>
                  <a:srgbClr val="000000"/>
                </a:solidFill>
                <a:latin typeface="Agency FB" panose="020B0503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Agency FB" panose="020B0503020202020204" pitchFamily="34" charset="0"/>
                <a:ea typeface="Times New Roman" panose="02020603050405020304" pitchFamily="18" charset="0"/>
              </a:rPr>
              <a:t>o’tkazish</a:t>
            </a:r>
            <a:r>
              <a:rPr lang="en-US" sz="2400" b="1" dirty="0">
                <a:solidFill>
                  <a:srgbClr val="000000"/>
                </a:solidFill>
                <a:latin typeface="Agency FB" panose="020B0503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Agency FB" panose="020B0503020202020204" pitchFamily="34" charset="0"/>
                <a:ea typeface="Times New Roman" panose="02020603050405020304" pitchFamily="18" charset="0"/>
              </a:rPr>
              <a:t>davlatga</a:t>
            </a:r>
            <a:r>
              <a:rPr lang="en-US" sz="2400" b="1" dirty="0">
                <a:solidFill>
                  <a:srgbClr val="000000"/>
                </a:solidFill>
                <a:latin typeface="Agency FB" panose="020B0503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Agency FB" panose="020B0503020202020204" pitchFamily="34" charset="0"/>
                <a:ea typeface="Times New Roman" panose="02020603050405020304" pitchFamily="18" charset="0"/>
              </a:rPr>
              <a:t>bir</a:t>
            </a:r>
            <a:r>
              <a:rPr lang="en-US" sz="2400" b="1" dirty="0">
                <a:solidFill>
                  <a:srgbClr val="000000"/>
                </a:solidFill>
                <a:latin typeface="Agency FB" panose="020B0503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Agency FB" panose="020B0503020202020204" pitchFamily="34" charset="0"/>
                <a:ea typeface="Times New Roman" panose="02020603050405020304" pitchFamily="18" charset="0"/>
              </a:rPr>
              <a:t>qancha</a:t>
            </a:r>
            <a:r>
              <a:rPr lang="en-US" sz="2400" b="1" dirty="0">
                <a:solidFill>
                  <a:srgbClr val="000000"/>
                </a:solidFill>
                <a:latin typeface="Agency FB" panose="020B0503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2400" b="1" dirty="0" err="1" smtClean="0">
                <a:solidFill>
                  <a:srgbClr val="000000"/>
                </a:solidFill>
                <a:latin typeface="Agency FB" panose="020B0503020202020204" pitchFamily="34" charset="0"/>
                <a:ea typeface="Times New Roman" panose="02020603050405020304" pitchFamily="18" charset="0"/>
              </a:rPr>
              <a:t>muammolarni</a:t>
            </a:r>
            <a:r>
              <a:rPr lang="en-US" sz="2400" b="1" dirty="0" smtClean="0">
                <a:solidFill>
                  <a:srgbClr val="000000"/>
                </a:solidFill>
                <a:latin typeface="Agency FB" panose="020B0503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Agency FB" panose="020B0503020202020204" pitchFamily="34" charset="0"/>
                <a:ea typeface="Times New Roman" panose="02020603050405020304" pitchFamily="18" charset="0"/>
              </a:rPr>
              <a:t>hal</a:t>
            </a:r>
            <a:r>
              <a:rPr lang="en-US" sz="2400" b="1" dirty="0">
                <a:solidFill>
                  <a:srgbClr val="000000"/>
                </a:solidFill>
                <a:latin typeface="Agency FB" panose="020B0503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Agency FB" panose="020B0503020202020204" pitchFamily="34" charset="0"/>
                <a:ea typeface="Times New Roman" panose="02020603050405020304" pitchFamily="18" charset="0"/>
              </a:rPr>
              <a:t>qilish</a:t>
            </a:r>
            <a:r>
              <a:rPr lang="en-US" sz="2400" b="1" dirty="0">
                <a:solidFill>
                  <a:srgbClr val="000000"/>
                </a:solidFill>
                <a:latin typeface="Agency FB" panose="020B0503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Agency FB" panose="020B0503020202020204" pitchFamily="34" charset="0"/>
                <a:ea typeface="Times New Roman" panose="02020603050405020304" pitchFamily="18" charset="0"/>
              </a:rPr>
              <a:t>imkonini</a:t>
            </a:r>
            <a:r>
              <a:rPr lang="en-US" sz="2400" b="1" dirty="0">
                <a:solidFill>
                  <a:srgbClr val="000000"/>
                </a:solidFill>
                <a:latin typeface="Agency FB" panose="020B0503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Agency FB" panose="020B0503020202020204" pitchFamily="34" charset="0"/>
                <a:ea typeface="Times New Roman" panose="02020603050405020304" pitchFamily="18" charset="0"/>
              </a:rPr>
              <a:t>beradi</a:t>
            </a:r>
            <a:r>
              <a:rPr lang="en-US" sz="2400" b="1" dirty="0">
                <a:solidFill>
                  <a:srgbClr val="000000"/>
                </a:solidFill>
                <a:latin typeface="Agency FB" panose="020B0503020202020204" pitchFamily="34" charset="0"/>
                <a:ea typeface="Times New Roman" panose="02020603050405020304" pitchFamily="18" charset="0"/>
              </a:rPr>
              <a:t>.</a:t>
            </a:r>
            <a:endParaRPr lang="es-ES" sz="3200" b="1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  <a:ea typeface="ＭＳ Ｐゴシック" charset="0"/>
              <a:sym typeface="Gill Sans" charset="0"/>
            </a:endParaRPr>
          </a:p>
        </p:txBody>
      </p:sp>
      <p:grpSp>
        <p:nvGrpSpPr>
          <p:cNvPr id="56" name="组合 1"/>
          <p:cNvGrpSpPr/>
          <p:nvPr/>
        </p:nvGrpSpPr>
        <p:grpSpPr>
          <a:xfrm>
            <a:off x="0" y="2460157"/>
            <a:ext cx="4747566" cy="4295137"/>
            <a:chOff x="-1" y="1047511"/>
            <a:chExt cx="5537985" cy="5225718"/>
          </a:xfrm>
        </p:grpSpPr>
        <p:sp>
          <p:nvSpPr>
            <p:cNvPr id="57" name="Oval 5"/>
            <p:cNvSpPr>
              <a:spLocks noChangeArrowheads="1"/>
            </p:cNvSpPr>
            <p:nvPr/>
          </p:nvSpPr>
          <p:spPr bwMode="auto">
            <a:xfrm flipH="1">
              <a:off x="2122209" y="1459218"/>
              <a:ext cx="2607189" cy="260631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60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</a:endParaRPr>
            </a:p>
          </p:txBody>
        </p:sp>
        <p:sp>
          <p:nvSpPr>
            <p:cNvPr id="58" name="Freeform 6"/>
            <p:cNvSpPr>
              <a:spLocks noEditPoints="1"/>
            </p:cNvSpPr>
            <p:nvPr/>
          </p:nvSpPr>
          <p:spPr bwMode="auto">
            <a:xfrm flipH="1">
              <a:off x="1710506" y="1047511"/>
              <a:ext cx="3430603" cy="3429731"/>
            </a:xfrm>
            <a:custGeom>
              <a:avLst/>
              <a:gdLst>
                <a:gd name="T0" fmla="*/ 1204 w 2407"/>
                <a:gd name="T1" fmla="*/ 2395 h 2407"/>
                <a:gd name="T2" fmla="*/ 1355 w 2407"/>
                <a:gd name="T3" fmla="*/ 2391 h 2407"/>
                <a:gd name="T4" fmla="*/ 990 w 2407"/>
                <a:gd name="T5" fmla="*/ 2375 h 2407"/>
                <a:gd name="T6" fmla="*/ 1489 w 2407"/>
                <a:gd name="T7" fmla="*/ 2360 h 2407"/>
                <a:gd name="T8" fmla="*/ 846 w 2407"/>
                <a:gd name="T9" fmla="*/ 2353 h 2407"/>
                <a:gd name="T10" fmla="*/ 1555 w 2407"/>
                <a:gd name="T11" fmla="*/ 2348 h 2407"/>
                <a:gd name="T12" fmla="*/ 780 w 2407"/>
                <a:gd name="T13" fmla="*/ 2329 h 2407"/>
                <a:gd name="T14" fmla="*/ 780 w 2407"/>
                <a:gd name="T15" fmla="*/ 2329 h 2407"/>
                <a:gd name="T16" fmla="*/ 1698 w 2407"/>
                <a:gd name="T17" fmla="*/ 2301 h 2407"/>
                <a:gd name="T18" fmla="*/ 650 w 2407"/>
                <a:gd name="T19" fmla="*/ 2259 h 2407"/>
                <a:gd name="T20" fmla="*/ 1889 w 2407"/>
                <a:gd name="T21" fmla="*/ 2185 h 2407"/>
                <a:gd name="T22" fmla="*/ 461 w 2407"/>
                <a:gd name="T23" fmla="*/ 2142 h 2407"/>
                <a:gd name="T24" fmla="*/ 1938 w 2407"/>
                <a:gd name="T25" fmla="*/ 2141 h 2407"/>
                <a:gd name="T26" fmla="*/ 406 w 2407"/>
                <a:gd name="T27" fmla="*/ 2104 h 2407"/>
                <a:gd name="T28" fmla="*/ 2050 w 2407"/>
                <a:gd name="T29" fmla="*/ 2056 h 2407"/>
                <a:gd name="T30" fmla="*/ 2050 w 2407"/>
                <a:gd name="T31" fmla="*/ 2056 h 2407"/>
                <a:gd name="T32" fmla="*/ 312 w 2407"/>
                <a:gd name="T33" fmla="*/ 2002 h 2407"/>
                <a:gd name="T34" fmla="*/ 2194 w 2407"/>
                <a:gd name="T35" fmla="*/ 1887 h 2407"/>
                <a:gd name="T36" fmla="*/ 184 w 2407"/>
                <a:gd name="T37" fmla="*/ 1820 h 2407"/>
                <a:gd name="T38" fmla="*/ 2259 w 2407"/>
                <a:gd name="T39" fmla="*/ 1757 h 2407"/>
                <a:gd name="T40" fmla="*/ 106 w 2407"/>
                <a:gd name="T41" fmla="*/ 1698 h 2407"/>
                <a:gd name="T42" fmla="*/ 2293 w 2407"/>
                <a:gd name="T43" fmla="*/ 1700 h 2407"/>
                <a:gd name="T44" fmla="*/ 84 w 2407"/>
                <a:gd name="T45" fmla="*/ 1635 h 2407"/>
                <a:gd name="T46" fmla="*/ 84 w 2407"/>
                <a:gd name="T47" fmla="*/ 1635 h 2407"/>
                <a:gd name="T48" fmla="*/ 2353 w 2407"/>
                <a:gd name="T49" fmla="*/ 1561 h 2407"/>
                <a:gd name="T50" fmla="*/ 47 w 2407"/>
                <a:gd name="T51" fmla="*/ 1490 h 2407"/>
                <a:gd name="T52" fmla="*/ 2393 w 2407"/>
                <a:gd name="T53" fmla="*/ 1342 h 2407"/>
                <a:gd name="T54" fmla="*/ 8 w 2407"/>
                <a:gd name="T55" fmla="*/ 1271 h 2407"/>
                <a:gd name="T56" fmla="*/ 2393 w 2407"/>
                <a:gd name="T57" fmla="*/ 1275 h 2407"/>
                <a:gd name="T58" fmla="*/ 2399 w 2407"/>
                <a:gd name="T59" fmla="*/ 1282 h 2407"/>
                <a:gd name="T60" fmla="*/ 12 w 2407"/>
                <a:gd name="T61" fmla="*/ 1203 h 2407"/>
                <a:gd name="T62" fmla="*/ 2398 w 2407"/>
                <a:gd name="T63" fmla="*/ 1056 h 2407"/>
                <a:gd name="T64" fmla="*/ 27 w 2407"/>
                <a:gd name="T65" fmla="*/ 983 h 2407"/>
                <a:gd name="T66" fmla="*/ 2364 w 2407"/>
                <a:gd name="T67" fmla="*/ 908 h 2407"/>
                <a:gd name="T68" fmla="*/ 35 w 2407"/>
                <a:gd name="T69" fmla="*/ 917 h 2407"/>
                <a:gd name="T70" fmla="*/ 2341 w 2407"/>
                <a:gd name="T71" fmla="*/ 846 h 2407"/>
                <a:gd name="T72" fmla="*/ 83 w 2407"/>
                <a:gd name="T73" fmla="*/ 786 h 2407"/>
                <a:gd name="T74" fmla="*/ 83 w 2407"/>
                <a:gd name="T75" fmla="*/ 786 h 2407"/>
                <a:gd name="T76" fmla="*/ 2297 w 2407"/>
                <a:gd name="T77" fmla="*/ 715 h 2407"/>
                <a:gd name="T78" fmla="*/ 183 w 2407"/>
                <a:gd name="T79" fmla="*/ 588 h 2407"/>
                <a:gd name="T80" fmla="*/ 2193 w 2407"/>
                <a:gd name="T81" fmla="*/ 518 h 2407"/>
                <a:gd name="T82" fmla="*/ 256 w 2407"/>
                <a:gd name="T83" fmla="*/ 462 h 2407"/>
                <a:gd name="T84" fmla="*/ 2094 w 2407"/>
                <a:gd name="T85" fmla="*/ 412 h 2407"/>
                <a:gd name="T86" fmla="*/ 303 w 2407"/>
                <a:gd name="T87" fmla="*/ 415 h 2407"/>
                <a:gd name="T88" fmla="*/ 2049 w 2407"/>
                <a:gd name="T89" fmla="*/ 361 h 2407"/>
                <a:gd name="T90" fmla="*/ 2049 w 2407"/>
                <a:gd name="T91" fmla="*/ 361 h 2407"/>
                <a:gd name="T92" fmla="*/ 413 w 2407"/>
                <a:gd name="T93" fmla="*/ 312 h 2407"/>
                <a:gd name="T94" fmla="*/ 1944 w 2407"/>
                <a:gd name="T95" fmla="*/ 255 h 2407"/>
                <a:gd name="T96" fmla="*/ 588 w 2407"/>
                <a:gd name="T97" fmla="*/ 176 h 2407"/>
                <a:gd name="T98" fmla="*/ 1753 w 2407"/>
                <a:gd name="T99" fmla="*/ 139 h 2407"/>
                <a:gd name="T100" fmla="*/ 643 w 2407"/>
                <a:gd name="T101" fmla="*/ 138 h 2407"/>
                <a:gd name="T102" fmla="*/ 1691 w 2407"/>
                <a:gd name="T103" fmla="*/ 116 h 2407"/>
                <a:gd name="T104" fmla="*/ 777 w 2407"/>
                <a:gd name="T105" fmla="*/ 90 h 2407"/>
                <a:gd name="T106" fmla="*/ 777 w 2407"/>
                <a:gd name="T107" fmla="*/ 90 h 2407"/>
                <a:gd name="T108" fmla="*/ 1564 w 2407"/>
                <a:gd name="T109" fmla="*/ 61 h 2407"/>
                <a:gd name="T110" fmla="*/ 987 w 2407"/>
                <a:gd name="T111" fmla="*/ 32 h 2407"/>
                <a:gd name="T112" fmla="*/ 1347 w 2407"/>
                <a:gd name="T113" fmla="*/ 8 h 2407"/>
                <a:gd name="T114" fmla="*/ 1129 w 2407"/>
                <a:gd name="T115" fmla="*/ 2 h 2407"/>
                <a:gd name="T116" fmla="*/ 1204 w 2407"/>
                <a:gd name="T117" fmla="*/ 12 h 2407"/>
                <a:gd name="T118" fmla="*/ 1274 w 2407"/>
                <a:gd name="T119" fmla="*/ 14 h 2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407" h="2407">
                  <a:moveTo>
                    <a:pt x="1204" y="2407"/>
                  </a:moveTo>
                  <a:cubicBezTo>
                    <a:pt x="1204" y="2407"/>
                    <a:pt x="1204" y="2407"/>
                    <a:pt x="1204" y="2407"/>
                  </a:cubicBezTo>
                  <a:cubicBezTo>
                    <a:pt x="1180" y="2407"/>
                    <a:pt x="1155" y="2406"/>
                    <a:pt x="1132" y="2404"/>
                  </a:cubicBezTo>
                  <a:cubicBezTo>
                    <a:pt x="1128" y="2404"/>
                    <a:pt x="1126" y="2401"/>
                    <a:pt x="1126" y="2398"/>
                  </a:cubicBezTo>
                  <a:cubicBezTo>
                    <a:pt x="1126" y="2395"/>
                    <a:pt x="1129" y="2392"/>
                    <a:pt x="1132" y="2392"/>
                  </a:cubicBezTo>
                  <a:cubicBezTo>
                    <a:pt x="1156" y="2394"/>
                    <a:pt x="1180" y="2395"/>
                    <a:pt x="1204" y="2395"/>
                  </a:cubicBezTo>
                  <a:cubicBezTo>
                    <a:pt x="1204" y="2395"/>
                    <a:pt x="1204" y="2395"/>
                    <a:pt x="1204" y="2395"/>
                  </a:cubicBezTo>
                  <a:cubicBezTo>
                    <a:pt x="1208" y="2395"/>
                    <a:pt x="1210" y="2397"/>
                    <a:pt x="1210" y="2401"/>
                  </a:cubicBezTo>
                  <a:cubicBezTo>
                    <a:pt x="1210" y="2404"/>
                    <a:pt x="1208" y="2407"/>
                    <a:pt x="1204" y="2407"/>
                  </a:cubicBezTo>
                  <a:close/>
                  <a:moveTo>
                    <a:pt x="1277" y="2404"/>
                  </a:moveTo>
                  <a:cubicBezTo>
                    <a:pt x="1273" y="2404"/>
                    <a:pt x="1271" y="2402"/>
                    <a:pt x="1271" y="2399"/>
                  </a:cubicBezTo>
                  <a:cubicBezTo>
                    <a:pt x="1270" y="2395"/>
                    <a:pt x="1273" y="2393"/>
                    <a:pt x="1276" y="2392"/>
                  </a:cubicBezTo>
                  <a:cubicBezTo>
                    <a:pt x="1300" y="2391"/>
                    <a:pt x="1324" y="2389"/>
                    <a:pt x="1348" y="2386"/>
                  </a:cubicBezTo>
                  <a:cubicBezTo>
                    <a:pt x="1351" y="2386"/>
                    <a:pt x="1354" y="2388"/>
                    <a:pt x="1355" y="2391"/>
                  </a:cubicBezTo>
                  <a:cubicBezTo>
                    <a:pt x="1355" y="2394"/>
                    <a:pt x="1353" y="2397"/>
                    <a:pt x="1349" y="2398"/>
                  </a:cubicBezTo>
                  <a:cubicBezTo>
                    <a:pt x="1325" y="2401"/>
                    <a:pt x="1301" y="2403"/>
                    <a:pt x="1277" y="2404"/>
                  </a:cubicBezTo>
                  <a:close/>
                  <a:moveTo>
                    <a:pt x="1060" y="2398"/>
                  </a:moveTo>
                  <a:cubicBezTo>
                    <a:pt x="1059" y="2398"/>
                    <a:pt x="1059" y="2398"/>
                    <a:pt x="1059" y="2398"/>
                  </a:cubicBezTo>
                  <a:cubicBezTo>
                    <a:pt x="1035" y="2395"/>
                    <a:pt x="1011" y="2392"/>
                    <a:pt x="987" y="2387"/>
                  </a:cubicBezTo>
                  <a:cubicBezTo>
                    <a:pt x="984" y="2387"/>
                    <a:pt x="982" y="2384"/>
                    <a:pt x="983" y="2380"/>
                  </a:cubicBezTo>
                  <a:cubicBezTo>
                    <a:pt x="983" y="2377"/>
                    <a:pt x="986" y="2375"/>
                    <a:pt x="990" y="2375"/>
                  </a:cubicBezTo>
                  <a:cubicBezTo>
                    <a:pt x="1013" y="2380"/>
                    <a:pt x="1037" y="2383"/>
                    <a:pt x="1061" y="2386"/>
                  </a:cubicBezTo>
                  <a:cubicBezTo>
                    <a:pt x="1064" y="2386"/>
                    <a:pt x="1066" y="2389"/>
                    <a:pt x="1066" y="2393"/>
                  </a:cubicBezTo>
                  <a:cubicBezTo>
                    <a:pt x="1066" y="2396"/>
                    <a:pt x="1063" y="2398"/>
                    <a:pt x="1060" y="2398"/>
                  </a:cubicBezTo>
                  <a:close/>
                  <a:moveTo>
                    <a:pt x="1420" y="2387"/>
                  </a:moveTo>
                  <a:cubicBezTo>
                    <a:pt x="1417" y="2387"/>
                    <a:pt x="1415" y="2385"/>
                    <a:pt x="1414" y="2382"/>
                  </a:cubicBezTo>
                  <a:cubicBezTo>
                    <a:pt x="1414" y="2379"/>
                    <a:pt x="1416" y="2376"/>
                    <a:pt x="1419" y="2375"/>
                  </a:cubicBezTo>
                  <a:cubicBezTo>
                    <a:pt x="1443" y="2371"/>
                    <a:pt x="1466" y="2366"/>
                    <a:pt x="1489" y="2360"/>
                  </a:cubicBezTo>
                  <a:cubicBezTo>
                    <a:pt x="1493" y="2359"/>
                    <a:pt x="1496" y="2361"/>
                    <a:pt x="1497" y="2365"/>
                  </a:cubicBezTo>
                  <a:cubicBezTo>
                    <a:pt x="1497" y="2368"/>
                    <a:pt x="1495" y="2371"/>
                    <a:pt x="1492" y="2372"/>
                  </a:cubicBezTo>
                  <a:cubicBezTo>
                    <a:pt x="1469" y="2378"/>
                    <a:pt x="1445" y="2383"/>
                    <a:pt x="1421" y="2387"/>
                  </a:cubicBezTo>
                  <a:cubicBezTo>
                    <a:pt x="1421" y="2387"/>
                    <a:pt x="1420" y="2387"/>
                    <a:pt x="1420" y="2387"/>
                  </a:cubicBezTo>
                  <a:close/>
                  <a:moveTo>
                    <a:pt x="918" y="2372"/>
                  </a:moveTo>
                  <a:cubicBezTo>
                    <a:pt x="917" y="2372"/>
                    <a:pt x="917" y="2372"/>
                    <a:pt x="916" y="2372"/>
                  </a:cubicBezTo>
                  <a:cubicBezTo>
                    <a:pt x="893" y="2366"/>
                    <a:pt x="869" y="2360"/>
                    <a:pt x="846" y="2353"/>
                  </a:cubicBezTo>
                  <a:cubicBezTo>
                    <a:pt x="843" y="2352"/>
                    <a:pt x="841" y="2348"/>
                    <a:pt x="842" y="2345"/>
                  </a:cubicBezTo>
                  <a:cubicBezTo>
                    <a:pt x="843" y="2342"/>
                    <a:pt x="847" y="2340"/>
                    <a:pt x="850" y="2341"/>
                  </a:cubicBezTo>
                  <a:cubicBezTo>
                    <a:pt x="873" y="2348"/>
                    <a:pt x="896" y="2355"/>
                    <a:pt x="919" y="2360"/>
                  </a:cubicBezTo>
                  <a:cubicBezTo>
                    <a:pt x="922" y="2361"/>
                    <a:pt x="924" y="2364"/>
                    <a:pt x="924" y="2368"/>
                  </a:cubicBezTo>
                  <a:cubicBezTo>
                    <a:pt x="923" y="2370"/>
                    <a:pt x="921" y="2372"/>
                    <a:pt x="918" y="2372"/>
                  </a:cubicBezTo>
                  <a:close/>
                  <a:moveTo>
                    <a:pt x="1560" y="2353"/>
                  </a:moveTo>
                  <a:cubicBezTo>
                    <a:pt x="1558" y="2353"/>
                    <a:pt x="1555" y="2351"/>
                    <a:pt x="1555" y="2348"/>
                  </a:cubicBezTo>
                  <a:cubicBezTo>
                    <a:pt x="1554" y="2345"/>
                    <a:pt x="1555" y="2342"/>
                    <a:pt x="1559" y="2341"/>
                  </a:cubicBezTo>
                  <a:cubicBezTo>
                    <a:pt x="1581" y="2334"/>
                    <a:pt x="1604" y="2326"/>
                    <a:pt x="1627" y="2317"/>
                  </a:cubicBezTo>
                  <a:cubicBezTo>
                    <a:pt x="1630" y="2316"/>
                    <a:pt x="1633" y="2318"/>
                    <a:pt x="1634" y="2321"/>
                  </a:cubicBezTo>
                  <a:cubicBezTo>
                    <a:pt x="1636" y="2324"/>
                    <a:pt x="1634" y="2327"/>
                    <a:pt x="1631" y="2329"/>
                  </a:cubicBezTo>
                  <a:cubicBezTo>
                    <a:pt x="1608" y="2337"/>
                    <a:pt x="1585" y="2345"/>
                    <a:pt x="1562" y="2352"/>
                  </a:cubicBezTo>
                  <a:cubicBezTo>
                    <a:pt x="1562" y="2352"/>
                    <a:pt x="1561" y="2353"/>
                    <a:pt x="1560" y="2353"/>
                  </a:cubicBezTo>
                  <a:close/>
                  <a:moveTo>
                    <a:pt x="780" y="2329"/>
                  </a:moveTo>
                  <a:cubicBezTo>
                    <a:pt x="779" y="2329"/>
                    <a:pt x="778" y="2329"/>
                    <a:pt x="778" y="2329"/>
                  </a:cubicBezTo>
                  <a:cubicBezTo>
                    <a:pt x="755" y="2320"/>
                    <a:pt x="732" y="2311"/>
                    <a:pt x="710" y="2301"/>
                  </a:cubicBezTo>
                  <a:cubicBezTo>
                    <a:pt x="707" y="2300"/>
                    <a:pt x="706" y="2296"/>
                    <a:pt x="707" y="2293"/>
                  </a:cubicBezTo>
                  <a:cubicBezTo>
                    <a:pt x="709" y="2290"/>
                    <a:pt x="712" y="2289"/>
                    <a:pt x="715" y="2290"/>
                  </a:cubicBezTo>
                  <a:cubicBezTo>
                    <a:pt x="737" y="2300"/>
                    <a:pt x="759" y="2309"/>
                    <a:pt x="782" y="2318"/>
                  </a:cubicBezTo>
                  <a:cubicBezTo>
                    <a:pt x="785" y="2319"/>
                    <a:pt x="786" y="2322"/>
                    <a:pt x="785" y="2325"/>
                  </a:cubicBezTo>
                  <a:cubicBezTo>
                    <a:pt x="784" y="2328"/>
                    <a:pt x="782" y="2329"/>
                    <a:pt x="780" y="2329"/>
                  </a:cubicBezTo>
                  <a:close/>
                  <a:moveTo>
                    <a:pt x="1695" y="2301"/>
                  </a:moveTo>
                  <a:cubicBezTo>
                    <a:pt x="1693" y="2301"/>
                    <a:pt x="1691" y="2300"/>
                    <a:pt x="1690" y="2298"/>
                  </a:cubicBezTo>
                  <a:cubicBezTo>
                    <a:pt x="1689" y="2295"/>
                    <a:pt x="1690" y="2291"/>
                    <a:pt x="1693" y="2290"/>
                  </a:cubicBezTo>
                  <a:cubicBezTo>
                    <a:pt x="1715" y="2280"/>
                    <a:pt x="1736" y="2269"/>
                    <a:pt x="1758" y="2258"/>
                  </a:cubicBezTo>
                  <a:cubicBezTo>
                    <a:pt x="1760" y="2257"/>
                    <a:pt x="1764" y="2258"/>
                    <a:pt x="1766" y="2261"/>
                  </a:cubicBezTo>
                  <a:cubicBezTo>
                    <a:pt x="1767" y="2264"/>
                    <a:pt x="1766" y="2267"/>
                    <a:pt x="1763" y="2269"/>
                  </a:cubicBezTo>
                  <a:cubicBezTo>
                    <a:pt x="1742" y="2280"/>
                    <a:pt x="1720" y="2291"/>
                    <a:pt x="1698" y="2301"/>
                  </a:cubicBezTo>
                  <a:cubicBezTo>
                    <a:pt x="1697" y="2301"/>
                    <a:pt x="1696" y="2301"/>
                    <a:pt x="1695" y="2301"/>
                  </a:cubicBezTo>
                  <a:close/>
                  <a:moveTo>
                    <a:pt x="648" y="2270"/>
                  </a:moveTo>
                  <a:cubicBezTo>
                    <a:pt x="647" y="2270"/>
                    <a:pt x="646" y="2270"/>
                    <a:pt x="645" y="2269"/>
                  </a:cubicBezTo>
                  <a:cubicBezTo>
                    <a:pt x="624" y="2258"/>
                    <a:pt x="602" y="2246"/>
                    <a:pt x="582" y="2233"/>
                  </a:cubicBezTo>
                  <a:cubicBezTo>
                    <a:pt x="579" y="2232"/>
                    <a:pt x="578" y="2228"/>
                    <a:pt x="579" y="2225"/>
                  </a:cubicBezTo>
                  <a:cubicBezTo>
                    <a:pt x="581" y="2222"/>
                    <a:pt x="585" y="2222"/>
                    <a:pt x="588" y="2223"/>
                  </a:cubicBezTo>
                  <a:cubicBezTo>
                    <a:pt x="608" y="2236"/>
                    <a:pt x="629" y="2248"/>
                    <a:pt x="650" y="2259"/>
                  </a:cubicBezTo>
                  <a:cubicBezTo>
                    <a:pt x="653" y="2260"/>
                    <a:pt x="654" y="2264"/>
                    <a:pt x="653" y="2267"/>
                  </a:cubicBezTo>
                  <a:cubicBezTo>
                    <a:pt x="652" y="2269"/>
                    <a:pt x="650" y="2270"/>
                    <a:pt x="648" y="2270"/>
                  </a:cubicBezTo>
                  <a:close/>
                  <a:moveTo>
                    <a:pt x="1823" y="2234"/>
                  </a:moveTo>
                  <a:cubicBezTo>
                    <a:pt x="1821" y="2234"/>
                    <a:pt x="1819" y="2233"/>
                    <a:pt x="1818" y="2231"/>
                  </a:cubicBezTo>
                  <a:cubicBezTo>
                    <a:pt x="1816" y="2228"/>
                    <a:pt x="1817" y="2225"/>
                    <a:pt x="1820" y="2223"/>
                  </a:cubicBezTo>
                  <a:cubicBezTo>
                    <a:pt x="1841" y="2211"/>
                    <a:pt x="1861" y="2197"/>
                    <a:pt x="1880" y="2184"/>
                  </a:cubicBezTo>
                  <a:cubicBezTo>
                    <a:pt x="1883" y="2182"/>
                    <a:pt x="1887" y="2183"/>
                    <a:pt x="1889" y="2185"/>
                  </a:cubicBezTo>
                  <a:cubicBezTo>
                    <a:pt x="1891" y="2188"/>
                    <a:pt x="1890" y="2192"/>
                    <a:pt x="1887" y="2194"/>
                  </a:cubicBezTo>
                  <a:cubicBezTo>
                    <a:pt x="1867" y="2207"/>
                    <a:pt x="1847" y="2221"/>
                    <a:pt x="1826" y="2233"/>
                  </a:cubicBezTo>
                  <a:cubicBezTo>
                    <a:pt x="1825" y="2234"/>
                    <a:pt x="1824" y="2234"/>
                    <a:pt x="1823" y="2234"/>
                  </a:cubicBezTo>
                  <a:close/>
                  <a:moveTo>
                    <a:pt x="524" y="2195"/>
                  </a:moveTo>
                  <a:cubicBezTo>
                    <a:pt x="523" y="2195"/>
                    <a:pt x="521" y="2195"/>
                    <a:pt x="520" y="2194"/>
                  </a:cubicBezTo>
                  <a:cubicBezTo>
                    <a:pt x="501" y="2180"/>
                    <a:pt x="481" y="2166"/>
                    <a:pt x="462" y="2151"/>
                  </a:cubicBezTo>
                  <a:cubicBezTo>
                    <a:pt x="459" y="2149"/>
                    <a:pt x="459" y="2145"/>
                    <a:pt x="461" y="2142"/>
                  </a:cubicBezTo>
                  <a:cubicBezTo>
                    <a:pt x="463" y="2140"/>
                    <a:pt x="467" y="2139"/>
                    <a:pt x="469" y="2141"/>
                  </a:cubicBezTo>
                  <a:cubicBezTo>
                    <a:pt x="488" y="2156"/>
                    <a:pt x="508" y="2171"/>
                    <a:pt x="527" y="2184"/>
                  </a:cubicBezTo>
                  <a:cubicBezTo>
                    <a:pt x="530" y="2186"/>
                    <a:pt x="531" y="2190"/>
                    <a:pt x="529" y="2192"/>
                  </a:cubicBezTo>
                  <a:cubicBezTo>
                    <a:pt x="528" y="2194"/>
                    <a:pt x="526" y="2195"/>
                    <a:pt x="524" y="2195"/>
                  </a:cubicBezTo>
                  <a:close/>
                  <a:moveTo>
                    <a:pt x="1942" y="2152"/>
                  </a:moveTo>
                  <a:cubicBezTo>
                    <a:pt x="1940" y="2152"/>
                    <a:pt x="1938" y="2151"/>
                    <a:pt x="1937" y="2150"/>
                  </a:cubicBezTo>
                  <a:cubicBezTo>
                    <a:pt x="1935" y="2147"/>
                    <a:pt x="1936" y="2143"/>
                    <a:pt x="1938" y="2141"/>
                  </a:cubicBezTo>
                  <a:cubicBezTo>
                    <a:pt x="1957" y="2126"/>
                    <a:pt x="1976" y="2111"/>
                    <a:pt x="1994" y="2095"/>
                  </a:cubicBezTo>
                  <a:cubicBezTo>
                    <a:pt x="1996" y="2093"/>
                    <a:pt x="2000" y="2093"/>
                    <a:pt x="2002" y="2096"/>
                  </a:cubicBezTo>
                  <a:cubicBezTo>
                    <a:pt x="2004" y="2098"/>
                    <a:pt x="2004" y="2102"/>
                    <a:pt x="2002" y="2104"/>
                  </a:cubicBezTo>
                  <a:cubicBezTo>
                    <a:pt x="1983" y="2120"/>
                    <a:pt x="1965" y="2136"/>
                    <a:pt x="1946" y="2151"/>
                  </a:cubicBezTo>
                  <a:cubicBezTo>
                    <a:pt x="1945" y="2151"/>
                    <a:pt x="1943" y="2152"/>
                    <a:pt x="1942" y="2152"/>
                  </a:cubicBezTo>
                  <a:close/>
                  <a:moveTo>
                    <a:pt x="410" y="2106"/>
                  </a:moveTo>
                  <a:cubicBezTo>
                    <a:pt x="409" y="2106"/>
                    <a:pt x="407" y="2105"/>
                    <a:pt x="406" y="2104"/>
                  </a:cubicBezTo>
                  <a:cubicBezTo>
                    <a:pt x="388" y="2088"/>
                    <a:pt x="370" y="2072"/>
                    <a:pt x="353" y="2054"/>
                  </a:cubicBezTo>
                  <a:cubicBezTo>
                    <a:pt x="351" y="2052"/>
                    <a:pt x="351" y="2048"/>
                    <a:pt x="353" y="2046"/>
                  </a:cubicBezTo>
                  <a:cubicBezTo>
                    <a:pt x="355" y="2044"/>
                    <a:pt x="359" y="2044"/>
                    <a:pt x="362" y="2046"/>
                  </a:cubicBezTo>
                  <a:cubicBezTo>
                    <a:pt x="379" y="2063"/>
                    <a:pt x="396" y="2080"/>
                    <a:pt x="414" y="2095"/>
                  </a:cubicBezTo>
                  <a:cubicBezTo>
                    <a:pt x="417" y="2098"/>
                    <a:pt x="417" y="2101"/>
                    <a:pt x="415" y="2104"/>
                  </a:cubicBezTo>
                  <a:cubicBezTo>
                    <a:pt x="413" y="2105"/>
                    <a:pt x="412" y="2106"/>
                    <a:pt x="410" y="2106"/>
                  </a:cubicBezTo>
                  <a:close/>
                  <a:moveTo>
                    <a:pt x="2050" y="2056"/>
                  </a:moveTo>
                  <a:cubicBezTo>
                    <a:pt x="2049" y="2056"/>
                    <a:pt x="2047" y="2055"/>
                    <a:pt x="2046" y="2054"/>
                  </a:cubicBezTo>
                  <a:cubicBezTo>
                    <a:pt x="2044" y="2052"/>
                    <a:pt x="2044" y="2048"/>
                    <a:pt x="2046" y="2046"/>
                  </a:cubicBezTo>
                  <a:cubicBezTo>
                    <a:pt x="2063" y="2029"/>
                    <a:pt x="2079" y="2011"/>
                    <a:pt x="2095" y="1993"/>
                  </a:cubicBezTo>
                  <a:cubicBezTo>
                    <a:pt x="2097" y="1991"/>
                    <a:pt x="2101" y="1991"/>
                    <a:pt x="2104" y="1993"/>
                  </a:cubicBezTo>
                  <a:cubicBezTo>
                    <a:pt x="2106" y="1995"/>
                    <a:pt x="2106" y="1999"/>
                    <a:pt x="2104" y="2001"/>
                  </a:cubicBezTo>
                  <a:cubicBezTo>
                    <a:pt x="2088" y="2019"/>
                    <a:pt x="2071" y="2037"/>
                    <a:pt x="2054" y="2054"/>
                  </a:cubicBezTo>
                  <a:cubicBezTo>
                    <a:pt x="2053" y="2055"/>
                    <a:pt x="2052" y="2056"/>
                    <a:pt x="2050" y="2056"/>
                  </a:cubicBezTo>
                  <a:close/>
                  <a:moveTo>
                    <a:pt x="308" y="2004"/>
                  </a:moveTo>
                  <a:cubicBezTo>
                    <a:pt x="306" y="2004"/>
                    <a:pt x="304" y="2003"/>
                    <a:pt x="303" y="2002"/>
                  </a:cubicBezTo>
                  <a:cubicBezTo>
                    <a:pt x="287" y="1984"/>
                    <a:pt x="272" y="1965"/>
                    <a:pt x="257" y="1946"/>
                  </a:cubicBezTo>
                  <a:cubicBezTo>
                    <a:pt x="255" y="1943"/>
                    <a:pt x="255" y="1939"/>
                    <a:pt x="258" y="1937"/>
                  </a:cubicBezTo>
                  <a:cubicBezTo>
                    <a:pt x="260" y="1935"/>
                    <a:pt x="264" y="1936"/>
                    <a:pt x="266" y="1938"/>
                  </a:cubicBezTo>
                  <a:cubicBezTo>
                    <a:pt x="281" y="1957"/>
                    <a:pt x="296" y="1976"/>
                    <a:pt x="312" y="1994"/>
                  </a:cubicBezTo>
                  <a:cubicBezTo>
                    <a:pt x="314" y="1996"/>
                    <a:pt x="314" y="2000"/>
                    <a:pt x="312" y="2002"/>
                  </a:cubicBezTo>
                  <a:cubicBezTo>
                    <a:pt x="311" y="2003"/>
                    <a:pt x="309" y="2004"/>
                    <a:pt x="308" y="2004"/>
                  </a:cubicBezTo>
                  <a:close/>
                  <a:moveTo>
                    <a:pt x="2146" y="1948"/>
                  </a:moveTo>
                  <a:cubicBezTo>
                    <a:pt x="2145" y="1948"/>
                    <a:pt x="2143" y="1947"/>
                    <a:pt x="2142" y="1947"/>
                  </a:cubicBezTo>
                  <a:cubicBezTo>
                    <a:pt x="2140" y="1945"/>
                    <a:pt x="2139" y="1941"/>
                    <a:pt x="2141" y="1938"/>
                  </a:cubicBezTo>
                  <a:cubicBezTo>
                    <a:pt x="2156" y="1919"/>
                    <a:pt x="2171" y="1900"/>
                    <a:pt x="2184" y="1880"/>
                  </a:cubicBezTo>
                  <a:cubicBezTo>
                    <a:pt x="2186" y="1877"/>
                    <a:pt x="2190" y="1877"/>
                    <a:pt x="2192" y="1879"/>
                  </a:cubicBezTo>
                  <a:cubicBezTo>
                    <a:pt x="2195" y="1881"/>
                    <a:pt x="2196" y="1884"/>
                    <a:pt x="2194" y="1887"/>
                  </a:cubicBezTo>
                  <a:cubicBezTo>
                    <a:pt x="2180" y="1907"/>
                    <a:pt x="2166" y="1927"/>
                    <a:pt x="2151" y="1946"/>
                  </a:cubicBezTo>
                  <a:cubicBezTo>
                    <a:pt x="2150" y="1947"/>
                    <a:pt x="2148" y="1948"/>
                    <a:pt x="2146" y="1948"/>
                  </a:cubicBezTo>
                  <a:close/>
                  <a:moveTo>
                    <a:pt x="219" y="1890"/>
                  </a:moveTo>
                  <a:cubicBezTo>
                    <a:pt x="217" y="1890"/>
                    <a:pt x="215" y="1889"/>
                    <a:pt x="214" y="1887"/>
                  </a:cubicBezTo>
                  <a:cubicBezTo>
                    <a:pt x="200" y="1868"/>
                    <a:pt x="187" y="1847"/>
                    <a:pt x="174" y="1826"/>
                  </a:cubicBezTo>
                  <a:cubicBezTo>
                    <a:pt x="172" y="1824"/>
                    <a:pt x="173" y="1820"/>
                    <a:pt x="176" y="1818"/>
                  </a:cubicBezTo>
                  <a:cubicBezTo>
                    <a:pt x="179" y="1817"/>
                    <a:pt x="183" y="1817"/>
                    <a:pt x="184" y="1820"/>
                  </a:cubicBezTo>
                  <a:cubicBezTo>
                    <a:pt x="197" y="1841"/>
                    <a:pt x="210" y="1861"/>
                    <a:pt x="223" y="1881"/>
                  </a:cubicBezTo>
                  <a:cubicBezTo>
                    <a:pt x="225" y="1883"/>
                    <a:pt x="225" y="1887"/>
                    <a:pt x="222" y="1889"/>
                  </a:cubicBezTo>
                  <a:cubicBezTo>
                    <a:pt x="221" y="1890"/>
                    <a:pt x="220" y="1890"/>
                    <a:pt x="219" y="1890"/>
                  </a:cubicBezTo>
                  <a:close/>
                  <a:moveTo>
                    <a:pt x="2228" y="1829"/>
                  </a:moveTo>
                  <a:cubicBezTo>
                    <a:pt x="2227" y="1829"/>
                    <a:pt x="2226" y="1829"/>
                    <a:pt x="2225" y="1828"/>
                  </a:cubicBezTo>
                  <a:cubicBezTo>
                    <a:pt x="2222" y="1826"/>
                    <a:pt x="2222" y="1823"/>
                    <a:pt x="2223" y="1820"/>
                  </a:cubicBezTo>
                  <a:cubicBezTo>
                    <a:pt x="2236" y="1799"/>
                    <a:pt x="2248" y="1778"/>
                    <a:pt x="2259" y="1757"/>
                  </a:cubicBezTo>
                  <a:cubicBezTo>
                    <a:pt x="2260" y="1754"/>
                    <a:pt x="2264" y="1753"/>
                    <a:pt x="2267" y="1755"/>
                  </a:cubicBezTo>
                  <a:cubicBezTo>
                    <a:pt x="2270" y="1756"/>
                    <a:pt x="2271" y="1760"/>
                    <a:pt x="2269" y="1763"/>
                  </a:cubicBezTo>
                  <a:cubicBezTo>
                    <a:pt x="2258" y="1784"/>
                    <a:pt x="2246" y="1805"/>
                    <a:pt x="2234" y="1826"/>
                  </a:cubicBezTo>
                  <a:cubicBezTo>
                    <a:pt x="2232" y="1828"/>
                    <a:pt x="2230" y="1829"/>
                    <a:pt x="2228" y="1829"/>
                  </a:cubicBezTo>
                  <a:close/>
                  <a:moveTo>
                    <a:pt x="144" y="1767"/>
                  </a:moveTo>
                  <a:cubicBezTo>
                    <a:pt x="141" y="1767"/>
                    <a:pt x="139" y="1765"/>
                    <a:pt x="138" y="1763"/>
                  </a:cubicBezTo>
                  <a:cubicBezTo>
                    <a:pt x="127" y="1742"/>
                    <a:pt x="116" y="1720"/>
                    <a:pt x="106" y="1698"/>
                  </a:cubicBezTo>
                  <a:cubicBezTo>
                    <a:pt x="105" y="1695"/>
                    <a:pt x="106" y="1692"/>
                    <a:pt x="109" y="1690"/>
                  </a:cubicBezTo>
                  <a:cubicBezTo>
                    <a:pt x="112" y="1689"/>
                    <a:pt x="116" y="1690"/>
                    <a:pt x="117" y="1693"/>
                  </a:cubicBezTo>
                  <a:cubicBezTo>
                    <a:pt x="127" y="1715"/>
                    <a:pt x="138" y="1737"/>
                    <a:pt x="149" y="1758"/>
                  </a:cubicBezTo>
                  <a:cubicBezTo>
                    <a:pt x="150" y="1761"/>
                    <a:pt x="149" y="1764"/>
                    <a:pt x="146" y="1766"/>
                  </a:cubicBezTo>
                  <a:cubicBezTo>
                    <a:pt x="146" y="1766"/>
                    <a:pt x="145" y="1767"/>
                    <a:pt x="144" y="1767"/>
                  </a:cubicBezTo>
                  <a:close/>
                  <a:moveTo>
                    <a:pt x="2296" y="1701"/>
                  </a:moveTo>
                  <a:cubicBezTo>
                    <a:pt x="2295" y="1701"/>
                    <a:pt x="2294" y="1701"/>
                    <a:pt x="2293" y="1700"/>
                  </a:cubicBezTo>
                  <a:cubicBezTo>
                    <a:pt x="2290" y="1699"/>
                    <a:pt x="2289" y="1695"/>
                    <a:pt x="2290" y="1692"/>
                  </a:cubicBezTo>
                  <a:cubicBezTo>
                    <a:pt x="2300" y="1671"/>
                    <a:pt x="2309" y="1648"/>
                    <a:pt x="2318" y="1626"/>
                  </a:cubicBezTo>
                  <a:cubicBezTo>
                    <a:pt x="2319" y="1623"/>
                    <a:pt x="2323" y="1621"/>
                    <a:pt x="2326" y="1622"/>
                  </a:cubicBezTo>
                  <a:cubicBezTo>
                    <a:pt x="2329" y="1623"/>
                    <a:pt x="2330" y="1627"/>
                    <a:pt x="2329" y="1630"/>
                  </a:cubicBezTo>
                  <a:cubicBezTo>
                    <a:pt x="2321" y="1653"/>
                    <a:pt x="2311" y="1675"/>
                    <a:pt x="2301" y="1697"/>
                  </a:cubicBezTo>
                  <a:cubicBezTo>
                    <a:pt x="2300" y="1699"/>
                    <a:pt x="2298" y="1701"/>
                    <a:pt x="2296" y="1701"/>
                  </a:cubicBezTo>
                  <a:close/>
                  <a:moveTo>
                    <a:pt x="84" y="1635"/>
                  </a:moveTo>
                  <a:cubicBezTo>
                    <a:pt x="82" y="1635"/>
                    <a:pt x="80" y="1634"/>
                    <a:pt x="79" y="1631"/>
                  </a:cubicBezTo>
                  <a:cubicBezTo>
                    <a:pt x="70" y="1609"/>
                    <a:pt x="62" y="1585"/>
                    <a:pt x="55" y="1562"/>
                  </a:cubicBezTo>
                  <a:cubicBezTo>
                    <a:pt x="54" y="1559"/>
                    <a:pt x="56" y="1556"/>
                    <a:pt x="59" y="1555"/>
                  </a:cubicBezTo>
                  <a:cubicBezTo>
                    <a:pt x="62" y="1554"/>
                    <a:pt x="65" y="1556"/>
                    <a:pt x="66" y="1559"/>
                  </a:cubicBezTo>
                  <a:cubicBezTo>
                    <a:pt x="73" y="1582"/>
                    <a:pt x="81" y="1605"/>
                    <a:pt x="90" y="1627"/>
                  </a:cubicBezTo>
                  <a:cubicBezTo>
                    <a:pt x="91" y="1630"/>
                    <a:pt x="89" y="1633"/>
                    <a:pt x="86" y="1635"/>
                  </a:cubicBezTo>
                  <a:cubicBezTo>
                    <a:pt x="86" y="1635"/>
                    <a:pt x="85" y="1635"/>
                    <a:pt x="84" y="1635"/>
                  </a:cubicBezTo>
                  <a:close/>
                  <a:moveTo>
                    <a:pt x="2347" y="1565"/>
                  </a:moveTo>
                  <a:cubicBezTo>
                    <a:pt x="2347" y="1565"/>
                    <a:pt x="2346" y="1565"/>
                    <a:pt x="2345" y="1565"/>
                  </a:cubicBezTo>
                  <a:cubicBezTo>
                    <a:pt x="2342" y="1564"/>
                    <a:pt x="2340" y="1561"/>
                    <a:pt x="2341" y="1558"/>
                  </a:cubicBezTo>
                  <a:cubicBezTo>
                    <a:pt x="2348" y="1535"/>
                    <a:pt x="2355" y="1512"/>
                    <a:pt x="2361" y="1488"/>
                  </a:cubicBezTo>
                  <a:cubicBezTo>
                    <a:pt x="2361" y="1485"/>
                    <a:pt x="2365" y="1483"/>
                    <a:pt x="2368" y="1484"/>
                  </a:cubicBezTo>
                  <a:cubicBezTo>
                    <a:pt x="2371" y="1485"/>
                    <a:pt x="2373" y="1488"/>
                    <a:pt x="2372" y="1491"/>
                  </a:cubicBezTo>
                  <a:cubicBezTo>
                    <a:pt x="2367" y="1515"/>
                    <a:pt x="2360" y="1538"/>
                    <a:pt x="2353" y="1561"/>
                  </a:cubicBezTo>
                  <a:cubicBezTo>
                    <a:pt x="2352" y="1564"/>
                    <a:pt x="2350" y="1565"/>
                    <a:pt x="2347" y="1565"/>
                  </a:cubicBezTo>
                  <a:close/>
                  <a:moveTo>
                    <a:pt x="41" y="1497"/>
                  </a:moveTo>
                  <a:cubicBezTo>
                    <a:pt x="38" y="1497"/>
                    <a:pt x="36" y="1495"/>
                    <a:pt x="35" y="1492"/>
                  </a:cubicBezTo>
                  <a:cubicBezTo>
                    <a:pt x="30" y="1469"/>
                    <a:pt x="24" y="1445"/>
                    <a:pt x="20" y="1421"/>
                  </a:cubicBezTo>
                  <a:cubicBezTo>
                    <a:pt x="19" y="1418"/>
                    <a:pt x="22" y="1415"/>
                    <a:pt x="25" y="1414"/>
                  </a:cubicBezTo>
                  <a:cubicBezTo>
                    <a:pt x="28" y="1414"/>
                    <a:pt x="31" y="1416"/>
                    <a:pt x="32" y="1419"/>
                  </a:cubicBezTo>
                  <a:cubicBezTo>
                    <a:pt x="36" y="1443"/>
                    <a:pt x="41" y="1466"/>
                    <a:pt x="47" y="1490"/>
                  </a:cubicBezTo>
                  <a:cubicBezTo>
                    <a:pt x="48" y="1493"/>
                    <a:pt x="46" y="1496"/>
                    <a:pt x="43" y="1497"/>
                  </a:cubicBezTo>
                  <a:cubicBezTo>
                    <a:pt x="42" y="1497"/>
                    <a:pt x="42" y="1497"/>
                    <a:pt x="41" y="1497"/>
                  </a:cubicBezTo>
                  <a:close/>
                  <a:moveTo>
                    <a:pt x="2382" y="1425"/>
                  </a:moveTo>
                  <a:cubicBezTo>
                    <a:pt x="2381" y="1425"/>
                    <a:pt x="2381" y="1425"/>
                    <a:pt x="2380" y="1425"/>
                  </a:cubicBezTo>
                  <a:cubicBezTo>
                    <a:pt x="2377" y="1424"/>
                    <a:pt x="2375" y="1421"/>
                    <a:pt x="2376" y="1418"/>
                  </a:cubicBezTo>
                  <a:cubicBezTo>
                    <a:pt x="2380" y="1394"/>
                    <a:pt x="2384" y="1371"/>
                    <a:pt x="2386" y="1347"/>
                  </a:cubicBezTo>
                  <a:cubicBezTo>
                    <a:pt x="2387" y="1344"/>
                    <a:pt x="2390" y="1341"/>
                    <a:pt x="2393" y="1342"/>
                  </a:cubicBezTo>
                  <a:cubicBezTo>
                    <a:pt x="2396" y="1342"/>
                    <a:pt x="2399" y="1345"/>
                    <a:pt x="2398" y="1348"/>
                  </a:cubicBezTo>
                  <a:cubicBezTo>
                    <a:pt x="2395" y="1372"/>
                    <a:pt x="2392" y="1396"/>
                    <a:pt x="2387" y="1420"/>
                  </a:cubicBezTo>
                  <a:cubicBezTo>
                    <a:pt x="2387" y="1423"/>
                    <a:pt x="2384" y="1425"/>
                    <a:pt x="2382" y="1425"/>
                  </a:cubicBezTo>
                  <a:close/>
                  <a:moveTo>
                    <a:pt x="15" y="1355"/>
                  </a:moveTo>
                  <a:cubicBezTo>
                    <a:pt x="12" y="1355"/>
                    <a:pt x="10" y="1353"/>
                    <a:pt x="9" y="1350"/>
                  </a:cubicBezTo>
                  <a:cubicBezTo>
                    <a:pt x="6" y="1326"/>
                    <a:pt x="4" y="1301"/>
                    <a:pt x="3" y="1277"/>
                  </a:cubicBezTo>
                  <a:cubicBezTo>
                    <a:pt x="2" y="1274"/>
                    <a:pt x="5" y="1271"/>
                    <a:pt x="8" y="1271"/>
                  </a:cubicBezTo>
                  <a:cubicBezTo>
                    <a:pt x="11" y="1271"/>
                    <a:pt x="14" y="1273"/>
                    <a:pt x="15" y="1276"/>
                  </a:cubicBezTo>
                  <a:cubicBezTo>
                    <a:pt x="16" y="1300"/>
                    <a:pt x="18" y="1324"/>
                    <a:pt x="21" y="1348"/>
                  </a:cubicBezTo>
                  <a:cubicBezTo>
                    <a:pt x="21" y="1351"/>
                    <a:pt x="19" y="1354"/>
                    <a:pt x="16" y="1355"/>
                  </a:cubicBezTo>
                  <a:lnTo>
                    <a:pt x="15" y="1355"/>
                  </a:lnTo>
                  <a:close/>
                  <a:moveTo>
                    <a:pt x="2399" y="1282"/>
                  </a:moveTo>
                  <a:cubicBezTo>
                    <a:pt x="2398" y="1282"/>
                    <a:pt x="2398" y="1282"/>
                    <a:pt x="2398" y="1282"/>
                  </a:cubicBezTo>
                  <a:cubicBezTo>
                    <a:pt x="2395" y="1281"/>
                    <a:pt x="2393" y="1278"/>
                    <a:pt x="2393" y="1275"/>
                  </a:cubicBezTo>
                  <a:cubicBezTo>
                    <a:pt x="2394" y="1251"/>
                    <a:pt x="2395" y="1227"/>
                    <a:pt x="2395" y="1203"/>
                  </a:cubicBezTo>
                  <a:cubicBezTo>
                    <a:pt x="2395" y="1201"/>
                    <a:pt x="2395" y="1201"/>
                    <a:pt x="2395" y="1201"/>
                  </a:cubicBezTo>
                  <a:cubicBezTo>
                    <a:pt x="2395" y="1197"/>
                    <a:pt x="2398" y="1195"/>
                    <a:pt x="2401" y="1195"/>
                  </a:cubicBezTo>
                  <a:cubicBezTo>
                    <a:pt x="2404" y="1195"/>
                    <a:pt x="2407" y="1197"/>
                    <a:pt x="2407" y="1201"/>
                  </a:cubicBezTo>
                  <a:cubicBezTo>
                    <a:pt x="2407" y="1203"/>
                    <a:pt x="2407" y="1203"/>
                    <a:pt x="2407" y="1203"/>
                  </a:cubicBezTo>
                  <a:cubicBezTo>
                    <a:pt x="2407" y="1227"/>
                    <a:pt x="2406" y="1252"/>
                    <a:pt x="2405" y="1276"/>
                  </a:cubicBezTo>
                  <a:cubicBezTo>
                    <a:pt x="2405" y="1279"/>
                    <a:pt x="2402" y="1282"/>
                    <a:pt x="2399" y="1282"/>
                  </a:cubicBezTo>
                  <a:close/>
                  <a:moveTo>
                    <a:pt x="6" y="1211"/>
                  </a:moveTo>
                  <a:cubicBezTo>
                    <a:pt x="3" y="1211"/>
                    <a:pt x="0" y="1208"/>
                    <a:pt x="0" y="1205"/>
                  </a:cubicBezTo>
                  <a:cubicBezTo>
                    <a:pt x="0" y="1203"/>
                    <a:pt x="0" y="1203"/>
                    <a:pt x="0" y="1203"/>
                  </a:cubicBezTo>
                  <a:cubicBezTo>
                    <a:pt x="0" y="1180"/>
                    <a:pt x="1" y="1156"/>
                    <a:pt x="2" y="1132"/>
                  </a:cubicBezTo>
                  <a:cubicBezTo>
                    <a:pt x="3" y="1129"/>
                    <a:pt x="5" y="1126"/>
                    <a:pt x="9" y="1126"/>
                  </a:cubicBezTo>
                  <a:cubicBezTo>
                    <a:pt x="12" y="1126"/>
                    <a:pt x="15" y="1129"/>
                    <a:pt x="14" y="1133"/>
                  </a:cubicBezTo>
                  <a:cubicBezTo>
                    <a:pt x="13" y="1156"/>
                    <a:pt x="12" y="1180"/>
                    <a:pt x="12" y="1203"/>
                  </a:cubicBezTo>
                  <a:cubicBezTo>
                    <a:pt x="12" y="1205"/>
                    <a:pt x="12" y="1205"/>
                    <a:pt x="12" y="1205"/>
                  </a:cubicBezTo>
                  <a:cubicBezTo>
                    <a:pt x="12" y="1208"/>
                    <a:pt x="10" y="1211"/>
                    <a:pt x="6" y="1211"/>
                  </a:cubicBezTo>
                  <a:close/>
                  <a:moveTo>
                    <a:pt x="2399" y="1134"/>
                  </a:moveTo>
                  <a:cubicBezTo>
                    <a:pt x="2395" y="1134"/>
                    <a:pt x="2393" y="1132"/>
                    <a:pt x="2393" y="1129"/>
                  </a:cubicBezTo>
                  <a:cubicBezTo>
                    <a:pt x="2391" y="1105"/>
                    <a:pt x="2389" y="1081"/>
                    <a:pt x="2386" y="1057"/>
                  </a:cubicBezTo>
                  <a:cubicBezTo>
                    <a:pt x="2386" y="1054"/>
                    <a:pt x="2388" y="1051"/>
                    <a:pt x="2391" y="1051"/>
                  </a:cubicBezTo>
                  <a:cubicBezTo>
                    <a:pt x="2395" y="1050"/>
                    <a:pt x="2398" y="1052"/>
                    <a:pt x="2398" y="1056"/>
                  </a:cubicBezTo>
                  <a:cubicBezTo>
                    <a:pt x="2401" y="1080"/>
                    <a:pt x="2403" y="1104"/>
                    <a:pt x="2405" y="1128"/>
                  </a:cubicBezTo>
                  <a:cubicBezTo>
                    <a:pt x="2405" y="1131"/>
                    <a:pt x="2402" y="1134"/>
                    <a:pt x="2399" y="1134"/>
                  </a:cubicBezTo>
                  <a:close/>
                  <a:moveTo>
                    <a:pt x="15" y="1066"/>
                  </a:moveTo>
                  <a:cubicBezTo>
                    <a:pt x="14" y="1066"/>
                    <a:pt x="14" y="1066"/>
                    <a:pt x="14" y="1066"/>
                  </a:cubicBezTo>
                  <a:cubicBezTo>
                    <a:pt x="11" y="1066"/>
                    <a:pt x="8" y="1063"/>
                    <a:pt x="9" y="1060"/>
                  </a:cubicBezTo>
                  <a:cubicBezTo>
                    <a:pt x="12" y="1036"/>
                    <a:pt x="15" y="1011"/>
                    <a:pt x="20" y="988"/>
                  </a:cubicBezTo>
                  <a:cubicBezTo>
                    <a:pt x="20" y="984"/>
                    <a:pt x="23" y="982"/>
                    <a:pt x="27" y="983"/>
                  </a:cubicBezTo>
                  <a:cubicBezTo>
                    <a:pt x="30" y="983"/>
                    <a:pt x="32" y="987"/>
                    <a:pt x="31" y="990"/>
                  </a:cubicBezTo>
                  <a:cubicBezTo>
                    <a:pt x="27" y="1013"/>
                    <a:pt x="24" y="1037"/>
                    <a:pt x="21" y="1061"/>
                  </a:cubicBezTo>
                  <a:cubicBezTo>
                    <a:pt x="20" y="1064"/>
                    <a:pt x="18" y="1066"/>
                    <a:pt x="15" y="1066"/>
                  </a:cubicBezTo>
                  <a:close/>
                  <a:moveTo>
                    <a:pt x="2381" y="991"/>
                  </a:moveTo>
                  <a:cubicBezTo>
                    <a:pt x="2378" y="991"/>
                    <a:pt x="2376" y="989"/>
                    <a:pt x="2375" y="986"/>
                  </a:cubicBezTo>
                  <a:cubicBezTo>
                    <a:pt x="2371" y="963"/>
                    <a:pt x="2366" y="939"/>
                    <a:pt x="2360" y="916"/>
                  </a:cubicBezTo>
                  <a:cubicBezTo>
                    <a:pt x="2359" y="913"/>
                    <a:pt x="2361" y="909"/>
                    <a:pt x="2364" y="908"/>
                  </a:cubicBezTo>
                  <a:cubicBezTo>
                    <a:pt x="2368" y="908"/>
                    <a:pt x="2371" y="910"/>
                    <a:pt x="2372" y="913"/>
                  </a:cubicBezTo>
                  <a:cubicBezTo>
                    <a:pt x="2377" y="936"/>
                    <a:pt x="2383" y="960"/>
                    <a:pt x="2387" y="984"/>
                  </a:cubicBezTo>
                  <a:cubicBezTo>
                    <a:pt x="2388" y="987"/>
                    <a:pt x="2385" y="990"/>
                    <a:pt x="2382" y="991"/>
                  </a:cubicBezTo>
                  <a:cubicBezTo>
                    <a:pt x="2382" y="991"/>
                    <a:pt x="2381" y="991"/>
                    <a:pt x="2381" y="991"/>
                  </a:cubicBezTo>
                  <a:close/>
                  <a:moveTo>
                    <a:pt x="41" y="924"/>
                  </a:moveTo>
                  <a:cubicBezTo>
                    <a:pt x="40" y="924"/>
                    <a:pt x="40" y="924"/>
                    <a:pt x="39" y="924"/>
                  </a:cubicBezTo>
                  <a:cubicBezTo>
                    <a:pt x="36" y="923"/>
                    <a:pt x="34" y="920"/>
                    <a:pt x="35" y="917"/>
                  </a:cubicBezTo>
                  <a:cubicBezTo>
                    <a:pt x="40" y="893"/>
                    <a:pt x="47" y="870"/>
                    <a:pt x="54" y="847"/>
                  </a:cubicBezTo>
                  <a:cubicBezTo>
                    <a:pt x="55" y="843"/>
                    <a:pt x="58" y="842"/>
                    <a:pt x="62" y="843"/>
                  </a:cubicBezTo>
                  <a:cubicBezTo>
                    <a:pt x="65" y="844"/>
                    <a:pt x="67" y="847"/>
                    <a:pt x="66" y="850"/>
                  </a:cubicBezTo>
                  <a:cubicBezTo>
                    <a:pt x="58" y="873"/>
                    <a:pt x="52" y="896"/>
                    <a:pt x="46" y="919"/>
                  </a:cubicBezTo>
                  <a:cubicBezTo>
                    <a:pt x="46" y="922"/>
                    <a:pt x="43" y="924"/>
                    <a:pt x="41" y="924"/>
                  </a:cubicBezTo>
                  <a:close/>
                  <a:moveTo>
                    <a:pt x="2346" y="851"/>
                  </a:moveTo>
                  <a:cubicBezTo>
                    <a:pt x="2344" y="851"/>
                    <a:pt x="2341" y="849"/>
                    <a:pt x="2341" y="846"/>
                  </a:cubicBezTo>
                  <a:cubicBezTo>
                    <a:pt x="2333" y="824"/>
                    <a:pt x="2326" y="801"/>
                    <a:pt x="2317" y="779"/>
                  </a:cubicBezTo>
                  <a:cubicBezTo>
                    <a:pt x="2316" y="775"/>
                    <a:pt x="2317" y="772"/>
                    <a:pt x="2320" y="771"/>
                  </a:cubicBezTo>
                  <a:cubicBezTo>
                    <a:pt x="2324" y="770"/>
                    <a:pt x="2327" y="771"/>
                    <a:pt x="2328" y="774"/>
                  </a:cubicBezTo>
                  <a:cubicBezTo>
                    <a:pt x="2337" y="797"/>
                    <a:pt x="2345" y="820"/>
                    <a:pt x="2352" y="843"/>
                  </a:cubicBezTo>
                  <a:cubicBezTo>
                    <a:pt x="2353" y="846"/>
                    <a:pt x="2351" y="849"/>
                    <a:pt x="2348" y="850"/>
                  </a:cubicBezTo>
                  <a:cubicBezTo>
                    <a:pt x="2348" y="851"/>
                    <a:pt x="2347" y="851"/>
                    <a:pt x="2346" y="851"/>
                  </a:cubicBezTo>
                  <a:close/>
                  <a:moveTo>
                    <a:pt x="83" y="786"/>
                  </a:moveTo>
                  <a:cubicBezTo>
                    <a:pt x="83" y="786"/>
                    <a:pt x="82" y="786"/>
                    <a:pt x="81" y="785"/>
                  </a:cubicBezTo>
                  <a:cubicBezTo>
                    <a:pt x="78" y="784"/>
                    <a:pt x="77" y="781"/>
                    <a:pt x="78" y="778"/>
                  </a:cubicBezTo>
                  <a:cubicBezTo>
                    <a:pt x="86" y="755"/>
                    <a:pt x="96" y="733"/>
                    <a:pt x="106" y="710"/>
                  </a:cubicBezTo>
                  <a:cubicBezTo>
                    <a:pt x="107" y="707"/>
                    <a:pt x="110" y="706"/>
                    <a:pt x="113" y="707"/>
                  </a:cubicBezTo>
                  <a:cubicBezTo>
                    <a:pt x="117" y="709"/>
                    <a:pt x="118" y="712"/>
                    <a:pt x="116" y="715"/>
                  </a:cubicBezTo>
                  <a:cubicBezTo>
                    <a:pt x="107" y="737"/>
                    <a:pt x="97" y="760"/>
                    <a:pt x="89" y="782"/>
                  </a:cubicBezTo>
                  <a:cubicBezTo>
                    <a:pt x="88" y="784"/>
                    <a:pt x="86" y="786"/>
                    <a:pt x="83" y="786"/>
                  </a:cubicBezTo>
                  <a:close/>
                  <a:moveTo>
                    <a:pt x="2295" y="716"/>
                  </a:moveTo>
                  <a:cubicBezTo>
                    <a:pt x="2293" y="716"/>
                    <a:pt x="2290" y="714"/>
                    <a:pt x="2289" y="712"/>
                  </a:cubicBezTo>
                  <a:cubicBezTo>
                    <a:pt x="2280" y="691"/>
                    <a:pt x="2269" y="669"/>
                    <a:pt x="2258" y="648"/>
                  </a:cubicBezTo>
                  <a:cubicBezTo>
                    <a:pt x="2256" y="645"/>
                    <a:pt x="2257" y="641"/>
                    <a:pt x="2260" y="640"/>
                  </a:cubicBezTo>
                  <a:cubicBezTo>
                    <a:pt x="2263" y="638"/>
                    <a:pt x="2267" y="639"/>
                    <a:pt x="2268" y="642"/>
                  </a:cubicBezTo>
                  <a:cubicBezTo>
                    <a:pt x="2280" y="663"/>
                    <a:pt x="2290" y="685"/>
                    <a:pt x="2300" y="707"/>
                  </a:cubicBezTo>
                  <a:cubicBezTo>
                    <a:pt x="2302" y="710"/>
                    <a:pt x="2300" y="714"/>
                    <a:pt x="2297" y="715"/>
                  </a:cubicBezTo>
                  <a:cubicBezTo>
                    <a:pt x="2297" y="716"/>
                    <a:pt x="2296" y="716"/>
                    <a:pt x="2295" y="716"/>
                  </a:cubicBezTo>
                  <a:close/>
                  <a:moveTo>
                    <a:pt x="143" y="654"/>
                  </a:moveTo>
                  <a:cubicBezTo>
                    <a:pt x="142" y="654"/>
                    <a:pt x="141" y="654"/>
                    <a:pt x="140" y="653"/>
                  </a:cubicBezTo>
                  <a:cubicBezTo>
                    <a:pt x="137" y="652"/>
                    <a:pt x="136" y="648"/>
                    <a:pt x="137" y="645"/>
                  </a:cubicBezTo>
                  <a:cubicBezTo>
                    <a:pt x="149" y="624"/>
                    <a:pt x="161" y="602"/>
                    <a:pt x="173" y="582"/>
                  </a:cubicBezTo>
                  <a:cubicBezTo>
                    <a:pt x="175" y="579"/>
                    <a:pt x="179" y="578"/>
                    <a:pt x="181" y="580"/>
                  </a:cubicBezTo>
                  <a:cubicBezTo>
                    <a:pt x="184" y="581"/>
                    <a:pt x="185" y="585"/>
                    <a:pt x="183" y="588"/>
                  </a:cubicBezTo>
                  <a:cubicBezTo>
                    <a:pt x="171" y="608"/>
                    <a:pt x="159" y="629"/>
                    <a:pt x="148" y="651"/>
                  </a:cubicBezTo>
                  <a:cubicBezTo>
                    <a:pt x="147" y="653"/>
                    <a:pt x="145" y="654"/>
                    <a:pt x="143" y="654"/>
                  </a:cubicBezTo>
                  <a:close/>
                  <a:moveTo>
                    <a:pt x="2227" y="588"/>
                  </a:moveTo>
                  <a:cubicBezTo>
                    <a:pt x="2225" y="588"/>
                    <a:pt x="2223" y="587"/>
                    <a:pt x="2222" y="585"/>
                  </a:cubicBezTo>
                  <a:cubicBezTo>
                    <a:pt x="2210" y="565"/>
                    <a:pt x="2197" y="545"/>
                    <a:pt x="2183" y="525"/>
                  </a:cubicBezTo>
                  <a:cubicBezTo>
                    <a:pt x="2181" y="522"/>
                    <a:pt x="2182" y="518"/>
                    <a:pt x="2185" y="517"/>
                  </a:cubicBezTo>
                  <a:cubicBezTo>
                    <a:pt x="2187" y="515"/>
                    <a:pt x="2191" y="515"/>
                    <a:pt x="2193" y="518"/>
                  </a:cubicBezTo>
                  <a:cubicBezTo>
                    <a:pt x="2207" y="538"/>
                    <a:pt x="2220" y="558"/>
                    <a:pt x="2233" y="579"/>
                  </a:cubicBezTo>
                  <a:cubicBezTo>
                    <a:pt x="2234" y="582"/>
                    <a:pt x="2233" y="586"/>
                    <a:pt x="2231" y="587"/>
                  </a:cubicBezTo>
                  <a:cubicBezTo>
                    <a:pt x="2230" y="588"/>
                    <a:pt x="2228" y="588"/>
                    <a:pt x="2227" y="588"/>
                  </a:cubicBezTo>
                  <a:close/>
                  <a:moveTo>
                    <a:pt x="218" y="530"/>
                  </a:moveTo>
                  <a:cubicBezTo>
                    <a:pt x="216" y="530"/>
                    <a:pt x="215" y="530"/>
                    <a:pt x="214" y="529"/>
                  </a:cubicBezTo>
                  <a:cubicBezTo>
                    <a:pt x="211" y="527"/>
                    <a:pt x="211" y="523"/>
                    <a:pt x="213" y="521"/>
                  </a:cubicBezTo>
                  <a:cubicBezTo>
                    <a:pt x="226" y="501"/>
                    <a:pt x="241" y="481"/>
                    <a:pt x="256" y="462"/>
                  </a:cubicBezTo>
                  <a:cubicBezTo>
                    <a:pt x="258" y="459"/>
                    <a:pt x="261" y="459"/>
                    <a:pt x="264" y="461"/>
                  </a:cubicBezTo>
                  <a:cubicBezTo>
                    <a:pt x="267" y="463"/>
                    <a:pt x="267" y="467"/>
                    <a:pt x="265" y="469"/>
                  </a:cubicBezTo>
                  <a:cubicBezTo>
                    <a:pt x="250" y="488"/>
                    <a:pt x="236" y="508"/>
                    <a:pt x="222" y="527"/>
                  </a:cubicBezTo>
                  <a:cubicBezTo>
                    <a:pt x="221" y="529"/>
                    <a:pt x="219" y="530"/>
                    <a:pt x="218" y="530"/>
                  </a:cubicBezTo>
                  <a:close/>
                  <a:moveTo>
                    <a:pt x="2145" y="469"/>
                  </a:moveTo>
                  <a:cubicBezTo>
                    <a:pt x="2143" y="469"/>
                    <a:pt x="2142" y="469"/>
                    <a:pt x="2140" y="467"/>
                  </a:cubicBezTo>
                  <a:cubicBezTo>
                    <a:pt x="2126" y="448"/>
                    <a:pt x="2110" y="430"/>
                    <a:pt x="2094" y="412"/>
                  </a:cubicBezTo>
                  <a:cubicBezTo>
                    <a:pt x="2092" y="409"/>
                    <a:pt x="2092" y="406"/>
                    <a:pt x="2095" y="403"/>
                  </a:cubicBezTo>
                  <a:cubicBezTo>
                    <a:pt x="2097" y="401"/>
                    <a:pt x="2101" y="402"/>
                    <a:pt x="2103" y="404"/>
                  </a:cubicBezTo>
                  <a:cubicBezTo>
                    <a:pt x="2119" y="422"/>
                    <a:pt x="2135" y="441"/>
                    <a:pt x="2150" y="460"/>
                  </a:cubicBezTo>
                  <a:cubicBezTo>
                    <a:pt x="2152" y="462"/>
                    <a:pt x="2151" y="466"/>
                    <a:pt x="2149" y="468"/>
                  </a:cubicBezTo>
                  <a:cubicBezTo>
                    <a:pt x="2148" y="469"/>
                    <a:pt x="2146" y="469"/>
                    <a:pt x="2145" y="469"/>
                  </a:cubicBezTo>
                  <a:close/>
                  <a:moveTo>
                    <a:pt x="307" y="416"/>
                  </a:moveTo>
                  <a:cubicBezTo>
                    <a:pt x="305" y="416"/>
                    <a:pt x="304" y="416"/>
                    <a:pt x="303" y="415"/>
                  </a:cubicBezTo>
                  <a:cubicBezTo>
                    <a:pt x="300" y="412"/>
                    <a:pt x="300" y="409"/>
                    <a:pt x="302" y="406"/>
                  </a:cubicBezTo>
                  <a:cubicBezTo>
                    <a:pt x="318" y="388"/>
                    <a:pt x="335" y="370"/>
                    <a:pt x="352" y="353"/>
                  </a:cubicBezTo>
                  <a:cubicBezTo>
                    <a:pt x="354" y="351"/>
                    <a:pt x="358" y="351"/>
                    <a:pt x="360" y="353"/>
                  </a:cubicBezTo>
                  <a:cubicBezTo>
                    <a:pt x="363" y="356"/>
                    <a:pt x="363" y="359"/>
                    <a:pt x="360" y="362"/>
                  </a:cubicBezTo>
                  <a:cubicBezTo>
                    <a:pt x="344" y="379"/>
                    <a:pt x="327" y="396"/>
                    <a:pt x="311" y="414"/>
                  </a:cubicBezTo>
                  <a:cubicBezTo>
                    <a:pt x="310" y="415"/>
                    <a:pt x="308" y="416"/>
                    <a:pt x="307" y="416"/>
                  </a:cubicBezTo>
                  <a:close/>
                  <a:moveTo>
                    <a:pt x="2049" y="361"/>
                  </a:moveTo>
                  <a:cubicBezTo>
                    <a:pt x="2047" y="361"/>
                    <a:pt x="2046" y="361"/>
                    <a:pt x="2045" y="360"/>
                  </a:cubicBezTo>
                  <a:cubicBezTo>
                    <a:pt x="2028" y="343"/>
                    <a:pt x="2010" y="326"/>
                    <a:pt x="1992" y="310"/>
                  </a:cubicBezTo>
                  <a:cubicBezTo>
                    <a:pt x="1990" y="308"/>
                    <a:pt x="1990" y="304"/>
                    <a:pt x="1992" y="302"/>
                  </a:cubicBezTo>
                  <a:cubicBezTo>
                    <a:pt x="1994" y="299"/>
                    <a:pt x="1998" y="299"/>
                    <a:pt x="2000" y="301"/>
                  </a:cubicBezTo>
                  <a:cubicBezTo>
                    <a:pt x="2018" y="317"/>
                    <a:pt x="2036" y="334"/>
                    <a:pt x="2053" y="351"/>
                  </a:cubicBezTo>
                  <a:cubicBezTo>
                    <a:pt x="2056" y="353"/>
                    <a:pt x="2056" y="357"/>
                    <a:pt x="2053" y="360"/>
                  </a:cubicBezTo>
                  <a:cubicBezTo>
                    <a:pt x="2052" y="361"/>
                    <a:pt x="2051" y="361"/>
                    <a:pt x="2049" y="361"/>
                  </a:cubicBezTo>
                  <a:close/>
                  <a:moveTo>
                    <a:pt x="409" y="314"/>
                  </a:moveTo>
                  <a:cubicBezTo>
                    <a:pt x="407" y="314"/>
                    <a:pt x="406" y="313"/>
                    <a:pt x="404" y="312"/>
                  </a:cubicBezTo>
                  <a:cubicBezTo>
                    <a:pt x="402" y="309"/>
                    <a:pt x="402" y="306"/>
                    <a:pt x="405" y="303"/>
                  </a:cubicBezTo>
                  <a:cubicBezTo>
                    <a:pt x="423" y="287"/>
                    <a:pt x="442" y="272"/>
                    <a:pt x="461" y="257"/>
                  </a:cubicBezTo>
                  <a:cubicBezTo>
                    <a:pt x="463" y="255"/>
                    <a:pt x="467" y="255"/>
                    <a:pt x="469" y="258"/>
                  </a:cubicBezTo>
                  <a:cubicBezTo>
                    <a:pt x="471" y="260"/>
                    <a:pt x="471" y="264"/>
                    <a:pt x="468" y="266"/>
                  </a:cubicBezTo>
                  <a:cubicBezTo>
                    <a:pt x="449" y="281"/>
                    <a:pt x="431" y="296"/>
                    <a:pt x="413" y="312"/>
                  </a:cubicBezTo>
                  <a:cubicBezTo>
                    <a:pt x="412" y="313"/>
                    <a:pt x="410" y="314"/>
                    <a:pt x="409" y="314"/>
                  </a:cubicBezTo>
                  <a:close/>
                  <a:moveTo>
                    <a:pt x="1941" y="266"/>
                  </a:moveTo>
                  <a:cubicBezTo>
                    <a:pt x="1939" y="266"/>
                    <a:pt x="1938" y="265"/>
                    <a:pt x="1937" y="264"/>
                  </a:cubicBezTo>
                  <a:cubicBezTo>
                    <a:pt x="1918" y="250"/>
                    <a:pt x="1899" y="235"/>
                    <a:pt x="1879" y="222"/>
                  </a:cubicBezTo>
                  <a:cubicBezTo>
                    <a:pt x="1876" y="220"/>
                    <a:pt x="1876" y="216"/>
                    <a:pt x="1877" y="213"/>
                  </a:cubicBezTo>
                  <a:cubicBezTo>
                    <a:pt x="1879" y="211"/>
                    <a:pt x="1883" y="210"/>
                    <a:pt x="1886" y="212"/>
                  </a:cubicBezTo>
                  <a:cubicBezTo>
                    <a:pt x="1906" y="226"/>
                    <a:pt x="1925" y="240"/>
                    <a:pt x="1944" y="255"/>
                  </a:cubicBezTo>
                  <a:cubicBezTo>
                    <a:pt x="1947" y="257"/>
                    <a:pt x="1947" y="261"/>
                    <a:pt x="1945" y="263"/>
                  </a:cubicBezTo>
                  <a:cubicBezTo>
                    <a:pt x="1944" y="265"/>
                    <a:pt x="1942" y="266"/>
                    <a:pt x="1941" y="266"/>
                  </a:cubicBezTo>
                  <a:close/>
                  <a:moveTo>
                    <a:pt x="522" y="225"/>
                  </a:moveTo>
                  <a:cubicBezTo>
                    <a:pt x="521" y="225"/>
                    <a:pt x="519" y="224"/>
                    <a:pt x="517" y="222"/>
                  </a:cubicBezTo>
                  <a:cubicBezTo>
                    <a:pt x="516" y="219"/>
                    <a:pt x="516" y="215"/>
                    <a:pt x="519" y="214"/>
                  </a:cubicBezTo>
                  <a:cubicBezTo>
                    <a:pt x="539" y="200"/>
                    <a:pt x="559" y="187"/>
                    <a:pt x="580" y="174"/>
                  </a:cubicBezTo>
                  <a:cubicBezTo>
                    <a:pt x="583" y="172"/>
                    <a:pt x="586" y="173"/>
                    <a:pt x="588" y="176"/>
                  </a:cubicBezTo>
                  <a:cubicBezTo>
                    <a:pt x="590" y="179"/>
                    <a:pt x="589" y="183"/>
                    <a:pt x="586" y="184"/>
                  </a:cubicBezTo>
                  <a:cubicBezTo>
                    <a:pt x="566" y="197"/>
                    <a:pt x="545" y="210"/>
                    <a:pt x="526" y="223"/>
                  </a:cubicBezTo>
                  <a:cubicBezTo>
                    <a:pt x="525" y="224"/>
                    <a:pt x="524" y="225"/>
                    <a:pt x="522" y="225"/>
                  </a:cubicBezTo>
                  <a:close/>
                  <a:moveTo>
                    <a:pt x="1822" y="184"/>
                  </a:moveTo>
                  <a:cubicBezTo>
                    <a:pt x="1821" y="184"/>
                    <a:pt x="1819" y="183"/>
                    <a:pt x="1818" y="183"/>
                  </a:cubicBezTo>
                  <a:cubicBezTo>
                    <a:pt x="1798" y="170"/>
                    <a:pt x="1777" y="158"/>
                    <a:pt x="1756" y="147"/>
                  </a:cubicBezTo>
                  <a:cubicBezTo>
                    <a:pt x="1753" y="146"/>
                    <a:pt x="1752" y="142"/>
                    <a:pt x="1753" y="139"/>
                  </a:cubicBezTo>
                  <a:cubicBezTo>
                    <a:pt x="1755" y="136"/>
                    <a:pt x="1758" y="135"/>
                    <a:pt x="1761" y="137"/>
                  </a:cubicBezTo>
                  <a:cubicBezTo>
                    <a:pt x="1783" y="148"/>
                    <a:pt x="1804" y="160"/>
                    <a:pt x="1825" y="172"/>
                  </a:cubicBezTo>
                  <a:cubicBezTo>
                    <a:pt x="1828" y="174"/>
                    <a:pt x="1828" y="178"/>
                    <a:pt x="1827" y="181"/>
                  </a:cubicBezTo>
                  <a:cubicBezTo>
                    <a:pt x="1826" y="183"/>
                    <a:pt x="1824" y="184"/>
                    <a:pt x="1822" y="184"/>
                  </a:cubicBezTo>
                  <a:close/>
                  <a:moveTo>
                    <a:pt x="646" y="150"/>
                  </a:moveTo>
                  <a:cubicBezTo>
                    <a:pt x="644" y="150"/>
                    <a:pt x="642" y="148"/>
                    <a:pt x="641" y="146"/>
                  </a:cubicBezTo>
                  <a:cubicBezTo>
                    <a:pt x="639" y="143"/>
                    <a:pt x="640" y="140"/>
                    <a:pt x="643" y="138"/>
                  </a:cubicBezTo>
                  <a:cubicBezTo>
                    <a:pt x="664" y="127"/>
                    <a:pt x="686" y="116"/>
                    <a:pt x="708" y="106"/>
                  </a:cubicBezTo>
                  <a:cubicBezTo>
                    <a:pt x="711" y="105"/>
                    <a:pt x="715" y="106"/>
                    <a:pt x="716" y="109"/>
                  </a:cubicBezTo>
                  <a:cubicBezTo>
                    <a:pt x="718" y="112"/>
                    <a:pt x="716" y="116"/>
                    <a:pt x="713" y="117"/>
                  </a:cubicBezTo>
                  <a:cubicBezTo>
                    <a:pt x="691" y="127"/>
                    <a:pt x="670" y="138"/>
                    <a:pt x="649" y="149"/>
                  </a:cubicBezTo>
                  <a:cubicBezTo>
                    <a:pt x="648" y="149"/>
                    <a:pt x="647" y="150"/>
                    <a:pt x="646" y="150"/>
                  </a:cubicBezTo>
                  <a:close/>
                  <a:moveTo>
                    <a:pt x="1693" y="116"/>
                  </a:moveTo>
                  <a:cubicBezTo>
                    <a:pt x="1693" y="116"/>
                    <a:pt x="1692" y="116"/>
                    <a:pt x="1691" y="116"/>
                  </a:cubicBezTo>
                  <a:cubicBezTo>
                    <a:pt x="1669" y="106"/>
                    <a:pt x="1647" y="97"/>
                    <a:pt x="1624" y="88"/>
                  </a:cubicBezTo>
                  <a:cubicBezTo>
                    <a:pt x="1621" y="87"/>
                    <a:pt x="1620" y="84"/>
                    <a:pt x="1621" y="81"/>
                  </a:cubicBezTo>
                  <a:cubicBezTo>
                    <a:pt x="1622" y="78"/>
                    <a:pt x="1625" y="76"/>
                    <a:pt x="1629" y="77"/>
                  </a:cubicBezTo>
                  <a:cubicBezTo>
                    <a:pt x="1651" y="86"/>
                    <a:pt x="1674" y="95"/>
                    <a:pt x="1696" y="105"/>
                  </a:cubicBezTo>
                  <a:cubicBezTo>
                    <a:pt x="1699" y="106"/>
                    <a:pt x="1700" y="110"/>
                    <a:pt x="1699" y="113"/>
                  </a:cubicBezTo>
                  <a:cubicBezTo>
                    <a:pt x="1698" y="115"/>
                    <a:pt x="1696" y="116"/>
                    <a:pt x="1693" y="116"/>
                  </a:cubicBezTo>
                  <a:close/>
                  <a:moveTo>
                    <a:pt x="777" y="90"/>
                  </a:moveTo>
                  <a:cubicBezTo>
                    <a:pt x="775" y="90"/>
                    <a:pt x="773" y="89"/>
                    <a:pt x="772" y="86"/>
                  </a:cubicBezTo>
                  <a:cubicBezTo>
                    <a:pt x="771" y="83"/>
                    <a:pt x="772" y="80"/>
                    <a:pt x="775" y="78"/>
                  </a:cubicBezTo>
                  <a:cubicBezTo>
                    <a:pt x="798" y="70"/>
                    <a:pt x="821" y="62"/>
                    <a:pt x="844" y="55"/>
                  </a:cubicBezTo>
                  <a:cubicBezTo>
                    <a:pt x="847" y="54"/>
                    <a:pt x="850" y="55"/>
                    <a:pt x="851" y="59"/>
                  </a:cubicBezTo>
                  <a:cubicBezTo>
                    <a:pt x="852" y="62"/>
                    <a:pt x="851" y="65"/>
                    <a:pt x="847" y="66"/>
                  </a:cubicBezTo>
                  <a:cubicBezTo>
                    <a:pt x="825" y="73"/>
                    <a:pt x="802" y="81"/>
                    <a:pt x="779" y="90"/>
                  </a:cubicBezTo>
                  <a:cubicBezTo>
                    <a:pt x="779" y="90"/>
                    <a:pt x="778" y="90"/>
                    <a:pt x="777" y="90"/>
                  </a:cubicBezTo>
                  <a:close/>
                  <a:moveTo>
                    <a:pt x="1558" y="65"/>
                  </a:moveTo>
                  <a:cubicBezTo>
                    <a:pt x="1557" y="65"/>
                    <a:pt x="1557" y="65"/>
                    <a:pt x="1556" y="65"/>
                  </a:cubicBezTo>
                  <a:cubicBezTo>
                    <a:pt x="1533" y="58"/>
                    <a:pt x="1510" y="51"/>
                    <a:pt x="1487" y="46"/>
                  </a:cubicBezTo>
                  <a:cubicBezTo>
                    <a:pt x="1484" y="45"/>
                    <a:pt x="1482" y="42"/>
                    <a:pt x="1482" y="39"/>
                  </a:cubicBezTo>
                  <a:cubicBezTo>
                    <a:pt x="1483" y="35"/>
                    <a:pt x="1486" y="33"/>
                    <a:pt x="1490" y="34"/>
                  </a:cubicBezTo>
                  <a:cubicBezTo>
                    <a:pt x="1513" y="40"/>
                    <a:pt x="1537" y="46"/>
                    <a:pt x="1560" y="54"/>
                  </a:cubicBezTo>
                  <a:cubicBezTo>
                    <a:pt x="1563" y="55"/>
                    <a:pt x="1565" y="58"/>
                    <a:pt x="1564" y="61"/>
                  </a:cubicBezTo>
                  <a:cubicBezTo>
                    <a:pt x="1563" y="64"/>
                    <a:pt x="1560" y="65"/>
                    <a:pt x="1558" y="65"/>
                  </a:cubicBezTo>
                  <a:close/>
                  <a:moveTo>
                    <a:pt x="915" y="47"/>
                  </a:moveTo>
                  <a:cubicBezTo>
                    <a:pt x="913" y="47"/>
                    <a:pt x="910" y="45"/>
                    <a:pt x="909" y="42"/>
                  </a:cubicBezTo>
                  <a:cubicBezTo>
                    <a:pt x="909" y="39"/>
                    <a:pt x="911" y="36"/>
                    <a:pt x="914" y="35"/>
                  </a:cubicBezTo>
                  <a:cubicBezTo>
                    <a:pt x="937" y="29"/>
                    <a:pt x="961" y="24"/>
                    <a:pt x="985" y="20"/>
                  </a:cubicBezTo>
                  <a:cubicBezTo>
                    <a:pt x="988" y="19"/>
                    <a:pt x="991" y="21"/>
                    <a:pt x="992" y="25"/>
                  </a:cubicBezTo>
                  <a:cubicBezTo>
                    <a:pt x="992" y="28"/>
                    <a:pt x="990" y="31"/>
                    <a:pt x="987" y="32"/>
                  </a:cubicBezTo>
                  <a:cubicBezTo>
                    <a:pt x="964" y="36"/>
                    <a:pt x="940" y="41"/>
                    <a:pt x="917" y="47"/>
                  </a:cubicBezTo>
                  <a:cubicBezTo>
                    <a:pt x="916" y="47"/>
                    <a:pt x="916" y="47"/>
                    <a:pt x="915" y="47"/>
                  </a:cubicBezTo>
                  <a:close/>
                  <a:moveTo>
                    <a:pt x="1418" y="31"/>
                  </a:moveTo>
                  <a:cubicBezTo>
                    <a:pt x="1416" y="31"/>
                    <a:pt x="1416" y="31"/>
                    <a:pt x="1416" y="31"/>
                  </a:cubicBezTo>
                  <a:cubicBezTo>
                    <a:pt x="1393" y="27"/>
                    <a:pt x="1369" y="23"/>
                    <a:pt x="1345" y="20"/>
                  </a:cubicBezTo>
                  <a:cubicBezTo>
                    <a:pt x="1342" y="20"/>
                    <a:pt x="1340" y="17"/>
                    <a:pt x="1340" y="14"/>
                  </a:cubicBezTo>
                  <a:cubicBezTo>
                    <a:pt x="1340" y="10"/>
                    <a:pt x="1343" y="8"/>
                    <a:pt x="1347" y="8"/>
                  </a:cubicBezTo>
                  <a:cubicBezTo>
                    <a:pt x="1371" y="11"/>
                    <a:pt x="1395" y="15"/>
                    <a:pt x="1419" y="19"/>
                  </a:cubicBezTo>
                  <a:cubicBezTo>
                    <a:pt x="1422" y="20"/>
                    <a:pt x="1424" y="23"/>
                    <a:pt x="1423" y="26"/>
                  </a:cubicBezTo>
                  <a:cubicBezTo>
                    <a:pt x="1423" y="29"/>
                    <a:pt x="1420" y="31"/>
                    <a:pt x="1418" y="31"/>
                  </a:cubicBezTo>
                  <a:close/>
                  <a:moveTo>
                    <a:pt x="1057" y="21"/>
                  </a:moveTo>
                  <a:cubicBezTo>
                    <a:pt x="1054" y="21"/>
                    <a:pt x="1052" y="19"/>
                    <a:pt x="1051" y="16"/>
                  </a:cubicBezTo>
                  <a:cubicBezTo>
                    <a:pt x="1051" y="12"/>
                    <a:pt x="1053" y="9"/>
                    <a:pt x="1057" y="9"/>
                  </a:cubicBezTo>
                  <a:cubicBezTo>
                    <a:pt x="1081" y="6"/>
                    <a:pt x="1105" y="4"/>
                    <a:pt x="1129" y="2"/>
                  </a:cubicBezTo>
                  <a:cubicBezTo>
                    <a:pt x="1132" y="2"/>
                    <a:pt x="1135" y="5"/>
                    <a:pt x="1135" y="8"/>
                  </a:cubicBezTo>
                  <a:cubicBezTo>
                    <a:pt x="1136" y="11"/>
                    <a:pt x="1133" y="14"/>
                    <a:pt x="1130" y="14"/>
                  </a:cubicBezTo>
                  <a:cubicBezTo>
                    <a:pt x="1106" y="16"/>
                    <a:pt x="1082" y="18"/>
                    <a:pt x="1058" y="21"/>
                  </a:cubicBezTo>
                  <a:lnTo>
                    <a:pt x="1057" y="21"/>
                  </a:lnTo>
                  <a:close/>
                  <a:moveTo>
                    <a:pt x="1274" y="14"/>
                  </a:moveTo>
                  <a:cubicBezTo>
                    <a:pt x="1274" y="14"/>
                    <a:pt x="1274" y="14"/>
                    <a:pt x="1274" y="14"/>
                  </a:cubicBezTo>
                  <a:cubicBezTo>
                    <a:pt x="1251" y="13"/>
                    <a:pt x="1227" y="12"/>
                    <a:pt x="1204" y="12"/>
                  </a:cubicBezTo>
                  <a:cubicBezTo>
                    <a:pt x="1202" y="12"/>
                    <a:pt x="1202" y="12"/>
                    <a:pt x="1202" y="12"/>
                  </a:cubicBezTo>
                  <a:cubicBezTo>
                    <a:pt x="1198" y="12"/>
                    <a:pt x="1196" y="9"/>
                    <a:pt x="1196" y="6"/>
                  </a:cubicBezTo>
                  <a:cubicBezTo>
                    <a:pt x="1196" y="3"/>
                    <a:pt x="1198" y="0"/>
                    <a:pt x="1202" y="0"/>
                  </a:cubicBezTo>
                  <a:cubicBezTo>
                    <a:pt x="1204" y="0"/>
                    <a:pt x="1204" y="0"/>
                    <a:pt x="1204" y="0"/>
                  </a:cubicBezTo>
                  <a:cubicBezTo>
                    <a:pt x="1227" y="0"/>
                    <a:pt x="1251" y="1"/>
                    <a:pt x="1274" y="2"/>
                  </a:cubicBezTo>
                  <a:cubicBezTo>
                    <a:pt x="1278" y="2"/>
                    <a:pt x="1280" y="5"/>
                    <a:pt x="1280" y="8"/>
                  </a:cubicBezTo>
                  <a:cubicBezTo>
                    <a:pt x="1280" y="12"/>
                    <a:pt x="1277" y="14"/>
                    <a:pt x="1274" y="14"/>
                  </a:cubicBezTo>
                  <a:close/>
                </a:path>
              </a:pathLst>
            </a:cu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660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</a:endParaRPr>
            </a:p>
          </p:txBody>
        </p:sp>
        <p:sp>
          <p:nvSpPr>
            <p:cNvPr id="59" name="Freeform 7"/>
            <p:cNvSpPr>
              <a:spLocks/>
            </p:cNvSpPr>
            <p:nvPr/>
          </p:nvSpPr>
          <p:spPr bwMode="auto">
            <a:xfrm flipH="1">
              <a:off x="2420523" y="3780306"/>
              <a:ext cx="3117461" cy="2434481"/>
            </a:xfrm>
            <a:custGeom>
              <a:avLst/>
              <a:gdLst>
                <a:gd name="T0" fmla="*/ 1986 w 2187"/>
                <a:gd name="T1" fmla="*/ 881 h 1708"/>
                <a:gd name="T2" fmla="*/ 2129 w 2187"/>
                <a:gd name="T3" fmla="*/ 476 h 1708"/>
                <a:gd name="T4" fmla="*/ 1980 w 2187"/>
                <a:gd name="T5" fmla="*/ 63 h 1708"/>
                <a:gd name="T6" fmla="*/ 1805 w 2187"/>
                <a:gd name="T7" fmla="*/ 43 h 1708"/>
                <a:gd name="T8" fmla="*/ 1789 w 2187"/>
                <a:gd name="T9" fmla="*/ 217 h 1708"/>
                <a:gd name="T10" fmla="*/ 1883 w 2187"/>
                <a:gd name="T11" fmla="*/ 476 h 1708"/>
                <a:gd name="T12" fmla="*/ 1482 w 2187"/>
                <a:gd name="T13" fmla="*/ 878 h 1708"/>
                <a:gd name="T14" fmla="*/ 1080 w 2187"/>
                <a:gd name="T15" fmla="*/ 476 h 1708"/>
                <a:gd name="T16" fmla="*/ 1174 w 2187"/>
                <a:gd name="T17" fmla="*/ 217 h 1708"/>
                <a:gd name="T18" fmla="*/ 1160 w 2187"/>
                <a:gd name="T19" fmla="*/ 44 h 1708"/>
                <a:gd name="T20" fmla="*/ 987 w 2187"/>
                <a:gd name="T21" fmla="*/ 59 h 1708"/>
                <a:gd name="T22" fmla="*/ 834 w 2187"/>
                <a:gd name="T23" fmla="*/ 476 h 1708"/>
                <a:gd name="T24" fmla="*/ 977 w 2187"/>
                <a:gd name="T25" fmla="*/ 881 h 1708"/>
                <a:gd name="T26" fmla="*/ 128 w 2187"/>
                <a:gd name="T27" fmla="*/ 881 h 1708"/>
                <a:gd name="T28" fmla="*/ 3 w 2187"/>
                <a:gd name="T29" fmla="*/ 1000 h 1708"/>
                <a:gd name="T30" fmla="*/ 125 w 2187"/>
                <a:gd name="T31" fmla="*/ 1127 h 1708"/>
                <a:gd name="T32" fmla="*/ 963 w 2187"/>
                <a:gd name="T33" fmla="*/ 1127 h 1708"/>
                <a:gd name="T34" fmla="*/ 985 w 2187"/>
                <a:gd name="T35" fmla="*/ 1149 h 1708"/>
                <a:gd name="T36" fmla="*/ 985 w 2187"/>
                <a:gd name="T37" fmla="*/ 1150 h 1708"/>
                <a:gd name="T38" fmla="*/ 963 w 2187"/>
                <a:gd name="T39" fmla="*/ 1172 h 1708"/>
                <a:gd name="T40" fmla="*/ 288 w 2187"/>
                <a:gd name="T41" fmla="*/ 1172 h 1708"/>
                <a:gd name="T42" fmla="*/ 162 w 2187"/>
                <a:gd name="T43" fmla="*/ 1290 h 1708"/>
                <a:gd name="T44" fmla="*/ 285 w 2187"/>
                <a:gd name="T45" fmla="*/ 1418 h 1708"/>
                <a:gd name="T46" fmla="*/ 963 w 2187"/>
                <a:gd name="T47" fmla="*/ 1418 h 1708"/>
                <a:gd name="T48" fmla="*/ 985 w 2187"/>
                <a:gd name="T49" fmla="*/ 1440 h 1708"/>
                <a:gd name="T50" fmla="*/ 985 w 2187"/>
                <a:gd name="T51" fmla="*/ 1440 h 1708"/>
                <a:gd name="T52" fmla="*/ 963 w 2187"/>
                <a:gd name="T53" fmla="*/ 1463 h 1708"/>
                <a:gd name="T54" fmla="*/ 550 w 2187"/>
                <a:gd name="T55" fmla="*/ 1463 h 1708"/>
                <a:gd name="T56" fmla="*/ 424 w 2187"/>
                <a:gd name="T57" fmla="*/ 1581 h 1708"/>
                <a:gd name="T58" fmla="*/ 547 w 2187"/>
                <a:gd name="T59" fmla="*/ 1708 h 1708"/>
                <a:gd name="T60" fmla="*/ 985 w 2187"/>
                <a:gd name="T61" fmla="*/ 1708 h 1708"/>
                <a:gd name="T62" fmla="*/ 1304 w 2187"/>
                <a:gd name="T63" fmla="*/ 1708 h 1708"/>
                <a:gd name="T64" fmla="*/ 2187 w 2187"/>
                <a:gd name="T65" fmla="*/ 1708 h 1708"/>
                <a:gd name="T66" fmla="*/ 2187 w 2187"/>
                <a:gd name="T67" fmla="*/ 881 h 1708"/>
                <a:gd name="T68" fmla="*/ 1986 w 2187"/>
                <a:gd name="T69" fmla="*/ 881 h 17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187" h="1708">
                  <a:moveTo>
                    <a:pt x="1986" y="881"/>
                  </a:moveTo>
                  <a:cubicBezTo>
                    <a:pt x="2075" y="770"/>
                    <a:pt x="2129" y="629"/>
                    <a:pt x="2129" y="476"/>
                  </a:cubicBezTo>
                  <a:cubicBezTo>
                    <a:pt x="2129" y="325"/>
                    <a:pt x="2076" y="179"/>
                    <a:pt x="1980" y="63"/>
                  </a:cubicBezTo>
                  <a:cubicBezTo>
                    <a:pt x="1936" y="10"/>
                    <a:pt x="1858" y="0"/>
                    <a:pt x="1805" y="43"/>
                  </a:cubicBezTo>
                  <a:cubicBezTo>
                    <a:pt x="1752" y="86"/>
                    <a:pt x="1745" y="165"/>
                    <a:pt x="1789" y="217"/>
                  </a:cubicBezTo>
                  <a:cubicBezTo>
                    <a:pt x="1850" y="289"/>
                    <a:pt x="1883" y="381"/>
                    <a:pt x="1883" y="476"/>
                  </a:cubicBezTo>
                  <a:cubicBezTo>
                    <a:pt x="1883" y="698"/>
                    <a:pt x="1703" y="878"/>
                    <a:pt x="1482" y="878"/>
                  </a:cubicBezTo>
                  <a:cubicBezTo>
                    <a:pt x="1260" y="878"/>
                    <a:pt x="1080" y="698"/>
                    <a:pt x="1080" y="476"/>
                  </a:cubicBezTo>
                  <a:cubicBezTo>
                    <a:pt x="1080" y="381"/>
                    <a:pt x="1113" y="289"/>
                    <a:pt x="1174" y="217"/>
                  </a:cubicBezTo>
                  <a:cubicBezTo>
                    <a:pt x="1218" y="165"/>
                    <a:pt x="1212" y="88"/>
                    <a:pt x="1160" y="44"/>
                  </a:cubicBezTo>
                  <a:cubicBezTo>
                    <a:pt x="1108" y="0"/>
                    <a:pt x="1031" y="7"/>
                    <a:pt x="987" y="59"/>
                  </a:cubicBezTo>
                  <a:cubicBezTo>
                    <a:pt x="888" y="175"/>
                    <a:pt x="834" y="324"/>
                    <a:pt x="834" y="476"/>
                  </a:cubicBezTo>
                  <a:cubicBezTo>
                    <a:pt x="834" y="629"/>
                    <a:pt x="888" y="770"/>
                    <a:pt x="977" y="881"/>
                  </a:cubicBezTo>
                  <a:cubicBezTo>
                    <a:pt x="128" y="881"/>
                    <a:pt x="128" y="881"/>
                    <a:pt x="128" y="881"/>
                  </a:cubicBezTo>
                  <a:cubicBezTo>
                    <a:pt x="62" y="881"/>
                    <a:pt x="5" y="933"/>
                    <a:pt x="3" y="1000"/>
                  </a:cubicBezTo>
                  <a:cubicBezTo>
                    <a:pt x="0" y="1070"/>
                    <a:pt x="56" y="1127"/>
                    <a:pt x="125" y="1127"/>
                  </a:cubicBezTo>
                  <a:cubicBezTo>
                    <a:pt x="963" y="1127"/>
                    <a:pt x="963" y="1127"/>
                    <a:pt x="963" y="1127"/>
                  </a:cubicBezTo>
                  <a:cubicBezTo>
                    <a:pt x="975" y="1127"/>
                    <a:pt x="985" y="1137"/>
                    <a:pt x="985" y="1149"/>
                  </a:cubicBezTo>
                  <a:cubicBezTo>
                    <a:pt x="985" y="1150"/>
                    <a:pt x="985" y="1150"/>
                    <a:pt x="985" y="1150"/>
                  </a:cubicBezTo>
                  <a:cubicBezTo>
                    <a:pt x="985" y="1162"/>
                    <a:pt x="975" y="1172"/>
                    <a:pt x="963" y="1172"/>
                  </a:cubicBezTo>
                  <a:cubicBezTo>
                    <a:pt x="288" y="1172"/>
                    <a:pt x="288" y="1172"/>
                    <a:pt x="288" y="1172"/>
                  </a:cubicBezTo>
                  <a:cubicBezTo>
                    <a:pt x="221" y="1172"/>
                    <a:pt x="165" y="1224"/>
                    <a:pt x="162" y="1290"/>
                  </a:cubicBezTo>
                  <a:cubicBezTo>
                    <a:pt x="160" y="1360"/>
                    <a:pt x="216" y="1418"/>
                    <a:pt x="285" y="1418"/>
                  </a:cubicBezTo>
                  <a:cubicBezTo>
                    <a:pt x="963" y="1418"/>
                    <a:pt x="963" y="1418"/>
                    <a:pt x="963" y="1418"/>
                  </a:cubicBezTo>
                  <a:cubicBezTo>
                    <a:pt x="975" y="1418"/>
                    <a:pt x="985" y="1428"/>
                    <a:pt x="985" y="1440"/>
                  </a:cubicBezTo>
                  <a:cubicBezTo>
                    <a:pt x="985" y="1440"/>
                    <a:pt x="985" y="1440"/>
                    <a:pt x="985" y="1440"/>
                  </a:cubicBezTo>
                  <a:cubicBezTo>
                    <a:pt x="985" y="1453"/>
                    <a:pt x="975" y="1463"/>
                    <a:pt x="963" y="1463"/>
                  </a:cubicBezTo>
                  <a:cubicBezTo>
                    <a:pt x="550" y="1463"/>
                    <a:pt x="550" y="1463"/>
                    <a:pt x="550" y="1463"/>
                  </a:cubicBezTo>
                  <a:cubicBezTo>
                    <a:pt x="483" y="1463"/>
                    <a:pt x="427" y="1514"/>
                    <a:pt x="424" y="1581"/>
                  </a:cubicBezTo>
                  <a:cubicBezTo>
                    <a:pt x="422" y="1651"/>
                    <a:pt x="478" y="1708"/>
                    <a:pt x="547" y="1708"/>
                  </a:cubicBezTo>
                  <a:cubicBezTo>
                    <a:pt x="985" y="1708"/>
                    <a:pt x="985" y="1708"/>
                    <a:pt x="985" y="1708"/>
                  </a:cubicBezTo>
                  <a:cubicBezTo>
                    <a:pt x="1304" y="1708"/>
                    <a:pt x="1304" y="1708"/>
                    <a:pt x="1304" y="1708"/>
                  </a:cubicBezTo>
                  <a:cubicBezTo>
                    <a:pt x="2187" y="1708"/>
                    <a:pt x="2187" y="1708"/>
                    <a:pt x="2187" y="1708"/>
                  </a:cubicBezTo>
                  <a:cubicBezTo>
                    <a:pt x="2187" y="881"/>
                    <a:pt x="2187" y="881"/>
                    <a:pt x="2187" y="881"/>
                  </a:cubicBezTo>
                  <a:cubicBezTo>
                    <a:pt x="1986" y="881"/>
                    <a:pt x="1986" y="881"/>
                    <a:pt x="1986" y="881"/>
                  </a:cubicBezTo>
                </a:path>
              </a:pathLst>
            </a:custGeom>
            <a:solidFill>
              <a:srgbClr val="FCDD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60" name="Rectangle 8"/>
            <p:cNvSpPr>
              <a:spLocks noChangeArrowheads="1"/>
            </p:cNvSpPr>
            <p:nvPr/>
          </p:nvSpPr>
          <p:spPr bwMode="auto">
            <a:xfrm flipH="1">
              <a:off x="2175418" y="5036362"/>
              <a:ext cx="245105" cy="117842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61" name="Rectangle 9"/>
            <p:cNvSpPr>
              <a:spLocks noChangeArrowheads="1"/>
            </p:cNvSpPr>
            <p:nvPr/>
          </p:nvSpPr>
          <p:spPr bwMode="auto">
            <a:xfrm flipH="1">
              <a:off x="2175418" y="5036362"/>
              <a:ext cx="245105" cy="11784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62" name="Freeform 10"/>
            <p:cNvSpPr>
              <a:spLocks/>
            </p:cNvSpPr>
            <p:nvPr/>
          </p:nvSpPr>
          <p:spPr bwMode="auto">
            <a:xfrm flipH="1">
              <a:off x="2465881" y="1802888"/>
              <a:ext cx="1918975" cy="1967823"/>
            </a:xfrm>
            <a:custGeom>
              <a:avLst/>
              <a:gdLst>
                <a:gd name="T0" fmla="*/ 1346 w 1346"/>
                <a:gd name="T1" fmla="*/ 673 h 1381"/>
                <a:gd name="T2" fmla="*/ 673 w 1346"/>
                <a:gd name="T3" fmla="*/ 0 h 1381"/>
                <a:gd name="T4" fmla="*/ 0 w 1346"/>
                <a:gd name="T5" fmla="*/ 673 h 1381"/>
                <a:gd name="T6" fmla="*/ 434 w 1346"/>
                <a:gd name="T7" fmla="*/ 1303 h 1381"/>
                <a:gd name="T8" fmla="*/ 434 w 1346"/>
                <a:gd name="T9" fmla="*/ 1381 h 1381"/>
                <a:gd name="T10" fmla="*/ 911 w 1346"/>
                <a:gd name="T11" fmla="*/ 1381 h 1381"/>
                <a:gd name="T12" fmla="*/ 911 w 1346"/>
                <a:gd name="T13" fmla="*/ 1303 h 1381"/>
                <a:gd name="T14" fmla="*/ 1346 w 1346"/>
                <a:gd name="T15" fmla="*/ 673 h 1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46" h="1381">
                  <a:moveTo>
                    <a:pt x="1346" y="673"/>
                  </a:moveTo>
                  <a:cubicBezTo>
                    <a:pt x="1346" y="302"/>
                    <a:pt x="1044" y="0"/>
                    <a:pt x="673" y="0"/>
                  </a:cubicBezTo>
                  <a:cubicBezTo>
                    <a:pt x="301" y="0"/>
                    <a:pt x="0" y="302"/>
                    <a:pt x="0" y="673"/>
                  </a:cubicBezTo>
                  <a:cubicBezTo>
                    <a:pt x="0" y="961"/>
                    <a:pt x="180" y="1207"/>
                    <a:pt x="434" y="1303"/>
                  </a:cubicBezTo>
                  <a:cubicBezTo>
                    <a:pt x="434" y="1381"/>
                    <a:pt x="434" y="1381"/>
                    <a:pt x="434" y="1381"/>
                  </a:cubicBezTo>
                  <a:cubicBezTo>
                    <a:pt x="911" y="1381"/>
                    <a:pt x="911" y="1381"/>
                    <a:pt x="911" y="1381"/>
                  </a:cubicBezTo>
                  <a:cubicBezTo>
                    <a:pt x="911" y="1303"/>
                    <a:pt x="911" y="1303"/>
                    <a:pt x="911" y="1303"/>
                  </a:cubicBezTo>
                  <a:cubicBezTo>
                    <a:pt x="1165" y="1207"/>
                    <a:pt x="1346" y="961"/>
                    <a:pt x="1346" y="673"/>
                  </a:cubicBezTo>
                  <a:close/>
                </a:path>
              </a:pathLst>
            </a:custGeom>
            <a:ln/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 err="1" smtClean="0">
                  <a:solidFill>
                    <a:schemeClr val="bg1"/>
                  </a:solidFill>
                  <a:effectLst/>
                  <a:latin typeface="Agency FB" panose="020B0503020202020204" pitchFamily="34" charset="0"/>
                  <a:ea typeface="Times New Roman" panose="02020603050405020304" pitchFamily="18" charset="0"/>
                </a:rPr>
                <a:t>Shu</a:t>
              </a:r>
              <a:r>
                <a:rPr lang="en-US" sz="2800" b="1" dirty="0" smtClean="0">
                  <a:solidFill>
                    <a:schemeClr val="bg1"/>
                  </a:solidFill>
                  <a:effectLst/>
                  <a:latin typeface="Agency FB" panose="020B0503020202020204" pitchFamily="34" charset="0"/>
                  <a:ea typeface="Times New Roman" panose="02020603050405020304" pitchFamily="18" charset="0"/>
                </a:rPr>
                <a:t> </a:t>
              </a:r>
              <a:r>
                <a:rPr lang="en-US" sz="2800" b="1" dirty="0" err="1" smtClean="0">
                  <a:solidFill>
                    <a:schemeClr val="bg1"/>
                  </a:solidFill>
                  <a:effectLst/>
                  <a:latin typeface="Agency FB" panose="020B0503020202020204" pitchFamily="34" charset="0"/>
                  <a:ea typeface="Times New Roman" panose="02020603050405020304" pitchFamily="18" charset="0"/>
                </a:rPr>
                <a:t>jumladan</a:t>
              </a:r>
              <a:r>
                <a:rPr lang="en-US" sz="2800" b="1" dirty="0" smtClean="0">
                  <a:solidFill>
                    <a:schemeClr val="bg1"/>
                  </a:solidFill>
                  <a:effectLst/>
                  <a:latin typeface="Agency FB" panose="020B0503020202020204" pitchFamily="34" charset="0"/>
                  <a:ea typeface="Times New Roman" panose="02020603050405020304" pitchFamily="18" charset="0"/>
                </a:rPr>
                <a:t>:</a:t>
              </a:r>
              <a:endParaRPr lang="ru-RU" sz="2800" b="1" dirty="0" smtClean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  <a:p>
              <a:pPr algn="ctr"/>
              <a:endParaRPr lang="en-US" sz="2800" b="1" dirty="0">
                <a:solidFill>
                  <a:schemeClr val="bg1"/>
                </a:solidFill>
                <a:latin typeface="Agency FB" panose="020B0503020202020204" pitchFamily="34" charset="0"/>
                <a:cs typeface="+mn-ea"/>
              </a:endParaRPr>
            </a:p>
          </p:txBody>
        </p:sp>
        <p:sp>
          <p:nvSpPr>
            <p:cNvPr id="63" name="Freeform 11"/>
            <p:cNvSpPr>
              <a:spLocks/>
            </p:cNvSpPr>
            <p:nvPr/>
          </p:nvSpPr>
          <p:spPr bwMode="auto">
            <a:xfrm flipH="1">
              <a:off x="3254405" y="3068482"/>
              <a:ext cx="343670" cy="742351"/>
            </a:xfrm>
            <a:custGeom>
              <a:avLst/>
              <a:gdLst>
                <a:gd name="T0" fmla="*/ 240 w 241"/>
                <a:gd name="T1" fmla="*/ 19 h 686"/>
                <a:gd name="T2" fmla="*/ 240 w 241"/>
                <a:gd name="T3" fmla="*/ 17 h 686"/>
                <a:gd name="T4" fmla="*/ 239 w 241"/>
                <a:gd name="T5" fmla="*/ 15 h 686"/>
                <a:gd name="T6" fmla="*/ 238 w 241"/>
                <a:gd name="T7" fmla="*/ 13 h 686"/>
                <a:gd name="T8" fmla="*/ 237 w 241"/>
                <a:gd name="T9" fmla="*/ 11 h 686"/>
                <a:gd name="T10" fmla="*/ 231 w 241"/>
                <a:gd name="T11" fmla="*/ 5 h 686"/>
                <a:gd name="T12" fmla="*/ 230 w 241"/>
                <a:gd name="T13" fmla="*/ 5 h 686"/>
                <a:gd name="T14" fmla="*/ 228 w 241"/>
                <a:gd name="T15" fmla="*/ 3 h 686"/>
                <a:gd name="T16" fmla="*/ 226 w 241"/>
                <a:gd name="T17" fmla="*/ 3 h 686"/>
                <a:gd name="T18" fmla="*/ 224 w 241"/>
                <a:gd name="T19" fmla="*/ 2 h 686"/>
                <a:gd name="T20" fmla="*/ 220 w 241"/>
                <a:gd name="T21" fmla="*/ 2 h 686"/>
                <a:gd name="T22" fmla="*/ 220 w 241"/>
                <a:gd name="T23" fmla="*/ 2 h 686"/>
                <a:gd name="T24" fmla="*/ 220 w 241"/>
                <a:gd name="T25" fmla="*/ 2 h 686"/>
                <a:gd name="T26" fmla="*/ 215 w 241"/>
                <a:gd name="T27" fmla="*/ 2 h 686"/>
                <a:gd name="T28" fmla="*/ 214 w 241"/>
                <a:gd name="T29" fmla="*/ 3 h 686"/>
                <a:gd name="T30" fmla="*/ 211 w 241"/>
                <a:gd name="T31" fmla="*/ 3 h 686"/>
                <a:gd name="T32" fmla="*/ 209 w 241"/>
                <a:gd name="T33" fmla="*/ 4 h 686"/>
                <a:gd name="T34" fmla="*/ 208 w 241"/>
                <a:gd name="T35" fmla="*/ 5 h 686"/>
                <a:gd name="T36" fmla="*/ 204 w 241"/>
                <a:gd name="T37" fmla="*/ 8 h 686"/>
                <a:gd name="T38" fmla="*/ 170 w 241"/>
                <a:gd name="T39" fmla="*/ 42 h 686"/>
                <a:gd name="T40" fmla="*/ 136 w 241"/>
                <a:gd name="T41" fmla="*/ 8 h 686"/>
                <a:gd name="T42" fmla="*/ 106 w 241"/>
                <a:gd name="T43" fmla="*/ 8 h 686"/>
                <a:gd name="T44" fmla="*/ 71 w 241"/>
                <a:gd name="T45" fmla="*/ 42 h 686"/>
                <a:gd name="T46" fmla="*/ 37 w 241"/>
                <a:gd name="T47" fmla="*/ 8 h 686"/>
                <a:gd name="T48" fmla="*/ 34 w 241"/>
                <a:gd name="T49" fmla="*/ 5 h 686"/>
                <a:gd name="T50" fmla="*/ 32 w 241"/>
                <a:gd name="T51" fmla="*/ 4 h 686"/>
                <a:gd name="T52" fmla="*/ 30 w 241"/>
                <a:gd name="T53" fmla="*/ 3 h 686"/>
                <a:gd name="T54" fmla="*/ 28 w 241"/>
                <a:gd name="T55" fmla="*/ 3 h 686"/>
                <a:gd name="T56" fmla="*/ 26 w 241"/>
                <a:gd name="T57" fmla="*/ 2 h 686"/>
                <a:gd name="T58" fmla="*/ 18 w 241"/>
                <a:gd name="T59" fmla="*/ 2 h 686"/>
                <a:gd name="T60" fmla="*/ 16 w 241"/>
                <a:gd name="T61" fmla="*/ 3 h 686"/>
                <a:gd name="T62" fmla="*/ 14 w 241"/>
                <a:gd name="T63" fmla="*/ 3 h 686"/>
                <a:gd name="T64" fmla="*/ 11 w 241"/>
                <a:gd name="T65" fmla="*/ 4 h 686"/>
                <a:gd name="T66" fmla="*/ 10 w 241"/>
                <a:gd name="T67" fmla="*/ 5 h 686"/>
                <a:gd name="T68" fmla="*/ 4 w 241"/>
                <a:gd name="T69" fmla="*/ 11 h 686"/>
                <a:gd name="T70" fmla="*/ 3 w 241"/>
                <a:gd name="T71" fmla="*/ 13 h 686"/>
                <a:gd name="T72" fmla="*/ 2 w 241"/>
                <a:gd name="T73" fmla="*/ 15 h 686"/>
                <a:gd name="T74" fmla="*/ 1 w 241"/>
                <a:gd name="T75" fmla="*/ 17 h 686"/>
                <a:gd name="T76" fmla="*/ 1 w 241"/>
                <a:gd name="T77" fmla="*/ 19 h 686"/>
                <a:gd name="T78" fmla="*/ 0 w 241"/>
                <a:gd name="T79" fmla="*/ 23 h 686"/>
                <a:gd name="T80" fmla="*/ 0 w 241"/>
                <a:gd name="T81" fmla="*/ 23 h 686"/>
                <a:gd name="T82" fmla="*/ 0 w 241"/>
                <a:gd name="T83" fmla="*/ 665 h 686"/>
                <a:gd name="T84" fmla="*/ 22 w 241"/>
                <a:gd name="T85" fmla="*/ 686 h 686"/>
                <a:gd name="T86" fmla="*/ 43 w 241"/>
                <a:gd name="T87" fmla="*/ 665 h 686"/>
                <a:gd name="T88" fmla="*/ 43 w 241"/>
                <a:gd name="T89" fmla="*/ 74 h 686"/>
                <a:gd name="T90" fmla="*/ 56 w 241"/>
                <a:gd name="T91" fmla="*/ 88 h 686"/>
                <a:gd name="T92" fmla="*/ 71 w 241"/>
                <a:gd name="T93" fmla="*/ 94 h 686"/>
                <a:gd name="T94" fmla="*/ 86 w 241"/>
                <a:gd name="T95" fmla="*/ 88 h 686"/>
                <a:gd name="T96" fmla="*/ 121 w 241"/>
                <a:gd name="T97" fmla="*/ 53 h 686"/>
                <a:gd name="T98" fmla="*/ 155 w 241"/>
                <a:gd name="T99" fmla="*/ 88 h 686"/>
                <a:gd name="T100" fmla="*/ 170 w 241"/>
                <a:gd name="T101" fmla="*/ 94 h 686"/>
                <a:gd name="T102" fmla="*/ 185 w 241"/>
                <a:gd name="T103" fmla="*/ 88 h 686"/>
                <a:gd name="T104" fmla="*/ 198 w 241"/>
                <a:gd name="T105" fmla="*/ 74 h 686"/>
                <a:gd name="T106" fmla="*/ 198 w 241"/>
                <a:gd name="T107" fmla="*/ 665 h 686"/>
                <a:gd name="T108" fmla="*/ 220 w 241"/>
                <a:gd name="T109" fmla="*/ 686 h 686"/>
                <a:gd name="T110" fmla="*/ 241 w 241"/>
                <a:gd name="T111" fmla="*/ 665 h 686"/>
                <a:gd name="T112" fmla="*/ 241 w 241"/>
                <a:gd name="T113" fmla="*/ 23 h 686"/>
                <a:gd name="T114" fmla="*/ 241 w 241"/>
                <a:gd name="T115" fmla="*/ 23 h 686"/>
                <a:gd name="T116" fmla="*/ 240 w 241"/>
                <a:gd name="T117" fmla="*/ 19 h 6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41" h="686">
                  <a:moveTo>
                    <a:pt x="240" y="19"/>
                  </a:moveTo>
                  <a:cubicBezTo>
                    <a:pt x="240" y="18"/>
                    <a:pt x="240" y="18"/>
                    <a:pt x="240" y="17"/>
                  </a:cubicBezTo>
                  <a:cubicBezTo>
                    <a:pt x="240" y="16"/>
                    <a:pt x="239" y="16"/>
                    <a:pt x="239" y="15"/>
                  </a:cubicBezTo>
                  <a:cubicBezTo>
                    <a:pt x="239" y="14"/>
                    <a:pt x="238" y="13"/>
                    <a:pt x="238" y="13"/>
                  </a:cubicBezTo>
                  <a:cubicBezTo>
                    <a:pt x="238" y="12"/>
                    <a:pt x="238" y="12"/>
                    <a:pt x="237" y="11"/>
                  </a:cubicBezTo>
                  <a:cubicBezTo>
                    <a:pt x="236" y="9"/>
                    <a:pt x="234" y="7"/>
                    <a:pt x="231" y="5"/>
                  </a:cubicBezTo>
                  <a:cubicBezTo>
                    <a:pt x="231" y="5"/>
                    <a:pt x="230" y="5"/>
                    <a:pt x="230" y="5"/>
                  </a:cubicBezTo>
                  <a:cubicBezTo>
                    <a:pt x="229" y="4"/>
                    <a:pt x="228" y="4"/>
                    <a:pt x="228" y="3"/>
                  </a:cubicBezTo>
                  <a:cubicBezTo>
                    <a:pt x="227" y="3"/>
                    <a:pt x="226" y="3"/>
                    <a:pt x="226" y="3"/>
                  </a:cubicBezTo>
                  <a:cubicBezTo>
                    <a:pt x="225" y="3"/>
                    <a:pt x="224" y="2"/>
                    <a:pt x="224" y="2"/>
                  </a:cubicBezTo>
                  <a:cubicBezTo>
                    <a:pt x="222" y="2"/>
                    <a:pt x="221" y="2"/>
                    <a:pt x="220" y="2"/>
                  </a:cubicBezTo>
                  <a:cubicBezTo>
                    <a:pt x="220" y="2"/>
                    <a:pt x="220" y="2"/>
                    <a:pt x="220" y="2"/>
                  </a:cubicBezTo>
                  <a:cubicBezTo>
                    <a:pt x="220" y="2"/>
                    <a:pt x="220" y="2"/>
                    <a:pt x="220" y="2"/>
                  </a:cubicBezTo>
                  <a:cubicBezTo>
                    <a:pt x="218" y="2"/>
                    <a:pt x="217" y="2"/>
                    <a:pt x="215" y="2"/>
                  </a:cubicBezTo>
                  <a:cubicBezTo>
                    <a:pt x="215" y="2"/>
                    <a:pt x="214" y="2"/>
                    <a:pt x="214" y="3"/>
                  </a:cubicBezTo>
                  <a:cubicBezTo>
                    <a:pt x="213" y="3"/>
                    <a:pt x="212" y="3"/>
                    <a:pt x="211" y="3"/>
                  </a:cubicBezTo>
                  <a:cubicBezTo>
                    <a:pt x="211" y="4"/>
                    <a:pt x="210" y="4"/>
                    <a:pt x="209" y="4"/>
                  </a:cubicBezTo>
                  <a:cubicBezTo>
                    <a:pt x="209" y="5"/>
                    <a:pt x="208" y="5"/>
                    <a:pt x="208" y="5"/>
                  </a:cubicBezTo>
                  <a:cubicBezTo>
                    <a:pt x="207" y="6"/>
                    <a:pt x="205" y="7"/>
                    <a:pt x="204" y="8"/>
                  </a:cubicBezTo>
                  <a:cubicBezTo>
                    <a:pt x="170" y="42"/>
                    <a:pt x="170" y="42"/>
                    <a:pt x="170" y="42"/>
                  </a:cubicBezTo>
                  <a:cubicBezTo>
                    <a:pt x="136" y="8"/>
                    <a:pt x="136" y="8"/>
                    <a:pt x="136" y="8"/>
                  </a:cubicBezTo>
                  <a:cubicBezTo>
                    <a:pt x="127" y="0"/>
                    <a:pt x="114" y="0"/>
                    <a:pt x="106" y="8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6" y="7"/>
                    <a:pt x="35" y="6"/>
                    <a:pt x="34" y="5"/>
                  </a:cubicBezTo>
                  <a:cubicBezTo>
                    <a:pt x="33" y="5"/>
                    <a:pt x="33" y="5"/>
                    <a:pt x="32" y="4"/>
                  </a:cubicBezTo>
                  <a:cubicBezTo>
                    <a:pt x="31" y="4"/>
                    <a:pt x="31" y="4"/>
                    <a:pt x="30" y="3"/>
                  </a:cubicBezTo>
                  <a:cubicBezTo>
                    <a:pt x="29" y="3"/>
                    <a:pt x="29" y="3"/>
                    <a:pt x="28" y="3"/>
                  </a:cubicBezTo>
                  <a:cubicBezTo>
                    <a:pt x="27" y="3"/>
                    <a:pt x="27" y="2"/>
                    <a:pt x="26" y="2"/>
                  </a:cubicBezTo>
                  <a:cubicBezTo>
                    <a:pt x="23" y="2"/>
                    <a:pt x="20" y="2"/>
                    <a:pt x="18" y="2"/>
                  </a:cubicBezTo>
                  <a:cubicBezTo>
                    <a:pt x="17" y="2"/>
                    <a:pt x="16" y="3"/>
                    <a:pt x="16" y="3"/>
                  </a:cubicBezTo>
                  <a:cubicBezTo>
                    <a:pt x="15" y="3"/>
                    <a:pt x="14" y="3"/>
                    <a:pt x="14" y="3"/>
                  </a:cubicBezTo>
                  <a:cubicBezTo>
                    <a:pt x="13" y="4"/>
                    <a:pt x="12" y="4"/>
                    <a:pt x="11" y="4"/>
                  </a:cubicBezTo>
                  <a:cubicBezTo>
                    <a:pt x="11" y="5"/>
                    <a:pt x="10" y="5"/>
                    <a:pt x="10" y="5"/>
                  </a:cubicBezTo>
                  <a:cubicBezTo>
                    <a:pt x="8" y="7"/>
                    <a:pt x="6" y="9"/>
                    <a:pt x="4" y="11"/>
                  </a:cubicBezTo>
                  <a:cubicBezTo>
                    <a:pt x="4" y="12"/>
                    <a:pt x="3" y="12"/>
                    <a:pt x="3" y="13"/>
                  </a:cubicBezTo>
                  <a:cubicBezTo>
                    <a:pt x="3" y="14"/>
                    <a:pt x="2" y="14"/>
                    <a:pt x="2" y="15"/>
                  </a:cubicBezTo>
                  <a:cubicBezTo>
                    <a:pt x="2" y="16"/>
                    <a:pt x="2" y="16"/>
                    <a:pt x="1" y="17"/>
                  </a:cubicBezTo>
                  <a:cubicBezTo>
                    <a:pt x="1" y="18"/>
                    <a:pt x="1" y="18"/>
                    <a:pt x="1" y="19"/>
                  </a:cubicBezTo>
                  <a:cubicBezTo>
                    <a:pt x="1" y="20"/>
                    <a:pt x="0" y="22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665"/>
                    <a:pt x="0" y="665"/>
                    <a:pt x="0" y="665"/>
                  </a:cubicBezTo>
                  <a:cubicBezTo>
                    <a:pt x="0" y="677"/>
                    <a:pt x="10" y="686"/>
                    <a:pt x="22" y="686"/>
                  </a:cubicBezTo>
                  <a:cubicBezTo>
                    <a:pt x="34" y="686"/>
                    <a:pt x="43" y="677"/>
                    <a:pt x="43" y="665"/>
                  </a:cubicBezTo>
                  <a:cubicBezTo>
                    <a:pt x="43" y="74"/>
                    <a:pt x="43" y="74"/>
                    <a:pt x="43" y="74"/>
                  </a:cubicBezTo>
                  <a:cubicBezTo>
                    <a:pt x="56" y="88"/>
                    <a:pt x="56" y="88"/>
                    <a:pt x="56" y="88"/>
                  </a:cubicBezTo>
                  <a:cubicBezTo>
                    <a:pt x="60" y="92"/>
                    <a:pt x="66" y="94"/>
                    <a:pt x="71" y="94"/>
                  </a:cubicBezTo>
                  <a:cubicBezTo>
                    <a:pt x="77" y="94"/>
                    <a:pt x="82" y="92"/>
                    <a:pt x="86" y="88"/>
                  </a:cubicBezTo>
                  <a:cubicBezTo>
                    <a:pt x="121" y="53"/>
                    <a:pt x="121" y="53"/>
                    <a:pt x="121" y="53"/>
                  </a:cubicBezTo>
                  <a:cubicBezTo>
                    <a:pt x="155" y="88"/>
                    <a:pt x="155" y="88"/>
                    <a:pt x="155" y="88"/>
                  </a:cubicBezTo>
                  <a:cubicBezTo>
                    <a:pt x="159" y="92"/>
                    <a:pt x="164" y="94"/>
                    <a:pt x="170" y="94"/>
                  </a:cubicBezTo>
                  <a:cubicBezTo>
                    <a:pt x="176" y="94"/>
                    <a:pt x="181" y="92"/>
                    <a:pt x="185" y="88"/>
                  </a:cubicBezTo>
                  <a:cubicBezTo>
                    <a:pt x="198" y="74"/>
                    <a:pt x="198" y="74"/>
                    <a:pt x="198" y="74"/>
                  </a:cubicBezTo>
                  <a:cubicBezTo>
                    <a:pt x="198" y="665"/>
                    <a:pt x="198" y="665"/>
                    <a:pt x="198" y="665"/>
                  </a:cubicBezTo>
                  <a:cubicBezTo>
                    <a:pt x="198" y="677"/>
                    <a:pt x="208" y="686"/>
                    <a:pt x="220" y="686"/>
                  </a:cubicBezTo>
                  <a:cubicBezTo>
                    <a:pt x="231" y="686"/>
                    <a:pt x="241" y="677"/>
                    <a:pt x="241" y="665"/>
                  </a:cubicBezTo>
                  <a:cubicBezTo>
                    <a:pt x="241" y="23"/>
                    <a:pt x="241" y="23"/>
                    <a:pt x="241" y="23"/>
                  </a:cubicBezTo>
                  <a:cubicBezTo>
                    <a:pt x="241" y="23"/>
                    <a:pt x="241" y="23"/>
                    <a:pt x="241" y="23"/>
                  </a:cubicBezTo>
                  <a:cubicBezTo>
                    <a:pt x="241" y="22"/>
                    <a:pt x="241" y="20"/>
                    <a:pt x="240" y="19"/>
                  </a:cubicBezTo>
                  <a:close/>
                </a:path>
              </a:pathLst>
            </a:custGeom>
            <a:solidFill>
              <a:srgbClr val="FFFF00">
                <a:alpha val="32000"/>
              </a:srgbClr>
            </a:solidFill>
            <a:ln w="57150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60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</a:endParaRPr>
            </a:p>
          </p:txBody>
        </p:sp>
        <p:sp>
          <p:nvSpPr>
            <p:cNvPr id="64" name="Freeform 12"/>
            <p:cNvSpPr>
              <a:spLocks/>
            </p:cNvSpPr>
            <p:nvPr/>
          </p:nvSpPr>
          <p:spPr bwMode="auto">
            <a:xfrm flipH="1">
              <a:off x="3018895" y="3770711"/>
              <a:ext cx="813819" cy="133456"/>
            </a:xfrm>
            <a:custGeom>
              <a:avLst/>
              <a:gdLst>
                <a:gd name="T0" fmla="*/ 524 w 571"/>
                <a:gd name="T1" fmla="*/ 94 h 94"/>
                <a:gd name="T2" fmla="*/ 47 w 571"/>
                <a:gd name="T3" fmla="*/ 94 h 94"/>
                <a:gd name="T4" fmla="*/ 0 w 571"/>
                <a:gd name="T5" fmla="*/ 47 h 94"/>
                <a:gd name="T6" fmla="*/ 47 w 571"/>
                <a:gd name="T7" fmla="*/ 0 h 94"/>
                <a:gd name="T8" fmla="*/ 524 w 571"/>
                <a:gd name="T9" fmla="*/ 0 h 94"/>
                <a:gd name="T10" fmla="*/ 571 w 571"/>
                <a:gd name="T11" fmla="*/ 47 h 94"/>
                <a:gd name="T12" fmla="*/ 524 w 571"/>
                <a:gd name="T13" fmla="*/ 94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1" h="94">
                  <a:moveTo>
                    <a:pt x="524" y="94"/>
                  </a:moveTo>
                  <a:cubicBezTo>
                    <a:pt x="47" y="94"/>
                    <a:pt x="47" y="94"/>
                    <a:pt x="47" y="94"/>
                  </a:cubicBezTo>
                  <a:cubicBezTo>
                    <a:pt x="21" y="94"/>
                    <a:pt x="0" y="73"/>
                    <a:pt x="0" y="47"/>
                  </a:cubicBezTo>
                  <a:cubicBezTo>
                    <a:pt x="0" y="21"/>
                    <a:pt x="21" y="0"/>
                    <a:pt x="47" y="0"/>
                  </a:cubicBezTo>
                  <a:cubicBezTo>
                    <a:pt x="524" y="0"/>
                    <a:pt x="524" y="0"/>
                    <a:pt x="524" y="0"/>
                  </a:cubicBezTo>
                  <a:cubicBezTo>
                    <a:pt x="550" y="0"/>
                    <a:pt x="571" y="21"/>
                    <a:pt x="571" y="47"/>
                  </a:cubicBezTo>
                  <a:cubicBezTo>
                    <a:pt x="571" y="73"/>
                    <a:pt x="550" y="94"/>
                    <a:pt x="524" y="94"/>
                  </a:cubicBezTo>
                </a:path>
              </a:pathLst>
            </a:cu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65" name="Freeform 13"/>
            <p:cNvSpPr>
              <a:spLocks/>
            </p:cNvSpPr>
            <p:nvPr/>
          </p:nvSpPr>
          <p:spPr bwMode="auto">
            <a:xfrm flipH="1">
              <a:off x="3018895" y="3904168"/>
              <a:ext cx="813819" cy="132584"/>
            </a:xfrm>
            <a:custGeom>
              <a:avLst/>
              <a:gdLst>
                <a:gd name="T0" fmla="*/ 524 w 571"/>
                <a:gd name="T1" fmla="*/ 93 h 93"/>
                <a:gd name="T2" fmla="*/ 47 w 571"/>
                <a:gd name="T3" fmla="*/ 93 h 93"/>
                <a:gd name="T4" fmla="*/ 0 w 571"/>
                <a:gd name="T5" fmla="*/ 46 h 93"/>
                <a:gd name="T6" fmla="*/ 47 w 571"/>
                <a:gd name="T7" fmla="*/ 0 h 93"/>
                <a:gd name="T8" fmla="*/ 524 w 571"/>
                <a:gd name="T9" fmla="*/ 0 h 93"/>
                <a:gd name="T10" fmla="*/ 571 w 571"/>
                <a:gd name="T11" fmla="*/ 46 h 93"/>
                <a:gd name="T12" fmla="*/ 524 w 571"/>
                <a:gd name="T13" fmla="*/ 93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1" h="93">
                  <a:moveTo>
                    <a:pt x="524" y="93"/>
                  </a:moveTo>
                  <a:cubicBezTo>
                    <a:pt x="47" y="93"/>
                    <a:pt x="47" y="93"/>
                    <a:pt x="47" y="93"/>
                  </a:cubicBezTo>
                  <a:cubicBezTo>
                    <a:pt x="21" y="93"/>
                    <a:pt x="0" y="72"/>
                    <a:pt x="0" y="46"/>
                  </a:cubicBezTo>
                  <a:cubicBezTo>
                    <a:pt x="0" y="21"/>
                    <a:pt x="21" y="0"/>
                    <a:pt x="47" y="0"/>
                  </a:cubicBezTo>
                  <a:cubicBezTo>
                    <a:pt x="524" y="0"/>
                    <a:pt x="524" y="0"/>
                    <a:pt x="524" y="0"/>
                  </a:cubicBezTo>
                  <a:cubicBezTo>
                    <a:pt x="550" y="0"/>
                    <a:pt x="571" y="21"/>
                    <a:pt x="571" y="46"/>
                  </a:cubicBezTo>
                  <a:cubicBezTo>
                    <a:pt x="571" y="72"/>
                    <a:pt x="550" y="93"/>
                    <a:pt x="524" y="93"/>
                  </a:cubicBezTo>
                </a:path>
              </a:pathLst>
            </a:cu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66" name="Freeform 14"/>
            <p:cNvSpPr>
              <a:spLocks/>
            </p:cNvSpPr>
            <p:nvPr/>
          </p:nvSpPr>
          <p:spPr bwMode="auto">
            <a:xfrm flipH="1">
              <a:off x="3018895" y="4036750"/>
              <a:ext cx="813819" cy="134329"/>
            </a:xfrm>
            <a:custGeom>
              <a:avLst/>
              <a:gdLst>
                <a:gd name="T0" fmla="*/ 524 w 571"/>
                <a:gd name="T1" fmla="*/ 94 h 94"/>
                <a:gd name="T2" fmla="*/ 47 w 571"/>
                <a:gd name="T3" fmla="*/ 94 h 94"/>
                <a:gd name="T4" fmla="*/ 0 w 571"/>
                <a:gd name="T5" fmla="*/ 47 h 94"/>
                <a:gd name="T6" fmla="*/ 47 w 571"/>
                <a:gd name="T7" fmla="*/ 0 h 94"/>
                <a:gd name="T8" fmla="*/ 524 w 571"/>
                <a:gd name="T9" fmla="*/ 0 h 94"/>
                <a:gd name="T10" fmla="*/ 571 w 571"/>
                <a:gd name="T11" fmla="*/ 47 h 94"/>
                <a:gd name="T12" fmla="*/ 524 w 571"/>
                <a:gd name="T13" fmla="*/ 94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1" h="94">
                  <a:moveTo>
                    <a:pt x="524" y="94"/>
                  </a:moveTo>
                  <a:cubicBezTo>
                    <a:pt x="47" y="94"/>
                    <a:pt x="47" y="94"/>
                    <a:pt x="47" y="94"/>
                  </a:cubicBezTo>
                  <a:cubicBezTo>
                    <a:pt x="21" y="94"/>
                    <a:pt x="0" y="73"/>
                    <a:pt x="0" y="47"/>
                  </a:cubicBezTo>
                  <a:cubicBezTo>
                    <a:pt x="0" y="21"/>
                    <a:pt x="21" y="0"/>
                    <a:pt x="47" y="0"/>
                  </a:cubicBezTo>
                  <a:cubicBezTo>
                    <a:pt x="524" y="0"/>
                    <a:pt x="524" y="0"/>
                    <a:pt x="524" y="0"/>
                  </a:cubicBezTo>
                  <a:cubicBezTo>
                    <a:pt x="550" y="0"/>
                    <a:pt x="571" y="21"/>
                    <a:pt x="571" y="47"/>
                  </a:cubicBezTo>
                  <a:cubicBezTo>
                    <a:pt x="571" y="73"/>
                    <a:pt x="550" y="94"/>
                    <a:pt x="524" y="94"/>
                  </a:cubicBezTo>
                </a:path>
              </a:pathLst>
            </a:cu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67" name="Freeform 15"/>
            <p:cNvSpPr>
              <a:spLocks/>
            </p:cNvSpPr>
            <p:nvPr/>
          </p:nvSpPr>
          <p:spPr bwMode="auto">
            <a:xfrm flipH="1">
              <a:off x="3018895" y="3837875"/>
              <a:ext cx="813819" cy="66293"/>
            </a:xfrm>
            <a:custGeom>
              <a:avLst/>
              <a:gdLst>
                <a:gd name="T0" fmla="*/ 571 w 571"/>
                <a:gd name="T1" fmla="*/ 0 h 47"/>
                <a:gd name="T2" fmla="*/ 0 w 571"/>
                <a:gd name="T3" fmla="*/ 0 h 47"/>
                <a:gd name="T4" fmla="*/ 0 w 571"/>
                <a:gd name="T5" fmla="*/ 0 h 47"/>
                <a:gd name="T6" fmla="*/ 47 w 571"/>
                <a:gd name="T7" fmla="*/ 47 h 47"/>
                <a:gd name="T8" fmla="*/ 524 w 571"/>
                <a:gd name="T9" fmla="*/ 47 h 47"/>
                <a:gd name="T10" fmla="*/ 571 w 571"/>
                <a:gd name="T11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1" h="47">
                  <a:moveTo>
                    <a:pt x="57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6"/>
                    <a:pt x="21" y="47"/>
                    <a:pt x="47" y="47"/>
                  </a:cubicBezTo>
                  <a:cubicBezTo>
                    <a:pt x="524" y="47"/>
                    <a:pt x="524" y="47"/>
                    <a:pt x="524" y="47"/>
                  </a:cubicBezTo>
                  <a:cubicBezTo>
                    <a:pt x="550" y="47"/>
                    <a:pt x="571" y="26"/>
                    <a:pt x="571" y="0"/>
                  </a:cubicBezTo>
                </a:path>
              </a:pathLst>
            </a:custGeom>
            <a:solidFill>
              <a:srgbClr val="C5C5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68" name="Freeform 16"/>
            <p:cNvSpPr>
              <a:spLocks/>
            </p:cNvSpPr>
            <p:nvPr/>
          </p:nvSpPr>
          <p:spPr bwMode="auto">
            <a:xfrm flipH="1">
              <a:off x="3018895" y="3970459"/>
              <a:ext cx="813819" cy="66293"/>
            </a:xfrm>
            <a:custGeom>
              <a:avLst/>
              <a:gdLst>
                <a:gd name="T0" fmla="*/ 571 w 571"/>
                <a:gd name="T1" fmla="*/ 0 h 47"/>
                <a:gd name="T2" fmla="*/ 0 w 571"/>
                <a:gd name="T3" fmla="*/ 0 h 47"/>
                <a:gd name="T4" fmla="*/ 0 w 571"/>
                <a:gd name="T5" fmla="*/ 0 h 47"/>
                <a:gd name="T6" fmla="*/ 47 w 571"/>
                <a:gd name="T7" fmla="*/ 47 h 47"/>
                <a:gd name="T8" fmla="*/ 524 w 571"/>
                <a:gd name="T9" fmla="*/ 47 h 47"/>
                <a:gd name="T10" fmla="*/ 571 w 571"/>
                <a:gd name="T11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1" h="47">
                  <a:moveTo>
                    <a:pt x="57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6"/>
                    <a:pt x="21" y="47"/>
                    <a:pt x="47" y="47"/>
                  </a:cubicBezTo>
                  <a:cubicBezTo>
                    <a:pt x="524" y="47"/>
                    <a:pt x="524" y="47"/>
                    <a:pt x="524" y="47"/>
                  </a:cubicBezTo>
                  <a:cubicBezTo>
                    <a:pt x="550" y="47"/>
                    <a:pt x="571" y="26"/>
                    <a:pt x="571" y="0"/>
                  </a:cubicBezTo>
                </a:path>
              </a:pathLst>
            </a:custGeom>
            <a:solidFill>
              <a:srgbClr val="C5C5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81" name="Freeform 17"/>
            <p:cNvSpPr>
              <a:spLocks/>
            </p:cNvSpPr>
            <p:nvPr/>
          </p:nvSpPr>
          <p:spPr bwMode="auto">
            <a:xfrm flipH="1">
              <a:off x="3272723" y="4171079"/>
              <a:ext cx="305291" cy="65420"/>
            </a:xfrm>
            <a:custGeom>
              <a:avLst/>
              <a:gdLst>
                <a:gd name="T0" fmla="*/ 252 w 350"/>
                <a:gd name="T1" fmla="*/ 75 h 75"/>
                <a:gd name="T2" fmla="*/ 97 w 350"/>
                <a:gd name="T3" fmla="*/ 75 h 75"/>
                <a:gd name="T4" fmla="*/ 0 w 350"/>
                <a:gd name="T5" fmla="*/ 0 h 75"/>
                <a:gd name="T6" fmla="*/ 350 w 350"/>
                <a:gd name="T7" fmla="*/ 0 h 75"/>
                <a:gd name="T8" fmla="*/ 252 w 350"/>
                <a:gd name="T9" fmla="*/ 7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0" h="75">
                  <a:moveTo>
                    <a:pt x="252" y="75"/>
                  </a:moveTo>
                  <a:lnTo>
                    <a:pt x="97" y="75"/>
                  </a:lnTo>
                  <a:lnTo>
                    <a:pt x="0" y="0"/>
                  </a:lnTo>
                  <a:lnTo>
                    <a:pt x="350" y="0"/>
                  </a:lnTo>
                  <a:lnTo>
                    <a:pt x="252" y="75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82" name="Freeform 18"/>
            <p:cNvSpPr>
              <a:spLocks/>
            </p:cNvSpPr>
            <p:nvPr/>
          </p:nvSpPr>
          <p:spPr bwMode="auto">
            <a:xfrm flipH="1">
              <a:off x="3272723" y="4171079"/>
              <a:ext cx="305291" cy="65420"/>
            </a:xfrm>
            <a:custGeom>
              <a:avLst/>
              <a:gdLst>
                <a:gd name="T0" fmla="*/ 252 w 350"/>
                <a:gd name="T1" fmla="*/ 75 h 75"/>
                <a:gd name="T2" fmla="*/ 97 w 350"/>
                <a:gd name="T3" fmla="*/ 75 h 75"/>
                <a:gd name="T4" fmla="*/ 0 w 350"/>
                <a:gd name="T5" fmla="*/ 0 h 75"/>
                <a:gd name="T6" fmla="*/ 350 w 350"/>
                <a:gd name="T7" fmla="*/ 0 h 75"/>
                <a:gd name="T8" fmla="*/ 252 w 350"/>
                <a:gd name="T9" fmla="*/ 7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0" h="75">
                  <a:moveTo>
                    <a:pt x="252" y="75"/>
                  </a:moveTo>
                  <a:lnTo>
                    <a:pt x="97" y="75"/>
                  </a:lnTo>
                  <a:lnTo>
                    <a:pt x="0" y="0"/>
                  </a:lnTo>
                  <a:lnTo>
                    <a:pt x="350" y="0"/>
                  </a:lnTo>
                  <a:lnTo>
                    <a:pt x="252" y="75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83" name="Freeform 19"/>
            <p:cNvSpPr>
              <a:spLocks/>
            </p:cNvSpPr>
            <p:nvPr/>
          </p:nvSpPr>
          <p:spPr bwMode="auto">
            <a:xfrm flipH="1">
              <a:off x="3018895" y="4103914"/>
              <a:ext cx="813819" cy="67164"/>
            </a:xfrm>
            <a:custGeom>
              <a:avLst/>
              <a:gdLst>
                <a:gd name="T0" fmla="*/ 571 w 571"/>
                <a:gd name="T1" fmla="*/ 0 h 47"/>
                <a:gd name="T2" fmla="*/ 0 w 571"/>
                <a:gd name="T3" fmla="*/ 0 h 47"/>
                <a:gd name="T4" fmla="*/ 0 w 571"/>
                <a:gd name="T5" fmla="*/ 0 h 47"/>
                <a:gd name="T6" fmla="*/ 47 w 571"/>
                <a:gd name="T7" fmla="*/ 47 h 47"/>
                <a:gd name="T8" fmla="*/ 524 w 571"/>
                <a:gd name="T9" fmla="*/ 47 h 47"/>
                <a:gd name="T10" fmla="*/ 571 w 571"/>
                <a:gd name="T11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1" h="47">
                  <a:moveTo>
                    <a:pt x="57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6"/>
                    <a:pt x="21" y="47"/>
                    <a:pt x="47" y="47"/>
                  </a:cubicBezTo>
                  <a:cubicBezTo>
                    <a:pt x="524" y="47"/>
                    <a:pt x="524" y="47"/>
                    <a:pt x="524" y="47"/>
                  </a:cubicBezTo>
                  <a:cubicBezTo>
                    <a:pt x="550" y="47"/>
                    <a:pt x="571" y="26"/>
                    <a:pt x="571" y="0"/>
                  </a:cubicBezTo>
                </a:path>
              </a:pathLst>
            </a:custGeom>
            <a:solidFill>
              <a:srgbClr val="C5C5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85" name="Rectangle 20"/>
            <p:cNvSpPr>
              <a:spLocks noChangeArrowheads="1"/>
            </p:cNvSpPr>
            <p:nvPr/>
          </p:nvSpPr>
          <p:spPr bwMode="auto">
            <a:xfrm flipH="1">
              <a:off x="-1" y="4978794"/>
              <a:ext cx="2175419" cy="1294435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86" name="Rectangle 21"/>
            <p:cNvSpPr>
              <a:spLocks noChangeArrowheads="1"/>
            </p:cNvSpPr>
            <p:nvPr/>
          </p:nvSpPr>
          <p:spPr bwMode="auto">
            <a:xfrm flipH="1">
              <a:off x="-1" y="4978794"/>
              <a:ext cx="2175419" cy="12944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87" name="Rectangle 22"/>
            <p:cNvSpPr>
              <a:spLocks noChangeArrowheads="1"/>
            </p:cNvSpPr>
            <p:nvPr/>
          </p:nvSpPr>
          <p:spPr bwMode="auto">
            <a:xfrm flipH="1">
              <a:off x="2175418" y="5626010"/>
              <a:ext cx="245105" cy="58877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88" name="Rectangle 23"/>
            <p:cNvSpPr>
              <a:spLocks noChangeArrowheads="1"/>
            </p:cNvSpPr>
            <p:nvPr/>
          </p:nvSpPr>
          <p:spPr bwMode="auto">
            <a:xfrm flipH="1">
              <a:off x="2175418" y="5626010"/>
              <a:ext cx="245105" cy="588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89" name="Freeform 24"/>
            <p:cNvSpPr>
              <a:spLocks/>
            </p:cNvSpPr>
            <p:nvPr/>
          </p:nvSpPr>
          <p:spPr bwMode="auto">
            <a:xfrm flipH="1">
              <a:off x="-1" y="5626010"/>
              <a:ext cx="2175419" cy="647219"/>
            </a:xfrm>
            <a:custGeom>
              <a:avLst/>
              <a:gdLst>
                <a:gd name="T0" fmla="*/ 2494 w 2494"/>
                <a:gd name="T1" fmla="*/ 0 h 742"/>
                <a:gd name="T2" fmla="*/ 0 w 2494"/>
                <a:gd name="T3" fmla="*/ 0 h 742"/>
                <a:gd name="T4" fmla="*/ 0 w 2494"/>
                <a:gd name="T5" fmla="*/ 675 h 742"/>
                <a:gd name="T6" fmla="*/ 0 w 2494"/>
                <a:gd name="T7" fmla="*/ 742 h 742"/>
                <a:gd name="T8" fmla="*/ 2494 w 2494"/>
                <a:gd name="T9" fmla="*/ 742 h 742"/>
                <a:gd name="T10" fmla="*/ 2494 w 2494"/>
                <a:gd name="T11" fmla="*/ 0 h 7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94" h="742">
                  <a:moveTo>
                    <a:pt x="2494" y="0"/>
                  </a:moveTo>
                  <a:lnTo>
                    <a:pt x="0" y="0"/>
                  </a:lnTo>
                  <a:lnTo>
                    <a:pt x="0" y="675"/>
                  </a:lnTo>
                  <a:lnTo>
                    <a:pt x="0" y="742"/>
                  </a:lnTo>
                  <a:lnTo>
                    <a:pt x="2494" y="742"/>
                  </a:lnTo>
                  <a:lnTo>
                    <a:pt x="2494" y="0"/>
                  </a:ln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90" name="Freeform 25"/>
            <p:cNvSpPr>
              <a:spLocks/>
            </p:cNvSpPr>
            <p:nvPr/>
          </p:nvSpPr>
          <p:spPr bwMode="auto">
            <a:xfrm flipH="1">
              <a:off x="-1" y="5626010"/>
              <a:ext cx="2175419" cy="647219"/>
            </a:xfrm>
            <a:custGeom>
              <a:avLst/>
              <a:gdLst>
                <a:gd name="T0" fmla="*/ 2494 w 2494"/>
                <a:gd name="T1" fmla="*/ 0 h 742"/>
                <a:gd name="T2" fmla="*/ 0 w 2494"/>
                <a:gd name="T3" fmla="*/ 0 h 742"/>
                <a:gd name="T4" fmla="*/ 0 w 2494"/>
                <a:gd name="T5" fmla="*/ 675 h 742"/>
                <a:gd name="T6" fmla="*/ 0 w 2494"/>
                <a:gd name="T7" fmla="*/ 742 h 742"/>
                <a:gd name="T8" fmla="*/ 2494 w 2494"/>
                <a:gd name="T9" fmla="*/ 742 h 742"/>
                <a:gd name="T10" fmla="*/ 2494 w 2494"/>
                <a:gd name="T11" fmla="*/ 0 h 7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94" h="742">
                  <a:moveTo>
                    <a:pt x="2494" y="0"/>
                  </a:moveTo>
                  <a:lnTo>
                    <a:pt x="0" y="0"/>
                  </a:lnTo>
                  <a:lnTo>
                    <a:pt x="0" y="675"/>
                  </a:lnTo>
                  <a:lnTo>
                    <a:pt x="0" y="742"/>
                  </a:lnTo>
                  <a:lnTo>
                    <a:pt x="2494" y="742"/>
                  </a:lnTo>
                  <a:lnTo>
                    <a:pt x="249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91" name="Oval 26"/>
            <p:cNvSpPr>
              <a:spLocks noChangeArrowheads="1"/>
            </p:cNvSpPr>
            <p:nvPr/>
          </p:nvSpPr>
          <p:spPr bwMode="auto">
            <a:xfrm flipH="1">
              <a:off x="1937291" y="6035102"/>
              <a:ext cx="150901" cy="150901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92" name="Oval 27"/>
            <p:cNvSpPr>
              <a:spLocks noChangeArrowheads="1"/>
            </p:cNvSpPr>
            <p:nvPr/>
          </p:nvSpPr>
          <p:spPr bwMode="auto">
            <a:xfrm flipH="1">
              <a:off x="1639851" y="6035102"/>
              <a:ext cx="150901" cy="150901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93" name="Oval 28"/>
            <p:cNvSpPr>
              <a:spLocks noChangeArrowheads="1"/>
            </p:cNvSpPr>
            <p:nvPr/>
          </p:nvSpPr>
          <p:spPr bwMode="auto">
            <a:xfrm flipH="1">
              <a:off x="1341537" y="6035102"/>
              <a:ext cx="150901" cy="150901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sp>
        <p:nvSpPr>
          <p:cNvPr id="94" name="Oval 6"/>
          <p:cNvSpPr/>
          <p:nvPr/>
        </p:nvSpPr>
        <p:spPr>
          <a:xfrm>
            <a:off x="5072743" y="1052376"/>
            <a:ext cx="591554" cy="519462"/>
          </a:xfrm>
          <a:prstGeom prst="ellipse">
            <a:avLst/>
          </a:prstGeom>
          <a:solidFill>
            <a:srgbClr val="00B0F0">
              <a:alpha val="32000"/>
            </a:srgbClr>
          </a:solidFill>
          <a:ln w="0">
            <a:gradFill>
              <a:gsLst>
                <a:gs pos="74000">
                  <a:srgbClr val="00B0F0">
                    <a:alpha val="27000"/>
                  </a:srgbClr>
                </a:gs>
                <a:gs pos="83000">
                  <a:srgbClr val="2378C2"/>
                </a:gs>
                <a:gs pos="100000">
                  <a:srgbClr val="55B5E2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600">
              <a:solidFill>
                <a:schemeClr val="bg1"/>
              </a:solidFill>
              <a:cs typeface="+mn-ea"/>
            </a:endParaRPr>
          </a:p>
        </p:txBody>
      </p:sp>
      <p:sp>
        <p:nvSpPr>
          <p:cNvPr id="95" name="TextBox 37"/>
          <p:cNvSpPr txBox="1"/>
          <p:nvPr/>
        </p:nvSpPr>
        <p:spPr>
          <a:xfrm flipH="1">
            <a:off x="5818376" y="1015735"/>
            <a:ext cx="188711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spcAft>
                <a:spcPts val="0"/>
              </a:spcAft>
              <a:buClr>
                <a:srgbClr val="000000"/>
              </a:buClr>
              <a:buSzPts val="1000"/>
              <a:tabLst>
                <a:tab pos="348615" algn="l"/>
              </a:tabLst>
            </a:pPr>
            <a:r>
              <a:rPr lang="en-US" sz="1050" b="1" u="none" strike="noStrike" spc="0" dirty="0" err="1" smtClean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Joriy</a:t>
            </a:r>
            <a:r>
              <a:rPr lang="en-US" sz="1050" b="1" u="none" strike="noStrike" spc="0" dirty="0" smtClean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bank </a:t>
            </a:r>
            <a:r>
              <a:rPr lang="en-US" sz="1050" b="1" u="none" strike="noStrike" spc="0" dirty="0" err="1" smtClean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operatsiyalarining</a:t>
            </a:r>
            <a:r>
              <a:rPr lang="en-US" sz="1050" b="1" u="none" strike="noStrike" spc="0" dirty="0" smtClean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50" b="1" u="none" strike="noStrike" spc="0" dirty="0" err="1" smtClean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shaffofligini</a:t>
            </a:r>
            <a:r>
              <a:rPr lang="en-US" sz="1050" b="1" u="none" strike="noStrike" spc="0" dirty="0" smtClean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50" b="1" u="none" strike="noStrike" spc="0" dirty="0" err="1" smtClean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oshirish</a:t>
            </a:r>
            <a:r>
              <a:rPr lang="en-US" sz="1050" b="1" u="none" strike="noStrike" spc="0" dirty="0" smtClean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1050" b="1" u="none" strike="noStrike" spc="0" dirty="0" smtClean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" name="Oval 33"/>
          <p:cNvSpPr/>
          <p:nvPr/>
        </p:nvSpPr>
        <p:spPr>
          <a:xfrm>
            <a:off x="5072743" y="1777495"/>
            <a:ext cx="591554" cy="519462"/>
          </a:xfrm>
          <a:prstGeom prst="ellipse">
            <a:avLst/>
          </a:prstGeom>
          <a:solidFill>
            <a:srgbClr val="00B0F0">
              <a:alpha val="32000"/>
            </a:srgbClr>
          </a:solidFill>
          <a:ln w="0">
            <a:gradFill>
              <a:gsLst>
                <a:gs pos="74000">
                  <a:srgbClr val="00B0F0">
                    <a:alpha val="27000"/>
                  </a:srgbClr>
                </a:gs>
                <a:gs pos="83000">
                  <a:srgbClr val="2378C2"/>
                </a:gs>
                <a:gs pos="100000">
                  <a:srgbClr val="55B5E2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600">
              <a:solidFill>
                <a:schemeClr val="bg1"/>
              </a:solidFill>
              <a:cs typeface="+mn-ea"/>
            </a:endParaRPr>
          </a:p>
        </p:txBody>
      </p:sp>
      <p:sp>
        <p:nvSpPr>
          <p:cNvPr id="97" name="TextBox 41"/>
          <p:cNvSpPr txBox="1"/>
          <p:nvPr/>
        </p:nvSpPr>
        <p:spPr>
          <a:xfrm flipH="1">
            <a:off x="5818377" y="1797560"/>
            <a:ext cx="22007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spcAft>
                <a:spcPts val="0"/>
              </a:spcAft>
              <a:buClr>
                <a:srgbClr val="000000"/>
              </a:buClr>
              <a:buSzPts val="1000"/>
              <a:tabLst>
                <a:tab pos="348615" algn="l"/>
              </a:tabLst>
            </a:pPr>
            <a:r>
              <a:rPr lang="ru-RU" sz="1200" b="1" u="none" strike="noStrike" spc="0" dirty="0" err="1" smtClean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Davlat</a:t>
            </a:r>
            <a:r>
              <a:rPr lang="ru-RU" sz="1200" b="1" u="none" strike="noStrike" spc="0" dirty="0" smtClean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200" b="1" u="none" strike="noStrike" spc="0" dirty="0" err="1" smtClean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sektori</a:t>
            </a:r>
            <a:r>
              <a:rPr lang="ru-RU" sz="1200" b="1" u="none" strike="noStrike" spc="0" dirty="0" smtClean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200" b="1" u="none" strike="noStrike" spc="0" dirty="0" err="1" smtClean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samaradorligini</a:t>
            </a:r>
            <a:r>
              <a:rPr lang="ru-RU" sz="1200" b="1" u="none" strike="noStrike" spc="0" dirty="0" smtClean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200" b="1" u="none" strike="noStrike" spc="0" dirty="0" err="1" smtClean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oshirish</a:t>
            </a:r>
            <a:r>
              <a:rPr lang="ru-RU" sz="1200" b="1" u="none" strike="noStrike" spc="0" dirty="0" smtClean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98" name="Oval 45"/>
          <p:cNvSpPr/>
          <p:nvPr/>
        </p:nvSpPr>
        <p:spPr>
          <a:xfrm>
            <a:off x="5072743" y="2507970"/>
            <a:ext cx="591554" cy="519462"/>
          </a:xfrm>
          <a:prstGeom prst="ellipse">
            <a:avLst/>
          </a:prstGeom>
          <a:solidFill>
            <a:srgbClr val="00B0F0">
              <a:alpha val="32000"/>
            </a:srgbClr>
          </a:solidFill>
          <a:ln w="0">
            <a:gradFill>
              <a:gsLst>
                <a:gs pos="74000">
                  <a:srgbClr val="00B0F0">
                    <a:alpha val="27000"/>
                  </a:srgbClr>
                </a:gs>
                <a:gs pos="83000">
                  <a:srgbClr val="2378C2"/>
                </a:gs>
                <a:gs pos="100000">
                  <a:srgbClr val="55B5E2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600">
              <a:solidFill>
                <a:schemeClr val="bg1"/>
              </a:solidFill>
              <a:cs typeface="+mn-ea"/>
            </a:endParaRPr>
          </a:p>
        </p:txBody>
      </p:sp>
      <p:sp>
        <p:nvSpPr>
          <p:cNvPr id="99" name="TextBox 48"/>
          <p:cNvSpPr txBox="1"/>
          <p:nvPr/>
        </p:nvSpPr>
        <p:spPr>
          <a:xfrm flipH="1">
            <a:off x="5818381" y="2355971"/>
            <a:ext cx="2129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spcAft>
                <a:spcPts val="0"/>
              </a:spcAft>
              <a:buClr>
                <a:srgbClr val="000000"/>
              </a:buClr>
              <a:buSzPts val="1000"/>
              <a:tabLst>
                <a:tab pos="348615" algn="l"/>
              </a:tabLst>
            </a:pPr>
            <a:r>
              <a:rPr lang="en-US" sz="1200" b="1" u="none" strike="noStrike" spc="0" dirty="0" err="1" smtClean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Ikkilamchi</a:t>
            </a:r>
            <a:r>
              <a:rPr lang="en-US" sz="1200" b="1" u="none" strike="noStrike" spc="0" dirty="0" smtClean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u="none" strike="noStrike" spc="0" dirty="0" err="1" smtClean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1200" b="1" u="none" strike="noStrike" spc="0" dirty="0" smtClean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u="none" strike="noStrike" spc="0" dirty="0" err="1" smtClean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yashirin</a:t>
            </a:r>
            <a:r>
              <a:rPr lang="en-US" sz="1200" b="1" u="none" strike="noStrike" spc="0" dirty="0" smtClean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bank </a:t>
            </a:r>
            <a:r>
              <a:rPr lang="en-US" sz="1200" b="1" u="none" strike="noStrike" spc="0" dirty="0" err="1" smtClean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sektorini</a:t>
            </a:r>
            <a:r>
              <a:rPr lang="en-US" sz="1200" b="1" u="none" strike="noStrike" spc="0" dirty="0" smtClean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u="none" strike="noStrike" spc="0" dirty="0" err="1" smtClean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yo'q</a:t>
            </a:r>
            <a:r>
              <a:rPr lang="en-US" sz="1200" b="1" u="none" strike="noStrike" spc="0" dirty="0" smtClean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u="none" strike="noStrike" spc="0" dirty="0" err="1" smtClean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qilish</a:t>
            </a:r>
            <a:r>
              <a:rPr lang="en-US" sz="1200" b="1" u="none" strike="noStrike" spc="0" dirty="0" smtClean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1200" b="1" u="none" strike="noStrike" spc="0" dirty="0" smtClean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Oval 50"/>
          <p:cNvSpPr/>
          <p:nvPr/>
        </p:nvSpPr>
        <p:spPr>
          <a:xfrm>
            <a:off x="5060467" y="3233089"/>
            <a:ext cx="591554" cy="519462"/>
          </a:xfrm>
          <a:prstGeom prst="ellipse">
            <a:avLst/>
          </a:prstGeom>
          <a:solidFill>
            <a:srgbClr val="00B0F0">
              <a:alpha val="32000"/>
            </a:srgbClr>
          </a:solidFill>
          <a:ln w="0">
            <a:gradFill>
              <a:gsLst>
                <a:gs pos="74000">
                  <a:srgbClr val="00B0F0">
                    <a:alpha val="27000"/>
                  </a:srgbClr>
                </a:gs>
                <a:gs pos="83000">
                  <a:srgbClr val="2378C2"/>
                </a:gs>
                <a:gs pos="100000">
                  <a:srgbClr val="55B5E2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600">
              <a:solidFill>
                <a:schemeClr val="bg1"/>
              </a:solidFill>
              <a:cs typeface="+mn-ea"/>
            </a:endParaRPr>
          </a:p>
        </p:txBody>
      </p:sp>
      <p:sp>
        <p:nvSpPr>
          <p:cNvPr id="101" name="TextBox 53"/>
          <p:cNvSpPr txBox="1"/>
          <p:nvPr/>
        </p:nvSpPr>
        <p:spPr>
          <a:xfrm flipH="1">
            <a:off x="5818376" y="3136386"/>
            <a:ext cx="25226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spcAft>
                <a:spcPts val="0"/>
              </a:spcAft>
              <a:buClr>
                <a:srgbClr val="000000"/>
              </a:buClr>
              <a:buSzPts val="1000"/>
              <a:tabLst>
                <a:tab pos="348615" algn="l"/>
              </a:tabLst>
            </a:pPr>
            <a:r>
              <a:rPr lang="ru-RU" sz="1200" b="1" u="none" strike="noStrike" spc="0" dirty="0" err="1" smtClean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Davlat</a:t>
            </a:r>
            <a:r>
              <a:rPr lang="ru-RU" sz="1200" b="1" u="none" strike="noStrike" spc="0" dirty="0" smtClean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200" b="1" u="none" strike="noStrike" spc="0" dirty="0" err="1" smtClean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apparatidagi</a:t>
            </a:r>
            <a:r>
              <a:rPr lang="ru-RU" sz="1200" b="1" u="none" strike="noStrike" spc="0" dirty="0" smtClean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200" b="1" u="none" strike="noStrike" spc="0" dirty="0" err="1" smtClean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byurokratiyani</a:t>
            </a:r>
            <a:r>
              <a:rPr lang="ru-RU" sz="1200" b="1" u="none" strike="noStrike" spc="0" dirty="0" smtClean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200" b="1" u="none" strike="noStrike" spc="0" dirty="0" err="1" smtClean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yengish</a:t>
            </a:r>
            <a:r>
              <a:rPr lang="ru-RU" sz="1200" b="1" u="none" strike="noStrike" spc="0" dirty="0" smtClean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102" name="Freeform 47"/>
          <p:cNvSpPr>
            <a:spLocks noChangeArrowheads="1"/>
          </p:cNvSpPr>
          <p:nvPr/>
        </p:nvSpPr>
        <p:spPr bwMode="auto">
          <a:xfrm>
            <a:off x="5224225" y="2647914"/>
            <a:ext cx="312923" cy="241420"/>
          </a:xfrm>
          <a:custGeom>
            <a:avLst/>
            <a:gdLst>
              <a:gd name="T0" fmla="*/ 221804 w 498"/>
              <a:gd name="T1" fmla="*/ 194813 h 435"/>
              <a:gd name="T2" fmla="*/ 221804 w 498"/>
              <a:gd name="T3" fmla="*/ 194813 h 435"/>
              <a:gd name="T4" fmla="*/ 217341 w 498"/>
              <a:gd name="T5" fmla="*/ 147232 h 435"/>
              <a:gd name="T6" fmla="*/ 189671 w 498"/>
              <a:gd name="T7" fmla="*/ 131521 h 435"/>
              <a:gd name="T8" fmla="*/ 166018 w 498"/>
              <a:gd name="T9" fmla="*/ 103691 h 435"/>
              <a:gd name="T10" fmla="*/ 174051 w 498"/>
              <a:gd name="T11" fmla="*/ 87980 h 435"/>
              <a:gd name="T12" fmla="*/ 182084 w 498"/>
              <a:gd name="T13" fmla="*/ 71372 h 435"/>
              <a:gd name="T14" fmla="*/ 178068 w 498"/>
              <a:gd name="T15" fmla="*/ 67781 h 435"/>
              <a:gd name="T16" fmla="*/ 182084 w 498"/>
              <a:gd name="T17" fmla="*/ 51621 h 435"/>
              <a:gd name="T18" fmla="*/ 154415 w 498"/>
              <a:gd name="T19" fmla="*/ 27830 h 435"/>
              <a:gd name="T20" fmla="*/ 126745 w 498"/>
              <a:gd name="T21" fmla="*/ 51621 h 435"/>
              <a:gd name="T22" fmla="*/ 130762 w 498"/>
              <a:gd name="T23" fmla="*/ 67781 h 435"/>
              <a:gd name="T24" fmla="*/ 126745 w 498"/>
              <a:gd name="T25" fmla="*/ 71372 h 435"/>
              <a:gd name="T26" fmla="*/ 134778 w 498"/>
              <a:gd name="T27" fmla="*/ 87980 h 435"/>
              <a:gd name="T28" fmla="*/ 138795 w 498"/>
              <a:gd name="T29" fmla="*/ 103691 h 435"/>
              <a:gd name="T30" fmla="*/ 130762 w 498"/>
              <a:gd name="T31" fmla="*/ 123441 h 435"/>
              <a:gd name="T32" fmla="*/ 170035 w 498"/>
              <a:gd name="T33" fmla="*/ 163392 h 435"/>
              <a:gd name="T34" fmla="*/ 170035 w 498"/>
              <a:gd name="T35" fmla="*/ 194813 h 435"/>
              <a:gd name="T36" fmla="*/ 221804 w 498"/>
              <a:gd name="T37" fmla="*/ 194813 h 435"/>
              <a:gd name="T38" fmla="*/ 115142 w 498"/>
              <a:gd name="T39" fmla="*/ 135561 h 435"/>
              <a:gd name="T40" fmla="*/ 115142 w 498"/>
              <a:gd name="T41" fmla="*/ 135561 h 435"/>
              <a:gd name="T42" fmla="*/ 83455 w 498"/>
              <a:gd name="T43" fmla="*/ 103691 h 435"/>
              <a:gd name="T44" fmla="*/ 95059 w 498"/>
              <a:gd name="T45" fmla="*/ 75412 h 435"/>
              <a:gd name="T46" fmla="*/ 103092 w 498"/>
              <a:gd name="T47" fmla="*/ 59701 h 435"/>
              <a:gd name="T48" fmla="*/ 99075 w 498"/>
              <a:gd name="T49" fmla="*/ 51621 h 435"/>
              <a:gd name="T50" fmla="*/ 103092 w 498"/>
              <a:gd name="T51" fmla="*/ 31870 h 435"/>
              <a:gd name="T52" fmla="*/ 67389 w 498"/>
              <a:gd name="T53" fmla="*/ 0 h 435"/>
              <a:gd name="T54" fmla="*/ 31686 w 498"/>
              <a:gd name="T55" fmla="*/ 31870 h 435"/>
              <a:gd name="T56" fmla="*/ 31686 w 498"/>
              <a:gd name="T57" fmla="*/ 51621 h 435"/>
              <a:gd name="T58" fmla="*/ 31686 w 498"/>
              <a:gd name="T59" fmla="*/ 59701 h 435"/>
              <a:gd name="T60" fmla="*/ 39719 w 498"/>
              <a:gd name="T61" fmla="*/ 75412 h 435"/>
              <a:gd name="T62" fmla="*/ 47753 w 498"/>
              <a:gd name="T63" fmla="*/ 103691 h 435"/>
              <a:gd name="T64" fmla="*/ 20083 w 498"/>
              <a:gd name="T65" fmla="*/ 135561 h 435"/>
              <a:gd name="T66" fmla="*/ 0 w 498"/>
              <a:gd name="T67" fmla="*/ 155312 h 435"/>
              <a:gd name="T68" fmla="*/ 0 w 498"/>
              <a:gd name="T69" fmla="*/ 194813 h 435"/>
              <a:gd name="T70" fmla="*/ 154415 w 498"/>
              <a:gd name="T71" fmla="*/ 194813 h 435"/>
              <a:gd name="T72" fmla="*/ 154415 w 498"/>
              <a:gd name="T73" fmla="*/ 163392 h 435"/>
              <a:gd name="T74" fmla="*/ 115142 w 498"/>
              <a:gd name="T75" fmla="*/ 135561 h 435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0" t="0" r="r" b="b"/>
            <a:pathLst>
              <a:path w="498" h="435">
                <a:moveTo>
                  <a:pt x="497" y="434"/>
                </a:moveTo>
                <a:lnTo>
                  <a:pt x="497" y="434"/>
                </a:lnTo>
                <a:cubicBezTo>
                  <a:pt x="497" y="434"/>
                  <a:pt x="497" y="337"/>
                  <a:pt x="487" y="328"/>
                </a:cubicBezTo>
                <a:cubicBezTo>
                  <a:pt x="479" y="319"/>
                  <a:pt x="462" y="302"/>
                  <a:pt x="425" y="293"/>
                </a:cubicBezTo>
                <a:cubicBezTo>
                  <a:pt x="390" y="275"/>
                  <a:pt x="372" y="257"/>
                  <a:pt x="372" y="231"/>
                </a:cubicBezTo>
                <a:cubicBezTo>
                  <a:pt x="372" y="213"/>
                  <a:pt x="390" y="222"/>
                  <a:pt x="390" y="196"/>
                </a:cubicBezTo>
                <a:cubicBezTo>
                  <a:pt x="390" y="178"/>
                  <a:pt x="408" y="196"/>
                  <a:pt x="408" y="159"/>
                </a:cubicBezTo>
                <a:cubicBezTo>
                  <a:pt x="408" y="151"/>
                  <a:pt x="399" y="151"/>
                  <a:pt x="399" y="151"/>
                </a:cubicBezTo>
                <a:cubicBezTo>
                  <a:pt x="399" y="151"/>
                  <a:pt x="408" y="133"/>
                  <a:pt x="408" y="115"/>
                </a:cubicBezTo>
                <a:cubicBezTo>
                  <a:pt x="408" y="98"/>
                  <a:pt x="399" y="62"/>
                  <a:pt x="346" y="62"/>
                </a:cubicBezTo>
                <a:cubicBezTo>
                  <a:pt x="293" y="62"/>
                  <a:pt x="284" y="98"/>
                  <a:pt x="284" y="115"/>
                </a:cubicBezTo>
                <a:cubicBezTo>
                  <a:pt x="284" y="133"/>
                  <a:pt x="293" y="151"/>
                  <a:pt x="293" y="151"/>
                </a:cubicBezTo>
                <a:cubicBezTo>
                  <a:pt x="293" y="151"/>
                  <a:pt x="284" y="151"/>
                  <a:pt x="284" y="159"/>
                </a:cubicBezTo>
                <a:cubicBezTo>
                  <a:pt x="284" y="196"/>
                  <a:pt x="293" y="178"/>
                  <a:pt x="302" y="196"/>
                </a:cubicBezTo>
                <a:cubicBezTo>
                  <a:pt x="302" y="222"/>
                  <a:pt x="311" y="213"/>
                  <a:pt x="311" y="231"/>
                </a:cubicBezTo>
                <a:cubicBezTo>
                  <a:pt x="311" y="249"/>
                  <a:pt x="311" y="266"/>
                  <a:pt x="293" y="275"/>
                </a:cubicBezTo>
                <a:cubicBezTo>
                  <a:pt x="372" y="319"/>
                  <a:pt x="381" y="319"/>
                  <a:pt x="381" y="364"/>
                </a:cubicBezTo>
                <a:cubicBezTo>
                  <a:pt x="381" y="434"/>
                  <a:pt x="381" y="434"/>
                  <a:pt x="381" y="434"/>
                </a:cubicBezTo>
                <a:lnTo>
                  <a:pt x="497" y="434"/>
                </a:lnTo>
                <a:close/>
                <a:moveTo>
                  <a:pt x="258" y="302"/>
                </a:moveTo>
                <a:lnTo>
                  <a:pt x="258" y="302"/>
                </a:lnTo>
                <a:cubicBezTo>
                  <a:pt x="204" y="284"/>
                  <a:pt x="187" y="266"/>
                  <a:pt x="187" y="231"/>
                </a:cubicBezTo>
                <a:cubicBezTo>
                  <a:pt x="187" y="204"/>
                  <a:pt x="204" y="213"/>
                  <a:pt x="213" y="168"/>
                </a:cubicBezTo>
                <a:cubicBezTo>
                  <a:pt x="213" y="159"/>
                  <a:pt x="231" y="168"/>
                  <a:pt x="231" y="133"/>
                </a:cubicBezTo>
                <a:cubicBezTo>
                  <a:pt x="231" y="115"/>
                  <a:pt x="222" y="115"/>
                  <a:pt x="222" y="115"/>
                </a:cubicBezTo>
                <a:cubicBezTo>
                  <a:pt x="222" y="115"/>
                  <a:pt x="222" y="89"/>
                  <a:pt x="231" y="71"/>
                </a:cubicBezTo>
                <a:cubicBezTo>
                  <a:pt x="231" y="53"/>
                  <a:pt x="213" y="0"/>
                  <a:pt x="151" y="0"/>
                </a:cubicBezTo>
                <a:cubicBezTo>
                  <a:pt x="80" y="0"/>
                  <a:pt x="71" y="53"/>
                  <a:pt x="71" y="71"/>
                </a:cubicBezTo>
                <a:cubicBezTo>
                  <a:pt x="71" y="89"/>
                  <a:pt x="71" y="115"/>
                  <a:pt x="71" y="115"/>
                </a:cubicBezTo>
                <a:cubicBezTo>
                  <a:pt x="71" y="115"/>
                  <a:pt x="71" y="115"/>
                  <a:pt x="71" y="133"/>
                </a:cubicBezTo>
                <a:cubicBezTo>
                  <a:pt x="71" y="168"/>
                  <a:pt x="80" y="159"/>
                  <a:pt x="89" y="168"/>
                </a:cubicBezTo>
                <a:cubicBezTo>
                  <a:pt x="89" y="213"/>
                  <a:pt x="107" y="204"/>
                  <a:pt x="107" y="231"/>
                </a:cubicBezTo>
                <a:cubicBezTo>
                  <a:pt x="107" y="266"/>
                  <a:pt x="89" y="284"/>
                  <a:pt x="45" y="302"/>
                </a:cubicBezTo>
                <a:cubicBezTo>
                  <a:pt x="27" y="310"/>
                  <a:pt x="0" y="319"/>
                  <a:pt x="0" y="346"/>
                </a:cubicBezTo>
                <a:cubicBezTo>
                  <a:pt x="0" y="434"/>
                  <a:pt x="0" y="434"/>
                  <a:pt x="0" y="434"/>
                </a:cubicBezTo>
                <a:cubicBezTo>
                  <a:pt x="346" y="434"/>
                  <a:pt x="346" y="434"/>
                  <a:pt x="346" y="434"/>
                </a:cubicBezTo>
                <a:cubicBezTo>
                  <a:pt x="346" y="434"/>
                  <a:pt x="346" y="381"/>
                  <a:pt x="346" y="364"/>
                </a:cubicBezTo>
                <a:cubicBezTo>
                  <a:pt x="346" y="346"/>
                  <a:pt x="302" y="328"/>
                  <a:pt x="258" y="302"/>
                </a:cubicBezTo>
                <a:close/>
              </a:path>
            </a:pathLst>
          </a:custGeom>
          <a:solidFill>
            <a:srgbClr val="00B0F0">
              <a:alpha val="32000"/>
            </a:srgbClr>
          </a:solidFill>
          <a:ln w="0">
            <a:gradFill>
              <a:gsLst>
                <a:gs pos="74000">
                  <a:srgbClr val="00B0F0">
                    <a:alpha val="27000"/>
                  </a:srgbClr>
                </a:gs>
                <a:gs pos="83000">
                  <a:srgbClr val="2378C2"/>
                </a:gs>
                <a:gs pos="100000">
                  <a:srgbClr val="55B5E2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600">
              <a:solidFill>
                <a:schemeClr val="bg1"/>
              </a:solidFill>
              <a:cs typeface="+mn-ea"/>
            </a:endParaRPr>
          </a:p>
        </p:txBody>
      </p:sp>
      <p:sp>
        <p:nvSpPr>
          <p:cNvPr id="103" name="Freeform 70"/>
          <p:cNvSpPr>
            <a:spLocks noChangeArrowheads="1"/>
          </p:cNvSpPr>
          <p:nvPr/>
        </p:nvSpPr>
        <p:spPr bwMode="auto">
          <a:xfrm>
            <a:off x="5211023" y="3384525"/>
            <a:ext cx="315157" cy="247310"/>
          </a:xfrm>
          <a:custGeom>
            <a:avLst/>
            <a:gdLst>
              <a:gd name="T0" fmla="*/ 63953 w 497"/>
              <a:gd name="T1" fmla="*/ 123611 h 445"/>
              <a:gd name="T2" fmla="*/ 63953 w 497"/>
              <a:gd name="T3" fmla="*/ 123611 h 445"/>
              <a:gd name="T4" fmla="*/ 63953 w 497"/>
              <a:gd name="T5" fmla="*/ 56187 h 445"/>
              <a:gd name="T6" fmla="*/ 23870 w 497"/>
              <a:gd name="T7" fmla="*/ 56187 h 445"/>
              <a:gd name="T8" fmla="*/ 0 w 497"/>
              <a:gd name="T9" fmla="*/ 80010 h 445"/>
              <a:gd name="T10" fmla="*/ 0 w 497"/>
              <a:gd name="T11" fmla="*/ 143389 h 445"/>
              <a:gd name="T12" fmla="*/ 23870 w 497"/>
              <a:gd name="T13" fmla="*/ 167661 h 445"/>
              <a:gd name="T14" fmla="*/ 31977 w 497"/>
              <a:gd name="T15" fmla="*/ 167661 h 445"/>
              <a:gd name="T16" fmla="*/ 31977 w 497"/>
              <a:gd name="T17" fmla="*/ 199576 h 445"/>
              <a:gd name="T18" fmla="*/ 68007 w 497"/>
              <a:gd name="T19" fmla="*/ 167661 h 445"/>
              <a:gd name="T20" fmla="*/ 123403 w 497"/>
              <a:gd name="T21" fmla="*/ 167661 h 445"/>
              <a:gd name="T22" fmla="*/ 143670 w 497"/>
              <a:gd name="T23" fmla="*/ 143389 h 445"/>
              <a:gd name="T24" fmla="*/ 143670 w 497"/>
              <a:gd name="T25" fmla="*/ 123611 h 445"/>
              <a:gd name="T26" fmla="*/ 143670 w 497"/>
              <a:gd name="T27" fmla="*/ 123611 h 445"/>
              <a:gd name="T28" fmla="*/ 63953 w 497"/>
              <a:gd name="T29" fmla="*/ 123611 h 445"/>
              <a:gd name="T30" fmla="*/ 199517 w 497"/>
              <a:gd name="T31" fmla="*/ 0 h 445"/>
              <a:gd name="T32" fmla="*/ 199517 w 497"/>
              <a:gd name="T33" fmla="*/ 0 h 445"/>
              <a:gd name="T34" fmla="*/ 99533 w 497"/>
              <a:gd name="T35" fmla="*/ 0 h 445"/>
              <a:gd name="T36" fmla="*/ 79717 w 497"/>
              <a:gd name="T37" fmla="*/ 24273 h 445"/>
              <a:gd name="T38" fmla="*/ 79717 w 497"/>
              <a:gd name="T39" fmla="*/ 111475 h 445"/>
              <a:gd name="T40" fmla="*/ 155830 w 497"/>
              <a:gd name="T41" fmla="*/ 111475 h 445"/>
              <a:gd name="T42" fmla="*/ 191410 w 497"/>
              <a:gd name="T43" fmla="*/ 143389 h 445"/>
              <a:gd name="T44" fmla="*/ 191410 w 497"/>
              <a:gd name="T45" fmla="*/ 111475 h 445"/>
              <a:gd name="T46" fmla="*/ 199517 w 497"/>
              <a:gd name="T47" fmla="*/ 111475 h 445"/>
              <a:gd name="T48" fmla="*/ 223387 w 497"/>
              <a:gd name="T49" fmla="*/ 87651 h 445"/>
              <a:gd name="T50" fmla="*/ 223387 w 497"/>
              <a:gd name="T51" fmla="*/ 24273 h 445"/>
              <a:gd name="T52" fmla="*/ 199517 w 497"/>
              <a:gd name="T53" fmla="*/ 0 h 445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</a:gdLst>
            <a:ahLst/>
            <a:cxnLst>
              <a:cxn ang="T54">
                <a:pos x="T0" y="T1"/>
              </a:cxn>
              <a:cxn ang="T55">
                <a:pos x="T2" y="T3"/>
              </a:cxn>
              <a:cxn ang="T56">
                <a:pos x="T4" y="T5"/>
              </a:cxn>
              <a:cxn ang="T57">
                <a:pos x="T6" y="T7"/>
              </a:cxn>
              <a:cxn ang="T58">
                <a:pos x="T8" y="T9"/>
              </a:cxn>
              <a:cxn ang="T59">
                <a:pos x="T10" y="T11"/>
              </a:cxn>
              <a:cxn ang="T60">
                <a:pos x="T12" y="T13"/>
              </a:cxn>
              <a:cxn ang="T61">
                <a:pos x="T14" y="T15"/>
              </a:cxn>
              <a:cxn ang="T62">
                <a:pos x="T16" y="T17"/>
              </a:cxn>
              <a:cxn ang="T63">
                <a:pos x="T18" y="T19"/>
              </a:cxn>
              <a:cxn ang="T64">
                <a:pos x="T20" y="T21"/>
              </a:cxn>
              <a:cxn ang="T65">
                <a:pos x="T22" y="T23"/>
              </a:cxn>
              <a:cxn ang="T66">
                <a:pos x="T24" y="T25"/>
              </a:cxn>
              <a:cxn ang="T67">
                <a:pos x="T26" y="T27"/>
              </a:cxn>
              <a:cxn ang="T68">
                <a:pos x="T28" y="T29"/>
              </a:cxn>
              <a:cxn ang="T69">
                <a:pos x="T30" y="T31"/>
              </a:cxn>
              <a:cxn ang="T70">
                <a:pos x="T32" y="T33"/>
              </a:cxn>
              <a:cxn ang="T71">
                <a:pos x="T34" y="T35"/>
              </a:cxn>
              <a:cxn ang="T72">
                <a:pos x="T36" y="T37"/>
              </a:cxn>
              <a:cxn ang="T73">
                <a:pos x="T38" y="T39"/>
              </a:cxn>
              <a:cxn ang="T74">
                <a:pos x="T40" y="T41"/>
              </a:cxn>
              <a:cxn ang="T75">
                <a:pos x="T42" y="T43"/>
              </a:cxn>
              <a:cxn ang="T76">
                <a:pos x="T44" y="T45"/>
              </a:cxn>
              <a:cxn ang="T77">
                <a:pos x="T46" y="T47"/>
              </a:cxn>
              <a:cxn ang="T78">
                <a:pos x="T48" y="T49"/>
              </a:cxn>
              <a:cxn ang="T79">
                <a:pos x="T50" y="T51"/>
              </a:cxn>
              <a:cxn ang="T80">
                <a:pos x="T52" y="T53"/>
              </a:cxn>
            </a:cxnLst>
            <a:rect l="0" t="0" r="r" b="b"/>
            <a:pathLst>
              <a:path w="497" h="445">
                <a:moveTo>
                  <a:pt x="142" y="275"/>
                </a:moveTo>
                <a:lnTo>
                  <a:pt x="142" y="275"/>
                </a:lnTo>
                <a:cubicBezTo>
                  <a:pt x="142" y="125"/>
                  <a:pt x="142" y="125"/>
                  <a:pt x="142" y="125"/>
                </a:cubicBezTo>
                <a:cubicBezTo>
                  <a:pt x="53" y="125"/>
                  <a:pt x="53" y="125"/>
                  <a:pt x="53" y="125"/>
                </a:cubicBezTo>
                <a:cubicBezTo>
                  <a:pt x="18" y="125"/>
                  <a:pt x="0" y="151"/>
                  <a:pt x="0" y="178"/>
                </a:cubicBezTo>
                <a:cubicBezTo>
                  <a:pt x="0" y="319"/>
                  <a:pt x="0" y="319"/>
                  <a:pt x="0" y="319"/>
                </a:cubicBezTo>
                <a:cubicBezTo>
                  <a:pt x="0" y="354"/>
                  <a:pt x="18" y="373"/>
                  <a:pt x="53" y="373"/>
                </a:cubicBezTo>
                <a:cubicBezTo>
                  <a:pt x="71" y="373"/>
                  <a:pt x="71" y="373"/>
                  <a:pt x="71" y="373"/>
                </a:cubicBezTo>
                <a:cubicBezTo>
                  <a:pt x="71" y="444"/>
                  <a:pt x="71" y="444"/>
                  <a:pt x="71" y="444"/>
                </a:cubicBezTo>
                <a:cubicBezTo>
                  <a:pt x="151" y="373"/>
                  <a:pt x="151" y="373"/>
                  <a:pt x="151" y="373"/>
                </a:cubicBezTo>
                <a:cubicBezTo>
                  <a:pt x="274" y="373"/>
                  <a:pt x="274" y="373"/>
                  <a:pt x="274" y="373"/>
                </a:cubicBezTo>
                <a:cubicBezTo>
                  <a:pt x="302" y="373"/>
                  <a:pt x="319" y="354"/>
                  <a:pt x="319" y="319"/>
                </a:cubicBezTo>
                <a:cubicBezTo>
                  <a:pt x="319" y="275"/>
                  <a:pt x="319" y="275"/>
                  <a:pt x="319" y="275"/>
                </a:cubicBezTo>
                <a:lnTo>
                  <a:pt x="142" y="275"/>
                </a:lnTo>
                <a:close/>
                <a:moveTo>
                  <a:pt x="443" y="0"/>
                </a:moveTo>
                <a:lnTo>
                  <a:pt x="443" y="0"/>
                </a:lnTo>
                <a:cubicBezTo>
                  <a:pt x="221" y="0"/>
                  <a:pt x="221" y="0"/>
                  <a:pt x="221" y="0"/>
                </a:cubicBezTo>
                <a:cubicBezTo>
                  <a:pt x="195" y="0"/>
                  <a:pt x="177" y="27"/>
                  <a:pt x="177" y="54"/>
                </a:cubicBezTo>
                <a:cubicBezTo>
                  <a:pt x="177" y="248"/>
                  <a:pt x="177" y="248"/>
                  <a:pt x="177" y="248"/>
                </a:cubicBezTo>
                <a:cubicBezTo>
                  <a:pt x="346" y="248"/>
                  <a:pt x="346" y="248"/>
                  <a:pt x="346" y="248"/>
                </a:cubicBezTo>
                <a:cubicBezTo>
                  <a:pt x="425" y="319"/>
                  <a:pt x="425" y="319"/>
                  <a:pt x="425" y="319"/>
                </a:cubicBezTo>
                <a:cubicBezTo>
                  <a:pt x="425" y="248"/>
                  <a:pt x="425" y="248"/>
                  <a:pt x="425" y="248"/>
                </a:cubicBezTo>
                <a:cubicBezTo>
                  <a:pt x="443" y="248"/>
                  <a:pt x="443" y="248"/>
                  <a:pt x="443" y="248"/>
                </a:cubicBezTo>
                <a:cubicBezTo>
                  <a:pt x="470" y="248"/>
                  <a:pt x="496" y="231"/>
                  <a:pt x="496" y="195"/>
                </a:cubicBezTo>
                <a:cubicBezTo>
                  <a:pt x="496" y="54"/>
                  <a:pt x="496" y="54"/>
                  <a:pt x="496" y="54"/>
                </a:cubicBezTo>
                <a:cubicBezTo>
                  <a:pt x="496" y="27"/>
                  <a:pt x="470" y="0"/>
                  <a:pt x="443" y="0"/>
                </a:cubicBezTo>
                <a:close/>
              </a:path>
            </a:pathLst>
          </a:custGeom>
          <a:solidFill>
            <a:srgbClr val="00B0F0">
              <a:alpha val="32000"/>
            </a:srgbClr>
          </a:solidFill>
          <a:ln w="0">
            <a:gradFill>
              <a:gsLst>
                <a:gs pos="74000">
                  <a:srgbClr val="00B0F0">
                    <a:alpha val="27000"/>
                  </a:srgbClr>
                </a:gs>
                <a:gs pos="83000">
                  <a:srgbClr val="2378C2"/>
                </a:gs>
                <a:gs pos="100000">
                  <a:srgbClr val="55B5E2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600">
              <a:solidFill>
                <a:schemeClr val="bg1"/>
              </a:solidFill>
              <a:cs typeface="+mn-ea"/>
            </a:endParaRPr>
          </a:p>
        </p:txBody>
      </p:sp>
      <p:sp>
        <p:nvSpPr>
          <p:cNvPr id="104" name="Freeform 123"/>
          <p:cNvSpPr>
            <a:spLocks noChangeArrowheads="1"/>
          </p:cNvSpPr>
          <p:nvPr/>
        </p:nvSpPr>
        <p:spPr bwMode="auto">
          <a:xfrm>
            <a:off x="5235307" y="1918953"/>
            <a:ext cx="286101" cy="257122"/>
          </a:xfrm>
          <a:custGeom>
            <a:avLst/>
            <a:gdLst>
              <a:gd name="T0" fmla="*/ 123628 w 452"/>
              <a:gd name="T1" fmla="*/ 135490 h 462"/>
              <a:gd name="T2" fmla="*/ 123628 w 452"/>
              <a:gd name="T3" fmla="*/ 135490 h 462"/>
              <a:gd name="T4" fmla="*/ 195108 w 452"/>
              <a:gd name="T5" fmla="*/ 11703 h 462"/>
              <a:gd name="T6" fmla="*/ 195108 w 452"/>
              <a:gd name="T7" fmla="*/ 8102 h 462"/>
              <a:gd name="T8" fmla="*/ 191062 w 452"/>
              <a:gd name="T9" fmla="*/ 8102 h 462"/>
              <a:gd name="T10" fmla="*/ 71480 w 452"/>
              <a:gd name="T11" fmla="*/ 80124 h 462"/>
              <a:gd name="T12" fmla="*/ 4046 w 452"/>
              <a:gd name="T13" fmla="*/ 135490 h 462"/>
              <a:gd name="T14" fmla="*/ 15735 w 452"/>
              <a:gd name="T15" fmla="*/ 147644 h 462"/>
              <a:gd name="T16" fmla="*/ 39561 w 452"/>
              <a:gd name="T17" fmla="*/ 139542 h 462"/>
              <a:gd name="T18" fmla="*/ 67883 w 452"/>
              <a:gd name="T19" fmla="*/ 167450 h 462"/>
              <a:gd name="T20" fmla="*/ 59791 w 452"/>
              <a:gd name="T21" fmla="*/ 191307 h 462"/>
              <a:gd name="T22" fmla="*/ 67883 w 452"/>
              <a:gd name="T23" fmla="*/ 203461 h 462"/>
              <a:gd name="T24" fmla="*/ 123628 w 452"/>
              <a:gd name="T25" fmla="*/ 135490 h 462"/>
              <a:gd name="T26" fmla="*/ 135317 w 452"/>
              <a:gd name="T27" fmla="*/ 67520 h 462"/>
              <a:gd name="T28" fmla="*/ 135317 w 452"/>
              <a:gd name="T29" fmla="*/ 67520 h 462"/>
              <a:gd name="T30" fmla="*/ 135317 w 452"/>
              <a:gd name="T31" fmla="*/ 43663 h 462"/>
              <a:gd name="T32" fmla="*/ 159143 w 452"/>
              <a:gd name="T33" fmla="*/ 43663 h 462"/>
              <a:gd name="T34" fmla="*/ 159143 w 452"/>
              <a:gd name="T35" fmla="*/ 67520 h 462"/>
              <a:gd name="T36" fmla="*/ 135317 w 452"/>
              <a:gd name="T37" fmla="*/ 67520 h 462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0" t="0" r="r" b="b"/>
            <a:pathLst>
              <a:path w="452" h="462">
                <a:moveTo>
                  <a:pt x="275" y="301"/>
                </a:moveTo>
                <a:lnTo>
                  <a:pt x="275" y="301"/>
                </a:lnTo>
                <a:cubicBezTo>
                  <a:pt x="275" y="301"/>
                  <a:pt x="451" y="169"/>
                  <a:pt x="434" y="26"/>
                </a:cubicBezTo>
                <a:lnTo>
                  <a:pt x="434" y="18"/>
                </a:lnTo>
                <a:cubicBezTo>
                  <a:pt x="425" y="18"/>
                  <a:pt x="425" y="18"/>
                  <a:pt x="425" y="18"/>
                </a:cubicBezTo>
                <a:cubicBezTo>
                  <a:pt x="284" y="0"/>
                  <a:pt x="159" y="178"/>
                  <a:pt x="159" y="178"/>
                </a:cubicBezTo>
                <a:cubicBezTo>
                  <a:pt x="53" y="159"/>
                  <a:pt x="62" y="186"/>
                  <a:pt x="9" y="301"/>
                </a:cubicBezTo>
                <a:cubicBezTo>
                  <a:pt x="0" y="328"/>
                  <a:pt x="18" y="328"/>
                  <a:pt x="35" y="328"/>
                </a:cubicBezTo>
                <a:cubicBezTo>
                  <a:pt x="53" y="319"/>
                  <a:pt x="88" y="310"/>
                  <a:pt x="88" y="310"/>
                </a:cubicBezTo>
                <a:cubicBezTo>
                  <a:pt x="151" y="372"/>
                  <a:pt x="151" y="372"/>
                  <a:pt x="151" y="372"/>
                </a:cubicBezTo>
                <a:cubicBezTo>
                  <a:pt x="151" y="372"/>
                  <a:pt x="141" y="407"/>
                  <a:pt x="133" y="425"/>
                </a:cubicBezTo>
                <a:cubicBezTo>
                  <a:pt x="124" y="443"/>
                  <a:pt x="133" y="461"/>
                  <a:pt x="151" y="452"/>
                </a:cubicBezTo>
                <a:cubicBezTo>
                  <a:pt x="266" y="398"/>
                  <a:pt x="292" y="407"/>
                  <a:pt x="275" y="301"/>
                </a:cubicBezTo>
                <a:close/>
                <a:moveTo>
                  <a:pt x="301" y="150"/>
                </a:moveTo>
                <a:lnTo>
                  <a:pt x="301" y="150"/>
                </a:lnTo>
                <a:cubicBezTo>
                  <a:pt x="284" y="133"/>
                  <a:pt x="284" y="115"/>
                  <a:pt x="301" y="97"/>
                </a:cubicBezTo>
                <a:cubicBezTo>
                  <a:pt x="319" y="80"/>
                  <a:pt x="345" y="80"/>
                  <a:pt x="354" y="97"/>
                </a:cubicBezTo>
                <a:cubicBezTo>
                  <a:pt x="372" y="115"/>
                  <a:pt x="372" y="133"/>
                  <a:pt x="354" y="150"/>
                </a:cubicBezTo>
                <a:cubicBezTo>
                  <a:pt x="345" y="169"/>
                  <a:pt x="319" y="169"/>
                  <a:pt x="301" y="150"/>
                </a:cubicBezTo>
                <a:close/>
              </a:path>
            </a:pathLst>
          </a:custGeom>
          <a:solidFill>
            <a:srgbClr val="00B0F0">
              <a:alpha val="32000"/>
            </a:srgbClr>
          </a:solidFill>
          <a:ln w="0">
            <a:gradFill>
              <a:gsLst>
                <a:gs pos="74000">
                  <a:srgbClr val="00B0F0">
                    <a:alpha val="27000"/>
                  </a:srgbClr>
                </a:gs>
                <a:gs pos="83000">
                  <a:srgbClr val="2378C2"/>
                </a:gs>
                <a:gs pos="100000">
                  <a:srgbClr val="55B5E2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600">
              <a:solidFill>
                <a:schemeClr val="bg1"/>
              </a:solidFill>
              <a:cs typeface="+mn-ea"/>
            </a:endParaRPr>
          </a:p>
        </p:txBody>
      </p:sp>
      <p:sp>
        <p:nvSpPr>
          <p:cNvPr id="105" name="Freeform 154"/>
          <p:cNvSpPr>
            <a:spLocks noChangeArrowheads="1"/>
          </p:cNvSpPr>
          <p:nvPr/>
        </p:nvSpPr>
        <p:spPr bwMode="auto">
          <a:xfrm>
            <a:off x="5260241" y="1201689"/>
            <a:ext cx="225751" cy="268899"/>
          </a:xfrm>
          <a:custGeom>
            <a:avLst/>
            <a:gdLst>
              <a:gd name="T0" fmla="*/ 156272 w 355"/>
              <a:gd name="T1" fmla="*/ 58950 h 487"/>
              <a:gd name="T2" fmla="*/ 156272 w 355"/>
              <a:gd name="T3" fmla="*/ 58950 h 487"/>
              <a:gd name="T4" fmla="*/ 52392 w 355"/>
              <a:gd name="T5" fmla="*/ 7592 h 487"/>
              <a:gd name="T6" fmla="*/ 4065 w 355"/>
              <a:gd name="T7" fmla="*/ 23669 h 487"/>
              <a:gd name="T8" fmla="*/ 0 w 355"/>
              <a:gd name="T9" fmla="*/ 35280 h 487"/>
              <a:gd name="T10" fmla="*/ 4065 w 355"/>
              <a:gd name="T11" fmla="*/ 154073 h 487"/>
              <a:gd name="T12" fmla="*/ 8130 w 355"/>
              <a:gd name="T13" fmla="*/ 162111 h 487"/>
              <a:gd name="T14" fmla="*/ 100267 w 355"/>
              <a:gd name="T15" fmla="*/ 217041 h 487"/>
              <a:gd name="T16" fmla="*/ 104332 w 355"/>
              <a:gd name="T17" fmla="*/ 217041 h 487"/>
              <a:gd name="T18" fmla="*/ 108397 w 355"/>
              <a:gd name="T19" fmla="*/ 217041 h 487"/>
              <a:gd name="T20" fmla="*/ 112010 w 355"/>
              <a:gd name="T21" fmla="*/ 213469 h 487"/>
              <a:gd name="T22" fmla="*/ 112010 w 355"/>
              <a:gd name="T23" fmla="*/ 90657 h 487"/>
              <a:gd name="T24" fmla="*/ 108397 w 355"/>
              <a:gd name="T25" fmla="*/ 82619 h 487"/>
              <a:gd name="T26" fmla="*/ 19873 w 355"/>
              <a:gd name="T27" fmla="*/ 31261 h 487"/>
              <a:gd name="T28" fmla="*/ 32067 w 355"/>
              <a:gd name="T29" fmla="*/ 23669 h 487"/>
              <a:gd name="T30" fmla="*/ 48327 w 355"/>
              <a:gd name="T31" fmla="*/ 19650 h 487"/>
              <a:gd name="T32" fmla="*/ 135948 w 355"/>
              <a:gd name="T33" fmla="*/ 66988 h 487"/>
              <a:gd name="T34" fmla="*/ 140013 w 355"/>
              <a:gd name="T35" fmla="*/ 71007 h 487"/>
              <a:gd name="T36" fmla="*/ 140013 w 355"/>
              <a:gd name="T37" fmla="*/ 189800 h 487"/>
              <a:gd name="T38" fmla="*/ 148142 w 355"/>
              <a:gd name="T39" fmla="*/ 197392 h 487"/>
              <a:gd name="T40" fmla="*/ 159885 w 355"/>
              <a:gd name="T41" fmla="*/ 189800 h 487"/>
              <a:gd name="T42" fmla="*/ 159885 w 355"/>
              <a:gd name="T43" fmla="*/ 62969 h 487"/>
              <a:gd name="T44" fmla="*/ 156272 w 355"/>
              <a:gd name="T45" fmla="*/ 58950 h 487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355" h="487">
                <a:moveTo>
                  <a:pt x="346" y="132"/>
                </a:moveTo>
                <a:lnTo>
                  <a:pt x="346" y="132"/>
                </a:lnTo>
                <a:cubicBezTo>
                  <a:pt x="116" y="17"/>
                  <a:pt x="116" y="17"/>
                  <a:pt x="116" y="17"/>
                </a:cubicBezTo>
                <a:cubicBezTo>
                  <a:pt x="89" y="0"/>
                  <a:pt x="27" y="25"/>
                  <a:pt x="9" y="53"/>
                </a:cubicBezTo>
                <a:cubicBezTo>
                  <a:pt x="0" y="70"/>
                  <a:pt x="0" y="79"/>
                  <a:pt x="0" y="79"/>
                </a:cubicBezTo>
                <a:cubicBezTo>
                  <a:pt x="9" y="345"/>
                  <a:pt x="9" y="345"/>
                  <a:pt x="9" y="345"/>
                </a:cubicBezTo>
                <a:cubicBezTo>
                  <a:pt x="9" y="345"/>
                  <a:pt x="18" y="354"/>
                  <a:pt x="18" y="363"/>
                </a:cubicBezTo>
                <a:cubicBezTo>
                  <a:pt x="36" y="363"/>
                  <a:pt x="222" y="486"/>
                  <a:pt x="222" y="486"/>
                </a:cubicBezTo>
                <a:cubicBezTo>
                  <a:pt x="231" y="486"/>
                  <a:pt x="231" y="486"/>
                  <a:pt x="231" y="486"/>
                </a:cubicBezTo>
                <a:cubicBezTo>
                  <a:pt x="240" y="486"/>
                  <a:pt x="240" y="486"/>
                  <a:pt x="240" y="486"/>
                </a:cubicBezTo>
                <a:cubicBezTo>
                  <a:pt x="248" y="486"/>
                  <a:pt x="248" y="478"/>
                  <a:pt x="248" y="478"/>
                </a:cubicBezTo>
                <a:cubicBezTo>
                  <a:pt x="248" y="203"/>
                  <a:pt x="248" y="203"/>
                  <a:pt x="248" y="203"/>
                </a:cubicBezTo>
                <a:cubicBezTo>
                  <a:pt x="248" y="194"/>
                  <a:pt x="248" y="194"/>
                  <a:pt x="240" y="185"/>
                </a:cubicBezTo>
                <a:cubicBezTo>
                  <a:pt x="44" y="70"/>
                  <a:pt x="44" y="70"/>
                  <a:pt x="44" y="70"/>
                </a:cubicBezTo>
                <a:cubicBezTo>
                  <a:pt x="44" y="70"/>
                  <a:pt x="53" y="61"/>
                  <a:pt x="71" y="53"/>
                </a:cubicBezTo>
                <a:cubicBezTo>
                  <a:pt x="89" y="44"/>
                  <a:pt x="97" y="44"/>
                  <a:pt x="107" y="44"/>
                </a:cubicBezTo>
                <a:cubicBezTo>
                  <a:pt x="107" y="44"/>
                  <a:pt x="293" y="150"/>
                  <a:pt x="301" y="150"/>
                </a:cubicBezTo>
                <a:cubicBezTo>
                  <a:pt x="310" y="159"/>
                  <a:pt x="310" y="159"/>
                  <a:pt x="310" y="159"/>
                </a:cubicBezTo>
                <a:cubicBezTo>
                  <a:pt x="310" y="168"/>
                  <a:pt x="310" y="425"/>
                  <a:pt x="310" y="425"/>
                </a:cubicBezTo>
                <a:cubicBezTo>
                  <a:pt x="310" y="433"/>
                  <a:pt x="319" y="442"/>
                  <a:pt x="328" y="442"/>
                </a:cubicBezTo>
                <a:cubicBezTo>
                  <a:pt x="337" y="442"/>
                  <a:pt x="354" y="433"/>
                  <a:pt x="354" y="425"/>
                </a:cubicBezTo>
                <a:cubicBezTo>
                  <a:pt x="354" y="141"/>
                  <a:pt x="354" y="141"/>
                  <a:pt x="354" y="141"/>
                </a:cubicBezTo>
                <a:lnTo>
                  <a:pt x="346" y="132"/>
                </a:lnTo>
              </a:path>
            </a:pathLst>
          </a:custGeom>
          <a:solidFill>
            <a:srgbClr val="00B0F0">
              <a:alpha val="32000"/>
            </a:srgbClr>
          </a:solidFill>
          <a:ln w="0">
            <a:gradFill>
              <a:gsLst>
                <a:gs pos="74000">
                  <a:srgbClr val="00B0F0">
                    <a:alpha val="27000"/>
                  </a:srgbClr>
                </a:gs>
                <a:gs pos="83000">
                  <a:srgbClr val="2378C2"/>
                </a:gs>
                <a:gs pos="100000">
                  <a:srgbClr val="55B5E2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600">
              <a:solidFill>
                <a:schemeClr val="bg1"/>
              </a:solidFill>
              <a:cs typeface="+mn-ea"/>
            </a:endParaRPr>
          </a:p>
        </p:txBody>
      </p:sp>
      <p:sp>
        <p:nvSpPr>
          <p:cNvPr id="106" name="Oval 6"/>
          <p:cNvSpPr/>
          <p:nvPr/>
        </p:nvSpPr>
        <p:spPr>
          <a:xfrm>
            <a:off x="5060467" y="3971927"/>
            <a:ext cx="591554" cy="519462"/>
          </a:xfrm>
          <a:prstGeom prst="ellipse">
            <a:avLst/>
          </a:prstGeom>
          <a:solidFill>
            <a:srgbClr val="00B0F0">
              <a:alpha val="32000"/>
            </a:srgbClr>
          </a:solidFill>
          <a:ln w="0">
            <a:gradFill>
              <a:gsLst>
                <a:gs pos="74000">
                  <a:srgbClr val="00B0F0">
                    <a:alpha val="27000"/>
                  </a:srgbClr>
                </a:gs>
                <a:gs pos="83000">
                  <a:srgbClr val="2378C2"/>
                </a:gs>
                <a:gs pos="100000">
                  <a:srgbClr val="55B5E2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600">
              <a:solidFill>
                <a:schemeClr val="bg1"/>
              </a:solidFill>
              <a:cs typeface="+mn-ea"/>
            </a:endParaRPr>
          </a:p>
        </p:txBody>
      </p:sp>
      <p:sp>
        <p:nvSpPr>
          <p:cNvPr id="107" name="TextBox 37"/>
          <p:cNvSpPr txBox="1"/>
          <p:nvPr/>
        </p:nvSpPr>
        <p:spPr>
          <a:xfrm flipH="1">
            <a:off x="5818375" y="3842422"/>
            <a:ext cx="33033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spcAft>
                <a:spcPts val="0"/>
              </a:spcAft>
              <a:buClr>
                <a:srgbClr val="000000"/>
              </a:buClr>
              <a:buSzPts val="1000"/>
              <a:tabLst>
                <a:tab pos="348615" algn="l"/>
              </a:tabLst>
            </a:pPr>
            <a:r>
              <a:rPr lang="ru-RU" sz="1200" b="1" u="none" strike="noStrike" spc="0" dirty="0" err="1" smtClean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Soliqlar</a:t>
            </a:r>
            <a:r>
              <a:rPr lang="ru-RU" sz="1200" b="1" u="none" strike="noStrike" spc="0" dirty="0" smtClean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200" b="1" u="none" strike="noStrike" spc="0" dirty="0" err="1" smtClean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to’lash</a:t>
            </a:r>
            <a:r>
              <a:rPr lang="ru-RU" sz="1200" b="1" u="none" strike="noStrike" spc="0" dirty="0" smtClean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200" b="1" u="none" strike="noStrike" spc="0" dirty="0" err="1" smtClean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jarayonini</a:t>
            </a:r>
            <a:r>
              <a:rPr lang="ru-RU" sz="1200" b="1" u="none" strike="noStrike" spc="0" dirty="0" smtClean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200" b="1" u="none" strike="noStrike" spc="0" dirty="0" err="1" smtClean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mukammallashtirish</a:t>
            </a:r>
            <a:r>
              <a:rPr lang="ru-RU" sz="1200" b="1" u="none" strike="noStrike" spc="0" dirty="0" smtClean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200" b="1" u="none" strike="noStrike" spc="0" dirty="0" err="1" smtClean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orqali</a:t>
            </a:r>
            <a:r>
              <a:rPr lang="ru-RU" sz="1200" b="1" u="none" strike="noStrike" spc="0" dirty="0" smtClean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200" b="1" u="none" strike="noStrike" spc="0" dirty="0" err="1" smtClean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soliq</a:t>
            </a:r>
            <a:r>
              <a:rPr lang="ru-RU" sz="1200" b="1" u="none" strike="noStrike" spc="0" dirty="0" smtClean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200" b="1" u="none" strike="noStrike" spc="0" dirty="0" err="1" smtClean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to'lamaslik</a:t>
            </a:r>
            <a:r>
              <a:rPr lang="ru-RU" sz="1200" b="1" u="none" strike="noStrike" spc="0" dirty="0" smtClean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200" b="1" u="none" strike="noStrike" spc="0" dirty="0" err="1" smtClean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xolatlariga</a:t>
            </a:r>
            <a:r>
              <a:rPr lang="ru-RU" sz="1200" b="1" u="none" strike="noStrike" spc="0" dirty="0" smtClean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200" b="1" u="none" strike="noStrike" spc="0" dirty="0" err="1" smtClean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qarshi</a:t>
            </a:r>
            <a:r>
              <a:rPr lang="ru-RU" sz="1200" b="1" u="none" strike="noStrike" spc="0" dirty="0" smtClean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200" b="1" u="none" strike="noStrike" spc="0" dirty="0" err="1" smtClean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samarador</a:t>
            </a:r>
            <a:r>
              <a:rPr lang="ru-RU" sz="1200" b="1" u="none" strike="noStrike" spc="0" dirty="0" smtClean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200" b="1" u="none" strike="noStrike" spc="0" dirty="0" err="1" smtClean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kurashish</a:t>
            </a:r>
            <a:r>
              <a:rPr lang="ru-RU" sz="1200" b="1" u="none" strike="noStrike" spc="0" dirty="0" smtClean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112" name="Oval 50"/>
          <p:cNvSpPr/>
          <p:nvPr/>
        </p:nvSpPr>
        <p:spPr>
          <a:xfrm>
            <a:off x="5060467" y="4741495"/>
            <a:ext cx="591554" cy="519462"/>
          </a:xfrm>
          <a:prstGeom prst="ellipse">
            <a:avLst/>
          </a:prstGeom>
          <a:solidFill>
            <a:srgbClr val="00B0F0">
              <a:alpha val="32000"/>
            </a:srgbClr>
          </a:solidFill>
          <a:ln w="0">
            <a:gradFill>
              <a:gsLst>
                <a:gs pos="74000">
                  <a:srgbClr val="00B0F0">
                    <a:alpha val="27000"/>
                  </a:srgbClr>
                </a:gs>
                <a:gs pos="83000">
                  <a:srgbClr val="2378C2"/>
                </a:gs>
                <a:gs pos="100000">
                  <a:srgbClr val="55B5E2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600">
              <a:solidFill>
                <a:schemeClr val="bg1"/>
              </a:solidFill>
              <a:cs typeface="+mn-ea"/>
            </a:endParaRPr>
          </a:p>
        </p:txBody>
      </p:sp>
      <p:sp>
        <p:nvSpPr>
          <p:cNvPr id="113" name="TextBox 53"/>
          <p:cNvSpPr txBox="1"/>
          <p:nvPr/>
        </p:nvSpPr>
        <p:spPr>
          <a:xfrm flipH="1">
            <a:off x="5790655" y="4763291"/>
            <a:ext cx="27519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spcAft>
                <a:spcPts val="0"/>
              </a:spcAft>
              <a:buClr>
                <a:srgbClr val="000000"/>
              </a:buClr>
              <a:buSzPts val="1000"/>
              <a:tabLst>
                <a:tab pos="348615" algn="l"/>
              </a:tabLst>
            </a:pPr>
            <a:r>
              <a:rPr lang="en-US" sz="1200" b="1" u="none" strike="noStrike" spc="0" dirty="0" err="1" smtClean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Moliya-kredit</a:t>
            </a:r>
            <a:r>
              <a:rPr lang="en-US" sz="1200" b="1" u="none" strike="noStrike" spc="0" dirty="0" smtClean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u="none" strike="noStrike" spc="0" dirty="0" err="1" smtClean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muassasalarining</a:t>
            </a:r>
            <a:r>
              <a:rPr lang="en-US" sz="1200" b="1" u="none" strike="noStrike" spc="0" dirty="0" smtClean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u="none" strike="noStrike" spc="0" dirty="0" err="1" smtClean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ishini</a:t>
            </a:r>
            <a:r>
              <a:rPr lang="en-US" sz="1200" b="1" u="none" strike="noStrike" spc="0" dirty="0" smtClean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u="none" strike="noStrike" spc="0" dirty="0" err="1" smtClean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yanada</a:t>
            </a:r>
            <a:r>
              <a:rPr lang="en-US" sz="1200" b="1" u="none" strike="noStrike" spc="0" dirty="0" smtClean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u="none" strike="noStrike" spc="0" dirty="0" err="1" smtClean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takomillashtirish</a:t>
            </a:r>
            <a:r>
              <a:rPr lang="en-US" sz="1200" b="1" u="none" strike="noStrike" spc="0" dirty="0" smtClean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u="none" strike="noStrike" spc="0" dirty="0" err="1" smtClean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1200" b="1" u="none" strike="noStrike" spc="0" dirty="0" smtClean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u="none" strike="noStrike" spc="0" dirty="0" err="1" smtClean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boshqalar</a:t>
            </a:r>
            <a:r>
              <a:rPr lang="en-US" sz="1200" b="1" u="none" strike="noStrike" spc="0" dirty="0" smtClean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200" b="1" u="none" strike="noStrike" spc="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5" name="Freeform 70"/>
          <p:cNvSpPr>
            <a:spLocks noChangeArrowheads="1"/>
          </p:cNvSpPr>
          <p:nvPr/>
        </p:nvSpPr>
        <p:spPr bwMode="auto">
          <a:xfrm>
            <a:off x="5211023" y="4892931"/>
            <a:ext cx="315157" cy="247310"/>
          </a:xfrm>
          <a:custGeom>
            <a:avLst/>
            <a:gdLst>
              <a:gd name="T0" fmla="*/ 63953 w 497"/>
              <a:gd name="T1" fmla="*/ 123611 h 445"/>
              <a:gd name="T2" fmla="*/ 63953 w 497"/>
              <a:gd name="T3" fmla="*/ 123611 h 445"/>
              <a:gd name="T4" fmla="*/ 63953 w 497"/>
              <a:gd name="T5" fmla="*/ 56187 h 445"/>
              <a:gd name="T6" fmla="*/ 23870 w 497"/>
              <a:gd name="T7" fmla="*/ 56187 h 445"/>
              <a:gd name="T8" fmla="*/ 0 w 497"/>
              <a:gd name="T9" fmla="*/ 80010 h 445"/>
              <a:gd name="T10" fmla="*/ 0 w 497"/>
              <a:gd name="T11" fmla="*/ 143389 h 445"/>
              <a:gd name="T12" fmla="*/ 23870 w 497"/>
              <a:gd name="T13" fmla="*/ 167661 h 445"/>
              <a:gd name="T14" fmla="*/ 31977 w 497"/>
              <a:gd name="T15" fmla="*/ 167661 h 445"/>
              <a:gd name="T16" fmla="*/ 31977 w 497"/>
              <a:gd name="T17" fmla="*/ 199576 h 445"/>
              <a:gd name="T18" fmla="*/ 68007 w 497"/>
              <a:gd name="T19" fmla="*/ 167661 h 445"/>
              <a:gd name="T20" fmla="*/ 123403 w 497"/>
              <a:gd name="T21" fmla="*/ 167661 h 445"/>
              <a:gd name="T22" fmla="*/ 143670 w 497"/>
              <a:gd name="T23" fmla="*/ 143389 h 445"/>
              <a:gd name="T24" fmla="*/ 143670 w 497"/>
              <a:gd name="T25" fmla="*/ 123611 h 445"/>
              <a:gd name="T26" fmla="*/ 143670 w 497"/>
              <a:gd name="T27" fmla="*/ 123611 h 445"/>
              <a:gd name="T28" fmla="*/ 63953 w 497"/>
              <a:gd name="T29" fmla="*/ 123611 h 445"/>
              <a:gd name="T30" fmla="*/ 199517 w 497"/>
              <a:gd name="T31" fmla="*/ 0 h 445"/>
              <a:gd name="T32" fmla="*/ 199517 w 497"/>
              <a:gd name="T33" fmla="*/ 0 h 445"/>
              <a:gd name="T34" fmla="*/ 99533 w 497"/>
              <a:gd name="T35" fmla="*/ 0 h 445"/>
              <a:gd name="T36" fmla="*/ 79717 w 497"/>
              <a:gd name="T37" fmla="*/ 24273 h 445"/>
              <a:gd name="T38" fmla="*/ 79717 w 497"/>
              <a:gd name="T39" fmla="*/ 111475 h 445"/>
              <a:gd name="T40" fmla="*/ 155830 w 497"/>
              <a:gd name="T41" fmla="*/ 111475 h 445"/>
              <a:gd name="T42" fmla="*/ 191410 w 497"/>
              <a:gd name="T43" fmla="*/ 143389 h 445"/>
              <a:gd name="T44" fmla="*/ 191410 w 497"/>
              <a:gd name="T45" fmla="*/ 111475 h 445"/>
              <a:gd name="T46" fmla="*/ 199517 w 497"/>
              <a:gd name="T47" fmla="*/ 111475 h 445"/>
              <a:gd name="T48" fmla="*/ 223387 w 497"/>
              <a:gd name="T49" fmla="*/ 87651 h 445"/>
              <a:gd name="T50" fmla="*/ 223387 w 497"/>
              <a:gd name="T51" fmla="*/ 24273 h 445"/>
              <a:gd name="T52" fmla="*/ 199517 w 497"/>
              <a:gd name="T53" fmla="*/ 0 h 445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</a:gdLst>
            <a:ahLst/>
            <a:cxnLst>
              <a:cxn ang="T54">
                <a:pos x="T0" y="T1"/>
              </a:cxn>
              <a:cxn ang="T55">
                <a:pos x="T2" y="T3"/>
              </a:cxn>
              <a:cxn ang="T56">
                <a:pos x="T4" y="T5"/>
              </a:cxn>
              <a:cxn ang="T57">
                <a:pos x="T6" y="T7"/>
              </a:cxn>
              <a:cxn ang="T58">
                <a:pos x="T8" y="T9"/>
              </a:cxn>
              <a:cxn ang="T59">
                <a:pos x="T10" y="T11"/>
              </a:cxn>
              <a:cxn ang="T60">
                <a:pos x="T12" y="T13"/>
              </a:cxn>
              <a:cxn ang="T61">
                <a:pos x="T14" y="T15"/>
              </a:cxn>
              <a:cxn ang="T62">
                <a:pos x="T16" y="T17"/>
              </a:cxn>
              <a:cxn ang="T63">
                <a:pos x="T18" y="T19"/>
              </a:cxn>
              <a:cxn ang="T64">
                <a:pos x="T20" y="T21"/>
              </a:cxn>
              <a:cxn ang="T65">
                <a:pos x="T22" y="T23"/>
              </a:cxn>
              <a:cxn ang="T66">
                <a:pos x="T24" y="T25"/>
              </a:cxn>
              <a:cxn ang="T67">
                <a:pos x="T26" y="T27"/>
              </a:cxn>
              <a:cxn ang="T68">
                <a:pos x="T28" y="T29"/>
              </a:cxn>
              <a:cxn ang="T69">
                <a:pos x="T30" y="T31"/>
              </a:cxn>
              <a:cxn ang="T70">
                <a:pos x="T32" y="T33"/>
              </a:cxn>
              <a:cxn ang="T71">
                <a:pos x="T34" y="T35"/>
              </a:cxn>
              <a:cxn ang="T72">
                <a:pos x="T36" y="T37"/>
              </a:cxn>
              <a:cxn ang="T73">
                <a:pos x="T38" y="T39"/>
              </a:cxn>
              <a:cxn ang="T74">
                <a:pos x="T40" y="T41"/>
              </a:cxn>
              <a:cxn ang="T75">
                <a:pos x="T42" y="T43"/>
              </a:cxn>
              <a:cxn ang="T76">
                <a:pos x="T44" y="T45"/>
              </a:cxn>
              <a:cxn ang="T77">
                <a:pos x="T46" y="T47"/>
              </a:cxn>
              <a:cxn ang="T78">
                <a:pos x="T48" y="T49"/>
              </a:cxn>
              <a:cxn ang="T79">
                <a:pos x="T50" y="T51"/>
              </a:cxn>
              <a:cxn ang="T80">
                <a:pos x="T52" y="T53"/>
              </a:cxn>
            </a:cxnLst>
            <a:rect l="0" t="0" r="r" b="b"/>
            <a:pathLst>
              <a:path w="497" h="445">
                <a:moveTo>
                  <a:pt x="142" y="275"/>
                </a:moveTo>
                <a:lnTo>
                  <a:pt x="142" y="275"/>
                </a:lnTo>
                <a:cubicBezTo>
                  <a:pt x="142" y="125"/>
                  <a:pt x="142" y="125"/>
                  <a:pt x="142" y="125"/>
                </a:cubicBezTo>
                <a:cubicBezTo>
                  <a:pt x="53" y="125"/>
                  <a:pt x="53" y="125"/>
                  <a:pt x="53" y="125"/>
                </a:cubicBezTo>
                <a:cubicBezTo>
                  <a:pt x="18" y="125"/>
                  <a:pt x="0" y="151"/>
                  <a:pt x="0" y="178"/>
                </a:cubicBezTo>
                <a:cubicBezTo>
                  <a:pt x="0" y="319"/>
                  <a:pt x="0" y="319"/>
                  <a:pt x="0" y="319"/>
                </a:cubicBezTo>
                <a:cubicBezTo>
                  <a:pt x="0" y="354"/>
                  <a:pt x="18" y="373"/>
                  <a:pt x="53" y="373"/>
                </a:cubicBezTo>
                <a:cubicBezTo>
                  <a:pt x="71" y="373"/>
                  <a:pt x="71" y="373"/>
                  <a:pt x="71" y="373"/>
                </a:cubicBezTo>
                <a:cubicBezTo>
                  <a:pt x="71" y="444"/>
                  <a:pt x="71" y="444"/>
                  <a:pt x="71" y="444"/>
                </a:cubicBezTo>
                <a:cubicBezTo>
                  <a:pt x="151" y="373"/>
                  <a:pt x="151" y="373"/>
                  <a:pt x="151" y="373"/>
                </a:cubicBezTo>
                <a:cubicBezTo>
                  <a:pt x="274" y="373"/>
                  <a:pt x="274" y="373"/>
                  <a:pt x="274" y="373"/>
                </a:cubicBezTo>
                <a:cubicBezTo>
                  <a:pt x="302" y="373"/>
                  <a:pt x="319" y="354"/>
                  <a:pt x="319" y="319"/>
                </a:cubicBezTo>
                <a:cubicBezTo>
                  <a:pt x="319" y="275"/>
                  <a:pt x="319" y="275"/>
                  <a:pt x="319" y="275"/>
                </a:cubicBezTo>
                <a:lnTo>
                  <a:pt x="142" y="275"/>
                </a:lnTo>
                <a:close/>
                <a:moveTo>
                  <a:pt x="443" y="0"/>
                </a:moveTo>
                <a:lnTo>
                  <a:pt x="443" y="0"/>
                </a:lnTo>
                <a:cubicBezTo>
                  <a:pt x="221" y="0"/>
                  <a:pt x="221" y="0"/>
                  <a:pt x="221" y="0"/>
                </a:cubicBezTo>
                <a:cubicBezTo>
                  <a:pt x="195" y="0"/>
                  <a:pt x="177" y="27"/>
                  <a:pt x="177" y="54"/>
                </a:cubicBezTo>
                <a:cubicBezTo>
                  <a:pt x="177" y="248"/>
                  <a:pt x="177" y="248"/>
                  <a:pt x="177" y="248"/>
                </a:cubicBezTo>
                <a:cubicBezTo>
                  <a:pt x="346" y="248"/>
                  <a:pt x="346" y="248"/>
                  <a:pt x="346" y="248"/>
                </a:cubicBezTo>
                <a:cubicBezTo>
                  <a:pt x="425" y="319"/>
                  <a:pt x="425" y="319"/>
                  <a:pt x="425" y="319"/>
                </a:cubicBezTo>
                <a:cubicBezTo>
                  <a:pt x="425" y="248"/>
                  <a:pt x="425" y="248"/>
                  <a:pt x="425" y="248"/>
                </a:cubicBezTo>
                <a:cubicBezTo>
                  <a:pt x="443" y="248"/>
                  <a:pt x="443" y="248"/>
                  <a:pt x="443" y="248"/>
                </a:cubicBezTo>
                <a:cubicBezTo>
                  <a:pt x="470" y="248"/>
                  <a:pt x="496" y="231"/>
                  <a:pt x="496" y="195"/>
                </a:cubicBezTo>
                <a:cubicBezTo>
                  <a:pt x="496" y="54"/>
                  <a:pt x="496" y="54"/>
                  <a:pt x="496" y="54"/>
                </a:cubicBezTo>
                <a:cubicBezTo>
                  <a:pt x="496" y="27"/>
                  <a:pt x="470" y="0"/>
                  <a:pt x="443" y="0"/>
                </a:cubicBezTo>
                <a:close/>
              </a:path>
            </a:pathLst>
          </a:custGeom>
          <a:solidFill>
            <a:srgbClr val="00B0F0">
              <a:alpha val="32000"/>
            </a:srgbClr>
          </a:solidFill>
          <a:ln w="0">
            <a:gradFill>
              <a:gsLst>
                <a:gs pos="74000">
                  <a:srgbClr val="00B0F0">
                    <a:alpha val="27000"/>
                  </a:srgbClr>
                </a:gs>
                <a:gs pos="83000">
                  <a:srgbClr val="2378C2"/>
                </a:gs>
                <a:gs pos="100000">
                  <a:srgbClr val="55B5E2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600">
              <a:solidFill>
                <a:schemeClr val="bg1"/>
              </a:solidFill>
              <a:cs typeface="+mn-ea"/>
            </a:endParaRPr>
          </a:p>
        </p:txBody>
      </p:sp>
      <p:sp>
        <p:nvSpPr>
          <p:cNvPr id="117" name="Freeform 154"/>
          <p:cNvSpPr>
            <a:spLocks noChangeArrowheads="1"/>
          </p:cNvSpPr>
          <p:nvPr/>
        </p:nvSpPr>
        <p:spPr bwMode="auto">
          <a:xfrm>
            <a:off x="5247965" y="4121240"/>
            <a:ext cx="225751" cy="268899"/>
          </a:xfrm>
          <a:custGeom>
            <a:avLst/>
            <a:gdLst>
              <a:gd name="T0" fmla="*/ 156272 w 355"/>
              <a:gd name="T1" fmla="*/ 58950 h 487"/>
              <a:gd name="T2" fmla="*/ 156272 w 355"/>
              <a:gd name="T3" fmla="*/ 58950 h 487"/>
              <a:gd name="T4" fmla="*/ 52392 w 355"/>
              <a:gd name="T5" fmla="*/ 7592 h 487"/>
              <a:gd name="T6" fmla="*/ 4065 w 355"/>
              <a:gd name="T7" fmla="*/ 23669 h 487"/>
              <a:gd name="T8" fmla="*/ 0 w 355"/>
              <a:gd name="T9" fmla="*/ 35280 h 487"/>
              <a:gd name="T10" fmla="*/ 4065 w 355"/>
              <a:gd name="T11" fmla="*/ 154073 h 487"/>
              <a:gd name="T12" fmla="*/ 8130 w 355"/>
              <a:gd name="T13" fmla="*/ 162111 h 487"/>
              <a:gd name="T14" fmla="*/ 100267 w 355"/>
              <a:gd name="T15" fmla="*/ 217041 h 487"/>
              <a:gd name="T16" fmla="*/ 104332 w 355"/>
              <a:gd name="T17" fmla="*/ 217041 h 487"/>
              <a:gd name="T18" fmla="*/ 108397 w 355"/>
              <a:gd name="T19" fmla="*/ 217041 h 487"/>
              <a:gd name="T20" fmla="*/ 112010 w 355"/>
              <a:gd name="T21" fmla="*/ 213469 h 487"/>
              <a:gd name="T22" fmla="*/ 112010 w 355"/>
              <a:gd name="T23" fmla="*/ 90657 h 487"/>
              <a:gd name="T24" fmla="*/ 108397 w 355"/>
              <a:gd name="T25" fmla="*/ 82619 h 487"/>
              <a:gd name="T26" fmla="*/ 19873 w 355"/>
              <a:gd name="T27" fmla="*/ 31261 h 487"/>
              <a:gd name="T28" fmla="*/ 32067 w 355"/>
              <a:gd name="T29" fmla="*/ 23669 h 487"/>
              <a:gd name="T30" fmla="*/ 48327 w 355"/>
              <a:gd name="T31" fmla="*/ 19650 h 487"/>
              <a:gd name="T32" fmla="*/ 135948 w 355"/>
              <a:gd name="T33" fmla="*/ 66988 h 487"/>
              <a:gd name="T34" fmla="*/ 140013 w 355"/>
              <a:gd name="T35" fmla="*/ 71007 h 487"/>
              <a:gd name="T36" fmla="*/ 140013 w 355"/>
              <a:gd name="T37" fmla="*/ 189800 h 487"/>
              <a:gd name="T38" fmla="*/ 148142 w 355"/>
              <a:gd name="T39" fmla="*/ 197392 h 487"/>
              <a:gd name="T40" fmla="*/ 159885 w 355"/>
              <a:gd name="T41" fmla="*/ 189800 h 487"/>
              <a:gd name="T42" fmla="*/ 159885 w 355"/>
              <a:gd name="T43" fmla="*/ 62969 h 487"/>
              <a:gd name="T44" fmla="*/ 156272 w 355"/>
              <a:gd name="T45" fmla="*/ 58950 h 487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355" h="487">
                <a:moveTo>
                  <a:pt x="346" y="132"/>
                </a:moveTo>
                <a:lnTo>
                  <a:pt x="346" y="132"/>
                </a:lnTo>
                <a:cubicBezTo>
                  <a:pt x="116" y="17"/>
                  <a:pt x="116" y="17"/>
                  <a:pt x="116" y="17"/>
                </a:cubicBezTo>
                <a:cubicBezTo>
                  <a:pt x="89" y="0"/>
                  <a:pt x="27" y="25"/>
                  <a:pt x="9" y="53"/>
                </a:cubicBezTo>
                <a:cubicBezTo>
                  <a:pt x="0" y="70"/>
                  <a:pt x="0" y="79"/>
                  <a:pt x="0" y="79"/>
                </a:cubicBezTo>
                <a:cubicBezTo>
                  <a:pt x="9" y="345"/>
                  <a:pt x="9" y="345"/>
                  <a:pt x="9" y="345"/>
                </a:cubicBezTo>
                <a:cubicBezTo>
                  <a:pt x="9" y="345"/>
                  <a:pt x="18" y="354"/>
                  <a:pt x="18" y="363"/>
                </a:cubicBezTo>
                <a:cubicBezTo>
                  <a:pt x="36" y="363"/>
                  <a:pt x="222" y="486"/>
                  <a:pt x="222" y="486"/>
                </a:cubicBezTo>
                <a:cubicBezTo>
                  <a:pt x="231" y="486"/>
                  <a:pt x="231" y="486"/>
                  <a:pt x="231" y="486"/>
                </a:cubicBezTo>
                <a:cubicBezTo>
                  <a:pt x="240" y="486"/>
                  <a:pt x="240" y="486"/>
                  <a:pt x="240" y="486"/>
                </a:cubicBezTo>
                <a:cubicBezTo>
                  <a:pt x="248" y="486"/>
                  <a:pt x="248" y="478"/>
                  <a:pt x="248" y="478"/>
                </a:cubicBezTo>
                <a:cubicBezTo>
                  <a:pt x="248" y="203"/>
                  <a:pt x="248" y="203"/>
                  <a:pt x="248" y="203"/>
                </a:cubicBezTo>
                <a:cubicBezTo>
                  <a:pt x="248" y="194"/>
                  <a:pt x="248" y="194"/>
                  <a:pt x="240" y="185"/>
                </a:cubicBezTo>
                <a:cubicBezTo>
                  <a:pt x="44" y="70"/>
                  <a:pt x="44" y="70"/>
                  <a:pt x="44" y="70"/>
                </a:cubicBezTo>
                <a:cubicBezTo>
                  <a:pt x="44" y="70"/>
                  <a:pt x="53" y="61"/>
                  <a:pt x="71" y="53"/>
                </a:cubicBezTo>
                <a:cubicBezTo>
                  <a:pt x="89" y="44"/>
                  <a:pt x="97" y="44"/>
                  <a:pt x="107" y="44"/>
                </a:cubicBezTo>
                <a:cubicBezTo>
                  <a:pt x="107" y="44"/>
                  <a:pt x="293" y="150"/>
                  <a:pt x="301" y="150"/>
                </a:cubicBezTo>
                <a:cubicBezTo>
                  <a:pt x="310" y="159"/>
                  <a:pt x="310" y="159"/>
                  <a:pt x="310" y="159"/>
                </a:cubicBezTo>
                <a:cubicBezTo>
                  <a:pt x="310" y="168"/>
                  <a:pt x="310" y="425"/>
                  <a:pt x="310" y="425"/>
                </a:cubicBezTo>
                <a:cubicBezTo>
                  <a:pt x="310" y="433"/>
                  <a:pt x="319" y="442"/>
                  <a:pt x="328" y="442"/>
                </a:cubicBezTo>
                <a:cubicBezTo>
                  <a:pt x="337" y="442"/>
                  <a:pt x="354" y="433"/>
                  <a:pt x="354" y="425"/>
                </a:cubicBezTo>
                <a:cubicBezTo>
                  <a:pt x="354" y="141"/>
                  <a:pt x="354" y="141"/>
                  <a:pt x="354" y="141"/>
                </a:cubicBezTo>
                <a:lnTo>
                  <a:pt x="346" y="132"/>
                </a:lnTo>
              </a:path>
            </a:pathLst>
          </a:custGeom>
          <a:solidFill>
            <a:srgbClr val="00B0F0">
              <a:alpha val="32000"/>
            </a:srgbClr>
          </a:solidFill>
          <a:ln w="0">
            <a:gradFill>
              <a:gsLst>
                <a:gs pos="74000">
                  <a:srgbClr val="00B0F0">
                    <a:alpha val="27000"/>
                  </a:srgbClr>
                </a:gs>
                <a:gs pos="83000">
                  <a:srgbClr val="2378C2"/>
                </a:gs>
                <a:gs pos="100000">
                  <a:srgbClr val="55B5E2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600">
              <a:solidFill>
                <a:schemeClr val="bg1"/>
              </a:solidFill>
              <a:cs typeface="+mn-ea"/>
            </a:endParaRPr>
          </a:p>
        </p:txBody>
      </p:sp>
      <p:grpSp>
        <p:nvGrpSpPr>
          <p:cNvPr id="119" name="Группа 118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120" name="Блок-схема: процесс 119"/>
            <p:cNvSpPr/>
            <p:nvPr/>
          </p:nvSpPr>
          <p:spPr>
            <a:xfrm>
              <a:off x="0" y="0"/>
              <a:ext cx="76199" cy="6858000"/>
            </a:xfrm>
            <a:prstGeom prst="flowChartProcess">
              <a:avLst/>
            </a:prstGeom>
            <a:solidFill>
              <a:srgbClr val="00B0F0"/>
            </a:solidFill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1" name="Блок-схема: процесс 120"/>
            <p:cNvSpPr/>
            <p:nvPr/>
          </p:nvSpPr>
          <p:spPr>
            <a:xfrm>
              <a:off x="76199" y="1"/>
              <a:ext cx="9035143" cy="76200"/>
            </a:xfrm>
            <a:prstGeom prst="flowChartProcess">
              <a:avLst/>
            </a:prstGeom>
            <a:solidFill>
              <a:srgbClr val="00B0F0"/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2" name="Блок-схема: процесс 121"/>
            <p:cNvSpPr/>
            <p:nvPr/>
          </p:nvSpPr>
          <p:spPr>
            <a:xfrm>
              <a:off x="65313" y="6781800"/>
              <a:ext cx="9067801" cy="76200"/>
            </a:xfrm>
            <a:prstGeom prst="flowChartProcess">
              <a:avLst/>
            </a:prstGeom>
            <a:solidFill>
              <a:srgbClr val="00B0F0"/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3" name="Блок-схема: процесс 122"/>
            <p:cNvSpPr/>
            <p:nvPr/>
          </p:nvSpPr>
          <p:spPr>
            <a:xfrm>
              <a:off x="9067801" y="0"/>
              <a:ext cx="76199" cy="6858000"/>
            </a:xfrm>
            <a:prstGeom prst="flowChartProcess">
              <a:avLst/>
            </a:prstGeom>
            <a:solidFill>
              <a:srgbClr val="00B0F0"/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3307237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ipple/>
      </p:transition>
    </mc:Choice>
    <mc:Fallback xmlns="">
      <p:transition spd="med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0" presetClass="entr" presetSubtype="0" decel="10000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100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w+.3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100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" dur="10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" presetID="2" presetClass="entr" presetSubtype="2" accel="44000" fill="hold" grpId="0" nodeType="with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12" dur="500" fill="hold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13" dur="500" fill="hold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4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5" presetID="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7" dur="500" fill="hold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8" dur="500" fill="hold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9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20" presetID="42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2" dur="1000"/>
                                            <p:tgtEl>
                                              <p:spTgt spid="9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3" dur="1000" fill="hold"/>
                                            <p:tgtEl>
                                              <p:spTgt spid="9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4" dur="1000" fill="hold"/>
                                            <p:tgtEl>
                                              <p:spTgt spid="9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7" dur="1000"/>
                                            <p:tgtEl>
                                              <p:spTgt spid="105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8" dur="1000" fill="hold"/>
                                            <p:tgtEl>
                                              <p:spTgt spid="10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9" dur="1000" fill="hold"/>
                                            <p:tgtEl>
                                              <p:spTgt spid="10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31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3" dur="500"/>
                                            <p:tgtEl>
                                              <p:spTgt spid="9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3000"/>
                                </p:stCondLst>
                                <p:childTnLst>
                                  <p:par>
                                    <p:cTn id="35" presetID="42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7" dur="1000"/>
                                            <p:tgtEl>
                                              <p:spTgt spid="96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38" dur="1000" fill="hold"/>
                                            <p:tgtEl>
                                              <p:spTgt spid="9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9" dur="1000" fill="hold"/>
                                            <p:tgtEl>
                                              <p:spTgt spid="9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0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2" dur="1000"/>
                                            <p:tgtEl>
                                              <p:spTgt spid="10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43" dur="1000" fill="hold"/>
                                            <p:tgtEl>
                                              <p:spTgt spid="10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4" dur="1000" fill="hold"/>
                                            <p:tgtEl>
                                              <p:spTgt spid="10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5" fill="hold">
                                <p:stCondLst>
                                  <p:cond delay="4000"/>
                                </p:stCondLst>
                                <p:childTnLst>
                                  <p:par>
                                    <p:cTn id="46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8" dur="500"/>
                                            <p:tgtEl>
                                              <p:spTgt spid="9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9" fill="hold">
                                <p:stCondLst>
                                  <p:cond delay="4500"/>
                                </p:stCondLst>
                                <p:childTnLst>
                                  <p:par>
                                    <p:cTn id="50" presetID="42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1000"/>
                                            <p:tgtEl>
                                              <p:spTgt spid="9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53" dur="1000" fill="hold"/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4" dur="1000" fill="hold"/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5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7" dur="1000"/>
                                            <p:tgtEl>
                                              <p:spTgt spid="102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58" dur="1000" fill="hold"/>
                                            <p:tgtEl>
                                              <p:spTgt spid="10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9" dur="1000" fill="hold"/>
                                            <p:tgtEl>
                                              <p:spTgt spid="10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0" fill="hold">
                                <p:stCondLst>
                                  <p:cond delay="5500"/>
                                </p:stCondLst>
                                <p:childTnLst>
                                  <p:par>
                                    <p:cTn id="61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63" dur="500"/>
                                            <p:tgtEl>
                                              <p:spTgt spid="9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4" fill="hold">
                                <p:stCondLst>
                                  <p:cond delay="6000"/>
                                </p:stCondLst>
                                <p:childTnLst>
                                  <p:par>
                                    <p:cTn id="65" presetID="42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1000"/>
                                            <p:tgtEl>
                                              <p:spTgt spid="100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68" dur="1000" fill="hold"/>
                                            <p:tgtEl>
                                              <p:spTgt spid="10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9" dur="1000" fill="hold"/>
                                            <p:tgtEl>
                                              <p:spTgt spid="10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0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2" dur="1000"/>
                                            <p:tgtEl>
                                              <p:spTgt spid="10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73" dur="1000" fill="hold"/>
                                            <p:tgtEl>
                                              <p:spTgt spid="10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4" dur="1000" fill="hold"/>
                                            <p:tgtEl>
                                              <p:spTgt spid="10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5" fill="hold">
                                <p:stCondLst>
                                  <p:cond delay="7000"/>
                                </p:stCondLst>
                                <p:childTnLst>
                                  <p:par>
                                    <p:cTn id="76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8" dur="500"/>
                                            <p:tgtEl>
                                              <p:spTgt spid="10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9" fill="hold">
                                <p:stCondLst>
                                  <p:cond delay="7500"/>
                                </p:stCondLst>
                                <p:childTnLst>
                                  <p:par>
                                    <p:cTn id="80" presetID="42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1000"/>
                                            <p:tgtEl>
                                              <p:spTgt spid="106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83" dur="1000" fill="hold"/>
                                            <p:tgtEl>
                                              <p:spTgt spid="10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4" dur="1000" fill="hold"/>
                                            <p:tgtEl>
                                              <p:spTgt spid="10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5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7" dur="1000"/>
                                            <p:tgtEl>
                                              <p:spTgt spid="117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88" dur="1000" fill="hold"/>
                                            <p:tgtEl>
                                              <p:spTgt spid="1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9" dur="1000" fill="hold"/>
                                            <p:tgtEl>
                                              <p:spTgt spid="1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0" fill="hold">
                                <p:stCondLst>
                                  <p:cond delay="8500"/>
                                </p:stCondLst>
                                <p:childTnLst>
                                  <p:par>
                                    <p:cTn id="91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93" dur="500"/>
                                            <p:tgtEl>
                                              <p:spTgt spid="10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4" fill="hold">
                                <p:stCondLst>
                                  <p:cond delay="9000"/>
                                </p:stCondLst>
                                <p:childTnLst>
                                  <p:par>
                                    <p:cTn id="95" presetID="42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7" dur="1000"/>
                                            <p:tgtEl>
                                              <p:spTgt spid="112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98" dur="1000" fill="hold"/>
                                            <p:tgtEl>
                                              <p:spTgt spid="1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9" dur="1000" fill="hold"/>
                                            <p:tgtEl>
                                              <p:spTgt spid="1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0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2" dur="1000"/>
                                            <p:tgtEl>
                                              <p:spTgt spid="115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03" dur="1000" fill="hold"/>
                                            <p:tgtEl>
                                              <p:spTgt spid="1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4" dur="1000" fill="hold"/>
                                            <p:tgtEl>
                                              <p:spTgt spid="1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5" fill="hold">
                                <p:stCondLst>
                                  <p:cond delay="10000"/>
                                </p:stCondLst>
                                <p:childTnLst>
                                  <p:par>
                                    <p:cTn id="106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08" dur="500"/>
                                            <p:tgtEl>
                                              <p:spTgt spid="1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5" grpId="0" animBg="1"/>
          <p:bldP spid="94" grpId="0" animBg="1"/>
          <p:bldP spid="95" grpId="0"/>
          <p:bldP spid="96" grpId="0" animBg="1"/>
          <p:bldP spid="97" grpId="0"/>
          <p:bldP spid="98" grpId="0" animBg="1"/>
          <p:bldP spid="99" grpId="0"/>
          <p:bldP spid="100" grpId="0" animBg="1"/>
          <p:bldP spid="101" grpId="0"/>
          <p:bldP spid="102" grpId="0" animBg="1"/>
          <p:bldP spid="103" grpId="0" animBg="1"/>
          <p:bldP spid="104" grpId="0" animBg="1"/>
          <p:bldP spid="105" grpId="0" animBg="1"/>
          <p:bldP spid="106" grpId="0" animBg="1"/>
          <p:bldP spid="107" grpId="0"/>
          <p:bldP spid="112" grpId="0" animBg="1"/>
          <p:bldP spid="113" grpId="0"/>
          <p:bldP spid="115" grpId="0" animBg="1"/>
          <p:bldP spid="117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0" presetClass="entr" presetSubtype="0" decel="10000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100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w+.3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100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" dur="10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" presetID="2" presetClass="entr" presetSubtype="2" accel="44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3" dur="500" fill="hold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4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5" presetID="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7" dur="500" fill="hold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8" dur="500" fill="hold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9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20" presetID="42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2" dur="1000"/>
                                            <p:tgtEl>
                                              <p:spTgt spid="9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3" dur="1000" fill="hold"/>
                                            <p:tgtEl>
                                              <p:spTgt spid="9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4" dur="1000" fill="hold"/>
                                            <p:tgtEl>
                                              <p:spTgt spid="9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7" dur="1000"/>
                                            <p:tgtEl>
                                              <p:spTgt spid="105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8" dur="1000" fill="hold"/>
                                            <p:tgtEl>
                                              <p:spTgt spid="10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9" dur="1000" fill="hold"/>
                                            <p:tgtEl>
                                              <p:spTgt spid="10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31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3" dur="500"/>
                                            <p:tgtEl>
                                              <p:spTgt spid="9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3000"/>
                                </p:stCondLst>
                                <p:childTnLst>
                                  <p:par>
                                    <p:cTn id="35" presetID="42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7" dur="1000"/>
                                            <p:tgtEl>
                                              <p:spTgt spid="96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38" dur="1000" fill="hold"/>
                                            <p:tgtEl>
                                              <p:spTgt spid="9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9" dur="1000" fill="hold"/>
                                            <p:tgtEl>
                                              <p:spTgt spid="9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0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2" dur="1000"/>
                                            <p:tgtEl>
                                              <p:spTgt spid="10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43" dur="1000" fill="hold"/>
                                            <p:tgtEl>
                                              <p:spTgt spid="10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4" dur="1000" fill="hold"/>
                                            <p:tgtEl>
                                              <p:spTgt spid="10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5" fill="hold">
                                <p:stCondLst>
                                  <p:cond delay="4000"/>
                                </p:stCondLst>
                                <p:childTnLst>
                                  <p:par>
                                    <p:cTn id="46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8" dur="500"/>
                                            <p:tgtEl>
                                              <p:spTgt spid="9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9" fill="hold">
                                <p:stCondLst>
                                  <p:cond delay="4500"/>
                                </p:stCondLst>
                                <p:childTnLst>
                                  <p:par>
                                    <p:cTn id="50" presetID="42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1000"/>
                                            <p:tgtEl>
                                              <p:spTgt spid="9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53" dur="1000" fill="hold"/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4" dur="1000" fill="hold"/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5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7" dur="1000"/>
                                            <p:tgtEl>
                                              <p:spTgt spid="102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58" dur="1000" fill="hold"/>
                                            <p:tgtEl>
                                              <p:spTgt spid="10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9" dur="1000" fill="hold"/>
                                            <p:tgtEl>
                                              <p:spTgt spid="10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0" fill="hold">
                                <p:stCondLst>
                                  <p:cond delay="5500"/>
                                </p:stCondLst>
                                <p:childTnLst>
                                  <p:par>
                                    <p:cTn id="61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63" dur="500"/>
                                            <p:tgtEl>
                                              <p:spTgt spid="9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4" fill="hold">
                                <p:stCondLst>
                                  <p:cond delay="6000"/>
                                </p:stCondLst>
                                <p:childTnLst>
                                  <p:par>
                                    <p:cTn id="65" presetID="42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1000"/>
                                            <p:tgtEl>
                                              <p:spTgt spid="100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68" dur="1000" fill="hold"/>
                                            <p:tgtEl>
                                              <p:spTgt spid="10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9" dur="1000" fill="hold"/>
                                            <p:tgtEl>
                                              <p:spTgt spid="10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0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2" dur="1000"/>
                                            <p:tgtEl>
                                              <p:spTgt spid="10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73" dur="1000" fill="hold"/>
                                            <p:tgtEl>
                                              <p:spTgt spid="10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4" dur="1000" fill="hold"/>
                                            <p:tgtEl>
                                              <p:spTgt spid="10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5" fill="hold">
                                <p:stCondLst>
                                  <p:cond delay="7000"/>
                                </p:stCondLst>
                                <p:childTnLst>
                                  <p:par>
                                    <p:cTn id="76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8" dur="500"/>
                                            <p:tgtEl>
                                              <p:spTgt spid="10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9" fill="hold">
                                <p:stCondLst>
                                  <p:cond delay="7500"/>
                                </p:stCondLst>
                                <p:childTnLst>
                                  <p:par>
                                    <p:cTn id="80" presetID="42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1000"/>
                                            <p:tgtEl>
                                              <p:spTgt spid="106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83" dur="1000" fill="hold"/>
                                            <p:tgtEl>
                                              <p:spTgt spid="10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4" dur="1000" fill="hold"/>
                                            <p:tgtEl>
                                              <p:spTgt spid="10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5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7" dur="1000"/>
                                            <p:tgtEl>
                                              <p:spTgt spid="117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88" dur="1000" fill="hold"/>
                                            <p:tgtEl>
                                              <p:spTgt spid="1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9" dur="1000" fill="hold"/>
                                            <p:tgtEl>
                                              <p:spTgt spid="1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0" fill="hold">
                                <p:stCondLst>
                                  <p:cond delay="8500"/>
                                </p:stCondLst>
                                <p:childTnLst>
                                  <p:par>
                                    <p:cTn id="91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93" dur="500"/>
                                            <p:tgtEl>
                                              <p:spTgt spid="10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4" fill="hold">
                                <p:stCondLst>
                                  <p:cond delay="9000"/>
                                </p:stCondLst>
                                <p:childTnLst>
                                  <p:par>
                                    <p:cTn id="95" presetID="42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7" dur="1000"/>
                                            <p:tgtEl>
                                              <p:spTgt spid="112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98" dur="1000" fill="hold"/>
                                            <p:tgtEl>
                                              <p:spTgt spid="1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9" dur="1000" fill="hold"/>
                                            <p:tgtEl>
                                              <p:spTgt spid="1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0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2" dur="1000"/>
                                            <p:tgtEl>
                                              <p:spTgt spid="115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03" dur="1000" fill="hold"/>
                                            <p:tgtEl>
                                              <p:spTgt spid="1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4" dur="1000" fill="hold"/>
                                            <p:tgtEl>
                                              <p:spTgt spid="1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5" fill="hold">
                                <p:stCondLst>
                                  <p:cond delay="10000"/>
                                </p:stCondLst>
                                <p:childTnLst>
                                  <p:par>
                                    <p:cTn id="106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08" dur="500"/>
                                            <p:tgtEl>
                                              <p:spTgt spid="1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5" grpId="0" animBg="1"/>
          <p:bldP spid="94" grpId="0" animBg="1"/>
          <p:bldP spid="95" grpId="0"/>
          <p:bldP spid="96" grpId="0" animBg="1"/>
          <p:bldP spid="97" grpId="0"/>
          <p:bldP spid="98" grpId="0" animBg="1"/>
          <p:bldP spid="99" grpId="0"/>
          <p:bldP spid="100" grpId="0" animBg="1"/>
          <p:bldP spid="101" grpId="0"/>
          <p:bldP spid="102" grpId="0" animBg="1"/>
          <p:bldP spid="103" grpId="0" animBg="1"/>
          <p:bldP spid="104" grpId="0" animBg="1"/>
          <p:bldP spid="105" grpId="0" animBg="1"/>
          <p:bldP spid="106" grpId="0" animBg="1"/>
          <p:bldP spid="107" grpId="0"/>
          <p:bldP spid="112" grpId="0" animBg="1"/>
          <p:bldP spid="113" grpId="0"/>
          <p:bldP spid="115" grpId="0" animBg="1"/>
          <p:bldP spid="117" grpId="0" animBg="1"/>
        </p:bldLst>
      </p:timing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7"/>
          <p:cNvSpPr/>
          <p:nvPr/>
        </p:nvSpPr>
        <p:spPr bwMode="auto">
          <a:xfrm>
            <a:off x="0" y="0"/>
            <a:ext cx="9144000" cy="6857999"/>
          </a:xfrm>
          <a:prstGeom prst="rect">
            <a:avLst/>
          </a:prstGeom>
          <a:noFill/>
          <a:ln w="76200">
            <a:solidFill>
              <a:srgbClr val="00AEE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graphicFrame>
        <p:nvGraphicFramePr>
          <p:cNvPr id="28" name="Схема 27"/>
          <p:cNvGraphicFramePr/>
          <p:nvPr>
            <p:extLst>
              <p:ext uri="{D42A27DB-BD31-4B8C-83A1-F6EECF244321}">
                <p14:modId xmlns:p14="http://schemas.microsoft.com/office/powerpoint/2010/main" val="2688097595"/>
              </p:ext>
            </p:extLst>
          </p:nvPr>
        </p:nvGraphicFramePr>
        <p:xfrm>
          <a:off x="205239" y="920669"/>
          <a:ext cx="8515014" cy="11660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9" name="Прямоугольник с двумя усеченными противолежащими углами 28"/>
          <p:cNvSpPr/>
          <p:nvPr/>
        </p:nvSpPr>
        <p:spPr>
          <a:xfrm>
            <a:off x="356840" y="1981199"/>
            <a:ext cx="8363413" cy="1676401"/>
          </a:xfrm>
          <a:prstGeom prst="snip2DiagRect">
            <a:avLst/>
          </a:prstGeom>
          <a:noFill/>
          <a:ln w="76200">
            <a:solidFill>
              <a:srgbClr val="00B0F0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just">
              <a:lnSpc>
                <a:spcPct val="150000"/>
              </a:lnSpc>
            </a:pPr>
            <a:r>
              <a:rPr lang="en-US" sz="1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Bit </a:t>
            </a:r>
            <a:r>
              <a:rPr lang="en-US" sz="1400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so’m</a:t>
            </a:r>
            <a:r>
              <a:rPr lang="en-US" sz="1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400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muomalaga</a:t>
            </a:r>
            <a:r>
              <a:rPr lang="en-US" sz="1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400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chiqarilishi</a:t>
            </a:r>
            <a:r>
              <a:rPr lang="en-US" sz="1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400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mumkin</a:t>
            </a:r>
            <a:r>
              <a:rPr lang="en-US" sz="1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sz="1400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O’zbek</a:t>
            </a:r>
            <a:r>
              <a:rPr lang="en-US" sz="1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400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milliy</a:t>
            </a:r>
            <a:r>
              <a:rPr lang="en-US" sz="1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400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valyutasini</a:t>
            </a:r>
            <a:r>
              <a:rPr lang="en-US" sz="1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400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blokcheynga</a:t>
            </a:r>
            <a:r>
              <a:rPr lang="en-US" sz="1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400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sz="1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400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raqamli</a:t>
            </a:r>
            <a:r>
              <a:rPr lang="en-US" sz="1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400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formatga</a:t>
            </a:r>
            <a:r>
              <a:rPr lang="en-US" sz="1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400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o'tkazish</a:t>
            </a:r>
            <a:r>
              <a:rPr lang="en-US" sz="1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400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unga</a:t>
            </a:r>
            <a:r>
              <a:rPr lang="en-US" sz="1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400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bir</a:t>
            </a:r>
            <a:r>
              <a:rPr lang="en-US" sz="1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400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qancha</a:t>
            </a:r>
            <a:r>
              <a:rPr lang="en-US" sz="1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400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afzalliklar</a:t>
            </a:r>
            <a:r>
              <a:rPr lang="en-US" sz="1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400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berishi</a:t>
            </a:r>
            <a:r>
              <a:rPr lang="en-US" sz="1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400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mumkin</a:t>
            </a:r>
            <a:r>
              <a:rPr lang="en-US" sz="1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, ammo </a:t>
            </a:r>
            <a:r>
              <a:rPr lang="en-US" sz="1400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bu</a:t>
            </a:r>
            <a:r>
              <a:rPr lang="en-US" sz="1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400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holda</a:t>
            </a:r>
            <a:r>
              <a:rPr lang="en-US" sz="1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400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bir</a:t>
            </a:r>
            <a:r>
              <a:rPr lang="en-US" sz="1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400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qancha</a:t>
            </a:r>
            <a:r>
              <a:rPr lang="en-US" sz="1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400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muammolarni</a:t>
            </a:r>
            <a:r>
              <a:rPr lang="en-US" sz="1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400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qonunchilik</a:t>
            </a:r>
            <a:r>
              <a:rPr lang="en-US" sz="1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400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asosida</a:t>
            </a:r>
            <a:r>
              <a:rPr lang="en-US" sz="1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400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to’g’ri</a:t>
            </a:r>
            <a:r>
              <a:rPr lang="en-US" sz="1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400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hal</a:t>
            </a:r>
            <a:r>
              <a:rPr lang="en-US" sz="1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400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qilishga</a:t>
            </a:r>
            <a:r>
              <a:rPr lang="en-US" sz="1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400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to’g’ri</a:t>
            </a:r>
            <a:r>
              <a:rPr lang="en-US" sz="1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400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keladi</a:t>
            </a:r>
            <a:r>
              <a:rPr lang="en-US" sz="1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sz="1400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Masalan</a:t>
            </a:r>
            <a:r>
              <a:rPr lang="en-US" sz="1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400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ushbu</a:t>
            </a:r>
            <a:r>
              <a:rPr lang="en-US" sz="1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400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blokcheynni</a:t>
            </a:r>
            <a:r>
              <a:rPr lang="en-US" sz="1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400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kim</a:t>
            </a:r>
            <a:r>
              <a:rPr lang="en-US" sz="1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400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boshqaradi</a:t>
            </a:r>
            <a:r>
              <a:rPr lang="en-US" sz="1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400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sz="1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400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unga</a:t>
            </a:r>
            <a:r>
              <a:rPr lang="en-US" sz="1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400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davlat</a:t>
            </a:r>
            <a:r>
              <a:rPr lang="en-US" sz="1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400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maqomi</a:t>
            </a:r>
            <a:r>
              <a:rPr lang="en-US" sz="1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400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beriladimi</a:t>
            </a:r>
            <a:r>
              <a:rPr lang="en-US" sz="1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400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yoki</a:t>
            </a:r>
            <a:r>
              <a:rPr lang="en-US" sz="1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u </a:t>
            </a:r>
            <a:r>
              <a:rPr lang="en-US" sz="1400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korporativ</a:t>
            </a:r>
            <a:r>
              <a:rPr lang="en-US" sz="1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400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maqomga</a:t>
            </a:r>
            <a:r>
              <a:rPr lang="en-US" sz="1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400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ega</a:t>
            </a:r>
            <a:r>
              <a:rPr lang="en-US" sz="1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400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bo'ladimi</a:t>
            </a:r>
            <a:r>
              <a:rPr lang="en-US" sz="1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. Bit </a:t>
            </a:r>
            <a:r>
              <a:rPr lang="en-US" sz="1400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so’m</a:t>
            </a:r>
            <a:r>
              <a:rPr lang="en-US" sz="1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400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ichki</a:t>
            </a:r>
            <a:r>
              <a:rPr lang="en-US" sz="1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400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sz="1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400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tashqi</a:t>
            </a:r>
            <a:r>
              <a:rPr lang="en-US" sz="1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400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bozorda</a:t>
            </a:r>
            <a:r>
              <a:rPr lang="en-US" sz="1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400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qanday</a:t>
            </a:r>
            <a:r>
              <a:rPr lang="en-US" sz="1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400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ishlatiladi</a:t>
            </a:r>
            <a:r>
              <a:rPr lang="en-US" sz="1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400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sz="1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400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kim</a:t>
            </a:r>
            <a:r>
              <a:rPr lang="en-US" sz="1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400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tomonidan</a:t>
            </a:r>
            <a:r>
              <a:rPr lang="en-US" sz="1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400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nazorat</a:t>
            </a:r>
            <a:r>
              <a:rPr lang="en-US" sz="1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400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qilinadi</a:t>
            </a:r>
            <a:r>
              <a:rPr lang="en-US" sz="1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400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degan</a:t>
            </a:r>
            <a:r>
              <a:rPr lang="en-US" sz="1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400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savollarga</a:t>
            </a:r>
            <a:r>
              <a:rPr lang="en-US" sz="1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ham </a:t>
            </a:r>
            <a:r>
              <a:rPr lang="en-US" sz="1400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konkret</a:t>
            </a:r>
            <a:r>
              <a:rPr lang="en-US" sz="1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400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javob</a:t>
            </a:r>
            <a:r>
              <a:rPr lang="en-US" sz="1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400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topish</a:t>
            </a:r>
            <a:r>
              <a:rPr lang="en-US" sz="1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400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lozim</a:t>
            </a:r>
            <a:r>
              <a:rPr lang="en-US" sz="1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400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bo'ladi</a:t>
            </a:r>
            <a:r>
              <a:rPr lang="en-US" sz="1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400" dirty="0" smtClean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963"/>
          <a:stretch/>
        </p:blipFill>
        <p:spPr>
          <a:xfrm>
            <a:off x="356840" y="3750955"/>
            <a:ext cx="4258704" cy="2664528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5544" y="3750955"/>
            <a:ext cx="4125686" cy="2664528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8" name="Лента лицом вниз 7"/>
          <p:cNvSpPr/>
          <p:nvPr/>
        </p:nvSpPr>
        <p:spPr>
          <a:xfrm>
            <a:off x="755760" y="108857"/>
            <a:ext cx="7565571" cy="957943"/>
          </a:xfrm>
          <a:prstGeom prst="ribbon">
            <a:avLst>
              <a:gd name="adj1" fmla="val 15858"/>
              <a:gd name="adj2" fmla="val 75000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 smtClean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Bunday</a:t>
            </a:r>
            <a:r>
              <a:rPr lang="en-US" b="1" dirty="0" smtClean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en-US" b="1" dirty="0" err="1" smtClean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atti-harakatlarning</a:t>
            </a:r>
            <a:r>
              <a:rPr lang="en-US" b="1" dirty="0" smtClean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muvaffaqiyatli</a:t>
            </a:r>
            <a:r>
              <a:rPr lang="en-US" b="1" dirty="0" smtClean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ravishda</a:t>
            </a:r>
            <a:r>
              <a:rPr lang="en-US" b="1" dirty="0" smtClean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rivojlanishi</a:t>
            </a:r>
            <a:r>
              <a:rPr lang="en-US" b="1" dirty="0" smtClean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uchun</a:t>
            </a:r>
            <a:r>
              <a:rPr lang="en-US" b="1" dirty="0" smtClean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mamlakatimizda</a:t>
            </a:r>
            <a:r>
              <a:rPr lang="en-US" b="1" dirty="0" smtClean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to’rt</a:t>
            </a:r>
            <a:r>
              <a:rPr lang="en-US" b="1" dirty="0" smtClean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xildagi</a:t>
            </a:r>
            <a:r>
              <a:rPr lang="en-US" b="1" dirty="0" smtClean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yo'nalishni</a:t>
            </a:r>
            <a:r>
              <a:rPr lang="en-US" b="1" dirty="0" smtClean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taklif</a:t>
            </a:r>
            <a:r>
              <a:rPr lang="en-US" b="1" dirty="0" smtClean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etish</a:t>
            </a:r>
            <a:r>
              <a:rPr lang="en-US" b="1" dirty="0" smtClean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mumkin</a:t>
            </a:r>
            <a:r>
              <a:rPr lang="en-US" b="1" dirty="0" smtClean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ru-RU" b="1" dirty="0" smtClean="0"/>
          </a:p>
        </p:txBody>
      </p:sp>
    </p:spTree>
    <p:extLst>
      <p:ext uri="{BB962C8B-B14F-4D97-AF65-F5344CB8AC3E}">
        <p14:creationId xmlns:p14="http://schemas.microsoft.com/office/powerpoint/2010/main" val="1935839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ipple/>
      </p:transition>
    </mc:Choice>
    <mc:Fallback xmlns="">
      <p:transition spd="med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accel="50000" fill="hold" grpId="0" nodeType="afterEffect" p14:presetBounceEnd="58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8000">
                                          <p:cBhvr additive="base">
                                            <p:cTn id="7" dur="125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8000">
                                          <p:cBhvr additive="base">
                                            <p:cTn id="8" dur="125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4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accel="5000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25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25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4" grpId="0" animBg="1"/>
        </p:bldLst>
      </p:timing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Группа 9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11" name="Блок-схема: процесс 10"/>
            <p:cNvSpPr/>
            <p:nvPr/>
          </p:nvSpPr>
          <p:spPr>
            <a:xfrm>
              <a:off x="0" y="0"/>
              <a:ext cx="76199" cy="6858000"/>
            </a:xfrm>
            <a:prstGeom prst="flowChartProcess">
              <a:avLst/>
            </a:prstGeom>
            <a:solidFill>
              <a:srgbClr val="00B0F0"/>
            </a:solidFill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Блок-схема: процесс 11"/>
            <p:cNvSpPr/>
            <p:nvPr/>
          </p:nvSpPr>
          <p:spPr>
            <a:xfrm>
              <a:off x="76199" y="1"/>
              <a:ext cx="9035143" cy="76200"/>
            </a:xfrm>
            <a:prstGeom prst="flowChartProcess">
              <a:avLst/>
            </a:prstGeom>
            <a:solidFill>
              <a:srgbClr val="00B0F0"/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Блок-схема: процесс 12"/>
            <p:cNvSpPr/>
            <p:nvPr/>
          </p:nvSpPr>
          <p:spPr>
            <a:xfrm>
              <a:off x="65313" y="6781800"/>
              <a:ext cx="9067801" cy="76200"/>
            </a:xfrm>
            <a:prstGeom prst="flowChartProcess">
              <a:avLst/>
            </a:prstGeom>
            <a:solidFill>
              <a:srgbClr val="00B0F0"/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Блок-схема: процесс 13"/>
            <p:cNvSpPr/>
            <p:nvPr/>
          </p:nvSpPr>
          <p:spPr>
            <a:xfrm>
              <a:off x="9067801" y="0"/>
              <a:ext cx="76199" cy="6858000"/>
            </a:xfrm>
            <a:prstGeom prst="flowChartProcess">
              <a:avLst/>
            </a:prstGeom>
            <a:solidFill>
              <a:srgbClr val="00B0F0"/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6" name="Прямоугольник с двумя усеченными противолежащими углами 15"/>
          <p:cNvSpPr/>
          <p:nvPr/>
        </p:nvSpPr>
        <p:spPr>
          <a:xfrm>
            <a:off x="250171" y="1298232"/>
            <a:ext cx="8643657" cy="1989254"/>
          </a:xfrm>
          <a:prstGeom prst="snip2DiagRect">
            <a:avLst/>
          </a:prstGeom>
          <a:noFill/>
          <a:ln w="76200">
            <a:solidFill>
              <a:srgbClr val="00B0F0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just">
              <a:lnSpc>
                <a:spcPct val="157000"/>
              </a:lnSpc>
              <a:spcAft>
                <a:spcPts val="0"/>
              </a:spcAft>
              <a:tabLst>
                <a:tab pos="450215" algn="l"/>
              </a:tabLst>
            </a:pPr>
            <a:r>
              <a:rPr lang="en-US" sz="16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Ikkinchi</a:t>
            </a:r>
            <a:r>
              <a:rPr lang="en-US" sz="16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yo'nalishda</a:t>
            </a:r>
            <a:r>
              <a:rPr lang="en-US" sz="16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O'zbekistonda</a:t>
            </a:r>
            <a:r>
              <a:rPr lang="en-US" sz="16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davlat</a:t>
            </a:r>
            <a:r>
              <a:rPr lang="en-US" sz="16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blokcheyn</a:t>
            </a:r>
            <a:r>
              <a:rPr lang="en-US" sz="16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tizimi</a:t>
            </a:r>
            <a:r>
              <a:rPr lang="en-US" sz="16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tashkil</a:t>
            </a:r>
            <a:r>
              <a:rPr lang="en-US" sz="16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qilinadi</a:t>
            </a:r>
            <a:r>
              <a:rPr lang="en-US" sz="16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sz="16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u </a:t>
            </a:r>
            <a:r>
              <a:rPr lang="en-US" sz="16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o'zida</a:t>
            </a:r>
            <a:r>
              <a:rPr lang="en-US" sz="16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turli</a:t>
            </a:r>
            <a:r>
              <a:rPr lang="en-US" sz="16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moliyaviy</a:t>
            </a:r>
            <a:r>
              <a:rPr lang="en-US" sz="16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institutlarning</a:t>
            </a:r>
            <a:r>
              <a:rPr lang="en-US" sz="16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funktsiyalarini</a:t>
            </a:r>
            <a:r>
              <a:rPr lang="en-US" sz="16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qamrab</a:t>
            </a:r>
            <a:r>
              <a:rPr lang="en-US" sz="16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oladi</a:t>
            </a:r>
            <a:r>
              <a:rPr lang="en-US" sz="16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sz="16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Bunday</a:t>
            </a:r>
            <a:r>
              <a:rPr lang="en-US" sz="16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inslitutlar</a:t>
            </a:r>
            <a:r>
              <a:rPr lang="en-US" sz="16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jumlasiga</a:t>
            </a:r>
            <a:r>
              <a:rPr lang="en-US" sz="16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banklar</a:t>
            </a:r>
            <a:r>
              <a:rPr lang="en-US" sz="16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6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depozitariylar</a:t>
            </a:r>
            <a:r>
              <a:rPr lang="en-US" sz="16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6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pensiya</a:t>
            </a:r>
            <a:r>
              <a:rPr lang="en-US" sz="16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fondlari</a:t>
            </a:r>
            <a:r>
              <a:rPr lang="en-US" sz="16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6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soliq</a:t>
            </a:r>
            <a:r>
              <a:rPr lang="en-US" sz="16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idoralari</a:t>
            </a:r>
            <a:r>
              <a:rPr lang="en-US" sz="16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sz="16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boshqalarni</a:t>
            </a:r>
            <a:r>
              <a:rPr lang="en-US" sz="16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kiritish</a:t>
            </a:r>
            <a:r>
              <a:rPr lang="en-US" sz="16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mumkin</a:t>
            </a:r>
            <a:r>
              <a:rPr lang="en-US" sz="16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Bu </a:t>
            </a:r>
            <a:r>
              <a:rPr lang="en-US" sz="16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amal</a:t>
            </a:r>
            <a:r>
              <a:rPr lang="en-US" sz="16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soliq</a:t>
            </a:r>
            <a:r>
              <a:rPr lang="en-US" sz="16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to'lash</a:t>
            </a:r>
            <a:r>
              <a:rPr lang="en-US" sz="16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sz="16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mablag'larni</a:t>
            </a:r>
            <a:r>
              <a:rPr lang="en-US" sz="16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fondlarga</a:t>
            </a:r>
            <a:r>
              <a:rPr lang="en-US" sz="16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o'tkazish</a:t>
            </a:r>
            <a:r>
              <a:rPr lang="en-US" sz="16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ishlarini</a:t>
            </a:r>
            <a:r>
              <a:rPr lang="en-US" sz="16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avtomatlashtirish</a:t>
            </a:r>
            <a:r>
              <a:rPr lang="en-US" sz="16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imkonini</a:t>
            </a:r>
            <a:r>
              <a:rPr lang="en-US" sz="16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beradi</a:t>
            </a:r>
            <a:r>
              <a:rPr lang="en-US" sz="16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endParaRPr lang="ru-RU" sz="16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18" name="Схема 17"/>
          <p:cNvGraphicFramePr/>
          <p:nvPr>
            <p:extLst>
              <p:ext uri="{D42A27DB-BD31-4B8C-83A1-F6EECF244321}">
                <p14:modId xmlns:p14="http://schemas.microsoft.com/office/powerpoint/2010/main" val="3914480169"/>
              </p:ext>
            </p:extLst>
          </p:nvPr>
        </p:nvGraphicFramePr>
        <p:xfrm>
          <a:off x="334537" y="-102749"/>
          <a:ext cx="8441473" cy="16695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Рисунок 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6879" y="3452473"/>
            <a:ext cx="4456949" cy="2968398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171" y="3452473"/>
            <a:ext cx="4189173" cy="2968398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461497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ippl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с двумя усеченными противолежащими углами 5"/>
          <p:cNvSpPr/>
          <p:nvPr/>
        </p:nvSpPr>
        <p:spPr>
          <a:xfrm>
            <a:off x="390101" y="1366158"/>
            <a:ext cx="8407337" cy="2024742"/>
          </a:xfrm>
          <a:prstGeom prst="snip2DiagRect">
            <a:avLst>
              <a:gd name="adj1" fmla="val 0"/>
              <a:gd name="adj2" fmla="val 35715"/>
            </a:avLst>
          </a:prstGeom>
          <a:noFill/>
          <a:ln w="76200">
            <a:solidFill>
              <a:srgbClr val="00B0F0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Uchinchi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yo’nalish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esa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kriptovalyutani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alohida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tashkilotlarda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yoki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hududlarda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hayotga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tadbiq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qilinadi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sohada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yetarli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tajriba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to'planganidan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so'ng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respublika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miqyosida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amalga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oshiriladi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masalan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O'zbekiston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Respublikasidagi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ochiq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iqtisodiy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xududlarda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yoki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chet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ellik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mutaxassislar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yordamida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innovatsion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korxonalarda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5472" y="3570514"/>
            <a:ext cx="5624157" cy="3080657"/>
          </a:xfrm>
          <a:prstGeom prst="rect">
            <a:avLst/>
          </a:prstGeom>
        </p:spPr>
      </p:pic>
      <p:grpSp>
        <p:nvGrpSpPr>
          <p:cNvPr id="9" name="Группа 8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10" name="Блок-схема: процесс 9"/>
            <p:cNvSpPr/>
            <p:nvPr/>
          </p:nvSpPr>
          <p:spPr>
            <a:xfrm>
              <a:off x="0" y="0"/>
              <a:ext cx="76199" cy="6858000"/>
            </a:xfrm>
            <a:prstGeom prst="flowChartProcess">
              <a:avLst/>
            </a:prstGeom>
            <a:solidFill>
              <a:srgbClr val="00B0F0"/>
            </a:solidFill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Блок-схема: процесс 10"/>
            <p:cNvSpPr/>
            <p:nvPr/>
          </p:nvSpPr>
          <p:spPr>
            <a:xfrm>
              <a:off x="76199" y="1"/>
              <a:ext cx="9035143" cy="76200"/>
            </a:xfrm>
            <a:prstGeom prst="flowChartProcess">
              <a:avLst/>
            </a:prstGeom>
            <a:solidFill>
              <a:srgbClr val="00B0F0"/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Блок-схема: процесс 11"/>
            <p:cNvSpPr/>
            <p:nvPr/>
          </p:nvSpPr>
          <p:spPr>
            <a:xfrm>
              <a:off x="65313" y="6781800"/>
              <a:ext cx="9067801" cy="76200"/>
            </a:xfrm>
            <a:prstGeom prst="flowChartProcess">
              <a:avLst/>
            </a:prstGeom>
            <a:solidFill>
              <a:srgbClr val="00B0F0"/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Блок-схема: процесс 12"/>
            <p:cNvSpPr/>
            <p:nvPr/>
          </p:nvSpPr>
          <p:spPr>
            <a:xfrm>
              <a:off x="9067801" y="0"/>
              <a:ext cx="76199" cy="6858000"/>
            </a:xfrm>
            <a:prstGeom prst="flowChartProcess">
              <a:avLst/>
            </a:prstGeom>
            <a:solidFill>
              <a:srgbClr val="00B0F0"/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aphicFrame>
        <p:nvGraphicFramePr>
          <p:cNvPr id="14" name="Схема 13"/>
          <p:cNvGraphicFramePr/>
          <p:nvPr>
            <p:extLst>
              <p:ext uri="{D42A27DB-BD31-4B8C-83A1-F6EECF244321}">
                <p14:modId xmlns:p14="http://schemas.microsoft.com/office/powerpoint/2010/main" val="499189333"/>
              </p:ext>
            </p:extLst>
          </p:nvPr>
        </p:nvGraphicFramePr>
        <p:xfrm>
          <a:off x="346562" y="-149908"/>
          <a:ext cx="8527075" cy="16695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13858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ippl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па 3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5" name="Блок-схема: процесс 4"/>
            <p:cNvSpPr/>
            <p:nvPr/>
          </p:nvSpPr>
          <p:spPr>
            <a:xfrm>
              <a:off x="0" y="0"/>
              <a:ext cx="76199" cy="6858000"/>
            </a:xfrm>
            <a:prstGeom prst="flowChartProcess">
              <a:avLst/>
            </a:prstGeom>
            <a:solidFill>
              <a:srgbClr val="00B0F0"/>
            </a:solidFill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Блок-схема: процесс 5"/>
            <p:cNvSpPr/>
            <p:nvPr/>
          </p:nvSpPr>
          <p:spPr>
            <a:xfrm>
              <a:off x="76199" y="1"/>
              <a:ext cx="9035143" cy="76200"/>
            </a:xfrm>
            <a:prstGeom prst="flowChartProcess">
              <a:avLst/>
            </a:prstGeom>
            <a:solidFill>
              <a:srgbClr val="00B0F0"/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Блок-схема: процесс 6"/>
            <p:cNvSpPr/>
            <p:nvPr/>
          </p:nvSpPr>
          <p:spPr>
            <a:xfrm>
              <a:off x="65313" y="6781800"/>
              <a:ext cx="9067801" cy="76200"/>
            </a:xfrm>
            <a:prstGeom prst="flowChartProcess">
              <a:avLst/>
            </a:prstGeom>
            <a:solidFill>
              <a:srgbClr val="00B0F0"/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Блок-схема: процесс 7"/>
            <p:cNvSpPr/>
            <p:nvPr/>
          </p:nvSpPr>
          <p:spPr>
            <a:xfrm>
              <a:off x="9067801" y="0"/>
              <a:ext cx="76199" cy="6858000"/>
            </a:xfrm>
            <a:prstGeom prst="flowChartProcess">
              <a:avLst/>
            </a:prstGeom>
            <a:solidFill>
              <a:srgbClr val="00B0F0"/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aphicFrame>
        <p:nvGraphicFramePr>
          <p:cNvPr id="9" name="Схема 8"/>
          <p:cNvGraphicFramePr/>
          <p:nvPr>
            <p:extLst>
              <p:ext uri="{D42A27DB-BD31-4B8C-83A1-F6EECF244321}">
                <p14:modId xmlns:p14="http://schemas.microsoft.com/office/powerpoint/2010/main" val="1082215180"/>
              </p:ext>
            </p:extLst>
          </p:nvPr>
        </p:nvGraphicFramePr>
        <p:xfrm>
          <a:off x="346562" y="-149908"/>
          <a:ext cx="8474053" cy="16695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Прямоугольник с двумя усеченными противолежащими углами 9"/>
          <p:cNvSpPr/>
          <p:nvPr/>
        </p:nvSpPr>
        <p:spPr>
          <a:xfrm>
            <a:off x="378609" y="1304434"/>
            <a:ext cx="8430322" cy="2353165"/>
          </a:xfrm>
          <a:prstGeom prst="snip2DiagRect">
            <a:avLst/>
          </a:prstGeom>
          <a:noFill/>
          <a:ln w="76200">
            <a:solidFill>
              <a:srgbClr val="00B0F0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just"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    </a:t>
            </a:r>
            <a:r>
              <a:rPr lang="en-US" sz="16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Oxirgi</a:t>
            </a:r>
            <a:r>
              <a:rPr lang="en-US" sz="16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6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to'rtinchi</a:t>
            </a:r>
            <a:r>
              <a:rPr lang="en-US" sz="16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imkoniyat</a:t>
            </a:r>
            <a:r>
              <a:rPr lang="en-US" sz="16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esa</a:t>
            </a:r>
            <a:r>
              <a:rPr lang="en-US" sz="16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Rossiyadagidek</a:t>
            </a:r>
            <a:r>
              <a:rPr lang="en-US" sz="16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Markaziy</a:t>
            </a:r>
            <a:r>
              <a:rPr lang="en-US" sz="16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bank </a:t>
            </a:r>
            <a:r>
              <a:rPr lang="en-US" sz="16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tomonidan</a:t>
            </a:r>
            <a:r>
              <a:rPr lang="en-US" sz="16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raqamli</a:t>
            </a:r>
            <a:r>
              <a:rPr lang="en-US" sz="16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kriptovalyutalar</a:t>
            </a:r>
            <a:r>
              <a:rPr lang="en-US" sz="16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bilan</a:t>
            </a:r>
            <a:r>
              <a:rPr lang="en-US" sz="16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ishlashni</a:t>
            </a:r>
            <a:r>
              <a:rPr lang="en-US" sz="16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amalga</a:t>
            </a:r>
            <a:r>
              <a:rPr lang="en-US" sz="16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oshiradigan</a:t>
            </a:r>
            <a:r>
              <a:rPr lang="en-US" sz="16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pilot </a:t>
            </a:r>
            <a:r>
              <a:rPr lang="en-US" sz="16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loyihani</a:t>
            </a:r>
            <a:r>
              <a:rPr lang="en-US" sz="16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ishga</a:t>
            </a:r>
            <a:r>
              <a:rPr lang="en-US" sz="16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tushirishdir</a:t>
            </a:r>
            <a:r>
              <a:rPr lang="en-US" sz="16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i="1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z="1600" i="1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mastercheyn</a:t>
            </a:r>
            <a:r>
              <a:rPr lang="en-US" sz="1600" i="1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i="1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loyihasi</a:t>
            </a:r>
            <a:r>
              <a:rPr lang="en-US" sz="1600" i="1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).</a:t>
            </a:r>
            <a:r>
              <a:rPr lang="en-US" sz="16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Ushbu</a:t>
            </a:r>
            <a:r>
              <a:rPr lang="en-US" sz="16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plarforma</a:t>
            </a:r>
            <a:r>
              <a:rPr lang="en-US" sz="16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bozor</a:t>
            </a:r>
            <a:r>
              <a:rPr lang="en-US" sz="16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ishtirokchilarining</a:t>
            </a:r>
            <a:r>
              <a:rPr lang="en-US" sz="16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elektron</a:t>
            </a:r>
            <a:r>
              <a:rPr lang="en-US" sz="16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usulda</a:t>
            </a:r>
            <a:r>
              <a:rPr lang="en-US" sz="16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o'zaro</a:t>
            </a:r>
            <a:r>
              <a:rPr lang="en-US" sz="16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ma'lumot</a:t>
            </a:r>
            <a:r>
              <a:rPr lang="en-US" sz="16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almashinishi</a:t>
            </a:r>
            <a:r>
              <a:rPr lang="en-US" sz="16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sz="16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blokcheynlarda</a:t>
            </a:r>
            <a:r>
              <a:rPr lang="en-US" sz="16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identifikatsiya</a:t>
            </a:r>
            <a:r>
              <a:rPr lang="en-US" sz="16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qilinish</a:t>
            </a:r>
            <a:r>
              <a:rPr lang="en-US" sz="16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uchun</a:t>
            </a:r>
            <a:r>
              <a:rPr lang="en-US" sz="16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mo'ljallangandir</a:t>
            </a:r>
            <a:r>
              <a:rPr lang="en-US" sz="16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Bu </a:t>
            </a:r>
            <a:r>
              <a:rPr lang="en-US" sz="16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tizim</a:t>
            </a:r>
            <a:r>
              <a:rPr lang="en-US" sz="16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asta</a:t>
            </a:r>
            <a:r>
              <a:rPr lang="en-US" sz="16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sekin</a:t>
            </a:r>
            <a:r>
              <a:rPr lang="en-US" sz="16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6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kritpo</a:t>
            </a:r>
            <a:r>
              <a:rPr lang="en-US" sz="16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tajriba</a:t>
            </a:r>
            <a:r>
              <a:rPr lang="en-US" sz="16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oshib</a:t>
            </a:r>
            <a:r>
              <a:rPr lang="en-US" sz="16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borgan</a:t>
            </a:r>
            <a:r>
              <a:rPr lang="en-US" sz="16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sari </a:t>
            </a:r>
            <a:r>
              <a:rPr lang="en-US" sz="16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bir</a:t>
            </a:r>
            <a:r>
              <a:rPr lang="en-US" sz="16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qancha</a:t>
            </a:r>
            <a:r>
              <a:rPr lang="en-US" sz="16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davlat</a:t>
            </a:r>
            <a:r>
              <a:rPr lang="en-US" sz="16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interaktiv</a:t>
            </a:r>
            <a:r>
              <a:rPr lang="en-US" sz="16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xizmatlarining</a:t>
            </a:r>
            <a:r>
              <a:rPr lang="en-US" sz="16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ham </a:t>
            </a:r>
            <a:r>
              <a:rPr lang="en-US" sz="16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blokcheynga</a:t>
            </a:r>
            <a:r>
              <a:rPr lang="en-US" sz="16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o’tkazilishini</a:t>
            </a:r>
            <a:r>
              <a:rPr lang="en-US" sz="16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ta'minlashi</a:t>
            </a:r>
            <a:r>
              <a:rPr lang="en-US" sz="16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mumkin</a:t>
            </a:r>
            <a:r>
              <a:rPr lang="en-US" sz="16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6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070" y="3760662"/>
            <a:ext cx="8473862" cy="2918075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386187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ippl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59229" y="231015"/>
            <a:ext cx="8403771" cy="63248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54000" algn="just">
              <a:lnSpc>
                <a:spcPct val="150000"/>
              </a:lnSpc>
              <a:spcAft>
                <a:spcPts val="0"/>
              </a:spcAft>
            </a:pP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Respublikamizda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kriptovalyuta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bo’yicha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malakali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mutaxassislarning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juda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kamligi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bu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sohadagi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tajriba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ozligini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hisobga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olgan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holda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bu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yo'nalishda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malakali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mutaxassislar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tayyorlashni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ham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amalga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oshirish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hozirgi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kunning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dolzarb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masalasi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hisoblanadi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(</a:t>
            </a:r>
            <a:r>
              <a:rPr lang="en-US" i="1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bu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i="1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taklif</a:t>
            </a:r>
            <a:r>
              <a:rPr lang="en-US" i="1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i="1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oliy</a:t>
            </a:r>
            <a:r>
              <a:rPr lang="en-US" i="1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i="1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i="1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i="1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o’rta</a:t>
            </a:r>
            <a:r>
              <a:rPr lang="en-US" i="1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i="1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maxsus</a:t>
            </a:r>
            <a:r>
              <a:rPr lang="en-US" i="1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i="1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ta’lim</a:t>
            </a:r>
            <a:r>
              <a:rPr lang="en-US" i="1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i="1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vazirligiga</a:t>
            </a:r>
            <a:r>
              <a:rPr lang="en-US" i="1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i="1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iqtisodiyot</a:t>
            </a:r>
            <a:r>
              <a:rPr lang="en-US" i="1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i="1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universitetiga</a:t>
            </a:r>
            <a:r>
              <a:rPr lang="en-US" i="1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i="1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i="1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i="1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moliya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i="1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institutiga</a:t>
            </a:r>
            <a:r>
              <a:rPr lang="en-US" i="1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i="1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hamda</a:t>
            </a:r>
            <a:r>
              <a:rPr lang="en-US" i="1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bank-</a:t>
            </a:r>
            <a:r>
              <a:rPr lang="en-US" i="1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moliya</a:t>
            </a:r>
            <a:r>
              <a:rPr lang="en-US" i="1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i="1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akademiyasiga</a:t>
            </a:r>
            <a:r>
              <a:rPr lang="en-US" i="1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i="1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tegishlidir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).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Lekin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blokcheyn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texnologiyalarni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hayotga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tadbiq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qilish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o'zbek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kriptovalyutasini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chiqarish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innovatsion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g’oyasini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qadam-ba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qadam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amalga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oshirish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hozirdanoq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boshlab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yo'lga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qo’yilishi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kerak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bo'lgan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masaladir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Chunki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dunyodagi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ko'pchilik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rivojlangan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mamlakatlar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o’zlarining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milliy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yoki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korporativ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kriptovalyuta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loyihalarini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amalga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oshirmoqdalar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ular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keyinchalik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barcha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raqamli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kriptopullarga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egalik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qilib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boshqa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mamlakatlarni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bu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jarayondan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siqib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chiqarishga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harakat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qiladilar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Davlatning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monetary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siyosatidagi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eng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muhim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amallardan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biri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pul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emissiyasini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nazorat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qilish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bo’lgani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uchun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yaqin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kelajakda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jahon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miqyosida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ishga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tushib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ketishi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kutilayotgan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kriptovalyutalar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tizimidan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voz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kechish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mamlakatdagi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moliya-kredit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tizimini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uning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jahon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moliya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kredit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tizimi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bilan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aloqalarini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sezilarli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ravishda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chegaralashga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uni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izdan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chiqishiga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olib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kelishi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mumkin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pSp>
        <p:nvGrpSpPr>
          <p:cNvPr id="4" name="Группа 3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5" name="Блок-схема: процесс 4"/>
            <p:cNvSpPr/>
            <p:nvPr/>
          </p:nvSpPr>
          <p:spPr>
            <a:xfrm>
              <a:off x="0" y="0"/>
              <a:ext cx="76199" cy="6858000"/>
            </a:xfrm>
            <a:prstGeom prst="flowChartProcess">
              <a:avLst/>
            </a:prstGeom>
            <a:solidFill>
              <a:srgbClr val="00B0F0"/>
            </a:solidFill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Блок-схема: процесс 5"/>
            <p:cNvSpPr/>
            <p:nvPr/>
          </p:nvSpPr>
          <p:spPr>
            <a:xfrm>
              <a:off x="76199" y="1"/>
              <a:ext cx="9035143" cy="76200"/>
            </a:xfrm>
            <a:prstGeom prst="flowChartProcess">
              <a:avLst/>
            </a:prstGeom>
            <a:solidFill>
              <a:srgbClr val="00B0F0"/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Блок-схема: процесс 6"/>
            <p:cNvSpPr/>
            <p:nvPr/>
          </p:nvSpPr>
          <p:spPr>
            <a:xfrm>
              <a:off x="65313" y="6781800"/>
              <a:ext cx="9067801" cy="76200"/>
            </a:xfrm>
            <a:prstGeom prst="flowChartProcess">
              <a:avLst/>
            </a:prstGeom>
            <a:solidFill>
              <a:srgbClr val="00B0F0"/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Блок-схема: процесс 7"/>
            <p:cNvSpPr/>
            <p:nvPr/>
          </p:nvSpPr>
          <p:spPr>
            <a:xfrm>
              <a:off x="9067801" y="0"/>
              <a:ext cx="76199" cy="6858000"/>
            </a:xfrm>
            <a:prstGeom prst="flowChartProcess">
              <a:avLst/>
            </a:prstGeom>
            <a:solidFill>
              <a:srgbClr val="00B0F0"/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1163841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ippl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53143" y="570476"/>
            <a:ext cx="7805057" cy="38318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42900" algn="just">
              <a:lnSpc>
                <a:spcPct val="150000"/>
              </a:lnSpc>
              <a:spcAft>
                <a:spcPts val="0"/>
              </a:spcAft>
            </a:pP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Respublikaga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innovatsion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iqtisodiyotni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tezkorlik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bilan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rivojlantirish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hamda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turli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xildagi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innovatsion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loyihalarni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moliyalashtirish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uchun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i="1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ICO </a:t>
            </a:r>
            <a:r>
              <a:rPr lang="en-US" i="1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(Initial Coin Offering)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mexanizmini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qonuniylashtirish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joriy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qilish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maqsadga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muvofiq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bo’lar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edi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Bunda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O’zbekistonda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ishlab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chiqariladigan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mahsulotlar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xizmatlar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bilan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ta’minlangan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tokenlar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chiqarish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ularni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ichki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hamda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tashqi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bozorda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realizatsiya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qilib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yig’ilgan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mablag’lar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tegishli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loyihalarni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moliyalashtirish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uchun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ishlatilar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edi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Loyiha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amalga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oshirilib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bo’lganidan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so’ng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tokenlar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ko’rinishidagi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kriptovalyutalar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egalariga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ularning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tokenlari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miqdoriga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teng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bo’lgan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tegishli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mahsulotlar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yetkazilib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beriladi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yoki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ular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uchun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tegishli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xizmatlar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amalga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oshiriladi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pSp>
        <p:nvGrpSpPr>
          <p:cNvPr id="4" name="Группа 3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5" name="Блок-схема: процесс 4"/>
            <p:cNvSpPr/>
            <p:nvPr/>
          </p:nvSpPr>
          <p:spPr>
            <a:xfrm>
              <a:off x="0" y="0"/>
              <a:ext cx="76199" cy="6858000"/>
            </a:xfrm>
            <a:prstGeom prst="flowChartProcess">
              <a:avLst/>
            </a:prstGeom>
            <a:solidFill>
              <a:srgbClr val="00B0F0"/>
            </a:solidFill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Блок-схема: процесс 5"/>
            <p:cNvSpPr/>
            <p:nvPr/>
          </p:nvSpPr>
          <p:spPr>
            <a:xfrm>
              <a:off x="76199" y="1"/>
              <a:ext cx="9035143" cy="76200"/>
            </a:xfrm>
            <a:prstGeom prst="flowChartProcess">
              <a:avLst/>
            </a:prstGeom>
            <a:solidFill>
              <a:srgbClr val="00B0F0"/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Блок-схема: процесс 6"/>
            <p:cNvSpPr/>
            <p:nvPr/>
          </p:nvSpPr>
          <p:spPr>
            <a:xfrm>
              <a:off x="65313" y="6781800"/>
              <a:ext cx="9067801" cy="76200"/>
            </a:xfrm>
            <a:prstGeom prst="flowChartProcess">
              <a:avLst/>
            </a:prstGeom>
            <a:solidFill>
              <a:srgbClr val="00B0F0"/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Блок-схема: процесс 7"/>
            <p:cNvSpPr/>
            <p:nvPr/>
          </p:nvSpPr>
          <p:spPr>
            <a:xfrm>
              <a:off x="9067801" y="0"/>
              <a:ext cx="76199" cy="6858000"/>
            </a:xfrm>
            <a:prstGeom prst="flowChartProcess">
              <a:avLst/>
            </a:prstGeom>
            <a:solidFill>
              <a:srgbClr val="00B0F0"/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1342317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ippl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36988" y="4471242"/>
            <a:ext cx="7903029" cy="4580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42900" algn="just">
              <a:lnSpc>
                <a:spcPct val="150000"/>
              </a:lnSpc>
              <a:spcAft>
                <a:spcPts val="0"/>
              </a:spcAft>
            </a:pPr>
            <a:endParaRPr lang="ru-RU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pSp>
        <p:nvGrpSpPr>
          <p:cNvPr id="4" name="Группа 3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5" name="Блок-схема: процесс 4"/>
            <p:cNvSpPr/>
            <p:nvPr/>
          </p:nvSpPr>
          <p:spPr>
            <a:xfrm>
              <a:off x="0" y="0"/>
              <a:ext cx="76199" cy="6858000"/>
            </a:xfrm>
            <a:prstGeom prst="flowChartProcess">
              <a:avLst/>
            </a:prstGeom>
            <a:solidFill>
              <a:srgbClr val="00B0F0"/>
            </a:solidFill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Блок-схема: процесс 5"/>
            <p:cNvSpPr/>
            <p:nvPr/>
          </p:nvSpPr>
          <p:spPr>
            <a:xfrm>
              <a:off x="76199" y="1"/>
              <a:ext cx="9035143" cy="76200"/>
            </a:xfrm>
            <a:prstGeom prst="flowChartProcess">
              <a:avLst/>
            </a:prstGeom>
            <a:solidFill>
              <a:srgbClr val="00B0F0"/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Блок-схема: процесс 6"/>
            <p:cNvSpPr/>
            <p:nvPr/>
          </p:nvSpPr>
          <p:spPr>
            <a:xfrm>
              <a:off x="65313" y="6781800"/>
              <a:ext cx="9067801" cy="76200"/>
            </a:xfrm>
            <a:prstGeom prst="flowChartProcess">
              <a:avLst/>
            </a:prstGeom>
            <a:solidFill>
              <a:srgbClr val="00B0F0"/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Блок-схема: процесс 7"/>
            <p:cNvSpPr/>
            <p:nvPr/>
          </p:nvSpPr>
          <p:spPr>
            <a:xfrm>
              <a:off x="9067801" y="0"/>
              <a:ext cx="76199" cy="6858000"/>
            </a:xfrm>
            <a:prstGeom prst="flowChartProcess">
              <a:avLst/>
            </a:prstGeom>
            <a:solidFill>
              <a:srgbClr val="00B0F0"/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20" name="Picture 7" descr="mockup_0018_iMac-_FRONT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101" y="76201"/>
            <a:ext cx="8909041" cy="7130142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2" name="Прямоугольник 21"/>
          <p:cNvSpPr/>
          <p:nvPr/>
        </p:nvSpPr>
        <p:spPr>
          <a:xfrm>
            <a:off x="676531" y="783772"/>
            <a:ext cx="3542600" cy="2677656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indent="342900" algn="just">
              <a:lnSpc>
                <a:spcPct val="150000"/>
              </a:lnSpc>
              <a:spcAft>
                <a:spcPts val="0"/>
              </a:spcAft>
            </a:pP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Masalan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ICO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vositasida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chiqarilgan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UzCotton</a:t>
            </a: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kriptovalyutasining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har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biri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bir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kilogram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yoki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bir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tonna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paxtaga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ekvivalent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bo’lishi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mumkin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Demak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uni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sotib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olganlarga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hosil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yig’ib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oligandan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so’ng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ularning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tokenlari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miqdoriga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teng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bo’lgan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paxta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yoki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tola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yetkazib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beriladi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54" b="7125"/>
          <a:stretch/>
        </p:blipFill>
        <p:spPr>
          <a:xfrm>
            <a:off x="4484914" y="783772"/>
            <a:ext cx="3886200" cy="267765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40525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ippl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36988" y="4471242"/>
            <a:ext cx="7903029" cy="4580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42900" algn="just">
              <a:lnSpc>
                <a:spcPct val="150000"/>
              </a:lnSpc>
              <a:spcAft>
                <a:spcPts val="0"/>
              </a:spcAft>
            </a:pPr>
            <a:endParaRPr lang="ru-RU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pSp>
        <p:nvGrpSpPr>
          <p:cNvPr id="4" name="Группа 3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5" name="Блок-схема: процесс 4"/>
            <p:cNvSpPr/>
            <p:nvPr/>
          </p:nvSpPr>
          <p:spPr>
            <a:xfrm>
              <a:off x="0" y="0"/>
              <a:ext cx="76199" cy="6858000"/>
            </a:xfrm>
            <a:prstGeom prst="flowChartProcess">
              <a:avLst/>
            </a:prstGeom>
            <a:solidFill>
              <a:srgbClr val="00B0F0"/>
            </a:solidFill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Блок-схема: процесс 5"/>
            <p:cNvSpPr/>
            <p:nvPr/>
          </p:nvSpPr>
          <p:spPr>
            <a:xfrm>
              <a:off x="76199" y="1"/>
              <a:ext cx="9035143" cy="76200"/>
            </a:xfrm>
            <a:prstGeom prst="flowChartProcess">
              <a:avLst/>
            </a:prstGeom>
            <a:solidFill>
              <a:srgbClr val="00B0F0"/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Блок-схема: процесс 6"/>
            <p:cNvSpPr/>
            <p:nvPr/>
          </p:nvSpPr>
          <p:spPr>
            <a:xfrm>
              <a:off x="65313" y="6781800"/>
              <a:ext cx="9067801" cy="76200"/>
            </a:xfrm>
            <a:prstGeom prst="flowChartProcess">
              <a:avLst/>
            </a:prstGeom>
            <a:solidFill>
              <a:srgbClr val="00B0F0"/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Блок-схема: процесс 7"/>
            <p:cNvSpPr/>
            <p:nvPr/>
          </p:nvSpPr>
          <p:spPr>
            <a:xfrm>
              <a:off x="9067801" y="0"/>
              <a:ext cx="76199" cy="6858000"/>
            </a:xfrm>
            <a:prstGeom prst="flowChartProcess">
              <a:avLst/>
            </a:prstGeom>
            <a:solidFill>
              <a:srgbClr val="00B0F0"/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20" name="Picture 7" descr="mockup_0018_iMac-_FRONT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101" y="76201"/>
            <a:ext cx="8909041" cy="7130142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2" name="Прямоугольник 21"/>
          <p:cNvSpPr/>
          <p:nvPr/>
        </p:nvSpPr>
        <p:spPr>
          <a:xfrm>
            <a:off x="670172" y="862645"/>
            <a:ext cx="3632875" cy="2677656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indent="342900" algn="just">
              <a:lnSpc>
                <a:spcPct val="150000"/>
              </a:lnSpc>
            </a:pPr>
            <a:r>
              <a:rPr lang="en-US" sz="1600" b="1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UzGold</a:t>
            </a:r>
            <a:r>
              <a:rPr lang="en-US" sz="16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kriptovalyutasining</a:t>
            </a:r>
            <a:r>
              <a:rPr lang="en-US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bittasi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bir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gramm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oltinga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ekvivalent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bo’ladi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demak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loyiha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amalga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oshganidan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so’ng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bunday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tokenlar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evaziga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tokenlar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egalari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jahon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birjasidagi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narxlar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bo’yicha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O’zbekiston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Respublakasida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zarb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qilingan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oltin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tanga</a:t>
            </a:r>
            <a:r>
              <a:rPr lang="en-US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78" b="24920"/>
          <a:stretch/>
        </p:blipFill>
        <p:spPr>
          <a:xfrm>
            <a:off x="4593770" y="867345"/>
            <a:ext cx="3893895" cy="267765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08090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ippl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36988" y="4471242"/>
            <a:ext cx="7903029" cy="4580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42900" algn="just">
              <a:lnSpc>
                <a:spcPct val="150000"/>
              </a:lnSpc>
              <a:spcAft>
                <a:spcPts val="0"/>
              </a:spcAft>
            </a:pPr>
            <a:endParaRPr lang="ru-RU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pSp>
        <p:nvGrpSpPr>
          <p:cNvPr id="4" name="Группа 3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5" name="Блок-схема: процесс 4"/>
            <p:cNvSpPr/>
            <p:nvPr/>
          </p:nvSpPr>
          <p:spPr>
            <a:xfrm>
              <a:off x="0" y="0"/>
              <a:ext cx="76199" cy="6858000"/>
            </a:xfrm>
            <a:prstGeom prst="flowChartProcess">
              <a:avLst/>
            </a:prstGeom>
            <a:solidFill>
              <a:srgbClr val="00B0F0"/>
            </a:solidFill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Блок-схема: процесс 5"/>
            <p:cNvSpPr/>
            <p:nvPr/>
          </p:nvSpPr>
          <p:spPr>
            <a:xfrm>
              <a:off x="76199" y="1"/>
              <a:ext cx="9035143" cy="76200"/>
            </a:xfrm>
            <a:prstGeom prst="flowChartProcess">
              <a:avLst/>
            </a:prstGeom>
            <a:solidFill>
              <a:srgbClr val="00B0F0"/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Блок-схема: процесс 6"/>
            <p:cNvSpPr/>
            <p:nvPr/>
          </p:nvSpPr>
          <p:spPr>
            <a:xfrm>
              <a:off x="65313" y="6781800"/>
              <a:ext cx="9067801" cy="76200"/>
            </a:xfrm>
            <a:prstGeom prst="flowChartProcess">
              <a:avLst/>
            </a:prstGeom>
            <a:solidFill>
              <a:srgbClr val="00B0F0"/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Блок-схема: процесс 7"/>
            <p:cNvSpPr/>
            <p:nvPr/>
          </p:nvSpPr>
          <p:spPr>
            <a:xfrm>
              <a:off x="9067801" y="0"/>
              <a:ext cx="76199" cy="6858000"/>
            </a:xfrm>
            <a:prstGeom prst="flowChartProcess">
              <a:avLst/>
            </a:prstGeom>
            <a:solidFill>
              <a:srgbClr val="00B0F0"/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20" name="Picture 7" descr="mockup_0018_iMac-_FRONT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101" y="76201"/>
            <a:ext cx="8909041" cy="7151913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2" name="Прямоугольник 21"/>
          <p:cNvSpPr/>
          <p:nvPr/>
        </p:nvSpPr>
        <p:spPr>
          <a:xfrm>
            <a:off x="809428" y="569892"/>
            <a:ext cx="3426947" cy="3439403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indent="342900" algn="just">
              <a:lnSpc>
                <a:spcPct val="150000"/>
              </a:lnSpc>
              <a:spcAft>
                <a:spcPts val="0"/>
              </a:spcAft>
            </a:pPr>
            <a:r>
              <a:rPr lang="en-US" sz="14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Agar </a:t>
            </a:r>
            <a:r>
              <a:rPr lang="en-US" sz="14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innovatsion</a:t>
            </a:r>
            <a:r>
              <a:rPr lang="en-US" sz="14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loyiha</a:t>
            </a:r>
            <a:r>
              <a:rPr lang="en-US" sz="14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quyosh</a:t>
            </a:r>
            <a:r>
              <a:rPr lang="en-US" sz="14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yoki</a:t>
            </a:r>
            <a:r>
              <a:rPr lang="en-US" sz="14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shamol</a:t>
            </a:r>
            <a:r>
              <a:rPr lang="en-US" sz="14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elektrostantsiyasi</a:t>
            </a:r>
            <a:r>
              <a:rPr lang="en-US" sz="14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qurish</a:t>
            </a:r>
            <a:r>
              <a:rPr lang="en-US" sz="14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bo’lsa</a:t>
            </a:r>
            <a:r>
              <a:rPr lang="en-US" sz="14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bitta</a:t>
            </a:r>
            <a:r>
              <a:rPr lang="en-US" sz="14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5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UzEnergo</a:t>
            </a:r>
            <a:r>
              <a:rPr lang="en-US" sz="145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kriptovalyutasi</a:t>
            </a:r>
            <a:r>
              <a:rPr lang="en-US" sz="14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sz="14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kilovatt</a:t>
            </a:r>
            <a:r>
              <a:rPr lang="en-US" sz="14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energiyaga</a:t>
            </a:r>
            <a:r>
              <a:rPr lang="en-US" sz="14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teng</a:t>
            </a:r>
            <a:r>
              <a:rPr lang="en-US" sz="14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bo’ladi</a:t>
            </a:r>
            <a:r>
              <a:rPr lang="en-US" sz="14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4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Yig’ilgan</a:t>
            </a:r>
            <a:r>
              <a:rPr lang="en-US" sz="14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pulga</a:t>
            </a:r>
            <a:r>
              <a:rPr lang="en-US" sz="14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qurilgan</a:t>
            </a:r>
            <a:r>
              <a:rPr lang="en-US" sz="14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quyosh</a:t>
            </a:r>
            <a:r>
              <a:rPr lang="en-US" sz="14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elektrostantsiyasi</a:t>
            </a:r>
            <a:r>
              <a:rPr lang="en-US" sz="14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ishga</a:t>
            </a:r>
            <a:r>
              <a:rPr lang="en-US" sz="14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tushirilganidan</a:t>
            </a:r>
            <a:r>
              <a:rPr lang="en-US" sz="14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so’ng</a:t>
            </a:r>
            <a:r>
              <a:rPr lang="en-US" sz="14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kriptovalyutani</a:t>
            </a:r>
            <a:r>
              <a:rPr lang="en-US" sz="14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sotib</a:t>
            </a:r>
            <a:r>
              <a:rPr lang="en-US" sz="14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olgan</a:t>
            </a:r>
            <a:r>
              <a:rPr lang="en-US" sz="14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insonlar</a:t>
            </a:r>
            <a:r>
              <a:rPr lang="en-US" sz="14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yoki</a:t>
            </a:r>
            <a:r>
              <a:rPr lang="en-US" sz="14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tashkilotlar</a:t>
            </a:r>
            <a:r>
              <a:rPr lang="en-US" sz="14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oldingi</a:t>
            </a:r>
            <a:r>
              <a:rPr lang="en-US" sz="14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pastroq</a:t>
            </a:r>
            <a:r>
              <a:rPr lang="en-US" sz="14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bo’lgan</a:t>
            </a:r>
            <a:r>
              <a:rPr lang="en-US" sz="14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narxlarda</a:t>
            </a:r>
            <a:r>
              <a:rPr lang="en-US" sz="14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tokenlariga</a:t>
            </a:r>
            <a:r>
              <a:rPr lang="en-US" sz="14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mos</a:t>
            </a:r>
            <a:r>
              <a:rPr lang="en-US" sz="14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bo’lgan</a:t>
            </a:r>
            <a:r>
              <a:rPr lang="en-US" sz="14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elektroenergiyadan</a:t>
            </a:r>
            <a:r>
              <a:rPr lang="en-US" sz="14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foydalanishi</a:t>
            </a:r>
            <a:r>
              <a:rPr lang="en-US" sz="14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lang="en-US" sz="14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bo’ladi</a:t>
            </a:r>
            <a:r>
              <a:rPr lang="en-US" sz="14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45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0621" y="601637"/>
            <a:ext cx="3582469" cy="340765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79816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ippl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36988" y="4471242"/>
            <a:ext cx="7903029" cy="4580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42900" algn="just">
              <a:lnSpc>
                <a:spcPct val="150000"/>
              </a:lnSpc>
              <a:spcAft>
                <a:spcPts val="0"/>
              </a:spcAft>
            </a:pPr>
            <a:endParaRPr lang="ru-RU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pSp>
        <p:nvGrpSpPr>
          <p:cNvPr id="4" name="Группа 3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5" name="Блок-схема: процесс 4"/>
            <p:cNvSpPr/>
            <p:nvPr/>
          </p:nvSpPr>
          <p:spPr>
            <a:xfrm>
              <a:off x="0" y="0"/>
              <a:ext cx="76199" cy="6858000"/>
            </a:xfrm>
            <a:prstGeom prst="flowChartProcess">
              <a:avLst/>
            </a:prstGeom>
            <a:solidFill>
              <a:srgbClr val="00B0F0"/>
            </a:solidFill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Блок-схема: процесс 5"/>
            <p:cNvSpPr/>
            <p:nvPr/>
          </p:nvSpPr>
          <p:spPr>
            <a:xfrm>
              <a:off x="76199" y="1"/>
              <a:ext cx="9035143" cy="76200"/>
            </a:xfrm>
            <a:prstGeom prst="flowChartProcess">
              <a:avLst/>
            </a:prstGeom>
            <a:solidFill>
              <a:srgbClr val="00B0F0"/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Блок-схема: процесс 6"/>
            <p:cNvSpPr/>
            <p:nvPr/>
          </p:nvSpPr>
          <p:spPr>
            <a:xfrm>
              <a:off x="65313" y="6781800"/>
              <a:ext cx="9067801" cy="76200"/>
            </a:xfrm>
            <a:prstGeom prst="flowChartProcess">
              <a:avLst/>
            </a:prstGeom>
            <a:solidFill>
              <a:srgbClr val="00B0F0"/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Блок-схема: процесс 7"/>
            <p:cNvSpPr/>
            <p:nvPr/>
          </p:nvSpPr>
          <p:spPr>
            <a:xfrm>
              <a:off x="9067801" y="0"/>
              <a:ext cx="76199" cy="6858000"/>
            </a:xfrm>
            <a:prstGeom prst="flowChartProcess">
              <a:avLst/>
            </a:prstGeom>
            <a:solidFill>
              <a:srgbClr val="00B0F0"/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20" name="Picture 7" descr="mockup_0018_iMac-_FRONT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101" y="76201"/>
            <a:ext cx="8909041" cy="7141028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2" name="Прямоугольник 21"/>
          <p:cNvSpPr/>
          <p:nvPr/>
        </p:nvSpPr>
        <p:spPr>
          <a:xfrm>
            <a:off x="801362" y="611728"/>
            <a:ext cx="3662342" cy="3323987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</a:t>
            </a:r>
            <a:r>
              <a:rPr lang="en-US" sz="1400" b="1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UzKvartira</a:t>
            </a:r>
            <a:r>
              <a:rPr lang="en-US" sz="14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deb </a:t>
            </a:r>
            <a:r>
              <a:rPr lang="en-US"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atalgan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tokenlarning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har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biri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bir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kvadrat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metr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uy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-joy </a:t>
            </a:r>
            <a:r>
              <a:rPr lang="en-US"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maydoniga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teng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deb </a:t>
            </a:r>
            <a:r>
              <a:rPr lang="en-US"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chiqarilgan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bo’lsa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u </a:t>
            </a:r>
            <a:r>
              <a:rPr lang="en-US"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xolda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tokenlarning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egalari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loyiha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amalga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oshganidan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so’ng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ushbu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tokenlar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miqdoriga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teng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bo’lgan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uy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-joy </a:t>
            </a:r>
            <a:r>
              <a:rPr lang="en-US"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maydoniga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egalik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qila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oladilar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Ya’ni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ularning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jalb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qilingan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pullariga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US" sz="14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token </a:t>
            </a:r>
            <a:r>
              <a:rPr lang="en-US" sz="1400" i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sotishdan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i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yig’ilgan</a:t>
            </a:r>
            <a:r>
              <a:rPr lang="en-US" sz="14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i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pullarga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  <a:r>
              <a:rPr lang="en-US"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uy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quriladi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keyin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uydagi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kvartiralar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tokenlar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egalariga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tokenlarga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mos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ravishda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taqsimlanadilar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73" b="5785"/>
          <a:stretch/>
        </p:blipFill>
        <p:spPr>
          <a:xfrm>
            <a:off x="4670878" y="611728"/>
            <a:ext cx="3687522" cy="332398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19379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ippl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859970" y="911616"/>
            <a:ext cx="7456715" cy="46628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Yuqoridagilardan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kelib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chiqqan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holda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ko’pchilik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insonlar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uy-joyli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bo’lish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uchun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banklardan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yuqori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foizli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ipoteka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kreditini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olish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o’rniga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hech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qanday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kredit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mablag’lari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jalb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qilmasdan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turib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uy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qurayotgan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kompaniyadan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kriptotangalar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sotib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oladilar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birozdan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so’ng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uy-joyli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bo’ladilar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Agar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ularga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uy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kerak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bo’lmasa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kriptotangalarni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uy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olish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uchun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kvadrati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yetishmayotgan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insonlarga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ikkilamchi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bozorda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sotishlari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ham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mumkin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Bu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kriptovalyutalardan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foydalanishning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spekulyativ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usuli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deb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ataladi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Yuqorida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tavsif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etilgan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g’oyalarni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amalga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oshirish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jamiyatimizda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raqamli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iqtisodiyot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sohasida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o’ziga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hos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ilmiy-texnologik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inqilob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yaratar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edi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pirovard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natijada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mamlakatimiz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tez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sur’atlarda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innovatsion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rivojlanish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yo’liga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o’tib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rivojlangan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mamlakatlar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qatoridan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munosub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o’rin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egallay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olar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edi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Группа 3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5" name="Блок-схема: процесс 4"/>
            <p:cNvSpPr/>
            <p:nvPr/>
          </p:nvSpPr>
          <p:spPr>
            <a:xfrm>
              <a:off x="0" y="0"/>
              <a:ext cx="76199" cy="6858000"/>
            </a:xfrm>
            <a:prstGeom prst="flowChartProcess">
              <a:avLst/>
            </a:prstGeom>
            <a:solidFill>
              <a:srgbClr val="00B0F0"/>
            </a:solidFill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Блок-схема: процесс 5"/>
            <p:cNvSpPr/>
            <p:nvPr/>
          </p:nvSpPr>
          <p:spPr>
            <a:xfrm>
              <a:off x="76199" y="1"/>
              <a:ext cx="9035143" cy="76200"/>
            </a:xfrm>
            <a:prstGeom prst="flowChartProcess">
              <a:avLst/>
            </a:prstGeom>
            <a:solidFill>
              <a:srgbClr val="00B0F0"/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Блок-схема: процесс 6"/>
            <p:cNvSpPr/>
            <p:nvPr/>
          </p:nvSpPr>
          <p:spPr>
            <a:xfrm>
              <a:off x="65313" y="6781800"/>
              <a:ext cx="9067801" cy="76200"/>
            </a:xfrm>
            <a:prstGeom prst="flowChartProcess">
              <a:avLst/>
            </a:prstGeom>
            <a:solidFill>
              <a:srgbClr val="00B0F0"/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Блок-схема: процесс 7"/>
            <p:cNvSpPr/>
            <p:nvPr/>
          </p:nvSpPr>
          <p:spPr>
            <a:xfrm>
              <a:off x="9067801" y="0"/>
              <a:ext cx="76199" cy="6858000"/>
            </a:xfrm>
            <a:prstGeom prst="flowChartProcess">
              <a:avLst/>
            </a:prstGeom>
            <a:solidFill>
              <a:srgbClr val="00B0F0"/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66038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ippl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462642" y="452765"/>
            <a:ext cx="8262256" cy="5386090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1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Xulosa</a:t>
            </a:r>
            <a:r>
              <a:rPr lang="en-US" b="1" kern="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000" b="1" kern="0" dirty="0">
              <a:solidFill>
                <a:srgbClr val="2E74B5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49580" algn="just">
              <a:lnSpc>
                <a:spcPct val="150000"/>
              </a:lnSpc>
              <a:spcAft>
                <a:spcPts val="800"/>
              </a:spcAft>
            </a:pPr>
            <a:r>
              <a:rPr lang="uz-Cyrl-UZ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Ilmiy tadqiqot ishining vazifalaridan kelib chiqib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mazkur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bobda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turli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ko’rinishdagi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kriptovalyutalar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ularning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yaratilish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asoslari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tadqiq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qilindi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Ulardan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kelib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chiqib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milliy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kriptovalyuta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yaratish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masalasi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ya’ni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dastlab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kriptovalyuta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tokenlarini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yaratish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hamda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ICO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texnologiyasi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yordamida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birlamchi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joylashtirish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masalalari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tadqiq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qilindi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lang="ru-RU" sz="1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49580" algn="just">
              <a:lnSpc>
                <a:spcPct val="150000"/>
              </a:lnSpc>
              <a:spcAft>
                <a:spcPts val="800"/>
              </a:spcAft>
            </a:pPr>
            <a:r>
              <a:rPr lang="en-US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Tadqiqot</a:t>
            </a:r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natijasida</a:t>
            </a:r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shuni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ko’rishimiz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mumkinki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milliy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kriptovalyuta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yaratish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bilan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uning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realizatsiyasi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ham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hal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bo’lib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qolmaydi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amalyotga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tadbiq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qilishda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davlat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miqyosida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bir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qancha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muommolarni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hal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qilishga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to’g’ri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keladi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1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49580" algn="just">
              <a:lnSpc>
                <a:spcPct val="150000"/>
              </a:lnSpc>
              <a:spcAft>
                <a:spcPts val="800"/>
              </a:spcAft>
            </a:pP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Mazkur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tadqiqot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ishining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keyingi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bobida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quyidagi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masalalar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yuzasidan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tadqiqot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ishi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olib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boriladi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ru-RU" sz="1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Times New Roman" panose="02020603050405020304" pitchFamily="18" charset="0"/>
              <a:buChar char="-"/>
            </a:pP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Blokcheyn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texnologiyasi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yordamida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axborotni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himoyalash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samaradorligini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oshirish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1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spcAft>
                <a:spcPts val="800"/>
              </a:spcAft>
              <a:buFont typeface="Times New Roman" panose="02020603050405020304" pitchFamily="18" charset="0"/>
              <a:buChar char="-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Blokcheyn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texnologiyasini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axborot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xavfsizligiga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qo’llanilishi</a:t>
            </a:r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3" name="Группа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4" name="Блок-схема: процесс 3"/>
            <p:cNvSpPr/>
            <p:nvPr/>
          </p:nvSpPr>
          <p:spPr>
            <a:xfrm>
              <a:off x="0" y="0"/>
              <a:ext cx="76199" cy="6858000"/>
            </a:xfrm>
            <a:prstGeom prst="flowChartProcess">
              <a:avLst/>
            </a:prstGeom>
            <a:solidFill>
              <a:srgbClr val="00B0F0"/>
            </a:solidFill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" name="Блок-схема: процесс 4"/>
            <p:cNvSpPr/>
            <p:nvPr/>
          </p:nvSpPr>
          <p:spPr>
            <a:xfrm>
              <a:off x="76199" y="1"/>
              <a:ext cx="9035143" cy="76200"/>
            </a:xfrm>
            <a:prstGeom prst="flowChartProcess">
              <a:avLst/>
            </a:prstGeom>
            <a:solidFill>
              <a:srgbClr val="00B0F0"/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Блок-схема: процесс 5"/>
            <p:cNvSpPr/>
            <p:nvPr/>
          </p:nvSpPr>
          <p:spPr>
            <a:xfrm>
              <a:off x="65313" y="6781800"/>
              <a:ext cx="9067801" cy="76200"/>
            </a:xfrm>
            <a:prstGeom prst="flowChartProcess">
              <a:avLst/>
            </a:prstGeom>
            <a:solidFill>
              <a:srgbClr val="00B0F0"/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Блок-схема: процесс 6"/>
            <p:cNvSpPr/>
            <p:nvPr/>
          </p:nvSpPr>
          <p:spPr>
            <a:xfrm>
              <a:off x="9067801" y="0"/>
              <a:ext cx="76199" cy="6858000"/>
            </a:xfrm>
            <a:prstGeom prst="flowChartProcess">
              <a:avLst/>
            </a:prstGeom>
            <a:solidFill>
              <a:srgbClr val="00B0F0"/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3348999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ippl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Ретро">
  <a:themeElements>
    <a:clrScheme name="Ретро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Верхняя тень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3.xml><?xml version="1.0" encoding="utf-8"?>
<a:theme xmlns:a="http://schemas.openxmlformats.org/drawingml/2006/main" name="1_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Сектор">
  <a:themeElements>
    <a:clrScheme name="Другая 2">
      <a:dk1>
        <a:srgbClr val="000000"/>
      </a:dk1>
      <a:lt1>
        <a:srgbClr val="000000"/>
      </a:lt1>
      <a:dk2>
        <a:srgbClr val="76DBF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Сектор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Сектор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3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2700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5.xml><?xml version="1.0" encoding="utf-8"?>
<a:theme xmlns:a="http://schemas.openxmlformats.org/drawingml/2006/main" name="1_Ретро">
  <a:themeElements>
    <a:clrScheme name="Ретро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6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1208</TotalTime>
  <Words>1953</Words>
  <Application>Microsoft Office PowerPoint</Application>
  <PresentationFormat>Экран (4:3)</PresentationFormat>
  <Paragraphs>133</Paragraphs>
  <Slides>30</Slides>
  <Notes>1</Notes>
  <HiddenSlides>5</HiddenSlides>
  <MMClips>0</MMClips>
  <ScaleCrop>false</ScaleCrop>
  <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5</vt:i4>
      </vt:variant>
      <vt:variant>
        <vt:lpstr>Заголовки слайдов</vt:lpstr>
      </vt:variant>
      <vt:variant>
        <vt:i4>30</vt:i4>
      </vt:variant>
    </vt:vector>
  </HeadingPairs>
  <TitlesOfParts>
    <vt:vector size="45" baseType="lpstr">
      <vt:lpstr>ＭＳ Ｐゴシック</vt:lpstr>
      <vt:lpstr>宋体</vt:lpstr>
      <vt:lpstr>Agency FB</vt:lpstr>
      <vt:lpstr>Arial</vt:lpstr>
      <vt:lpstr>Calibri</vt:lpstr>
      <vt:lpstr>Calibri Light</vt:lpstr>
      <vt:lpstr>Century Gothic</vt:lpstr>
      <vt:lpstr>Gill Sans</vt:lpstr>
      <vt:lpstr>Times New Roman</vt:lpstr>
      <vt:lpstr>Wingdings 3</vt:lpstr>
      <vt:lpstr>Тема Office</vt:lpstr>
      <vt:lpstr>Ретро</vt:lpstr>
      <vt:lpstr>1_Тема Office</vt:lpstr>
      <vt:lpstr>Сектор</vt:lpstr>
      <vt:lpstr>1_Ретро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UNICON</dc:creator>
  <cp:lastModifiedBy>HOST</cp:lastModifiedBy>
  <cp:revision>132</cp:revision>
  <dcterms:created xsi:type="dcterms:W3CDTF">2022-03-08T05:25:19Z</dcterms:created>
  <dcterms:modified xsi:type="dcterms:W3CDTF">2022-06-23T06:03:33Z</dcterms:modified>
</cp:coreProperties>
</file>