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</p:sldMasterIdLst>
  <p:notesMasterIdLst>
    <p:notesMasterId r:id="rId11"/>
  </p:notesMasterIdLst>
  <p:handoutMasterIdLst>
    <p:handoutMasterId r:id="rId12"/>
  </p:handoutMasterIdLst>
  <p:sldIdLst>
    <p:sldId id="256" r:id="rId2"/>
    <p:sldId id="257" r:id="rId3"/>
    <p:sldId id="275" r:id="rId4"/>
    <p:sldId id="283" r:id="rId5"/>
    <p:sldId id="284" r:id="rId6"/>
    <p:sldId id="285" r:id="rId7"/>
    <p:sldId id="287" r:id="rId8"/>
    <p:sldId id="288" r:id="rId9"/>
    <p:sldId id="289" r:id="rId10"/>
  </p:sldIdLst>
  <p:sldSz cx="9144000" cy="6858000" type="screen4x3"/>
  <p:notesSz cx="6742113" cy="9872663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CCFFFF"/>
    <a:srgbClr val="99CCFF"/>
    <a:srgbClr val="EAEAEA"/>
    <a:srgbClr val="6666FF"/>
    <a:srgbClr val="800000"/>
    <a:srgbClr val="CCCC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7292A2E-F333-43FB-9621-5CBBE7FDCDCB}" styleName="Светлый стиль 2 - акцент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4C1A8A3-306A-4EB7-A6B1-4F7E0EB9C5D6}" styleName="Средний стиль 3 - акцент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17" autoAdjust="0"/>
    <p:restoredTop sz="97371" autoAdjust="0"/>
  </p:normalViewPr>
  <p:slideViewPr>
    <p:cSldViewPr>
      <p:cViewPr>
        <p:scale>
          <a:sx n="75" d="100"/>
          <a:sy n="75" d="100"/>
        </p:scale>
        <p:origin x="-396" y="-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-1842" y="-102"/>
      </p:cViewPr>
      <p:guideLst>
        <p:guide orient="horz" pos="3110"/>
        <p:guide pos="2124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10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19525" y="0"/>
            <a:ext cx="29210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C8004B8-BFCC-4873-B9BF-D00CD62BEE78}" type="datetimeFigureOut">
              <a:rPr lang="ru-RU"/>
              <a:pPr>
                <a:defRPr/>
              </a:pPr>
              <a:t>12.09.2023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377363"/>
            <a:ext cx="2921000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19525" y="9377363"/>
            <a:ext cx="2921000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A3B7CD0D-DF19-4BAB-8434-31F68B091A1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15205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10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19525" y="0"/>
            <a:ext cx="29210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5A2C722-7DF1-41E8-AA56-BF7EFF0ED5DE}" type="datetimeFigureOut">
              <a:rPr lang="ru-RU"/>
              <a:pPr>
                <a:defRPr/>
              </a:pPr>
              <a:t>12.09.2023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01700" y="739775"/>
            <a:ext cx="4938713" cy="37036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4688" y="4689475"/>
            <a:ext cx="5392737" cy="44434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ru-RU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7363"/>
            <a:ext cx="2921000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19525" y="9377363"/>
            <a:ext cx="2921000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B7D02410-A587-4883-B428-3F7A2578654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953601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smtClean="0"/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/>
            <a:fld id="{9BEAD786-C671-4C42-98CB-4C06D5271992}" type="slidenum">
              <a:rPr lang="ru-RU" smtClean="0"/>
              <a:pPr eaLnBrk="1" hangingPunct="1"/>
              <a:t>1</a:t>
            </a:fld>
            <a:endParaRPr lang="ru-RU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/>
          <p:cNvSpPr>
            <a:spLocks noChangeArrowheads="1"/>
          </p:cNvSpPr>
          <p:nvPr/>
        </p:nvSpPr>
        <p:spPr bwMode="auto">
          <a:xfrm>
            <a:off x="685800" y="2393950"/>
            <a:ext cx="7772400" cy="109538"/>
          </a:xfrm>
          <a:custGeom>
            <a:avLst/>
            <a:gdLst>
              <a:gd name="G0" fmla="+- 618 0 0"/>
            </a:gdLst>
            <a:ahLst/>
            <a:cxnLst>
              <a:cxn ang="0">
                <a:pos x="0" y="0"/>
              </a:cxn>
              <a:cxn ang="0">
                <a:pos x="618" y="0"/>
              </a:cxn>
              <a:cxn ang="0">
                <a:pos x="618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ru-RU" sz="2400">
              <a:latin typeface="Times New Roman" pitchFamily="18" charset="0"/>
            </a:endParaRPr>
          </a:p>
        </p:txBody>
      </p:sp>
      <p:sp>
        <p:nvSpPr>
          <p:cNvPr id="542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8882A8-F77B-4515-A411-0AE6BD9BD78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0566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4DF462-DCE9-4C30-B1AA-C4FBC68E1AC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2192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A6EF62-8F41-4046-B048-898BCEEB3D3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025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71CEAD-39EE-4F3B-BBE7-C8B0D1092D3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9689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A212FA-5FE0-42A4-A0B9-24E13D9CC0D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0516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77409E-7DE8-4FEF-9859-EEA6FBC5646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4400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A2B1CB-C71A-42FC-8187-0F138F6A79C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2494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15C171-C35C-44A6-814B-AAAF0E01222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6843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8660FF-4E39-4FC1-B8E4-40F084AC087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1489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65D562-5564-4165-925D-EAF008AA7D0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6430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289656-F5B6-4FCF-95BE-DA92734AD9A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0423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AEAEA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заголовка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</a:p>
        </p:txBody>
      </p:sp>
      <p:sp>
        <p:nvSpPr>
          <p:cNvPr id="53252" name="AutoShape 4"/>
          <p:cNvSpPr>
            <a:spLocks noChangeArrowheads="1"/>
          </p:cNvSpPr>
          <p:nvPr/>
        </p:nvSpPr>
        <p:spPr bwMode="auto">
          <a:xfrm>
            <a:off x="609600" y="1566863"/>
            <a:ext cx="7958138" cy="109537"/>
          </a:xfrm>
          <a:custGeom>
            <a:avLst/>
            <a:gdLst>
              <a:gd name="G0" fmla="+- 585 0 0"/>
            </a:gdLst>
            <a:ahLst/>
            <a:cxnLst>
              <a:cxn ang="0">
                <a:pos x="0" y="0"/>
              </a:cxn>
              <a:cxn ang="0">
                <a:pos x="585" y="0"/>
              </a:cxn>
              <a:cxn ang="0">
                <a:pos x="585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ru-RU" sz="2400">
              <a:latin typeface="Times New Roman" pitchFamily="18" charset="0"/>
            </a:endParaRPr>
          </a:p>
        </p:txBody>
      </p:sp>
      <p:sp>
        <p:nvSpPr>
          <p:cNvPr id="53253" name="Line 5"/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3254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3255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3256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BF0BFD4B-D1CE-45E9-B5F0-E0429312984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4" r:id="rId1"/>
    <p:sldLayoutId id="2147483904" r:id="rId2"/>
    <p:sldLayoutId id="2147483905" r:id="rId3"/>
    <p:sldLayoutId id="2147483906" r:id="rId4"/>
    <p:sldLayoutId id="2147483907" r:id="rId5"/>
    <p:sldLayoutId id="2147483908" r:id="rId6"/>
    <p:sldLayoutId id="2147483909" r:id="rId7"/>
    <p:sldLayoutId id="2147483910" r:id="rId8"/>
    <p:sldLayoutId id="2147483911" r:id="rId9"/>
    <p:sldLayoutId id="2147483912" r:id="rId10"/>
    <p:sldLayoutId id="2147483913" r:id="rId11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600">
          <a:solidFill>
            <a:schemeClr val="tx1"/>
          </a:solidFill>
          <a:latin typeface="+mn-lt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2300">
          <a:solidFill>
            <a:schemeClr val="tx1"/>
          </a:solidFill>
          <a:latin typeface="+mn-lt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microsoft.com/office/2007/relationships/hdphoto" Target="../media/hdphoto2.wdp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Process 9"/>
          <p:cNvSpPr/>
          <p:nvPr/>
        </p:nvSpPr>
        <p:spPr>
          <a:xfrm>
            <a:off x="214282" y="214290"/>
            <a:ext cx="8721900" cy="6156000"/>
          </a:xfrm>
          <a:prstGeom prst="flowChartProcess">
            <a:avLst/>
          </a:prstGeom>
          <a:noFill/>
          <a:ln w="57150">
            <a:solidFill>
              <a:srgbClr val="002060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2311" name="Rectangle 23"/>
          <p:cNvSpPr>
            <a:spLocks noChangeArrowheads="1"/>
          </p:cNvSpPr>
          <p:nvPr/>
        </p:nvSpPr>
        <p:spPr bwMode="auto">
          <a:xfrm>
            <a:off x="1908288" y="2227294"/>
            <a:ext cx="5256000" cy="1600438"/>
          </a:xfrm>
          <a:prstGeom prst="rect">
            <a:avLst/>
          </a:prstGeom>
          <a:ln>
            <a:noFill/>
          </a:ln>
          <a:effectLst>
            <a:glow rad="228600">
              <a:schemeClr val="accent1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lang="ru-RU" sz="4400" b="1" dirty="0">
                <a:solidFill>
                  <a:schemeClr val="tx1"/>
                </a:solidFill>
                <a:latin typeface="Book Antiqua" pitchFamily="18" charset="0"/>
                <a:cs typeface="Times New Roman" pitchFamily="18" charset="0"/>
              </a:rPr>
              <a:t>Шифр </a:t>
            </a:r>
            <a:r>
              <a:rPr lang="ru-RU" sz="4400" b="1" dirty="0" smtClean="0">
                <a:solidFill>
                  <a:schemeClr val="tx1"/>
                </a:solidFill>
                <a:latin typeface="Book Antiqua" pitchFamily="18" charset="0"/>
                <a:cs typeface="Times New Roman" pitchFamily="18" charset="0"/>
              </a:rPr>
              <a:t>Цезаря</a:t>
            </a:r>
            <a:r>
              <a:rPr lang="en-US" sz="4400" b="1" dirty="0" smtClean="0">
                <a:solidFill>
                  <a:schemeClr val="tx1"/>
                </a:solidFill>
                <a:latin typeface="Book Antiqua" pitchFamily="18" charset="0"/>
                <a:cs typeface="Times New Roman" pitchFamily="18" charset="0"/>
              </a:rPr>
              <a:t>,</a:t>
            </a:r>
          </a:p>
          <a:p>
            <a:pPr algn="ctr"/>
            <a:r>
              <a:rPr lang="ru-RU" sz="4400" b="1" dirty="0">
                <a:solidFill>
                  <a:schemeClr val="tx1"/>
                </a:solidFill>
                <a:latin typeface="Book Antiqua" pitchFamily="18" charset="0"/>
                <a:cs typeface="Times New Roman" pitchFamily="18" charset="0"/>
              </a:rPr>
              <a:t>Шифр </a:t>
            </a:r>
            <a:r>
              <a:rPr lang="ru-RU" sz="4400" b="1" dirty="0" err="1">
                <a:solidFill>
                  <a:schemeClr val="tx1"/>
                </a:solidFill>
                <a:latin typeface="Book Antiqua" pitchFamily="18" charset="0"/>
                <a:cs typeface="Times New Roman" pitchFamily="18" charset="0"/>
              </a:rPr>
              <a:t>Виженера</a:t>
            </a:r>
            <a:endParaRPr lang="ru-RU" sz="4400" b="1" dirty="0">
              <a:solidFill>
                <a:schemeClr val="tx1"/>
              </a:solidFill>
              <a:latin typeface="Book Antiqua" pitchFamily="18" charset="0"/>
              <a:cs typeface="Times New Roman" pitchFamily="18" charset="0"/>
            </a:endParaRPr>
          </a:p>
        </p:txBody>
      </p:sp>
      <p:sp>
        <p:nvSpPr>
          <p:cNvPr id="9" name="Text Box 58"/>
          <p:cNvSpPr txBox="1">
            <a:spLocks noChangeArrowheads="1"/>
          </p:cNvSpPr>
          <p:nvPr/>
        </p:nvSpPr>
        <p:spPr bwMode="auto">
          <a:xfrm>
            <a:off x="-8545" y="6602068"/>
            <a:ext cx="9144000" cy="251795"/>
          </a:xfrm>
          <a:prstGeom prst="rect">
            <a:avLst/>
          </a:prstGeom>
          <a:solidFill>
            <a:srgbClr val="000099"/>
          </a:solidFill>
          <a:ln>
            <a:noFill/>
          </a:ln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tIns="0" bIns="36000">
            <a:spAutoFit/>
          </a:bodyPr>
          <a:lstStyle/>
          <a:p>
            <a:pPr algn="ctr"/>
            <a:r>
              <a:rPr lang="uz-Cyrl-UZ" sz="140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Саттаров А.Б.</a:t>
            </a:r>
            <a:r>
              <a:rPr lang="uz-Cyrl-UZ" sz="1400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</a:rPr>
              <a:t> </a:t>
            </a:r>
            <a:endParaRPr lang="ru-RU" sz="1400" b="1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2" name="Rectangle 10"/>
          <p:cNvSpPr>
            <a:spLocks noChangeArrowheads="1"/>
          </p:cNvSpPr>
          <p:nvPr/>
        </p:nvSpPr>
        <p:spPr bwMode="auto">
          <a:xfrm>
            <a:off x="200673" y="404664"/>
            <a:ext cx="8748713" cy="581697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indent="355600" algn="just"/>
            <a:r>
              <a:rPr lang="ru-RU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Шифр Цезаря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, также известный как 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шифр сдвига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код Цезаря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 или 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сдвиг Цезаря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 — один из самых простых и наиболее широко известных методов шифрования.</a:t>
            </a:r>
          </a:p>
          <a:p>
            <a:pPr indent="355600" algn="just"/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Шифр Цезаря — это вид шифра подстановки, в котором каждый символ в открытом тексте заменяется символом, находящимся на некотором постоянном числе позиций левее или правее него в алфавите. Например, в шифре со сдвигом вправо на 3, А была бы заменена на Г, Б станет Д, и так далее.</a:t>
            </a:r>
          </a:p>
          <a:p>
            <a:pPr indent="355600" algn="just"/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Шифр назван в честь римского императора Гая Юлия Цезаря, использовавшего его для секретной переписки со своими генералами.</a:t>
            </a:r>
          </a:p>
        </p:txBody>
      </p:sp>
      <p:sp>
        <p:nvSpPr>
          <p:cNvPr id="14" name="Line 16"/>
          <p:cNvSpPr>
            <a:spLocks noChangeShapeType="1"/>
          </p:cNvSpPr>
          <p:nvPr/>
        </p:nvSpPr>
        <p:spPr bwMode="auto">
          <a:xfrm>
            <a:off x="71438" y="224644"/>
            <a:ext cx="8997950" cy="0"/>
          </a:xfrm>
          <a:prstGeom prst="line">
            <a:avLst/>
          </a:prstGeom>
          <a:noFill/>
          <a:ln w="63500">
            <a:pattFill prst="dkHorz">
              <a:fgClr>
                <a:schemeClr val="tx1"/>
              </a:fgClr>
              <a:bgClr>
                <a:srgbClr val="FFFFFF"/>
              </a:bgClr>
            </a:pattFill>
            <a:round/>
            <a:headEnd/>
            <a:tailEnd/>
          </a:ln>
          <a:effectLst>
            <a:prstShdw prst="shdw17" dist="17961" dir="2700000">
              <a:srgbClr val="000000"/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Line 16"/>
          <p:cNvSpPr>
            <a:spLocks noChangeShapeType="1"/>
          </p:cNvSpPr>
          <p:nvPr/>
        </p:nvSpPr>
        <p:spPr bwMode="auto">
          <a:xfrm>
            <a:off x="71438" y="80628"/>
            <a:ext cx="8997950" cy="0"/>
          </a:xfrm>
          <a:prstGeom prst="line">
            <a:avLst/>
          </a:prstGeom>
          <a:noFill/>
          <a:ln w="63500">
            <a:pattFill prst="dkHorz">
              <a:fgClr>
                <a:schemeClr val="tx1"/>
              </a:fgClr>
              <a:bgClr>
                <a:srgbClr val="FFFFFF"/>
              </a:bgClr>
            </a:pattFill>
            <a:round/>
            <a:headEnd/>
            <a:tailEnd/>
          </a:ln>
          <a:effectLst>
            <a:prstShdw prst="shdw17" dist="17961" dir="2700000">
              <a:srgbClr val="000000"/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044" y="332656"/>
            <a:ext cx="8352928" cy="5978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500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Line 16"/>
          <p:cNvSpPr>
            <a:spLocks noChangeShapeType="1"/>
          </p:cNvSpPr>
          <p:nvPr/>
        </p:nvSpPr>
        <p:spPr bwMode="auto">
          <a:xfrm>
            <a:off x="71438" y="80628"/>
            <a:ext cx="8997950" cy="0"/>
          </a:xfrm>
          <a:prstGeom prst="line">
            <a:avLst/>
          </a:prstGeom>
          <a:noFill/>
          <a:ln w="63500">
            <a:pattFill prst="dkHorz">
              <a:fgClr>
                <a:schemeClr val="tx1"/>
              </a:fgClr>
              <a:bgClr>
                <a:srgbClr val="FFFFFF"/>
              </a:bgClr>
            </a:pattFill>
            <a:round/>
            <a:headEnd/>
            <a:tailEnd/>
          </a:ln>
          <a:effectLst>
            <a:prstShdw prst="shdw17" dist="17961" dir="2700000">
              <a:srgbClr val="000000"/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8" name="Rectangle 148"/>
          <p:cNvSpPr>
            <a:spLocks noChangeArrowheads="1"/>
          </p:cNvSpPr>
          <p:nvPr/>
        </p:nvSpPr>
        <p:spPr bwMode="auto">
          <a:xfrm>
            <a:off x="-1" y="150540"/>
            <a:ext cx="8136397" cy="646331"/>
          </a:xfrm>
          <a:prstGeom prst="rect">
            <a:avLst/>
          </a:prstGeom>
          <a:solidFill>
            <a:srgbClr val="99CCFF"/>
          </a:solidFill>
          <a:ln>
            <a:noFill/>
          </a:ln>
          <a:effectLst>
            <a:prstShdw prst="shdw17" dist="17961" dir="2700000">
              <a:srgbClr val="CCFFCC">
                <a:gamma/>
                <a:shade val="60000"/>
                <a:invGamma/>
                <a:alpha val="50000"/>
              </a:srgbClr>
            </a:prstShdw>
          </a:effectLst>
          <a:extLst/>
        </p:spPr>
        <p:txBody>
          <a:bodyPr wrap="square" anchor="ctr">
            <a:spAutoFit/>
          </a:bodyPr>
          <a:lstStyle/>
          <a:p>
            <a:pPr eaLnBrk="0" hangingPunct="0"/>
            <a:r>
              <a:rPr lang="uz-Cyrl-UZ" sz="3600" b="1" dirty="0">
                <a:latin typeface="Times New Roman" pitchFamily="18" charset="0"/>
              </a:rPr>
              <a:t>Математическая модель </a:t>
            </a:r>
          </a:p>
        </p:txBody>
      </p:sp>
      <p:sp>
        <p:nvSpPr>
          <p:cNvPr id="7" name="Rectangle 10"/>
          <p:cNvSpPr>
            <a:spLocks noChangeArrowheads="1"/>
          </p:cNvSpPr>
          <p:nvPr/>
        </p:nvSpPr>
        <p:spPr bwMode="auto">
          <a:xfrm>
            <a:off x="107504" y="984785"/>
            <a:ext cx="8928485" cy="532453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indent="355600" algn="just"/>
            <a:r>
              <a:rPr lang="ru-RU" sz="3400" dirty="0">
                <a:latin typeface="Times New Roman" pitchFamily="18" charset="0"/>
                <a:cs typeface="Times New Roman" pitchFamily="18" charset="0"/>
              </a:rPr>
              <a:t>Если сопоставить каждому символу алфавита его порядковый номер (нумеруя с 0), то </a:t>
            </a:r>
            <a:r>
              <a:rPr lang="ru-RU" sz="3400" dirty="0" err="1" smtClean="0">
                <a:latin typeface="Times New Roman" pitchFamily="18" charset="0"/>
                <a:cs typeface="Times New Roman" pitchFamily="18" charset="0"/>
              </a:rPr>
              <a:t>расшифрования</a:t>
            </a:r>
            <a:r>
              <a:rPr lang="ru-RU" sz="3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400" dirty="0">
                <a:latin typeface="Times New Roman" pitchFamily="18" charset="0"/>
                <a:cs typeface="Times New Roman" pitchFamily="18" charset="0"/>
              </a:rPr>
              <a:t>и </a:t>
            </a:r>
            <a:r>
              <a:rPr lang="ru-RU" sz="3400" dirty="0" err="1" smtClean="0">
                <a:latin typeface="Times New Roman" pitchFamily="18" charset="0"/>
                <a:cs typeface="Times New Roman" pitchFamily="18" charset="0"/>
              </a:rPr>
              <a:t>зашифрования</a:t>
            </a:r>
            <a:r>
              <a:rPr lang="ru-RU" sz="3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400" dirty="0">
                <a:latin typeface="Times New Roman" pitchFamily="18" charset="0"/>
                <a:cs typeface="Times New Roman" pitchFamily="18" charset="0"/>
              </a:rPr>
              <a:t>можно выразить формулами модульной арифметики</a:t>
            </a:r>
            <a:r>
              <a:rPr lang="en-US" sz="34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endParaRPr lang="en-US" sz="34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34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3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3400" dirty="0" smtClean="0">
                <a:latin typeface="Times New Roman" pitchFamily="18" charset="0"/>
                <a:cs typeface="Times New Roman" pitchFamily="18" charset="0"/>
              </a:rPr>
              <a:t>где </a:t>
            </a:r>
            <a:r>
              <a:rPr lang="en-US" sz="3400" b="1" i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ru-RU" sz="3400" dirty="0">
                <a:latin typeface="Times New Roman" pitchFamily="18" charset="0"/>
                <a:cs typeface="Times New Roman" pitchFamily="18" charset="0"/>
              </a:rPr>
              <a:t> — символ открытого текста,  </a:t>
            </a:r>
            <a:r>
              <a:rPr lang="en-US" sz="3400" b="1" i="1" dirty="0" smtClean="0">
                <a:latin typeface="Times New Roman" pitchFamily="18" charset="0"/>
                <a:cs typeface="Times New Roman" pitchFamily="18" charset="0"/>
              </a:rPr>
              <a:t>y </a:t>
            </a:r>
            <a:r>
              <a:rPr lang="ru-RU" sz="3400" dirty="0" smtClean="0">
                <a:latin typeface="Times New Roman" pitchFamily="18" charset="0"/>
                <a:cs typeface="Times New Roman" pitchFamily="18" charset="0"/>
              </a:rPr>
              <a:t>— </a:t>
            </a:r>
            <a:r>
              <a:rPr lang="ru-RU" sz="3400" dirty="0">
                <a:latin typeface="Times New Roman" pitchFamily="18" charset="0"/>
                <a:cs typeface="Times New Roman" pitchFamily="18" charset="0"/>
              </a:rPr>
              <a:t>символ шифрованного текста,  </a:t>
            </a:r>
            <a:r>
              <a:rPr lang="en-US" sz="3400" b="1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3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400" dirty="0" smtClean="0">
                <a:latin typeface="Times New Roman" pitchFamily="18" charset="0"/>
                <a:cs typeface="Times New Roman" pitchFamily="18" charset="0"/>
              </a:rPr>
              <a:t>— </a:t>
            </a:r>
            <a:r>
              <a:rPr lang="ru-RU" sz="3400" dirty="0">
                <a:latin typeface="Times New Roman" pitchFamily="18" charset="0"/>
                <a:cs typeface="Times New Roman" pitchFamily="18" charset="0"/>
              </a:rPr>
              <a:t>мощность алфавита, а  </a:t>
            </a:r>
            <a:r>
              <a:rPr lang="en-US" sz="3400" b="1" i="1" dirty="0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3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400" dirty="0" smtClean="0">
                <a:latin typeface="Times New Roman" pitchFamily="18" charset="0"/>
                <a:cs typeface="Times New Roman" pitchFamily="18" charset="0"/>
              </a:rPr>
              <a:t>— </a:t>
            </a:r>
            <a:r>
              <a:rPr lang="ru-RU" sz="3400" dirty="0">
                <a:latin typeface="Times New Roman" pitchFamily="18" charset="0"/>
                <a:cs typeface="Times New Roman" pitchFamily="18" charset="0"/>
              </a:rPr>
              <a:t>ключ</a:t>
            </a:r>
            <a:r>
              <a:rPr lang="ru-RU" sz="3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3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3318892"/>
            <a:ext cx="5997295" cy="1317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281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Line 16"/>
          <p:cNvSpPr>
            <a:spLocks noChangeShapeType="1"/>
          </p:cNvSpPr>
          <p:nvPr/>
        </p:nvSpPr>
        <p:spPr bwMode="auto">
          <a:xfrm>
            <a:off x="71438" y="80628"/>
            <a:ext cx="8997950" cy="0"/>
          </a:xfrm>
          <a:prstGeom prst="line">
            <a:avLst/>
          </a:prstGeom>
          <a:noFill/>
          <a:ln w="63500">
            <a:pattFill prst="dkHorz">
              <a:fgClr>
                <a:schemeClr val="tx1"/>
              </a:fgClr>
              <a:bgClr>
                <a:srgbClr val="FFFFFF"/>
              </a:bgClr>
            </a:pattFill>
            <a:round/>
            <a:headEnd/>
            <a:tailEnd/>
          </a:ln>
          <a:effectLst>
            <a:prstShdw prst="shdw17" dist="17961" dir="2700000">
              <a:srgbClr val="000000"/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8" name="Rectangle 148"/>
          <p:cNvSpPr>
            <a:spLocks noChangeArrowheads="1"/>
          </p:cNvSpPr>
          <p:nvPr/>
        </p:nvSpPr>
        <p:spPr bwMode="auto">
          <a:xfrm>
            <a:off x="-1" y="150540"/>
            <a:ext cx="8136397" cy="646331"/>
          </a:xfrm>
          <a:prstGeom prst="rect">
            <a:avLst/>
          </a:prstGeom>
          <a:solidFill>
            <a:srgbClr val="99CCFF"/>
          </a:solidFill>
          <a:ln>
            <a:noFill/>
          </a:ln>
          <a:effectLst>
            <a:prstShdw prst="shdw17" dist="17961" dir="2700000">
              <a:srgbClr val="CCFFCC">
                <a:gamma/>
                <a:shade val="60000"/>
                <a:invGamma/>
                <a:alpha val="50000"/>
              </a:srgbClr>
            </a:prstShdw>
          </a:effectLst>
          <a:extLst/>
        </p:spPr>
        <p:txBody>
          <a:bodyPr wrap="square" anchor="ctr">
            <a:spAutoFit/>
          </a:bodyPr>
          <a:lstStyle/>
          <a:p>
            <a:pPr eaLnBrk="0" hangingPunct="0"/>
            <a:r>
              <a:rPr lang="uz-Cyrl-UZ" sz="3600" b="1" dirty="0" smtClean="0">
                <a:latin typeface="Times New Roman" pitchFamily="18" charset="0"/>
              </a:rPr>
              <a:t>Пример</a:t>
            </a:r>
            <a:endParaRPr lang="uz-Cyrl-UZ" sz="3600" b="1" dirty="0">
              <a:latin typeface="Times New Roman" pitchFamily="18" charset="0"/>
            </a:endParaRPr>
          </a:p>
        </p:txBody>
      </p:sp>
      <p:sp>
        <p:nvSpPr>
          <p:cNvPr id="7" name="Rectangle 10"/>
          <p:cNvSpPr>
            <a:spLocks noChangeArrowheads="1"/>
          </p:cNvSpPr>
          <p:nvPr/>
        </p:nvSpPr>
        <p:spPr bwMode="auto">
          <a:xfrm>
            <a:off x="96888" y="894199"/>
            <a:ext cx="8928485" cy="224676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indent="355600" algn="just"/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Шифрование с использованием ключа </a:t>
            </a:r>
            <a:r>
              <a:rPr lang="en-US" sz="2800" b="1" i="1" dirty="0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ru-RU" sz="2800" b="1" i="1" dirty="0" smtClean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Буква «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Е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» «сдвигается» на три буквы вперёд и становится буквой «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З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». Твёрдый знак, перемещённый на три буквы вперёд, становится буквой «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Э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», буква «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Я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», перемещённая на три буквы вперёд, становится буквой «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В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», и так далее. :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2" y="3209404"/>
            <a:ext cx="9144000" cy="867058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57374" y="4221088"/>
            <a:ext cx="3281476" cy="4616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uz-Cyrl-UZ" sz="2400" b="1" dirty="0">
                <a:latin typeface="Times New Roman" pitchFamily="18" charset="0"/>
                <a:cs typeface="Times New Roman" pitchFamily="18" charset="0"/>
              </a:rPr>
              <a:t>Оригинальный текст: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0" y="5841268"/>
            <a:ext cx="9144000" cy="340721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0" y="4797152"/>
            <a:ext cx="9144000" cy="318884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07504" y="5218482"/>
            <a:ext cx="3147657" cy="4616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uz-Cyrl-UZ" sz="2400" b="1" dirty="0">
                <a:latin typeface="Times New Roman" pitchFamily="18" charset="0"/>
                <a:cs typeface="Times New Roman" pitchFamily="18" charset="0"/>
              </a:rPr>
              <a:t>Шифрованный текст</a:t>
            </a:r>
          </a:p>
        </p:txBody>
      </p:sp>
    </p:spTree>
    <p:extLst>
      <p:ext uri="{BB962C8B-B14F-4D97-AF65-F5344CB8AC3E}">
        <p14:creationId xmlns:p14="http://schemas.microsoft.com/office/powerpoint/2010/main" val="2431423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2" name="Rectangle 10"/>
          <p:cNvSpPr>
            <a:spLocks noChangeArrowheads="1"/>
          </p:cNvSpPr>
          <p:nvPr/>
        </p:nvSpPr>
        <p:spPr bwMode="auto">
          <a:xfrm>
            <a:off x="200673" y="594556"/>
            <a:ext cx="8748713" cy="538609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 indent="355600" algn="just"/>
            <a:r>
              <a:rPr lang="ru-RU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Шифр </a:t>
            </a:r>
            <a:r>
              <a:rPr lang="ru-RU" sz="36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Виженера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метод </a:t>
            </a:r>
            <a:r>
              <a:rPr lang="ru-RU" sz="2800" dirty="0" err="1">
                <a:latin typeface="Times New Roman" pitchFamily="18" charset="0"/>
                <a:cs typeface="Times New Roman" pitchFamily="18" charset="0"/>
              </a:rPr>
              <a:t>полиалфавитного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 шифрования буквенного текста с использованием ключевого слова.</a:t>
            </a:r>
          </a:p>
          <a:p>
            <a:pPr indent="355600" algn="just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Этот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метод является простой формой многоалфавитной замены.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Шифр 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Виженера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изобретался многократно.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indent="355600" algn="just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Впервые этот метод описал 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Джован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Баттиста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Беллазо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(итал. 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Giovan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Battista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Bellaso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) в книге 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La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cifra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del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Sig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Giovan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Battista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Bellasо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в 1553 году, однако в XIX веке получил имя 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Блеза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Виженера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, французского дипломата. Метод прост для понимания и реализации, он является недоступным для простых методов 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криптоанализа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Line 16"/>
          <p:cNvSpPr>
            <a:spLocks noChangeShapeType="1"/>
          </p:cNvSpPr>
          <p:nvPr/>
        </p:nvSpPr>
        <p:spPr bwMode="auto">
          <a:xfrm>
            <a:off x="71438" y="224644"/>
            <a:ext cx="8997950" cy="0"/>
          </a:xfrm>
          <a:prstGeom prst="line">
            <a:avLst/>
          </a:prstGeom>
          <a:noFill/>
          <a:ln w="63500">
            <a:pattFill prst="dkHorz">
              <a:fgClr>
                <a:schemeClr val="tx1"/>
              </a:fgClr>
              <a:bgClr>
                <a:srgbClr val="FFFFFF"/>
              </a:bgClr>
            </a:pattFill>
            <a:round/>
            <a:headEnd/>
            <a:tailEnd/>
          </a:ln>
          <a:effectLst>
            <a:prstShdw prst="shdw17" dist="17961" dir="2700000">
              <a:srgbClr val="000000"/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1908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Line 16"/>
          <p:cNvSpPr>
            <a:spLocks noChangeShapeType="1"/>
          </p:cNvSpPr>
          <p:nvPr/>
        </p:nvSpPr>
        <p:spPr bwMode="auto">
          <a:xfrm>
            <a:off x="71438" y="80628"/>
            <a:ext cx="8997950" cy="0"/>
          </a:xfrm>
          <a:prstGeom prst="line">
            <a:avLst/>
          </a:prstGeom>
          <a:noFill/>
          <a:ln w="63500">
            <a:pattFill prst="dkHorz">
              <a:fgClr>
                <a:schemeClr val="tx1"/>
              </a:fgClr>
              <a:bgClr>
                <a:srgbClr val="FFFFFF"/>
              </a:bgClr>
            </a:pattFill>
            <a:round/>
            <a:headEnd/>
            <a:tailEnd/>
          </a:ln>
          <a:effectLst>
            <a:prstShdw prst="shdw17" dist="17961" dir="2700000">
              <a:srgbClr val="000000"/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8" name="Rectangle 148"/>
          <p:cNvSpPr>
            <a:spLocks noChangeArrowheads="1"/>
          </p:cNvSpPr>
          <p:nvPr/>
        </p:nvSpPr>
        <p:spPr bwMode="auto">
          <a:xfrm>
            <a:off x="-1" y="150540"/>
            <a:ext cx="8136397" cy="646331"/>
          </a:xfrm>
          <a:prstGeom prst="rect">
            <a:avLst/>
          </a:prstGeom>
          <a:solidFill>
            <a:srgbClr val="99CCFF"/>
          </a:solidFill>
          <a:ln>
            <a:noFill/>
          </a:ln>
          <a:effectLst>
            <a:prstShdw prst="shdw17" dist="17961" dir="2700000">
              <a:srgbClr val="CCFFCC">
                <a:gamma/>
                <a:shade val="60000"/>
                <a:invGamma/>
                <a:alpha val="50000"/>
              </a:srgbClr>
            </a:prstShdw>
          </a:effectLst>
          <a:extLst/>
        </p:spPr>
        <p:txBody>
          <a:bodyPr wrap="square" anchor="ctr">
            <a:spAutoFit/>
          </a:bodyPr>
          <a:lstStyle/>
          <a:p>
            <a:pPr eaLnBrk="0" hangingPunct="0"/>
            <a:r>
              <a:rPr lang="uz-Cyrl-UZ" sz="3600" b="1" dirty="0">
                <a:latin typeface="Times New Roman" pitchFamily="18" charset="0"/>
              </a:rPr>
              <a:t>Математическая модель </a:t>
            </a:r>
          </a:p>
        </p:txBody>
      </p:sp>
      <p:sp>
        <p:nvSpPr>
          <p:cNvPr id="7" name="Rectangle 10"/>
          <p:cNvSpPr>
            <a:spLocks noChangeArrowheads="1"/>
          </p:cNvSpPr>
          <p:nvPr/>
        </p:nvSpPr>
        <p:spPr bwMode="auto">
          <a:xfrm>
            <a:off x="107504" y="931505"/>
            <a:ext cx="8928485" cy="559383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indent="355600" algn="just">
              <a:lnSpc>
                <a:spcPts val="4500"/>
              </a:lnSpc>
            </a:pPr>
            <a:r>
              <a:rPr lang="ru-RU" sz="3400" dirty="0">
                <a:latin typeface="Times New Roman" pitchFamily="18" charset="0"/>
                <a:cs typeface="Times New Roman" pitchFamily="18" charset="0"/>
              </a:rPr>
              <a:t>Если буквы </a:t>
            </a:r>
            <a:r>
              <a:rPr lang="ru-RU" sz="3400" b="1" dirty="0" smtClean="0">
                <a:latin typeface="Times New Roman" pitchFamily="18" charset="0"/>
                <a:cs typeface="Times New Roman" pitchFamily="18" charset="0"/>
              </a:rPr>
              <a:t>A–Z</a:t>
            </a:r>
            <a:r>
              <a:rPr lang="ru-RU" sz="3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400" dirty="0">
                <a:latin typeface="Times New Roman" pitchFamily="18" charset="0"/>
                <a:cs typeface="Times New Roman" pitchFamily="18" charset="0"/>
              </a:rPr>
              <a:t>соответствуют </a:t>
            </a:r>
            <a:r>
              <a:rPr lang="ru-RU" sz="3400" dirty="0" smtClean="0">
                <a:latin typeface="Times New Roman" pitchFamily="18" charset="0"/>
                <a:cs typeface="Times New Roman" pitchFamily="18" charset="0"/>
              </a:rPr>
              <a:t>числам </a:t>
            </a:r>
            <a:r>
              <a:rPr lang="ru-RU" sz="3400" b="1" dirty="0" smtClean="0">
                <a:latin typeface="Times New Roman" pitchFamily="18" charset="0"/>
                <a:cs typeface="Times New Roman" pitchFamily="18" charset="0"/>
              </a:rPr>
              <a:t>0–25</a:t>
            </a:r>
            <a:r>
              <a:rPr lang="ru-RU" sz="3400" dirty="0">
                <a:latin typeface="Times New Roman" pitchFamily="18" charset="0"/>
                <a:cs typeface="Times New Roman" pitchFamily="18" charset="0"/>
              </a:rPr>
              <a:t>, то </a:t>
            </a:r>
            <a:r>
              <a:rPr lang="ru-RU" sz="3400" dirty="0" err="1" smtClean="0">
                <a:latin typeface="Times New Roman" pitchFamily="18" charset="0"/>
                <a:cs typeface="Times New Roman" pitchFamily="18" charset="0"/>
              </a:rPr>
              <a:t>зашифрование</a:t>
            </a:r>
            <a:r>
              <a:rPr lang="ru-RU" sz="3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400" dirty="0" err="1">
                <a:latin typeface="Times New Roman" pitchFamily="18" charset="0"/>
                <a:cs typeface="Times New Roman" pitchFamily="18" charset="0"/>
              </a:rPr>
              <a:t>Виженера</a:t>
            </a:r>
            <a:r>
              <a:rPr lang="ru-RU" sz="3400" dirty="0">
                <a:latin typeface="Times New Roman" pitchFamily="18" charset="0"/>
                <a:cs typeface="Times New Roman" pitchFamily="18" charset="0"/>
              </a:rPr>
              <a:t> можно записать в виде формулы</a:t>
            </a:r>
            <a:r>
              <a:rPr lang="ru-RU" sz="3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indent="355600" algn="ctr">
              <a:lnSpc>
                <a:spcPts val="45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600" b="1" i="1" dirty="0" err="1" smtClean="0">
                <a:latin typeface="Book Antiqua" pitchFamily="18" charset="0"/>
                <a:cs typeface="Times New Roman" pitchFamily="18" charset="0"/>
              </a:rPr>
              <a:t>C</a:t>
            </a:r>
            <a:r>
              <a:rPr lang="en-US" sz="3600" b="1" i="1" baseline="-25000" dirty="0" err="1" smtClean="0">
                <a:latin typeface="Book Antiqua" pitchFamily="18" charset="0"/>
                <a:cs typeface="Times New Roman" pitchFamily="18" charset="0"/>
              </a:rPr>
              <a:t>i</a:t>
            </a:r>
            <a:r>
              <a:rPr lang="en-US" sz="3600" b="1" dirty="0" smtClean="0">
                <a:latin typeface="Book Antiqua" pitchFamily="18" charset="0"/>
                <a:cs typeface="Times New Roman" pitchFamily="18" charset="0"/>
              </a:rPr>
              <a:t>=(</a:t>
            </a:r>
            <a:r>
              <a:rPr lang="en-US" sz="3600" b="1" i="1" dirty="0" err="1" smtClean="0">
                <a:latin typeface="Book Antiqua" pitchFamily="18" charset="0"/>
                <a:cs typeface="Times New Roman" pitchFamily="18" charset="0"/>
              </a:rPr>
              <a:t>P</a:t>
            </a:r>
            <a:r>
              <a:rPr lang="en-US" sz="3600" b="1" i="1" baseline="-25000" dirty="0" err="1" smtClean="0">
                <a:latin typeface="Book Antiqua" pitchFamily="18" charset="0"/>
                <a:cs typeface="Times New Roman" pitchFamily="18" charset="0"/>
              </a:rPr>
              <a:t>i</a:t>
            </a:r>
            <a:r>
              <a:rPr lang="en-US" sz="3600" b="1" dirty="0" err="1" smtClean="0">
                <a:latin typeface="Book Antiqua" pitchFamily="18" charset="0"/>
                <a:cs typeface="Times New Roman" pitchFamily="18" charset="0"/>
              </a:rPr>
              <a:t>+</a:t>
            </a:r>
            <a:r>
              <a:rPr lang="en-US" sz="3600" b="1" i="1" dirty="0" err="1" smtClean="0">
                <a:latin typeface="Book Antiqua" pitchFamily="18" charset="0"/>
                <a:cs typeface="Times New Roman" pitchFamily="18" charset="0"/>
              </a:rPr>
              <a:t>K</a:t>
            </a:r>
            <a:r>
              <a:rPr lang="en-US" sz="3600" b="1" baseline="-25000" dirty="0" smtClean="0">
                <a:latin typeface="Book Antiqua" pitchFamily="18" charset="0"/>
                <a:cs typeface="Times New Roman" pitchFamily="18" charset="0"/>
              </a:rPr>
              <a:t>(</a:t>
            </a:r>
            <a:r>
              <a:rPr lang="en-US" sz="3600" b="1" i="1" baseline="-25000" dirty="0" smtClean="0">
                <a:latin typeface="Book Antiqua" pitchFamily="18" charset="0"/>
                <a:cs typeface="Times New Roman" pitchFamily="18" charset="0"/>
              </a:rPr>
              <a:t>i</a:t>
            </a:r>
            <a:r>
              <a:rPr lang="en-US" sz="3600" b="1" baseline="-25000" dirty="0" smtClean="0">
                <a:latin typeface="Book Antiqua" pitchFamily="18" charset="0"/>
                <a:cs typeface="Times New Roman" pitchFamily="18" charset="0"/>
              </a:rPr>
              <a:t> mod </a:t>
            </a:r>
            <a:r>
              <a:rPr lang="en-US" sz="3600" b="1" i="1" baseline="-25000" dirty="0" smtClean="0">
                <a:latin typeface="Book Antiqua" pitchFamily="18" charset="0"/>
                <a:cs typeface="Times New Roman" pitchFamily="18" charset="0"/>
              </a:rPr>
              <a:t>l</a:t>
            </a:r>
            <a:r>
              <a:rPr lang="en-US" sz="3600" b="1" baseline="-25000" dirty="0" smtClean="0">
                <a:latin typeface="Book Antiqua" pitchFamily="18" charset="0"/>
                <a:cs typeface="Times New Roman" pitchFamily="18" charset="0"/>
              </a:rPr>
              <a:t>)</a:t>
            </a:r>
            <a:r>
              <a:rPr lang="en-US" sz="3600" b="1" dirty="0" smtClean="0">
                <a:latin typeface="Book Antiqua" pitchFamily="18" charset="0"/>
                <a:cs typeface="Times New Roman" pitchFamily="18" charset="0"/>
              </a:rPr>
              <a:t>) mod </a:t>
            </a:r>
            <a:r>
              <a:rPr lang="en-US" sz="3600" b="1" i="1" dirty="0" smtClean="0">
                <a:latin typeface="Book Antiqua" pitchFamily="18" charset="0"/>
                <a:cs typeface="Times New Roman" pitchFamily="18" charset="0"/>
              </a:rPr>
              <a:t>n</a:t>
            </a:r>
          </a:p>
          <a:p>
            <a:pPr indent="355600" algn="just">
              <a:lnSpc>
                <a:spcPts val="4500"/>
              </a:lnSpc>
            </a:pPr>
            <a:r>
              <a:rPr lang="ru-RU" sz="3400" dirty="0" err="1" smtClean="0">
                <a:latin typeface="Times New Roman" pitchFamily="18" charset="0"/>
                <a:cs typeface="Times New Roman" pitchFamily="18" charset="0"/>
              </a:rPr>
              <a:t>Расшифрования</a:t>
            </a:r>
            <a:r>
              <a:rPr lang="ru-RU" sz="3400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en-US" sz="3400" dirty="0" smtClean="0"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ts val="45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600" b="1" i="1" dirty="0" smtClean="0">
                <a:latin typeface="Book Antiqua" pitchFamily="18" charset="0"/>
                <a:cs typeface="Times New Roman" pitchFamily="18" charset="0"/>
              </a:rPr>
              <a:t>P</a:t>
            </a:r>
            <a:r>
              <a:rPr lang="en-US" sz="3600" b="1" i="1" baseline="-25000" dirty="0" smtClean="0">
                <a:latin typeface="Book Antiqua" pitchFamily="18" charset="0"/>
                <a:cs typeface="Times New Roman" pitchFamily="18" charset="0"/>
              </a:rPr>
              <a:t>i</a:t>
            </a:r>
            <a:r>
              <a:rPr lang="en-US" sz="3600" b="1" dirty="0" smtClean="0">
                <a:latin typeface="Book Antiqua" pitchFamily="18" charset="0"/>
                <a:cs typeface="Times New Roman" pitchFamily="18" charset="0"/>
              </a:rPr>
              <a:t>=(</a:t>
            </a:r>
            <a:r>
              <a:rPr lang="en-US" sz="3600" b="1" i="1" dirty="0" err="1" smtClean="0">
                <a:latin typeface="Book Antiqua" pitchFamily="18" charset="0"/>
                <a:cs typeface="Times New Roman" pitchFamily="18" charset="0"/>
              </a:rPr>
              <a:t>C</a:t>
            </a:r>
            <a:r>
              <a:rPr lang="en-US" sz="3600" b="1" i="1" baseline="-25000" dirty="0" err="1" smtClean="0">
                <a:latin typeface="Book Antiqua" pitchFamily="18" charset="0"/>
                <a:cs typeface="Times New Roman" pitchFamily="18" charset="0"/>
              </a:rPr>
              <a:t>i</a:t>
            </a:r>
            <a:r>
              <a:rPr lang="en-US" sz="3600" b="1" i="1" dirty="0" smtClean="0">
                <a:latin typeface="Book Antiqua" pitchFamily="18" charset="0"/>
                <a:cs typeface="Times New Roman" pitchFamily="18" charset="0"/>
              </a:rPr>
              <a:t> – K</a:t>
            </a:r>
            <a:r>
              <a:rPr lang="en-US" sz="3600" b="1" baseline="-25000" dirty="0" smtClean="0">
                <a:latin typeface="Book Antiqua" pitchFamily="18" charset="0"/>
                <a:cs typeface="Times New Roman" pitchFamily="18" charset="0"/>
              </a:rPr>
              <a:t>(</a:t>
            </a:r>
            <a:r>
              <a:rPr lang="en-US" sz="3600" b="1" i="1" baseline="-25000" dirty="0" smtClean="0">
                <a:latin typeface="Book Antiqua" pitchFamily="18" charset="0"/>
                <a:cs typeface="Times New Roman" pitchFamily="18" charset="0"/>
              </a:rPr>
              <a:t>i</a:t>
            </a:r>
            <a:r>
              <a:rPr lang="en-US" sz="3600" b="1" baseline="-25000" dirty="0" smtClean="0">
                <a:latin typeface="Book Antiqua" pitchFamily="18" charset="0"/>
                <a:cs typeface="Times New Roman" pitchFamily="18" charset="0"/>
              </a:rPr>
              <a:t> </a:t>
            </a:r>
            <a:r>
              <a:rPr lang="en-US" sz="3600" b="1" baseline="-25000" dirty="0">
                <a:latin typeface="Book Antiqua" pitchFamily="18" charset="0"/>
                <a:cs typeface="Times New Roman" pitchFamily="18" charset="0"/>
              </a:rPr>
              <a:t>mod </a:t>
            </a:r>
            <a:r>
              <a:rPr lang="en-US" sz="3600" b="1" i="1" baseline="-25000" dirty="0">
                <a:latin typeface="Book Antiqua" pitchFamily="18" charset="0"/>
                <a:cs typeface="Times New Roman" pitchFamily="18" charset="0"/>
              </a:rPr>
              <a:t>l</a:t>
            </a:r>
            <a:r>
              <a:rPr lang="en-US" sz="3600" b="1" baseline="-25000" dirty="0" smtClean="0">
                <a:latin typeface="Book Antiqua" pitchFamily="18" charset="0"/>
                <a:cs typeface="Times New Roman" pitchFamily="18" charset="0"/>
              </a:rPr>
              <a:t>)</a:t>
            </a:r>
            <a:r>
              <a:rPr lang="en-US" sz="3600" b="1" dirty="0" smtClean="0">
                <a:latin typeface="Book Antiqua" pitchFamily="18" charset="0"/>
                <a:cs typeface="Times New Roman" pitchFamily="18" charset="0"/>
              </a:rPr>
              <a:t>+</a:t>
            </a:r>
            <a:r>
              <a:rPr lang="en-US" sz="3600" b="1" i="1" dirty="0" smtClean="0">
                <a:latin typeface="Book Antiqua" pitchFamily="18" charset="0"/>
                <a:cs typeface="Times New Roman" pitchFamily="18" charset="0"/>
              </a:rPr>
              <a:t>n</a:t>
            </a:r>
            <a:r>
              <a:rPr lang="en-US" sz="3600" b="1" dirty="0" smtClean="0">
                <a:latin typeface="Book Antiqua" pitchFamily="18" charset="0"/>
                <a:cs typeface="Times New Roman" pitchFamily="18" charset="0"/>
              </a:rPr>
              <a:t>) </a:t>
            </a:r>
            <a:r>
              <a:rPr lang="en-US" sz="3600" b="1" dirty="0">
                <a:latin typeface="Book Antiqua" pitchFamily="18" charset="0"/>
                <a:cs typeface="Times New Roman" pitchFamily="18" charset="0"/>
              </a:rPr>
              <a:t>mod </a:t>
            </a:r>
            <a:r>
              <a:rPr lang="en-US" sz="3600" b="1" i="1" dirty="0" smtClean="0">
                <a:latin typeface="Book Antiqua" pitchFamily="18" charset="0"/>
                <a:cs typeface="Times New Roman" pitchFamily="18" charset="0"/>
              </a:rPr>
              <a:t>n</a:t>
            </a:r>
          </a:p>
          <a:p>
            <a:pPr algn="just">
              <a:lnSpc>
                <a:spcPts val="4500"/>
              </a:lnSpc>
            </a:pP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где </a:t>
            </a:r>
            <a:r>
              <a:rPr lang="en-US" sz="3200" b="1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3200" b="1" i="1" baseline="-25000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3200" b="1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 символ 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открытого текста,  </a:t>
            </a:r>
            <a:r>
              <a:rPr lang="en-US" sz="32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i="1" dirty="0" err="1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3200" b="1" i="1" baseline="-25000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3200" b="1" i="1" dirty="0" smtClean="0">
                <a:latin typeface="Times New Roman" pitchFamily="18" charset="0"/>
                <a:cs typeface="Times New Roman" pitchFamily="18" charset="0"/>
              </a:rPr>
              <a:t> –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 символ 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шифрованного текста, </a:t>
            </a:r>
            <a:r>
              <a:rPr lang="en-US" sz="3200" b="1" i="1" dirty="0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3200" b="1" i="1" baseline="-25000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3200" b="1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i="1" dirty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 символ 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закрытого ключа, </a:t>
            </a:r>
            <a:r>
              <a:rPr lang="en-US" sz="3200" b="1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–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 мощность алфавита, </a:t>
            </a:r>
            <a:r>
              <a:rPr lang="en-US" sz="3200" b="1" i="1" dirty="0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длина ключа.</a:t>
            </a:r>
            <a:endParaRPr lang="en-US" sz="3200" i="1" dirty="0">
              <a:latin typeface="Book Antiqua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8230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Line 16"/>
          <p:cNvSpPr>
            <a:spLocks noChangeShapeType="1"/>
          </p:cNvSpPr>
          <p:nvPr/>
        </p:nvSpPr>
        <p:spPr bwMode="auto">
          <a:xfrm>
            <a:off x="71438" y="80628"/>
            <a:ext cx="8997950" cy="0"/>
          </a:xfrm>
          <a:prstGeom prst="line">
            <a:avLst/>
          </a:prstGeom>
          <a:noFill/>
          <a:ln w="63500">
            <a:pattFill prst="dkHorz">
              <a:fgClr>
                <a:schemeClr val="tx1"/>
              </a:fgClr>
              <a:bgClr>
                <a:srgbClr val="FFFFFF"/>
              </a:bgClr>
            </a:pattFill>
            <a:round/>
            <a:headEnd/>
            <a:tailEnd/>
          </a:ln>
          <a:effectLst>
            <a:prstShdw prst="shdw17" dist="17961" dir="2700000">
              <a:srgbClr val="000000"/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8" name="Rectangle 148"/>
          <p:cNvSpPr>
            <a:spLocks noChangeArrowheads="1"/>
          </p:cNvSpPr>
          <p:nvPr/>
        </p:nvSpPr>
        <p:spPr bwMode="auto">
          <a:xfrm>
            <a:off x="-1" y="150540"/>
            <a:ext cx="8136397" cy="646331"/>
          </a:xfrm>
          <a:prstGeom prst="rect">
            <a:avLst/>
          </a:prstGeom>
          <a:solidFill>
            <a:srgbClr val="99CCFF"/>
          </a:solidFill>
          <a:ln>
            <a:noFill/>
          </a:ln>
          <a:effectLst>
            <a:prstShdw prst="shdw17" dist="17961" dir="2700000">
              <a:srgbClr val="CCFFCC">
                <a:gamma/>
                <a:shade val="60000"/>
                <a:invGamma/>
                <a:alpha val="50000"/>
              </a:srgbClr>
            </a:prstShdw>
          </a:effectLst>
          <a:extLst/>
        </p:spPr>
        <p:txBody>
          <a:bodyPr wrap="square" anchor="ctr">
            <a:spAutoFit/>
          </a:bodyPr>
          <a:lstStyle/>
          <a:p>
            <a:pPr eaLnBrk="0" hangingPunct="0"/>
            <a:r>
              <a:rPr lang="uz-Cyrl-UZ" sz="3600" b="1" dirty="0" smtClean="0">
                <a:latin typeface="Times New Roman" pitchFamily="18" charset="0"/>
              </a:rPr>
              <a:t>Пример</a:t>
            </a:r>
            <a:endParaRPr lang="uz-Cyrl-UZ" sz="3600" b="1" dirty="0">
              <a:latin typeface="Times New Roman" pitchFamily="18" charset="0"/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303" y="2240868"/>
            <a:ext cx="8638217" cy="1692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481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3833298"/>
              </p:ext>
            </p:extLst>
          </p:nvPr>
        </p:nvGraphicFramePr>
        <p:xfrm>
          <a:off x="323528" y="656692"/>
          <a:ext cx="8238674" cy="9144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53730"/>
                <a:gridCol w="380309"/>
                <a:gridCol w="380309"/>
                <a:gridCol w="380309"/>
                <a:gridCol w="380309"/>
                <a:gridCol w="380309"/>
                <a:gridCol w="380309"/>
                <a:gridCol w="380309"/>
                <a:gridCol w="380309"/>
                <a:gridCol w="380309"/>
                <a:gridCol w="380309"/>
                <a:gridCol w="380309"/>
                <a:gridCol w="380309"/>
                <a:gridCol w="380309"/>
                <a:gridCol w="380309"/>
                <a:gridCol w="380309"/>
                <a:gridCol w="380309"/>
              </a:tblGrid>
              <a:tr h="43204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800" b="1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Асосий</a:t>
                      </a:r>
                      <a:r>
                        <a:rPr lang="en-US" sz="1800" b="1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1800" b="1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алфавит</a:t>
                      </a:r>
                      <a:endParaRPr lang="uz-Cyrl-UZ" sz="1800" b="1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780" marR="177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А</a:t>
                      </a:r>
                      <a:endParaRPr lang="uz-Cyrl-UZ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780" marR="177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Б</a:t>
                      </a:r>
                      <a:endParaRPr lang="uz-Cyrl-UZ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780" marR="177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В</a:t>
                      </a:r>
                      <a:endParaRPr lang="uz-Cyrl-UZ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780" marR="177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Г</a:t>
                      </a:r>
                      <a:endParaRPr lang="uz-Cyrl-UZ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780" marR="177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</a:t>
                      </a:r>
                      <a:endParaRPr lang="uz-Cyrl-UZ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780" marR="177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Е</a:t>
                      </a:r>
                      <a:endParaRPr lang="uz-Cyrl-UZ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780" marR="177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Ж</a:t>
                      </a:r>
                      <a:endParaRPr lang="uz-Cyrl-UZ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780" marR="177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З</a:t>
                      </a:r>
                      <a:endParaRPr lang="uz-Cyrl-UZ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780" marR="177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</a:t>
                      </a:r>
                      <a:endParaRPr lang="uz-Cyrl-UZ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780" marR="177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Й</a:t>
                      </a:r>
                      <a:endParaRPr lang="uz-Cyrl-UZ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780" marR="177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</a:t>
                      </a:r>
                      <a:endParaRPr lang="uz-Cyrl-UZ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780" marR="177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Л</a:t>
                      </a:r>
                      <a:endParaRPr lang="uz-Cyrl-UZ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780" marR="177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М</a:t>
                      </a:r>
                      <a:endParaRPr lang="uz-Cyrl-UZ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780" marR="177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Н</a:t>
                      </a:r>
                      <a:endParaRPr lang="uz-Cyrl-UZ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780" marR="177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</a:t>
                      </a:r>
                      <a:endParaRPr lang="uz-Cyrl-UZ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780" marR="177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</a:t>
                      </a:r>
                      <a:endParaRPr lang="uz-Cyrl-UZ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780" marR="17780" marT="0" marB="0">
                    <a:solidFill>
                      <a:schemeClr val="bg1"/>
                    </a:solidFill>
                  </a:tcPr>
                </a:tc>
              </a:tr>
              <a:tr h="39604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800" b="1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Сонли</a:t>
                      </a:r>
                      <a:r>
                        <a:rPr lang="en-US" sz="1800" b="1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1800" b="1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эквивалент</a:t>
                      </a:r>
                      <a:r>
                        <a:rPr lang="uz-Cyrl-UZ" sz="180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</a:t>
                      </a:r>
                      <a:endParaRPr lang="uz-Cyrl-UZ" sz="1800" b="1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780" marR="177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uz-Cyrl-UZ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780" marR="177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uz-Cyrl-UZ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780" marR="177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uz-Cyrl-UZ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780" marR="177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uz-Cyrl-UZ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780" marR="177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uz-Cyrl-UZ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780" marR="177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uz-Cyrl-UZ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780" marR="177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uz-Cyrl-UZ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780" marR="177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lang="uz-Cyrl-UZ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780" marR="177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uz-Cyrl-UZ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780" marR="177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  <a:endParaRPr lang="uz-Cyrl-UZ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780" marR="177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uz-Cyrl-UZ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780" marR="177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</a:t>
                      </a:r>
                      <a:endParaRPr lang="uz-Cyrl-UZ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780" marR="177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</a:t>
                      </a:r>
                      <a:endParaRPr lang="uz-Cyrl-UZ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780" marR="177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13</a:t>
                      </a:r>
                      <a:endParaRPr lang="uz-Cyrl-UZ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780" marR="177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14</a:t>
                      </a:r>
                      <a:endParaRPr lang="uz-Cyrl-UZ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780" marR="177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15</a:t>
                      </a:r>
                      <a:endParaRPr lang="uz-Cyrl-UZ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780" marR="17780" marT="0" marB="0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1502915"/>
              </p:ext>
            </p:extLst>
          </p:nvPr>
        </p:nvGraphicFramePr>
        <p:xfrm>
          <a:off x="251520" y="1844824"/>
          <a:ext cx="8486290" cy="9144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53730"/>
                <a:gridCol w="395785"/>
                <a:gridCol w="395785"/>
                <a:gridCol w="395785"/>
                <a:gridCol w="395785"/>
                <a:gridCol w="395785"/>
                <a:gridCol w="395785"/>
                <a:gridCol w="395785"/>
                <a:gridCol w="395785"/>
                <a:gridCol w="395785"/>
                <a:gridCol w="395785"/>
                <a:gridCol w="395785"/>
                <a:gridCol w="395785"/>
                <a:gridCol w="395785"/>
                <a:gridCol w="395785"/>
                <a:gridCol w="395785"/>
                <a:gridCol w="395785"/>
              </a:tblGrid>
              <a:tr h="3600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800" b="1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Асосий</a:t>
                      </a:r>
                      <a:r>
                        <a:rPr lang="en-US" sz="1800" b="1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uz-Cyrl-UZ" sz="1800" b="1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а</a:t>
                      </a:r>
                      <a:r>
                        <a:rPr lang="ru-RU" sz="1800" b="1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лфавит</a:t>
                      </a:r>
                      <a:endParaRPr lang="uz-Cyrl-UZ" sz="1800" b="1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780" marR="177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Р</a:t>
                      </a:r>
                      <a:endParaRPr lang="uz-Cyrl-UZ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780" marR="177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</a:t>
                      </a:r>
                      <a:endParaRPr lang="uz-Cyrl-UZ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780" marR="177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Т</a:t>
                      </a:r>
                      <a:endParaRPr lang="uz-Cyrl-UZ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780" marR="177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У</a:t>
                      </a:r>
                      <a:endParaRPr lang="uz-Cyrl-UZ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780" marR="177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Ф</a:t>
                      </a:r>
                      <a:endParaRPr lang="uz-Cyrl-UZ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780" marR="177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Х</a:t>
                      </a:r>
                      <a:endParaRPr lang="uz-Cyrl-UZ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780" marR="177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Ц</a:t>
                      </a:r>
                      <a:endParaRPr lang="uz-Cyrl-UZ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780" marR="177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Ч</a:t>
                      </a:r>
                      <a:endParaRPr lang="uz-Cyrl-UZ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780" marR="177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Ш</a:t>
                      </a:r>
                      <a:endParaRPr lang="uz-Cyrl-UZ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780" marR="177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Щ</a:t>
                      </a:r>
                      <a:endParaRPr lang="uz-Cyrl-UZ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780" marR="177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Ы</a:t>
                      </a:r>
                      <a:endParaRPr lang="uz-Cyrl-UZ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780" marR="177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Ь</a:t>
                      </a:r>
                      <a:endParaRPr lang="uz-Cyrl-UZ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780" marR="177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Э</a:t>
                      </a:r>
                      <a:endParaRPr lang="uz-Cyrl-UZ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780" marR="177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Ю</a:t>
                      </a:r>
                      <a:endParaRPr lang="uz-Cyrl-UZ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780" marR="177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Я</a:t>
                      </a:r>
                      <a:endParaRPr lang="uz-Cyrl-UZ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780" marR="177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“_“</a:t>
                      </a:r>
                      <a:endParaRPr lang="uz-Cyrl-UZ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780" marR="17780" marT="0" marB="0" anchor="ctr">
                    <a:solidFill>
                      <a:schemeClr val="bg1"/>
                    </a:solidFill>
                  </a:tcPr>
                </a:tc>
              </a:tr>
              <a:tr h="42597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800" b="1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Сонли</a:t>
                      </a:r>
                      <a:r>
                        <a:rPr lang="en-US" sz="1800" b="1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1800" b="1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эквивалент</a:t>
                      </a:r>
                      <a:r>
                        <a:rPr lang="uz-Cyrl-UZ" sz="180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</a:t>
                      </a:r>
                      <a:endParaRPr lang="uz-Cyrl-UZ" sz="1800" b="1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780" marR="177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16</a:t>
                      </a:r>
                      <a:endParaRPr lang="uz-Cyrl-UZ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780" marR="177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17</a:t>
                      </a:r>
                      <a:endParaRPr lang="uz-Cyrl-UZ" sz="20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780" marR="177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18</a:t>
                      </a:r>
                      <a:endParaRPr lang="uz-Cyrl-UZ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780" marR="177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19</a:t>
                      </a:r>
                      <a:endParaRPr lang="uz-Cyrl-UZ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780" marR="177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</a:t>
                      </a:r>
                      <a:endParaRPr lang="uz-Cyrl-UZ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780" marR="177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21</a:t>
                      </a:r>
                      <a:endParaRPr lang="uz-Cyrl-UZ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780" marR="177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22</a:t>
                      </a:r>
                      <a:endParaRPr lang="uz-Cyrl-UZ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780" marR="177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23</a:t>
                      </a:r>
                      <a:endParaRPr lang="uz-Cyrl-UZ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780" marR="177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24</a:t>
                      </a:r>
                      <a:endParaRPr lang="uz-Cyrl-UZ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780" marR="177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25</a:t>
                      </a:r>
                      <a:endParaRPr lang="uz-Cyrl-UZ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780" marR="177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26</a:t>
                      </a:r>
                      <a:endParaRPr lang="uz-Cyrl-UZ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780" marR="177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27</a:t>
                      </a:r>
                      <a:endParaRPr lang="uz-Cyrl-UZ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780" marR="177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28</a:t>
                      </a:r>
                      <a:endParaRPr lang="uz-Cyrl-UZ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780" marR="177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29</a:t>
                      </a:r>
                      <a:endParaRPr lang="uz-Cyrl-UZ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780" marR="177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30</a:t>
                      </a:r>
                      <a:endParaRPr lang="uz-Cyrl-UZ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780" marR="177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31</a:t>
                      </a:r>
                      <a:endParaRPr lang="uz-Cyrl-UZ" sz="20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17780" marR="17780" marT="0" marB="0"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Line 16"/>
          <p:cNvSpPr>
            <a:spLocks noChangeShapeType="1"/>
          </p:cNvSpPr>
          <p:nvPr/>
        </p:nvSpPr>
        <p:spPr bwMode="auto">
          <a:xfrm>
            <a:off x="0" y="3068960"/>
            <a:ext cx="8997950" cy="0"/>
          </a:xfrm>
          <a:prstGeom prst="line">
            <a:avLst/>
          </a:prstGeom>
          <a:noFill/>
          <a:ln w="63500">
            <a:pattFill prst="dkHorz">
              <a:fgClr>
                <a:schemeClr val="tx1"/>
              </a:fgClr>
              <a:bgClr>
                <a:srgbClr val="FFFFFF"/>
              </a:bgClr>
            </a:pattFill>
            <a:round/>
            <a:headEnd/>
            <a:tailEnd/>
          </a:ln>
          <a:effectLst>
            <a:prstShdw prst="shdw17" dist="17961" dir="2700000">
              <a:srgbClr val="000000"/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8175474"/>
              </p:ext>
            </p:extLst>
          </p:nvPr>
        </p:nvGraphicFramePr>
        <p:xfrm>
          <a:off x="294848" y="3537012"/>
          <a:ext cx="8408253" cy="864096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167218"/>
                <a:gridCol w="416069"/>
                <a:gridCol w="416069"/>
                <a:gridCol w="416069"/>
                <a:gridCol w="416069"/>
                <a:gridCol w="416069"/>
                <a:gridCol w="416069"/>
                <a:gridCol w="416069"/>
                <a:gridCol w="416069"/>
                <a:gridCol w="416069"/>
                <a:gridCol w="416069"/>
                <a:gridCol w="416069"/>
                <a:gridCol w="416069"/>
                <a:gridCol w="416069"/>
                <a:gridCol w="416069"/>
                <a:gridCol w="416069"/>
              </a:tblGrid>
              <a:tr h="43204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800" b="1" kern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Асосий а</a:t>
                      </a:r>
                      <a:r>
                        <a:rPr lang="ru-RU" sz="1800" b="1" kern="12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лфавит</a:t>
                      </a:r>
                      <a:endParaRPr lang="uz-Cyrl-UZ" sz="1800" b="1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4524" marR="2452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uz-Cyrl-UZ" sz="2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24524" marR="2452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uz-Cyrl-UZ" sz="2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24524" marR="2452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uz-Cyrl-UZ" sz="2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24524" marR="2452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endParaRPr lang="uz-Cyrl-UZ" sz="2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24524" marR="2452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</a:t>
                      </a:r>
                      <a:endParaRPr lang="uz-Cyrl-UZ" sz="2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24524" marR="2452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</a:t>
                      </a:r>
                      <a:endParaRPr lang="uz-Cyrl-UZ" sz="2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24524" marR="2452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G</a:t>
                      </a:r>
                      <a:endParaRPr lang="uz-Cyrl-UZ" sz="2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24524" marR="2452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H</a:t>
                      </a:r>
                      <a:endParaRPr lang="uz-Cyrl-UZ" sz="2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24524" marR="2452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</a:t>
                      </a:r>
                      <a:endParaRPr lang="uz-Cyrl-UZ" sz="2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24524" marR="2452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J</a:t>
                      </a:r>
                      <a:endParaRPr lang="uz-Cyrl-UZ" sz="2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24524" marR="2452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</a:t>
                      </a:r>
                      <a:endParaRPr lang="uz-Cyrl-UZ" sz="2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24524" marR="2452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L</a:t>
                      </a:r>
                      <a:endParaRPr lang="uz-Cyrl-UZ" sz="2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24524" marR="2452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</a:t>
                      </a:r>
                      <a:endParaRPr lang="uz-Cyrl-UZ" sz="2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24524" marR="2452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</a:t>
                      </a:r>
                      <a:endParaRPr lang="uz-Cyrl-UZ" sz="2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24524" marR="2452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</a:t>
                      </a:r>
                      <a:endParaRPr lang="uz-Cyrl-UZ" sz="2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24524" marR="24524" marT="0" marB="0" anchor="ctr">
                    <a:solidFill>
                      <a:schemeClr val="bg1"/>
                    </a:solidFill>
                  </a:tcPr>
                </a:tc>
              </a:tr>
              <a:tr h="43204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800" b="1" kern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Сонли </a:t>
                      </a:r>
                      <a:r>
                        <a:rPr lang="ru-RU" sz="1800" b="1" kern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эквивалент</a:t>
                      </a:r>
                      <a:r>
                        <a:rPr lang="uz-Cyrl-UZ" sz="1800" b="1" kern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</a:t>
                      </a:r>
                      <a:endParaRPr lang="uz-Cyrl-UZ" sz="1800" b="1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24524" marR="2452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uz-Cyrl-UZ" sz="2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24524" marR="2452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uz-Cyrl-UZ" sz="2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24524" marR="2452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uz-Cyrl-UZ" sz="2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24524" marR="2452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uz-Cyrl-UZ" sz="2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24524" marR="2452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uz-Cyrl-UZ" sz="2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24524" marR="2452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uz-Cyrl-UZ" sz="2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24524" marR="2452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uz-Cyrl-UZ" sz="2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24524" marR="2452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lang="uz-Cyrl-UZ" sz="2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24524" marR="2452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uz-Cyrl-UZ" sz="2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24524" marR="2452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  <a:endParaRPr lang="uz-Cyrl-UZ" sz="2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24524" marR="2452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lang="uz-Cyrl-UZ" sz="2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24524" marR="2452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</a:t>
                      </a:r>
                      <a:endParaRPr lang="uz-Cyrl-UZ" sz="2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24524" marR="2452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</a:t>
                      </a:r>
                      <a:endParaRPr lang="uz-Cyrl-UZ" sz="2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24524" marR="2452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13</a:t>
                      </a:r>
                      <a:endParaRPr lang="uz-Cyrl-UZ" sz="2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24524" marR="2452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14</a:t>
                      </a:r>
                      <a:endParaRPr lang="uz-Cyrl-UZ" sz="2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24524" marR="24524" marT="0" marB="0"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2240131"/>
              </p:ext>
            </p:extLst>
          </p:nvPr>
        </p:nvGraphicFramePr>
        <p:xfrm>
          <a:off x="378811" y="4725144"/>
          <a:ext cx="8240327" cy="879532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255330"/>
                <a:gridCol w="490084"/>
                <a:gridCol w="490084"/>
                <a:gridCol w="490084"/>
                <a:gridCol w="490084"/>
                <a:gridCol w="490084"/>
                <a:gridCol w="490084"/>
                <a:gridCol w="490084"/>
                <a:gridCol w="490084"/>
                <a:gridCol w="490084"/>
                <a:gridCol w="490084"/>
                <a:gridCol w="490084"/>
                <a:gridCol w="594073"/>
              </a:tblGrid>
              <a:tr h="46805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800" b="1" kern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Асосий а</a:t>
                      </a:r>
                      <a:r>
                        <a:rPr lang="ru-RU" sz="1800" b="1" kern="12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лфавит</a:t>
                      </a:r>
                      <a:endParaRPr lang="uz-Cyrl-UZ" sz="1800" b="1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</a:t>
                      </a:r>
                      <a:endParaRPr lang="uz-Cyrl-UZ" sz="2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Q</a:t>
                      </a:r>
                      <a:endParaRPr lang="uz-Cyrl-UZ" sz="2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</a:t>
                      </a:r>
                      <a:endParaRPr lang="uz-Cyrl-UZ" sz="2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</a:t>
                      </a:r>
                      <a:endParaRPr lang="uz-Cyrl-UZ" sz="2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</a:t>
                      </a:r>
                      <a:endParaRPr lang="uz-Cyrl-UZ" sz="2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U</a:t>
                      </a:r>
                      <a:endParaRPr lang="uz-Cyrl-UZ" sz="2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V</a:t>
                      </a:r>
                      <a:endParaRPr lang="uz-Cyrl-UZ" sz="2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W</a:t>
                      </a:r>
                      <a:endParaRPr lang="uz-Cyrl-UZ" sz="2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endParaRPr lang="uz-Cyrl-UZ" sz="2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  <a:endParaRPr lang="uz-Cyrl-UZ" sz="2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Z</a:t>
                      </a:r>
                      <a:endParaRPr lang="uz-Cyrl-UZ" sz="2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“_“</a:t>
                      </a:r>
                      <a:endParaRPr lang="uz-Cyrl-UZ" sz="2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</a:tr>
              <a:tr h="39604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800" b="1" kern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Сонли </a:t>
                      </a:r>
                      <a:r>
                        <a:rPr lang="ru-RU" sz="1800" b="1" kern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эквивалент</a:t>
                      </a:r>
                      <a:r>
                        <a:rPr lang="uz-Cyrl-UZ" sz="1800" b="1" kern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и</a:t>
                      </a:r>
                      <a:endParaRPr lang="uz-Cyrl-UZ" sz="1800" b="1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15</a:t>
                      </a:r>
                      <a:endParaRPr lang="uz-Cyrl-UZ" sz="2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16</a:t>
                      </a:r>
                      <a:endParaRPr lang="uz-Cyrl-UZ" sz="2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17</a:t>
                      </a:r>
                      <a:endParaRPr lang="uz-Cyrl-UZ" sz="2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18</a:t>
                      </a:r>
                      <a:endParaRPr lang="uz-Cyrl-UZ" sz="2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19</a:t>
                      </a:r>
                      <a:endParaRPr lang="uz-Cyrl-UZ" sz="2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</a:t>
                      </a:r>
                      <a:endParaRPr lang="uz-Cyrl-UZ" sz="2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21</a:t>
                      </a:r>
                      <a:endParaRPr lang="uz-Cyrl-UZ" sz="2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22</a:t>
                      </a:r>
                      <a:endParaRPr lang="uz-Cyrl-UZ" sz="2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23</a:t>
                      </a:r>
                      <a:endParaRPr lang="uz-Cyrl-UZ" sz="2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24</a:t>
                      </a:r>
                      <a:endParaRPr lang="uz-Cyrl-UZ" sz="2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25</a:t>
                      </a:r>
                      <a:endParaRPr lang="uz-Cyrl-UZ" sz="2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27</a:t>
                      </a:r>
                      <a:endParaRPr lang="uz-Cyrl-UZ" sz="2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9" name="Line 16"/>
          <p:cNvSpPr>
            <a:spLocks noChangeShapeType="1"/>
          </p:cNvSpPr>
          <p:nvPr/>
        </p:nvSpPr>
        <p:spPr bwMode="auto">
          <a:xfrm>
            <a:off x="38546" y="152636"/>
            <a:ext cx="8997950" cy="0"/>
          </a:xfrm>
          <a:prstGeom prst="line">
            <a:avLst/>
          </a:prstGeom>
          <a:noFill/>
          <a:ln w="63500">
            <a:pattFill prst="dkHorz">
              <a:fgClr>
                <a:schemeClr val="tx1"/>
              </a:fgClr>
              <a:bgClr>
                <a:srgbClr val="FFFFFF"/>
              </a:bgClr>
            </a:pattFill>
            <a:round/>
            <a:headEnd/>
            <a:tailEnd/>
          </a:ln>
          <a:effectLst>
            <a:prstShdw prst="shdw17" dist="17961" dir="2700000">
              <a:srgbClr val="000000"/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10" name="Line 16"/>
          <p:cNvSpPr>
            <a:spLocks noChangeShapeType="1"/>
          </p:cNvSpPr>
          <p:nvPr/>
        </p:nvSpPr>
        <p:spPr bwMode="auto">
          <a:xfrm>
            <a:off x="38546" y="6705364"/>
            <a:ext cx="8997950" cy="0"/>
          </a:xfrm>
          <a:prstGeom prst="line">
            <a:avLst/>
          </a:prstGeom>
          <a:noFill/>
          <a:ln w="63500">
            <a:pattFill prst="dkHorz">
              <a:fgClr>
                <a:schemeClr val="tx1"/>
              </a:fgClr>
              <a:bgClr>
                <a:srgbClr val="FFFFFF"/>
              </a:bgClr>
            </a:pattFill>
            <a:round/>
            <a:headEnd/>
            <a:tailEnd/>
          </a:ln>
          <a:effectLst>
            <a:prstShdw prst="shdw17" dist="17961" dir="2700000">
              <a:srgbClr val="000000"/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9229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Профиль">
  <a:themeElements>
    <a:clrScheme name="Профиль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Профиль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Профиль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рофиль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Profile</Template>
  <TotalTime>6065</TotalTime>
  <Words>384</Words>
  <Application>Microsoft Office PowerPoint</Application>
  <PresentationFormat>Экран (4:3)</PresentationFormat>
  <Paragraphs>153</Paragraphs>
  <Slides>9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Профиль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HOME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Тошкент - 2009</dc:title>
  <dc:creator>USER</dc:creator>
  <cp:lastModifiedBy>Muminov</cp:lastModifiedBy>
  <cp:revision>896</cp:revision>
  <cp:lastPrinted>2014-04-25T14:19:32Z</cp:lastPrinted>
  <dcterms:created xsi:type="dcterms:W3CDTF">2010-10-01T16:11:11Z</dcterms:created>
  <dcterms:modified xsi:type="dcterms:W3CDTF">2023-09-12T11:57:36Z</dcterms:modified>
</cp:coreProperties>
</file>