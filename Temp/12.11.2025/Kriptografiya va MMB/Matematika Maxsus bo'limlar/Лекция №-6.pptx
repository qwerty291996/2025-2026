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66" r:id="rId4"/>
    <p:sldId id="261" r:id="rId5"/>
    <p:sldId id="267" r:id="rId6"/>
    <p:sldId id="268" r:id="rId7"/>
    <p:sldId id="260" r:id="rId8"/>
    <p:sldId id="262" r:id="rId9"/>
    <p:sldId id="269" r:id="rId10"/>
    <p:sldId id="263" r:id="rId11"/>
    <p:sldId id="264" r:id="rId12"/>
    <p:sldId id="270" r:id="rId13"/>
    <p:sldId id="265" r:id="rId14"/>
    <p:sldId id="271" r:id="rId15"/>
    <p:sldId id="272" r:id="rId16"/>
    <p:sldId id="274" r:id="rId17"/>
    <p:sldId id="273" r:id="rId18"/>
  </p:sldIdLst>
  <p:sldSz cx="9144000" cy="6858000" type="screen4x3"/>
  <p:notesSz cx="6797675" cy="987425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99CCFF"/>
    <a:srgbClr val="9999FF"/>
    <a:srgbClr val="800000"/>
    <a:srgbClr val="CCECFF"/>
    <a:srgbClr val="003399"/>
    <a:srgbClr val="CCCCFF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47" autoAdjust="0"/>
    <p:restoredTop sz="97876" autoAdjust="0"/>
  </p:normalViewPr>
  <p:slideViewPr>
    <p:cSldViewPr>
      <p:cViewPr varScale="1">
        <p:scale>
          <a:sx n="112" d="100"/>
          <a:sy n="112" d="100"/>
        </p:scale>
        <p:origin x="-1794" y="-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42" y="-102"/>
      </p:cViewPr>
      <p:guideLst>
        <p:guide orient="horz" pos="3110"/>
        <p:guide pos="214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882FF9F-91BF-447F-999D-81B9B773C0AF}" type="datetimeFigureOut">
              <a:rPr lang="ru-RU"/>
              <a:pPr>
                <a:defRPr/>
              </a:pPr>
              <a:t>05.10.2016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D86C5D3-299E-43DC-88F7-671F251F170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14261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6129E68-D73D-475A-ADF7-3A685EE8BADA}" type="datetimeFigureOut">
              <a:rPr lang="ru-RU"/>
              <a:pPr>
                <a:defRPr/>
              </a:pPr>
              <a:t>05.10.2016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1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ru-R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8CD64E6-B177-4F72-A07A-3E93DB6B6EC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0474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altLang="ru-RU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08C184E2-7277-4828-9C10-49F0CFF76654}" type="slidenum">
              <a:rPr lang="ru-RU" altLang="ru-RU" smtClean="0">
                <a:latin typeface="Verdana" pitchFamily="34" charset="0"/>
              </a:rPr>
              <a:pPr eaLnBrk="1" hangingPunct="1">
                <a:spcBef>
                  <a:spcPct val="0"/>
                </a:spcBef>
              </a:pPr>
              <a:t>1</a:t>
            </a:fld>
            <a:endParaRPr lang="ru-RU" altLang="ru-RU" smtClean="0">
              <a:latin typeface="Verdana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9DE971-B85D-4A5D-AEA8-3044EC48DD9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5303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B4122E-62FE-48FD-897D-333900C718D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138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8A898-EC15-4AD2-AFF1-895EEE51A41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095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723CC0-85C0-45D0-9CF0-89B102871A1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142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9E502C-A59B-4B14-997D-0420E0BA26A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561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DDD745-264E-47CF-B221-D80444934FB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781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0D399-D2AC-4D2B-9AF9-7434AE84D76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64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C57981-287F-44D1-A64D-C8557325FA7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95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9D1060-AB7C-4D03-BE1E-EC025571EDA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215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642953-98B0-42F1-BDC1-9DB7DE3220B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660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38D82-C725-4AC0-90BF-62332069EEE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38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uz-Cyrl-UZ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uz-Cyrl-UZ"/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325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9CE9EB2-53EC-400E-AA72-D242BFC1B9D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84" r:id="rId2"/>
    <p:sldLayoutId id="2147484085" r:id="rId3"/>
    <p:sldLayoutId id="2147484086" r:id="rId4"/>
    <p:sldLayoutId id="2147484087" r:id="rId5"/>
    <p:sldLayoutId id="2147484088" r:id="rId6"/>
    <p:sldLayoutId id="2147484089" r:id="rId7"/>
    <p:sldLayoutId id="2147484090" r:id="rId8"/>
    <p:sldLayoutId id="2147484091" r:id="rId9"/>
    <p:sldLayoutId id="2147484092" r:id="rId10"/>
    <p:sldLayoutId id="2147484093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219044" y="253977"/>
            <a:ext cx="8721900" cy="6429420"/>
          </a:xfrm>
          <a:prstGeom prst="flowChartProcess">
            <a:avLst/>
          </a:prstGeom>
          <a:noFill/>
          <a:ln w="57150">
            <a:solidFill>
              <a:srgbClr val="002060"/>
            </a:solidFill>
          </a:ln>
          <a:effectLst>
            <a:glow rad="228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503238" y="461963"/>
            <a:ext cx="8172450" cy="771525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  <a:miter lim="800000"/>
            <a:headEnd/>
            <a:tailEnd/>
          </a:ln>
          <a:effectLst>
            <a:prstShdw prst="shdw17" dist="17961" dir="2700000">
              <a:srgbClr val="C0C0C0">
                <a:gamma/>
                <a:shade val="60000"/>
                <a:invGamma/>
                <a:alpha val="50000"/>
              </a:srgbClr>
            </a:prstShdw>
          </a:effectLst>
        </p:spPr>
        <p:txBody>
          <a:bodyPr anchor="ctr">
            <a:spAutoFit/>
          </a:bodyPr>
          <a:lstStyle/>
          <a:p>
            <a:pPr algn="ctr" eaLnBrk="0" hangingPunct="0">
              <a:defRPr/>
            </a:pPr>
            <a:r>
              <a:rPr lang="uz-Cyrl-UZ" sz="22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Тошкент ахборот технологиялари университети қошидаги </a:t>
            </a:r>
            <a:r>
              <a:rPr lang="ru-RU" sz="22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Радиоэлектрон тизимлар ва ахборот</a:t>
            </a:r>
            <a:r>
              <a:rPr lang="en-US" sz="22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технологиялари</a:t>
            </a:r>
            <a:r>
              <a:rPr lang="en-US" sz="22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 </a:t>
            </a:r>
            <a:r>
              <a:rPr lang="ru-RU" sz="2200" b="1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Маркази</a:t>
            </a:r>
            <a:endParaRPr lang="ru-RU" sz="2200">
              <a:solidFill>
                <a:srgbClr val="800000"/>
              </a:solidFill>
              <a:latin typeface="Times New Roman" pitchFamily="18" charset="0"/>
            </a:endParaRP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1081088" y="1574800"/>
            <a:ext cx="6883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93441" dir="12191915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uz-Cyrl-UZ" sz="3200" b="1">
                <a:solidFill>
                  <a:srgbClr val="00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Математиканинг махсус бўлимлари</a:t>
            </a:r>
            <a:endParaRPr lang="ru-RU" sz="3200" b="1">
              <a:solidFill>
                <a:srgbClr val="003399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250825" y="2816225"/>
            <a:ext cx="853440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998538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406525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814513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2225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6797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1369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5941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0513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uz-Cyrl-UZ" altLang="ru-RU" sz="2200" b="1" dirty="0" smtClean="0">
                <a:solidFill>
                  <a:schemeClr val="accent2"/>
                </a:solidFill>
                <a:latin typeface="Times New Roman" pitchFamily="18" charset="0"/>
              </a:rPr>
              <a:t>Мавзу</a:t>
            </a:r>
            <a:r>
              <a:rPr lang="en-US" altLang="ru-RU" sz="2200" b="1" dirty="0" smtClean="0">
                <a:solidFill>
                  <a:schemeClr val="accent2"/>
                </a:solidFill>
                <a:latin typeface="Times New Roman" pitchFamily="18" charset="0"/>
              </a:rPr>
              <a:t>–6</a:t>
            </a:r>
            <a:r>
              <a:rPr lang="uz-Cyrl-UZ" altLang="ru-RU" sz="2200" b="1" dirty="0" smtClean="0">
                <a:solidFill>
                  <a:schemeClr val="accent2"/>
                </a:solidFill>
                <a:latin typeface="Times New Roman" pitchFamily="18" charset="0"/>
              </a:rPr>
              <a:t>:</a:t>
            </a:r>
            <a:r>
              <a:rPr lang="uz-Cyrl-UZ" altLang="ru-RU" sz="3000" b="1" dirty="0" smtClean="0">
                <a:latin typeface="Times New Roman" pitchFamily="18" charset="0"/>
              </a:rPr>
              <a:t> </a:t>
            </a:r>
            <a:r>
              <a:rPr lang="ru-RU" altLang="ru-RU" sz="3000" b="1" dirty="0" smtClean="0">
                <a:latin typeface="Times New Roman" pitchFamily="18" charset="0"/>
              </a:rPr>
              <a:t>К</a:t>
            </a:r>
            <a:r>
              <a:rPr lang="uz-Cyrl-UZ" altLang="ru-RU" sz="3000" b="1" dirty="0" smtClean="0">
                <a:latin typeface="Times New Roman" pitchFamily="18" charset="0"/>
              </a:rPr>
              <a:t>вадратик таққослама. Лежандр ва Якоби символлари. </a:t>
            </a:r>
            <a:endParaRPr lang="en-US" altLang="ru-RU" sz="3000" b="1" dirty="0" smtClean="0">
              <a:latin typeface="Times New Roman" pitchFamily="18" charset="0"/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uz-Cyrl-UZ" altLang="ru-RU" sz="3000" b="1" dirty="0" smtClean="0">
                <a:solidFill>
                  <a:srgbClr val="99CCFF"/>
                </a:solidFill>
                <a:latin typeface="Times New Roman" pitchFamily="18" charset="0"/>
              </a:rPr>
              <a:t>Квадратик таққосламанинг айрим ечимлари.</a:t>
            </a:r>
            <a:endParaRPr lang="ru-RU" altLang="ru-RU" sz="3000" b="1" dirty="0" smtClean="0">
              <a:solidFill>
                <a:srgbClr val="99CC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  <p:sp>
        <p:nvSpPr>
          <p:cNvPr id="3080" name="Rectangle 10"/>
          <p:cNvSpPr>
            <a:spLocks noChangeArrowheads="1"/>
          </p:cNvSpPr>
          <p:nvPr/>
        </p:nvSpPr>
        <p:spPr bwMode="auto">
          <a:xfrm>
            <a:off x="2987675" y="6057900"/>
            <a:ext cx="3241675" cy="34925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69900" indent="-469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uz-Cyrl-UZ" altLang="ru-RU" sz="1800" b="1">
                <a:latin typeface="Times New Roman" pitchFamily="18" charset="0"/>
              </a:rPr>
              <a:t>Тошкент – 2012</a:t>
            </a:r>
            <a:endParaRPr lang="ru-RU" altLang="ru-RU" sz="1800">
              <a:solidFill>
                <a:srgbClr val="003300"/>
              </a:solidFill>
              <a:latin typeface="Times New Roman" pitchFamily="18" charset="0"/>
            </a:endParaRPr>
          </a:p>
        </p:txBody>
      </p:sp>
      <p:sp>
        <p:nvSpPr>
          <p:cNvPr id="3" name="Rectangle 9"/>
          <p:cNvSpPr>
            <a:spLocks noChangeArrowheads="1"/>
          </p:cNvSpPr>
          <p:nvPr/>
        </p:nvSpPr>
        <p:spPr bwMode="auto">
          <a:xfrm>
            <a:off x="503238" y="4184650"/>
            <a:ext cx="8064500" cy="39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469900" indent="-469900" algn="ctr" eaLnBrk="0" hangingPunct="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None/>
              <a:defRPr/>
            </a:pPr>
            <a:r>
              <a:rPr lang="uz-Cyrl-UZ" sz="2200" b="1" dirty="0">
                <a:latin typeface="Times New Roman" pitchFamily="18" charset="0"/>
              </a:rPr>
              <a:t>(</a:t>
            </a:r>
            <a:r>
              <a:rPr lang="uz-Cyrl-UZ" sz="2200" b="1" dirty="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lang="en-US" sz="2200" b="1" dirty="0">
                <a:solidFill>
                  <a:schemeClr val="accent2"/>
                </a:solidFill>
                <a:latin typeface="Times New Roman" pitchFamily="18" charset="0"/>
              </a:rPr>
              <a:t>4</a:t>
            </a:r>
            <a:r>
              <a:rPr lang="uz-Cyrl-UZ" sz="2200" b="1" dirty="0">
                <a:solidFill>
                  <a:schemeClr val="accent2"/>
                </a:solidFill>
                <a:latin typeface="Times New Roman" pitchFamily="18" charset="0"/>
              </a:rPr>
              <a:t> соатга мўлжалланган </a:t>
            </a:r>
            <a:r>
              <a:rPr lang="uz-Cyrl-UZ" sz="2200" b="1" dirty="0">
                <a:latin typeface="Times New Roman" pitchFamily="18" charset="0"/>
              </a:rPr>
              <a:t>)</a:t>
            </a:r>
            <a:endParaRPr lang="ru-RU" sz="3400" b="1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66744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2" name="Rectangle 8"/>
          <p:cNvSpPr>
            <a:spLocks noChangeArrowheads="1"/>
          </p:cNvSpPr>
          <p:nvPr/>
        </p:nvSpPr>
        <p:spPr bwMode="auto">
          <a:xfrm>
            <a:off x="395288" y="242888"/>
            <a:ext cx="8316912" cy="45720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prstShdw prst="shdw17" dist="17961" dir="2700000">
              <a:srgbClr val="001F5C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uz-Cyrl-UZ" altLang="ru-RU" sz="2400" b="1">
                <a:solidFill>
                  <a:schemeClr val="bg1"/>
                </a:solidFill>
                <a:latin typeface="Times New Roman" pitchFamily="18" charset="0"/>
              </a:rPr>
              <a:t>Квадратик таққослама</a:t>
            </a:r>
            <a:endParaRPr lang="en-US" altLang="ru-RU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215900" y="949325"/>
            <a:ext cx="8753475" cy="5467350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ctr"/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uz-Cyrl-UZ" altLang="zh-CN" sz="2400" b="1">
                <a:solidFill>
                  <a:schemeClr val="accent2"/>
                </a:solidFill>
                <a:latin typeface="Times New Roman" pitchFamily="18" charset="0"/>
              </a:rPr>
              <a:t>Таъриф-1. </a:t>
            </a:r>
            <a:r>
              <a:rPr kumimoji="1" lang="uz-Cyrl-UZ" altLang="zh-CN" sz="2400">
                <a:latin typeface="Times New Roman" pitchFamily="18" charset="0"/>
              </a:rPr>
              <a:t>Қуйидаги:</a:t>
            </a:r>
            <a:r>
              <a:rPr kumimoji="1" lang="en-US" altLang="zh-CN" sz="2400">
                <a:latin typeface="Times New Roman" pitchFamily="18" charset="0"/>
                <a:ea typeface="宋体" charset="-122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ax</a:t>
            </a:r>
            <a:r>
              <a:rPr kumimoji="1" lang="en-US" altLang="zh-CN" sz="2400" b="1" i="1" baseline="3000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+bx+c</a:t>
            </a:r>
            <a:r>
              <a:rPr kumimoji="1" lang="uz-Cyrl-UZ" altLang="zh-CN" sz="2400" b="1">
                <a:latin typeface="Times New Roman" pitchFamily="18" charset="0"/>
              </a:rPr>
              <a:t>≡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  <a:cs typeface="Times New Roman" pitchFamily="18" charset="0"/>
              </a:rPr>
              <a:t>0 (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mod m)		</a:t>
            </a:r>
            <a:r>
              <a:rPr kumimoji="1" lang="en-US" altLang="zh-CN" sz="2400" b="1">
                <a:latin typeface="Times New Roman" pitchFamily="18" charset="0"/>
                <a:ea typeface="宋体" charset="-122"/>
              </a:rPr>
              <a:t>(1)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ru-RU" altLang="zh-CN" sz="2400">
                <a:latin typeface="Times New Roman" pitchFamily="18" charset="0"/>
              </a:rPr>
              <a:t>к</a:t>
            </a:r>
            <a:r>
              <a:rPr kumimoji="1" lang="uz-Cyrl-UZ" altLang="zh-CN" sz="2400">
                <a:latin typeface="Times New Roman" pitchFamily="18" charset="0"/>
              </a:rPr>
              <a:t>ў</a:t>
            </a:r>
            <a:r>
              <a:rPr kumimoji="1" lang="ru-RU" altLang="zh-CN" sz="2400">
                <a:latin typeface="Times New Roman" pitchFamily="18" charset="0"/>
              </a:rPr>
              <a:t>ринишдаги </a:t>
            </a:r>
            <a:r>
              <a:rPr kumimoji="1" lang="uz-Cyrl-UZ" altLang="zh-CN" sz="2400">
                <a:latin typeface="Times New Roman" pitchFamily="18" charset="0"/>
              </a:rPr>
              <a:t>таққослама</a:t>
            </a:r>
            <a:r>
              <a:rPr kumimoji="1" lang="ru-RU" altLang="zh-CN" sz="2400">
                <a:latin typeface="Times New Roman" pitchFamily="18" charset="0"/>
              </a:rPr>
              <a:t>га</a:t>
            </a:r>
            <a:r>
              <a:rPr kumimoji="1" lang="uz-Cyrl-UZ" altLang="zh-CN" sz="2400">
                <a:latin typeface="Times New Roman" pitchFamily="18" charset="0"/>
              </a:rPr>
              <a:t> </a:t>
            </a:r>
            <a:r>
              <a:rPr kumimoji="1" lang="uz-Cyrl-UZ" altLang="zh-CN" sz="2400" b="1" i="1">
                <a:latin typeface="Times New Roman" pitchFamily="18" charset="0"/>
              </a:rPr>
              <a:t>квадратик таққослама </a:t>
            </a:r>
            <a:r>
              <a:rPr kumimoji="1" lang="uz-Cyrl-UZ" altLang="zh-CN" sz="2400">
                <a:latin typeface="Times New Roman" pitchFamily="18" charset="0"/>
              </a:rPr>
              <a:t>дейилади</a:t>
            </a:r>
            <a:r>
              <a:rPr kumimoji="1" lang="en-US" altLang="zh-CN" sz="240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400">
                <a:latin typeface="Times New Roman" pitchFamily="18" charset="0"/>
              </a:rPr>
              <a:t>(</a:t>
            </a:r>
            <a:r>
              <a:rPr kumimoji="1" lang="ru-RU" altLang="zh-CN" sz="2400">
                <a:latin typeface="Times New Roman" pitchFamily="18" charset="0"/>
              </a:rPr>
              <a:t>бу ерда</a:t>
            </a:r>
            <a:r>
              <a:rPr kumimoji="1" lang="ru-RU" altLang="zh-CN" sz="2400" i="1">
                <a:latin typeface="Times New Roman" pitchFamily="18" charset="0"/>
              </a:rPr>
              <a:t> 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a</a:t>
            </a:r>
            <a:r>
              <a:rPr kumimoji="1" lang="ru-RU" altLang="zh-CN" sz="2400" i="1">
                <a:latin typeface="Times New Roman" pitchFamily="18" charset="0"/>
              </a:rPr>
              <a:t>(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mod m</a:t>
            </a:r>
            <a:r>
              <a:rPr kumimoji="1" lang="ru-RU" altLang="zh-CN" sz="2400" i="1">
                <a:latin typeface="Times New Roman" pitchFamily="18" charset="0"/>
              </a:rPr>
              <a:t>)</a:t>
            </a:r>
            <a:r>
              <a:rPr kumimoji="1" lang="ru-RU" altLang="zh-CN" sz="2400" i="1">
                <a:latin typeface="Times New Roman" pitchFamily="18" charset="0"/>
                <a:cs typeface="Times New Roman" pitchFamily="18" charset="0"/>
              </a:rPr>
              <a:t>≠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0</a:t>
            </a:r>
            <a:r>
              <a:rPr kumimoji="1" lang="uz-Cyrl-UZ" altLang="zh-CN" sz="2400">
                <a:latin typeface="Times New Roman" pitchFamily="18" charset="0"/>
              </a:rPr>
              <a:t>). </a:t>
            </a:r>
            <a:endParaRPr kumimoji="1" lang="en-US" altLang="zh-CN" sz="2400">
              <a:latin typeface="Times New Roman" pitchFamily="18" charset="0"/>
              <a:ea typeface="宋体" charset="-122"/>
            </a:endParaRP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CN" sz="2400">
              <a:latin typeface="Times New Roman" pitchFamily="18" charset="0"/>
              <a:ea typeface="宋体" charset="-122"/>
            </a:endParaRP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ru-RU" altLang="zh-CN" sz="2400" b="1">
                <a:solidFill>
                  <a:schemeClr val="accent2"/>
                </a:solidFill>
                <a:latin typeface="Times New Roman" pitchFamily="18" charset="0"/>
              </a:rPr>
              <a:t>Теорема-</a:t>
            </a:r>
            <a:r>
              <a:rPr kumimoji="1" lang="en-US" altLang="zh-CN" sz="2400" b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400" b="1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400" b="1">
                <a:latin typeface="Times New Roman" pitchFamily="18" charset="0"/>
                <a:ea typeface="宋体" charset="-122"/>
              </a:rPr>
              <a:t> (1)</a:t>
            </a:r>
            <a:r>
              <a:rPr kumimoji="1" lang="ru-RU" altLang="zh-CN" sz="2400" i="1">
                <a:latin typeface="Times New Roman" pitchFamily="18" charset="0"/>
              </a:rPr>
              <a:t> </a:t>
            </a:r>
            <a:r>
              <a:rPr kumimoji="1" lang="uz-Cyrl-UZ" altLang="zh-CN" sz="2400">
                <a:latin typeface="Times New Roman" pitchFamily="18" charset="0"/>
              </a:rPr>
              <a:t>кўринишидаги таққосламани ҳар доим қуйидаги:</a:t>
            </a:r>
            <a:r>
              <a:rPr kumimoji="1" lang="en-US" altLang="zh-CN" sz="2400">
                <a:latin typeface="Times New Roman" pitchFamily="18" charset="0"/>
                <a:ea typeface="宋体" charset="-122"/>
              </a:rPr>
              <a:t>  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400" b="1" i="1" baseline="30000">
                <a:latin typeface="Times New Roman" pitchFamily="18" charset="0"/>
                <a:ea typeface="宋体" charset="-122"/>
              </a:rPr>
              <a:t>2</a:t>
            </a:r>
            <a:r>
              <a:rPr kumimoji="1" lang="uz-Cyrl-UZ" altLang="zh-CN" sz="2400" b="1" i="1">
                <a:latin typeface="Times New Roman" pitchFamily="18" charset="0"/>
              </a:rPr>
              <a:t>≡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d (mod m</a:t>
            </a:r>
            <a:r>
              <a:rPr kumimoji="1" lang="en-US" altLang="zh-CN" sz="2400" b="1" i="1" baseline="-25000"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) 	</a:t>
            </a:r>
            <a:r>
              <a:rPr kumimoji="1" lang="en-US" altLang="zh-CN" sz="2400" b="1">
                <a:latin typeface="Times New Roman" pitchFamily="18" charset="0"/>
                <a:ea typeface="宋体" charset="-122"/>
              </a:rPr>
              <a:t>(2)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uz-Cyrl-UZ" altLang="zh-CN" sz="2400">
                <a:latin typeface="Times New Roman" pitchFamily="18" charset="0"/>
              </a:rPr>
              <a:t>кўринишга келтириш мумкин.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endParaRPr kumimoji="1" lang="en-US" altLang="zh-CN" sz="2400" b="1">
              <a:solidFill>
                <a:schemeClr val="accent2"/>
              </a:solidFill>
              <a:latin typeface="Times New Roman" pitchFamily="18" charset="0"/>
              <a:ea typeface="宋体" charset="-122"/>
            </a:endParaRP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ru-RU" altLang="zh-CN" sz="2400" b="1">
                <a:solidFill>
                  <a:schemeClr val="accent2"/>
                </a:solidFill>
                <a:latin typeface="Times New Roman" pitchFamily="18" charset="0"/>
              </a:rPr>
              <a:t>Исботи:</a:t>
            </a:r>
            <a:r>
              <a:rPr kumimoji="1" lang="ru-RU" altLang="zh-CN" sz="2400">
                <a:solidFill>
                  <a:schemeClr val="accent2"/>
                </a:solidFill>
                <a:latin typeface="Times New Roman" pitchFamily="18" charset="0"/>
              </a:rPr>
              <a:t> </a:t>
            </a:r>
            <a:endParaRPr kumimoji="1" lang="en-US" altLang="zh-CN" sz="2400">
              <a:solidFill>
                <a:schemeClr val="accent2"/>
              </a:solidFill>
              <a:latin typeface="Times New Roman" pitchFamily="18" charset="0"/>
              <a:ea typeface="宋体" charset="-122"/>
            </a:endParaRP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i="1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	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ax</a:t>
            </a:r>
            <a:r>
              <a:rPr kumimoji="1" lang="en-US" altLang="zh-CN" sz="2400" i="1" baseline="3000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+bx+c</a:t>
            </a:r>
            <a:r>
              <a:rPr kumimoji="1" lang="uz-Cyrl-UZ" altLang="zh-CN" sz="2400" i="1">
                <a:latin typeface="Times New Roman" pitchFamily="18" charset="0"/>
              </a:rPr>
              <a:t>≡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0(mod m)|</a:t>
            </a:r>
            <a:r>
              <a:rPr kumimoji="1" lang="en-US" altLang="zh-CN" sz="2400" b="1" i="1" baseline="3000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4a </a:t>
            </a:r>
            <a:r>
              <a:rPr kumimoji="1" lang="en-US" altLang="zh-CN" sz="2400" i="1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 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	4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2400" i="1" baseline="3000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400" i="1" baseline="3000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+4abx+4ac</a:t>
            </a:r>
            <a:r>
              <a:rPr kumimoji="1" lang="uz-Cyrl-UZ" altLang="zh-CN" sz="2400" i="1">
                <a:latin typeface="Times New Roman" pitchFamily="18" charset="0"/>
              </a:rPr>
              <a:t>≡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0(mod 4am)</a:t>
            </a: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 </a:t>
            </a:r>
            <a:r>
              <a:rPr kumimoji="1" lang="en-US" altLang="zh-CN" sz="2400" i="1">
                <a:ea typeface="宋体" charset="-122"/>
                <a:sym typeface="Wingdings" pitchFamily="2" charset="2"/>
              </a:rPr>
              <a:t>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	</a:t>
            </a:r>
            <a:r>
              <a:rPr kumimoji="1" lang="en-US" altLang="zh-CN" sz="2400" b="1" i="1">
                <a:solidFill>
                  <a:srgbClr val="000099"/>
                </a:solidFill>
                <a:latin typeface="Times New Roman" pitchFamily="18" charset="0"/>
                <a:ea typeface="宋体" charset="-122"/>
                <a:sym typeface="Wingdings" pitchFamily="2" charset="2"/>
              </a:rPr>
              <a:t>y</a:t>
            </a: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=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2ax-b;  </a:t>
            </a:r>
            <a:r>
              <a:rPr kumimoji="1" lang="en-US" altLang="zh-CN" sz="2400" b="1" i="1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d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=b</a:t>
            </a:r>
            <a:r>
              <a:rPr kumimoji="1" lang="en-US" altLang="zh-CN" sz="2400" i="1" baseline="3000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-4ac; </a:t>
            </a:r>
            <a:r>
              <a:rPr kumimoji="1" lang="en-US" altLang="zh-CN" sz="2400" b="1" i="1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2400" b="1" i="1" baseline="-2500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=4am; </a:t>
            </a:r>
            <a:r>
              <a:rPr kumimoji="1" lang="en-US" altLang="zh-CN" sz="2400" i="1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 y</a:t>
            </a:r>
            <a:r>
              <a:rPr kumimoji="1" lang="en-US" altLang="zh-CN" sz="2400" i="1" baseline="30000">
                <a:latin typeface="Times New Roman" pitchFamily="18" charset="0"/>
                <a:ea typeface="宋体" charset="-122"/>
              </a:rPr>
              <a:t>2</a:t>
            </a:r>
            <a:r>
              <a:rPr kumimoji="1" lang="uz-Cyrl-UZ" altLang="zh-CN" sz="2400" i="1">
                <a:latin typeface="Times New Roman" pitchFamily="18" charset="0"/>
              </a:rPr>
              <a:t>≡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d(mod m</a:t>
            </a:r>
            <a:r>
              <a:rPr kumimoji="1" lang="en-US" altLang="zh-CN" sz="2400" i="1" baseline="-25000"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)</a:t>
            </a: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59765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368660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" name="AutoShape 13" descr="Точечные ромбики"/>
          <p:cNvSpPr>
            <a:spLocks noChangeArrowheads="1"/>
          </p:cNvSpPr>
          <p:nvPr/>
        </p:nvSpPr>
        <p:spPr bwMode="auto">
          <a:xfrm>
            <a:off x="142875" y="696913"/>
            <a:ext cx="8856663" cy="5324475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ctr">
            <a:normAutofit lnSpcReduction="10000"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defRPr/>
            </a:pPr>
            <a:r>
              <a:rPr kumimoji="1" lang="uz-Cyrl-UZ" altLang="zh-CN" sz="2800" b="1" dirty="0" smtClean="0">
                <a:solidFill>
                  <a:schemeClr val="accent2"/>
                </a:solidFill>
                <a:latin typeface="Times New Roman" pitchFamily="18" charset="0"/>
              </a:rPr>
              <a:t>Мисол</a:t>
            </a:r>
            <a:r>
              <a:rPr kumimoji="1" lang="uz-Cyrl-UZ" altLang="zh-CN" sz="2800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uz-Cyrl-UZ" altLang="zh-CN" sz="2800" dirty="0" smtClean="0">
                <a:latin typeface="Times New Roman" pitchFamily="18" charset="0"/>
              </a:rPr>
              <a:t> </a:t>
            </a:r>
            <a:r>
              <a:rPr kumimoji="1" lang="en-US" altLang="zh-CN" sz="2800" b="1" i="1" dirty="0" smtClean="0">
                <a:latin typeface="Times New Roman" pitchFamily="18" charset="0"/>
                <a:ea typeface="宋体" charset="-122"/>
              </a:rPr>
              <a:t>4x</a:t>
            </a:r>
            <a:r>
              <a:rPr kumimoji="1" lang="en-US" altLang="zh-CN" sz="2800" b="1" i="1" baseline="30000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800" b="1" i="1" dirty="0" smtClean="0">
                <a:latin typeface="Times New Roman" pitchFamily="18" charset="0"/>
                <a:ea typeface="宋体" charset="-122"/>
              </a:rPr>
              <a:t>-11x-3≡0(mod 13),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800" i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800" b="1" i="1" dirty="0" smtClean="0">
                <a:latin typeface="Times New Roman" pitchFamily="18" charset="0"/>
                <a:ea typeface="宋体" charset="-122"/>
              </a:rPr>
              <a:t>x=?</a:t>
            </a:r>
          </a:p>
          <a:p>
            <a:pPr algn="just" eaLnBrk="1" hangingPunct="1">
              <a:defRPr/>
            </a:pPr>
            <a:endParaRPr kumimoji="1" lang="en-US" altLang="zh-CN" sz="2800" b="1" i="1" dirty="0" smtClean="0">
              <a:latin typeface="Times New Roman" pitchFamily="18" charset="0"/>
              <a:ea typeface="宋体" charset="-122"/>
            </a:endParaRPr>
          </a:p>
          <a:p>
            <a:pPr algn="just" eaLnBrk="1" hangingPunct="1">
              <a:spcAft>
                <a:spcPct val="50000"/>
              </a:spcAft>
              <a:defRPr/>
            </a:pPr>
            <a:r>
              <a:rPr kumimoji="1" lang="uz-Cyrl-UZ" altLang="zh-CN" sz="2800" b="1" dirty="0" smtClean="0">
                <a:latin typeface="Times New Roman" pitchFamily="18" charset="0"/>
                <a:cs typeface="Times New Roman" pitchFamily="18" charset="0"/>
              </a:rPr>
              <a:t>Ечиш</a:t>
            </a:r>
            <a:r>
              <a:rPr kumimoji="1" lang="uz-Cyrl-UZ" altLang="zh-CN" sz="28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kumimoji="1" lang="uz-Cyrl-UZ" altLang="zh-CN" sz="2800" i="1" dirty="0" smtClean="0">
                <a:latin typeface="Times New Roman" pitchFamily="18" charset="0"/>
                <a:cs typeface="Times New Roman" pitchFamily="18" charset="0"/>
              </a:rPr>
              <a:t>таққослама хоссаларидан фойдаланиш асосида</a:t>
            </a:r>
            <a:r>
              <a:rPr kumimoji="1" lang="uz-Cyrl-UZ" altLang="zh-CN" sz="2800" dirty="0" smtClean="0">
                <a:latin typeface="Times New Roman" pitchFamily="18" charset="0"/>
                <a:cs typeface="Times New Roman" pitchFamily="18" charset="0"/>
              </a:rPr>
              <a:t>): </a:t>
            </a:r>
            <a:r>
              <a:rPr kumimoji="1" lang="en-US" altLang="zh-CN" sz="2800" dirty="0" smtClean="0">
                <a:latin typeface="Times New Roman" pitchFamily="18" charset="0"/>
                <a:ea typeface="宋体" charset="-122"/>
              </a:rPr>
              <a:t>   </a:t>
            </a:r>
            <a:endParaRPr kumimoji="1" lang="uz-Cyrl-UZ" altLang="zh-C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spcAft>
                <a:spcPct val="50000"/>
              </a:spcAft>
              <a:tabLst>
                <a:tab pos="449263" algn="l"/>
              </a:tabLst>
              <a:defRPr/>
            </a:pPr>
            <a:r>
              <a:rPr kumimoji="1" lang="uz-Cyrl-UZ" altLang="zh-CN" sz="2800" i="1" dirty="0" smtClean="0">
                <a:latin typeface="Times New Roman" pitchFamily="18" charset="0"/>
                <a:cs typeface="Times New Roman" pitchFamily="18" charset="0"/>
              </a:rPr>
              <a:t>	4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800" i="1" baseline="30000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-11x-3≡0(mod 13)  </a:t>
            </a:r>
            <a:r>
              <a:rPr kumimoji="1" lang="en-US" altLang="zh-CN" sz="2800" i="1" dirty="0" smtClean="0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  </a:t>
            </a:r>
          </a:p>
          <a:p>
            <a:pPr algn="just" eaLnBrk="1" hangingPunct="1">
              <a:spcAft>
                <a:spcPct val="50000"/>
              </a:spcAft>
              <a:tabLst>
                <a:tab pos="449263" algn="l"/>
              </a:tabLst>
              <a:defRPr/>
            </a:pPr>
            <a:r>
              <a:rPr kumimoji="1" lang="en-US" altLang="zh-CN" sz="2800" i="1" dirty="0">
                <a:latin typeface="Times New Roman" pitchFamily="18" charset="0"/>
                <a:ea typeface="宋体" charset="-122"/>
                <a:sym typeface="Wingdings" pitchFamily="2" charset="2"/>
              </a:rPr>
              <a:t>	</a:t>
            </a:r>
            <a:r>
              <a:rPr kumimoji="1" lang="uz-Cyrl-UZ" altLang="zh-CN" sz="2800" i="1" dirty="0" smtClean="0">
                <a:latin typeface="Times New Roman" pitchFamily="18" charset="0"/>
              </a:rPr>
              <a:t>4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800" i="1" baseline="30000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-(11</a:t>
            </a:r>
            <a:r>
              <a:rPr kumimoji="1" lang="en-US" altLang="zh-CN" sz="2800" b="1" i="1" dirty="0" smtClean="0">
                <a:solidFill>
                  <a:srgbClr val="C00000"/>
                </a:solidFill>
                <a:latin typeface="Times New Roman" pitchFamily="18" charset="0"/>
                <a:ea typeface="宋体" charset="-122"/>
              </a:rPr>
              <a:t>+13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)x-(3</a:t>
            </a:r>
            <a:r>
              <a:rPr kumimoji="1" lang="en-US" altLang="zh-CN" sz="2800" b="1" i="1" dirty="0" smtClean="0">
                <a:solidFill>
                  <a:srgbClr val="C00000"/>
                </a:solidFill>
                <a:latin typeface="Times New Roman" pitchFamily="18" charset="0"/>
                <a:ea typeface="宋体" charset="-122"/>
              </a:rPr>
              <a:t>+13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)≡0(mod 13) </a:t>
            </a:r>
            <a:r>
              <a:rPr kumimoji="1" lang="en-US" altLang="zh-CN" sz="2800" i="1" dirty="0" smtClean="0">
                <a:ea typeface="宋体" charset="-122"/>
                <a:sym typeface="Wingdings" pitchFamily="2" charset="2"/>
              </a:rPr>
              <a:t></a:t>
            </a:r>
            <a:endParaRPr kumimoji="1" lang="en-US" altLang="zh-CN" sz="2800" i="1" dirty="0" smtClean="0">
              <a:latin typeface="Times New Roman" pitchFamily="18" charset="0"/>
              <a:ea typeface="宋体" charset="-122"/>
              <a:sym typeface="Wingdings" pitchFamily="2" charset="2"/>
            </a:endParaRPr>
          </a:p>
          <a:p>
            <a:pPr algn="just" eaLnBrk="1" hangingPunct="1">
              <a:spcAft>
                <a:spcPct val="50000"/>
              </a:spcAft>
              <a:tabLst>
                <a:tab pos="449263" algn="l"/>
              </a:tabLst>
              <a:defRPr/>
            </a:pP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	</a:t>
            </a:r>
            <a:r>
              <a:rPr kumimoji="1" lang="uz-Cyrl-UZ" altLang="zh-CN" sz="2800" i="1" dirty="0" smtClean="0">
                <a:latin typeface="Times New Roman" pitchFamily="18" charset="0"/>
              </a:rPr>
              <a:t>4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800" i="1" baseline="30000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-24x-16≡0(mod 13) </a:t>
            </a:r>
            <a:r>
              <a:rPr kumimoji="1" lang="en-US" altLang="zh-CN" sz="2800" i="1" dirty="0" smtClean="0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  </a:t>
            </a:r>
          </a:p>
          <a:p>
            <a:pPr algn="just" eaLnBrk="1" hangingPunct="1">
              <a:spcAft>
                <a:spcPct val="50000"/>
              </a:spcAft>
              <a:tabLst>
                <a:tab pos="449263" algn="l"/>
              </a:tabLst>
              <a:defRPr/>
            </a:pPr>
            <a:r>
              <a:rPr kumimoji="1" lang="en-US" altLang="zh-CN" sz="2800" i="1" dirty="0">
                <a:latin typeface="Times New Roman" pitchFamily="18" charset="0"/>
                <a:ea typeface="宋体" charset="-122"/>
                <a:sym typeface="Wingdings" pitchFamily="2" charset="2"/>
              </a:rPr>
              <a:t>	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800" i="1" baseline="30000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</a:rPr>
              <a:t>-6x-4≡0(mod 13) </a:t>
            </a:r>
            <a:r>
              <a:rPr kumimoji="1" lang="en-US" altLang="zh-CN" sz="2800" i="1" dirty="0" smtClean="0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 </a:t>
            </a:r>
          </a:p>
          <a:p>
            <a:pPr algn="just" eaLnBrk="1" hangingPunct="1">
              <a:spcAft>
                <a:spcPct val="50000"/>
              </a:spcAft>
              <a:tabLst>
                <a:tab pos="449263" algn="l"/>
              </a:tabLst>
              <a:defRPr/>
            </a:pP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	(x-3)</a:t>
            </a:r>
            <a:r>
              <a:rPr kumimoji="1" lang="en-US" altLang="zh-CN" sz="2800" i="1" baseline="30000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2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≡13(mod 13) </a:t>
            </a:r>
            <a:r>
              <a:rPr kumimoji="1" lang="en-US" altLang="zh-CN" sz="2800" i="1" dirty="0" smtClean="0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 </a:t>
            </a:r>
          </a:p>
          <a:p>
            <a:pPr algn="just" eaLnBrk="1" hangingPunct="1">
              <a:spcAft>
                <a:spcPct val="50000"/>
              </a:spcAft>
              <a:tabLst>
                <a:tab pos="449263" algn="l"/>
              </a:tabLst>
              <a:defRPr/>
            </a:pPr>
            <a:r>
              <a:rPr kumimoji="1" lang="en-US" altLang="zh-CN" sz="2800" i="1" dirty="0">
                <a:latin typeface="Times New Roman" pitchFamily="18" charset="0"/>
                <a:ea typeface="宋体" charset="-122"/>
                <a:sym typeface="Wingdings" pitchFamily="2" charset="2"/>
              </a:rPr>
              <a:t>	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(x-3)</a:t>
            </a:r>
            <a:r>
              <a:rPr kumimoji="1" lang="en-US" altLang="zh-CN" sz="2800" i="1" baseline="30000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2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≡0(mod 13)   </a:t>
            </a:r>
            <a:r>
              <a:rPr kumimoji="1" lang="en-US" altLang="zh-CN" sz="2800" b="1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x=3</a:t>
            </a:r>
            <a:r>
              <a:rPr kumimoji="1" lang="en-US" altLang="zh-CN" sz="2800" i="1" dirty="0" smtClean="0">
                <a:latin typeface="Times New Roman" pitchFamily="18" charset="0"/>
                <a:ea typeface="宋体" charset="-122"/>
                <a:sym typeface="Wingdings" pitchFamily="2" charset="2"/>
              </a:rPr>
              <a:t>.</a:t>
            </a: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59765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66682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150" name="AutoShape 13" descr="Точечные ромбики"/>
          <p:cNvSpPr>
            <a:spLocks noChangeArrowheads="1"/>
          </p:cNvSpPr>
          <p:nvPr/>
        </p:nvSpPr>
        <p:spPr bwMode="auto">
          <a:xfrm>
            <a:off x="250825" y="1803400"/>
            <a:ext cx="8628063" cy="3203575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endParaRPr kumimoji="1" lang="en-US" altLang="ru-RU" sz="800" b="1">
              <a:solidFill>
                <a:schemeClr val="accent2"/>
              </a:solidFill>
              <a:latin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800" b="1">
                <a:solidFill>
                  <a:schemeClr val="accent2"/>
                </a:solidFill>
                <a:latin typeface="Times New Roman" pitchFamily="18" charset="0"/>
              </a:rPr>
              <a:t>Таъриф-2. </a:t>
            </a:r>
            <a:endParaRPr kumimoji="1" lang="en-US" altLang="ru-RU" sz="2800" b="1">
              <a:solidFill>
                <a:schemeClr val="accent2"/>
              </a:solidFill>
              <a:latin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800">
                <a:latin typeface="Times New Roman" pitchFamily="18" charset="0"/>
              </a:rPr>
              <a:t>Агар </a:t>
            </a:r>
            <a:r>
              <a:rPr kumimoji="1" lang="uz-Cyrl-UZ" altLang="ru-RU" sz="2800" i="1">
                <a:latin typeface="Times New Roman" pitchFamily="18" charset="0"/>
              </a:rPr>
              <a:t>ЭКУБ(</a:t>
            </a:r>
            <a:r>
              <a:rPr kumimoji="1" lang="en-US" altLang="ru-RU" sz="2800" i="1">
                <a:latin typeface="Times New Roman" pitchFamily="18" charset="0"/>
              </a:rPr>
              <a:t>a,m</a:t>
            </a:r>
            <a:r>
              <a:rPr kumimoji="1" lang="uz-Cyrl-UZ" altLang="ru-RU" sz="2800" i="1">
                <a:latin typeface="Times New Roman" pitchFamily="18" charset="0"/>
              </a:rPr>
              <a:t>)</a:t>
            </a:r>
            <a:r>
              <a:rPr kumimoji="1" lang="en-US" altLang="ru-RU" sz="2800" i="1">
                <a:latin typeface="Times New Roman" pitchFamily="18" charset="0"/>
              </a:rPr>
              <a:t>=1</a:t>
            </a:r>
            <a:r>
              <a:rPr kumimoji="1" lang="en-US" altLang="ru-RU" sz="2800">
                <a:latin typeface="Times New Roman" pitchFamily="18" charset="0"/>
              </a:rPr>
              <a:t> </a:t>
            </a:r>
            <a:r>
              <a:rPr kumimoji="1" lang="uz-Cyrl-UZ" altLang="ru-RU" sz="2800">
                <a:latin typeface="Times New Roman" pitchFamily="18" charset="0"/>
              </a:rPr>
              <a:t>бўлганда, </a:t>
            </a:r>
            <a:r>
              <a:rPr kumimoji="1" lang="en-US" altLang="ru-RU" sz="2800" i="1">
                <a:latin typeface="Times New Roman" pitchFamily="18" charset="0"/>
              </a:rPr>
              <a:t>x</a:t>
            </a:r>
            <a:r>
              <a:rPr kumimoji="1" lang="en-US" altLang="ru-RU" sz="2800" i="1" baseline="30000">
                <a:latin typeface="Times New Roman" pitchFamily="18" charset="0"/>
              </a:rPr>
              <a:t>2</a:t>
            </a:r>
            <a:r>
              <a:rPr kumimoji="1" lang="en-US" altLang="ru-RU" sz="2800" i="1">
                <a:latin typeface="Times New Roman" pitchFamily="18" charset="0"/>
                <a:cs typeface="Times New Roman" pitchFamily="18" charset="0"/>
              </a:rPr>
              <a:t>≡a</a:t>
            </a:r>
            <a:r>
              <a:rPr kumimoji="1" lang="uz-Cyrl-UZ" altLang="ru-RU" sz="28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800" i="1">
                <a:latin typeface="Times New Roman" pitchFamily="18" charset="0"/>
                <a:cs typeface="Times New Roman" pitchFamily="18" charset="0"/>
              </a:rPr>
              <a:t>(mod m)</a:t>
            </a:r>
            <a:r>
              <a:rPr kumimoji="1" lang="en-US" altLang="ru-RU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800">
                <a:latin typeface="Times New Roman" pitchFamily="18" charset="0"/>
                <a:cs typeface="Times New Roman" pitchFamily="18" charset="0"/>
              </a:rPr>
              <a:t>таққослама ечимга эга бўлса, </a:t>
            </a:r>
            <a:r>
              <a:rPr kumimoji="1" lang="en-US" altLang="ru-RU" sz="28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1" lang="en-US" altLang="ru-RU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800">
                <a:latin typeface="Times New Roman" pitchFamily="18" charset="0"/>
                <a:cs typeface="Times New Roman" pitchFamily="18" charset="0"/>
              </a:rPr>
              <a:t>– сонига </a:t>
            </a:r>
            <a:r>
              <a:rPr kumimoji="1" lang="en-US" altLang="ru-RU" sz="2800" b="1" i="1">
                <a:latin typeface="Times New Roman" pitchFamily="18" charset="0"/>
                <a:cs typeface="Times New Roman" pitchFamily="18" charset="0"/>
              </a:rPr>
              <a:t>m</a:t>
            </a:r>
            <a:r>
              <a:rPr kumimoji="1" lang="en-US" altLang="ru-RU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800">
                <a:latin typeface="Times New Roman" pitchFamily="18" charset="0"/>
                <a:cs typeface="Times New Roman" pitchFamily="18" charset="0"/>
              </a:rPr>
              <a:t>– модул бўйича </a:t>
            </a:r>
            <a:r>
              <a:rPr kumimoji="1" lang="uz-Cyrl-UZ" altLang="ru-RU" sz="2800" b="1" i="1">
                <a:latin typeface="Times New Roman" pitchFamily="18" charset="0"/>
                <a:cs typeface="Times New Roman" pitchFamily="18" charset="0"/>
              </a:rPr>
              <a:t>квадратик чегирма</a:t>
            </a:r>
            <a:r>
              <a:rPr kumimoji="1" lang="uz-Cyrl-UZ" altLang="ru-RU" sz="2800">
                <a:latin typeface="Times New Roman" pitchFamily="18" charset="0"/>
                <a:cs typeface="Times New Roman" pitchFamily="18" charset="0"/>
              </a:rPr>
              <a:t>, акс ҳолда </a:t>
            </a:r>
            <a:r>
              <a:rPr kumimoji="1" lang="uz-Cyrl-UZ" altLang="ru-RU" sz="2800" b="1" i="1">
                <a:latin typeface="Times New Roman" pitchFamily="18" charset="0"/>
                <a:cs typeface="Times New Roman" pitchFamily="18" charset="0"/>
              </a:rPr>
              <a:t>квадратик ночегирма </a:t>
            </a:r>
            <a:r>
              <a:rPr kumimoji="1" lang="uz-Cyrl-UZ" altLang="ru-RU" sz="2800">
                <a:latin typeface="Times New Roman" pitchFamily="18" charset="0"/>
                <a:cs typeface="Times New Roman" pitchFamily="18" charset="0"/>
              </a:rPr>
              <a:t>дейилади.</a:t>
            </a:r>
          </a:p>
          <a:p>
            <a:pPr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endParaRPr kumimoji="1" lang="uz-Cyrl-UZ" altLang="ru-RU" sz="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561138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66682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174" name="AutoShape 13" descr="Точечные ромбики"/>
          <p:cNvSpPr>
            <a:spLocks noChangeArrowheads="1"/>
          </p:cNvSpPr>
          <p:nvPr/>
        </p:nvSpPr>
        <p:spPr bwMode="auto">
          <a:xfrm>
            <a:off x="250825" y="531813"/>
            <a:ext cx="8628063" cy="5746750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6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Теорема-2</a:t>
            </a:r>
            <a:r>
              <a:rPr kumimoji="1" lang="uz-Cyrl-UZ" altLang="ru-RU" sz="26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 Агар </a:t>
            </a:r>
            <a:r>
              <a:rPr kumimoji="1" lang="en-US" altLang="ru-RU" sz="26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– сони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600" b="1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 (</a:t>
            </a:r>
            <a:r>
              <a:rPr kumimoji="1" lang="en-US" altLang="ru-RU" sz="26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-</a:t>
            </a:r>
            <a:r>
              <a:rPr kumimoji="1" lang="ru-RU" altLang="ru-RU" sz="2600">
                <a:latin typeface="Times New Roman" pitchFamily="18" charset="0"/>
                <a:cs typeface="Times New Roman" pitchFamily="18" charset="0"/>
              </a:rPr>
              <a:t>туб сон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)</a:t>
            </a:r>
            <a:r>
              <a:rPr kumimoji="1" lang="ru-RU" altLang="ru-RU" sz="26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– </a:t>
            </a: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модул бўйича квадратик чегирма бўлса,</a:t>
            </a:r>
            <a:r>
              <a:rPr kumimoji="1" lang="ru-RU" altLang="ru-RU" sz="26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у ҳолда қуйидаги:</a:t>
            </a:r>
          </a:p>
          <a:p>
            <a:pPr algn="ctr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ru-RU" sz="2600" b="1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kumimoji="1" lang="en-US" altLang="ru-RU" sz="2600" b="1" i="1" baseline="30000"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1" lang="en-US" altLang="ru-RU" sz="2600" b="1" i="1">
                <a:latin typeface="Times New Roman" pitchFamily="18" charset="0"/>
                <a:cs typeface="Times New Roman" pitchFamily="18" charset="0"/>
              </a:rPr>
              <a:t>≡a (mod p)</a:t>
            </a:r>
            <a:r>
              <a:rPr kumimoji="1" lang="en-US" altLang="ru-RU" sz="26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600" b="1">
                <a:latin typeface="Times New Roman" pitchFamily="18" charset="0"/>
                <a:cs typeface="Times New Roman" pitchFamily="18" charset="0"/>
              </a:rPr>
              <a:t>	(1)</a:t>
            </a:r>
            <a:endParaRPr kumimoji="1" lang="en-US" altLang="ru-RU" sz="2600" b="1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тенглама 2 та ечимга эга бўлади.</a:t>
            </a:r>
            <a:endParaRPr kumimoji="1" lang="en-US" altLang="ru-RU" sz="260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ru-RU" altLang="ru-RU" sz="26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Теорема-</a:t>
            </a:r>
            <a:r>
              <a:rPr kumimoji="1" lang="uz-Cyrl-UZ" altLang="ru-RU" sz="26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kumimoji="1" lang="ru-RU" altLang="ru-RU" sz="2600" b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ru-RU" altLang="ru-RU" sz="2600" b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ru-RU" altLang="ru-RU" sz="2600">
                <a:latin typeface="Times New Roman" pitchFamily="18" charset="0"/>
                <a:cs typeface="Times New Roman" pitchFamily="18" charset="0"/>
              </a:rPr>
              <a:t>(</a:t>
            </a:r>
            <a:r>
              <a:rPr kumimoji="1" lang="ru-RU" altLang="ru-RU" sz="2600" i="1">
                <a:latin typeface="Times New Roman" pitchFamily="18" charset="0"/>
                <a:cs typeface="Times New Roman" pitchFamily="18" charset="0"/>
              </a:rPr>
              <a:t>Эйлер теоремаси</a:t>
            </a:r>
            <a:r>
              <a:rPr kumimoji="1" lang="en-US" altLang="ru-RU" sz="26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ru-RU" altLang="ru-RU" sz="2600">
                <a:latin typeface="Times New Roman" pitchFamily="18" charset="0"/>
                <a:cs typeface="Times New Roman" pitchFamily="18" charset="0"/>
              </a:rPr>
              <a:t>(</a:t>
            </a:r>
            <a:r>
              <a:rPr kumimoji="1" lang="ru-RU" altLang="ru-RU" sz="2600" i="1">
                <a:latin typeface="Times New Roman" pitchFamily="18" charset="0"/>
                <a:cs typeface="Times New Roman" pitchFamily="18" charset="0"/>
              </a:rPr>
              <a:t>критерияси</a:t>
            </a:r>
            <a:r>
              <a:rPr kumimoji="1" lang="ru-RU" altLang="ru-RU" sz="2600">
                <a:latin typeface="Times New Roman" pitchFamily="18" charset="0"/>
                <a:cs typeface="Times New Roman" pitchFamily="18" charset="0"/>
              </a:rPr>
              <a:t>)) </a:t>
            </a:r>
            <a:endParaRPr kumimoji="1" lang="en-US" altLang="ru-RU" sz="260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ru-RU" altLang="ru-RU" sz="2600">
                <a:latin typeface="Times New Roman" pitchFamily="18" charset="0"/>
                <a:cs typeface="Times New Roman" pitchFamily="18" charset="0"/>
              </a:rPr>
              <a:t>Агар </a:t>
            </a:r>
            <a:r>
              <a:rPr kumimoji="1" lang="ru-RU" altLang="ru-RU" sz="2600" i="1">
                <a:latin typeface="Times New Roman" pitchFamily="18" charset="0"/>
                <a:cs typeface="Times New Roman" pitchFamily="18" charset="0"/>
              </a:rPr>
              <a:t>ЭКУБ(</a:t>
            </a:r>
            <a:r>
              <a:rPr kumimoji="1" lang="en-US" altLang="ru-RU" sz="2600" i="1">
                <a:latin typeface="Times New Roman" pitchFamily="18" charset="0"/>
                <a:cs typeface="Times New Roman" pitchFamily="18" charset="0"/>
              </a:rPr>
              <a:t>a,p</a:t>
            </a:r>
            <a:r>
              <a:rPr kumimoji="1" lang="ru-RU" altLang="ru-RU" sz="2600" i="1">
                <a:latin typeface="Times New Roman" pitchFamily="18" charset="0"/>
                <a:cs typeface="Times New Roman" pitchFamily="18" charset="0"/>
              </a:rPr>
              <a:t>)</a:t>
            </a:r>
            <a:r>
              <a:rPr kumimoji="1" lang="en-US" altLang="ru-RU" sz="2600" i="1">
                <a:latin typeface="Times New Roman" pitchFamily="18" charset="0"/>
                <a:cs typeface="Times New Roman" pitchFamily="18" charset="0"/>
              </a:rPr>
              <a:t>=</a:t>
            </a: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бўлиб, </a:t>
            </a: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1" lang="en-US" altLang="ru-RU" sz="2600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kumimoji="1" lang="en-US" altLang="ru-RU" sz="2600" b="1" i="1" baseline="30000">
                <a:latin typeface="Times New Roman" pitchFamily="18" charset="0"/>
                <a:cs typeface="Times New Roman" pitchFamily="18" charset="0"/>
              </a:rPr>
              <a:t>(p-1)/2</a:t>
            </a:r>
            <a:r>
              <a:rPr kumimoji="1" lang="en-US" altLang="ru-RU" sz="2600" b="1" i="1">
                <a:latin typeface="Times New Roman" pitchFamily="18" charset="0"/>
                <a:cs typeface="Times New Roman" pitchFamily="18" charset="0"/>
              </a:rPr>
              <a:t>≡1(mod p)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600">
                <a:latin typeface="Times New Roman" pitchFamily="18" charset="0"/>
                <a:cs typeface="Times New Roman" pitchFamily="18" charset="0"/>
              </a:rPr>
              <a:t>ўринли бўлса, (1) тенглама 2 та ечимга эга бўлади</a:t>
            </a:r>
            <a:r>
              <a:rPr kumimoji="1" lang="en-US" altLang="ru-RU" sz="260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600" b="1" i="1">
                <a:latin typeface="Times New Roman" pitchFamily="18" charset="0"/>
              </a:rPr>
              <a:t>	</a:t>
            </a:r>
            <a:r>
              <a:rPr kumimoji="1" lang="en-US" altLang="ru-RU" sz="2600" b="1" i="1">
                <a:latin typeface="Times New Roman" pitchFamily="18" charset="0"/>
              </a:rPr>
              <a:t>a</a:t>
            </a:r>
            <a:r>
              <a:rPr kumimoji="1" lang="en-US" altLang="ru-RU" sz="2600" b="1" i="1" baseline="30000">
                <a:latin typeface="Times New Roman" pitchFamily="18" charset="0"/>
              </a:rPr>
              <a:t>(p-1)/2</a:t>
            </a:r>
            <a:r>
              <a:rPr kumimoji="1" lang="en-US" altLang="ru-RU" sz="2600" b="1" i="1">
                <a:latin typeface="Times New Roman" pitchFamily="18" charset="0"/>
              </a:rPr>
              <a:t>≡</a:t>
            </a:r>
            <a:r>
              <a:rPr kumimoji="1" lang="uz-Cyrl-UZ" altLang="ru-RU" sz="2600" b="1" i="1">
                <a:latin typeface="Times New Roman" pitchFamily="18" charset="0"/>
              </a:rPr>
              <a:t>-</a:t>
            </a:r>
            <a:r>
              <a:rPr kumimoji="1" lang="en-US" altLang="ru-RU" sz="2600" b="1" i="1">
                <a:latin typeface="Times New Roman" pitchFamily="18" charset="0"/>
              </a:rPr>
              <a:t>1(mod p)</a:t>
            </a:r>
            <a:r>
              <a:rPr kumimoji="1" lang="en-US" altLang="ru-RU" sz="2600">
                <a:latin typeface="Times New Roman" pitchFamily="18" charset="0"/>
              </a:rPr>
              <a:t> </a:t>
            </a:r>
            <a:r>
              <a:rPr kumimoji="1" lang="uz-Cyrl-UZ" altLang="ru-RU" sz="2600">
                <a:latin typeface="Times New Roman" pitchFamily="18" charset="0"/>
              </a:rPr>
              <a:t>ўринли бўлса, (1) тенглама ечимга эга бўлмайди.</a:t>
            </a:r>
            <a:endParaRPr kumimoji="1" lang="en-US" altLang="ru-RU" sz="2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561138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266682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198" name="AutoShape 13" descr="Точечные ромбики"/>
          <p:cNvSpPr>
            <a:spLocks noChangeArrowheads="1"/>
          </p:cNvSpPr>
          <p:nvPr/>
        </p:nvSpPr>
        <p:spPr bwMode="auto">
          <a:xfrm>
            <a:off x="250825" y="422275"/>
            <a:ext cx="8628063" cy="5965825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buFont typeface="Wingdings" pitchFamily="2" charset="2"/>
              <a:buNone/>
            </a:pPr>
            <a:r>
              <a:rPr kumimoji="1" lang="uz-Cyrl-UZ" altLang="zh-CN" sz="2400" b="1">
                <a:solidFill>
                  <a:schemeClr val="accent2"/>
                </a:solidFill>
                <a:latin typeface="Times New Roman" pitchFamily="18" charset="0"/>
              </a:rPr>
              <a:t>Мисол</a:t>
            </a:r>
            <a:r>
              <a:rPr kumimoji="1" lang="uz-Cyrl-UZ" altLang="zh-CN" sz="240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uz-Cyrl-UZ" altLang="zh-CN" sz="2400">
                <a:latin typeface="Times New Roman" pitchFamily="18" charset="0"/>
              </a:rPr>
              <a:t> 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400" b="1" i="1" baseline="3000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≡3(mod 13) – </a:t>
            </a:r>
            <a:r>
              <a:rPr kumimoji="1" lang="uz-Cyrl-UZ" altLang="zh-CN" sz="2400" b="1">
                <a:latin typeface="Times New Roman" pitchFamily="18" charset="0"/>
                <a:ea typeface="宋体" charset="-122"/>
              </a:rPr>
              <a:t>таққослама ечимга эгами?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 </a:t>
            </a:r>
            <a:endParaRPr kumimoji="1" lang="en-US" altLang="zh-CN" sz="2400" b="1" i="1">
              <a:latin typeface="Times New Roman" pitchFamily="18" charset="0"/>
              <a:ea typeface="宋体" charset="-122"/>
            </a:endParaRPr>
          </a:p>
          <a:p>
            <a:pPr algn="just" eaLnBrk="1" hangingPunct="1">
              <a:buFont typeface="Wingdings" pitchFamily="2" charset="2"/>
              <a:buNone/>
            </a:pPr>
            <a:endParaRPr kumimoji="1" lang="en-US" altLang="zh-CN" sz="2400" b="1" i="1">
              <a:latin typeface="Times New Roman" pitchFamily="18" charset="0"/>
              <a:ea typeface="宋体" charset="-122"/>
            </a:endParaRPr>
          </a:p>
          <a:p>
            <a:pPr algn="just" eaLnBrk="1" hangingPunct="1">
              <a:spcAft>
                <a:spcPct val="50000"/>
              </a:spcAft>
              <a:buFont typeface="Wingdings" pitchFamily="2" charset="2"/>
              <a:buNone/>
            </a:pPr>
            <a:r>
              <a:rPr kumimoji="1" lang="uz-Cyrl-UZ" altLang="zh-CN" sz="2400" b="1">
                <a:latin typeface="Times New Roman" pitchFamily="18" charset="0"/>
                <a:cs typeface="Times New Roman" pitchFamily="18" charset="0"/>
              </a:rPr>
              <a:t>Ечиш</a:t>
            </a:r>
            <a:r>
              <a:rPr kumimoji="1" lang="uz-Cyrl-UZ" altLang="zh-CN" sz="2400">
                <a:latin typeface="Times New Roman" pitchFamily="18" charset="0"/>
                <a:cs typeface="Times New Roman" pitchFamily="18" charset="0"/>
              </a:rPr>
              <a:t> (</a:t>
            </a:r>
            <a:r>
              <a:rPr kumimoji="1" lang="uz-Cyrl-UZ" altLang="zh-CN" sz="2400" i="1">
                <a:latin typeface="Times New Roman" pitchFamily="18" charset="0"/>
                <a:cs typeface="Times New Roman" pitchFamily="18" charset="0"/>
              </a:rPr>
              <a:t>Эйлер критериясидан фойдаланиш асосида</a:t>
            </a:r>
            <a:r>
              <a:rPr kumimoji="1" lang="uz-Cyrl-UZ" altLang="zh-CN" sz="2400">
                <a:latin typeface="Times New Roman" pitchFamily="18" charset="0"/>
                <a:cs typeface="Times New Roman" pitchFamily="18" charset="0"/>
              </a:rPr>
              <a:t>): </a:t>
            </a:r>
            <a:r>
              <a:rPr kumimoji="1" lang="en-US" altLang="zh-CN" sz="2400">
                <a:latin typeface="Times New Roman" pitchFamily="18" charset="0"/>
                <a:ea typeface="宋体" charset="-122"/>
              </a:rPr>
              <a:t>   </a:t>
            </a:r>
            <a:endParaRPr kumimoji="1" lang="uz-Cyrl-UZ" altLang="zh-CN" sz="240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spcAft>
                <a:spcPct val="50000"/>
              </a:spcAft>
              <a:buFont typeface="Wingdings" pitchFamily="2" charset="2"/>
              <a:buNone/>
            </a:pPr>
            <a:r>
              <a:rPr kumimoji="1" lang="uz-Cyrl-UZ" altLang="zh-CN" sz="2400" b="1" i="1">
                <a:latin typeface="Times New Roman" pitchFamily="18" charset="0"/>
                <a:cs typeface="Times New Roman" pitchFamily="18" charset="0"/>
              </a:rPr>
              <a:t>	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  <a:cs typeface="Times New Roman" pitchFamily="18" charset="0"/>
              </a:rPr>
              <a:t>a=3; p=13;</a:t>
            </a:r>
            <a:r>
              <a:rPr kumimoji="1" lang="en-US" altLang="zh-CN" sz="2400" b="1" i="1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400" i="1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  </a:t>
            </a:r>
          </a:p>
          <a:p>
            <a:pPr algn="just" eaLnBrk="1" hangingPunct="1">
              <a:spcAft>
                <a:spcPct val="50000"/>
              </a:spcAft>
              <a:buFont typeface="Wingdings" pitchFamily="2" charset="2"/>
              <a:buNone/>
            </a:pP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	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 a</a:t>
            </a:r>
            <a:r>
              <a:rPr kumimoji="1" lang="en-US" altLang="ru-RU" sz="2400" i="1" baseline="30000">
                <a:latin typeface="Times New Roman" pitchFamily="18" charset="0"/>
                <a:cs typeface="Times New Roman" pitchFamily="18" charset="0"/>
              </a:rPr>
              <a:t>(p-1)/2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(mod p)</a:t>
            </a:r>
            <a:r>
              <a:rPr kumimoji="1" lang="en-US" altLang="zh-CN" sz="2400" i="1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400" i="1">
                <a:ea typeface="宋体" charset="-122"/>
                <a:sym typeface="Wingdings" pitchFamily="2" charset="2"/>
              </a:rPr>
              <a:t></a:t>
            </a: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	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 3</a:t>
            </a:r>
            <a:r>
              <a:rPr kumimoji="1" lang="en-US" altLang="ru-RU" sz="2400" i="1" baseline="30000">
                <a:latin typeface="Times New Roman" pitchFamily="18" charset="0"/>
                <a:cs typeface="Times New Roman" pitchFamily="18" charset="0"/>
              </a:rPr>
              <a:t>(13-1)/2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(mod 13)</a:t>
            </a:r>
            <a:r>
              <a:rPr kumimoji="1" lang="en-US" altLang="ru-RU" sz="2400" b="1" i="1">
                <a:latin typeface="Times New Roman" pitchFamily="18" charset="0"/>
              </a:rPr>
              <a:t> </a:t>
            </a:r>
            <a:r>
              <a:rPr kumimoji="1" lang="en-US" altLang="ru-RU" sz="2400" i="1">
                <a:latin typeface="Times New Roman" pitchFamily="18" charset="0"/>
              </a:rPr>
              <a:t>≡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 3</a:t>
            </a:r>
            <a:r>
              <a:rPr kumimoji="1" lang="en-US" altLang="ru-RU" sz="2400" i="1" baseline="30000">
                <a:latin typeface="Times New Roman" pitchFamily="18" charset="0"/>
                <a:cs typeface="Times New Roman" pitchFamily="18" charset="0"/>
              </a:rPr>
              <a:t>6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(mod 13)</a:t>
            </a:r>
            <a:r>
              <a:rPr kumimoji="1" lang="en-US" altLang="ru-RU" sz="2400" b="1" i="1">
                <a:latin typeface="Times New Roman" pitchFamily="18" charset="0"/>
              </a:rPr>
              <a:t> </a:t>
            </a:r>
            <a:r>
              <a:rPr kumimoji="1" lang="en-US" altLang="ru-RU" sz="2400" i="1">
                <a:latin typeface="Times New Roman" pitchFamily="18" charset="0"/>
              </a:rPr>
              <a:t>≡</a:t>
            </a:r>
            <a:endParaRPr kumimoji="1" lang="en-US" altLang="ru-RU" sz="2400" i="1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spcAft>
                <a:spcPct val="50000"/>
              </a:spcAft>
              <a:buFont typeface="Wingdings" pitchFamily="2" charset="2"/>
              <a:buNone/>
            </a:pP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			</a:t>
            </a:r>
            <a:r>
              <a:rPr kumimoji="1" lang="en-US" altLang="ru-RU" sz="2400" b="1" i="1">
                <a:latin typeface="Times New Roman" pitchFamily="18" charset="0"/>
              </a:rPr>
              <a:t> </a:t>
            </a:r>
            <a:r>
              <a:rPr kumimoji="1" lang="en-US" altLang="ru-RU" sz="2400" i="1">
                <a:latin typeface="Times New Roman" pitchFamily="18" charset="0"/>
              </a:rPr>
              <a:t>≡ 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3</a:t>
            </a:r>
            <a:r>
              <a:rPr kumimoji="1" lang="en-US" altLang="ru-RU" sz="2400" i="1" baseline="30000">
                <a:latin typeface="Times New Roman" pitchFamily="18" charset="0"/>
                <a:cs typeface="Times New Roman" pitchFamily="18" charset="0"/>
              </a:rPr>
              <a:t>3.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3</a:t>
            </a:r>
            <a:r>
              <a:rPr kumimoji="1" lang="en-US" altLang="ru-RU" sz="2400" i="1" baseline="30000">
                <a:latin typeface="Times New Roman" pitchFamily="18" charset="0"/>
                <a:cs typeface="Times New Roman" pitchFamily="18" charset="0"/>
              </a:rPr>
              <a:t>3 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(mod 13)</a:t>
            </a:r>
            <a:r>
              <a:rPr kumimoji="1" lang="en-US" altLang="ru-RU" sz="2400" b="1" i="1">
                <a:latin typeface="Times New Roman" pitchFamily="18" charset="0"/>
              </a:rPr>
              <a:t> </a:t>
            </a:r>
            <a:r>
              <a:rPr kumimoji="1" lang="en-US" altLang="ru-RU" sz="2400" i="1">
                <a:latin typeface="Times New Roman" pitchFamily="18" charset="0"/>
              </a:rPr>
              <a:t>≡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 27</a:t>
            </a:r>
            <a:r>
              <a:rPr kumimoji="1" lang="en-US" altLang="ru-RU" sz="2400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27(mod 13)</a:t>
            </a:r>
            <a:r>
              <a:rPr kumimoji="1" lang="en-US" altLang="ru-RU" sz="2400" b="1" i="1">
                <a:latin typeface="Times New Roman" pitchFamily="18" charset="0"/>
              </a:rPr>
              <a:t> ≡</a:t>
            </a:r>
          </a:p>
          <a:p>
            <a:pPr algn="just" eaLnBrk="1" hangingPunct="1">
              <a:spcAft>
                <a:spcPct val="50000"/>
              </a:spcAft>
              <a:buFont typeface="Wingdings" pitchFamily="2" charset="2"/>
              <a:buNone/>
            </a:pP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			</a:t>
            </a:r>
            <a:r>
              <a:rPr kumimoji="1" lang="en-US" altLang="ru-RU" sz="2400" b="1" i="1">
                <a:latin typeface="Times New Roman" pitchFamily="18" charset="0"/>
              </a:rPr>
              <a:t> </a:t>
            </a:r>
            <a:r>
              <a:rPr kumimoji="1" lang="en-US" altLang="ru-RU" sz="2400" i="1">
                <a:latin typeface="Times New Roman" pitchFamily="18" charset="0"/>
              </a:rPr>
              <a:t>≡ 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1" lang="en-US" altLang="ru-RU" sz="2400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1" lang="en-US" altLang="ru-RU" sz="2400" i="1" baseline="300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400" i="1">
                <a:latin typeface="Times New Roman" pitchFamily="18" charset="0"/>
                <a:cs typeface="Times New Roman" pitchFamily="18" charset="0"/>
              </a:rPr>
              <a:t>(mod 13)</a:t>
            </a:r>
            <a:r>
              <a:rPr kumimoji="1" lang="en-US" altLang="ru-RU" sz="2400" b="1" i="1">
                <a:latin typeface="Times New Roman" pitchFamily="18" charset="0"/>
              </a:rPr>
              <a:t> </a:t>
            </a:r>
            <a:r>
              <a:rPr kumimoji="1" lang="en-US" altLang="ru-RU" sz="2400" i="1">
                <a:latin typeface="Times New Roman" pitchFamily="18" charset="0"/>
              </a:rPr>
              <a:t>=</a:t>
            </a:r>
            <a:r>
              <a:rPr kumimoji="1" lang="en-US" altLang="ru-RU" sz="2400" b="1" i="1">
                <a:latin typeface="Times New Roman" pitchFamily="18" charset="0"/>
              </a:rPr>
              <a:t>1</a:t>
            </a:r>
            <a:r>
              <a:rPr kumimoji="1" lang="en-US" altLang="zh-CN" sz="2400" i="1">
                <a:ea typeface="宋体" charset="-122"/>
                <a:sym typeface="Wingdings" pitchFamily="2" charset="2"/>
              </a:rPr>
              <a:t> </a:t>
            </a:r>
            <a:r>
              <a:rPr kumimoji="1" lang="en-US" altLang="zh-CN" sz="2400" i="1">
                <a:latin typeface="Times New Roman" pitchFamily="18" charset="0"/>
                <a:ea typeface="宋体" charset="-122"/>
                <a:sym typeface="Wingdings" pitchFamily="2" charset="2"/>
              </a:rPr>
              <a:t> </a:t>
            </a:r>
          </a:p>
          <a:p>
            <a:pPr algn="ctr" eaLnBrk="1" hangingPunct="1">
              <a:spcAft>
                <a:spcPct val="50000"/>
              </a:spcAft>
              <a:buFont typeface="Wingdings" pitchFamily="2" charset="2"/>
              <a:buNone/>
            </a:pPr>
            <a:r>
              <a:rPr kumimoji="1" lang="uz-Cyrl-UZ" altLang="ru-RU" sz="2400" b="1">
                <a:latin typeface="Times New Roman" pitchFamily="18" charset="0"/>
                <a:cs typeface="Times New Roman" pitchFamily="18" charset="0"/>
              </a:rPr>
              <a:t>берилган тенглама 2 та ечимга эга, </a:t>
            </a:r>
          </a:p>
          <a:p>
            <a:pPr algn="ctr" eaLnBrk="1" hangingPunct="1">
              <a:spcAft>
                <a:spcPct val="50000"/>
              </a:spcAft>
              <a:buFont typeface="Wingdings" pitchFamily="2" charset="2"/>
              <a:buNone/>
            </a:pPr>
            <a:r>
              <a:rPr kumimoji="1" lang="uz-Cyrl-UZ" altLang="ru-RU" sz="2400" b="1">
                <a:latin typeface="Times New Roman" pitchFamily="18" charset="0"/>
                <a:cs typeface="Times New Roman" pitchFamily="18" charset="0"/>
              </a:rPr>
              <a:t>яъни 3 сони 13 модул бўйича квадратик чегирма.</a:t>
            </a:r>
            <a:endParaRPr kumimoji="1" lang="en-US" altLang="zh-CN" sz="2400" i="1">
              <a:latin typeface="Times New Roman" pitchFamily="18" charset="0"/>
              <a:ea typeface="宋体" charset="-122"/>
              <a:sym typeface="Wingdings" pitchFamily="2" charset="2"/>
            </a:endParaRPr>
          </a:p>
          <a:p>
            <a:pPr algn="just" eaLnBrk="1" hangingPunct="1">
              <a:spcAft>
                <a:spcPct val="50000"/>
              </a:spcAft>
              <a:buFont typeface="Wingdings" pitchFamily="2" charset="2"/>
              <a:buNone/>
            </a:pPr>
            <a:endParaRPr kumimoji="1" lang="en-US" altLang="zh-CN" sz="2400" b="1" i="1">
              <a:latin typeface="Times New Roman" pitchFamily="18" charset="0"/>
              <a:ea typeface="宋体" charset="-122"/>
              <a:sym typeface="Wingdings" pitchFamily="2" charset="2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561138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669907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95288" y="188913"/>
            <a:ext cx="8316912" cy="442912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003399">
                <a:gamma/>
                <a:shade val="60000"/>
                <a:invGamma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defRPr/>
            </a:pPr>
            <a:r>
              <a:rPr lang="uz-Cyrl-UZ" altLang="ru-RU" sz="23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Лежандр символи</a:t>
            </a:r>
            <a:endParaRPr lang="ru-RU" altLang="ru-RU" sz="2300" smtClean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9223" name="AutoShape 13" descr="Точечные ромбики"/>
          <p:cNvSpPr>
            <a:spLocks noChangeArrowheads="1"/>
          </p:cNvSpPr>
          <p:nvPr/>
        </p:nvSpPr>
        <p:spPr bwMode="auto">
          <a:xfrm>
            <a:off x="250825" y="725488"/>
            <a:ext cx="8628063" cy="6002337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ru-RU" sz="2000">
                <a:solidFill>
                  <a:schemeClr val="accent2"/>
                </a:solidFill>
                <a:latin typeface="Times New Roman" pitchFamily="18" charset="0"/>
              </a:rPr>
              <a:t>Таъриф-3.</a:t>
            </a:r>
            <a:r>
              <a:rPr kumimoji="1" lang="uz-Cyrl-UZ" altLang="ru-RU" sz="2000">
                <a:latin typeface="Times New Roman" pitchFamily="18" charset="0"/>
              </a:rPr>
              <a:t> </a:t>
            </a:r>
            <a:r>
              <a:rPr kumimoji="1" lang="uz-Cyrl-UZ" altLang="ru-RU" sz="2000" b="1" i="1">
                <a:latin typeface="Times New Roman" pitchFamily="18" charset="0"/>
              </a:rPr>
              <a:t>Лежандр символи</a:t>
            </a:r>
            <a:r>
              <a:rPr kumimoji="1" lang="uz-Cyrl-UZ" altLang="ru-RU" sz="2000">
                <a:latin typeface="Times New Roman" pitchFamily="18" charset="0"/>
              </a:rPr>
              <a:t> деб, қуйидаги: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en-US" altLang="ru-RU" sz="2000" b="1" i="1">
                <a:latin typeface="Times New Roman" pitchFamily="18" charset="0"/>
              </a:rPr>
              <a:t>     L(a/p)=1, </a:t>
            </a:r>
            <a:r>
              <a:rPr kumimoji="1" lang="uz-Cyrl-UZ" altLang="ru-RU" sz="2000">
                <a:latin typeface="Times New Roman" pitchFamily="18" charset="0"/>
              </a:rPr>
              <a:t>агар </a:t>
            </a:r>
            <a:r>
              <a:rPr kumimoji="1" lang="en-US" altLang="ru-RU" sz="2000" i="1">
                <a:latin typeface="Times New Roman" pitchFamily="18" charset="0"/>
              </a:rPr>
              <a:t>a</a:t>
            </a:r>
            <a:r>
              <a:rPr kumimoji="1" lang="en-US" altLang="ru-RU" sz="2000">
                <a:latin typeface="Times New Roman" pitchFamily="18" charset="0"/>
              </a:rPr>
              <a:t> </a:t>
            </a:r>
            <a:r>
              <a:rPr kumimoji="1" lang="uz-Cyrl-UZ" altLang="ru-RU" sz="2000">
                <a:latin typeface="Times New Roman" pitchFamily="18" charset="0"/>
              </a:rPr>
              <a:t>сон </a:t>
            </a:r>
            <a:r>
              <a:rPr kumimoji="1" lang="en-US" altLang="ru-RU" sz="2000" i="1">
                <a:latin typeface="Times New Roman" pitchFamily="18" charset="0"/>
              </a:rPr>
              <a:t>p (p&gt;2)</a:t>
            </a:r>
            <a:r>
              <a:rPr kumimoji="1" lang="uz-Cyrl-UZ" altLang="ru-RU" sz="2000">
                <a:latin typeface="Times New Roman" pitchFamily="18" charset="0"/>
              </a:rPr>
              <a:t> туб модул бўйича кв.чегирма бўлса</a:t>
            </a:r>
            <a:r>
              <a:rPr kumimoji="1" lang="en-US" altLang="ru-RU" sz="2000">
                <a:latin typeface="Times New Roman" pitchFamily="18" charset="0"/>
              </a:rPr>
              <a:t>;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en-US" altLang="ru-RU" sz="2000" b="1" i="1">
                <a:latin typeface="Times New Roman" pitchFamily="18" charset="0"/>
              </a:rPr>
              <a:t>     L(a/p)=-1, </a:t>
            </a:r>
            <a:r>
              <a:rPr kumimoji="1" lang="uz-Cyrl-UZ" altLang="ru-RU" sz="2000">
                <a:latin typeface="Times New Roman" pitchFamily="18" charset="0"/>
              </a:rPr>
              <a:t>агар </a:t>
            </a:r>
            <a:r>
              <a:rPr kumimoji="1" lang="en-US" altLang="ru-RU" sz="2000" i="1">
                <a:latin typeface="Times New Roman" pitchFamily="18" charset="0"/>
              </a:rPr>
              <a:t>a</a:t>
            </a:r>
            <a:r>
              <a:rPr kumimoji="1" lang="en-US" altLang="ru-RU" sz="2000">
                <a:latin typeface="Times New Roman" pitchFamily="18" charset="0"/>
              </a:rPr>
              <a:t> </a:t>
            </a:r>
            <a:r>
              <a:rPr kumimoji="1" lang="uz-Cyrl-UZ" altLang="ru-RU" sz="2000">
                <a:latin typeface="Times New Roman" pitchFamily="18" charset="0"/>
              </a:rPr>
              <a:t>сон </a:t>
            </a:r>
            <a:r>
              <a:rPr kumimoji="1" lang="en-US" altLang="ru-RU" sz="2000" i="1">
                <a:latin typeface="Times New Roman" pitchFamily="18" charset="0"/>
              </a:rPr>
              <a:t>p (p&gt;2)</a:t>
            </a:r>
            <a:r>
              <a:rPr kumimoji="1" lang="uz-Cyrl-UZ" altLang="ru-RU" sz="2000">
                <a:latin typeface="Times New Roman" pitchFamily="18" charset="0"/>
              </a:rPr>
              <a:t> туб модул бўйича кв.</a:t>
            </a:r>
            <a:r>
              <a:rPr kumimoji="1" lang="ru-RU" altLang="ru-RU" sz="2000">
                <a:latin typeface="Times New Roman" pitchFamily="18" charset="0"/>
              </a:rPr>
              <a:t>но</a:t>
            </a:r>
            <a:r>
              <a:rPr kumimoji="1" lang="uz-Cyrl-UZ" altLang="ru-RU" sz="2000">
                <a:latin typeface="Times New Roman" pitchFamily="18" charset="0"/>
              </a:rPr>
              <a:t>чегирма</a:t>
            </a:r>
            <a:r>
              <a:rPr kumimoji="1" lang="en-US" altLang="ru-RU" sz="2000">
                <a:latin typeface="Times New Roman" pitchFamily="18" charset="0"/>
              </a:rPr>
              <a:t> </a:t>
            </a:r>
            <a:r>
              <a:rPr kumimoji="1" lang="uz-Cyrl-UZ" altLang="ru-RU" sz="2000">
                <a:latin typeface="Times New Roman" pitchFamily="18" charset="0"/>
              </a:rPr>
              <a:t>бўлса</a:t>
            </a:r>
            <a:r>
              <a:rPr kumimoji="1" lang="en-US" altLang="ru-RU" sz="2000">
                <a:latin typeface="Times New Roman" pitchFamily="18" charset="0"/>
              </a:rPr>
              <a:t>.</a:t>
            </a:r>
            <a:endParaRPr kumimoji="1" lang="ru-RU" altLang="ru-RU" sz="2000">
              <a:latin typeface="Times New Roman" pitchFamily="18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ru-RU" sz="2000">
                <a:latin typeface="Times New Roman" pitchFamily="18" charset="0"/>
              </a:rPr>
              <a:t>     шартларни     қаноатлантирувчи     символга      айтилади.   </a:t>
            </a:r>
            <a:r>
              <a:rPr kumimoji="1" lang="en-US" altLang="ru-RU" sz="2000" i="1">
                <a:latin typeface="Times New Roman" pitchFamily="18" charset="0"/>
              </a:rPr>
              <a:t>a</a:t>
            </a:r>
            <a:r>
              <a:rPr kumimoji="1" lang="uz-Cyrl-UZ" altLang="ru-RU" sz="2000" i="1">
                <a:latin typeface="Times New Roman" pitchFamily="18" charset="0"/>
              </a:rPr>
              <a:t>   </a:t>
            </a:r>
            <a:r>
              <a:rPr kumimoji="1" lang="en-US" altLang="ru-RU" sz="2000">
                <a:latin typeface="Times New Roman" pitchFamily="18" charset="0"/>
              </a:rPr>
              <a:t>–</a:t>
            </a:r>
            <a:r>
              <a:rPr kumimoji="1" lang="uz-Cyrl-UZ" altLang="ru-RU" sz="2000">
                <a:latin typeface="Times New Roman" pitchFamily="18" charset="0"/>
              </a:rPr>
              <a:t>    Лежандр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ru-RU" sz="2000">
                <a:latin typeface="Times New Roman" pitchFamily="18" charset="0"/>
              </a:rPr>
              <a:t>     символнинг </a:t>
            </a:r>
            <a:r>
              <a:rPr kumimoji="1" lang="uz-Cyrl-UZ" altLang="ru-RU" sz="2000" u="sng">
                <a:latin typeface="Times New Roman" pitchFamily="18" charset="0"/>
              </a:rPr>
              <a:t>сурати</a:t>
            </a:r>
            <a:r>
              <a:rPr kumimoji="1" lang="uz-Cyrl-UZ" altLang="ru-RU" sz="2000">
                <a:latin typeface="Times New Roman" pitchFamily="18" charset="0"/>
              </a:rPr>
              <a:t>,  </a:t>
            </a:r>
            <a:r>
              <a:rPr kumimoji="1" lang="en-US" altLang="ru-RU" sz="2000" i="1">
                <a:latin typeface="Times New Roman" pitchFamily="18" charset="0"/>
              </a:rPr>
              <a:t>p</a:t>
            </a:r>
            <a:r>
              <a:rPr kumimoji="1" lang="en-US" altLang="ru-RU" sz="2000">
                <a:latin typeface="Times New Roman" pitchFamily="18" charset="0"/>
              </a:rPr>
              <a:t> –</a:t>
            </a:r>
            <a:r>
              <a:rPr kumimoji="1" lang="uz-Cyrl-UZ" altLang="ru-RU" sz="2000">
                <a:latin typeface="Times New Roman" pitchFamily="18" charset="0"/>
              </a:rPr>
              <a:t> эса </a:t>
            </a:r>
            <a:r>
              <a:rPr kumimoji="1" lang="uz-Cyrl-UZ" altLang="ru-RU" sz="2000" u="sng">
                <a:latin typeface="Times New Roman" pitchFamily="18" charset="0"/>
              </a:rPr>
              <a:t>махражи</a:t>
            </a:r>
            <a:r>
              <a:rPr kumimoji="1" lang="uz-Cyrl-UZ" altLang="ru-RU" sz="2000">
                <a:latin typeface="Times New Roman" pitchFamily="18" charset="0"/>
              </a:rPr>
              <a:t> дейилади.</a:t>
            </a:r>
            <a:endParaRPr kumimoji="1" lang="en-US" altLang="ru-RU" sz="2000">
              <a:latin typeface="Times New Roman" pitchFamily="18" charset="0"/>
            </a:endParaRPr>
          </a:p>
          <a:p>
            <a:pPr algn="ctr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ru-RU" sz="2000" u="sng">
                <a:solidFill>
                  <a:schemeClr val="accent2"/>
                </a:solidFill>
                <a:latin typeface="Times New Roman" pitchFamily="18" charset="0"/>
              </a:rPr>
              <a:t>Лежандр символи хоссалари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ru-RU" sz="2000" b="1" i="1">
                <a:solidFill>
                  <a:schemeClr val="accent2"/>
                </a:solidFill>
                <a:latin typeface="Times New Roman" pitchFamily="18" charset="0"/>
              </a:rPr>
              <a:t>1</a:t>
            </a:r>
            <a:r>
              <a:rPr kumimoji="1" lang="uz-Cyrl-UZ" altLang="ru-RU" sz="2000" b="1" i="1" baseline="30000">
                <a:solidFill>
                  <a:schemeClr val="accent2"/>
                </a:solidFill>
                <a:latin typeface="Times New Roman" pitchFamily="18" charset="0"/>
              </a:rPr>
              <a:t>о</a:t>
            </a:r>
            <a:r>
              <a:rPr kumimoji="1" lang="uz-Cyrl-UZ" altLang="ru-RU" sz="2000" b="1" i="1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uz-Cyrl-UZ" altLang="ru-RU" sz="2000" i="1">
                <a:latin typeface="Times New Roman" pitchFamily="18" charset="0"/>
              </a:rPr>
              <a:t> Агар </a:t>
            </a:r>
            <a:r>
              <a:rPr kumimoji="1" lang="en-US" altLang="ru-RU" sz="2000" i="1">
                <a:latin typeface="Times New Roman" pitchFamily="18" charset="0"/>
              </a:rPr>
              <a:t>a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≡a</a:t>
            </a:r>
            <a:r>
              <a:rPr kumimoji="1" lang="en-US" altLang="ru-RU" sz="2000" i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(mod p) 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бўлса, у ҳолда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L(a/p)=L(a</a:t>
            </a:r>
            <a:r>
              <a:rPr kumimoji="1" lang="uz-Cyrl-UZ" altLang="ru-RU" sz="2000" i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/p) 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– ўринли бўлади.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1" lang="uz-Cyrl-UZ" altLang="ru-RU" sz="2000" b="1" i="1" baseline="30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о</a:t>
            </a:r>
            <a:r>
              <a:rPr kumimoji="1" lang="uz-Cyrl-UZ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L(1/p)=1;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en-US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kumimoji="1" lang="uz-Cyrl-UZ" altLang="ru-RU" sz="2000" b="1" i="1" baseline="30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о</a:t>
            </a:r>
            <a:r>
              <a:rPr kumimoji="1" lang="uz-Cyrl-UZ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L(-1/p)=(-1)</a:t>
            </a:r>
            <a:r>
              <a:rPr kumimoji="1" lang="en-US" altLang="ru-RU" sz="2000" i="1" baseline="30000">
                <a:latin typeface="Times New Roman" pitchFamily="18" charset="0"/>
                <a:cs typeface="Times New Roman" pitchFamily="18" charset="0"/>
              </a:rPr>
              <a:t>(p-1)/2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en-US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kumimoji="1" lang="ru-RU" altLang="ru-RU" sz="2000" b="1" i="1" baseline="30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о</a:t>
            </a:r>
            <a:r>
              <a:rPr kumimoji="1" lang="ru-RU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ru-RU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L(2/p)=(-1)</a:t>
            </a:r>
            <a:r>
              <a:rPr kumimoji="1" lang="en-US" altLang="ru-RU" sz="2000" i="1" baseline="30000">
                <a:latin typeface="Times New Roman" pitchFamily="18" charset="0"/>
                <a:cs typeface="Times New Roman" pitchFamily="18" charset="0"/>
              </a:rPr>
              <a:t>(p*p-1)/8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en-US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kumimoji="1" lang="ru-RU" altLang="ru-RU" sz="2000" b="1" i="1" baseline="30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о</a:t>
            </a:r>
            <a:r>
              <a:rPr kumimoji="1" lang="ru-RU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ru-RU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L((a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c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...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t)/p)=L(a/p)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L(b/p)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L(c/p)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...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L(t/p);</a:t>
            </a:r>
            <a:r>
              <a:rPr kumimoji="1" lang="ru-RU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endParaRPr kumimoji="1" lang="en-US" altLang="ru-RU" sz="2000" i="1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en-US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kumimoji="1" lang="ru-RU" altLang="ru-RU" sz="2000" b="1" i="1" baseline="30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о</a:t>
            </a:r>
            <a:r>
              <a:rPr kumimoji="1" lang="ru-RU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ru-RU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L(a</a:t>
            </a:r>
            <a:r>
              <a:rPr kumimoji="1" lang="en-US" altLang="ru-RU" sz="2000" b="1" i="1" baseline="30000"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b</a:t>
            </a:r>
            <a:r>
              <a:rPr kumimoji="1" lang="en-US" altLang="ru-RU" sz="2000" i="1" baseline="30000"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/p)=L(a/p);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en-US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kumimoji="1" lang="ru-RU" altLang="ru-RU" sz="2000" b="1" i="1" baseline="3000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о</a:t>
            </a:r>
            <a:r>
              <a:rPr kumimoji="1" lang="ru-RU" altLang="ru-RU" sz="2000" b="1" i="1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ru-RU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Агар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p </a:t>
            </a:r>
            <a:r>
              <a:rPr kumimoji="1" lang="ru-RU" altLang="ru-RU" sz="2000" i="1">
                <a:latin typeface="Times New Roman" pitchFamily="18" charset="0"/>
                <a:cs typeface="Times New Roman" pitchFamily="18" charset="0"/>
              </a:rPr>
              <a:t>ва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q 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сонлар тоқ туб сонлар бўлса,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L(p/q)=(-1)</a:t>
            </a:r>
            <a:r>
              <a:rPr kumimoji="1" lang="en-US" altLang="ru-RU" sz="2000" i="1" baseline="30000">
                <a:latin typeface="Times New Roman" pitchFamily="18" charset="0"/>
                <a:cs typeface="Times New Roman" pitchFamily="18" charset="0"/>
              </a:rPr>
              <a:t>(p-1)(q-1)/4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L(q/p);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ru-RU" sz="2000">
                <a:latin typeface="Times New Roman" pitchFamily="18" charset="0"/>
                <a:cs typeface="Times New Roman" pitchFamily="18" charset="0"/>
              </a:rPr>
              <a:t>Агар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a=0 </a:t>
            </a:r>
            <a:r>
              <a:rPr kumimoji="1" lang="uz-Cyrl-UZ" altLang="ru-RU" sz="2000">
                <a:latin typeface="Times New Roman" pitchFamily="18" charset="0"/>
                <a:cs typeface="Times New Roman" pitchFamily="18" charset="0"/>
              </a:rPr>
              <a:t>бўлса,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000" i="1">
                <a:latin typeface="Times New Roman" pitchFamily="18" charset="0"/>
                <a:cs typeface="Times New Roman" pitchFamily="18" charset="0"/>
              </a:rPr>
              <a:t>L(0/p)=0 </a:t>
            </a:r>
            <a:r>
              <a:rPr kumimoji="1" lang="uz-Cyrl-UZ" altLang="ru-RU" sz="2000">
                <a:latin typeface="Times New Roman" pitchFamily="18" charset="0"/>
                <a:cs typeface="Times New Roman" pitchFamily="18" charset="0"/>
              </a:rPr>
              <a:t>бўлиб</a:t>
            </a:r>
            <a:r>
              <a:rPr kumimoji="1" lang="uz-Cyrl-UZ" altLang="ru-RU" sz="2000" i="1"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1" lang="uz-Cyrl-UZ" altLang="ru-RU" sz="2000">
                <a:latin typeface="Times New Roman" pitchFamily="18" charset="0"/>
                <a:cs typeface="Times New Roman" pitchFamily="18" charset="0"/>
              </a:rPr>
              <a:t>(1) тенгламанинг ечими нол бўлади. </a:t>
            </a:r>
            <a:endParaRPr kumimoji="1" lang="en-US" altLang="ru-RU" sz="20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2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2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2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2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2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2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2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2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382570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246" name="AutoShape 13" descr="Точечные ромбики"/>
          <p:cNvSpPr>
            <a:spLocks noChangeArrowheads="1"/>
          </p:cNvSpPr>
          <p:nvPr/>
        </p:nvSpPr>
        <p:spPr bwMode="auto">
          <a:xfrm>
            <a:off x="250825" y="704850"/>
            <a:ext cx="8628063" cy="5230813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400" b="1">
                <a:solidFill>
                  <a:schemeClr val="accent2"/>
                </a:solidFill>
                <a:latin typeface="Times New Roman" pitchFamily="18" charset="0"/>
              </a:rPr>
              <a:t>Мисол</a:t>
            </a:r>
            <a:r>
              <a:rPr kumimoji="1" lang="uz-Cyrl-UZ" altLang="ru-RU" sz="240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uz-Cyrl-UZ" altLang="ru-RU" sz="2400">
                <a:latin typeface="Times New Roman" pitchFamily="18" charset="0"/>
              </a:rPr>
              <a:t> </a:t>
            </a:r>
            <a:r>
              <a:rPr kumimoji="1" lang="en-US" altLang="ru-RU" sz="2400">
                <a:latin typeface="Times New Roman" pitchFamily="18" charset="0"/>
              </a:rPr>
              <a:t> </a:t>
            </a:r>
            <a:r>
              <a:rPr kumimoji="1" lang="en-US" altLang="ru-RU" sz="2400" b="1" i="1">
                <a:latin typeface="Times New Roman" pitchFamily="18" charset="0"/>
              </a:rPr>
              <a:t>x</a:t>
            </a:r>
            <a:r>
              <a:rPr kumimoji="1" lang="en-US" altLang="ru-RU" sz="2400" b="1" i="1" baseline="30000">
                <a:latin typeface="Times New Roman" pitchFamily="18" charset="0"/>
              </a:rPr>
              <a:t>2</a:t>
            </a:r>
            <a:r>
              <a:rPr kumimoji="1" lang="en-US" altLang="ru-RU" sz="2400" b="1" i="1">
                <a:latin typeface="Times New Roman" pitchFamily="18" charset="0"/>
                <a:cs typeface="Times New Roman" pitchFamily="18" charset="0"/>
              </a:rPr>
              <a:t>≡111 (mod 271) </a:t>
            </a:r>
            <a:r>
              <a:rPr kumimoji="1" lang="uz-Cyrl-UZ" altLang="ru-RU" sz="2400" b="1">
                <a:latin typeface="Times New Roman" pitchFamily="18" charset="0"/>
                <a:cs typeface="Times New Roman" pitchFamily="18" charset="0"/>
              </a:rPr>
              <a:t>таққосламани Лежандир символи 	ёрдамида ечими бор ёки йўқлигини текшириш</a:t>
            </a:r>
            <a:r>
              <a:rPr kumimoji="1" lang="uz-Cyrl-UZ" altLang="ru-RU" sz="2400" b="1">
                <a:latin typeface="Times New Roman" pitchFamily="18" charset="0"/>
              </a:rPr>
              <a:t>.</a:t>
            </a:r>
            <a:r>
              <a:rPr kumimoji="1" lang="uz-Cyrl-UZ" altLang="ru-RU" sz="2400" b="1" i="1">
                <a:latin typeface="Times New Roman" pitchFamily="18" charset="0"/>
              </a:rPr>
              <a:t> 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endParaRPr kumimoji="1" lang="en-US" altLang="ru-RU" sz="1000" b="1" i="1">
              <a:latin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400" b="1">
                <a:latin typeface="Times New Roman" pitchFamily="18" charset="0"/>
              </a:rPr>
              <a:t>Ечиш</a:t>
            </a:r>
            <a:r>
              <a:rPr kumimoji="1" lang="uz-Cyrl-UZ" altLang="ru-RU" sz="2400">
                <a:latin typeface="Times New Roman" pitchFamily="18" charset="0"/>
              </a:rPr>
              <a:t>:</a:t>
            </a:r>
            <a:r>
              <a:rPr kumimoji="1" lang="uz-Cyrl-UZ" altLang="ru-RU" sz="2400" i="1">
                <a:latin typeface="Times New Roman" pitchFamily="18" charset="0"/>
              </a:rPr>
              <a:t> </a:t>
            </a:r>
            <a:r>
              <a:rPr kumimoji="1" lang="en-US" altLang="ru-RU" sz="2400" i="1">
                <a:latin typeface="Times New Roman" pitchFamily="18" charset="0"/>
              </a:rPr>
              <a:t>  L</a:t>
            </a:r>
            <a:r>
              <a:rPr kumimoji="1" lang="uz-Cyrl-UZ" altLang="ru-RU" sz="2400" i="1">
                <a:latin typeface="Times New Roman" pitchFamily="18" charset="0"/>
              </a:rPr>
              <a:t>(111/271)</a:t>
            </a:r>
            <a:r>
              <a:rPr kumimoji="1" lang="en-US" altLang="ru-RU" sz="2400" i="1">
                <a:latin typeface="Times New Roman" pitchFamily="18" charset="0"/>
              </a:rPr>
              <a:t>=L</a:t>
            </a:r>
            <a:r>
              <a:rPr kumimoji="1" lang="uz-Cyrl-UZ" altLang="ru-RU" sz="2400" i="1">
                <a:latin typeface="Times New Roman" pitchFamily="18" charset="0"/>
              </a:rPr>
              <a:t>(</a:t>
            </a:r>
            <a:r>
              <a:rPr kumimoji="1" lang="uz-Cyrl-UZ" altLang="ru-RU" sz="2400" b="1" i="1">
                <a:solidFill>
                  <a:srgbClr val="C00000"/>
                </a:solidFill>
                <a:latin typeface="Times New Roman" pitchFamily="18" charset="0"/>
              </a:rPr>
              <a:t>3</a:t>
            </a:r>
            <a:r>
              <a:rPr kumimoji="1" lang="uz-Cyrl-UZ" altLang="ru-RU" sz="2400" b="1" i="1" baseline="30000">
                <a:latin typeface="Times New Roman" pitchFamily="18" charset="0"/>
              </a:rPr>
              <a:t>.</a:t>
            </a:r>
            <a:r>
              <a:rPr kumimoji="1" lang="uz-Cyrl-UZ" altLang="ru-RU" sz="2400" i="1">
                <a:latin typeface="Times New Roman" pitchFamily="18" charset="0"/>
              </a:rPr>
              <a:t>37/271)</a:t>
            </a:r>
            <a:r>
              <a:rPr kumimoji="1" lang="en-US" altLang="ru-RU" sz="2400" i="1">
                <a:latin typeface="Times New Roman" pitchFamily="18" charset="0"/>
              </a:rPr>
              <a:t>=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L(3/271)</a:t>
            </a:r>
            <a:r>
              <a:rPr kumimoji="1" lang="en-US" altLang="ru-RU" sz="2400" i="1">
                <a:latin typeface="Times New Roman" pitchFamily="18" charset="0"/>
              </a:rPr>
              <a:t> </a:t>
            </a:r>
            <a:r>
              <a:rPr kumimoji="1" lang="en-US" altLang="ru-RU" sz="2400" b="1" i="1" baseline="30000">
                <a:latin typeface="Times New Roman" pitchFamily="18" charset="0"/>
              </a:rPr>
              <a:t>. </a:t>
            </a:r>
            <a:r>
              <a:rPr kumimoji="1" lang="en-US" altLang="ru-RU" sz="2400" i="1">
                <a:latin typeface="Times New Roman" pitchFamily="18" charset="0"/>
              </a:rPr>
              <a:t>L(37/271)=</a:t>
            </a: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ru-RU" sz="2400" i="1">
                <a:latin typeface="Times New Roman" pitchFamily="18" charset="0"/>
              </a:rPr>
              <a:t>	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=(-1)</a:t>
            </a:r>
            <a:r>
              <a:rPr kumimoji="1" lang="en-US" altLang="ru-RU" sz="2400" b="1" i="1" baseline="30000">
                <a:solidFill>
                  <a:srgbClr val="C00000"/>
                </a:solidFill>
                <a:latin typeface="Times New Roman" pitchFamily="18" charset="0"/>
              </a:rPr>
              <a:t>(3-1)(271-1)/4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L(271/3) </a:t>
            </a:r>
            <a:r>
              <a:rPr kumimoji="1" lang="en-US" altLang="ru-RU" sz="2400" b="1" i="1" baseline="30000">
                <a:latin typeface="Times New Roman" pitchFamily="18" charset="0"/>
              </a:rPr>
              <a:t>. </a:t>
            </a:r>
            <a:r>
              <a:rPr kumimoji="1" lang="en-US" altLang="ru-RU" sz="2400" i="1">
                <a:latin typeface="Times New Roman" pitchFamily="18" charset="0"/>
              </a:rPr>
              <a:t>(-1)</a:t>
            </a:r>
            <a:r>
              <a:rPr kumimoji="1" lang="en-US" altLang="ru-RU" sz="2400" i="1" baseline="30000">
                <a:latin typeface="Times New Roman" pitchFamily="18" charset="0"/>
              </a:rPr>
              <a:t>(37-1)(271-1)/4</a:t>
            </a:r>
            <a:r>
              <a:rPr kumimoji="1" lang="en-US" altLang="ru-RU" sz="2400" i="1">
                <a:latin typeface="Times New Roman" pitchFamily="18" charset="0"/>
              </a:rPr>
              <a:t>L(271/31)=</a:t>
            </a: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ru-RU" sz="2400" i="1">
                <a:latin typeface="Times New Roman" pitchFamily="18" charset="0"/>
              </a:rPr>
              <a:t>	=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(-1)</a:t>
            </a:r>
            <a:r>
              <a:rPr kumimoji="1" lang="en-US" altLang="ru-RU" sz="2400" b="1" i="1" baseline="30000">
                <a:solidFill>
                  <a:srgbClr val="C00000"/>
                </a:solidFill>
                <a:latin typeface="Times New Roman" pitchFamily="18" charset="0"/>
              </a:rPr>
              <a:t>135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L(1/3) </a:t>
            </a:r>
            <a:r>
              <a:rPr kumimoji="1" lang="en-US" altLang="ru-RU" sz="2400" b="1" i="1" baseline="30000">
                <a:latin typeface="Times New Roman" pitchFamily="18" charset="0"/>
              </a:rPr>
              <a:t>. </a:t>
            </a:r>
            <a:r>
              <a:rPr kumimoji="1" lang="en-US" altLang="ru-RU" sz="2400" i="1">
                <a:latin typeface="Times New Roman" pitchFamily="18" charset="0"/>
              </a:rPr>
              <a:t>(-1)</a:t>
            </a:r>
            <a:r>
              <a:rPr kumimoji="1" lang="en-US" altLang="ru-RU" sz="2400" i="1" baseline="30000">
                <a:latin typeface="Times New Roman" pitchFamily="18" charset="0"/>
              </a:rPr>
              <a:t>2430</a:t>
            </a:r>
            <a:r>
              <a:rPr kumimoji="1" lang="en-US" altLang="ru-RU" sz="2400" i="1">
                <a:latin typeface="Times New Roman" pitchFamily="18" charset="0"/>
              </a:rPr>
              <a:t>L(12/37) = 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(-1)</a:t>
            </a:r>
            <a:r>
              <a:rPr kumimoji="1" lang="en-US" altLang="ru-RU" sz="2400" b="1" i="1" baseline="30000">
                <a:latin typeface="Times New Roman" pitchFamily="18" charset="0"/>
              </a:rPr>
              <a:t>.</a:t>
            </a:r>
            <a:r>
              <a:rPr kumimoji="1" lang="en-US" altLang="ru-RU" sz="2400" i="1">
                <a:latin typeface="Times New Roman" pitchFamily="18" charset="0"/>
              </a:rPr>
              <a:t>L(2</a:t>
            </a:r>
            <a:r>
              <a:rPr kumimoji="1" lang="en-US" altLang="ru-RU" sz="2400" i="1" baseline="30000">
                <a:latin typeface="Times New Roman" pitchFamily="18" charset="0"/>
              </a:rPr>
              <a:t>2</a:t>
            </a:r>
            <a:r>
              <a:rPr kumimoji="1" lang="en-US" altLang="ru-RU" sz="2400" b="1" i="1" baseline="30000">
                <a:latin typeface="Times New Roman" pitchFamily="18" charset="0"/>
              </a:rPr>
              <a:t>.</a:t>
            </a:r>
            <a:r>
              <a:rPr kumimoji="1" lang="en-US" altLang="ru-RU" sz="2400" i="1">
                <a:latin typeface="Times New Roman" pitchFamily="18" charset="0"/>
              </a:rPr>
              <a:t>3/37)=</a:t>
            </a: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ru-RU" sz="2400" i="1">
                <a:latin typeface="Times New Roman" pitchFamily="18" charset="0"/>
              </a:rPr>
              <a:t>	= 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(-1)</a:t>
            </a:r>
            <a:r>
              <a:rPr kumimoji="1" lang="en-US" altLang="ru-RU" sz="2400" b="1" i="1" baseline="30000">
                <a:latin typeface="Times New Roman" pitchFamily="18" charset="0"/>
              </a:rPr>
              <a:t>.</a:t>
            </a:r>
            <a:r>
              <a:rPr kumimoji="1" lang="en-US" altLang="ru-RU" sz="2400" i="1">
                <a:latin typeface="Times New Roman" pitchFamily="18" charset="0"/>
              </a:rPr>
              <a:t>L(3/37) = 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(-1)</a:t>
            </a:r>
            <a:r>
              <a:rPr kumimoji="1" lang="en-US" altLang="ru-RU" sz="2400" b="1" i="1" baseline="30000">
                <a:latin typeface="Times New Roman" pitchFamily="18" charset="0"/>
              </a:rPr>
              <a:t>.</a:t>
            </a:r>
            <a:r>
              <a:rPr kumimoji="1" lang="en-US" altLang="ru-RU" sz="2400" i="1">
                <a:latin typeface="Times New Roman" pitchFamily="18" charset="0"/>
              </a:rPr>
              <a:t>(-1)</a:t>
            </a:r>
            <a:r>
              <a:rPr kumimoji="1" lang="en-US" altLang="ru-RU" sz="2400" i="1" baseline="30000">
                <a:latin typeface="Times New Roman" pitchFamily="18" charset="0"/>
              </a:rPr>
              <a:t>(3-1)(37-1)/4</a:t>
            </a:r>
            <a:r>
              <a:rPr kumimoji="1" lang="en-US" altLang="ru-RU" sz="2400" i="1">
                <a:latin typeface="Times New Roman" pitchFamily="18" charset="0"/>
              </a:rPr>
              <a:t>L(37/3)=</a:t>
            </a: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ru-RU" sz="2400" i="1">
                <a:latin typeface="Times New Roman" pitchFamily="18" charset="0"/>
              </a:rPr>
              <a:t>	= 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(-1)</a:t>
            </a:r>
            <a:r>
              <a:rPr kumimoji="1" lang="en-US" altLang="ru-RU" sz="2400" b="1" i="1" baseline="30000">
                <a:latin typeface="Times New Roman" pitchFamily="18" charset="0"/>
              </a:rPr>
              <a:t>.</a:t>
            </a:r>
            <a:r>
              <a:rPr kumimoji="1" lang="en-US" altLang="ru-RU" sz="2400" i="1">
                <a:latin typeface="Times New Roman" pitchFamily="18" charset="0"/>
              </a:rPr>
              <a:t>(-1)</a:t>
            </a:r>
            <a:r>
              <a:rPr kumimoji="1" lang="en-US" altLang="ru-RU" sz="2400" i="1" baseline="30000">
                <a:latin typeface="Times New Roman" pitchFamily="18" charset="0"/>
              </a:rPr>
              <a:t>18</a:t>
            </a:r>
            <a:r>
              <a:rPr kumimoji="1" lang="en-US" altLang="ru-RU" sz="2400" i="1">
                <a:latin typeface="Times New Roman" pitchFamily="18" charset="0"/>
              </a:rPr>
              <a:t>L(1/3)=</a:t>
            </a:r>
            <a:r>
              <a:rPr kumimoji="1" lang="en-US" altLang="ru-RU" sz="2400" b="1" i="1">
                <a:solidFill>
                  <a:srgbClr val="C00000"/>
                </a:solidFill>
                <a:latin typeface="Times New Roman" pitchFamily="18" charset="0"/>
              </a:rPr>
              <a:t>(-1)</a:t>
            </a:r>
            <a:r>
              <a:rPr kumimoji="1" lang="en-US" altLang="ru-RU" sz="2400" b="1" i="1" baseline="30000">
                <a:solidFill>
                  <a:srgbClr val="C00000"/>
                </a:solidFill>
                <a:latin typeface="Times New Roman" pitchFamily="18" charset="0"/>
              </a:rPr>
              <a:t>.</a:t>
            </a:r>
            <a:r>
              <a:rPr kumimoji="1" lang="en-US" altLang="ru-RU" sz="2400" i="1">
                <a:latin typeface="Times New Roman" pitchFamily="18" charset="0"/>
              </a:rPr>
              <a:t>1=-1 </a:t>
            </a:r>
            <a:r>
              <a:rPr kumimoji="1" lang="uz-Cyrl-UZ" altLang="ru-RU" sz="2400" i="1">
                <a:latin typeface="Times New Roman" pitchFamily="18" charset="0"/>
              </a:rPr>
              <a:t> </a:t>
            </a:r>
            <a:r>
              <a:rPr kumimoji="1" lang="en-US" altLang="ru-RU" sz="1800" i="1">
                <a:sym typeface="Wingdings" pitchFamily="2" charset="2"/>
              </a:rPr>
              <a:t></a:t>
            </a:r>
            <a:endParaRPr kumimoji="1" lang="uz-Cyrl-UZ" altLang="ru-RU" sz="1800" i="1">
              <a:sym typeface="Wingdings" pitchFamily="2" charset="2"/>
            </a:endParaRP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ru-RU" sz="2400" i="1">
                <a:latin typeface="Times New Roman" pitchFamily="18" charset="0"/>
                <a:sym typeface="Wingdings" pitchFamily="2" charset="2"/>
              </a:rPr>
              <a:t> </a:t>
            </a:r>
            <a:r>
              <a:rPr kumimoji="1" lang="uz-Cyrl-UZ" altLang="ru-RU" sz="2400" i="1">
                <a:latin typeface="Times New Roman" pitchFamily="18" charset="0"/>
                <a:sym typeface="Wingdings" pitchFamily="2" charset="2"/>
              </a:rPr>
              <a:t>	</a:t>
            </a:r>
            <a:r>
              <a:rPr kumimoji="1" lang="uz-Cyrl-UZ" altLang="ru-RU" sz="2400">
                <a:latin typeface="Times New Roman" pitchFamily="18" charset="0"/>
                <a:sym typeface="Wingdings" pitchFamily="2" charset="2"/>
              </a:rPr>
              <a:t>Демак</a:t>
            </a:r>
            <a:r>
              <a:rPr kumimoji="1" lang="uz-Cyrl-UZ" altLang="ru-RU" sz="2400" i="1">
                <a:latin typeface="Times New Roman" pitchFamily="18" charset="0"/>
                <a:sym typeface="Wingdings" pitchFamily="2" charset="2"/>
              </a:rPr>
              <a:t>, </a:t>
            </a:r>
            <a:r>
              <a:rPr kumimoji="1" lang="en-US" altLang="ru-RU" sz="2400" i="1">
                <a:latin typeface="Times New Roman" pitchFamily="18" charset="0"/>
                <a:sym typeface="Wingdings" pitchFamily="2" charset="2"/>
              </a:rPr>
              <a:t>111 </a:t>
            </a:r>
            <a:r>
              <a:rPr kumimoji="1" lang="uz-Cyrl-UZ" altLang="ru-RU" sz="2400">
                <a:latin typeface="Times New Roman" pitchFamily="18" charset="0"/>
                <a:sym typeface="Wingdings" pitchFamily="2" charset="2"/>
              </a:rPr>
              <a:t>сони </a:t>
            </a:r>
            <a:r>
              <a:rPr kumimoji="1" lang="en-US" altLang="ru-RU" sz="2400" i="1">
                <a:latin typeface="Times New Roman" pitchFamily="18" charset="0"/>
                <a:sym typeface="Wingdings" pitchFamily="2" charset="2"/>
              </a:rPr>
              <a:t>271</a:t>
            </a:r>
            <a:r>
              <a:rPr kumimoji="1" lang="en-US" altLang="ru-RU" sz="2400">
                <a:latin typeface="Times New Roman" pitchFamily="18" charset="0"/>
                <a:sym typeface="Wingdings" pitchFamily="2" charset="2"/>
              </a:rPr>
              <a:t> </a:t>
            </a:r>
            <a:r>
              <a:rPr kumimoji="1" lang="uz-Cyrl-UZ" altLang="ru-RU" sz="2400">
                <a:latin typeface="Times New Roman" pitchFamily="18" charset="0"/>
                <a:sym typeface="Wingdings" pitchFamily="2" charset="2"/>
              </a:rPr>
              <a:t>модул 	бўйича квадратик чегирма 	эмас, яъни таққослама тенглама ечимга эга эмас.</a:t>
            </a:r>
            <a:endParaRPr kumimoji="1" lang="en-US" altLang="ru-RU" sz="2400"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287338" y="648970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669907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95288" y="127000"/>
            <a:ext cx="8316912" cy="447675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003399">
                <a:gamma/>
                <a:shade val="60000"/>
                <a:invGamma/>
              </a:srgbClr>
            </a:prstShdw>
          </a:effectLst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uz-Cyrl-UZ" sz="23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Дарс давомида мустақил ишлаш учун</a:t>
            </a:r>
            <a:endParaRPr lang="ru-RU" sz="23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1271" name="AutoShape 13" descr="Точечные ромбики"/>
          <p:cNvSpPr>
            <a:spLocks noChangeArrowheads="1"/>
          </p:cNvSpPr>
          <p:nvPr/>
        </p:nvSpPr>
        <p:spPr bwMode="auto">
          <a:xfrm>
            <a:off x="285750" y="836613"/>
            <a:ext cx="8628063" cy="5802312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10800" anchor="ctr"/>
          <a:lstStyle>
            <a:lvl1pPr indent="355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ct val="10000"/>
              </a:spcAft>
              <a:buClrTx/>
              <a:buFontTx/>
              <a:buNone/>
            </a:pPr>
            <a:endParaRPr kumimoji="1" lang="en-US" altLang="uz-Cyrl-UZ" sz="2000" i="1">
              <a:latin typeface="Times New Roman" pitchFamily="18" charset="0"/>
              <a:sym typeface="Wingdings" pitchFamily="2" charset="2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719138" y="1196975"/>
          <a:ext cx="3209925" cy="3657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0273"/>
                <a:gridCol w="643078"/>
                <a:gridCol w="538544"/>
                <a:gridCol w="1558030"/>
              </a:tblGrid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ru-RU" sz="1800" b="1" i="1" dirty="0" smtClean="0">
                          <a:latin typeface="Times New Roman" pitchFamily="18" charset="0"/>
                        </a:rPr>
                        <a:t>L(a/p) = ?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266</a:t>
                      </a: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4</a:t>
                      </a: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12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127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84</a:t>
                      </a: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306</a:t>
                      </a: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139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113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149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648</a:t>
                      </a: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151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816</a:t>
                      </a: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157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620</a:t>
                      </a: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163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88" marR="68588" marT="0" marB="0"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/>
        </p:nvGraphicFramePr>
        <p:xfrm>
          <a:off x="4895850" y="2241550"/>
          <a:ext cx="3101975" cy="36576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70140"/>
                <a:gridCol w="537122"/>
                <a:gridCol w="537122"/>
                <a:gridCol w="1557591"/>
              </a:tblGrid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uz-Cyrl-UZ" sz="18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ru-RU" sz="1800" b="1" i="1" dirty="0" smtClean="0">
                          <a:latin typeface="Times New Roman" pitchFamily="18" charset="0"/>
                        </a:rPr>
                        <a:t>L(a/p) = ?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1" marR="91451" anchor="ctr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198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167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 dirty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616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173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246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179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156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181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816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918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193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180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197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235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199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  <a:tr h="246343">
                <a:tc>
                  <a:txBody>
                    <a:bodyPr/>
                    <a:lstStyle/>
                    <a:p>
                      <a:pPr algn="ctr"/>
                      <a:r>
                        <a:rPr lang="uz-Cyrl-UZ" sz="18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uz-Cyrl-UZ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5" marR="914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uz-Cyrl-UZ" sz="180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effectLst/>
                          <a:latin typeface="Times New Roman" panose="02020603050405020304" pitchFamily="18" charset="0"/>
                          <a:ea typeface="Calibri"/>
                          <a:cs typeface="Times New Roman" panose="02020603050405020304" pitchFamily="18" charset="0"/>
                        </a:rPr>
                        <a:t>211</a:t>
                      </a: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uz-Cyrl-UZ" sz="1800" dirty="0">
                        <a:effectLst/>
                        <a:latin typeface="Times New Roman" panose="02020603050405020304" pitchFamily="18" charset="0"/>
                        <a:ea typeface="Calibri"/>
                        <a:cs typeface="Times New Roman" panose="02020603050405020304" pitchFamily="18" charset="0"/>
                      </a:endParaRPr>
                    </a:p>
                  </a:txBody>
                  <a:tcPr marL="68569" marR="68569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06420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04" name="Rectangle 8"/>
          <p:cNvSpPr>
            <a:spLocks noChangeArrowheads="1"/>
          </p:cNvSpPr>
          <p:nvPr/>
        </p:nvSpPr>
        <p:spPr bwMode="auto">
          <a:xfrm>
            <a:off x="395288" y="188913"/>
            <a:ext cx="8316912" cy="442912"/>
          </a:xfrm>
          <a:prstGeom prst="rect">
            <a:avLst/>
          </a:prstGeom>
          <a:solidFill>
            <a:srgbClr val="0033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003399">
                <a:gamma/>
                <a:shade val="60000"/>
                <a:invGamma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defRPr/>
            </a:pPr>
            <a:r>
              <a:rPr lang="uz-Cyrl-UZ" altLang="ru-RU" sz="23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Якоби символи</a:t>
            </a:r>
            <a:endParaRPr lang="ru-RU" altLang="ru-RU" sz="2300" smtClean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8199" name="AutoShape 13" descr="Точечные ромбики"/>
          <p:cNvSpPr>
            <a:spLocks noChangeArrowheads="1"/>
          </p:cNvSpPr>
          <p:nvPr/>
        </p:nvSpPr>
        <p:spPr bwMode="auto">
          <a:xfrm>
            <a:off x="250825" y="773113"/>
            <a:ext cx="8628063" cy="5641975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450850"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  <a:defRPr/>
            </a:pPr>
            <a:r>
              <a:rPr kumimoji="1" lang="uz-Cyrl-UZ" altLang="ru-RU" sz="2000" dirty="0" smtClean="0">
                <a:latin typeface="Times New Roman" pitchFamily="18" charset="0"/>
              </a:rPr>
              <a:t>Айтайлик, </a:t>
            </a:r>
            <a:r>
              <a:rPr kumimoji="1" lang="en-US" altLang="ru-RU" sz="2000" i="1" dirty="0" smtClean="0">
                <a:latin typeface="Times New Roman" pitchFamily="18" charset="0"/>
              </a:rPr>
              <a:t>x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2</a:t>
            </a:r>
            <a:r>
              <a:rPr kumimoji="1" lang="en-US" altLang="ru-RU" sz="2000" i="1" dirty="0" smtClean="0">
                <a:latin typeface="Times New Roman" pitchFamily="18" charset="0"/>
                <a:cs typeface="Times New Roman" pitchFamily="18" charset="0"/>
              </a:rPr>
              <a:t>≡a</a:t>
            </a:r>
            <a:r>
              <a:rPr kumimoji="1" lang="uz-Cyrl-UZ" altLang="ru-RU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ru-RU" sz="2000" i="1" dirty="0" smtClean="0">
                <a:latin typeface="Times New Roman" pitchFamily="18" charset="0"/>
                <a:cs typeface="Times New Roman" pitchFamily="18" charset="0"/>
              </a:rPr>
              <a:t>(mod P)</a:t>
            </a:r>
            <a:r>
              <a:rPr kumimoji="1" lang="uz-Cyrl-UZ" altLang="ru-RU" sz="2000" dirty="0" smtClean="0">
                <a:latin typeface="Times New Roman" pitchFamily="18" charset="0"/>
              </a:rPr>
              <a:t> таққослама тенглама берилган бўлиб, </a:t>
            </a:r>
            <a:r>
              <a:rPr kumimoji="1" lang="uz-Cyrl-UZ" altLang="ru-RU" sz="2000" i="1" dirty="0" smtClean="0">
                <a:latin typeface="Times New Roman" pitchFamily="18" charset="0"/>
              </a:rPr>
              <a:t>ЭКУБ(</a:t>
            </a:r>
            <a:r>
              <a:rPr kumimoji="1" lang="en-US" altLang="ru-RU" sz="2000" i="1" dirty="0" err="1" smtClean="0">
                <a:latin typeface="Times New Roman" pitchFamily="18" charset="0"/>
              </a:rPr>
              <a:t>a,P</a:t>
            </a:r>
            <a:r>
              <a:rPr kumimoji="1" lang="uz-Cyrl-UZ" altLang="ru-RU" sz="2000" i="1" dirty="0" smtClean="0">
                <a:latin typeface="Times New Roman" pitchFamily="18" charset="0"/>
              </a:rPr>
              <a:t>)</a:t>
            </a:r>
            <a:r>
              <a:rPr kumimoji="1" lang="en-US" altLang="ru-RU" sz="2000" i="1" dirty="0" smtClean="0">
                <a:latin typeface="Times New Roman" pitchFamily="18" charset="0"/>
              </a:rPr>
              <a:t>=1 </a:t>
            </a:r>
            <a:r>
              <a:rPr kumimoji="1" lang="uz-Cyrl-UZ" altLang="ru-RU" sz="2000" dirty="0" smtClean="0">
                <a:latin typeface="Times New Roman" pitchFamily="18" charset="0"/>
              </a:rPr>
              <a:t>ва</a:t>
            </a:r>
            <a:r>
              <a:rPr kumimoji="1" lang="en-US" altLang="ru-RU" sz="2000" dirty="0" smtClean="0">
                <a:latin typeface="Times New Roman" pitchFamily="18" charset="0"/>
              </a:rPr>
              <a:t> </a:t>
            </a:r>
            <a:r>
              <a:rPr kumimoji="1" lang="en-US" altLang="ru-RU" sz="2000" i="1" dirty="0" smtClean="0">
                <a:latin typeface="Times New Roman" pitchFamily="18" charset="0"/>
              </a:rPr>
              <a:t>P=p</a:t>
            </a:r>
            <a:r>
              <a:rPr kumimoji="1" lang="en-US" altLang="ru-RU" sz="2000" i="1" baseline="-25000" dirty="0" smtClean="0">
                <a:latin typeface="Times New Roman" pitchFamily="18" charset="0"/>
              </a:rPr>
              <a:t>1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a1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p</a:t>
            </a:r>
            <a:r>
              <a:rPr kumimoji="1" lang="en-US" altLang="ru-RU" sz="2000" i="1" baseline="-25000" dirty="0" smtClean="0">
                <a:latin typeface="Times New Roman" pitchFamily="18" charset="0"/>
              </a:rPr>
              <a:t>2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a2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p</a:t>
            </a:r>
            <a:r>
              <a:rPr kumimoji="1" lang="en-US" altLang="ru-RU" sz="2000" i="1" baseline="-25000" dirty="0" smtClean="0">
                <a:latin typeface="Times New Roman" pitchFamily="18" charset="0"/>
              </a:rPr>
              <a:t>3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a3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uz-Cyrl-UZ" altLang="ru-RU" sz="2000" i="1" dirty="0" smtClean="0">
                <a:latin typeface="Times New Roman" pitchFamily="18" charset="0"/>
              </a:rPr>
              <a:t>...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err="1" smtClean="0">
                <a:latin typeface="Times New Roman" pitchFamily="18" charset="0"/>
              </a:rPr>
              <a:t>p</a:t>
            </a:r>
            <a:r>
              <a:rPr kumimoji="1" lang="en-US" altLang="ru-RU" sz="2000" i="1" baseline="-25000" dirty="0" err="1" smtClean="0">
                <a:latin typeface="Times New Roman" pitchFamily="18" charset="0"/>
              </a:rPr>
              <a:t>k</a:t>
            </a:r>
            <a:r>
              <a:rPr kumimoji="1" lang="en-US" altLang="ru-RU" sz="2000" i="1" baseline="30000" dirty="0" err="1" smtClean="0">
                <a:latin typeface="Times New Roman" pitchFamily="18" charset="0"/>
              </a:rPr>
              <a:t>ak</a:t>
            </a:r>
            <a:r>
              <a:rPr kumimoji="1" lang="en-US" altLang="ru-RU" sz="2000" i="1" dirty="0" smtClean="0">
                <a:latin typeface="Times New Roman" pitchFamily="18" charset="0"/>
              </a:rPr>
              <a:t> </a:t>
            </a:r>
            <a:r>
              <a:rPr kumimoji="1" lang="en-US" altLang="ru-RU" sz="2000" dirty="0" smtClean="0">
                <a:latin typeface="Times New Roman" pitchFamily="18" charset="0"/>
              </a:rPr>
              <a:t>(</a:t>
            </a:r>
            <a:r>
              <a:rPr kumimoji="1" lang="en-US" altLang="ru-RU" sz="2000" i="1" dirty="0" smtClean="0">
                <a:latin typeface="Times New Roman" pitchFamily="18" charset="0"/>
              </a:rPr>
              <a:t>p</a:t>
            </a:r>
            <a:r>
              <a:rPr kumimoji="1" lang="en-US" altLang="ru-RU" sz="2000" i="1" baseline="-25000" dirty="0" smtClean="0">
                <a:latin typeface="Times New Roman" pitchFamily="18" charset="0"/>
              </a:rPr>
              <a:t>i</a:t>
            </a:r>
            <a:r>
              <a:rPr kumimoji="1" lang="uz-Cyrl-UZ" altLang="ru-RU" sz="2000" i="1" baseline="-25000" dirty="0" smtClean="0">
                <a:latin typeface="Times New Roman" pitchFamily="18" charset="0"/>
              </a:rPr>
              <a:t> </a:t>
            </a:r>
            <a:r>
              <a:rPr kumimoji="1" lang="en-US" altLang="ru-RU" sz="2000" dirty="0" smtClean="0">
                <a:latin typeface="Times New Roman" pitchFamily="18" charset="0"/>
              </a:rPr>
              <a:t>-</a:t>
            </a:r>
            <a:r>
              <a:rPr kumimoji="1" lang="uz-Cyrl-UZ" altLang="ru-RU" sz="2000" dirty="0" smtClean="0">
                <a:latin typeface="Times New Roman" pitchFamily="18" charset="0"/>
              </a:rPr>
              <a:t> тоқ туб сон</a:t>
            </a:r>
            <a:r>
              <a:rPr kumimoji="1" lang="en-US" altLang="ru-RU" sz="2000" dirty="0" smtClean="0">
                <a:latin typeface="Times New Roman" pitchFamily="18" charset="0"/>
              </a:rPr>
              <a:t>)</a:t>
            </a:r>
            <a:r>
              <a:rPr kumimoji="1" lang="uz-Cyrl-UZ" altLang="ru-RU" sz="2000" dirty="0" smtClean="0">
                <a:latin typeface="Times New Roman" pitchFamily="18" charset="0"/>
              </a:rPr>
              <a:t> бўлсин.</a:t>
            </a:r>
            <a:r>
              <a:rPr kumimoji="1" lang="en-US" altLang="ru-RU" sz="2000" dirty="0" smtClean="0">
                <a:latin typeface="Times New Roman" pitchFamily="18" charset="0"/>
              </a:rPr>
              <a:t> </a:t>
            </a:r>
          </a:p>
          <a:p>
            <a:pPr indent="450850"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  <a:defRPr/>
            </a:pPr>
            <a:r>
              <a:rPr kumimoji="1" lang="uz-Cyrl-UZ" altLang="ru-RU" sz="2000" dirty="0" smtClean="0">
                <a:latin typeface="Times New Roman" pitchFamily="18" charset="0"/>
              </a:rPr>
              <a:t>Ушбу ҳолда ҳисоблашни осонлаштириш учун </a:t>
            </a:r>
            <a:r>
              <a:rPr kumimoji="1" lang="uz-Cyrl-UZ" altLang="ru-RU" sz="2000" b="1" i="1" dirty="0" smtClean="0">
                <a:latin typeface="Times New Roman" pitchFamily="18" charset="0"/>
              </a:rPr>
              <a:t>Якоби символи</a:t>
            </a:r>
            <a:r>
              <a:rPr kumimoji="1" lang="uz-Cyrl-UZ" altLang="ru-RU" sz="2000" dirty="0" smtClean="0">
                <a:latin typeface="Times New Roman" pitchFamily="18" charset="0"/>
              </a:rPr>
              <a:t>дан фойдаланилади ва бу символ қуйидаги</a:t>
            </a:r>
            <a:r>
              <a:rPr kumimoji="1" lang="uz-Cyrl-UZ" altLang="ru-RU" sz="2000" b="1" i="1" dirty="0" smtClean="0">
                <a:latin typeface="Times New Roman" pitchFamily="18" charset="0"/>
              </a:rPr>
              <a:t>:</a:t>
            </a:r>
            <a:endParaRPr kumimoji="1" lang="en-US" altLang="ru-RU" sz="2000" dirty="0" smtClean="0">
              <a:latin typeface="Times New Roman" pitchFamily="18" charset="0"/>
            </a:endParaRPr>
          </a:p>
          <a:p>
            <a:pPr algn="ctr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  <a:defRPr/>
            </a:pP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J</a:t>
            </a:r>
            <a:r>
              <a:rPr kumimoji="1" lang="ru-RU" altLang="zh-CN" sz="2000" b="1" i="1" dirty="0" smtClean="0">
                <a:latin typeface="Times New Roman" pitchFamily="18" charset="0"/>
              </a:rPr>
              <a:t>(а/Р)=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L</a:t>
            </a:r>
            <a:r>
              <a:rPr kumimoji="1" lang="ru-RU" altLang="zh-CN" sz="2000" b="1" i="1" dirty="0" smtClean="0">
                <a:latin typeface="Times New Roman" pitchFamily="18" charset="0"/>
              </a:rPr>
              <a:t>(а/р</a:t>
            </a:r>
            <a:r>
              <a:rPr kumimoji="1" lang="ru-RU" altLang="zh-CN" sz="2000" b="1" i="1" baseline="-25000" dirty="0" smtClean="0">
                <a:latin typeface="Times New Roman" pitchFamily="18" charset="0"/>
              </a:rPr>
              <a:t>1</a:t>
            </a:r>
            <a:r>
              <a:rPr kumimoji="1" lang="ru-RU" altLang="zh-CN" sz="2000" b="1" i="1" dirty="0" smtClean="0">
                <a:latin typeface="Times New Roman" pitchFamily="18" charset="0"/>
              </a:rPr>
              <a:t>)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a1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1" i="1" baseline="30000" dirty="0" smtClean="0">
                <a:latin typeface="Times New Roman" pitchFamily="18" charset="0"/>
                <a:ea typeface="宋体" charset="-122"/>
              </a:rPr>
              <a:t>. 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L</a:t>
            </a:r>
            <a:r>
              <a:rPr kumimoji="1" lang="ru-RU" altLang="zh-CN" sz="2000" b="1" i="1" dirty="0" smtClean="0">
                <a:latin typeface="Times New Roman" pitchFamily="18" charset="0"/>
              </a:rPr>
              <a:t>(а/р</a:t>
            </a:r>
            <a:r>
              <a:rPr kumimoji="1" lang="ru-RU" altLang="zh-CN" sz="2000" b="1" i="1" baseline="-25000" dirty="0" smtClean="0">
                <a:latin typeface="Times New Roman" pitchFamily="18" charset="0"/>
              </a:rPr>
              <a:t>2</a:t>
            </a:r>
            <a:r>
              <a:rPr kumimoji="1" lang="ru-RU" altLang="zh-CN" sz="2000" b="1" i="1" dirty="0" smtClean="0">
                <a:latin typeface="Times New Roman" pitchFamily="18" charset="0"/>
              </a:rPr>
              <a:t>)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a2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ru-RU" altLang="zh-CN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zh-CN" sz="2000" b="1" i="1" baseline="30000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ru-RU" altLang="zh-CN" sz="2000" b="1" i="1" dirty="0" smtClean="0">
                <a:latin typeface="Times New Roman" pitchFamily="18" charset="0"/>
              </a:rPr>
              <a:t>.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.. </a:t>
            </a:r>
            <a:r>
              <a:rPr kumimoji="1" lang="en-US" altLang="zh-CN" sz="2000" b="1" i="1" baseline="30000" dirty="0" smtClean="0">
                <a:latin typeface="Times New Roman" pitchFamily="18" charset="0"/>
                <a:ea typeface="宋体" charset="-122"/>
              </a:rPr>
              <a:t>. 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L</a:t>
            </a:r>
            <a:r>
              <a:rPr kumimoji="1" lang="ru-RU" altLang="zh-CN" sz="2000" b="1" i="1" dirty="0" smtClean="0">
                <a:latin typeface="Times New Roman" pitchFamily="18" charset="0"/>
              </a:rPr>
              <a:t>(а/р</a:t>
            </a:r>
            <a:r>
              <a:rPr kumimoji="1" lang="en-US" altLang="zh-CN" sz="2000" b="1" i="1" baseline="-25000" dirty="0" smtClean="0">
                <a:latin typeface="Times New Roman" pitchFamily="18" charset="0"/>
                <a:ea typeface="宋体" charset="-122"/>
              </a:rPr>
              <a:t>k</a:t>
            </a:r>
            <a:r>
              <a:rPr kumimoji="1" lang="ru-RU" altLang="zh-CN" sz="2000" b="1" i="1" dirty="0" smtClean="0">
                <a:latin typeface="Times New Roman" pitchFamily="18" charset="0"/>
              </a:rPr>
              <a:t>)</a:t>
            </a:r>
            <a:r>
              <a:rPr kumimoji="1" lang="en-US" altLang="ru-RU" sz="2000" i="1" baseline="30000" dirty="0" err="1" smtClean="0">
                <a:latin typeface="Times New Roman" pitchFamily="18" charset="0"/>
              </a:rPr>
              <a:t>ak</a:t>
            </a:r>
            <a:r>
              <a:rPr kumimoji="1" lang="uz-Cyrl-UZ" altLang="ru-RU" sz="2000" b="1" i="1" dirty="0" smtClean="0">
                <a:latin typeface="Times New Roman" pitchFamily="18" charset="0"/>
              </a:rPr>
              <a:t> 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  <a:defRPr/>
            </a:pPr>
            <a:r>
              <a:rPr kumimoji="1" lang="uz-Cyrl-UZ" altLang="ru-RU" sz="2000" dirty="0" smtClean="0">
                <a:latin typeface="Times New Roman" pitchFamily="18" charset="0"/>
              </a:rPr>
              <a:t>тенглик билан аниқланади.</a:t>
            </a:r>
          </a:p>
          <a:p>
            <a:pPr algn="ctr" eaLnBrk="1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Tx/>
              <a:buFontTx/>
              <a:buNone/>
              <a:defRPr/>
            </a:pPr>
            <a:r>
              <a:rPr kumimoji="1" lang="uz-Cyrl-UZ" altLang="ru-RU" sz="2000" u="sng" dirty="0" smtClean="0">
                <a:solidFill>
                  <a:schemeClr val="accent2"/>
                </a:solidFill>
                <a:latin typeface="Times New Roman" pitchFamily="18" charset="0"/>
              </a:rPr>
              <a:t>Якоби символи хоссалари</a:t>
            </a:r>
            <a:r>
              <a:rPr kumimoji="1" lang="uz-Cyrl-UZ" altLang="ru-RU" sz="2000" dirty="0" smtClean="0">
                <a:latin typeface="Times New Roman" pitchFamily="18" charset="0"/>
              </a:rPr>
              <a:t> </a:t>
            </a:r>
          </a:p>
          <a:p>
            <a:pPr algn="just"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  <a:defRPr/>
            </a:pPr>
            <a:r>
              <a:rPr kumimoji="1" lang="uz-Cyrl-UZ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1</a:t>
            </a:r>
            <a:r>
              <a:rPr kumimoji="1" lang="uz-Cyrl-UZ" altLang="ru-RU" sz="2000" b="1" i="1" baseline="30000" dirty="0" smtClean="0">
                <a:solidFill>
                  <a:schemeClr val="accent2"/>
                </a:solidFill>
                <a:latin typeface="Times New Roman" pitchFamily="18" charset="0"/>
              </a:rPr>
              <a:t>о</a:t>
            </a:r>
            <a:r>
              <a:rPr kumimoji="1" lang="uz-Cyrl-UZ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uz-Cyrl-UZ" altLang="ru-RU" sz="2000" i="1" dirty="0" smtClean="0">
                <a:latin typeface="Times New Roman" pitchFamily="18" charset="0"/>
              </a:rPr>
              <a:t> Агар </a:t>
            </a:r>
            <a:r>
              <a:rPr kumimoji="1" lang="en-US" altLang="ru-RU" sz="2000" i="1" dirty="0" smtClean="0">
                <a:latin typeface="Times New Roman" pitchFamily="18" charset="0"/>
              </a:rPr>
              <a:t>a≡a</a:t>
            </a:r>
            <a:r>
              <a:rPr kumimoji="1" lang="en-US" altLang="ru-RU" sz="2000" i="1" baseline="-25000" dirty="0" smtClean="0">
                <a:latin typeface="Times New Roman" pitchFamily="18" charset="0"/>
              </a:rPr>
              <a:t>1</a:t>
            </a:r>
            <a:r>
              <a:rPr kumimoji="1" lang="en-US" altLang="ru-RU" sz="2000" i="1" dirty="0" smtClean="0">
                <a:latin typeface="Times New Roman" pitchFamily="18" charset="0"/>
              </a:rPr>
              <a:t>(mod P) </a:t>
            </a:r>
            <a:r>
              <a:rPr kumimoji="1" lang="uz-Cyrl-UZ" altLang="ru-RU" sz="2000" i="1" dirty="0" smtClean="0">
                <a:latin typeface="Times New Roman" pitchFamily="18" charset="0"/>
              </a:rPr>
              <a:t>бўлса, у ҳолда </a:t>
            </a:r>
            <a:r>
              <a:rPr kumimoji="1" lang="en-US" altLang="ru-RU" sz="2000" i="1" dirty="0" smtClean="0">
                <a:latin typeface="Times New Roman" pitchFamily="18" charset="0"/>
              </a:rPr>
              <a:t>J(a/P)=J(a</a:t>
            </a:r>
            <a:r>
              <a:rPr kumimoji="1" lang="uz-Cyrl-UZ" altLang="ru-RU" sz="2000" i="1" baseline="-25000" dirty="0" smtClean="0">
                <a:latin typeface="Times New Roman" pitchFamily="18" charset="0"/>
              </a:rPr>
              <a:t>1</a:t>
            </a:r>
            <a:r>
              <a:rPr kumimoji="1" lang="en-US" altLang="ru-RU" sz="2000" i="1" dirty="0" smtClean="0">
                <a:latin typeface="Times New Roman" pitchFamily="18" charset="0"/>
              </a:rPr>
              <a:t>/P) </a:t>
            </a:r>
            <a:r>
              <a:rPr kumimoji="1" lang="uz-Cyrl-UZ" altLang="ru-RU" sz="2000" i="1" dirty="0" smtClean="0">
                <a:latin typeface="Times New Roman" pitchFamily="18" charset="0"/>
              </a:rPr>
              <a:t>– ўринли бўлади.</a:t>
            </a:r>
          </a:p>
          <a:p>
            <a:pPr algn="just"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  <a:defRPr/>
            </a:pPr>
            <a:r>
              <a:rPr kumimoji="1" lang="uz-Cyrl-UZ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2</a:t>
            </a:r>
            <a:r>
              <a:rPr kumimoji="1" lang="uz-Cyrl-UZ" altLang="ru-RU" sz="2000" b="1" i="1" baseline="30000" dirty="0" smtClean="0">
                <a:solidFill>
                  <a:schemeClr val="accent2"/>
                </a:solidFill>
                <a:latin typeface="Times New Roman" pitchFamily="18" charset="0"/>
              </a:rPr>
              <a:t>о</a:t>
            </a:r>
            <a:r>
              <a:rPr kumimoji="1" lang="uz-Cyrl-UZ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uz-Cyrl-UZ" altLang="ru-RU" sz="2000" i="1" dirty="0" smtClean="0">
                <a:latin typeface="Times New Roman" pitchFamily="18" charset="0"/>
              </a:rPr>
              <a:t> </a:t>
            </a:r>
            <a:r>
              <a:rPr kumimoji="1" lang="en-US" altLang="ru-RU" sz="2000" i="1" dirty="0" smtClean="0">
                <a:latin typeface="Times New Roman" pitchFamily="18" charset="0"/>
              </a:rPr>
              <a:t>J(1/P)=1;</a:t>
            </a:r>
          </a:p>
          <a:p>
            <a:pPr algn="just"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  <a:defRPr/>
            </a:pPr>
            <a:r>
              <a:rPr kumimoji="1" lang="en-US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3</a:t>
            </a:r>
            <a:r>
              <a:rPr kumimoji="1" lang="uz-Cyrl-UZ" altLang="ru-RU" sz="2000" b="1" i="1" baseline="30000" dirty="0" smtClean="0">
                <a:solidFill>
                  <a:schemeClr val="accent2"/>
                </a:solidFill>
                <a:latin typeface="Times New Roman" pitchFamily="18" charset="0"/>
              </a:rPr>
              <a:t>о</a:t>
            </a:r>
            <a:r>
              <a:rPr kumimoji="1" lang="uz-Cyrl-UZ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uz-Cyrl-UZ" altLang="ru-RU" sz="2000" i="1" dirty="0" smtClean="0">
                <a:latin typeface="Times New Roman" pitchFamily="18" charset="0"/>
              </a:rPr>
              <a:t> </a:t>
            </a:r>
            <a:r>
              <a:rPr kumimoji="1" lang="en-US" altLang="ru-RU" sz="2000" i="1" dirty="0" smtClean="0">
                <a:latin typeface="Times New Roman" pitchFamily="18" charset="0"/>
              </a:rPr>
              <a:t>J(-1/P)=(-1)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(P-1)/2</a:t>
            </a:r>
            <a:r>
              <a:rPr kumimoji="1" lang="en-US" altLang="ru-RU" sz="2000" i="1" dirty="0" smtClean="0">
                <a:latin typeface="Times New Roman" pitchFamily="18" charset="0"/>
              </a:rPr>
              <a:t>;</a:t>
            </a:r>
          </a:p>
          <a:p>
            <a:pPr algn="just"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  <a:defRPr/>
            </a:pPr>
            <a:r>
              <a:rPr kumimoji="1" lang="en-US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4</a:t>
            </a:r>
            <a:r>
              <a:rPr kumimoji="1" lang="ru-RU" altLang="ru-RU" sz="2000" b="1" i="1" baseline="30000" dirty="0" smtClean="0">
                <a:solidFill>
                  <a:schemeClr val="accent2"/>
                </a:solidFill>
                <a:latin typeface="Times New Roman" pitchFamily="18" charset="0"/>
              </a:rPr>
              <a:t>о</a:t>
            </a:r>
            <a:r>
              <a:rPr kumimoji="1" lang="ru-RU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ru-RU" altLang="ru-RU" sz="2000" i="1" dirty="0" smtClean="0">
                <a:latin typeface="Times New Roman" pitchFamily="18" charset="0"/>
              </a:rPr>
              <a:t> </a:t>
            </a:r>
            <a:r>
              <a:rPr kumimoji="1" lang="en-US" altLang="ru-RU" sz="2000" i="1" dirty="0" smtClean="0">
                <a:latin typeface="Times New Roman" pitchFamily="18" charset="0"/>
              </a:rPr>
              <a:t>J(2/P)=(-1)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(P*P-1)/8</a:t>
            </a:r>
            <a:r>
              <a:rPr kumimoji="1" lang="en-US" altLang="ru-RU" sz="2000" i="1" dirty="0" smtClean="0">
                <a:latin typeface="Times New Roman" pitchFamily="18" charset="0"/>
              </a:rPr>
              <a:t>;</a:t>
            </a:r>
          </a:p>
          <a:p>
            <a:pPr algn="just"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  <a:defRPr/>
            </a:pPr>
            <a:r>
              <a:rPr kumimoji="1" lang="en-US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5</a:t>
            </a:r>
            <a:r>
              <a:rPr kumimoji="1" lang="ru-RU" altLang="ru-RU" sz="2000" b="1" i="1" baseline="30000" dirty="0" smtClean="0">
                <a:solidFill>
                  <a:schemeClr val="accent2"/>
                </a:solidFill>
                <a:latin typeface="Times New Roman" pitchFamily="18" charset="0"/>
              </a:rPr>
              <a:t>о</a:t>
            </a:r>
            <a:r>
              <a:rPr kumimoji="1" lang="ru-RU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ru-RU" altLang="ru-RU" sz="2000" i="1" dirty="0" smtClean="0">
                <a:latin typeface="Times New Roman" pitchFamily="18" charset="0"/>
              </a:rPr>
              <a:t> </a:t>
            </a:r>
            <a:r>
              <a:rPr kumimoji="1" lang="en-US" altLang="ru-RU" sz="2000" i="1" dirty="0" smtClean="0">
                <a:latin typeface="Times New Roman" pitchFamily="18" charset="0"/>
              </a:rPr>
              <a:t>J((</a:t>
            </a:r>
            <a:r>
              <a:rPr kumimoji="1" lang="en-US" altLang="ru-RU" sz="2000" i="1" dirty="0" err="1" smtClean="0">
                <a:latin typeface="Times New Roman" pitchFamily="18" charset="0"/>
              </a:rPr>
              <a:t>a</a:t>
            </a:r>
            <a:r>
              <a:rPr kumimoji="1" lang="en-US" altLang="ru-RU" sz="2000" b="1" i="1" baseline="30000" dirty="0" err="1" smtClean="0">
                <a:latin typeface="Times New Roman" pitchFamily="18" charset="0"/>
              </a:rPr>
              <a:t>.</a:t>
            </a:r>
            <a:r>
              <a:rPr kumimoji="1" lang="en-US" altLang="ru-RU" sz="2000" i="1" dirty="0" err="1" smtClean="0">
                <a:latin typeface="Times New Roman" pitchFamily="18" charset="0"/>
              </a:rPr>
              <a:t>b</a:t>
            </a:r>
            <a:r>
              <a:rPr kumimoji="1" lang="en-US" altLang="ru-RU" sz="2000" b="1" i="1" baseline="30000" dirty="0" err="1" smtClean="0">
                <a:latin typeface="Times New Roman" pitchFamily="18" charset="0"/>
              </a:rPr>
              <a:t>.</a:t>
            </a:r>
            <a:r>
              <a:rPr kumimoji="1" lang="en-US" altLang="ru-RU" sz="2000" i="1" dirty="0" err="1" smtClean="0">
                <a:latin typeface="Times New Roman" pitchFamily="18" charset="0"/>
              </a:rPr>
              <a:t>c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...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t)/P)=J(a/P)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J(b/P)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J(c/P)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...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J(t/P);</a:t>
            </a:r>
            <a:r>
              <a:rPr kumimoji="1" lang="ru-RU" altLang="ru-RU" sz="2000" i="1" dirty="0" smtClean="0">
                <a:latin typeface="Times New Roman" pitchFamily="18" charset="0"/>
              </a:rPr>
              <a:t> </a:t>
            </a:r>
            <a:endParaRPr kumimoji="1" lang="en-US" altLang="ru-RU" sz="2000" i="1" dirty="0" smtClean="0">
              <a:latin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  <a:defRPr/>
            </a:pPr>
            <a:r>
              <a:rPr kumimoji="1" lang="en-US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6</a:t>
            </a:r>
            <a:r>
              <a:rPr kumimoji="1" lang="ru-RU" altLang="ru-RU" sz="2000" b="1" i="1" baseline="30000" dirty="0" smtClean="0">
                <a:solidFill>
                  <a:schemeClr val="accent2"/>
                </a:solidFill>
                <a:latin typeface="Times New Roman" pitchFamily="18" charset="0"/>
              </a:rPr>
              <a:t>о</a:t>
            </a:r>
            <a:r>
              <a:rPr kumimoji="1" lang="ru-RU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ru-RU" altLang="ru-RU" sz="2000" i="1" dirty="0" smtClean="0">
                <a:latin typeface="Times New Roman" pitchFamily="18" charset="0"/>
              </a:rPr>
              <a:t> </a:t>
            </a:r>
            <a:r>
              <a:rPr kumimoji="1" lang="en-US" altLang="ru-RU" sz="2000" i="1" dirty="0" smtClean="0">
                <a:latin typeface="Times New Roman" pitchFamily="18" charset="0"/>
              </a:rPr>
              <a:t>J(a</a:t>
            </a:r>
            <a:r>
              <a:rPr kumimoji="1" lang="en-US" altLang="ru-RU" sz="2000" b="1" i="1" baseline="30000" dirty="0" smtClean="0">
                <a:latin typeface="Times New Roman" pitchFamily="18" charset="0"/>
              </a:rPr>
              <a:t>.</a:t>
            </a:r>
            <a:r>
              <a:rPr kumimoji="1" lang="en-US" altLang="ru-RU" sz="2000" i="1" dirty="0" smtClean="0">
                <a:latin typeface="Times New Roman" pitchFamily="18" charset="0"/>
              </a:rPr>
              <a:t>b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2</a:t>
            </a:r>
            <a:r>
              <a:rPr kumimoji="1" lang="en-US" altLang="ru-RU" sz="2000" i="1" dirty="0" smtClean="0">
                <a:latin typeface="Times New Roman" pitchFamily="18" charset="0"/>
              </a:rPr>
              <a:t>/P)=J(a/P);</a:t>
            </a:r>
          </a:p>
          <a:p>
            <a:pPr algn="just" eaLnBrk="1" hangingPunct="1">
              <a:spcBef>
                <a:spcPct val="0"/>
              </a:spcBef>
              <a:spcAft>
                <a:spcPct val="25000"/>
              </a:spcAft>
              <a:buClrTx/>
              <a:buFontTx/>
              <a:buNone/>
              <a:defRPr/>
            </a:pPr>
            <a:r>
              <a:rPr kumimoji="1" lang="en-US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7</a:t>
            </a:r>
            <a:r>
              <a:rPr kumimoji="1" lang="ru-RU" altLang="ru-RU" sz="2000" b="1" i="1" baseline="30000" dirty="0" smtClean="0">
                <a:solidFill>
                  <a:schemeClr val="accent2"/>
                </a:solidFill>
                <a:latin typeface="Times New Roman" pitchFamily="18" charset="0"/>
              </a:rPr>
              <a:t>о</a:t>
            </a:r>
            <a:r>
              <a:rPr kumimoji="1" lang="ru-RU" altLang="ru-RU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ru-RU" altLang="ru-RU" sz="2000" i="1" dirty="0" smtClean="0">
                <a:latin typeface="Times New Roman" pitchFamily="18" charset="0"/>
              </a:rPr>
              <a:t> </a:t>
            </a:r>
            <a:r>
              <a:rPr kumimoji="1" lang="uz-Cyrl-UZ" altLang="ru-RU" sz="2000" i="1" dirty="0" smtClean="0">
                <a:latin typeface="Times New Roman" pitchFamily="18" charset="0"/>
              </a:rPr>
              <a:t>Агар </a:t>
            </a:r>
            <a:r>
              <a:rPr kumimoji="1" lang="en-US" altLang="ru-RU" sz="2000" i="1" dirty="0" smtClean="0">
                <a:latin typeface="Times New Roman" pitchFamily="18" charset="0"/>
              </a:rPr>
              <a:t>P </a:t>
            </a:r>
            <a:r>
              <a:rPr kumimoji="1" lang="ru-RU" altLang="ru-RU" sz="2000" i="1" dirty="0" err="1" smtClean="0">
                <a:latin typeface="Times New Roman" pitchFamily="18" charset="0"/>
              </a:rPr>
              <a:t>ва</a:t>
            </a:r>
            <a:r>
              <a:rPr kumimoji="1" lang="ru-RU" altLang="ru-RU" sz="2000" i="1" dirty="0" smtClean="0">
                <a:latin typeface="Times New Roman" pitchFamily="18" charset="0"/>
              </a:rPr>
              <a:t> </a:t>
            </a:r>
            <a:r>
              <a:rPr kumimoji="1" lang="en-US" altLang="ru-RU" sz="2000" i="1" dirty="0" smtClean="0">
                <a:latin typeface="Times New Roman" pitchFamily="18" charset="0"/>
              </a:rPr>
              <a:t>q </a:t>
            </a:r>
            <a:r>
              <a:rPr kumimoji="1" lang="uz-Cyrl-UZ" altLang="ru-RU" sz="2000" i="1" dirty="0" smtClean="0">
                <a:latin typeface="Times New Roman" pitchFamily="18" charset="0"/>
              </a:rPr>
              <a:t>тоқ ва ўзаро туб сонлар бўлса, </a:t>
            </a:r>
            <a:r>
              <a:rPr kumimoji="1" lang="en-US" altLang="ru-RU" sz="2000" i="1" dirty="0" smtClean="0">
                <a:latin typeface="Times New Roman" pitchFamily="18" charset="0"/>
              </a:rPr>
              <a:t>J(q/P)=(-1)</a:t>
            </a:r>
            <a:r>
              <a:rPr kumimoji="1" lang="en-US" altLang="ru-RU" sz="2000" i="1" baseline="30000" dirty="0" smtClean="0">
                <a:latin typeface="Times New Roman" pitchFamily="18" charset="0"/>
              </a:rPr>
              <a:t>(P-1)(q-1)/4</a:t>
            </a:r>
            <a:r>
              <a:rPr kumimoji="1" lang="en-US" altLang="ru-RU" sz="2000" i="1" dirty="0" smtClean="0">
                <a:latin typeface="Times New Roman" pitchFamily="18" charset="0"/>
              </a:rPr>
              <a:t>J(P/q);</a:t>
            </a: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323850" y="6524625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1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1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130784" y="110774"/>
            <a:ext cx="8839598" cy="6610486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382570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318" name="AutoShape 13" descr="Точечные ромбики"/>
          <p:cNvSpPr>
            <a:spLocks noChangeArrowheads="1"/>
          </p:cNvSpPr>
          <p:nvPr/>
        </p:nvSpPr>
        <p:spPr bwMode="auto">
          <a:xfrm>
            <a:off x="250825" y="1281113"/>
            <a:ext cx="8628063" cy="4030662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400">
                <a:solidFill>
                  <a:schemeClr val="accent2"/>
                </a:solidFill>
                <a:latin typeface="Times New Roman" pitchFamily="18" charset="0"/>
              </a:rPr>
              <a:t>Мисол.</a:t>
            </a:r>
            <a:r>
              <a:rPr kumimoji="1" lang="uz-Cyrl-UZ" altLang="ru-RU" sz="2400">
                <a:latin typeface="Times New Roman" pitchFamily="18" charset="0"/>
              </a:rPr>
              <a:t> </a:t>
            </a:r>
            <a:r>
              <a:rPr kumimoji="1" lang="en-US" altLang="ru-RU" sz="2400">
                <a:latin typeface="Times New Roman" pitchFamily="18" charset="0"/>
              </a:rPr>
              <a:t> </a:t>
            </a:r>
            <a:r>
              <a:rPr kumimoji="1" lang="en-US" altLang="ru-RU" sz="2400" b="1" i="1">
                <a:latin typeface="Times New Roman" pitchFamily="18" charset="0"/>
              </a:rPr>
              <a:t>x</a:t>
            </a:r>
            <a:r>
              <a:rPr kumimoji="1" lang="en-US" altLang="ru-RU" sz="2400" b="1" i="1" baseline="30000">
                <a:latin typeface="Times New Roman" pitchFamily="18" charset="0"/>
              </a:rPr>
              <a:t>2</a:t>
            </a:r>
            <a:r>
              <a:rPr kumimoji="1" lang="en-US" altLang="ru-RU" sz="2400" b="1" i="1">
                <a:latin typeface="Times New Roman" pitchFamily="18" charset="0"/>
                <a:cs typeface="Times New Roman" pitchFamily="18" charset="0"/>
              </a:rPr>
              <a:t>≡</a:t>
            </a:r>
            <a:r>
              <a:rPr kumimoji="1" lang="uz-Cyrl-UZ" altLang="ru-RU" sz="2400" b="1" i="1">
                <a:latin typeface="Times New Roman" pitchFamily="18" charset="0"/>
                <a:cs typeface="Times New Roman" pitchFamily="18" charset="0"/>
              </a:rPr>
              <a:t>261</a:t>
            </a:r>
            <a:r>
              <a:rPr kumimoji="1" lang="en-US" altLang="ru-RU" sz="2400" b="1" i="1">
                <a:latin typeface="Times New Roman" pitchFamily="18" charset="0"/>
                <a:cs typeface="Times New Roman" pitchFamily="18" charset="0"/>
              </a:rPr>
              <a:t> (mod </a:t>
            </a:r>
            <a:r>
              <a:rPr kumimoji="1" lang="uz-Cyrl-UZ" altLang="ru-RU" sz="2400" b="1" i="1">
                <a:latin typeface="Times New Roman" pitchFamily="18" charset="0"/>
                <a:cs typeface="Times New Roman" pitchFamily="18" charset="0"/>
              </a:rPr>
              <a:t>443</a:t>
            </a:r>
            <a:r>
              <a:rPr kumimoji="1" lang="en-US" altLang="ru-RU" sz="2400" b="1" i="1">
                <a:latin typeface="Times New Roman" pitchFamily="18" charset="0"/>
                <a:cs typeface="Times New Roman" pitchFamily="18" charset="0"/>
              </a:rPr>
              <a:t>) </a:t>
            </a:r>
            <a:r>
              <a:rPr kumimoji="1" lang="uz-Cyrl-UZ" altLang="ru-RU" sz="2400" b="1">
                <a:latin typeface="Times New Roman" pitchFamily="18" charset="0"/>
                <a:cs typeface="Times New Roman" pitchFamily="18" charset="0"/>
              </a:rPr>
              <a:t>таққосламани ечими бор ёки 	йўқлигини текшириш</a:t>
            </a:r>
            <a:r>
              <a:rPr kumimoji="1" lang="uz-Cyrl-UZ" altLang="ru-RU" sz="2400" b="1">
                <a:latin typeface="Times New Roman" pitchFamily="18" charset="0"/>
              </a:rPr>
              <a:t>.</a:t>
            </a:r>
            <a:r>
              <a:rPr kumimoji="1" lang="uz-Cyrl-UZ" altLang="ru-RU" sz="2400" b="1" i="1">
                <a:latin typeface="Times New Roman" pitchFamily="18" charset="0"/>
              </a:rPr>
              <a:t> 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400">
                <a:latin typeface="Times New Roman" pitchFamily="18" charset="0"/>
              </a:rPr>
              <a:t>Ечиш:</a:t>
            </a:r>
            <a:r>
              <a:rPr kumimoji="1" lang="uz-Cyrl-UZ" altLang="ru-RU" sz="2400" i="1">
                <a:latin typeface="Times New Roman" pitchFamily="18" charset="0"/>
              </a:rPr>
              <a:t> </a:t>
            </a: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endParaRPr kumimoji="1" lang="uz-Cyrl-UZ" altLang="ru-RU" sz="2400" i="1">
              <a:latin typeface="Times New Roman" pitchFamily="18" charset="0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endParaRPr kumimoji="1" lang="uz-Cyrl-UZ" altLang="ru-RU" sz="2400" i="1">
              <a:latin typeface="Times New Roman" pitchFamily="18" charset="0"/>
              <a:sym typeface="Wingdings" pitchFamily="2" charset="2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endParaRPr kumimoji="1" lang="uz-Cyrl-UZ" altLang="ru-RU" sz="2400">
              <a:latin typeface="Times New Roman" pitchFamily="18" charset="0"/>
              <a:sym typeface="Wingdings" pitchFamily="2" charset="2"/>
            </a:endParaRPr>
          </a:p>
          <a:p>
            <a:pPr algn="just" eaLnBrk="1" hangingPunct="1">
              <a:lnSpc>
                <a:spcPct val="105000"/>
              </a:lnSpc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ru-RU" sz="2400">
                <a:latin typeface="Times New Roman" pitchFamily="18" charset="0"/>
                <a:sym typeface="Wingdings" pitchFamily="2" charset="2"/>
              </a:rPr>
              <a:t>Демак</a:t>
            </a:r>
            <a:r>
              <a:rPr kumimoji="1" lang="uz-Cyrl-UZ" altLang="ru-RU" sz="2400" i="1">
                <a:latin typeface="Times New Roman" pitchFamily="18" charset="0"/>
                <a:sym typeface="Wingdings" pitchFamily="2" charset="2"/>
              </a:rPr>
              <a:t>, </a:t>
            </a:r>
            <a:r>
              <a:rPr kumimoji="1" lang="uz-Cyrl-UZ" altLang="ru-RU" sz="2400">
                <a:latin typeface="Times New Roman" pitchFamily="18" charset="0"/>
                <a:sym typeface="Wingdings" pitchFamily="2" charset="2"/>
              </a:rPr>
              <a:t>таққослама тенглама ечимга эга эмас.</a:t>
            </a:r>
            <a:endParaRPr kumimoji="1" lang="en-US" altLang="ru-RU" sz="2400">
              <a:latin typeface="Times New Roman" pitchFamily="18" charset="0"/>
              <a:sym typeface="Wingdings" pitchFamily="2" charset="2"/>
            </a:endParaRPr>
          </a:p>
        </p:txBody>
      </p:sp>
      <p:sp>
        <p:nvSpPr>
          <p:cNvPr id="4109" name="Line 16"/>
          <p:cNvSpPr>
            <a:spLocks noChangeShapeType="1"/>
          </p:cNvSpPr>
          <p:nvPr/>
        </p:nvSpPr>
        <p:spPr bwMode="auto">
          <a:xfrm>
            <a:off x="287338" y="6489700"/>
            <a:ext cx="8461375" cy="0"/>
          </a:xfrm>
          <a:prstGeom prst="line">
            <a:avLst/>
          </a:prstGeom>
          <a:noFill/>
          <a:ln w="127000">
            <a:pattFill prst="dkHorz">
              <a:fgClr>
                <a:schemeClr val="tx1"/>
              </a:fgClr>
              <a:bgClr>
                <a:srgbClr val="FFFFFF"/>
              </a:bgClr>
            </a:pattFill>
            <a:round/>
            <a:headEnd/>
            <a:tailEnd/>
          </a:ln>
          <a:effectLst>
            <a:prstShdw prst="shdw17" dist="17961" dir="2700000">
              <a:schemeClr val="tx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9705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defRPr/>
            </a:pPr>
            <a:endParaRPr lang="ru-RU"/>
          </a:p>
        </p:txBody>
      </p:sp>
      <p:graphicFrame>
        <p:nvGraphicFramePr>
          <p:cNvPr id="1332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3893852"/>
              </p:ext>
            </p:extLst>
          </p:nvPr>
        </p:nvGraphicFramePr>
        <p:xfrm>
          <a:off x="900113" y="2852738"/>
          <a:ext cx="7772400" cy="154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Уравнение" r:id="rId3" imgW="3733560" imgH="736560" progId="Equation.3">
                  <p:embed/>
                </p:oleObj>
              </mc:Choice>
              <mc:Fallback>
                <p:oleObj name="Уравнение" r:id="rId3" imgW="3733560" imgH="73656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852738"/>
                        <a:ext cx="7772400" cy="154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3850" y="1997075"/>
            <a:ext cx="8027988" cy="304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ru-RU" sz="24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Вазифа</a:t>
            </a:r>
            <a:r>
              <a:rPr lang="ru-RU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uz-Cyrl-U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№1</a:t>
            </a:r>
            <a:r>
              <a:rPr lang="uz-Cyrl-U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Лежандр симолларини ҳисоблаш. </a:t>
            </a: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uz-Cyrl-U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uz-Cyrl-UZ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(401/757),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(215/761),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(113/997),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(514/1093).</a:t>
            </a:r>
            <a:endParaRPr lang="uz-Cyrl-U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uz-Cyrl-U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№2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Якоби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симолларини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ҳ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исоблаш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uz-Cyrl-U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uz-Cyrl-U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А) J(532/2739),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(2/15),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152/557), D) J(1234/5981).</a:t>
            </a:r>
            <a:endParaRPr lang="uz-Cyrl-UZ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66744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366" name="Rectangle 8"/>
          <p:cNvSpPr>
            <a:spLocks noChangeArrowheads="1"/>
          </p:cNvSpPr>
          <p:nvPr/>
        </p:nvSpPr>
        <p:spPr bwMode="auto">
          <a:xfrm>
            <a:off x="395288" y="242888"/>
            <a:ext cx="8316912" cy="45720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prstShdw prst="shdw17" dist="17961" dir="2700000">
              <a:srgbClr val="001F5C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uz-Cyrl-UZ" altLang="ru-RU" sz="2400" b="1">
                <a:solidFill>
                  <a:schemeClr val="bg1"/>
                </a:solidFill>
                <a:latin typeface="Times New Roman" pitchFamily="18" charset="0"/>
              </a:rPr>
              <a:t>Квадратик таққосламанинг айрим ечимлари</a:t>
            </a:r>
            <a:endParaRPr lang="en-US" altLang="ru-RU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5367" name="AutoShape 13" descr="Точечные ромбики"/>
          <p:cNvSpPr>
            <a:spLocks noChangeArrowheads="1"/>
          </p:cNvSpPr>
          <p:nvPr/>
        </p:nvSpPr>
        <p:spPr bwMode="auto">
          <a:xfrm>
            <a:off x="215900" y="984102"/>
            <a:ext cx="8753475" cy="5623221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uz-Cyrl-UZ" altLang="zh-CN" sz="3200" dirty="0">
                <a:latin typeface="Times New Roman" pitchFamily="18" charset="0"/>
              </a:rPr>
              <a:t>     Айтайлик,  </a:t>
            </a:r>
          </a:p>
          <a:p>
            <a:pPr algn="ctr" eaLnBrk="1" hangingPunct="1"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en-US" altLang="zh-CN" sz="3200" b="1" i="1" dirty="0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3200" b="1" i="1" baseline="30000" dirty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3200" b="1" i="1" dirty="0">
                <a:latin typeface="Times New Roman" pitchFamily="18" charset="0"/>
                <a:ea typeface="宋体" charset="-122"/>
                <a:cs typeface="Times New Roman" pitchFamily="18" charset="0"/>
              </a:rPr>
              <a:t>≡a</a:t>
            </a:r>
            <a:r>
              <a:rPr kumimoji="1" lang="uz-Cyrl-UZ" altLang="zh-CN" sz="3200" b="1" i="1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kumimoji="1" lang="en-US" altLang="zh-CN" sz="3200" b="1" i="1" dirty="0">
                <a:latin typeface="Times New Roman" pitchFamily="18" charset="0"/>
                <a:ea typeface="宋体" charset="-122"/>
              </a:rPr>
              <a:t>(mod p)</a:t>
            </a:r>
            <a:r>
              <a:rPr kumimoji="1" lang="en-US" altLang="zh-CN" sz="3200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3200" dirty="0">
                <a:latin typeface="Times New Roman" pitchFamily="18" charset="0"/>
                <a:cs typeface="Times New Roman" pitchFamily="18" charset="0"/>
              </a:rPr>
              <a:t>	(1)</a:t>
            </a:r>
          </a:p>
          <a:p>
            <a:pPr algn="just" eaLnBrk="1" hangingPunct="1"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zh-CN" sz="3200" dirty="0">
                <a:latin typeface="Times New Roman" pitchFamily="18" charset="0"/>
                <a:cs typeface="Times New Roman" pitchFamily="18" charset="0"/>
              </a:rPr>
              <a:t>квадратик таққослама берилган бўлиб, </a:t>
            </a:r>
            <a:r>
              <a:rPr kumimoji="1" lang="en-US" altLang="zh-CN" sz="3200" i="1" dirty="0">
                <a:latin typeface="Times New Roman" pitchFamily="18" charset="0"/>
                <a:ea typeface="宋体" charset="-122"/>
              </a:rPr>
              <a:t>p&gt;2 </a:t>
            </a:r>
            <a:r>
              <a:rPr kumimoji="1" lang="uz-Cyrl-UZ" altLang="zh-CN" sz="3200" dirty="0">
                <a:latin typeface="Times New Roman" pitchFamily="18" charset="0"/>
                <a:cs typeface="Times New Roman" pitchFamily="18" charset="0"/>
              </a:rPr>
              <a:t>туб сон, </a:t>
            </a:r>
            <a:r>
              <a:rPr kumimoji="1" lang="en-US" altLang="zh-CN" sz="3200" i="1" dirty="0">
                <a:latin typeface="Times New Roman" pitchFamily="18" charset="0"/>
                <a:ea typeface="宋体" charset="-122"/>
              </a:rPr>
              <a:t>a(mod p)≠0</a:t>
            </a:r>
            <a:r>
              <a:rPr kumimoji="1" lang="en-US" altLang="zh-CN" sz="3200" dirty="0">
                <a:latin typeface="Times New Roman" pitchFamily="18" charset="0"/>
                <a:ea typeface="宋体" charset="-122"/>
              </a:rPr>
              <a:t>, </a:t>
            </a:r>
            <a:r>
              <a:rPr kumimoji="1" lang="en-US" altLang="zh-CN" sz="3200" i="1" dirty="0" smtClean="0"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3200" i="1" baseline="30000" dirty="0" smtClean="0">
                <a:latin typeface="Times New Roman" pitchFamily="18" charset="0"/>
                <a:ea typeface="宋体" charset="-122"/>
              </a:rPr>
              <a:t>(p-1</a:t>
            </a:r>
            <a:r>
              <a:rPr kumimoji="1" lang="en-US" altLang="zh-CN" sz="3200" i="1" baseline="30000" dirty="0">
                <a:latin typeface="Times New Roman" pitchFamily="18" charset="0"/>
                <a:ea typeface="宋体" charset="-122"/>
              </a:rPr>
              <a:t>)/2</a:t>
            </a:r>
            <a:r>
              <a:rPr kumimoji="1" lang="en-US" altLang="zh-CN" sz="3200" i="1" dirty="0">
                <a:latin typeface="Times New Roman" pitchFamily="18" charset="0"/>
                <a:ea typeface="宋体" charset="-122"/>
              </a:rPr>
              <a:t>≡1(mod</a:t>
            </a:r>
            <a:r>
              <a:rPr kumimoji="1" lang="uz-Cyrl-UZ" altLang="zh-CN" sz="3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n-US" altLang="zh-CN" sz="3200" i="1" dirty="0">
                <a:latin typeface="Times New Roman" pitchFamily="18" charset="0"/>
                <a:ea typeface="宋体" charset="-122"/>
              </a:rPr>
              <a:t>p)</a:t>
            </a:r>
            <a:r>
              <a:rPr kumimoji="1" lang="en-US" altLang="zh-CN" sz="3200" dirty="0">
                <a:latin typeface="Times New Roman" pitchFamily="18" charset="0"/>
                <a:ea typeface="宋体" charset="-122"/>
              </a:rPr>
              <a:t>, </a:t>
            </a:r>
            <a:r>
              <a:rPr kumimoji="1" lang="en-US" altLang="zh-CN" sz="3200" i="1" dirty="0">
                <a:latin typeface="Times New Roman" pitchFamily="18" charset="0"/>
                <a:ea typeface="宋体" charset="-122"/>
              </a:rPr>
              <a:t>L(a/p)=1</a:t>
            </a:r>
            <a:r>
              <a:rPr kumimoji="1" lang="en-US" altLang="zh-CN" sz="3200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3200" dirty="0">
                <a:latin typeface="Times New Roman" pitchFamily="18" charset="0"/>
                <a:cs typeface="Times New Roman" pitchFamily="18" charset="0"/>
              </a:rPr>
              <a:t>бўлсин. </a:t>
            </a:r>
            <a:endParaRPr kumimoji="1" lang="en-US" altLang="zh-CN" sz="3200" dirty="0" smtClean="0">
              <a:latin typeface="Times New Roman" pitchFamily="18" charset="0"/>
              <a:cs typeface="Times New Roman" pitchFamily="18" charset="0"/>
            </a:endParaRPr>
          </a:p>
          <a:p>
            <a:pPr indent="541338" algn="just" eaLnBrk="1" hangingPunct="1"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zh-CN" sz="3200" dirty="0" smtClean="0">
                <a:latin typeface="Times New Roman" pitchFamily="18" charset="0"/>
                <a:cs typeface="Times New Roman" pitchFamily="18" charset="0"/>
              </a:rPr>
              <a:t>У </a:t>
            </a:r>
            <a:r>
              <a:rPr kumimoji="1" lang="uz-Cyrl-UZ" altLang="zh-CN" sz="3200" dirty="0">
                <a:latin typeface="Times New Roman" pitchFamily="18" charset="0"/>
                <a:cs typeface="Times New Roman" pitchFamily="18" charset="0"/>
              </a:rPr>
              <a:t>ҳолда (1) таққосламанинг айрим ечимларини қуйидагича аниқлаш мумкин: </a:t>
            </a:r>
          </a:p>
          <a:p>
            <a:pPr algn="just" eaLnBrk="1" hangingPunct="1">
              <a:spcBef>
                <a:spcPct val="0"/>
              </a:spcBef>
              <a:spcAft>
                <a:spcPts val="0"/>
              </a:spcAft>
              <a:buClrTx/>
              <a:buFontTx/>
              <a:buNone/>
            </a:pPr>
            <a:r>
              <a:rPr kumimoji="1" lang="en-US" altLang="zh-CN" sz="32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1" lang="ru-RU" altLang="zh-CN" sz="3200" b="1" i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kumimoji="1" lang="ru-RU" altLang="zh-CN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zh-CN" sz="3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zh-CN" sz="3200" b="1" dirty="0" smtClean="0">
                <a:latin typeface="Times New Roman" pitchFamily="18" charset="0"/>
                <a:cs typeface="Times New Roman" pitchFamily="18" charset="0"/>
              </a:rPr>
              <a:t>Айтайлик </a:t>
            </a:r>
            <a:r>
              <a:rPr kumimoji="1" lang="en-US" altLang="zh-CN" sz="3200" b="1" i="1" dirty="0" smtClean="0">
                <a:latin typeface="Times New Roman" pitchFamily="18" charset="0"/>
                <a:ea typeface="宋体" charset="-122"/>
              </a:rPr>
              <a:t>p=4k+3</a:t>
            </a:r>
            <a:r>
              <a:rPr kumimoji="1" lang="en-US" altLang="zh-CN" sz="3200" b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3200" b="1" i="1" dirty="0">
                <a:latin typeface="Times New Roman" pitchFamily="18" charset="0"/>
                <a:ea typeface="宋体" charset="-122"/>
              </a:rPr>
              <a:t>(p≡</a:t>
            </a:r>
            <a:r>
              <a:rPr kumimoji="1" lang="en-US" altLang="zh-CN" sz="3200" b="1" i="1" dirty="0" smtClean="0">
                <a:latin typeface="Times New Roman" pitchFamily="18" charset="0"/>
                <a:ea typeface="宋体" charset="-122"/>
              </a:rPr>
              <a:t>3mod </a:t>
            </a:r>
            <a:r>
              <a:rPr kumimoji="1" lang="en-US" altLang="zh-CN" sz="3200" b="1" i="1" dirty="0">
                <a:latin typeface="Times New Roman" pitchFamily="18" charset="0"/>
                <a:ea typeface="宋体" charset="-122"/>
              </a:rPr>
              <a:t>4)</a:t>
            </a:r>
            <a:r>
              <a:rPr kumimoji="1" lang="en-US" altLang="zh-CN" sz="3200" b="1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3200" b="1" dirty="0" smtClean="0">
                <a:latin typeface="Times New Roman" pitchFamily="18" charset="0"/>
                <a:cs typeface="Times New Roman" pitchFamily="18" charset="0"/>
              </a:rPr>
              <a:t>бўлсин.            У ҳолда:</a:t>
            </a:r>
            <a:endParaRPr kumimoji="1" lang="en-US" altLang="zh-CN" sz="3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zh-CN" sz="3200" b="1" i="1" dirty="0" smtClean="0">
                <a:latin typeface="Times New Roman" pitchFamily="18" charset="0"/>
                <a:ea typeface="宋体" charset="-122"/>
              </a:rPr>
              <a:t>x </a:t>
            </a:r>
            <a:r>
              <a:rPr kumimoji="1" lang="en-US" altLang="zh-CN" sz="3200" b="1" i="1" dirty="0">
                <a:latin typeface="Times New Roman" pitchFamily="18" charset="0"/>
                <a:ea typeface="宋体" charset="-122"/>
              </a:rPr>
              <a:t>≡ </a:t>
            </a:r>
            <a:r>
              <a:rPr kumimoji="1" lang="en-US" altLang="zh-CN" sz="3200" b="1" dirty="0">
                <a:latin typeface="Times New Roman" pitchFamily="18" charset="0"/>
                <a:ea typeface="宋体" charset="-122"/>
              </a:rPr>
              <a:t>±</a:t>
            </a:r>
            <a:r>
              <a:rPr kumimoji="1" lang="en-US" altLang="zh-CN" sz="3200" b="1" i="1" dirty="0">
                <a:latin typeface="Times New Roman" pitchFamily="18" charset="0"/>
                <a:ea typeface="宋体" charset="-122"/>
              </a:rPr>
              <a:t> a</a:t>
            </a:r>
            <a:r>
              <a:rPr kumimoji="1" lang="en-US" altLang="zh-CN" sz="3200" b="1" i="1" baseline="30000" dirty="0">
                <a:latin typeface="Times New Roman" pitchFamily="18" charset="0"/>
                <a:ea typeface="宋体" charset="-122"/>
              </a:rPr>
              <a:t>k+1 </a:t>
            </a:r>
            <a:r>
              <a:rPr kumimoji="1" lang="en-US" altLang="zh-CN" sz="3200" b="1" i="1" dirty="0">
                <a:latin typeface="Times New Roman" pitchFamily="18" charset="0"/>
                <a:ea typeface="宋体" charset="-122"/>
              </a:rPr>
              <a:t>(mod p</a:t>
            </a:r>
            <a:r>
              <a:rPr kumimoji="1" lang="en-US" altLang="zh-CN" sz="3200" b="1" i="1" dirty="0" smtClean="0">
                <a:latin typeface="Times New Roman" pitchFamily="18" charset="0"/>
                <a:ea typeface="宋体" charset="-122"/>
              </a:rPr>
              <a:t>)</a:t>
            </a:r>
            <a:endParaRPr kumimoji="1" lang="en-US" altLang="zh-CN" sz="3200" i="1" dirty="0"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66744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366" name="Rectangle 8"/>
          <p:cNvSpPr>
            <a:spLocks noChangeArrowheads="1"/>
          </p:cNvSpPr>
          <p:nvPr/>
        </p:nvSpPr>
        <p:spPr bwMode="auto">
          <a:xfrm>
            <a:off x="395288" y="242888"/>
            <a:ext cx="8316912" cy="45720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prstShdw prst="shdw17" dist="17961" dir="2700000">
              <a:srgbClr val="001F5C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uz-Cyrl-UZ" altLang="ru-RU" sz="2400" b="1">
                <a:solidFill>
                  <a:schemeClr val="bg1"/>
                </a:solidFill>
                <a:latin typeface="Times New Roman" pitchFamily="18" charset="0"/>
              </a:rPr>
              <a:t>Квадратик таққосламанинг айрим ечимлари</a:t>
            </a:r>
            <a:endParaRPr lang="en-US" altLang="ru-RU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5367" name="AutoShape 13" descr="Точечные ромбики"/>
          <p:cNvSpPr>
            <a:spLocks noChangeArrowheads="1"/>
          </p:cNvSpPr>
          <p:nvPr/>
        </p:nvSpPr>
        <p:spPr bwMode="auto">
          <a:xfrm>
            <a:off x="215900" y="1335755"/>
            <a:ext cx="8753475" cy="4919918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zh-CN" sz="3600" b="1" dirty="0" smtClean="0">
                <a:solidFill>
                  <a:schemeClr val="accent2"/>
                </a:solidFill>
                <a:latin typeface="Times New Roman" pitchFamily="18" charset="0"/>
              </a:rPr>
              <a:t>II</a:t>
            </a:r>
            <a:r>
              <a:rPr kumimoji="1" lang="ru-RU" altLang="zh-CN" sz="3600" b="1" dirty="0" smtClean="0">
                <a:solidFill>
                  <a:schemeClr val="accent2"/>
                </a:solidFill>
                <a:latin typeface="Times New Roman" pitchFamily="18" charset="0"/>
              </a:rPr>
              <a:t>.</a:t>
            </a:r>
            <a:r>
              <a:rPr kumimoji="1" lang="ru-RU" altLang="zh-CN" sz="3600" dirty="0" smtClean="0">
                <a:latin typeface="Times New Roman" pitchFamily="18" charset="0"/>
              </a:rPr>
              <a:t> </a:t>
            </a:r>
            <a:r>
              <a:rPr kumimoji="1" lang="uz-Cyrl-UZ" altLang="zh-CN" sz="3600" dirty="0" smtClean="0">
                <a:latin typeface="Times New Roman" pitchFamily="18" charset="0"/>
              </a:rPr>
              <a:t> </a:t>
            </a:r>
            <a:r>
              <a:rPr kumimoji="1" lang="uz-Cyrl-UZ" altLang="zh-CN" sz="3600" b="1" dirty="0" smtClean="0">
                <a:latin typeface="Times New Roman" pitchFamily="18" charset="0"/>
              </a:rPr>
              <a:t>Айтайлик </a:t>
            </a:r>
            <a:r>
              <a:rPr kumimoji="1" lang="en-US" altLang="zh-CN" sz="3600" b="1" i="1" dirty="0" smtClean="0">
                <a:latin typeface="Times New Roman" pitchFamily="18" charset="0"/>
                <a:ea typeface="宋体" charset="-122"/>
              </a:rPr>
              <a:t>p=8k+5</a:t>
            </a:r>
            <a:r>
              <a:rPr kumimoji="1" lang="en-US" altLang="zh-CN" sz="3600" b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3600" b="1" i="1" dirty="0">
                <a:latin typeface="Times New Roman" pitchFamily="18" charset="0"/>
                <a:ea typeface="宋体" charset="-122"/>
              </a:rPr>
              <a:t>(p≡5 mod 8)</a:t>
            </a:r>
            <a:r>
              <a:rPr kumimoji="1" lang="en-US" altLang="zh-CN" sz="3600" b="1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3600" b="1" dirty="0" smtClean="0">
                <a:latin typeface="Times New Roman" pitchFamily="18" charset="0"/>
              </a:rPr>
              <a:t>бўлсин</a:t>
            </a:r>
            <a:r>
              <a:rPr kumimoji="1" lang="uz-Cyrl-UZ" altLang="zh-CN" sz="3600" dirty="0" smtClean="0">
                <a:latin typeface="Times New Roman" pitchFamily="18" charset="0"/>
              </a:rPr>
              <a:t>.</a:t>
            </a:r>
          </a:p>
          <a:p>
            <a:pPr indent="355600"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zh-CN" sz="3600" dirty="0" smtClean="0">
                <a:solidFill>
                  <a:srgbClr val="000099"/>
                </a:solidFill>
                <a:latin typeface="Times New Roman" pitchFamily="18" charset="0"/>
              </a:rPr>
              <a:t>Агар  </a:t>
            </a:r>
            <a:r>
              <a:rPr kumimoji="1" lang="en-US" altLang="zh-CN" sz="3600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3600" i="1" baseline="30000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2k+1</a:t>
            </a:r>
            <a:r>
              <a:rPr kumimoji="1" lang="en-US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 ≡</a:t>
            </a:r>
            <a:r>
              <a:rPr kumimoji="1" lang="uz-Cyrl-UZ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(</a:t>
            </a:r>
            <a:r>
              <a:rPr kumimoji="1" lang="en-US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mod p</a:t>
            </a:r>
            <a:r>
              <a:rPr kumimoji="1" lang="uz-Cyrl-UZ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)</a:t>
            </a:r>
            <a:r>
              <a:rPr kumimoji="1" lang="en-US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бўлса:</a:t>
            </a:r>
          </a:p>
          <a:p>
            <a:pPr indent="355600" algn="ctr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zh-CN" sz="3600" b="1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x </a:t>
            </a:r>
            <a:r>
              <a:rPr kumimoji="1" lang="en-US" altLang="zh-CN" sz="3600" b="1" i="1" dirty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≡ </a:t>
            </a:r>
            <a:r>
              <a:rPr kumimoji="1" lang="en-US" altLang="zh-CN" sz="3600" b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±</a:t>
            </a:r>
            <a:r>
              <a:rPr kumimoji="1" lang="uz-Cyrl-UZ" altLang="zh-CN" sz="3600" b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3600" b="1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3600" b="1" i="1" baseline="30000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k+1</a:t>
            </a:r>
            <a:r>
              <a:rPr kumimoji="1" lang="en-US" altLang="zh-CN" sz="3600" b="1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3600" b="1" i="1" dirty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(mod p</a:t>
            </a:r>
            <a:r>
              <a:rPr kumimoji="1" lang="en-US" altLang="zh-CN" sz="3600" b="1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)</a:t>
            </a:r>
            <a:r>
              <a:rPr kumimoji="1" lang="uz-Cyrl-UZ" altLang="zh-CN" sz="3600" i="1" dirty="0" smtClean="0">
                <a:solidFill>
                  <a:srgbClr val="000099"/>
                </a:solidFill>
                <a:latin typeface="Times New Roman" pitchFamily="18" charset="0"/>
                <a:ea typeface="宋体" charset="-122"/>
              </a:rPr>
              <a:t>,</a:t>
            </a:r>
          </a:p>
          <a:p>
            <a:pPr indent="355600" algn="just" eaLnBrk="1" hangingPunct="1">
              <a:spcBef>
                <a:spcPct val="0"/>
              </a:spcBef>
              <a:spcAft>
                <a:spcPct val="60000"/>
              </a:spcAft>
              <a:buClrTx/>
              <a:buNone/>
            </a:pPr>
            <a:endParaRPr kumimoji="1" lang="uz-Cyrl-UZ" altLang="zh-CN" sz="1600" dirty="0" smtClean="0">
              <a:latin typeface="Times New Roman" pitchFamily="18" charset="0"/>
            </a:endParaRPr>
          </a:p>
          <a:p>
            <a:pPr indent="355600" algn="just" eaLnBrk="1" hangingPunct="1">
              <a:spcBef>
                <a:spcPct val="0"/>
              </a:spcBef>
              <a:spcAft>
                <a:spcPct val="60000"/>
              </a:spcAft>
              <a:buClrTx/>
              <a:buNone/>
            </a:pPr>
            <a:r>
              <a:rPr kumimoji="1" lang="uz-Cyrl-UZ" altLang="zh-CN" sz="3600" dirty="0" smtClean="0">
                <a:latin typeface="Times New Roman" pitchFamily="18" charset="0"/>
              </a:rPr>
              <a:t>Агар  </a:t>
            </a:r>
            <a:r>
              <a:rPr kumimoji="1" lang="en-US" altLang="zh-CN" sz="3600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3600" i="1" dirty="0" smtClean="0"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3600" i="1" baseline="30000" dirty="0" smtClean="0">
                <a:latin typeface="Times New Roman" pitchFamily="18" charset="0"/>
                <a:ea typeface="宋体" charset="-122"/>
              </a:rPr>
              <a:t>2k+1</a:t>
            </a:r>
            <a:r>
              <a:rPr kumimoji="1" lang="en-US" altLang="zh-CN" sz="3600" i="1" dirty="0" smtClean="0">
                <a:latin typeface="Times New Roman" pitchFamily="18" charset="0"/>
                <a:ea typeface="宋体" charset="-122"/>
              </a:rPr>
              <a:t> ≡</a:t>
            </a:r>
            <a:r>
              <a:rPr kumimoji="1" lang="uz-Cyrl-UZ" altLang="zh-CN" sz="3600" i="1" dirty="0" smtClean="0">
                <a:latin typeface="Times New Roman" pitchFamily="18" charset="0"/>
                <a:ea typeface="宋体" charset="-122"/>
              </a:rPr>
              <a:t>-1</a:t>
            </a:r>
            <a:r>
              <a:rPr kumimoji="1" lang="en-US" altLang="zh-CN" sz="3600" i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3600" i="1" dirty="0" smtClean="0">
                <a:latin typeface="Times New Roman" pitchFamily="18" charset="0"/>
                <a:ea typeface="宋体" charset="-122"/>
              </a:rPr>
              <a:t>(</a:t>
            </a:r>
            <a:r>
              <a:rPr kumimoji="1" lang="en-US" altLang="zh-CN" sz="3600" i="1" dirty="0" smtClean="0">
                <a:latin typeface="Times New Roman" pitchFamily="18" charset="0"/>
                <a:ea typeface="宋体" charset="-122"/>
              </a:rPr>
              <a:t>mod p</a:t>
            </a:r>
            <a:r>
              <a:rPr kumimoji="1" lang="uz-Cyrl-UZ" altLang="zh-CN" sz="3600" i="1" dirty="0" smtClean="0">
                <a:latin typeface="Times New Roman" pitchFamily="18" charset="0"/>
                <a:ea typeface="宋体" charset="-122"/>
              </a:rPr>
              <a:t>)</a:t>
            </a:r>
            <a:r>
              <a:rPr kumimoji="1" lang="en-US" altLang="zh-CN" sz="3600" i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3600" i="1" dirty="0" smtClean="0">
                <a:latin typeface="Times New Roman" pitchFamily="18" charset="0"/>
                <a:ea typeface="宋体" charset="-122"/>
              </a:rPr>
              <a:t>бўлса:</a:t>
            </a:r>
          </a:p>
          <a:p>
            <a:pPr indent="355600" algn="ctr" eaLnBrk="1" hangingPunct="1">
              <a:spcBef>
                <a:spcPct val="0"/>
              </a:spcBef>
              <a:spcAft>
                <a:spcPct val="60000"/>
              </a:spcAft>
              <a:buClrTx/>
              <a:buNone/>
            </a:pPr>
            <a:r>
              <a:rPr kumimoji="1" lang="en-US" altLang="zh-CN" sz="3600" b="1" i="1" dirty="0" smtClean="0">
                <a:latin typeface="Times New Roman" pitchFamily="18" charset="0"/>
                <a:ea typeface="宋体" charset="-122"/>
              </a:rPr>
              <a:t>x ≡ </a:t>
            </a:r>
            <a:r>
              <a:rPr kumimoji="1" lang="en-US" altLang="zh-CN" sz="3600" b="1" dirty="0" smtClean="0">
                <a:latin typeface="Times New Roman" pitchFamily="18" charset="0"/>
                <a:ea typeface="宋体" charset="-122"/>
              </a:rPr>
              <a:t>±</a:t>
            </a:r>
            <a:r>
              <a:rPr kumimoji="1" lang="uz-Cyrl-UZ" altLang="zh-CN" sz="3600" b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3600" b="1" i="1" dirty="0" smtClean="0"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3600" b="1" i="1" baseline="30000" dirty="0" smtClean="0">
                <a:latin typeface="Times New Roman" pitchFamily="18" charset="0"/>
                <a:ea typeface="宋体" charset="-122"/>
              </a:rPr>
              <a:t>k+1.</a:t>
            </a:r>
            <a:r>
              <a:rPr kumimoji="1" lang="en-US" altLang="zh-CN" sz="3600" b="1" i="1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3600" b="1" i="1" baseline="30000" dirty="0" smtClean="0">
                <a:latin typeface="Times New Roman" pitchFamily="18" charset="0"/>
                <a:ea typeface="宋体" charset="-122"/>
              </a:rPr>
              <a:t>2k+1</a:t>
            </a:r>
            <a:r>
              <a:rPr kumimoji="1" lang="en-US" altLang="zh-CN" sz="3600" b="1" i="1" dirty="0" smtClean="0">
                <a:latin typeface="Times New Roman" pitchFamily="18" charset="0"/>
                <a:ea typeface="宋体" charset="-122"/>
              </a:rPr>
              <a:t> (mod p)</a:t>
            </a:r>
            <a:r>
              <a:rPr kumimoji="1" lang="uz-Cyrl-UZ" altLang="zh-CN" sz="3600" i="1" dirty="0" smtClean="0">
                <a:latin typeface="Times New Roman" pitchFamily="18" charset="0"/>
                <a:ea typeface="宋体" charset="-122"/>
              </a:rPr>
              <a:t>.</a:t>
            </a:r>
            <a:endParaRPr kumimoji="1" lang="en-US" altLang="zh-CN" sz="3600" i="1" dirty="0"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3704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5367" name="AutoShape 13" descr="Точечные ромбики"/>
          <p:cNvSpPr>
            <a:spLocks noChangeArrowheads="1"/>
          </p:cNvSpPr>
          <p:nvPr/>
        </p:nvSpPr>
        <p:spPr bwMode="auto">
          <a:xfrm>
            <a:off x="212687" y="234737"/>
            <a:ext cx="8753475" cy="6457593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ts val="600"/>
              </a:spcAft>
              <a:buClrTx/>
              <a:buFontTx/>
              <a:buNone/>
            </a:pPr>
            <a:r>
              <a:rPr kumimoji="1" lang="en-US" altLang="zh-CN" sz="2000" b="1" dirty="0" smtClean="0">
                <a:solidFill>
                  <a:schemeClr val="accent2"/>
                </a:solidFill>
                <a:latin typeface="Times New Roman" pitchFamily="18" charset="0"/>
              </a:rPr>
              <a:t>III.</a:t>
            </a:r>
            <a:r>
              <a:rPr kumimoji="1" lang="ru-RU" altLang="zh-CN" sz="2000" b="1" dirty="0" smtClean="0">
                <a:solidFill>
                  <a:schemeClr val="accent2"/>
                </a:solidFill>
                <a:latin typeface="Times New Roman" pitchFamily="18" charset="0"/>
              </a:rPr>
              <a:t> 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000" b="1" i="1" baseline="30000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≡a</a:t>
            </a:r>
            <a:r>
              <a:rPr kumimoji="1" lang="uz-Cyrl-UZ" altLang="zh-CN" sz="2000" b="1" i="1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(mod p)</a:t>
            </a:r>
            <a:r>
              <a:rPr kumimoji="1" lang="ru-RU" altLang="zh-CN" sz="2000" b="1" i="1" dirty="0" smtClean="0">
                <a:latin typeface="Times New Roman" pitchFamily="18" charset="0"/>
              </a:rPr>
              <a:t> (</a:t>
            </a:r>
            <a:r>
              <a:rPr kumimoji="1" lang="en-US" altLang="zh-CN" sz="2000" i="1" dirty="0" smtClean="0">
                <a:latin typeface="Times New Roman" pitchFamily="18" charset="0"/>
                <a:ea typeface="宋体" charset="-122"/>
              </a:rPr>
              <a:t>p&gt;2</a:t>
            </a:r>
            <a:r>
              <a:rPr kumimoji="1" lang="uz-Cyrl-UZ" altLang="zh-CN" sz="2000" i="1" dirty="0" smtClean="0">
                <a:latin typeface="Times New Roman" pitchFamily="18" charset="0"/>
                <a:ea typeface="宋体" charset="-122"/>
              </a:rPr>
              <a:t> – туб сон</a:t>
            </a:r>
            <a:r>
              <a:rPr kumimoji="1" lang="ru-RU" altLang="zh-CN" sz="2000" b="1" i="1" dirty="0" smtClean="0">
                <a:latin typeface="Times New Roman" pitchFamily="18" charset="0"/>
              </a:rPr>
              <a:t>) </a:t>
            </a:r>
            <a:r>
              <a:rPr kumimoji="1" lang="ru-RU" altLang="zh-CN" sz="2000" b="1" i="1" dirty="0" err="1" smtClean="0">
                <a:latin typeface="Times New Roman" pitchFamily="18" charset="0"/>
              </a:rPr>
              <a:t>таққосламани</a:t>
            </a:r>
            <a:r>
              <a:rPr kumimoji="1" lang="ru-RU" altLang="zh-CN" sz="2000" b="1" i="1" dirty="0" smtClean="0">
                <a:latin typeface="Times New Roman" pitchFamily="18" charset="0"/>
              </a:rPr>
              <a:t> </a:t>
            </a:r>
            <a:r>
              <a:rPr kumimoji="1" lang="ru-RU" altLang="zh-CN" sz="2000" b="1" i="1" dirty="0" err="1" smtClean="0">
                <a:latin typeface="Times New Roman" pitchFamily="18" charset="0"/>
              </a:rPr>
              <a:t>ечишнинг</a:t>
            </a:r>
            <a:r>
              <a:rPr kumimoji="1" lang="ru-RU" altLang="zh-CN" sz="2000" b="1" i="1" dirty="0" smtClean="0">
                <a:latin typeface="Times New Roman" pitchFamily="18" charset="0"/>
              </a:rPr>
              <a:t> </a:t>
            </a:r>
            <a:r>
              <a:rPr kumimoji="1" lang="ru-RU" altLang="zh-CN" sz="2000" b="1" i="1" dirty="0" err="1" smtClean="0">
                <a:latin typeface="Times New Roman" pitchFamily="18" charset="0"/>
              </a:rPr>
              <a:t>умумий</a:t>
            </a:r>
            <a:r>
              <a:rPr kumimoji="1" lang="ru-RU" altLang="zh-CN" sz="2000" b="1" i="1" dirty="0" smtClean="0">
                <a:latin typeface="Times New Roman" pitchFamily="18" charset="0"/>
              </a:rPr>
              <a:t> </a:t>
            </a:r>
            <a:r>
              <a:rPr kumimoji="1" lang="ru-RU" altLang="zh-CN" sz="2000" b="1" i="1" dirty="0" err="1" smtClean="0">
                <a:latin typeface="Times New Roman" pitchFamily="18" charset="0"/>
              </a:rPr>
              <a:t>алгоритми</a:t>
            </a:r>
            <a:r>
              <a:rPr kumimoji="1" lang="ru-RU" altLang="zh-CN" sz="2000" b="1" i="1" dirty="0" smtClean="0">
                <a:latin typeface="Times New Roman" pitchFamily="18" charset="0"/>
              </a:rPr>
              <a:t>.</a:t>
            </a:r>
          </a:p>
          <a:p>
            <a:pPr indent="355600"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ru-RU" altLang="zh-CN" sz="2000" b="1" i="1" u="sng" dirty="0" err="1" smtClean="0">
                <a:latin typeface="Times New Roman" pitchFamily="18" charset="0"/>
              </a:rPr>
              <a:t>Кириш</a:t>
            </a:r>
            <a:r>
              <a:rPr kumimoji="1" lang="ru-RU" altLang="zh-CN" sz="2000" b="1" i="1" dirty="0" smtClean="0">
                <a:latin typeface="Times New Roman" pitchFamily="18" charset="0"/>
              </a:rPr>
              <a:t>: 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p</a:t>
            </a:r>
            <a:r>
              <a:rPr kumimoji="1" lang="uz-Cyrl-UZ" altLang="zh-CN" sz="2000" i="1" dirty="0">
                <a:latin typeface="Times New Roman" pitchFamily="18" charset="0"/>
                <a:ea typeface="宋体" charset="-122"/>
              </a:rPr>
              <a:t>,</a:t>
            </a:r>
            <a:r>
              <a:rPr kumimoji="1" lang="en-US" altLang="zh-CN" sz="2000" i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000" b="1" i="1" dirty="0" smtClean="0">
                <a:latin typeface="Times New Roman" pitchFamily="18" charset="0"/>
                <a:ea typeface="宋体" charset="-122"/>
              </a:rPr>
              <a:t>а</a:t>
            </a:r>
            <a:r>
              <a:rPr kumimoji="1" lang="uz-Cyrl-UZ" altLang="zh-CN" sz="2000" i="1" dirty="0" smtClean="0">
                <a:latin typeface="Times New Roman" pitchFamily="18" charset="0"/>
                <a:ea typeface="宋体" charset="-122"/>
              </a:rPr>
              <a:t> ва 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N</a:t>
            </a:r>
            <a:r>
              <a:rPr kumimoji="1" lang="uz-Cyrl-UZ" altLang="zh-CN" sz="2000" i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ru-RU" altLang="zh-CN" sz="2000" i="1" dirty="0" smtClean="0">
                <a:latin typeface="Times New Roman" pitchFamily="18" charset="0"/>
              </a:rPr>
              <a:t> </a:t>
            </a:r>
            <a:r>
              <a:rPr kumimoji="1" lang="en-US" altLang="zh-CN" sz="2000" i="1" dirty="0" smtClean="0">
                <a:latin typeface="Times New Roman" pitchFamily="18" charset="0"/>
              </a:rPr>
              <a:t>- </a:t>
            </a:r>
            <a:r>
              <a:rPr kumimoji="1" lang="uz-Cyrl-UZ" altLang="zh-CN" sz="2000" i="1" dirty="0" smtClean="0">
                <a:latin typeface="Times New Roman" pitchFamily="18" charset="0"/>
              </a:rPr>
              <a:t>бутун сонлар, бу ерда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=-1</a:t>
            </a:r>
            <a:r>
              <a:rPr lang="uz-Cyrl-U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55600"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ru-RU" altLang="zh-CN" sz="2000" b="1" i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</a:t>
            </a:r>
            <a:r>
              <a:rPr kumimoji="1" lang="uz-Cyrl-UZ" altLang="zh-CN" sz="2000" b="1" i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қ</a:t>
            </a:r>
            <a:r>
              <a:rPr kumimoji="1" lang="ru-RU" altLang="zh-CN" sz="2000" b="1" i="1" u="sng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иш</a:t>
            </a:r>
            <a:r>
              <a:rPr kumimoji="1" lang="ru-RU" altLang="zh-CN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1" lang="ru-RU" altLang="zh-CN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2000" i="1" dirty="0" smtClean="0">
                <a:latin typeface="Times New Roman" pitchFamily="18" charset="0"/>
                <a:ea typeface="宋体" charset="-122"/>
              </a:rPr>
              <a:t>x</a:t>
            </a:r>
            <a:r>
              <a:rPr kumimoji="1" lang="en-US" altLang="zh-CN" sz="2000" i="1" baseline="30000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000" i="1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≡a</a:t>
            </a:r>
            <a:r>
              <a:rPr kumimoji="1" lang="uz-Cyrl-UZ" altLang="zh-CN" sz="2000" i="1" dirty="0" smtClean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kumimoji="1" lang="en-US" altLang="zh-CN" sz="2000" i="1" dirty="0" smtClean="0">
                <a:latin typeface="Times New Roman" pitchFamily="18" charset="0"/>
                <a:ea typeface="宋体" charset="-122"/>
              </a:rPr>
              <a:t>(mod p)</a:t>
            </a:r>
            <a:r>
              <a:rPr kumimoji="1" lang="en-US" altLang="zh-CN" sz="2000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000" dirty="0" smtClean="0">
                <a:latin typeface="Times New Roman" pitchFamily="18" charset="0"/>
                <a:ea typeface="宋体" charset="-122"/>
              </a:rPr>
              <a:t>– таққослама ечими.</a:t>
            </a: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en-US" altLang="zh-CN" sz="2000" b="1" dirty="0" smtClean="0">
                <a:latin typeface="Times New Roman" pitchFamily="18" charset="0"/>
              </a:rPr>
              <a:t>1</a:t>
            </a:r>
            <a:r>
              <a:rPr kumimoji="1" lang="uz-Cyrl-UZ" altLang="zh-CN" sz="2000" b="1" dirty="0" smtClean="0">
                <a:latin typeface="Times New Roman" pitchFamily="18" charset="0"/>
              </a:rPr>
              <a:t>.</a:t>
            </a:r>
            <a:r>
              <a:rPr kumimoji="1" lang="uz-Cyrl-UZ" altLang="zh-CN" sz="2000" dirty="0" smtClean="0">
                <a:latin typeface="Times New Roman" pitchFamily="18" charset="0"/>
              </a:rPr>
              <a:t> </a:t>
            </a:r>
            <a:r>
              <a:rPr kumimoji="1" lang="en-US" altLang="zh-CN" sz="2000" i="1" dirty="0" smtClean="0">
                <a:latin typeface="Times New Roman" pitchFamily="18" charset="0"/>
              </a:rPr>
              <a:t>P</a:t>
            </a:r>
            <a:r>
              <a:rPr kumimoji="1" lang="en-US" altLang="zh-CN" sz="2000" dirty="0" smtClean="0">
                <a:latin typeface="Times New Roman" pitchFamily="18" charset="0"/>
              </a:rPr>
              <a:t> – </a:t>
            </a:r>
            <a:r>
              <a:rPr kumimoji="1" lang="uz-Cyrl-UZ" altLang="zh-CN" sz="2000" dirty="0" smtClean="0">
                <a:latin typeface="Times New Roman" pitchFamily="18" charset="0"/>
              </a:rPr>
              <a:t>сонини </a:t>
            </a:r>
            <a:r>
              <a:rPr kumimoji="1" lang="en-US" altLang="zh-CN" sz="2000" i="1" dirty="0" smtClean="0">
                <a:latin typeface="Times New Roman" pitchFamily="18" charset="0"/>
              </a:rPr>
              <a:t>p</a:t>
            </a:r>
            <a:r>
              <a:rPr kumimoji="1" lang="en-US" altLang="zh-CN" sz="2000" dirty="0" smtClean="0">
                <a:latin typeface="Times New Roman" pitchFamily="18" charset="0"/>
              </a:rPr>
              <a:t>=2</a:t>
            </a:r>
            <a:r>
              <a:rPr kumimoji="1" lang="en-US" altLang="zh-CN" sz="2000" i="1" baseline="30000" dirty="0" smtClean="0">
                <a:latin typeface="Times New Roman" pitchFamily="18" charset="0"/>
              </a:rPr>
              <a:t>k</a:t>
            </a:r>
            <a:r>
              <a:rPr kumimoji="1" lang="en-US" altLang="zh-CN" sz="2000" i="1" dirty="0" smtClean="0">
                <a:latin typeface="Times New Roman" pitchFamily="18" charset="0"/>
              </a:rPr>
              <a:t>h+1 </a:t>
            </a:r>
            <a:r>
              <a:rPr kumimoji="1" lang="en-US" altLang="zh-CN" sz="2000" dirty="0" smtClean="0">
                <a:latin typeface="Times New Roman" pitchFamily="18" charset="0"/>
              </a:rPr>
              <a:t>(</a:t>
            </a:r>
            <a:r>
              <a:rPr kumimoji="1" lang="en-US" altLang="zh-CN" sz="2000" i="1" dirty="0" smtClean="0">
                <a:latin typeface="Times New Roman" pitchFamily="18" charset="0"/>
              </a:rPr>
              <a:t>h </a:t>
            </a:r>
            <a:r>
              <a:rPr kumimoji="1" lang="en-US" altLang="zh-CN" sz="2000" dirty="0" smtClean="0">
                <a:latin typeface="Times New Roman" pitchFamily="18" charset="0"/>
              </a:rPr>
              <a:t>– </a:t>
            </a:r>
            <a:r>
              <a:rPr kumimoji="1" lang="ru-RU" altLang="zh-CN" sz="2000" dirty="0" smtClean="0">
                <a:latin typeface="Times New Roman" pitchFamily="18" charset="0"/>
              </a:rPr>
              <a:t>т</a:t>
            </a:r>
            <a:r>
              <a:rPr kumimoji="1" lang="uz-Cyrl-UZ" altLang="zh-CN" sz="2000" dirty="0" smtClean="0">
                <a:latin typeface="Times New Roman" pitchFamily="18" charset="0"/>
              </a:rPr>
              <a:t>оқ сон</a:t>
            </a:r>
            <a:r>
              <a:rPr kumimoji="1" lang="en-US" altLang="zh-CN" sz="2000" dirty="0" smtClean="0">
                <a:latin typeface="Times New Roman" pitchFamily="18" charset="0"/>
              </a:rPr>
              <a:t>)</a:t>
            </a:r>
            <a:r>
              <a:rPr kumimoji="1" lang="uz-Cyrl-UZ" altLang="zh-CN" sz="2000" dirty="0" smtClean="0">
                <a:latin typeface="Times New Roman" pitchFamily="18" charset="0"/>
              </a:rPr>
              <a:t> кўринишида ифодалаймиз.</a:t>
            </a: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ru-RU" altLang="zh-CN" sz="2000" b="1" dirty="0" smtClean="0">
                <a:latin typeface="Times New Roman" pitchFamily="18" charset="0"/>
              </a:rPr>
              <a:t>2.</a:t>
            </a:r>
            <a:r>
              <a:rPr kumimoji="1" lang="ru-RU" altLang="zh-CN" sz="2000" dirty="0" smtClean="0">
                <a:latin typeface="Times New Roman" pitchFamily="18" charset="0"/>
              </a:rPr>
              <a:t> </a:t>
            </a:r>
            <a:r>
              <a:rPr kumimoji="1" lang="uz-Cyrl-UZ" altLang="zh-CN" sz="2000" dirty="0" smtClean="0">
                <a:latin typeface="Times New Roman" pitchFamily="18" charset="0"/>
              </a:rPr>
              <a:t>Ҳисоблансин: </a:t>
            </a:r>
            <a:r>
              <a:rPr kumimoji="1" lang="en-US" altLang="zh-CN" sz="2000" i="1" dirty="0" smtClean="0">
                <a:latin typeface="Times New Roman" pitchFamily="18" charset="0"/>
              </a:rPr>
              <a:t>a</a:t>
            </a:r>
            <a:r>
              <a:rPr kumimoji="1" lang="en-US" altLang="zh-CN" sz="2000" i="1" baseline="-25000" dirty="0" smtClean="0">
                <a:latin typeface="Times New Roman" pitchFamily="18" charset="0"/>
              </a:rPr>
              <a:t>1</a:t>
            </a:r>
            <a:r>
              <a:rPr kumimoji="1" lang="en-US" altLang="zh-CN" sz="2000" i="1" dirty="0" smtClean="0">
                <a:latin typeface="Times New Roman" pitchFamily="18" charset="0"/>
              </a:rPr>
              <a:t>=a</a:t>
            </a:r>
            <a:r>
              <a:rPr kumimoji="1" lang="en-US" altLang="zh-CN" sz="2000" i="1" baseline="30000" dirty="0" smtClean="0">
                <a:latin typeface="Times New Roman" pitchFamily="18" charset="0"/>
              </a:rPr>
              <a:t>(h+1)/2</a:t>
            </a:r>
            <a:r>
              <a:rPr kumimoji="1" lang="en-US" altLang="zh-CN" sz="2000" i="1" dirty="0" smtClean="0">
                <a:latin typeface="Times New Roman" pitchFamily="18" charset="0"/>
              </a:rPr>
              <a:t>(mod p), </a:t>
            </a:r>
            <a:r>
              <a:rPr kumimoji="1" lang="en-US" altLang="zh-CN" sz="2000" i="1" dirty="0" smtClean="0">
                <a:latin typeface="Times New Roman" pitchFamily="18" charset="0"/>
              </a:rPr>
              <a:t>a</a:t>
            </a:r>
            <a:r>
              <a:rPr kumimoji="1" lang="en-US" altLang="zh-CN" sz="2000" i="1" baseline="-25000" dirty="0" smtClean="0">
                <a:latin typeface="Times New Roman" pitchFamily="18" charset="0"/>
              </a:rPr>
              <a:t>2</a:t>
            </a:r>
            <a:r>
              <a:rPr kumimoji="1" lang="en-US" altLang="zh-CN" sz="2000" i="1" dirty="0" smtClean="0">
                <a:latin typeface="Times New Roman" pitchFamily="18" charset="0"/>
              </a:rPr>
              <a:t>=a</a:t>
            </a:r>
            <a:r>
              <a:rPr kumimoji="1" lang="en-US" altLang="zh-CN" sz="2000" i="1" baseline="30000" dirty="0" smtClean="0">
                <a:latin typeface="Times New Roman" pitchFamily="18" charset="0"/>
              </a:rPr>
              <a:t>-1</a:t>
            </a:r>
            <a:r>
              <a:rPr kumimoji="1" lang="en-US" altLang="zh-CN" sz="2000" i="1" dirty="0" smtClean="0">
                <a:latin typeface="Times New Roman" pitchFamily="18" charset="0"/>
              </a:rPr>
              <a:t>(mod p), N</a:t>
            </a:r>
            <a:r>
              <a:rPr kumimoji="1" lang="en-US" altLang="zh-CN" sz="2000" i="1" baseline="-25000" dirty="0" smtClean="0">
                <a:latin typeface="Times New Roman" pitchFamily="18" charset="0"/>
              </a:rPr>
              <a:t>1</a:t>
            </a:r>
            <a:r>
              <a:rPr kumimoji="1" lang="en-US" altLang="zh-CN" sz="2000" i="1" dirty="0" smtClean="0">
                <a:latin typeface="Times New Roman" pitchFamily="18" charset="0"/>
              </a:rPr>
              <a:t>=</a:t>
            </a:r>
            <a:r>
              <a:rPr kumimoji="1" lang="en-US" altLang="zh-CN" sz="2000" i="1" dirty="0" err="1" smtClean="0">
                <a:latin typeface="Times New Roman" pitchFamily="18" charset="0"/>
              </a:rPr>
              <a:t>N</a:t>
            </a:r>
            <a:r>
              <a:rPr kumimoji="1" lang="en-US" altLang="zh-CN" sz="2000" i="1" baseline="30000" dirty="0" err="1" smtClean="0">
                <a:latin typeface="Times New Roman" pitchFamily="18" charset="0"/>
              </a:rPr>
              <a:t>h</a:t>
            </a:r>
            <a:r>
              <a:rPr kumimoji="1" lang="en-US" altLang="zh-CN" sz="2000" i="1" dirty="0" smtClean="0">
                <a:latin typeface="Times New Roman" pitchFamily="18" charset="0"/>
              </a:rPr>
              <a:t>(mod p), N</a:t>
            </a:r>
            <a:r>
              <a:rPr kumimoji="1" lang="en-US" altLang="zh-CN" sz="2000" i="1" baseline="-25000" dirty="0" smtClean="0">
                <a:latin typeface="Times New Roman" pitchFamily="18" charset="0"/>
              </a:rPr>
              <a:t>2</a:t>
            </a:r>
            <a:r>
              <a:rPr kumimoji="1" lang="en-US" altLang="zh-CN" sz="2000" i="1" dirty="0" smtClean="0">
                <a:latin typeface="Times New Roman" pitchFamily="18" charset="0"/>
              </a:rPr>
              <a:t>=1, j=0;</a:t>
            </a:r>
            <a:endParaRPr kumimoji="1" lang="uz-Cyrl-UZ" altLang="zh-CN" sz="2000" i="1" dirty="0" smtClean="0">
              <a:latin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zh-CN" sz="2000" b="1" dirty="0" smtClean="0">
                <a:latin typeface="Times New Roman" pitchFamily="18" charset="0"/>
              </a:rPr>
              <a:t>3. </a:t>
            </a:r>
            <a:r>
              <a:rPr kumimoji="1" lang="uz-Cyrl-UZ" altLang="zh-CN" sz="2000" dirty="0" smtClean="0">
                <a:latin typeface="Times New Roman" pitchFamily="18" charset="0"/>
              </a:rPr>
              <a:t>Барча</a:t>
            </a:r>
            <a:r>
              <a:rPr kumimoji="1" lang="uz-Cyrl-UZ" altLang="zh-CN" sz="2000" i="1" dirty="0" smtClean="0">
                <a:latin typeface="Times New Roman" pitchFamily="18" charset="0"/>
              </a:rPr>
              <a:t> </a:t>
            </a:r>
            <a:r>
              <a:rPr kumimoji="1" lang="en-US" altLang="zh-CN" sz="2000" i="1" dirty="0" err="1" smtClean="0">
                <a:latin typeface="Times New Roman" pitchFamily="18" charset="0"/>
              </a:rPr>
              <a:t>i</a:t>
            </a:r>
            <a:r>
              <a:rPr kumimoji="1" lang="en-US" altLang="zh-CN" sz="2000" i="1" dirty="0" smtClean="0">
                <a:latin typeface="Times New Roman" pitchFamily="18" charset="0"/>
              </a:rPr>
              <a:t>=0,1,2,,,k</a:t>
            </a:r>
            <a:r>
              <a:rPr kumimoji="1" lang="en-US" altLang="zh-CN" sz="2000" i="1" dirty="0" smtClean="0">
                <a:latin typeface="Times New Roman" pitchFamily="18" charset="0"/>
              </a:rPr>
              <a:t>–</a:t>
            </a:r>
            <a:r>
              <a:rPr kumimoji="1" lang="en-US" altLang="zh-CN" sz="2000" i="1" dirty="0" smtClean="0">
                <a:latin typeface="Times New Roman" pitchFamily="18" charset="0"/>
              </a:rPr>
              <a:t>2</a:t>
            </a:r>
            <a:r>
              <a:rPr kumimoji="1" lang="en-US" altLang="zh-CN" sz="2000" dirty="0" smtClean="0">
                <a:latin typeface="Times New Roman" pitchFamily="18" charset="0"/>
              </a:rPr>
              <a:t> </a:t>
            </a:r>
            <a:r>
              <a:rPr kumimoji="1" lang="ru-RU" altLang="zh-CN" sz="2000" dirty="0" err="1" smtClean="0">
                <a:latin typeface="Times New Roman" pitchFamily="18" charset="0"/>
              </a:rPr>
              <a:t>лар</a:t>
            </a:r>
            <a:r>
              <a:rPr kumimoji="1" lang="ru-RU" altLang="zh-CN" sz="2000" dirty="0" smtClean="0">
                <a:latin typeface="Times New Roman" pitchFamily="18" charset="0"/>
              </a:rPr>
              <a:t> </a:t>
            </a:r>
            <a:r>
              <a:rPr kumimoji="1" lang="uz-Cyrl-UZ" altLang="zh-CN" sz="2000" dirty="0" smtClean="0">
                <a:latin typeface="Times New Roman" pitchFamily="18" charset="0"/>
              </a:rPr>
              <a:t>учун қуйидагилар бажарилсин:</a:t>
            </a:r>
          </a:p>
          <a:p>
            <a:pPr marL="355600"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zh-CN" sz="2000" b="1" dirty="0" smtClean="0">
                <a:latin typeface="Times New Roman" pitchFamily="18" charset="0"/>
              </a:rPr>
              <a:t>3.1. </a:t>
            </a:r>
            <a:r>
              <a:rPr kumimoji="1" lang="en-US" altLang="zh-CN" sz="2000" i="1" dirty="0" smtClean="0">
                <a:latin typeface="Times New Roman" pitchFamily="18" charset="0"/>
              </a:rPr>
              <a:t>b=a</a:t>
            </a:r>
            <a:r>
              <a:rPr kumimoji="1" lang="en-US" altLang="zh-CN" sz="2000" i="1" baseline="-25000" dirty="0" smtClean="0">
                <a:latin typeface="Times New Roman" pitchFamily="18" charset="0"/>
              </a:rPr>
              <a:t>1</a:t>
            </a:r>
            <a:r>
              <a:rPr kumimoji="1" lang="en-US" altLang="zh-CN" sz="2000" i="1" dirty="0" smtClean="0">
                <a:latin typeface="Times New Roman" pitchFamily="18" charset="0"/>
              </a:rPr>
              <a:t>N</a:t>
            </a:r>
            <a:r>
              <a:rPr kumimoji="1" lang="en-US" altLang="zh-CN" sz="2000" i="1" baseline="-25000" dirty="0" smtClean="0">
                <a:latin typeface="Times New Roman" pitchFamily="18" charset="0"/>
              </a:rPr>
              <a:t>2</a:t>
            </a:r>
            <a:r>
              <a:rPr kumimoji="1" lang="en-US" altLang="zh-CN" sz="2000" i="1" dirty="0" smtClean="0">
                <a:latin typeface="Times New Roman" pitchFamily="18" charset="0"/>
              </a:rPr>
              <a:t>(mod p).</a:t>
            </a:r>
          </a:p>
          <a:p>
            <a:pPr marL="355600" algn="just" eaLnBrk="1" hangingPunct="1">
              <a:spcBef>
                <a:spcPct val="0"/>
              </a:spcBef>
              <a:spcAft>
                <a:spcPct val="60000"/>
              </a:spcAft>
              <a:buClrTx/>
              <a:buNone/>
            </a:pPr>
            <a:r>
              <a:rPr kumimoji="1" lang="en-US" altLang="zh-CN" sz="2000" b="1" dirty="0" smtClean="0">
                <a:latin typeface="Times New Roman" pitchFamily="18" charset="0"/>
              </a:rPr>
              <a:t>3.2. </a:t>
            </a:r>
            <a:r>
              <a:rPr kumimoji="1" lang="en-US" altLang="zh-CN" sz="2000" i="1" dirty="0" smtClean="0">
                <a:latin typeface="Times New Roman" pitchFamily="18" charset="0"/>
              </a:rPr>
              <a:t>c</a:t>
            </a:r>
            <a:r>
              <a:rPr kumimoji="1" lang="en-US" altLang="zh-CN" sz="2000" i="1" dirty="0" smtClean="0">
                <a:latin typeface="Times New Roman" pitchFamily="18" charset="0"/>
              </a:rPr>
              <a:t>=a</a:t>
            </a:r>
            <a:r>
              <a:rPr kumimoji="1" lang="en-US" altLang="zh-CN" sz="2000" i="1" baseline="-25000" dirty="0" smtClean="0">
                <a:latin typeface="Times New Roman" pitchFamily="18" charset="0"/>
              </a:rPr>
              <a:t>2</a:t>
            </a:r>
            <a:r>
              <a:rPr kumimoji="1" lang="en-US" altLang="zh-CN" sz="2000" i="1" dirty="0" smtClean="0">
                <a:latin typeface="Times New Roman" pitchFamily="18" charset="0"/>
              </a:rPr>
              <a:t>b</a:t>
            </a:r>
            <a:r>
              <a:rPr kumimoji="1" lang="en-US" altLang="zh-CN" sz="2000" i="1" baseline="30000" dirty="0" smtClean="0">
                <a:latin typeface="Times New Roman" pitchFamily="18" charset="0"/>
              </a:rPr>
              <a:t>2</a:t>
            </a:r>
            <a:r>
              <a:rPr kumimoji="1" lang="en-US" altLang="zh-CN" sz="2000" i="1" dirty="0" smtClean="0">
                <a:latin typeface="Times New Roman" pitchFamily="18" charset="0"/>
              </a:rPr>
              <a:t>(mod p).</a:t>
            </a:r>
          </a:p>
          <a:p>
            <a:pPr marL="355600" algn="just" eaLnBrk="1" hangingPunct="1">
              <a:spcBef>
                <a:spcPct val="0"/>
              </a:spcBef>
              <a:spcAft>
                <a:spcPct val="60000"/>
              </a:spcAft>
              <a:buClrTx/>
              <a:buNone/>
            </a:pPr>
            <a:r>
              <a:rPr kumimoji="1" lang="en-US" altLang="zh-CN" sz="2000" b="1" dirty="0" smtClean="0">
                <a:latin typeface="Times New Roman" pitchFamily="18" charset="0"/>
              </a:rPr>
              <a:t>3.3. </a:t>
            </a:r>
            <a:r>
              <a:rPr kumimoji="1" lang="en-US" altLang="zh-CN" sz="2000" dirty="0" smtClean="0">
                <a:latin typeface="Times New Roman" pitchFamily="18" charset="0"/>
              </a:rPr>
              <a:t>		</a:t>
            </a:r>
            <a:r>
              <a:rPr kumimoji="1" lang="en-US" altLang="zh-CN" sz="2000" dirty="0">
                <a:latin typeface="Times New Roman" pitchFamily="18" charset="0"/>
              </a:rPr>
              <a:t> </a:t>
            </a:r>
            <a:r>
              <a:rPr kumimoji="1" lang="en-US" altLang="zh-CN" sz="2000" dirty="0" smtClean="0">
                <a:latin typeface="Times New Roman" pitchFamily="18" charset="0"/>
              </a:rPr>
              <a:t>      </a:t>
            </a:r>
            <a:endParaRPr kumimoji="1" lang="uz-Cyrl-UZ" altLang="zh-CN" sz="2000" dirty="0" smtClean="0">
              <a:latin typeface="Times New Roman" pitchFamily="18" charset="0"/>
            </a:endParaRPr>
          </a:p>
          <a:p>
            <a:pPr marL="1074738" algn="just" eaLnBrk="1" hangingPunct="1">
              <a:spcBef>
                <a:spcPct val="0"/>
              </a:spcBef>
              <a:spcAft>
                <a:spcPct val="60000"/>
              </a:spcAft>
              <a:buClrTx/>
              <a:buNone/>
            </a:pPr>
            <a:r>
              <a:rPr kumimoji="1" lang="uz-Cyrl-UZ" altLang="zh-CN" sz="2000" dirty="0" smtClean="0">
                <a:latin typeface="Times New Roman" pitchFamily="18" charset="0"/>
              </a:rPr>
              <a:t>Агар </a:t>
            </a:r>
            <a:r>
              <a:rPr kumimoji="1" lang="en-US" altLang="zh-CN" sz="2000" i="1" dirty="0" smtClean="0">
                <a:latin typeface="Times New Roman" pitchFamily="18" charset="0"/>
              </a:rPr>
              <a:t>d</a:t>
            </a:r>
            <a:r>
              <a:rPr kumimoji="1" lang="en-US" altLang="zh-CN" sz="2000" dirty="0" smtClean="0">
                <a:latin typeface="Times New Roman" pitchFamily="18" charset="0"/>
              </a:rPr>
              <a:t>=1 </a:t>
            </a:r>
            <a:r>
              <a:rPr kumimoji="1" lang="ru-RU" altLang="zh-CN" sz="2000" dirty="0" smtClean="0">
                <a:latin typeface="Times New Roman" pitchFamily="18" charset="0"/>
              </a:rPr>
              <a:t>б</a:t>
            </a:r>
            <a:r>
              <a:rPr kumimoji="1" lang="uz-Cyrl-UZ" altLang="zh-CN" sz="2000" dirty="0" smtClean="0">
                <a:latin typeface="Times New Roman" pitchFamily="18" charset="0"/>
              </a:rPr>
              <a:t>ў</a:t>
            </a:r>
            <a:r>
              <a:rPr kumimoji="1" lang="ru-RU" altLang="zh-CN" sz="2000" dirty="0" err="1" smtClean="0">
                <a:latin typeface="Times New Roman" pitchFamily="18" charset="0"/>
              </a:rPr>
              <a:t>лса</a:t>
            </a:r>
            <a:r>
              <a:rPr kumimoji="1" lang="ru-RU" altLang="zh-CN" sz="2000" dirty="0" smtClean="0">
                <a:latin typeface="Times New Roman" pitchFamily="18" charset="0"/>
              </a:rPr>
              <a:t> </a:t>
            </a:r>
            <a:r>
              <a:rPr kumimoji="1" lang="en-US" altLang="zh-CN" sz="2000" i="1" dirty="0" err="1" smtClean="0">
                <a:latin typeface="Times New Roman" pitchFamily="18" charset="0"/>
              </a:rPr>
              <a:t>j</a:t>
            </a:r>
            <a:r>
              <a:rPr kumimoji="1" lang="en-US" altLang="zh-CN" sz="2000" i="1" baseline="-25000" dirty="0" err="1" smtClean="0">
                <a:latin typeface="Times New Roman" pitchFamily="18" charset="0"/>
              </a:rPr>
              <a:t>i</a:t>
            </a:r>
            <a:r>
              <a:rPr kumimoji="1" lang="en-US" altLang="zh-CN" sz="2000" dirty="0" smtClean="0">
                <a:latin typeface="Times New Roman" pitchFamily="18" charset="0"/>
              </a:rPr>
              <a:t>=0, 	</a:t>
            </a:r>
            <a:r>
              <a:rPr kumimoji="1" lang="ru-RU" altLang="zh-CN" sz="2000" dirty="0" smtClean="0">
                <a:latin typeface="Times New Roman" pitchFamily="18" charset="0"/>
              </a:rPr>
              <a:t>а</a:t>
            </a:r>
            <a:r>
              <a:rPr kumimoji="1" lang="uz-Cyrl-UZ" altLang="zh-CN" sz="2000" dirty="0" smtClean="0">
                <a:latin typeface="Times New Roman" pitchFamily="18" charset="0"/>
              </a:rPr>
              <a:t>гар </a:t>
            </a:r>
            <a:r>
              <a:rPr kumimoji="1" lang="en-US" altLang="zh-CN" sz="2000" i="1" dirty="0" smtClean="0">
                <a:latin typeface="Times New Roman" pitchFamily="18" charset="0"/>
              </a:rPr>
              <a:t>d</a:t>
            </a:r>
            <a:r>
              <a:rPr kumimoji="1" lang="en-US" altLang="zh-CN" sz="2000" dirty="0" smtClean="0">
                <a:latin typeface="Times New Roman" pitchFamily="18" charset="0"/>
              </a:rPr>
              <a:t>=-1 </a:t>
            </a:r>
            <a:r>
              <a:rPr kumimoji="1" lang="ru-RU" altLang="zh-CN" sz="2000" dirty="0" smtClean="0">
                <a:latin typeface="Times New Roman" pitchFamily="18" charset="0"/>
              </a:rPr>
              <a:t>б</a:t>
            </a:r>
            <a:r>
              <a:rPr kumimoji="1" lang="uz-Cyrl-UZ" altLang="zh-CN" sz="2000" dirty="0" smtClean="0">
                <a:latin typeface="Times New Roman" pitchFamily="18" charset="0"/>
              </a:rPr>
              <a:t>ў</a:t>
            </a:r>
            <a:r>
              <a:rPr kumimoji="1" lang="ru-RU" altLang="zh-CN" sz="2000" dirty="0" err="1" smtClean="0">
                <a:latin typeface="Times New Roman" pitchFamily="18" charset="0"/>
              </a:rPr>
              <a:t>лса</a:t>
            </a:r>
            <a:r>
              <a:rPr kumimoji="1" lang="ru-RU" altLang="zh-CN" sz="2000" dirty="0" smtClean="0">
                <a:latin typeface="Times New Roman" pitchFamily="18" charset="0"/>
              </a:rPr>
              <a:t> </a:t>
            </a:r>
            <a:r>
              <a:rPr kumimoji="1" lang="en-US" altLang="zh-CN" sz="2000" i="1" dirty="0" err="1" smtClean="0">
                <a:latin typeface="Times New Roman" pitchFamily="18" charset="0"/>
              </a:rPr>
              <a:t>j</a:t>
            </a:r>
            <a:r>
              <a:rPr kumimoji="1" lang="en-US" altLang="zh-CN" sz="2000" i="1" baseline="-25000" dirty="0" err="1" smtClean="0">
                <a:latin typeface="Times New Roman" pitchFamily="18" charset="0"/>
              </a:rPr>
              <a:t>i</a:t>
            </a:r>
            <a:r>
              <a:rPr kumimoji="1" lang="en-US" altLang="zh-CN" sz="2000" dirty="0" smtClean="0">
                <a:latin typeface="Times New Roman" pitchFamily="18" charset="0"/>
              </a:rPr>
              <a:t>=1.</a:t>
            </a:r>
            <a:endParaRPr kumimoji="1" lang="ru-RU" altLang="zh-CN" sz="2000" dirty="0" smtClean="0">
              <a:latin typeface="Times New Roman" pitchFamily="18" charset="0"/>
            </a:endParaRPr>
          </a:p>
          <a:p>
            <a:pPr marL="355600" algn="just" eaLnBrk="1" hangingPunct="1">
              <a:spcBef>
                <a:spcPct val="0"/>
              </a:spcBef>
              <a:spcAft>
                <a:spcPct val="60000"/>
              </a:spcAft>
              <a:buClrTx/>
              <a:buNone/>
            </a:pPr>
            <a:r>
              <a:rPr kumimoji="1" lang="ru-RU" altLang="zh-CN" sz="2000" b="1" dirty="0" smtClean="0">
                <a:latin typeface="Times New Roman" pitchFamily="18" charset="0"/>
              </a:rPr>
              <a:t>3.4. </a:t>
            </a:r>
            <a:endParaRPr kumimoji="1" lang="en-US" altLang="zh-CN" sz="2000" b="1" dirty="0" smtClean="0">
              <a:latin typeface="Times New Roman" pitchFamily="18" charset="0"/>
            </a:endParaRPr>
          </a:p>
          <a:p>
            <a:pPr algn="just" eaLnBrk="1" hangingPunct="1">
              <a:spcBef>
                <a:spcPts val="1200"/>
              </a:spcBef>
              <a:spcAft>
                <a:spcPts val="0"/>
              </a:spcAft>
              <a:buClrTx/>
              <a:buNone/>
            </a:pPr>
            <a:r>
              <a:rPr kumimoji="1" lang="en-US" altLang="zh-CN" sz="2000" b="1" dirty="0" smtClean="0">
                <a:latin typeface="Times New Roman" pitchFamily="18" charset="0"/>
              </a:rPr>
              <a:t>4. </a:t>
            </a:r>
            <a:r>
              <a:rPr kumimoji="1" lang="ru-RU" altLang="zh-CN" sz="2000" b="1" dirty="0" err="1" smtClean="0">
                <a:solidFill>
                  <a:srgbClr val="C00000"/>
                </a:solidFill>
                <a:latin typeface="Times New Roman" pitchFamily="18" charset="0"/>
              </a:rPr>
              <a:t>Ечим</a:t>
            </a:r>
            <a:r>
              <a:rPr kumimoji="1" lang="ru-RU" altLang="zh-CN" sz="2000" b="1" dirty="0" smtClean="0">
                <a:latin typeface="Times New Roman" pitchFamily="18" charset="0"/>
              </a:rPr>
              <a:t>: 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x ≡ </a:t>
            </a:r>
            <a:r>
              <a:rPr kumimoji="1" lang="en-US" altLang="zh-CN" sz="2000" b="1" dirty="0" smtClean="0">
                <a:latin typeface="Times New Roman" pitchFamily="18" charset="0"/>
                <a:ea typeface="宋体" charset="-122"/>
              </a:rPr>
              <a:t>±</a:t>
            </a:r>
            <a:r>
              <a:rPr kumimoji="1" lang="uz-Cyrl-UZ" altLang="zh-CN" sz="2000" b="1" dirty="0" smtClean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a</a:t>
            </a:r>
            <a:r>
              <a:rPr kumimoji="1" lang="en-US" altLang="zh-CN" sz="2000" b="1" i="1" baseline="-25000" dirty="0" smtClean="0"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N</a:t>
            </a:r>
            <a:r>
              <a:rPr kumimoji="1" lang="en-US" altLang="zh-CN" sz="2000" b="1" i="1" baseline="-25000" dirty="0" smtClean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000" b="1" i="1" dirty="0" smtClean="0">
                <a:latin typeface="Times New Roman" pitchFamily="18" charset="0"/>
                <a:ea typeface="宋体" charset="-122"/>
              </a:rPr>
              <a:t> (mod p)</a:t>
            </a:r>
            <a:endParaRPr kumimoji="1" lang="en-US" altLang="zh-CN" sz="2000" b="1" dirty="0" smtClean="0">
              <a:latin typeface="Times New Roman" pitchFamily="18" charset="0"/>
            </a:endParaRPr>
          </a:p>
        </p:txBody>
      </p:sp>
      <p:graphicFrame>
        <p:nvGraphicFramePr>
          <p:cNvPr id="3" name="Объект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090952"/>
              </p:ext>
            </p:extLst>
          </p:nvPr>
        </p:nvGraphicFramePr>
        <p:xfrm>
          <a:off x="1115616" y="4365104"/>
          <a:ext cx="1841348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6" name="Уравнение" r:id="rId3" imgW="1091880" imgH="253800" progId="Equation.3">
                  <p:embed/>
                </p:oleObj>
              </mc:Choice>
              <mc:Fallback>
                <p:oleObj name="Уравнение" r:id="rId3" imgW="1091880" imgH="253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4365104"/>
                        <a:ext cx="1841348" cy="4320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354453"/>
              </p:ext>
            </p:extLst>
          </p:nvPr>
        </p:nvGraphicFramePr>
        <p:xfrm>
          <a:off x="1115616" y="5337460"/>
          <a:ext cx="22701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27" name="Уравнение" r:id="rId5" imgW="1346040" imgH="253800" progId="Equation.3">
                  <p:embed/>
                </p:oleObj>
              </mc:Choice>
              <mc:Fallback>
                <p:oleObj name="Уравнение" r:id="rId5" imgW="13460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5337460"/>
                        <a:ext cx="22701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527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66744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366" name="Rectangle 8"/>
          <p:cNvSpPr>
            <a:spLocks noChangeArrowheads="1"/>
          </p:cNvSpPr>
          <p:nvPr/>
        </p:nvSpPr>
        <p:spPr bwMode="auto">
          <a:xfrm>
            <a:off x="395288" y="242888"/>
            <a:ext cx="8316912" cy="45720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prstShdw prst="shdw17" dist="17961" dir="2700000">
              <a:srgbClr val="001F5C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uz-Cyrl-UZ" altLang="ru-RU" sz="2400" b="1" dirty="0">
                <a:solidFill>
                  <a:schemeClr val="bg1"/>
                </a:solidFill>
                <a:latin typeface="Times New Roman" pitchFamily="18" charset="0"/>
              </a:rPr>
              <a:t>Квадратик таққосламанинг айрим ечимлари</a:t>
            </a:r>
            <a:endParaRPr lang="en-US" altLang="ru-RU" sz="2400" b="1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5367" name="AutoShape 13" descr="Точечные ромбики"/>
          <p:cNvSpPr>
            <a:spLocks noChangeArrowheads="1"/>
          </p:cNvSpPr>
          <p:nvPr/>
        </p:nvSpPr>
        <p:spPr bwMode="auto">
          <a:xfrm>
            <a:off x="215900" y="2735964"/>
            <a:ext cx="8753475" cy="2119497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indent="355600"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zh-CN" sz="3600" b="1" i="1" dirty="0" smtClean="0">
                <a:solidFill>
                  <a:srgbClr val="C00000"/>
                </a:solidFill>
                <a:latin typeface="Times New Roman" pitchFamily="18" charset="0"/>
              </a:rPr>
              <a:t>Вазифа:</a:t>
            </a:r>
          </a:p>
          <a:p>
            <a:pPr indent="355600"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uz-Cyrl-UZ" altLang="zh-CN" sz="3600" b="1" i="1" dirty="0" smtClean="0">
                <a:latin typeface="Times New Roman" pitchFamily="18" charset="0"/>
              </a:rPr>
              <a:t>Таққослама ечишнинг ҳар бир усул бўйича 1 тадан мустақил мисол ишлаш.</a:t>
            </a:r>
            <a:endParaRPr kumimoji="1" lang="en-US" altLang="zh-CN" sz="3600" dirty="0"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0850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Process 9"/>
          <p:cNvSpPr/>
          <p:nvPr/>
        </p:nvSpPr>
        <p:spPr>
          <a:xfrm>
            <a:off x="97020" y="146203"/>
            <a:ext cx="8984810" cy="6634662"/>
          </a:xfrm>
          <a:prstGeom prst="flowChartProcess">
            <a:avLst/>
          </a:prstGeom>
          <a:noFill/>
          <a:ln w="19050">
            <a:solidFill>
              <a:srgbClr val="002060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cxnSp>
        <p:nvCxnSpPr>
          <p:cNvPr id="6" name="Straight Connector 5"/>
          <p:cNvCxnSpPr/>
          <p:nvPr/>
        </p:nvCxnSpPr>
        <p:spPr>
          <a:xfrm>
            <a:off x="285720" y="766744"/>
            <a:ext cx="8568000" cy="1588"/>
          </a:xfrm>
          <a:prstGeom prst="line">
            <a:avLst/>
          </a:prstGeom>
          <a:ln>
            <a:solidFill>
              <a:schemeClr val="accent2">
                <a:lumMod val="50000"/>
              </a:schemeClr>
            </a:solidFill>
            <a:headEnd type="diamond" w="med" len="med"/>
            <a:tailEnd type="diamond" w="med" len="med"/>
          </a:ln>
          <a:effectLst>
            <a:glow rad="63500">
              <a:schemeClr val="accent3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366" name="Rectangle 8"/>
          <p:cNvSpPr>
            <a:spLocks noChangeArrowheads="1"/>
          </p:cNvSpPr>
          <p:nvPr/>
        </p:nvSpPr>
        <p:spPr bwMode="auto">
          <a:xfrm>
            <a:off x="395288" y="242888"/>
            <a:ext cx="8316912" cy="457200"/>
          </a:xfrm>
          <a:prstGeom prst="rect">
            <a:avLst/>
          </a:prstGeom>
          <a:solidFill>
            <a:srgbClr val="003399"/>
          </a:solidFill>
          <a:ln>
            <a:noFill/>
          </a:ln>
          <a:effectLst>
            <a:prstShdw prst="shdw17" dist="17961" dir="2700000">
              <a:srgbClr val="001F5C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uz-Cyrl-UZ" altLang="ru-RU" sz="2400" b="1">
                <a:solidFill>
                  <a:schemeClr val="bg1"/>
                </a:solidFill>
                <a:latin typeface="Times New Roman" pitchFamily="18" charset="0"/>
              </a:rPr>
              <a:t>Квадратик таққосламанинг айрим ечимлари</a:t>
            </a:r>
            <a:endParaRPr lang="en-US" altLang="ru-RU" sz="2400" b="1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5367" name="AutoShape 13" descr="Точечные ромбики"/>
          <p:cNvSpPr>
            <a:spLocks noChangeArrowheads="1"/>
          </p:cNvSpPr>
          <p:nvPr/>
        </p:nvSpPr>
        <p:spPr bwMode="auto">
          <a:xfrm>
            <a:off x="215900" y="2253242"/>
            <a:ext cx="8753475" cy="3084939"/>
          </a:xfrm>
          <a:prstGeom prst="foldedCorner">
            <a:avLst>
              <a:gd name="adj" fmla="val 4333"/>
            </a:avLst>
          </a:prstGeom>
          <a:pattFill prst="dotDmnd">
            <a:fgClr>
              <a:schemeClr val="bg2"/>
            </a:fgClr>
            <a:bgClr>
              <a:schemeClr val="bg1"/>
            </a:bgClr>
          </a:pattFill>
          <a:ln w="15875">
            <a:solidFill>
              <a:srgbClr val="000080"/>
            </a:solidFill>
            <a:round/>
            <a:headEnd/>
            <a:tailEnd/>
          </a:ln>
          <a:effectLst>
            <a:prstShdw prst="shdw17" dist="17961" dir="2700000">
              <a:srgbClr val="00004D">
                <a:alpha val="50000"/>
              </a:srgbClr>
            </a:prstShdw>
          </a:effectLst>
        </p:spPr>
        <p:txBody>
          <a:bodyPr bIns="0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</a:defRPr>
            </a:lvl1pPr>
            <a:lvl2pPr marL="1258888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Verdana" pitchFamily="34" charset="0"/>
              </a:defRPr>
            </a:lvl2pPr>
            <a:lvl3pPr marL="1781175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300">
                <a:solidFill>
                  <a:schemeClr val="tx1"/>
                </a:solidFill>
                <a:latin typeface="Verdana" pitchFamily="34" charset="0"/>
              </a:defRPr>
            </a:lvl3pPr>
            <a:lvl4pPr marL="2303463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</a:defRPr>
            </a:lvl4pPr>
            <a:lvl5pPr marL="2825750" indent="-342900" eaLnBrk="0" hangingPunct="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5pPr>
            <a:lvl6pPr marL="32829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6pPr>
            <a:lvl7pPr marL="37401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7pPr>
            <a:lvl8pPr marL="41973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8pPr>
            <a:lvl9pPr marL="4654550" indent="-3429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spcAft>
                <a:spcPct val="60000"/>
              </a:spcAft>
              <a:buClrTx/>
              <a:buFontTx/>
              <a:buNone/>
            </a:pPr>
            <a:r>
              <a:rPr kumimoji="1" lang="ru-RU" altLang="zh-CN" sz="2000" b="1" i="1" dirty="0" smtClean="0">
                <a:solidFill>
                  <a:schemeClr val="accent2"/>
                </a:solidFill>
                <a:latin typeface="Times New Roman" pitchFamily="18" charset="0"/>
              </a:rPr>
              <a:t>4.</a:t>
            </a:r>
            <a:r>
              <a:rPr kumimoji="1" lang="ru-RU" altLang="zh-CN" sz="2000" dirty="0" smtClean="0">
                <a:latin typeface="Times New Roman" pitchFamily="18" charset="0"/>
              </a:rPr>
              <a:t> </a:t>
            </a:r>
            <a:r>
              <a:rPr kumimoji="1" lang="uz-Cyrl-UZ" altLang="zh-CN" sz="2000" dirty="0" smtClean="0">
                <a:latin typeface="Times New Roman" pitchFamily="18" charset="0"/>
              </a:rPr>
              <a:t> </a:t>
            </a:r>
            <a:r>
              <a:rPr kumimoji="1" lang="uz-Cyrl-UZ" altLang="zh-CN" sz="2000" dirty="0">
                <a:latin typeface="Times New Roman" pitchFamily="18" charset="0"/>
              </a:rPr>
              <a:t>Агар </a:t>
            </a:r>
            <a:r>
              <a:rPr kumimoji="1" lang="en-US" altLang="zh-CN" sz="2000" b="1" i="1" dirty="0">
                <a:latin typeface="Times New Roman" pitchFamily="18" charset="0"/>
                <a:ea typeface="宋体" charset="-122"/>
              </a:rPr>
              <a:t>p=4k+1</a:t>
            </a:r>
            <a:r>
              <a:rPr kumimoji="1" lang="en-US" altLang="zh-CN" sz="2000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(p≡1 mod 4)</a:t>
            </a:r>
            <a:r>
              <a:rPr kumimoji="1" lang="en-US" altLang="zh-CN" sz="2000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000" dirty="0">
                <a:latin typeface="Times New Roman" pitchFamily="18" charset="0"/>
              </a:rPr>
              <a:t>бўлса, </a:t>
            </a:r>
            <a:r>
              <a:rPr kumimoji="1" lang="en-US" altLang="zh-CN" sz="2000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en-US" altLang="zh-CN" sz="2000" b="1" i="1" dirty="0">
                <a:latin typeface="Times New Roman" pitchFamily="18" charset="0"/>
                <a:ea typeface="宋体" charset="-122"/>
              </a:rPr>
              <a:t>x ≡ ± a</a:t>
            </a:r>
            <a:r>
              <a:rPr kumimoji="1" lang="en-US" altLang="zh-CN" sz="2000" b="1" i="1" baseline="30000" dirty="0">
                <a:latin typeface="Times New Roman" pitchFamily="18" charset="0"/>
                <a:ea typeface="宋体" charset="-122"/>
              </a:rPr>
              <a:t>(t+1)/2.</a:t>
            </a:r>
            <a:r>
              <a:rPr kumimoji="1" lang="en-US" altLang="zh-CN" sz="2000" b="1" i="1" dirty="0">
                <a:latin typeface="Times New Roman" pitchFamily="18" charset="0"/>
                <a:ea typeface="宋体" charset="-122"/>
              </a:rPr>
              <a:t>N</a:t>
            </a:r>
            <a:r>
              <a:rPr kumimoji="1" lang="en-US" altLang="zh-CN" sz="2000" b="1" i="1" baseline="30000" dirty="0">
                <a:latin typeface="Times New Roman" pitchFamily="18" charset="0"/>
                <a:ea typeface="宋体" charset="-122"/>
              </a:rPr>
              <a:t>l</a:t>
            </a:r>
            <a:r>
              <a:rPr kumimoji="1" lang="en-US" altLang="zh-CN" sz="2000" b="1" i="1" dirty="0">
                <a:latin typeface="Times New Roman" pitchFamily="18" charset="0"/>
                <a:ea typeface="宋体" charset="-122"/>
              </a:rPr>
              <a:t> (mod p)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.</a:t>
            </a:r>
          </a:p>
          <a:p>
            <a:pPr algn="just" eaLnBrk="1" hangingPunct="1"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ru-RU" altLang="zh-CN" sz="2000" dirty="0">
                <a:solidFill>
                  <a:schemeClr val="accent2"/>
                </a:solidFill>
                <a:latin typeface="Times New Roman" pitchFamily="18" charset="0"/>
              </a:rPr>
              <a:t>Теорема-</a:t>
            </a:r>
            <a:r>
              <a:rPr kumimoji="1" lang="en-US" altLang="zh-CN" sz="2000" dirty="0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000" i="1" dirty="0">
                <a:solidFill>
                  <a:schemeClr val="accent2"/>
                </a:solidFill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000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ru-RU" altLang="zh-CN" sz="2000" dirty="0" err="1">
                <a:latin typeface="Times New Roman" pitchFamily="18" charset="0"/>
              </a:rPr>
              <a:t>Агар</a:t>
            </a:r>
            <a:r>
              <a:rPr kumimoji="1" lang="ru-RU" altLang="zh-CN" sz="2000" dirty="0">
                <a:latin typeface="Times New Roman" pitchFamily="18" charset="0"/>
              </a:rPr>
              <a:t> 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2000" i="1" baseline="-25000" dirty="0"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000" dirty="0">
                <a:latin typeface="Times New Roman" pitchFamily="18" charset="0"/>
                <a:ea typeface="宋体" charset="-122"/>
              </a:rPr>
              <a:t>, 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2000" i="1" baseline="-25000" dirty="0">
                <a:latin typeface="Times New Roman" pitchFamily="18" charset="0"/>
                <a:ea typeface="宋体" charset="-122"/>
              </a:rPr>
              <a:t>2</a:t>
            </a:r>
            <a:r>
              <a:rPr kumimoji="1" lang="en-US" altLang="zh-CN" sz="2000" dirty="0">
                <a:latin typeface="Times New Roman" pitchFamily="18" charset="0"/>
                <a:ea typeface="宋体" charset="-122"/>
              </a:rPr>
              <a:t>, 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2000" i="1" baseline="-25000" dirty="0">
                <a:latin typeface="Times New Roman" pitchFamily="18" charset="0"/>
                <a:ea typeface="宋体" charset="-122"/>
              </a:rPr>
              <a:t>3</a:t>
            </a:r>
            <a:r>
              <a:rPr kumimoji="1" lang="en-US" altLang="zh-CN" sz="2000" dirty="0">
                <a:latin typeface="Times New Roman" pitchFamily="18" charset="0"/>
                <a:ea typeface="宋体" charset="-122"/>
              </a:rPr>
              <a:t>, …, </a:t>
            </a:r>
            <a:r>
              <a:rPr kumimoji="1" lang="en-US" altLang="zh-CN" sz="2000" i="1" dirty="0" err="1"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2000" i="1" baseline="-25000" dirty="0" err="1">
                <a:latin typeface="Times New Roman" pitchFamily="18" charset="0"/>
                <a:ea typeface="宋体" charset="-122"/>
              </a:rPr>
              <a:t>k</a:t>
            </a:r>
            <a:r>
              <a:rPr kumimoji="1" lang="en-US" altLang="zh-CN" sz="2000" dirty="0">
                <a:latin typeface="Times New Roman" pitchFamily="18" charset="0"/>
                <a:ea typeface="宋体" charset="-122"/>
              </a:rPr>
              <a:t> </a:t>
            </a:r>
            <a:r>
              <a:rPr kumimoji="1" lang="uz-Cyrl-UZ" altLang="zh-CN" sz="2000" dirty="0">
                <a:latin typeface="Times New Roman" pitchFamily="18" charset="0"/>
              </a:rPr>
              <a:t>жуфт-жуфти билан ўзаро туб бўлса, у ҳолда 	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F(x)≡0(mod m</a:t>
            </a:r>
            <a:r>
              <a:rPr kumimoji="1" lang="en-US" altLang="zh-CN" sz="2000" i="1" baseline="-25000" dirty="0">
                <a:latin typeface="Times New Roman" pitchFamily="18" charset="0"/>
                <a:ea typeface="宋体" charset="-122"/>
              </a:rPr>
              <a:t>1</a:t>
            </a:r>
            <a:r>
              <a:rPr kumimoji="1" lang="en-US" altLang="zh-CN" sz="2000" b="1" i="1" baseline="30000" dirty="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m</a:t>
            </a:r>
            <a:r>
              <a:rPr kumimoji="1" lang="uz-Cyrl-UZ" altLang="zh-CN" sz="2000" i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kumimoji="1" lang="en-US" altLang="zh-CN" sz="2000" b="1" i="1" baseline="30000" dirty="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2000" i="1" baseline="-25000" dirty="0">
                <a:latin typeface="Times New Roman" pitchFamily="18" charset="0"/>
                <a:ea typeface="宋体" charset="-122"/>
              </a:rPr>
              <a:t>3</a:t>
            </a:r>
            <a:r>
              <a:rPr kumimoji="1" lang="en-US" altLang="zh-CN" sz="2000" b="1" i="1" baseline="30000" dirty="0">
                <a:latin typeface="Times New Roman" pitchFamily="18" charset="0"/>
                <a:ea typeface="宋体" charset="-122"/>
              </a:rPr>
              <a:t>.</a:t>
            </a:r>
            <a:r>
              <a:rPr kumimoji="1" lang="uz-Cyrl-UZ" altLang="zh-CN" sz="2000" i="1" dirty="0">
                <a:latin typeface="Times New Roman" pitchFamily="18" charset="0"/>
                <a:cs typeface="Times New Roman" pitchFamily="18" charset="0"/>
              </a:rPr>
              <a:t>...</a:t>
            </a:r>
            <a:r>
              <a:rPr kumimoji="1" lang="en-US" altLang="zh-CN" sz="2000" b="1" i="1" baseline="30000" dirty="0">
                <a:latin typeface="Times New Roman" pitchFamily="18" charset="0"/>
                <a:ea typeface="宋体" charset="-122"/>
              </a:rPr>
              <a:t>.</a:t>
            </a:r>
            <a:r>
              <a:rPr kumimoji="1" lang="en-US" altLang="zh-CN" sz="2000" i="1" dirty="0" err="1"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2000" i="1" baseline="-25000" dirty="0" err="1">
                <a:latin typeface="Times New Roman" pitchFamily="18" charset="0"/>
                <a:ea typeface="宋体" charset="-122"/>
              </a:rPr>
              <a:t>k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)</a:t>
            </a:r>
            <a:r>
              <a:rPr kumimoji="1" lang="uz-Cyrl-UZ" altLang="zh-CN" sz="20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uz-Cyrl-UZ" altLang="zh-CN" sz="2000" dirty="0">
                <a:latin typeface="Times New Roman" pitchFamily="18" charset="0"/>
                <a:cs typeface="Times New Roman" pitchFamily="18" charset="0"/>
              </a:rPr>
              <a:t>таққослама қуйидаги:</a:t>
            </a:r>
          </a:p>
          <a:p>
            <a:pPr algn="just" eaLnBrk="1" hangingPunct="1"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zh-CN" sz="2000" i="1" dirty="0">
                <a:latin typeface="Times New Roman" pitchFamily="18" charset="0"/>
              </a:rPr>
              <a:t>		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F(x)≡0(mod m</a:t>
            </a:r>
            <a:r>
              <a:rPr kumimoji="1" lang="uz-Cyrl-UZ" altLang="zh-CN" sz="2000" i="1" baseline="-25000" dirty="0">
                <a:latin typeface="Times New Roman" pitchFamily="18" charset="0"/>
              </a:rPr>
              <a:t>1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)</a:t>
            </a:r>
            <a:endParaRPr kumimoji="1" lang="uz-Cyrl-UZ" altLang="zh-CN" sz="2000" i="1" dirty="0">
              <a:latin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uz-Cyrl-UZ" altLang="zh-CN" sz="2000" i="1" dirty="0">
                <a:latin typeface="Times New Roman" pitchFamily="18" charset="0"/>
              </a:rPr>
              <a:t>		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F(x)≡0(mod m</a:t>
            </a:r>
            <a:r>
              <a:rPr kumimoji="1" lang="uz-Cyrl-UZ" altLang="zh-CN" sz="2000" i="1" baseline="-25000" dirty="0">
                <a:latin typeface="Times New Roman" pitchFamily="18" charset="0"/>
              </a:rPr>
              <a:t>2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)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1" lang="uz-Cyrl-UZ" altLang="zh-CN" sz="2000" i="1" dirty="0">
                <a:latin typeface="Times New Roman" pitchFamily="18" charset="0"/>
              </a:rPr>
              <a:t>		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…………………</a:t>
            </a:r>
            <a:endParaRPr kumimoji="1" lang="uz-Cyrl-UZ" altLang="zh-CN" sz="2000" i="1" dirty="0">
              <a:latin typeface="Times New Roman" pitchFamily="18" charset="0"/>
            </a:endParaRPr>
          </a:p>
          <a:p>
            <a:pPr algn="just" eaLnBrk="1" hangingPunct="1"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zh-CN" sz="2000" i="1" dirty="0">
                <a:latin typeface="Times New Roman" pitchFamily="18" charset="0"/>
              </a:rPr>
              <a:t>		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F(x)≡0(mod </a:t>
            </a:r>
            <a:r>
              <a:rPr kumimoji="1" lang="en-US" altLang="zh-CN" sz="2000" i="1" dirty="0" err="1">
                <a:latin typeface="Times New Roman" pitchFamily="18" charset="0"/>
                <a:ea typeface="宋体" charset="-122"/>
              </a:rPr>
              <a:t>m</a:t>
            </a:r>
            <a:r>
              <a:rPr kumimoji="1" lang="en-US" altLang="zh-CN" sz="2000" i="1" baseline="-25000" dirty="0" err="1">
                <a:latin typeface="Times New Roman" pitchFamily="18" charset="0"/>
                <a:ea typeface="宋体" charset="-122"/>
              </a:rPr>
              <a:t>k</a:t>
            </a:r>
            <a:r>
              <a:rPr kumimoji="1" lang="en-US" altLang="zh-CN" sz="2000" i="1" dirty="0">
                <a:latin typeface="Times New Roman" pitchFamily="18" charset="0"/>
                <a:ea typeface="宋体" charset="-122"/>
              </a:rPr>
              <a:t>) </a:t>
            </a:r>
          </a:p>
          <a:p>
            <a:pPr algn="just" eaLnBrk="1" hangingPunct="1">
              <a:spcBef>
                <a:spcPct val="0"/>
              </a:spcBef>
              <a:spcAft>
                <a:spcPct val="30000"/>
              </a:spcAft>
              <a:buClrTx/>
              <a:buFontTx/>
              <a:buNone/>
            </a:pPr>
            <a:r>
              <a:rPr kumimoji="1" lang="uz-Cyrl-UZ" altLang="zh-CN" sz="2000" dirty="0">
                <a:latin typeface="Times New Roman" pitchFamily="18" charset="0"/>
              </a:rPr>
              <a:t>таққосламалар системаси билан тенг кучлидир.</a:t>
            </a:r>
            <a:endParaRPr kumimoji="1" lang="en-US" altLang="zh-CN" sz="2000" dirty="0"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955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Профиль">
  <a:themeElements>
    <a:clrScheme name="Профиль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Профиль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рофиль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рофиль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рофиль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12430</TotalTime>
  <Words>888</Words>
  <Application>Microsoft Office PowerPoint</Application>
  <PresentationFormat>Экран (4:3)</PresentationFormat>
  <Paragraphs>198</Paragraphs>
  <Slides>17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5" baseType="lpstr">
      <vt:lpstr>Verdana</vt:lpstr>
      <vt:lpstr>Arial</vt:lpstr>
      <vt:lpstr>Wingdings</vt:lpstr>
      <vt:lpstr>Calibri</vt:lpstr>
      <vt:lpstr>Times New Roman</vt:lpstr>
      <vt:lpstr>宋体</vt:lpstr>
      <vt:lpstr>Профиль</vt:lpstr>
      <vt:lpstr>Microsoft Equation 3.0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Тошкент - 2009</dc:title>
  <dc:creator>USER</dc:creator>
  <cp:lastModifiedBy>asb2602</cp:lastModifiedBy>
  <cp:revision>1681</cp:revision>
  <dcterms:created xsi:type="dcterms:W3CDTF">2010-10-01T16:11:11Z</dcterms:created>
  <dcterms:modified xsi:type="dcterms:W3CDTF">2016-10-05T06:04:05Z</dcterms:modified>
</cp:coreProperties>
</file>