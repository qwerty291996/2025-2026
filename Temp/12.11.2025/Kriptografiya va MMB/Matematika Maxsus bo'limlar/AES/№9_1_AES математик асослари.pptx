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16"/>
  </p:notesMasterIdLst>
  <p:sldIdLst>
    <p:sldId id="256" r:id="rId2"/>
    <p:sldId id="264" r:id="rId3"/>
    <p:sldId id="270" r:id="rId4"/>
    <p:sldId id="272" r:id="rId5"/>
    <p:sldId id="265" r:id="rId6"/>
    <p:sldId id="266" r:id="rId7"/>
    <p:sldId id="277" r:id="rId8"/>
    <p:sldId id="267" r:id="rId9"/>
    <p:sldId id="268" r:id="rId10"/>
    <p:sldId id="278" r:id="rId11"/>
    <p:sldId id="269" r:id="rId12"/>
    <p:sldId id="280" r:id="rId13"/>
    <p:sldId id="279" r:id="rId14"/>
    <p:sldId id="281" r:id="rId1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0033"/>
    <a:srgbClr val="000000"/>
    <a:srgbClr val="99CCFF"/>
    <a:srgbClr val="CCFFFF"/>
    <a:srgbClr val="66CCFF"/>
    <a:srgbClr val="3399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6" autoAdjust="0"/>
    <p:restoredTop sz="94660"/>
  </p:normalViewPr>
  <p:slideViewPr>
    <p:cSldViewPr>
      <p:cViewPr varScale="1">
        <p:scale>
          <a:sx n="107" d="100"/>
          <a:sy n="107" d="100"/>
        </p:scale>
        <p:origin x="-185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Cyrl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07152-22D1-406E-8579-A33E94686BB9}" type="datetimeFigureOut">
              <a:rPr lang="uz-Cyrl-UZ" smtClean="0"/>
              <a:t>09.12.2020</a:t>
            </a:fld>
            <a:endParaRPr lang="uz-Cyrl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Cyrl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Cyrl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710B5-42A3-4F70-82A6-14FF5F18F9A3}" type="slidenum">
              <a:rPr lang="uz-Cyrl-UZ" smtClean="0"/>
              <a:t>‹#›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30708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1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064891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2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040603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3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4266719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4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484080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5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815054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6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772275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7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603156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8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394224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9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787186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10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438887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11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537006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12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805901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13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819430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710B5-42A3-4F70-82A6-14FF5F18F9A3}" type="slidenum">
              <a:rPr lang="uz-Cyrl-UZ" smtClean="0"/>
              <a:t>14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673709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48132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h 1912"/>
              <a:gd name="T1" fmla="*/ 6 h 1912"/>
              <a:gd name="T2" fmla="*/ 6 h 1912"/>
              <a:gd name="T3" fmla="*/ 60 h 1912"/>
              <a:gd name="T4" fmla="*/ 1912 h 1912"/>
              <a:gd name="T5" fmla="*/ 1912 h 1912"/>
              <a:gd name="T6" fmla="*/ 0 h 1912"/>
              <a:gd name="T7" fmla="*/ 0 h 191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E993B7D-5C63-4D42-94D8-C0F211FE6C08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6F6C0-3F6D-4EF9-905B-8696ABEB01D8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2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08CC1-D84B-482E-81A9-2030D6C3D622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79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41E5C-9799-43FC-AFF0-B898EC0FC0F7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20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3363F8-C484-4FA3-A567-06460608BD37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81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E44B1-7B03-419D-BE2C-39C1C26C4E7F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6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EFBDBE-87CB-4043-8A41-F191D5FDD03F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86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9F39F-90DD-4C73-9DD4-D7D94B0D1A1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95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z-Cyrl-UZ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5EDA43-1C6E-4C06-AB05-FD96F49EEC4F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99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88AB8-CA78-451F-9FC8-8719558392C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56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48B2C-86E3-4D03-890D-D279A41CAD7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23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92100"/>
            <a:ext cx="8229600" cy="1384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4114800"/>
          </a:xfrm>
        </p:spPr>
        <p:txBody>
          <a:bodyPr/>
          <a:lstStyle/>
          <a:p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4D6D726-79B1-431D-B061-2BFBD69B7C3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172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57200" y="292100"/>
            <a:ext cx="8229600" cy="1384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050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57200" y="40386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8200" y="40386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40EAD5A-F0F4-4B58-A9A3-B7E340359702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774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92100"/>
            <a:ext cx="8229600" cy="1384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050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9FDB255-89D9-47A1-B03F-3FD3F5BCD83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371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292100"/>
            <a:ext cx="8229600" cy="57277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6F7982D-E50C-4F95-9725-8833DEA6EB4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5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99CCFF"/>
            </a:gs>
            <a:gs pos="100000">
              <a:srgbClr val="3399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fld id="{FC2C92E6-5A50-440F-A479-DBF1F7F30BA6}" type="slidenum">
              <a:rPr lang="ru-RU"/>
              <a:pPr/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uz-Cyrl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slide" Target="slide12.xml"/><Relationship Id="rId5" Type="http://schemas.openxmlformats.org/officeDocument/2006/relationships/oleObject" Target="../embeddings/oleObject1.bin"/><Relationship Id="rId10" Type="http://schemas.openxmlformats.org/officeDocument/2006/relationships/slide" Target="slide5.xml"/><Relationship Id="rId4" Type="http://schemas.openxmlformats.org/officeDocument/2006/relationships/image" Target="../media/image1.png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Relationship Id="rId9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188913"/>
            <a:ext cx="7416800" cy="647700"/>
          </a:xfrm>
        </p:spPr>
        <p:txBody>
          <a:bodyPr/>
          <a:lstStyle/>
          <a:p>
            <a:endParaRPr lang="uz-Cyrl-UZ" sz="40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2053" name="Group 5"/>
          <p:cNvGrpSpPr>
            <a:grpSpLocks/>
          </p:cNvGrpSpPr>
          <p:nvPr/>
        </p:nvGrpSpPr>
        <p:grpSpPr bwMode="auto">
          <a:xfrm>
            <a:off x="1074738" y="165100"/>
            <a:ext cx="8069262" cy="685800"/>
            <a:chOff x="664" y="104"/>
            <a:chExt cx="4848" cy="432"/>
          </a:xfrm>
        </p:grpSpPr>
        <p:sp>
          <p:nvSpPr>
            <p:cNvPr id="2054" name="Freeform 6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2055" name="Group 7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2056" name="Group 8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2057" name="Freeform 9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58" name="Freeform 10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59" name="Freeform 11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0" name="Freeform 12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1" name="Freeform 13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2" name="Freeform 14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3" name="Freeform 15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4" name="Freeform 16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5" name="Freeform 17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6" name="Freeform 18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7" name="Freeform 19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8" name="Freeform 20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69" name="Freeform 21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0" name="Freeform 22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1" name="Freeform 23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2" name="Freeform 24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3" name="Freeform 25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4" name="Freeform 26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5" name="Freeform 27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6" name="Freeform 28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7" name="Freeform 29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8" name="Freeform 30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79" name="Freeform 31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0" name="Freeform 32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1" name="Freeform 33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2" name="Freeform 34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3" name="Freeform 35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4" name="Freeform 36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5" name="Freeform 37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6" name="Freeform 38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7" name="Freeform 39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8" name="Freeform 40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89" name="Freeform 41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0" name="Freeform 42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1" name="Freeform 43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2" name="Freeform 44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3" name="Freeform 45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4" name="Freeform 46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5" name="Freeform 47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6" name="Freeform 48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7" name="Freeform 49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8" name="Freeform 50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099" name="Freeform 51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0" name="Freeform 52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1" name="Freeform 53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2" name="Freeform 54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3" name="Freeform 55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4" name="Freeform 56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5" name="Freeform 57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6" name="Freeform 58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7" name="Freeform 59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8" name="Freeform 60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09" name="Freeform 61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0" name="Freeform 62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1" name="Freeform 63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2" name="Freeform 64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2113" name="Group 65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2114" name="Freeform 66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5" name="Freeform 67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6" name="Freeform 68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7" name="Freeform 69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8" name="Freeform 70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19" name="Freeform 71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0" name="Freeform 72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1" name="Freeform 73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2" name="Freeform 74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3" name="Freeform 75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4" name="Freeform 76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5" name="Freeform 77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6" name="Freeform 78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7" name="Freeform 79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8" name="Freeform 80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29" name="Freeform 81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0" name="Freeform 82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1" name="Freeform 83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2" name="Freeform 84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3" name="Freeform 85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4" name="Freeform 86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5" name="Freeform 87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6" name="Freeform 88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7" name="Freeform 89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8" name="Freeform 90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39" name="Freeform 91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0" name="Freeform 92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1" name="Freeform 93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2" name="Freeform 94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3" name="Freeform 95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4" name="Freeform 96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5" name="Freeform 97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6" name="Freeform 98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7" name="Freeform 99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8" name="Freeform 100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49" name="Freeform 101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50" name="Freeform 102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51" name="Freeform 103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52" name="Freeform 104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53" name="Freeform 105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54" name="Freeform 106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2155" name="Freeform 107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2156" name="Group 108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2157" name="Line 109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2178" name="Group 130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2179" name="Line 131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2204" name="Picture 156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914400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5" name="Text Box 157"/>
          <p:cNvSpPr txBox="1">
            <a:spLocks noChangeArrowheads="1"/>
          </p:cNvSpPr>
          <p:nvPr/>
        </p:nvSpPr>
        <p:spPr bwMode="auto">
          <a:xfrm>
            <a:off x="1223963" y="260350"/>
            <a:ext cx="795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uz-Cyrl-UZ" sz="1600" b="1">
                <a:solidFill>
                  <a:srgbClr val="FFFF00"/>
                </a:solidFill>
                <a:cs typeface="Times New Roman" pitchFamily="18" charset="0"/>
              </a:rPr>
              <a:t>РАДИОЭЛЕКТРОН ТИЗИМЛАР ВА АХБОРОТ ТЕХНОЛОГИЯЛАРИ МАРКАЗИ</a:t>
            </a:r>
            <a:endParaRPr lang="ru-RU" sz="1600" b="1">
              <a:solidFill>
                <a:srgbClr val="FFFF00"/>
              </a:solidFill>
              <a:cs typeface="Times New Roman" pitchFamily="18" charset="0"/>
            </a:endParaRPr>
          </a:p>
        </p:txBody>
      </p:sp>
      <p:sp>
        <p:nvSpPr>
          <p:cNvPr id="2206" name="Rectangle 158"/>
          <p:cNvSpPr>
            <a:spLocks noGrp="1" noChangeArrowheads="1"/>
          </p:cNvSpPr>
          <p:nvPr>
            <p:ph type="subTitle" idx="1"/>
          </p:nvPr>
        </p:nvSpPr>
        <p:spPr>
          <a:xfrm>
            <a:off x="251520" y="2420888"/>
            <a:ext cx="8497887" cy="1367606"/>
          </a:xfrm>
          <a:noFill/>
          <a:ln/>
        </p:spPr>
        <p:txBody>
          <a:bodyPr/>
          <a:lstStyle/>
          <a:p>
            <a:r>
              <a:rPr lang="en-US" sz="2800" b="1" dirty="0" smtClean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sz="2800" b="1" dirty="0" smtClean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стандарт шифрлаш алгоритми раунд акслантиришлари математик </a:t>
            </a:r>
            <a:r>
              <a:rPr lang="uz-Cyrl-UZ" sz="2800" b="1" smtClean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асослари таҳлили</a:t>
            </a:r>
            <a:endParaRPr lang="en-US" sz="2800" b="1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22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 tmFilter="0,0; .5, 1; 1, 1"/>
                                        <p:tgtEl>
                                          <p:spTgt spid="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5" grpId="0"/>
      <p:bldP spid="2206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569325" cy="5689600"/>
          </a:xfrm>
        </p:spPr>
        <p:txBody>
          <a:bodyPr/>
          <a:lstStyle/>
          <a:p>
            <a:pPr>
              <a:buFontTx/>
              <a:buNone/>
            </a:pPr>
            <a:endParaRPr lang="uz-Cyrl-UZ" sz="1000"/>
          </a:p>
        </p:txBody>
      </p:sp>
      <p:grpSp>
        <p:nvGrpSpPr>
          <p:cNvPr id="56325" name="Group 5"/>
          <p:cNvGrpSpPr>
            <a:grpSpLocks/>
          </p:cNvGrpSpPr>
          <p:nvPr/>
        </p:nvGrpSpPr>
        <p:grpSpPr bwMode="auto">
          <a:xfrm>
            <a:off x="1054100" y="165100"/>
            <a:ext cx="7696200" cy="685800"/>
            <a:chOff x="664" y="104"/>
            <a:chExt cx="4848" cy="432"/>
          </a:xfrm>
        </p:grpSpPr>
        <p:sp>
          <p:nvSpPr>
            <p:cNvPr id="56326" name="Freeform 6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56327" name="Group 7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56328" name="Group 8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56329" name="Freeform 9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0" name="Freeform 10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1" name="Freeform 11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2" name="Freeform 12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3" name="Freeform 13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4" name="Freeform 14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5" name="Freeform 15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6" name="Freeform 16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7" name="Freeform 17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8" name="Freeform 18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39" name="Freeform 19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0" name="Freeform 20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1" name="Freeform 21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2" name="Freeform 22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3" name="Freeform 23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4" name="Freeform 24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5" name="Freeform 25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6" name="Freeform 26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7" name="Freeform 27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8" name="Freeform 28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49" name="Freeform 29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0" name="Freeform 30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1" name="Freeform 31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2" name="Freeform 32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3" name="Freeform 33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4" name="Freeform 34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5" name="Freeform 35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6" name="Freeform 36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7" name="Freeform 37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8" name="Freeform 38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59" name="Freeform 39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0" name="Freeform 40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1" name="Freeform 41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2" name="Freeform 42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3" name="Freeform 43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4" name="Freeform 44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5" name="Freeform 45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6" name="Freeform 46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7" name="Freeform 47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8" name="Freeform 48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69" name="Freeform 49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0" name="Freeform 50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1" name="Freeform 51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2" name="Freeform 52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3" name="Freeform 53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4" name="Freeform 54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5" name="Freeform 55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6" name="Freeform 56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7" name="Freeform 57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8" name="Freeform 58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79" name="Freeform 59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0" name="Freeform 60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1" name="Freeform 61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2" name="Freeform 62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3" name="Freeform 63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4" name="Freeform 64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56385" name="Group 65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56386" name="Freeform 66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7" name="Freeform 67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8" name="Freeform 68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89" name="Freeform 69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0" name="Freeform 70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1" name="Freeform 71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2" name="Freeform 72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3" name="Freeform 73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4" name="Freeform 74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5" name="Freeform 75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6" name="Freeform 76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7" name="Freeform 77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8" name="Freeform 78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399" name="Freeform 79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0" name="Freeform 80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1" name="Freeform 81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2" name="Freeform 82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3" name="Freeform 83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4" name="Freeform 84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5" name="Freeform 85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6" name="Freeform 86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7" name="Freeform 87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8" name="Freeform 88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09" name="Freeform 89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0" name="Freeform 90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1" name="Freeform 91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2" name="Freeform 92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3" name="Freeform 93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4" name="Freeform 94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5" name="Freeform 95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6" name="Freeform 96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7" name="Freeform 97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8" name="Freeform 98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19" name="Freeform 99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0" name="Freeform 100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1" name="Freeform 101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2" name="Freeform 102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3" name="Freeform 103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4" name="Freeform 104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5" name="Freeform 105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6" name="Freeform 106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6427" name="Freeform 107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56428" name="Group 108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56429" name="Line 109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0" name="Line 110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1" name="Line 111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2" name="Line 112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3" name="Line 113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4" name="Line 114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5" name="Line 115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6" name="Line 116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7" name="Line 117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8" name="Line 118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39" name="Line 119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0" name="Line 120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1" name="Line 121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2" name="Line 122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3" name="Line 123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4" name="Line 124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5" name="Line 125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6" name="Line 126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7" name="Line 127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8" name="Line 128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49" name="Line 129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56450" name="Group 130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56451" name="Line 131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2" name="Line 132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3" name="Line 133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4" name="Line 134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5" name="Line 135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6" name="Line 136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7" name="Line 137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8" name="Line 138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59" name="Line 139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0" name="Line 140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1" name="Line 141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2" name="Line 142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3" name="Line 143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4" name="Line 144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5" name="Line 145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6" name="Line 146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7" name="Line 147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8" name="Line 148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69" name="Line 149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70" name="Line 150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71" name="Line 151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72" name="Line 152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73" name="Line 153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74" name="Line 154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6475" name="Line 155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56476" name="Picture 156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89217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477" name="Rectangle 157"/>
          <p:cNvSpPr>
            <a:spLocks noChangeArrowheads="1"/>
          </p:cNvSpPr>
          <p:nvPr/>
        </p:nvSpPr>
        <p:spPr bwMode="auto">
          <a:xfrm>
            <a:off x="3708400" y="1050925"/>
            <a:ext cx="2016125" cy="360363"/>
          </a:xfrm>
          <a:prstGeom prst="rect">
            <a:avLst/>
          </a:prstGeom>
          <a:solidFill>
            <a:srgbClr val="FFFF00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Кириш блоки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478" name="Rectangle 158"/>
          <p:cNvSpPr>
            <a:spLocks noChangeArrowheads="1"/>
          </p:cNvSpPr>
          <p:nvPr/>
        </p:nvSpPr>
        <p:spPr bwMode="auto">
          <a:xfrm>
            <a:off x="2195513" y="1771650"/>
            <a:ext cx="4752975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Раунд калитини қўшиш(AddRoundKey)</a:t>
            </a:r>
            <a:r>
              <a:rPr lang="ru-RU" b="1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6483" name="AutoShape 163"/>
          <p:cNvSpPr>
            <a:spLocks noChangeArrowheads="1"/>
          </p:cNvSpPr>
          <p:nvPr/>
        </p:nvSpPr>
        <p:spPr bwMode="auto">
          <a:xfrm>
            <a:off x="4427538" y="1411288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491" name="Rectangle 171"/>
          <p:cNvSpPr>
            <a:spLocks noChangeArrowheads="1"/>
          </p:cNvSpPr>
          <p:nvPr/>
        </p:nvSpPr>
        <p:spPr bwMode="auto">
          <a:xfrm>
            <a:off x="2051050" y="2635250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Байтларни алмаштириш (Sub Bytes)</a:t>
            </a: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6492" name="Rectangle 172"/>
          <p:cNvSpPr>
            <a:spLocks noChangeArrowheads="1"/>
          </p:cNvSpPr>
          <p:nvPr/>
        </p:nvSpPr>
        <p:spPr bwMode="auto">
          <a:xfrm>
            <a:off x="2051050" y="3357563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Ҳолат байтларини циклик суриш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(ShiftRows)</a:t>
            </a:r>
            <a:r>
              <a:rPr lang="ru-RU"/>
              <a:t> </a:t>
            </a:r>
          </a:p>
        </p:txBody>
      </p:sp>
      <p:sp>
        <p:nvSpPr>
          <p:cNvPr id="56493" name="Rectangle 173"/>
          <p:cNvSpPr>
            <a:spLocks noChangeArrowheads="1"/>
          </p:cNvSpPr>
          <p:nvPr/>
        </p:nvSpPr>
        <p:spPr bwMode="auto">
          <a:xfrm>
            <a:off x="2051050" y="4076700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Устун элементларини аралаштириш(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6494" name="Rectangle 174"/>
          <p:cNvSpPr>
            <a:spLocks noChangeArrowheads="1"/>
          </p:cNvSpPr>
          <p:nvPr/>
        </p:nvSpPr>
        <p:spPr bwMode="auto">
          <a:xfrm>
            <a:off x="2051050" y="4795838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Раунд калитларини қўшиш(AddRoundKey)</a:t>
            </a:r>
            <a:r>
              <a:rPr lang="ru-RU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6496" name="AutoShape 176"/>
          <p:cNvSpPr>
            <a:spLocks noChangeArrowheads="1"/>
          </p:cNvSpPr>
          <p:nvPr/>
        </p:nvSpPr>
        <p:spPr bwMode="auto">
          <a:xfrm>
            <a:off x="4427538" y="2276475"/>
            <a:ext cx="287337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497" name="AutoShape 177"/>
          <p:cNvSpPr>
            <a:spLocks noChangeArrowheads="1"/>
          </p:cNvSpPr>
          <p:nvPr/>
        </p:nvSpPr>
        <p:spPr bwMode="auto">
          <a:xfrm>
            <a:off x="4427538" y="3140075"/>
            <a:ext cx="288925" cy="21748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01" name="AutoShape 181"/>
          <p:cNvSpPr>
            <a:spLocks noChangeArrowheads="1"/>
          </p:cNvSpPr>
          <p:nvPr/>
        </p:nvSpPr>
        <p:spPr bwMode="auto">
          <a:xfrm>
            <a:off x="4427538" y="3860800"/>
            <a:ext cx="288925" cy="21748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02" name="AutoShape 182"/>
          <p:cNvSpPr>
            <a:spLocks noChangeArrowheads="1"/>
          </p:cNvSpPr>
          <p:nvPr/>
        </p:nvSpPr>
        <p:spPr bwMode="auto">
          <a:xfrm>
            <a:off x="4427538" y="4579938"/>
            <a:ext cx="288925" cy="2174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04" name="AutoShape 184"/>
          <p:cNvSpPr>
            <a:spLocks/>
          </p:cNvSpPr>
          <p:nvPr/>
        </p:nvSpPr>
        <p:spPr bwMode="auto">
          <a:xfrm rot="10800000">
            <a:off x="1476375" y="2565400"/>
            <a:ext cx="431800" cy="2735263"/>
          </a:xfrm>
          <a:prstGeom prst="rightBrace">
            <a:avLst>
              <a:gd name="adj1" fmla="val 52788"/>
              <a:gd name="adj2" fmla="val 50000"/>
            </a:avLst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05" name="AutoShape 185"/>
          <p:cNvSpPr>
            <a:spLocks noChangeArrowheads="1"/>
          </p:cNvSpPr>
          <p:nvPr/>
        </p:nvSpPr>
        <p:spPr bwMode="auto">
          <a:xfrm>
            <a:off x="4427538" y="5300663"/>
            <a:ext cx="288925" cy="936625"/>
          </a:xfrm>
          <a:prstGeom prst="down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07" name="AutoShape 187"/>
          <p:cNvSpPr>
            <a:spLocks noChangeArrowheads="1"/>
          </p:cNvSpPr>
          <p:nvPr/>
        </p:nvSpPr>
        <p:spPr bwMode="auto">
          <a:xfrm>
            <a:off x="7235825" y="4941888"/>
            <a:ext cx="1584325" cy="1009650"/>
          </a:xfrm>
          <a:prstGeom prst="wedgeEllipseCallout">
            <a:avLst>
              <a:gd name="adj1" fmla="val -214431"/>
              <a:gd name="adj2" fmla="val 66824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uz-Cyrl-UZ" b="1" i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Кейинги раундга</a:t>
            </a:r>
            <a:endParaRPr lang="ru-RU" b="1" i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08" name="Text Box 188"/>
          <p:cNvSpPr txBox="1">
            <a:spLocks noChangeArrowheads="1"/>
          </p:cNvSpPr>
          <p:nvPr/>
        </p:nvSpPr>
        <p:spPr bwMode="auto">
          <a:xfrm>
            <a:off x="312738" y="3716338"/>
            <a:ext cx="1090612" cy="392112"/>
          </a:xfrm>
          <a:prstGeom prst="rect">
            <a:avLst/>
          </a:prstGeom>
          <a:solidFill>
            <a:srgbClr val="66FF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b="1" i="1">
                <a:solidFill>
                  <a:schemeClr val="bg1"/>
                </a:solidFill>
                <a:cs typeface="Times New Roman" pitchFamily="18" charset="0"/>
              </a:rPr>
              <a:t>1- раунд</a:t>
            </a:r>
            <a:endParaRPr lang="ru-RU" b="1" i="1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56509" name="Text Box 189"/>
          <p:cNvSpPr txBox="1">
            <a:spLocks noChangeArrowheads="1"/>
          </p:cNvSpPr>
          <p:nvPr/>
        </p:nvSpPr>
        <p:spPr bwMode="auto">
          <a:xfrm>
            <a:off x="1258888" y="193675"/>
            <a:ext cx="7435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AES</a:t>
            </a:r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шифрлаш алгоритмининг шифрлаш жараёнининг блок схемаси.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0" name="AutoShape 19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101013" y="6453188"/>
            <a:ext cx="863600" cy="404812"/>
          </a:xfrm>
          <a:prstGeom prst="rightArrow">
            <a:avLst>
              <a:gd name="adj1" fmla="val 50000"/>
              <a:gd name="adj2" fmla="val 5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11" name="AutoShape 191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0800000">
            <a:off x="7164388" y="6453188"/>
            <a:ext cx="863600" cy="404812"/>
          </a:xfrm>
          <a:prstGeom prst="rightArrow">
            <a:avLst>
              <a:gd name="adj1" fmla="val 50000"/>
              <a:gd name="adj2" fmla="val 5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6512" name="Rectangle 192"/>
          <p:cNvSpPr>
            <a:spLocks noChangeArrowheads="1"/>
          </p:cNvSpPr>
          <p:nvPr/>
        </p:nvSpPr>
        <p:spPr bwMode="auto">
          <a:xfrm>
            <a:off x="4140200" y="1052513"/>
            <a:ext cx="936625" cy="360362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3" name="Rectangle 193"/>
          <p:cNvSpPr>
            <a:spLocks noChangeArrowheads="1"/>
          </p:cNvSpPr>
          <p:nvPr/>
        </p:nvSpPr>
        <p:spPr bwMode="auto">
          <a:xfrm>
            <a:off x="179388" y="1052513"/>
            <a:ext cx="3168650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 маълумот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4" name="Rectangle 194"/>
          <p:cNvSpPr>
            <a:spLocks noChangeArrowheads="1"/>
          </p:cNvSpPr>
          <p:nvPr/>
        </p:nvSpPr>
        <p:spPr bwMode="auto">
          <a:xfrm>
            <a:off x="2987675" y="1052513"/>
            <a:ext cx="35877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28 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5" name="Rectangle 195"/>
          <p:cNvSpPr>
            <a:spLocks noChangeArrowheads="1"/>
          </p:cNvSpPr>
          <p:nvPr/>
        </p:nvSpPr>
        <p:spPr bwMode="auto">
          <a:xfrm>
            <a:off x="2411413" y="1052513"/>
            <a:ext cx="576262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6" name="Rectangle 196"/>
          <p:cNvSpPr>
            <a:spLocks noChangeArrowheads="1"/>
          </p:cNvSpPr>
          <p:nvPr/>
        </p:nvSpPr>
        <p:spPr bwMode="auto">
          <a:xfrm>
            <a:off x="1116013" y="1052513"/>
            <a:ext cx="93662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7" name="Rectangle 197"/>
          <p:cNvSpPr>
            <a:spLocks noChangeArrowheads="1"/>
          </p:cNvSpPr>
          <p:nvPr/>
        </p:nvSpPr>
        <p:spPr bwMode="auto">
          <a:xfrm>
            <a:off x="179388" y="1052513"/>
            <a:ext cx="93662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8" name="Rectangle 198"/>
          <p:cNvSpPr>
            <a:spLocks noChangeArrowheads="1"/>
          </p:cNvSpPr>
          <p:nvPr/>
        </p:nvSpPr>
        <p:spPr bwMode="auto">
          <a:xfrm>
            <a:off x="2051050" y="1052513"/>
            <a:ext cx="35877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519" name="Rectangle 199"/>
          <p:cNvSpPr>
            <a:spLocks noChangeArrowheads="1"/>
          </p:cNvSpPr>
          <p:nvPr/>
        </p:nvSpPr>
        <p:spPr bwMode="auto">
          <a:xfrm>
            <a:off x="2411413" y="1052513"/>
            <a:ext cx="93662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6560" name="Group 240"/>
          <p:cNvGrpSpPr>
            <a:grpSpLocks/>
          </p:cNvGrpSpPr>
          <p:nvPr/>
        </p:nvGrpSpPr>
        <p:grpSpPr bwMode="auto">
          <a:xfrm>
            <a:off x="1476375" y="2636838"/>
            <a:ext cx="2017713" cy="1728787"/>
            <a:chOff x="158" y="1661"/>
            <a:chExt cx="1271" cy="1089"/>
          </a:xfrm>
        </p:grpSpPr>
        <p:sp>
          <p:nvSpPr>
            <p:cNvPr id="56541" name="Rectangle 221"/>
            <p:cNvSpPr>
              <a:spLocks noChangeArrowheads="1"/>
            </p:cNvSpPr>
            <p:nvPr/>
          </p:nvSpPr>
          <p:spPr bwMode="auto">
            <a:xfrm>
              <a:off x="158" y="1661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45" name="Rectangle 225"/>
            <p:cNvSpPr>
              <a:spLocks noChangeArrowheads="1"/>
            </p:cNvSpPr>
            <p:nvPr/>
          </p:nvSpPr>
          <p:spPr bwMode="auto">
            <a:xfrm>
              <a:off x="476" y="1661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46" name="Rectangle 226"/>
            <p:cNvSpPr>
              <a:spLocks noChangeArrowheads="1"/>
            </p:cNvSpPr>
            <p:nvPr/>
          </p:nvSpPr>
          <p:spPr bwMode="auto">
            <a:xfrm>
              <a:off x="793" y="1661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47" name="Rectangle 227"/>
            <p:cNvSpPr>
              <a:spLocks noChangeArrowheads="1"/>
            </p:cNvSpPr>
            <p:nvPr/>
          </p:nvSpPr>
          <p:spPr bwMode="auto">
            <a:xfrm>
              <a:off x="1111" y="1661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48" name="Rectangle 228"/>
            <p:cNvSpPr>
              <a:spLocks noChangeArrowheads="1"/>
            </p:cNvSpPr>
            <p:nvPr/>
          </p:nvSpPr>
          <p:spPr bwMode="auto">
            <a:xfrm>
              <a:off x="158" y="1933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49" name="Rectangle 229"/>
            <p:cNvSpPr>
              <a:spLocks noChangeArrowheads="1"/>
            </p:cNvSpPr>
            <p:nvPr/>
          </p:nvSpPr>
          <p:spPr bwMode="auto">
            <a:xfrm>
              <a:off x="476" y="1933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0" name="Rectangle 230"/>
            <p:cNvSpPr>
              <a:spLocks noChangeArrowheads="1"/>
            </p:cNvSpPr>
            <p:nvPr/>
          </p:nvSpPr>
          <p:spPr bwMode="auto">
            <a:xfrm>
              <a:off x="793" y="1933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1" name="Rectangle 231"/>
            <p:cNvSpPr>
              <a:spLocks noChangeArrowheads="1"/>
            </p:cNvSpPr>
            <p:nvPr/>
          </p:nvSpPr>
          <p:spPr bwMode="auto">
            <a:xfrm>
              <a:off x="1111" y="1933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2" name="Rectangle 232"/>
            <p:cNvSpPr>
              <a:spLocks noChangeArrowheads="1"/>
            </p:cNvSpPr>
            <p:nvPr/>
          </p:nvSpPr>
          <p:spPr bwMode="auto">
            <a:xfrm>
              <a:off x="158" y="2205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3" name="Rectangle 233"/>
            <p:cNvSpPr>
              <a:spLocks noChangeArrowheads="1"/>
            </p:cNvSpPr>
            <p:nvPr/>
          </p:nvSpPr>
          <p:spPr bwMode="auto">
            <a:xfrm>
              <a:off x="476" y="2205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4" name="Rectangle 234"/>
            <p:cNvSpPr>
              <a:spLocks noChangeArrowheads="1"/>
            </p:cNvSpPr>
            <p:nvPr/>
          </p:nvSpPr>
          <p:spPr bwMode="auto">
            <a:xfrm>
              <a:off x="793" y="2205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5" name="Rectangle 235"/>
            <p:cNvSpPr>
              <a:spLocks noChangeArrowheads="1"/>
            </p:cNvSpPr>
            <p:nvPr/>
          </p:nvSpPr>
          <p:spPr bwMode="auto">
            <a:xfrm>
              <a:off x="1111" y="2205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6" name="Rectangle 236"/>
            <p:cNvSpPr>
              <a:spLocks noChangeArrowheads="1"/>
            </p:cNvSpPr>
            <p:nvPr/>
          </p:nvSpPr>
          <p:spPr bwMode="auto">
            <a:xfrm>
              <a:off x="158" y="2478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7" name="Rectangle 237"/>
            <p:cNvSpPr>
              <a:spLocks noChangeArrowheads="1"/>
            </p:cNvSpPr>
            <p:nvPr/>
          </p:nvSpPr>
          <p:spPr bwMode="auto">
            <a:xfrm>
              <a:off x="476" y="2478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8" name="Rectangle 238"/>
            <p:cNvSpPr>
              <a:spLocks noChangeArrowheads="1"/>
            </p:cNvSpPr>
            <p:nvPr/>
          </p:nvSpPr>
          <p:spPr bwMode="auto">
            <a:xfrm>
              <a:off x="793" y="2478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6559" name="Rectangle 239"/>
            <p:cNvSpPr>
              <a:spLocks noChangeArrowheads="1"/>
            </p:cNvSpPr>
            <p:nvPr/>
          </p:nvSpPr>
          <p:spPr bwMode="auto">
            <a:xfrm>
              <a:off x="1111" y="2478"/>
              <a:ext cx="31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</p:grpSp>
      <p:sp>
        <p:nvSpPr>
          <p:cNvPr id="56521" name="Rectangle 201"/>
          <p:cNvSpPr>
            <a:spLocks noChangeArrowheads="1"/>
          </p:cNvSpPr>
          <p:nvPr/>
        </p:nvSpPr>
        <p:spPr bwMode="auto">
          <a:xfrm>
            <a:off x="250825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00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0" name="Rectangle 200"/>
          <p:cNvSpPr>
            <a:spLocks noChangeArrowheads="1"/>
          </p:cNvSpPr>
          <p:nvPr/>
        </p:nvSpPr>
        <p:spPr bwMode="auto">
          <a:xfrm>
            <a:off x="539750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10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3" name="Rectangle 203"/>
          <p:cNvSpPr>
            <a:spLocks noChangeArrowheads="1"/>
          </p:cNvSpPr>
          <p:nvPr/>
        </p:nvSpPr>
        <p:spPr bwMode="auto">
          <a:xfrm>
            <a:off x="827088" y="191611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20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2" name="Rectangle 202"/>
          <p:cNvSpPr>
            <a:spLocks noChangeArrowheads="1"/>
          </p:cNvSpPr>
          <p:nvPr/>
        </p:nvSpPr>
        <p:spPr bwMode="auto">
          <a:xfrm>
            <a:off x="1116013" y="191611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30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5" name="Rectangle 205"/>
          <p:cNvSpPr>
            <a:spLocks noChangeArrowheads="1"/>
          </p:cNvSpPr>
          <p:nvPr/>
        </p:nvSpPr>
        <p:spPr bwMode="auto">
          <a:xfrm>
            <a:off x="1403350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01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4" name="Rectangle 204"/>
          <p:cNvSpPr>
            <a:spLocks noChangeArrowheads="1"/>
          </p:cNvSpPr>
          <p:nvPr/>
        </p:nvSpPr>
        <p:spPr bwMode="auto">
          <a:xfrm>
            <a:off x="1692275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11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7" name="Rectangle 207"/>
          <p:cNvSpPr>
            <a:spLocks noChangeArrowheads="1"/>
          </p:cNvSpPr>
          <p:nvPr/>
        </p:nvSpPr>
        <p:spPr bwMode="auto">
          <a:xfrm>
            <a:off x="1978025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21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6" name="Rectangle 206"/>
          <p:cNvSpPr>
            <a:spLocks noChangeArrowheads="1"/>
          </p:cNvSpPr>
          <p:nvPr/>
        </p:nvSpPr>
        <p:spPr bwMode="auto">
          <a:xfrm>
            <a:off x="2266950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31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9" name="Rectangle 209"/>
          <p:cNvSpPr>
            <a:spLocks noChangeArrowheads="1"/>
          </p:cNvSpPr>
          <p:nvPr/>
        </p:nvSpPr>
        <p:spPr bwMode="auto">
          <a:xfrm>
            <a:off x="2555875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02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28" name="Rectangle 208"/>
          <p:cNvSpPr>
            <a:spLocks noChangeArrowheads="1"/>
          </p:cNvSpPr>
          <p:nvPr/>
        </p:nvSpPr>
        <p:spPr bwMode="auto">
          <a:xfrm>
            <a:off x="2844800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12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31" name="Rectangle 211"/>
          <p:cNvSpPr>
            <a:spLocks noChangeArrowheads="1"/>
          </p:cNvSpPr>
          <p:nvPr/>
        </p:nvSpPr>
        <p:spPr bwMode="auto">
          <a:xfrm>
            <a:off x="3132138" y="191611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22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30" name="Rectangle 210"/>
          <p:cNvSpPr>
            <a:spLocks noChangeArrowheads="1"/>
          </p:cNvSpPr>
          <p:nvPr/>
        </p:nvSpPr>
        <p:spPr bwMode="auto">
          <a:xfrm>
            <a:off x="3421063" y="191611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32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35" name="Rectangle 215"/>
          <p:cNvSpPr>
            <a:spLocks noChangeArrowheads="1"/>
          </p:cNvSpPr>
          <p:nvPr/>
        </p:nvSpPr>
        <p:spPr bwMode="auto">
          <a:xfrm>
            <a:off x="3706813" y="191611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03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34" name="Rectangle 214"/>
          <p:cNvSpPr>
            <a:spLocks noChangeArrowheads="1"/>
          </p:cNvSpPr>
          <p:nvPr/>
        </p:nvSpPr>
        <p:spPr bwMode="auto">
          <a:xfrm>
            <a:off x="3995738" y="1916113"/>
            <a:ext cx="287337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13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37" name="Rectangle 217"/>
          <p:cNvSpPr>
            <a:spLocks noChangeArrowheads="1"/>
          </p:cNvSpPr>
          <p:nvPr/>
        </p:nvSpPr>
        <p:spPr bwMode="auto">
          <a:xfrm>
            <a:off x="4283075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23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36" name="Rectangle 216"/>
          <p:cNvSpPr>
            <a:spLocks noChangeArrowheads="1"/>
          </p:cNvSpPr>
          <p:nvPr/>
        </p:nvSpPr>
        <p:spPr bwMode="auto">
          <a:xfrm>
            <a:off x="4572000" y="1916113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</a:t>
            </a:r>
            <a:r>
              <a:rPr lang="en-US" sz="1400" b="1" baseline="-25000">
                <a:solidFill>
                  <a:schemeClr val="bg1"/>
                </a:solidFill>
              </a:rPr>
              <a:t>33</a:t>
            </a:r>
            <a:endParaRPr lang="ru-RU" sz="1400" b="1">
              <a:solidFill>
                <a:schemeClr val="bg1"/>
              </a:solidFill>
            </a:endParaRPr>
          </a:p>
        </p:txBody>
      </p:sp>
      <p:sp>
        <p:nvSpPr>
          <p:cNvPr id="56561" name="Rectangle 241"/>
          <p:cNvSpPr>
            <a:spLocks noChangeArrowheads="1"/>
          </p:cNvSpPr>
          <p:nvPr/>
        </p:nvSpPr>
        <p:spPr bwMode="auto">
          <a:xfrm>
            <a:off x="1908175" y="3284538"/>
            <a:ext cx="93662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564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6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6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4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6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6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6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6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03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6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65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6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6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10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85" decel="100000"/>
                                        <p:tgtEl>
                                          <p:spTgt spid="5650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385" decel="100000"/>
                                        <p:tgtEl>
                                          <p:spTgt spid="5650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4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5650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15" dur="385" fill="hold"/>
                                        <p:tgtEl>
                                          <p:spTgt spid="56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6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56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7" dur="385" fill="hold"/>
                                        <p:tgtEl>
                                          <p:spTgt spid="56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8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56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20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6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56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6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6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56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8195 0.11111 " pathEditMode="relative" ptsTypes="AA">
                                      <p:cBhvr>
                                        <p:cTn id="168" dur="1000" fill="hold"/>
                                        <p:tgtEl>
                                          <p:spTgt spid="56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1000"/>
                                        <p:tgtEl>
                                          <p:spTgt spid="56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/>
                                        <p:tgtEl>
                                          <p:spTgt spid="56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5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5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5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5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5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5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5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15 0.11667 " pathEditMode="relative" ptsTypes="AA">
                                      <p:cBhvr>
                                        <p:cTn id="232" dur="500" fill="hold"/>
                                        <p:tgtEl>
                                          <p:spTgt spid="56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12083 0.18518 " pathEditMode="relative" ptsTypes="AA">
                                      <p:cBhvr>
                                        <p:cTn id="235" dur="500" fill="hold"/>
                                        <p:tgtEl>
                                          <p:spTgt spid="565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9028 0.24629 " pathEditMode="relative" ptsTypes="AA">
                                      <p:cBhvr>
                                        <p:cTn id="238" dur="500" fill="hold"/>
                                        <p:tgtEl>
                                          <p:spTgt spid="565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805 0.10186 0.05416 0.30556 0.05416 0.30556 " pathEditMode="relative" ptsTypes="fA">
                                      <p:cBhvr>
                                        <p:cTn id="241" dur="500" fill="hold"/>
                                        <p:tgtEl>
                                          <p:spTgt spid="565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7917 0.12037 " pathEditMode="relative" ptsTypes="AA">
                                      <p:cBhvr>
                                        <p:cTn id="244" dur="500" fill="hold"/>
                                        <p:tgtEl>
                                          <p:spTgt spid="565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4722 0.18149 " pathEditMode="relative" ptsTypes="AA">
                                      <p:cBhvr>
                                        <p:cTn id="247" dur="500" fill="hold"/>
                                        <p:tgtEl>
                                          <p:spTgt spid="565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1389 0.2426 " pathEditMode="relative" ptsTypes="AA">
                                      <p:cBhvr>
                                        <p:cTn id="250" dur="500" fill="hold"/>
                                        <p:tgtEl>
                                          <p:spTgt spid="565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1945 0.3 " pathEditMode="relative" ptsTypes="AA">
                                      <p:cBhvr>
                                        <p:cTn id="253" dur="500" fill="hold"/>
                                        <p:tgtEl>
                                          <p:spTgt spid="565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0695 0.11852 " pathEditMode="relative" ptsTypes="AA">
                                      <p:cBhvr>
                                        <p:cTn id="256" dur="500" fill="hold"/>
                                        <p:tgtEl>
                                          <p:spTgt spid="565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2361 0.18334 " pathEditMode="relative" ptsTypes="AA">
                                      <p:cBhvr>
                                        <p:cTn id="259" dur="500" fill="hold"/>
                                        <p:tgtEl>
                                          <p:spTgt spid="565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5833 0.24074 " pathEditMode="relative" ptsTypes="AA">
                                      <p:cBhvr>
                                        <p:cTn id="262" dur="500" fill="hold"/>
                                        <p:tgtEl>
                                          <p:spTgt spid="56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6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8611 0.30555 " pathEditMode="relative" ptsTypes="AA">
                                      <p:cBhvr>
                                        <p:cTn id="265" dur="500" fill="hold"/>
                                        <p:tgtEl>
                                          <p:spTgt spid="56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6389 0.11852 " pathEditMode="relative" ptsTypes="AA">
                                      <p:cBhvr>
                                        <p:cTn id="268" dur="500" fill="hold"/>
                                        <p:tgtEl>
                                          <p:spTgt spid="565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7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0139 0.17963 " pathEditMode="relative" ptsTypes="AA">
                                      <p:cBhvr>
                                        <p:cTn id="271" dur="500" fill="hold"/>
                                        <p:tgtEl>
                                          <p:spTgt spid="565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2777 0.24445 " pathEditMode="relative" ptsTypes="AA">
                                      <p:cBhvr>
                                        <p:cTn id="274" dur="500" fill="hold"/>
                                        <p:tgtEl>
                                          <p:spTgt spid="56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7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5972 0.3037 " pathEditMode="relative" ptsTypes="AA">
                                      <p:cBhvr>
                                        <p:cTn id="277" dur="500" fill="hold"/>
                                        <p:tgtEl>
                                          <p:spTgt spid="565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7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56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56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56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56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56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56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56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56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565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56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565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56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56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565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56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565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500"/>
                                        <p:tgtEl>
                                          <p:spTgt spid="56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5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3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24445 -0.32963 " pathEditMode="relative" ptsTypes="AA">
                                      <p:cBhvr>
                                        <p:cTn id="335" dur="1000" fill="hold"/>
                                        <p:tgtEl>
                                          <p:spTgt spid="56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3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56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5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34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1125 L -0.05 0.1125 L 0.05156 0.11041 L 0.0 0.1125 L 0.00156 0.24583 L -0.04219 0.24375 L 0.05625 0.24375 L 0.00156 0.24583 L 0.00313 0.34791 L -0.03906 0.34791 L 0.0625 0.34583 L 0.00156 0.34375 L 0.00313 0.45208 L -0.04062 0.45416 L 0.04844 0.45208 L 0.00156 0.45416 L 0.00313 0.55185 L -0.03906 0.55185 L 0.04844 0.55625 L 0.00156 0.55185 L 0.0 0.76666 " pathEditMode="relative" ptsTypes="AAAAAAAAAAAAAAAAAAAAAA">
                                      <p:cBhvr>
                                        <p:cTn id="345" dur="5000" fill="hold"/>
                                        <p:tgtEl>
                                          <p:spTgt spid="565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34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1000"/>
                                        <p:tgtEl>
                                          <p:spTgt spid="56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77" grpId="0" animBg="1"/>
      <p:bldP spid="56478" grpId="0" animBg="1"/>
      <p:bldP spid="56483" grpId="0" animBg="1"/>
      <p:bldP spid="56491" grpId="0" animBg="1"/>
      <p:bldP spid="56492" grpId="0" animBg="1"/>
      <p:bldP spid="56493" grpId="0" animBg="1"/>
      <p:bldP spid="56494" grpId="0" animBg="1"/>
      <p:bldP spid="56496" grpId="0" animBg="1"/>
      <p:bldP spid="56497" grpId="0" animBg="1"/>
      <p:bldP spid="56501" grpId="0" animBg="1"/>
      <p:bldP spid="56502" grpId="0" animBg="1"/>
      <p:bldP spid="56504" grpId="0" animBg="1"/>
      <p:bldP spid="56505" grpId="0" animBg="1"/>
      <p:bldP spid="56507" grpId="0" animBg="1"/>
      <p:bldP spid="56508" grpId="0" animBg="1"/>
      <p:bldP spid="56509" grpId="0"/>
      <p:bldP spid="56512" grpId="1" animBg="1"/>
      <p:bldP spid="56512" grpId="2" animBg="1"/>
      <p:bldP spid="56513" grpId="0" animBg="1"/>
      <p:bldP spid="56513" grpId="1" animBg="1"/>
      <p:bldP spid="56514" grpId="0" animBg="1"/>
      <p:bldP spid="56514" grpId="1" animBg="1"/>
      <p:bldP spid="56515" grpId="0" animBg="1"/>
      <p:bldP spid="56515" grpId="1" animBg="1"/>
      <p:bldP spid="56516" grpId="0" animBg="1"/>
      <p:bldP spid="56517" grpId="0" animBg="1"/>
      <p:bldP spid="56517" grpId="2" animBg="1"/>
      <p:bldP spid="56517" grpId="3" animBg="1"/>
      <p:bldP spid="56518" grpId="0" animBg="1"/>
      <p:bldP spid="56519" grpId="0" animBg="1"/>
      <p:bldP spid="56521" grpId="0" animBg="1"/>
      <p:bldP spid="56521" grpId="1" animBg="1"/>
      <p:bldP spid="56521" grpId="2" animBg="1"/>
      <p:bldP spid="56520" grpId="0" animBg="1"/>
      <p:bldP spid="56520" grpId="1" animBg="1"/>
      <p:bldP spid="56520" grpId="2" animBg="1"/>
      <p:bldP spid="56523" grpId="0" animBg="1"/>
      <p:bldP spid="56523" grpId="1" animBg="1"/>
      <p:bldP spid="56523" grpId="2" animBg="1"/>
      <p:bldP spid="56522" grpId="0" animBg="1"/>
      <p:bldP spid="56522" grpId="1" animBg="1"/>
      <p:bldP spid="56522" grpId="2" animBg="1"/>
      <p:bldP spid="56525" grpId="0" animBg="1"/>
      <p:bldP spid="56525" grpId="1" animBg="1"/>
      <p:bldP spid="56525" grpId="2" animBg="1"/>
      <p:bldP spid="56524" grpId="0" animBg="1"/>
      <p:bldP spid="56524" grpId="1" animBg="1"/>
      <p:bldP spid="56524" grpId="2" animBg="1"/>
      <p:bldP spid="56527" grpId="0" animBg="1"/>
      <p:bldP spid="56527" grpId="1" animBg="1"/>
      <p:bldP spid="56527" grpId="2" animBg="1"/>
      <p:bldP spid="56526" grpId="0" animBg="1"/>
      <p:bldP spid="56526" grpId="1" animBg="1"/>
      <p:bldP spid="56526" grpId="2" animBg="1"/>
      <p:bldP spid="56529" grpId="0" animBg="1"/>
      <p:bldP spid="56529" grpId="1" animBg="1"/>
      <p:bldP spid="56529" grpId="2" animBg="1"/>
      <p:bldP spid="56528" grpId="0" animBg="1"/>
      <p:bldP spid="56528" grpId="1" animBg="1"/>
      <p:bldP spid="56528" grpId="2" animBg="1"/>
      <p:bldP spid="56531" grpId="0" animBg="1"/>
      <p:bldP spid="56531" grpId="1" animBg="1"/>
      <p:bldP spid="56531" grpId="2" animBg="1"/>
      <p:bldP spid="56530" grpId="0" animBg="1"/>
      <p:bldP spid="56530" grpId="1" animBg="1"/>
      <p:bldP spid="56530" grpId="2" animBg="1"/>
      <p:bldP spid="56535" grpId="0" animBg="1"/>
      <p:bldP spid="56535" grpId="1" animBg="1"/>
      <p:bldP spid="56535" grpId="2" animBg="1"/>
      <p:bldP spid="56534" grpId="0" animBg="1"/>
      <p:bldP spid="56534" grpId="1" animBg="1"/>
      <p:bldP spid="56534" grpId="2" animBg="1"/>
      <p:bldP spid="56537" grpId="0" animBg="1"/>
      <p:bldP spid="56537" grpId="1" animBg="1"/>
      <p:bldP spid="56537" grpId="2" animBg="1"/>
      <p:bldP spid="56536" grpId="0" animBg="1"/>
      <p:bldP spid="56536" grpId="1" animBg="1"/>
      <p:bldP spid="56536" grpId="2" animBg="1"/>
      <p:bldP spid="56561" grpId="0" animBg="1"/>
      <p:bldP spid="56561" grpId="1" animBg="1"/>
      <p:bldP spid="56561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569325" cy="5689600"/>
          </a:xfrm>
        </p:spPr>
        <p:txBody>
          <a:bodyPr/>
          <a:lstStyle/>
          <a:p>
            <a:pPr>
              <a:buFontTx/>
              <a:buNone/>
            </a:pPr>
            <a:endParaRPr lang="uz-Cyrl-UZ" sz="1000"/>
          </a:p>
        </p:txBody>
      </p:sp>
      <p:grpSp>
        <p:nvGrpSpPr>
          <p:cNvPr id="63492" name="Group 4"/>
          <p:cNvGrpSpPr>
            <a:grpSpLocks/>
          </p:cNvGrpSpPr>
          <p:nvPr/>
        </p:nvGrpSpPr>
        <p:grpSpPr bwMode="auto">
          <a:xfrm>
            <a:off x="1054100" y="165100"/>
            <a:ext cx="7696200" cy="685800"/>
            <a:chOff x="664" y="104"/>
            <a:chExt cx="4848" cy="432"/>
          </a:xfrm>
        </p:grpSpPr>
        <p:sp>
          <p:nvSpPr>
            <p:cNvPr id="63493" name="Freeform 5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63494" name="Group 6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63495" name="Group 7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63496" name="Freeform 8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497" name="Freeform 9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498" name="Freeform 10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499" name="Freeform 11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0" name="Freeform 12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1" name="Freeform 13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2" name="Freeform 14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3" name="Freeform 15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4" name="Freeform 16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5" name="Freeform 17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6" name="Freeform 18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7" name="Freeform 19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8" name="Freeform 20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09" name="Freeform 21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0" name="Freeform 22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1" name="Freeform 23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2" name="Freeform 24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3" name="Freeform 25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4" name="Freeform 26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5" name="Freeform 27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6" name="Freeform 28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7" name="Freeform 29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8" name="Freeform 30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19" name="Freeform 31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0" name="Freeform 32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1" name="Freeform 33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2" name="Freeform 34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3" name="Freeform 35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4" name="Freeform 36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5" name="Freeform 37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6" name="Freeform 38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7" name="Freeform 39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8" name="Freeform 40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29" name="Freeform 41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0" name="Freeform 42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1" name="Freeform 43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2" name="Freeform 44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3" name="Freeform 45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4" name="Freeform 46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5" name="Freeform 47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6" name="Freeform 48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7" name="Freeform 49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8" name="Freeform 50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39" name="Freeform 51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0" name="Freeform 52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1" name="Freeform 53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2" name="Freeform 54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3" name="Freeform 55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4" name="Freeform 56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5" name="Freeform 57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6" name="Freeform 58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7" name="Freeform 59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8" name="Freeform 60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49" name="Freeform 61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0" name="Freeform 62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1" name="Freeform 63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63552" name="Group 64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63553" name="Freeform 65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4" name="Freeform 66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5" name="Freeform 67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6" name="Freeform 68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7" name="Freeform 69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8" name="Freeform 70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59" name="Freeform 71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0" name="Freeform 72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1" name="Freeform 73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2" name="Freeform 74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3" name="Freeform 75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4" name="Freeform 76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5" name="Freeform 77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6" name="Freeform 78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7" name="Freeform 79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8" name="Freeform 80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69" name="Freeform 81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0" name="Freeform 82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1" name="Freeform 83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2" name="Freeform 84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3" name="Freeform 85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4" name="Freeform 86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5" name="Freeform 87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6" name="Freeform 88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7" name="Freeform 89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8" name="Freeform 90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79" name="Freeform 91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0" name="Freeform 92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1" name="Freeform 93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2" name="Freeform 94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3" name="Freeform 95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4" name="Freeform 96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5" name="Freeform 97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6" name="Freeform 98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7" name="Freeform 99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8" name="Freeform 100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89" name="Freeform 101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90" name="Freeform 102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91" name="Freeform 103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92" name="Freeform 104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93" name="Freeform 105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3594" name="Freeform 106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63595" name="Group 107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63596" name="Line 108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597" name="Line 109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598" name="Line 110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599" name="Line 111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0" name="Line 112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1" name="Line 113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2" name="Line 114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3" name="Line 115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4" name="Line 116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5" name="Line 117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6" name="Line 118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7" name="Line 119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8" name="Line 120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09" name="Line 121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0" name="Line 122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1" name="Line 123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2" name="Line 124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3" name="Line 125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4" name="Line 126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5" name="Line 127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6" name="Line 128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63617" name="Group 129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63618" name="Line 130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19" name="Line 131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0" name="Line 132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1" name="Line 133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2" name="Line 134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3" name="Line 135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4" name="Line 136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5" name="Line 137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6" name="Line 138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7" name="Line 139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8" name="Line 140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29" name="Line 141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0" name="Line 142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1" name="Line 143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2" name="Line 144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3" name="Line 145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4" name="Line 146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5" name="Line 147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6" name="Line 148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7" name="Line 149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8" name="Line 150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39" name="Line 151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40" name="Line 152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41" name="Line 153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3642" name="Line 154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63643" name="Picture 155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89217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646" name="AutoShape 158"/>
          <p:cNvSpPr>
            <a:spLocks noChangeArrowheads="1"/>
          </p:cNvSpPr>
          <p:nvPr/>
        </p:nvSpPr>
        <p:spPr bwMode="auto">
          <a:xfrm>
            <a:off x="4427538" y="1411288"/>
            <a:ext cx="288925" cy="649287"/>
          </a:xfrm>
          <a:prstGeom prst="downArrow">
            <a:avLst>
              <a:gd name="adj1" fmla="val 50000"/>
              <a:gd name="adj2" fmla="val 56181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47" name="Rectangle 159"/>
          <p:cNvSpPr>
            <a:spLocks noChangeArrowheads="1"/>
          </p:cNvSpPr>
          <p:nvPr/>
        </p:nvSpPr>
        <p:spPr bwMode="auto">
          <a:xfrm>
            <a:off x="2051050" y="2058988"/>
            <a:ext cx="5257800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Байтларни алмаштириш (Sub Bytes)</a:t>
            </a: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3648" name="Rectangle 160"/>
          <p:cNvSpPr>
            <a:spLocks noChangeArrowheads="1"/>
          </p:cNvSpPr>
          <p:nvPr/>
        </p:nvSpPr>
        <p:spPr bwMode="auto">
          <a:xfrm>
            <a:off x="2051050" y="2781300"/>
            <a:ext cx="5257800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Ҳолат байтларини циклик суриш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(ShiftRows)</a:t>
            </a:r>
            <a:r>
              <a:rPr lang="ru-RU"/>
              <a:t> </a:t>
            </a:r>
          </a:p>
        </p:txBody>
      </p:sp>
      <p:sp>
        <p:nvSpPr>
          <p:cNvPr id="63649" name="Rectangle 161"/>
          <p:cNvSpPr>
            <a:spLocks noChangeArrowheads="1"/>
          </p:cNvSpPr>
          <p:nvPr/>
        </p:nvSpPr>
        <p:spPr bwMode="auto">
          <a:xfrm>
            <a:off x="2051050" y="3500438"/>
            <a:ext cx="5257800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Устун элементларини аралаштириш(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3650" name="Rectangle 162"/>
          <p:cNvSpPr>
            <a:spLocks noChangeArrowheads="1"/>
          </p:cNvSpPr>
          <p:nvPr/>
        </p:nvSpPr>
        <p:spPr bwMode="auto">
          <a:xfrm>
            <a:off x="2051050" y="4219575"/>
            <a:ext cx="5257800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Раунд калитларини қўшиш(AddRoundKey)</a:t>
            </a:r>
            <a:r>
              <a:rPr lang="ru-RU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3652" name="AutoShape 164"/>
          <p:cNvSpPr>
            <a:spLocks noChangeArrowheads="1"/>
          </p:cNvSpPr>
          <p:nvPr/>
        </p:nvSpPr>
        <p:spPr bwMode="auto">
          <a:xfrm>
            <a:off x="4427538" y="2563813"/>
            <a:ext cx="288925" cy="2174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53" name="AutoShape 165"/>
          <p:cNvSpPr>
            <a:spLocks noChangeArrowheads="1"/>
          </p:cNvSpPr>
          <p:nvPr/>
        </p:nvSpPr>
        <p:spPr bwMode="auto">
          <a:xfrm>
            <a:off x="4427538" y="3284538"/>
            <a:ext cx="288925" cy="2174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54" name="AutoShape 166"/>
          <p:cNvSpPr>
            <a:spLocks noChangeArrowheads="1"/>
          </p:cNvSpPr>
          <p:nvPr/>
        </p:nvSpPr>
        <p:spPr bwMode="auto">
          <a:xfrm>
            <a:off x="4427538" y="4003675"/>
            <a:ext cx="288925" cy="21748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55" name="AutoShape 167"/>
          <p:cNvSpPr>
            <a:spLocks/>
          </p:cNvSpPr>
          <p:nvPr/>
        </p:nvSpPr>
        <p:spPr bwMode="auto">
          <a:xfrm rot="10800000">
            <a:off x="1476375" y="1989138"/>
            <a:ext cx="431800" cy="2735262"/>
          </a:xfrm>
          <a:prstGeom prst="rightBrace">
            <a:avLst>
              <a:gd name="adj1" fmla="val 52788"/>
              <a:gd name="adj2" fmla="val 50000"/>
            </a:avLst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56" name="AutoShape 168"/>
          <p:cNvSpPr>
            <a:spLocks noChangeArrowheads="1"/>
          </p:cNvSpPr>
          <p:nvPr/>
        </p:nvSpPr>
        <p:spPr bwMode="auto">
          <a:xfrm>
            <a:off x="4427538" y="4724400"/>
            <a:ext cx="288925" cy="936625"/>
          </a:xfrm>
          <a:prstGeom prst="down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57" name="AutoShape 169"/>
          <p:cNvSpPr>
            <a:spLocks noChangeArrowheads="1"/>
          </p:cNvSpPr>
          <p:nvPr/>
        </p:nvSpPr>
        <p:spPr bwMode="auto">
          <a:xfrm>
            <a:off x="7235825" y="4941888"/>
            <a:ext cx="1584325" cy="1009650"/>
          </a:xfrm>
          <a:prstGeom prst="wedgeEllipseCallout">
            <a:avLst>
              <a:gd name="adj1" fmla="val -213528"/>
              <a:gd name="adj2" fmla="val 74843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uz-Cyrl-UZ" b="1" i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Кейинги раундга</a:t>
            </a:r>
            <a:endParaRPr lang="ru-RU" b="1" i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658" name="Text Box 170"/>
          <p:cNvSpPr txBox="1">
            <a:spLocks noChangeArrowheads="1"/>
          </p:cNvSpPr>
          <p:nvPr/>
        </p:nvSpPr>
        <p:spPr bwMode="auto">
          <a:xfrm>
            <a:off x="4067175" y="1020763"/>
            <a:ext cx="1090613" cy="392112"/>
          </a:xfrm>
          <a:prstGeom prst="rect">
            <a:avLst/>
          </a:prstGeom>
          <a:solidFill>
            <a:srgbClr val="66FF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b="1" i="1">
                <a:solidFill>
                  <a:schemeClr val="bg1"/>
                </a:solidFill>
                <a:cs typeface="Times New Roman" pitchFamily="18" charset="0"/>
              </a:rPr>
              <a:t>1- раунд</a:t>
            </a:r>
            <a:endParaRPr lang="ru-RU" b="1" i="1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3659" name="Text Box 171"/>
          <p:cNvSpPr txBox="1">
            <a:spLocks noChangeArrowheads="1"/>
          </p:cNvSpPr>
          <p:nvPr/>
        </p:nvSpPr>
        <p:spPr bwMode="auto">
          <a:xfrm>
            <a:off x="1258888" y="193675"/>
            <a:ext cx="7435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AES</a:t>
            </a:r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шифрлаш алгоритмининг шифрлаш жараёнининг блок схемаси.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660" name="Text Box 172"/>
          <p:cNvSpPr txBox="1">
            <a:spLocks noChangeArrowheads="1"/>
          </p:cNvSpPr>
          <p:nvPr/>
        </p:nvSpPr>
        <p:spPr bwMode="auto">
          <a:xfrm>
            <a:off x="323850" y="3140075"/>
            <a:ext cx="1090613" cy="392113"/>
          </a:xfrm>
          <a:prstGeom prst="rect">
            <a:avLst/>
          </a:prstGeom>
          <a:solidFill>
            <a:srgbClr val="66FF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b="1" i="1">
                <a:solidFill>
                  <a:schemeClr val="bg1"/>
                </a:solidFill>
                <a:cs typeface="Times New Roman" pitchFamily="18" charset="0"/>
              </a:rPr>
              <a:t>2- раунд</a:t>
            </a:r>
            <a:endParaRPr lang="ru-RU" b="1" i="1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3661" name="AutoShape 17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101013" y="6381750"/>
            <a:ext cx="863600" cy="476250"/>
          </a:xfrm>
          <a:prstGeom prst="rightArrow">
            <a:avLst>
              <a:gd name="adj1" fmla="val 50000"/>
              <a:gd name="adj2" fmla="val 45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62" name="AutoShape 174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0800000">
            <a:off x="7164388" y="6381750"/>
            <a:ext cx="863600" cy="476250"/>
          </a:xfrm>
          <a:prstGeom prst="rightArrow">
            <a:avLst>
              <a:gd name="adj1" fmla="val 50000"/>
              <a:gd name="adj2" fmla="val 45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63" name="Text Box 175"/>
          <p:cNvSpPr txBox="1">
            <a:spLocks noChangeArrowheads="1"/>
          </p:cNvSpPr>
          <p:nvPr/>
        </p:nvSpPr>
        <p:spPr bwMode="auto">
          <a:xfrm>
            <a:off x="3132138" y="5661025"/>
            <a:ext cx="2879725" cy="338554"/>
          </a:xfrm>
          <a:prstGeom prst="rect">
            <a:avLst/>
          </a:prstGeom>
          <a:solidFill>
            <a:srgbClr val="66FF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1600" b="1" i="1" dirty="0">
                <a:solidFill>
                  <a:schemeClr val="bg1"/>
                </a:solidFill>
                <a:cs typeface="Times New Roman" pitchFamily="18" charset="0"/>
              </a:rPr>
              <a:t>3,4,5,6,7,8,9 - раундлар</a:t>
            </a:r>
            <a:endParaRPr lang="ru-RU" sz="1600" b="1" i="1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3664" name="AutoShape 176"/>
          <p:cNvSpPr>
            <a:spLocks noChangeArrowheads="1"/>
          </p:cNvSpPr>
          <p:nvPr/>
        </p:nvSpPr>
        <p:spPr bwMode="auto">
          <a:xfrm>
            <a:off x="4427538" y="6091238"/>
            <a:ext cx="288925" cy="2174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666" name="Rectangle 178"/>
          <p:cNvSpPr>
            <a:spLocks noChangeArrowheads="1"/>
          </p:cNvSpPr>
          <p:nvPr/>
        </p:nvSpPr>
        <p:spPr bwMode="auto">
          <a:xfrm>
            <a:off x="4140200" y="1052513"/>
            <a:ext cx="936625" cy="3587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668" name="Rectangle 180"/>
          <p:cNvSpPr>
            <a:spLocks noChangeArrowheads="1"/>
          </p:cNvSpPr>
          <p:nvPr/>
        </p:nvSpPr>
        <p:spPr bwMode="auto">
          <a:xfrm>
            <a:off x="4140200" y="1700213"/>
            <a:ext cx="936625" cy="3587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636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" dur="500"/>
                                        <p:tgtEl>
                                          <p:spTgt spid="6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6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6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6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6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6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3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36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36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36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6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3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3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36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6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80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92" decel="100000"/>
                                        <p:tgtEl>
                                          <p:spTgt spid="636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192" decel="100000"/>
                                        <p:tgtEl>
                                          <p:spTgt spid="6366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4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5" dur="192" fill="hold"/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6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7" dur="192" fill="hold"/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8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3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66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4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66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5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3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3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36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6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6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6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09444 " pathEditMode="relative" ptsTypes="AA">
                                      <p:cBhvr>
                                        <p:cTn id="114" dur="2000" fill="hold"/>
                                        <p:tgtEl>
                                          <p:spTgt spid="636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1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63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0625 L -0.06563 0.0625 L 0.05937 0.06041 L -0.00157 0.0625 L -0.00157 0.16666 L -0.05782 0.16666 L 0.04531 0.16666 L -0.00313 0.16666 L -0.00313 0.27083 L -0.06407 0.27291 L 0.05 0.27291 L -0.00313 0.27291 L -0.00313 0.37708 L -0.07032 0.37708 L 0.05156 0.37916 L -0.00469 0.37916 L -0.00469 0.58541 L -0.09375 0.58333 L 0.09218 0.58541 L -0.00469 0.58541 L -0.00469 0.675 " pathEditMode="relative" ptsTypes="AAAAAAAAAAAAAAAAAAAAAA">
                                      <p:cBhvr>
                                        <p:cTn id="124" dur="5000" fill="hold"/>
                                        <p:tgtEl>
                                          <p:spTgt spid="636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46" grpId="0" animBg="1"/>
      <p:bldP spid="63647" grpId="0" animBg="1"/>
      <p:bldP spid="63648" grpId="0" animBg="1"/>
      <p:bldP spid="63649" grpId="0" animBg="1"/>
      <p:bldP spid="63650" grpId="0" animBg="1"/>
      <p:bldP spid="63652" grpId="0" animBg="1"/>
      <p:bldP spid="63653" grpId="0" animBg="1"/>
      <p:bldP spid="63654" grpId="0" animBg="1"/>
      <p:bldP spid="63655" grpId="0" animBg="1"/>
      <p:bldP spid="63656" grpId="0" animBg="1"/>
      <p:bldP spid="63657" grpId="0" animBg="1"/>
      <p:bldP spid="63658" grpId="0" animBg="1"/>
      <p:bldP spid="63659" grpId="0"/>
      <p:bldP spid="63660" grpId="0" animBg="1"/>
      <p:bldP spid="63661" grpId="0" animBg="1"/>
      <p:bldP spid="63662" grpId="0" animBg="1"/>
      <p:bldP spid="63663" grpId="0" animBg="1"/>
      <p:bldP spid="63664" grpId="0" animBg="1"/>
      <p:bldP spid="63666" grpId="0" animBg="1"/>
      <p:bldP spid="63666" grpId="1" animBg="1"/>
      <p:bldP spid="63666" grpId="2" animBg="1"/>
      <p:bldP spid="63668" grpId="0" animBg="1"/>
      <p:bldP spid="6366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569325" cy="5689600"/>
          </a:xfrm>
        </p:spPr>
        <p:txBody>
          <a:bodyPr/>
          <a:lstStyle/>
          <a:p>
            <a:pPr>
              <a:buFontTx/>
              <a:buNone/>
            </a:pPr>
            <a:endParaRPr lang="uz-Cyrl-UZ" sz="1000"/>
          </a:p>
        </p:txBody>
      </p:sp>
      <p:grpSp>
        <p:nvGrpSpPr>
          <p:cNvPr id="65540" name="Group 4"/>
          <p:cNvGrpSpPr>
            <a:grpSpLocks/>
          </p:cNvGrpSpPr>
          <p:nvPr/>
        </p:nvGrpSpPr>
        <p:grpSpPr bwMode="auto">
          <a:xfrm>
            <a:off x="1054100" y="165100"/>
            <a:ext cx="7696200" cy="685800"/>
            <a:chOff x="664" y="104"/>
            <a:chExt cx="4848" cy="432"/>
          </a:xfrm>
        </p:grpSpPr>
        <p:sp>
          <p:nvSpPr>
            <p:cNvPr id="65541" name="Freeform 5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65542" name="Group 6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65543" name="Group 7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65544" name="Freeform 8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45" name="Freeform 9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46" name="Freeform 10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47" name="Freeform 11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48" name="Freeform 12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49" name="Freeform 13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0" name="Freeform 14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1" name="Freeform 15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2" name="Freeform 16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3" name="Freeform 17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4" name="Freeform 18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5" name="Freeform 19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6" name="Freeform 20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7" name="Freeform 21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8" name="Freeform 22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59" name="Freeform 23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0" name="Freeform 24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1" name="Freeform 25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2" name="Freeform 26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3" name="Freeform 27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4" name="Freeform 28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5" name="Freeform 29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6" name="Freeform 30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7" name="Freeform 31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8" name="Freeform 32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69" name="Freeform 33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0" name="Freeform 34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1" name="Freeform 35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2" name="Freeform 36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3" name="Freeform 37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4" name="Freeform 38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5" name="Freeform 39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6" name="Freeform 40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7" name="Freeform 41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8" name="Freeform 42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79" name="Freeform 43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0" name="Freeform 44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1" name="Freeform 45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2" name="Freeform 46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3" name="Freeform 47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4" name="Freeform 48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5" name="Freeform 49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6" name="Freeform 50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7" name="Freeform 51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8" name="Freeform 52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89" name="Freeform 53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0" name="Freeform 54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1" name="Freeform 55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2" name="Freeform 56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3" name="Freeform 57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4" name="Freeform 58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5" name="Freeform 59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6" name="Freeform 60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7" name="Freeform 61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8" name="Freeform 62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599" name="Freeform 63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65600" name="Group 64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65601" name="Freeform 65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2" name="Freeform 66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3" name="Freeform 67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4" name="Freeform 68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5" name="Freeform 69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6" name="Freeform 70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7" name="Freeform 71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8" name="Freeform 72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09" name="Freeform 73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0" name="Freeform 74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1" name="Freeform 75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2" name="Freeform 76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3" name="Freeform 77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4" name="Freeform 78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5" name="Freeform 79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6" name="Freeform 80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7" name="Freeform 81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8" name="Freeform 82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19" name="Freeform 83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0" name="Freeform 84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1" name="Freeform 85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2" name="Freeform 86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3" name="Freeform 87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4" name="Freeform 88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5" name="Freeform 89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6" name="Freeform 90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7" name="Freeform 91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8" name="Freeform 92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29" name="Freeform 93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0" name="Freeform 94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1" name="Freeform 95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2" name="Freeform 96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3" name="Freeform 97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4" name="Freeform 98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5" name="Freeform 99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6" name="Freeform 100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7" name="Freeform 101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8" name="Freeform 102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39" name="Freeform 103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40" name="Freeform 104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41" name="Freeform 105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5642" name="Freeform 106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65643" name="Group 107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65644" name="Line 108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45" name="Line 109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46" name="Line 110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47" name="Line 111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48" name="Line 112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49" name="Line 113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0" name="Line 114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1" name="Line 115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2" name="Line 116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3" name="Line 117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4" name="Line 118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5" name="Line 119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6" name="Line 120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7" name="Line 121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8" name="Line 122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59" name="Line 123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0" name="Line 124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1" name="Line 125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2" name="Line 126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3" name="Line 127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4" name="Line 128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65665" name="Group 129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65666" name="Line 130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7" name="Line 131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8" name="Line 132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69" name="Line 133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0" name="Line 134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1" name="Line 135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2" name="Line 136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3" name="Line 137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4" name="Line 138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5" name="Line 139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6" name="Line 140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7" name="Line 141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8" name="Line 142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79" name="Line 143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0" name="Line 144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1" name="Line 145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2" name="Line 146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3" name="Line 147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4" name="Line 148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5" name="Line 149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6" name="Line 150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7" name="Line 151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8" name="Line 152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89" name="Line 153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5690" name="Line 154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65691" name="Picture 155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89217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692" name="AutoShape 156"/>
          <p:cNvSpPr>
            <a:spLocks noChangeArrowheads="1"/>
          </p:cNvSpPr>
          <p:nvPr/>
        </p:nvSpPr>
        <p:spPr bwMode="auto">
          <a:xfrm>
            <a:off x="4427538" y="1411288"/>
            <a:ext cx="288925" cy="649287"/>
          </a:xfrm>
          <a:prstGeom prst="downArrow">
            <a:avLst>
              <a:gd name="adj1" fmla="val 50000"/>
              <a:gd name="adj2" fmla="val 56181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693" name="Rectangle 157"/>
          <p:cNvSpPr>
            <a:spLocks noChangeArrowheads="1"/>
          </p:cNvSpPr>
          <p:nvPr/>
        </p:nvSpPr>
        <p:spPr bwMode="auto">
          <a:xfrm>
            <a:off x="2051050" y="2058988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Байтларни  алмаштириш (Sub Bytes)</a:t>
            </a:r>
            <a:r>
              <a:rPr lang="ru-RU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5694" name="Rectangle 158"/>
          <p:cNvSpPr>
            <a:spLocks noChangeArrowheads="1"/>
          </p:cNvSpPr>
          <p:nvPr/>
        </p:nvSpPr>
        <p:spPr bwMode="auto">
          <a:xfrm>
            <a:off x="2051050" y="2781300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Ҳолат байтларини циклик суриш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(ShiftRows)</a:t>
            </a:r>
            <a:r>
              <a:rPr lang="ru-RU"/>
              <a:t> </a:t>
            </a:r>
          </a:p>
        </p:txBody>
      </p:sp>
      <p:sp>
        <p:nvSpPr>
          <p:cNvPr id="65696" name="Rectangle 160"/>
          <p:cNvSpPr>
            <a:spLocks noChangeArrowheads="1"/>
          </p:cNvSpPr>
          <p:nvPr/>
        </p:nvSpPr>
        <p:spPr bwMode="auto">
          <a:xfrm>
            <a:off x="2051050" y="4219575"/>
            <a:ext cx="5329238" cy="504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Раунд калитларини қўшиш(AddRoundKey)</a:t>
            </a:r>
            <a:r>
              <a:rPr lang="ru-RU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5697" name="AutoShape 161"/>
          <p:cNvSpPr>
            <a:spLocks noChangeArrowheads="1"/>
          </p:cNvSpPr>
          <p:nvPr/>
        </p:nvSpPr>
        <p:spPr bwMode="auto">
          <a:xfrm>
            <a:off x="4427538" y="2563813"/>
            <a:ext cx="288925" cy="2174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698" name="AutoShape 162"/>
          <p:cNvSpPr>
            <a:spLocks noChangeArrowheads="1"/>
          </p:cNvSpPr>
          <p:nvPr/>
        </p:nvSpPr>
        <p:spPr bwMode="auto">
          <a:xfrm>
            <a:off x="4427538" y="3284538"/>
            <a:ext cx="360362" cy="936625"/>
          </a:xfrm>
          <a:prstGeom prst="downArrow">
            <a:avLst>
              <a:gd name="adj1" fmla="val 50000"/>
              <a:gd name="adj2" fmla="val 64978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700" name="AutoShape 164"/>
          <p:cNvSpPr>
            <a:spLocks/>
          </p:cNvSpPr>
          <p:nvPr/>
        </p:nvSpPr>
        <p:spPr bwMode="auto">
          <a:xfrm rot="10800000">
            <a:off x="1476375" y="1989138"/>
            <a:ext cx="431800" cy="2735262"/>
          </a:xfrm>
          <a:prstGeom prst="rightBrace">
            <a:avLst>
              <a:gd name="adj1" fmla="val 52788"/>
              <a:gd name="adj2" fmla="val 50000"/>
            </a:avLst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701" name="AutoShape 165"/>
          <p:cNvSpPr>
            <a:spLocks noChangeArrowheads="1"/>
          </p:cNvSpPr>
          <p:nvPr/>
        </p:nvSpPr>
        <p:spPr bwMode="auto">
          <a:xfrm>
            <a:off x="4427538" y="4724400"/>
            <a:ext cx="288925" cy="936625"/>
          </a:xfrm>
          <a:prstGeom prst="down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703" name="Text Box 167"/>
          <p:cNvSpPr txBox="1">
            <a:spLocks noChangeArrowheads="1"/>
          </p:cNvSpPr>
          <p:nvPr/>
        </p:nvSpPr>
        <p:spPr bwMode="auto">
          <a:xfrm>
            <a:off x="3132138" y="1020763"/>
            <a:ext cx="2879725" cy="338554"/>
          </a:xfrm>
          <a:prstGeom prst="rect">
            <a:avLst/>
          </a:prstGeom>
          <a:solidFill>
            <a:srgbClr val="66FF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1600" b="1" i="1" dirty="0">
                <a:solidFill>
                  <a:schemeClr val="bg1"/>
                </a:solidFill>
                <a:cs typeface="Times New Roman" pitchFamily="18" charset="0"/>
              </a:rPr>
              <a:t>3,4,5,6,7,8,9 - раундлар</a:t>
            </a:r>
            <a:endParaRPr lang="ru-RU" sz="1600" b="1" i="1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5704" name="Text Box 168"/>
          <p:cNvSpPr txBox="1">
            <a:spLocks noChangeArrowheads="1"/>
          </p:cNvSpPr>
          <p:nvPr/>
        </p:nvSpPr>
        <p:spPr bwMode="auto">
          <a:xfrm>
            <a:off x="1258888" y="193675"/>
            <a:ext cx="7435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AES</a:t>
            </a:r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шифрлаш алгоритмининг шифрлаш жараёнининг блок схемаси.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705" name="Text Box 169"/>
          <p:cNvSpPr txBox="1">
            <a:spLocks noChangeArrowheads="1"/>
          </p:cNvSpPr>
          <p:nvPr/>
        </p:nvSpPr>
        <p:spPr bwMode="auto">
          <a:xfrm>
            <a:off x="250825" y="3140075"/>
            <a:ext cx="1169988" cy="392113"/>
          </a:xfrm>
          <a:prstGeom prst="rect">
            <a:avLst/>
          </a:prstGeom>
          <a:solidFill>
            <a:srgbClr val="66FF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b="1" i="1">
                <a:solidFill>
                  <a:schemeClr val="bg1"/>
                </a:solidFill>
                <a:cs typeface="Times New Roman" pitchFamily="18" charset="0"/>
              </a:rPr>
              <a:t>10-раунд</a:t>
            </a:r>
            <a:endParaRPr lang="ru-RU" b="1" i="1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5706" name="Rectangle 170"/>
          <p:cNvSpPr>
            <a:spLocks noChangeArrowheads="1"/>
          </p:cNvSpPr>
          <p:nvPr/>
        </p:nvSpPr>
        <p:spPr bwMode="auto">
          <a:xfrm>
            <a:off x="3059113" y="5661025"/>
            <a:ext cx="3024187" cy="360363"/>
          </a:xfrm>
          <a:prstGeom prst="rect">
            <a:avLst/>
          </a:prstGeom>
          <a:solidFill>
            <a:srgbClr val="FFFF00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Чиқиш блоки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707" name="AutoShape 17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101013" y="6308725"/>
            <a:ext cx="792162" cy="360363"/>
          </a:xfrm>
          <a:prstGeom prst="rightArrow">
            <a:avLst>
              <a:gd name="adj1" fmla="val 50000"/>
              <a:gd name="adj2" fmla="val 5495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708" name="AutoShape 17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0800000">
            <a:off x="7235825" y="6308725"/>
            <a:ext cx="792163" cy="360363"/>
          </a:xfrm>
          <a:prstGeom prst="rightArrow">
            <a:avLst>
              <a:gd name="adj1" fmla="val 50000"/>
              <a:gd name="adj2" fmla="val 5495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5709" name="Rectangle 173"/>
          <p:cNvSpPr>
            <a:spLocks noChangeArrowheads="1"/>
          </p:cNvSpPr>
          <p:nvPr/>
        </p:nvSpPr>
        <p:spPr bwMode="auto">
          <a:xfrm>
            <a:off x="4140200" y="1052513"/>
            <a:ext cx="93662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711" name="Rectangle 175"/>
          <p:cNvSpPr>
            <a:spLocks noChangeArrowheads="1"/>
          </p:cNvSpPr>
          <p:nvPr/>
        </p:nvSpPr>
        <p:spPr bwMode="auto">
          <a:xfrm>
            <a:off x="4140200" y="1700213"/>
            <a:ext cx="93662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656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5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5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5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 tmFilter="0,0; .5, 1; 1, 1"/>
                                        <p:tgtEl>
                                          <p:spTgt spid="6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7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6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5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56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5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5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56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56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5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5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5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6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5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56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5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5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56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56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5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5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5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57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5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5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5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57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5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5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5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57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5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5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5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57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5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5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0"/>
                                        <p:tgtEl>
                                          <p:spTgt spid="6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0"/>
                                        <p:tgtEl>
                                          <p:spTgt spid="6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6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09444 " pathEditMode="relative" ptsTypes="AA">
                                      <p:cBhvr>
                                        <p:cTn id="91" dur="2000" fill="hold"/>
                                        <p:tgtEl>
                                          <p:spTgt spid="657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65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 0.05417 L -0.06875 0.05417 L 0.06563 0.05417 L 0.0 0.05417 L 0.0 0.16042 L -0.0625 0.16042 L 0.06563 0.15833 L 0.0 0.16042 L 0.0 0.26458 L -0.06094 0.26667 L 0.05938 0.26458 L -0.00156 0.26667 L -0.00156 0.37083 L -0.06406 0.37292 L 0.05 0.36667 L 0.0 0.37292 L 0.0 0.575 " pathEditMode="relative" ptsTypes="AAAAAAAAAAAAAAAAAA">
                                      <p:cBhvr>
                                        <p:cTn id="101" dur="5000" fill="hold"/>
                                        <p:tgtEl>
                                          <p:spTgt spid="65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65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92" grpId="0" animBg="1"/>
      <p:bldP spid="65693" grpId="0" animBg="1"/>
      <p:bldP spid="65694" grpId="0" animBg="1"/>
      <p:bldP spid="65696" grpId="0" animBg="1"/>
      <p:bldP spid="65697" grpId="0" animBg="1"/>
      <p:bldP spid="65698" grpId="0" animBg="1"/>
      <p:bldP spid="65700" grpId="0" animBg="1"/>
      <p:bldP spid="65701" grpId="0" animBg="1"/>
      <p:bldP spid="65703" grpId="0" animBg="1"/>
      <p:bldP spid="65704" grpId="0"/>
      <p:bldP spid="65705" grpId="0" animBg="1"/>
      <p:bldP spid="65706" grpId="0" animBg="1"/>
      <p:bldP spid="65707" grpId="0" animBg="1"/>
      <p:bldP spid="65708" grpId="0" animBg="1"/>
      <p:bldP spid="65709" grpId="0" animBg="1"/>
      <p:bldP spid="65709" grpId="1" animBg="1"/>
      <p:bldP spid="65709" grpId="2" animBg="1"/>
      <p:bldP spid="65711" grpId="0" animBg="1"/>
      <p:bldP spid="65711" grpId="1" animBg="1"/>
      <p:bldP spid="65711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AutoShap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8101013" y="6453188"/>
            <a:ext cx="792162" cy="404812"/>
          </a:xfrm>
          <a:prstGeom prst="rightArrow">
            <a:avLst>
              <a:gd name="adj1" fmla="val 50000"/>
              <a:gd name="adj2" fmla="val 489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8373" name="AutoShap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0800000">
            <a:off x="7235825" y="6453188"/>
            <a:ext cx="792163" cy="404812"/>
          </a:xfrm>
          <a:prstGeom prst="rightArrow">
            <a:avLst>
              <a:gd name="adj1" fmla="val 50000"/>
              <a:gd name="adj2" fmla="val 489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58375" name="Group 7"/>
          <p:cNvGrpSpPr>
            <a:grpSpLocks/>
          </p:cNvGrpSpPr>
          <p:nvPr/>
        </p:nvGrpSpPr>
        <p:grpSpPr bwMode="auto">
          <a:xfrm>
            <a:off x="1060450" y="165100"/>
            <a:ext cx="7759700" cy="685800"/>
            <a:chOff x="664" y="104"/>
            <a:chExt cx="4848" cy="432"/>
          </a:xfrm>
        </p:grpSpPr>
        <p:sp>
          <p:nvSpPr>
            <p:cNvPr id="58376" name="Freeform 8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FFFF00"/>
            </a:solidFill>
            <a:ln w="254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58377" name="Group 9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58378" name="Group 10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58379" name="Freeform 11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0" name="Freeform 12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1" name="Freeform 13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2" name="Freeform 14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3" name="Freeform 15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4" name="Freeform 16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5" name="Freeform 17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6" name="Freeform 18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7" name="Freeform 19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8" name="Freeform 20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89" name="Freeform 21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0" name="Freeform 22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1" name="Freeform 23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2" name="Freeform 24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3" name="Freeform 25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4" name="Freeform 26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5" name="Freeform 27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6" name="Freeform 28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7" name="Freeform 29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8" name="Freeform 30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399" name="Freeform 31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0" name="Freeform 32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1" name="Freeform 33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2" name="Freeform 34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3" name="Freeform 35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4" name="Freeform 36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5" name="Freeform 37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6" name="Freeform 38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7" name="Freeform 39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8" name="Freeform 40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09" name="Freeform 41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0" name="Freeform 42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1" name="Freeform 43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2" name="Freeform 44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3" name="Freeform 45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4" name="Freeform 46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5" name="Freeform 47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6" name="Freeform 48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7" name="Freeform 49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8" name="Freeform 50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19" name="Freeform 51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0" name="Freeform 52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1" name="Freeform 53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2" name="Freeform 54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3" name="Freeform 55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4" name="Freeform 56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5" name="Freeform 57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6" name="Freeform 58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7" name="Freeform 59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8" name="Freeform 60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29" name="Freeform 61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0" name="Freeform 62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1" name="Freeform 63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2" name="Freeform 64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3" name="Freeform 65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4" name="Freeform 66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58435" name="Group 67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58436" name="Freeform 68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7" name="Freeform 69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8" name="Freeform 70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39" name="Freeform 71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0" name="Freeform 72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1" name="Freeform 73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2" name="Freeform 74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3" name="Freeform 75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4" name="Freeform 76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5" name="Freeform 77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6" name="Freeform 78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7" name="Freeform 79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8" name="Freeform 80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49" name="Freeform 81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0" name="Freeform 82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1" name="Freeform 83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2" name="Freeform 84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3" name="Freeform 85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4" name="Freeform 86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5" name="Freeform 87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6" name="Freeform 88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7" name="Freeform 89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8" name="Freeform 90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59" name="Freeform 91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0" name="Freeform 92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1" name="Freeform 93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2" name="Freeform 94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3" name="Freeform 95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4" name="Freeform 96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5" name="Freeform 97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6" name="Freeform 98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7" name="Freeform 99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8" name="Freeform 100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69" name="Freeform 101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0" name="Freeform 102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1" name="Freeform 103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2" name="Freeform 104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3" name="Freeform 105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4" name="Freeform 106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5" name="Freeform 107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6" name="Freeform 108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8477" name="Freeform 109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58478" name="Group 110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58479" name="Line 111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0" name="Line 112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1" name="Line 113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2" name="Line 114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3" name="Line 115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4" name="Line 116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5" name="Line 117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6" name="Line 118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7" name="Line 119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8" name="Line 120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89" name="Line 121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0" name="Line 122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1" name="Line 123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2" name="Line 124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3" name="Line 125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4" name="Line 126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5" name="Line 127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6" name="Line 128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7" name="Line 129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8" name="Line 130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499" name="Line 131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58500" name="Group 132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58501" name="Line 133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2" name="Line 134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3" name="Line 135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4" name="Line 136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5" name="Line 137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6" name="Line 138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7" name="Line 139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8" name="Line 140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09" name="Line 141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0" name="Line 142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1" name="Line 143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2" name="Line 144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3" name="Line 145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4" name="Line 146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5" name="Line 147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6" name="Line 148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7" name="Line 149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8" name="Line 150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19" name="Line 151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20" name="Line 152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21" name="Line 153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22" name="Line 154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23" name="Line 155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24" name="Line 156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8525" name="Line 157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58526" name="Picture 158" descr="eart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87313"/>
            <a:ext cx="91122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527" name="Text Box 159"/>
          <p:cNvSpPr txBox="1">
            <a:spLocks noChangeArrowheads="1"/>
          </p:cNvSpPr>
          <p:nvPr/>
        </p:nvSpPr>
        <p:spPr bwMode="auto">
          <a:xfrm>
            <a:off x="1271588" y="193675"/>
            <a:ext cx="74104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2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AES</a:t>
            </a:r>
            <a:r>
              <a:rPr lang="uz-Cyrl-UZ" sz="22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шифрлаш алгоритмининг раунд акслантиришлари.</a:t>
            </a:r>
            <a:endParaRPr lang="ru-RU" sz="2200" b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528" name="Text Box 160"/>
          <p:cNvSpPr txBox="1">
            <a:spLocks noChangeArrowheads="1"/>
          </p:cNvSpPr>
          <p:nvPr/>
        </p:nvSpPr>
        <p:spPr bwMode="auto">
          <a:xfrm>
            <a:off x="2103438" y="15716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uz-Cyrl-UZ"/>
          </a:p>
        </p:txBody>
      </p:sp>
      <p:sp>
        <p:nvSpPr>
          <p:cNvPr id="58530" name="Text Box 162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23850" y="1773238"/>
            <a:ext cx="84963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Sub Bytes( )</a:t>
            </a:r>
            <a:r>
              <a:rPr lang="ru-RU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 байтларни алмаштириш</a:t>
            </a:r>
            <a:endParaRPr lang="ru-RU" sz="24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531" name="Text Box 163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323850" y="3660775"/>
            <a:ext cx="84963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– устун элеменларини аралаштириш</a:t>
            </a:r>
            <a:endParaRPr lang="ru-RU" sz="24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532" name="Text Box 164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323850" y="2724150"/>
            <a:ext cx="84963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ShiftRows( )</a:t>
            </a:r>
            <a:r>
              <a:rPr lang="ru-RU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 ҳолат байтларини циклик суриш</a:t>
            </a:r>
            <a:endParaRPr lang="ru-RU" sz="24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533" name="Text Box 165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323850" y="4652963"/>
            <a:ext cx="84963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AddRoundKey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 раунд калитларини қўшиш</a:t>
            </a:r>
            <a:endParaRPr lang="ru-RU" sz="24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585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8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8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8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 tmFilter="0,0; .5, 1; 1, 1"/>
                                        <p:tgtEl>
                                          <p:spTgt spid="5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8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8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/>
      <p:bldP spid="58373" grpId="0" animBg="1"/>
      <p:bldP spid="58527" grpId="0"/>
      <p:bldP spid="58530" grpId="0" animBg="1"/>
      <p:bldP spid="58531" grpId="0" animBg="1"/>
      <p:bldP spid="58532" grpId="0" animBg="1"/>
      <p:bldP spid="585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3932238"/>
            <a:ext cx="3671888" cy="504825"/>
          </a:xfrm>
        </p:spPr>
        <p:txBody>
          <a:bodyPr/>
          <a:lstStyle/>
          <a:p>
            <a:pPr>
              <a:buFontTx/>
              <a:buNone/>
            </a:pPr>
            <a:r>
              <a:rPr lang="uz-Cyrl-UZ"/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aseline="-25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sz="2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aseline="-25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sz="2000" baseline="30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en-US" sz="2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 1 mod(x</a:t>
            </a:r>
            <a:r>
              <a:rPr lang="en-US" sz="2000" baseline="30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8</a:t>
            </a:r>
            <a:r>
              <a:rPr lang="en-US" sz="2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+x</a:t>
            </a:r>
            <a:r>
              <a:rPr lang="en-US" sz="2000" baseline="30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4</a:t>
            </a:r>
            <a:r>
              <a:rPr lang="en-US" sz="2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+x</a:t>
            </a:r>
            <a:r>
              <a:rPr lang="en-US" sz="2000" baseline="30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</a:t>
            </a:r>
            <a:r>
              <a:rPr lang="en-US" sz="200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+x+1)</a:t>
            </a:r>
          </a:p>
        </p:txBody>
      </p:sp>
      <p:grpSp>
        <p:nvGrpSpPr>
          <p:cNvPr id="59397" name="Group 5"/>
          <p:cNvGrpSpPr>
            <a:grpSpLocks/>
          </p:cNvGrpSpPr>
          <p:nvPr/>
        </p:nvGrpSpPr>
        <p:grpSpPr bwMode="auto">
          <a:xfrm>
            <a:off x="1060450" y="165100"/>
            <a:ext cx="7759700" cy="685800"/>
            <a:chOff x="664" y="104"/>
            <a:chExt cx="4848" cy="432"/>
          </a:xfrm>
        </p:grpSpPr>
        <p:sp>
          <p:nvSpPr>
            <p:cNvPr id="59398" name="Freeform 6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59399" name="Group 7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59400" name="Group 8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59401" name="Freeform 9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2" name="Freeform 10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3" name="Freeform 11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4" name="Freeform 12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5" name="Freeform 13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6" name="Freeform 14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7" name="Freeform 15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8" name="Freeform 16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09" name="Freeform 17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0" name="Freeform 18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1" name="Freeform 19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2" name="Freeform 20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3" name="Freeform 21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4" name="Freeform 22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5" name="Freeform 23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6" name="Freeform 24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7" name="Freeform 25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8" name="Freeform 26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19" name="Freeform 27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0" name="Freeform 28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1" name="Freeform 29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2" name="Freeform 30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3" name="Freeform 31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4" name="Freeform 32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5" name="Freeform 33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6" name="Freeform 34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7" name="Freeform 35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8" name="Freeform 36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29" name="Freeform 37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0" name="Freeform 38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1" name="Freeform 39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2" name="Freeform 40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3" name="Freeform 41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4" name="Freeform 42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5" name="Freeform 43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6" name="Freeform 44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7" name="Freeform 45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8" name="Freeform 46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39" name="Freeform 47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0" name="Freeform 48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1" name="Freeform 49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2" name="Freeform 50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3" name="Freeform 51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4" name="Freeform 52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5" name="Freeform 53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6" name="Freeform 54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7" name="Freeform 55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8" name="Freeform 56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49" name="Freeform 57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0" name="Freeform 58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1" name="Freeform 59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2" name="Freeform 60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3" name="Freeform 61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4" name="Freeform 62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5" name="Freeform 63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6" name="Freeform 64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59457" name="Group 65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59458" name="Freeform 66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59" name="Freeform 67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0" name="Freeform 68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1" name="Freeform 69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2" name="Freeform 70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3" name="Freeform 71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4" name="Freeform 72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5" name="Freeform 73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6" name="Freeform 74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7" name="Freeform 75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8" name="Freeform 76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69" name="Freeform 77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0" name="Freeform 78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1" name="Freeform 79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2" name="Freeform 80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3" name="Freeform 81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4" name="Freeform 82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5" name="Freeform 83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6" name="Freeform 84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7" name="Freeform 85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8" name="Freeform 86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79" name="Freeform 87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0" name="Freeform 88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1" name="Freeform 89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2" name="Freeform 90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3" name="Freeform 91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4" name="Freeform 92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5" name="Freeform 93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6" name="Freeform 94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7" name="Freeform 95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8" name="Freeform 96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89" name="Freeform 97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0" name="Freeform 98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1" name="Freeform 99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2" name="Freeform 100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3" name="Freeform 101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4" name="Freeform 102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5" name="Freeform 103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6" name="Freeform 104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7" name="Freeform 105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8" name="Freeform 106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59499" name="Freeform 107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59500" name="Group 108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59501" name="Line 109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2" name="Line 110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3" name="Line 111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4" name="Line 112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5" name="Line 113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6" name="Line 114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7" name="Line 115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8" name="Line 116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09" name="Line 117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0" name="Line 118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1" name="Line 119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2" name="Line 120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3" name="Line 121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4" name="Line 122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5" name="Line 123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6" name="Line 124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7" name="Line 125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8" name="Line 126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19" name="Line 127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0" name="Line 128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1" name="Line 129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59522" name="Group 130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59523" name="Line 131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4" name="Line 132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5" name="Line 133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6" name="Line 134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7" name="Line 135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8" name="Line 136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29" name="Line 137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0" name="Line 138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1" name="Line 139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2" name="Line 140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3" name="Line 141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4" name="Line 142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5" name="Line 143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6" name="Line 144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7" name="Line 145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8" name="Line 146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39" name="Line 147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0" name="Line 148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1" name="Line 149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2" name="Line 150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3" name="Line 151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4" name="Line 152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5" name="Line 153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6" name="Line 154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59547" name="Line 155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59548" name="Picture 156" descr="eart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900112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551" name="Text Box 159"/>
          <p:cNvSpPr txBox="1">
            <a:spLocks noChangeArrowheads="1"/>
          </p:cNvSpPr>
          <p:nvPr/>
        </p:nvSpPr>
        <p:spPr bwMode="auto">
          <a:xfrm>
            <a:off x="2555875" y="260350"/>
            <a:ext cx="51800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 Bytes( )</a:t>
            </a:r>
            <a:r>
              <a:rPr lang="ru-RU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 байтларни алмаштириш.</a:t>
            </a:r>
            <a:endParaRPr lang="ru-RU" sz="22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553" name="Text Box 161"/>
          <p:cNvSpPr txBox="1">
            <a:spLocks noChangeArrowheads="1"/>
          </p:cNvSpPr>
          <p:nvPr/>
        </p:nvSpPr>
        <p:spPr bwMode="auto">
          <a:xfrm>
            <a:off x="684213" y="4700588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b=s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sz="2400" baseline="30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-1</a:t>
            </a:r>
            <a:endParaRPr lang="ru-RU" sz="24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554" name="Text Box 162"/>
          <p:cNvSpPr txBox="1">
            <a:spLocks noChangeArrowheads="1"/>
          </p:cNvSpPr>
          <p:nvPr/>
        </p:nvSpPr>
        <p:spPr bwMode="auto">
          <a:xfrm>
            <a:off x="2663825" y="4627563"/>
            <a:ext cx="2725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Cb+c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(mod x</a:t>
            </a:r>
            <a:r>
              <a:rPr lang="en-US" sz="2400" baseline="30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+1)=b'</a:t>
            </a:r>
            <a:endParaRPr lang="ru-RU" sz="24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9555" name="Object 163"/>
          <p:cNvGraphicFramePr>
            <a:graphicFrameLocks noChangeAspect="1"/>
          </p:cNvGraphicFramePr>
          <p:nvPr/>
        </p:nvGraphicFramePr>
        <p:xfrm>
          <a:off x="5867400" y="3427413"/>
          <a:ext cx="3097213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83" name="Формула" r:id="rId5" imgW="2273040" imgH="2031840" progId="Equation.3">
                  <p:embed/>
                </p:oleObj>
              </mc:Choice>
              <mc:Fallback>
                <p:oleObj name="Формула" r:id="rId5" imgW="2273040" imgH="2031840" progId="Equation.3">
                  <p:embed/>
                  <p:pic>
                    <p:nvPicPr>
                      <p:cNvPr id="0" name="Object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427413"/>
                        <a:ext cx="3097213" cy="201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557" name="Object 165"/>
          <p:cNvGraphicFramePr>
            <a:graphicFrameLocks noChangeAspect="1"/>
          </p:cNvGraphicFramePr>
          <p:nvPr/>
        </p:nvGraphicFramePr>
        <p:xfrm>
          <a:off x="684213" y="5324475"/>
          <a:ext cx="75977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84" name="Формула" r:id="rId7" imgW="3314520" imgH="241200" progId="Equation.3">
                  <p:embed/>
                </p:oleObj>
              </mc:Choice>
              <mc:Fallback>
                <p:oleObj name="Формула" r:id="rId7" imgW="3314520" imgH="241200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24475"/>
                        <a:ext cx="75977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559" name="Text Box 167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04813" y="5954713"/>
            <a:ext cx="8035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Самарадорликни ошириш мақсадида қуйидаги жадвалдан фойдаланилган.</a:t>
            </a:r>
            <a:endParaRPr lang="ru-RU" b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561" name="AutoShape 169">
            <a:hlinkClick r:id="rId10" action="ppaction://hlinksldjump"/>
          </p:cNvPr>
          <p:cNvSpPr>
            <a:spLocks noChangeArrowheads="1"/>
          </p:cNvSpPr>
          <p:nvPr/>
        </p:nvSpPr>
        <p:spPr bwMode="auto">
          <a:xfrm rot="10800000">
            <a:off x="8172450" y="6453188"/>
            <a:ext cx="792163" cy="404812"/>
          </a:xfrm>
          <a:prstGeom prst="rightArrow">
            <a:avLst>
              <a:gd name="adj1" fmla="val 50000"/>
              <a:gd name="adj2" fmla="val 489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59562" name="Text Box 170"/>
          <p:cNvSpPr txBox="1">
            <a:spLocks noChangeArrowheads="1"/>
          </p:cNvSpPr>
          <p:nvPr/>
        </p:nvSpPr>
        <p:spPr bwMode="auto">
          <a:xfrm>
            <a:off x="5381625" y="4581525"/>
            <a:ext cx="48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sz="2400" b="1">
                <a:solidFill>
                  <a:srgbClr val="000000"/>
                </a:solidFill>
                <a:sym typeface="Symbol" pitchFamily="18" charset="2"/>
              </a:rPr>
              <a:t></a:t>
            </a:r>
          </a:p>
        </p:txBody>
      </p:sp>
      <p:graphicFrame>
        <p:nvGraphicFramePr>
          <p:cNvPr id="59651" name="Group 259"/>
          <p:cNvGraphicFramePr>
            <a:graphicFrameLocks noGrp="1"/>
          </p:cNvGraphicFramePr>
          <p:nvPr/>
        </p:nvGraphicFramePr>
        <p:xfrm>
          <a:off x="5580063" y="1052513"/>
          <a:ext cx="2266950" cy="2016125"/>
        </p:xfrm>
        <a:graphic>
          <a:graphicData uri="http://schemas.openxmlformats.org/drawingml/2006/table">
            <a:tbl>
              <a:tblPr/>
              <a:tblGrid>
                <a:gridCol w="568325"/>
                <a:gridCol w="565150"/>
                <a:gridCol w="565150"/>
                <a:gridCol w="568325"/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9673" name="Group 281"/>
          <p:cNvGraphicFramePr>
            <a:graphicFrameLocks noGrp="1"/>
          </p:cNvGraphicFramePr>
          <p:nvPr/>
        </p:nvGraphicFramePr>
        <p:xfrm>
          <a:off x="971550" y="1058863"/>
          <a:ext cx="2305050" cy="2009776"/>
        </p:xfrm>
        <a:graphic>
          <a:graphicData uri="http://schemas.openxmlformats.org/drawingml/2006/table">
            <a:tbl>
              <a:tblPr/>
              <a:tblGrid>
                <a:gridCol w="577850"/>
                <a:gridCol w="574675"/>
                <a:gridCol w="574675"/>
                <a:gridCol w="577850"/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617" name="Text Box 225"/>
          <p:cNvSpPr txBox="1">
            <a:spLocks noChangeArrowheads="1"/>
          </p:cNvSpPr>
          <p:nvPr/>
        </p:nvSpPr>
        <p:spPr bwMode="auto">
          <a:xfrm>
            <a:off x="3587750" y="1355725"/>
            <a:ext cx="17049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uz-Cyrl-UZ" sz="2400" b="1">
                <a:solidFill>
                  <a:schemeClr val="bg1"/>
                </a:solidFill>
              </a:rPr>
              <a:t>Sub Bytes</a:t>
            </a:r>
            <a:endParaRPr lang="ru-RU" sz="2400" b="1">
              <a:solidFill>
                <a:schemeClr val="bg1"/>
              </a:solidFill>
            </a:endParaRPr>
          </a:p>
        </p:txBody>
      </p:sp>
      <p:graphicFrame>
        <p:nvGraphicFramePr>
          <p:cNvPr id="59653" name="Group 261"/>
          <p:cNvGraphicFramePr>
            <a:graphicFrameLocks noGrp="1"/>
          </p:cNvGraphicFramePr>
          <p:nvPr/>
        </p:nvGraphicFramePr>
        <p:xfrm>
          <a:off x="6372225" y="1700213"/>
          <a:ext cx="720725" cy="630238"/>
        </p:xfrm>
        <a:graphic>
          <a:graphicData uri="http://schemas.openxmlformats.org/drawingml/2006/table">
            <a:tbl>
              <a:tblPr/>
              <a:tblGrid>
                <a:gridCol w="720725"/>
              </a:tblGrid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ij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652" name="Group 260"/>
          <p:cNvGraphicFramePr>
            <a:graphicFrameLocks noGrp="1"/>
          </p:cNvGraphicFramePr>
          <p:nvPr/>
        </p:nvGraphicFramePr>
        <p:xfrm>
          <a:off x="1763713" y="1700213"/>
          <a:ext cx="720725" cy="630238"/>
        </p:xfrm>
        <a:graphic>
          <a:graphicData uri="http://schemas.openxmlformats.org/drawingml/2006/table">
            <a:tbl>
              <a:tblPr/>
              <a:tblGrid>
                <a:gridCol w="720725"/>
              </a:tblGrid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ij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  <p:sp>
        <p:nvSpPr>
          <p:cNvPr id="59642" name="Line 250"/>
          <p:cNvSpPr>
            <a:spLocks noChangeShapeType="1"/>
          </p:cNvSpPr>
          <p:nvPr/>
        </p:nvSpPr>
        <p:spPr bwMode="auto">
          <a:xfrm flipV="1">
            <a:off x="2484438" y="1557338"/>
            <a:ext cx="1150937" cy="431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54" name="Line 262"/>
          <p:cNvSpPr>
            <a:spLocks noChangeShapeType="1"/>
          </p:cNvSpPr>
          <p:nvPr/>
        </p:nvSpPr>
        <p:spPr bwMode="auto">
          <a:xfrm>
            <a:off x="5292725" y="1557338"/>
            <a:ext cx="1079500" cy="431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59" name="Rectangle 267"/>
          <p:cNvSpPr>
            <a:spLocks noChangeArrowheads="1"/>
          </p:cNvSpPr>
          <p:nvPr/>
        </p:nvSpPr>
        <p:spPr bwMode="auto">
          <a:xfrm>
            <a:off x="3708400" y="2349500"/>
            <a:ext cx="1368425" cy="576263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uz-Cyrl-UZ" sz="2000" b="1">
                <a:solidFill>
                  <a:srgbClr val="FF0000"/>
                </a:solidFill>
                <a:cs typeface="Times New Roman" pitchFamily="18" charset="0"/>
              </a:rPr>
              <a:t>Мисол  </a:t>
            </a:r>
            <a:r>
              <a:rPr lang="uz-Cyrl-UZ" sz="2000" b="1">
                <a:solidFill>
                  <a:srgbClr val="FF0000"/>
                </a:solidFill>
                <a:cs typeface="Times New Roman" pitchFamily="18" charset="0"/>
                <a:sym typeface="Wingdings 2" pitchFamily="18" charset="2"/>
              </a:rPr>
              <a:t></a:t>
            </a:r>
            <a:r>
              <a:rPr lang="uz-Cyrl-UZ" sz="2000" b="1">
                <a:solidFill>
                  <a:srgbClr val="FF0000"/>
                </a:solidFill>
                <a:cs typeface="Times New Roman" pitchFamily="18" charset="0"/>
              </a:rPr>
              <a:t> </a:t>
            </a:r>
            <a:endParaRPr lang="ru-RU" sz="2000" b="1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59661" name="Rectangle 269"/>
          <p:cNvSpPr>
            <a:spLocks noChangeArrowheads="1"/>
          </p:cNvSpPr>
          <p:nvPr/>
        </p:nvSpPr>
        <p:spPr bwMode="auto">
          <a:xfrm>
            <a:off x="4067175" y="1341438"/>
            <a:ext cx="576263" cy="503237"/>
          </a:xfrm>
          <a:prstGeom prst="rect">
            <a:avLst/>
          </a:prstGeom>
          <a:solidFill>
            <a:srgbClr val="FF0000"/>
          </a:solidFill>
          <a:ln w="3175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S'</a:t>
            </a:r>
            <a:r>
              <a:rPr lang="en-US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  <a:endParaRPr lang="ru-RU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9663" name="Rectangle 271"/>
          <p:cNvSpPr>
            <a:spLocks noChangeArrowheads="1"/>
          </p:cNvSpPr>
          <p:nvPr/>
        </p:nvSpPr>
        <p:spPr bwMode="auto">
          <a:xfrm>
            <a:off x="971550" y="1052513"/>
            <a:ext cx="576263" cy="504825"/>
          </a:xfrm>
          <a:prstGeom prst="rect">
            <a:avLst/>
          </a:prstGeom>
          <a:solidFill>
            <a:srgbClr val="FFFF00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  <a:endParaRPr lang="ru-RU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9664" name="Rectangle 272"/>
          <p:cNvSpPr>
            <a:spLocks noChangeArrowheads="1"/>
          </p:cNvSpPr>
          <p:nvPr/>
        </p:nvSpPr>
        <p:spPr bwMode="auto">
          <a:xfrm>
            <a:off x="179388" y="3284538"/>
            <a:ext cx="4535487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Кириш массив элементлари - 1 байтдан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665" name="Line 273"/>
          <p:cNvSpPr>
            <a:spLocks noChangeShapeType="1"/>
          </p:cNvSpPr>
          <p:nvPr/>
        </p:nvSpPr>
        <p:spPr bwMode="auto">
          <a:xfrm flipV="1">
            <a:off x="323850" y="1916113"/>
            <a:ext cx="719138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67" name="Line 275"/>
          <p:cNvSpPr>
            <a:spLocks noChangeShapeType="1"/>
          </p:cNvSpPr>
          <p:nvPr/>
        </p:nvSpPr>
        <p:spPr bwMode="auto">
          <a:xfrm flipV="1">
            <a:off x="684213" y="2492375"/>
            <a:ext cx="4318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68" name="Line 276"/>
          <p:cNvSpPr>
            <a:spLocks noChangeShapeType="1"/>
          </p:cNvSpPr>
          <p:nvPr/>
        </p:nvSpPr>
        <p:spPr bwMode="auto">
          <a:xfrm flipH="1" flipV="1">
            <a:off x="1331913" y="29972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69" name="Line 277"/>
          <p:cNvSpPr>
            <a:spLocks noChangeShapeType="1"/>
          </p:cNvSpPr>
          <p:nvPr/>
        </p:nvSpPr>
        <p:spPr bwMode="auto">
          <a:xfrm flipV="1">
            <a:off x="1908175" y="29972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70" name="Line 278"/>
          <p:cNvSpPr>
            <a:spLocks noChangeShapeType="1"/>
          </p:cNvSpPr>
          <p:nvPr/>
        </p:nvSpPr>
        <p:spPr bwMode="auto">
          <a:xfrm flipV="1">
            <a:off x="2411413" y="29972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71" name="Line 279"/>
          <p:cNvSpPr>
            <a:spLocks noChangeShapeType="1"/>
          </p:cNvSpPr>
          <p:nvPr/>
        </p:nvSpPr>
        <p:spPr bwMode="auto">
          <a:xfrm flipH="1" flipV="1">
            <a:off x="3059113" y="2492375"/>
            <a:ext cx="217487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72" name="Line 280"/>
          <p:cNvSpPr>
            <a:spLocks noChangeShapeType="1"/>
          </p:cNvSpPr>
          <p:nvPr/>
        </p:nvSpPr>
        <p:spPr bwMode="auto">
          <a:xfrm flipH="1" flipV="1">
            <a:off x="2843213" y="29972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9674" name="Text Box 282">
            <a:hlinkClick r:id="rId11" action="ppaction://hlinksldjump"/>
          </p:cNvPr>
          <p:cNvSpPr txBox="1">
            <a:spLocks noChangeArrowheads="1"/>
          </p:cNvSpPr>
          <p:nvPr/>
        </p:nvSpPr>
        <p:spPr bwMode="auto">
          <a:xfrm>
            <a:off x="3563938" y="6491288"/>
            <a:ext cx="7921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uz-Cyrl-UZ" sz="1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Word()</a:t>
            </a:r>
            <a:r>
              <a:rPr lang="uz-Cyrl-UZ"/>
              <a:t> 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595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9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9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1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6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96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9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9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2" dur="80"/>
                                        <p:tgtEl>
                                          <p:spTgt spid="595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3" dur="80"/>
                                        <p:tgtEl>
                                          <p:spTgt spid="595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80"/>
                                        <p:tgtEl>
                                          <p:spTgt spid="595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5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394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1 0.10625 L 0.25156 0.04167 L 0.34062 0.04375 " pathEditMode="relative" ptsTypes="AAAA">
                                      <p:cBhvr>
                                        <p:cTn id="109" dur="2000" fill="hold"/>
                                        <p:tgtEl>
                                          <p:spTgt spid="59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596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10781 -0.00416 L 0.26406 0.0625 L 0.16563 -0.04375 " pathEditMode="relative" ptsTypes="AAAA">
                                      <p:cBhvr>
                                        <p:cTn id="119" dur="2000" fill="hold"/>
                                        <p:tgtEl>
                                          <p:spTgt spid="59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2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59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  <p:bldP spid="59551" grpId="0"/>
      <p:bldP spid="59553" grpId="0"/>
      <p:bldP spid="59554" grpId="0"/>
      <p:bldP spid="59559" grpId="0"/>
      <p:bldP spid="59561" grpId="0" animBg="1"/>
      <p:bldP spid="59562" grpId="0"/>
      <p:bldP spid="59617" grpId="0" animBg="1"/>
      <p:bldP spid="59642" grpId="0" animBg="1"/>
      <p:bldP spid="59654" grpId="0" animBg="1"/>
      <p:bldP spid="59659" grpId="0" animBg="1"/>
      <p:bldP spid="59661" grpId="0" animBg="1"/>
      <p:bldP spid="59661" grpId="1" animBg="1"/>
      <p:bldP spid="59661" grpId="2" animBg="1"/>
      <p:bldP spid="59663" grpId="0" animBg="1"/>
      <p:bldP spid="59663" grpId="1" animBg="1"/>
      <p:bldP spid="59663" grpId="2" animBg="1"/>
      <p:bldP spid="59664" grpId="0" animBg="1"/>
      <p:bldP spid="59665" grpId="0" animBg="1"/>
      <p:bldP spid="59667" grpId="0" animBg="1"/>
      <p:bldP spid="59668" grpId="0" animBg="1"/>
      <p:bldP spid="59669" grpId="0" animBg="1"/>
      <p:bldP spid="59670" grpId="0" animBg="1"/>
      <p:bldP spid="59671" grpId="0" animBg="1"/>
      <p:bldP spid="596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3399FF">
                <a:gamma/>
                <a:shade val="46275"/>
                <a:invGamma/>
              </a:srgbClr>
            </a:gs>
            <a:gs pos="100000">
              <a:srgbClr val="3399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692" name="Group 2036"/>
          <p:cNvGraphicFramePr>
            <a:graphicFrameLocks noGrp="1"/>
          </p:cNvGraphicFramePr>
          <p:nvPr>
            <p:ph idx="1"/>
          </p:nvPr>
        </p:nvGraphicFramePr>
        <p:xfrm>
          <a:off x="323850" y="404813"/>
          <a:ext cx="8316913" cy="5903916"/>
        </p:xfrm>
        <a:graphic>
          <a:graphicData uri="http://schemas.openxmlformats.org/drawingml/2006/table">
            <a:tbl>
              <a:tblPr/>
              <a:tblGrid>
                <a:gridCol w="488950"/>
                <a:gridCol w="488950"/>
                <a:gridCol w="490538"/>
                <a:gridCol w="488950"/>
                <a:gridCol w="488950"/>
                <a:gridCol w="488950"/>
                <a:gridCol w="490537"/>
                <a:gridCol w="488950"/>
                <a:gridCol w="487363"/>
                <a:gridCol w="488950"/>
                <a:gridCol w="490537"/>
                <a:gridCol w="488950"/>
                <a:gridCol w="488950"/>
                <a:gridCol w="488950"/>
                <a:gridCol w="490538"/>
                <a:gridCol w="488950"/>
                <a:gridCol w="488950"/>
              </a:tblGrid>
              <a:tr h="327025">
                <a:tc rowSpan="2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                                                                                Y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  <a:tr h="327025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99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0f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66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694" name="AutoShape 2038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0800000">
            <a:off x="8172450" y="6453188"/>
            <a:ext cx="792163" cy="404812"/>
          </a:xfrm>
          <a:prstGeom prst="rightArrow">
            <a:avLst>
              <a:gd name="adj1" fmla="val 50000"/>
              <a:gd name="adj2" fmla="val 4892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9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21" name="Group 505"/>
          <p:cNvGrpSpPr>
            <a:grpSpLocks/>
          </p:cNvGrpSpPr>
          <p:nvPr/>
        </p:nvGrpSpPr>
        <p:grpSpPr bwMode="auto">
          <a:xfrm>
            <a:off x="1060450" y="165100"/>
            <a:ext cx="7759700" cy="685800"/>
            <a:chOff x="664" y="104"/>
            <a:chExt cx="4848" cy="432"/>
          </a:xfrm>
        </p:grpSpPr>
        <p:sp>
          <p:nvSpPr>
            <p:cNvPr id="60922" name="Freeform 506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60923" name="Group 507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60924" name="Group 508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60925" name="Freeform 509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26" name="Freeform 510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27" name="Freeform 511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28" name="Freeform 512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29" name="Freeform 513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0" name="Freeform 514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1" name="Freeform 515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2" name="Freeform 516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3" name="Freeform 517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4" name="Freeform 518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5" name="Freeform 519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6" name="Freeform 520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7" name="Freeform 521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8" name="Freeform 522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39" name="Freeform 523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0" name="Freeform 524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1" name="Freeform 525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2" name="Freeform 526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3" name="Freeform 527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4" name="Freeform 528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5" name="Freeform 529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6" name="Freeform 530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7" name="Freeform 531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8" name="Freeform 532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49" name="Freeform 533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0" name="Freeform 534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1" name="Freeform 535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2" name="Freeform 536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3" name="Freeform 537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4" name="Freeform 538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5" name="Freeform 539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6" name="Freeform 540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7" name="Freeform 541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8" name="Freeform 542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59" name="Freeform 543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0" name="Freeform 544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1" name="Freeform 545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2" name="Freeform 546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3" name="Freeform 547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4" name="Freeform 548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5" name="Freeform 549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6" name="Freeform 550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7" name="Freeform 551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8" name="Freeform 552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69" name="Freeform 553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0" name="Freeform 554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1" name="Freeform 555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2" name="Freeform 556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3" name="Freeform 557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4" name="Freeform 558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5" name="Freeform 559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6" name="Freeform 560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7" name="Freeform 561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8" name="Freeform 562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79" name="Freeform 563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0" name="Freeform 564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60981" name="Group 565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60982" name="Freeform 566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3" name="Freeform 567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4" name="Freeform 568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5" name="Freeform 569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6" name="Freeform 570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7" name="Freeform 571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8" name="Freeform 572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89" name="Freeform 573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0" name="Freeform 574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1" name="Freeform 575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2" name="Freeform 576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3" name="Freeform 577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4" name="Freeform 578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5" name="Freeform 579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6" name="Freeform 580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7" name="Freeform 581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8" name="Freeform 582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0999" name="Freeform 583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0" name="Freeform 584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1" name="Freeform 585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2" name="Freeform 586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3" name="Freeform 587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4" name="Freeform 588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5" name="Freeform 589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6" name="Freeform 590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7" name="Freeform 591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8" name="Freeform 592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09" name="Freeform 593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0" name="Freeform 594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1" name="Freeform 595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2" name="Freeform 596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3" name="Freeform 597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4" name="Freeform 598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5" name="Freeform 599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6" name="Freeform 600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7" name="Freeform 601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8" name="Freeform 602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19" name="Freeform 603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20" name="Freeform 604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21" name="Freeform 605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22" name="Freeform 606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023" name="Freeform 607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61024" name="Group 608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61025" name="Line 609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26" name="Line 610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27" name="Line 611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28" name="Line 612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29" name="Line 613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0" name="Line 614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1" name="Line 615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2" name="Line 616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3" name="Line 617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4" name="Line 618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5" name="Line 619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6" name="Line 620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7" name="Line 621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8" name="Line 622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39" name="Line 623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0" name="Line 624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1" name="Line 625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2" name="Line 626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3" name="Line 627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4" name="Line 628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5" name="Line 629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61046" name="Group 630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61047" name="Line 631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8" name="Line 632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49" name="Line 633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0" name="Line 634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1" name="Line 635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2" name="Line 636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3" name="Line 637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4" name="Line 638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5" name="Line 639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6" name="Line 640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7" name="Line 641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8" name="Line 642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59" name="Line 643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0" name="Line 644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1" name="Line 645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2" name="Line 646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3" name="Line 647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4" name="Line 648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5" name="Line 649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6" name="Line 650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7" name="Line 651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8" name="Line 652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69" name="Line 653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70" name="Line 654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071" name="Line 655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60572" name="Picture 156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900112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573" name="Text Box 157"/>
          <p:cNvSpPr txBox="1">
            <a:spLocks noChangeArrowheads="1"/>
          </p:cNvSpPr>
          <p:nvPr/>
        </p:nvSpPr>
        <p:spPr bwMode="auto">
          <a:xfrm>
            <a:off x="2255838" y="215900"/>
            <a:ext cx="5700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ShiftRows( )</a:t>
            </a:r>
            <a:r>
              <a:rPr lang="ru-RU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 қатор бўйича циклик суриш</a:t>
            </a:r>
            <a:r>
              <a:rPr lang="ru-RU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0794" name="Group 378"/>
          <p:cNvGraphicFramePr>
            <a:graphicFrameLocks noGrp="1"/>
          </p:cNvGraphicFramePr>
          <p:nvPr>
            <p:ph sz="quarter" idx="1"/>
          </p:nvPr>
        </p:nvGraphicFramePr>
        <p:xfrm>
          <a:off x="2916238" y="981075"/>
          <a:ext cx="2670175" cy="1097280"/>
        </p:xfrm>
        <a:graphic>
          <a:graphicData uri="http://schemas.openxmlformats.org/drawingml/2006/table">
            <a:tbl>
              <a:tblPr/>
              <a:tblGrid>
                <a:gridCol w="617537"/>
                <a:gridCol w="411163"/>
                <a:gridCol w="411162"/>
                <a:gridCol w="411163"/>
                <a:gridCol w="409575"/>
                <a:gridCol w="409575"/>
              </a:tblGrid>
              <a:tr h="144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l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</a:t>
                      </a:r>
                      <a:r>
                        <a:rPr kumimoji="0" lang="en-US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</a:t>
                      </a:r>
                      <a:r>
                        <a:rPr kumimoji="0" lang="en-US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</a:t>
                      </a:r>
                      <a:r>
                        <a:rPr kumimoji="0" lang="en-US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</a:t>
                      </a:r>
                      <a:r>
                        <a:rPr kumimoji="0" lang="en-US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</a:t>
                      </a:r>
                      <a:r>
                        <a:rPr kumimoji="0" lang="en-US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128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4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192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6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256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8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4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765" name="Group 349"/>
          <p:cNvGraphicFramePr>
            <a:graphicFrameLocks noGrp="1"/>
          </p:cNvGraphicFramePr>
          <p:nvPr>
            <p:ph sz="quarter" idx="2"/>
          </p:nvPr>
        </p:nvGraphicFramePr>
        <p:xfrm>
          <a:off x="250825" y="2349500"/>
          <a:ext cx="2735263" cy="2232025"/>
        </p:xfrm>
        <a:graphic>
          <a:graphicData uri="http://schemas.openxmlformats.org/drawingml/2006/table">
            <a:tbl>
              <a:tblPr/>
              <a:tblGrid>
                <a:gridCol w="684213"/>
                <a:gridCol w="684212"/>
                <a:gridCol w="682625"/>
                <a:gridCol w="684213"/>
              </a:tblGrid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763" name="Group 347"/>
          <p:cNvGraphicFramePr>
            <a:graphicFrameLocks noGrp="1"/>
          </p:cNvGraphicFramePr>
          <p:nvPr>
            <p:ph sz="quarter" idx="3"/>
          </p:nvPr>
        </p:nvGraphicFramePr>
        <p:xfrm>
          <a:off x="6146800" y="2349500"/>
          <a:ext cx="2746375" cy="2232026"/>
        </p:xfrm>
        <a:graphic>
          <a:graphicData uri="http://schemas.openxmlformats.org/drawingml/2006/table">
            <a:tbl>
              <a:tblPr/>
              <a:tblGrid>
                <a:gridCol w="687388"/>
                <a:gridCol w="685800"/>
                <a:gridCol w="685800"/>
                <a:gridCol w="687387"/>
              </a:tblGrid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766" name="AutoShape 350"/>
          <p:cNvSpPr>
            <a:spLocks noChangeArrowheads="1"/>
          </p:cNvSpPr>
          <p:nvPr/>
        </p:nvSpPr>
        <p:spPr bwMode="auto">
          <a:xfrm>
            <a:off x="2987675" y="3068638"/>
            <a:ext cx="3168650" cy="863600"/>
          </a:xfrm>
          <a:prstGeom prst="rightArrow">
            <a:avLst>
              <a:gd name="adj1" fmla="val 50000"/>
              <a:gd name="adj2" fmla="val 9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0767" name="Text Box 351"/>
          <p:cNvSpPr txBox="1">
            <a:spLocks noChangeArrowheads="1"/>
          </p:cNvSpPr>
          <p:nvPr/>
        </p:nvSpPr>
        <p:spPr bwMode="auto">
          <a:xfrm>
            <a:off x="3484563" y="3259138"/>
            <a:ext cx="166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Shift Rows</a:t>
            </a:r>
            <a:r>
              <a:rPr lang="en-US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768" name="AutoShape 35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0800000">
            <a:off x="8027988" y="6453188"/>
            <a:ext cx="936625" cy="360362"/>
          </a:xfrm>
          <a:prstGeom prst="rightArrow">
            <a:avLst>
              <a:gd name="adj1" fmla="val 50000"/>
              <a:gd name="adj2" fmla="val 649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aphicFrame>
        <p:nvGraphicFramePr>
          <p:cNvPr id="60795" name="Group 379"/>
          <p:cNvGraphicFramePr>
            <a:graphicFrameLocks noGrp="1"/>
          </p:cNvGraphicFramePr>
          <p:nvPr/>
        </p:nvGraphicFramePr>
        <p:xfrm>
          <a:off x="6443663" y="2565400"/>
          <a:ext cx="2376487" cy="1800226"/>
        </p:xfrm>
        <a:graphic>
          <a:graphicData uri="http://schemas.openxmlformats.org/drawingml/2006/table">
            <a:tbl>
              <a:tblPr/>
              <a:tblGrid>
                <a:gridCol w="595312"/>
                <a:gridCol w="593725"/>
                <a:gridCol w="592138"/>
                <a:gridCol w="595312"/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826" name="Rectangle 410"/>
          <p:cNvSpPr>
            <a:spLocks noChangeArrowheads="1"/>
          </p:cNvSpPr>
          <p:nvPr/>
        </p:nvSpPr>
        <p:spPr bwMode="auto">
          <a:xfrm>
            <a:off x="6084888" y="1341438"/>
            <a:ext cx="2808287" cy="57626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uz-Cyrl-UZ" sz="2000" b="1">
                <a:solidFill>
                  <a:srgbClr val="FF0000"/>
                </a:solidFill>
                <a:cs typeface="Times New Roman" pitchFamily="18" charset="0"/>
              </a:rPr>
              <a:t>Тасвирий ифода    </a:t>
            </a:r>
            <a:r>
              <a:rPr lang="uz-Cyrl-UZ" sz="2000" b="1">
                <a:solidFill>
                  <a:srgbClr val="FF0000"/>
                </a:solidFill>
                <a:cs typeface="Times New Roman" pitchFamily="18" charset="0"/>
                <a:sym typeface="Wingdings 2" pitchFamily="18" charset="2"/>
              </a:rPr>
              <a:t></a:t>
            </a:r>
            <a:r>
              <a:rPr lang="uz-Cyrl-UZ" sz="2000" b="1">
                <a:solidFill>
                  <a:srgbClr val="FF0000"/>
                </a:solidFill>
                <a:cs typeface="Times New Roman" pitchFamily="18" charset="0"/>
              </a:rPr>
              <a:t> </a:t>
            </a:r>
            <a:endParaRPr lang="ru-RU" sz="2000" b="1">
              <a:solidFill>
                <a:srgbClr val="FF0000"/>
              </a:solidFill>
              <a:cs typeface="Times New Roman" pitchFamily="18" charset="0"/>
            </a:endParaRPr>
          </a:p>
        </p:txBody>
      </p:sp>
      <p:grpSp>
        <p:nvGrpSpPr>
          <p:cNvPr id="60868" name="Group 452"/>
          <p:cNvGrpSpPr>
            <a:grpSpLocks/>
          </p:cNvGrpSpPr>
          <p:nvPr/>
        </p:nvGrpSpPr>
        <p:grpSpPr bwMode="auto">
          <a:xfrm>
            <a:off x="323850" y="2349500"/>
            <a:ext cx="2592388" cy="576263"/>
            <a:chOff x="113" y="3294"/>
            <a:chExt cx="1633" cy="363"/>
          </a:xfrm>
        </p:grpSpPr>
        <p:sp>
          <p:nvSpPr>
            <p:cNvPr id="60861" name="Rectangle 445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00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63" name="Rectangle 447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01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65" name="Rectangle 449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03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66" name="Rectangle 450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02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0873" name="Group 457"/>
          <p:cNvGrpSpPr>
            <a:grpSpLocks/>
          </p:cNvGrpSpPr>
          <p:nvPr/>
        </p:nvGrpSpPr>
        <p:grpSpPr bwMode="auto">
          <a:xfrm>
            <a:off x="3348038" y="4005263"/>
            <a:ext cx="2592387" cy="576262"/>
            <a:chOff x="113" y="3294"/>
            <a:chExt cx="1633" cy="363"/>
          </a:xfrm>
        </p:grpSpPr>
        <p:sp>
          <p:nvSpPr>
            <p:cNvPr id="60874" name="Rectangle 458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75" name="Rectangle 459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76" name="Rectangle 460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77" name="Rectangle 461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0878" name="Group 462"/>
          <p:cNvGrpSpPr>
            <a:grpSpLocks/>
          </p:cNvGrpSpPr>
          <p:nvPr/>
        </p:nvGrpSpPr>
        <p:grpSpPr bwMode="auto">
          <a:xfrm>
            <a:off x="323850" y="2924175"/>
            <a:ext cx="2592388" cy="576263"/>
            <a:chOff x="113" y="3294"/>
            <a:chExt cx="1633" cy="363"/>
          </a:xfrm>
        </p:grpSpPr>
        <p:sp>
          <p:nvSpPr>
            <p:cNvPr id="60879" name="Rectangle 463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80" name="Rectangle 464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81" name="Rectangle 465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82" name="Rectangle 466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60884" name="Rectangle 468"/>
          <p:cNvSpPr>
            <a:spLocks noChangeArrowheads="1"/>
          </p:cNvSpPr>
          <p:nvPr/>
        </p:nvSpPr>
        <p:spPr bwMode="auto">
          <a:xfrm>
            <a:off x="3348038" y="2924175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1</a:t>
            </a:r>
            <a:r>
              <a:rPr lang="uz-Cyrl-UZ" sz="2400" b="1" baseline="-25000">
                <a:solidFill>
                  <a:schemeClr val="bg1"/>
                </a:solidFill>
              </a:rPr>
              <a:t>0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885" name="Rectangle 469"/>
          <p:cNvSpPr>
            <a:spLocks noChangeArrowheads="1"/>
          </p:cNvSpPr>
          <p:nvPr/>
        </p:nvSpPr>
        <p:spPr bwMode="auto">
          <a:xfrm>
            <a:off x="3995738" y="2924175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1</a:t>
            </a:r>
            <a:r>
              <a:rPr lang="uz-Cyrl-UZ" sz="2400" b="1" baseline="-25000">
                <a:solidFill>
                  <a:schemeClr val="bg1"/>
                </a:solidFill>
              </a:rPr>
              <a:t>1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886" name="Rectangle 470"/>
          <p:cNvSpPr>
            <a:spLocks noChangeArrowheads="1"/>
          </p:cNvSpPr>
          <p:nvPr/>
        </p:nvSpPr>
        <p:spPr bwMode="auto">
          <a:xfrm>
            <a:off x="5292725" y="2924175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1</a:t>
            </a:r>
            <a:r>
              <a:rPr lang="uz-Cyrl-UZ" sz="2400" b="1" baseline="-25000">
                <a:solidFill>
                  <a:schemeClr val="bg1"/>
                </a:solidFill>
              </a:rPr>
              <a:t>3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887" name="Rectangle 471"/>
          <p:cNvSpPr>
            <a:spLocks noChangeArrowheads="1"/>
          </p:cNvSpPr>
          <p:nvPr/>
        </p:nvSpPr>
        <p:spPr bwMode="auto">
          <a:xfrm>
            <a:off x="4645025" y="2924175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1</a:t>
            </a:r>
            <a:r>
              <a:rPr lang="uz-Cyrl-UZ" sz="2400" b="1" baseline="-25000">
                <a:solidFill>
                  <a:schemeClr val="bg1"/>
                </a:solidFill>
              </a:rPr>
              <a:t>2</a:t>
            </a:r>
            <a:endParaRPr lang="ru-RU" sz="2400" b="1">
              <a:solidFill>
                <a:schemeClr val="bg1"/>
              </a:solidFill>
            </a:endParaRPr>
          </a:p>
        </p:txBody>
      </p:sp>
      <p:grpSp>
        <p:nvGrpSpPr>
          <p:cNvPr id="60888" name="Group 472"/>
          <p:cNvGrpSpPr>
            <a:grpSpLocks/>
          </p:cNvGrpSpPr>
          <p:nvPr/>
        </p:nvGrpSpPr>
        <p:grpSpPr bwMode="auto">
          <a:xfrm>
            <a:off x="3348038" y="2924175"/>
            <a:ext cx="2592387" cy="576263"/>
            <a:chOff x="113" y="3294"/>
            <a:chExt cx="1633" cy="363"/>
          </a:xfrm>
        </p:grpSpPr>
        <p:sp>
          <p:nvSpPr>
            <p:cNvPr id="60889" name="Rectangle 473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90" name="Rectangle 474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1</a:t>
              </a:r>
              <a:r>
                <a:rPr lang="en-US" sz="2400" b="1" baseline="-25000">
                  <a:solidFill>
                    <a:schemeClr val="bg1"/>
                  </a:solidFill>
                </a:rPr>
                <a:t>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91" name="Rectangle 475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892" name="Rectangle 476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13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60894" name="Rectangle 478"/>
          <p:cNvSpPr>
            <a:spLocks noChangeArrowheads="1"/>
          </p:cNvSpPr>
          <p:nvPr/>
        </p:nvSpPr>
        <p:spPr bwMode="auto">
          <a:xfrm>
            <a:off x="3348038" y="3429000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2</a:t>
            </a:r>
            <a:r>
              <a:rPr lang="uz-Cyrl-UZ" sz="2400" b="1" baseline="-25000">
                <a:solidFill>
                  <a:schemeClr val="bg1"/>
                </a:solidFill>
              </a:rPr>
              <a:t>0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895" name="Rectangle 479"/>
          <p:cNvSpPr>
            <a:spLocks noChangeArrowheads="1"/>
          </p:cNvSpPr>
          <p:nvPr/>
        </p:nvSpPr>
        <p:spPr bwMode="auto">
          <a:xfrm>
            <a:off x="3995738" y="3429000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2</a:t>
            </a:r>
            <a:r>
              <a:rPr lang="uz-Cyrl-UZ" sz="2400" b="1" baseline="-25000">
                <a:solidFill>
                  <a:schemeClr val="bg1"/>
                </a:solidFill>
              </a:rPr>
              <a:t>1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896" name="Rectangle 480"/>
          <p:cNvSpPr>
            <a:spLocks noChangeArrowheads="1"/>
          </p:cNvSpPr>
          <p:nvPr/>
        </p:nvSpPr>
        <p:spPr bwMode="auto">
          <a:xfrm>
            <a:off x="5292725" y="3429000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2</a:t>
            </a:r>
            <a:r>
              <a:rPr lang="uz-Cyrl-UZ" sz="2400" b="1" baseline="-25000">
                <a:solidFill>
                  <a:schemeClr val="bg1"/>
                </a:solidFill>
              </a:rPr>
              <a:t>3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897" name="Rectangle 481"/>
          <p:cNvSpPr>
            <a:spLocks noChangeArrowheads="1"/>
          </p:cNvSpPr>
          <p:nvPr/>
        </p:nvSpPr>
        <p:spPr bwMode="auto">
          <a:xfrm>
            <a:off x="4645025" y="3429000"/>
            <a:ext cx="647700" cy="5762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2</a:t>
            </a:r>
            <a:r>
              <a:rPr lang="uz-Cyrl-UZ" sz="2400" b="1" baseline="-25000">
                <a:solidFill>
                  <a:schemeClr val="bg1"/>
                </a:solidFill>
              </a:rPr>
              <a:t>2</a:t>
            </a:r>
            <a:endParaRPr lang="ru-RU" sz="2400" b="1">
              <a:solidFill>
                <a:schemeClr val="bg1"/>
              </a:solidFill>
            </a:endParaRPr>
          </a:p>
        </p:txBody>
      </p:sp>
      <p:grpSp>
        <p:nvGrpSpPr>
          <p:cNvPr id="60898" name="Group 482"/>
          <p:cNvGrpSpPr>
            <a:grpSpLocks/>
          </p:cNvGrpSpPr>
          <p:nvPr/>
        </p:nvGrpSpPr>
        <p:grpSpPr bwMode="auto">
          <a:xfrm>
            <a:off x="323850" y="3429000"/>
            <a:ext cx="2592388" cy="576263"/>
            <a:chOff x="113" y="3294"/>
            <a:chExt cx="1633" cy="363"/>
          </a:xfrm>
        </p:grpSpPr>
        <p:sp>
          <p:nvSpPr>
            <p:cNvPr id="60899" name="Rectangle 483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00" name="Rectangle 484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01" name="Rectangle 485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02" name="Rectangle 486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0903" name="Group 487"/>
          <p:cNvGrpSpPr>
            <a:grpSpLocks/>
          </p:cNvGrpSpPr>
          <p:nvPr/>
        </p:nvGrpSpPr>
        <p:grpSpPr bwMode="auto">
          <a:xfrm>
            <a:off x="3348038" y="3429000"/>
            <a:ext cx="2592387" cy="576263"/>
            <a:chOff x="113" y="3294"/>
            <a:chExt cx="1633" cy="363"/>
          </a:xfrm>
        </p:grpSpPr>
        <p:sp>
          <p:nvSpPr>
            <p:cNvPr id="60904" name="Rectangle 488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05" name="Rectangle 489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06" name="Rectangle 490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21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07" name="Rectangle 491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2</a:t>
              </a:r>
              <a:r>
                <a:rPr lang="en-US" sz="2400" b="1" baseline="-25000">
                  <a:solidFill>
                    <a:schemeClr val="bg1"/>
                  </a:solidFill>
                </a:rPr>
                <a:t>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0908" name="Group 492"/>
          <p:cNvGrpSpPr>
            <a:grpSpLocks/>
          </p:cNvGrpSpPr>
          <p:nvPr/>
        </p:nvGrpSpPr>
        <p:grpSpPr bwMode="auto">
          <a:xfrm>
            <a:off x="323850" y="4005263"/>
            <a:ext cx="2592388" cy="576262"/>
            <a:chOff x="113" y="3294"/>
            <a:chExt cx="1633" cy="363"/>
          </a:xfrm>
        </p:grpSpPr>
        <p:sp>
          <p:nvSpPr>
            <p:cNvPr id="60909" name="Rectangle 493"/>
            <p:cNvSpPr>
              <a:spLocks noChangeArrowheads="1"/>
            </p:cNvSpPr>
            <p:nvPr/>
          </p:nvSpPr>
          <p:spPr bwMode="auto">
            <a:xfrm>
              <a:off x="113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30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10" name="Rectangle 494"/>
            <p:cNvSpPr>
              <a:spLocks noChangeArrowheads="1"/>
            </p:cNvSpPr>
            <p:nvPr/>
          </p:nvSpPr>
          <p:spPr bwMode="auto">
            <a:xfrm>
              <a:off x="521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1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11" name="Rectangle 495"/>
            <p:cNvSpPr>
              <a:spLocks noChangeArrowheads="1"/>
            </p:cNvSpPr>
            <p:nvPr/>
          </p:nvSpPr>
          <p:spPr bwMode="auto">
            <a:xfrm>
              <a:off x="1338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3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  <p:sp>
          <p:nvSpPr>
            <p:cNvPr id="60912" name="Rectangle 496"/>
            <p:cNvSpPr>
              <a:spLocks noChangeArrowheads="1"/>
            </p:cNvSpPr>
            <p:nvPr/>
          </p:nvSpPr>
          <p:spPr bwMode="auto">
            <a:xfrm>
              <a:off x="930" y="3294"/>
              <a:ext cx="408" cy="363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S’</a:t>
              </a:r>
              <a:r>
                <a:rPr lang="en-US" sz="2400" b="1" baseline="-25000">
                  <a:solidFill>
                    <a:schemeClr val="bg1"/>
                  </a:solidFill>
                </a:rPr>
                <a:t>3</a:t>
              </a:r>
              <a:r>
                <a:rPr lang="uz-Cyrl-UZ" sz="2400" b="1" baseline="-25000">
                  <a:solidFill>
                    <a:schemeClr val="bg1"/>
                  </a:solidFill>
                </a:rPr>
                <a:t>2</a:t>
              </a:r>
              <a:endParaRPr lang="ru-RU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60914" name="Rectangle 498"/>
          <p:cNvSpPr>
            <a:spLocks noChangeArrowheads="1"/>
          </p:cNvSpPr>
          <p:nvPr/>
        </p:nvSpPr>
        <p:spPr bwMode="auto">
          <a:xfrm>
            <a:off x="3348038" y="4005263"/>
            <a:ext cx="647700" cy="576262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3</a:t>
            </a:r>
            <a:r>
              <a:rPr lang="uz-Cyrl-UZ" sz="2400" b="1" baseline="-25000">
                <a:solidFill>
                  <a:schemeClr val="bg1"/>
                </a:solidFill>
              </a:rPr>
              <a:t>0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915" name="Rectangle 499"/>
          <p:cNvSpPr>
            <a:spLocks noChangeArrowheads="1"/>
          </p:cNvSpPr>
          <p:nvPr/>
        </p:nvSpPr>
        <p:spPr bwMode="auto">
          <a:xfrm>
            <a:off x="3995738" y="4005263"/>
            <a:ext cx="647700" cy="576262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3</a:t>
            </a:r>
            <a:r>
              <a:rPr lang="uz-Cyrl-UZ" sz="2400" b="1" baseline="-25000">
                <a:solidFill>
                  <a:schemeClr val="bg1"/>
                </a:solidFill>
              </a:rPr>
              <a:t>1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916" name="Rectangle 500"/>
          <p:cNvSpPr>
            <a:spLocks noChangeArrowheads="1"/>
          </p:cNvSpPr>
          <p:nvPr/>
        </p:nvSpPr>
        <p:spPr bwMode="auto">
          <a:xfrm>
            <a:off x="5292725" y="4005263"/>
            <a:ext cx="647700" cy="576262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3</a:t>
            </a:r>
            <a:r>
              <a:rPr lang="uz-Cyrl-UZ" sz="2400" b="1" baseline="-25000">
                <a:solidFill>
                  <a:schemeClr val="bg1"/>
                </a:solidFill>
              </a:rPr>
              <a:t>3</a:t>
            </a:r>
            <a:endParaRPr lang="ru-RU" sz="2400" b="1">
              <a:solidFill>
                <a:schemeClr val="bg1"/>
              </a:solidFill>
            </a:endParaRPr>
          </a:p>
        </p:txBody>
      </p:sp>
      <p:sp>
        <p:nvSpPr>
          <p:cNvPr id="60917" name="Rectangle 501"/>
          <p:cNvSpPr>
            <a:spLocks noChangeArrowheads="1"/>
          </p:cNvSpPr>
          <p:nvPr/>
        </p:nvSpPr>
        <p:spPr bwMode="auto">
          <a:xfrm>
            <a:off x="4645025" y="4005263"/>
            <a:ext cx="647700" cy="576262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S’</a:t>
            </a:r>
            <a:r>
              <a:rPr lang="en-US" sz="2400" b="1" baseline="-25000">
                <a:solidFill>
                  <a:schemeClr val="bg1"/>
                </a:solidFill>
              </a:rPr>
              <a:t>3</a:t>
            </a:r>
            <a:r>
              <a:rPr lang="uz-Cyrl-UZ" sz="2400" b="1" baseline="-25000">
                <a:solidFill>
                  <a:schemeClr val="bg1"/>
                </a:solidFill>
              </a:rPr>
              <a:t>2</a:t>
            </a:r>
            <a:endParaRPr lang="ru-RU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05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0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83333E-6 4.07407E-6 L 0.65157 0.00023 " pathEditMode="relative" ptsTypes="AA">
                                      <p:cBhvr>
                                        <p:cTn id="37" dur="500" fill="hold"/>
                                        <p:tgtEl>
                                          <p:spTgt spid="608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0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-2.96296E-6 L 0.33386 0.00023 " pathEditMode="relative" ptsTypes="AA">
                                      <p:cBhvr>
                                        <p:cTn id="48" dur="1000" fill="hold"/>
                                        <p:tgtEl>
                                          <p:spTgt spid="608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08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0156 -0.07916 L 0.21563 -0.07916 L 0.21563 0.00209 " pathEditMode="relative" ptsTypes="AAAA">
                                      <p:cBhvr>
                                        <p:cTn id="67" dur="2000" fill="hold"/>
                                        <p:tgtEl>
                                          <p:spTgt spid="608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7187 0.00023 " pathEditMode="relative" ptsTypes="AA">
                                      <p:cBhvr>
                                        <p:cTn id="69" dur="1000" fill="hold"/>
                                        <p:tgtEl>
                                          <p:spTgt spid="608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7188 -0.00208 " pathEditMode="relative" ptsTypes="AA">
                                      <p:cBhvr>
                                        <p:cTn id="71" dur="1000" fill="hold"/>
                                        <p:tgtEl>
                                          <p:spTgt spid="608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7188 0.00023 " pathEditMode="relative" ptsTypes="AA">
                                      <p:cBhvr>
                                        <p:cTn id="73" dur="1000" fill="hold"/>
                                        <p:tgtEl>
                                          <p:spTgt spid="608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0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60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0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0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E-6 -6.2963E-6 L 0.32188 -0.00209 " pathEditMode="relative" ptsTypes="AA">
                                      <p:cBhvr>
                                        <p:cTn id="92" dur="1000" fill="hold"/>
                                        <p:tgtEl>
                                          <p:spTgt spid="608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2000"/>
                                        <p:tgtEl>
                                          <p:spTgt spid="60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0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-5.18519E-6 L 0.33282 0.00022 " pathEditMode="relative" ptsTypes="AA">
                                      <p:cBhvr>
                                        <p:cTn id="103" dur="500" fill="hold"/>
                                        <p:tgtEl>
                                          <p:spTgt spid="608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0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60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2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0156 -0.16042 L 0.22031 -0.15833 L 0.21875 -0.00208 L 0.14687 0.0 " pathEditMode="relative" ptsTypes="AAAAA">
                                      <p:cBhvr>
                                        <p:cTn id="122" dur="2000" fill="hold"/>
                                        <p:tgtEl>
                                          <p:spTgt spid="608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7031 0.0 L -0.07031 -0.16042 L 0.14219 -0.15625 L 0.14219 0.0 " pathEditMode="relative" ptsTypes="AAAAA">
                                      <p:cBhvr>
                                        <p:cTn id="124" dur="2000" fill="hold"/>
                                        <p:tgtEl>
                                          <p:spTgt spid="608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4062 0.00023 " pathEditMode="relative" ptsTypes="AA">
                                      <p:cBhvr>
                                        <p:cTn id="126" dur="2000" fill="hold"/>
                                        <p:tgtEl>
                                          <p:spTgt spid="608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4219 -0.00417 " pathEditMode="relative" ptsTypes="AA">
                                      <p:cBhvr>
                                        <p:cTn id="128" dur="2000" fill="hold"/>
                                        <p:tgtEl>
                                          <p:spTgt spid="608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3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60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608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60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60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E-6 -1.85185E-6 L 0.31876 0.00208 " pathEditMode="relative" ptsTypes="AA">
                                      <p:cBhvr>
                                        <p:cTn id="147" dur="1000" fill="hold"/>
                                        <p:tgtEl>
                                          <p:spTgt spid="60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60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000"/>
                                        <p:tgtEl>
                                          <p:spTgt spid="6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5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-7.40741E-6 L 0.33126 0.00022 " pathEditMode="relative" ptsTypes="AA">
                                      <p:cBhvr>
                                        <p:cTn id="158" dur="1000" fill="hold"/>
                                        <p:tgtEl>
                                          <p:spTgt spid="60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6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60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7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0313 -0.08959 L 0.21563 -0.08959 L 0.21563 -0.00417 L 0.075 -0.00417 " pathEditMode="relative" ptsTypes="AAAAA">
                                      <p:cBhvr>
                                        <p:cTn id="177" dur="2000" fill="hold"/>
                                        <p:tgtEl>
                                          <p:spTgt spid="609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7031 0.0 L -0.06875 -0.12916 L 0.14375 -0.12916 L 0.14219 -0.00625 L 0.075 -0.00416 " pathEditMode="relative" ptsTypes="AAAAAA">
                                      <p:cBhvr>
                                        <p:cTn id="179" dur="2000" fill="hold"/>
                                        <p:tgtEl>
                                          <p:spTgt spid="609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3906 0.0 L -0.13906 -0.19792 L 0.07344 -0.19792 L 0.075 0.0 " pathEditMode="relative" ptsTypes="AAAAA">
                                      <p:cBhvr>
                                        <p:cTn id="181" dur="2000" fill="hold"/>
                                        <p:tgtEl>
                                          <p:spTgt spid="609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20625 -0.00208 " pathEditMode="relative" ptsTypes="AA">
                                      <p:cBhvr>
                                        <p:cTn id="183" dur="2000" fill="hold"/>
                                        <p:tgtEl>
                                          <p:spTgt spid="609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8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60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609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609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60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20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5E-6 -7.40741E-7 L 0.32344 -0.00209 " pathEditMode="relative" ptsTypes="AA">
                                      <p:cBhvr>
                                        <p:cTn id="202" dur="1000" fill="hold"/>
                                        <p:tgtEl>
                                          <p:spTgt spid="608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20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608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2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6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9 -0.12046 L -0.34236 0.31977 " pathEditMode="relative" rAng="0" ptsTypes="AA">
                                      <p:cBhvr>
                                        <p:cTn id="212" dur="1000" fill="hold"/>
                                        <p:tgtEl>
                                          <p:spTgt spid="607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23" y="220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73" grpId="0"/>
      <p:bldP spid="60766" grpId="0" animBg="1"/>
      <p:bldP spid="60767" grpId="0"/>
      <p:bldP spid="60826" grpId="0" animBg="1"/>
      <p:bldP spid="60884" grpId="0" animBg="1"/>
      <p:bldP spid="60884" grpId="1" animBg="1"/>
      <p:bldP spid="60884" grpId="2" animBg="1"/>
      <p:bldP spid="60885" grpId="0" animBg="1"/>
      <p:bldP spid="60885" grpId="1" animBg="1"/>
      <p:bldP spid="60885" grpId="2" animBg="1"/>
      <p:bldP spid="60886" grpId="0" animBg="1"/>
      <p:bldP spid="60886" grpId="1" animBg="1"/>
      <p:bldP spid="60886" grpId="2" animBg="1"/>
      <p:bldP spid="60887" grpId="0" animBg="1"/>
      <p:bldP spid="60887" grpId="1" animBg="1"/>
      <p:bldP spid="60887" grpId="2" animBg="1"/>
      <p:bldP spid="60894" grpId="0" animBg="1"/>
      <p:bldP spid="60894" grpId="1" animBg="1"/>
      <p:bldP spid="60894" grpId="2" animBg="1"/>
      <p:bldP spid="60895" grpId="0" animBg="1"/>
      <p:bldP spid="60895" grpId="1" animBg="1"/>
      <p:bldP spid="60895" grpId="2" animBg="1"/>
      <p:bldP spid="60896" grpId="0" animBg="1"/>
      <p:bldP spid="60896" grpId="1" animBg="1"/>
      <p:bldP spid="60896" grpId="2" animBg="1"/>
      <p:bldP spid="60897" grpId="0" animBg="1"/>
      <p:bldP spid="60897" grpId="1" animBg="1"/>
      <p:bldP spid="60897" grpId="2" animBg="1"/>
      <p:bldP spid="60914" grpId="0" animBg="1"/>
      <p:bldP spid="60914" grpId="1" animBg="1"/>
      <p:bldP spid="60914" grpId="2" animBg="1"/>
      <p:bldP spid="60915" grpId="0" animBg="1"/>
      <p:bldP spid="60915" grpId="1" animBg="1"/>
      <p:bldP spid="60915" grpId="2" animBg="1"/>
      <p:bldP spid="60916" grpId="0" animBg="1"/>
      <p:bldP spid="60916" grpId="1" animBg="1"/>
      <p:bldP spid="60916" grpId="2" animBg="1"/>
      <p:bldP spid="60917" grpId="0" animBg="1"/>
      <p:bldP spid="60917" grpId="1" animBg="1"/>
      <p:bldP spid="60917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25" name="Text Box 485"/>
          <p:cNvSpPr txBox="1">
            <a:spLocks noChangeArrowheads="1"/>
          </p:cNvSpPr>
          <p:nvPr/>
        </p:nvSpPr>
        <p:spPr bwMode="auto">
          <a:xfrm>
            <a:off x="4716463" y="1341438"/>
            <a:ext cx="8794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96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endParaRPr lang="ru-RU" sz="9600" b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1913" name="Group 473"/>
          <p:cNvGrpSpPr>
            <a:grpSpLocks/>
          </p:cNvGrpSpPr>
          <p:nvPr/>
        </p:nvGrpSpPr>
        <p:grpSpPr bwMode="auto">
          <a:xfrm>
            <a:off x="827088" y="2997200"/>
            <a:ext cx="2305050" cy="574675"/>
            <a:chOff x="3833" y="2024"/>
            <a:chExt cx="1814" cy="408"/>
          </a:xfrm>
        </p:grpSpPr>
        <p:sp>
          <p:nvSpPr>
            <p:cNvPr id="61914" name="Rectangle 474"/>
            <p:cNvSpPr>
              <a:spLocks noChangeArrowheads="1"/>
            </p:cNvSpPr>
            <p:nvPr/>
          </p:nvSpPr>
          <p:spPr bwMode="auto">
            <a:xfrm>
              <a:off x="383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{03}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15" name="Rectangle 475"/>
            <p:cNvSpPr>
              <a:spLocks noChangeArrowheads="1"/>
            </p:cNvSpPr>
            <p:nvPr/>
          </p:nvSpPr>
          <p:spPr bwMode="auto">
            <a:xfrm>
              <a:off x="4286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16" name="Rectangle 476"/>
            <p:cNvSpPr>
              <a:spLocks noChangeArrowheads="1"/>
            </p:cNvSpPr>
            <p:nvPr/>
          </p:nvSpPr>
          <p:spPr bwMode="auto">
            <a:xfrm>
              <a:off x="4740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17" name="Rectangle 477"/>
            <p:cNvSpPr>
              <a:spLocks noChangeArrowheads="1"/>
            </p:cNvSpPr>
            <p:nvPr/>
          </p:nvSpPr>
          <p:spPr bwMode="auto">
            <a:xfrm>
              <a:off x="519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{02}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1722" name="Group 282"/>
          <p:cNvGrpSpPr>
            <a:grpSpLocks/>
          </p:cNvGrpSpPr>
          <p:nvPr/>
        </p:nvGrpSpPr>
        <p:grpSpPr bwMode="auto">
          <a:xfrm>
            <a:off x="1060450" y="165100"/>
            <a:ext cx="7759700" cy="685800"/>
            <a:chOff x="664" y="104"/>
            <a:chExt cx="4848" cy="432"/>
          </a:xfrm>
        </p:grpSpPr>
        <p:sp>
          <p:nvSpPr>
            <p:cNvPr id="61723" name="Freeform 283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61724" name="Group 284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61725" name="Group 285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61726" name="Freeform 286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27" name="Freeform 287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28" name="Freeform 288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29" name="Freeform 289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0" name="Freeform 290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1" name="Freeform 291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2" name="Freeform 292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3" name="Freeform 293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4" name="Freeform 294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5" name="Freeform 295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6" name="Freeform 296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7" name="Freeform 297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8" name="Freeform 298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39" name="Freeform 299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0" name="Freeform 300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1" name="Freeform 301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2" name="Freeform 302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3" name="Freeform 303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4" name="Freeform 304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5" name="Freeform 305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6" name="Freeform 306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7" name="Freeform 307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8" name="Freeform 308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49" name="Freeform 309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0" name="Freeform 310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1" name="Freeform 311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2" name="Freeform 312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3" name="Freeform 313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4" name="Freeform 314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5" name="Freeform 315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6" name="Freeform 316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7" name="Freeform 317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8" name="Freeform 318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59" name="Freeform 319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0" name="Freeform 320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1" name="Freeform 321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2" name="Freeform 322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3" name="Freeform 323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4" name="Freeform 324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5" name="Freeform 325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6" name="Freeform 326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7" name="Freeform 327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8" name="Freeform 328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69" name="Freeform 329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0" name="Freeform 330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1" name="Freeform 331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2" name="Freeform 332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3" name="Freeform 333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4" name="Freeform 334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5" name="Freeform 335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6" name="Freeform 336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7" name="Freeform 337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8" name="Freeform 338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79" name="Freeform 339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0" name="Freeform 340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1" name="Freeform 341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61782" name="Group 342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61783" name="Freeform 343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4" name="Freeform 344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5" name="Freeform 345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6" name="Freeform 346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7" name="Freeform 347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8" name="Freeform 348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89" name="Freeform 349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0" name="Freeform 350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1" name="Freeform 351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2" name="Freeform 352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3" name="Freeform 353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4" name="Freeform 354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5" name="Freeform 355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6" name="Freeform 356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7" name="Freeform 357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8" name="Freeform 358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799" name="Freeform 359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0" name="Freeform 360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1" name="Freeform 361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2" name="Freeform 362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3" name="Freeform 363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4" name="Freeform 364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5" name="Freeform 365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6" name="Freeform 366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7" name="Freeform 367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8" name="Freeform 368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09" name="Freeform 369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0" name="Freeform 370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1" name="Freeform 371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2" name="Freeform 372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3" name="Freeform 373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4" name="Freeform 374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5" name="Freeform 375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6" name="Freeform 376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7" name="Freeform 377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8" name="Freeform 378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19" name="Freeform 379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20" name="Freeform 380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21" name="Freeform 381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22" name="Freeform 382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23" name="Freeform 383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1824" name="Freeform 384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61825" name="Group 385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61826" name="Line 386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27" name="Line 387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28" name="Line 388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29" name="Line 389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0" name="Line 390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1" name="Line 391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2" name="Line 392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3" name="Line 393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4" name="Line 394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5" name="Line 395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6" name="Line 396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7" name="Line 397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8" name="Line 398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39" name="Line 399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0" name="Line 400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1" name="Line 401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2" name="Line 402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3" name="Line 403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4" name="Line 404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5" name="Line 405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6" name="Line 406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61847" name="Group 407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61848" name="Line 408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49" name="Line 409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0" name="Line 410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1" name="Line 411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2" name="Line 412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3" name="Line 413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4" name="Line 414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5" name="Line 415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6" name="Line 416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7" name="Line 417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8" name="Line 418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59" name="Line 419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0" name="Line 420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1" name="Line 421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2" name="Line 422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3" name="Line 423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4" name="Line 424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5" name="Line 425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6" name="Line 426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7" name="Line 427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8" name="Line 428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69" name="Line 429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70" name="Line 430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71" name="Line 431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1872" name="Line 432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61596" name="Picture 156" descr="eart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900112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97" name="Text Box 157"/>
          <p:cNvSpPr txBox="1">
            <a:spLocks noChangeArrowheads="1"/>
          </p:cNvSpPr>
          <p:nvPr/>
        </p:nvSpPr>
        <p:spPr bwMode="auto">
          <a:xfrm>
            <a:off x="1476375" y="115888"/>
            <a:ext cx="69119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устун элементларини аралаштириш</a:t>
            </a:r>
            <a:r>
              <a:rPr lang="ru-RU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ru-RU" sz="22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600" name="Rectangle 16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61599" name="Object 159"/>
          <p:cNvGraphicFramePr>
            <a:graphicFrameLocks noChangeAspect="1"/>
          </p:cNvGraphicFramePr>
          <p:nvPr/>
        </p:nvGraphicFramePr>
        <p:xfrm>
          <a:off x="179388" y="1052513"/>
          <a:ext cx="4824412" cy="217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8" name="Формула" r:id="rId5" imgW="2425700" imgH="1092200" progId="Equation.3">
                  <p:embed/>
                </p:oleObj>
              </mc:Choice>
              <mc:Fallback>
                <p:oleObj name="Формула" r:id="rId5" imgW="2425700" imgH="1092200" progId="Equation.3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4824412" cy="217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2" name="Rectangle 162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61601" name="Object 161"/>
          <p:cNvGraphicFramePr>
            <a:graphicFrameLocks noChangeAspect="1"/>
          </p:cNvGraphicFramePr>
          <p:nvPr/>
        </p:nvGraphicFramePr>
        <p:xfrm>
          <a:off x="6659563" y="1989138"/>
          <a:ext cx="1057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9" name="Формула" r:id="rId7" imgW="558720" imgH="177480" progId="Equation.3">
                  <p:embed/>
                </p:oleObj>
              </mc:Choice>
              <mc:Fallback>
                <p:oleObj name="Формула" r:id="rId7" imgW="558720" imgH="177480" progId="Equation.3">
                  <p:embed/>
                  <p:pic>
                    <p:nvPicPr>
                      <p:cNvPr id="0" name="Object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989138"/>
                        <a:ext cx="1057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96" name="Group 256"/>
          <p:cNvGraphicFramePr>
            <a:graphicFrameLocks noGrp="1"/>
          </p:cNvGraphicFramePr>
          <p:nvPr>
            <p:ph sz="quarter" idx="2"/>
          </p:nvPr>
        </p:nvGraphicFramePr>
        <p:xfrm>
          <a:off x="4716463" y="4221163"/>
          <a:ext cx="2732087" cy="2232025"/>
        </p:xfrm>
        <a:graphic>
          <a:graphicData uri="http://schemas.openxmlformats.org/drawingml/2006/table">
            <a:tbl>
              <a:tblPr/>
              <a:tblGrid>
                <a:gridCol w="685800"/>
                <a:gridCol w="681037"/>
                <a:gridCol w="679450"/>
                <a:gridCol w="685800"/>
              </a:tblGrid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637" name="Group 197"/>
          <p:cNvGraphicFramePr>
            <a:graphicFrameLocks noGrp="1"/>
          </p:cNvGraphicFramePr>
          <p:nvPr>
            <p:ph sz="quarter" idx="3"/>
          </p:nvPr>
        </p:nvGraphicFramePr>
        <p:xfrm>
          <a:off x="323850" y="4221163"/>
          <a:ext cx="2736850" cy="2232026"/>
        </p:xfrm>
        <a:graphic>
          <a:graphicData uri="http://schemas.openxmlformats.org/drawingml/2006/table">
            <a:tbl>
              <a:tblPr/>
              <a:tblGrid>
                <a:gridCol w="685800"/>
                <a:gridCol w="682625"/>
                <a:gridCol w="682625"/>
                <a:gridCol w="685800"/>
              </a:tblGrid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666" name="Text Box 226"/>
          <p:cNvSpPr txBox="1">
            <a:spLocks noChangeArrowheads="1"/>
          </p:cNvSpPr>
          <p:nvPr/>
        </p:nvSpPr>
        <p:spPr bwMode="auto">
          <a:xfrm>
            <a:off x="2940050" y="3644900"/>
            <a:ext cx="18478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Times New Roman Uzb" pitchFamily="18" charset="0"/>
                <a:cs typeface="Times New Roman" pitchFamily="18" charset="0"/>
              </a:rPr>
              <a:t>MixColumns</a:t>
            </a:r>
            <a:endParaRPr lang="ru-RU" sz="2400" b="1">
              <a:solidFill>
                <a:srgbClr val="000000"/>
              </a:solidFill>
              <a:latin typeface="Times New Roman Uzb" pitchFamily="18" charset="0"/>
              <a:cs typeface="Times New Roman" pitchFamily="18" charset="0"/>
            </a:endParaRPr>
          </a:p>
        </p:txBody>
      </p:sp>
      <p:graphicFrame>
        <p:nvGraphicFramePr>
          <p:cNvPr id="61682" name="Group 242"/>
          <p:cNvGraphicFramePr>
            <a:graphicFrameLocks noGrp="1"/>
          </p:cNvGraphicFramePr>
          <p:nvPr>
            <p:ph sz="quarter" idx="4"/>
          </p:nvPr>
        </p:nvGraphicFramePr>
        <p:xfrm>
          <a:off x="5722938" y="4076700"/>
          <a:ext cx="720725" cy="2520952"/>
        </p:xfrm>
        <a:graphic>
          <a:graphicData uri="http://schemas.openxmlformats.org/drawingml/2006/table">
            <a:tbl>
              <a:tblPr/>
              <a:tblGrid>
                <a:gridCol w="720725"/>
              </a:tblGrid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’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697" name="Group 257"/>
          <p:cNvGraphicFramePr>
            <a:graphicFrameLocks noGrp="1"/>
          </p:cNvGraphicFramePr>
          <p:nvPr/>
        </p:nvGraphicFramePr>
        <p:xfrm>
          <a:off x="1330325" y="4076700"/>
          <a:ext cx="720725" cy="2520952"/>
        </p:xfrm>
        <a:graphic>
          <a:graphicData uri="http://schemas.openxmlformats.org/drawingml/2006/table">
            <a:tbl>
              <a:tblPr/>
              <a:tblGrid>
                <a:gridCol w="720725"/>
              </a:tblGrid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3c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  <p:sp>
        <p:nvSpPr>
          <p:cNvPr id="61712" name="Line 272"/>
          <p:cNvSpPr>
            <a:spLocks noChangeShapeType="1"/>
          </p:cNvSpPr>
          <p:nvPr/>
        </p:nvSpPr>
        <p:spPr bwMode="auto">
          <a:xfrm>
            <a:off x="1692275" y="3860800"/>
            <a:ext cx="122396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713" name="Line 273"/>
          <p:cNvSpPr>
            <a:spLocks noChangeShapeType="1"/>
          </p:cNvSpPr>
          <p:nvPr/>
        </p:nvSpPr>
        <p:spPr bwMode="auto">
          <a:xfrm flipV="1">
            <a:off x="1692275" y="3860800"/>
            <a:ext cx="0" cy="2159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714" name="Line 274"/>
          <p:cNvSpPr>
            <a:spLocks noChangeShapeType="1"/>
          </p:cNvSpPr>
          <p:nvPr/>
        </p:nvSpPr>
        <p:spPr bwMode="auto">
          <a:xfrm flipH="1">
            <a:off x="6084888" y="3860800"/>
            <a:ext cx="0" cy="2159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715" name="Line 275"/>
          <p:cNvSpPr>
            <a:spLocks noChangeShapeType="1"/>
          </p:cNvSpPr>
          <p:nvPr/>
        </p:nvSpPr>
        <p:spPr bwMode="auto">
          <a:xfrm>
            <a:off x="4787900" y="3860800"/>
            <a:ext cx="129698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719" name="Rectangle 279"/>
          <p:cNvSpPr>
            <a:spLocks noChangeArrowheads="1"/>
          </p:cNvSpPr>
          <p:nvPr/>
        </p:nvSpPr>
        <p:spPr bwMode="auto">
          <a:xfrm>
            <a:off x="0" y="2909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1721" name="AutoShape 281">
            <a:hlinkClick r:id="rId9" action="ppaction://hlinksldjump"/>
          </p:cNvPr>
          <p:cNvSpPr>
            <a:spLocks noChangeArrowheads="1"/>
          </p:cNvSpPr>
          <p:nvPr/>
        </p:nvSpPr>
        <p:spPr bwMode="auto">
          <a:xfrm rot="10800000">
            <a:off x="8172450" y="6453188"/>
            <a:ext cx="792163" cy="360362"/>
          </a:xfrm>
          <a:prstGeom prst="rightArrow">
            <a:avLst>
              <a:gd name="adj1" fmla="val 50000"/>
              <a:gd name="adj2" fmla="val 5495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61897" name="Group 457"/>
          <p:cNvGrpSpPr>
            <a:grpSpLocks/>
          </p:cNvGrpSpPr>
          <p:nvPr/>
        </p:nvGrpSpPr>
        <p:grpSpPr bwMode="auto">
          <a:xfrm>
            <a:off x="323850" y="4221163"/>
            <a:ext cx="647700" cy="2233612"/>
            <a:chOff x="2199" y="2341"/>
            <a:chExt cx="455" cy="1633"/>
          </a:xfrm>
        </p:grpSpPr>
        <p:sp>
          <p:nvSpPr>
            <p:cNvPr id="61887" name="Rectangle 447"/>
            <p:cNvSpPr>
              <a:spLocks noChangeArrowheads="1"/>
            </p:cNvSpPr>
            <p:nvPr/>
          </p:nvSpPr>
          <p:spPr bwMode="auto">
            <a:xfrm>
              <a:off x="2199" y="2341"/>
              <a:ext cx="454" cy="40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uz-Cyrl-UZ" b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00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93" name="Rectangle 453"/>
            <p:cNvSpPr>
              <a:spLocks noChangeArrowheads="1"/>
            </p:cNvSpPr>
            <p:nvPr/>
          </p:nvSpPr>
          <p:spPr bwMode="auto">
            <a:xfrm>
              <a:off x="2200" y="2750"/>
              <a:ext cx="454" cy="40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uz-Cyrl-UZ" b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10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94" name="Rectangle 454"/>
            <p:cNvSpPr>
              <a:spLocks noChangeArrowheads="1"/>
            </p:cNvSpPr>
            <p:nvPr/>
          </p:nvSpPr>
          <p:spPr bwMode="auto">
            <a:xfrm>
              <a:off x="2200" y="3158"/>
              <a:ext cx="454" cy="40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uz-Cyrl-UZ" b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20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95" name="Rectangle 455"/>
            <p:cNvSpPr>
              <a:spLocks noChangeArrowheads="1"/>
            </p:cNvSpPr>
            <p:nvPr/>
          </p:nvSpPr>
          <p:spPr bwMode="auto">
            <a:xfrm>
              <a:off x="2200" y="3566"/>
              <a:ext cx="454" cy="408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uz-Cyrl-UZ" b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30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1902" name="Group 462"/>
          <p:cNvGrpSpPr>
            <a:grpSpLocks/>
          </p:cNvGrpSpPr>
          <p:nvPr/>
        </p:nvGrpSpPr>
        <p:grpSpPr bwMode="auto">
          <a:xfrm>
            <a:off x="827088" y="1052513"/>
            <a:ext cx="2305050" cy="576262"/>
            <a:chOff x="3833" y="2024"/>
            <a:chExt cx="1814" cy="408"/>
          </a:xfrm>
        </p:grpSpPr>
        <p:sp>
          <p:nvSpPr>
            <p:cNvPr id="61896" name="Rectangle 456"/>
            <p:cNvSpPr>
              <a:spLocks noChangeArrowheads="1"/>
            </p:cNvSpPr>
            <p:nvPr/>
          </p:nvSpPr>
          <p:spPr bwMode="auto">
            <a:xfrm>
              <a:off x="383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{02}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98" name="Rectangle 458"/>
            <p:cNvSpPr>
              <a:spLocks noChangeArrowheads="1"/>
            </p:cNvSpPr>
            <p:nvPr/>
          </p:nvSpPr>
          <p:spPr bwMode="auto">
            <a:xfrm>
              <a:off x="4286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{03}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99" name="Rectangle 459"/>
            <p:cNvSpPr>
              <a:spLocks noChangeArrowheads="1"/>
            </p:cNvSpPr>
            <p:nvPr/>
          </p:nvSpPr>
          <p:spPr bwMode="auto">
            <a:xfrm>
              <a:off x="4740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00" name="Rectangle 460"/>
            <p:cNvSpPr>
              <a:spLocks noChangeArrowheads="1"/>
            </p:cNvSpPr>
            <p:nvPr/>
          </p:nvSpPr>
          <p:spPr bwMode="auto">
            <a:xfrm>
              <a:off x="519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1901" name="Rectangle 461"/>
          <p:cNvSpPr>
            <a:spLocks noChangeArrowheads="1"/>
          </p:cNvSpPr>
          <p:nvPr/>
        </p:nvSpPr>
        <p:spPr bwMode="auto">
          <a:xfrm>
            <a:off x="5867400" y="981075"/>
            <a:ext cx="720725" cy="6477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uz-Cyrl-UZ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1903" name="Group 463"/>
          <p:cNvGrpSpPr>
            <a:grpSpLocks/>
          </p:cNvGrpSpPr>
          <p:nvPr/>
        </p:nvGrpSpPr>
        <p:grpSpPr bwMode="auto">
          <a:xfrm>
            <a:off x="827088" y="1700213"/>
            <a:ext cx="2305050" cy="576262"/>
            <a:chOff x="3833" y="2024"/>
            <a:chExt cx="1814" cy="408"/>
          </a:xfrm>
        </p:grpSpPr>
        <p:sp>
          <p:nvSpPr>
            <p:cNvPr id="61904" name="Rectangle 464"/>
            <p:cNvSpPr>
              <a:spLocks noChangeArrowheads="1"/>
            </p:cNvSpPr>
            <p:nvPr/>
          </p:nvSpPr>
          <p:spPr bwMode="auto">
            <a:xfrm>
              <a:off x="383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05" name="Rectangle 465"/>
            <p:cNvSpPr>
              <a:spLocks noChangeArrowheads="1"/>
            </p:cNvSpPr>
            <p:nvPr/>
          </p:nvSpPr>
          <p:spPr bwMode="auto">
            <a:xfrm>
              <a:off x="4286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{02}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06" name="Rectangle 466"/>
            <p:cNvSpPr>
              <a:spLocks noChangeArrowheads="1"/>
            </p:cNvSpPr>
            <p:nvPr/>
          </p:nvSpPr>
          <p:spPr bwMode="auto">
            <a:xfrm>
              <a:off x="4740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{03}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07" name="Rectangle 467"/>
            <p:cNvSpPr>
              <a:spLocks noChangeArrowheads="1"/>
            </p:cNvSpPr>
            <p:nvPr/>
          </p:nvSpPr>
          <p:spPr bwMode="auto">
            <a:xfrm>
              <a:off x="519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1908" name="Group 468"/>
          <p:cNvGrpSpPr>
            <a:grpSpLocks/>
          </p:cNvGrpSpPr>
          <p:nvPr/>
        </p:nvGrpSpPr>
        <p:grpSpPr bwMode="auto">
          <a:xfrm>
            <a:off x="827088" y="2349500"/>
            <a:ext cx="2305050" cy="576263"/>
            <a:chOff x="3833" y="2024"/>
            <a:chExt cx="1814" cy="408"/>
          </a:xfrm>
        </p:grpSpPr>
        <p:sp>
          <p:nvSpPr>
            <p:cNvPr id="61909" name="Rectangle 469"/>
            <p:cNvSpPr>
              <a:spLocks noChangeArrowheads="1"/>
            </p:cNvSpPr>
            <p:nvPr/>
          </p:nvSpPr>
          <p:spPr bwMode="auto">
            <a:xfrm>
              <a:off x="383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10" name="Rectangle 470"/>
            <p:cNvSpPr>
              <a:spLocks noChangeArrowheads="1"/>
            </p:cNvSpPr>
            <p:nvPr/>
          </p:nvSpPr>
          <p:spPr bwMode="auto">
            <a:xfrm>
              <a:off x="4286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{01}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11" name="Rectangle 471"/>
            <p:cNvSpPr>
              <a:spLocks noChangeArrowheads="1"/>
            </p:cNvSpPr>
            <p:nvPr/>
          </p:nvSpPr>
          <p:spPr bwMode="auto">
            <a:xfrm>
              <a:off x="4740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{02}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12" name="Rectangle 472"/>
            <p:cNvSpPr>
              <a:spLocks noChangeArrowheads="1"/>
            </p:cNvSpPr>
            <p:nvPr/>
          </p:nvSpPr>
          <p:spPr bwMode="auto">
            <a:xfrm>
              <a:off x="5193" y="2024"/>
              <a:ext cx="454" cy="4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{03}</a:t>
              </a:r>
              <a:endParaRPr lang="ru-RU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1923" name="Oval 483"/>
          <p:cNvSpPr>
            <a:spLocks noChangeArrowheads="1"/>
          </p:cNvSpPr>
          <p:nvPr/>
        </p:nvSpPr>
        <p:spPr bwMode="auto">
          <a:xfrm>
            <a:off x="3348038" y="1989138"/>
            <a:ext cx="360362" cy="358775"/>
          </a:xfrm>
          <a:prstGeom prst="ellipse">
            <a:avLst/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1926" name="Rectangle 486"/>
          <p:cNvSpPr>
            <a:spLocks noChangeArrowheads="1"/>
          </p:cNvSpPr>
          <p:nvPr/>
        </p:nvSpPr>
        <p:spPr bwMode="auto">
          <a:xfrm>
            <a:off x="5867400" y="1628775"/>
            <a:ext cx="720725" cy="6477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927" name="Rectangle 487"/>
          <p:cNvSpPr>
            <a:spLocks noChangeArrowheads="1"/>
          </p:cNvSpPr>
          <p:nvPr/>
        </p:nvSpPr>
        <p:spPr bwMode="auto">
          <a:xfrm>
            <a:off x="5867400" y="2276475"/>
            <a:ext cx="720725" cy="6477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928" name="Rectangle 488"/>
          <p:cNvSpPr>
            <a:spLocks noChangeArrowheads="1"/>
          </p:cNvSpPr>
          <p:nvPr/>
        </p:nvSpPr>
        <p:spPr bwMode="auto">
          <a:xfrm>
            <a:off x="5867400" y="2924175"/>
            <a:ext cx="720725" cy="6477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baseline="-25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929" name="Rectangle 489"/>
          <p:cNvSpPr>
            <a:spLocks noChangeArrowheads="1"/>
          </p:cNvSpPr>
          <p:nvPr/>
        </p:nvSpPr>
        <p:spPr bwMode="auto">
          <a:xfrm>
            <a:off x="3419475" y="5300663"/>
            <a:ext cx="1081088" cy="936625"/>
          </a:xfrm>
          <a:prstGeom prst="rect">
            <a:avLst/>
          </a:prstGeom>
          <a:solidFill>
            <a:schemeClr val="accent2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Тасвирий</a:t>
            </a:r>
          </a:p>
          <a:p>
            <a:pPr algn="ctr"/>
            <a:r>
              <a:rPr lang="uz-Cyrl-UZ" sz="1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ифода</a:t>
            </a:r>
          </a:p>
          <a:p>
            <a:pPr algn="ctr"/>
            <a:r>
              <a:rPr lang="uz-Cyrl-UZ" sz="1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Wingdings 2" pitchFamily="18" charset="2"/>
              </a:rPr>
              <a:t></a:t>
            </a:r>
            <a:r>
              <a:rPr lang="uz-Cyrl-UZ" sz="1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b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15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1" dur="1000" fill="hold"/>
                                        <p:tgtEl>
                                          <p:spTgt spid="6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12031 0.00417 L 0.39531 -0.46042 " pathEditMode="relative" ptsTypes="AAA">
                                      <p:cBhvr>
                                        <p:cTn id="83" dur="1000" fill="hold"/>
                                        <p:tgtEl>
                                          <p:spTgt spid="618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9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0" dur="1000" fill="hold"/>
                                        <p:tgtEl>
                                          <p:spTgt spid="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6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0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25 0.28542 L -0.125 0.44792 " pathEditMode="relative" ptsTypes="AAA">
                                      <p:cBhvr>
                                        <p:cTn id="109" dur="500" fill="hold"/>
                                        <p:tgtEl>
                                          <p:spTgt spid="619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25 0.28542 L -0.125 0.44792 " pathEditMode="relative" ptsTypes="AAA">
                                      <p:cBhvr>
                                        <p:cTn id="111" dur="500" fill="hold"/>
                                        <p:tgtEl>
                                          <p:spTgt spid="619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25 0.28542 L -0.125 0.44792 " pathEditMode="relative" ptsTypes="AAA">
                                      <p:cBhvr>
                                        <p:cTn id="113" dur="500" fill="hold"/>
                                        <p:tgtEl>
                                          <p:spTgt spid="619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25 0.28542 L -0.125 0.44792 " pathEditMode="relative" ptsTypes="AAA">
                                      <p:cBhvr>
                                        <p:cTn id="115" dur="500" fill="hold"/>
                                        <p:tgtEl>
                                          <p:spTgt spid="619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1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1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61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61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3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61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61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61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619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1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61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61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25" grpId="0"/>
      <p:bldP spid="61925" grpId="1"/>
      <p:bldP spid="61925" grpId="2"/>
      <p:bldP spid="61597" grpId="0"/>
      <p:bldP spid="61666" grpId="0" animBg="1"/>
      <p:bldP spid="61712" grpId="0" animBg="1"/>
      <p:bldP spid="61713" grpId="0" animBg="1"/>
      <p:bldP spid="61714" grpId="0" animBg="1"/>
      <p:bldP spid="61715" grpId="0" animBg="1"/>
      <p:bldP spid="61721" grpId="0" animBg="1"/>
      <p:bldP spid="61901" grpId="0" animBg="1"/>
      <p:bldP spid="61901" grpId="1" animBg="1"/>
      <p:bldP spid="61901" grpId="2" animBg="1"/>
      <p:bldP spid="61923" grpId="0" animBg="1"/>
      <p:bldP spid="61923" grpId="1" animBg="1"/>
      <p:bldP spid="61923" grpId="2" animBg="1"/>
      <p:bldP spid="61926" grpId="0" animBg="1"/>
      <p:bldP spid="61926" grpId="1" animBg="1"/>
      <p:bldP spid="61926" grpId="2" animBg="1"/>
      <p:bldP spid="61927" grpId="0" animBg="1"/>
      <p:bldP spid="61927" grpId="1" animBg="1"/>
      <p:bldP spid="61927" grpId="2" animBg="1"/>
      <p:bldP spid="61928" grpId="0" animBg="1"/>
      <p:bldP spid="61928" grpId="1" animBg="1"/>
      <p:bldP spid="61928" grpId="2" animBg="1"/>
      <p:bldP spid="619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02" name="AutoShape 334"/>
          <p:cNvSpPr>
            <a:spLocks noChangeArrowheads="1"/>
          </p:cNvSpPr>
          <p:nvPr/>
        </p:nvSpPr>
        <p:spPr bwMode="auto">
          <a:xfrm>
            <a:off x="6875463" y="908050"/>
            <a:ext cx="2160587" cy="1584325"/>
          </a:xfrm>
          <a:prstGeom prst="wedgeEllipseCallout">
            <a:avLst>
              <a:gd name="adj1" fmla="val -52569"/>
              <a:gd name="adj2" fmla="val 73449"/>
            </a:avLst>
          </a:prstGeom>
          <a:solidFill>
            <a:srgbClr val="99CCFF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uz-Cyrl-UZ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Раун</a:t>
            </a:r>
            <a:r>
              <a:rPr lang="en-US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акслантири-шидан чиққан матн</a:t>
            </a:r>
            <a:endParaRPr lang="ru-RU" b="1" i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3972" name="Group 4"/>
          <p:cNvGrpSpPr>
            <a:grpSpLocks/>
          </p:cNvGrpSpPr>
          <p:nvPr/>
        </p:nvGrpSpPr>
        <p:grpSpPr bwMode="auto">
          <a:xfrm>
            <a:off x="1276350" y="115888"/>
            <a:ext cx="7759700" cy="685800"/>
            <a:chOff x="664" y="104"/>
            <a:chExt cx="4848" cy="432"/>
          </a:xfrm>
        </p:grpSpPr>
        <p:sp>
          <p:nvSpPr>
            <p:cNvPr id="83973" name="Freeform 5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83974" name="Group 6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83975" name="Group 7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83976" name="Freeform 8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77" name="Freeform 9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78" name="Freeform 10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79" name="Freeform 11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0" name="Freeform 12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1" name="Freeform 13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2" name="Freeform 14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3" name="Freeform 15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4" name="Freeform 16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5" name="Freeform 17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6" name="Freeform 18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7" name="Freeform 19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8" name="Freeform 20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89" name="Freeform 21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0" name="Freeform 22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1" name="Freeform 23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2" name="Freeform 24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3" name="Freeform 25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4" name="Freeform 26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5" name="Freeform 27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6" name="Freeform 28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7" name="Freeform 29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8" name="Freeform 30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3999" name="Freeform 31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0" name="Freeform 32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1" name="Freeform 33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2" name="Freeform 34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3" name="Freeform 35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4" name="Freeform 36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5" name="Freeform 37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6" name="Freeform 38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7" name="Freeform 39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8" name="Freeform 40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09" name="Freeform 41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0" name="Freeform 42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1" name="Freeform 43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2" name="Freeform 44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3" name="Freeform 45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4" name="Freeform 46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5" name="Freeform 47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6" name="Freeform 48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7" name="Freeform 49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8" name="Freeform 50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19" name="Freeform 51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0" name="Freeform 52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1" name="Freeform 53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2" name="Freeform 54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3" name="Freeform 55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4" name="Freeform 56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5" name="Freeform 57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6" name="Freeform 58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7" name="Freeform 59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8" name="Freeform 60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29" name="Freeform 61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0" name="Freeform 62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1" name="Freeform 63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84032" name="Group 64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84033" name="Freeform 65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4" name="Freeform 66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5" name="Freeform 67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6" name="Freeform 68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7" name="Freeform 69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8" name="Freeform 70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39" name="Freeform 71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0" name="Freeform 72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1" name="Freeform 73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2" name="Freeform 74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3" name="Freeform 75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4" name="Freeform 76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5" name="Freeform 77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6" name="Freeform 78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7" name="Freeform 79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8" name="Freeform 80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49" name="Freeform 81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0" name="Freeform 82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1" name="Freeform 83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2" name="Freeform 84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3" name="Freeform 85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4" name="Freeform 86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5" name="Freeform 87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6" name="Freeform 88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7" name="Freeform 89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8" name="Freeform 90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59" name="Freeform 91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0" name="Freeform 92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1" name="Freeform 93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2" name="Freeform 94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3" name="Freeform 95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4" name="Freeform 96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5" name="Freeform 97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6" name="Freeform 98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7" name="Freeform 99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8" name="Freeform 100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69" name="Freeform 101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70" name="Freeform 102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71" name="Freeform 103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72" name="Freeform 104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73" name="Freeform 105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4074" name="Freeform 106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84075" name="Group 107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84076" name="Line 108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77" name="Line 109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78" name="Line 110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79" name="Line 111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0" name="Line 112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1" name="Line 113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2" name="Line 114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3" name="Line 115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4" name="Line 116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5" name="Line 117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6" name="Line 118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7" name="Line 119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8" name="Line 120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89" name="Line 121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0" name="Line 122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1" name="Line 123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2" name="Line 124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3" name="Line 125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4" name="Line 126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5" name="Line 127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6" name="Line 128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84097" name="Group 129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84098" name="Line 130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099" name="Line 131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0" name="Line 132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1" name="Line 133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2" name="Line 134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3" name="Line 135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4" name="Line 136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5" name="Line 137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6" name="Line 138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7" name="Line 139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8" name="Line 140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09" name="Line 141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0" name="Line 142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1" name="Line 143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2" name="Line 144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3" name="Line 145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4" name="Line 146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5" name="Line 147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6" name="Line 148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7" name="Line 149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8" name="Line 150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19" name="Line 151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20" name="Line 152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21" name="Line 153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4122" name="Line 154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84123" name="Picture 155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44450"/>
            <a:ext cx="900112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124" name="Text Box 156"/>
          <p:cNvSpPr txBox="1">
            <a:spLocks noChangeArrowheads="1"/>
          </p:cNvSpPr>
          <p:nvPr/>
        </p:nvSpPr>
        <p:spPr bwMode="auto">
          <a:xfrm>
            <a:off x="1547813" y="44450"/>
            <a:ext cx="71278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AddRoundKey</a:t>
            </a:r>
            <a:r>
              <a:rPr lang="en-US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 раунд калитларини қўшиш</a:t>
            </a:r>
            <a:r>
              <a:rPr lang="ru-RU" sz="2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2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4156" name="Group 188"/>
          <p:cNvGraphicFramePr>
            <a:graphicFrameLocks noGrp="1"/>
          </p:cNvGraphicFramePr>
          <p:nvPr>
            <p:ph sz="half" idx="1"/>
          </p:nvPr>
        </p:nvGraphicFramePr>
        <p:xfrm>
          <a:off x="457200" y="1484313"/>
          <a:ext cx="2530475" cy="2089152"/>
        </p:xfrm>
        <a:graphic>
          <a:graphicData uri="http://schemas.openxmlformats.org/drawingml/2006/table">
            <a:tbl>
              <a:tblPr/>
              <a:tblGrid>
                <a:gridCol w="633413"/>
                <a:gridCol w="631825"/>
                <a:gridCol w="631825"/>
                <a:gridCol w="633412"/>
              </a:tblGrid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250" name="Group 282"/>
          <p:cNvGraphicFramePr>
            <a:graphicFrameLocks noGrp="1"/>
          </p:cNvGraphicFramePr>
          <p:nvPr>
            <p:ph sz="quarter" idx="2"/>
          </p:nvPr>
        </p:nvGraphicFramePr>
        <p:xfrm>
          <a:off x="468313" y="4508500"/>
          <a:ext cx="2519362" cy="2089152"/>
        </p:xfrm>
        <a:graphic>
          <a:graphicData uri="http://schemas.openxmlformats.org/drawingml/2006/table">
            <a:tbl>
              <a:tblPr/>
              <a:tblGrid>
                <a:gridCol w="631825"/>
                <a:gridCol w="628650"/>
                <a:gridCol w="627062"/>
                <a:gridCol w="631825"/>
              </a:tblGrid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287" name="Group 319"/>
          <p:cNvGraphicFramePr>
            <a:graphicFrameLocks noGrp="1"/>
          </p:cNvGraphicFramePr>
          <p:nvPr>
            <p:ph sz="quarter" idx="3"/>
          </p:nvPr>
        </p:nvGraphicFramePr>
        <p:xfrm>
          <a:off x="5435600" y="2924175"/>
          <a:ext cx="2663825" cy="2089152"/>
        </p:xfrm>
        <a:graphic>
          <a:graphicData uri="http://schemas.openxmlformats.org/drawingml/2006/table">
            <a:tbl>
              <a:tblPr/>
              <a:tblGrid>
                <a:gridCol w="668338"/>
                <a:gridCol w="665162"/>
                <a:gridCol w="661988"/>
                <a:gridCol w="668337"/>
              </a:tblGrid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00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03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30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31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32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S'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33</a:t>
                      </a:r>
                      <a:endParaRPr kumimoji="0" 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269" name="AutoShape 301"/>
          <p:cNvSpPr>
            <a:spLocks noChangeArrowheads="1"/>
          </p:cNvSpPr>
          <p:nvPr/>
        </p:nvSpPr>
        <p:spPr bwMode="auto">
          <a:xfrm>
            <a:off x="3563938" y="3644900"/>
            <a:ext cx="647700" cy="649288"/>
          </a:xfrm>
          <a:prstGeom prst="flowChartOr">
            <a:avLst/>
          </a:prstGeom>
          <a:solidFill>
            <a:srgbClr val="FFFF00"/>
          </a:solidFill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84271" name="Line 303"/>
          <p:cNvSpPr>
            <a:spLocks noChangeShapeType="1"/>
          </p:cNvSpPr>
          <p:nvPr/>
        </p:nvSpPr>
        <p:spPr bwMode="auto">
          <a:xfrm>
            <a:off x="2339975" y="2565400"/>
            <a:ext cx="1295400" cy="1223963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84272" name="Line 304"/>
          <p:cNvSpPr>
            <a:spLocks noChangeShapeType="1"/>
          </p:cNvSpPr>
          <p:nvPr/>
        </p:nvSpPr>
        <p:spPr bwMode="auto">
          <a:xfrm flipV="1">
            <a:off x="2339975" y="4221163"/>
            <a:ext cx="1368425" cy="12954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pSp>
        <p:nvGrpSpPr>
          <p:cNvPr id="84262" name="Group 294"/>
          <p:cNvGrpSpPr>
            <a:grpSpLocks/>
          </p:cNvGrpSpPr>
          <p:nvPr/>
        </p:nvGrpSpPr>
        <p:grpSpPr bwMode="auto">
          <a:xfrm>
            <a:off x="1692275" y="1412875"/>
            <a:ext cx="647700" cy="2303463"/>
            <a:chOff x="2245" y="799"/>
            <a:chExt cx="408" cy="1451"/>
          </a:xfrm>
        </p:grpSpPr>
        <p:sp>
          <p:nvSpPr>
            <p:cNvPr id="84251" name="Rectangle 283"/>
            <p:cNvSpPr>
              <a:spLocks noChangeArrowheads="1"/>
            </p:cNvSpPr>
            <p:nvPr/>
          </p:nvSpPr>
          <p:spPr bwMode="auto">
            <a:xfrm>
              <a:off x="2245" y="799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59" name="Rectangle 291"/>
            <p:cNvSpPr>
              <a:spLocks noChangeArrowheads="1"/>
            </p:cNvSpPr>
            <p:nvPr/>
          </p:nvSpPr>
          <p:spPr bwMode="auto">
            <a:xfrm>
              <a:off x="2245" y="1162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60" name="Rectangle 292"/>
            <p:cNvSpPr>
              <a:spLocks noChangeArrowheads="1"/>
            </p:cNvSpPr>
            <p:nvPr/>
          </p:nvSpPr>
          <p:spPr bwMode="auto">
            <a:xfrm>
              <a:off x="2245" y="1888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61" name="Rectangle 293"/>
            <p:cNvSpPr>
              <a:spLocks noChangeArrowheads="1"/>
            </p:cNvSpPr>
            <p:nvPr/>
          </p:nvSpPr>
          <p:spPr bwMode="auto">
            <a:xfrm>
              <a:off x="2245" y="1525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84263" name="Group 295"/>
          <p:cNvGrpSpPr>
            <a:grpSpLocks/>
          </p:cNvGrpSpPr>
          <p:nvPr/>
        </p:nvGrpSpPr>
        <p:grpSpPr bwMode="auto">
          <a:xfrm>
            <a:off x="1692275" y="4365625"/>
            <a:ext cx="647700" cy="2303463"/>
            <a:chOff x="2245" y="799"/>
            <a:chExt cx="408" cy="1451"/>
          </a:xfrm>
        </p:grpSpPr>
        <p:sp>
          <p:nvSpPr>
            <p:cNvPr id="84264" name="Rectangle 296"/>
            <p:cNvSpPr>
              <a:spLocks noChangeArrowheads="1"/>
            </p:cNvSpPr>
            <p:nvPr/>
          </p:nvSpPr>
          <p:spPr bwMode="auto">
            <a:xfrm>
              <a:off x="2245" y="799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65" name="Rectangle 297"/>
            <p:cNvSpPr>
              <a:spLocks noChangeArrowheads="1"/>
            </p:cNvSpPr>
            <p:nvPr/>
          </p:nvSpPr>
          <p:spPr bwMode="auto">
            <a:xfrm>
              <a:off x="2245" y="1162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66" name="Rectangle 298"/>
            <p:cNvSpPr>
              <a:spLocks noChangeArrowheads="1"/>
            </p:cNvSpPr>
            <p:nvPr/>
          </p:nvSpPr>
          <p:spPr bwMode="auto">
            <a:xfrm>
              <a:off x="2245" y="1888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67" name="Rectangle 299"/>
            <p:cNvSpPr>
              <a:spLocks noChangeArrowheads="1"/>
            </p:cNvSpPr>
            <p:nvPr/>
          </p:nvSpPr>
          <p:spPr bwMode="auto">
            <a:xfrm>
              <a:off x="2245" y="1525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2c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84273" name="Group 305"/>
          <p:cNvGrpSpPr>
            <a:grpSpLocks/>
          </p:cNvGrpSpPr>
          <p:nvPr/>
        </p:nvGrpSpPr>
        <p:grpSpPr bwMode="auto">
          <a:xfrm>
            <a:off x="468313" y="1341438"/>
            <a:ext cx="647700" cy="2303462"/>
            <a:chOff x="2245" y="799"/>
            <a:chExt cx="408" cy="1451"/>
          </a:xfrm>
        </p:grpSpPr>
        <p:sp>
          <p:nvSpPr>
            <p:cNvPr id="84274" name="Rectangle 306"/>
            <p:cNvSpPr>
              <a:spLocks noChangeArrowheads="1"/>
            </p:cNvSpPr>
            <p:nvPr/>
          </p:nvSpPr>
          <p:spPr bwMode="auto">
            <a:xfrm>
              <a:off x="2245" y="799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75" name="Rectangle 307"/>
            <p:cNvSpPr>
              <a:spLocks noChangeArrowheads="1"/>
            </p:cNvSpPr>
            <p:nvPr/>
          </p:nvSpPr>
          <p:spPr bwMode="auto">
            <a:xfrm>
              <a:off x="2245" y="1162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76" name="Rectangle 308"/>
            <p:cNvSpPr>
              <a:spLocks noChangeArrowheads="1"/>
            </p:cNvSpPr>
            <p:nvPr/>
          </p:nvSpPr>
          <p:spPr bwMode="auto">
            <a:xfrm>
              <a:off x="2245" y="1888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77" name="Rectangle 309"/>
            <p:cNvSpPr>
              <a:spLocks noChangeArrowheads="1"/>
            </p:cNvSpPr>
            <p:nvPr/>
          </p:nvSpPr>
          <p:spPr bwMode="auto">
            <a:xfrm>
              <a:off x="2245" y="1525"/>
              <a:ext cx="408" cy="36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84278" name="Group 310"/>
          <p:cNvGrpSpPr>
            <a:grpSpLocks/>
          </p:cNvGrpSpPr>
          <p:nvPr/>
        </p:nvGrpSpPr>
        <p:grpSpPr bwMode="auto">
          <a:xfrm>
            <a:off x="468313" y="4365625"/>
            <a:ext cx="647700" cy="2303463"/>
            <a:chOff x="2245" y="799"/>
            <a:chExt cx="408" cy="1451"/>
          </a:xfrm>
        </p:grpSpPr>
        <p:sp>
          <p:nvSpPr>
            <p:cNvPr id="84279" name="Rectangle 311"/>
            <p:cNvSpPr>
              <a:spLocks noChangeArrowheads="1"/>
            </p:cNvSpPr>
            <p:nvPr/>
          </p:nvSpPr>
          <p:spPr bwMode="auto">
            <a:xfrm>
              <a:off x="2245" y="799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80" name="Rectangle 312"/>
            <p:cNvSpPr>
              <a:spLocks noChangeArrowheads="1"/>
            </p:cNvSpPr>
            <p:nvPr/>
          </p:nvSpPr>
          <p:spPr bwMode="auto">
            <a:xfrm>
              <a:off x="2245" y="1162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81" name="Rectangle 313"/>
            <p:cNvSpPr>
              <a:spLocks noChangeArrowheads="1"/>
            </p:cNvSpPr>
            <p:nvPr/>
          </p:nvSpPr>
          <p:spPr bwMode="auto">
            <a:xfrm>
              <a:off x="2245" y="1888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82" name="Rectangle 314"/>
            <p:cNvSpPr>
              <a:spLocks noChangeArrowheads="1"/>
            </p:cNvSpPr>
            <p:nvPr/>
          </p:nvSpPr>
          <p:spPr bwMode="auto">
            <a:xfrm>
              <a:off x="2245" y="1525"/>
              <a:ext cx="408" cy="362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k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84288" name="Group 320"/>
          <p:cNvGrpSpPr>
            <a:grpSpLocks/>
          </p:cNvGrpSpPr>
          <p:nvPr/>
        </p:nvGrpSpPr>
        <p:grpSpPr bwMode="auto">
          <a:xfrm>
            <a:off x="3563938" y="2781300"/>
            <a:ext cx="647700" cy="2303463"/>
            <a:chOff x="2245" y="799"/>
            <a:chExt cx="408" cy="1451"/>
          </a:xfrm>
        </p:grpSpPr>
        <p:sp>
          <p:nvSpPr>
            <p:cNvPr id="84289" name="Rectangle 321"/>
            <p:cNvSpPr>
              <a:spLocks noChangeArrowheads="1"/>
            </p:cNvSpPr>
            <p:nvPr/>
          </p:nvSpPr>
          <p:spPr bwMode="auto">
            <a:xfrm>
              <a:off x="2245" y="799"/>
              <a:ext cx="408" cy="3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S'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</a:t>
              </a:r>
              <a:endParaRPr lang="ru-RU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90" name="Rectangle 322"/>
            <p:cNvSpPr>
              <a:spLocks noChangeArrowheads="1"/>
            </p:cNvSpPr>
            <p:nvPr/>
          </p:nvSpPr>
          <p:spPr bwMode="auto">
            <a:xfrm>
              <a:off x="2245" y="1162"/>
              <a:ext cx="408" cy="3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S'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</a:t>
              </a:r>
              <a:endParaRPr lang="ru-RU" b="1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91" name="Rectangle 323"/>
            <p:cNvSpPr>
              <a:spLocks noChangeArrowheads="1"/>
            </p:cNvSpPr>
            <p:nvPr/>
          </p:nvSpPr>
          <p:spPr bwMode="auto">
            <a:xfrm>
              <a:off x="2245" y="1888"/>
              <a:ext cx="408" cy="3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S'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30</a:t>
              </a:r>
              <a:endParaRPr lang="ru-RU" b="1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4292" name="Rectangle 324"/>
            <p:cNvSpPr>
              <a:spLocks noChangeArrowheads="1"/>
            </p:cNvSpPr>
            <p:nvPr/>
          </p:nvSpPr>
          <p:spPr bwMode="auto">
            <a:xfrm>
              <a:off x="2245" y="1525"/>
              <a:ext cx="408" cy="3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S'</a:t>
              </a:r>
              <a:r>
                <a:rPr lang="en-US" b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20</a:t>
              </a:r>
              <a:endParaRPr lang="ru-RU" b="1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84298" name="Line 330"/>
          <p:cNvSpPr>
            <a:spLocks noChangeShapeType="1"/>
          </p:cNvSpPr>
          <p:nvPr/>
        </p:nvSpPr>
        <p:spPr bwMode="auto">
          <a:xfrm>
            <a:off x="4211638" y="3933825"/>
            <a:ext cx="1008062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84299" name="Rectangle 331"/>
          <p:cNvSpPr>
            <a:spLocks noChangeArrowheads="1"/>
          </p:cNvSpPr>
          <p:nvPr/>
        </p:nvSpPr>
        <p:spPr bwMode="auto">
          <a:xfrm>
            <a:off x="4284663" y="1628775"/>
            <a:ext cx="2808287" cy="431800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Тасвирий ифода  </a:t>
            </a:r>
            <a:r>
              <a:rPr lang="uz-Cyrl-UZ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 2" pitchFamily="18" charset="2"/>
              </a:rPr>
              <a:t></a:t>
            </a:r>
          </a:p>
        </p:txBody>
      </p:sp>
      <p:sp>
        <p:nvSpPr>
          <p:cNvPr id="84300" name="AutoShape 332"/>
          <p:cNvSpPr>
            <a:spLocks noChangeArrowheads="1"/>
          </p:cNvSpPr>
          <p:nvPr/>
        </p:nvSpPr>
        <p:spPr bwMode="auto">
          <a:xfrm>
            <a:off x="3203575" y="836613"/>
            <a:ext cx="1511300" cy="792162"/>
          </a:xfrm>
          <a:prstGeom prst="wedgeEllipseCallout">
            <a:avLst>
              <a:gd name="adj1" fmla="val -60713"/>
              <a:gd name="adj2" fmla="val 118736"/>
            </a:avLst>
          </a:prstGeom>
          <a:solidFill>
            <a:srgbClr val="99CCFF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uz-Cyrl-UZ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Кирувчиматн</a:t>
            </a:r>
            <a:endParaRPr lang="ru-RU" b="1" i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301" name="AutoShape 333"/>
          <p:cNvSpPr>
            <a:spLocks noChangeArrowheads="1"/>
          </p:cNvSpPr>
          <p:nvPr/>
        </p:nvSpPr>
        <p:spPr bwMode="auto">
          <a:xfrm>
            <a:off x="3708400" y="5805488"/>
            <a:ext cx="1439863" cy="863600"/>
          </a:xfrm>
          <a:prstGeom prst="wedgeEllipseCallout">
            <a:avLst>
              <a:gd name="adj1" fmla="val -98069"/>
              <a:gd name="adj2" fmla="val -77759"/>
            </a:avLst>
          </a:prstGeom>
          <a:solidFill>
            <a:srgbClr val="99CCFF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uz-Cyrl-UZ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Раунд калити</a:t>
            </a:r>
            <a:endParaRPr lang="ru-RU" b="1" i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4305" name="Group 337"/>
          <p:cNvGrpSpPr>
            <a:grpSpLocks/>
          </p:cNvGrpSpPr>
          <p:nvPr/>
        </p:nvGrpSpPr>
        <p:grpSpPr bwMode="auto">
          <a:xfrm>
            <a:off x="5940425" y="5445125"/>
            <a:ext cx="2592388" cy="1412875"/>
            <a:chOff x="3878" y="3430"/>
            <a:chExt cx="1633" cy="890"/>
          </a:xfrm>
        </p:grpSpPr>
        <p:sp>
          <p:nvSpPr>
            <p:cNvPr id="84303" name="AutoShape 335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878" y="3430"/>
              <a:ext cx="1633" cy="890"/>
            </a:xfrm>
            <a:prstGeom prst="cloudCallout">
              <a:avLst>
                <a:gd name="adj1" fmla="val -168310"/>
                <a:gd name="adj2" fmla="val -5966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uz-Cyrl-UZ" b="1" i="1"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Раунд калитлари генерацияси</a:t>
              </a:r>
              <a:endParaRPr lang="ru-RU" b="1" i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04" name="Text Box 336"/>
            <p:cNvSpPr txBox="1">
              <a:spLocks noChangeArrowheads="1"/>
            </p:cNvSpPr>
            <p:nvPr/>
          </p:nvSpPr>
          <p:spPr bwMode="auto">
            <a:xfrm>
              <a:off x="4876" y="3475"/>
              <a:ext cx="40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sz="4000" b="1">
                  <a:solidFill>
                    <a:srgbClr val="800000"/>
                  </a:solidFill>
                  <a:sym typeface="Wingdings 2" pitchFamily="18" charset="2"/>
                </a:rPr>
                <a:t></a:t>
              </a:r>
            </a:p>
          </p:txBody>
        </p:sp>
      </p:grpSp>
      <p:sp>
        <p:nvSpPr>
          <p:cNvPr id="84306" name="AutoShape 338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0800000">
            <a:off x="8172450" y="6453188"/>
            <a:ext cx="792163" cy="360362"/>
          </a:xfrm>
          <a:prstGeom prst="rightArrow">
            <a:avLst>
              <a:gd name="adj1" fmla="val 50000"/>
              <a:gd name="adj2" fmla="val 5495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84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4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4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07407E-6 L 0.1375 0.00208 L 0.34063 0.2125 " pathEditMode="relative" ptsTypes="AAA">
                                      <p:cBhvr>
                                        <p:cTn id="64" dur="2000" fill="hold"/>
                                        <p:tgtEl>
                                          <p:spTgt spid="84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48148E-6 L 0.13438 1.48148E-6 L 0.34063 -0.225 " pathEditMode="relative" ptsTypes="AAA">
                                      <p:cBhvr>
                                        <p:cTn id="66" dur="2000" fill="hold"/>
                                        <p:tgtEl>
                                          <p:spTgt spid="84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4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84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61111E-6 2.96296E-6 L 0.20782 0.00023 " pathEditMode="relative" ptsTypes="AA">
                                      <p:cBhvr>
                                        <p:cTn id="80" dur="1000" fill="hold"/>
                                        <p:tgtEl>
                                          <p:spTgt spid="842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8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84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8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02" grpId="0" animBg="1"/>
      <p:bldP spid="84124" grpId="0"/>
      <p:bldP spid="84269" grpId="0" animBg="1"/>
      <p:bldP spid="84271" grpId="0" animBg="1"/>
      <p:bldP spid="84272" grpId="0" animBg="1"/>
      <p:bldP spid="84298" grpId="0" animBg="1"/>
      <p:bldP spid="84299" grpId="0" animBg="1"/>
      <p:bldP spid="84300" grpId="0" animBg="1"/>
      <p:bldP spid="84301" grpId="0" animBg="1"/>
      <p:bldP spid="8430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47" name="Rectangle 683"/>
          <p:cNvSpPr>
            <a:spLocks noChangeArrowheads="1"/>
          </p:cNvSpPr>
          <p:nvPr/>
        </p:nvSpPr>
        <p:spPr bwMode="auto">
          <a:xfrm>
            <a:off x="179388" y="2708275"/>
            <a:ext cx="8785225" cy="215900"/>
          </a:xfrm>
          <a:prstGeom prst="rect">
            <a:avLst/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rgbClr val="DE1202"/>
                </a:solidFill>
                <a:latin typeface="Times New Roman" pitchFamily="18" charset="0"/>
                <a:cs typeface="Times New Roman" pitchFamily="18" charset="0"/>
              </a:rPr>
              <a:t>Кенгайтирилган  калитларини ясаш учун ишлатиладиган формулалар.</a:t>
            </a:r>
            <a:endParaRPr lang="ru-RU" sz="1200" b="1" i="1">
              <a:solidFill>
                <a:srgbClr val="DE120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2732" name="Group 268"/>
          <p:cNvGrpSpPr>
            <a:grpSpLocks/>
          </p:cNvGrpSpPr>
          <p:nvPr/>
        </p:nvGrpSpPr>
        <p:grpSpPr bwMode="auto">
          <a:xfrm>
            <a:off x="1060450" y="165100"/>
            <a:ext cx="7759700" cy="685800"/>
            <a:chOff x="664" y="104"/>
            <a:chExt cx="4848" cy="432"/>
          </a:xfrm>
        </p:grpSpPr>
        <p:sp>
          <p:nvSpPr>
            <p:cNvPr id="62733" name="Freeform 269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62734" name="Group 270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62735" name="Group 271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62736" name="Freeform 272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37" name="Freeform 273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38" name="Freeform 274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39" name="Freeform 275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0" name="Freeform 276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1" name="Freeform 277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2" name="Freeform 278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3" name="Freeform 279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4" name="Freeform 280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5" name="Freeform 281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6" name="Freeform 282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7" name="Freeform 283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8" name="Freeform 284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49" name="Freeform 285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0" name="Freeform 286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1" name="Freeform 287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2" name="Freeform 288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3" name="Freeform 289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4" name="Freeform 290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5" name="Freeform 291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6" name="Freeform 292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7" name="Freeform 293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8" name="Freeform 294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59" name="Freeform 295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0" name="Freeform 296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1" name="Freeform 297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2" name="Freeform 298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3" name="Freeform 299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4" name="Freeform 300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5" name="Freeform 301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6" name="Freeform 302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7" name="Freeform 303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8" name="Freeform 304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69" name="Freeform 305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0" name="Freeform 306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1" name="Freeform 307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2" name="Freeform 308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3" name="Freeform 309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4" name="Freeform 310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5" name="Freeform 311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6" name="Freeform 312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7" name="Freeform 313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8" name="Freeform 314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79" name="Freeform 315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0" name="Freeform 316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1" name="Freeform 317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2" name="Freeform 318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3" name="Freeform 319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4" name="Freeform 320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5" name="Freeform 321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6" name="Freeform 322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7" name="Freeform 323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8" name="Freeform 324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89" name="Freeform 325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0" name="Freeform 326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1" name="Freeform 327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62792" name="Group 328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62793" name="Freeform 329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4" name="Freeform 330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5" name="Freeform 331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6" name="Freeform 332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7" name="Freeform 333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8" name="Freeform 334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799" name="Freeform 335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0" name="Freeform 336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1" name="Freeform 337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2" name="Freeform 338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3" name="Freeform 339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4" name="Freeform 340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5" name="Freeform 341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6" name="Freeform 342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7" name="Freeform 343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8" name="Freeform 344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09" name="Freeform 345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0" name="Freeform 346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1" name="Freeform 347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2" name="Freeform 348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3" name="Freeform 349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4" name="Freeform 350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5" name="Freeform 351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6" name="Freeform 352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7" name="Freeform 353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8" name="Freeform 354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19" name="Freeform 355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0" name="Freeform 356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1" name="Freeform 357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2" name="Freeform 358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3" name="Freeform 359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4" name="Freeform 360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5" name="Freeform 361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6" name="Freeform 362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7" name="Freeform 363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8" name="Freeform 364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29" name="Freeform 365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30" name="Freeform 366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31" name="Freeform 367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32" name="Freeform 368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33" name="Freeform 369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62834" name="Freeform 370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62835" name="Group 371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62836" name="Line 372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37" name="Line 373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38" name="Line 374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39" name="Line 375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0" name="Line 376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1" name="Line 377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2" name="Line 378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3" name="Line 379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4" name="Line 380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5" name="Line 381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6" name="Line 382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7" name="Line 383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8" name="Line 384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49" name="Line 385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0" name="Line 386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1" name="Line 387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2" name="Line 388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3" name="Line 389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4" name="Line 390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5" name="Line 391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6" name="Line 392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62857" name="Group 393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62858" name="Line 394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59" name="Line 395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0" name="Line 396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1" name="Line 397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2" name="Line 398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3" name="Line 399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4" name="Line 400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5" name="Line 401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6" name="Line 402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7" name="Line 403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8" name="Line 404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69" name="Line 405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0" name="Line 406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1" name="Line 407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2" name="Line 408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3" name="Line 409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4" name="Line 410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5" name="Line 411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6" name="Line 412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7" name="Line 413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8" name="Line 414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79" name="Line 415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80" name="Line 416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81" name="Line 417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62882" name="Line 418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62620" name="Picture 156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87313"/>
            <a:ext cx="900112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621" name="Text Box 157"/>
          <p:cNvSpPr txBox="1">
            <a:spLocks noChangeArrowheads="1"/>
          </p:cNvSpPr>
          <p:nvPr/>
        </p:nvSpPr>
        <p:spPr bwMode="auto">
          <a:xfrm>
            <a:off x="1547813" y="188913"/>
            <a:ext cx="7127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Раунд калитлари генерацияси.</a:t>
            </a:r>
            <a:endParaRPr lang="ru-RU" sz="24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622" name="AutoShape 158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0800000">
            <a:off x="7956550" y="6381750"/>
            <a:ext cx="1008063" cy="431800"/>
          </a:xfrm>
          <a:prstGeom prst="rightArrow">
            <a:avLst>
              <a:gd name="adj1" fmla="val 50000"/>
              <a:gd name="adj2" fmla="val 5836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2884" name="Text Box 420"/>
          <p:cNvSpPr txBox="1">
            <a:spLocks noChangeArrowheads="1"/>
          </p:cNvSpPr>
          <p:nvPr/>
        </p:nvSpPr>
        <p:spPr bwMode="auto">
          <a:xfrm>
            <a:off x="179388" y="2276475"/>
            <a:ext cx="3168650" cy="392113"/>
          </a:xfrm>
          <a:prstGeom prst="rect">
            <a:avLst/>
          </a:prstGeom>
          <a:solidFill>
            <a:srgbClr val="FFFF00"/>
          </a:solidFill>
          <a:ln w="25400">
            <a:solidFill>
              <a:srgbClr val="00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w[i]= w[i-1] </a:t>
            </a:r>
            <a:r>
              <a:rPr lang="ru-RU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uz-Cyrl-UZ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w[i-Nk].</a:t>
            </a:r>
            <a:r>
              <a:rPr lang="uz-Cyrl-UZ" i="1"/>
              <a:t> </a:t>
            </a:r>
            <a:r>
              <a:rPr lang="uz-Cyrl-UZ"/>
              <a:t>                      </a:t>
            </a:r>
            <a:endParaRPr lang="en-US" i="1"/>
          </a:p>
        </p:txBody>
      </p:sp>
      <p:sp>
        <p:nvSpPr>
          <p:cNvPr id="62885" name="Text Box 421"/>
          <p:cNvSpPr txBox="1">
            <a:spLocks noChangeArrowheads="1"/>
          </p:cNvSpPr>
          <p:nvPr/>
        </p:nvSpPr>
        <p:spPr bwMode="auto">
          <a:xfrm>
            <a:off x="3670300" y="2276475"/>
            <a:ext cx="5294313" cy="392113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w[i]= SubWord (RotWord (w[i-1] ))</a:t>
            </a:r>
            <a:r>
              <a:rPr lang="ru-RU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Rcon[ i/Nk]</a:t>
            </a:r>
            <a:r>
              <a:rPr lang="ru-RU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16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w[i-Nk].</a:t>
            </a:r>
            <a:r>
              <a:rPr lang="uz-Cyrl-UZ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b="1" i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887" name="Text Box 423"/>
          <p:cNvSpPr txBox="1">
            <a:spLocks noChangeArrowheads="1"/>
          </p:cNvSpPr>
          <p:nvPr/>
        </p:nvSpPr>
        <p:spPr bwMode="auto">
          <a:xfrm>
            <a:off x="250825" y="981075"/>
            <a:ext cx="8569325" cy="10699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1600">
                <a:solidFill>
                  <a:schemeClr val="bg1"/>
                </a:solidFill>
              </a:rPr>
              <a:t>Дастлаб киритилган калит 32 битдан бўлган 4та (w</a:t>
            </a:r>
            <a:r>
              <a:rPr lang="en-US" sz="1600" baseline="-25000">
                <a:solidFill>
                  <a:schemeClr val="bg1"/>
                </a:solidFill>
              </a:rPr>
              <a:t>0</a:t>
            </a:r>
            <a:r>
              <a:rPr lang="uz-Cyrl-UZ" sz="1600">
                <a:solidFill>
                  <a:schemeClr val="bg1"/>
                </a:solidFill>
              </a:rPr>
              <a:t>,  w</a:t>
            </a:r>
            <a:r>
              <a:rPr lang="en-US" sz="1600" baseline="-25000">
                <a:solidFill>
                  <a:schemeClr val="bg1"/>
                </a:solidFill>
              </a:rPr>
              <a:t>1</a:t>
            </a:r>
            <a:r>
              <a:rPr lang="uz-Cyrl-UZ" sz="1600">
                <a:solidFill>
                  <a:schemeClr val="bg1"/>
                </a:solidFill>
              </a:rPr>
              <a:t>, w</a:t>
            </a:r>
            <a:r>
              <a:rPr lang="en-US" sz="1600" baseline="-25000">
                <a:solidFill>
                  <a:schemeClr val="bg1"/>
                </a:solidFill>
              </a:rPr>
              <a:t>2</a:t>
            </a:r>
            <a:r>
              <a:rPr lang="uz-Cyrl-UZ" sz="1600">
                <a:solidFill>
                  <a:schemeClr val="bg1"/>
                </a:solidFill>
              </a:rPr>
              <a:t>, w</a:t>
            </a:r>
            <a:r>
              <a:rPr lang="en-US" sz="1600" baseline="-25000">
                <a:solidFill>
                  <a:schemeClr val="bg1"/>
                </a:solidFill>
              </a:rPr>
              <a:t>3</a:t>
            </a:r>
            <a:r>
              <a:rPr lang="uz-Cyrl-UZ" sz="1600">
                <a:solidFill>
                  <a:schemeClr val="bg1"/>
                </a:solidFill>
              </a:rPr>
              <a:t> </a:t>
            </a:r>
            <a:r>
              <a:rPr lang="uz-Cyrl-UZ" sz="1600">
                <a:solidFill>
                  <a:schemeClr val="bg1"/>
                </a:solidFill>
                <a:sym typeface="Symbol" pitchFamily="18" charset="2"/>
              </a:rPr>
              <a:t> кенгайтирилган калитлар</a:t>
            </a:r>
            <a:r>
              <a:rPr lang="uz-Cyrl-UZ" sz="1600">
                <a:solidFill>
                  <a:schemeClr val="bg1"/>
                </a:solidFill>
              </a:rPr>
              <a:t>) бўлакка бўлинади ва шулардан фойдаланилган холда қолган раунд калитлари ясалади. 128 битли 10 та раундли шифрлаш учун  44 та  кенгайтирилган калит керак бўлади.  </a:t>
            </a:r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62888" name="Rectangle 424"/>
          <p:cNvSpPr>
            <a:spLocks noChangeArrowheads="1"/>
          </p:cNvSpPr>
          <p:nvPr/>
        </p:nvSpPr>
        <p:spPr bwMode="auto">
          <a:xfrm>
            <a:off x="1476375" y="981075"/>
            <a:ext cx="6624638" cy="4318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Дастлабки киритилган калит (исход</a:t>
            </a:r>
            <a:r>
              <a:rPr lang="ru-RU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ны</a:t>
            </a:r>
            <a:r>
              <a:rPr lang="uz-Cyrl-UZ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й</a:t>
            </a:r>
            <a:r>
              <a:rPr lang="ru-RU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ключ</a:t>
            </a:r>
            <a:r>
              <a:rPr lang="uz-Cyrl-UZ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128 бит</a:t>
            </a:r>
          </a:p>
        </p:txBody>
      </p:sp>
      <p:grpSp>
        <p:nvGrpSpPr>
          <p:cNvPr id="62904" name="Group 440"/>
          <p:cNvGrpSpPr>
            <a:grpSpLocks/>
          </p:cNvGrpSpPr>
          <p:nvPr/>
        </p:nvGrpSpPr>
        <p:grpSpPr bwMode="auto">
          <a:xfrm>
            <a:off x="1476375" y="981075"/>
            <a:ext cx="6624638" cy="431800"/>
            <a:chOff x="930" y="618"/>
            <a:chExt cx="4173" cy="272"/>
          </a:xfrm>
        </p:grpSpPr>
        <p:sp>
          <p:nvSpPr>
            <p:cNvPr id="62893" name="Rectangle 429"/>
            <p:cNvSpPr>
              <a:spLocks noChangeArrowheads="1"/>
            </p:cNvSpPr>
            <p:nvPr/>
          </p:nvSpPr>
          <p:spPr bwMode="auto">
            <a:xfrm>
              <a:off x="4060" y="618"/>
              <a:ext cx="1043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ru-RU"/>
                <a:t> </a:t>
              </a:r>
            </a:p>
          </p:txBody>
        </p:sp>
        <p:sp>
          <p:nvSpPr>
            <p:cNvPr id="62895" name="Rectangle 431"/>
            <p:cNvSpPr>
              <a:spLocks noChangeArrowheads="1"/>
            </p:cNvSpPr>
            <p:nvPr/>
          </p:nvSpPr>
          <p:spPr bwMode="auto">
            <a:xfrm>
              <a:off x="3016" y="618"/>
              <a:ext cx="1043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ru-RU"/>
                <a:t> </a:t>
              </a:r>
            </a:p>
          </p:txBody>
        </p:sp>
        <p:sp>
          <p:nvSpPr>
            <p:cNvPr id="62896" name="Rectangle 432"/>
            <p:cNvSpPr>
              <a:spLocks noChangeArrowheads="1"/>
            </p:cNvSpPr>
            <p:nvPr/>
          </p:nvSpPr>
          <p:spPr bwMode="auto">
            <a:xfrm>
              <a:off x="1973" y="618"/>
              <a:ext cx="1043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ru-RU"/>
                <a:t> </a:t>
              </a:r>
            </a:p>
          </p:txBody>
        </p:sp>
        <p:sp>
          <p:nvSpPr>
            <p:cNvPr id="62897" name="Rectangle 433"/>
            <p:cNvSpPr>
              <a:spLocks noChangeArrowheads="1"/>
            </p:cNvSpPr>
            <p:nvPr/>
          </p:nvSpPr>
          <p:spPr bwMode="auto">
            <a:xfrm>
              <a:off x="930" y="618"/>
              <a:ext cx="1043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lang="ru-RU"/>
                <a:t> </a:t>
              </a:r>
            </a:p>
          </p:txBody>
        </p:sp>
      </p:grpSp>
      <p:grpSp>
        <p:nvGrpSpPr>
          <p:cNvPr id="63000" name="Group 536"/>
          <p:cNvGrpSpPr>
            <a:grpSpLocks/>
          </p:cNvGrpSpPr>
          <p:nvPr/>
        </p:nvGrpSpPr>
        <p:grpSpPr bwMode="auto">
          <a:xfrm>
            <a:off x="3492500" y="981075"/>
            <a:ext cx="2665413" cy="433388"/>
            <a:chOff x="793" y="2205"/>
            <a:chExt cx="4174" cy="363"/>
          </a:xfrm>
        </p:grpSpPr>
        <p:sp>
          <p:nvSpPr>
            <p:cNvPr id="63001" name="Rectangle 537"/>
            <p:cNvSpPr>
              <a:spLocks noChangeArrowheads="1"/>
            </p:cNvSpPr>
            <p:nvPr/>
          </p:nvSpPr>
          <p:spPr bwMode="auto">
            <a:xfrm>
              <a:off x="3923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ru-RU"/>
                <a:t> </a:t>
              </a:r>
            </a:p>
          </p:txBody>
        </p:sp>
        <p:sp>
          <p:nvSpPr>
            <p:cNvPr id="63002" name="Rectangle 538"/>
            <p:cNvSpPr>
              <a:spLocks noChangeArrowheads="1"/>
            </p:cNvSpPr>
            <p:nvPr/>
          </p:nvSpPr>
          <p:spPr bwMode="auto">
            <a:xfrm>
              <a:off x="2879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ru-RU"/>
                <a:t> </a:t>
              </a:r>
            </a:p>
          </p:txBody>
        </p:sp>
        <p:sp>
          <p:nvSpPr>
            <p:cNvPr id="63003" name="Rectangle 539"/>
            <p:cNvSpPr>
              <a:spLocks noChangeArrowheads="1"/>
            </p:cNvSpPr>
            <p:nvPr/>
          </p:nvSpPr>
          <p:spPr bwMode="auto">
            <a:xfrm>
              <a:off x="1836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ru-RU"/>
                <a:t> </a:t>
              </a:r>
            </a:p>
          </p:txBody>
        </p:sp>
        <p:sp>
          <p:nvSpPr>
            <p:cNvPr id="63004" name="Rectangle 540"/>
            <p:cNvSpPr>
              <a:spLocks noChangeArrowheads="1"/>
            </p:cNvSpPr>
            <p:nvPr/>
          </p:nvSpPr>
          <p:spPr bwMode="auto">
            <a:xfrm>
              <a:off x="793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lang="ru-RU"/>
                <a:t> </a:t>
              </a:r>
            </a:p>
          </p:txBody>
        </p:sp>
      </p:grpSp>
      <p:grpSp>
        <p:nvGrpSpPr>
          <p:cNvPr id="63005" name="Group 541"/>
          <p:cNvGrpSpPr>
            <a:grpSpLocks/>
          </p:cNvGrpSpPr>
          <p:nvPr/>
        </p:nvGrpSpPr>
        <p:grpSpPr bwMode="auto">
          <a:xfrm>
            <a:off x="3492500" y="981075"/>
            <a:ext cx="2665413" cy="433388"/>
            <a:chOff x="793" y="2205"/>
            <a:chExt cx="4174" cy="363"/>
          </a:xfrm>
        </p:grpSpPr>
        <p:sp>
          <p:nvSpPr>
            <p:cNvPr id="63006" name="Rectangle 542"/>
            <p:cNvSpPr>
              <a:spLocks noChangeArrowheads="1"/>
            </p:cNvSpPr>
            <p:nvPr/>
          </p:nvSpPr>
          <p:spPr bwMode="auto">
            <a:xfrm>
              <a:off x="3923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ru-RU"/>
                <a:t> </a:t>
              </a:r>
            </a:p>
          </p:txBody>
        </p:sp>
        <p:sp>
          <p:nvSpPr>
            <p:cNvPr id="63007" name="Rectangle 543"/>
            <p:cNvSpPr>
              <a:spLocks noChangeArrowheads="1"/>
            </p:cNvSpPr>
            <p:nvPr/>
          </p:nvSpPr>
          <p:spPr bwMode="auto">
            <a:xfrm>
              <a:off x="2879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ru-RU"/>
                <a:t> </a:t>
              </a:r>
            </a:p>
          </p:txBody>
        </p:sp>
        <p:sp>
          <p:nvSpPr>
            <p:cNvPr id="63008" name="Rectangle 544"/>
            <p:cNvSpPr>
              <a:spLocks noChangeArrowheads="1"/>
            </p:cNvSpPr>
            <p:nvPr/>
          </p:nvSpPr>
          <p:spPr bwMode="auto">
            <a:xfrm>
              <a:off x="1836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ru-RU"/>
                <a:t> </a:t>
              </a:r>
            </a:p>
          </p:txBody>
        </p:sp>
        <p:sp>
          <p:nvSpPr>
            <p:cNvPr id="63009" name="Rectangle 545"/>
            <p:cNvSpPr>
              <a:spLocks noChangeArrowheads="1"/>
            </p:cNvSpPr>
            <p:nvPr/>
          </p:nvSpPr>
          <p:spPr bwMode="auto">
            <a:xfrm>
              <a:off x="793" y="2205"/>
              <a:ext cx="10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uz-Cyrl-UZ" b="1" i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ru-RU" b="1" i="1" baseline="-25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lang="ru-RU"/>
                <a:t> </a:t>
              </a:r>
            </a:p>
          </p:txBody>
        </p:sp>
      </p:grpSp>
      <p:sp>
        <p:nvSpPr>
          <p:cNvPr id="63010" name="Rectangle 546"/>
          <p:cNvSpPr>
            <a:spLocks noChangeArrowheads="1"/>
          </p:cNvSpPr>
          <p:nvPr/>
        </p:nvSpPr>
        <p:spPr bwMode="auto">
          <a:xfrm>
            <a:off x="611188" y="3211513"/>
            <a:ext cx="2735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2" name="Rectangle 558"/>
          <p:cNvSpPr>
            <a:spLocks noChangeArrowheads="1"/>
          </p:cNvSpPr>
          <p:nvPr/>
        </p:nvSpPr>
        <p:spPr bwMode="auto">
          <a:xfrm>
            <a:off x="611188" y="3644900"/>
            <a:ext cx="2735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3" name="Rectangle 559"/>
          <p:cNvSpPr>
            <a:spLocks noChangeArrowheads="1"/>
          </p:cNvSpPr>
          <p:nvPr/>
        </p:nvSpPr>
        <p:spPr bwMode="auto">
          <a:xfrm>
            <a:off x="611188" y="4076700"/>
            <a:ext cx="2735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4" name="Rectangle 560"/>
          <p:cNvSpPr>
            <a:spLocks noChangeArrowheads="1"/>
          </p:cNvSpPr>
          <p:nvPr/>
        </p:nvSpPr>
        <p:spPr bwMode="auto">
          <a:xfrm>
            <a:off x="611188" y="4508500"/>
            <a:ext cx="2735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5" name="Rectangle 561"/>
          <p:cNvSpPr>
            <a:spLocks noChangeArrowheads="1"/>
          </p:cNvSpPr>
          <p:nvPr/>
        </p:nvSpPr>
        <p:spPr bwMode="auto">
          <a:xfrm>
            <a:off x="611188" y="4941888"/>
            <a:ext cx="2735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6" name="Rectangle 562"/>
          <p:cNvSpPr>
            <a:spLocks noChangeArrowheads="1"/>
          </p:cNvSpPr>
          <p:nvPr/>
        </p:nvSpPr>
        <p:spPr bwMode="auto">
          <a:xfrm>
            <a:off x="3924300" y="3213100"/>
            <a:ext cx="2735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7" name="Rectangle 563"/>
          <p:cNvSpPr>
            <a:spLocks noChangeArrowheads="1"/>
          </p:cNvSpPr>
          <p:nvPr/>
        </p:nvSpPr>
        <p:spPr bwMode="auto">
          <a:xfrm>
            <a:off x="3924300" y="4941888"/>
            <a:ext cx="2735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8" name="Rectangle 564"/>
          <p:cNvSpPr>
            <a:spLocks noChangeArrowheads="1"/>
          </p:cNvSpPr>
          <p:nvPr/>
        </p:nvSpPr>
        <p:spPr bwMode="auto">
          <a:xfrm>
            <a:off x="3924300" y="3644900"/>
            <a:ext cx="2735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29" name="Rectangle 565"/>
          <p:cNvSpPr>
            <a:spLocks noChangeArrowheads="1"/>
          </p:cNvSpPr>
          <p:nvPr/>
        </p:nvSpPr>
        <p:spPr bwMode="auto">
          <a:xfrm>
            <a:off x="3924300" y="4076700"/>
            <a:ext cx="2735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30" name="Rectangle 566"/>
          <p:cNvSpPr>
            <a:spLocks noChangeArrowheads="1"/>
          </p:cNvSpPr>
          <p:nvPr/>
        </p:nvSpPr>
        <p:spPr bwMode="auto">
          <a:xfrm>
            <a:off x="3924300" y="4508500"/>
            <a:ext cx="2735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раунд</a:t>
            </a:r>
            <a:endParaRPr lang="ru-RU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031" name="Rectangle 567"/>
          <p:cNvSpPr>
            <a:spLocks noChangeArrowheads="1"/>
          </p:cNvSpPr>
          <p:nvPr/>
        </p:nvSpPr>
        <p:spPr bwMode="auto">
          <a:xfrm>
            <a:off x="1908175" y="3284538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2" name="Rectangle 568"/>
          <p:cNvSpPr>
            <a:spLocks noChangeArrowheads="1"/>
          </p:cNvSpPr>
          <p:nvPr/>
        </p:nvSpPr>
        <p:spPr bwMode="auto">
          <a:xfrm>
            <a:off x="2268538" y="3284538"/>
            <a:ext cx="3603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3" name="Rectangle 569"/>
          <p:cNvSpPr>
            <a:spLocks noChangeArrowheads="1"/>
          </p:cNvSpPr>
          <p:nvPr/>
        </p:nvSpPr>
        <p:spPr bwMode="auto">
          <a:xfrm>
            <a:off x="2627313" y="3284538"/>
            <a:ext cx="3603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4" name="Rectangle 570"/>
          <p:cNvSpPr>
            <a:spLocks noChangeArrowheads="1"/>
          </p:cNvSpPr>
          <p:nvPr/>
        </p:nvSpPr>
        <p:spPr bwMode="auto">
          <a:xfrm>
            <a:off x="2987675" y="3284538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5" name="Rectangle 571"/>
          <p:cNvSpPr>
            <a:spLocks noChangeArrowheads="1"/>
          </p:cNvSpPr>
          <p:nvPr/>
        </p:nvSpPr>
        <p:spPr bwMode="auto">
          <a:xfrm>
            <a:off x="1908175" y="37179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6" name="Rectangle 572"/>
          <p:cNvSpPr>
            <a:spLocks noChangeArrowheads="1"/>
          </p:cNvSpPr>
          <p:nvPr/>
        </p:nvSpPr>
        <p:spPr bwMode="auto">
          <a:xfrm>
            <a:off x="2268538" y="37179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7" name="Rectangle 573"/>
          <p:cNvSpPr>
            <a:spLocks noChangeArrowheads="1"/>
          </p:cNvSpPr>
          <p:nvPr/>
        </p:nvSpPr>
        <p:spPr bwMode="auto">
          <a:xfrm>
            <a:off x="2627313" y="37179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8" name="Rectangle 574"/>
          <p:cNvSpPr>
            <a:spLocks noChangeArrowheads="1"/>
          </p:cNvSpPr>
          <p:nvPr/>
        </p:nvSpPr>
        <p:spPr bwMode="auto">
          <a:xfrm>
            <a:off x="2987675" y="37179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39" name="Rectangle 575"/>
          <p:cNvSpPr>
            <a:spLocks noChangeArrowheads="1"/>
          </p:cNvSpPr>
          <p:nvPr/>
        </p:nvSpPr>
        <p:spPr bwMode="auto">
          <a:xfrm>
            <a:off x="1908175" y="41497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0" name="Rectangle 576"/>
          <p:cNvSpPr>
            <a:spLocks noChangeArrowheads="1"/>
          </p:cNvSpPr>
          <p:nvPr/>
        </p:nvSpPr>
        <p:spPr bwMode="auto">
          <a:xfrm>
            <a:off x="2268538" y="41497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1" name="Rectangle 577"/>
          <p:cNvSpPr>
            <a:spLocks noChangeArrowheads="1"/>
          </p:cNvSpPr>
          <p:nvPr/>
        </p:nvSpPr>
        <p:spPr bwMode="auto">
          <a:xfrm>
            <a:off x="2627313" y="41497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2" name="Rectangle 578"/>
          <p:cNvSpPr>
            <a:spLocks noChangeArrowheads="1"/>
          </p:cNvSpPr>
          <p:nvPr/>
        </p:nvSpPr>
        <p:spPr bwMode="auto">
          <a:xfrm>
            <a:off x="2987675" y="41497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3" name="Rectangle 579"/>
          <p:cNvSpPr>
            <a:spLocks noChangeArrowheads="1"/>
          </p:cNvSpPr>
          <p:nvPr/>
        </p:nvSpPr>
        <p:spPr bwMode="auto">
          <a:xfrm>
            <a:off x="1908175" y="45815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4" name="Rectangle 580"/>
          <p:cNvSpPr>
            <a:spLocks noChangeArrowheads="1"/>
          </p:cNvSpPr>
          <p:nvPr/>
        </p:nvSpPr>
        <p:spPr bwMode="auto">
          <a:xfrm>
            <a:off x="2268538" y="45815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5" name="Rectangle 581"/>
          <p:cNvSpPr>
            <a:spLocks noChangeArrowheads="1"/>
          </p:cNvSpPr>
          <p:nvPr/>
        </p:nvSpPr>
        <p:spPr bwMode="auto">
          <a:xfrm>
            <a:off x="2627313" y="45815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6" name="Rectangle 582"/>
          <p:cNvSpPr>
            <a:spLocks noChangeArrowheads="1"/>
          </p:cNvSpPr>
          <p:nvPr/>
        </p:nvSpPr>
        <p:spPr bwMode="auto">
          <a:xfrm>
            <a:off x="2987675" y="45815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7" name="Rectangle 583"/>
          <p:cNvSpPr>
            <a:spLocks noChangeArrowheads="1"/>
          </p:cNvSpPr>
          <p:nvPr/>
        </p:nvSpPr>
        <p:spPr bwMode="auto">
          <a:xfrm>
            <a:off x="1908175" y="50133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8" name="Rectangle 584"/>
          <p:cNvSpPr>
            <a:spLocks noChangeArrowheads="1"/>
          </p:cNvSpPr>
          <p:nvPr/>
        </p:nvSpPr>
        <p:spPr bwMode="auto">
          <a:xfrm>
            <a:off x="2268538" y="50133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49" name="Rectangle 585"/>
          <p:cNvSpPr>
            <a:spLocks noChangeArrowheads="1"/>
          </p:cNvSpPr>
          <p:nvPr/>
        </p:nvSpPr>
        <p:spPr bwMode="auto">
          <a:xfrm>
            <a:off x="2627313" y="50133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0" name="Rectangle 586"/>
          <p:cNvSpPr>
            <a:spLocks noChangeArrowheads="1"/>
          </p:cNvSpPr>
          <p:nvPr/>
        </p:nvSpPr>
        <p:spPr bwMode="auto">
          <a:xfrm>
            <a:off x="2987675" y="50133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1" name="Rectangle 587"/>
          <p:cNvSpPr>
            <a:spLocks noChangeArrowheads="1"/>
          </p:cNvSpPr>
          <p:nvPr/>
        </p:nvSpPr>
        <p:spPr bwMode="auto">
          <a:xfrm>
            <a:off x="5219700" y="3284538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2" name="Rectangle 588"/>
          <p:cNvSpPr>
            <a:spLocks noChangeArrowheads="1"/>
          </p:cNvSpPr>
          <p:nvPr/>
        </p:nvSpPr>
        <p:spPr bwMode="auto">
          <a:xfrm>
            <a:off x="5580063" y="3284538"/>
            <a:ext cx="3603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3" name="Rectangle 589"/>
          <p:cNvSpPr>
            <a:spLocks noChangeArrowheads="1"/>
          </p:cNvSpPr>
          <p:nvPr/>
        </p:nvSpPr>
        <p:spPr bwMode="auto">
          <a:xfrm>
            <a:off x="5938838" y="3284538"/>
            <a:ext cx="3603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4" name="Rectangle 590"/>
          <p:cNvSpPr>
            <a:spLocks noChangeArrowheads="1"/>
          </p:cNvSpPr>
          <p:nvPr/>
        </p:nvSpPr>
        <p:spPr bwMode="auto">
          <a:xfrm>
            <a:off x="6299200" y="3284538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5" name="Rectangle 591"/>
          <p:cNvSpPr>
            <a:spLocks noChangeArrowheads="1"/>
          </p:cNvSpPr>
          <p:nvPr/>
        </p:nvSpPr>
        <p:spPr bwMode="auto">
          <a:xfrm>
            <a:off x="5219700" y="3716338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6" name="Rectangle 592"/>
          <p:cNvSpPr>
            <a:spLocks noChangeArrowheads="1"/>
          </p:cNvSpPr>
          <p:nvPr/>
        </p:nvSpPr>
        <p:spPr bwMode="auto">
          <a:xfrm>
            <a:off x="5580063" y="3716338"/>
            <a:ext cx="3603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7" name="Rectangle 593"/>
          <p:cNvSpPr>
            <a:spLocks noChangeArrowheads="1"/>
          </p:cNvSpPr>
          <p:nvPr/>
        </p:nvSpPr>
        <p:spPr bwMode="auto">
          <a:xfrm>
            <a:off x="5938838" y="3716338"/>
            <a:ext cx="360362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8" name="Rectangle 594"/>
          <p:cNvSpPr>
            <a:spLocks noChangeArrowheads="1"/>
          </p:cNvSpPr>
          <p:nvPr/>
        </p:nvSpPr>
        <p:spPr bwMode="auto">
          <a:xfrm>
            <a:off x="6299200" y="3716338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59" name="Rectangle 595"/>
          <p:cNvSpPr>
            <a:spLocks noChangeArrowheads="1"/>
          </p:cNvSpPr>
          <p:nvPr/>
        </p:nvSpPr>
        <p:spPr bwMode="auto">
          <a:xfrm>
            <a:off x="5219700" y="41497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0" name="Rectangle 596"/>
          <p:cNvSpPr>
            <a:spLocks noChangeArrowheads="1"/>
          </p:cNvSpPr>
          <p:nvPr/>
        </p:nvSpPr>
        <p:spPr bwMode="auto">
          <a:xfrm>
            <a:off x="5580063" y="41497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1" name="Rectangle 597"/>
          <p:cNvSpPr>
            <a:spLocks noChangeArrowheads="1"/>
          </p:cNvSpPr>
          <p:nvPr/>
        </p:nvSpPr>
        <p:spPr bwMode="auto">
          <a:xfrm>
            <a:off x="5938838" y="41497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2" name="Rectangle 598"/>
          <p:cNvSpPr>
            <a:spLocks noChangeArrowheads="1"/>
          </p:cNvSpPr>
          <p:nvPr/>
        </p:nvSpPr>
        <p:spPr bwMode="auto">
          <a:xfrm>
            <a:off x="6299200" y="41497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3" name="Rectangle 599"/>
          <p:cNvSpPr>
            <a:spLocks noChangeArrowheads="1"/>
          </p:cNvSpPr>
          <p:nvPr/>
        </p:nvSpPr>
        <p:spPr bwMode="auto">
          <a:xfrm>
            <a:off x="5219700" y="45815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4" name="Rectangle 600"/>
          <p:cNvSpPr>
            <a:spLocks noChangeArrowheads="1"/>
          </p:cNvSpPr>
          <p:nvPr/>
        </p:nvSpPr>
        <p:spPr bwMode="auto">
          <a:xfrm>
            <a:off x="5580063" y="45815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5" name="Rectangle 601"/>
          <p:cNvSpPr>
            <a:spLocks noChangeArrowheads="1"/>
          </p:cNvSpPr>
          <p:nvPr/>
        </p:nvSpPr>
        <p:spPr bwMode="auto">
          <a:xfrm>
            <a:off x="5938838" y="45815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6" name="Rectangle 602"/>
          <p:cNvSpPr>
            <a:spLocks noChangeArrowheads="1"/>
          </p:cNvSpPr>
          <p:nvPr/>
        </p:nvSpPr>
        <p:spPr bwMode="auto">
          <a:xfrm>
            <a:off x="6299200" y="45815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7" name="Rectangle 603"/>
          <p:cNvSpPr>
            <a:spLocks noChangeArrowheads="1"/>
          </p:cNvSpPr>
          <p:nvPr/>
        </p:nvSpPr>
        <p:spPr bwMode="auto">
          <a:xfrm>
            <a:off x="5219700" y="50133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8" name="Rectangle 604"/>
          <p:cNvSpPr>
            <a:spLocks noChangeArrowheads="1"/>
          </p:cNvSpPr>
          <p:nvPr/>
        </p:nvSpPr>
        <p:spPr bwMode="auto">
          <a:xfrm>
            <a:off x="5580063" y="50133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69" name="Rectangle 605"/>
          <p:cNvSpPr>
            <a:spLocks noChangeArrowheads="1"/>
          </p:cNvSpPr>
          <p:nvPr/>
        </p:nvSpPr>
        <p:spPr bwMode="auto">
          <a:xfrm>
            <a:off x="5938838" y="50133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70" name="Rectangle 606"/>
          <p:cNvSpPr>
            <a:spLocks noChangeArrowheads="1"/>
          </p:cNvSpPr>
          <p:nvPr/>
        </p:nvSpPr>
        <p:spPr bwMode="auto">
          <a:xfrm>
            <a:off x="6299200" y="5013325"/>
            <a:ext cx="360363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3074" name="Rectangle 610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4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076" name="Group 612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077" name="Rectangle 613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5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078" name="Rectangle 614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6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079" name="Rectangle 615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7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grpSp>
        <p:nvGrpSpPr>
          <p:cNvPr id="63093" name="Group 629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094" name="Rectangle 630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9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095" name="Rectangle 631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10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096" name="Rectangle 632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11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097" name="Rectangle 633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8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098" name="Group 634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099" name="Rectangle 635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13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00" name="Rectangle 636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14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01" name="Rectangle 637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15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02" name="Rectangle 638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12</a:t>
            </a:r>
            <a:endParaRPr lang="ru-RU" sz="1200" b="1" i="1">
              <a:solidFill>
                <a:schemeClr val="bg1"/>
              </a:solidFill>
            </a:endParaRPr>
          </a:p>
        </p:txBody>
      </p:sp>
      <p:sp>
        <p:nvSpPr>
          <p:cNvPr id="63103" name="Rectangle 639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16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104" name="Group 640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05" name="Rectangle 641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17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06" name="Rectangle 642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18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07" name="Rectangle 643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19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grpSp>
        <p:nvGrpSpPr>
          <p:cNvPr id="63108" name="Group 644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09" name="Rectangle 645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21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10" name="Rectangle 646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22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11" name="Rectangle 647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23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12" name="Rectangle 648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20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113" name="Group 649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14" name="Rectangle 650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25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15" name="Rectangle 651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26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16" name="Rectangle 652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27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17" name="Rectangle 653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24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118" name="Group 654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19" name="Rectangle 655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uz-Cyrl-UZ" sz="1200" b="1" i="1" baseline="-25000">
                  <a:solidFill>
                    <a:schemeClr val="bg1"/>
                  </a:solidFill>
                </a:rPr>
                <a:t>2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9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20" name="Rectangle 656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30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21" name="Rectangle 657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31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30" name="Rectangle 666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uz-Cyrl-UZ" sz="1200" b="1" i="1" baseline="-25000">
                <a:solidFill>
                  <a:schemeClr val="bg1"/>
                </a:solidFill>
              </a:rPr>
              <a:t>2</a:t>
            </a:r>
            <a:r>
              <a:rPr lang="en-US" sz="1200" b="1" i="1" baseline="-25000">
                <a:solidFill>
                  <a:schemeClr val="bg1"/>
                </a:solidFill>
              </a:rPr>
              <a:t>8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131" name="Group 667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32" name="Rectangle 668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33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33" name="Rectangle 669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34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34" name="Rectangle 670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35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35" name="Rectangle 671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en-US" sz="1200" b="1" i="1" baseline="-25000">
                <a:solidFill>
                  <a:schemeClr val="bg1"/>
                </a:solidFill>
              </a:rPr>
              <a:t>32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136" name="Group 672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37" name="Rectangle 673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37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38" name="Rectangle 674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38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39" name="Rectangle 675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39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40" name="Rectangle 676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en-US" sz="1200" b="1" i="1" baseline="-25000">
                <a:solidFill>
                  <a:schemeClr val="bg1"/>
                </a:solidFill>
              </a:rPr>
              <a:t>36</a:t>
            </a:r>
            <a:endParaRPr lang="ru-RU" sz="1200" b="1" i="1">
              <a:solidFill>
                <a:schemeClr val="bg1"/>
              </a:solidFill>
            </a:endParaRPr>
          </a:p>
        </p:txBody>
      </p:sp>
      <p:grpSp>
        <p:nvGrpSpPr>
          <p:cNvPr id="63141" name="Group 677"/>
          <p:cNvGrpSpPr>
            <a:grpSpLocks/>
          </p:cNvGrpSpPr>
          <p:nvPr/>
        </p:nvGrpSpPr>
        <p:grpSpPr bwMode="auto">
          <a:xfrm>
            <a:off x="323850" y="2349500"/>
            <a:ext cx="1079500" cy="287338"/>
            <a:chOff x="884" y="3657"/>
            <a:chExt cx="680" cy="181"/>
          </a:xfrm>
        </p:grpSpPr>
        <p:sp>
          <p:nvSpPr>
            <p:cNvPr id="63142" name="Rectangle 678"/>
            <p:cNvSpPr>
              <a:spLocks noChangeArrowheads="1"/>
            </p:cNvSpPr>
            <p:nvPr/>
          </p:nvSpPr>
          <p:spPr bwMode="auto">
            <a:xfrm>
              <a:off x="884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41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43" name="Rectangle 679"/>
            <p:cNvSpPr>
              <a:spLocks noChangeArrowheads="1"/>
            </p:cNvSpPr>
            <p:nvPr/>
          </p:nvSpPr>
          <p:spPr bwMode="auto">
            <a:xfrm>
              <a:off x="1111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42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  <p:sp>
          <p:nvSpPr>
            <p:cNvPr id="63144" name="Rectangle 680"/>
            <p:cNvSpPr>
              <a:spLocks noChangeArrowheads="1"/>
            </p:cNvSpPr>
            <p:nvPr/>
          </p:nvSpPr>
          <p:spPr bwMode="auto">
            <a:xfrm>
              <a:off x="1337" y="3657"/>
              <a:ext cx="22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sz="1200" b="1" i="1">
                  <a:solidFill>
                    <a:schemeClr val="bg1"/>
                  </a:solidFill>
                </a:rPr>
                <a:t>w</a:t>
              </a:r>
              <a:r>
                <a:rPr lang="en-US" sz="1200" b="1" i="1" baseline="-25000">
                  <a:solidFill>
                    <a:schemeClr val="bg1"/>
                  </a:solidFill>
                </a:rPr>
                <a:t>43</a:t>
              </a:r>
              <a:endParaRPr lang="ru-RU" sz="1200" b="1" i="1">
                <a:solidFill>
                  <a:schemeClr val="bg1"/>
                </a:solidFill>
              </a:endParaRPr>
            </a:p>
          </p:txBody>
        </p:sp>
      </p:grpSp>
      <p:sp>
        <p:nvSpPr>
          <p:cNvPr id="63145" name="Rectangle 681"/>
          <p:cNvSpPr>
            <a:spLocks noChangeArrowheads="1"/>
          </p:cNvSpPr>
          <p:nvPr/>
        </p:nvSpPr>
        <p:spPr bwMode="auto">
          <a:xfrm>
            <a:off x="3779838" y="2349500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chemeClr val="bg1"/>
                </a:solidFill>
              </a:rPr>
              <a:t>w</a:t>
            </a:r>
            <a:r>
              <a:rPr lang="en-US" sz="1200" b="1" i="1" baseline="-25000">
                <a:solidFill>
                  <a:schemeClr val="bg1"/>
                </a:solidFill>
              </a:rPr>
              <a:t>40</a:t>
            </a:r>
            <a:endParaRPr lang="ru-RU" sz="1200" b="1" i="1">
              <a:solidFill>
                <a:schemeClr val="bg1"/>
              </a:solidFill>
            </a:endParaRPr>
          </a:p>
        </p:txBody>
      </p:sp>
      <p:sp>
        <p:nvSpPr>
          <p:cNvPr id="63146" name="Rectangle 682"/>
          <p:cNvSpPr>
            <a:spLocks noChangeArrowheads="1"/>
          </p:cNvSpPr>
          <p:nvPr/>
        </p:nvSpPr>
        <p:spPr bwMode="auto">
          <a:xfrm>
            <a:off x="611188" y="5373688"/>
            <a:ext cx="6048375" cy="215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200" b="1" i="1">
                <a:solidFill>
                  <a:srgbClr val="DE1202"/>
                </a:solidFill>
                <a:latin typeface="Times New Roman" pitchFamily="18" charset="0"/>
                <a:cs typeface="Times New Roman" pitchFamily="18" charset="0"/>
              </a:rPr>
              <a:t>Шифрлаш алгоритмининг </a:t>
            </a:r>
            <a:r>
              <a:rPr lang="ru-RU" sz="1200" b="1" i="1">
                <a:solidFill>
                  <a:srgbClr val="DE120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200" b="1" i="1">
                <a:solidFill>
                  <a:srgbClr val="DE1202"/>
                </a:solidFill>
                <a:latin typeface="Times New Roman" pitchFamily="18" charset="0"/>
                <a:cs typeface="Times New Roman" pitchFamily="18" charset="0"/>
              </a:rPr>
              <a:t>раунд калитлари.</a:t>
            </a:r>
            <a:endParaRPr lang="ru-RU" sz="1200" b="1" i="1">
              <a:solidFill>
                <a:srgbClr val="DE120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149" name="Rectangle 685"/>
          <p:cNvSpPr>
            <a:spLocks noChangeArrowheads="1"/>
          </p:cNvSpPr>
          <p:nvPr/>
        </p:nvSpPr>
        <p:spPr bwMode="auto">
          <a:xfrm>
            <a:off x="7164388" y="3284538"/>
            <a:ext cx="1655762" cy="1296987"/>
          </a:xfrm>
          <a:prstGeom prst="rect">
            <a:avLst/>
          </a:prstGeom>
          <a:solidFill>
            <a:schemeClr val="accent2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Тасвирий</a:t>
            </a:r>
          </a:p>
          <a:p>
            <a:pPr algn="ctr"/>
            <a:r>
              <a:rPr lang="uz-Cyrl-UZ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ифода</a:t>
            </a:r>
          </a:p>
          <a:p>
            <a:pPr algn="ctr"/>
            <a:r>
              <a:rPr lang="uz-Cyrl-UZ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Wingdings 2" pitchFamily="18" charset="2"/>
              </a:rPr>
              <a:t></a:t>
            </a:r>
            <a:r>
              <a:rPr lang="uz-Cyrl-UZ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150" name="Rectangle 686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684213" y="6237288"/>
            <a:ext cx="12239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i="1">
                <a:solidFill>
                  <a:srgbClr val="800000"/>
                </a:solidFill>
              </a:rPr>
              <a:t>SubWord</a:t>
            </a:r>
            <a:endParaRPr lang="ru-RU" b="1" i="1">
              <a:solidFill>
                <a:srgbClr val="800000"/>
              </a:solidFill>
            </a:endParaRPr>
          </a:p>
        </p:txBody>
      </p:sp>
      <p:sp>
        <p:nvSpPr>
          <p:cNvPr id="63151" name="Rectangle 68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052638" y="6237288"/>
            <a:ext cx="12239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i="1">
                <a:solidFill>
                  <a:srgbClr val="800000"/>
                </a:solidFill>
              </a:rPr>
              <a:t>RotWord</a:t>
            </a:r>
            <a:endParaRPr lang="ru-RU" b="1" i="1">
              <a:solidFill>
                <a:srgbClr val="800000"/>
              </a:solidFill>
            </a:endParaRPr>
          </a:p>
        </p:txBody>
      </p:sp>
      <p:sp>
        <p:nvSpPr>
          <p:cNvPr id="63152" name="Rectangle 688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3421063" y="6237288"/>
            <a:ext cx="12954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i="1">
                <a:solidFill>
                  <a:srgbClr val="800000"/>
                </a:solidFill>
              </a:rPr>
              <a:t>Rcon</a:t>
            </a:r>
            <a:r>
              <a:rPr lang="uz-Cyrl-UZ" b="1" i="1">
                <a:solidFill>
                  <a:srgbClr val="800000"/>
                </a:solidFill>
              </a:rPr>
              <a:t> </a:t>
            </a:r>
            <a:endParaRPr lang="ru-RU" b="1" i="1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626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2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6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6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6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6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6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6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6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6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6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6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6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6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6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6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6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6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6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6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6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6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6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6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62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16667E-6 -6.2963E-6 L -0.34999 0.18749 " pathEditMode="relative" ptsTypes="AA">
                                      <p:cBhvr>
                                        <p:cTn id="215" dur="3000" fill="hold"/>
                                        <p:tgtEl>
                                          <p:spTgt spid="630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0.18281 0.1875 " pathEditMode="relative" ptsTypes="AA">
                                      <p:cBhvr>
                                        <p:cTn id="217" dur="3000" fill="hold"/>
                                        <p:tgtEl>
                                          <p:spTgt spid="630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630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63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6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20312 0.1375 " pathEditMode="relative" ptsTypes="AA">
                                      <p:cBhvr>
                                        <p:cTn id="236" dur="2000" fill="hold"/>
                                        <p:tgtEl>
                                          <p:spTgt spid="6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2165 0.13657 " pathEditMode="relative" rAng="0" ptsTypes="AA">
                                      <p:cBhvr>
                                        <p:cTn id="238" dur="2000" fill="hold"/>
                                        <p:tgtEl>
                                          <p:spTgt spid="630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6" y="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6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2165 0.19953 " pathEditMode="relative" rAng="0" ptsTypes="AA">
                                      <p:cBhvr>
                                        <p:cTn id="249" dur="2000" fill="hold"/>
                                        <p:tgtEl>
                                          <p:spTgt spid="63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6" y="9977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-0.20469 0.19953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630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43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6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2165 0.2625 " pathEditMode="relative" rAng="0" ptsTypes="AA">
                                      <p:cBhvr>
                                        <p:cTn id="261" dur="500" fill="hold"/>
                                        <p:tgtEl>
                                          <p:spTgt spid="630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6" y="13125"/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-0.2007 0.2625 " pathEditMode="relative" rAng="0" ptsTypes="AA">
                                      <p:cBhvr>
                                        <p:cTn id="263" dur="500" fill="hold"/>
                                        <p:tgtEl>
                                          <p:spTgt spid="63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35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6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-0.2007 0.32546 " pathEditMode="relative" rAng="0" ptsTypes="AA">
                                      <p:cBhvr>
                                        <p:cTn id="273" dur="500" fill="hold"/>
                                        <p:tgtEl>
                                          <p:spTgt spid="63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35" y="16273"/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2165 0.32546 " pathEditMode="relative" rAng="0" ptsTypes="AA">
                                      <p:cBhvr>
                                        <p:cTn id="275" dur="500" fill="hold"/>
                                        <p:tgtEl>
                                          <p:spTgt spid="63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6" y="1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8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2165 0.38865 " pathEditMode="relative" rAng="0" ptsTypes="AA">
                                      <p:cBhvr>
                                        <p:cTn id="285" dur="500" fill="hold"/>
                                        <p:tgtEl>
                                          <p:spTgt spid="63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6" y="19421"/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-0.2007 0.38865 " pathEditMode="relative" rAng="0" ptsTypes="AA">
                                      <p:cBhvr>
                                        <p:cTn id="287" dur="500" fill="hold"/>
                                        <p:tgtEl>
                                          <p:spTgt spid="63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35" y="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6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57882 0.13657 " pathEditMode="relative" rAng="0" ptsTypes="AA">
                                      <p:cBhvr>
                                        <p:cTn id="297" dur="500" fill="hold"/>
                                        <p:tgtEl>
                                          <p:spTgt spid="63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41" y="6829"/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145 0.13657 " pathEditMode="relative" rAng="0" ptsTypes="AA">
                                      <p:cBhvr>
                                        <p:cTn id="299" dur="500" fill="hold"/>
                                        <p:tgtEl>
                                          <p:spTgt spid="63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6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6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0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145 0.19953 " pathEditMode="relative" rAng="0" ptsTypes="AA">
                                      <p:cBhvr>
                                        <p:cTn id="309" dur="500" fill="hold"/>
                                        <p:tgtEl>
                                          <p:spTgt spid="63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9977"/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57882 0.19953 " pathEditMode="relative" rAng="0" ptsTypes="AA">
                                      <p:cBhvr>
                                        <p:cTn id="311" dur="500" fill="hold"/>
                                        <p:tgtEl>
                                          <p:spTgt spid="63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41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6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6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145 0.2625 " pathEditMode="relative" rAng="0" ptsTypes="AA">
                                      <p:cBhvr>
                                        <p:cTn id="321" dur="500" fill="hold"/>
                                        <p:tgtEl>
                                          <p:spTgt spid="63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13125"/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57882 0.2625 " pathEditMode="relative" rAng="0" ptsTypes="AA">
                                      <p:cBhvr>
                                        <p:cTn id="323" dur="500" fill="hold"/>
                                        <p:tgtEl>
                                          <p:spTgt spid="63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41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3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6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6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3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145 0.32546 " pathEditMode="relative" rAng="0" ptsTypes="AA">
                                      <p:cBhvr>
                                        <p:cTn id="333" dur="500" fill="hold"/>
                                        <p:tgtEl>
                                          <p:spTgt spid="63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16273"/>
                                    </p:animMotion>
                                  </p:childTnLst>
                                </p:cTn>
                              </p:par>
                              <p:par>
                                <p:cTn id="33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57882 0.32546 " pathEditMode="relative" rAng="0" ptsTypes="AA">
                                      <p:cBhvr>
                                        <p:cTn id="335" dur="500" fill="hold"/>
                                        <p:tgtEl>
                                          <p:spTgt spid="63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41" y="1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6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6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4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145 0.38865 " pathEditMode="relative" rAng="0" ptsTypes="AA">
                                      <p:cBhvr>
                                        <p:cTn id="345" dur="500" fill="hold"/>
                                        <p:tgtEl>
                                          <p:spTgt spid="63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19421"/>
                                    </p:animMotion>
                                  </p:childTnLst>
                                </p:cTn>
                              </p:par>
                              <p:par>
                                <p:cTn id="3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0.57882 0.38865 " pathEditMode="relative" rAng="0" ptsTypes="AA">
                                      <p:cBhvr>
                                        <p:cTn id="347" dur="500" fill="hold"/>
                                        <p:tgtEl>
                                          <p:spTgt spid="63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41" y="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47" grpId="0" animBg="1"/>
      <p:bldP spid="62621" grpId="0"/>
      <p:bldP spid="62884" grpId="0" animBg="1"/>
      <p:bldP spid="62885" grpId="0" animBg="1"/>
      <p:bldP spid="62887" grpId="0" animBg="1"/>
      <p:bldP spid="62888" grpId="0" animBg="1"/>
      <p:bldP spid="62888" grpId="1" animBg="1"/>
      <p:bldP spid="63010" grpId="0" animBg="1"/>
      <p:bldP spid="63022" grpId="0" animBg="1"/>
      <p:bldP spid="63023" grpId="0" animBg="1"/>
      <p:bldP spid="63024" grpId="0" animBg="1"/>
      <p:bldP spid="63025" grpId="0" animBg="1"/>
      <p:bldP spid="63026" grpId="0" animBg="1"/>
      <p:bldP spid="63027" grpId="0" animBg="1"/>
      <p:bldP spid="63028" grpId="0" animBg="1"/>
      <p:bldP spid="63029" grpId="0" animBg="1"/>
      <p:bldP spid="63030" grpId="0" animBg="1"/>
      <p:bldP spid="63031" grpId="0" animBg="1"/>
      <p:bldP spid="63032" grpId="0" animBg="1"/>
      <p:bldP spid="63033" grpId="0" animBg="1"/>
      <p:bldP spid="63034" grpId="0" animBg="1"/>
      <p:bldP spid="63035" grpId="0" animBg="1"/>
      <p:bldP spid="63036" grpId="0" animBg="1"/>
      <p:bldP spid="63037" grpId="0" animBg="1"/>
      <p:bldP spid="63038" grpId="0" animBg="1"/>
      <p:bldP spid="63039" grpId="0" animBg="1"/>
      <p:bldP spid="63040" grpId="0" animBg="1"/>
      <p:bldP spid="63041" grpId="0" animBg="1"/>
      <p:bldP spid="63042" grpId="0" animBg="1"/>
      <p:bldP spid="63043" grpId="0" animBg="1"/>
      <p:bldP spid="63044" grpId="0" animBg="1"/>
      <p:bldP spid="63045" grpId="0" animBg="1"/>
      <p:bldP spid="63046" grpId="0" animBg="1"/>
      <p:bldP spid="63047" grpId="0" animBg="1"/>
      <p:bldP spid="63048" grpId="0" animBg="1"/>
      <p:bldP spid="63049" grpId="0" animBg="1"/>
      <p:bldP spid="63050" grpId="0" animBg="1"/>
      <p:bldP spid="63051" grpId="0" animBg="1"/>
      <p:bldP spid="63052" grpId="0" animBg="1"/>
      <p:bldP spid="63053" grpId="0" animBg="1"/>
      <p:bldP spid="63054" grpId="0" animBg="1"/>
      <p:bldP spid="63055" grpId="0" animBg="1"/>
      <p:bldP spid="63056" grpId="0" animBg="1"/>
      <p:bldP spid="63057" grpId="0" animBg="1"/>
      <p:bldP spid="63058" grpId="0" animBg="1"/>
      <p:bldP spid="63059" grpId="0" animBg="1"/>
      <p:bldP spid="63060" grpId="0" animBg="1"/>
      <p:bldP spid="63061" grpId="0" animBg="1"/>
      <p:bldP spid="63062" grpId="0" animBg="1"/>
      <p:bldP spid="63063" grpId="0" animBg="1"/>
      <p:bldP spid="63064" grpId="0" animBg="1"/>
      <p:bldP spid="63065" grpId="0" animBg="1"/>
      <p:bldP spid="63066" grpId="0" animBg="1"/>
      <p:bldP spid="63067" grpId="0" animBg="1"/>
      <p:bldP spid="63068" grpId="0" animBg="1"/>
      <p:bldP spid="63069" grpId="0" animBg="1"/>
      <p:bldP spid="63070" grpId="0" animBg="1"/>
      <p:bldP spid="63074" grpId="0" animBg="1"/>
      <p:bldP spid="63074" grpId="1" animBg="1"/>
      <p:bldP spid="63097" grpId="0" animBg="1"/>
      <p:bldP spid="63097" grpId="1" animBg="1"/>
      <p:bldP spid="63102" grpId="0" animBg="1"/>
      <p:bldP spid="63102" grpId="1" animBg="1"/>
      <p:bldP spid="63103" grpId="0" animBg="1"/>
      <p:bldP spid="63103" grpId="1" animBg="1"/>
      <p:bldP spid="63112" grpId="0" animBg="1"/>
      <p:bldP spid="63112" grpId="1" animBg="1"/>
      <p:bldP spid="63117" grpId="0" animBg="1"/>
      <p:bldP spid="63117" grpId="1" animBg="1"/>
      <p:bldP spid="63130" grpId="0" animBg="1"/>
      <p:bldP spid="63130" grpId="1" animBg="1"/>
      <p:bldP spid="63135" grpId="0" animBg="1"/>
      <p:bldP spid="63135" grpId="1" animBg="1"/>
      <p:bldP spid="63140" grpId="0" animBg="1"/>
      <p:bldP spid="63140" grpId="1" animBg="1"/>
      <p:bldP spid="63145" grpId="0" animBg="1"/>
      <p:bldP spid="63145" grpId="1" animBg="1"/>
      <p:bldP spid="63146" grpId="0" animBg="1"/>
      <p:bldP spid="63149" grpId="0" animBg="1"/>
      <p:bldP spid="63150" grpId="0" animBg="1"/>
      <p:bldP spid="63151" grpId="0" animBg="1"/>
      <p:bldP spid="631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2" name="Group 4"/>
          <p:cNvGrpSpPr>
            <a:grpSpLocks/>
          </p:cNvGrpSpPr>
          <p:nvPr/>
        </p:nvGrpSpPr>
        <p:grpSpPr bwMode="auto">
          <a:xfrm>
            <a:off x="971550" y="227013"/>
            <a:ext cx="7696200" cy="685800"/>
            <a:chOff x="664" y="104"/>
            <a:chExt cx="4848" cy="432"/>
          </a:xfrm>
        </p:grpSpPr>
        <p:sp>
          <p:nvSpPr>
            <p:cNvPr id="89093" name="Freeform 5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89094" name="Group 6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89095" name="Group 7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89096" name="Freeform 8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097" name="Freeform 9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098" name="Freeform 10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099" name="Freeform 11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0" name="Freeform 12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1" name="Freeform 13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2" name="Freeform 14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3" name="Freeform 15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4" name="Freeform 16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5" name="Freeform 17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6" name="Freeform 18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7" name="Freeform 19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8" name="Freeform 20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09" name="Freeform 21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0" name="Freeform 22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1" name="Freeform 23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2" name="Freeform 24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3" name="Freeform 25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4" name="Freeform 26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5" name="Freeform 27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6" name="Freeform 28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7" name="Freeform 29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8" name="Freeform 30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19" name="Freeform 31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0" name="Freeform 32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1" name="Freeform 33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2" name="Freeform 34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3" name="Freeform 35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4" name="Freeform 36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5" name="Freeform 37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6" name="Freeform 38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7" name="Freeform 39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8" name="Freeform 40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29" name="Freeform 41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0" name="Freeform 42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1" name="Freeform 43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2" name="Freeform 44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3" name="Freeform 45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4" name="Freeform 46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5" name="Freeform 47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6" name="Freeform 48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7" name="Freeform 49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8" name="Freeform 50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39" name="Freeform 51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0" name="Freeform 52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1" name="Freeform 53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2" name="Freeform 54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3" name="Freeform 55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4" name="Freeform 56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5" name="Freeform 57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6" name="Freeform 58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7" name="Freeform 59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8" name="Freeform 60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49" name="Freeform 61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0" name="Freeform 62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1" name="Freeform 63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89152" name="Group 64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89153" name="Freeform 65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4" name="Freeform 66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5" name="Freeform 67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6" name="Freeform 68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7" name="Freeform 69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8" name="Freeform 70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59" name="Freeform 71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0" name="Freeform 72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1" name="Freeform 73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2" name="Freeform 74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3" name="Freeform 75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4" name="Freeform 76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5" name="Freeform 77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6" name="Freeform 78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7" name="Freeform 79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8" name="Freeform 80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69" name="Freeform 81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0" name="Freeform 82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1" name="Freeform 83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2" name="Freeform 84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3" name="Freeform 85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4" name="Freeform 86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5" name="Freeform 87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6" name="Freeform 88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7" name="Freeform 89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8" name="Freeform 90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79" name="Freeform 91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0" name="Freeform 92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1" name="Freeform 93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2" name="Freeform 94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3" name="Freeform 95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4" name="Freeform 96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5" name="Freeform 97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6" name="Freeform 98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7" name="Freeform 99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8" name="Freeform 100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89" name="Freeform 101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90" name="Freeform 102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91" name="Freeform 103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92" name="Freeform 104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93" name="Freeform 105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9194" name="Freeform 106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89195" name="Group 107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89196" name="Line 108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197" name="Line 109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198" name="Line 110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199" name="Line 111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0" name="Line 112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1" name="Line 113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2" name="Line 114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3" name="Line 115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4" name="Line 116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5" name="Line 117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6" name="Line 118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7" name="Line 119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8" name="Line 120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09" name="Line 121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0" name="Line 122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1" name="Line 123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2" name="Line 124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3" name="Line 125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4" name="Line 126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5" name="Line 127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6" name="Line 128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89217" name="Group 129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89218" name="Line 130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19" name="Line 131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0" name="Line 132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1" name="Line 133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2" name="Line 134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3" name="Line 135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4" name="Line 136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5" name="Line 137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6" name="Line 138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7" name="Line 139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8" name="Line 140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29" name="Line 141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0" name="Line 142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1" name="Line 143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2" name="Line 144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3" name="Line 145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4" name="Line 146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5" name="Line 147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6" name="Line 148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7" name="Line 149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8" name="Line 150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39" name="Line 151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40" name="Line 152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41" name="Line 153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9242" name="Line 154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89243" name="Picture 155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9225"/>
            <a:ext cx="89217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244" name="Text Box 156"/>
          <p:cNvSpPr txBox="1">
            <a:spLocks noGrp="1" noChangeArrowheads="1"/>
          </p:cNvSpPr>
          <p:nvPr>
            <p:ph type="body" idx="1"/>
          </p:nvPr>
        </p:nvSpPr>
        <p:spPr>
          <a:xfrm>
            <a:off x="468313" y="3068638"/>
            <a:ext cx="8229600" cy="2016125"/>
          </a:xfrm>
          <a:noFill/>
          <a:ln/>
        </p:spPr>
        <p:txBody>
          <a:bodyPr/>
          <a:lstStyle>
            <a:lvl1pPr marL="85725" indent="271463"/>
            <a:lvl2pPr marL="822325"/>
            <a:lvl3pPr marL="1230313"/>
            <a:lvl4pPr marL="1638300"/>
            <a:lvl5pPr/>
            <a:lvl6pPr/>
            <a:lvl7pPr/>
            <a:lvl8pPr/>
            <a:lvl9pPr/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uz-Cyrl-UZ"/>
              <a:t>S блокдан ва  </a:t>
            </a:r>
            <a:r>
              <a:rPr lang="uz-Cyrl-UZ" i="1">
                <a:hlinkClick r:id="rId4" action="ppaction://hlinksldjump"/>
              </a:rPr>
              <a:t>SubBytes </a:t>
            </a:r>
            <a:r>
              <a:rPr lang="uz-Cyrl-UZ">
                <a:hlinkClick r:id="rId4" action="ppaction://hlinksldjump"/>
              </a:rPr>
              <a:t>( ) </a:t>
            </a:r>
            <a:r>
              <a:rPr lang="uz-Cyrl-UZ"/>
              <a:t>функциясидан фойдаланган ҳолда байт бўйича ўринлаштириш бажарилади. </a:t>
            </a:r>
            <a:endParaRPr lang="ru-RU"/>
          </a:p>
        </p:txBody>
      </p:sp>
      <p:sp>
        <p:nvSpPr>
          <p:cNvPr id="89245" name="Text Box 157"/>
          <p:cNvSpPr txBox="1">
            <a:spLocks noChangeArrowheads="1"/>
          </p:cNvSpPr>
          <p:nvPr/>
        </p:nvSpPr>
        <p:spPr bwMode="auto">
          <a:xfrm>
            <a:off x="3492500" y="234950"/>
            <a:ext cx="1646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uz-Cyrl-UZ" sz="24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Word()</a:t>
            </a:r>
            <a:r>
              <a:rPr lang="uz-Cyrl-UZ"/>
              <a:t> </a:t>
            </a:r>
            <a:endParaRPr lang="ru-RU"/>
          </a:p>
        </p:txBody>
      </p:sp>
      <p:sp>
        <p:nvSpPr>
          <p:cNvPr id="89246" name="AutoShape 158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0800000">
            <a:off x="7956550" y="6381750"/>
            <a:ext cx="1008063" cy="431800"/>
          </a:xfrm>
          <a:prstGeom prst="rightArrow">
            <a:avLst>
              <a:gd name="adj1" fmla="val 50000"/>
              <a:gd name="adj2" fmla="val 5836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89247" name="Text Box 159"/>
          <p:cNvSpPr txBox="1">
            <a:spLocks noChangeArrowheads="1"/>
          </p:cNvSpPr>
          <p:nvPr/>
        </p:nvSpPr>
        <p:spPr bwMode="auto">
          <a:xfrm>
            <a:off x="1042988" y="1557338"/>
            <a:ext cx="7058025" cy="42227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w[i]= SubWord (RotWord (w[i-1] ))</a:t>
            </a:r>
            <a:r>
              <a:rPr lang="ru-RU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Rcon[ i/Nk]</a:t>
            </a:r>
            <a:r>
              <a:rPr lang="ru-RU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w[i-Nk].</a:t>
            </a:r>
            <a:r>
              <a:rPr lang="uz-Cyrl-UZ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 i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89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" dur="2000"/>
                                        <p:tgtEl>
                                          <p:spTgt spid="8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44" grpId="0"/>
      <p:bldP spid="89245" grpId="0"/>
      <p:bldP spid="8924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986088"/>
            <a:ext cx="8229600" cy="2819400"/>
          </a:xfrm>
        </p:spPr>
        <p:txBody>
          <a:bodyPr/>
          <a:lstStyle/>
          <a:p>
            <a:r>
              <a:rPr lang="uz-Cyrl-UZ"/>
              <a:t>32 битли сўзни байт бўйича қуйидаги кўринишда суриш бажарилади.</a:t>
            </a:r>
            <a:endParaRPr lang="ru-RU"/>
          </a:p>
          <a:p>
            <a:pPr>
              <a:buFontTx/>
              <a:buNone/>
            </a:pPr>
            <a:r>
              <a:rPr lang="uz-Cyrl-UZ"/>
              <a:t>      </a:t>
            </a:r>
          </a:p>
          <a:p>
            <a:pPr>
              <a:buFontTx/>
              <a:buNone/>
            </a:pPr>
            <a:r>
              <a:rPr lang="uz-Cyrl-UZ"/>
              <a:t>        {</a:t>
            </a:r>
            <a:r>
              <a:rPr lang="uz-Cyrl-UZ" i="1"/>
              <a:t>a0 a1 a2 a3</a:t>
            </a:r>
            <a:r>
              <a:rPr lang="uz-Cyrl-UZ"/>
              <a:t>} </a:t>
            </a:r>
            <a:r>
              <a:rPr lang="uz-Cyrl-UZ">
                <a:sym typeface="Symbol" pitchFamily="18" charset="2"/>
              </a:rPr>
              <a:t> </a:t>
            </a:r>
            <a:r>
              <a:rPr lang="uz-Cyrl-UZ"/>
              <a:t>{</a:t>
            </a:r>
            <a:r>
              <a:rPr lang="uz-Cyrl-UZ" i="1"/>
              <a:t>a1 a2 a3 a0</a:t>
            </a:r>
            <a:r>
              <a:rPr lang="uz-Cyrl-UZ"/>
              <a:t>};</a:t>
            </a:r>
            <a:endParaRPr lang="ru-RU"/>
          </a:p>
        </p:txBody>
      </p:sp>
      <p:grpSp>
        <p:nvGrpSpPr>
          <p:cNvPr id="88068" name="Group 4"/>
          <p:cNvGrpSpPr>
            <a:grpSpLocks/>
          </p:cNvGrpSpPr>
          <p:nvPr/>
        </p:nvGrpSpPr>
        <p:grpSpPr bwMode="auto">
          <a:xfrm>
            <a:off x="979488" y="227013"/>
            <a:ext cx="7696200" cy="685800"/>
            <a:chOff x="664" y="104"/>
            <a:chExt cx="4848" cy="432"/>
          </a:xfrm>
        </p:grpSpPr>
        <p:sp>
          <p:nvSpPr>
            <p:cNvPr id="88069" name="Freeform 5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88070" name="Group 6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88071" name="Group 7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88072" name="Freeform 8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3" name="Freeform 9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4" name="Freeform 10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5" name="Freeform 11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6" name="Freeform 12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7" name="Freeform 13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8" name="Freeform 14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79" name="Freeform 15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0" name="Freeform 16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1" name="Freeform 17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2" name="Freeform 18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3" name="Freeform 19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4" name="Freeform 20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5" name="Freeform 21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6" name="Freeform 22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7" name="Freeform 23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8" name="Freeform 24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89" name="Freeform 25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0" name="Freeform 26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1" name="Freeform 27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2" name="Freeform 28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3" name="Freeform 29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4" name="Freeform 30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5" name="Freeform 31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6" name="Freeform 32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7" name="Freeform 33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8" name="Freeform 34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099" name="Freeform 35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0" name="Freeform 36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1" name="Freeform 37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2" name="Freeform 38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3" name="Freeform 39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4" name="Freeform 40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5" name="Freeform 41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6" name="Freeform 42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7" name="Freeform 43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8" name="Freeform 44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09" name="Freeform 45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0" name="Freeform 46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1" name="Freeform 47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2" name="Freeform 48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3" name="Freeform 49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4" name="Freeform 50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5" name="Freeform 51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6" name="Freeform 52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7" name="Freeform 53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8" name="Freeform 54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19" name="Freeform 55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0" name="Freeform 56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1" name="Freeform 57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2" name="Freeform 58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3" name="Freeform 59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4" name="Freeform 60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5" name="Freeform 61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6" name="Freeform 62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27" name="Freeform 63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88128" name="Group 64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88129" name="Freeform 65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0" name="Freeform 66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1" name="Freeform 67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2" name="Freeform 68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3" name="Freeform 69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4" name="Freeform 70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5" name="Freeform 71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6" name="Freeform 72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7" name="Freeform 73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8" name="Freeform 74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39" name="Freeform 75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0" name="Freeform 76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1" name="Freeform 77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2" name="Freeform 78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3" name="Freeform 79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4" name="Freeform 80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5" name="Freeform 81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6" name="Freeform 82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7" name="Freeform 83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8" name="Freeform 84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49" name="Freeform 85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0" name="Freeform 86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1" name="Freeform 87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2" name="Freeform 88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3" name="Freeform 89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4" name="Freeform 90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5" name="Freeform 91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6" name="Freeform 92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7" name="Freeform 93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8" name="Freeform 94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59" name="Freeform 95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0" name="Freeform 96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1" name="Freeform 97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2" name="Freeform 98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3" name="Freeform 99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4" name="Freeform 100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5" name="Freeform 101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6" name="Freeform 102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7" name="Freeform 103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8" name="Freeform 104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69" name="Freeform 105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88170" name="Freeform 106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88171" name="Group 107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88172" name="Line 108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3" name="Line 109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4" name="Line 110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5" name="Line 111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6" name="Line 112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7" name="Line 113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8" name="Line 114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79" name="Line 115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0" name="Line 116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1" name="Line 117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2" name="Line 118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3" name="Line 119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4" name="Line 120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5" name="Line 121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6" name="Line 122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7" name="Line 123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8" name="Line 124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89" name="Line 125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0" name="Line 126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1" name="Line 127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2" name="Line 128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88193" name="Group 129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88194" name="Line 130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5" name="Line 131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6" name="Line 132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7" name="Line 133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8" name="Line 134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199" name="Line 135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0" name="Line 136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1" name="Line 137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2" name="Line 138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3" name="Line 139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4" name="Line 140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5" name="Line 141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6" name="Line 142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7" name="Line 143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8" name="Line 144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09" name="Line 145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0" name="Line 146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1" name="Line 147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2" name="Line 148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3" name="Line 149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4" name="Line 150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5" name="Line 151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6" name="Line 152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7" name="Line 153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88218" name="Line 154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88219" name="Picture 155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149225"/>
            <a:ext cx="89217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220" name="Text Box 156"/>
          <p:cNvSpPr txBox="1">
            <a:spLocks noChangeArrowheads="1"/>
          </p:cNvSpPr>
          <p:nvPr/>
        </p:nvSpPr>
        <p:spPr bwMode="auto">
          <a:xfrm>
            <a:off x="3563938" y="260350"/>
            <a:ext cx="159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z-Cyrl-UZ" sz="24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RotWord()</a:t>
            </a:r>
            <a:r>
              <a:rPr lang="uz-Cyrl-UZ"/>
              <a:t> </a:t>
            </a:r>
            <a:endParaRPr lang="ru-RU"/>
          </a:p>
        </p:txBody>
      </p:sp>
      <p:sp>
        <p:nvSpPr>
          <p:cNvPr id="88221" name="AutoShape 157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0800000">
            <a:off x="7956550" y="6381750"/>
            <a:ext cx="1008063" cy="431800"/>
          </a:xfrm>
          <a:prstGeom prst="rightArrow">
            <a:avLst>
              <a:gd name="adj1" fmla="val 50000"/>
              <a:gd name="adj2" fmla="val 5836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88222" name="Text Box 158"/>
          <p:cNvSpPr txBox="1">
            <a:spLocks noChangeArrowheads="1"/>
          </p:cNvSpPr>
          <p:nvPr/>
        </p:nvSpPr>
        <p:spPr bwMode="auto">
          <a:xfrm>
            <a:off x="971550" y="1628775"/>
            <a:ext cx="6985000" cy="42227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w[i]= SubWord (RotWord (w[i-1] ))</a:t>
            </a:r>
            <a:r>
              <a:rPr lang="ru-RU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Rcon[ i/Nk]</a:t>
            </a:r>
            <a:r>
              <a:rPr lang="ru-RU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w[i-Nk].</a:t>
            </a:r>
            <a:r>
              <a:rPr lang="uz-Cyrl-UZ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 i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882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" dur="2000"/>
                                        <p:tgtEl>
                                          <p:spTgt spid="8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  <p:bldP spid="88220" grpId="0"/>
      <p:bldP spid="882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854325"/>
            <a:ext cx="8229600" cy="2519363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Rcon[j]=2</a:t>
            </a:r>
            <a:r>
              <a:rPr lang="en-US" baseline="30000"/>
              <a:t>j-1</a:t>
            </a:r>
            <a:endParaRPr lang="ru-RU"/>
          </a:p>
          <a:p>
            <a:pPr algn="ctr">
              <a:buFontTx/>
              <a:buNone/>
            </a:pPr>
            <a:r>
              <a:rPr lang="en-US"/>
              <a:t>j=i</a:t>
            </a:r>
            <a:r>
              <a:rPr lang="uz-Cyrl-UZ"/>
              <a:t>/</a:t>
            </a:r>
            <a:r>
              <a:rPr lang="uz-Cyrl-UZ" i="1"/>
              <a:t>N</a:t>
            </a:r>
            <a:r>
              <a:rPr lang="en-US" i="1" baseline="-25000"/>
              <a:t>k</a:t>
            </a:r>
            <a:r>
              <a:rPr lang="uz-Cyrl-UZ" i="1"/>
              <a:t> </a:t>
            </a:r>
            <a:r>
              <a:rPr lang="uz-Cyrl-UZ"/>
              <a:t>– натижаси бутун сон чиқади , чунки </a:t>
            </a:r>
            <a:endParaRPr lang="en-US"/>
          </a:p>
          <a:p>
            <a:pPr>
              <a:buFontTx/>
              <a:buNone/>
            </a:pPr>
            <a:r>
              <a:rPr lang="uz-Cyrl-UZ" i="1"/>
              <a:t>N</a:t>
            </a:r>
            <a:r>
              <a:rPr lang="en-US" i="1" baseline="-25000"/>
              <a:t>k</a:t>
            </a:r>
            <a:r>
              <a:rPr lang="en-US"/>
              <a:t>=4   </a:t>
            </a:r>
            <a:r>
              <a:rPr lang="uz-Cyrl-UZ"/>
              <a:t>га каррали ҳолат  учун қараляпти. </a:t>
            </a:r>
            <a:endParaRPr lang="ru-RU"/>
          </a:p>
        </p:txBody>
      </p:sp>
      <p:grpSp>
        <p:nvGrpSpPr>
          <p:cNvPr id="90116" name="Group 4"/>
          <p:cNvGrpSpPr>
            <a:grpSpLocks/>
          </p:cNvGrpSpPr>
          <p:nvPr/>
        </p:nvGrpSpPr>
        <p:grpSpPr bwMode="auto">
          <a:xfrm>
            <a:off x="971550" y="227013"/>
            <a:ext cx="7696200" cy="685800"/>
            <a:chOff x="664" y="104"/>
            <a:chExt cx="4848" cy="432"/>
          </a:xfrm>
        </p:grpSpPr>
        <p:sp>
          <p:nvSpPr>
            <p:cNvPr id="90117" name="Freeform 5"/>
            <p:cNvSpPr>
              <a:spLocks/>
            </p:cNvSpPr>
            <p:nvPr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pSp>
          <p:nvGrpSpPr>
            <p:cNvPr id="90118" name="Group 6"/>
            <p:cNvGrpSpPr>
              <a:grpSpLocks/>
            </p:cNvGrpSpPr>
            <p:nvPr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90119" name="Group 7"/>
              <p:cNvGrpSpPr>
                <a:grpSpLocks/>
              </p:cNvGrpSpPr>
              <p:nvPr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90120" name="Freeform 8"/>
                <p:cNvSpPr>
                  <a:spLocks/>
                </p:cNvSpPr>
                <p:nvPr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1" name="Freeform 9"/>
                <p:cNvSpPr>
                  <a:spLocks/>
                </p:cNvSpPr>
                <p:nvPr/>
              </p:nvSpPr>
              <p:spPr bwMode="ltGray">
                <a:xfrm>
                  <a:off x="2332" y="660"/>
                  <a:ext cx="9" cy="8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2" name="Freeform 10"/>
                <p:cNvSpPr>
                  <a:spLocks/>
                </p:cNvSpPr>
                <p:nvPr/>
              </p:nvSpPr>
              <p:spPr bwMode="ltGray">
                <a:xfrm>
                  <a:off x="2120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3" name="Freeform 11"/>
                <p:cNvSpPr>
                  <a:spLocks/>
                </p:cNvSpPr>
                <p:nvPr/>
              </p:nvSpPr>
              <p:spPr bwMode="ltGray">
                <a:xfrm>
                  <a:off x="1967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4" name="Freeform 12"/>
                <p:cNvSpPr>
                  <a:spLocks/>
                </p:cNvSpPr>
                <p:nvPr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5" name="Freeform 13"/>
                <p:cNvSpPr>
                  <a:spLocks/>
                </p:cNvSpPr>
                <p:nvPr/>
              </p:nvSpPr>
              <p:spPr bwMode="ltGray">
                <a:xfrm>
                  <a:off x="1892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6" name="Freeform 14"/>
                <p:cNvSpPr>
                  <a:spLocks/>
                </p:cNvSpPr>
                <p:nvPr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7" name="Freeform 15"/>
                <p:cNvSpPr>
                  <a:spLocks/>
                </p:cNvSpPr>
                <p:nvPr/>
              </p:nvSpPr>
              <p:spPr bwMode="ltGray">
                <a:xfrm>
                  <a:off x="1827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8" name="Freeform 16"/>
                <p:cNvSpPr>
                  <a:spLocks/>
                </p:cNvSpPr>
                <p:nvPr/>
              </p:nvSpPr>
              <p:spPr bwMode="ltGray">
                <a:xfrm>
                  <a:off x="1892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29" name="Freeform 17"/>
                <p:cNvSpPr>
                  <a:spLocks/>
                </p:cNvSpPr>
                <p:nvPr/>
              </p:nvSpPr>
              <p:spPr bwMode="ltGray">
                <a:xfrm>
                  <a:off x="1890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0" name="Freeform 18"/>
                <p:cNvSpPr>
                  <a:spLocks/>
                </p:cNvSpPr>
                <p:nvPr/>
              </p:nvSpPr>
              <p:spPr bwMode="ltGray">
                <a:xfrm>
                  <a:off x="1944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1" name="Freeform 19"/>
                <p:cNvSpPr>
                  <a:spLocks/>
                </p:cNvSpPr>
                <p:nvPr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2" name="Freeform 20"/>
                <p:cNvSpPr>
                  <a:spLocks/>
                </p:cNvSpPr>
                <p:nvPr/>
              </p:nvSpPr>
              <p:spPr bwMode="ltGray">
                <a:xfrm>
                  <a:off x="1969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3" name="Freeform 21"/>
                <p:cNvSpPr>
                  <a:spLocks/>
                </p:cNvSpPr>
                <p:nvPr/>
              </p:nvSpPr>
              <p:spPr bwMode="ltGray">
                <a:xfrm>
                  <a:off x="1976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4" name="Freeform 22"/>
                <p:cNvSpPr>
                  <a:spLocks/>
                </p:cNvSpPr>
                <p:nvPr/>
              </p:nvSpPr>
              <p:spPr bwMode="ltGray">
                <a:xfrm>
                  <a:off x="2082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5" name="Freeform 23"/>
                <p:cNvSpPr>
                  <a:spLocks/>
                </p:cNvSpPr>
                <p:nvPr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6" name="Freeform 24"/>
                <p:cNvSpPr>
                  <a:spLocks/>
                </p:cNvSpPr>
                <p:nvPr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7" name="Freeform 25"/>
                <p:cNvSpPr>
                  <a:spLocks/>
                </p:cNvSpPr>
                <p:nvPr/>
              </p:nvSpPr>
              <p:spPr bwMode="ltGray">
                <a:xfrm>
                  <a:off x="2059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8" name="Freeform 26"/>
                <p:cNvSpPr>
                  <a:spLocks/>
                </p:cNvSpPr>
                <p:nvPr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39" name="Freeform 27"/>
                <p:cNvSpPr>
                  <a:spLocks/>
                </p:cNvSpPr>
                <p:nvPr/>
              </p:nvSpPr>
              <p:spPr bwMode="ltGray">
                <a:xfrm>
                  <a:off x="1910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0" name="Freeform 28"/>
                <p:cNvSpPr>
                  <a:spLocks/>
                </p:cNvSpPr>
                <p:nvPr/>
              </p:nvSpPr>
              <p:spPr bwMode="ltGray">
                <a:xfrm>
                  <a:off x="1899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1" name="Freeform 29"/>
                <p:cNvSpPr>
                  <a:spLocks/>
                </p:cNvSpPr>
                <p:nvPr/>
              </p:nvSpPr>
              <p:spPr bwMode="ltGray">
                <a:xfrm>
                  <a:off x="1909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2" name="Freeform 30"/>
                <p:cNvSpPr>
                  <a:spLocks/>
                </p:cNvSpPr>
                <p:nvPr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3" name="Freeform 31"/>
                <p:cNvSpPr>
                  <a:spLocks/>
                </p:cNvSpPr>
                <p:nvPr/>
              </p:nvSpPr>
              <p:spPr bwMode="ltGray">
                <a:xfrm>
                  <a:off x="2930" y="489"/>
                  <a:ext cx="299" cy="179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4" name="Freeform 32"/>
                <p:cNvSpPr>
                  <a:spLocks/>
                </p:cNvSpPr>
                <p:nvPr/>
              </p:nvSpPr>
              <p:spPr bwMode="ltGray">
                <a:xfrm>
                  <a:off x="2534" y="242"/>
                  <a:ext cx="420" cy="283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5" name="Freeform 33"/>
                <p:cNvSpPr>
                  <a:spLocks/>
                </p:cNvSpPr>
                <p:nvPr/>
              </p:nvSpPr>
              <p:spPr bwMode="ltGray">
                <a:xfrm>
                  <a:off x="2405" y="445"/>
                  <a:ext cx="15" cy="16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6" name="Freeform 34"/>
                <p:cNvSpPr>
                  <a:spLocks/>
                </p:cNvSpPr>
                <p:nvPr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7" name="Freeform 35"/>
                <p:cNvSpPr>
                  <a:spLocks/>
                </p:cNvSpPr>
                <p:nvPr/>
              </p:nvSpPr>
              <p:spPr bwMode="ltGray">
                <a:xfrm>
                  <a:off x="2878" y="406"/>
                  <a:ext cx="73" cy="33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8" name="Freeform 36"/>
                <p:cNvSpPr>
                  <a:spLocks/>
                </p:cNvSpPr>
                <p:nvPr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49" name="Freeform 37"/>
                <p:cNvSpPr>
                  <a:spLocks/>
                </p:cNvSpPr>
                <p:nvPr/>
              </p:nvSpPr>
              <p:spPr bwMode="ltGray">
                <a:xfrm>
                  <a:off x="2924" y="441"/>
                  <a:ext cx="24" cy="1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0" name="Freeform 38"/>
                <p:cNvSpPr>
                  <a:spLocks/>
                </p:cNvSpPr>
                <p:nvPr/>
              </p:nvSpPr>
              <p:spPr bwMode="ltGray">
                <a:xfrm>
                  <a:off x="2908" y="398"/>
                  <a:ext cx="16" cy="18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1" name="Freeform 39"/>
                <p:cNvSpPr>
                  <a:spLocks/>
                </p:cNvSpPr>
                <p:nvPr/>
              </p:nvSpPr>
              <p:spPr bwMode="ltGray">
                <a:xfrm>
                  <a:off x="3035" y="452"/>
                  <a:ext cx="19" cy="27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2" name="Freeform 40"/>
                <p:cNvSpPr>
                  <a:spLocks/>
                </p:cNvSpPr>
                <p:nvPr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3" name="Freeform 41"/>
                <p:cNvSpPr>
                  <a:spLocks/>
                </p:cNvSpPr>
                <p:nvPr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4" name="Freeform 42"/>
                <p:cNvSpPr>
                  <a:spLocks/>
                </p:cNvSpPr>
                <p:nvPr/>
              </p:nvSpPr>
              <p:spPr bwMode="ltGray">
                <a:xfrm>
                  <a:off x="2096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5" name="Freeform 43"/>
                <p:cNvSpPr>
                  <a:spLocks/>
                </p:cNvSpPr>
                <p:nvPr/>
              </p:nvSpPr>
              <p:spPr bwMode="ltGray">
                <a:xfrm>
                  <a:off x="1606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6" name="Freeform 44"/>
                <p:cNvSpPr>
                  <a:spLocks/>
                </p:cNvSpPr>
                <p:nvPr/>
              </p:nvSpPr>
              <p:spPr bwMode="ltGray">
                <a:xfrm>
                  <a:off x="2043" y="241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7" name="Freeform 45"/>
                <p:cNvSpPr>
                  <a:spLocks/>
                </p:cNvSpPr>
                <p:nvPr/>
              </p:nvSpPr>
              <p:spPr bwMode="ltGray">
                <a:xfrm>
                  <a:off x="2031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8" name="Freeform 46"/>
                <p:cNvSpPr>
                  <a:spLocks/>
                </p:cNvSpPr>
                <p:nvPr/>
              </p:nvSpPr>
              <p:spPr bwMode="ltGray">
                <a:xfrm>
                  <a:off x="1968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59" name="Freeform 47"/>
                <p:cNvSpPr>
                  <a:spLocks/>
                </p:cNvSpPr>
                <p:nvPr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0" name="Freeform 48"/>
                <p:cNvSpPr>
                  <a:spLocks/>
                </p:cNvSpPr>
                <p:nvPr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1" name="Freeform 49"/>
                <p:cNvSpPr>
                  <a:spLocks/>
                </p:cNvSpPr>
                <p:nvPr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2" name="Freeform 50"/>
                <p:cNvSpPr>
                  <a:spLocks/>
                </p:cNvSpPr>
                <p:nvPr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3" name="Freeform 51"/>
                <p:cNvSpPr>
                  <a:spLocks/>
                </p:cNvSpPr>
                <p:nvPr/>
              </p:nvSpPr>
              <p:spPr bwMode="ltGray">
                <a:xfrm>
                  <a:off x="1951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4" name="Freeform 52"/>
                <p:cNvSpPr>
                  <a:spLocks/>
                </p:cNvSpPr>
                <p:nvPr/>
              </p:nvSpPr>
              <p:spPr bwMode="ltGray">
                <a:xfrm>
                  <a:off x="1021" y="314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5" name="Freeform 53"/>
                <p:cNvSpPr>
                  <a:spLocks/>
                </p:cNvSpPr>
                <p:nvPr/>
              </p:nvSpPr>
              <p:spPr bwMode="ltGray">
                <a:xfrm>
                  <a:off x="1189" y="447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6" name="Freeform 54"/>
                <p:cNvSpPr>
                  <a:spLocks/>
                </p:cNvSpPr>
                <p:nvPr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7" name="Freeform 55"/>
                <p:cNvSpPr>
                  <a:spLocks/>
                </p:cNvSpPr>
                <p:nvPr/>
              </p:nvSpPr>
              <p:spPr bwMode="ltGray">
                <a:xfrm>
                  <a:off x="1467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8" name="Freeform 56"/>
                <p:cNvSpPr>
                  <a:spLocks/>
                </p:cNvSpPr>
                <p:nvPr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69" name="Freeform 57"/>
                <p:cNvSpPr>
                  <a:spLocks/>
                </p:cNvSpPr>
                <p:nvPr/>
              </p:nvSpPr>
              <p:spPr bwMode="ltGray">
                <a:xfrm>
                  <a:off x="1374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0" name="Freeform 58"/>
                <p:cNvSpPr>
                  <a:spLocks/>
                </p:cNvSpPr>
                <p:nvPr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1" name="Freeform 59"/>
                <p:cNvSpPr>
                  <a:spLocks/>
                </p:cNvSpPr>
                <p:nvPr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2" name="Freeform 60"/>
                <p:cNvSpPr>
                  <a:spLocks/>
                </p:cNvSpPr>
                <p:nvPr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3" name="Freeform 61"/>
                <p:cNvSpPr>
                  <a:spLocks/>
                </p:cNvSpPr>
                <p:nvPr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4" name="Freeform 62"/>
                <p:cNvSpPr>
                  <a:spLocks/>
                </p:cNvSpPr>
                <p:nvPr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5" name="Freeform 63"/>
                <p:cNvSpPr>
                  <a:spLocks/>
                </p:cNvSpPr>
                <p:nvPr/>
              </p:nvSpPr>
              <p:spPr bwMode="ltGray">
                <a:xfrm>
                  <a:off x="1248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grpSp>
            <p:nvGrpSpPr>
              <p:cNvPr id="90176" name="Group 64"/>
              <p:cNvGrpSpPr>
                <a:grpSpLocks/>
              </p:cNvGrpSpPr>
              <p:nvPr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90177" name="Freeform 65"/>
                <p:cNvSpPr>
                  <a:spLocks/>
                </p:cNvSpPr>
                <p:nvPr/>
              </p:nvSpPr>
              <p:spPr bwMode="ltGray">
                <a:xfrm>
                  <a:off x="4808" y="616"/>
                  <a:ext cx="13" cy="1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8" name="Freeform 66"/>
                <p:cNvSpPr>
                  <a:spLocks/>
                </p:cNvSpPr>
                <p:nvPr/>
              </p:nvSpPr>
              <p:spPr bwMode="ltGray">
                <a:xfrm>
                  <a:off x="4655" y="629"/>
                  <a:ext cx="11" cy="5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79" name="Freeform 67"/>
                <p:cNvSpPr>
                  <a:spLocks/>
                </p:cNvSpPr>
                <p:nvPr/>
              </p:nvSpPr>
              <p:spPr bwMode="ltGray">
                <a:xfrm>
                  <a:off x="4609" y="635"/>
                  <a:ext cx="28" cy="16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0" name="Freeform 68"/>
                <p:cNvSpPr>
                  <a:spLocks/>
                </p:cNvSpPr>
                <p:nvPr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1" name="Freeform 69"/>
                <p:cNvSpPr>
                  <a:spLocks/>
                </p:cNvSpPr>
                <p:nvPr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2" name="Freeform 70"/>
                <p:cNvSpPr>
                  <a:spLocks/>
                </p:cNvSpPr>
                <p:nvPr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3" name="Freeform 71"/>
                <p:cNvSpPr>
                  <a:spLocks/>
                </p:cNvSpPr>
                <p:nvPr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4" name="Freeform 72"/>
                <p:cNvSpPr>
                  <a:spLocks/>
                </p:cNvSpPr>
                <p:nvPr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5" name="Freeform 73"/>
                <p:cNvSpPr>
                  <a:spLocks/>
                </p:cNvSpPr>
                <p:nvPr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6" name="Freeform 74"/>
                <p:cNvSpPr>
                  <a:spLocks/>
                </p:cNvSpPr>
                <p:nvPr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7" name="Freeform 75"/>
                <p:cNvSpPr>
                  <a:spLocks/>
                </p:cNvSpPr>
                <p:nvPr/>
              </p:nvSpPr>
              <p:spPr bwMode="ltGray">
                <a:xfrm>
                  <a:off x="4657" y="585"/>
                  <a:ext cx="26" cy="17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8" name="Freeform 76"/>
                <p:cNvSpPr>
                  <a:spLocks/>
                </p:cNvSpPr>
                <p:nvPr/>
              </p:nvSpPr>
              <p:spPr bwMode="ltGray">
                <a:xfrm>
                  <a:off x="4664" y="593"/>
                  <a:ext cx="122" cy="61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89" name="Freeform 77"/>
                <p:cNvSpPr>
                  <a:spLocks/>
                </p:cNvSpPr>
                <p:nvPr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0" name="Freeform 78"/>
                <p:cNvSpPr>
                  <a:spLocks/>
                </p:cNvSpPr>
                <p:nvPr/>
              </p:nvSpPr>
              <p:spPr bwMode="ltGray">
                <a:xfrm>
                  <a:off x="4840" y="544"/>
                  <a:ext cx="8" cy="6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1" name="Freeform 79"/>
                <p:cNvSpPr>
                  <a:spLocks/>
                </p:cNvSpPr>
                <p:nvPr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2" name="Freeform 80"/>
                <p:cNvSpPr>
                  <a:spLocks/>
                </p:cNvSpPr>
                <p:nvPr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3" name="Freeform 81"/>
                <p:cNvSpPr>
                  <a:spLocks/>
                </p:cNvSpPr>
                <p:nvPr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4" name="Freeform 82"/>
                <p:cNvSpPr>
                  <a:spLocks/>
                </p:cNvSpPr>
                <p:nvPr/>
              </p:nvSpPr>
              <p:spPr bwMode="ltGray">
                <a:xfrm>
                  <a:off x="4587" y="466"/>
                  <a:ext cx="40" cy="58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5" name="Freeform 83"/>
                <p:cNvSpPr>
                  <a:spLocks/>
                </p:cNvSpPr>
                <p:nvPr/>
              </p:nvSpPr>
              <p:spPr bwMode="ltGray">
                <a:xfrm>
                  <a:off x="4597" y="508"/>
                  <a:ext cx="14" cy="17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6" name="Freeform 84"/>
                <p:cNvSpPr>
                  <a:spLocks/>
                </p:cNvSpPr>
                <p:nvPr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7" name="Freeform 85"/>
                <p:cNvSpPr>
                  <a:spLocks/>
                </p:cNvSpPr>
                <p:nvPr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8" name="Freeform 86"/>
                <p:cNvSpPr>
                  <a:spLocks/>
                </p:cNvSpPr>
                <p:nvPr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199" name="Freeform 87"/>
                <p:cNvSpPr>
                  <a:spLocks/>
                </p:cNvSpPr>
                <p:nvPr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0" name="Freeform 88"/>
                <p:cNvSpPr>
                  <a:spLocks/>
                </p:cNvSpPr>
                <p:nvPr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1" name="Freeform 89"/>
                <p:cNvSpPr>
                  <a:spLocks/>
                </p:cNvSpPr>
                <p:nvPr/>
              </p:nvSpPr>
              <p:spPr bwMode="ltGray">
                <a:xfrm>
                  <a:off x="4656" y="319"/>
                  <a:ext cx="80" cy="72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2" name="Freeform 90"/>
                <p:cNvSpPr>
                  <a:spLocks/>
                </p:cNvSpPr>
                <p:nvPr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3" name="Freeform 91"/>
                <p:cNvSpPr>
                  <a:spLocks/>
                </p:cNvSpPr>
                <p:nvPr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4" name="Freeform 92"/>
                <p:cNvSpPr>
                  <a:spLocks/>
                </p:cNvSpPr>
                <p:nvPr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5" name="Freeform 93"/>
                <p:cNvSpPr>
                  <a:spLocks/>
                </p:cNvSpPr>
                <p:nvPr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6" name="Freeform 94"/>
                <p:cNvSpPr>
                  <a:spLocks/>
                </p:cNvSpPr>
                <p:nvPr/>
              </p:nvSpPr>
              <p:spPr bwMode="ltGray">
                <a:xfrm>
                  <a:off x="4639" y="409"/>
                  <a:ext cx="9" cy="10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7" name="Freeform 95"/>
                <p:cNvSpPr>
                  <a:spLocks/>
                </p:cNvSpPr>
                <p:nvPr/>
              </p:nvSpPr>
              <p:spPr bwMode="ltGray">
                <a:xfrm>
                  <a:off x="3709" y="315"/>
                  <a:ext cx="433" cy="354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8" name="Freeform 96"/>
                <p:cNvSpPr>
                  <a:spLocks/>
                </p:cNvSpPr>
                <p:nvPr/>
              </p:nvSpPr>
              <p:spPr bwMode="ltGray">
                <a:xfrm>
                  <a:off x="3877" y="448"/>
                  <a:ext cx="163" cy="221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09" name="Freeform 97"/>
                <p:cNvSpPr>
                  <a:spLocks/>
                </p:cNvSpPr>
                <p:nvPr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0" name="Freeform 98"/>
                <p:cNvSpPr>
                  <a:spLocks/>
                </p:cNvSpPr>
                <p:nvPr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1" name="Freeform 99"/>
                <p:cNvSpPr>
                  <a:spLocks/>
                </p:cNvSpPr>
                <p:nvPr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2" name="Freeform 100"/>
                <p:cNvSpPr>
                  <a:spLocks/>
                </p:cNvSpPr>
                <p:nvPr/>
              </p:nvSpPr>
              <p:spPr bwMode="ltGray">
                <a:xfrm>
                  <a:off x="4062" y="265"/>
                  <a:ext cx="295" cy="233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3" name="Freeform 101"/>
                <p:cNvSpPr>
                  <a:spLocks/>
                </p:cNvSpPr>
                <p:nvPr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4" name="Freeform 102"/>
                <p:cNvSpPr>
                  <a:spLocks/>
                </p:cNvSpPr>
                <p:nvPr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5" name="Freeform 103"/>
                <p:cNvSpPr>
                  <a:spLocks/>
                </p:cNvSpPr>
                <p:nvPr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6" name="Freeform 104"/>
                <p:cNvSpPr>
                  <a:spLocks/>
                </p:cNvSpPr>
                <p:nvPr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7" name="Freeform 105"/>
                <p:cNvSpPr>
                  <a:spLocks/>
                </p:cNvSpPr>
                <p:nvPr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sp>
              <p:nvSpPr>
                <p:cNvPr id="90218" name="Freeform 106"/>
                <p:cNvSpPr>
                  <a:spLocks/>
                </p:cNvSpPr>
                <p:nvPr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</p:grpSp>
        <p:grpSp>
          <p:nvGrpSpPr>
            <p:cNvPr id="90219" name="Group 107"/>
            <p:cNvGrpSpPr>
              <a:grpSpLocks/>
            </p:cNvGrpSpPr>
            <p:nvPr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90220" name="Line 108"/>
              <p:cNvSpPr>
                <a:spLocks noChangeShapeType="1"/>
              </p:cNvSpPr>
              <p:nvPr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1" name="Line 109"/>
              <p:cNvSpPr>
                <a:spLocks noChangeShapeType="1"/>
              </p:cNvSpPr>
              <p:nvPr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2" name="Line 110"/>
              <p:cNvSpPr>
                <a:spLocks noChangeShapeType="1"/>
              </p:cNvSpPr>
              <p:nvPr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3" name="Line 111"/>
              <p:cNvSpPr>
                <a:spLocks noChangeShapeType="1"/>
              </p:cNvSpPr>
              <p:nvPr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4" name="Line 112"/>
              <p:cNvSpPr>
                <a:spLocks noChangeShapeType="1"/>
              </p:cNvSpPr>
              <p:nvPr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5" name="Line 113"/>
              <p:cNvSpPr>
                <a:spLocks noChangeShapeType="1"/>
              </p:cNvSpPr>
              <p:nvPr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6" name="Line 114"/>
              <p:cNvSpPr>
                <a:spLocks noChangeShapeType="1"/>
              </p:cNvSpPr>
              <p:nvPr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7" name="Line 115"/>
              <p:cNvSpPr>
                <a:spLocks noChangeShapeType="1"/>
              </p:cNvSpPr>
              <p:nvPr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8" name="Line 116"/>
              <p:cNvSpPr>
                <a:spLocks noChangeShapeType="1"/>
              </p:cNvSpPr>
              <p:nvPr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29" name="Line 117"/>
              <p:cNvSpPr>
                <a:spLocks noChangeShapeType="1"/>
              </p:cNvSpPr>
              <p:nvPr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0" name="Line 118"/>
              <p:cNvSpPr>
                <a:spLocks noChangeShapeType="1"/>
              </p:cNvSpPr>
              <p:nvPr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1" name="Line 119"/>
              <p:cNvSpPr>
                <a:spLocks noChangeShapeType="1"/>
              </p:cNvSpPr>
              <p:nvPr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2" name="Line 120"/>
              <p:cNvSpPr>
                <a:spLocks noChangeShapeType="1"/>
              </p:cNvSpPr>
              <p:nvPr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3" name="Line 121"/>
              <p:cNvSpPr>
                <a:spLocks noChangeShapeType="1"/>
              </p:cNvSpPr>
              <p:nvPr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4" name="Line 122"/>
              <p:cNvSpPr>
                <a:spLocks noChangeShapeType="1"/>
              </p:cNvSpPr>
              <p:nvPr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5" name="Line 123"/>
              <p:cNvSpPr>
                <a:spLocks noChangeShapeType="1"/>
              </p:cNvSpPr>
              <p:nvPr/>
            </p:nvSpPr>
            <p:spPr bwMode="white">
              <a:xfrm>
                <a:off x="421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6" name="Line 124"/>
              <p:cNvSpPr>
                <a:spLocks noChangeShapeType="1"/>
              </p:cNvSpPr>
              <p:nvPr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7" name="Line 125"/>
              <p:cNvSpPr>
                <a:spLocks noChangeShapeType="1"/>
              </p:cNvSpPr>
              <p:nvPr/>
            </p:nvSpPr>
            <p:spPr bwMode="white">
              <a:xfrm>
                <a:off x="467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8" name="Line 126"/>
              <p:cNvSpPr>
                <a:spLocks noChangeShapeType="1"/>
              </p:cNvSpPr>
              <p:nvPr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39" name="Line 127"/>
              <p:cNvSpPr>
                <a:spLocks noChangeShapeType="1"/>
              </p:cNvSpPr>
              <p:nvPr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0" name="Line 128"/>
              <p:cNvSpPr>
                <a:spLocks noChangeShapeType="1"/>
              </p:cNvSpPr>
              <p:nvPr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90241" name="Group 129"/>
            <p:cNvGrpSpPr>
              <a:grpSpLocks/>
            </p:cNvGrpSpPr>
            <p:nvPr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90242" name="Line 130"/>
              <p:cNvSpPr>
                <a:spLocks noChangeShapeType="1"/>
              </p:cNvSpPr>
              <p:nvPr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3" name="Line 131"/>
              <p:cNvSpPr>
                <a:spLocks noChangeShapeType="1"/>
              </p:cNvSpPr>
              <p:nvPr/>
            </p:nvSpPr>
            <p:spPr bwMode="ltGray">
              <a:xfrm>
                <a:off x="2798" y="468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4" name="Line 132"/>
              <p:cNvSpPr>
                <a:spLocks noChangeShapeType="1"/>
              </p:cNvSpPr>
              <p:nvPr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5" name="Line 133"/>
              <p:cNvSpPr>
                <a:spLocks noChangeShapeType="1"/>
              </p:cNvSpPr>
              <p:nvPr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6" name="Line 134"/>
              <p:cNvSpPr>
                <a:spLocks noChangeShapeType="1"/>
              </p:cNvSpPr>
              <p:nvPr/>
            </p:nvSpPr>
            <p:spPr bwMode="ltGray">
              <a:xfrm>
                <a:off x="3816" y="358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7" name="Line 135"/>
              <p:cNvSpPr>
                <a:spLocks noChangeShapeType="1"/>
              </p:cNvSpPr>
              <p:nvPr/>
            </p:nvSpPr>
            <p:spPr bwMode="ltGray">
              <a:xfrm>
                <a:off x="3722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8" name="Line 136"/>
              <p:cNvSpPr>
                <a:spLocks noChangeShapeType="1"/>
              </p:cNvSpPr>
              <p:nvPr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49" name="Line 137"/>
              <p:cNvSpPr>
                <a:spLocks noChangeShapeType="1"/>
              </p:cNvSpPr>
              <p:nvPr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0" name="Line 138"/>
              <p:cNvSpPr>
                <a:spLocks noChangeShapeType="1"/>
              </p:cNvSpPr>
              <p:nvPr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1" name="Line 139"/>
              <p:cNvSpPr>
                <a:spLocks noChangeShapeType="1"/>
              </p:cNvSpPr>
              <p:nvPr/>
            </p:nvSpPr>
            <p:spPr bwMode="ltGray">
              <a:xfrm flipH="1">
                <a:off x="4422" y="468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2" name="Line 140"/>
              <p:cNvSpPr>
                <a:spLocks noChangeShapeType="1"/>
              </p:cNvSpPr>
              <p:nvPr/>
            </p:nvSpPr>
            <p:spPr bwMode="ltGray">
              <a:xfrm flipH="1">
                <a:off x="4290" y="468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3" name="Line 141"/>
              <p:cNvSpPr>
                <a:spLocks noChangeShapeType="1"/>
              </p:cNvSpPr>
              <p:nvPr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4" name="Line 142"/>
              <p:cNvSpPr>
                <a:spLocks noChangeShapeType="1"/>
              </p:cNvSpPr>
              <p:nvPr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5" name="Line 143"/>
              <p:cNvSpPr>
                <a:spLocks noChangeShapeType="1"/>
              </p:cNvSpPr>
              <p:nvPr/>
            </p:nvSpPr>
            <p:spPr bwMode="ltGray">
              <a:xfrm>
                <a:off x="1992" y="250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6" name="Line 144"/>
              <p:cNvSpPr>
                <a:spLocks noChangeShapeType="1"/>
              </p:cNvSpPr>
              <p:nvPr/>
            </p:nvSpPr>
            <p:spPr bwMode="ltGray">
              <a:xfrm>
                <a:off x="1764" y="247"/>
                <a:ext cx="0" cy="33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7" name="Line 145"/>
              <p:cNvSpPr>
                <a:spLocks noChangeShapeType="1"/>
              </p:cNvSpPr>
              <p:nvPr/>
            </p:nvSpPr>
            <p:spPr bwMode="ltGray">
              <a:xfrm flipH="1">
                <a:off x="1738" y="468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8" name="Line 146"/>
              <p:cNvSpPr>
                <a:spLocks noChangeShapeType="1"/>
              </p:cNvSpPr>
              <p:nvPr/>
            </p:nvSpPr>
            <p:spPr bwMode="ltGray">
              <a:xfrm>
                <a:off x="1604" y="468"/>
                <a:ext cx="6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59" name="Line 147"/>
              <p:cNvSpPr>
                <a:spLocks noChangeShapeType="1"/>
              </p:cNvSpPr>
              <p:nvPr/>
            </p:nvSpPr>
            <p:spPr bwMode="ltGray">
              <a:xfrm flipH="1">
                <a:off x="1404" y="468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0" name="Line 148"/>
              <p:cNvSpPr>
                <a:spLocks noChangeShapeType="1"/>
              </p:cNvSpPr>
              <p:nvPr/>
            </p:nvSpPr>
            <p:spPr bwMode="ltGray">
              <a:xfrm>
                <a:off x="1034" y="468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1" name="Line 149"/>
              <p:cNvSpPr>
                <a:spLocks noChangeShapeType="1"/>
              </p:cNvSpPr>
              <p:nvPr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2" name="Line 150"/>
              <p:cNvSpPr>
                <a:spLocks noChangeShapeType="1"/>
              </p:cNvSpPr>
              <p:nvPr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3" name="Line 151"/>
              <p:cNvSpPr>
                <a:spLocks noChangeShapeType="1"/>
              </p:cNvSpPr>
              <p:nvPr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4" name="Line 152"/>
              <p:cNvSpPr>
                <a:spLocks noChangeShapeType="1"/>
              </p:cNvSpPr>
              <p:nvPr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5" name="Line 153"/>
              <p:cNvSpPr>
                <a:spLocks noChangeShapeType="1"/>
              </p:cNvSpPr>
              <p:nvPr/>
            </p:nvSpPr>
            <p:spPr bwMode="ltGray">
              <a:xfrm flipV="1">
                <a:off x="1536" y="247"/>
                <a:ext cx="0" cy="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90266" name="Line 154"/>
              <p:cNvSpPr>
                <a:spLocks noChangeShapeType="1"/>
              </p:cNvSpPr>
              <p:nvPr/>
            </p:nvSpPr>
            <p:spPr bwMode="ltGray">
              <a:xfrm>
                <a:off x="4095" y="467"/>
                <a:ext cx="8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</p:grpSp>
      <p:pic>
        <p:nvPicPr>
          <p:cNvPr id="90267" name="Picture 155" descr="earth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9225"/>
            <a:ext cx="892175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268" name="Text Box 156"/>
          <p:cNvSpPr txBox="1">
            <a:spLocks noChangeArrowheads="1"/>
          </p:cNvSpPr>
          <p:nvPr/>
        </p:nvSpPr>
        <p:spPr bwMode="auto">
          <a:xfrm>
            <a:off x="3492500" y="234950"/>
            <a:ext cx="1119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Rcon</a:t>
            </a:r>
            <a:r>
              <a:rPr lang="uz-Cyrl-UZ" sz="24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uz-Cyrl-UZ"/>
              <a:t> </a:t>
            </a:r>
            <a:endParaRPr lang="ru-RU"/>
          </a:p>
        </p:txBody>
      </p:sp>
      <p:sp>
        <p:nvSpPr>
          <p:cNvPr id="90269" name="AutoShape 157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0800000">
            <a:off x="7956550" y="6381750"/>
            <a:ext cx="1008063" cy="431800"/>
          </a:xfrm>
          <a:prstGeom prst="rightArrow">
            <a:avLst>
              <a:gd name="adj1" fmla="val 50000"/>
              <a:gd name="adj2" fmla="val 5836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90270" name="Text Box 158"/>
          <p:cNvSpPr txBox="1">
            <a:spLocks noChangeArrowheads="1"/>
          </p:cNvSpPr>
          <p:nvPr/>
        </p:nvSpPr>
        <p:spPr bwMode="auto">
          <a:xfrm>
            <a:off x="900113" y="1628775"/>
            <a:ext cx="7416800" cy="422275"/>
          </a:xfrm>
          <a:prstGeom prst="rect">
            <a:avLst/>
          </a:prstGeom>
          <a:solidFill>
            <a:srgbClr val="FFFF00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w[i]= SubWord (RotWord (w[i-1] ))</a:t>
            </a:r>
            <a:r>
              <a:rPr lang="ru-RU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Rcon[ i/N</a:t>
            </a:r>
            <a:r>
              <a:rPr lang="en-US" sz="2000" b="1" i="1" baseline="-2500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ru-RU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w[i-N</a:t>
            </a:r>
            <a:r>
              <a:rPr lang="en-US" sz="2000" b="1" i="1" baseline="-2500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].</a:t>
            </a:r>
            <a:r>
              <a:rPr lang="uz-Cyrl-UZ" sz="2000" b="1" i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 i="1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271" name="Text Box 159"/>
          <p:cNvSpPr txBox="1">
            <a:spLocks noChangeArrowheads="1"/>
          </p:cNvSpPr>
          <p:nvPr/>
        </p:nvSpPr>
        <p:spPr bwMode="auto">
          <a:xfrm>
            <a:off x="2268538" y="2095500"/>
            <a:ext cx="3646487" cy="40640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DE1202"/>
                </a:solidFill>
                <a:latin typeface="Times New Roman" pitchFamily="18" charset="0"/>
                <a:cs typeface="Times New Roman" pitchFamily="18" charset="0"/>
              </a:rPr>
              <a:t>i=4,8,12,16,20,24,28,32,36,40,44.</a:t>
            </a:r>
            <a:endParaRPr lang="ru-RU" sz="2000" b="1">
              <a:solidFill>
                <a:srgbClr val="DE120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902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" dur="2000"/>
                                        <p:tgtEl>
                                          <p:spTgt spid="9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uiExpand="1" build="p"/>
      <p:bldP spid="90268" grpId="0"/>
      <p:bldP spid="90270" grpId="0" animBg="1"/>
    </p:bldLst>
  </p:timing>
</p:sld>
</file>

<file path=ppt/theme/theme1.xml><?xml version="1.0" encoding="utf-8"?>
<a:theme xmlns:a="http://schemas.openxmlformats.org/drawingml/2006/main" name="Океан">
  <a:themeElements>
    <a:clrScheme name="Океан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Океан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кеан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кеан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2925</TotalTime>
  <Words>1274</Words>
  <Application>Microsoft Office PowerPoint</Application>
  <PresentationFormat>Экран (4:3)</PresentationFormat>
  <Paragraphs>760</Paragraphs>
  <Slides>14</Slides>
  <Notes>14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Океан</vt:lpstr>
      <vt:lpstr>Формула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ЦРС и ИТ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Администратор</dc:creator>
  <cp:lastModifiedBy>Microsoft Office</cp:lastModifiedBy>
  <cp:revision>198</cp:revision>
  <dcterms:created xsi:type="dcterms:W3CDTF">2005-10-14T12:23:26Z</dcterms:created>
  <dcterms:modified xsi:type="dcterms:W3CDTF">2020-12-09T03:54:25Z</dcterms:modified>
</cp:coreProperties>
</file>