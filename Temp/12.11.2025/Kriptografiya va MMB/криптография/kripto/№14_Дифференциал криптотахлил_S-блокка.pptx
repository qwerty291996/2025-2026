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sldIdLst>
    <p:sldId id="263" r:id="rId2"/>
    <p:sldId id="280" r:id="rId3"/>
    <p:sldId id="264" r:id="rId4"/>
    <p:sldId id="269" r:id="rId5"/>
    <p:sldId id="271" r:id="rId6"/>
    <p:sldId id="265" r:id="rId7"/>
    <p:sldId id="279" r:id="rId8"/>
    <p:sldId id="272" r:id="rId9"/>
    <p:sldId id="273" r:id="rId10"/>
    <p:sldId id="274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hlink"/>
      </a:buClr>
      <a:buSzPct val="65000"/>
      <a:buFont typeface="Wingdings" pitchFamily="2" charset="2"/>
      <a:buChar char="n"/>
      <a:defRPr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hlink"/>
      </a:buClr>
      <a:buSzPct val="65000"/>
      <a:buFont typeface="Wingdings" pitchFamily="2" charset="2"/>
      <a:buChar char="n"/>
      <a:defRPr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hlink"/>
      </a:buClr>
      <a:buSzPct val="65000"/>
      <a:buFont typeface="Wingdings" pitchFamily="2" charset="2"/>
      <a:buChar char="n"/>
      <a:defRPr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hlink"/>
      </a:buClr>
      <a:buSzPct val="65000"/>
      <a:buFont typeface="Wingdings" pitchFamily="2" charset="2"/>
      <a:buChar char="n"/>
      <a:defRPr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hlink"/>
      </a:buClr>
      <a:buSzPct val="65000"/>
      <a:buFont typeface="Wingdings" pitchFamily="2" charset="2"/>
      <a:buChar char="n"/>
      <a:defRPr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FFE1E1"/>
    <a:srgbClr val="FFF1B7"/>
    <a:srgbClr val="FFCC99"/>
    <a:srgbClr val="000000"/>
    <a:srgbClr val="3D007A"/>
    <a:srgbClr val="CC99FF"/>
    <a:srgbClr val="A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54" autoAdjust="0"/>
    <p:restoredTop sz="94660"/>
  </p:normalViewPr>
  <p:slideViewPr>
    <p:cSldViewPr>
      <p:cViewPr>
        <p:scale>
          <a:sx n="100" d="100"/>
          <a:sy n="100" d="100"/>
        </p:scale>
        <p:origin x="-2070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76400"/>
            <a:ext cx="7772400" cy="182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altLang="uz-Cyrl-UZ" noProof="0" smtClean="0"/>
              <a:t>Образец заголовка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ru-RU" altLang="uz-Cyrl-UZ" noProof="0" smtClean="0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4265F2-9795-4675-953C-AF28845D3EEE}" type="slidenum">
              <a:rPr lang="ru-RU" altLang="uz-Cyrl-UZ"/>
              <a:pPr>
                <a:defRPr/>
              </a:pPr>
              <a:t>‹#›</a:t>
            </a:fld>
            <a:endParaRPr lang="ru-RU" altLang="uz-Cyrl-UZ"/>
          </a:p>
        </p:txBody>
      </p:sp>
    </p:spTree>
    <p:extLst>
      <p:ext uri="{BB962C8B-B14F-4D97-AF65-F5344CB8AC3E}">
        <p14:creationId xmlns:p14="http://schemas.microsoft.com/office/powerpoint/2010/main" val="3784779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19E51F-7945-496C-BDFC-CB8884479E15}" type="slidenum">
              <a:rPr lang="ru-RU" altLang="uz-Cyrl-UZ"/>
              <a:pPr>
                <a:defRPr/>
              </a:pPr>
              <a:t>‹#›</a:t>
            </a:fld>
            <a:endParaRPr lang="ru-RU" altLang="uz-Cyrl-UZ"/>
          </a:p>
        </p:txBody>
      </p:sp>
    </p:spTree>
    <p:extLst>
      <p:ext uri="{BB962C8B-B14F-4D97-AF65-F5344CB8AC3E}">
        <p14:creationId xmlns:p14="http://schemas.microsoft.com/office/powerpoint/2010/main" val="2800195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7E2F19-67A7-4EBB-8F39-F6B0B06CC7AA}" type="slidenum">
              <a:rPr lang="ru-RU" altLang="uz-Cyrl-UZ"/>
              <a:pPr>
                <a:defRPr/>
              </a:pPr>
              <a:t>‹#›</a:t>
            </a:fld>
            <a:endParaRPr lang="ru-RU" altLang="uz-Cyrl-UZ"/>
          </a:p>
        </p:txBody>
      </p:sp>
    </p:spTree>
    <p:extLst>
      <p:ext uri="{BB962C8B-B14F-4D97-AF65-F5344CB8AC3E}">
        <p14:creationId xmlns:p14="http://schemas.microsoft.com/office/powerpoint/2010/main" val="428728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F6D496-B0F1-47B2-8161-AC18BA64B406}" type="slidenum">
              <a:rPr lang="ru-RU" altLang="uz-Cyrl-UZ"/>
              <a:pPr>
                <a:defRPr/>
              </a:pPr>
              <a:t>‹#›</a:t>
            </a:fld>
            <a:endParaRPr lang="ru-RU" altLang="uz-Cyrl-UZ"/>
          </a:p>
        </p:txBody>
      </p:sp>
    </p:spTree>
    <p:extLst>
      <p:ext uri="{BB962C8B-B14F-4D97-AF65-F5344CB8AC3E}">
        <p14:creationId xmlns:p14="http://schemas.microsoft.com/office/powerpoint/2010/main" val="185756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7FD62B-F1C3-4758-BC1A-6EB5A1742027}" type="slidenum">
              <a:rPr lang="ru-RU" altLang="uz-Cyrl-UZ"/>
              <a:pPr>
                <a:defRPr/>
              </a:pPr>
              <a:t>‹#›</a:t>
            </a:fld>
            <a:endParaRPr lang="ru-RU" altLang="uz-Cyrl-UZ"/>
          </a:p>
        </p:txBody>
      </p:sp>
    </p:spTree>
    <p:extLst>
      <p:ext uri="{BB962C8B-B14F-4D97-AF65-F5344CB8AC3E}">
        <p14:creationId xmlns:p14="http://schemas.microsoft.com/office/powerpoint/2010/main" val="1477433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F451E-5CD4-464E-BB00-0E90527CB85E}" type="slidenum">
              <a:rPr lang="ru-RU" altLang="uz-Cyrl-UZ"/>
              <a:pPr>
                <a:defRPr/>
              </a:pPr>
              <a:t>‹#›</a:t>
            </a:fld>
            <a:endParaRPr lang="ru-RU" altLang="uz-Cyrl-UZ"/>
          </a:p>
        </p:txBody>
      </p:sp>
    </p:spTree>
    <p:extLst>
      <p:ext uri="{BB962C8B-B14F-4D97-AF65-F5344CB8AC3E}">
        <p14:creationId xmlns:p14="http://schemas.microsoft.com/office/powerpoint/2010/main" val="1942087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1C510-32CA-4F63-9EBB-ACE2270F6A06}" type="slidenum">
              <a:rPr lang="ru-RU" altLang="uz-Cyrl-UZ"/>
              <a:pPr>
                <a:defRPr/>
              </a:pPr>
              <a:t>‹#›</a:t>
            </a:fld>
            <a:endParaRPr lang="ru-RU" altLang="uz-Cyrl-UZ"/>
          </a:p>
        </p:txBody>
      </p:sp>
    </p:spTree>
    <p:extLst>
      <p:ext uri="{BB962C8B-B14F-4D97-AF65-F5344CB8AC3E}">
        <p14:creationId xmlns:p14="http://schemas.microsoft.com/office/powerpoint/2010/main" val="4097500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6775BB-0491-4D97-A4FD-76A3915ECB8D}" type="slidenum">
              <a:rPr lang="ru-RU" altLang="uz-Cyrl-UZ"/>
              <a:pPr>
                <a:defRPr/>
              </a:pPr>
              <a:t>‹#›</a:t>
            </a:fld>
            <a:endParaRPr lang="ru-RU" altLang="uz-Cyrl-UZ"/>
          </a:p>
        </p:txBody>
      </p:sp>
    </p:spTree>
    <p:extLst>
      <p:ext uri="{BB962C8B-B14F-4D97-AF65-F5344CB8AC3E}">
        <p14:creationId xmlns:p14="http://schemas.microsoft.com/office/powerpoint/2010/main" val="262284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uz-Cyrl-UZ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5BE9C6-510E-4DEB-A5B6-A6D58E33E706}" type="slidenum">
              <a:rPr lang="ru-RU" altLang="uz-Cyrl-UZ"/>
              <a:pPr>
                <a:defRPr/>
              </a:pPr>
              <a:t>‹#›</a:t>
            </a:fld>
            <a:endParaRPr lang="ru-RU" altLang="uz-Cyrl-UZ"/>
          </a:p>
        </p:txBody>
      </p:sp>
    </p:spTree>
    <p:extLst>
      <p:ext uri="{BB962C8B-B14F-4D97-AF65-F5344CB8AC3E}">
        <p14:creationId xmlns:p14="http://schemas.microsoft.com/office/powerpoint/2010/main" val="721264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32757E-C30D-465C-83BC-78977E4FD689}" type="slidenum">
              <a:rPr lang="ru-RU" altLang="uz-Cyrl-UZ"/>
              <a:pPr>
                <a:defRPr/>
              </a:pPr>
              <a:t>‹#›</a:t>
            </a:fld>
            <a:endParaRPr lang="ru-RU" altLang="uz-Cyrl-UZ"/>
          </a:p>
        </p:txBody>
      </p:sp>
    </p:spTree>
    <p:extLst>
      <p:ext uri="{BB962C8B-B14F-4D97-AF65-F5344CB8AC3E}">
        <p14:creationId xmlns:p14="http://schemas.microsoft.com/office/powerpoint/2010/main" val="2938918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715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7150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17097B-C3DB-4912-AA00-B5362B2DC415}" type="slidenum">
              <a:rPr lang="ru-RU" altLang="uz-Cyrl-UZ"/>
              <a:pPr>
                <a:defRPr/>
              </a:pPr>
              <a:t>‹#›</a:t>
            </a:fld>
            <a:endParaRPr lang="ru-RU" altLang="uz-Cyrl-UZ"/>
          </a:p>
        </p:txBody>
      </p:sp>
    </p:spTree>
    <p:extLst>
      <p:ext uri="{BB962C8B-B14F-4D97-AF65-F5344CB8AC3E}">
        <p14:creationId xmlns:p14="http://schemas.microsoft.com/office/powerpoint/2010/main" val="253138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5A87B1-A458-4A43-88EC-903C268D2047}" type="slidenum">
              <a:rPr lang="ru-RU" altLang="uz-Cyrl-UZ"/>
              <a:pPr>
                <a:defRPr/>
              </a:pPr>
              <a:t>‹#›</a:t>
            </a:fld>
            <a:endParaRPr lang="ru-RU" altLang="uz-Cyrl-UZ"/>
          </a:p>
        </p:txBody>
      </p:sp>
    </p:spTree>
    <p:extLst>
      <p:ext uri="{BB962C8B-B14F-4D97-AF65-F5344CB8AC3E}">
        <p14:creationId xmlns:p14="http://schemas.microsoft.com/office/powerpoint/2010/main" val="1294817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Заголовок и четыре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sz="quarter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457200" y="41148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2EAA7D-1F1C-4BAC-B5E1-67C517D2B6A7}" type="slidenum">
              <a:rPr lang="ru-RU" altLang="uz-Cyrl-UZ"/>
              <a:pPr>
                <a:defRPr/>
              </a:pPr>
              <a:t>‹#›</a:t>
            </a:fld>
            <a:endParaRPr lang="ru-RU" altLang="uz-Cyrl-UZ"/>
          </a:p>
        </p:txBody>
      </p:sp>
    </p:spTree>
    <p:extLst>
      <p:ext uri="{BB962C8B-B14F-4D97-AF65-F5344CB8AC3E}">
        <p14:creationId xmlns:p14="http://schemas.microsoft.com/office/powerpoint/2010/main" val="1399059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457200" y="381000"/>
            <a:ext cx="8229600" cy="5715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A131B2-1D80-40CD-A2DB-4C2AA4D0D41A}" type="slidenum">
              <a:rPr lang="ru-RU" altLang="uz-Cyrl-UZ"/>
              <a:pPr>
                <a:defRPr/>
              </a:pPr>
              <a:t>‹#›</a:t>
            </a:fld>
            <a:endParaRPr lang="ru-RU" altLang="uz-Cyrl-UZ"/>
          </a:p>
        </p:txBody>
      </p:sp>
    </p:spTree>
    <p:extLst>
      <p:ext uri="{BB962C8B-B14F-4D97-AF65-F5344CB8AC3E}">
        <p14:creationId xmlns:p14="http://schemas.microsoft.com/office/powerpoint/2010/main" val="4219313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Заголовок, 1 большой объект и 2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6D2575-8FFE-4747-8F16-96411C53ADFC}" type="slidenum">
              <a:rPr lang="ru-RU" altLang="uz-Cyrl-UZ"/>
              <a:pPr>
                <a:defRPr/>
              </a:pPr>
              <a:t>‹#›</a:t>
            </a:fld>
            <a:endParaRPr lang="ru-RU" altLang="uz-Cyrl-UZ"/>
          </a:p>
        </p:txBody>
      </p:sp>
    </p:spTree>
    <p:extLst>
      <p:ext uri="{BB962C8B-B14F-4D97-AF65-F5344CB8AC3E}">
        <p14:creationId xmlns:p14="http://schemas.microsoft.com/office/powerpoint/2010/main" val="868549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5E5E76"/>
            </a:gs>
            <a:gs pos="100000">
              <a:srgbClr val="CCCCF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uz-Cyrl-UZ" smtClean="0"/>
              <a:t>Образец заголовка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uz-Cyrl-UZ" smtClean="0"/>
              <a:t>Образец текста</a:t>
            </a:r>
          </a:p>
          <a:p>
            <a:pPr lvl="1"/>
            <a:r>
              <a:rPr lang="ru-RU" altLang="uz-Cyrl-UZ" smtClean="0"/>
              <a:t>Второй уровень</a:t>
            </a:r>
          </a:p>
          <a:p>
            <a:pPr lvl="2"/>
            <a:r>
              <a:rPr lang="ru-RU" altLang="uz-Cyrl-UZ" smtClean="0"/>
              <a:t>Третий уровень</a:t>
            </a:r>
          </a:p>
          <a:p>
            <a:pPr lvl="3"/>
            <a:r>
              <a:rPr lang="ru-RU" altLang="uz-Cyrl-UZ" smtClean="0"/>
              <a:t>Четвертый уровень</a:t>
            </a:r>
          </a:p>
          <a:p>
            <a:pPr lvl="4"/>
            <a:r>
              <a:rPr lang="ru-RU" altLang="uz-Cyrl-UZ" smtClean="0"/>
              <a:t>Пятый уровень</a:t>
            </a:r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40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ru-RU" altLang="uz-Cyrl-UZ"/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fld id="{359D85FE-A747-4ED2-B249-6199D527D80F}" type="slidenum">
              <a:rPr lang="ru-RU" altLang="uz-Cyrl-UZ"/>
              <a:pPr>
                <a:defRPr/>
              </a:pPr>
              <a:t>‹#›</a:t>
            </a:fld>
            <a:endParaRPr lang="ru-RU" altLang="uz-Cyrl-UZ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uz-Cyrl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8" name="Rectangle 76"/>
          <p:cNvSpPr>
            <a:spLocks noChangeArrowheads="1"/>
          </p:cNvSpPr>
          <p:nvPr/>
        </p:nvSpPr>
        <p:spPr bwMode="auto">
          <a:xfrm>
            <a:off x="250825" y="333375"/>
            <a:ext cx="8642350" cy="6264275"/>
          </a:xfrm>
          <a:prstGeom prst="rect">
            <a:avLst/>
          </a:prstGeom>
          <a:solidFill>
            <a:schemeClr val="tx1">
              <a:alpha val="72000"/>
            </a:schemeClr>
          </a:solidFill>
          <a:ln w="25400" algn="ctr">
            <a:solidFill>
              <a:srgbClr val="3B007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uz-Cyrl-UZ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54050" y="1484313"/>
            <a:ext cx="7786688" cy="3024187"/>
          </a:xfrm>
          <a:solidFill>
            <a:schemeClr val="tx1"/>
          </a:solidFill>
          <a:ln w="12700" cap="flat">
            <a:solidFill>
              <a:srgbClr val="3D007A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None/>
              <a:defRPr/>
            </a:pPr>
            <a:r>
              <a:rPr lang="uz-Cyrl-UZ" sz="2800" dirty="0">
                <a:solidFill>
                  <a:schemeClr val="bg1"/>
                </a:solidFill>
                <a:effectLst/>
              </a:rPr>
              <a:t>Фейстел тармоғига асосланган симметрик шифрлаш алгоритмлари учун дифференциал криптотаҳлил усули. Шифрлаш алгоритми S блоклари</a:t>
            </a:r>
            <a:r>
              <a:rPr lang="ru-RU" sz="2800" dirty="0">
                <a:solidFill>
                  <a:schemeClr val="bg1"/>
                </a:solidFill>
                <a:effectLst/>
              </a:rPr>
              <a:t> </a:t>
            </a:r>
            <a:r>
              <a:rPr lang="ru-RU" sz="2800" dirty="0" err="1">
                <a:solidFill>
                  <a:schemeClr val="bg1"/>
                </a:solidFill>
                <a:effectLst/>
              </a:rPr>
              <a:t>мисолида</a:t>
            </a:r>
            <a:r>
              <a:rPr lang="ru-RU" sz="2800" dirty="0">
                <a:solidFill>
                  <a:schemeClr val="bg1"/>
                </a:solidFill>
                <a:effectLst/>
              </a:rPr>
              <a:t>.</a:t>
            </a:r>
            <a:endParaRPr lang="ru-RU" altLang="uz-Cyrl-UZ" sz="2000" dirty="0" smtClean="0">
              <a:solidFill>
                <a:schemeClr val="bg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359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uz-Cyrl-UZ"/>
          </a:p>
        </p:txBody>
      </p:sp>
      <p:sp>
        <p:nvSpPr>
          <p:cNvPr id="13364" name="Rectangle 5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8" name="Rectangle 76"/>
          <p:cNvSpPr>
            <a:spLocks noChangeArrowheads="1"/>
          </p:cNvSpPr>
          <p:nvPr/>
        </p:nvSpPr>
        <p:spPr bwMode="auto">
          <a:xfrm>
            <a:off x="250825" y="333375"/>
            <a:ext cx="8642350" cy="6264275"/>
          </a:xfrm>
          <a:prstGeom prst="rect">
            <a:avLst/>
          </a:prstGeom>
          <a:solidFill>
            <a:schemeClr val="tx1">
              <a:alpha val="72000"/>
            </a:schemeClr>
          </a:solidFill>
          <a:ln w="25400" algn="ctr">
            <a:solidFill>
              <a:srgbClr val="3B007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uz-Cyrl-UZ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54050" y="1484313"/>
            <a:ext cx="7786688" cy="3024187"/>
          </a:xfrm>
          <a:solidFill>
            <a:schemeClr val="tx1"/>
          </a:solidFill>
          <a:ln w="12700" cap="flat">
            <a:solidFill>
              <a:srgbClr val="3D007A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uz-Cyrl-UZ" altLang="uz-Cyrl-UZ" sz="2800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uz-Cyrl-UZ" altLang="uz-Cyrl-UZ" sz="2800" b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Таъриф:</a:t>
            </a:r>
            <a:r>
              <a:rPr lang="uz-Cyrl-UZ" altLang="uz-Cyrl-UZ" sz="2800" smtClean="0">
                <a:effectLst/>
                <a:latin typeface="Times New Roman" pitchFamily="18" charset="0"/>
              </a:rPr>
              <a:t>  </a:t>
            </a:r>
            <a:r>
              <a:rPr lang="uz-Cyrl-UZ" altLang="uz-Cyrl-UZ" sz="2400" smtClean="0">
                <a:solidFill>
                  <a:srgbClr val="000000"/>
                </a:solidFill>
                <a:effectLst/>
                <a:latin typeface="Times New Roman" pitchFamily="18" charset="0"/>
              </a:rPr>
              <a:t>Элементлари</a:t>
            </a:r>
            <a:r>
              <a:rPr lang="uz-Cyrl-UZ" altLang="uz-Cyrl-UZ" sz="2400" b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 </a:t>
            </a:r>
            <a:r>
              <a:rPr lang="uz-Cyrl-UZ" altLang="uz-Cyrl-UZ" sz="2400" smtClean="0">
                <a:solidFill>
                  <a:srgbClr val="000000"/>
                </a:solidFill>
                <a:effectLst/>
                <a:latin typeface="Times New Roman" pitchFamily="18" charset="0"/>
              </a:rPr>
              <a:t>қуйидаги: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uz-Cyrl-UZ" altLang="uz-Cyrl-UZ" sz="140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uz-Cyrl-UZ" altLang="uz-Cyrl-UZ" sz="1400" smtClean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ru-RU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     </a:t>
            </a:r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ифода билан аниқланадиган матрицага айирма матрица дейилади.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ru-RU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     </a:t>
            </a:r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Бу ерда </a:t>
            </a:r>
            <a:r>
              <a:rPr lang="en-US" altLang="uz-Cyrl-UZ" sz="2000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F</a:t>
            </a:r>
            <a:r>
              <a:rPr lang="en-US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 </a:t>
            </a:r>
            <a:r>
              <a:rPr lang="ru-RU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 симметрик</a:t>
            </a:r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 </a:t>
            </a:r>
            <a:r>
              <a:rPr lang="ru-RU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шифрлаш алгоритмларидаги чизи</a:t>
            </a:r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қ</a:t>
            </a:r>
            <a:r>
              <a:rPr lang="ru-RU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сиз акслантиришлар.</a:t>
            </a:r>
            <a:endParaRPr lang="uz-Cyrl-UZ" altLang="uz-Cyrl-UZ" sz="2000" smtClean="0">
              <a:solidFill>
                <a:srgbClr val="000000"/>
              </a:solidFill>
              <a:effectLst/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ru-RU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     </a:t>
            </a:r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Энг катта элемент акслантиришга нисбатан айирмалар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ru-RU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    </a:t>
            </a:r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матрицасининг максимуми дейилади ва       </a:t>
            </a:r>
            <a:r>
              <a:rPr lang="ru-RU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каби </a:t>
            </a:r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белгиланади.</a:t>
            </a:r>
            <a:endParaRPr lang="ru-RU" altLang="uz-Cyrl-UZ" sz="2000" smtClean="0">
              <a:solidFill>
                <a:srgbClr val="00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13359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uz-Cyrl-UZ"/>
          </a:p>
        </p:txBody>
      </p:sp>
      <p:graphicFrame>
        <p:nvGraphicFramePr>
          <p:cNvPr id="13358" name="Object 46"/>
          <p:cNvGraphicFramePr>
            <a:graphicFrameLocks noChangeAspect="1"/>
          </p:cNvGraphicFramePr>
          <p:nvPr/>
        </p:nvGraphicFramePr>
        <p:xfrm>
          <a:off x="1925638" y="1989138"/>
          <a:ext cx="590391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Формула" r:id="rId3" imgW="3022600" imgH="254000" progId="Equation.3">
                  <p:embed/>
                </p:oleObj>
              </mc:Choice>
              <mc:Fallback>
                <p:oleObj name="Формула" r:id="rId3" imgW="30226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638" y="1989138"/>
                        <a:ext cx="5903912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64" name="Rectangle 5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uz-Cyrl-UZ"/>
          </a:p>
        </p:txBody>
      </p:sp>
      <p:graphicFrame>
        <p:nvGraphicFramePr>
          <p:cNvPr id="13363" name="Object 51"/>
          <p:cNvGraphicFramePr>
            <a:graphicFrameLocks noChangeAspect="1"/>
          </p:cNvGraphicFramePr>
          <p:nvPr/>
        </p:nvGraphicFramePr>
        <p:xfrm>
          <a:off x="5373688" y="3860800"/>
          <a:ext cx="3778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Формула" r:id="rId5" imgW="190335" imgH="215713" progId="Equation.3">
                  <p:embed/>
                </p:oleObj>
              </mc:Choice>
              <mc:Fallback>
                <p:oleObj name="Формула" r:id="rId5" imgW="190335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3688" y="3860800"/>
                        <a:ext cx="37782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86" name="Object 74"/>
          <p:cNvGraphicFramePr>
            <a:graphicFrameLocks noGrp="1" noChangeAspect="1"/>
          </p:cNvGraphicFramePr>
          <p:nvPr>
            <p:ph sz="half" idx="2"/>
          </p:nvPr>
        </p:nvGraphicFramePr>
        <p:xfrm>
          <a:off x="2627313" y="4868863"/>
          <a:ext cx="4248150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r:id="rId7" imgW="1117115" imgH="406224" progId="">
                  <p:embed/>
                </p:oleObj>
              </mc:Choice>
              <mc:Fallback>
                <p:oleObj r:id="rId7" imgW="1117115" imgH="40622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868863"/>
                        <a:ext cx="4248150" cy="141446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9525" cap="flat">
                        <a:solidFill>
                          <a:srgbClr val="3D007A"/>
                        </a:solidFill>
                        <a:prstDash val="dash"/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89" name="Rectangle 77"/>
          <p:cNvSpPr>
            <a:spLocks noChangeArrowheads="1"/>
          </p:cNvSpPr>
          <p:nvPr/>
        </p:nvSpPr>
        <p:spPr bwMode="auto">
          <a:xfrm>
            <a:off x="1663700" y="549275"/>
            <a:ext cx="5903913" cy="555625"/>
          </a:xfrm>
          <a:prstGeom prst="rect">
            <a:avLst/>
          </a:prstGeom>
          <a:solidFill>
            <a:srgbClr val="3D007A"/>
          </a:solidFill>
          <a:ln w="25400" algn="ctr">
            <a:solidFill>
              <a:srgbClr val="3B007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uz-Cyrl-UZ" altLang="uz-Cyrl-UZ" sz="320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 </a:t>
            </a:r>
            <a:r>
              <a:rPr lang="uz-Cyrl-UZ" altLang="uz-Cyrl-UZ" b="1" smtClean="0">
                <a:effectLst/>
              </a:rPr>
              <a:t>Айирма матрицалар</a:t>
            </a:r>
            <a:endParaRPr lang="ru-RU" altLang="uz-Cyrl-UZ" b="1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2036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9" name="Rectangle 2671"/>
          <p:cNvSpPr>
            <a:spLocks noChangeArrowheads="1"/>
          </p:cNvSpPr>
          <p:nvPr/>
        </p:nvSpPr>
        <p:spPr bwMode="auto">
          <a:xfrm>
            <a:off x="250825" y="333375"/>
            <a:ext cx="8642350" cy="6264275"/>
          </a:xfrm>
          <a:prstGeom prst="rect">
            <a:avLst/>
          </a:prstGeom>
          <a:solidFill>
            <a:schemeClr val="tx1">
              <a:alpha val="72000"/>
            </a:schemeClr>
          </a:solidFill>
          <a:ln w="25400" algn="ctr">
            <a:solidFill>
              <a:srgbClr val="3B007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uz-Cyrl-UZ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23863" y="419100"/>
            <a:ext cx="8281987" cy="1081088"/>
          </a:xfrm>
          <a:solidFill>
            <a:schemeClr val="tx1"/>
          </a:solidFill>
          <a:ln w="12700" cap="flat">
            <a:solidFill>
              <a:srgbClr val="3D007A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ГОСТ 28147-89 шифрлаш алгоритми </a:t>
            </a:r>
            <a:r>
              <a:rPr lang="uz-Cyrl-UZ" altLang="uz-Cyrl-UZ" sz="2000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S</a:t>
            </a:r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 - блоклари учун дифференциал криптотаҳлил тақсимот жадвалларини </a:t>
            </a:r>
            <a:r>
              <a:rPr lang="ru-RU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тузишни </a:t>
            </a:r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кўриб ўтамиз.</a:t>
            </a:r>
            <a:r>
              <a:rPr lang="ru-RU" altLang="uz-Cyrl-UZ" sz="2000" b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    </a:t>
            </a:r>
            <a:br>
              <a:rPr lang="ru-RU" altLang="uz-Cyrl-UZ" sz="2000" b="1" smtClean="0">
                <a:solidFill>
                  <a:srgbClr val="000000"/>
                </a:solidFill>
                <a:effectLst/>
                <a:latin typeface="Times New Roman" pitchFamily="18" charset="0"/>
              </a:rPr>
            </a:br>
            <a:r>
              <a:rPr lang="en-US" altLang="uz-Cyrl-UZ" sz="2400" b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S</a:t>
            </a:r>
            <a:r>
              <a:rPr lang="uz-Cyrl-UZ" altLang="uz-Cyrl-UZ" sz="2400" b="1" baseline="-25000" smtClean="0">
                <a:solidFill>
                  <a:srgbClr val="3D007A"/>
                </a:solidFill>
                <a:effectLst/>
                <a:latin typeface="Times New Roman" pitchFamily="18" charset="0"/>
              </a:rPr>
              <a:t>1</a:t>
            </a:r>
            <a:r>
              <a:rPr lang="en-US" altLang="uz-Cyrl-UZ" sz="2400" b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-</a:t>
            </a:r>
            <a:r>
              <a:rPr lang="uz-Cyrl-UZ" altLang="uz-Cyrl-UZ" sz="2400" b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блок</a:t>
            </a:r>
            <a:endParaRPr lang="ru-RU" altLang="uz-Cyrl-UZ" sz="2400" b="1" smtClean="0">
              <a:solidFill>
                <a:srgbClr val="3D007A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25341" name="Group 2813"/>
          <p:cNvGraphicFramePr>
            <a:graphicFrameLocks noGrp="1"/>
          </p:cNvGraphicFramePr>
          <p:nvPr>
            <p:ph sz="half" idx="1"/>
          </p:nvPr>
        </p:nvGraphicFramePr>
        <p:xfrm>
          <a:off x="1116013" y="1571625"/>
          <a:ext cx="6911975" cy="720726"/>
        </p:xfrm>
        <a:graphic>
          <a:graphicData uri="http://schemas.openxmlformats.org/drawingml/2006/table">
            <a:tbl>
              <a:tblPr/>
              <a:tblGrid>
                <a:gridCol w="431800"/>
                <a:gridCol w="431800"/>
                <a:gridCol w="431800"/>
                <a:gridCol w="431800"/>
                <a:gridCol w="431800"/>
                <a:gridCol w="433387"/>
                <a:gridCol w="431800"/>
                <a:gridCol w="431800"/>
                <a:gridCol w="431800"/>
                <a:gridCol w="433388"/>
                <a:gridCol w="431800"/>
                <a:gridCol w="431800"/>
                <a:gridCol w="431800"/>
                <a:gridCol w="431800"/>
                <a:gridCol w="431800"/>
                <a:gridCol w="431800"/>
              </a:tblGrid>
              <a:tr h="3603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15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3603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15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ru-RU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0094" name="Group 3358"/>
          <p:cNvGraphicFramePr>
            <a:graphicFrameLocks noGrp="1"/>
          </p:cNvGraphicFramePr>
          <p:nvPr>
            <p:ph sz="half" idx="2"/>
          </p:nvPr>
        </p:nvGraphicFramePr>
        <p:xfrm>
          <a:off x="395288" y="2365375"/>
          <a:ext cx="3527425" cy="4200527"/>
        </p:xfrm>
        <a:graphic>
          <a:graphicData uri="http://schemas.openxmlformats.org/drawingml/2006/table">
            <a:tbl>
              <a:tblPr/>
              <a:tblGrid>
                <a:gridCol w="436562"/>
                <a:gridCol w="447675"/>
                <a:gridCol w="454025"/>
                <a:gridCol w="444500"/>
                <a:gridCol w="442913"/>
                <a:gridCol w="436562"/>
                <a:gridCol w="439738"/>
                <a:gridCol w="425450"/>
              </a:tblGrid>
              <a:tr h="347679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uz-Cyrl-UZ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uz-Cyrl-UZ" altLang="uz-Cyrl-UZ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endParaRPr kumimoji="0" lang="en-US" alt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uz-Cyrl-UZ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uz-Cyrl-UZ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en-US" alt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uz-Cyrl-UZ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r>
                        <a:rPr kumimoji="0" lang="en-US" altLang="uz-Cyrl-UZ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r>
                        <a:rPr kumimoji="0" lang="en-US" altLang="uz-Cyrl-UZ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r>
                        <a:rPr kumimoji="0" lang="en-US" altLang="uz-Cyrl-UZ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en-US" alt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r>
                        <a:rPr kumimoji="0" lang="en-US" altLang="uz-Cyrl-UZ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240803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</a:tr>
              <a:tr h="240803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</a:tr>
              <a:tr h="240803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</a:tr>
              <a:tr h="240803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</a:tr>
              <a:tr h="240803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</a:tr>
              <a:tr h="240803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</a:tr>
              <a:tr h="240803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</a:tr>
              <a:tr h="240803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</a:tr>
              <a:tr h="240803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</a:tr>
              <a:tr h="240803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</a:tr>
              <a:tr h="240803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</a:tr>
              <a:tr h="240803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</a:tr>
              <a:tr h="240803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</a:tr>
              <a:tr h="240803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</a:tr>
              <a:tr h="240803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</a:tr>
              <a:tr h="240803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uz-Cyrl-UZ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uz-Cyrl-UZ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B7"/>
                    </a:solidFill>
                  </a:tcPr>
                </a:tc>
              </a:tr>
            </a:tbl>
          </a:graphicData>
        </a:graphic>
      </p:graphicFrame>
      <p:sp>
        <p:nvSpPr>
          <p:cNvPr id="24845" name="Rectangle 2317"/>
          <p:cNvSpPr>
            <a:spLocks noChangeArrowheads="1"/>
          </p:cNvSpPr>
          <p:nvPr/>
        </p:nvSpPr>
        <p:spPr bwMode="auto">
          <a:xfrm>
            <a:off x="0" y="3067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uz-Cyrl-UZ"/>
          </a:p>
        </p:txBody>
      </p:sp>
      <p:sp>
        <p:nvSpPr>
          <p:cNvPr id="25069" name="Rectangle 2541"/>
          <p:cNvSpPr>
            <a:spLocks noChangeArrowheads="1"/>
          </p:cNvSpPr>
          <p:nvPr/>
        </p:nvSpPr>
        <p:spPr bwMode="auto">
          <a:xfrm>
            <a:off x="4140200" y="3357563"/>
            <a:ext cx="4392613" cy="1582737"/>
          </a:xfrm>
          <a:prstGeom prst="rect">
            <a:avLst/>
          </a:prstGeom>
          <a:solidFill>
            <a:schemeClr val="tx1"/>
          </a:solidFill>
          <a:ln w="12700" algn="ctr">
            <a:solidFill>
              <a:srgbClr val="3D007A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342900" indent="-342900" algn="ctr">
              <a:lnSpc>
                <a:spcPct val="90000"/>
              </a:lnSpc>
              <a:buFont typeface="Wingdings" pitchFamily="2" charset="2"/>
              <a:buNone/>
            </a:pPr>
            <a:r>
              <a:rPr lang="ru-RU" altLang="uz-Cyrl-UZ" sz="2000">
                <a:solidFill>
                  <a:srgbClr val="000000"/>
                </a:solidFill>
                <a:effectLst/>
                <a:latin typeface="Times New Roman" pitchFamily="18" charset="0"/>
              </a:rPr>
              <a:t>Келтирилган </a:t>
            </a:r>
            <a:r>
              <a:rPr lang="en-US" altLang="uz-Cyrl-UZ" sz="2000">
                <a:solidFill>
                  <a:srgbClr val="000000"/>
                </a:solidFill>
                <a:effectLst/>
                <a:latin typeface="Times New Roman" pitchFamily="18" charset="0"/>
              </a:rPr>
              <a:t>S</a:t>
            </a:r>
            <a:r>
              <a:rPr lang="ru-RU" altLang="uz-Cyrl-UZ" sz="2000">
                <a:solidFill>
                  <a:srgbClr val="000000"/>
                </a:solidFill>
                <a:effectLst/>
                <a:latin typeface="Times New Roman" pitchFamily="18" charset="0"/>
              </a:rPr>
              <a:t>-</a:t>
            </a:r>
            <a:r>
              <a:rPr lang="uz-Cyrl-UZ" altLang="uz-Cyrl-UZ" sz="2000">
                <a:solidFill>
                  <a:srgbClr val="000000"/>
                </a:solidFill>
                <a:effectLst/>
                <a:latin typeface="Times New Roman" pitchFamily="18" charset="0"/>
              </a:rPr>
              <a:t>блок</a:t>
            </a:r>
            <a:r>
              <a:rPr lang="ru-RU" altLang="uz-Cyrl-UZ" sz="2000">
                <a:solidFill>
                  <a:srgbClr val="000000"/>
                </a:solidFill>
                <a:effectLst/>
                <a:latin typeface="Times New Roman" pitchFamily="18" charset="0"/>
              </a:rPr>
              <a:t>га мос холда </a:t>
            </a:r>
            <a:endParaRPr lang="en-US" altLang="uz-Cyrl-UZ" sz="2000">
              <a:solidFill>
                <a:srgbClr val="000000"/>
              </a:solidFill>
              <a:effectLst/>
              <a:latin typeface="Times New Roman" pitchFamily="18" charset="0"/>
            </a:endParaRPr>
          </a:p>
          <a:p>
            <a:pPr marL="342900" indent="-342900" algn="ctr">
              <a:lnSpc>
                <a:spcPct val="90000"/>
              </a:lnSpc>
              <a:buFont typeface="Wingdings" pitchFamily="2" charset="2"/>
              <a:buNone/>
            </a:pPr>
            <a:r>
              <a:rPr lang="ru-RU" altLang="uz-Cyrl-UZ" sz="2000">
                <a:solidFill>
                  <a:srgbClr val="000000"/>
                </a:solidFill>
                <a:effectLst/>
                <a:latin typeface="Times New Roman" pitchFamily="18" charset="0"/>
              </a:rPr>
              <a:t>чинлик жадвалини тузамиз ва унинг </a:t>
            </a:r>
            <a:endParaRPr lang="en-US" altLang="uz-Cyrl-UZ" sz="2000">
              <a:solidFill>
                <a:srgbClr val="000000"/>
              </a:solidFill>
              <a:effectLst/>
              <a:latin typeface="Times New Roman" pitchFamily="18" charset="0"/>
            </a:endParaRPr>
          </a:p>
          <a:p>
            <a:pPr marL="342900" indent="-342900" algn="ctr">
              <a:lnSpc>
                <a:spcPct val="90000"/>
              </a:lnSpc>
              <a:buFont typeface="Wingdings" pitchFamily="2" charset="2"/>
              <a:buNone/>
            </a:pPr>
            <a:r>
              <a:rPr lang="ru-RU" altLang="uz-Cyrl-UZ" sz="2000">
                <a:solidFill>
                  <a:srgbClr val="000000"/>
                </a:solidFill>
                <a:effectLst/>
                <a:latin typeface="Times New Roman" pitchFamily="18" charset="0"/>
              </a:rPr>
              <a:t>кўриниши </a:t>
            </a:r>
            <a:r>
              <a:rPr lang="uz-Cyrl-UZ" altLang="uz-Cyrl-UZ" sz="2000">
                <a:solidFill>
                  <a:srgbClr val="000000"/>
                </a:solidFill>
                <a:effectLst/>
                <a:latin typeface="Times New Roman" pitchFamily="18" charset="0"/>
              </a:rPr>
              <a:t>қ</a:t>
            </a:r>
            <a:r>
              <a:rPr lang="ru-RU" altLang="uz-Cyrl-UZ" sz="2000">
                <a:solidFill>
                  <a:srgbClr val="000000"/>
                </a:solidFill>
                <a:effectLst/>
                <a:latin typeface="Times New Roman" pitchFamily="18" charset="0"/>
              </a:rPr>
              <a:t>уйидагича бўлади:</a:t>
            </a:r>
            <a:r>
              <a:rPr lang="ru-RU" altLang="uz-Cyrl-UZ" sz="2400">
                <a:solidFill>
                  <a:srgbClr val="000000"/>
                </a:solidFill>
                <a:effectLst/>
                <a:latin typeface="Times New Roman" pitchFamily="18" charset="0"/>
              </a:rPr>
              <a:t> </a:t>
            </a:r>
          </a:p>
        </p:txBody>
      </p:sp>
      <p:sp>
        <p:nvSpPr>
          <p:cNvPr id="25070" name="Line 2542"/>
          <p:cNvSpPr>
            <a:spLocks noChangeShapeType="1"/>
          </p:cNvSpPr>
          <p:nvPr/>
        </p:nvSpPr>
        <p:spPr bwMode="auto">
          <a:xfrm flipH="1">
            <a:off x="4284663" y="2924175"/>
            <a:ext cx="358775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nimBg="1" autoUpdateAnimBg="0"/>
      <p:bldP spid="25069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16" name="Rectangle 1728"/>
          <p:cNvSpPr>
            <a:spLocks noChangeArrowheads="1"/>
          </p:cNvSpPr>
          <p:nvPr/>
        </p:nvSpPr>
        <p:spPr bwMode="auto">
          <a:xfrm>
            <a:off x="250825" y="333375"/>
            <a:ext cx="8642350" cy="6264275"/>
          </a:xfrm>
          <a:prstGeom prst="rect">
            <a:avLst/>
          </a:prstGeom>
          <a:solidFill>
            <a:schemeClr val="tx1">
              <a:alpha val="72000"/>
            </a:schemeClr>
          </a:solidFill>
          <a:ln w="25400" algn="ctr">
            <a:solidFill>
              <a:srgbClr val="3B007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uz-Cyrl-UZ"/>
          </a:p>
        </p:txBody>
      </p:sp>
      <p:sp>
        <p:nvSpPr>
          <p:cNvPr id="82953" name="Line 9"/>
          <p:cNvSpPr>
            <a:spLocks noChangeShapeType="1"/>
          </p:cNvSpPr>
          <p:nvPr/>
        </p:nvSpPr>
        <p:spPr bwMode="auto">
          <a:xfrm>
            <a:off x="827088" y="3716338"/>
            <a:ext cx="7345362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uz-Cyrl-UZ"/>
          </a:p>
        </p:txBody>
      </p:sp>
      <p:sp>
        <p:nvSpPr>
          <p:cNvPr id="4100" name="Rectangle 1028"/>
          <p:cNvSpPr>
            <a:spLocks noChangeArrowheads="1"/>
          </p:cNvSpPr>
          <p:nvPr/>
        </p:nvSpPr>
        <p:spPr bwMode="auto">
          <a:xfrm>
            <a:off x="1684338" y="973138"/>
            <a:ext cx="11112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uz-Cyrl-UZ" sz="1200">
                <a:effectLst/>
                <a:latin typeface="Times New Roman" pitchFamily="18" charset="0"/>
                <a:cs typeface="Times New Roman" pitchFamily="18" charset="0"/>
              </a:rPr>
              <a:t>x</a:t>
            </a:r>
            <a:endParaRPr lang="en-US" altLang="uz-Cyrl-UZ" sz="2400">
              <a:effectLst/>
              <a:latin typeface="Times New Roman" pitchFamily="18" charset="0"/>
            </a:endParaRPr>
          </a:p>
        </p:txBody>
      </p:sp>
      <p:sp>
        <p:nvSpPr>
          <p:cNvPr id="4101" name="Rectangle 1031"/>
          <p:cNvSpPr>
            <a:spLocks noChangeArrowheads="1"/>
          </p:cNvSpPr>
          <p:nvPr/>
        </p:nvSpPr>
        <p:spPr bwMode="auto">
          <a:xfrm>
            <a:off x="1684338" y="973138"/>
            <a:ext cx="94456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uz-Cyrl-UZ" sz="1200">
                <a:effectLst/>
                <a:latin typeface="Times New Roman" pitchFamily="18" charset="0"/>
                <a:cs typeface="Times New Roman" pitchFamily="18" charset="0"/>
              </a:rPr>
              <a:t>x</a:t>
            </a:r>
            <a:endParaRPr lang="en-US" altLang="uz-Cyrl-UZ" sz="2400">
              <a:effectLst/>
              <a:latin typeface="Times New Roman" pitchFamily="18" charset="0"/>
            </a:endParaRPr>
          </a:p>
        </p:txBody>
      </p:sp>
      <p:graphicFrame>
        <p:nvGraphicFramePr>
          <p:cNvPr id="118899" name="Group 2163"/>
          <p:cNvGraphicFramePr>
            <a:graphicFrameLocks noGrp="1"/>
          </p:cNvGraphicFramePr>
          <p:nvPr/>
        </p:nvGraphicFramePr>
        <p:xfrm>
          <a:off x="466725" y="928688"/>
          <a:ext cx="8208963" cy="5413382"/>
        </p:xfrm>
        <a:graphic>
          <a:graphicData uri="http://schemas.openxmlformats.org/drawingml/2006/table">
            <a:tbl>
              <a:tblPr/>
              <a:tblGrid>
                <a:gridCol w="935038"/>
                <a:gridCol w="1081087"/>
                <a:gridCol w="1152525"/>
                <a:gridCol w="1223963"/>
                <a:gridCol w="1727200"/>
                <a:gridCol w="2089150"/>
              </a:tblGrid>
              <a:tr h="457199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ru-RU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uz-Cyrl-UZ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uz-Cyrl-UZ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uz-Cyrl-UZ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uz-Cyrl-UZ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ru-RU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(ўнлик кўриниши</a:t>
                      </a: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uz-Cyrl-UZ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3095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0100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0111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095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</a:t>
                      </a: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095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0010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</a:t>
                      </a: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095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0011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</a:t>
                      </a: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11150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0100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095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0101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095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0110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095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0111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0100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095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0011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0101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095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0101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095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095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0111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11150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0111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095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095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1110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0101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095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1111</a:t>
                      </a:r>
                      <a:endParaRPr kumimoji="0" lang="en-US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0011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0110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0101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uz-Cyrl-UZ" altLang="uz-Cyrl-UZ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4230" name="Rectangle 1711"/>
          <p:cNvSpPr>
            <a:spLocks noGrp="1" noChangeArrowheads="1"/>
          </p:cNvSpPr>
          <p:nvPr>
            <p:ph type="title" sz="quarter"/>
          </p:nvPr>
        </p:nvSpPr>
        <p:spPr>
          <a:xfrm>
            <a:off x="395288" y="476250"/>
            <a:ext cx="8229600" cy="288925"/>
          </a:xfrm>
          <a:solidFill>
            <a:srgbClr val="3D007A"/>
          </a:solidFill>
          <a:ln w="12700" cap="flat">
            <a:solidFill>
              <a:srgbClr val="3D007A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ru-RU" altLang="uz-Cyrl-UZ" sz="2000" b="1" smtClean="0">
                <a:solidFill>
                  <a:schemeClr val="tx1"/>
                </a:solidFill>
                <a:effectLst/>
                <a:latin typeface="Times New Roman" pitchFamily="18" charset="0"/>
              </a:rPr>
              <a:t>Б</a:t>
            </a:r>
            <a:r>
              <a:rPr lang="uz-Cyrl-UZ" altLang="uz-Cyrl-UZ" sz="2000" b="1" smtClean="0">
                <a:solidFill>
                  <a:schemeClr val="tx1"/>
                </a:solidFill>
                <a:effectLst/>
                <a:latin typeface="Times New Roman" pitchFamily="18" charset="0"/>
              </a:rPr>
              <a:t>у жадвалда </a:t>
            </a:r>
            <a:r>
              <a:rPr lang="uz-Cyrl-UZ" altLang="uz-Cyrl-UZ" sz="2000" b="1" i="1" smtClean="0">
                <a:solidFill>
                  <a:schemeClr val="tx1"/>
                </a:solidFill>
                <a:effectLst/>
                <a:latin typeface="Times New Roman" pitchFamily="18" charset="0"/>
              </a:rPr>
              <a:t>а</a:t>
            </a:r>
            <a:r>
              <a:rPr lang="uz-Cyrl-UZ" altLang="uz-Cyrl-UZ" sz="2000" b="1" smtClean="0">
                <a:solidFill>
                  <a:schemeClr val="tx1"/>
                </a:solidFill>
                <a:effectLst/>
                <a:latin typeface="Times New Roman" pitchFamily="18" charset="0"/>
              </a:rPr>
              <a:t>=7(0111</a:t>
            </a:r>
            <a:r>
              <a:rPr lang="uz-Cyrl-UZ" altLang="uz-Cyrl-UZ" sz="2000" b="1" baseline="-25000" smtClean="0">
                <a:solidFill>
                  <a:schemeClr val="tx1"/>
                </a:solidFill>
                <a:effectLst/>
                <a:latin typeface="Times New Roman" pitchFamily="18" charset="0"/>
              </a:rPr>
              <a:t>2</a:t>
            </a:r>
            <a:r>
              <a:rPr lang="uz-Cyrl-UZ" altLang="uz-Cyrl-UZ" sz="2000" b="1" smtClean="0">
                <a:solidFill>
                  <a:schemeClr val="tx1"/>
                </a:solidFill>
                <a:effectLst/>
                <a:latin typeface="Times New Roman" pitchFamily="18" charset="0"/>
              </a:rPr>
              <a:t>) бўлган хол учун кўрсатилган</a:t>
            </a:r>
            <a:endParaRPr lang="ru-RU" altLang="uz-Cyrl-UZ" sz="4000" b="1" smtClean="0"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4231" name="Object 1715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419350" y="28638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3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0" name="Object 17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28638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2" name="Object 171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38163" y="931863"/>
          <a:ext cx="7207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4" name="Формула" r:id="rId5" imgW="431613" imgH="203112" progId="Equation.3">
                  <p:embed/>
                </p:oleObj>
              </mc:Choice>
              <mc:Fallback>
                <p:oleObj name="Формула" r:id="rId5" imgW="431613" imgH="203112" progId="Equation.3">
                  <p:embed/>
                  <p:pic>
                    <p:nvPicPr>
                      <p:cNvPr id="0" name="Object 17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3" y="931863"/>
                        <a:ext cx="72072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3" name="Object 171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476375" y="992188"/>
          <a:ext cx="647700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5" name="Формула" r:id="rId7" imgW="342603" imgH="215713" progId="Equation.3">
                  <p:embed/>
                </p:oleObj>
              </mc:Choice>
              <mc:Fallback>
                <p:oleObj name="Формула" r:id="rId7" imgW="342603" imgH="215713" progId="Equation.3">
                  <p:embed/>
                  <p:pic>
                    <p:nvPicPr>
                      <p:cNvPr id="0" name="Object 17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992188"/>
                        <a:ext cx="647700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4" name="Object 1724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2555875" y="990600"/>
          <a:ext cx="100806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6" name="Формула" r:id="rId9" imgW="393359" imgH="177646" progId="Equation.3">
                  <p:embed/>
                </p:oleObj>
              </mc:Choice>
              <mc:Fallback>
                <p:oleObj name="Формула" r:id="rId9" imgW="393359" imgH="177646" progId="Equation.3">
                  <p:embed/>
                  <p:pic>
                    <p:nvPicPr>
                      <p:cNvPr id="0" name="Object 17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990600"/>
                        <a:ext cx="1008063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5" name="Object 1726"/>
          <p:cNvGraphicFramePr>
            <a:graphicFrameLocks noChangeAspect="1"/>
          </p:cNvGraphicFramePr>
          <p:nvPr/>
        </p:nvGraphicFramePr>
        <p:xfrm>
          <a:off x="3708400" y="981075"/>
          <a:ext cx="100806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7" name="Формула" r:id="rId11" imgW="596641" imgH="215806" progId="Equation.3">
                  <p:embed/>
                </p:oleObj>
              </mc:Choice>
              <mc:Fallback>
                <p:oleObj name="Формула" r:id="rId11" imgW="596641" imgH="215806" progId="Equation.3">
                  <p:embed/>
                  <p:pic>
                    <p:nvPicPr>
                      <p:cNvPr id="0" name="Object 17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981075"/>
                        <a:ext cx="1008063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6" name="Object 1727"/>
          <p:cNvGraphicFramePr>
            <a:graphicFrameLocks noChangeAspect="1"/>
          </p:cNvGraphicFramePr>
          <p:nvPr/>
        </p:nvGraphicFramePr>
        <p:xfrm>
          <a:off x="4932363" y="1031875"/>
          <a:ext cx="151130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8" name="Формула" r:id="rId13" imgW="1294838" imgH="215806" progId="Equation.3">
                  <p:embed/>
                </p:oleObj>
              </mc:Choice>
              <mc:Fallback>
                <p:oleObj name="Формула" r:id="rId13" imgW="1294838" imgH="215806" progId="Equation.3">
                  <p:embed/>
                  <p:pic>
                    <p:nvPicPr>
                      <p:cNvPr id="0" name="Object 17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031875"/>
                        <a:ext cx="1511300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71" name="Rectangle 591"/>
          <p:cNvSpPr>
            <a:spLocks noChangeArrowheads="1"/>
          </p:cNvSpPr>
          <p:nvPr/>
        </p:nvSpPr>
        <p:spPr bwMode="auto">
          <a:xfrm>
            <a:off x="250825" y="333375"/>
            <a:ext cx="8642350" cy="6264275"/>
          </a:xfrm>
          <a:prstGeom prst="rect">
            <a:avLst/>
          </a:prstGeom>
          <a:solidFill>
            <a:schemeClr val="tx1">
              <a:alpha val="72000"/>
            </a:schemeClr>
          </a:solidFill>
          <a:ln w="25400" algn="ctr">
            <a:solidFill>
              <a:srgbClr val="3B007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uz-Cyrl-UZ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6613"/>
            <a:ext cx="8229600" cy="600075"/>
          </a:xfrm>
          <a:solidFill>
            <a:schemeClr val="tx1"/>
          </a:solidFill>
          <a:ln w="12700" cap="flat">
            <a:solidFill>
              <a:srgbClr val="3D007A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uz-Cyrl-UZ" altLang="uz-Cyrl-UZ" sz="2400" smtClean="0">
                <a:solidFill>
                  <a:srgbClr val="000000"/>
                </a:solidFill>
                <a:effectLst/>
                <a:latin typeface="Times New Roman" pitchFamily="18" charset="0"/>
              </a:rPr>
              <a:t>Юкоридаги жадвал  қуйидаги жадвалда ифодаланган:</a:t>
            </a:r>
            <a:endParaRPr lang="ru-RU" altLang="uz-Cyrl-UZ" sz="2400" smtClean="0">
              <a:solidFill>
                <a:srgbClr val="00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5124" name="Rectangle 5"/>
          <p:cNvSpPr>
            <a:spLocks noChangeArrowheads="1"/>
          </p:cNvSpPr>
          <p:nvPr/>
        </p:nvSpPr>
        <p:spPr bwMode="auto">
          <a:xfrm>
            <a:off x="1690688" y="2927350"/>
            <a:ext cx="4794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ru-RU" altLang="uz-Cyrl-UZ" sz="2400">
              <a:effectLst/>
              <a:latin typeface="Times New Roman" pitchFamily="18" charset="0"/>
            </a:endParaRPr>
          </a:p>
        </p:txBody>
      </p:sp>
      <p:graphicFrame>
        <p:nvGraphicFramePr>
          <p:cNvPr id="98184" name="Group 904"/>
          <p:cNvGraphicFramePr>
            <a:graphicFrameLocks noGrp="1"/>
          </p:cNvGraphicFramePr>
          <p:nvPr/>
        </p:nvGraphicFramePr>
        <p:xfrm>
          <a:off x="468313" y="1724025"/>
          <a:ext cx="8207375" cy="1033463"/>
        </p:xfrm>
        <a:graphic>
          <a:graphicData uri="http://schemas.openxmlformats.org/drawingml/2006/table">
            <a:tbl>
              <a:tblPr/>
              <a:tblGrid>
                <a:gridCol w="647700"/>
                <a:gridCol w="719137"/>
                <a:gridCol w="433388"/>
                <a:gridCol w="431800"/>
                <a:gridCol w="431800"/>
                <a:gridCol w="431800"/>
                <a:gridCol w="431800"/>
                <a:gridCol w="431800"/>
                <a:gridCol w="431800"/>
                <a:gridCol w="433387"/>
                <a:gridCol w="431800"/>
                <a:gridCol w="431800"/>
                <a:gridCol w="431800"/>
                <a:gridCol w="431800"/>
                <a:gridCol w="431800"/>
                <a:gridCol w="433388"/>
                <a:gridCol w="392112"/>
                <a:gridCol w="398463"/>
              </a:tblGrid>
              <a:tr h="336550">
                <a:tc rowSpan="2" gridSpan="2"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ru-RU" altLang="uz-Cyrl-UZ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gridSpan="16"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</a:tr>
              <a:tr h="360363">
                <a:tc gridSpan="2"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36550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kumimoji="0" lang="en-US" altLang="uz-Cyrl-UZ" sz="1600" b="1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uz-Cyrl-UZ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uz-Cyrl-UZ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uz-Cyrl-UZ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uz-Cyrl-UZ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uz-Cyrl-UZ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uz-Cyrl-UZ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uz-Cyrl-UZ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uz-Cyrl-UZ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uz-Cyrl-UZ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7575" name="Rectangle 295"/>
          <p:cNvSpPr>
            <a:spLocks noChangeArrowheads="1"/>
          </p:cNvSpPr>
          <p:nvPr/>
        </p:nvSpPr>
        <p:spPr bwMode="auto">
          <a:xfrm>
            <a:off x="395288" y="3584575"/>
            <a:ext cx="8353425" cy="792163"/>
          </a:xfrm>
          <a:prstGeom prst="rect">
            <a:avLst/>
          </a:prstGeom>
          <a:solidFill>
            <a:schemeClr val="tx1"/>
          </a:solidFill>
          <a:ln w="12700" algn="ctr">
            <a:solidFill>
              <a:srgbClr val="3D007A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342900" indent="-342900" algn="ctr">
              <a:lnSpc>
                <a:spcPct val="90000"/>
              </a:lnSpc>
              <a:buFont typeface="Wingdings" pitchFamily="2" charset="2"/>
              <a:buNone/>
            </a:pPr>
            <a:r>
              <a:rPr lang="uz-Cyrl-UZ" altLang="uz-Cyrl-UZ" sz="2400">
                <a:solidFill>
                  <a:srgbClr val="000000"/>
                </a:solidFill>
                <a:effectLst/>
                <a:latin typeface="Times New Roman" pitchFamily="18" charset="0"/>
              </a:rPr>
              <a:t>Юкоридаги амалларни </a:t>
            </a:r>
            <a:r>
              <a:rPr lang="uz-Cyrl-UZ" altLang="uz-Cyrl-UZ" sz="2400" b="1" i="1">
                <a:solidFill>
                  <a:srgbClr val="3D007A"/>
                </a:solidFill>
                <a:effectLst/>
                <a:latin typeface="Times New Roman" pitchFamily="18" charset="0"/>
              </a:rPr>
              <a:t>а</a:t>
            </a:r>
            <a:r>
              <a:rPr lang="uz-Cyrl-UZ" altLang="uz-Cyrl-UZ" sz="2400" b="1">
                <a:solidFill>
                  <a:srgbClr val="3D007A"/>
                </a:solidFill>
                <a:effectLst/>
                <a:latin typeface="Times New Roman" pitchFamily="18" charset="0"/>
              </a:rPr>
              <a:t>=11</a:t>
            </a:r>
            <a:r>
              <a:rPr lang="ru-RU" altLang="uz-Cyrl-UZ" sz="2400" b="1">
                <a:solidFill>
                  <a:srgbClr val="3D007A"/>
                </a:solidFill>
                <a:effectLst/>
                <a:latin typeface="Times New Roman" pitchFamily="18" charset="0"/>
              </a:rPr>
              <a:t>(1011</a:t>
            </a:r>
            <a:r>
              <a:rPr lang="ru-RU" altLang="uz-Cyrl-UZ" sz="24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2</a:t>
            </a:r>
            <a:r>
              <a:rPr lang="ru-RU" altLang="uz-Cyrl-UZ" sz="2400" b="1">
                <a:solidFill>
                  <a:srgbClr val="3D007A"/>
                </a:solidFill>
                <a:effectLst/>
                <a:latin typeface="Times New Roman" pitchFamily="18" charset="0"/>
              </a:rPr>
              <a:t>)</a:t>
            </a:r>
            <a:r>
              <a:rPr lang="uz-Cyrl-UZ" altLang="uz-Cyrl-UZ" sz="2400">
                <a:solidFill>
                  <a:srgbClr val="000000"/>
                </a:solidFill>
                <a:effectLst/>
                <a:latin typeface="Times New Roman" pitchFamily="18" charset="0"/>
              </a:rPr>
              <a:t> бўлган хол учун хам </a:t>
            </a:r>
            <a:endParaRPr lang="ru-RU" altLang="uz-Cyrl-UZ" sz="2400">
              <a:solidFill>
                <a:srgbClr val="000000"/>
              </a:solidFill>
              <a:effectLst/>
              <a:latin typeface="Times New Roman" pitchFamily="18" charset="0"/>
            </a:endParaRPr>
          </a:p>
          <a:p>
            <a:pPr marL="342900" indent="-342900" algn="ctr">
              <a:lnSpc>
                <a:spcPct val="90000"/>
              </a:lnSpc>
              <a:buFont typeface="Wingdings" pitchFamily="2" charset="2"/>
              <a:buNone/>
            </a:pPr>
            <a:r>
              <a:rPr lang="uz-Cyrl-UZ" altLang="uz-Cyrl-UZ" sz="2400">
                <a:solidFill>
                  <a:srgbClr val="000000"/>
                </a:solidFill>
                <a:effectLst/>
                <a:latin typeface="Times New Roman" pitchFamily="18" charset="0"/>
              </a:rPr>
              <a:t>бажарамиз ва якунда қуйидаги жадвални хосил қиламиз: </a:t>
            </a:r>
            <a:endParaRPr lang="ru-RU" altLang="uz-Cyrl-UZ" sz="2400">
              <a:solidFill>
                <a:srgbClr val="000000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98185" name="Group 905"/>
          <p:cNvGraphicFramePr>
            <a:graphicFrameLocks noGrp="1"/>
          </p:cNvGraphicFramePr>
          <p:nvPr/>
        </p:nvGraphicFramePr>
        <p:xfrm>
          <a:off x="468313" y="4664075"/>
          <a:ext cx="8280400" cy="1152526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504825"/>
                <a:gridCol w="431800"/>
                <a:gridCol w="431800"/>
                <a:gridCol w="431800"/>
                <a:gridCol w="431800"/>
                <a:gridCol w="431800"/>
                <a:gridCol w="431800"/>
                <a:gridCol w="433387"/>
                <a:gridCol w="431800"/>
                <a:gridCol w="431800"/>
                <a:gridCol w="431800"/>
                <a:gridCol w="431800"/>
                <a:gridCol w="431800"/>
                <a:gridCol w="433388"/>
                <a:gridCol w="409575"/>
                <a:gridCol w="454025"/>
              </a:tblGrid>
              <a:tr h="382588">
                <a:tc rowSpan="2" gridSpan="2"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ru-RU" altLang="uz-Cyrl-UZ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gridSpan="16"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</a:tr>
              <a:tr h="385763">
                <a:tc gridSpan="2"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84175"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kumimoji="0" lang="uz-Cyrl-UZ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7867" name="Object 587"/>
          <p:cNvGraphicFramePr>
            <a:graphicFrameLocks noGrp="1" noChangeAspect="1"/>
          </p:cNvGraphicFramePr>
          <p:nvPr>
            <p:ph sz="half" idx="2"/>
          </p:nvPr>
        </p:nvGraphicFramePr>
        <p:xfrm>
          <a:off x="684213" y="1868488"/>
          <a:ext cx="122396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0" name="Формула" r:id="rId3" imgW="342751" imgH="241195" progId="Equation.3">
                  <p:embed/>
                </p:oleObj>
              </mc:Choice>
              <mc:Fallback>
                <p:oleObj name="Формула" r:id="rId3" imgW="342751" imgH="241195" progId="Equation.3">
                  <p:embed/>
                  <p:pic>
                    <p:nvPicPr>
                      <p:cNvPr id="0" name="Object 5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868488"/>
                        <a:ext cx="1223962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865" name="Object 585"/>
          <p:cNvGraphicFramePr>
            <a:graphicFrameLocks noGrp="1" noChangeAspect="1"/>
          </p:cNvGraphicFramePr>
          <p:nvPr>
            <p:ph sz="half" idx="1"/>
          </p:nvPr>
        </p:nvGraphicFramePr>
        <p:xfrm>
          <a:off x="596900" y="4840288"/>
          <a:ext cx="1223963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1" name="Формула" r:id="rId5" imgW="342751" imgH="241195" progId="Equation.3">
                  <p:embed/>
                </p:oleObj>
              </mc:Choice>
              <mc:Fallback>
                <p:oleObj name="Формула" r:id="rId5" imgW="342751" imgH="241195" progId="Equation.3">
                  <p:embed/>
                  <p:pic>
                    <p:nvPicPr>
                      <p:cNvPr id="0" name="Object 5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" y="4840288"/>
                        <a:ext cx="1223963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8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7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7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7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animBg="1"/>
      <p:bldP spid="9757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37" name="Rectangle 4273"/>
          <p:cNvSpPr>
            <a:spLocks noChangeArrowheads="1"/>
          </p:cNvSpPr>
          <p:nvPr/>
        </p:nvSpPr>
        <p:spPr bwMode="auto">
          <a:xfrm>
            <a:off x="250825" y="333375"/>
            <a:ext cx="8642350" cy="6264275"/>
          </a:xfrm>
          <a:prstGeom prst="rect">
            <a:avLst/>
          </a:prstGeom>
          <a:solidFill>
            <a:schemeClr val="tx1">
              <a:alpha val="72000"/>
            </a:schemeClr>
          </a:solidFill>
          <a:ln w="25400" algn="ctr">
            <a:solidFill>
              <a:srgbClr val="3B007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uz-Cyrl-UZ"/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1403350" y="765175"/>
            <a:ext cx="7064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uz-Cyrl-UZ"/>
          </a:p>
        </p:txBody>
      </p:sp>
      <p:sp>
        <p:nvSpPr>
          <p:cNvPr id="36955" name="Rectangle 2139"/>
          <p:cNvSpPr>
            <a:spLocks noChangeArrowheads="1"/>
          </p:cNvSpPr>
          <p:nvPr/>
        </p:nvSpPr>
        <p:spPr bwMode="auto">
          <a:xfrm>
            <a:off x="0" y="3224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uz-Cyrl-UZ"/>
          </a:p>
        </p:txBody>
      </p:sp>
      <p:sp>
        <p:nvSpPr>
          <p:cNvPr id="6149" name="Rectangle 2140"/>
          <p:cNvSpPr>
            <a:spLocks noChangeArrowheads="1"/>
          </p:cNvSpPr>
          <p:nvPr/>
        </p:nvSpPr>
        <p:spPr bwMode="auto">
          <a:xfrm>
            <a:off x="539750" y="419100"/>
            <a:ext cx="8064500" cy="287338"/>
          </a:xfrm>
          <a:prstGeom prst="rect">
            <a:avLst/>
          </a:prstGeom>
          <a:solidFill>
            <a:srgbClr val="3D007A"/>
          </a:solidFill>
          <a:ln w="12700">
            <a:solidFill>
              <a:srgbClr val="3D007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uz-Cyrl-UZ" altLang="uz-Cyrl-UZ" sz="2000" b="1">
                <a:effectLst/>
                <a:latin typeface="Times New Roman" pitchFamily="18" charset="0"/>
              </a:rPr>
              <a:t>Айирма матрица жадвали</a:t>
            </a:r>
            <a:endParaRPr lang="ru-RU" altLang="uz-Cyrl-UZ" sz="2000" b="1">
              <a:effectLst/>
              <a:latin typeface="Times New Roman" pitchFamily="18" charset="0"/>
            </a:endParaRPr>
          </a:p>
        </p:txBody>
      </p:sp>
      <p:graphicFrame>
        <p:nvGraphicFramePr>
          <p:cNvPr id="92945" name="Group 4881"/>
          <p:cNvGraphicFramePr>
            <a:graphicFrameLocks noGrp="1"/>
          </p:cNvGraphicFramePr>
          <p:nvPr>
            <p:ph/>
          </p:nvPr>
        </p:nvGraphicFramePr>
        <p:xfrm>
          <a:off x="528638" y="836613"/>
          <a:ext cx="8081962" cy="5616577"/>
        </p:xfrm>
        <a:graphic>
          <a:graphicData uri="http://schemas.openxmlformats.org/drawingml/2006/table">
            <a:tbl>
              <a:tblPr/>
              <a:tblGrid>
                <a:gridCol w="455612"/>
                <a:gridCol w="455613"/>
                <a:gridCol w="455612"/>
                <a:gridCol w="455613"/>
                <a:gridCol w="455612"/>
                <a:gridCol w="457200"/>
                <a:gridCol w="458788"/>
                <a:gridCol w="457200"/>
                <a:gridCol w="392112"/>
                <a:gridCol w="431800"/>
                <a:gridCol w="431800"/>
                <a:gridCol w="431800"/>
                <a:gridCol w="504825"/>
                <a:gridCol w="431800"/>
                <a:gridCol w="431800"/>
                <a:gridCol w="431800"/>
                <a:gridCol w="485775"/>
                <a:gridCol w="457200"/>
              </a:tblGrid>
              <a:tr h="331788">
                <a:tc rowSpan="2" gridSpan="2"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altLang="uz-Cyrl-UZ" sz="2000" b="1" i="1" u="none" strike="noStrike" cap="none" normalizeH="0" baseline="-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gridSpan="16"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kumimoji="0" lang="en-US" alt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</a:tr>
              <a:tr h="309563">
                <a:tc gridSpan="2"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ru-RU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11150">
                <a:tc rowSpan="16"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en-US" altLang="uz-Cyrl-UZ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11150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11150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11150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11150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11150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09563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11150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11150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11150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11150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11150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09563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11150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11150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11150"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1pPr>
                      <a:lvl2pPr marL="742950" indent="-285750">
                        <a:buClr>
                          <a:schemeClr val="folHlink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3pPr>
                      <a:lvl4pPr marL="1600200" indent="-228600">
                        <a:buClr>
                          <a:schemeClr val="folHlink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uz-Cyrl-UZ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altLang="uz-Cyrl-UZ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ChangeArrowheads="1"/>
          </p:cNvSpPr>
          <p:nvPr/>
        </p:nvSpPr>
        <p:spPr bwMode="auto">
          <a:xfrm>
            <a:off x="250825" y="333375"/>
            <a:ext cx="8642350" cy="6264275"/>
          </a:xfrm>
          <a:prstGeom prst="rect">
            <a:avLst/>
          </a:prstGeom>
          <a:solidFill>
            <a:schemeClr val="tx1">
              <a:alpha val="72000"/>
            </a:schemeClr>
          </a:solidFill>
          <a:ln w="25400" algn="ctr">
            <a:solidFill>
              <a:srgbClr val="3B007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uz-Cyrl-UZ"/>
          </a:p>
        </p:txBody>
      </p:sp>
      <p:sp>
        <p:nvSpPr>
          <p:cNvPr id="121859" name="Rectangle 3"/>
          <p:cNvSpPr>
            <a:spLocks noChangeArrowheads="1"/>
          </p:cNvSpPr>
          <p:nvPr/>
        </p:nvSpPr>
        <p:spPr bwMode="auto">
          <a:xfrm>
            <a:off x="1663700" y="549275"/>
            <a:ext cx="5903913" cy="884238"/>
          </a:xfrm>
          <a:prstGeom prst="rect">
            <a:avLst/>
          </a:prstGeom>
          <a:solidFill>
            <a:srgbClr val="3D007A"/>
          </a:solidFill>
          <a:ln w="25400" algn="ctr">
            <a:solidFill>
              <a:srgbClr val="3B007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uz-Cyrl-UZ" altLang="uz-Cyrl-UZ" sz="320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 </a:t>
            </a:r>
            <a:r>
              <a:rPr lang="uz-Cyrl-UZ" altLang="uz-Cyrl-UZ" b="1" smtClean="0">
                <a:effectLst/>
              </a:rPr>
              <a:t>ДКТ қуйидаги алгоритм асосида амалга оширилади:</a:t>
            </a:r>
            <a:endParaRPr lang="ru-RU" altLang="uz-Cyrl-UZ" b="1" smtClean="0">
              <a:effectLst/>
            </a:endParaRP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468313" y="1628775"/>
            <a:ext cx="8207375" cy="4394200"/>
          </a:xfrm>
          <a:prstGeom prst="rect">
            <a:avLst/>
          </a:prstGeom>
          <a:solidFill>
            <a:schemeClr val="tx1"/>
          </a:solidFill>
          <a:ln w="12700" algn="ctr">
            <a:solidFill>
              <a:srgbClr val="3B0076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342900" indent="-342900">
              <a:lnSpc>
                <a:spcPct val="110000"/>
              </a:lnSpc>
              <a:buClr>
                <a:srgbClr val="A00000"/>
              </a:buClr>
              <a:buSzTx/>
              <a:buFont typeface="Wingdings" pitchFamily="2" charset="2"/>
              <a:buChar char="þ"/>
            </a:pP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Эҳтимоллиги катта бўлган </a:t>
            </a:r>
            <a:r>
              <a:rPr lang="uz-Cyrl-UZ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(P&gt;1/2</a:t>
            </a:r>
            <a:r>
              <a:rPr lang="uz-Cyrl-UZ" altLang="uz-Cyrl-UZ" sz="2000" b="1" i="1" baseline="30000">
                <a:solidFill>
                  <a:srgbClr val="3D007A"/>
                </a:solidFill>
                <a:effectLst/>
                <a:latin typeface="Times New Roman" pitchFamily="18" charset="0"/>
              </a:rPr>
              <a:t>n</a:t>
            </a:r>
            <a:r>
              <a:rPr lang="uz-Cyrl-UZ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) (</a:t>
            </a:r>
            <a:r>
              <a:rPr lang="uz-Cyrl-UZ" altLang="uz-Cyrl-UZ" sz="2000" b="1" i="1">
                <a:solidFill>
                  <a:srgbClr val="3D007A"/>
                </a:solidFill>
                <a:effectLst/>
                <a:latin typeface="Times New Roman" pitchFamily="18" charset="0"/>
              </a:rPr>
              <a:t>a,b</a:t>
            </a:r>
            <a:r>
              <a:rPr lang="uz-Cyrl-UZ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)</a:t>
            </a: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 жуфтлик,яъни </a:t>
            </a:r>
            <a:endParaRPr lang="ru-RU" altLang="uz-Cyrl-UZ" sz="2000" b="1">
              <a:solidFill>
                <a:srgbClr val="000000"/>
              </a:solidFill>
              <a:effectLst/>
              <a:latin typeface="Times New Roman" pitchFamily="18" charset="0"/>
            </a:endParaRPr>
          </a:p>
          <a:p>
            <a:pPr marL="342900" indent="-342900">
              <a:lnSpc>
                <a:spcPct val="110000"/>
              </a:lnSpc>
              <a:buClr>
                <a:srgbClr val="A00000"/>
              </a:buClr>
              <a:buSzTx/>
              <a:buFont typeface="Wingdings" pitchFamily="2" charset="2"/>
              <a:buNone/>
            </a:pP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дифференциал танланилади;</a:t>
            </a:r>
            <a:endParaRPr lang="ru-RU" altLang="uz-Cyrl-UZ" sz="2000" b="1">
              <a:solidFill>
                <a:srgbClr val="000000"/>
              </a:solidFill>
              <a:effectLst/>
              <a:latin typeface="Times New Roman" pitchFamily="18" charset="0"/>
            </a:endParaRPr>
          </a:p>
          <a:p>
            <a:pPr marL="342900" indent="-342900">
              <a:lnSpc>
                <a:spcPct val="110000"/>
              </a:lnSpc>
              <a:buClr>
                <a:srgbClr val="A00000"/>
              </a:buClr>
              <a:buSzTx/>
              <a:buFont typeface="Wingdings" pitchFamily="2" charset="2"/>
              <a:buChar char="þ"/>
            </a:pP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Танланган айирмаси(XOR) </a:t>
            </a:r>
            <a:r>
              <a:rPr lang="uz-Cyrl-UZ" altLang="uz-Cyrl-UZ" sz="2000" b="1" i="1">
                <a:solidFill>
                  <a:srgbClr val="000000"/>
                </a:solidFill>
                <a:effectLst/>
                <a:latin typeface="Times New Roman" pitchFamily="18" charset="0"/>
              </a:rPr>
              <a:t>a</a:t>
            </a: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 га тенг очиқ матнлар ва уларга мос </a:t>
            </a:r>
            <a:endParaRPr lang="ru-RU" altLang="uz-Cyrl-UZ" sz="2000" b="1">
              <a:solidFill>
                <a:srgbClr val="000000"/>
              </a:solidFill>
              <a:effectLst/>
              <a:latin typeface="Times New Roman" pitchFamily="18" charset="0"/>
            </a:endParaRPr>
          </a:p>
          <a:p>
            <a:pPr marL="342900" indent="-342900">
              <a:lnSpc>
                <a:spcPct val="110000"/>
              </a:lnSpc>
              <a:buClr>
                <a:srgbClr val="A00000"/>
              </a:buClr>
              <a:buSzTx/>
              <a:buFont typeface="Wingdings" pitchFamily="2" charset="2"/>
              <a:buNone/>
            </a:pP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айирмаси </a:t>
            </a:r>
            <a:r>
              <a:rPr lang="uz-Cyrl-UZ" altLang="uz-Cyrl-UZ" sz="2000" b="1" i="1">
                <a:solidFill>
                  <a:srgbClr val="000000"/>
                </a:solidFill>
                <a:effectLst/>
                <a:latin typeface="Times New Roman" pitchFamily="18" charset="0"/>
              </a:rPr>
              <a:t>b</a:t>
            </a: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 га тенг шифр матнлар учун акслантиришга кириши </a:t>
            </a:r>
            <a:endParaRPr lang="ru-RU" altLang="uz-Cyrl-UZ" sz="2000" b="1">
              <a:solidFill>
                <a:srgbClr val="000000"/>
              </a:solidFill>
              <a:effectLst/>
              <a:latin typeface="Times New Roman" pitchFamily="18" charset="0"/>
            </a:endParaRPr>
          </a:p>
          <a:p>
            <a:pPr marL="342900" indent="-342900">
              <a:lnSpc>
                <a:spcPct val="60000"/>
              </a:lnSpc>
              <a:buClr>
                <a:srgbClr val="A00000"/>
              </a:buClr>
              <a:buSzTx/>
              <a:buFont typeface="Wingdings" pitchFamily="2" charset="2"/>
              <a:buNone/>
            </a:pP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мумкин бўлган қийматлар тўплами</a:t>
            </a:r>
            <a:r>
              <a:rPr lang="ru-RU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 </a:t>
            </a:r>
            <a:r>
              <a:rPr lang="en-US" altLang="uz-Cyrl-UZ" sz="2000" b="1" i="1">
                <a:solidFill>
                  <a:srgbClr val="3D007A"/>
                </a:solidFill>
                <a:effectLst/>
                <a:latin typeface="Times New Roman" pitchFamily="18" charset="0"/>
              </a:rPr>
              <a:t>IN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j</a:t>
            </a:r>
            <a:r>
              <a:rPr lang="en-US" altLang="uz-Cyrl-UZ" sz="2000" b="1" i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 </a:t>
            </a:r>
            <a:r>
              <a:rPr lang="en-US" altLang="uz-Cyrl-UZ" sz="2000" b="1" i="1">
                <a:solidFill>
                  <a:srgbClr val="3D007A"/>
                </a:solidFill>
                <a:effectLst/>
                <a:latin typeface="Times New Roman" pitchFamily="18" charset="0"/>
              </a:rPr>
              <a:t>(B</a:t>
            </a:r>
            <a:r>
              <a:rPr lang="en-US" altLang="uz-Cyrl-UZ" sz="2000" b="1" baseline="30000">
                <a:solidFill>
                  <a:srgbClr val="3D007A"/>
                </a:solidFill>
                <a:effectLst/>
                <a:latin typeface="Times New Roman" pitchFamily="18" charset="0"/>
              </a:rPr>
              <a:t>’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j</a:t>
            </a:r>
            <a:r>
              <a:rPr lang="en-US" altLang="uz-Cyrl-UZ" sz="2000" b="1" i="1">
                <a:solidFill>
                  <a:srgbClr val="3D007A"/>
                </a:solidFill>
                <a:effectLst/>
                <a:latin typeface="Times New Roman" pitchFamily="18" charset="0"/>
              </a:rPr>
              <a:t>, C</a:t>
            </a:r>
            <a:r>
              <a:rPr lang="en-US" altLang="uz-Cyrl-UZ" sz="2000" b="1" baseline="30000">
                <a:solidFill>
                  <a:srgbClr val="3D007A"/>
                </a:solidFill>
                <a:effectLst/>
                <a:latin typeface="Times New Roman" pitchFamily="18" charset="0"/>
              </a:rPr>
              <a:t>’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j </a:t>
            </a:r>
            <a:r>
              <a:rPr lang="en-US" altLang="uz-Cyrl-UZ" sz="2000" b="1" i="1">
                <a:solidFill>
                  <a:srgbClr val="3D007A"/>
                </a:solidFill>
                <a:effectLst/>
                <a:latin typeface="Times New Roman" pitchFamily="18" charset="0"/>
              </a:rPr>
              <a:t>)</a:t>
            </a:r>
            <a:r>
              <a:rPr lang="en-US" altLang="uz-Cyrl-UZ">
                <a:solidFill>
                  <a:srgbClr val="000000"/>
                </a:solidFill>
                <a:effectLst/>
              </a:rPr>
              <a:t> </a:t>
            </a: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аниқланади;</a:t>
            </a:r>
            <a:endParaRPr lang="ru-RU" altLang="uz-Cyrl-UZ" sz="2000" b="1">
              <a:solidFill>
                <a:srgbClr val="000000"/>
              </a:solidFill>
              <a:effectLst/>
              <a:latin typeface="Times New Roman" pitchFamily="18" charset="0"/>
            </a:endParaRPr>
          </a:p>
          <a:p>
            <a:pPr marL="342900" indent="-342900">
              <a:buClr>
                <a:srgbClr val="A00000"/>
              </a:buClr>
              <a:buSzTx/>
              <a:buFont typeface="Wingdings" pitchFamily="2" charset="2"/>
              <a:buChar char="þ"/>
            </a:pP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Ҳосил бўлган тўпламнинг ҳар бир элементига танланган очиқ</a:t>
            </a:r>
            <a:endParaRPr lang="ru-RU" altLang="uz-Cyrl-UZ" sz="2000" b="1">
              <a:solidFill>
                <a:srgbClr val="000000"/>
              </a:solidFill>
              <a:effectLst/>
              <a:latin typeface="Times New Roman" pitchFamily="18" charset="0"/>
            </a:endParaRPr>
          </a:p>
          <a:p>
            <a:pPr marL="342900" indent="-342900">
              <a:buClr>
                <a:srgbClr val="A00000"/>
              </a:buClr>
              <a:buSzTx/>
              <a:buFont typeface="Wingdings" pitchFamily="2" charset="2"/>
              <a:buNone/>
            </a:pP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матнни қўшиш(XOR)натижасида мумкин бўлган қисм </a:t>
            </a:r>
            <a:endParaRPr lang="ru-RU" altLang="uz-Cyrl-UZ" sz="2000" b="1">
              <a:solidFill>
                <a:srgbClr val="000000"/>
              </a:solidFill>
              <a:effectLst/>
              <a:latin typeface="Times New Roman" pitchFamily="18" charset="0"/>
            </a:endParaRPr>
          </a:p>
          <a:p>
            <a:pPr marL="342900" indent="-342900">
              <a:buClr>
                <a:srgbClr val="A00000"/>
              </a:buClr>
              <a:buSzTx/>
              <a:buFont typeface="Wingdings" pitchFamily="2" charset="2"/>
              <a:buNone/>
            </a:pP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калитлар тўплами </a:t>
            </a:r>
            <a:r>
              <a:rPr lang="en-US" altLang="uz-Cyrl-UZ" sz="2000" b="1" i="1">
                <a:solidFill>
                  <a:srgbClr val="3D007A"/>
                </a:solidFill>
                <a:effectLst/>
                <a:latin typeface="Times New Roman" pitchFamily="18" charset="0"/>
              </a:rPr>
              <a:t>test 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j</a:t>
            </a:r>
            <a:r>
              <a:rPr lang="en-US" altLang="uz-Cyrl-UZ" sz="2000" b="1" i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 </a:t>
            </a:r>
            <a:r>
              <a:rPr lang="en-US" altLang="uz-Cyrl-UZ" sz="2000" b="1" i="1">
                <a:solidFill>
                  <a:srgbClr val="3D007A"/>
                </a:solidFill>
                <a:effectLst/>
                <a:latin typeface="Times New Roman" pitchFamily="18" charset="0"/>
              </a:rPr>
              <a:t>(E, E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*</a:t>
            </a:r>
            <a:r>
              <a:rPr lang="en-US" altLang="uz-Cyrl-UZ" sz="2000" b="1" i="1">
                <a:solidFill>
                  <a:srgbClr val="3D007A"/>
                </a:solidFill>
                <a:effectLst/>
                <a:latin typeface="Times New Roman" pitchFamily="18" charset="0"/>
              </a:rPr>
              <a:t>, C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’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j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 </a:t>
            </a:r>
            <a:r>
              <a:rPr lang="en-US" altLang="uz-Cyrl-UZ" sz="2000" b="1" i="1">
                <a:solidFill>
                  <a:srgbClr val="3D007A"/>
                </a:solidFill>
                <a:effectLst/>
                <a:latin typeface="Times New Roman" pitchFamily="18" charset="0"/>
              </a:rPr>
              <a:t>)</a:t>
            </a: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 тузилади;</a:t>
            </a:r>
            <a:endParaRPr lang="ru-RU" altLang="uz-Cyrl-UZ" sz="2000" b="1">
              <a:solidFill>
                <a:srgbClr val="000000"/>
              </a:solidFill>
              <a:effectLst/>
              <a:latin typeface="Times New Roman" pitchFamily="18" charset="0"/>
            </a:endParaRPr>
          </a:p>
          <a:p>
            <a:pPr marL="342900" indent="-342900">
              <a:buClr>
                <a:srgbClr val="A00000"/>
              </a:buClr>
              <a:buSzTx/>
              <a:buFont typeface="Wingdings" pitchFamily="2" charset="2"/>
              <a:buChar char="þ"/>
            </a:pP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Юқоридаги қадамлар калитлар тўпламининг кесишмаси ягона </a:t>
            </a:r>
            <a:endParaRPr lang="ru-RU" altLang="uz-Cyrl-UZ" sz="2000" b="1">
              <a:solidFill>
                <a:srgbClr val="000000"/>
              </a:solidFill>
              <a:effectLst/>
              <a:latin typeface="Times New Roman" pitchFamily="18" charset="0"/>
            </a:endParaRPr>
          </a:p>
          <a:p>
            <a:pPr marL="342900" indent="-342900">
              <a:buClr>
                <a:srgbClr val="A00000"/>
              </a:buClr>
              <a:buSzTx/>
              <a:buFont typeface="Wingdings" pitchFamily="2" charset="2"/>
              <a:buNone/>
            </a:pP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қийматни қабул қилмагунча такрорланади. Бу қиймат </a:t>
            </a:r>
            <a:endParaRPr lang="ru-RU" altLang="uz-Cyrl-UZ" sz="2000" b="1">
              <a:solidFill>
                <a:srgbClr val="000000"/>
              </a:solidFill>
              <a:effectLst/>
              <a:latin typeface="Times New Roman" pitchFamily="18" charset="0"/>
            </a:endParaRPr>
          </a:p>
          <a:p>
            <a:pPr marL="342900" indent="-342900">
              <a:buClr>
                <a:srgbClr val="A00000"/>
              </a:buClr>
              <a:buSzTx/>
              <a:buFont typeface="Wingdings" pitchFamily="2" charset="2"/>
              <a:buNone/>
            </a:pP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эса ҳақиқий қисм калитни ифодалайди.</a:t>
            </a:r>
            <a:endParaRPr lang="ru-RU" altLang="uz-Cyrl-UZ" sz="2000" b="1">
              <a:solidFill>
                <a:srgbClr val="000000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21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3D007A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CC99FF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21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21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86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920"/>
                            </p:stCondLst>
                            <p:childTnLst>
                              <p:par>
                                <p:cTn id="14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6" dur="80"/>
                                        <p:tgtEl>
                                          <p:spTgt spid="1218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3D007A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CC99FF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7" dur="80"/>
                                        <p:tgtEl>
                                          <p:spTgt spid="1218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80"/>
                                        <p:tgtEl>
                                          <p:spTgt spid="1218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3" dur="80"/>
                                        <p:tgtEl>
                                          <p:spTgt spid="1218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3D007A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CC99FF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" dur="80"/>
                                        <p:tgtEl>
                                          <p:spTgt spid="1218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80"/>
                                        <p:tgtEl>
                                          <p:spTgt spid="1218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80"/>
                            </p:stCondLst>
                            <p:childTnLst>
                              <p:par>
                                <p:cTn id="27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1218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3D007A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CC99FF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1218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1218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080"/>
                            </p:stCondLst>
                            <p:childTnLst>
                              <p:par>
                                <p:cTn id="33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1218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3D007A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CC99FF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1218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1218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1218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3D007A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CC99FF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1218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1218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40"/>
                            </p:stCondLst>
                            <p:childTnLst>
                              <p:par>
                                <p:cTn id="46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8" dur="80"/>
                                        <p:tgtEl>
                                          <p:spTgt spid="1218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3D007A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CC99FF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9" dur="80"/>
                                        <p:tgtEl>
                                          <p:spTgt spid="1218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80"/>
                                        <p:tgtEl>
                                          <p:spTgt spid="1218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760"/>
                            </p:stCondLst>
                            <p:childTnLst>
                              <p:par>
                                <p:cTn id="52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4" dur="80"/>
                                        <p:tgtEl>
                                          <p:spTgt spid="1218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3D007A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CC99FF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5" dur="80"/>
                                        <p:tgtEl>
                                          <p:spTgt spid="1218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80"/>
                                        <p:tgtEl>
                                          <p:spTgt spid="1218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1" dur="80"/>
                                        <p:tgtEl>
                                          <p:spTgt spid="1218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3D007A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CC99FF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2" dur="80"/>
                                        <p:tgtEl>
                                          <p:spTgt spid="1218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80"/>
                                        <p:tgtEl>
                                          <p:spTgt spid="1218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040"/>
                            </p:stCondLst>
                            <p:childTnLst>
                              <p:par>
                                <p:cTn id="65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7" dur="80"/>
                                        <p:tgtEl>
                                          <p:spTgt spid="1218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3D007A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CC99FF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8" dur="80"/>
                                        <p:tgtEl>
                                          <p:spTgt spid="1218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80"/>
                                        <p:tgtEl>
                                          <p:spTgt spid="1218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3840"/>
                            </p:stCondLst>
                            <p:childTnLst>
                              <p:par>
                                <p:cTn id="71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3" dur="80"/>
                                        <p:tgtEl>
                                          <p:spTgt spid="1218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3D007A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CC99FF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4" dur="80"/>
                                        <p:tgtEl>
                                          <p:spTgt spid="1218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80"/>
                                        <p:tgtEl>
                                          <p:spTgt spid="1218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92" name="Rectangle 16"/>
          <p:cNvSpPr>
            <a:spLocks noChangeArrowheads="1"/>
          </p:cNvSpPr>
          <p:nvPr/>
        </p:nvSpPr>
        <p:spPr bwMode="auto">
          <a:xfrm>
            <a:off x="250825" y="333375"/>
            <a:ext cx="8642350" cy="6264275"/>
          </a:xfrm>
          <a:prstGeom prst="rect">
            <a:avLst/>
          </a:prstGeom>
          <a:solidFill>
            <a:schemeClr val="tx1">
              <a:alpha val="72000"/>
            </a:schemeClr>
          </a:solidFill>
          <a:ln w="25400" algn="ctr">
            <a:solidFill>
              <a:srgbClr val="3B007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uz-Cyrl-UZ"/>
          </a:p>
        </p:txBody>
      </p:sp>
      <p:sp>
        <p:nvSpPr>
          <p:cNvPr id="101384" name="Rectangle 8"/>
          <p:cNvSpPr>
            <a:spLocks noGrp="1" noChangeArrowheads="1"/>
          </p:cNvSpPr>
          <p:nvPr>
            <p:ph type="title"/>
          </p:nvPr>
        </p:nvSpPr>
        <p:spPr>
          <a:xfrm>
            <a:off x="468313" y="692150"/>
            <a:ext cx="8229600" cy="1371600"/>
          </a:xfrm>
          <a:solidFill>
            <a:schemeClr val="tx1"/>
          </a:solidFill>
          <a:ln w="12700" cap="flat">
            <a:solidFill>
              <a:srgbClr val="3D007A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Бизга </a:t>
            </a:r>
            <a:r>
              <a:rPr lang="uz-Cyrl-UZ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М</a:t>
            </a:r>
            <a:r>
              <a:rPr lang="en-US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=(m</a:t>
            </a:r>
            <a:r>
              <a:rPr lang="en-US" altLang="uz-Cyrl-UZ" sz="2000" b="1" i="1" baseline="-25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1</a:t>
            </a:r>
            <a:r>
              <a:rPr lang="en-US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,m</a:t>
            </a:r>
            <a:r>
              <a:rPr lang="en-US" altLang="uz-Cyrl-UZ" sz="2000" b="1" i="1" baseline="-25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2</a:t>
            </a:r>
            <a:r>
              <a:rPr lang="en-US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,…,m</a:t>
            </a:r>
            <a:r>
              <a:rPr lang="en-US" altLang="uz-Cyrl-UZ" sz="2000" b="1" i="1" baseline="-25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n</a:t>
            </a:r>
            <a:r>
              <a:rPr lang="en-US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)</a:t>
            </a:r>
            <a:r>
              <a:rPr lang="en-US" altLang="uz-Cyrl-UZ" sz="2000" b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 </a:t>
            </a:r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очиқ матн</a:t>
            </a:r>
            <a:r>
              <a:rPr lang="en-US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 </a:t>
            </a:r>
            <a:r>
              <a:rPr lang="ru-RU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ва</a:t>
            </a:r>
            <a:r>
              <a:rPr lang="ru-RU" altLang="uz-Cyrl-UZ" sz="2000" b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 </a:t>
            </a:r>
            <a:r>
              <a:rPr lang="ru-RU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С=(с</a:t>
            </a:r>
            <a:r>
              <a:rPr lang="ru-RU" altLang="uz-Cyrl-UZ" sz="2000" b="1" i="1" baseline="-25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1</a:t>
            </a:r>
            <a:r>
              <a:rPr lang="ru-RU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,с</a:t>
            </a:r>
            <a:r>
              <a:rPr lang="ru-RU" altLang="uz-Cyrl-UZ" sz="2000" b="1" i="1" baseline="-25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2</a:t>
            </a:r>
            <a:r>
              <a:rPr lang="ru-RU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,…,с</a:t>
            </a:r>
            <a:r>
              <a:rPr lang="en-US" altLang="uz-Cyrl-UZ" sz="2000" b="1" i="1" baseline="-25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n</a:t>
            </a:r>
            <a:r>
              <a:rPr lang="ru-RU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)</a:t>
            </a:r>
            <a:r>
              <a:rPr lang="uz-Cyrl-UZ" altLang="uz-Cyrl-UZ" sz="2000" b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 </a:t>
            </a:r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шифр матн</a:t>
            </a:r>
            <a:r>
              <a:rPr lang="uz-Cyrl-UZ" altLang="uz-Cyrl-UZ" sz="2000" b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 </a:t>
            </a:r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берилган бўлсин.</a:t>
            </a:r>
            <a:b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</a:br>
            <a:r>
              <a:rPr lang="ru-RU" altLang="uz-Cyrl-UZ" sz="2000" b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Очик матн:</a:t>
            </a:r>
            <a:r>
              <a:rPr lang="ru-RU" altLang="uz-Cyrl-UZ" sz="2000" b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    </a:t>
            </a:r>
            <a:r>
              <a:rPr lang="en-US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M</a:t>
            </a:r>
            <a:r>
              <a:rPr lang="ru-RU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= (0,6,1,7,2,4)</a:t>
            </a:r>
            <a:br>
              <a:rPr lang="ru-RU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</a:br>
            <a:r>
              <a:rPr lang="ru-RU" altLang="uz-Cyrl-UZ" sz="2000" b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Шифр матн:</a:t>
            </a:r>
            <a:r>
              <a:rPr lang="ru-RU" altLang="uz-Cyrl-UZ" sz="2000" b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  </a:t>
            </a:r>
            <a:r>
              <a:rPr lang="en-US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C</a:t>
            </a:r>
            <a:r>
              <a:rPr lang="ru-RU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= (3,</a:t>
            </a:r>
            <a:r>
              <a:rPr lang="en-US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b</a:t>
            </a:r>
            <a:r>
              <a:rPr lang="ru-RU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,5,6,</a:t>
            </a:r>
            <a:r>
              <a:rPr lang="en-US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f</a:t>
            </a:r>
            <a:r>
              <a:rPr lang="ru-RU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,</a:t>
            </a:r>
            <a:r>
              <a:rPr lang="en-US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c</a:t>
            </a:r>
            <a:r>
              <a:rPr lang="ru-RU" altLang="uz-Cyrl-UZ" sz="2000" b="1" i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)</a:t>
            </a:r>
            <a:r>
              <a:rPr lang="uz-Cyrl-UZ" altLang="uz-Cyrl-UZ" sz="2000" b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.    </a:t>
            </a:r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Калитни топиш талаб қилинсин.</a:t>
            </a:r>
            <a:endParaRPr lang="ru-RU" altLang="uz-Cyrl-UZ" sz="2000" smtClean="0">
              <a:solidFill>
                <a:srgbClr val="00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259013"/>
            <a:ext cx="8218488" cy="1152525"/>
          </a:xfrm>
          <a:solidFill>
            <a:schemeClr val="tx1"/>
          </a:solidFill>
          <a:ln w="12700" cap="flat">
            <a:solidFill>
              <a:srgbClr val="3D007A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ru-RU" altLang="uz-Cyrl-UZ" sz="28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Биринчи навбатда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ru-RU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в</a:t>
            </a:r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а</a:t>
            </a:r>
            <a:r>
              <a:rPr lang="ru-RU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                                                                                </a:t>
            </a:r>
            <a:r>
              <a:rPr lang="uz-Cyrl-UZ" altLang="uz-Cyrl-UZ" sz="2000" smtClean="0">
                <a:solidFill>
                  <a:srgbClr val="000000"/>
                </a:solidFill>
                <a:effectLst/>
                <a:latin typeface="Times New Roman" pitchFamily="18" charset="0"/>
              </a:rPr>
              <a:t>тузиб оламиз. </a:t>
            </a:r>
            <a:endParaRPr lang="ru-RU" altLang="uz-Cyrl-UZ" sz="2000" smtClean="0">
              <a:solidFill>
                <a:srgbClr val="00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10138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uz-Cyrl-UZ"/>
          </a:p>
        </p:txBody>
      </p:sp>
      <p:sp>
        <p:nvSpPr>
          <p:cNvPr id="10138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uz-Cyrl-UZ"/>
          </a:p>
        </p:txBody>
      </p:sp>
      <p:sp>
        <p:nvSpPr>
          <p:cNvPr id="10138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uz-Cyrl-UZ"/>
          </a:p>
        </p:txBody>
      </p:sp>
      <p:sp>
        <p:nvSpPr>
          <p:cNvPr id="101388" name="Rectangle 12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uz-Cyrl-UZ"/>
          </a:p>
        </p:txBody>
      </p:sp>
      <p:graphicFrame>
        <p:nvGraphicFramePr>
          <p:cNvPr id="101385" name="Object 9"/>
          <p:cNvGraphicFramePr>
            <a:graphicFrameLocks noChangeAspect="1"/>
          </p:cNvGraphicFramePr>
          <p:nvPr/>
        </p:nvGraphicFramePr>
        <p:xfrm>
          <a:off x="2987675" y="2446338"/>
          <a:ext cx="489743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Формула" r:id="rId3" imgW="3759200" imgH="254000" progId="Equation.3">
                  <p:embed/>
                </p:oleObj>
              </mc:Choice>
              <mc:Fallback>
                <p:oleObj name="Формула" r:id="rId3" imgW="3759200" imgH="254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446338"/>
                        <a:ext cx="4897438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7" name="Object 11"/>
          <p:cNvGraphicFramePr>
            <a:graphicFrameLocks noChangeAspect="1"/>
          </p:cNvGraphicFramePr>
          <p:nvPr/>
        </p:nvGraphicFramePr>
        <p:xfrm>
          <a:off x="912813" y="2820988"/>
          <a:ext cx="483076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Формула" r:id="rId5" imgW="3187700" imgH="254000" progId="Equation.3">
                  <p:embed/>
                </p:oleObj>
              </mc:Choice>
              <mc:Fallback>
                <p:oleObj name="Формула" r:id="rId5" imgW="3187700" imgH="254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3" y="2820988"/>
                        <a:ext cx="483076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9" name="Object 13"/>
          <p:cNvGraphicFramePr>
            <a:graphicFrameLocks noGrp="1" noChangeAspect="1"/>
          </p:cNvGraphicFramePr>
          <p:nvPr>
            <p:ph sz="half" idx="2"/>
          </p:nvPr>
        </p:nvGraphicFramePr>
        <p:xfrm>
          <a:off x="2051050" y="3716338"/>
          <a:ext cx="5399088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Формула" r:id="rId7" imgW="2755900" imgH="711200" progId="Equation.3">
                  <p:embed/>
                </p:oleObj>
              </mc:Choice>
              <mc:Fallback>
                <p:oleObj name="Формула" r:id="rId7" imgW="2755900" imgH="71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716338"/>
                        <a:ext cx="5399088" cy="151288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12700" cap="flat">
                        <a:solidFill>
                          <a:srgbClr val="3D007A"/>
                        </a:solidFill>
                        <a:prstDash val="dash"/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91" name="Rectangle 15"/>
          <p:cNvSpPr>
            <a:spLocks noChangeArrowheads="1"/>
          </p:cNvSpPr>
          <p:nvPr/>
        </p:nvSpPr>
        <p:spPr bwMode="auto">
          <a:xfrm>
            <a:off x="2124075" y="5438775"/>
            <a:ext cx="5157788" cy="908050"/>
          </a:xfrm>
          <a:prstGeom prst="rect">
            <a:avLst/>
          </a:prstGeom>
          <a:solidFill>
            <a:schemeClr val="tx1"/>
          </a:solidFill>
          <a:ln w="12700" algn="ctr">
            <a:solidFill>
              <a:srgbClr val="3D007A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uz-Cyrl-UZ" sz="2400" b="1">
                <a:solidFill>
                  <a:srgbClr val="000000"/>
                </a:solidFill>
                <a:effectLst/>
                <a:latin typeface="Times New Roman" pitchFamily="18" charset="0"/>
              </a:rPr>
              <a:t>IN</a:t>
            </a:r>
            <a:r>
              <a:rPr lang="en-US" altLang="uz-Cyrl-UZ" sz="2400" b="1" baseline="-25000">
                <a:solidFill>
                  <a:srgbClr val="000000"/>
                </a:solidFill>
                <a:effectLst/>
                <a:latin typeface="Times New Roman" pitchFamily="18" charset="0"/>
              </a:rPr>
              <a:t>1</a:t>
            </a:r>
            <a:r>
              <a:rPr lang="en-US" altLang="uz-Cyrl-UZ" sz="2400" b="1">
                <a:solidFill>
                  <a:srgbClr val="000000"/>
                </a:solidFill>
                <a:effectLst/>
                <a:latin typeface="Times New Roman" pitchFamily="18" charset="0"/>
              </a:rPr>
              <a:t>(a,b)=IN</a:t>
            </a:r>
            <a:r>
              <a:rPr lang="uz-Cyrl-UZ" altLang="uz-Cyrl-UZ" sz="2400" b="1" baseline="-25000">
                <a:solidFill>
                  <a:srgbClr val="000000"/>
                </a:solidFill>
                <a:effectLst/>
                <a:latin typeface="Times New Roman" pitchFamily="18" charset="0"/>
              </a:rPr>
              <a:t>1</a:t>
            </a:r>
            <a:r>
              <a:rPr lang="en-US" altLang="uz-Cyrl-UZ" sz="2400" b="1">
                <a:solidFill>
                  <a:srgbClr val="000000"/>
                </a:solidFill>
                <a:effectLst/>
                <a:latin typeface="Times New Roman" pitchFamily="18" charset="0"/>
              </a:rPr>
              <a:t>(6,8)={9,f}</a:t>
            </a:r>
          </a:p>
          <a:p>
            <a:pPr>
              <a:buFont typeface="Wingdings" pitchFamily="2" charset="2"/>
              <a:buNone/>
            </a:pPr>
            <a:r>
              <a:rPr lang="en-US" altLang="uz-Cyrl-UZ" sz="2400" b="1">
                <a:solidFill>
                  <a:srgbClr val="000000"/>
                </a:solidFill>
                <a:effectLst/>
                <a:latin typeface="Times New Roman" pitchFamily="18" charset="0"/>
              </a:rPr>
              <a:t>Test</a:t>
            </a:r>
            <a:r>
              <a:rPr lang="en-US" altLang="uz-Cyrl-UZ" sz="2400" b="1" baseline="-25000">
                <a:solidFill>
                  <a:srgbClr val="000000"/>
                </a:solidFill>
                <a:effectLst/>
                <a:latin typeface="Times New Roman" pitchFamily="18" charset="0"/>
              </a:rPr>
              <a:t>1</a:t>
            </a:r>
            <a:r>
              <a:rPr lang="en-US" altLang="uz-Cyrl-UZ" sz="2400" b="1">
                <a:solidFill>
                  <a:srgbClr val="000000"/>
                </a:solidFill>
                <a:effectLst/>
                <a:latin typeface="Times New Roman" pitchFamily="18" charset="0"/>
              </a:rPr>
              <a:t>(m</a:t>
            </a:r>
            <a:r>
              <a:rPr lang="en-US" altLang="uz-Cyrl-UZ" sz="2400" b="1" baseline="-25000">
                <a:solidFill>
                  <a:srgbClr val="000000"/>
                </a:solidFill>
                <a:effectLst/>
                <a:latin typeface="Times New Roman" pitchFamily="18" charset="0"/>
              </a:rPr>
              <a:t>1</a:t>
            </a:r>
            <a:r>
              <a:rPr lang="en-US" altLang="uz-Cyrl-UZ" sz="2400" b="1">
                <a:solidFill>
                  <a:srgbClr val="000000"/>
                </a:solidFill>
                <a:effectLst/>
                <a:latin typeface="Times New Roman" pitchFamily="18" charset="0"/>
              </a:rPr>
              <a:t>,m</a:t>
            </a:r>
            <a:r>
              <a:rPr lang="en-US" altLang="uz-Cyrl-UZ" sz="2400" b="1" baseline="-25000">
                <a:solidFill>
                  <a:srgbClr val="000000"/>
                </a:solidFill>
                <a:effectLst/>
                <a:latin typeface="Times New Roman" pitchFamily="18" charset="0"/>
              </a:rPr>
              <a:t>2</a:t>
            </a:r>
            <a:r>
              <a:rPr lang="en-US" altLang="uz-Cyrl-UZ" sz="2400" b="1">
                <a:solidFill>
                  <a:srgbClr val="000000"/>
                </a:solidFill>
                <a:effectLst/>
                <a:latin typeface="Times New Roman" pitchFamily="18" charset="0"/>
              </a:rPr>
              <a:t>,b)=Test</a:t>
            </a:r>
            <a:r>
              <a:rPr lang="en-US" altLang="uz-Cyrl-UZ" sz="2400" b="1" baseline="-25000">
                <a:solidFill>
                  <a:srgbClr val="000000"/>
                </a:solidFill>
                <a:effectLst/>
                <a:latin typeface="Times New Roman" pitchFamily="18" charset="0"/>
              </a:rPr>
              <a:t>1</a:t>
            </a:r>
            <a:r>
              <a:rPr lang="en-US" altLang="uz-Cyrl-UZ" sz="2400" b="1">
                <a:solidFill>
                  <a:srgbClr val="000000"/>
                </a:solidFill>
                <a:effectLst/>
                <a:latin typeface="Times New Roman" pitchFamily="18" charset="0"/>
              </a:rPr>
              <a:t>(0,6,8) ={9,f}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37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4" grpId="0" animBg="1"/>
      <p:bldP spid="101379" grpId="0" build="p" animBg="1"/>
      <p:bldP spid="10139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66" name="Rectangle 18"/>
          <p:cNvSpPr>
            <a:spLocks noChangeArrowheads="1"/>
          </p:cNvSpPr>
          <p:nvPr/>
        </p:nvSpPr>
        <p:spPr bwMode="auto">
          <a:xfrm>
            <a:off x="250825" y="333375"/>
            <a:ext cx="8642350" cy="6264275"/>
          </a:xfrm>
          <a:prstGeom prst="rect">
            <a:avLst/>
          </a:prstGeom>
          <a:solidFill>
            <a:schemeClr val="tx1">
              <a:alpha val="72000"/>
            </a:schemeClr>
          </a:solidFill>
          <a:ln w="25400" algn="ctr">
            <a:solidFill>
              <a:srgbClr val="3B007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uz-Cyrl-UZ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20713"/>
            <a:ext cx="8229600" cy="1131887"/>
          </a:xfrm>
          <a:solidFill>
            <a:schemeClr val="tx1"/>
          </a:solidFill>
          <a:ln w="12700" cap="flat">
            <a:solidFill>
              <a:srgbClr val="3D007A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uz-Cyrl-UZ" altLang="uz-Cyrl-UZ" sz="2000" b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Худди шу тартибда қолган </a:t>
            </a:r>
            <a:r>
              <a:rPr lang="en-US" altLang="uz-Cyrl-UZ" sz="2000" b="1" i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IN</a:t>
            </a:r>
            <a:r>
              <a:rPr lang="en-US" altLang="uz-Cyrl-UZ" sz="2000" b="1" baseline="-25000" smtClean="0">
                <a:solidFill>
                  <a:srgbClr val="3D007A"/>
                </a:solidFill>
                <a:effectLst/>
                <a:latin typeface="Times New Roman" pitchFamily="18" charset="0"/>
              </a:rPr>
              <a:t>j</a:t>
            </a:r>
            <a:r>
              <a:rPr lang="en-US" altLang="uz-Cyrl-UZ" sz="2000" b="1" i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 (B</a:t>
            </a:r>
            <a:r>
              <a:rPr lang="en-US" altLang="uz-Cyrl-UZ" sz="2000" b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’</a:t>
            </a:r>
            <a:r>
              <a:rPr lang="en-US" altLang="uz-Cyrl-UZ" sz="2000" b="1" baseline="-25000" smtClean="0">
                <a:solidFill>
                  <a:srgbClr val="3D007A"/>
                </a:solidFill>
                <a:effectLst/>
                <a:latin typeface="Times New Roman" pitchFamily="18" charset="0"/>
              </a:rPr>
              <a:t>j</a:t>
            </a:r>
            <a:r>
              <a:rPr lang="en-US" altLang="uz-Cyrl-UZ" sz="2000" b="1" i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, C</a:t>
            </a:r>
            <a:r>
              <a:rPr lang="en-US" altLang="uz-Cyrl-UZ" sz="2000" b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’</a:t>
            </a:r>
            <a:r>
              <a:rPr lang="en-US" altLang="uz-Cyrl-UZ" sz="2000" b="1" baseline="-25000" smtClean="0">
                <a:solidFill>
                  <a:srgbClr val="3D007A"/>
                </a:solidFill>
                <a:effectLst/>
                <a:latin typeface="Times New Roman" pitchFamily="18" charset="0"/>
              </a:rPr>
              <a:t>j</a:t>
            </a:r>
            <a:r>
              <a:rPr lang="en-US" altLang="uz-Cyrl-UZ" sz="2000" b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 </a:t>
            </a:r>
            <a:r>
              <a:rPr lang="en-US" altLang="uz-Cyrl-UZ" sz="2000" b="1" i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)</a:t>
            </a:r>
            <a:r>
              <a:rPr lang="uz-Cyrl-UZ" altLang="uz-Cyrl-UZ" sz="2000" b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 ва </a:t>
            </a:r>
            <a:r>
              <a:rPr lang="en-US" altLang="uz-Cyrl-UZ" sz="2000" b="1" i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test </a:t>
            </a:r>
            <a:r>
              <a:rPr lang="en-US" altLang="uz-Cyrl-UZ" sz="2000" b="1" baseline="-25000" smtClean="0">
                <a:solidFill>
                  <a:srgbClr val="3D007A"/>
                </a:solidFill>
                <a:effectLst/>
                <a:latin typeface="Times New Roman" pitchFamily="18" charset="0"/>
              </a:rPr>
              <a:t>j</a:t>
            </a:r>
            <a:r>
              <a:rPr lang="en-US" altLang="uz-Cyrl-UZ" sz="2000" b="1" i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 (E, E</a:t>
            </a:r>
            <a:r>
              <a:rPr lang="en-US" altLang="uz-Cyrl-UZ" sz="2000" b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*</a:t>
            </a:r>
            <a:r>
              <a:rPr lang="en-US" altLang="uz-Cyrl-UZ" sz="2000" b="1" i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, C</a:t>
            </a:r>
            <a:r>
              <a:rPr lang="en-US" altLang="uz-Cyrl-UZ" sz="2000" b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’</a:t>
            </a:r>
            <a:r>
              <a:rPr lang="en-US" altLang="uz-Cyrl-UZ" sz="2000" b="1" baseline="-25000" smtClean="0">
                <a:solidFill>
                  <a:srgbClr val="3D007A"/>
                </a:solidFill>
                <a:effectLst/>
                <a:latin typeface="Times New Roman" pitchFamily="18" charset="0"/>
              </a:rPr>
              <a:t>j</a:t>
            </a:r>
            <a:r>
              <a:rPr lang="en-US" altLang="uz-Cyrl-UZ" sz="2000" b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 </a:t>
            </a:r>
            <a:r>
              <a:rPr lang="en-US" altLang="uz-Cyrl-UZ" sz="2000" b="1" i="1" smtClean="0">
                <a:solidFill>
                  <a:srgbClr val="3D007A"/>
                </a:solidFill>
                <a:effectLst/>
                <a:latin typeface="Times New Roman" pitchFamily="18" charset="0"/>
              </a:rPr>
              <a:t>)</a:t>
            </a:r>
            <a:r>
              <a:rPr lang="uz-Cyrl-UZ" altLang="uz-Cyrl-UZ" sz="2000" b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 </a:t>
            </a:r>
            <a:br>
              <a:rPr lang="uz-Cyrl-UZ" altLang="uz-Cyrl-UZ" sz="2000" b="1" smtClean="0">
                <a:solidFill>
                  <a:srgbClr val="000000"/>
                </a:solidFill>
                <a:effectLst/>
                <a:latin typeface="Times New Roman" pitchFamily="18" charset="0"/>
              </a:rPr>
            </a:br>
            <a:r>
              <a:rPr lang="uz-Cyrl-UZ" altLang="uz-Cyrl-UZ" sz="2000" b="1" smtClean="0">
                <a:solidFill>
                  <a:srgbClr val="000000"/>
                </a:solidFill>
                <a:effectLst/>
                <a:latin typeface="Times New Roman" pitchFamily="18" charset="0"/>
              </a:rPr>
              <a:t>                 тўпламларни тузиб оламиз :</a:t>
            </a:r>
            <a:endParaRPr lang="ru-RU" altLang="uz-Cyrl-UZ" sz="2000" b="1" smtClean="0">
              <a:solidFill>
                <a:srgbClr val="00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104461" name="Rectangle 13"/>
          <p:cNvSpPr>
            <a:spLocks noChangeArrowheads="1"/>
          </p:cNvSpPr>
          <p:nvPr/>
        </p:nvSpPr>
        <p:spPr bwMode="auto">
          <a:xfrm>
            <a:off x="0" y="306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uz-Cyrl-UZ"/>
          </a:p>
        </p:txBody>
      </p:sp>
      <p:graphicFrame>
        <p:nvGraphicFramePr>
          <p:cNvPr id="9221" name="Object 12"/>
          <p:cNvGraphicFramePr>
            <a:graphicFrameLocks noChangeAspect="1"/>
          </p:cNvGraphicFramePr>
          <p:nvPr/>
        </p:nvGraphicFramePr>
        <p:xfrm>
          <a:off x="523875" y="2276475"/>
          <a:ext cx="394335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Формула" r:id="rId3" imgW="2755900" imgH="711200" progId="Equation.3">
                  <p:embed/>
                </p:oleObj>
              </mc:Choice>
              <mc:Fallback>
                <p:oleObj name="Формула" r:id="rId3" imgW="2755900" imgH="711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" y="2276475"/>
                        <a:ext cx="3943350" cy="11525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12700">
                        <a:solidFill>
                          <a:srgbClr val="3D007A"/>
                        </a:solidFill>
                        <a:prstDash val="dash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Rectangle 14"/>
          <p:cNvSpPr>
            <a:spLocks noChangeArrowheads="1"/>
          </p:cNvSpPr>
          <p:nvPr/>
        </p:nvSpPr>
        <p:spPr bwMode="auto">
          <a:xfrm>
            <a:off x="4471988" y="2454275"/>
            <a:ext cx="4175125" cy="774700"/>
          </a:xfrm>
          <a:prstGeom prst="rect">
            <a:avLst/>
          </a:prstGeom>
          <a:solidFill>
            <a:schemeClr val="tx1"/>
          </a:solidFill>
          <a:ln w="12700" algn="ctr">
            <a:solidFill>
              <a:srgbClr val="3D007A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IN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2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(a,b)=IN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2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(6,</a:t>
            </a:r>
            <a:r>
              <a:rPr lang="uz-Cyrl-UZ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3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)={</a:t>
            </a:r>
            <a:r>
              <a:rPr lang="uz-Cyrl-UZ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8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,b,d,e}</a:t>
            </a:r>
          </a:p>
          <a:p>
            <a:pPr>
              <a:buFont typeface="Wingdings" pitchFamily="2" charset="2"/>
              <a:buNone/>
            </a:pP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Test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2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(m</a:t>
            </a:r>
            <a:r>
              <a:rPr lang="uz-Cyrl-UZ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3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,m</a:t>
            </a:r>
            <a:r>
              <a:rPr lang="uz-Cyrl-UZ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4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,b)=Test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2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(1,7,3)={9,a,c,f}</a:t>
            </a:r>
          </a:p>
        </p:txBody>
      </p:sp>
      <p:graphicFrame>
        <p:nvGraphicFramePr>
          <p:cNvPr id="9223" name="Object 1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38150" y="4149725"/>
          <a:ext cx="381635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Формула" r:id="rId5" imgW="2743200" imgH="711000" progId="Equation.3">
                  <p:embed/>
                </p:oleObj>
              </mc:Choice>
              <mc:Fallback>
                <p:oleObj name="Формула" r:id="rId5" imgW="2743200" imgH="7110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" y="4149725"/>
                        <a:ext cx="3816350" cy="115093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12700" cap="flat">
                        <a:solidFill>
                          <a:srgbClr val="3D007A"/>
                        </a:solidFill>
                        <a:prstDash val="dash"/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Rectangle 17"/>
          <p:cNvSpPr>
            <a:spLocks noChangeArrowheads="1"/>
          </p:cNvSpPr>
          <p:nvPr/>
        </p:nvSpPr>
        <p:spPr bwMode="auto">
          <a:xfrm>
            <a:off x="4254500" y="4321175"/>
            <a:ext cx="4392613" cy="774700"/>
          </a:xfrm>
          <a:prstGeom prst="rect">
            <a:avLst/>
          </a:prstGeom>
          <a:solidFill>
            <a:schemeClr val="tx1"/>
          </a:solidFill>
          <a:ln w="12700" algn="ctr">
            <a:solidFill>
              <a:srgbClr val="3D007A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IN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3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(</a:t>
            </a:r>
            <a:r>
              <a:rPr lang="en-US" altLang="uz-Cyrl-UZ" sz="2000" b="1" i="1">
                <a:solidFill>
                  <a:srgbClr val="3D007A"/>
                </a:solidFill>
                <a:effectLst/>
                <a:latin typeface="Times New Roman" pitchFamily="18" charset="0"/>
              </a:rPr>
              <a:t>a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,b)=IN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3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(6,</a:t>
            </a:r>
            <a:r>
              <a:rPr lang="uz-Cyrl-UZ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3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)={</a:t>
            </a:r>
            <a:r>
              <a:rPr lang="uz-Cyrl-UZ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8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,b,d,e}</a:t>
            </a:r>
          </a:p>
          <a:p>
            <a:pPr>
              <a:buFont typeface="Wingdings" pitchFamily="2" charset="2"/>
              <a:buNone/>
            </a:pP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Test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3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(m</a:t>
            </a:r>
            <a:r>
              <a:rPr lang="uz-Cyrl-UZ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5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,m</a:t>
            </a:r>
            <a:r>
              <a:rPr lang="uz-Cyrl-UZ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6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,b)=Test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3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(2,4,3) ={ a,9,f,c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68" name="Rectangle 24"/>
          <p:cNvSpPr>
            <a:spLocks noChangeArrowheads="1"/>
          </p:cNvSpPr>
          <p:nvPr/>
        </p:nvSpPr>
        <p:spPr bwMode="auto">
          <a:xfrm>
            <a:off x="250825" y="333375"/>
            <a:ext cx="8642350" cy="6264275"/>
          </a:xfrm>
          <a:prstGeom prst="rect">
            <a:avLst/>
          </a:prstGeom>
          <a:solidFill>
            <a:schemeClr val="tx1">
              <a:alpha val="72000"/>
            </a:schemeClr>
          </a:solidFill>
          <a:ln w="25400" algn="ctr">
            <a:solidFill>
              <a:srgbClr val="3B007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uz-Cyrl-UZ"/>
          </a:p>
        </p:txBody>
      </p:sp>
      <p:graphicFrame>
        <p:nvGraphicFramePr>
          <p:cNvPr id="10243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641350" y="981075"/>
          <a:ext cx="3455988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Формула" r:id="rId3" imgW="2730500" imgH="711200" progId="Equation.3">
                  <p:embed/>
                </p:oleObj>
              </mc:Choice>
              <mc:Fallback>
                <p:oleObj name="Формула" r:id="rId3" imgW="27305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" y="981075"/>
                        <a:ext cx="3455988" cy="100806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12700" cap="flat">
                        <a:solidFill>
                          <a:srgbClr val="3D007A"/>
                        </a:solidFill>
                        <a:prstDash val="dash"/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Rectangle 6"/>
          <p:cNvSpPr>
            <a:spLocks noChangeArrowheads="1"/>
          </p:cNvSpPr>
          <p:nvPr/>
        </p:nvSpPr>
        <p:spPr bwMode="auto">
          <a:xfrm>
            <a:off x="4103688" y="1108075"/>
            <a:ext cx="4357687" cy="774700"/>
          </a:xfrm>
          <a:prstGeom prst="rect">
            <a:avLst/>
          </a:prstGeom>
          <a:solidFill>
            <a:schemeClr val="tx1"/>
          </a:solidFill>
          <a:ln w="12700" algn="ctr">
            <a:solidFill>
              <a:srgbClr val="3D007A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IN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4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(a,b)=IN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4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(1,6)={e,f}</a:t>
            </a:r>
          </a:p>
          <a:p>
            <a:pPr>
              <a:buFont typeface="Wingdings" pitchFamily="2" charset="2"/>
              <a:buNone/>
            </a:pP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Test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4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(m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1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,m</a:t>
            </a:r>
            <a:r>
              <a:rPr lang="uz-Cyrl-UZ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3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,b)=Test</a:t>
            </a:r>
            <a:r>
              <a:rPr lang="en-US" altLang="uz-Cyrl-UZ" sz="2000" b="1" baseline="-25000">
                <a:solidFill>
                  <a:srgbClr val="3D007A"/>
                </a:solidFill>
                <a:effectLst/>
                <a:latin typeface="Times New Roman" pitchFamily="18" charset="0"/>
              </a:rPr>
              <a:t>4</a:t>
            </a:r>
            <a:r>
              <a:rPr lang="en-US" altLang="uz-Cyrl-UZ" sz="2000" b="1">
                <a:solidFill>
                  <a:srgbClr val="3D007A"/>
                </a:solidFill>
                <a:effectLst/>
                <a:latin typeface="Times New Roman" pitchFamily="18" charset="0"/>
              </a:rPr>
              <a:t>(0,1,6) ={e,f }</a:t>
            </a:r>
          </a:p>
        </p:txBody>
      </p:sp>
      <p:sp>
        <p:nvSpPr>
          <p:cNvPr id="108551" name="Rectangle 7"/>
          <p:cNvSpPr>
            <a:spLocks noChangeArrowheads="1"/>
          </p:cNvSpPr>
          <p:nvPr/>
        </p:nvSpPr>
        <p:spPr bwMode="auto">
          <a:xfrm>
            <a:off x="366713" y="2709863"/>
            <a:ext cx="8351837" cy="1439862"/>
          </a:xfrm>
          <a:prstGeom prst="rect">
            <a:avLst/>
          </a:prstGeom>
          <a:solidFill>
            <a:schemeClr val="tx1"/>
          </a:solidFill>
          <a:ln w="12700" algn="ctr">
            <a:solidFill>
              <a:srgbClr val="3D007A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uz-Cyrl-UZ" altLang="uz-Cyrl-UZ" smtClean="0">
                <a:solidFill>
                  <a:srgbClr val="000000"/>
                </a:solidFill>
                <a:effectLst/>
                <a:latin typeface="Tahoma" charset="0"/>
              </a:rPr>
              <a:t>    </a:t>
            </a:r>
            <a:r>
              <a:rPr lang="ru-RU" altLang="uz-Cyrl-UZ" sz="2000" b="1" smtClean="0">
                <a:solidFill>
                  <a:srgbClr val="000000"/>
                </a:solidFill>
                <a:effectLst/>
              </a:rPr>
              <a:t>Топилган</a:t>
            </a:r>
            <a:r>
              <a:rPr lang="en-US" altLang="uz-Cyrl-UZ" sz="2000" b="1" smtClean="0">
                <a:solidFill>
                  <a:srgbClr val="000000"/>
                </a:solidFill>
                <a:effectLst/>
              </a:rPr>
              <a:t> </a:t>
            </a:r>
            <a:r>
              <a:rPr lang="en-US" altLang="uz-Cyrl-UZ" sz="2000" b="1" i="1" smtClean="0">
                <a:solidFill>
                  <a:srgbClr val="3D007A"/>
                </a:solidFill>
                <a:effectLst/>
              </a:rPr>
              <a:t>test </a:t>
            </a:r>
            <a:r>
              <a:rPr lang="en-US" altLang="uz-Cyrl-UZ" sz="2000" b="1" smtClean="0">
                <a:solidFill>
                  <a:srgbClr val="3D007A"/>
                </a:solidFill>
                <a:effectLst/>
              </a:rPr>
              <a:t>j</a:t>
            </a:r>
            <a:r>
              <a:rPr lang="en-US" altLang="uz-Cyrl-UZ" sz="2000" b="1" i="1" smtClean="0">
                <a:solidFill>
                  <a:srgbClr val="3D007A"/>
                </a:solidFill>
                <a:effectLst/>
              </a:rPr>
              <a:t> (E, E</a:t>
            </a:r>
            <a:r>
              <a:rPr lang="en-US" altLang="uz-Cyrl-UZ" sz="2000" b="1" smtClean="0">
                <a:solidFill>
                  <a:srgbClr val="3D007A"/>
                </a:solidFill>
                <a:effectLst/>
              </a:rPr>
              <a:t>*</a:t>
            </a:r>
            <a:r>
              <a:rPr lang="en-US" altLang="uz-Cyrl-UZ" sz="2000" b="1" i="1" smtClean="0">
                <a:solidFill>
                  <a:srgbClr val="3D007A"/>
                </a:solidFill>
                <a:effectLst/>
              </a:rPr>
              <a:t>, C</a:t>
            </a:r>
            <a:r>
              <a:rPr lang="en-US" altLang="uz-Cyrl-UZ" sz="2000" b="1" smtClean="0">
                <a:solidFill>
                  <a:srgbClr val="3D007A"/>
                </a:solidFill>
                <a:effectLst/>
              </a:rPr>
              <a:t>’j </a:t>
            </a:r>
            <a:r>
              <a:rPr lang="en-US" altLang="uz-Cyrl-UZ" sz="2000" b="1" i="1" smtClean="0">
                <a:solidFill>
                  <a:srgbClr val="3D007A"/>
                </a:solidFill>
                <a:effectLst/>
              </a:rPr>
              <a:t>)</a:t>
            </a:r>
            <a:r>
              <a:rPr lang="uz-Cyrl-UZ" altLang="uz-Cyrl-UZ" sz="2000" b="1" smtClean="0">
                <a:solidFill>
                  <a:srgbClr val="000000"/>
                </a:solidFill>
                <a:effectLst/>
              </a:rPr>
              <a:t> </a:t>
            </a:r>
            <a:r>
              <a:rPr lang="ru-RU" altLang="uz-Cyrl-UZ" sz="2000" b="1" smtClean="0">
                <a:solidFill>
                  <a:srgbClr val="000000"/>
                </a:solidFill>
                <a:effectLst/>
              </a:rPr>
              <a:t>тўпламларни</a:t>
            </a:r>
            <a:r>
              <a:rPr lang="en-US" altLang="uz-Cyrl-UZ" sz="2000" b="1" smtClean="0">
                <a:solidFill>
                  <a:srgbClr val="000000"/>
                </a:solidFill>
                <a:effectLst/>
              </a:rPr>
              <a:t> </a:t>
            </a:r>
            <a:r>
              <a:rPr lang="ru-RU" altLang="uz-Cyrl-UZ" sz="2000" b="1" smtClean="0">
                <a:solidFill>
                  <a:srgbClr val="000000"/>
                </a:solidFill>
                <a:effectLst/>
              </a:rPr>
              <a:t>кесиштирамиз</a:t>
            </a:r>
            <a:r>
              <a:rPr lang="en-US" altLang="uz-Cyrl-UZ" sz="2000" b="1" smtClean="0">
                <a:solidFill>
                  <a:srgbClr val="000000"/>
                </a:solidFill>
                <a:effectLst/>
              </a:rPr>
              <a:t> </a:t>
            </a:r>
            <a:endParaRPr lang="ru-RU" altLang="uz-Cyrl-UZ" sz="2000" b="1" smtClean="0">
              <a:solidFill>
                <a:srgbClr val="000000"/>
              </a:solidFill>
              <a:effectLst/>
            </a:endParaRPr>
          </a:p>
          <a:p>
            <a:pPr algn="ctr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ru-RU" altLang="uz-Cyrl-UZ" sz="2000" b="1" smtClean="0">
                <a:solidFill>
                  <a:srgbClr val="000000"/>
                </a:solidFill>
                <a:effectLst/>
              </a:rPr>
              <a:t>ва бундан</a:t>
            </a:r>
            <a:r>
              <a:rPr lang="en-US" altLang="uz-Cyrl-UZ" sz="2000" b="1" smtClean="0">
                <a:solidFill>
                  <a:srgbClr val="000000"/>
                </a:solidFill>
                <a:effectLst/>
              </a:rPr>
              <a:t> </a:t>
            </a:r>
            <a:r>
              <a:rPr lang="ru-RU" altLang="uz-Cyrl-UZ" sz="2000" b="1" smtClean="0">
                <a:solidFill>
                  <a:srgbClr val="000000"/>
                </a:solidFill>
                <a:effectLst/>
              </a:rPr>
              <a:t>кўринадики</a:t>
            </a:r>
            <a:r>
              <a:rPr lang="uz-Cyrl-UZ" altLang="uz-Cyrl-UZ" sz="2000" b="1" smtClean="0">
                <a:solidFill>
                  <a:srgbClr val="000000"/>
                </a:solidFill>
                <a:effectLst/>
              </a:rPr>
              <a:t> </a:t>
            </a:r>
            <a:r>
              <a:rPr lang="en-US" altLang="uz-Cyrl-UZ" sz="2000" b="1" smtClean="0">
                <a:solidFill>
                  <a:srgbClr val="000000"/>
                </a:solidFill>
                <a:effectLst/>
              </a:rPr>
              <a:t>f </a:t>
            </a:r>
            <a:r>
              <a:rPr lang="ru-RU" altLang="uz-Cyrl-UZ" sz="2000" b="1" smtClean="0">
                <a:solidFill>
                  <a:srgbClr val="000000"/>
                </a:solidFill>
                <a:effectLst/>
              </a:rPr>
              <a:t>сони</a:t>
            </a:r>
            <a:r>
              <a:rPr lang="en-US" altLang="uz-Cyrl-UZ" sz="2000" b="1" smtClean="0">
                <a:solidFill>
                  <a:srgbClr val="000000"/>
                </a:solidFill>
                <a:effectLst/>
              </a:rPr>
              <a:t> </a:t>
            </a:r>
            <a:r>
              <a:rPr lang="ru-RU" altLang="uz-Cyrl-UZ" sz="2000" b="1" smtClean="0">
                <a:solidFill>
                  <a:srgbClr val="000000"/>
                </a:solidFill>
                <a:effectLst/>
              </a:rPr>
              <a:t>тўртала</a:t>
            </a:r>
            <a:r>
              <a:rPr lang="en-US" altLang="uz-Cyrl-UZ" sz="2000" b="1" smtClean="0">
                <a:solidFill>
                  <a:srgbClr val="000000"/>
                </a:solidFill>
                <a:effectLst/>
              </a:rPr>
              <a:t> </a:t>
            </a:r>
            <a:r>
              <a:rPr lang="ru-RU" altLang="uz-Cyrl-UZ" sz="2000" b="1" smtClean="0">
                <a:solidFill>
                  <a:srgbClr val="000000"/>
                </a:solidFill>
                <a:effectLst/>
              </a:rPr>
              <a:t>тўпламда</a:t>
            </a:r>
            <a:r>
              <a:rPr lang="en-US" altLang="uz-Cyrl-UZ" sz="2000" b="1" smtClean="0">
                <a:solidFill>
                  <a:srgbClr val="000000"/>
                </a:solidFill>
                <a:effectLst/>
              </a:rPr>
              <a:t> </a:t>
            </a:r>
            <a:r>
              <a:rPr lang="ru-RU" altLang="uz-Cyrl-UZ" sz="2000" b="1" smtClean="0">
                <a:solidFill>
                  <a:srgbClr val="000000"/>
                </a:solidFill>
                <a:effectLst/>
              </a:rPr>
              <a:t>хам</a:t>
            </a:r>
            <a:r>
              <a:rPr lang="en-US" altLang="uz-Cyrl-UZ" sz="2000" b="1" smtClean="0">
                <a:solidFill>
                  <a:srgbClr val="000000"/>
                </a:solidFill>
                <a:effectLst/>
              </a:rPr>
              <a:t> </a:t>
            </a:r>
            <a:r>
              <a:rPr lang="ru-RU" altLang="uz-Cyrl-UZ" sz="2000" b="1" smtClean="0">
                <a:solidFill>
                  <a:srgbClr val="000000"/>
                </a:solidFill>
                <a:effectLst/>
              </a:rPr>
              <a:t>мавжуд</a:t>
            </a:r>
            <a:r>
              <a:rPr lang="en-US" altLang="uz-Cyrl-UZ" sz="2000" b="1" smtClean="0">
                <a:solidFill>
                  <a:srgbClr val="000000"/>
                </a:solidFill>
                <a:effectLst/>
              </a:rPr>
              <a:t> </a:t>
            </a:r>
            <a:endParaRPr lang="ru-RU" altLang="uz-Cyrl-UZ" sz="2000" b="1" smtClean="0">
              <a:solidFill>
                <a:srgbClr val="000000"/>
              </a:solidFill>
              <a:effectLst/>
            </a:endParaRPr>
          </a:p>
          <a:p>
            <a:pPr algn="ctr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ru-RU" altLang="uz-Cyrl-UZ" sz="2000" b="1" smtClean="0">
                <a:solidFill>
                  <a:srgbClr val="000000"/>
                </a:solidFill>
                <a:effectLst/>
              </a:rPr>
              <a:t>демак</a:t>
            </a:r>
            <a:r>
              <a:rPr lang="en-US" altLang="uz-Cyrl-UZ" sz="2000" b="1" smtClean="0">
                <a:solidFill>
                  <a:srgbClr val="000000"/>
                </a:solidFill>
                <a:effectLst/>
              </a:rPr>
              <a:t>, </a:t>
            </a:r>
            <a:r>
              <a:rPr lang="ru-RU" altLang="uz-Cyrl-UZ" sz="2000" b="1" smtClean="0">
                <a:solidFill>
                  <a:srgbClr val="000000"/>
                </a:solidFill>
                <a:effectLst/>
              </a:rPr>
              <a:t>калит</a:t>
            </a:r>
            <a:r>
              <a:rPr lang="en-US" altLang="uz-Cyrl-UZ" sz="2000" b="1" smtClean="0">
                <a:solidFill>
                  <a:srgbClr val="000000"/>
                </a:solidFill>
                <a:effectLst/>
              </a:rPr>
              <a:t> f </a:t>
            </a:r>
            <a:r>
              <a:rPr lang="ru-RU" altLang="uz-Cyrl-UZ" sz="2000" b="1" smtClean="0">
                <a:solidFill>
                  <a:srgbClr val="000000"/>
                </a:solidFill>
                <a:effectLst/>
              </a:rPr>
              <a:t>сони</a:t>
            </a:r>
            <a:r>
              <a:rPr lang="en-US" altLang="uz-Cyrl-UZ" sz="2000" b="1" smtClean="0">
                <a:solidFill>
                  <a:srgbClr val="000000"/>
                </a:solidFill>
                <a:effectLst/>
              </a:rPr>
              <a:t>.</a:t>
            </a:r>
            <a:r>
              <a:rPr lang="uz-Cyrl-UZ" altLang="uz-Cyrl-UZ" sz="20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endParaRPr lang="ru-RU" altLang="uz-Cyrl-UZ" sz="2000" b="1" smtClean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8552" name="Rectangle 8"/>
          <p:cNvSpPr>
            <a:spLocks noChangeArrowheads="1"/>
          </p:cNvSpPr>
          <p:nvPr/>
        </p:nvSpPr>
        <p:spPr bwMode="auto">
          <a:xfrm>
            <a:off x="2843213" y="3284538"/>
            <a:ext cx="4464050" cy="172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uz-Cyrl-UZ"/>
          </a:p>
        </p:txBody>
      </p:sp>
      <p:sp>
        <p:nvSpPr>
          <p:cNvPr id="10247" name="Rectangle 19"/>
          <p:cNvSpPr>
            <a:spLocks noChangeArrowheads="1"/>
          </p:cNvSpPr>
          <p:nvPr/>
        </p:nvSpPr>
        <p:spPr bwMode="auto">
          <a:xfrm>
            <a:off x="366713" y="4260850"/>
            <a:ext cx="8364537" cy="1689100"/>
          </a:xfrm>
          <a:prstGeom prst="rect">
            <a:avLst/>
          </a:prstGeom>
          <a:solidFill>
            <a:schemeClr val="tx1"/>
          </a:solidFill>
          <a:ln w="12700" algn="ctr">
            <a:solidFill>
              <a:srgbClr val="3D007A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uz-Cyrl-UZ" altLang="uz-Cyrl-UZ" sz="2400">
                <a:solidFill>
                  <a:srgbClr val="000000"/>
                </a:solidFill>
                <a:effectLst/>
              </a:rPr>
              <a:t>	</a:t>
            </a:r>
            <a:r>
              <a:rPr lang="en-US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Ха</a:t>
            </a: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қиқатдан хам бу калитни текшириб кўрадиган бўлсак</a:t>
            </a:r>
            <a:r>
              <a:rPr lang="en-US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,</a:t>
            </a: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 қуйидагича бўлади: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2000" b="1">
              <a:solidFill>
                <a:srgbClr val="000000"/>
              </a:solidFill>
              <a:effectLst/>
              <a:latin typeface="Times New Roman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2000" b="1">
              <a:solidFill>
                <a:srgbClr val="000000"/>
              </a:solidFill>
              <a:effectLst/>
              <a:latin typeface="Times New Roman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uz-Cyrl-UZ" altLang="uz-Cyrl-UZ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демак, калит тўғри топилган.</a:t>
            </a:r>
          </a:p>
        </p:txBody>
      </p:sp>
      <p:sp>
        <p:nvSpPr>
          <p:cNvPr id="108565" name="Rectangle 2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uz-Cyrl-UZ"/>
          </a:p>
        </p:txBody>
      </p:sp>
      <p:graphicFrame>
        <p:nvGraphicFramePr>
          <p:cNvPr id="10249" name="Object 20"/>
          <p:cNvGraphicFramePr>
            <a:graphicFrameLocks noChangeAspect="1"/>
          </p:cNvGraphicFramePr>
          <p:nvPr/>
        </p:nvGraphicFramePr>
        <p:xfrm>
          <a:off x="1763713" y="5067300"/>
          <a:ext cx="54006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Формула" r:id="rId5" imgW="2641600" imgH="215900" progId="Equation.3">
                  <p:embed/>
                </p:oleObj>
              </mc:Choice>
              <mc:Fallback>
                <p:oleObj name="Формула" r:id="rId5" imgW="2641600" imgH="2159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067300"/>
                        <a:ext cx="54006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кстура">
  <a:themeElements>
    <a:clrScheme name="Текстура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Текстура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5000"/>
          <a:buFont typeface="Wingdings" pitchFamily="2" charset="2"/>
          <a:buChar char="n"/>
          <a:tabLst/>
          <a:defRPr kumimoji="0" lang="en-US" altLang="uz-Cyrl-UZ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5000"/>
          <a:buFont typeface="Wingdings" pitchFamily="2" charset="2"/>
          <a:buChar char="n"/>
          <a:tabLst/>
          <a:defRPr kumimoji="0" lang="en-US" altLang="uz-Cyrl-UZ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charset="0"/>
          </a:defRPr>
        </a:defPPr>
      </a:lstStyle>
    </a:lnDef>
  </a:objectDefaults>
  <a:extraClrSchemeLst>
    <a:extraClrScheme>
      <a:clrScheme name="Текстура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Текстура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2053</TotalTime>
  <Words>984</Words>
  <Application>Microsoft Office PowerPoint</Application>
  <PresentationFormat>Экран (4:3)</PresentationFormat>
  <Paragraphs>677</Paragraphs>
  <Slides>10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Текстура</vt:lpstr>
      <vt:lpstr>Формула</vt:lpstr>
      <vt:lpstr>Презентация PowerPoint</vt:lpstr>
      <vt:lpstr>Презентация PowerPoint</vt:lpstr>
      <vt:lpstr>ГОСТ 28147-89 шифрлаш алгоритми S - блоклари учун дифференциал криптотаҳлил тақсимот жадвалларини тузишни кўриб ўтамиз.     S1-блок</vt:lpstr>
      <vt:lpstr>Бу жадвалда а=7(01112) бўлган хол учун кўрсатилган</vt:lpstr>
      <vt:lpstr>Юкоридаги жадвал  қуйидаги жадвалда ифодаланган:</vt:lpstr>
      <vt:lpstr>Презентация PowerPoint</vt:lpstr>
      <vt:lpstr>Презентация PowerPoint</vt:lpstr>
      <vt:lpstr>Бизга М=(m1,m2,…,mn) очиқ матн ва С=(с1,с2,…,сn) шифр матн берилган бўлсин. Очик матн:    M= (0,6,1,7,2,4) Шифр матн:  C= (3,b,5,6,f,c).    Калитни топиш талаб қилинсин.</vt:lpstr>
      <vt:lpstr>Худди шу тартибда қолган INj (B’j, C’j ) ва test j (E, E*, C’j )                   тўпламларни тузиб оламиз :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asb2602</dc:creator>
  <cp:lastModifiedBy>Microsoft Office</cp:lastModifiedBy>
  <cp:revision>125</cp:revision>
  <dcterms:created xsi:type="dcterms:W3CDTF">1601-01-01T00:00:00Z</dcterms:created>
  <dcterms:modified xsi:type="dcterms:W3CDTF">2019-08-22T05:11:53Z</dcterms:modified>
</cp:coreProperties>
</file>