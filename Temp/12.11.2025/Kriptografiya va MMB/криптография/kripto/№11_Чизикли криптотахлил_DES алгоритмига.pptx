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85" r:id="rId3"/>
    <p:sldId id="275" r:id="rId4"/>
    <p:sldId id="281" r:id="rId5"/>
    <p:sldId id="283" r:id="rId6"/>
    <p:sldId id="276" r:id="rId7"/>
    <p:sldId id="278" r:id="rId8"/>
    <p:sldId id="263" r:id="rId9"/>
    <p:sldId id="284" r:id="rId10"/>
    <p:sldId id="266" r:id="rId11"/>
    <p:sldId id="267" r:id="rId12"/>
    <p:sldId id="269" r:id="rId13"/>
    <p:sldId id="271" r:id="rId14"/>
    <p:sldId id="270" r:id="rId15"/>
    <p:sldId id="272" r:id="rId16"/>
    <p:sldId id="273" r:id="rId17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FF"/>
    <a:srgbClr val="5B3BE5"/>
    <a:srgbClr val="AC0808"/>
    <a:srgbClr val="FFCC99"/>
    <a:srgbClr val="B8549E"/>
    <a:srgbClr val="448AF2"/>
    <a:srgbClr val="0066FF"/>
    <a:srgbClr val="0DA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z-Cyrl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00A71-58C1-4067-83F8-9F0AE48F5566}" type="datetimeFigureOut">
              <a:rPr lang="uz-Cyrl-UZ" smtClean="0"/>
              <a:t>15.06.2022</a:t>
            </a:fld>
            <a:endParaRPr lang="uz-Cyrl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z-Cyrl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uz-Cyrl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z-Cyrl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DCE28-D71D-4AFB-BB0B-5968890402AD}" type="slidenum">
              <a:rPr lang="uz-Cyrl-UZ" smtClean="0"/>
              <a:t>‹#›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996550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1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858310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2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002297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3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08235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4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374545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5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780704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6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727697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7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610818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8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387692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9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917878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10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894532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11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05226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12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876243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13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12032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14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231453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15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994612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z-Cyrl-U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DCE28-D71D-4AFB-BB0B-5968890402AD}" type="slidenum">
              <a:rPr lang="uz-Cyrl-UZ" smtClean="0"/>
              <a:t>16</a:t>
            </a:fld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1124735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E90C6F-8347-4229-983D-7763B4884A0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439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BBF1C-E814-4741-9BF5-031FC522918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521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A9D6E-662A-4E81-9FEE-6A561A1FB29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801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59D1D-DD03-4B0F-AF86-8D6A740B7CD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603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F4233-D4B4-4EA5-85DD-83682518C5A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470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97AF68-81EC-4FEA-90B3-3EAF2F31321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2045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6F57A-831C-419F-8AEA-DB5AAB2E56D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85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69178-A5AB-4B50-ACFD-833DF80A52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942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68EE9-A811-47F7-8D8A-9A96A16D95F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626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B27EBC-9111-4BB6-97C4-1B72195F108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08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8A9E08-BEF3-404C-AE23-CA74C6C4EC3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721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z-Cyrl-UZ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endParaRPr lang="uz-Cyrl-UZ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CB7AA5D-0038-4536-A1F3-C77680485E2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970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592ABBA0-10CD-4A82-9265-97A0ED6832B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bg1"/>
          </a:solidFill>
          <a:ln w="53975">
            <a:solidFill>
              <a:schemeClr val="accent1">
                <a:lumMod val="50000"/>
                <a:alpha val="87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467544" y="214040"/>
            <a:ext cx="8214001" cy="4909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/>
            </a:pPr>
            <a:r>
              <a:rPr lang="uz-Cyrl-UZ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Мавзу: </a:t>
            </a:r>
            <a:r>
              <a:rPr lang="en-US" sz="32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uz-Cyrl-UZ" sz="3200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алгоритмига чизиқли криптотаҳлил усулини қўллаш </a:t>
            </a:r>
          </a:p>
          <a:p>
            <a:pPr>
              <a:spcAft>
                <a:spcPts val="600"/>
              </a:spcAft>
              <a:defRPr/>
            </a:pPr>
            <a:r>
              <a:rPr lang="uz-Cyrl-UZ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Режа:</a:t>
            </a:r>
          </a:p>
          <a:p>
            <a:pPr marL="457200" indent="-457200" algn="just">
              <a:spcAft>
                <a:spcPts val="600"/>
              </a:spcAft>
              <a:buAutoNum type="arabicPeriod"/>
              <a:defRPr/>
            </a:pP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Корреляцион матрица қуриш</a:t>
            </a:r>
            <a:endParaRPr lang="en-US" sz="2800" dirty="0" smtClean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spcAft>
                <a:spcPts val="600"/>
              </a:spcAft>
              <a:buAutoNum type="arabicPeriod"/>
              <a:defRPr/>
            </a:pP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ru-RU" sz="2800" dirty="0" err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Фейстель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функцияси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учун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аппроксимация </a:t>
            </a:r>
            <a:r>
              <a:rPr lang="ru-RU" sz="2800" dirty="0" err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тенгламасини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қуриш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spcAft>
                <a:spcPts val="600"/>
              </a:spcAft>
              <a:buFontTx/>
              <a:buAutoNum type="arabicPeriod"/>
              <a:defRPr/>
            </a:pP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ru-RU" sz="2800" dirty="0" err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800" dirty="0" err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ва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ru-RU" sz="2800" dirty="0" err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раунди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учун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аппроксимация </a:t>
            </a:r>
            <a:r>
              <a:rPr lang="ru-RU" sz="2800" dirty="0" err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тенгламасини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қуриш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spcAft>
                <a:spcPts val="600"/>
              </a:spcAft>
              <a:buFontTx/>
              <a:buAutoNum type="arabicPeriod"/>
              <a:defRPr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ru-RU" sz="2800" dirty="0" err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ru-RU" sz="2800" dirty="0" err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раунди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учун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аппроксимация </a:t>
            </a:r>
            <a:r>
              <a:rPr lang="ru-RU" sz="2800" dirty="0" err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тенгламасини</a:t>
            </a:r>
            <a:r>
              <a:rPr lang="ru-RU" sz="2800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қуриш</a:t>
            </a:r>
            <a:r>
              <a:rPr lang="ru-RU" sz="2800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dirty="0">
              <a:solidFill>
                <a:schemeClr val="accent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6300192" y="5877272"/>
            <a:ext cx="2592288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Саттаров А.Б.</a:t>
            </a:r>
            <a:endParaRPr lang="ru-RU" sz="16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41" y="980728"/>
            <a:ext cx="8377923" cy="5112567"/>
          </a:xfrm>
          <a:prstGeom prst="rect">
            <a:avLst/>
          </a:prstGeom>
        </p:spPr>
      </p:pic>
      <p:sp>
        <p:nvSpPr>
          <p:cNvPr id="20" name="Прямоугольник 55"/>
          <p:cNvSpPr/>
          <p:nvPr/>
        </p:nvSpPr>
        <p:spPr>
          <a:xfrm>
            <a:off x="2195736" y="332656"/>
            <a:ext cx="4608512" cy="4680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Корреляцион матрица </a:t>
            </a:r>
            <a:r>
              <a:rPr lang="uz-Cyrl-UZ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қуриш</a:t>
            </a:r>
            <a:endParaRPr lang="uz-Cyrl-UZ" sz="24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6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84" name="Group 224"/>
          <p:cNvGrpSpPr>
            <a:grpSpLocks noChangeAspect="1"/>
          </p:cNvGrpSpPr>
          <p:nvPr/>
        </p:nvGrpSpPr>
        <p:grpSpPr bwMode="auto">
          <a:xfrm>
            <a:off x="1814513" y="1125538"/>
            <a:ext cx="5905500" cy="3386137"/>
            <a:chOff x="1143" y="709"/>
            <a:chExt cx="3720" cy="2133"/>
          </a:xfrm>
        </p:grpSpPr>
        <p:sp>
          <p:nvSpPr>
            <p:cNvPr id="92383" name="AutoShape 223"/>
            <p:cNvSpPr>
              <a:spLocks noChangeAspect="1" noChangeArrowheads="1" noTextEdit="1"/>
            </p:cNvSpPr>
            <p:nvPr/>
          </p:nvSpPr>
          <p:spPr bwMode="auto">
            <a:xfrm>
              <a:off x="1143" y="709"/>
              <a:ext cx="3720" cy="2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385" name="Rectangle 225"/>
            <p:cNvSpPr>
              <a:spLocks noChangeArrowheads="1"/>
            </p:cNvSpPr>
            <p:nvPr/>
          </p:nvSpPr>
          <p:spPr bwMode="auto">
            <a:xfrm>
              <a:off x="1155" y="723"/>
              <a:ext cx="1192" cy="208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386" name="Rectangle 226"/>
            <p:cNvSpPr>
              <a:spLocks noChangeArrowheads="1"/>
            </p:cNvSpPr>
            <p:nvPr/>
          </p:nvSpPr>
          <p:spPr bwMode="auto">
            <a:xfrm>
              <a:off x="1155" y="723"/>
              <a:ext cx="1192" cy="208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387" name="Rectangle 227"/>
            <p:cNvSpPr>
              <a:spLocks noChangeArrowheads="1"/>
            </p:cNvSpPr>
            <p:nvPr/>
          </p:nvSpPr>
          <p:spPr bwMode="auto">
            <a:xfrm>
              <a:off x="1508" y="764"/>
              <a:ext cx="94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ru-RU"/>
            </a:p>
          </p:txBody>
        </p:sp>
        <p:sp>
          <p:nvSpPr>
            <p:cNvPr id="92388" name="Rectangle 228"/>
            <p:cNvSpPr>
              <a:spLocks noChangeArrowheads="1"/>
            </p:cNvSpPr>
            <p:nvPr/>
          </p:nvSpPr>
          <p:spPr bwMode="auto">
            <a:xfrm>
              <a:off x="1560" y="830"/>
              <a:ext cx="11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i-1</a:t>
              </a:r>
              <a:endParaRPr lang="ru-RU"/>
            </a:p>
          </p:txBody>
        </p:sp>
        <p:sp>
          <p:nvSpPr>
            <p:cNvPr id="92389" name="Rectangle 229"/>
            <p:cNvSpPr>
              <a:spLocks noChangeArrowheads="1"/>
            </p:cNvSpPr>
            <p:nvPr/>
          </p:nvSpPr>
          <p:spPr bwMode="auto">
            <a:xfrm>
              <a:off x="1628" y="764"/>
              <a:ext cx="2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 dirty="0">
                  <a:solidFill>
                    <a:srgbClr val="000000"/>
                  </a:solidFill>
                  <a:latin typeface="Arial" charset="0"/>
                </a:rPr>
                <a:t> (32 </a:t>
              </a:r>
              <a:endParaRPr lang="ru-RU" dirty="0"/>
            </a:p>
          </p:txBody>
        </p:sp>
        <p:sp>
          <p:nvSpPr>
            <p:cNvPr id="92390" name="Rectangle 230"/>
            <p:cNvSpPr>
              <a:spLocks noChangeArrowheads="1"/>
            </p:cNvSpPr>
            <p:nvPr/>
          </p:nvSpPr>
          <p:spPr bwMode="auto">
            <a:xfrm>
              <a:off x="1816" y="764"/>
              <a:ext cx="224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бит)</a:t>
              </a:r>
              <a:endParaRPr lang="ru-RU"/>
            </a:p>
          </p:txBody>
        </p:sp>
        <p:sp>
          <p:nvSpPr>
            <p:cNvPr id="92391" name="Rectangle 231"/>
            <p:cNvSpPr>
              <a:spLocks noChangeArrowheads="1"/>
            </p:cNvSpPr>
            <p:nvPr/>
          </p:nvSpPr>
          <p:spPr bwMode="auto">
            <a:xfrm>
              <a:off x="2466" y="723"/>
              <a:ext cx="1193" cy="208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392" name="Rectangle 232"/>
            <p:cNvSpPr>
              <a:spLocks noChangeArrowheads="1"/>
            </p:cNvSpPr>
            <p:nvPr/>
          </p:nvSpPr>
          <p:spPr bwMode="auto">
            <a:xfrm>
              <a:off x="2466" y="723"/>
              <a:ext cx="1193" cy="208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393" name="Rectangle 233"/>
            <p:cNvSpPr>
              <a:spLocks noChangeArrowheads="1"/>
            </p:cNvSpPr>
            <p:nvPr/>
          </p:nvSpPr>
          <p:spPr bwMode="auto">
            <a:xfrm>
              <a:off x="2812" y="764"/>
              <a:ext cx="11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ru-RU"/>
            </a:p>
          </p:txBody>
        </p:sp>
        <p:sp>
          <p:nvSpPr>
            <p:cNvPr id="92394" name="Rectangle 234"/>
            <p:cNvSpPr>
              <a:spLocks noChangeArrowheads="1"/>
            </p:cNvSpPr>
            <p:nvPr/>
          </p:nvSpPr>
          <p:spPr bwMode="auto">
            <a:xfrm>
              <a:off x="2880" y="830"/>
              <a:ext cx="11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i-1</a:t>
              </a:r>
              <a:endParaRPr lang="ru-RU"/>
            </a:p>
          </p:txBody>
        </p:sp>
        <p:sp>
          <p:nvSpPr>
            <p:cNvPr id="92395" name="Rectangle 235"/>
            <p:cNvSpPr>
              <a:spLocks noChangeArrowheads="1"/>
            </p:cNvSpPr>
            <p:nvPr/>
          </p:nvSpPr>
          <p:spPr bwMode="auto">
            <a:xfrm>
              <a:off x="2948" y="764"/>
              <a:ext cx="2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 (32 </a:t>
              </a:r>
              <a:endParaRPr lang="ru-RU"/>
            </a:p>
          </p:txBody>
        </p:sp>
        <p:sp>
          <p:nvSpPr>
            <p:cNvPr id="92396" name="Rectangle 236"/>
            <p:cNvSpPr>
              <a:spLocks noChangeArrowheads="1"/>
            </p:cNvSpPr>
            <p:nvPr/>
          </p:nvSpPr>
          <p:spPr bwMode="auto">
            <a:xfrm>
              <a:off x="3136" y="764"/>
              <a:ext cx="224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бит)</a:t>
              </a:r>
              <a:endParaRPr lang="ru-RU"/>
            </a:p>
          </p:txBody>
        </p:sp>
        <p:sp>
          <p:nvSpPr>
            <p:cNvPr id="92397" name="Rectangle 237"/>
            <p:cNvSpPr>
              <a:spLocks noChangeArrowheads="1"/>
            </p:cNvSpPr>
            <p:nvPr/>
          </p:nvSpPr>
          <p:spPr bwMode="auto">
            <a:xfrm>
              <a:off x="2705" y="1104"/>
              <a:ext cx="716" cy="1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398" name="Rectangle 238"/>
            <p:cNvSpPr>
              <a:spLocks noChangeArrowheads="1"/>
            </p:cNvSpPr>
            <p:nvPr/>
          </p:nvSpPr>
          <p:spPr bwMode="auto">
            <a:xfrm>
              <a:off x="2705" y="1104"/>
              <a:ext cx="716" cy="174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399" name="Rectangle 239"/>
            <p:cNvSpPr>
              <a:spLocks noChangeArrowheads="1"/>
            </p:cNvSpPr>
            <p:nvPr/>
          </p:nvSpPr>
          <p:spPr bwMode="auto">
            <a:xfrm>
              <a:off x="2839" y="1098"/>
              <a:ext cx="51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000" dirty="0" err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кенгайтирувчи</a:t>
              </a:r>
              <a:endParaRPr lang="ru-RU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400" name="Rectangle 240"/>
            <p:cNvSpPr>
              <a:spLocks noChangeArrowheads="1"/>
            </p:cNvSpPr>
            <p:nvPr/>
          </p:nvSpPr>
          <p:spPr bwMode="auto">
            <a:xfrm>
              <a:off x="2859" y="1175"/>
              <a:ext cx="44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000" dirty="0" err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алмаштириш</a:t>
              </a:r>
              <a:endParaRPr lang="ru-RU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401" name="Freeform 241"/>
            <p:cNvSpPr>
              <a:spLocks/>
            </p:cNvSpPr>
            <p:nvPr/>
          </p:nvSpPr>
          <p:spPr bwMode="auto">
            <a:xfrm>
              <a:off x="3018" y="1364"/>
              <a:ext cx="90" cy="104"/>
            </a:xfrm>
            <a:custGeom>
              <a:avLst/>
              <a:gdLst>
                <a:gd name="T0" fmla="*/ 0 w 274"/>
                <a:gd name="T1" fmla="*/ 137 h 274"/>
                <a:gd name="T2" fmla="*/ 137 w 274"/>
                <a:gd name="T3" fmla="*/ 0 h 274"/>
                <a:gd name="T4" fmla="*/ 274 w 274"/>
                <a:gd name="T5" fmla="*/ 137 h 274"/>
                <a:gd name="T6" fmla="*/ 274 w 274"/>
                <a:gd name="T7" fmla="*/ 137 h 274"/>
                <a:gd name="T8" fmla="*/ 137 w 274"/>
                <a:gd name="T9" fmla="*/ 274 h 274"/>
                <a:gd name="T10" fmla="*/ 0 w 274"/>
                <a:gd name="T11" fmla="*/ 137 h 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74">
                  <a:moveTo>
                    <a:pt x="0" y="137"/>
                  </a:moveTo>
                  <a:cubicBezTo>
                    <a:pt x="0" y="62"/>
                    <a:pt x="61" y="0"/>
                    <a:pt x="137" y="0"/>
                  </a:cubicBezTo>
                  <a:cubicBezTo>
                    <a:pt x="212" y="0"/>
                    <a:pt x="274" y="62"/>
                    <a:pt x="274" y="137"/>
                  </a:cubicBezTo>
                  <a:cubicBezTo>
                    <a:pt x="274" y="137"/>
                    <a:pt x="274" y="137"/>
                    <a:pt x="274" y="137"/>
                  </a:cubicBezTo>
                  <a:cubicBezTo>
                    <a:pt x="274" y="213"/>
                    <a:pt x="212" y="274"/>
                    <a:pt x="137" y="274"/>
                  </a:cubicBezTo>
                  <a:cubicBezTo>
                    <a:pt x="61" y="274"/>
                    <a:pt x="0" y="213"/>
                    <a:pt x="0" y="137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02" name="Freeform 242"/>
            <p:cNvSpPr>
              <a:spLocks/>
            </p:cNvSpPr>
            <p:nvPr/>
          </p:nvSpPr>
          <p:spPr bwMode="auto">
            <a:xfrm>
              <a:off x="3018" y="1364"/>
              <a:ext cx="90" cy="104"/>
            </a:xfrm>
            <a:custGeom>
              <a:avLst/>
              <a:gdLst>
                <a:gd name="T0" fmla="*/ 0 w 90"/>
                <a:gd name="T1" fmla="*/ 52 h 104"/>
                <a:gd name="T2" fmla="*/ 45 w 90"/>
                <a:gd name="T3" fmla="*/ 0 h 104"/>
                <a:gd name="T4" fmla="*/ 90 w 90"/>
                <a:gd name="T5" fmla="*/ 52 h 104"/>
                <a:gd name="T6" fmla="*/ 90 w 90"/>
                <a:gd name="T7" fmla="*/ 52 h 104"/>
                <a:gd name="T8" fmla="*/ 45 w 90"/>
                <a:gd name="T9" fmla="*/ 104 h 104"/>
                <a:gd name="T10" fmla="*/ 0 w 90"/>
                <a:gd name="T1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" h="104">
                  <a:moveTo>
                    <a:pt x="0" y="52"/>
                  </a:moveTo>
                  <a:cubicBezTo>
                    <a:pt x="0" y="24"/>
                    <a:pt x="20" y="0"/>
                    <a:pt x="45" y="0"/>
                  </a:cubicBezTo>
                  <a:cubicBezTo>
                    <a:pt x="69" y="0"/>
                    <a:pt x="90" y="24"/>
                    <a:pt x="9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81"/>
                    <a:pt x="69" y="104"/>
                    <a:pt x="45" y="104"/>
                  </a:cubicBezTo>
                  <a:cubicBezTo>
                    <a:pt x="20" y="104"/>
                    <a:pt x="0" y="81"/>
                    <a:pt x="0" y="52"/>
                  </a:cubicBez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03" name="Rectangle 243"/>
            <p:cNvSpPr>
              <a:spLocks noChangeArrowheads="1"/>
            </p:cNvSpPr>
            <p:nvPr/>
          </p:nvSpPr>
          <p:spPr bwMode="auto">
            <a:xfrm>
              <a:off x="2138" y="1677"/>
              <a:ext cx="179" cy="17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04" name="Rectangle 244"/>
            <p:cNvSpPr>
              <a:spLocks noChangeArrowheads="1"/>
            </p:cNvSpPr>
            <p:nvPr/>
          </p:nvSpPr>
          <p:spPr bwMode="auto">
            <a:xfrm>
              <a:off x="2138" y="1677"/>
              <a:ext cx="179" cy="173"/>
            </a:xfrm>
            <a:prstGeom prst="rect">
              <a:avLst/>
            </a:prstGeom>
            <a:solidFill>
              <a:srgbClr val="C0C0C0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05" name="Rectangle 245"/>
            <p:cNvSpPr>
              <a:spLocks noChangeArrowheads="1"/>
            </p:cNvSpPr>
            <p:nvPr/>
          </p:nvSpPr>
          <p:spPr bwMode="auto">
            <a:xfrm>
              <a:off x="2186" y="1711"/>
              <a:ext cx="9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1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ru-RU"/>
            </a:p>
          </p:txBody>
        </p:sp>
        <p:sp>
          <p:nvSpPr>
            <p:cNvPr id="92406" name="Rectangle 246"/>
            <p:cNvSpPr>
              <a:spLocks noChangeArrowheads="1"/>
            </p:cNvSpPr>
            <p:nvPr/>
          </p:nvSpPr>
          <p:spPr bwMode="auto">
            <a:xfrm>
              <a:off x="2239" y="1765"/>
              <a:ext cx="57" cy="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800">
                  <a:solidFill>
                    <a:srgbClr val="000000"/>
                  </a:solidFill>
                  <a:latin typeface="Arial" charset="0"/>
                </a:rPr>
                <a:t>1</a:t>
              </a:r>
              <a:endParaRPr lang="ru-RU"/>
            </a:p>
          </p:txBody>
        </p:sp>
        <p:sp>
          <p:nvSpPr>
            <p:cNvPr id="92407" name="Line 247"/>
            <p:cNvSpPr>
              <a:spLocks noChangeShapeType="1"/>
            </p:cNvSpPr>
            <p:nvPr/>
          </p:nvSpPr>
          <p:spPr bwMode="auto">
            <a:xfrm>
              <a:off x="2302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08" name="Line 248"/>
            <p:cNvSpPr>
              <a:spLocks noChangeShapeType="1"/>
            </p:cNvSpPr>
            <p:nvPr/>
          </p:nvSpPr>
          <p:spPr bwMode="auto">
            <a:xfrm>
              <a:off x="2153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09" name="Line 249"/>
            <p:cNvSpPr>
              <a:spLocks noChangeShapeType="1"/>
            </p:cNvSpPr>
            <p:nvPr/>
          </p:nvSpPr>
          <p:spPr bwMode="auto">
            <a:xfrm>
              <a:off x="2183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10" name="Line 250"/>
            <p:cNvSpPr>
              <a:spLocks noChangeShapeType="1"/>
            </p:cNvSpPr>
            <p:nvPr/>
          </p:nvSpPr>
          <p:spPr bwMode="auto">
            <a:xfrm>
              <a:off x="2273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11" name="Line 251"/>
            <p:cNvSpPr>
              <a:spLocks noChangeShapeType="1"/>
            </p:cNvSpPr>
            <p:nvPr/>
          </p:nvSpPr>
          <p:spPr bwMode="auto">
            <a:xfrm>
              <a:off x="2213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12" name="Line 252"/>
            <p:cNvSpPr>
              <a:spLocks noChangeShapeType="1"/>
            </p:cNvSpPr>
            <p:nvPr/>
          </p:nvSpPr>
          <p:spPr bwMode="auto">
            <a:xfrm>
              <a:off x="2243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13" name="Line 253"/>
            <p:cNvSpPr>
              <a:spLocks noChangeShapeType="1"/>
            </p:cNvSpPr>
            <p:nvPr/>
          </p:nvSpPr>
          <p:spPr bwMode="auto">
            <a:xfrm>
              <a:off x="2183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14" name="Line 254"/>
            <p:cNvSpPr>
              <a:spLocks noChangeShapeType="1"/>
            </p:cNvSpPr>
            <p:nvPr/>
          </p:nvSpPr>
          <p:spPr bwMode="auto">
            <a:xfrm>
              <a:off x="2213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15" name="Line 255"/>
            <p:cNvSpPr>
              <a:spLocks noChangeShapeType="1"/>
            </p:cNvSpPr>
            <p:nvPr/>
          </p:nvSpPr>
          <p:spPr bwMode="auto">
            <a:xfrm>
              <a:off x="2243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16" name="Line 256"/>
            <p:cNvSpPr>
              <a:spLocks noChangeShapeType="1"/>
            </p:cNvSpPr>
            <p:nvPr/>
          </p:nvSpPr>
          <p:spPr bwMode="auto">
            <a:xfrm>
              <a:off x="2273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17" name="Rectangle 257"/>
            <p:cNvSpPr>
              <a:spLocks noChangeArrowheads="1"/>
            </p:cNvSpPr>
            <p:nvPr/>
          </p:nvSpPr>
          <p:spPr bwMode="auto">
            <a:xfrm>
              <a:off x="2377" y="1677"/>
              <a:ext cx="179" cy="17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18" name="Rectangle 258"/>
            <p:cNvSpPr>
              <a:spLocks noChangeArrowheads="1"/>
            </p:cNvSpPr>
            <p:nvPr/>
          </p:nvSpPr>
          <p:spPr bwMode="auto">
            <a:xfrm>
              <a:off x="2377" y="1677"/>
              <a:ext cx="179" cy="173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19" name="Rectangle 259"/>
            <p:cNvSpPr>
              <a:spLocks noChangeArrowheads="1"/>
            </p:cNvSpPr>
            <p:nvPr/>
          </p:nvSpPr>
          <p:spPr bwMode="auto">
            <a:xfrm>
              <a:off x="2426" y="1711"/>
              <a:ext cx="9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1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ru-RU"/>
            </a:p>
          </p:txBody>
        </p:sp>
        <p:sp>
          <p:nvSpPr>
            <p:cNvPr id="92420" name="Rectangle 260"/>
            <p:cNvSpPr>
              <a:spLocks noChangeArrowheads="1"/>
            </p:cNvSpPr>
            <p:nvPr/>
          </p:nvSpPr>
          <p:spPr bwMode="auto">
            <a:xfrm>
              <a:off x="2479" y="1765"/>
              <a:ext cx="57" cy="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800">
                  <a:solidFill>
                    <a:srgbClr val="000000"/>
                  </a:solidFill>
                  <a:latin typeface="Arial" charset="0"/>
                </a:rPr>
                <a:t>2</a:t>
              </a:r>
              <a:endParaRPr lang="ru-RU"/>
            </a:p>
          </p:txBody>
        </p:sp>
        <p:sp>
          <p:nvSpPr>
            <p:cNvPr id="92421" name="Line 261"/>
            <p:cNvSpPr>
              <a:spLocks noChangeShapeType="1"/>
            </p:cNvSpPr>
            <p:nvPr/>
          </p:nvSpPr>
          <p:spPr bwMode="auto">
            <a:xfrm>
              <a:off x="2541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22" name="Line 262"/>
            <p:cNvSpPr>
              <a:spLocks noChangeShapeType="1"/>
            </p:cNvSpPr>
            <p:nvPr/>
          </p:nvSpPr>
          <p:spPr bwMode="auto">
            <a:xfrm>
              <a:off x="2392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23" name="Line 263"/>
            <p:cNvSpPr>
              <a:spLocks noChangeShapeType="1"/>
            </p:cNvSpPr>
            <p:nvPr/>
          </p:nvSpPr>
          <p:spPr bwMode="auto">
            <a:xfrm>
              <a:off x="2422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24" name="Line 264"/>
            <p:cNvSpPr>
              <a:spLocks noChangeShapeType="1"/>
            </p:cNvSpPr>
            <p:nvPr/>
          </p:nvSpPr>
          <p:spPr bwMode="auto">
            <a:xfrm>
              <a:off x="2511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25" name="Line 265"/>
            <p:cNvSpPr>
              <a:spLocks noChangeShapeType="1"/>
            </p:cNvSpPr>
            <p:nvPr/>
          </p:nvSpPr>
          <p:spPr bwMode="auto">
            <a:xfrm>
              <a:off x="2451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26" name="Line 266"/>
            <p:cNvSpPr>
              <a:spLocks noChangeShapeType="1"/>
            </p:cNvSpPr>
            <p:nvPr/>
          </p:nvSpPr>
          <p:spPr bwMode="auto">
            <a:xfrm>
              <a:off x="2481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27" name="Line 267"/>
            <p:cNvSpPr>
              <a:spLocks noChangeShapeType="1"/>
            </p:cNvSpPr>
            <p:nvPr/>
          </p:nvSpPr>
          <p:spPr bwMode="auto">
            <a:xfrm>
              <a:off x="2422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28" name="Line 268"/>
            <p:cNvSpPr>
              <a:spLocks noChangeShapeType="1"/>
            </p:cNvSpPr>
            <p:nvPr/>
          </p:nvSpPr>
          <p:spPr bwMode="auto">
            <a:xfrm>
              <a:off x="2451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29" name="Line 269"/>
            <p:cNvSpPr>
              <a:spLocks noChangeShapeType="1"/>
            </p:cNvSpPr>
            <p:nvPr/>
          </p:nvSpPr>
          <p:spPr bwMode="auto">
            <a:xfrm>
              <a:off x="2481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30" name="Line 270"/>
            <p:cNvSpPr>
              <a:spLocks noChangeShapeType="1"/>
            </p:cNvSpPr>
            <p:nvPr/>
          </p:nvSpPr>
          <p:spPr bwMode="auto">
            <a:xfrm>
              <a:off x="2511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31" name="Rectangle 271"/>
            <p:cNvSpPr>
              <a:spLocks noChangeArrowheads="1"/>
            </p:cNvSpPr>
            <p:nvPr/>
          </p:nvSpPr>
          <p:spPr bwMode="auto">
            <a:xfrm>
              <a:off x="2616" y="1677"/>
              <a:ext cx="179" cy="17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32" name="Rectangle 272"/>
            <p:cNvSpPr>
              <a:spLocks noChangeArrowheads="1"/>
            </p:cNvSpPr>
            <p:nvPr/>
          </p:nvSpPr>
          <p:spPr bwMode="auto">
            <a:xfrm>
              <a:off x="2616" y="1677"/>
              <a:ext cx="179" cy="173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33" name="Rectangle 273"/>
            <p:cNvSpPr>
              <a:spLocks noChangeArrowheads="1"/>
            </p:cNvSpPr>
            <p:nvPr/>
          </p:nvSpPr>
          <p:spPr bwMode="auto">
            <a:xfrm>
              <a:off x="2661" y="1711"/>
              <a:ext cx="9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1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ru-RU"/>
            </a:p>
          </p:txBody>
        </p:sp>
        <p:sp>
          <p:nvSpPr>
            <p:cNvPr id="92434" name="Rectangle 274"/>
            <p:cNvSpPr>
              <a:spLocks noChangeArrowheads="1"/>
            </p:cNvSpPr>
            <p:nvPr/>
          </p:nvSpPr>
          <p:spPr bwMode="auto">
            <a:xfrm>
              <a:off x="2719" y="1765"/>
              <a:ext cx="57" cy="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800">
                  <a:solidFill>
                    <a:srgbClr val="000000"/>
                  </a:solidFill>
                  <a:latin typeface="Arial" charset="0"/>
                </a:rPr>
                <a:t>3</a:t>
              </a:r>
              <a:endParaRPr lang="ru-RU"/>
            </a:p>
          </p:txBody>
        </p:sp>
        <p:sp>
          <p:nvSpPr>
            <p:cNvPr id="92435" name="Line 275"/>
            <p:cNvSpPr>
              <a:spLocks noChangeShapeType="1"/>
            </p:cNvSpPr>
            <p:nvPr/>
          </p:nvSpPr>
          <p:spPr bwMode="auto">
            <a:xfrm>
              <a:off x="2780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36" name="Line 276"/>
            <p:cNvSpPr>
              <a:spLocks noChangeShapeType="1"/>
            </p:cNvSpPr>
            <p:nvPr/>
          </p:nvSpPr>
          <p:spPr bwMode="auto">
            <a:xfrm>
              <a:off x="2631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37" name="Line 277"/>
            <p:cNvSpPr>
              <a:spLocks noChangeShapeType="1"/>
            </p:cNvSpPr>
            <p:nvPr/>
          </p:nvSpPr>
          <p:spPr bwMode="auto">
            <a:xfrm>
              <a:off x="2660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38" name="Line 278"/>
            <p:cNvSpPr>
              <a:spLocks noChangeShapeType="1"/>
            </p:cNvSpPr>
            <p:nvPr/>
          </p:nvSpPr>
          <p:spPr bwMode="auto">
            <a:xfrm>
              <a:off x="2750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39" name="Line 279"/>
            <p:cNvSpPr>
              <a:spLocks noChangeShapeType="1"/>
            </p:cNvSpPr>
            <p:nvPr/>
          </p:nvSpPr>
          <p:spPr bwMode="auto">
            <a:xfrm>
              <a:off x="2690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40" name="Line 280"/>
            <p:cNvSpPr>
              <a:spLocks noChangeShapeType="1"/>
            </p:cNvSpPr>
            <p:nvPr/>
          </p:nvSpPr>
          <p:spPr bwMode="auto">
            <a:xfrm>
              <a:off x="2720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41" name="Line 281"/>
            <p:cNvSpPr>
              <a:spLocks noChangeShapeType="1"/>
            </p:cNvSpPr>
            <p:nvPr/>
          </p:nvSpPr>
          <p:spPr bwMode="auto">
            <a:xfrm>
              <a:off x="2660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42" name="Line 282"/>
            <p:cNvSpPr>
              <a:spLocks noChangeShapeType="1"/>
            </p:cNvSpPr>
            <p:nvPr/>
          </p:nvSpPr>
          <p:spPr bwMode="auto">
            <a:xfrm>
              <a:off x="2690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43" name="Line 283"/>
            <p:cNvSpPr>
              <a:spLocks noChangeShapeType="1"/>
            </p:cNvSpPr>
            <p:nvPr/>
          </p:nvSpPr>
          <p:spPr bwMode="auto">
            <a:xfrm>
              <a:off x="2720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44" name="Line 284"/>
            <p:cNvSpPr>
              <a:spLocks noChangeShapeType="1"/>
            </p:cNvSpPr>
            <p:nvPr/>
          </p:nvSpPr>
          <p:spPr bwMode="auto">
            <a:xfrm>
              <a:off x="2750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45" name="Rectangle 285"/>
            <p:cNvSpPr>
              <a:spLocks noChangeArrowheads="1"/>
            </p:cNvSpPr>
            <p:nvPr/>
          </p:nvSpPr>
          <p:spPr bwMode="auto">
            <a:xfrm>
              <a:off x="2854" y="1677"/>
              <a:ext cx="179" cy="17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46" name="Rectangle 286"/>
            <p:cNvSpPr>
              <a:spLocks noChangeArrowheads="1"/>
            </p:cNvSpPr>
            <p:nvPr/>
          </p:nvSpPr>
          <p:spPr bwMode="auto">
            <a:xfrm>
              <a:off x="2854" y="1677"/>
              <a:ext cx="179" cy="173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47" name="Rectangle 287"/>
            <p:cNvSpPr>
              <a:spLocks noChangeArrowheads="1"/>
            </p:cNvSpPr>
            <p:nvPr/>
          </p:nvSpPr>
          <p:spPr bwMode="auto">
            <a:xfrm>
              <a:off x="2901" y="1711"/>
              <a:ext cx="9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1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ru-RU"/>
            </a:p>
          </p:txBody>
        </p:sp>
        <p:sp>
          <p:nvSpPr>
            <p:cNvPr id="92448" name="Rectangle 288"/>
            <p:cNvSpPr>
              <a:spLocks noChangeArrowheads="1"/>
            </p:cNvSpPr>
            <p:nvPr/>
          </p:nvSpPr>
          <p:spPr bwMode="auto">
            <a:xfrm>
              <a:off x="2953" y="1765"/>
              <a:ext cx="57" cy="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8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ru-RU"/>
            </a:p>
          </p:txBody>
        </p:sp>
        <p:sp>
          <p:nvSpPr>
            <p:cNvPr id="92449" name="Line 289"/>
            <p:cNvSpPr>
              <a:spLocks noChangeShapeType="1"/>
            </p:cNvSpPr>
            <p:nvPr/>
          </p:nvSpPr>
          <p:spPr bwMode="auto">
            <a:xfrm>
              <a:off x="3018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50" name="Line 290"/>
            <p:cNvSpPr>
              <a:spLocks noChangeShapeType="1"/>
            </p:cNvSpPr>
            <p:nvPr/>
          </p:nvSpPr>
          <p:spPr bwMode="auto">
            <a:xfrm>
              <a:off x="2869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51" name="Line 291"/>
            <p:cNvSpPr>
              <a:spLocks noChangeShapeType="1"/>
            </p:cNvSpPr>
            <p:nvPr/>
          </p:nvSpPr>
          <p:spPr bwMode="auto">
            <a:xfrm>
              <a:off x="2899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52" name="Line 292"/>
            <p:cNvSpPr>
              <a:spLocks noChangeShapeType="1"/>
            </p:cNvSpPr>
            <p:nvPr/>
          </p:nvSpPr>
          <p:spPr bwMode="auto">
            <a:xfrm>
              <a:off x="2988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53" name="Line 293"/>
            <p:cNvSpPr>
              <a:spLocks noChangeShapeType="1"/>
            </p:cNvSpPr>
            <p:nvPr/>
          </p:nvSpPr>
          <p:spPr bwMode="auto">
            <a:xfrm>
              <a:off x="2929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54" name="Line 294"/>
            <p:cNvSpPr>
              <a:spLocks noChangeShapeType="1"/>
            </p:cNvSpPr>
            <p:nvPr/>
          </p:nvSpPr>
          <p:spPr bwMode="auto">
            <a:xfrm>
              <a:off x="2959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55" name="Line 295"/>
            <p:cNvSpPr>
              <a:spLocks noChangeShapeType="1"/>
            </p:cNvSpPr>
            <p:nvPr/>
          </p:nvSpPr>
          <p:spPr bwMode="auto">
            <a:xfrm>
              <a:off x="2899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56" name="Line 296"/>
            <p:cNvSpPr>
              <a:spLocks noChangeShapeType="1"/>
            </p:cNvSpPr>
            <p:nvPr/>
          </p:nvSpPr>
          <p:spPr bwMode="auto">
            <a:xfrm>
              <a:off x="2929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57" name="Line 297"/>
            <p:cNvSpPr>
              <a:spLocks noChangeShapeType="1"/>
            </p:cNvSpPr>
            <p:nvPr/>
          </p:nvSpPr>
          <p:spPr bwMode="auto">
            <a:xfrm>
              <a:off x="2959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58" name="Line 298"/>
            <p:cNvSpPr>
              <a:spLocks noChangeShapeType="1"/>
            </p:cNvSpPr>
            <p:nvPr/>
          </p:nvSpPr>
          <p:spPr bwMode="auto">
            <a:xfrm>
              <a:off x="2988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59" name="Rectangle 299"/>
            <p:cNvSpPr>
              <a:spLocks noChangeArrowheads="1"/>
            </p:cNvSpPr>
            <p:nvPr/>
          </p:nvSpPr>
          <p:spPr bwMode="auto">
            <a:xfrm>
              <a:off x="3093" y="1677"/>
              <a:ext cx="179" cy="17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60" name="Rectangle 300"/>
            <p:cNvSpPr>
              <a:spLocks noChangeArrowheads="1"/>
            </p:cNvSpPr>
            <p:nvPr/>
          </p:nvSpPr>
          <p:spPr bwMode="auto">
            <a:xfrm>
              <a:off x="3093" y="1677"/>
              <a:ext cx="179" cy="173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61" name="Rectangle 301"/>
            <p:cNvSpPr>
              <a:spLocks noChangeArrowheads="1"/>
            </p:cNvSpPr>
            <p:nvPr/>
          </p:nvSpPr>
          <p:spPr bwMode="auto">
            <a:xfrm>
              <a:off x="3141" y="1711"/>
              <a:ext cx="9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1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ru-RU"/>
            </a:p>
          </p:txBody>
        </p:sp>
        <p:sp>
          <p:nvSpPr>
            <p:cNvPr id="92462" name="Rectangle 302"/>
            <p:cNvSpPr>
              <a:spLocks noChangeArrowheads="1"/>
            </p:cNvSpPr>
            <p:nvPr/>
          </p:nvSpPr>
          <p:spPr bwMode="auto">
            <a:xfrm>
              <a:off x="3193" y="1765"/>
              <a:ext cx="57" cy="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800">
                  <a:solidFill>
                    <a:srgbClr val="000000"/>
                  </a:solidFill>
                  <a:latin typeface="Arial" charset="0"/>
                </a:rPr>
                <a:t>5</a:t>
              </a:r>
              <a:endParaRPr lang="ru-RU"/>
            </a:p>
          </p:txBody>
        </p:sp>
        <p:sp>
          <p:nvSpPr>
            <p:cNvPr id="92463" name="Line 303"/>
            <p:cNvSpPr>
              <a:spLocks noChangeShapeType="1"/>
            </p:cNvSpPr>
            <p:nvPr/>
          </p:nvSpPr>
          <p:spPr bwMode="auto">
            <a:xfrm>
              <a:off x="3257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64" name="Line 304"/>
            <p:cNvSpPr>
              <a:spLocks noChangeShapeType="1"/>
            </p:cNvSpPr>
            <p:nvPr/>
          </p:nvSpPr>
          <p:spPr bwMode="auto">
            <a:xfrm>
              <a:off x="3108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65" name="Line 305"/>
            <p:cNvSpPr>
              <a:spLocks noChangeShapeType="1"/>
            </p:cNvSpPr>
            <p:nvPr/>
          </p:nvSpPr>
          <p:spPr bwMode="auto">
            <a:xfrm>
              <a:off x="3137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66" name="Line 306"/>
            <p:cNvSpPr>
              <a:spLocks noChangeShapeType="1"/>
            </p:cNvSpPr>
            <p:nvPr/>
          </p:nvSpPr>
          <p:spPr bwMode="auto">
            <a:xfrm>
              <a:off x="3227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67" name="Line 307"/>
            <p:cNvSpPr>
              <a:spLocks noChangeShapeType="1"/>
            </p:cNvSpPr>
            <p:nvPr/>
          </p:nvSpPr>
          <p:spPr bwMode="auto">
            <a:xfrm>
              <a:off x="3167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68" name="Line 308"/>
            <p:cNvSpPr>
              <a:spLocks noChangeShapeType="1"/>
            </p:cNvSpPr>
            <p:nvPr/>
          </p:nvSpPr>
          <p:spPr bwMode="auto">
            <a:xfrm>
              <a:off x="3197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69" name="Line 309"/>
            <p:cNvSpPr>
              <a:spLocks noChangeShapeType="1"/>
            </p:cNvSpPr>
            <p:nvPr/>
          </p:nvSpPr>
          <p:spPr bwMode="auto">
            <a:xfrm>
              <a:off x="3137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70" name="Line 310"/>
            <p:cNvSpPr>
              <a:spLocks noChangeShapeType="1"/>
            </p:cNvSpPr>
            <p:nvPr/>
          </p:nvSpPr>
          <p:spPr bwMode="auto">
            <a:xfrm>
              <a:off x="3167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71" name="Line 311"/>
            <p:cNvSpPr>
              <a:spLocks noChangeShapeType="1"/>
            </p:cNvSpPr>
            <p:nvPr/>
          </p:nvSpPr>
          <p:spPr bwMode="auto">
            <a:xfrm>
              <a:off x="3197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72" name="Line 312"/>
            <p:cNvSpPr>
              <a:spLocks noChangeShapeType="1"/>
            </p:cNvSpPr>
            <p:nvPr/>
          </p:nvSpPr>
          <p:spPr bwMode="auto">
            <a:xfrm>
              <a:off x="3227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73" name="Rectangle 313"/>
            <p:cNvSpPr>
              <a:spLocks noChangeArrowheads="1"/>
            </p:cNvSpPr>
            <p:nvPr/>
          </p:nvSpPr>
          <p:spPr bwMode="auto">
            <a:xfrm>
              <a:off x="3331" y="1677"/>
              <a:ext cx="179" cy="17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74" name="Rectangle 314"/>
            <p:cNvSpPr>
              <a:spLocks noChangeArrowheads="1"/>
            </p:cNvSpPr>
            <p:nvPr/>
          </p:nvSpPr>
          <p:spPr bwMode="auto">
            <a:xfrm>
              <a:off x="3331" y="1677"/>
              <a:ext cx="179" cy="173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75" name="Rectangle 315"/>
            <p:cNvSpPr>
              <a:spLocks noChangeArrowheads="1"/>
            </p:cNvSpPr>
            <p:nvPr/>
          </p:nvSpPr>
          <p:spPr bwMode="auto">
            <a:xfrm>
              <a:off x="3381" y="1711"/>
              <a:ext cx="9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1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ru-RU"/>
            </a:p>
          </p:txBody>
        </p:sp>
        <p:sp>
          <p:nvSpPr>
            <p:cNvPr id="92476" name="Rectangle 316"/>
            <p:cNvSpPr>
              <a:spLocks noChangeArrowheads="1"/>
            </p:cNvSpPr>
            <p:nvPr/>
          </p:nvSpPr>
          <p:spPr bwMode="auto">
            <a:xfrm>
              <a:off x="3433" y="1765"/>
              <a:ext cx="57" cy="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800">
                  <a:solidFill>
                    <a:srgbClr val="000000"/>
                  </a:solidFill>
                  <a:latin typeface="Arial" charset="0"/>
                </a:rPr>
                <a:t>6</a:t>
              </a:r>
              <a:endParaRPr lang="ru-RU"/>
            </a:p>
          </p:txBody>
        </p:sp>
        <p:sp>
          <p:nvSpPr>
            <p:cNvPr id="92477" name="Line 317"/>
            <p:cNvSpPr>
              <a:spLocks noChangeShapeType="1"/>
            </p:cNvSpPr>
            <p:nvPr/>
          </p:nvSpPr>
          <p:spPr bwMode="auto">
            <a:xfrm>
              <a:off x="3495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78" name="Line 318"/>
            <p:cNvSpPr>
              <a:spLocks noChangeShapeType="1"/>
            </p:cNvSpPr>
            <p:nvPr/>
          </p:nvSpPr>
          <p:spPr bwMode="auto">
            <a:xfrm>
              <a:off x="3346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79" name="Line 319"/>
            <p:cNvSpPr>
              <a:spLocks noChangeShapeType="1"/>
            </p:cNvSpPr>
            <p:nvPr/>
          </p:nvSpPr>
          <p:spPr bwMode="auto">
            <a:xfrm>
              <a:off x="3376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80" name="Line 320"/>
            <p:cNvSpPr>
              <a:spLocks noChangeShapeType="1"/>
            </p:cNvSpPr>
            <p:nvPr/>
          </p:nvSpPr>
          <p:spPr bwMode="auto">
            <a:xfrm>
              <a:off x="3465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81" name="Line 321"/>
            <p:cNvSpPr>
              <a:spLocks noChangeShapeType="1"/>
            </p:cNvSpPr>
            <p:nvPr/>
          </p:nvSpPr>
          <p:spPr bwMode="auto">
            <a:xfrm>
              <a:off x="3406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82" name="Line 322"/>
            <p:cNvSpPr>
              <a:spLocks noChangeShapeType="1"/>
            </p:cNvSpPr>
            <p:nvPr/>
          </p:nvSpPr>
          <p:spPr bwMode="auto">
            <a:xfrm>
              <a:off x="3436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83" name="Line 323"/>
            <p:cNvSpPr>
              <a:spLocks noChangeShapeType="1"/>
            </p:cNvSpPr>
            <p:nvPr/>
          </p:nvSpPr>
          <p:spPr bwMode="auto">
            <a:xfrm>
              <a:off x="3376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84" name="Line 324"/>
            <p:cNvSpPr>
              <a:spLocks noChangeShapeType="1"/>
            </p:cNvSpPr>
            <p:nvPr/>
          </p:nvSpPr>
          <p:spPr bwMode="auto">
            <a:xfrm>
              <a:off x="3406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85" name="Line 325"/>
            <p:cNvSpPr>
              <a:spLocks noChangeShapeType="1"/>
            </p:cNvSpPr>
            <p:nvPr/>
          </p:nvSpPr>
          <p:spPr bwMode="auto">
            <a:xfrm>
              <a:off x="3436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86" name="Line 326"/>
            <p:cNvSpPr>
              <a:spLocks noChangeShapeType="1"/>
            </p:cNvSpPr>
            <p:nvPr/>
          </p:nvSpPr>
          <p:spPr bwMode="auto">
            <a:xfrm>
              <a:off x="3465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87" name="Rectangle 327"/>
            <p:cNvSpPr>
              <a:spLocks noChangeArrowheads="1"/>
            </p:cNvSpPr>
            <p:nvPr/>
          </p:nvSpPr>
          <p:spPr bwMode="auto">
            <a:xfrm>
              <a:off x="3570" y="1677"/>
              <a:ext cx="179" cy="17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88" name="Rectangle 328"/>
            <p:cNvSpPr>
              <a:spLocks noChangeArrowheads="1"/>
            </p:cNvSpPr>
            <p:nvPr/>
          </p:nvSpPr>
          <p:spPr bwMode="auto">
            <a:xfrm>
              <a:off x="3570" y="1677"/>
              <a:ext cx="179" cy="173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89" name="Rectangle 329"/>
            <p:cNvSpPr>
              <a:spLocks noChangeArrowheads="1"/>
            </p:cNvSpPr>
            <p:nvPr/>
          </p:nvSpPr>
          <p:spPr bwMode="auto">
            <a:xfrm>
              <a:off x="3616" y="1711"/>
              <a:ext cx="9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1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ru-RU"/>
            </a:p>
          </p:txBody>
        </p:sp>
        <p:sp>
          <p:nvSpPr>
            <p:cNvPr id="92490" name="Rectangle 330"/>
            <p:cNvSpPr>
              <a:spLocks noChangeArrowheads="1"/>
            </p:cNvSpPr>
            <p:nvPr/>
          </p:nvSpPr>
          <p:spPr bwMode="auto">
            <a:xfrm>
              <a:off x="3673" y="1765"/>
              <a:ext cx="57" cy="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800">
                  <a:solidFill>
                    <a:srgbClr val="000000"/>
                  </a:solidFill>
                  <a:latin typeface="Arial" charset="0"/>
                </a:rPr>
                <a:t>7</a:t>
              </a:r>
              <a:endParaRPr lang="ru-RU"/>
            </a:p>
          </p:txBody>
        </p:sp>
        <p:sp>
          <p:nvSpPr>
            <p:cNvPr id="92491" name="Line 331"/>
            <p:cNvSpPr>
              <a:spLocks noChangeShapeType="1"/>
            </p:cNvSpPr>
            <p:nvPr/>
          </p:nvSpPr>
          <p:spPr bwMode="auto">
            <a:xfrm>
              <a:off x="3734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92" name="Line 332"/>
            <p:cNvSpPr>
              <a:spLocks noChangeShapeType="1"/>
            </p:cNvSpPr>
            <p:nvPr/>
          </p:nvSpPr>
          <p:spPr bwMode="auto">
            <a:xfrm>
              <a:off x="3585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93" name="Line 333"/>
            <p:cNvSpPr>
              <a:spLocks noChangeShapeType="1"/>
            </p:cNvSpPr>
            <p:nvPr/>
          </p:nvSpPr>
          <p:spPr bwMode="auto">
            <a:xfrm>
              <a:off x="3614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94" name="Line 334"/>
            <p:cNvSpPr>
              <a:spLocks noChangeShapeType="1"/>
            </p:cNvSpPr>
            <p:nvPr/>
          </p:nvSpPr>
          <p:spPr bwMode="auto">
            <a:xfrm>
              <a:off x="3704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95" name="Line 335"/>
            <p:cNvSpPr>
              <a:spLocks noChangeShapeType="1"/>
            </p:cNvSpPr>
            <p:nvPr/>
          </p:nvSpPr>
          <p:spPr bwMode="auto">
            <a:xfrm>
              <a:off x="3644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96" name="Line 336"/>
            <p:cNvSpPr>
              <a:spLocks noChangeShapeType="1"/>
            </p:cNvSpPr>
            <p:nvPr/>
          </p:nvSpPr>
          <p:spPr bwMode="auto">
            <a:xfrm>
              <a:off x="3674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97" name="Line 337"/>
            <p:cNvSpPr>
              <a:spLocks noChangeShapeType="1"/>
            </p:cNvSpPr>
            <p:nvPr/>
          </p:nvSpPr>
          <p:spPr bwMode="auto">
            <a:xfrm>
              <a:off x="3614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98" name="Line 338"/>
            <p:cNvSpPr>
              <a:spLocks noChangeShapeType="1"/>
            </p:cNvSpPr>
            <p:nvPr/>
          </p:nvSpPr>
          <p:spPr bwMode="auto">
            <a:xfrm>
              <a:off x="3644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499" name="Line 339"/>
            <p:cNvSpPr>
              <a:spLocks noChangeShapeType="1"/>
            </p:cNvSpPr>
            <p:nvPr/>
          </p:nvSpPr>
          <p:spPr bwMode="auto">
            <a:xfrm>
              <a:off x="3674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00" name="Line 340"/>
            <p:cNvSpPr>
              <a:spLocks noChangeShapeType="1"/>
            </p:cNvSpPr>
            <p:nvPr/>
          </p:nvSpPr>
          <p:spPr bwMode="auto">
            <a:xfrm>
              <a:off x="3704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01" name="Rectangle 341"/>
            <p:cNvSpPr>
              <a:spLocks noChangeArrowheads="1"/>
            </p:cNvSpPr>
            <p:nvPr/>
          </p:nvSpPr>
          <p:spPr bwMode="auto">
            <a:xfrm>
              <a:off x="3808" y="1677"/>
              <a:ext cx="179" cy="17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02" name="Rectangle 342"/>
            <p:cNvSpPr>
              <a:spLocks noChangeArrowheads="1"/>
            </p:cNvSpPr>
            <p:nvPr/>
          </p:nvSpPr>
          <p:spPr bwMode="auto">
            <a:xfrm>
              <a:off x="3808" y="1677"/>
              <a:ext cx="179" cy="173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03" name="Rectangle 343"/>
            <p:cNvSpPr>
              <a:spLocks noChangeArrowheads="1"/>
            </p:cNvSpPr>
            <p:nvPr/>
          </p:nvSpPr>
          <p:spPr bwMode="auto">
            <a:xfrm>
              <a:off x="3856" y="1711"/>
              <a:ext cx="9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1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ru-RU"/>
            </a:p>
          </p:txBody>
        </p:sp>
        <p:sp>
          <p:nvSpPr>
            <p:cNvPr id="92504" name="Rectangle 344"/>
            <p:cNvSpPr>
              <a:spLocks noChangeArrowheads="1"/>
            </p:cNvSpPr>
            <p:nvPr/>
          </p:nvSpPr>
          <p:spPr bwMode="auto">
            <a:xfrm>
              <a:off x="3908" y="1765"/>
              <a:ext cx="57" cy="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800">
                  <a:solidFill>
                    <a:srgbClr val="000000"/>
                  </a:solidFill>
                  <a:latin typeface="Arial" charset="0"/>
                </a:rPr>
                <a:t>8</a:t>
              </a:r>
              <a:endParaRPr lang="ru-RU"/>
            </a:p>
          </p:txBody>
        </p:sp>
        <p:sp>
          <p:nvSpPr>
            <p:cNvPr id="92505" name="Line 345"/>
            <p:cNvSpPr>
              <a:spLocks noChangeShapeType="1"/>
            </p:cNvSpPr>
            <p:nvPr/>
          </p:nvSpPr>
          <p:spPr bwMode="auto">
            <a:xfrm>
              <a:off x="3972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06" name="Line 346"/>
            <p:cNvSpPr>
              <a:spLocks noChangeShapeType="1"/>
            </p:cNvSpPr>
            <p:nvPr/>
          </p:nvSpPr>
          <p:spPr bwMode="auto">
            <a:xfrm>
              <a:off x="3823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07" name="Line 347"/>
            <p:cNvSpPr>
              <a:spLocks noChangeShapeType="1"/>
            </p:cNvSpPr>
            <p:nvPr/>
          </p:nvSpPr>
          <p:spPr bwMode="auto">
            <a:xfrm>
              <a:off x="3853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08" name="Line 348"/>
            <p:cNvSpPr>
              <a:spLocks noChangeShapeType="1"/>
            </p:cNvSpPr>
            <p:nvPr/>
          </p:nvSpPr>
          <p:spPr bwMode="auto">
            <a:xfrm>
              <a:off x="3942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09" name="Line 349"/>
            <p:cNvSpPr>
              <a:spLocks noChangeShapeType="1"/>
            </p:cNvSpPr>
            <p:nvPr/>
          </p:nvSpPr>
          <p:spPr bwMode="auto">
            <a:xfrm>
              <a:off x="3883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10" name="Line 350"/>
            <p:cNvSpPr>
              <a:spLocks noChangeShapeType="1"/>
            </p:cNvSpPr>
            <p:nvPr/>
          </p:nvSpPr>
          <p:spPr bwMode="auto">
            <a:xfrm>
              <a:off x="3913" y="1607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11" name="Line 351"/>
            <p:cNvSpPr>
              <a:spLocks noChangeShapeType="1"/>
            </p:cNvSpPr>
            <p:nvPr/>
          </p:nvSpPr>
          <p:spPr bwMode="auto">
            <a:xfrm>
              <a:off x="3853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12" name="Line 352"/>
            <p:cNvSpPr>
              <a:spLocks noChangeShapeType="1"/>
            </p:cNvSpPr>
            <p:nvPr/>
          </p:nvSpPr>
          <p:spPr bwMode="auto">
            <a:xfrm>
              <a:off x="3883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13" name="Line 353"/>
            <p:cNvSpPr>
              <a:spLocks noChangeShapeType="1"/>
            </p:cNvSpPr>
            <p:nvPr/>
          </p:nvSpPr>
          <p:spPr bwMode="auto">
            <a:xfrm>
              <a:off x="3913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14" name="Line 354"/>
            <p:cNvSpPr>
              <a:spLocks noChangeShapeType="1"/>
            </p:cNvSpPr>
            <p:nvPr/>
          </p:nvSpPr>
          <p:spPr bwMode="auto">
            <a:xfrm>
              <a:off x="3942" y="1850"/>
              <a:ext cx="1" cy="7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15" name="Line 355"/>
            <p:cNvSpPr>
              <a:spLocks noChangeShapeType="1"/>
            </p:cNvSpPr>
            <p:nvPr/>
          </p:nvSpPr>
          <p:spPr bwMode="auto">
            <a:xfrm>
              <a:off x="2153" y="1607"/>
              <a:ext cx="1819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16" name="Line 356"/>
            <p:cNvSpPr>
              <a:spLocks noChangeShapeType="1"/>
            </p:cNvSpPr>
            <p:nvPr/>
          </p:nvSpPr>
          <p:spPr bwMode="auto">
            <a:xfrm>
              <a:off x="2183" y="1920"/>
              <a:ext cx="1759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17" name="Line 357"/>
            <p:cNvSpPr>
              <a:spLocks noChangeShapeType="1"/>
            </p:cNvSpPr>
            <p:nvPr/>
          </p:nvSpPr>
          <p:spPr bwMode="auto">
            <a:xfrm>
              <a:off x="3063" y="1278"/>
              <a:ext cx="1" cy="4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18" name="Freeform 358"/>
            <p:cNvSpPr>
              <a:spLocks/>
            </p:cNvSpPr>
            <p:nvPr/>
          </p:nvSpPr>
          <p:spPr bwMode="auto">
            <a:xfrm>
              <a:off x="3038" y="1307"/>
              <a:ext cx="49" cy="57"/>
            </a:xfrm>
            <a:custGeom>
              <a:avLst/>
              <a:gdLst>
                <a:gd name="T0" fmla="*/ 76 w 151"/>
                <a:gd name="T1" fmla="*/ 151 h 151"/>
                <a:gd name="T2" fmla="*/ 0 w 151"/>
                <a:gd name="T3" fmla="*/ 0 h 151"/>
                <a:gd name="T4" fmla="*/ 151 w 151"/>
                <a:gd name="T5" fmla="*/ 0 h 151"/>
                <a:gd name="T6" fmla="*/ 151 w 151"/>
                <a:gd name="T7" fmla="*/ 0 h 151"/>
                <a:gd name="T8" fmla="*/ 76 w 151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51">
                  <a:moveTo>
                    <a:pt x="76" y="151"/>
                  </a:moveTo>
                  <a:lnTo>
                    <a:pt x="0" y="0"/>
                  </a:lnTo>
                  <a:cubicBezTo>
                    <a:pt x="48" y="24"/>
                    <a:pt x="104" y="24"/>
                    <a:pt x="151" y="0"/>
                  </a:cubicBezTo>
                  <a:lnTo>
                    <a:pt x="151" y="0"/>
                  </a:lnTo>
                  <a:lnTo>
                    <a:pt x="76" y="15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19" name="Line 359"/>
            <p:cNvSpPr>
              <a:spLocks noChangeShapeType="1"/>
            </p:cNvSpPr>
            <p:nvPr/>
          </p:nvSpPr>
          <p:spPr bwMode="auto">
            <a:xfrm>
              <a:off x="3063" y="1468"/>
              <a:ext cx="1" cy="9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20" name="Freeform 360"/>
            <p:cNvSpPr>
              <a:spLocks/>
            </p:cNvSpPr>
            <p:nvPr/>
          </p:nvSpPr>
          <p:spPr bwMode="auto">
            <a:xfrm>
              <a:off x="3038" y="1550"/>
              <a:ext cx="49" cy="57"/>
            </a:xfrm>
            <a:custGeom>
              <a:avLst/>
              <a:gdLst>
                <a:gd name="T0" fmla="*/ 76 w 151"/>
                <a:gd name="T1" fmla="*/ 151 h 151"/>
                <a:gd name="T2" fmla="*/ 0 w 151"/>
                <a:gd name="T3" fmla="*/ 0 h 151"/>
                <a:gd name="T4" fmla="*/ 151 w 151"/>
                <a:gd name="T5" fmla="*/ 0 h 151"/>
                <a:gd name="T6" fmla="*/ 76 w 151"/>
                <a:gd name="T7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151">
                  <a:moveTo>
                    <a:pt x="76" y="151"/>
                  </a:moveTo>
                  <a:lnTo>
                    <a:pt x="0" y="0"/>
                  </a:lnTo>
                  <a:cubicBezTo>
                    <a:pt x="48" y="24"/>
                    <a:pt x="104" y="24"/>
                    <a:pt x="151" y="0"/>
                  </a:cubicBezTo>
                  <a:lnTo>
                    <a:pt x="76" y="15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21" name="Line 361"/>
            <p:cNvSpPr>
              <a:spLocks noChangeShapeType="1"/>
            </p:cNvSpPr>
            <p:nvPr/>
          </p:nvSpPr>
          <p:spPr bwMode="auto">
            <a:xfrm>
              <a:off x="3063" y="931"/>
              <a:ext cx="1" cy="13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22" name="Freeform 362"/>
            <p:cNvSpPr>
              <a:spLocks/>
            </p:cNvSpPr>
            <p:nvPr/>
          </p:nvSpPr>
          <p:spPr bwMode="auto">
            <a:xfrm>
              <a:off x="3038" y="1047"/>
              <a:ext cx="49" cy="57"/>
            </a:xfrm>
            <a:custGeom>
              <a:avLst/>
              <a:gdLst>
                <a:gd name="T0" fmla="*/ 76 w 151"/>
                <a:gd name="T1" fmla="*/ 151 h 151"/>
                <a:gd name="T2" fmla="*/ 0 w 151"/>
                <a:gd name="T3" fmla="*/ 0 h 151"/>
                <a:gd name="T4" fmla="*/ 151 w 151"/>
                <a:gd name="T5" fmla="*/ 0 h 151"/>
                <a:gd name="T6" fmla="*/ 151 w 151"/>
                <a:gd name="T7" fmla="*/ 0 h 151"/>
                <a:gd name="T8" fmla="*/ 76 w 151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51">
                  <a:moveTo>
                    <a:pt x="76" y="151"/>
                  </a:moveTo>
                  <a:lnTo>
                    <a:pt x="0" y="0"/>
                  </a:lnTo>
                  <a:cubicBezTo>
                    <a:pt x="48" y="24"/>
                    <a:pt x="104" y="24"/>
                    <a:pt x="151" y="0"/>
                  </a:cubicBezTo>
                  <a:lnTo>
                    <a:pt x="151" y="0"/>
                  </a:lnTo>
                  <a:lnTo>
                    <a:pt x="76" y="15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23" name="Rectangle 363"/>
            <p:cNvSpPr>
              <a:spLocks noChangeArrowheads="1"/>
            </p:cNvSpPr>
            <p:nvPr/>
          </p:nvSpPr>
          <p:spPr bwMode="auto">
            <a:xfrm>
              <a:off x="2705" y="2041"/>
              <a:ext cx="716" cy="17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24" name="Rectangle 364"/>
            <p:cNvSpPr>
              <a:spLocks noChangeArrowheads="1"/>
            </p:cNvSpPr>
            <p:nvPr/>
          </p:nvSpPr>
          <p:spPr bwMode="auto">
            <a:xfrm>
              <a:off x="2705" y="2041"/>
              <a:ext cx="716" cy="174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25" name="Rectangle 365"/>
            <p:cNvSpPr>
              <a:spLocks noChangeArrowheads="1"/>
            </p:cNvSpPr>
            <p:nvPr/>
          </p:nvSpPr>
          <p:spPr bwMode="auto">
            <a:xfrm>
              <a:off x="2781" y="2075"/>
              <a:ext cx="566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100" dirty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P </a:t>
              </a:r>
              <a:r>
                <a:rPr lang="ru-RU" sz="1100" dirty="0" err="1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алмаштириш</a:t>
              </a:r>
              <a:endParaRPr lang="ru-RU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526" name="Line 366"/>
            <p:cNvSpPr>
              <a:spLocks noChangeShapeType="1"/>
            </p:cNvSpPr>
            <p:nvPr/>
          </p:nvSpPr>
          <p:spPr bwMode="auto">
            <a:xfrm>
              <a:off x="3018" y="1416"/>
              <a:ext cx="90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27" name="Line 367"/>
            <p:cNvSpPr>
              <a:spLocks noChangeShapeType="1"/>
            </p:cNvSpPr>
            <p:nvPr/>
          </p:nvSpPr>
          <p:spPr bwMode="auto">
            <a:xfrm>
              <a:off x="3063" y="1364"/>
              <a:ext cx="1" cy="10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28" name="Freeform 368"/>
            <p:cNvSpPr>
              <a:spLocks/>
            </p:cNvSpPr>
            <p:nvPr/>
          </p:nvSpPr>
          <p:spPr bwMode="auto">
            <a:xfrm>
              <a:off x="3018" y="2336"/>
              <a:ext cx="90" cy="104"/>
            </a:xfrm>
            <a:custGeom>
              <a:avLst/>
              <a:gdLst>
                <a:gd name="T0" fmla="*/ 0 w 274"/>
                <a:gd name="T1" fmla="*/ 138 h 275"/>
                <a:gd name="T2" fmla="*/ 137 w 274"/>
                <a:gd name="T3" fmla="*/ 0 h 275"/>
                <a:gd name="T4" fmla="*/ 274 w 274"/>
                <a:gd name="T5" fmla="*/ 138 h 275"/>
                <a:gd name="T6" fmla="*/ 274 w 274"/>
                <a:gd name="T7" fmla="*/ 138 h 275"/>
                <a:gd name="T8" fmla="*/ 137 w 274"/>
                <a:gd name="T9" fmla="*/ 275 h 275"/>
                <a:gd name="T10" fmla="*/ 0 w 274"/>
                <a:gd name="T11" fmla="*/ 138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4" h="275">
                  <a:moveTo>
                    <a:pt x="0" y="138"/>
                  </a:moveTo>
                  <a:cubicBezTo>
                    <a:pt x="0" y="62"/>
                    <a:pt x="61" y="0"/>
                    <a:pt x="137" y="0"/>
                  </a:cubicBezTo>
                  <a:cubicBezTo>
                    <a:pt x="212" y="0"/>
                    <a:pt x="274" y="62"/>
                    <a:pt x="274" y="138"/>
                  </a:cubicBezTo>
                  <a:cubicBezTo>
                    <a:pt x="274" y="138"/>
                    <a:pt x="274" y="138"/>
                    <a:pt x="274" y="138"/>
                  </a:cubicBezTo>
                  <a:cubicBezTo>
                    <a:pt x="274" y="213"/>
                    <a:pt x="212" y="275"/>
                    <a:pt x="137" y="275"/>
                  </a:cubicBezTo>
                  <a:cubicBezTo>
                    <a:pt x="61" y="275"/>
                    <a:pt x="0" y="213"/>
                    <a:pt x="0" y="138"/>
                  </a:cubicBezTo>
                </a:path>
              </a:pathLst>
            </a:custGeom>
            <a:solidFill>
              <a:srgbClr val="FFFF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29" name="Freeform 369"/>
            <p:cNvSpPr>
              <a:spLocks/>
            </p:cNvSpPr>
            <p:nvPr/>
          </p:nvSpPr>
          <p:spPr bwMode="auto">
            <a:xfrm>
              <a:off x="3018" y="2336"/>
              <a:ext cx="90" cy="104"/>
            </a:xfrm>
            <a:custGeom>
              <a:avLst/>
              <a:gdLst>
                <a:gd name="T0" fmla="*/ 0 w 90"/>
                <a:gd name="T1" fmla="*/ 52 h 104"/>
                <a:gd name="T2" fmla="*/ 45 w 90"/>
                <a:gd name="T3" fmla="*/ 0 h 104"/>
                <a:gd name="T4" fmla="*/ 90 w 90"/>
                <a:gd name="T5" fmla="*/ 52 h 104"/>
                <a:gd name="T6" fmla="*/ 90 w 90"/>
                <a:gd name="T7" fmla="*/ 52 h 104"/>
                <a:gd name="T8" fmla="*/ 45 w 90"/>
                <a:gd name="T9" fmla="*/ 104 h 104"/>
                <a:gd name="T10" fmla="*/ 0 w 90"/>
                <a:gd name="T1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" h="104">
                  <a:moveTo>
                    <a:pt x="0" y="52"/>
                  </a:moveTo>
                  <a:cubicBezTo>
                    <a:pt x="0" y="24"/>
                    <a:pt x="20" y="0"/>
                    <a:pt x="45" y="0"/>
                  </a:cubicBezTo>
                  <a:cubicBezTo>
                    <a:pt x="69" y="0"/>
                    <a:pt x="90" y="24"/>
                    <a:pt x="90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90" y="81"/>
                    <a:pt x="69" y="104"/>
                    <a:pt x="45" y="104"/>
                  </a:cubicBezTo>
                  <a:cubicBezTo>
                    <a:pt x="20" y="104"/>
                    <a:pt x="0" y="81"/>
                    <a:pt x="0" y="52"/>
                  </a:cubicBezTo>
                </a:path>
              </a:pathLst>
            </a:custGeom>
            <a:noFill/>
            <a:ln w="1270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30" name="Line 370"/>
            <p:cNvSpPr>
              <a:spLocks noChangeShapeType="1"/>
            </p:cNvSpPr>
            <p:nvPr/>
          </p:nvSpPr>
          <p:spPr bwMode="auto">
            <a:xfrm>
              <a:off x="3018" y="2388"/>
              <a:ext cx="90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31" name="Line 371"/>
            <p:cNvSpPr>
              <a:spLocks noChangeShapeType="1"/>
            </p:cNvSpPr>
            <p:nvPr/>
          </p:nvSpPr>
          <p:spPr bwMode="auto">
            <a:xfrm>
              <a:off x="3063" y="2336"/>
              <a:ext cx="1" cy="104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32" name="Rectangle 372"/>
            <p:cNvSpPr>
              <a:spLocks noChangeArrowheads="1"/>
            </p:cNvSpPr>
            <p:nvPr/>
          </p:nvSpPr>
          <p:spPr bwMode="auto">
            <a:xfrm>
              <a:off x="2466" y="2596"/>
              <a:ext cx="1193" cy="20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33" name="Rectangle 373"/>
            <p:cNvSpPr>
              <a:spLocks noChangeArrowheads="1"/>
            </p:cNvSpPr>
            <p:nvPr/>
          </p:nvSpPr>
          <p:spPr bwMode="auto">
            <a:xfrm>
              <a:off x="2466" y="2596"/>
              <a:ext cx="1193" cy="209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34" name="Rectangle 374"/>
            <p:cNvSpPr>
              <a:spLocks noChangeArrowheads="1"/>
            </p:cNvSpPr>
            <p:nvPr/>
          </p:nvSpPr>
          <p:spPr bwMode="auto">
            <a:xfrm>
              <a:off x="2520" y="2634"/>
              <a:ext cx="11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ru-RU"/>
            </a:p>
          </p:txBody>
        </p:sp>
        <p:sp>
          <p:nvSpPr>
            <p:cNvPr id="92535" name="Rectangle 375"/>
            <p:cNvSpPr>
              <a:spLocks noChangeArrowheads="1"/>
            </p:cNvSpPr>
            <p:nvPr/>
          </p:nvSpPr>
          <p:spPr bwMode="auto">
            <a:xfrm>
              <a:off x="2588" y="2701"/>
              <a:ext cx="4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ru-RU"/>
            </a:p>
          </p:txBody>
        </p:sp>
        <p:sp>
          <p:nvSpPr>
            <p:cNvPr id="92536" name="Rectangle 376"/>
            <p:cNvSpPr>
              <a:spLocks noChangeArrowheads="1"/>
            </p:cNvSpPr>
            <p:nvPr/>
          </p:nvSpPr>
          <p:spPr bwMode="auto">
            <a:xfrm>
              <a:off x="2599" y="2634"/>
              <a:ext cx="99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=</a:t>
              </a:r>
              <a:endParaRPr lang="ru-RU"/>
            </a:p>
          </p:txBody>
        </p:sp>
        <p:sp>
          <p:nvSpPr>
            <p:cNvPr id="92537" name="Rectangle 377"/>
            <p:cNvSpPr>
              <a:spLocks noChangeArrowheads="1"/>
            </p:cNvSpPr>
            <p:nvPr/>
          </p:nvSpPr>
          <p:spPr bwMode="auto">
            <a:xfrm>
              <a:off x="2656" y="2634"/>
              <a:ext cx="19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F(R</a:t>
              </a:r>
              <a:endParaRPr lang="ru-RU"/>
            </a:p>
          </p:txBody>
        </p:sp>
        <p:sp>
          <p:nvSpPr>
            <p:cNvPr id="92538" name="Rectangle 378"/>
            <p:cNvSpPr>
              <a:spLocks noChangeArrowheads="1"/>
            </p:cNvSpPr>
            <p:nvPr/>
          </p:nvSpPr>
          <p:spPr bwMode="auto">
            <a:xfrm>
              <a:off x="2807" y="2701"/>
              <a:ext cx="11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i-1</a:t>
              </a:r>
              <a:endParaRPr lang="ru-RU"/>
            </a:p>
          </p:txBody>
        </p:sp>
        <p:sp>
          <p:nvSpPr>
            <p:cNvPr id="92539" name="Rectangle 379"/>
            <p:cNvSpPr>
              <a:spLocks noChangeArrowheads="1"/>
            </p:cNvSpPr>
            <p:nvPr/>
          </p:nvSpPr>
          <p:spPr bwMode="auto">
            <a:xfrm>
              <a:off x="2875" y="2634"/>
              <a:ext cx="1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,K</a:t>
              </a:r>
              <a:endParaRPr lang="ru-RU"/>
            </a:p>
          </p:txBody>
        </p:sp>
        <p:sp>
          <p:nvSpPr>
            <p:cNvPr id="92540" name="Rectangle 380"/>
            <p:cNvSpPr>
              <a:spLocks noChangeArrowheads="1"/>
            </p:cNvSpPr>
            <p:nvPr/>
          </p:nvSpPr>
          <p:spPr bwMode="auto">
            <a:xfrm>
              <a:off x="2964" y="2701"/>
              <a:ext cx="4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ru-RU"/>
            </a:p>
          </p:txBody>
        </p:sp>
        <p:sp>
          <p:nvSpPr>
            <p:cNvPr id="92541" name="Rectangle 381"/>
            <p:cNvSpPr>
              <a:spLocks noChangeArrowheads="1"/>
            </p:cNvSpPr>
            <p:nvPr/>
          </p:nvSpPr>
          <p:spPr bwMode="auto">
            <a:xfrm>
              <a:off x="2979" y="2634"/>
              <a:ext cx="7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)</a:t>
              </a:r>
              <a:endParaRPr lang="ru-RU"/>
            </a:p>
          </p:txBody>
        </p:sp>
        <p:sp>
          <p:nvSpPr>
            <p:cNvPr id="92542" name="Rectangle 382"/>
            <p:cNvSpPr>
              <a:spLocks noChangeArrowheads="1"/>
            </p:cNvSpPr>
            <p:nvPr/>
          </p:nvSpPr>
          <p:spPr bwMode="auto">
            <a:xfrm>
              <a:off x="3011" y="2634"/>
              <a:ext cx="19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    L</a:t>
              </a:r>
              <a:endParaRPr lang="ru-RU"/>
            </a:p>
          </p:txBody>
        </p:sp>
        <p:sp>
          <p:nvSpPr>
            <p:cNvPr id="92543" name="Rectangle 383"/>
            <p:cNvSpPr>
              <a:spLocks noChangeArrowheads="1"/>
            </p:cNvSpPr>
            <p:nvPr/>
          </p:nvSpPr>
          <p:spPr bwMode="auto">
            <a:xfrm>
              <a:off x="3162" y="2701"/>
              <a:ext cx="14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i-1  </a:t>
              </a:r>
              <a:endParaRPr lang="ru-RU"/>
            </a:p>
          </p:txBody>
        </p:sp>
        <p:sp>
          <p:nvSpPr>
            <p:cNvPr id="92544" name="Rectangle 384"/>
            <p:cNvSpPr>
              <a:spLocks noChangeArrowheads="1"/>
            </p:cNvSpPr>
            <p:nvPr/>
          </p:nvSpPr>
          <p:spPr bwMode="auto">
            <a:xfrm>
              <a:off x="3266" y="2634"/>
              <a:ext cx="20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(32 </a:t>
              </a:r>
              <a:endParaRPr lang="ru-RU"/>
            </a:p>
          </p:txBody>
        </p:sp>
        <p:sp>
          <p:nvSpPr>
            <p:cNvPr id="92545" name="Rectangle 385"/>
            <p:cNvSpPr>
              <a:spLocks noChangeArrowheads="1"/>
            </p:cNvSpPr>
            <p:nvPr/>
          </p:nvSpPr>
          <p:spPr bwMode="auto">
            <a:xfrm>
              <a:off x="3428" y="2634"/>
              <a:ext cx="224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бит)</a:t>
              </a:r>
              <a:endParaRPr lang="ru-RU"/>
            </a:p>
          </p:txBody>
        </p:sp>
        <p:sp>
          <p:nvSpPr>
            <p:cNvPr id="92546" name="Rectangle 386"/>
            <p:cNvSpPr>
              <a:spLocks noChangeArrowheads="1"/>
            </p:cNvSpPr>
            <p:nvPr/>
          </p:nvSpPr>
          <p:spPr bwMode="auto">
            <a:xfrm>
              <a:off x="1155" y="2596"/>
              <a:ext cx="1192" cy="209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47" name="Rectangle 387"/>
            <p:cNvSpPr>
              <a:spLocks noChangeArrowheads="1"/>
            </p:cNvSpPr>
            <p:nvPr/>
          </p:nvSpPr>
          <p:spPr bwMode="auto">
            <a:xfrm>
              <a:off x="1155" y="2596"/>
              <a:ext cx="1192" cy="209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48" name="Rectangle 388"/>
            <p:cNvSpPr>
              <a:spLocks noChangeArrowheads="1"/>
            </p:cNvSpPr>
            <p:nvPr/>
          </p:nvSpPr>
          <p:spPr bwMode="auto">
            <a:xfrm>
              <a:off x="1440" y="2634"/>
              <a:ext cx="94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L</a:t>
              </a:r>
              <a:endParaRPr lang="ru-RU"/>
            </a:p>
          </p:txBody>
        </p:sp>
        <p:sp>
          <p:nvSpPr>
            <p:cNvPr id="92549" name="Rectangle 389"/>
            <p:cNvSpPr>
              <a:spLocks noChangeArrowheads="1"/>
            </p:cNvSpPr>
            <p:nvPr/>
          </p:nvSpPr>
          <p:spPr bwMode="auto">
            <a:xfrm>
              <a:off x="1493" y="2701"/>
              <a:ext cx="4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ru-RU"/>
            </a:p>
          </p:txBody>
        </p:sp>
        <p:sp>
          <p:nvSpPr>
            <p:cNvPr id="92550" name="Rectangle 390"/>
            <p:cNvSpPr>
              <a:spLocks noChangeArrowheads="1"/>
            </p:cNvSpPr>
            <p:nvPr/>
          </p:nvSpPr>
          <p:spPr bwMode="auto">
            <a:xfrm>
              <a:off x="1508" y="2634"/>
              <a:ext cx="167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=R</a:t>
              </a:r>
              <a:endParaRPr lang="ru-RU"/>
            </a:p>
          </p:txBody>
        </p:sp>
        <p:sp>
          <p:nvSpPr>
            <p:cNvPr id="92551" name="Rectangle 391"/>
            <p:cNvSpPr>
              <a:spLocks noChangeArrowheads="1"/>
            </p:cNvSpPr>
            <p:nvPr/>
          </p:nvSpPr>
          <p:spPr bwMode="auto">
            <a:xfrm>
              <a:off x="1628" y="2701"/>
              <a:ext cx="11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i-1</a:t>
              </a:r>
              <a:endParaRPr lang="ru-RU"/>
            </a:p>
          </p:txBody>
        </p:sp>
        <p:sp>
          <p:nvSpPr>
            <p:cNvPr id="92552" name="Rectangle 392"/>
            <p:cNvSpPr>
              <a:spLocks noChangeArrowheads="1"/>
            </p:cNvSpPr>
            <p:nvPr/>
          </p:nvSpPr>
          <p:spPr bwMode="auto">
            <a:xfrm>
              <a:off x="1696" y="2634"/>
              <a:ext cx="2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 (32 </a:t>
              </a:r>
              <a:endParaRPr lang="ru-RU"/>
            </a:p>
          </p:txBody>
        </p:sp>
        <p:sp>
          <p:nvSpPr>
            <p:cNvPr id="92553" name="Rectangle 393"/>
            <p:cNvSpPr>
              <a:spLocks noChangeArrowheads="1"/>
            </p:cNvSpPr>
            <p:nvPr/>
          </p:nvSpPr>
          <p:spPr bwMode="auto">
            <a:xfrm>
              <a:off x="1884" y="2634"/>
              <a:ext cx="224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бит)</a:t>
              </a:r>
              <a:endParaRPr lang="ru-RU"/>
            </a:p>
          </p:txBody>
        </p:sp>
        <p:sp>
          <p:nvSpPr>
            <p:cNvPr id="92554" name="Rectangle 394"/>
            <p:cNvSpPr>
              <a:spLocks noChangeArrowheads="1"/>
            </p:cNvSpPr>
            <p:nvPr/>
          </p:nvSpPr>
          <p:spPr bwMode="auto">
            <a:xfrm>
              <a:off x="3778" y="723"/>
              <a:ext cx="1074" cy="208"/>
            </a:xfrm>
            <a:prstGeom prst="rect">
              <a:avLst/>
            </a:prstGeom>
            <a:solidFill>
              <a:schemeClr val="accent1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55" name="Rectangle 395"/>
            <p:cNvSpPr>
              <a:spLocks noChangeArrowheads="1"/>
            </p:cNvSpPr>
            <p:nvPr/>
          </p:nvSpPr>
          <p:spPr bwMode="auto">
            <a:xfrm>
              <a:off x="3778" y="723"/>
              <a:ext cx="1074" cy="208"/>
            </a:xfrm>
            <a:prstGeom prst="rect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56" name="Rectangle 396"/>
            <p:cNvSpPr>
              <a:spLocks noChangeArrowheads="1"/>
            </p:cNvSpPr>
            <p:nvPr/>
          </p:nvSpPr>
          <p:spPr bwMode="auto">
            <a:xfrm>
              <a:off x="4096" y="764"/>
              <a:ext cx="104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K</a:t>
              </a:r>
              <a:endParaRPr lang="ru-RU"/>
            </a:p>
          </p:txBody>
        </p:sp>
        <p:sp>
          <p:nvSpPr>
            <p:cNvPr id="92557" name="Rectangle 397"/>
            <p:cNvSpPr>
              <a:spLocks noChangeArrowheads="1"/>
            </p:cNvSpPr>
            <p:nvPr/>
          </p:nvSpPr>
          <p:spPr bwMode="auto">
            <a:xfrm>
              <a:off x="4158" y="830"/>
              <a:ext cx="4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ru-RU"/>
            </a:p>
          </p:txBody>
        </p:sp>
        <p:sp>
          <p:nvSpPr>
            <p:cNvPr id="92558" name="Rectangle 398"/>
            <p:cNvSpPr>
              <a:spLocks noChangeArrowheads="1"/>
            </p:cNvSpPr>
            <p:nvPr/>
          </p:nvSpPr>
          <p:spPr bwMode="auto">
            <a:xfrm>
              <a:off x="4169" y="764"/>
              <a:ext cx="2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 dirty="0">
                  <a:solidFill>
                    <a:srgbClr val="000000"/>
                  </a:solidFill>
                  <a:latin typeface="Arial" charset="0"/>
                </a:rPr>
                <a:t> (48 </a:t>
              </a:r>
              <a:endParaRPr lang="ru-RU" dirty="0"/>
            </a:p>
          </p:txBody>
        </p:sp>
        <p:sp>
          <p:nvSpPr>
            <p:cNvPr id="92559" name="Rectangle 399"/>
            <p:cNvSpPr>
              <a:spLocks noChangeArrowheads="1"/>
            </p:cNvSpPr>
            <p:nvPr/>
          </p:nvSpPr>
          <p:spPr bwMode="auto">
            <a:xfrm>
              <a:off x="4357" y="764"/>
              <a:ext cx="224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 dirty="0">
                  <a:solidFill>
                    <a:srgbClr val="000000"/>
                  </a:solidFill>
                  <a:latin typeface="Arial" charset="0"/>
                </a:rPr>
                <a:t>бит)</a:t>
              </a:r>
              <a:endParaRPr lang="ru-RU" dirty="0"/>
            </a:p>
          </p:txBody>
        </p:sp>
        <p:sp>
          <p:nvSpPr>
            <p:cNvPr id="92560" name="Line 400"/>
            <p:cNvSpPr>
              <a:spLocks noChangeShapeType="1"/>
            </p:cNvSpPr>
            <p:nvPr/>
          </p:nvSpPr>
          <p:spPr bwMode="auto">
            <a:xfrm flipH="1">
              <a:off x="2109" y="1000"/>
              <a:ext cx="954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61" name="Line 401"/>
            <p:cNvSpPr>
              <a:spLocks noChangeShapeType="1"/>
            </p:cNvSpPr>
            <p:nvPr/>
          </p:nvSpPr>
          <p:spPr bwMode="auto">
            <a:xfrm flipH="1">
              <a:off x="2109" y="2388"/>
              <a:ext cx="872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62" name="Freeform 402"/>
            <p:cNvSpPr>
              <a:spLocks/>
            </p:cNvSpPr>
            <p:nvPr/>
          </p:nvSpPr>
          <p:spPr bwMode="auto">
            <a:xfrm>
              <a:off x="2969" y="2360"/>
              <a:ext cx="49" cy="57"/>
            </a:xfrm>
            <a:custGeom>
              <a:avLst/>
              <a:gdLst>
                <a:gd name="T0" fmla="*/ 152 w 152"/>
                <a:gd name="T1" fmla="*/ 76 h 151"/>
                <a:gd name="T2" fmla="*/ 0 w 152"/>
                <a:gd name="T3" fmla="*/ 151 h 151"/>
                <a:gd name="T4" fmla="*/ 0 w 152"/>
                <a:gd name="T5" fmla="*/ 0 h 151"/>
                <a:gd name="T6" fmla="*/ 0 w 152"/>
                <a:gd name="T7" fmla="*/ 0 h 151"/>
                <a:gd name="T8" fmla="*/ 152 w 152"/>
                <a:gd name="T9" fmla="*/ 7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151">
                  <a:moveTo>
                    <a:pt x="152" y="76"/>
                  </a:moveTo>
                  <a:lnTo>
                    <a:pt x="0" y="151"/>
                  </a:lnTo>
                  <a:cubicBezTo>
                    <a:pt x="24" y="104"/>
                    <a:pt x="24" y="48"/>
                    <a:pt x="0" y="0"/>
                  </a:cubicBezTo>
                  <a:lnTo>
                    <a:pt x="0" y="0"/>
                  </a:lnTo>
                  <a:lnTo>
                    <a:pt x="152" y="76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63" name="Line 403"/>
            <p:cNvSpPr>
              <a:spLocks noChangeShapeType="1"/>
            </p:cNvSpPr>
            <p:nvPr/>
          </p:nvSpPr>
          <p:spPr bwMode="auto">
            <a:xfrm flipH="1" flipV="1">
              <a:off x="1751" y="931"/>
              <a:ext cx="358" cy="1457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64" name="Line 404"/>
            <p:cNvSpPr>
              <a:spLocks noChangeShapeType="1"/>
            </p:cNvSpPr>
            <p:nvPr/>
          </p:nvSpPr>
          <p:spPr bwMode="auto">
            <a:xfrm flipH="1">
              <a:off x="1760" y="1000"/>
              <a:ext cx="349" cy="155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65" name="Freeform 405"/>
            <p:cNvSpPr>
              <a:spLocks/>
            </p:cNvSpPr>
            <p:nvPr/>
          </p:nvSpPr>
          <p:spPr bwMode="auto">
            <a:xfrm>
              <a:off x="1739" y="2534"/>
              <a:ext cx="48" cy="62"/>
            </a:xfrm>
            <a:custGeom>
              <a:avLst/>
              <a:gdLst>
                <a:gd name="T0" fmla="*/ 35 w 147"/>
                <a:gd name="T1" fmla="*/ 165 h 165"/>
                <a:gd name="T2" fmla="*/ 0 w 147"/>
                <a:gd name="T3" fmla="*/ 0 h 165"/>
                <a:gd name="T4" fmla="*/ 147 w 147"/>
                <a:gd name="T5" fmla="*/ 38 h 165"/>
                <a:gd name="T6" fmla="*/ 147 w 147"/>
                <a:gd name="T7" fmla="*/ 38 h 165"/>
                <a:gd name="T8" fmla="*/ 35 w 147"/>
                <a:gd name="T9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165">
                  <a:moveTo>
                    <a:pt x="35" y="165"/>
                  </a:moveTo>
                  <a:lnTo>
                    <a:pt x="0" y="0"/>
                  </a:lnTo>
                  <a:cubicBezTo>
                    <a:pt x="40" y="35"/>
                    <a:pt x="95" y="49"/>
                    <a:pt x="147" y="38"/>
                  </a:cubicBezTo>
                  <a:lnTo>
                    <a:pt x="147" y="38"/>
                  </a:lnTo>
                  <a:lnTo>
                    <a:pt x="35" y="16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66" name="Line 406"/>
            <p:cNvSpPr>
              <a:spLocks noChangeShapeType="1"/>
            </p:cNvSpPr>
            <p:nvPr/>
          </p:nvSpPr>
          <p:spPr bwMode="auto">
            <a:xfrm>
              <a:off x="3063" y="1920"/>
              <a:ext cx="1" cy="78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67" name="Freeform 407"/>
            <p:cNvSpPr>
              <a:spLocks/>
            </p:cNvSpPr>
            <p:nvPr/>
          </p:nvSpPr>
          <p:spPr bwMode="auto">
            <a:xfrm>
              <a:off x="3038" y="1984"/>
              <a:ext cx="49" cy="57"/>
            </a:xfrm>
            <a:custGeom>
              <a:avLst/>
              <a:gdLst>
                <a:gd name="T0" fmla="*/ 76 w 151"/>
                <a:gd name="T1" fmla="*/ 151 h 151"/>
                <a:gd name="T2" fmla="*/ 0 w 151"/>
                <a:gd name="T3" fmla="*/ 0 h 151"/>
                <a:gd name="T4" fmla="*/ 151 w 151"/>
                <a:gd name="T5" fmla="*/ 0 h 151"/>
                <a:gd name="T6" fmla="*/ 76 w 151"/>
                <a:gd name="T7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151">
                  <a:moveTo>
                    <a:pt x="76" y="151"/>
                  </a:moveTo>
                  <a:lnTo>
                    <a:pt x="0" y="0"/>
                  </a:lnTo>
                  <a:cubicBezTo>
                    <a:pt x="48" y="24"/>
                    <a:pt x="104" y="24"/>
                    <a:pt x="151" y="0"/>
                  </a:cubicBezTo>
                  <a:lnTo>
                    <a:pt x="76" y="15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68" name="Line 408"/>
            <p:cNvSpPr>
              <a:spLocks noChangeShapeType="1"/>
            </p:cNvSpPr>
            <p:nvPr/>
          </p:nvSpPr>
          <p:spPr bwMode="auto">
            <a:xfrm>
              <a:off x="3063" y="2215"/>
              <a:ext cx="1" cy="78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69" name="Freeform 409"/>
            <p:cNvSpPr>
              <a:spLocks/>
            </p:cNvSpPr>
            <p:nvPr/>
          </p:nvSpPr>
          <p:spPr bwMode="auto">
            <a:xfrm>
              <a:off x="3038" y="2279"/>
              <a:ext cx="49" cy="57"/>
            </a:xfrm>
            <a:custGeom>
              <a:avLst/>
              <a:gdLst>
                <a:gd name="T0" fmla="*/ 76 w 151"/>
                <a:gd name="T1" fmla="*/ 151 h 151"/>
                <a:gd name="T2" fmla="*/ 0 w 151"/>
                <a:gd name="T3" fmla="*/ 0 h 151"/>
                <a:gd name="T4" fmla="*/ 151 w 151"/>
                <a:gd name="T5" fmla="*/ 0 h 151"/>
                <a:gd name="T6" fmla="*/ 76 w 151"/>
                <a:gd name="T7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1" h="151">
                  <a:moveTo>
                    <a:pt x="76" y="151"/>
                  </a:moveTo>
                  <a:lnTo>
                    <a:pt x="0" y="0"/>
                  </a:lnTo>
                  <a:cubicBezTo>
                    <a:pt x="48" y="24"/>
                    <a:pt x="104" y="24"/>
                    <a:pt x="151" y="0"/>
                  </a:cubicBezTo>
                  <a:lnTo>
                    <a:pt x="76" y="15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0" name="Line 410"/>
            <p:cNvSpPr>
              <a:spLocks noChangeShapeType="1"/>
            </p:cNvSpPr>
            <p:nvPr/>
          </p:nvSpPr>
          <p:spPr bwMode="auto">
            <a:xfrm>
              <a:off x="3063" y="2440"/>
              <a:ext cx="1" cy="11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1" name="Freeform 411"/>
            <p:cNvSpPr>
              <a:spLocks/>
            </p:cNvSpPr>
            <p:nvPr/>
          </p:nvSpPr>
          <p:spPr bwMode="auto">
            <a:xfrm>
              <a:off x="3038" y="2539"/>
              <a:ext cx="49" cy="57"/>
            </a:xfrm>
            <a:custGeom>
              <a:avLst/>
              <a:gdLst>
                <a:gd name="T0" fmla="*/ 76 w 151"/>
                <a:gd name="T1" fmla="*/ 151 h 151"/>
                <a:gd name="T2" fmla="*/ 0 w 151"/>
                <a:gd name="T3" fmla="*/ 0 h 151"/>
                <a:gd name="T4" fmla="*/ 151 w 151"/>
                <a:gd name="T5" fmla="*/ 0 h 151"/>
                <a:gd name="T6" fmla="*/ 151 w 151"/>
                <a:gd name="T7" fmla="*/ 0 h 151"/>
                <a:gd name="T8" fmla="*/ 76 w 151"/>
                <a:gd name="T9" fmla="*/ 151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51">
                  <a:moveTo>
                    <a:pt x="76" y="151"/>
                  </a:moveTo>
                  <a:lnTo>
                    <a:pt x="0" y="0"/>
                  </a:lnTo>
                  <a:cubicBezTo>
                    <a:pt x="48" y="24"/>
                    <a:pt x="104" y="24"/>
                    <a:pt x="151" y="0"/>
                  </a:cubicBezTo>
                  <a:lnTo>
                    <a:pt x="151" y="0"/>
                  </a:lnTo>
                  <a:lnTo>
                    <a:pt x="76" y="151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2" name="Line 412"/>
            <p:cNvSpPr>
              <a:spLocks noChangeShapeType="1"/>
            </p:cNvSpPr>
            <p:nvPr/>
          </p:nvSpPr>
          <p:spPr bwMode="auto">
            <a:xfrm>
              <a:off x="3145" y="1416"/>
              <a:ext cx="1170" cy="1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3" name="Freeform 413"/>
            <p:cNvSpPr>
              <a:spLocks/>
            </p:cNvSpPr>
            <p:nvPr/>
          </p:nvSpPr>
          <p:spPr bwMode="auto">
            <a:xfrm>
              <a:off x="3108" y="1388"/>
              <a:ext cx="49" cy="57"/>
            </a:xfrm>
            <a:custGeom>
              <a:avLst/>
              <a:gdLst>
                <a:gd name="T0" fmla="*/ 0 w 151"/>
                <a:gd name="T1" fmla="*/ 75 h 151"/>
                <a:gd name="T2" fmla="*/ 151 w 151"/>
                <a:gd name="T3" fmla="*/ 0 h 151"/>
                <a:gd name="T4" fmla="*/ 151 w 151"/>
                <a:gd name="T5" fmla="*/ 151 h 151"/>
                <a:gd name="T6" fmla="*/ 151 w 151"/>
                <a:gd name="T7" fmla="*/ 151 h 151"/>
                <a:gd name="T8" fmla="*/ 0 w 151"/>
                <a:gd name="T9" fmla="*/ 7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1" h="151">
                  <a:moveTo>
                    <a:pt x="0" y="75"/>
                  </a:moveTo>
                  <a:lnTo>
                    <a:pt x="151" y="0"/>
                  </a:lnTo>
                  <a:cubicBezTo>
                    <a:pt x="127" y="47"/>
                    <a:pt x="127" y="103"/>
                    <a:pt x="151" y="151"/>
                  </a:cubicBezTo>
                  <a:lnTo>
                    <a:pt x="151" y="151"/>
                  </a:lnTo>
                  <a:lnTo>
                    <a:pt x="0" y="75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4" name="Line 414"/>
            <p:cNvSpPr>
              <a:spLocks noChangeShapeType="1"/>
            </p:cNvSpPr>
            <p:nvPr/>
          </p:nvSpPr>
          <p:spPr bwMode="auto">
            <a:xfrm>
              <a:off x="4315" y="931"/>
              <a:ext cx="1" cy="48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5" name="Freeform 415"/>
            <p:cNvSpPr>
              <a:spLocks noEditPoints="1"/>
            </p:cNvSpPr>
            <p:nvPr/>
          </p:nvSpPr>
          <p:spPr bwMode="auto">
            <a:xfrm>
              <a:off x="2105" y="1065"/>
              <a:ext cx="1900" cy="9"/>
            </a:xfrm>
            <a:custGeom>
              <a:avLst/>
              <a:gdLst>
                <a:gd name="T0" fmla="*/ 110 w 5828"/>
                <a:gd name="T1" fmla="*/ 0 h 24"/>
                <a:gd name="T2" fmla="*/ 183 w 5828"/>
                <a:gd name="T3" fmla="*/ 24 h 24"/>
                <a:gd name="T4" fmla="*/ 220 w 5828"/>
                <a:gd name="T5" fmla="*/ 12 h 24"/>
                <a:gd name="T6" fmla="*/ 378 w 5828"/>
                <a:gd name="T7" fmla="*/ 0 h 24"/>
                <a:gd name="T8" fmla="*/ 488 w 5828"/>
                <a:gd name="T9" fmla="*/ 12 h 24"/>
                <a:gd name="T10" fmla="*/ 525 w 5828"/>
                <a:gd name="T11" fmla="*/ 24 h 24"/>
                <a:gd name="T12" fmla="*/ 598 w 5828"/>
                <a:gd name="T13" fmla="*/ 0 h 24"/>
                <a:gd name="T14" fmla="*/ 769 w 5828"/>
                <a:gd name="T15" fmla="*/ 0 h 24"/>
                <a:gd name="T16" fmla="*/ 842 w 5828"/>
                <a:gd name="T17" fmla="*/ 24 h 24"/>
                <a:gd name="T18" fmla="*/ 878 w 5828"/>
                <a:gd name="T19" fmla="*/ 12 h 24"/>
                <a:gd name="T20" fmla="*/ 1037 w 5828"/>
                <a:gd name="T21" fmla="*/ 0 h 24"/>
                <a:gd name="T22" fmla="*/ 1146 w 5828"/>
                <a:gd name="T23" fmla="*/ 12 h 24"/>
                <a:gd name="T24" fmla="*/ 1183 w 5828"/>
                <a:gd name="T25" fmla="*/ 24 h 24"/>
                <a:gd name="T26" fmla="*/ 1256 w 5828"/>
                <a:gd name="T27" fmla="*/ 0 h 24"/>
                <a:gd name="T28" fmla="*/ 1427 w 5828"/>
                <a:gd name="T29" fmla="*/ 0 h 24"/>
                <a:gd name="T30" fmla="*/ 1500 w 5828"/>
                <a:gd name="T31" fmla="*/ 24 h 24"/>
                <a:gd name="T32" fmla="*/ 1537 w 5828"/>
                <a:gd name="T33" fmla="*/ 12 h 24"/>
                <a:gd name="T34" fmla="*/ 1695 w 5828"/>
                <a:gd name="T35" fmla="*/ 0 h 24"/>
                <a:gd name="T36" fmla="*/ 1805 w 5828"/>
                <a:gd name="T37" fmla="*/ 12 h 24"/>
                <a:gd name="T38" fmla="*/ 1841 w 5828"/>
                <a:gd name="T39" fmla="*/ 24 h 24"/>
                <a:gd name="T40" fmla="*/ 1915 w 5828"/>
                <a:gd name="T41" fmla="*/ 0 h 24"/>
                <a:gd name="T42" fmla="*/ 2085 w 5828"/>
                <a:gd name="T43" fmla="*/ 0 h 24"/>
                <a:gd name="T44" fmla="*/ 2158 w 5828"/>
                <a:gd name="T45" fmla="*/ 24 h 24"/>
                <a:gd name="T46" fmla="*/ 2195 w 5828"/>
                <a:gd name="T47" fmla="*/ 12 h 24"/>
                <a:gd name="T48" fmla="*/ 2353 w 5828"/>
                <a:gd name="T49" fmla="*/ 0 h 24"/>
                <a:gd name="T50" fmla="*/ 2463 w 5828"/>
                <a:gd name="T51" fmla="*/ 12 h 24"/>
                <a:gd name="T52" fmla="*/ 2500 w 5828"/>
                <a:gd name="T53" fmla="*/ 24 h 24"/>
                <a:gd name="T54" fmla="*/ 2573 w 5828"/>
                <a:gd name="T55" fmla="*/ 0 h 24"/>
                <a:gd name="T56" fmla="*/ 2744 w 5828"/>
                <a:gd name="T57" fmla="*/ 0 h 24"/>
                <a:gd name="T58" fmla="*/ 2817 w 5828"/>
                <a:gd name="T59" fmla="*/ 24 h 24"/>
                <a:gd name="T60" fmla="*/ 2853 w 5828"/>
                <a:gd name="T61" fmla="*/ 12 h 24"/>
                <a:gd name="T62" fmla="*/ 3012 w 5828"/>
                <a:gd name="T63" fmla="*/ 0 h 24"/>
                <a:gd name="T64" fmla="*/ 3122 w 5828"/>
                <a:gd name="T65" fmla="*/ 12 h 24"/>
                <a:gd name="T66" fmla="*/ 3158 w 5828"/>
                <a:gd name="T67" fmla="*/ 24 h 24"/>
                <a:gd name="T68" fmla="*/ 3231 w 5828"/>
                <a:gd name="T69" fmla="*/ 0 h 24"/>
                <a:gd name="T70" fmla="*/ 3402 w 5828"/>
                <a:gd name="T71" fmla="*/ 0 h 24"/>
                <a:gd name="T72" fmla="*/ 3475 w 5828"/>
                <a:gd name="T73" fmla="*/ 24 h 24"/>
                <a:gd name="T74" fmla="*/ 3512 w 5828"/>
                <a:gd name="T75" fmla="*/ 12 h 24"/>
                <a:gd name="T76" fmla="*/ 3670 w 5828"/>
                <a:gd name="T77" fmla="*/ 0 h 24"/>
                <a:gd name="T78" fmla="*/ 3780 w 5828"/>
                <a:gd name="T79" fmla="*/ 12 h 24"/>
                <a:gd name="T80" fmla="*/ 3816 w 5828"/>
                <a:gd name="T81" fmla="*/ 24 h 24"/>
                <a:gd name="T82" fmla="*/ 3890 w 5828"/>
                <a:gd name="T83" fmla="*/ 0 h 24"/>
                <a:gd name="T84" fmla="*/ 4060 w 5828"/>
                <a:gd name="T85" fmla="*/ 0 h 24"/>
                <a:gd name="T86" fmla="*/ 4133 w 5828"/>
                <a:gd name="T87" fmla="*/ 24 h 24"/>
                <a:gd name="T88" fmla="*/ 4170 w 5828"/>
                <a:gd name="T89" fmla="*/ 12 h 24"/>
                <a:gd name="T90" fmla="*/ 4329 w 5828"/>
                <a:gd name="T91" fmla="*/ 0 h 24"/>
                <a:gd name="T92" fmla="*/ 4438 w 5828"/>
                <a:gd name="T93" fmla="*/ 12 h 24"/>
                <a:gd name="T94" fmla="*/ 4475 w 5828"/>
                <a:gd name="T95" fmla="*/ 24 h 24"/>
                <a:gd name="T96" fmla="*/ 4548 w 5828"/>
                <a:gd name="T97" fmla="*/ 0 h 24"/>
                <a:gd name="T98" fmla="*/ 4719 w 5828"/>
                <a:gd name="T99" fmla="*/ 0 h 24"/>
                <a:gd name="T100" fmla="*/ 4792 w 5828"/>
                <a:gd name="T101" fmla="*/ 24 h 24"/>
                <a:gd name="T102" fmla="*/ 4828 w 5828"/>
                <a:gd name="T103" fmla="*/ 12 h 24"/>
                <a:gd name="T104" fmla="*/ 4987 w 5828"/>
                <a:gd name="T105" fmla="*/ 0 h 24"/>
                <a:gd name="T106" fmla="*/ 5097 w 5828"/>
                <a:gd name="T107" fmla="*/ 12 h 24"/>
                <a:gd name="T108" fmla="*/ 5133 w 5828"/>
                <a:gd name="T109" fmla="*/ 24 h 24"/>
                <a:gd name="T110" fmla="*/ 5206 w 5828"/>
                <a:gd name="T111" fmla="*/ 0 h 24"/>
                <a:gd name="T112" fmla="*/ 5377 w 5828"/>
                <a:gd name="T113" fmla="*/ 0 h 24"/>
                <a:gd name="T114" fmla="*/ 5450 w 5828"/>
                <a:gd name="T115" fmla="*/ 24 h 24"/>
                <a:gd name="T116" fmla="*/ 5487 w 5828"/>
                <a:gd name="T117" fmla="*/ 12 h 24"/>
                <a:gd name="T118" fmla="*/ 5645 w 5828"/>
                <a:gd name="T119" fmla="*/ 0 h 24"/>
                <a:gd name="T120" fmla="*/ 5755 w 5828"/>
                <a:gd name="T121" fmla="*/ 12 h 24"/>
                <a:gd name="T122" fmla="*/ 5792 w 5828"/>
                <a:gd name="T12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28" h="24">
                  <a:moveTo>
                    <a:pt x="13" y="0"/>
                  </a:moveTo>
                  <a:lnTo>
                    <a:pt x="37" y="0"/>
                  </a:lnTo>
                  <a:cubicBezTo>
                    <a:pt x="44" y="0"/>
                    <a:pt x="49" y="5"/>
                    <a:pt x="49" y="12"/>
                  </a:cubicBezTo>
                  <a:cubicBezTo>
                    <a:pt x="49" y="19"/>
                    <a:pt x="44" y="24"/>
                    <a:pt x="37" y="24"/>
                  </a:cubicBezTo>
                  <a:lnTo>
                    <a:pt x="13" y="24"/>
                  </a:lnTo>
                  <a:cubicBezTo>
                    <a:pt x="6" y="24"/>
                    <a:pt x="0" y="19"/>
                    <a:pt x="0" y="12"/>
                  </a:cubicBezTo>
                  <a:cubicBezTo>
                    <a:pt x="0" y="5"/>
                    <a:pt x="6" y="0"/>
                    <a:pt x="13" y="0"/>
                  </a:cubicBezTo>
                  <a:close/>
                  <a:moveTo>
                    <a:pt x="86" y="0"/>
                  </a:moveTo>
                  <a:lnTo>
                    <a:pt x="110" y="0"/>
                  </a:lnTo>
                  <a:cubicBezTo>
                    <a:pt x="117" y="0"/>
                    <a:pt x="122" y="5"/>
                    <a:pt x="122" y="12"/>
                  </a:cubicBezTo>
                  <a:cubicBezTo>
                    <a:pt x="122" y="19"/>
                    <a:pt x="117" y="24"/>
                    <a:pt x="110" y="24"/>
                  </a:cubicBezTo>
                  <a:lnTo>
                    <a:pt x="86" y="24"/>
                  </a:lnTo>
                  <a:cubicBezTo>
                    <a:pt x="79" y="24"/>
                    <a:pt x="74" y="19"/>
                    <a:pt x="74" y="12"/>
                  </a:cubicBezTo>
                  <a:cubicBezTo>
                    <a:pt x="74" y="5"/>
                    <a:pt x="79" y="0"/>
                    <a:pt x="86" y="0"/>
                  </a:cubicBezTo>
                  <a:close/>
                  <a:moveTo>
                    <a:pt x="159" y="0"/>
                  </a:moveTo>
                  <a:lnTo>
                    <a:pt x="183" y="0"/>
                  </a:lnTo>
                  <a:cubicBezTo>
                    <a:pt x="190" y="0"/>
                    <a:pt x="195" y="5"/>
                    <a:pt x="195" y="12"/>
                  </a:cubicBezTo>
                  <a:cubicBezTo>
                    <a:pt x="195" y="19"/>
                    <a:pt x="190" y="24"/>
                    <a:pt x="183" y="24"/>
                  </a:cubicBezTo>
                  <a:lnTo>
                    <a:pt x="159" y="24"/>
                  </a:lnTo>
                  <a:cubicBezTo>
                    <a:pt x="152" y="24"/>
                    <a:pt x="147" y="19"/>
                    <a:pt x="147" y="12"/>
                  </a:cubicBezTo>
                  <a:cubicBezTo>
                    <a:pt x="147" y="5"/>
                    <a:pt x="152" y="0"/>
                    <a:pt x="159" y="0"/>
                  </a:cubicBezTo>
                  <a:close/>
                  <a:moveTo>
                    <a:pt x="232" y="0"/>
                  </a:moveTo>
                  <a:lnTo>
                    <a:pt x="256" y="0"/>
                  </a:lnTo>
                  <a:cubicBezTo>
                    <a:pt x="263" y="0"/>
                    <a:pt x="269" y="5"/>
                    <a:pt x="269" y="12"/>
                  </a:cubicBezTo>
                  <a:cubicBezTo>
                    <a:pt x="269" y="19"/>
                    <a:pt x="263" y="24"/>
                    <a:pt x="256" y="24"/>
                  </a:cubicBezTo>
                  <a:lnTo>
                    <a:pt x="232" y="24"/>
                  </a:lnTo>
                  <a:cubicBezTo>
                    <a:pt x="225" y="24"/>
                    <a:pt x="220" y="19"/>
                    <a:pt x="220" y="12"/>
                  </a:cubicBezTo>
                  <a:cubicBezTo>
                    <a:pt x="220" y="5"/>
                    <a:pt x="225" y="0"/>
                    <a:pt x="232" y="0"/>
                  </a:cubicBezTo>
                  <a:close/>
                  <a:moveTo>
                    <a:pt x="305" y="0"/>
                  </a:moveTo>
                  <a:lnTo>
                    <a:pt x="330" y="0"/>
                  </a:lnTo>
                  <a:cubicBezTo>
                    <a:pt x="336" y="0"/>
                    <a:pt x="342" y="5"/>
                    <a:pt x="342" y="12"/>
                  </a:cubicBezTo>
                  <a:cubicBezTo>
                    <a:pt x="342" y="19"/>
                    <a:pt x="336" y="24"/>
                    <a:pt x="330" y="24"/>
                  </a:cubicBezTo>
                  <a:lnTo>
                    <a:pt x="305" y="24"/>
                  </a:lnTo>
                  <a:cubicBezTo>
                    <a:pt x="298" y="24"/>
                    <a:pt x="293" y="19"/>
                    <a:pt x="293" y="12"/>
                  </a:cubicBezTo>
                  <a:cubicBezTo>
                    <a:pt x="293" y="5"/>
                    <a:pt x="298" y="0"/>
                    <a:pt x="305" y="0"/>
                  </a:cubicBezTo>
                  <a:close/>
                  <a:moveTo>
                    <a:pt x="378" y="0"/>
                  </a:moveTo>
                  <a:lnTo>
                    <a:pt x="403" y="0"/>
                  </a:lnTo>
                  <a:cubicBezTo>
                    <a:pt x="409" y="0"/>
                    <a:pt x="415" y="5"/>
                    <a:pt x="415" y="12"/>
                  </a:cubicBezTo>
                  <a:cubicBezTo>
                    <a:pt x="415" y="19"/>
                    <a:pt x="409" y="24"/>
                    <a:pt x="403" y="24"/>
                  </a:cubicBezTo>
                  <a:lnTo>
                    <a:pt x="378" y="24"/>
                  </a:lnTo>
                  <a:cubicBezTo>
                    <a:pt x="372" y="24"/>
                    <a:pt x="366" y="19"/>
                    <a:pt x="366" y="12"/>
                  </a:cubicBezTo>
                  <a:cubicBezTo>
                    <a:pt x="366" y="5"/>
                    <a:pt x="372" y="0"/>
                    <a:pt x="378" y="0"/>
                  </a:cubicBezTo>
                  <a:close/>
                  <a:moveTo>
                    <a:pt x="452" y="0"/>
                  </a:moveTo>
                  <a:lnTo>
                    <a:pt x="476" y="0"/>
                  </a:lnTo>
                  <a:cubicBezTo>
                    <a:pt x="483" y="0"/>
                    <a:pt x="488" y="5"/>
                    <a:pt x="488" y="12"/>
                  </a:cubicBezTo>
                  <a:cubicBezTo>
                    <a:pt x="488" y="19"/>
                    <a:pt x="483" y="24"/>
                    <a:pt x="476" y="24"/>
                  </a:cubicBezTo>
                  <a:lnTo>
                    <a:pt x="452" y="24"/>
                  </a:lnTo>
                  <a:cubicBezTo>
                    <a:pt x="445" y="24"/>
                    <a:pt x="439" y="19"/>
                    <a:pt x="439" y="12"/>
                  </a:cubicBezTo>
                  <a:cubicBezTo>
                    <a:pt x="439" y="5"/>
                    <a:pt x="445" y="0"/>
                    <a:pt x="452" y="0"/>
                  </a:cubicBezTo>
                  <a:close/>
                  <a:moveTo>
                    <a:pt x="525" y="0"/>
                  </a:moveTo>
                  <a:lnTo>
                    <a:pt x="549" y="0"/>
                  </a:lnTo>
                  <a:cubicBezTo>
                    <a:pt x="556" y="0"/>
                    <a:pt x="561" y="5"/>
                    <a:pt x="561" y="12"/>
                  </a:cubicBezTo>
                  <a:cubicBezTo>
                    <a:pt x="561" y="19"/>
                    <a:pt x="556" y="24"/>
                    <a:pt x="549" y="24"/>
                  </a:cubicBezTo>
                  <a:lnTo>
                    <a:pt x="525" y="24"/>
                  </a:lnTo>
                  <a:cubicBezTo>
                    <a:pt x="518" y="24"/>
                    <a:pt x="512" y="19"/>
                    <a:pt x="512" y="12"/>
                  </a:cubicBezTo>
                  <a:cubicBezTo>
                    <a:pt x="512" y="5"/>
                    <a:pt x="518" y="0"/>
                    <a:pt x="525" y="0"/>
                  </a:cubicBezTo>
                  <a:close/>
                  <a:moveTo>
                    <a:pt x="598" y="0"/>
                  </a:moveTo>
                  <a:lnTo>
                    <a:pt x="622" y="0"/>
                  </a:lnTo>
                  <a:cubicBezTo>
                    <a:pt x="629" y="0"/>
                    <a:pt x="634" y="5"/>
                    <a:pt x="634" y="12"/>
                  </a:cubicBezTo>
                  <a:cubicBezTo>
                    <a:pt x="634" y="19"/>
                    <a:pt x="629" y="24"/>
                    <a:pt x="622" y="24"/>
                  </a:cubicBezTo>
                  <a:lnTo>
                    <a:pt x="598" y="24"/>
                  </a:lnTo>
                  <a:cubicBezTo>
                    <a:pt x="591" y="24"/>
                    <a:pt x="586" y="19"/>
                    <a:pt x="586" y="12"/>
                  </a:cubicBezTo>
                  <a:cubicBezTo>
                    <a:pt x="586" y="5"/>
                    <a:pt x="591" y="0"/>
                    <a:pt x="598" y="0"/>
                  </a:cubicBezTo>
                  <a:close/>
                  <a:moveTo>
                    <a:pt x="671" y="0"/>
                  </a:moveTo>
                  <a:lnTo>
                    <a:pt x="695" y="0"/>
                  </a:lnTo>
                  <a:cubicBezTo>
                    <a:pt x="702" y="0"/>
                    <a:pt x="708" y="5"/>
                    <a:pt x="708" y="12"/>
                  </a:cubicBezTo>
                  <a:cubicBezTo>
                    <a:pt x="708" y="19"/>
                    <a:pt x="702" y="24"/>
                    <a:pt x="695" y="24"/>
                  </a:cubicBezTo>
                  <a:lnTo>
                    <a:pt x="671" y="24"/>
                  </a:lnTo>
                  <a:cubicBezTo>
                    <a:pt x="664" y="24"/>
                    <a:pt x="659" y="19"/>
                    <a:pt x="659" y="12"/>
                  </a:cubicBezTo>
                  <a:cubicBezTo>
                    <a:pt x="659" y="5"/>
                    <a:pt x="664" y="0"/>
                    <a:pt x="671" y="0"/>
                  </a:cubicBezTo>
                  <a:close/>
                  <a:moveTo>
                    <a:pt x="744" y="0"/>
                  </a:moveTo>
                  <a:lnTo>
                    <a:pt x="769" y="0"/>
                  </a:lnTo>
                  <a:cubicBezTo>
                    <a:pt x="775" y="0"/>
                    <a:pt x="781" y="5"/>
                    <a:pt x="781" y="12"/>
                  </a:cubicBezTo>
                  <a:cubicBezTo>
                    <a:pt x="781" y="19"/>
                    <a:pt x="775" y="24"/>
                    <a:pt x="769" y="24"/>
                  </a:cubicBezTo>
                  <a:lnTo>
                    <a:pt x="744" y="24"/>
                  </a:lnTo>
                  <a:cubicBezTo>
                    <a:pt x="737" y="24"/>
                    <a:pt x="732" y="19"/>
                    <a:pt x="732" y="12"/>
                  </a:cubicBezTo>
                  <a:cubicBezTo>
                    <a:pt x="732" y="5"/>
                    <a:pt x="737" y="0"/>
                    <a:pt x="744" y="0"/>
                  </a:cubicBezTo>
                  <a:close/>
                  <a:moveTo>
                    <a:pt x="817" y="0"/>
                  </a:moveTo>
                  <a:lnTo>
                    <a:pt x="842" y="0"/>
                  </a:lnTo>
                  <a:cubicBezTo>
                    <a:pt x="848" y="0"/>
                    <a:pt x="854" y="5"/>
                    <a:pt x="854" y="12"/>
                  </a:cubicBezTo>
                  <a:cubicBezTo>
                    <a:pt x="854" y="19"/>
                    <a:pt x="848" y="24"/>
                    <a:pt x="842" y="24"/>
                  </a:cubicBezTo>
                  <a:lnTo>
                    <a:pt x="817" y="24"/>
                  </a:lnTo>
                  <a:cubicBezTo>
                    <a:pt x="811" y="24"/>
                    <a:pt x="805" y="19"/>
                    <a:pt x="805" y="12"/>
                  </a:cubicBezTo>
                  <a:cubicBezTo>
                    <a:pt x="805" y="5"/>
                    <a:pt x="811" y="0"/>
                    <a:pt x="817" y="0"/>
                  </a:cubicBezTo>
                  <a:close/>
                  <a:moveTo>
                    <a:pt x="890" y="0"/>
                  </a:moveTo>
                  <a:lnTo>
                    <a:pt x="915" y="0"/>
                  </a:lnTo>
                  <a:cubicBezTo>
                    <a:pt x="922" y="0"/>
                    <a:pt x="927" y="5"/>
                    <a:pt x="927" y="12"/>
                  </a:cubicBezTo>
                  <a:cubicBezTo>
                    <a:pt x="927" y="19"/>
                    <a:pt x="922" y="24"/>
                    <a:pt x="915" y="24"/>
                  </a:cubicBezTo>
                  <a:lnTo>
                    <a:pt x="890" y="24"/>
                  </a:lnTo>
                  <a:cubicBezTo>
                    <a:pt x="884" y="24"/>
                    <a:pt x="878" y="19"/>
                    <a:pt x="878" y="12"/>
                  </a:cubicBezTo>
                  <a:cubicBezTo>
                    <a:pt x="878" y="5"/>
                    <a:pt x="884" y="0"/>
                    <a:pt x="890" y="0"/>
                  </a:cubicBezTo>
                  <a:close/>
                  <a:moveTo>
                    <a:pt x="964" y="0"/>
                  </a:moveTo>
                  <a:lnTo>
                    <a:pt x="988" y="0"/>
                  </a:lnTo>
                  <a:cubicBezTo>
                    <a:pt x="995" y="0"/>
                    <a:pt x="1000" y="5"/>
                    <a:pt x="1000" y="12"/>
                  </a:cubicBezTo>
                  <a:cubicBezTo>
                    <a:pt x="1000" y="19"/>
                    <a:pt x="995" y="24"/>
                    <a:pt x="988" y="24"/>
                  </a:cubicBezTo>
                  <a:lnTo>
                    <a:pt x="964" y="24"/>
                  </a:lnTo>
                  <a:cubicBezTo>
                    <a:pt x="957" y="24"/>
                    <a:pt x="951" y="19"/>
                    <a:pt x="951" y="12"/>
                  </a:cubicBezTo>
                  <a:cubicBezTo>
                    <a:pt x="951" y="5"/>
                    <a:pt x="957" y="0"/>
                    <a:pt x="964" y="0"/>
                  </a:cubicBezTo>
                  <a:close/>
                  <a:moveTo>
                    <a:pt x="1037" y="0"/>
                  </a:moveTo>
                  <a:lnTo>
                    <a:pt x="1061" y="0"/>
                  </a:lnTo>
                  <a:cubicBezTo>
                    <a:pt x="1068" y="0"/>
                    <a:pt x="1073" y="5"/>
                    <a:pt x="1073" y="12"/>
                  </a:cubicBezTo>
                  <a:cubicBezTo>
                    <a:pt x="1073" y="19"/>
                    <a:pt x="1068" y="24"/>
                    <a:pt x="1061" y="24"/>
                  </a:cubicBezTo>
                  <a:lnTo>
                    <a:pt x="1037" y="24"/>
                  </a:lnTo>
                  <a:cubicBezTo>
                    <a:pt x="1030" y="24"/>
                    <a:pt x="1025" y="19"/>
                    <a:pt x="1025" y="12"/>
                  </a:cubicBezTo>
                  <a:cubicBezTo>
                    <a:pt x="1025" y="5"/>
                    <a:pt x="1030" y="0"/>
                    <a:pt x="1037" y="0"/>
                  </a:cubicBezTo>
                  <a:close/>
                  <a:moveTo>
                    <a:pt x="1110" y="0"/>
                  </a:moveTo>
                  <a:lnTo>
                    <a:pt x="1134" y="0"/>
                  </a:lnTo>
                  <a:cubicBezTo>
                    <a:pt x="1141" y="0"/>
                    <a:pt x="1146" y="5"/>
                    <a:pt x="1146" y="12"/>
                  </a:cubicBezTo>
                  <a:cubicBezTo>
                    <a:pt x="1146" y="19"/>
                    <a:pt x="1141" y="24"/>
                    <a:pt x="1134" y="24"/>
                  </a:cubicBezTo>
                  <a:lnTo>
                    <a:pt x="1110" y="24"/>
                  </a:lnTo>
                  <a:cubicBezTo>
                    <a:pt x="1103" y="24"/>
                    <a:pt x="1098" y="19"/>
                    <a:pt x="1098" y="12"/>
                  </a:cubicBezTo>
                  <a:cubicBezTo>
                    <a:pt x="1098" y="5"/>
                    <a:pt x="1103" y="0"/>
                    <a:pt x="1110" y="0"/>
                  </a:cubicBezTo>
                  <a:close/>
                  <a:moveTo>
                    <a:pt x="1183" y="0"/>
                  </a:moveTo>
                  <a:lnTo>
                    <a:pt x="1207" y="0"/>
                  </a:lnTo>
                  <a:cubicBezTo>
                    <a:pt x="1214" y="0"/>
                    <a:pt x="1220" y="5"/>
                    <a:pt x="1220" y="12"/>
                  </a:cubicBezTo>
                  <a:cubicBezTo>
                    <a:pt x="1220" y="19"/>
                    <a:pt x="1214" y="24"/>
                    <a:pt x="1207" y="24"/>
                  </a:cubicBezTo>
                  <a:lnTo>
                    <a:pt x="1183" y="24"/>
                  </a:lnTo>
                  <a:cubicBezTo>
                    <a:pt x="1176" y="24"/>
                    <a:pt x="1171" y="19"/>
                    <a:pt x="1171" y="12"/>
                  </a:cubicBezTo>
                  <a:cubicBezTo>
                    <a:pt x="1171" y="5"/>
                    <a:pt x="1176" y="0"/>
                    <a:pt x="1183" y="0"/>
                  </a:cubicBezTo>
                  <a:close/>
                  <a:moveTo>
                    <a:pt x="1256" y="0"/>
                  </a:moveTo>
                  <a:lnTo>
                    <a:pt x="1281" y="0"/>
                  </a:lnTo>
                  <a:cubicBezTo>
                    <a:pt x="1287" y="0"/>
                    <a:pt x="1293" y="5"/>
                    <a:pt x="1293" y="12"/>
                  </a:cubicBezTo>
                  <a:cubicBezTo>
                    <a:pt x="1293" y="19"/>
                    <a:pt x="1287" y="24"/>
                    <a:pt x="1281" y="24"/>
                  </a:cubicBezTo>
                  <a:lnTo>
                    <a:pt x="1256" y="24"/>
                  </a:lnTo>
                  <a:cubicBezTo>
                    <a:pt x="1249" y="24"/>
                    <a:pt x="1244" y="19"/>
                    <a:pt x="1244" y="12"/>
                  </a:cubicBezTo>
                  <a:cubicBezTo>
                    <a:pt x="1244" y="5"/>
                    <a:pt x="1249" y="0"/>
                    <a:pt x="1256" y="0"/>
                  </a:cubicBezTo>
                  <a:close/>
                  <a:moveTo>
                    <a:pt x="1329" y="0"/>
                  </a:moveTo>
                  <a:lnTo>
                    <a:pt x="1354" y="0"/>
                  </a:lnTo>
                  <a:cubicBezTo>
                    <a:pt x="1360" y="0"/>
                    <a:pt x="1366" y="5"/>
                    <a:pt x="1366" y="12"/>
                  </a:cubicBezTo>
                  <a:cubicBezTo>
                    <a:pt x="1366" y="19"/>
                    <a:pt x="1360" y="24"/>
                    <a:pt x="1354" y="24"/>
                  </a:cubicBezTo>
                  <a:lnTo>
                    <a:pt x="1329" y="24"/>
                  </a:lnTo>
                  <a:cubicBezTo>
                    <a:pt x="1323" y="24"/>
                    <a:pt x="1317" y="19"/>
                    <a:pt x="1317" y="12"/>
                  </a:cubicBezTo>
                  <a:cubicBezTo>
                    <a:pt x="1317" y="5"/>
                    <a:pt x="1323" y="0"/>
                    <a:pt x="1329" y="0"/>
                  </a:cubicBezTo>
                  <a:close/>
                  <a:moveTo>
                    <a:pt x="1402" y="0"/>
                  </a:moveTo>
                  <a:lnTo>
                    <a:pt x="1427" y="0"/>
                  </a:lnTo>
                  <a:cubicBezTo>
                    <a:pt x="1434" y="0"/>
                    <a:pt x="1439" y="5"/>
                    <a:pt x="1439" y="12"/>
                  </a:cubicBezTo>
                  <a:cubicBezTo>
                    <a:pt x="1439" y="19"/>
                    <a:pt x="1434" y="24"/>
                    <a:pt x="1427" y="24"/>
                  </a:cubicBezTo>
                  <a:lnTo>
                    <a:pt x="1402" y="24"/>
                  </a:lnTo>
                  <a:cubicBezTo>
                    <a:pt x="1396" y="24"/>
                    <a:pt x="1390" y="19"/>
                    <a:pt x="1390" y="12"/>
                  </a:cubicBezTo>
                  <a:cubicBezTo>
                    <a:pt x="1390" y="5"/>
                    <a:pt x="1396" y="0"/>
                    <a:pt x="1402" y="0"/>
                  </a:cubicBezTo>
                  <a:close/>
                  <a:moveTo>
                    <a:pt x="1476" y="0"/>
                  </a:moveTo>
                  <a:lnTo>
                    <a:pt x="1500" y="0"/>
                  </a:lnTo>
                  <a:cubicBezTo>
                    <a:pt x="1507" y="0"/>
                    <a:pt x="1512" y="5"/>
                    <a:pt x="1512" y="12"/>
                  </a:cubicBezTo>
                  <a:cubicBezTo>
                    <a:pt x="1512" y="19"/>
                    <a:pt x="1507" y="24"/>
                    <a:pt x="1500" y="24"/>
                  </a:cubicBezTo>
                  <a:lnTo>
                    <a:pt x="1476" y="24"/>
                  </a:lnTo>
                  <a:cubicBezTo>
                    <a:pt x="1469" y="24"/>
                    <a:pt x="1463" y="19"/>
                    <a:pt x="1463" y="12"/>
                  </a:cubicBezTo>
                  <a:cubicBezTo>
                    <a:pt x="1463" y="5"/>
                    <a:pt x="1469" y="0"/>
                    <a:pt x="1476" y="0"/>
                  </a:cubicBezTo>
                  <a:close/>
                  <a:moveTo>
                    <a:pt x="1549" y="0"/>
                  </a:moveTo>
                  <a:lnTo>
                    <a:pt x="1573" y="0"/>
                  </a:lnTo>
                  <a:cubicBezTo>
                    <a:pt x="1580" y="0"/>
                    <a:pt x="1585" y="5"/>
                    <a:pt x="1585" y="12"/>
                  </a:cubicBezTo>
                  <a:cubicBezTo>
                    <a:pt x="1585" y="19"/>
                    <a:pt x="1580" y="24"/>
                    <a:pt x="1573" y="24"/>
                  </a:cubicBezTo>
                  <a:lnTo>
                    <a:pt x="1549" y="24"/>
                  </a:lnTo>
                  <a:cubicBezTo>
                    <a:pt x="1542" y="24"/>
                    <a:pt x="1537" y="19"/>
                    <a:pt x="1537" y="12"/>
                  </a:cubicBezTo>
                  <a:cubicBezTo>
                    <a:pt x="1537" y="5"/>
                    <a:pt x="1542" y="0"/>
                    <a:pt x="1549" y="0"/>
                  </a:cubicBezTo>
                  <a:close/>
                  <a:moveTo>
                    <a:pt x="1622" y="0"/>
                  </a:moveTo>
                  <a:lnTo>
                    <a:pt x="1646" y="0"/>
                  </a:lnTo>
                  <a:cubicBezTo>
                    <a:pt x="1653" y="0"/>
                    <a:pt x="1659" y="5"/>
                    <a:pt x="1659" y="12"/>
                  </a:cubicBezTo>
                  <a:cubicBezTo>
                    <a:pt x="1659" y="19"/>
                    <a:pt x="1653" y="24"/>
                    <a:pt x="1646" y="24"/>
                  </a:cubicBezTo>
                  <a:lnTo>
                    <a:pt x="1622" y="24"/>
                  </a:lnTo>
                  <a:cubicBezTo>
                    <a:pt x="1615" y="24"/>
                    <a:pt x="1610" y="19"/>
                    <a:pt x="1610" y="12"/>
                  </a:cubicBezTo>
                  <a:cubicBezTo>
                    <a:pt x="1610" y="5"/>
                    <a:pt x="1615" y="0"/>
                    <a:pt x="1622" y="0"/>
                  </a:cubicBezTo>
                  <a:close/>
                  <a:moveTo>
                    <a:pt x="1695" y="0"/>
                  </a:moveTo>
                  <a:lnTo>
                    <a:pt x="1719" y="0"/>
                  </a:lnTo>
                  <a:cubicBezTo>
                    <a:pt x="1726" y="0"/>
                    <a:pt x="1732" y="5"/>
                    <a:pt x="1732" y="12"/>
                  </a:cubicBezTo>
                  <a:cubicBezTo>
                    <a:pt x="1732" y="19"/>
                    <a:pt x="1726" y="24"/>
                    <a:pt x="1719" y="24"/>
                  </a:cubicBezTo>
                  <a:lnTo>
                    <a:pt x="1695" y="24"/>
                  </a:lnTo>
                  <a:cubicBezTo>
                    <a:pt x="1688" y="24"/>
                    <a:pt x="1683" y="19"/>
                    <a:pt x="1683" y="12"/>
                  </a:cubicBezTo>
                  <a:cubicBezTo>
                    <a:pt x="1683" y="5"/>
                    <a:pt x="1688" y="0"/>
                    <a:pt x="1695" y="0"/>
                  </a:cubicBezTo>
                  <a:close/>
                  <a:moveTo>
                    <a:pt x="1768" y="0"/>
                  </a:moveTo>
                  <a:lnTo>
                    <a:pt x="1793" y="0"/>
                  </a:lnTo>
                  <a:cubicBezTo>
                    <a:pt x="1799" y="0"/>
                    <a:pt x="1805" y="5"/>
                    <a:pt x="1805" y="12"/>
                  </a:cubicBezTo>
                  <a:cubicBezTo>
                    <a:pt x="1805" y="19"/>
                    <a:pt x="1799" y="24"/>
                    <a:pt x="1793" y="24"/>
                  </a:cubicBezTo>
                  <a:lnTo>
                    <a:pt x="1768" y="24"/>
                  </a:lnTo>
                  <a:cubicBezTo>
                    <a:pt x="1762" y="24"/>
                    <a:pt x="1756" y="19"/>
                    <a:pt x="1756" y="12"/>
                  </a:cubicBezTo>
                  <a:cubicBezTo>
                    <a:pt x="1756" y="5"/>
                    <a:pt x="1762" y="0"/>
                    <a:pt x="1768" y="0"/>
                  </a:cubicBezTo>
                  <a:close/>
                  <a:moveTo>
                    <a:pt x="1841" y="0"/>
                  </a:moveTo>
                  <a:lnTo>
                    <a:pt x="1866" y="0"/>
                  </a:lnTo>
                  <a:cubicBezTo>
                    <a:pt x="1873" y="0"/>
                    <a:pt x="1878" y="5"/>
                    <a:pt x="1878" y="12"/>
                  </a:cubicBezTo>
                  <a:cubicBezTo>
                    <a:pt x="1878" y="19"/>
                    <a:pt x="1873" y="24"/>
                    <a:pt x="1866" y="24"/>
                  </a:cubicBezTo>
                  <a:lnTo>
                    <a:pt x="1841" y="24"/>
                  </a:lnTo>
                  <a:cubicBezTo>
                    <a:pt x="1835" y="24"/>
                    <a:pt x="1829" y="19"/>
                    <a:pt x="1829" y="12"/>
                  </a:cubicBezTo>
                  <a:cubicBezTo>
                    <a:pt x="1829" y="5"/>
                    <a:pt x="1835" y="0"/>
                    <a:pt x="1841" y="0"/>
                  </a:cubicBezTo>
                  <a:close/>
                  <a:moveTo>
                    <a:pt x="1915" y="0"/>
                  </a:moveTo>
                  <a:lnTo>
                    <a:pt x="1939" y="0"/>
                  </a:lnTo>
                  <a:cubicBezTo>
                    <a:pt x="1946" y="0"/>
                    <a:pt x="1951" y="5"/>
                    <a:pt x="1951" y="12"/>
                  </a:cubicBezTo>
                  <a:cubicBezTo>
                    <a:pt x="1951" y="19"/>
                    <a:pt x="1946" y="24"/>
                    <a:pt x="1939" y="24"/>
                  </a:cubicBezTo>
                  <a:lnTo>
                    <a:pt x="1915" y="24"/>
                  </a:lnTo>
                  <a:cubicBezTo>
                    <a:pt x="1908" y="24"/>
                    <a:pt x="1902" y="19"/>
                    <a:pt x="1902" y="12"/>
                  </a:cubicBezTo>
                  <a:cubicBezTo>
                    <a:pt x="1902" y="5"/>
                    <a:pt x="1908" y="0"/>
                    <a:pt x="1915" y="0"/>
                  </a:cubicBezTo>
                  <a:close/>
                  <a:moveTo>
                    <a:pt x="1988" y="0"/>
                  </a:moveTo>
                  <a:lnTo>
                    <a:pt x="2012" y="0"/>
                  </a:lnTo>
                  <a:cubicBezTo>
                    <a:pt x="2019" y="0"/>
                    <a:pt x="2024" y="5"/>
                    <a:pt x="2024" y="12"/>
                  </a:cubicBezTo>
                  <a:cubicBezTo>
                    <a:pt x="2024" y="19"/>
                    <a:pt x="2019" y="24"/>
                    <a:pt x="2012" y="24"/>
                  </a:cubicBezTo>
                  <a:lnTo>
                    <a:pt x="1988" y="24"/>
                  </a:lnTo>
                  <a:cubicBezTo>
                    <a:pt x="1981" y="24"/>
                    <a:pt x="1976" y="19"/>
                    <a:pt x="1976" y="12"/>
                  </a:cubicBezTo>
                  <a:cubicBezTo>
                    <a:pt x="1976" y="5"/>
                    <a:pt x="1981" y="0"/>
                    <a:pt x="1988" y="0"/>
                  </a:cubicBezTo>
                  <a:close/>
                  <a:moveTo>
                    <a:pt x="2061" y="0"/>
                  </a:moveTo>
                  <a:lnTo>
                    <a:pt x="2085" y="0"/>
                  </a:lnTo>
                  <a:cubicBezTo>
                    <a:pt x="2092" y="0"/>
                    <a:pt x="2097" y="5"/>
                    <a:pt x="2097" y="12"/>
                  </a:cubicBezTo>
                  <a:cubicBezTo>
                    <a:pt x="2097" y="19"/>
                    <a:pt x="2092" y="24"/>
                    <a:pt x="2085" y="24"/>
                  </a:cubicBezTo>
                  <a:lnTo>
                    <a:pt x="2061" y="24"/>
                  </a:lnTo>
                  <a:cubicBezTo>
                    <a:pt x="2054" y="24"/>
                    <a:pt x="2049" y="19"/>
                    <a:pt x="2049" y="12"/>
                  </a:cubicBezTo>
                  <a:cubicBezTo>
                    <a:pt x="2049" y="5"/>
                    <a:pt x="2054" y="0"/>
                    <a:pt x="2061" y="0"/>
                  </a:cubicBezTo>
                  <a:close/>
                  <a:moveTo>
                    <a:pt x="2134" y="0"/>
                  </a:moveTo>
                  <a:lnTo>
                    <a:pt x="2158" y="0"/>
                  </a:lnTo>
                  <a:cubicBezTo>
                    <a:pt x="2165" y="0"/>
                    <a:pt x="2171" y="5"/>
                    <a:pt x="2171" y="12"/>
                  </a:cubicBezTo>
                  <a:cubicBezTo>
                    <a:pt x="2171" y="19"/>
                    <a:pt x="2165" y="24"/>
                    <a:pt x="2158" y="24"/>
                  </a:cubicBezTo>
                  <a:lnTo>
                    <a:pt x="2134" y="24"/>
                  </a:lnTo>
                  <a:cubicBezTo>
                    <a:pt x="2127" y="24"/>
                    <a:pt x="2122" y="19"/>
                    <a:pt x="2122" y="12"/>
                  </a:cubicBezTo>
                  <a:cubicBezTo>
                    <a:pt x="2122" y="5"/>
                    <a:pt x="2127" y="0"/>
                    <a:pt x="2134" y="0"/>
                  </a:cubicBezTo>
                  <a:close/>
                  <a:moveTo>
                    <a:pt x="2207" y="0"/>
                  </a:moveTo>
                  <a:lnTo>
                    <a:pt x="2232" y="0"/>
                  </a:lnTo>
                  <a:cubicBezTo>
                    <a:pt x="2238" y="0"/>
                    <a:pt x="2244" y="5"/>
                    <a:pt x="2244" y="12"/>
                  </a:cubicBezTo>
                  <a:cubicBezTo>
                    <a:pt x="2244" y="19"/>
                    <a:pt x="2238" y="24"/>
                    <a:pt x="2232" y="24"/>
                  </a:cubicBezTo>
                  <a:lnTo>
                    <a:pt x="2207" y="24"/>
                  </a:lnTo>
                  <a:cubicBezTo>
                    <a:pt x="2200" y="24"/>
                    <a:pt x="2195" y="19"/>
                    <a:pt x="2195" y="12"/>
                  </a:cubicBezTo>
                  <a:cubicBezTo>
                    <a:pt x="2195" y="5"/>
                    <a:pt x="2200" y="0"/>
                    <a:pt x="2207" y="0"/>
                  </a:cubicBezTo>
                  <a:close/>
                  <a:moveTo>
                    <a:pt x="2280" y="0"/>
                  </a:moveTo>
                  <a:lnTo>
                    <a:pt x="2305" y="0"/>
                  </a:lnTo>
                  <a:cubicBezTo>
                    <a:pt x="2311" y="0"/>
                    <a:pt x="2317" y="5"/>
                    <a:pt x="2317" y="12"/>
                  </a:cubicBezTo>
                  <a:cubicBezTo>
                    <a:pt x="2317" y="19"/>
                    <a:pt x="2311" y="24"/>
                    <a:pt x="2305" y="24"/>
                  </a:cubicBezTo>
                  <a:lnTo>
                    <a:pt x="2280" y="24"/>
                  </a:lnTo>
                  <a:cubicBezTo>
                    <a:pt x="2274" y="24"/>
                    <a:pt x="2268" y="19"/>
                    <a:pt x="2268" y="12"/>
                  </a:cubicBezTo>
                  <a:cubicBezTo>
                    <a:pt x="2268" y="5"/>
                    <a:pt x="2274" y="0"/>
                    <a:pt x="2280" y="0"/>
                  </a:cubicBezTo>
                  <a:close/>
                  <a:moveTo>
                    <a:pt x="2353" y="0"/>
                  </a:moveTo>
                  <a:lnTo>
                    <a:pt x="2378" y="0"/>
                  </a:lnTo>
                  <a:cubicBezTo>
                    <a:pt x="2385" y="0"/>
                    <a:pt x="2390" y="5"/>
                    <a:pt x="2390" y="12"/>
                  </a:cubicBezTo>
                  <a:cubicBezTo>
                    <a:pt x="2390" y="19"/>
                    <a:pt x="2385" y="24"/>
                    <a:pt x="2378" y="24"/>
                  </a:cubicBezTo>
                  <a:lnTo>
                    <a:pt x="2353" y="24"/>
                  </a:lnTo>
                  <a:cubicBezTo>
                    <a:pt x="2347" y="24"/>
                    <a:pt x="2341" y="19"/>
                    <a:pt x="2341" y="12"/>
                  </a:cubicBezTo>
                  <a:cubicBezTo>
                    <a:pt x="2341" y="5"/>
                    <a:pt x="2347" y="0"/>
                    <a:pt x="2353" y="0"/>
                  </a:cubicBezTo>
                  <a:close/>
                  <a:moveTo>
                    <a:pt x="2427" y="0"/>
                  </a:moveTo>
                  <a:lnTo>
                    <a:pt x="2451" y="0"/>
                  </a:lnTo>
                  <a:cubicBezTo>
                    <a:pt x="2458" y="0"/>
                    <a:pt x="2463" y="5"/>
                    <a:pt x="2463" y="12"/>
                  </a:cubicBezTo>
                  <a:cubicBezTo>
                    <a:pt x="2463" y="19"/>
                    <a:pt x="2458" y="24"/>
                    <a:pt x="2451" y="24"/>
                  </a:cubicBezTo>
                  <a:lnTo>
                    <a:pt x="2427" y="24"/>
                  </a:lnTo>
                  <a:cubicBezTo>
                    <a:pt x="2420" y="24"/>
                    <a:pt x="2414" y="19"/>
                    <a:pt x="2414" y="12"/>
                  </a:cubicBezTo>
                  <a:cubicBezTo>
                    <a:pt x="2414" y="5"/>
                    <a:pt x="2420" y="0"/>
                    <a:pt x="2427" y="0"/>
                  </a:cubicBezTo>
                  <a:close/>
                  <a:moveTo>
                    <a:pt x="2500" y="0"/>
                  </a:moveTo>
                  <a:lnTo>
                    <a:pt x="2524" y="0"/>
                  </a:lnTo>
                  <a:cubicBezTo>
                    <a:pt x="2531" y="0"/>
                    <a:pt x="2536" y="5"/>
                    <a:pt x="2536" y="12"/>
                  </a:cubicBezTo>
                  <a:cubicBezTo>
                    <a:pt x="2536" y="19"/>
                    <a:pt x="2531" y="24"/>
                    <a:pt x="2524" y="24"/>
                  </a:cubicBezTo>
                  <a:lnTo>
                    <a:pt x="2500" y="24"/>
                  </a:lnTo>
                  <a:cubicBezTo>
                    <a:pt x="2493" y="24"/>
                    <a:pt x="2488" y="19"/>
                    <a:pt x="2488" y="12"/>
                  </a:cubicBezTo>
                  <a:cubicBezTo>
                    <a:pt x="2488" y="5"/>
                    <a:pt x="2493" y="0"/>
                    <a:pt x="2500" y="0"/>
                  </a:cubicBezTo>
                  <a:close/>
                  <a:moveTo>
                    <a:pt x="2573" y="0"/>
                  </a:moveTo>
                  <a:lnTo>
                    <a:pt x="2597" y="0"/>
                  </a:lnTo>
                  <a:cubicBezTo>
                    <a:pt x="2604" y="0"/>
                    <a:pt x="2609" y="5"/>
                    <a:pt x="2609" y="12"/>
                  </a:cubicBezTo>
                  <a:cubicBezTo>
                    <a:pt x="2609" y="19"/>
                    <a:pt x="2604" y="24"/>
                    <a:pt x="2597" y="24"/>
                  </a:cubicBezTo>
                  <a:lnTo>
                    <a:pt x="2573" y="24"/>
                  </a:lnTo>
                  <a:cubicBezTo>
                    <a:pt x="2566" y="24"/>
                    <a:pt x="2561" y="19"/>
                    <a:pt x="2561" y="12"/>
                  </a:cubicBezTo>
                  <a:cubicBezTo>
                    <a:pt x="2561" y="5"/>
                    <a:pt x="2566" y="0"/>
                    <a:pt x="2573" y="0"/>
                  </a:cubicBezTo>
                  <a:close/>
                  <a:moveTo>
                    <a:pt x="2646" y="0"/>
                  </a:moveTo>
                  <a:lnTo>
                    <a:pt x="2670" y="0"/>
                  </a:lnTo>
                  <a:cubicBezTo>
                    <a:pt x="2677" y="0"/>
                    <a:pt x="2683" y="5"/>
                    <a:pt x="2683" y="12"/>
                  </a:cubicBezTo>
                  <a:cubicBezTo>
                    <a:pt x="2683" y="19"/>
                    <a:pt x="2677" y="24"/>
                    <a:pt x="2670" y="24"/>
                  </a:cubicBezTo>
                  <a:lnTo>
                    <a:pt x="2646" y="24"/>
                  </a:lnTo>
                  <a:cubicBezTo>
                    <a:pt x="2639" y="24"/>
                    <a:pt x="2634" y="19"/>
                    <a:pt x="2634" y="12"/>
                  </a:cubicBezTo>
                  <a:cubicBezTo>
                    <a:pt x="2634" y="5"/>
                    <a:pt x="2639" y="0"/>
                    <a:pt x="2646" y="0"/>
                  </a:cubicBezTo>
                  <a:close/>
                  <a:moveTo>
                    <a:pt x="2719" y="0"/>
                  </a:moveTo>
                  <a:lnTo>
                    <a:pt x="2744" y="0"/>
                  </a:lnTo>
                  <a:cubicBezTo>
                    <a:pt x="2750" y="0"/>
                    <a:pt x="2756" y="5"/>
                    <a:pt x="2756" y="12"/>
                  </a:cubicBezTo>
                  <a:cubicBezTo>
                    <a:pt x="2756" y="19"/>
                    <a:pt x="2750" y="24"/>
                    <a:pt x="2744" y="24"/>
                  </a:cubicBezTo>
                  <a:lnTo>
                    <a:pt x="2719" y="24"/>
                  </a:lnTo>
                  <a:cubicBezTo>
                    <a:pt x="2712" y="24"/>
                    <a:pt x="2707" y="19"/>
                    <a:pt x="2707" y="12"/>
                  </a:cubicBezTo>
                  <a:cubicBezTo>
                    <a:pt x="2707" y="5"/>
                    <a:pt x="2712" y="0"/>
                    <a:pt x="2719" y="0"/>
                  </a:cubicBezTo>
                  <a:close/>
                  <a:moveTo>
                    <a:pt x="2792" y="0"/>
                  </a:moveTo>
                  <a:lnTo>
                    <a:pt x="2817" y="0"/>
                  </a:lnTo>
                  <a:cubicBezTo>
                    <a:pt x="2823" y="0"/>
                    <a:pt x="2829" y="5"/>
                    <a:pt x="2829" y="12"/>
                  </a:cubicBezTo>
                  <a:cubicBezTo>
                    <a:pt x="2829" y="19"/>
                    <a:pt x="2823" y="24"/>
                    <a:pt x="2817" y="24"/>
                  </a:cubicBezTo>
                  <a:lnTo>
                    <a:pt x="2792" y="24"/>
                  </a:lnTo>
                  <a:cubicBezTo>
                    <a:pt x="2786" y="24"/>
                    <a:pt x="2780" y="19"/>
                    <a:pt x="2780" y="12"/>
                  </a:cubicBezTo>
                  <a:cubicBezTo>
                    <a:pt x="2780" y="5"/>
                    <a:pt x="2786" y="0"/>
                    <a:pt x="2792" y="0"/>
                  </a:cubicBezTo>
                  <a:close/>
                  <a:moveTo>
                    <a:pt x="2866" y="0"/>
                  </a:moveTo>
                  <a:lnTo>
                    <a:pt x="2890" y="0"/>
                  </a:lnTo>
                  <a:cubicBezTo>
                    <a:pt x="2897" y="0"/>
                    <a:pt x="2902" y="5"/>
                    <a:pt x="2902" y="12"/>
                  </a:cubicBezTo>
                  <a:cubicBezTo>
                    <a:pt x="2902" y="19"/>
                    <a:pt x="2897" y="24"/>
                    <a:pt x="2890" y="24"/>
                  </a:cubicBezTo>
                  <a:lnTo>
                    <a:pt x="2866" y="24"/>
                  </a:lnTo>
                  <a:cubicBezTo>
                    <a:pt x="2859" y="24"/>
                    <a:pt x="2853" y="19"/>
                    <a:pt x="2853" y="12"/>
                  </a:cubicBezTo>
                  <a:cubicBezTo>
                    <a:pt x="2853" y="5"/>
                    <a:pt x="2859" y="0"/>
                    <a:pt x="2866" y="0"/>
                  </a:cubicBezTo>
                  <a:close/>
                  <a:moveTo>
                    <a:pt x="2939" y="0"/>
                  </a:moveTo>
                  <a:lnTo>
                    <a:pt x="2963" y="0"/>
                  </a:lnTo>
                  <a:cubicBezTo>
                    <a:pt x="2970" y="0"/>
                    <a:pt x="2975" y="5"/>
                    <a:pt x="2975" y="12"/>
                  </a:cubicBezTo>
                  <a:cubicBezTo>
                    <a:pt x="2975" y="19"/>
                    <a:pt x="2970" y="24"/>
                    <a:pt x="2963" y="24"/>
                  </a:cubicBezTo>
                  <a:lnTo>
                    <a:pt x="2939" y="24"/>
                  </a:lnTo>
                  <a:cubicBezTo>
                    <a:pt x="2932" y="24"/>
                    <a:pt x="2926" y="19"/>
                    <a:pt x="2926" y="12"/>
                  </a:cubicBezTo>
                  <a:cubicBezTo>
                    <a:pt x="2926" y="5"/>
                    <a:pt x="2932" y="0"/>
                    <a:pt x="2939" y="0"/>
                  </a:cubicBezTo>
                  <a:close/>
                  <a:moveTo>
                    <a:pt x="3012" y="0"/>
                  </a:moveTo>
                  <a:lnTo>
                    <a:pt x="3036" y="0"/>
                  </a:lnTo>
                  <a:cubicBezTo>
                    <a:pt x="3043" y="0"/>
                    <a:pt x="3048" y="5"/>
                    <a:pt x="3048" y="12"/>
                  </a:cubicBezTo>
                  <a:cubicBezTo>
                    <a:pt x="3048" y="19"/>
                    <a:pt x="3043" y="24"/>
                    <a:pt x="3036" y="24"/>
                  </a:cubicBezTo>
                  <a:lnTo>
                    <a:pt x="3012" y="24"/>
                  </a:lnTo>
                  <a:cubicBezTo>
                    <a:pt x="3005" y="24"/>
                    <a:pt x="3000" y="19"/>
                    <a:pt x="3000" y="12"/>
                  </a:cubicBezTo>
                  <a:cubicBezTo>
                    <a:pt x="3000" y="5"/>
                    <a:pt x="3005" y="0"/>
                    <a:pt x="3012" y="0"/>
                  </a:cubicBezTo>
                  <a:close/>
                  <a:moveTo>
                    <a:pt x="3085" y="0"/>
                  </a:moveTo>
                  <a:lnTo>
                    <a:pt x="3109" y="0"/>
                  </a:lnTo>
                  <a:cubicBezTo>
                    <a:pt x="3116" y="0"/>
                    <a:pt x="3122" y="5"/>
                    <a:pt x="3122" y="12"/>
                  </a:cubicBezTo>
                  <a:cubicBezTo>
                    <a:pt x="3122" y="19"/>
                    <a:pt x="3116" y="24"/>
                    <a:pt x="3109" y="24"/>
                  </a:cubicBezTo>
                  <a:lnTo>
                    <a:pt x="3085" y="24"/>
                  </a:lnTo>
                  <a:cubicBezTo>
                    <a:pt x="3078" y="24"/>
                    <a:pt x="3073" y="19"/>
                    <a:pt x="3073" y="12"/>
                  </a:cubicBezTo>
                  <a:cubicBezTo>
                    <a:pt x="3073" y="5"/>
                    <a:pt x="3078" y="0"/>
                    <a:pt x="3085" y="0"/>
                  </a:cubicBezTo>
                  <a:close/>
                  <a:moveTo>
                    <a:pt x="3158" y="0"/>
                  </a:moveTo>
                  <a:lnTo>
                    <a:pt x="3183" y="0"/>
                  </a:lnTo>
                  <a:cubicBezTo>
                    <a:pt x="3189" y="0"/>
                    <a:pt x="3195" y="5"/>
                    <a:pt x="3195" y="12"/>
                  </a:cubicBezTo>
                  <a:cubicBezTo>
                    <a:pt x="3195" y="19"/>
                    <a:pt x="3189" y="24"/>
                    <a:pt x="3183" y="24"/>
                  </a:cubicBezTo>
                  <a:lnTo>
                    <a:pt x="3158" y="24"/>
                  </a:lnTo>
                  <a:cubicBezTo>
                    <a:pt x="3151" y="24"/>
                    <a:pt x="3146" y="19"/>
                    <a:pt x="3146" y="12"/>
                  </a:cubicBezTo>
                  <a:cubicBezTo>
                    <a:pt x="3146" y="5"/>
                    <a:pt x="3151" y="0"/>
                    <a:pt x="3158" y="0"/>
                  </a:cubicBezTo>
                  <a:close/>
                  <a:moveTo>
                    <a:pt x="3231" y="0"/>
                  </a:moveTo>
                  <a:lnTo>
                    <a:pt x="3256" y="0"/>
                  </a:lnTo>
                  <a:cubicBezTo>
                    <a:pt x="3262" y="0"/>
                    <a:pt x="3268" y="5"/>
                    <a:pt x="3268" y="12"/>
                  </a:cubicBezTo>
                  <a:cubicBezTo>
                    <a:pt x="3268" y="19"/>
                    <a:pt x="3262" y="24"/>
                    <a:pt x="3256" y="24"/>
                  </a:cubicBezTo>
                  <a:lnTo>
                    <a:pt x="3231" y="24"/>
                  </a:lnTo>
                  <a:cubicBezTo>
                    <a:pt x="3225" y="24"/>
                    <a:pt x="3219" y="19"/>
                    <a:pt x="3219" y="12"/>
                  </a:cubicBezTo>
                  <a:cubicBezTo>
                    <a:pt x="3219" y="5"/>
                    <a:pt x="3225" y="0"/>
                    <a:pt x="3231" y="0"/>
                  </a:cubicBezTo>
                  <a:close/>
                  <a:moveTo>
                    <a:pt x="3304" y="0"/>
                  </a:moveTo>
                  <a:lnTo>
                    <a:pt x="3329" y="0"/>
                  </a:lnTo>
                  <a:cubicBezTo>
                    <a:pt x="3336" y="0"/>
                    <a:pt x="3341" y="5"/>
                    <a:pt x="3341" y="12"/>
                  </a:cubicBezTo>
                  <a:cubicBezTo>
                    <a:pt x="3341" y="19"/>
                    <a:pt x="3336" y="24"/>
                    <a:pt x="3329" y="24"/>
                  </a:cubicBezTo>
                  <a:lnTo>
                    <a:pt x="3304" y="24"/>
                  </a:lnTo>
                  <a:cubicBezTo>
                    <a:pt x="3298" y="24"/>
                    <a:pt x="3292" y="19"/>
                    <a:pt x="3292" y="12"/>
                  </a:cubicBezTo>
                  <a:cubicBezTo>
                    <a:pt x="3292" y="5"/>
                    <a:pt x="3298" y="0"/>
                    <a:pt x="3304" y="0"/>
                  </a:cubicBezTo>
                  <a:close/>
                  <a:moveTo>
                    <a:pt x="3378" y="0"/>
                  </a:moveTo>
                  <a:lnTo>
                    <a:pt x="3402" y="0"/>
                  </a:lnTo>
                  <a:cubicBezTo>
                    <a:pt x="3409" y="0"/>
                    <a:pt x="3414" y="5"/>
                    <a:pt x="3414" y="12"/>
                  </a:cubicBezTo>
                  <a:cubicBezTo>
                    <a:pt x="3414" y="19"/>
                    <a:pt x="3409" y="24"/>
                    <a:pt x="3402" y="24"/>
                  </a:cubicBezTo>
                  <a:lnTo>
                    <a:pt x="3378" y="24"/>
                  </a:lnTo>
                  <a:cubicBezTo>
                    <a:pt x="3371" y="24"/>
                    <a:pt x="3365" y="19"/>
                    <a:pt x="3365" y="12"/>
                  </a:cubicBezTo>
                  <a:cubicBezTo>
                    <a:pt x="3365" y="5"/>
                    <a:pt x="3371" y="0"/>
                    <a:pt x="3378" y="0"/>
                  </a:cubicBezTo>
                  <a:close/>
                  <a:moveTo>
                    <a:pt x="3451" y="0"/>
                  </a:moveTo>
                  <a:lnTo>
                    <a:pt x="3475" y="0"/>
                  </a:lnTo>
                  <a:cubicBezTo>
                    <a:pt x="3482" y="0"/>
                    <a:pt x="3487" y="5"/>
                    <a:pt x="3487" y="12"/>
                  </a:cubicBezTo>
                  <a:cubicBezTo>
                    <a:pt x="3487" y="19"/>
                    <a:pt x="3482" y="24"/>
                    <a:pt x="3475" y="24"/>
                  </a:cubicBezTo>
                  <a:lnTo>
                    <a:pt x="3451" y="24"/>
                  </a:lnTo>
                  <a:cubicBezTo>
                    <a:pt x="3444" y="24"/>
                    <a:pt x="3439" y="19"/>
                    <a:pt x="3439" y="12"/>
                  </a:cubicBezTo>
                  <a:cubicBezTo>
                    <a:pt x="3439" y="5"/>
                    <a:pt x="3444" y="0"/>
                    <a:pt x="3451" y="0"/>
                  </a:cubicBezTo>
                  <a:close/>
                  <a:moveTo>
                    <a:pt x="3524" y="0"/>
                  </a:moveTo>
                  <a:lnTo>
                    <a:pt x="3548" y="0"/>
                  </a:lnTo>
                  <a:cubicBezTo>
                    <a:pt x="3555" y="0"/>
                    <a:pt x="3560" y="5"/>
                    <a:pt x="3560" y="12"/>
                  </a:cubicBezTo>
                  <a:cubicBezTo>
                    <a:pt x="3560" y="19"/>
                    <a:pt x="3555" y="24"/>
                    <a:pt x="3548" y="24"/>
                  </a:cubicBezTo>
                  <a:lnTo>
                    <a:pt x="3524" y="24"/>
                  </a:lnTo>
                  <a:cubicBezTo>
                    <a:pt x="3517" y="24"/>
                    <a:pt x="3512" y="19"/>
                    <a:pt x="3512" y="12"/>
                  </a:cubicBezTo>
                  <a:cubicBezTo>
                    <a:pt x="3512" y="5"/>
                    <a:pt x="3517" y="0"/>
                    <a:pt x="3524" y="0"/>
                  </a:cubicBezTo>
                  <a:close/>
                  <a:moveTo>
                    <a:pt x="3597" y="0"/>
                  </a:moveTo>
                  <a:lnTo>
                    <a:pt x="3621" y="0"/>
                  </a:lnTo>
                  <a:cubicBezTo>
                    <a:pt x="3628" y="0"/>
                    <a:pt x="3634" y="5"/>
                    <a:pt x="3634" y="12"/>
                  </a:cubicBezTo>
                  <a:cubicBezTo>
                    <a:pt x="3634" y="19"/>
                    <a:pt x="3628" y="24"/>
                    <a:pt x="3621" y="24"/>
                  </a:cubicBezTo>
                  <a:lnTo>
                    <a:pt x="3597" y="24"/>
                  </a:lnTo>
                  <a:cubicBezTo>
                    <a:pt x="3590" y="24"/>
                    <a:pt x="3585" y="19"/>
                    <a:pt x="3585" y="12"/>
                  </a:cubicBezTo>
                  <a:cubicBezTo>
                    <a:pt x="3585" y="5"/>
                    <a:pt x="3590" y="0"/>
                    <a:pt x="3597" y="0"/>
                  </a:cubicBezTo>
                  <a:close/>
                  <a:moveTo>
                    <a:pt x="3670" y="0"/>
                  </a:moveTo>
                  <a:lnTo>
                    <a:pt x="3695" y="0"/>
                  </a:lnTo>
                  <a:cubicBezTo>
                    <a:pt x="3701" y="0"/>
                    <a:pt x="3707" y="5"/>
                    <a:pt x="3707" y="12"/>
                  </a:cubicBezTo>
                  <a:cubicBezTo>
                    <a:pt x="3707" y="19"/>
                    <a:pt x="3701" y="24"/>
                    <a:pt x="3695" y="24"/>
                  </a:cubicBezTo>
                  <a:lnTo>
                    <a:pt x="3670" y="24"/>
                  </a:lnTo>
                  <a:cubicBezTo>
                    <a:pt x="3663" y="24"/>
                    <a:pt x="3658" y="19"/>
                    <a:pt x="3658" y="12"/>
                  </a:cubicBezTo>
                  <a:cubicBezTo>
                    <a:pt x="3658" y="5"/>
                    <a:pt x="3663" y="0"/>
                    <a:pt x="3670" y="0"/>
                  </a:cubicBezTo>
                  <a:close/>
                  <a:moveTo>
                    <a:pt x="3743" y="0"/>
                  </a:moveTo>
                  <a:lnTo>
                    <a:pt x="3768" y="0"/>
                  </a:lnTo>
                  <a:cubicBezTo>
                    <a:pt x="3774" y="0"/>
                    <a:pt x="3780" y="5"/>
                    <a:pt x="3780" y="12"/>
                  </a:cubicBezTo>
                  <a:cubicBezTo>
                    <a:pt x="3780" y="19"/>
                    <a:pt x="3774" y="24"/>
                    <a:pt x="3768" y="24"/>
                  </a:cubicBezTo>
                  <a:lnTo>
                    <a:pt x="3743" y="24"/>
                  </a:lnTo>
                  <a:cubicBezTo>
                    <a:pt x="3737" y="24"/>
                    <a:pt x="3731" y="19"/>
                    <a:pt x="3731" y="12"/>
                  </a:cubicBezTo>
                  <a:cubicBezTo>
                    <a:pt x="3731" y="5"/>
                    <a:pt x="3737" y="0"/>
                    <a:pt x="3743" y="0"/>
                  </a:cubicBezTo>
                  <a:close/>
                  <a:moveTo>
                    <a:pt x="3816" y="0"/>
                  </a:moveTo>
                  <a:lnTo>
                    <a:pt x="3841" y="0"/>
                  </a:lnTo>
                  <a:cubicBezTo>
                    <a:pt x="3848" y="0"/>
                    <a:pt x="3853" y="5"/>
                    <a:pt x="3853" y="12"/>
                  </a:cubicBezTo>
                  <a:cubicBezTo>
                    <a:pt x="3853" y="19"/>
                    <a:pt x="3848" y="24"/>
                    <a:pt x="3841" y="24"/>
                  </a:cubicBezTo>
                  <a:lnTo>
                    <a:pt x="3816" y="24"/>
                  </a:lnTo>
                  <a:cubicBezTo>
                    <a:pt x="3810" y="24"/>
                    <a:pt x="3804" y="19"/>
                    <a:pt x="3804" y="12"/>
                  </a:cubicBezTo>
                  <a:cubicBezTo>
                    <a:pt x="3804" y="5"/>
                    <a:pt x="3810" y="0"/>
                    <a:pt x="3816" y="0"/>
                  </a:cubicBezTo>
                  <a:close/>
                  <a:moveTo>
                    <a:pt x="3890" y="0"/>
                  </a:moveTo>
                  <a:lnTo>
                    <a:pt x="3914" y="0"/>
                  </a:lnTo>
                  <a:cubicBezTo>
                    <a:pt x="3921" y="0"/>
                    <a:pt x="3926" y="5"/>
                    <a:pt x="3926" y="12"/>
                  </a:cubicBezTo>
                  <a:cubicBezTo>
                    <a:pt x="3926" y="19"/>
                    <a:pt x="3921" y="24"/>
                    <a:pt x="3914" y="24"/>
                  </a:cubicBezTo>
                  <a:lnTo>
                    <a:pt x="3890" y="24"/>
                  </a:lnTo>
                  <a:cubicBezTo>
                    <a:pt x="3883" y="24"/>
                    <a:pt x="3877" y="19"/>
                    <a:pt x="3877" y="12"/>
                  </a:cubicBezTo>
                  <a:cubicBezTo>
                    <a:pt x="3877" y="5"/>
                    <a:pt x="3883" y="0"/>
                    <a:pt x="3890" y="0"/>
                  </a:cubicBezTo>
                  <a:close/>
                  <a:moveTo>
                    <a:pt x="3963" y="0"/>
                  </a:moveTo>
                  <a:lnTo>
                    <a:pt x="3987" y="0"/>
                  </a:lnTo>
                  <a:cubicBezTo>
                    <a:pt x="3994" y="0"/>
                    <a:pt x="3999" y="5"/>
                    <a:pt x="3999" y="12"/>
                  </a:cubicBezTo>
                  <a:cubicBezTo>
                    <a:pt x="3999" y="19"/>
                    <a:pt x="3994" y="24"/>
                    <a:pt x="3987" y="24"/>
                  </a:cubicBezTo>
                  <a:lnTo>
                    <a:pt x="3963" y="24"/>
                  </a:lnTo>
                  <a:cubicBezTo>
                    <a:pt x="3956" y="24"/>
                    <a:pt x="3951" y="19"/>
                    <a:pt x="3951" y="12"/>
                  </a:cubicBezTo>
                  <a:cubicBezTo>
                    <a:pt x="3951" y="5"/>
                    <a:pt x="3956" y="0"/>
                    <a:pt x="3963" y="0"/>
                  </a:cubicBezTo>
                  <a:close/>
                  <a:moveTo>
                    <a:pt x="4036" y="0"/>
                  </a:moveTo>
                  <a:lnTo>
                    <a:pt x="4060" y="0"/>
                  </a:lnTo>
                  <a:cubicBezTo>
                    <a:pt x="4067" y="0"/>
                    <a:pt x="4073" y="5"/>
                    <a:pt x="4073" y="12"/>
                  </a:cubicBezTo>
                  <a:cubicBezTo>
                    <a:pt x="4073" y="19"/>
                    <a:pt x="4067" y="24"/>
                    <a:pt x="4060" y="24"/>
                  </a:cubicBezTo>
                  <a:lnTo>
                    <a:pt x="4036" y="24"/>
                  </a:lnTo>
                  <a:cubicBezTo>
                    <a:pt x="4029" y="24"/>
                    <a:pt x="4024" y="19"/>
                    <a:pt x="4024" y="12"/>
                  </a:cubicBezTo>
                  <a:cubicBezTo>
                    <a:pt x="4024" y="5"/>
                    <a:pt x="4029" y="0"/>
                    <a:pt x="4036" y="0"/>
                  </a:cubicBezTo>
                  <a:close/>
                  <a:moveTo>
                    <a:pt x="4109" y="0"/>
                  </a:moveTo>
                  <a:lnTo>
                    <a:pt x="4133" y="0"/>
                  </a:lnTo>
                  <a:cubicBezTo>
                    <a:pt x="4140" y="0"/>
                    <a:pt x="4146" y="5"/>
                    <a:pt x="4146" y="12"/>
                  </a:cubicBezTo>
                  <a:cubicBezTo>
                    <a:pt x="4146" y="19"/>
                    <a:pt x="4140" y="24"/>
                    <a:pt x="4133" y="24"/>
                  </a:cubicBezTo>
                  <a:lnTo>
                    <a:pt x="4109" y="24"/>
                  </a:lnTo>
                  <a:cubicBezTo>
                    <a:pt x="4102" y="24"/>
                    <a:pt x="4097" y="19"/>
                    <a:pt x="4097" y="12"/>
                  </a:cubicBezTo>
                  <a:cubicBezTo>
                    <a:pt x="4097" y="5"/>
                    <a:pt x="4102" y="0"/>
                    <a:pt x="4109" y="0"/>
                  </a:cubicBezTo>
                  <a:close/>
                  <a:moveTo>
                    <a:pt x="4182" y="0"/>
                  </a:moveTo>
                  <a:lnTo>
                    <a:pt x="4207" y="0"/>
                  </a:lnTo>
                  <a:cubicBezTo>
                    <a:pt x="4213" y="0"/>
                    <a:pt x="4219" y="5"/>
                    <a:pt x="4219" y="12"/>
                  </a:cubicBezTo>
                  <a:cubicBezTo>
                    <a:pt x="4219" y="19"/>
                    <a:pt x="4213" y="24"/>
                    <a:pt x="4207" y="24"/>
                  </a:cubicBezTo>
                  <a:lnTo>
                    <a:pt x="4182" y="24"/>
                  </a:lnTo>
                  <a:cubicBezTo>
                    <a:pt x="4176" y="24"/>
                    <a:pt x="4170" y="19"/>
                    <a:pt x="4170" y="12"/>
                  </a:cubicBezTo>
                  <a:cubicBezTo>
                    <a:pt x="4170" y="5"/>
                    <a:pt x="4176" y="0"/>
                    <a:pt x="4182" y="0"/>
                  </a:cubicBezTo>
                  <a:close/>
                  <a:moveTo>
                    <a:pt x="4255" y="0"/>
                  </a:moveTo>
                  <a:lnTo>
                    <a:pt x="4280" y="0"/>
                  </a:lnTo>
                  <a:cubicBezTo>
                    <a:pt x="4287" y="0"/>
                    <a:pt x="4292" y="5"/>
                    <a:pt x="4292" y="12"/>
                  </a:cubicBezTo>
                  <a:cubicBezTo>
                    <a:pt x="4292" y="19"/>
                    <a:pt x="4287" y="24"/>
                    <a:pt x="4280" y="24"/>
                  </a:cubicBezTo>
                  <a:lnTo>
                    <a:pt x="4255" y="24"/>
                  </a:lnTo>
                  <a:cubicBezTo>
                    <a:pt x="4249" y="24"/>
                    <a:pt x="4243" y="19"/>
                    <a:pt x="4243" y="12"/>
                  </a:cubicBezTo>
                  <a:cubicBezTo>
                    <a:pt x="4243" y="5"/>
                    <a:pt x="4249" y="0"/>
                    <a:pt x="4255" y="0"/>
                  </a:cubicBezTo>
                  <a:close/>
                  <a:moveTo>
                    <a:pt x="4329" y="0"/>
                  </a:moveTo>
                  <a:lnTo>
                    <a:pt x="4353" y="0"/>
                  </a:lnTo>
                  <a:cubicBezTo>
                    <a:pt x="4360" y="0"/>
                    <a:pt x="4365" y="5"/>
                    <a:pt x="4365" y="12"/>
                  </a:cubicBezTo>
                  <a:cubicBezTo>
                    <a:pt x="4365" y="19"/>
                    <a:pt x="4360" y="24"/>
                    <a:pt x="4353" y="24"/>
                  </a:cubicBezTo>
                  <a:lnTo>
                    <a:pt x="4329" y="24"/>
                  </a:lnTo>
                  <a:cubicBezTo>
                    <a:pt x="4322" y="24"/>
                    <a:pt x="4316" y="19"/>
                    <a:pt x="4316" y="12"/>
                  </a:cubicBezTo>
                  <a:cubicBezTo>
                    <a:pt x="4316" y="5"/>
                    <a:pt x="4322" y="0"/>
                    <a:pt x="4329" y="0"/>
                  </a:cubicBezTo>
                  <a:close/>
                  <a:moveTo>
                    <a:pt x="4402" y="0"/>
                  </a:moveTo>
                  <a:lnTo>
                    <a:pt x="4426" y="0"/>
                  </a:lnTo>
                  <a:cubicBezTo>
                    <a:pt x="4433" y="0"/>
                    <a:pt x="4438" y="5"/>
                    <a:pt x="4438" y="12"/>
                  </a:cubicBezTo>
                  <a:cubicBezTo>
                    <a:pt x="4438" y="19"/>
                    <a:pt x="4433" y="24"/>
                    <a:pt x="4426" y="24"/>
                  </a:cubicBezTo>
                  <a:lnTo>
                    <a:pt x="4402" y="24"/>
                  </a:lnTo>
                  <a:cubicBezTo>
                    <a:pt x="4395" y="24"/>
                    <a:pt x="4390" y="19"/>
                    <a:pt x="4390" y="12"/>
                  </a:cubicBezTo>
                  <a:cubicBezTo>
                    <a:pt x="4390" y="5"/>
                    <a:pt x="4395" y="0"/>
                    <a:pt x="4402" y="0"/>
                  </a:cubicBezTo>
                  <a:close/>
                  <a:moveTo>
                    <a:pt x="4475" y="0"/>
                  </a:moveTo>
                  <a:lnTo>
                    <a:pt x="4499" y="0"/>
                  </a:lnTo>
                  <a:cubicBezTo>
                    <a:pt x="4506" y="0"/>
                    <a:pt x="4511" y="5"/>
                    <a:pt x="4511" y="12"/>
                  </a:cubicBezTo>
                  <a:cubicBezTo>
                    <a:pt x="4511" y="19"/>
                    <a:pt x="4506" y="24"/>
                    <a:pt x="4499" y="24"/>
                  </a:cubicBezTo>
                  <a:lnTo>
                    <a:pt x="4475" y="24"/>
                  </a:lnTo>
                  <a:cubicBezTo>
                    <a:pt x="4468" y="24"/>
                    <a:pt x="4463" y="19"/>
                    <a:pt x="4463" y="12"/>
                  </a:cubicBezTo>
                  <a:cubicBezTo>
                    <a:pt x="4463" y="5"/>
                    <a:pt x="4468" y="0"/>
                    <a:pt x="4475" y="0"/>
                  </a:cubicBezTo>
                  <a:close/>
                  <a:moveTo>
                    <a:pt x="4548" y="0"/>
                  </a:moveTo>
                  <a:lnTo>
                    <a:pt x="4572" y="0"/>
                  </a:lnTo>
                  <a:cubicBezTo>
                    <a:pt x="4579" y="0"/>
                    <a:pt x="4585" y="5"/>
                    <a:pt x="4585" y="12"/>
                  </a:cubicBezTo>
                  <a:cubicBezTo>
                    <a:pt x="4585" y="19"/>
                    <a:pt x="4579" y="24"/>
                    <a:pt x="4572" y="24"/>
                  </a:cubicBezTo>
                  <a:lnTo>
                    <a:pt x="4548" y="24"/>
                  </a:lnTo>
                  <a:cubicBezTo>
                    <a:pt x="4541" y="24"/>
                    <a:pt x="4536" y="19"/>
                    <a:pt x="4536" y="12"/>
                  </a:cubicBezTo>
                  <a:cubicBezTo>
                    <a:pt x="4536" y="5"/>
                    <a:pt x="4541" y="0"/>
                    <a:pt x="4548" y="0"/>
                  </a:cubicBezTo>
                  <a:close/>
                  <a:moveTo>
                    <a:pt x="4621" y="0"/>
                  </a:moveTo>
                  <a:lnTo>
                    <a:pt x="4646" y="0"/>
                  </a:lnTo>
                  <a:cubicBezTo>
                    <a:pt x="4652" y="0"/>
                    <a:pt x="4658" y="5"/>
                    <a:pt x="4658" y="12"/>
                  </a:cubicBezTo>
                  <a:cubicBezTo>
                    <a:pt x="4658" y="19"/>
                    <a:pt x="4652" y="24"/>
                    <a:pt x="4646" y="24"/>
                  </a:cubicBezTo>
                  <a:lnTo>
                    <a:pt x="4621" y="24"/>
                  </a:lnTo>
                  <a:cubicBezTo>
                    <a:pt x="4614" y="24"/>
                    <a:pt x="4609" y="19"/>
                    <a:pt x="4609" y="12"/>
                  </a:cubicBezTo>
                  <a:cubicBezTo>
                    <a:pt x="4609" y="5"/>
                    <a:pt x="4614" y="0"/>
                    <a:pt x="4621" y="0"/>
                  </a:cubicBezTo>
                  <a:close/>
                  <a:moveTo>
                    <a:pt x="4694" y="0"/>
                  </a:moveTo>
                  <a:lnTo>
                    <a:pt x="4719" y="0"/>
                  </a:lnTo>
                  <a:cubicBezTo>
                    <a:pt x="4725" y="0"/>
                    <a:pt x="4731" y="5"/>
                    <a:pt x="4731" y="12"/>
                  </a:cubicBezTo>
                  <a:cubicBezTo>
                    <a:pt x="4731" y="19"/>
                    <a:pt x="4725" y="24"/>
                    <a:pt x="4719" y="24"/>
                  </a:cubicBezTo>
                  <a:lnTo>
                    <a:pt x="4694" y="24"/>
                  </a:lnTo>
                  <a:cubicBezTo>
                    <a:pt x="4688" y="24"/>
                    <a:pt x="4682" y="19"/>
                    <a:pt x="4682" y="12"/>
                  </a:cubicBezTo>
                  <a:cubicBezTo>
                    <a:pt x="4682" y="5"/>
                    <a:pt x="4688" y="0"/>
                    <a:pt x="4694" y="0"/>
                  </a:cubicBezTo>
                  <a:close/>
                  <a:moveTo>
                    <a:pt x="4767" y="0"/>
                  </a:moveTo>
                  <a:lnTo>
                    <a:pt x="4792" y="0"/>
                  </a:lnTo>
                  <a:cubicBezTo>
                    <a:pt x="4799" y="0"/>
                    <a:pt x="4804" y="5"/>
                    <a:pt x="4804" y="12"/>
                  </a:cubicBezTo>
                  <a:cubicBezTo>
                    <a:pt x="4804" y="19"/>
                    <a:pt x="4799" y="24"/>
                    <a:pt x="4792" y="24"/>
                  </a:cubicBezTo>
                  <a:lnTo>
                    <a:pt x="4767" y="24"/>
                  </a:lnTo>
                  <a:cubicBezTo>
                    <a:pt x="4761" y="24"/>
                    <a:pt x="4755" y="19"/>
                    <a:pt x="4755" y="12"/>
                  </a:cubicBezTo>
                  <a:cubicBezTo>
                    <a:pt x="4755" y="5"/>
                    <a:pt x="4761" y="0"/>
                    <a:pt x="4767" y="0"/>
                  </a:cubicBezTo>
                  <a:close/>
                  <a:moveTo>
                    <a:pt x="4841" y="0"/>
                  </a:moveTo>
                  <a:lnTo>
                    <a:pt x="4865" y="0"/>
                  </a:lnTo>
                  <a:cubicBezTo>
                    <a:pt x="4872" y="0"/>
                    <a:pt x="4877" y="5"/>
                    <a:pt x="4877" y="12"/>
                  </a:cubicBezTo>
                  <a:cubicBezTo>
                    <a:pt x="4877" y="19"/>
                    <a:pt x="4872" y="24"/>
                    <a:pt x="4865" y="24"/>
                  </a:cubicBezTo>
                  <a:lnTo>
                    <a:pt x="4841" y="24"/>
                  </a:lnTo>
                  <a:cubicBezTo>
                    <a:pt x="4834" y="24"/>
                    <a:pt x="4828" y="19"/>
                    <a:pt x="4828" y="12"/>
                  </a:cubicBezTo>
                  <a:cubicBezTo>
                    <a:pt x="4828" y="5"/>
                    <a:pt x="4834" y="0"/>
                    <a:pt x="4841" y="0"/>
                  </a:cubicBezTo>
                  <a:close/>
                  <a:moveTo>
                    <a:pt x="4914" y="0"/>
                  </a:moveTo>
                  <a:lnTo>
                    <a:pt x="4938" y="0"/>
                  </a:lnTo>
                  <a:cubicBezTo>
                    <a:pt x="4945" y="0"/>
                    <a:pt x="4950" y="5"/>
                    <a:pt x="4950" y="12"/>
                  </a:cubicBezTo>
                  <a:cubicBezTo>
                    <a:pt x="4950" y="19"/>
                    <a:pt x="4945" y="24"/>
                    <a:pt x="4938" y="24"/>
                  </a:cubicBezTo>
                  <a:lnTo>
                    <a:pt x="4914" y="24"/>
                  </a:lnTo>
                  <a:cubicBezTo>
                    <a:pt x="4907" y="24"/>
                    <a:pt x="4902" y="19"/>
                    <a:pt x="4902" y="12"/>
                  </a:cubicBezTo>
                  <a:cubicBezTo>
                    <a:pt x="4902" y="5"/>
                    <a:pt x="4907" y="0"/>
                    <a:pt x="4914" y="0"/>
                  </a:cubicBezTo>
                  <a:close/>
                  <a:moveTo>
                    <a:pt x="4987" y="0"/>
                  </a:moveTo>
                  <a:lnTo>
                    <a:pt x="5011" y="0"/>
                  </a:lnTo>
                  <a:cubicBezTo>
                    <a:pt x="5018" y="0"/>
                    <a:pt x="5024" y="5"/>
                    <a:pt x="5024" y="12"/>
                  </a:cubicBezTo>
                  <a:cubicBezTo>
                    <a:pt x="5024" y="19"/>
                    <a:pt x="5018" y="24"/>
                    <a:pt x="5011" y="24"/>
                  </a:cubicBezTo>
                  <a:lnTo>
                    <a:pt x="4987" y="24"/>
                  </a:lnTo>
                  <a:cubicBezTo>
                    <a:pt x="4980" y="24"/>
                    <a:pt x="4975" y="19"/>
                    <a:pt x="4975" y="12"/>
                  </a:cubicBezTo>
                  <a:cubicBezTo>
                    <a:pt x="4975" y="5"/>
                    <a:pt x="4980" y="0"/>
                    <a:pt x="4987" y="0"/>
                  </a:cubicBezTo>
                  <a:close/>
                  <a:moveTo>
                    <a:pt x="5060" y="0"/>
                  </a:moveTo>
                  <a:lnTo>
                    <a:pt x="5084" y="0"/>
                  </a:lnTo>
                  <a:cubicBezTo>
                    <a:pt x="5091" y="0"/>
                    <a:pt x="5097" y="5"/>
                    <a:pt x="5097" y="12"/>
                  </a:cubicBezTo>
                  <a:cubicBezTo>
                    <a:pt x="5097" y="19"/>
                    <a:pt x="5091" y="24"/>
                    <a:pt x="5084" y="24"/>
                  </a:cubicBezTo>
                  <a:lnTo>
                    <a:pt x="5060" y="24"/>
                  </a:lnTo>
                  <a:cubicBezTo>
                    <a:pt x="5053" y="24"/>
                    <a:pt x="5048" y="19"/>
                    <a:pt x="5048" y="12"/>
                  </a:cubicBezTo>
                  <a:cubicBezTo>
                    <a:pt x="5048" y="5"/>
                    <a:pt x="5053" y="0"/>
                    <a:pt x="5060" y="0"/>
                  </a:cubicBezTo>
                  <a:close/>
                  <a:moveTo>
                    <a:pt x="5133" y="0"/>
                  </a:moveTo>
                  <a:lnTo>
                    <a:pt x="5158" y="0"/>
                  </a:lnTo>
                  <a:cubicBezTo>
                    <a:pt x="5164" y="0"/>
                    <a:pt x="5170" y="5"/>
                    <a:pt x="5170" y="12"/>
                  </a:cubicBezTo>
                  <a:cubicBezTo>
                    <a:pt x="5170" y="19"/>
                    <a:pt x="5164" y="24"/>
                    <a:pt x="5158" y="24"/>
                  </a:cubicBezTo>
                  <a:lnTo>
                    <a:pt x="5133" y="24"/>
                  </a:lnTo>
                  <a:cubicBezTo>
                    <a:pt x="5127" y="24"/>
                    <a:pt x="5121" y="19"/>
                    <a:pt x="5121" y="12"/>
                  </a:cubicBezTo>
                  <a:cubicBezTo>
                    <a:pt x="5121" y="5"/>
                    <a:pt x="5127" y="0"/>
                    <a:pt x="5133" y="0"/>
                  </a:cubicBezTo>
                  <a:close/>
                  <a:moveTo>
                    <a:pt x="5206" y="0"/>
                  </a:moveTo>
                  <a:lnTo>
                    <a:pt x="5231" y="0"/>
                  </a:lnTo>
                  <a:cubicBezTo>
                    <a:pt x="5238" y="0"/>
                    <a:pt x="5243" y="5"/>
                    <a:pt x="5243" y="12"/>
                  </a:cubicBezTo>
                  <a:cubicBezTo>
                    <a:pt x="5243" y="19"/>
                    <a:pt x="5238" y="24"/>
                    <a:pt x="5231" y="24"/>
                  </a:cubicBezTo>
                  <a:lnTo>
                    <a:pt x="5206" y="24"/>
                  </a:lnTo>
                  <a:cubicBezTo>
                    <a:pt x="5200" y="24"/>
                    <a:pt x="5194" y="19"/>
                    <a:pt x="5194" y="12"/>
                  </a:cubicBezTo>
                  <a:cubicBezTo>
                    <a:pt x="5194" y="5"/>
                    <a:pt x="5200" y="0"/>
                    <a:pt x="5206" y="0"/>
                  </a:cubicBezTo>
                  <a:close/>
                  <a:moveTo>
                    <a:pt x="5280" y="0"/>
                  </a:moveTo>
                  <a:lnTo>
                    <a:pt x="5304" y="0"/>
                  </a:lnTo>
                  <a:cubicBezTo>
                    <a:pt x="5311" y="0"/>
                    <a:pt x="5316" y="5"/>
                    <a:pt x="5316" y="12"/>
                  </a:cubicBezTo>
                  <a:cubicBezTo>
                    <a:pt x="5316" y="19"/>
                    <a:pt x="5311" y="24"/>
                    <a:pt x="5304" y="24"/>
                  </a:cubicBezTo>
                  <a:lnTo>
                    <a:pt x="5280" y="24"/>
                  </a:lnTo>
                  <a:cubicBezTo>
                    <a:pt x="5273" y="24"/>
                    <a:pt x="5267" y="19"/>
                    <a:pt x="5267" y="12"/>
                  </a:cubicBezTo>
                  <a:cubicBezTo>
                    <a:pt x="5267" y="5"/>
                    <a:pt x="5273" y="0"/>
                    <a:pt x="5280" y="0"/>
                  </a:cubicBezTo>
                  <a:close/>
                  <a:moveTo>
                    <a:pt x="5353" y="0"/>
                  </a:moveTo>
                  <a:lnTo>
                    <a:pt x="5377" y="0"/>
                  </a:lnTo>
                  <a:cubicBezTo>
                    <a:pt x="5384" y="0"/>
                    <a:pt x="5389" y="5"/>
                    <a:pt x="5389" y="12"/>
                  </a:cubicBezTo>
                  <a:cubicBezTo>
                    <a:pt x="5389" y="19"/>
                    <a:pt x="5384" y="24"/>
                    <a:pt x="5377" y="24"/>
                  </a:cubicBezTo>
                  <a:lnTo>
                    <a:pt x="5353" y="24"/>
                  </a:lnTo>
                  <a:cubicBezTo>
                    <a:pt x="5346" y="24"/>
                    <a:pt x="5341" y="19"/>
                    <a:pt x="5341" y="12"/>
                  </a:cubicBezTo>
                  <a:cubicBezTo>
                    <a:pt x="5341" y="5"/>
                    <a:pt x="5346" y="0"/>
                    <a:pt x="5353" y="0"/>
                  </a:cubicBezTo>
                  <a:close/>
                  <a:moveTo>
                    <a:pt x="5426" y="0"/>
                  </a:moveTo>
                  <a:lnTo>
                    <a:pt x="5450" y="0"/>
                  </a:lnTo>
                  <a:cubicBezTo>
                    <a:pt x="5457" y="0"/>
                    <a:pt x="5462" y="5"/>
                    <a:pt x="5462" y="12"/>
                  </a:cubicBezTo>
                  <a:cubicBezTo>
                    <a:pt x="5462" y="19"/>
                    <a:pt x="5457" y="24"/>
                    <a:pt x="5450" y="24"/>
                  </a:cubicBezTo>
                  <a:lnTo>
                    <a:pt x="5426" y="24"/>
                  </a:lnTo>
                  <a:cubicBezTo>
                    <a:pt x="5419" y="24"/>
                    <a:pt x="5414" y="19"/>
                    <a:pt x="5414" y="12"/>
                  </a:cubicBezTo>
                  <a:cubicBezTo>
                    <a:pt x="5414" y="5"/>
                    <a:pt x="5419" y="0"/>
                    <a:pt x="5426" y="0"/>
                  </a:cubicBezTo>
                  <a:close/>
                  <a:moveTo>
                    <a:pt x="5499" y="0"/>
                  </a:moveTo>
                  <a:lnTo>
                    <a:pt x="5523" y="0"/>
                  </a:lnTo>
                  <a:cubicBezTo>
                    <a:pt x="5530" y="0"/>
                    <a:pt x="5536" y="5"/>
                    <a:pt x="5536" y="12"/>
                  </a:cubicBezTo>
                  <a:cubicBezTo>
                    <a:pt x="5536" y="19"/>
                    <a:pt x="5530" y="24"/>
                    <a:pt x="5523" y="24"/>
                  </a:cubicBezTo>
                  <a:lnTo>
                    <a:pt x="5499" y="24"/>
                  </a:lnTo>
                  <a:cubicBezTo>
                    <a:pt x="5492" y="24"/>
                    <a:pt x="5487" y="19"/>
                    <a:pt x="5487" y="12"/>
                  </a:cubicBezTo>
                  <a:cubicBezTo>
                    <a:pt x="5487" y="5"/>
                    <a:pt x="5492" y="0"/>
                    <a:pt x="5499" y="0"/>
                  </a:cubicBezTo>
                  <a:close/>
                  <a:moveTo>
                    <a:pt x="5572" y="0"/>
                  </a:moveTo>
                  <a:lnTo>
                    <a:pt x="5597" y="0"/>
                  </a:lnTo>
                  <a:cubicBezTo>
                    <a:pt x="5603" y="0"/>
                    <a:pt x="5609" y="5"/>
                    <a:pt x="5609" y="12"/>
                  </a:cubicBezTo>
                  <a:cubicBezTo>
                    <a:pt x="5609" y="19"/>
                    <a:pt x="5603" y="24"/>
                    <a:pt x="5597" y="24"/>
                  </a:cubicBezTo>
                  <a:lnTo>
                    <a:pt x="5572" y="24"/>
                  </a:lnTo>
                  <a:cubicBezTo>
                    <a:pt x="5565" y="24"/>
                    <a:pt x="5560" y="19"/>
                    <a:pt x="5560" y="12"/>
                  </a:cubicBezTo>
                  <a:cubicBezTo>
                    <a:pt x="5560" y="5"/>
                    <a:pt x="5565" y="0"/>
                    <a:pt x="5572" y="0"/>
                  </a:cubicBezTo>
                  <a:close/>
                  <a:moveTo>
                    <a:pt x="5645" y="0"/>
                  </a:moveTo>
                  <a:lnTo>
                    <a:pt x="5670" y="0"/>
                  </a:lnTo>
                  <a:cubicBezTo>
                    <a:pt x="5676" y="0"/>
                    <a:pt x="5682" y="5"/>
                    <a:pt x="5682" y="12"/>
                  </a:cubicBezTo>
                  <a:cubicBezTo>
                    <a:pt x="5682" y="19"/>
                    <a:pt x="5676" y="24"/>
                    <a:pt x="5670" y="24"/>
                  </a:cubicBezTo>
                  <a:lnTo>
                    <a:pt x="5645" y="24"/>
                  </a:lnTo>
                  <a:cubicBezTo>
                    <a:pt x="5639" y="24"/>
                    <a:pt x="5633" y="19"/>
                    <a:pt x="5633" y="12"/>
                  </a:cubicBezTo>
                  <a:cubicBezTo>
                    <a:pt x="5633" y="5"/>
                    <a:pt x="5639" y="0"/>
                    <a:pt x="5645" y="0"/>
                  </a:cubicBezTo>
                  <a:close/>
                  <a:moveTo>
                    <a:pt x="5718" y="0"/>
                  </a:moveTo>
                  <a:lnTo>
                    <a:pt x="5743" y="0"/>
                  </a:lnTo>
                  <a:cubicBezTo>
                    <a:pt x="5750" y="0"/>
                    <a:pt x="5755" y="5"/>
                    <a:pt x="5755" y="12"/>
                  </a:cubicBezTo>
                  <a:cubicBezTo>
                    <a:pt x="5755" y="19"/>
                    <a:pt x="5750" y="24"/>
                    <a:pt x="5743" y="24"/>
                  </a:cubicBezTo>
                  <a:lnTo>
                    <a:pt x="5718" y="24"/>
                  </a:lnTo>
                  <a:cubicBezTo>
                    <a:pt x="5712" y="24"/>
                    <a:pt x="5706" y="19"/>
                    <a:pt x="5706" y="12"/>
                  </a:cubicBezTo>
                  <a:cubicBezTo>
                    <a:pt x="5706" y="5"/>
                    <a:pt x="5712" y="0"/>
                    <a:pt x="5718" y="0"/>
                  </a:cubicBezTo>
                  <a:close/>
                  <a:moveTo>
                    <a:pt x="5792" y="0"/>
                  </a:moveTo>
                  <a:lnTo>
                    <a:pt x="5816" y="0"/>
                  </a:lnTo>
                  <a:cubicBezTo>
                    <a:pt x="5823" y="0"/>
                    <a:pt x="5828" y="5"/>
                    <a:pt x="5828" y="12"/>
                  </a:cubicBezTo>
                  <a:cubicBezTo>
                    <a:pt x="5828" y="19"/>
                    <a:pt x="5823" y="24"/>
                    <a:pt x="5816" y="24"/>
                  </a:cubicBezTo>
                  <a:lnTo>
                    <a:pt x="5792" y="24"/>
                  </a:lnTo>
                  <a:cubicBezTo>
                    <a:pt x="5785" y="24"/>
                    <a:pt x="5779" y="19"/>
                    <a:pt x="5779" y="12"/>
                  </a:cubicBezTo>
                  <a:cubicBezTo>
                    <a:pt x="5779" y="5"/>
                    <a:pt x="5785" y="0"/>
                    <a:pt x="5792" y="0"/>
                  </a:cubicBezTo>
                  <a:close/>
                </a:path>
              </a:pathLst>
            </a:custGeom>
            <a:solidFill>
              <a:srgbClr val="000000"/>
            </a:solidFill>
            <a:ln w="8001" cap="flat">
              <a:solidFill>
                <a:srgbClr val="FF0000"/>
              </a:solidFill>
              <a:prstDash val="solid"/>
              <a:bevel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6" name="Freeform 416"/>
            <p:cNvSpPr>
              <a:spLocks noEditPoints="1"/>
            </p:cNvSpPr>
            <p:nvPr/>
          </p:nvSpPr>
          <p:spPr bwMode="auto">
            <a:xfrm>
              <a:off x="2105" y="2245"/>
              <a:ext cx="1900" cy="9"/>
            </a:xfrm>
            <a:custGeom>
              <a:avLst/>
              <a:gdLst>
                <a:gd name="T0" fmla="*/ 110 w 5828"/>
                <a:gd name="T1" fmla="*/ 0 h 24"/>
                <a:gd name="T2" fmla="*/ 183 w 5828"/>
                <a:gd name="T3" fmla="*/ 24 h 24"/>
                <a:gd name="T4" fmla="*/ 220 w 5828"/>
                <a:gd name="T5" fmla="*/ 12 h 24"/>
                <a:gd name="T6" fmla="*/ 378 w 5828"/>
                <a:gd name="T7" fmla="*/ 0 h 24"/>
                <a:gd name="T8" fmla="*/ 488 w 5828"/>
                <a:gd name="T9" fmla="*/ 12 h 24"/>
                <a:gd name="T10" fmla="*/ 525 w 5828"/>
                <a:gd name="T11" fmla="*/ 24 h 24"/>
                <a:gd name="T12" fmla="*/ 598 w 5828"/>
                <a:gd name="T13" fmla="*/ 0 h 24"/>
                <a:gd name="T14" fmla="*/ 769 w 5828"/>
                <a:gd name="T15" fmla="*/ 0 h 24"/>
                <a:gd name="T16" fmla="*/ 842 w 5828"/>
                <a:gd name="T17" fmla="*/ 24 h 24"/>
                <a:gd name="T18" fmla="*/ 878 w 5828"/>
                <a:gd name="T19" fmla="*/ 12 h 24"/>
                <a:gd name="T20" fmla="*/ 1037 w 5828"/>
                <a:gd name="T21" fmla="*/ 0 h 24"/>
                <a:gd name="T22" fmla="*/ 1146 w 5828"/>
                <a:gd name="T23" fmla="*/ 12 h 24"/>
                <a:gd name="T24" fmla="*/ 1183 w 5828"/>
                <a:gd name="T25" fmla="*/ 24 h 24"/>
                <a:gd name="T26" fmla="*/ 1256 w 5828"/>
                <a:gd name="T27" fmla="*/ 0 h 24"/>
                <a:gd name="T28" fmla="*/ 1427 w 5828"/>
                <a:gd name="T29" fmla="*/ 0 h 24"/>
                <a:gd name="T30" fmla="*/ 1500 w 5828"/>
                <a:gd name="T31" fmla="*/ 24 h 24"/>
                <a:gd name="T32" fmla="*/ 1537 w 5828"/>
                <a:gd name="T33" fmla="*/ 12 h 24"/>
                <a:gd name="T34" fmla="*/ 1695 w 5828"/>
                <a:gd name="T35" fmla="*/ 0 h 24"/>
                <a:gd name="T36" fmla="*/ 1805 w 5828"/>
                <a:gd name="T37" fmla="*/ 12 h 24"/>
                <a:gd name="T38" fmla="*/ 1841 w 5828"/>
                <a:gd name="T39" fmla="*/ 24 h 24"/>
                <a:gd name="T40" fmla="*/ 1915 w 5828"/>
                <a:gd name="T41" fmla="*/ 0 h 24"/>
                <a:gd name="T42" fmla="*/ 2085 w 5828"/>
                <a:gd name="T43" fmla="*/ 0 h 24"/>
                <a:gd name="T44" fmla="*/ 2158 w 5828"/>
                <a:gd name="T45" fmla="*/ 24 h 24"/>
                <a:gd name="T46" fmla="*/ 2195 w 5828"/>
                <a:gd name="T47" fmla="*/ 12 h 24"/>
                <a:gd name="T48" fmla="*/ 2353 w 5828"/>
                <a:gd name="T49" fmla="*/ 0 h 24"/>
                <a:gd name="T50" fmla="*/ 2463 w 5828"/>
                <a:gd name="T51" fmla="*/ 12 h 24"/>
                <a:gd name="T52" fmla="*/ 2500 w 5828"/>
                <a:gd name="T53" fmla="*/ 24 h 24"/>
                <a:gd name="T54" fmla="*/ 2573 w 5828"/>
                <a:gd name="T55" fmla="*/ 0 h 24"/>
                <a:gd name="T56" fmla="*/ 2744 w 5828"/>
                <a:gd name="T57" fmla="*/ 0 h 24"/>
                <a:gd name="T58" fmla="*/ 2817 w 5828"/>
                <a:gd name="T59" fmla="*/ 24 h 24"/>
                <a:gd name="T60" fmla="*/ 2853 w 5828"/>
                <a:gd name="T61" fmla="*/ 12 h 24"/>
                <a:gd name="T62" fmla="*/ 3012 w 5828"/>
                <a:gd name="T63" fmla="*/ 0 h 24"/>
                <a:gd name="T64" fmla="*/ 3122 w 5828"/>
                <a:gd name="T65" fmla="*/ 12 h 24"/>
                <a:gd name="T66" fmla="*/ 3158 w 5828"/>
                <a:gd name="T67" fmla="*/ 24 h 24"/>
                <a:gd name="T68" fmla="*/ 3231 w 5828"/>
                <a:gd name="T69" fmla="*/ 0 h 24"/>
                <a:gd name="T70" fmla="*/ 3402 w 5828"/>
                <a:gd name="T71" fmla="*/ 0 h 24"/>
                <a:gd name="T72" fmla="*/ 3475 w 5828"/>
                <a:gd name="T73" fmla="*/ 24 h 24"/>
                <a:gd name="T74" fmla="*/ 3512 w 5828"/>
                <a:gd name="T75" fmla="*/ 12 h 24"/>
                <a:gd name="T76" fmla="*/ 3670 w 5828"/>
                <a:gd name="T77" fmla="*/ 0 h 24"/>
                <a:gd name="T78" fmla="*/ 3780 w 5828"/>
                <a:gd name="T79" fmla="*/ 12 h 24"/>
                <a:gd name="T80" fmla="*/ 3816 w 5828"/>
                <a:gd name="T81" fmla="*/ 24 h 24"/>
                <a:gd name="T82" fmla="*/ 3890 w 5828"/>
                <a:gd name="T83" fmla="*/ 0 h 24"/>
                <a:gd name="T84" fmla="*/ 4060 w 5828"/>
                <a:gd name="T85" fmla="*/ 0 h 24"/>
                <a:gd name="T86" fmla="*/ 4133 w 5828"/>
                <a:gd name="T87" fmla="*/ 24 h 24"/>
                <a:gd name="T88" fmla="*/ 4170 w 5828"/>
                <a:gd name="T89" fmla="*/ 12 h 24"/>
                <a:gd name="T90" fmla="*/ 4329 w 5828"/>
                <a:gd name="T91" fmla="*/ 0 h 24"/>
                <a:gd name="T92" fmla="*/ 4438 w 5828"/>
                <a:gd name="T93" fmla="*/ 12 h 24"/>
                <a:gd name="T94" fmla="*/ 4475 w 5828"/>
                <a:gd name="T95" fmla="*/ 24 h 24"/>
                <a:gd name="T96" fmla="*/ 4548 w 5828"/>
                <a:gd name="T97" fmla="*/ 0 h 24"/>
                <a:gd name="T98" fmla="*/ 4719 w 5828"/>
                <a:gd name="T99" fmla="*/ 0 h 24"/>
                <a:gd name="T100" fmla="*/ 4792 w 5828"/>
                <a:gd name="T101" fmla="*/ 24 h 24"/>
                <a:gd name="T102" fmla="*/ 4828 w 5828"/>
                <a:gd name="T103" fmla="*/ 12 h 24"/>
                <a:gd name="T104" fmla="*/ 4987 w 5828"/>
                <a:gd name="T105" fmla="*/ 0 h 24"/>
                <a:gd name="T106" fmla="*/ 5097 w 5828"/>
                <a:gd name="T107" fmla="*/ 12 h 24"/>
                <a:gd name="T108" fmla="*/ 5133 w 5828"/>
                <a:gd name="T109" fmla="*/ 24 h 24"/>
                <a:gd name="T110" fmla="*/ 5206 w 5828"/>
                <a:gd name="T111" fmla="*/ 0 h 24"/>
                <a:gd name="T112" fmla="*/ 5377 w 5828"/>
                <a:gd name="T113" fmla="*/ 0 h 24"/>
                <a:gd name="T114" fmla="*/ 5450 w 5828"/>
                <a:gd name="T115" fmla="*/ 24 h 24"/>
                <a:gd name="T116" fmla="*/ 5487 w 5828"/>
                <a:gd name="T117" fmla="*/ 12 h 24"/>
                <a:gd name="T118" fmla="*/ 5645 w 5828"/>
                <a:gd name="T119" fmla="*/ 0 h 24"/>
                <a:gd name="T120" fmla="*/ 5755 w 5828"/>
                <a:gd name="T121" fmla="*/ 12 h 24"/>
                <a:gd name="T122" fmla="*/ 5792 w 5828"/>
                <a:gd name="T12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28" h="24">
                  <a:moveTo>
                    <a:pt x="13" y="0"/>
                  </a:moveTo>
                  <a:lnTo>
                    <a:pt x="37" y="0"/>
                  </a:lnTo>
                  <a:cubicBezTo>
                    <a:pt x="44" y="0"/>
                    <a:pt x="49" y="5"/>
                    <a:pt x="49" y="12"/>
                  </a:cubicBezTo>
                  <a:cubicBezTo>
                    <a:pt x="49" y="19"/>
                    <a:pt x="44" y="24"/>
                    <a:pt x="37" y="24"/>
                  </a:cubicBezTo>
                  <a:lnTo>
                    <a:pt x="13" y="24"/>
                  </a:lnTo>
                  <a:cubicBezTo>
                    <a:pt x="6" y="24"/>
                    <a:pt x="0" y="19"/>
                    <a:pt x="0" y="12"/>
                  </a:cubicBezTo>
                  <a:cubicBezTo>
                    <a:pt x="0" y="5"/>
                    <a:pt x="6" y="0"/>
                    <a:pt x="13" y="0"/>
                  </a:cubicBezTo>
                  <a:close/>
                  <a:moveTo>
                    <a:pt x="86" y="0"/>
                  </a:moveTo>
                  <a:lnTo>
                    <a:pt x="110" y="0"/>
                  </a:lnTo>
                  <a:cubicBezTo>
                    <a:pt x="117" y="0"/>
                    <a:pt x="122" y="5"/>
                    <a:pt x="122" y="12"/>
                  </a:cubicBezTo>
                  <a:cubicBezTo>
                    <a:pt x="122" y="19"/>
                    <a:pt x="117" y="24"/>
                    <a:pt x="110" y="24"/>
                  </a:cubicBezTo>
                  <a:lnTo>
                    <a:pt x="86" y="24"/>
                  </a:lnTo>
                  <a:cubicBezTo>
                    <a:pt x="79" y="24"/>
                    <a:pt x="74" y="19"/>
                    <a:pt x="74" y="12"/>
                  </a:cubicBezTo>
                  <a:cubicBezTo>
                    <a:pt x="74" y="5"/>
                    <a:pt x="79" y="0"/>
                    <a:pt x="86" y="0"/>
                  </a:cubicBezTo>
                  <a:close/>
                  <a:moveTo>
                    <a:pt x="159" y="0"/>
                  </a:moveTo>
                  <a:lnTo>
                    <a:pt x="183" y="0"/>
                  </a:lnTo>
                  <a:cubicBezTo>
                    <a:pt x="190" y="0"/>
                    <a:pt x="195" y="5"/>
                    <a:pt x="195" y="12"/>
                  </a:cubicBezTo>
                  <a:cubicBezTo>
                    <a:pt x="195" y="19"/>
                    <a:pt x="190" y="24"/>
                    <a:pt x="183" y="24"/>
                  </a:cubicBezTo>
                  <a:lnTo>
                    <a:pt x="159" y="24"/>
                  </a:lnTo>
                  <a:cubicBezTo>
                    <a:pt x="152" y="24"/>
                    <a:pt x="147" y="19"/>
                    <a:pt x="147" y="12"/>
                  </a:cubicBezTo>
                  <a:cubicBezTo>
                    <a:pt x="147" y="5"/>
                    <a:pt x="152" y="0"/>
                    <a:pt x="159" y="0"/>
                  </a:cubicBezTo>
                  <a:close/>
                  <a:moveTo>
                    <a:pt x="232" y="0"/>
                  </a:moveTo>
                  <a:lnTo>
                    <a:pt x="256" y="0"/>
                  </a:lnTo>
                  <a:cubicBezTo>
                    <a:pt x="263" y="0"/>
                    <a:pt x="269" y="5"/>
                    <a:pt x="269" y="12"/>
                  </a:cubicBezTo>
                  <a:cubicBezTo>
                    <a:pt x="269" y="19"/>
                    <a:pt x="263" y="24"/>
                    <a:pt x="256" y="24"/>
                  </a:cubicBezTo>
                  <a:lnTo>
                    <a:pt x="232" y="24"/>
                  </a:lnTo>
                  <a:cubicBezTo>
                    <a:pt x="225" y="24"/>
                    <a:pt x="220" y="19"/>
                    <a:pt x="220" y="12"/>
                  </a:cubicBezTo>
                  <a:cubicBezTo>
                    <a:pt x="220" y="5"/>
                    <a:pt x="225" y="0"/>
                    <a:pt x="232" y="0"/>
                  </a:cubicBezTo>
                  <a:close/>
                  <a:moveTo>
                    <a:pt x="305" y="0"/>
                  </a:moveTo>
                  <a:lnTo>
                    <a:pt x="330" y="0"/>
                  </a:lnTo>
                  <a:cubicBezTo>
                    <a:pt x="336" y="0"/>
                    <a:pt x="342" y="5"/>
                    <a:pt x="342" y="12"/>
                  </a:cubicBezTo>
                  <a:cubicBezTo>
                    <a:pt x="342" y="19"/>
                    <a:pt x="336" y="24"/>
                    <a:pt x="330" y="24"/>
                  </a:cubicBezTo>
                  <a:lnTo>
                    <a:pt x="305" y="24"/>
                  </a:lnTo>
                  <a:cubicBezTo>
                    <a:pt x="298" y="24"/>
                    <a:pt x="293" y="19"/>
                    <a:pt x="293" y="12"/>
                  </a:cubicBezTo>
                  <a:cubicBezTo>
                    <a:pt x="293" y="5"/>
                    <a:pt x="298" y="0"/>
                    <a:pt x="305" y="0"/>
                  </a:cubicBezTo>
                  <a:close/>
                  <a:moveTo>
                    <a:pt x="378" y="0"/>
                  </a:moveTo>
                  <a:lnTo>
                    <a:pt x="403" y="0"/>
                  </a:lnTo>
                  <a:cubicBezTo>
                    <a:pt x="409" y="0"/>
                    <a:pt x="415" y="5"/>
                    <a:pt x="415" y="12"/>
                  </a:cubicBezTo>
                  <a:cubicBezTo>
                    <a:pt x="415" y="19"/>
                    <a:pt x="409" y="24"/>
                    <a:pt x="403" y="24"/>
                  </a:cubicBezTo>
                  <a:lnTo>
                    <a:pt x="378" y="24"/>
                  </a:lnTo>
                  <a:cubicBezTo>
                    <a:pt x="372" y="24"/>
                    <a:pt x="366" y="19"/>
                    <a:pt x="366" y="12"/>
                  </a:cubicBezTo>
                  <a:cubicBezTo>
                    <a:pt x="366" y="5"/>
                    <a:pt x="372" y="0"/>
                    <a:pt x="378" y="0"/>
                  </a:cubicBezTo>
                  <a:close/>
                  <a:moveTo>
                    <a:pt x="452" y="0"/>
                  </a:moveTo>
                  <a:lnTo>
                    <a:pt x="476" y="0"/>
                  </a:lnTo>
                  <a:cubicBezTo>
                    <a:pt x="483" y="0"/>
                    <a:pt x="488" y="5"/>
                    <a:pt x="488" y="12"/>
                  </a:cubicBezTo>
                  <a:cubicBezTo>
                    <a:pt x="488" y="19"/>
                    <a:pt x="483" y="24"/>
                    <a:pt x="476" y="24"/>
                  </a:cubicBezTo>
                  <a:lnTo>
                    <a:pt x="452" y="24"/>
                  </a:lnTo>
                  <a:cubicBezTo>
                    <a:pt x="445" y="24"/>
                    <a:pt x="439" y="19"/>
                    <a:pt x="439" y="12"/>
                  </a:cubicBezTo>
                  <a:cubicBezTo>
                    <a:pt x="439" y="5"/>
                    <a:pt x="445" y="0"/>
                    <a:pt x="452" y="0"/>
                  </a:cubicBezTo>
                  <a:close/>
                  <a:moveTo>
                    <a:pt x="525" y="0"/>
                  </a:moveTo>
                  <a:lnTo>
                    <a:pt x="549" y="0"/>
                  </a:lnTo>
                  <a:cubicBezTo>
                    <a:pt x="556" y="0"/>
                    <a:pt x="561" y="5"/>
                    <a:pt x="561" y="12"/>
                  </a:cubicBezTo>
                  <a:cubicBezTo>
                    <a:pt x="561" y="19"/>
                    <a:pt x="556" y="24"/>
                    <a:pt x="549" y="24"/>
                  </a:cubicBezTo>
                  <a:lnTo>
                    <a:pt x="525" y="24"/>
                  </a:lnTo>
                  <a:cubicBezTo>
                    <a:pt x="518" y="24"/>
                    <a:pt x="512" y="19"/>
                    <a:pt x="512" y="12"/>
                  </a:cubicBezTo>
                  <a:cubicBezTo>
                    <a:pt x="512" y="5"/>
                    <a:pt x="518" y="0"/>
                    <a:pt x="525" y="0"/>
                  </a:cubicBezTo>
                  <a:close/>
                  <a:moveTo>
                    <a:pt x="598" y="0"/>
                  </a:moveTo>
                  <a:lnTo>
                    <a:pt x="622" y="0"/>
                  </a:lnTo>
                  <a:cubicBezTo>
                    <a:pt x="629" y="0"/>
                    <a:pt x="634" y="5"/>
                    <a:pt x="634" y="12"/>
                  </a:cubicBezTo>
                  <a:cubicBezTo>
                    <a:pt x="634" y="19"/>
                    <a:pt x="629" y="24"/>
                    <a:pt x="622" y="24"/>
                  </a:cubicBezTo>
                  <a:lnTo>
                    <a:pt x="598" y="24"/>
                  </a:lnTo>
                  <a:cubicBezTo>
                    <a:pt x="591" y="24"/>
                    <a:pt x="586" y="19"/>
                    <a:pt x="586" y="12"/>
                  </a:cubicBezTo>
                  <a:cubicBezTo>
                    <a:pt x="586" y="5"/>
                    <a:pt x="591" y="0"/>
                    <a:pt x="598" y="0"/>
                  </a:cubicBezTo>
                  <a:close/>
                  <a:moveTo>
                    <a:pt x="671" y="0"/>
                  </a:moveTo>
                  <a:lnTo>
                    <a:pt x="695" y="0"/>
                  </a:lnTo>
                  <a:cubicBezTo>
                    <a:pt x="702" y="0"/>
                    <a:pt x="708" y="5"/>
                    <a:pt x="708" y="12"/>
                  </a:cubicBezTo>
                  <a:cubicBezTo>
                    <a:pt x="708" y="19"/>
                    <a:pt x="702" y="24"/>
                    <a:pt x="695" y="24"/>
                  </a:cubicBezTo>
                  <a:lnTo>
                    <a:pt x="671" y="24"/>
                  </a:lnTo>
                  <a:cubicBezTo>
                    <a:pt x="664" y="24"/>
                    <a:pt x="659" y="19"/>
                    <a:pt x="659" y="12"/>
                  </a:cubicBezTo>
                  <a:cubicBezTo>
                    <a:pt x="659" y="5"/>
                    <a:pt x="664" y="0"/>
                    <a:pt x="671" y="0"/>
                  </a:cubicBezTo>
                  <a:close/>
                  <a:moveTo>
                    <a:pt x="744" y="0"/>
                  </a:moveTo>
                  <a:lnTo>
                    <a:pt x="769" y="0"/>
                  </a:lnTo>
                  <a:cubicBezTo>
                    <a:pt x="775" y="0"/>
                    <a:pt x="781" y="5"/>
                    <a:pt x="781" y="12"/>
                  </a:cubicBezTo>
                  <a:cubicBezTo>
                    <a:pt x="781" y="19"/>
                    <a:pt x="775" y="24"/>
                    <a:pt x="769" y="24"/>
                  </a:cubicBezTo>
                  <a:lnTo>
                    <a:pt x="744" y="24"/>
                  </a:lnTo>
                  <a:cubicBezTo>
                    <a:pt x="737" y="24"/>
                    <a:pt x="732" y="19"/>
                    <a:pt x="732" y="12"/>
                  </a:cubicBezTo>
                  <a:cubicBezTo>
                    <a:pt x="732" y="5"/>
                    <a:pt x="737" y="0"/>
                    <a:pt x="744" y="0"/>
                  </a:cubicBezTo>
                  <a:close/>
                  <a:moveTo>
                    <a:pt x="817" y="0"/>
                  </a:moveTo>
                  <a:lnTo>
                    <a:pt x="842" y="0"/>
                  </a:lnTo>
                  <a:cubicBezTo>
                    <a:pt x="848" y="0"/>
                    <a:pt x="854" y="5"/>
                    <a:pt x="854" y="12"/>
                  </a:cubicBezTo>
                  <a:cubicBezTo>
                    <a:pt x="854" y="19"/>
                    <a:pt x="848" y="24"/>
                    <a:pt x="842" y="24"/>
                  </a:cubicBezTo>
                  <a:lnTo>
                    <a:pt x="817" y="24"/>
                  </a:lnTo>
                  <a:cubicBezTo>
                    <a:pt x="811" y="24"/>
                    <a:pt x="805" y="19"/>
                    <a:pt x="805" y="12"/>
                  </a:cubicBezTo>
                  <a:cubicBezTo>
                    <a:pt x="805" y="5"/>
                    <a:pt x="811" y="0"/>
                    <a:pt x="817" y="0"/>
                  </a:cubicBezTo>
                  <a:close/>
                  <a:moveTo>
                    <a:pt x="890" y="0"/>
                  </a:moveTo>
                  <a:lnTo>
                    <a:pt x="915" y="0"/>
                  </a:lnTo>
                  <a:cubicBezTo>
                    <a:pt x="922" y="0"/>
                    <a:pt x="927" y="5"/>
                    <a:pt x="927" y="12"/>
                  </a:cubicBezTo>
                  <a:cubicBezTo>
                    <a:pt x="927" y="19"/>
                    <a:pt x="922" y="24"/>
                    <a:pt x="915" y="24"/>
                  </a:cubicBezTo>
                  <a:lnTo>
                    <a:pt x="890" y="24"/>
                  </a:lnTo>
                  <a:cubicBezTo>
                    <a:pt x="884" y="24"/>
                    <a:pt x="878" y="19"/>
                    <a:pt x="878" y="12"/>
                  </a:cubicBezTo>
                  <a:cubicBezTo>
                    <a:pt x="878" y="5"/>
                    <a:pt x="884" y="0"/>
                    <a:pt x="890" y="0"/>
                  </a:cubicBezTo>
                  <a:close/>
                  <a:moveTo>
                    <a:pt x="964" y="0"/>
                  </a:moveTo>
                  <a:lnTo>
                    <a:pt x="988" y="0"/>
                  </a:lnTo>
                  <a:cubicBezTo>
                    <a:pt x="995" y="0"/>
                    <a:pt x="1000" y="5"/>
                    <a:pt x="1000" y="12"/>
                  </a:cubicBezTo>
                  <a:cubicBezTo>
                    <a:pt x="1000" y="19"/>
                    <a:pt x="995" y="24"/>
                    <a:pt x="988" y="24"/>
                  </a:cubicBezTo>
                  <a:lnTo>
                    <a:pt x="964" y="24"/>
                  </a:lnTo>
                  <a:cubicBezTo>
                    <a:pt x="957" y="24"/>
                    <a:pt x="951" y="19"/>
                    <a:pt x="951" y="12"/>
                  </a:cubicBezTo>
                  <a:cubicBezTo>
                    <a:pt x="951" y="5"/>
                    <a:pt x="957" y="0"/>
                    <a:pt x="964" y="0"/>
                  </a:cubicBezTo>
                  <a:close/>
                  <a:moveTo>
                    <a:pt x="1037" y="0"/>
                  </a:moveTo>
                  <a:lnTo>
                    <a:pt x="1061" y="0"/>
                  </a:lnTo>
                  <a:cubicBezTo>
                    <a:pt x="1068" y="0"/>
                    <a:pt x="1073" y="5"/>
                    <a:pt x="1073" y="12"/>
                  </a:cubicBezTo>
                  <a:cubicBezTo>
                    <a:pt x="1073" y="19"/>
                    <a:pt x="1068" y="24"/>
                    <a:pt x="1061" y="24"/>
                  </a:cubicBezTo>
                  <a:lnTo>
                    <a:pt x="1037" y="24"/>
                  </a:lnTo>
                  <a:cubicBezTo>
                    <a:pt x="1030" y="24"/>
                    <a:pt x="1025" y="19"/>
                    <a:pt x="1025" y="12"/>
                  </a:cubicBezTo>
                  <a:cubicBezTo>
                    <a:pt x="1025" y="5"/>
                    <a:pt x="1030" y="0"/>
                    <a:pt x="1037" y="0"/>
                  </a:cubicBezTo>
                  <a:close/>
                  <a:moveTo>
                    <a:pt x="1110" y="0"/>
                  </a:moveTo>
                  <a:lnTo>
                    <a:pt x="1134" y="0"/>
                  </a:lnTo>
                  <a:cubicBezTo>
                    <a:pt x="1141" y="0"/>
                    <a:pt x="1146" y="5"/>
                    <a:pt x="1146" y="12"/>
                  </a:cubicBezTo>
                  <a:cubicBezTo>
                    <a:pt x="1146" y="19"/>
                    <a:pt x="1141" y="24"/>
                    <a:pt x="1134" y="24"/>
                  </a:cubicBezTo>
                  <a:lnTo>
                    <a:pt x="1110" y="24"/>
                  </a:lnTo>
                  <a:cubicBezTo>
                    <a:pt x="1103" y="24"/>
                    <a:pt x="1098" y="19"/>
                    <a:pt x="1098" y="12"/>
                  </a:cubicBezTo>
                  <a:cubicBezTo>
                    <a:pt x="1098" y="5"/>
                    <a:pt x="1103" y="0"/>
                    <a:pt x="1110" y="0"/>
                  </a:cubicBezTo>
                  <a:close/>
                  <a:moveTo>
                    <a:pt x="1183" y="0"/>
                  </a:moveTo>
                  <a:lnTo>
                    <a:pt x="1207" y="0"/>
                  </a:lnTo>
                  <a:cubicBezTo>
                    <a:pt x="1214" y="0"/>
                    <a:pt x="1220" y="5"/>
                    <a:pt x="1220" y="12"/>
                  </a:cubicBezTo>
                  <a:cubicBezTo>
                    <a:pt x="1220" y="19"/>
                    <a:pt x="1214" y="24"/>
                    <a:pt x="1207" y="24"/>
                  </a:cubicBezTo>
                  <a:lnTo>
                    <a:pt x="1183" y="24"/>
                  </a:lnTo>
                  <a:cubicBezTo>
                    <a:pt x="1176" y="24"/>
                    <a:pt x="1171" y="19"/>
                    <a:pt x="1171" y="12"/>
                  </a:cubicBezTo>
                  <a:cubicBezTo>
                    <a:pt x="1171" y="5"/>
                    <a:pt x="1176" y="0"/>
                    <a:pt x="1183" y="0"/>
                  </a:cubicBezTo>
                  <a:close/>
                  <a:moveTo>
                    <a:pt x="1256" y="0"/>
                  </a:moveTo>
                  <a:lnTo>
                    <a:pt x="1281" y="0"/>
                  </a:lnTo>
                  <a:cubicBezTo>
                    <a:pt x="1287" y="0"/>
                    <a:pt x="1293" y="5"/>
                    <a:pt x="1293" y="12"/>
                  </a:cubicBezTo>
                  <a:cubicBezTo>
                    <a:pt x="1293" y="19"/>
                    <a:pt x="1287" y="24"/>
                    <a:pt x="1281" y="24"/>
                  </a:cubicBezTo>
                  <a:lnTo>
                    <a:pt x="1256" y="24"/>
                  </a:lnTo>
                  <a:cubicBezTo>
                    <a:pt x="1249" y="24"/>
                    <a:pt x="1244" y="19"/>
                    <a:pt x="1244" y="12"/>
                  </a:cubicBezTo>
                  <a:cubicBezTo>
                    <a:pt x="1244" y="5"/>
                    <a:pt x="1249" y="0"/>
                    <a:pt x="1256" y="0"/>
                  </a:cubicBezTo>
                  <a:close/>
                  <a:moveTo>
                    <a:pt x="1329" y="0"/>
                  </a:moveTo>
                  <a:lnTo>
                    <a:pt x="1354" y="0"/>
                  </a:lnTo>
                  <a:cubicBezTo>
                    <a:pt x="1360" y="0"/>
                    <a:pt x="1366" y="5"/>
                    <a:pt x="1366" y="12"/>
                  </a:cubicBezTo>
                  <a:cubicBezTo>
                    <a:pt x="1366" y="19"/>
                    <a:pt x="1360" y="24"/>
                    <a:pt x="1354" y="24"/>
                  </a:cubicBezTo>
                  <a:lnTo>
                    <a:pt x="1329" y="24"/>
                  </a:lnTo>
                  <a:cubicBezTo>
                    <a:pt x="1323" y="24"/>
                    <a:pt x="1317" y="19"/>
                    <a:pt x="1317" y="12"/>
                  </a:cubicBezTo>
                  <a:cubicBezTo>
                    <a:pt x="1317" y="5"/>
                    <a:pt x="1323" y="0"/>
                    <a:pt x="1329" y="0"/>
                  </a:cubicBezTo>
                  <a:close/>
                  <a:moveTo>
                    <a:pt x="1402" y="0"/>
                  </a:moveTo>
                  <a:lnTo>
                    <a:pt x="1427" y="0"/>
                  </a:lnTo>
                  <a:cubicBezTo>
                    <a:pt x="1434" y="0"/>
                    <a:pt x="1439" y="5"/>
                    <a:pt x="1439" y="12"/>
                  </a:cubicBezTo>
                  <a:cubicBezTo>
                    <a:pt x="1439" y="19"/>
                    <a:pt x="1434" y="24"/>
                    <a:pt x="1427" y="24"/>
                  </a:cubicBezTo>
                  <a:lnTo>
                    <a:pt x="1402" y="24"/>
                  </a:lnTo>
                  <a:cubicBezTo>
                    <a:pt x="1396" y="24"/>
                    <a:pt x="1390" y="19"/>
                    <a:pt x="1390" y="12"/>
                  </a:cubicBezTo>
                  <a:cubicBezTo>
                    <a:pt x="1390" y="5"/>
                    <a:pt x="1396" y="0"/>
                    <a:pt x="1402" y="0"/>
                  </a:cubicBezTo>
                  <a:close/>
                  <a:moveTo>
                    <a:pt x="1476" y="0"/>
                  </a:moveTo>
                  <a:lnTo>
                    <a:pt x="1500" y="0"/>
                  </a:lnTo>
                  <a:cubicBezTo>
                    <a:pt x="1507" y="0"/>
                    <a:pt x="1512" y="5"/>
                    <a:pt x="1512" y="12"/>
                  </a:cubicBezTo>
                  <a:cubicBezTo>
                    <a:pt x="1512" y="19"/>
                    <a:pt x="1507" y="24"/>
                    <a:pt x="1500" y="24"/>
                  </a:cubicBezTo>
                  <a:lnTo>
                    <a:pt x="1476" y="24"/>
                  </a:lnTo>
                  <a:cubicBezTo>
                    <a:pt x="1469" y="24"/>
                    <a:pt x="1463" y="19"/>
                    <a:pt x="1463" y="12"/>
                  </a:cubicBezTo>
                  <a:cubicBezTo>
                    <a:pt x="1463" y="5"/>
                    <a:pt x="1469" y="0"/>
                    <a:pt x="1476" y="0"/>
                  </a:cubicBezTo>
                  <a:close/>
                  <a:moveTo>
                    <a:pt x="1549" y="0"/>
                  </a:moveTo>
                  <a:lnTo>
                    <a:pt x="1573" y="0"/>
                  </a:lnTo>
                  <a:cubicBezTo>
                    <a:pt x="1580" y="0"/>
                    <a:pt x="1585" y="5"/>
                    <a:pt x="1585" y="12"/>
                  </a:cubicBezTo>
                  <a:cubicBezTo>
                    <a:pt x="1585" y="19"/>
                    <a:pt x="1580" y="24"/>
                    <a:pt x="1573" y="24"/>
                  </a:cubicBezTo>
                  <a:lnTo>
                    <a:pt x="1549" y="24"/>
                  </a:lnTo>
                  <a:cubicBezTo>
                    <a:pt x="1542" y="24"/>
                    <a:pt x="1537" y="19"/>
                    <a:pt x="1537" y="12"/>
                  </a:cubicBezTo>
                  <a:cubicBezTo>
                    <a:pt x="1537" y="5"/>
                    <a:pt x="1542" y="0"/>
                    <a:pt x="1549" y="0"/>
                  </a:cubicBezTo>
                  <a:close/>
                  <a:moveTo>
                    <a:pt x="1622" y="0"/>
                  </a:moveTo>
                  <a:lnTo>
                    <a:pt x="1646" y="0"/>
                  </a:lnTo>
                  <a:cubicBezTo>
                    <a:pt x="1653" y="0"/>
                    <a:pt x="1659" y="5"/>
                    <a:pt x="1659" y="12"/>
                  </a:cubicBezTo>
                  <a:cubicBezTo>
                    <a:pt x="1659" y="19"/>
                    <a:pt x="1653" y="24"/>
                    <a:pt x="1646" y="24"/>
                  </a:cubicBezTo>
                  <a:lnTo>
                    <a:pt x="1622" y="24"/>
                  </a:lnTo>
                  <a:cubicBezTo>
                    <a:pt x="1615" y="24"/>
                    <a:pt x="1610" y="19"/>
                    <a:pt x="1610" y="12"/>
                  </a:cubicBezTo>
                  <a:cubicBezTo>
                    <a:pt x="1610" y="5"/>
                    <a:pt x="1615" y="0"/>
                    <a:pt x="1622" y="0"/>
                  </a:cubicBezTo>
                  <a:close/>
                  <a:moveTo>
                    <a:pt x="1695" y="0"/>
                  </a:moveTo>
                  <a:lnTo>
                    <a:pt x="1719" y="0"/>
                  </a:lnTo>
                  <a:cubicBezTo>
                    <a:pt x="1726" y="0"/>
                    <a:pt x="1732" y="5"/>
                    <a:pt x="1732" y="12"/>
                  </a:cubicBezTo>
                  <a:cubicBezTo>
                    <a:pt x="1732" y="19"/>
                    <a:pt x="1726" y="24"/>
                    <a:pt x="1719" y="24"/>
                  </a:cubicBezTo>
                  <a:lnTo>
                    <a:pt x="1695" y="24"/>
                  </a:lnTo>
                  <a:cubicBezTo>
                    <a:pt x="1688" y="24"/>
                    <a:pt x="1683" y="19"/>
                    <a:pt x="1683" y="12"/>
                  </a:cubicBezTo>
                  <a:cubicBezTo>
                    <a:pt x="1683" y="5"/>
                    <a:pt x="1688" y="0"/>
                    <a:pt x="1695" y="0"/>
                  </a:cubicBezTo>
                  <a:close/>
                  <a:moveTo>
                    <a:pt x="1768" y="0"/>
                  </a:moveTo>
                  <a:lnTo>
                    <a:pt x="1793" y="0"/>
                  </a:lnTo>
                  <a:cubicBezTo>
                    <a:pt x="1799" y="0"/>
                    <a:pt x="1805" y="5"/>
                    <a:pt x="1805" y="12"/>
                  </a:cubicBezTo>
                  <a:cubicBezTo>
                    <a:pt x="1805" y="19"/>
                    <a:pt x="1799" y="24"/>
                    <a:pt x="1793" y="24"/>
                  </a:cubicBezTo>
                  <a:lnTo>
                    <a:pt x="1768" y="24"/>
                  </a:lnTo>
                  <a:cubicBezTo>
                    <a:pt x="1762" y="24"/>
                    <a:pt x="1756" y="19"/>
                    <a:pt x="1756" y="12"/>
                  </a:cubicBezTo>
                  <a:cubicBezTo>
                    <a:pt x="1756" y="5"/>
                    <a:pt x="1762" y="0"/>
                    <a:pt x="1768" y="0"/>
                  </a:cubicBezTo>
                  <a:close/>
                  <a:moveTo>
                    <a:pt x="1841" y="0"/>
                  </a:moveTo>
                  <a:lnTo>
                    <a:pt x="1866" y="0"/>
                  </a:lnTo>
                  <a:cubicBezTo>
                    <a:pt x="1873" y="0"/>
                    <a:pt x="1878" y="5"/>
                    <a:pt x="1878" y="12"/>
                  </a:cubicBezTo>
                  <a:cubicBezTo>
                    <a:pt x="1878" y="19"/>
                    <a:pt x="1873" y="24"/>
                    <a:pt x="1866" y="24"/>
                  </a:cubicBezTo>
                  <a:lnTo>
                    <a:pt x="1841" y="24"/>
                  </a:lnTo>
                  <a:cubicBezTo>
                    <a:pt x="1835" y="24"/>
                    <a:pt x="1829" y="19"/>
                    <a:pt x="1829" y="12"/>
                  </a:cubicBezTo>
                  <a:cubicBezTo>
                    <a:pt x="1829" y="5"/>
                    <a:pt x="1835" y="0"/>
                    <a:pt x="1841" y="0"/>
                  </a:cubicBezTo>
                  <a:close/>
                  <a:moveTo>
                    <a:pt x="1915" y="0"/>
                  </a:moveTo>
                  <a:lnTo>
                    <a:pt x="1939" y="0"/>
                  </a:lnTo>
                  <a:cubicBezTo>
                    <a:pt x="1946" y="0"/>
                    <a:pt x="1951" y="5"/>
                    <a:pt x="1951" y="12"/>
                  </a:cubicBezTo>
                  <a:cubicBezTo>
                    <a:pt x="1951" y="19"/>
                    <a:pt x="1946" y="24"/>
                    <a:pt x="1939" y="24"/>
                  </a:cubicBezTo>
                  <a:lnTo>
                    <a:pt x="1915" y="24"/>
                  </a:lnTo>
                  <a:cubicBezTo>
                    <a:pt x="1908" y="24"/>
                    <a:pt x="1902" y="19"/>
                    <a:pt x="1902" y="12"/>
                  </a:cubicBezTo>
                  <a:cubicBezTo>
                    <a:pt x="1902" y="5"/>
                    <a:pt x="1908" y="0"/>
                    <a:pt x="1915" y="0"/>
                  </a:cubicBezTo>
                  <a:close/>
                  <a:moveTo>
                    <a:pt x="1988" y="0"/>
                  </a:moveTo>
                  <a:lnTo>
                    <a:pt x="2012" y="0"/>
                  </a:lnTo>
                  <a:cubicBezTo>
                    <a:pt x="2019" y="0"/>
                    <a:pt x="2024" y="5"/>
                    <a:pt x="2024" y="12"/>
                  </a:cubicBezTo>
                  <a:cubicBezTo>
                    <a:pt x="2024" y="19"/>
                    <a:pt x="2019" y="24"/>
                    <a:pt x="2012" y="24"/>
                  </a:cubicBezTo>
                  <a:lnTo>
                    <a:pt x="1988" y="24"/>
                  </a:lnTo>
                  <a:cubicBezTo>
                    <a:pt x="1981" y="24"/>
                    <a:pt x="1976" y="19"/>
                    <a:pt x="1976" y="12"/>
                  </a:cubicBezTo>
                  <a:cubicBezTo>
                    <a:pt x="1976" y="5"/>
                    <a:pt x="1981" y="0"/>
                    <a:pt x="1988" y="0"/>
                  </a:cubicBezTo>
                  <a:close/>
                  <a:moveTo>
                    <a:pt x="2061" y="0"/>
                  </a:moveTo>
                  <a:lnTo>
                    <a:pt x="2085" y="0"/>
                  </a:lnTo>
                  <a:cubicBezTo>
                    <a:pt x="2092" y="0"/>
                    <a:pt x="2097" y="5"/>
                    <a:pt x="2097" y="12"/>
                  </a:cubicBezTo>
                  <a:cubicBezTo>
                    <a:pt x="2097" y="19"/>
                    <a:pt x="2092" y="24"/>
                    <a:pt x="2085" y="24"/>
                  </a:cubicBezTo>
                  <a:lnTo>
                    <a:pt x="2061" y="24"/>
                  </a:lnTo>
                  <a:cubicBezTo>
                    <a:pt x="2054" y="24"/>
                    <a:pt x="2049" y="19"/>
                    <a:pt x="2049" y="12"/>
                  </a:cubicBezTo>
                  <a:cubicBezTo>
                    <a:pt x="2049" y="5"/>
                    <a:pt x="2054" y="0"/>
                    <a:pt x="2061" y="0"/>
                  </a:cubicBezTo>
                  <a:close/>
                  <a:moveTo>
                    <a:pt x="2134" y="0"/>
                  </a:moveTo>
                  <a:lnTo>
                    <a:pt x="2158" y="0"/>
                  </a:lnTo>
                  <a:cubicBezTo>
                    <a:pt x="2165" y="0"/>
                    <a:pt x="2171" y="5"/>
                    <a:pt x="2171" y="12"/>
                  </a:cubicBezTo>
                  <a:cubicBezTo>
                    <a:pt x="2171" y="19"/>
                    <a:pt x="2165" y="24"/>
                    <a:pt x="2158" y="24"/>
                  </a:cubicBezTo>
                  <a:lnTo>
                    <a:pt x="2134" y="24"/>
                  </a:lnTo>
                  <a:cubicBezTo>
                    <a:pt x="2127" y="24"/>
                    <a:pt x="2122" y="19"/>
                    <a:pt x="2122" y="12"/>
                  </a:cubicBezTo>
                  <a:cubicBezTo>
                    <a:pt x="2122" y="5"/>
                    <a:pt x="2127" y="0"/>
                    <a:pt x="2134" y="0"/>
                  </a:cubicBezTo>
                  <a:close/>
                  <a:moveTo>
                    <a:pt x="2207" y="0"/>
                  </a:moveTo>
                  <a:lnTo>
                    <a:pt x="2232" y="0"/>
                  </a:lnTo>
                  <a:cubicBezTo>
                    <a:pt x="2238" y="0"/>
                    <a:pt x="2244" y="5"/>
                    <a:pt x="2244" y="12"/>
                  </a:cubicBezTo>
                  <a:cubicBezTo>
                    <a:pt x="2244" y="19"/>
                    <a:pt x="2238" y="24"/>
                    <a:pt x="2232" y="24"/>
                  </a:cubicBezTo>
                  <a:lnTo>
                    <a:pt x="2207" y="24"/>
                  </a:lnTo>
                  <a:cubicBezTo>
                    <a:pt x="2200" y="24"/>
                    <a:pt x="2195" y="19"/>
                    <a:pt x="2195" y="12"/>
                  </a:cubicBezTo>
                  <a:cubicBezTo>
                    <a:pt x="2195" y="5"/>
                    <a:pt x="2200" y="0"/>
                    <a:pt x="2207" y="0"/>
                  </a:cubicBezTo>
                  <a:close/>
                  <a:moveTo>
                    <a:pt x="2280" y="0"/>
                  </a:moveTo>
                  <a:lnTo>
                    <a:pt x="2305" y="0"/>
                  </a:lnTo>
                  <a:cubicBezTo>
                    <a:pt x="2311" y="0"/>
                    <a:pt x="2317" y="5"/>
                    <a:pt x="2317" y="12"/>
                  </a:cubicBezTo>
                  <a:cubicBezTo>
                    <a:pt x="2317" y="19"/>
                    <a:pt x="2311" y="24"/>
                    <a:pt x="2305" y="24"/>
                  </a:cubicBezTo>
                  <a:lnTo>
                    <a:pt x="2280" y="24"/>
                  </a:lnTo>
                  <a:cubicBezTo>
                    <a:pt x="2274" y="24"/>
                    <a:pt x="2268" y="19"/>
                    <a:pt x="2268" y="12"/>
                  </a:cubicBezTo>
                  <a:cubicBezTo>
                    <a:pt x="2268" y="5"/>
                    <a:pt x="2274" y="0"/>
                    <a:pt x="2280" y="0"/>
                  </a:cubicBezTo>
                  <a:close/>
                  <a:moveTo>
                    <a:pt x="2353" y="0"/>
                  </a:moveTo>
                  <a:lnTo>
                    <a:pt x="2378" y="0"/>
                  </a:lnTo>
                  <a:cubicBezTo>
                    <a:pt x="2385" y="0"/>
                    <a:pt x="2390" y="5"/>
                    <a:pt x="2390" y="12"/>
                  </a:cubicBezTo>
                  <a:cubicBezTo>
                    <a:pt x="2390" y="19"/>
                    <a:pt x="2385" y="24"/>
                    <a:pt x="2378" y="24"/>
                  </a:cubicBezTo>
                  <a:lnTo>
                    <a:pt x="2353" y="24"/>
                  </a:lnTo>
                  <a:cubicBezTo>
                    <a:pt x="2347" y="24"/>
                    <a:pt x="2341" y="19"/>
                    <a:pt x="2341" y="12"/>
                  </a:cubicBezTo>
                  <a:cubicBezTo>
                    <a:pt x="2341" y="5"/>
                    <a:pt x="2347" y="0"/>
                    <a:pt x="2353" y="0"/>
                  </a:cubicBezTo>
                  <a:close/>
                  <a:moveTo>
                    <a:pt x="2427" y="0"/>
                  </a:moveTo>
                  <a:lnTo>
                    <a:pt x="2451" y="0"/>
                  </a:lnTo>
                  <a:cubicBezTo>
                    <a:pt x="2458" y="0"/>
                    <a:pt x="2463" y="5"/>
                    <a:pt x="2463" y="12"/>
                  </a:cubicBezTo>
                  <a:cubicBezTo>
                    <a:pt x="2463" y="19"/>
                    <a:pt x="2458" y="24"/>
                    <a:pt x="2451" y="24"/>
                  </a:cubicBezTo>
                  <a:lnTo>
                    <a:pt x="2427" y="24"/>
                  </a:lnTo>
                  <a:cubicBezTo>
                    <a:pt x="2420" y="24"/>
                    <a:pt x="2414" y="19"/>
                    <a:pt x="2414" y="12"/>
                  </a:cubicBezTo>
                  <a:cubicBezTo>
                    <a:pt x="2414" y="5"/>
                    <a:pt x="2420" y="0"/>
                    <a:pt x="2427" y="0"/>
                  </a:cubicBezTo>
                  <a:close/>
                  <a:moveTo>
                    <a:pt x="2500" y="0"/>
                  </a:moveTo>
                  <a:lnTo>
                    <a:pt x="2524" y="0"/>
                  </a:lnTo>
                  <a:cubicBezTo>
                    <a:pt x="2531" y="0"/>
                    <a:pt x="2536" y="5"/>
                    <a:pt x="2536" y="12"/>
                  </a:cubicBezTo>
                  <a:cubicBezTo>
                    <a:pt x="2536" y="19"/>
                    <a:pt x="2531" y="24"/>
                    <a:pt x="2524" y="24"/>
                  </a:cubicBezTo>
                  <a:lnTo>
                    <a:pt x="2500" y="24"/>
                  </a:lnTo>
                  <a:cubicBezTo>
                    <a:pt x="2493" y="24"/>
                    <a:pt x="2488" y="19"/>
                    <a:pt x="2488" y="12"/>
                  </a:cubicBezTo>
                  <a:cubicBezTo>
                    <a:pt x="2488" y="5"/>
                    <a:pt x="2493" y="0"/>
                    <a:pt x="2500" y="0"/>
                  </a:cubicBezTo>
                  <a:close/>
                  <a:moveTo>
                    <a:pt x="2573" y="0"/>
                  </a:moveTo>
                  <a:lnTo>
                    <a:pt x="2597" y="0"/>
                  </a:lnTo>
                  <a:cubicBezTo>
                    <a:pt x="2604" y="0"/>
                    <a:pt x="2609" y="5"/>
                    <a:pt x="2609" y="12"/>
                  </a:cubicBezTo>
                  <a:cubicBezTo>
                    <a:pt x="2609" y="19"/>
                    <a:pt x="2604" y="24"/>
                    <a:pt x="2597" y="24"/>
                  </a:cubicBezTo>
                  <a:lnTo>
                    <a:pt x="2573" y="24"/>
                  </a:lnTo>
                  <a:cubicBezTo>
                    <a:pt x="2566" y="24"/>
                    <a:pt x="2561" y="19"/>
                    <a:pt x="2561" y="12"/>
                  </a:cubicBezTo>
                  <a:cubicBezTo>
                    <a:pt x="2561" y="5"/>
                    <a:pt x="2566" y="0"/>
                    <a:pt x="2573" y="0"/>
                  </a:cubicBezTo>
                  <a:close/>
                  <a:moveTo>
                    <a:pt x="2646" y="0"/>
                  </a:moveTo>
                  <a:lnTo>
                    <a:pt x="2670" y="0"/>
                  </a:lnTo>
                  <a:cubicBezTo>
                    <a:pt x="2677" y="0"/>
                    <a:pt x="2683" y="5"/>
                    <a:pt x="2683" y="12"/>
                  </a:cubicBezTo>
                  <a:cubicBezTo>
                    <a:pt x="2683" y="19"/>
                    <a:pt x="2677" y="24"/>
                    <a:pt x="2670" y="24"/>
                  </a:cubicBezTo>
                  <a:lnTo>
                    <a:pt x="2646" y="24"/>
                  </a:lnTo>
                  <a:cubicBezTo>
                    <a:pt x="2639" y="24"/>
                    <a:pt x="2634" y="19"/>
                    <a:pt x="2634" y="12"/>
                  </a:cubicBezTo>
                  <a:cubicBezTo>
                    <a:pt x="2634" y="5"/>
                    <a:pt x="2639" y="0"/>
                    <a:pt x="2646" y="0"/>
                  </a:cubicBezTo>
                  <a:close/>
                  <a:moveTo>
                    <a:pt x="2719" y="0"/>
                  </a:moveTo>
                  <a:lnTo>
                    <a:pt x="2744" y="0"/>
                  </a:lnTo>
                  <a:cubicBezTo>
                    <a:pt x="2750" y="0"/>
                    <a:pt x="2756" y="5"/>
                    <a:pt x="2756" y="12"/>
                  </a:cubicBezTo>
                  <a:cubicBezTo>
                    <a:pt x="2756" y="19"/>
                    <a:pt x="2750" y="24"/>
                    <a:pt x="2744" y="24"/>
                  </a:cubicBezTo>
                  <a:lnTo>
                    <a:pt x="2719" y="24"/>
                  </a:lnTo>
                  <a:cubicBezTo>
                    <a:pt x="2712" y="24"/>
                    <a:pt x="2707" y="19"/>
                    <a:pt x="2707" y="12"/>
                  </a:cubicBezTo>
                  <a:cubicBezTo>
                    <a:pt x="2707" y="5"/>
                    <a:pt x="2712" y="0"/>
                    <a:pt x="2719" y="0"/>
                  </a:cubicBezTo>
                  <a:close/>
                  <a:moveTo>
                    <a:pt x="2792" y="0"/>
                  </a:moveTo>
                  <a:lnTo>
                    <a:pt x="2817" y="0"/>
                  </a:lnTo>
                  <a:cubicBezTo>
                    <a:pt x="2823" y="0"/>
                    <a:pt x="2829" y="5"/>
                    <a:pt x="2829" y="12"/>
                  </a:cubicBezTo>
                  <a:cubicBezTo>
                    <a:pt x="2829" y="19"/>
                    <a:pt x="2823" y="24"/>
                    <a:pt x="2817" y="24"/>
                  </a:cubicBezTo>
                  <a:lnTo>
                    <a:pt x="2792" y="24"/>
                  </a:lnTo>
                  <a:cubicBezTo>
                    <a:pt x="2786" y="24"/>
                    <a:pt x="2780" y="19"/>
                    <a:pt x="2780" y="12"/>
                  </a:cubicBezTo>
                  <a:cubicBezTo>
                    <a:pt x="2780" y="5"/>
                    <a:pt x="2786" y="0"/>
                    <a:pt x="2792" y="0"/>
                  </a:cubicBezTo>
                  <a:close/>
                  <a:moveTo>
                    <a:pt x="2866" y="0"/>
                  </a:moveTo>
                  <a:lnTo>
                    <a:pt x="2890" y="0"/>
                  </a:lnTo>
                  <a:cubicBezTo>
                    <a:pt x="2897" y="0"/>
                    <a:pt x="2902" y="5"/>
                    <a:pt x="2902" y="12"/>
                  </a:cubicBezTo>
                  <a:cubicBezTo>
                    <a:pt x="2902" y="19"/>
                    <a:pt x="2897" y="24"/>
                    <a:pt x="2890" y="24"/>
                  </a:cubicBezTo>
                  <a:lnTo>
                    <a:pt x="2866" y="24"/>
                  </a:lnTo>
                  <a:cubicBezTo>
                    <a:pt x="2859" y="24"/>
                    <a:pt x="2853" y="19"/>
                    <a:pt x="2853" y="12"/>
                  </a:cubicBezTo>
                  <a:cubicBezTo>
                    <a:pt x="2853" y="5"/>
                    <a:pt x="2859" y="0"/>
                    <a:pt x="2866" y="0"/>
                  </a:cubicBezTo>
                  <a:close/>
                  <a:moveTo>
                    <a:pt x="2939" y="0"/>
                  </a:moveTo>
                  <a:lnTo>
                    <a:pt x="2963" y="0"/>
                  </a:lnTo>
                  <a:cubicBezTo>
                    <a:pt x="2970" y="0"/>
                    <a:pt x="2975" y="5"/>
                    <a:pt x="2975" y="12"/>
                  </a:cubicBezTo>
                  <a:cubicBezTo>
                    <a:pt x="2975" y="19"/>
                    <a:pt x="2970" y="24"/>
                    <a:pt x="2963" y="24"/>
                  </a:cubicBezTo>
                  <a:lnTo>
                    <a:pt x="2939" y="24"/>
                  </a:lnTo>
                  <a:cubicBezTo>
                    <a:pt x="2932" y="24"/>
                    <a:pt x="2926" y="19"/>
                    <a:pt x="2926" y="12"/>
                  </a:cubicBezTo>
                  <a:cubicBezTo>
                    <a:pt x="2926" y="5"/>
                    <a:pt x="2932" y="0"/>
                    <a:pt x="2939" y="0"/>
                  </a:cubicBezTo>
                  <a:close/>
                  <a:moveTo>
                    <a:pt x="3012" y="0"/>
                  </a:moveTo>
                  <a:lnTo>
                    <a:pt x="3036" y="0"/>
                  </a:lnTo>
                  <a:cubicBezTo>
                    <a:pt x="3043" y="0"/>
                    <a:pt x="3048" y="5"/>
                    <a:pt x="3048" y="12"/>
                  </a:cubicBezTo>
                  <a:cubicBezTo>
                    <a:pt x="3048" y="19"/>
                    <a:pt x="3043" y="24"/>
                    <a:pt x="3036" y="24"/>
                  </a:cubicBezTo>
                  <a:lnTo>
                    <a:pt x="3012" y="24"/>
                  </a:lnTo>
                  <a:cubicBezTo>
                    <a:pt x="3005" y="24"/>
                    <a:pt x="3000" y="19"/>
                    <a:pt x="3000" y="12"/>
                  </a:cubicBezTo>
                  <a:cubicBezTo>
                    <a:pt x="3000" y="5"/>
                    <a:pt x="3005" y="0"/>
                    <a:pt x="3012" y="0"/>
                  </a:cubicBezTo>
                  <a:close/>
                  <a:moveTo>
                    <a:pt x="3085" y="0"/>
                  </a:moveTo>
                  <a:lnTo>
                    <a:pt x="3109" y="0"/>
                  </a:lnTo>
                  <a:cubicBezTo>
                    <a:pt x="3116" y="0"/>
                    <a:pt x="3122" y="5"/>
                    <a:pt x="3122" y="12"/>
                  </a:cubicBezTo>
                  <a:cubicBezTo>
                    <a:pt x="3122" y="19"/>
                    <a:pt x="3116" y="24"/>
                    <a:pt x="3109" y="24"/>
                  </a:cubicBezTo>
                  <a:lnTo>
                    <a:pt x="3085" y="24"/>
                  </a:lnTo>
                  <a:cubicBezTo>
                    <a:pt x="3078" y="24"/>
                    <a:pt x="3073" y="19"/>
                    <a:pt x="3073" y="12"/>
                  </a:cubicBezTo>
                  <a:cubicBezTo>
                    <a:pt x="3073" y="5"/>
                    <a:pt x="3078" y="0"/>
                    <a:pt x="3085" y="0"/>
                  </a:cubicBezTo>
                  <a:close/>
                  <a:moveTo>
                    <a:pt x="3158" y="0"/>
                  </a:moveTo>
                  <a:lnTo>
                    <a:pt x="3183" y="0"/>
                  </a:lnTo>
                  <a:cubicBezTo>
                    <a:pt x="3189" y="0"/>
                    <a:pt x="3195" y="5"/>
                    <a:pt x="3195" y="12"/>
                  </a:cubicBezTo>
                  <a:cubicBezTo>
                    <a:pt x="3195" y="19"/>
                    <a:pt x="3189" y="24"/>
                    <a:pt x="3183" y="24"/>
                  </a:cubicBezTo>
                  <a:lnTo>
                    <a:pt x="3158" y="24"/>
                  </a:lnTo>
                  <a:cubicBezTo>
                    <a:pt x="3151" y="24"/>
                    <a:pt x="3146" y="19"/>
                    <a:pt x="3146" y="12"/>
                  </a:cubicBezTo>
                  <a:cubicBezTo>
                    <a:pt x="3146" y="5"/>
                    <a:pt x="3151" y="0"/>
                    <a:pt x="3158" y="0"/>
                  </a:cubicBezTo>
                  <a:close/>
                  <a:moveTo>
                    <a:pt x="3231" y="0"/>
                  </a:moveTo>
                  <a:lnTo>
                    <a:pt x="3256" y="0"/>
                  </a:lnTo>
                  <a:cubicBezTo>
                    <a:pt x="3262" y="0"/>
                    <a:pt x="3268" y="5"/>
                    <a:pt x="3268" y="12"/>
                  </a:cubicBezTo>
                  <a:cubicBezTo>
                    <a:pt x="3268" y="19"/>
                    <a:pt x="3262" y="24"/>
                    <a:pt x="3256" y="24"/>
                  </a:cubicBezTo>
                  <a:lnTo>
                    <a:pt x="3231" y="24"/>
                  </a:lnTo>
                  <a:cubicBezTo>
                    <a:pt x="3225" y="24"/>
                    <a:pt x="3219" y="19"/>
                    <a:pt x="3219" y="12"/>
                  </a:cubicBezTo>
                  <a:cubicBezTo>
                    <a:pt x="3219" y="5"/>
                    <a:pt x="3225" y="0"/>
                    <a:pt x="3231" y="0"/>
                  </a:cubicBezTo>
                  <a:close/>
                  <a:moveTo>
                    <a:pt x="3304" y="0"/>
                  </a:moveTo>
                  <a:lnTo>
                    <a:pt x="3329" y="0"/>
                  </a:lnTo>
                  <a:cubicBezTo>
                    <a:pt x="3336" y="0"/>
                    <a:pt x="3341" y="5"/>
                    <a:pt x="3341" y="12"/>
                  </a:cubicBezTo>
                  <a:cubicBezTo>
                    <a:pt x="3341" y="19"/>
                    <a:pt x="3336" y="24"/>
                    <a:pt x="3329" y="24"/>
                  </a:cubicBezTo>
                  <a:lnTo>
                    <a:pt x="3304" y="24"/>
                  </a:lnTo>
                  <a:cubicBezTo>
                    <a:pt x="3298" y="24"/>
                    <a:pt x="3292" y="19"/>
                    <a:pt x="3292" y="12"/>
                  </a:cubicBezTo>
                  <a:cubicBezTo>
                    <a:pt x="3292" y="5"/>
                    <a:pt x="3298" y="0"/>
                    <a:pt x="3304" y="0"/>
                  </a:cubicBezTo>
                  <a:close/>
                  <a:moveTo>
                    <a:pt x="3378" y="0"/>
                  </a:moveTo>
                  <a:lnTo>
                    <a:pt x="3402" y="0"/>
                  </a:lnTo>
                  <a:cubicBezTo>
                    <a:pt x="3409" y="0"/>
                    <a:pt x="3414" y="5"/>
                    <a:pt x="3414" y="12"/>
                  </a:cubicBezTo>
                  <a:cubicBezTo>
                    <a:pt x="3414" y="19"/>
                    <a:pt x="3409" y="24"/>
                    <a:pt x="3402" y="24"/>
                  </a:cubicBezTo>
                  <a:lnTo>
                    <a:pt x="3378" y="24"/>
                  </a:lnTo>
                  <a:cubicBezTo>
                    <a:pt x="3371" y="24"/>
                    <a:pt x="3365" y="19"/>
                    <a:pt x="3365" y="12"/>
                  </a:cubicBezTo>
                  <a:cubicBezTo>
                    <a:pt x="3365" y="5"/>
                    <a:pt x="3371" y="0"/>
                    <a:pt x="3378" y="0"/>
                  </a:cubicBezTo>
                  <a:close/>
                  <a:moveTo>
                    <a:pt x="3451" y="0"/>
                  </a:moveTo>
                  <a:lnTo>
                    <a:pt x="3475" y="0"/>
                  </a:lnTo>
                  <a:cubicBezTo>
                    <a:pt x="3482" y="0"/>
                    <a:pt x="3487" y="5"/>
                    <a:pt x="3487" y="12"/>
                  </a:cubicBezTo>
                  <a:cubicBezTo>
                    <a:pt x="3487" y="19"/>
                    <a:pt x="3482" y="24"/>
                    <a:pt x="3475" y="24"/>
                  </a:cubicBezTo>
                  <a:lnTo>
                    <a:pt x="3451" y="24"/>
                  </a:lnTo>
                  <a:cubicBezTo>
                    <a:pt x="3444" y="24"/>
                    <a:pt x="3439" y="19"/>
                    <a:pt x="3439" y="12"/>
                  </a:cubicBezTo>
                  <a:cubicBezTo>
                    <a:pt x="3439" y="5"/>
                    <a:pt x="3444" y="0"/>
                    <a:pt x="3451" y="0"/>
                  </a:cubicBezTo>
                  <a:close/>
                  <a:moveTo>
                    <a:pt x="3524" y="0"/>
                  </a:moveTo>
                  <a:lnTo>
                    <a:pt x="3548" y="0"/>
                  </a:lnTo>
                  <a:cubicBezTo>
                    <a:pt x="3555" y="0"/>
                    <a:pt x="3560" y="5"/>
                    <a:pt x="3560" y="12"/>
                  </a:cubicBezTo>
                  <a:cubicBezTo>
                    <a:pt x="3560" y="19"/>
                    <a:pt x="3555" y="24"/>
                    <a:pt x="3548" y="24"/>
                  </a:cubicBezTo>
                  <a:lnTo>
                    <a:pt x="3524" y="24"/>
                  </a:lnTo>
                  <a:cubicBezTo>
                    <a:pt x="3517" y="24"/>
                    <a:pt x="3512" y="19"/>
                    <a:pt x="3512" y="12"/>
                  </a:cubicBezTo>
                  <a:cubicBezTo>
                    <a:pt x="3512" y="5"/>
                    <a:pt x="3517" y="0"/>
                    <a:pt x="3524" y="0"/>
                  </a:cubicBezTo>
                  <a:close/>
                  <a:moveTo>
                    <a:pt x="3597" y="0"/>
                  </a:moveTo>
                  <a:lnTo>
                    <a:pt x="3621" y="0"/>
                  </a:lnTo>
                  <a:cubicBezTo>
                    <a:pt x="3628" y="0"/>
                    <a:pt x="3634" y="5"/>
                    <a:pt x="3634" y="12"/>
                  </a:cubicBezTo>
                  <a:cubicBezTo>
                    <a:pt x="3634" y="19"/>
                    <a:pt x="3628" y="24"/>
                    <a:pt x="3621" y="24"/>
                  </a:cubicBezTo>
                  <a:lnTo>
                    <a:pt x="3597" y="24"/>
                  </a:lnTo>
                  <a:cubicBezTo>
                    <a:pt x="3590" y="24"/>
                    <a:pt x="3585" y="19"/>
                    <a:pt x="3585" y="12"/>
                  </a:cubicBezTo>
                  <a:cubicBezTo>
                    <a:pt x="3585" y="5"/>
                    <a:pt x="3590" y="0"/>
                    <a:pt x="3597" y="0"/>
                  </a:cubicBezTo>
                  <a:close/>
                  <a:moveTo>
                    <a:pt x="3670" y="0"/>
                  </a:moveTo>
                  <a:lnTo>
                    <a:pt x="3695" y="0"/>
                  </a:lnTo>
                  <a:cubicBezTo>
                    <a:pt x="3701" y="0"/>
                    <a:pt x="3707" y="5"/>
                    <a:pt x="3707" y="12"/>
                  </a:cubicBezTo>
                  <a:cubicBezTo>
                    <a:pt x="3707" y="19"/>
                    <a:pt x="3701" y="24"/>
                    <a:pt x="3695" y="24"/>
                  </a:cubicBezTo>
                  <a:lnTo>
                    <a:pt x="3670" y="24"/>
                  </a:lnTo>
                  <a:cubicBezTo>
                    <a:pt x="3663" y="24"/>
                    <a:pt x="3658" y="19"/>
                    <a:pt x="3658" y="12"/>
                  </a:cubicBezTo>
                  <a:cubicBezTo>
                    <a:pt x="3658" y="5"/>
                    <a:pt x="3663" y="0"/>
                    <a:pt x="3670" y="0"/>
                  </a:cubicBezTo>
                  <a:close/>
                  <a:moveTo>
                    <a:pt x="3743" y="0"/>
                  </a:moveTo>
                  <a:lnTo>
                    <a:pt x="3768" y="0"/>
                  </a:lnTo>
                  <a:cubicBezTo>
                    <a:pt x="3774" y="0"/>
                    <a:pt x="3780" y="5"/>
                    <a:pt x="3780" y="12"/>
                  </a:cubicBezTo>
                  <a:cubicBezTo>
                    <a:pt x="3780" y="19"/>
                    <a:pt x="3774" y="24"/>
                    <a:pt x="3768" y="24"/>
                  </a:cubicBezTo>
                  <a:lnTo>
                    <a:pt x="3743" y="24"/>
                  </a:lnTo>
                  <a:cubicBezTo>
                    <a:pt x="3737" y="24"/>
                    <a:pt x="3731" y="19"/>
                    <a:pt x="3731" y="12"/>
                  </a:cubicBezTo>
                  <a:cubicBezTo>
                    <a:pt x="3731" y="5"/>
                    <a:pt x="3737" y="0"/>
                    <a:pt x="3743" y="0"/>
                  </a:cubicBezTo>
                  <a:close/>
                  <a:moveTo>
                    <a:pt x="3816" y="0"/>
                  </a:moveTo>
                  <a:lnTo>
                    <a:pt x="3841" y="0"/>
                  </a:lnTo>
                  <a:cubicBezTo>
                    <a:pt x="3848" y="0"/>
                    <a:pt x="3853" y="5"/>
                    <a:pt x="3853" y="12"/>
                  </a:cubicBezTo>
                  <a:cubicBezTo>
                    <a:pt x="3853" y="19"/>
                    <a:pt x="3848" y="24"/>
                    <a:pt x="3841" y="24"/>
                  </a:cubicBezTo>
                  <a:lnTo>
                    <a:pt x="3816" y="24"/>
                  </a:lnTo>
                  <a:cubicBezTo>
                    <a:pt x="3810" y="24"/>
                    <a:pt x="3804" y="19"/>
                    <a:pt x="3804" y="12"/>
                  </a:cubicBezTo>
                  <a:cubicBezTo>
                    <a:pt x="3804" y="5"/>
                    <a:pt x="3810" y="0"/>
                    <a:pt x="3816" y="0"/>
                  </a:cubicBezTo>
                  <a:close/>
                  <a:moveTo>
                    <a:pt x="3890" y="0"/>
                  </a:moveTo>
                  <a:lnTo>
                    <a:pt x="3914" y="0"/>
                  </a:lnTo>
                  <a:cubicBezTo>
                    <a:pt x="3921" y="0"/>
                    <a:pt x="3926" y="5"/>
                    <a:pt x="3926" y="12"/>
                  </a:cubicBezTo>
                  <a:cubicBezTo>
                    <a:pt x="3926" y="19"/>
                    <a:pt x="3921" y="24"/>
                    <a:pt x="3914" y="24"/>
                  </a:cubicBezTo>
                  <a:lnTo>
                    <a:pt x="3890" y="24"/>
                  </a:lnTo>
                  <a:cubicBezTo>
                    <a:pt x="3883" y="24"/>
                    <a:pt x="3877" y="19"/>
                    <a:pt x="3877" y="12"/>
                  </a:cubicBezTo>
                  <a:cubicBezTo>
                    <a:pt x="3877" y="5"/>
                    <a:pt x="3883" y="0"/>
                    <a:pt x="3890" y="0"/>
                  </a:cubicBezTo>
                  <a:close/>
                  <a:moveTo>
                    <a:pt x="3963" y="0"/>
                  </a:moveTo>
                  <a:lnTo>
                    <a:pt x="3987" y="0"/>
                  </a:lnTo>
                  <a:cubicBezTo>
                    <a:pt x="3994" y="0"/>
                    <a:pt x="3999" y="5"/>
                    <a:pt x="3999" y="12"/>
                  </a:cubicBezTo>
                  <a:cubicBezTo>
                    <a:pt x="3999" y="19"/>
                    <a:pt x="3994" y="24"/>
                    <a:pt x="3987" y="24"/>
                  </a:cubicBezTo>
                  <a:lnTo>
                    <a:pt x="3963" y="24"/>
                  </a:lnTo>
                  <a:cubicBezTo>
                    <a:pt x="3956" y="24"/>
                    <a:pt x="3951" y="19"/>
                    <a:pt x="3951" y="12"/>
                  </a:cubicBezTo>
                  <a:cubicBezTo>
                    <a:pt x="3951" y="5"/>
                    <a:pt x="3956" y="0"/>
                    <a:pt x="3963" y="0"/>
                  </a:cubicBezTo>
                  <a:close/>
                  <a:moveTo>
                    <a:pt x="4036" y="0"/>
                  </a:moveTo>
                  <a:lnTo>
                    <a:pt x="4060" y="0"/>
                  </a:lnTo>
                  <a:cubicBezTo>
                    <a:pt x="4067" y="0"/>
                    <a:pt x="4073" y="5"/>
                    <a:pt x="4073" y="12"/>
                  </a:cubicBezTo>
                  <a:cubicBezTo>
                    <a:pt x="4073" y="19"/>
                    <a:pt x="4067" y="24"/>
                    <a:pt x="4060" y="24"/>
                  </a:cubicBezTo>
                  <a:lnTo>
                    <a:pt x="4036" y="24"/>
                  </a:lnTo>
                  <a:cubicBezTo>
                    <a:pt x="4029" y="24"/>
                    <a:pt x="4024" y="19"/>
                    <a:pt x="4024" y="12"/>
                  </a:cubicBezTo>
                  <a:cubicBezTo>
                    <a:pt x="4024" y="5"/>
                    <a:pt x="4029" y="0"/>
                    <a:pt x="4036" y="0"/>
                  </a:cubicBezTo>
                  <a:close/>
                  <a:moveTo>
                    <a:pt x="4109" y="0"/>
                  </a:moveTo>
                  <a:lnTo>
                    <a:pt x="4133" y="0"/>
                  </a:lnTo>
                  <a:cubicBezTo>
                    <a:pt x="4140" y="0"/>
                    <a:pt x="4146" y="5"/>
                    <a:pt x="4146" y="12"/>
                  </a:cubicBezTo>
                  <a:cubicBezTo>
                    <a:pt x="4146" y="19"/>
                    <a:pt x="4140" y="24"/>
                    <a:pt x="4133" y="24"/>
                  </a:cubicBezTo>
                  <a:lnTo>
                    <a:pt x="4109" y="24"/>
                  </a:lnTo>
                  <a:cubicBezTo>
                    <a:pt x="4102" y="24"/>
                    <a:pt x="4097" y="19"/>
                    <a:pt x="4097" y="12"/>
                  </a:cubicBezTo>
                  <a:cubicBezTo>
                    <a:pt x="4097" y="5"/>
                    <a:pt x="4102" y="0"/>
                    <a:pt x="4109" y="0"/>
                  </a:cubicBezTo>
                  <a:close/>
                  <a:moveTo>
                    <a:pt x="4182" y="0"/>
                  </a:moveTo>
                  <a:lnTo>
                    <a:pt x="4207" y="0"/>
                  </a:lnTo>
                  <a:cubicBezTo>
                    <a:pt x="4213" y="0"/>
                    <a:pt x="4219" y="5"/>
                    <a:pt x="4219" y="12"/>
                  </a:cubicBezTo>
                  <a:cubicBezTo>
                    <a:pt x="4219" y="19"/>
                    <a:pt x="4213" y="24"/>
                    <a:pt x="4207" y="24"/>
                  </a:cubicBezTo>
                  <a:lnTo>
                    <a:pt x="4182" y="24"/>
                  </a:lnTo>
                  <a:cubicBezTo>
                    <a:pt x="4176" y="24"/>
                    <a:pt x="4170" y="19"/>
                    <a:pt x="4170" y="12"/>
                  </a:cubicBezTo>
                  <a:cubicBezTo>
                    <a:pt x="4170" y="5"/>
                    <a:pt x="4176" y="0"/>
                    <a:pt x="4182" y="0"/>
                  </a:cubicBezTo>
                  <a:close/>
                  <a:moveTo>
                    <a:pt x="4255" y="0"/>
                  </a:moveTo>
                  <a:lnTo>
                    <a:pt x="4280" y="0"/>
                  </a:lnTo>
                  <a:cubicBezTo>
                    <a:pt x="4287" y="0"/>
                    <a:pt x="4292" y="5"/>
                    <a:pt x="4292" y="12"/>
                  </a:cubicBezTo>
                  <a:cubicBezTo>
                    <a:pt x="4292" y="19"/>
                    <a:pt x="4287" y="24"/>
                    <a:pt x="4280" y="24"/>
                  </a:cubicBezTo>
                  <a:lnTo>
                    <a:pt x="4255" y="24"/>
                  </a:lnTo>
                  <a:cubicBezTo>
                    <a:pt x="4249" y="24"/>
                    <a:pt x="4243" y="19"/>
                    <a:pt x="4243" y="12"/>
                  </a:cubicBezTo>
                  <a:cubicBezTo>
                    <a:pt x="4243" y="5"/>
                    <a:pt x="4249" y="0"/>
                    <a:pt x="4255" y="0"/>
                  </a:cubicBezTo>
                  <a:close/>
                  <a:moveTo>
                    <a:pt x="4329" y="0"/>
                  </a:moveTo>
                  <a:lnTo>
                    <a:pt x="4353" y="0"/>
                  </a:lnTo>
                  <a:cubicBezTo>
                    <a:pt x="4360" y="0"/>
                    <a:pt x="4365" y="5"/>
                    <a:pt x="4365" y="12"/>
                  </a:cubicBezTo>
                  <a:cubicBezTo>
                    <a:pt x="4365" y="19"/>
                    <a:pt x="4360" y="24"/>
                    <a:pt x="4353" y="24"/>
                  </a:cubicBezTo>
                  <a:lnTo>
                    <a:pt x="4329" y="24"/>
                  </a:lnTo>
                  <a:cubicBezTo>
                    <a:pt x="4322" y="24"/>
                    <a:pt x="4316" y="19"/>
                    <a:pt x="4316" y="12"/>
                  </a:cubicBezTo>
                  <a:cubicBezTo>
                    <a:pt x="4316" y="5"/>
                    <a:pt x="4322" y="0"/>
                    <a:pt x="4329" y="0"/>
                  </a:cubicBezTo>
                  <a:close/>
                  <a:moveTo>
                    <a:pt x="4402" y="0"/>
                  </a:moveTo>
                  <a:lnTo>
                    <a:pt x="4426" y="0"/>
                  </a:lnTo>
                  <a:cubicBezTo>
                    <a:pt x="4433" y="0"/>
                    <a:pt x="4438" y="5"/>
                    <a:pt x="4438" y="12"/>
                  </a:cubicBezTo>
                  <a:cubicBezTo>
                    <a:pt x="4438" y="19"/>
                    <a:pt x="4433" y="24"/>
                    <a:pt x="4426" y="24"/>
                  </a:cubicBezTo>
                  <a:lnTo>
                    <a:pt x="4402" y="24"/>
                  </a:lnTo>
                  <a:cubicBezTo>
                    <a:pt x="4395" y="24"/>
                    <a:pt x="4390" y="19"/>
                    <a:pt x="4390" y="12"/>
                  </a:cubicBezTo>
                  <a:cubicBezTo>
                    <a:pt x="4390" y="5"/>
                    <a:pt x="4395" y="0"/>
                    <a:pt x="4402" y="0"/>
                  </a:cubicBezTo>
                  <a:close/>
                  <a:moveTo>
                    <a:pt x="4475" y="0"/>
                  </a:moveTo>
                  <a:lnTo>
                    <a:pt x="4499" y="0"/>
                  </a:lnTo>
                  <a:cubicBezTo>
                    <a:pt x="4506" y="0"/>
                    <a:pt x="4511" y="5"/>
                    <a:pt x="4511" y="12"/>
                  </a:cubicBezTo>
                  <a:cubicBezTo>
                    <a:pt x="4511" y="19"/>
                    <a:pt x="4506" y="24"/>
                    <a:pt x="4499" y="24"/>
                  </a:cubicBezTo>
                  <a:lnTo>
                    <a:pt x="4475" y="24"/>
                  </a:lnTo>
                  <a:cubicBezTo>
                    <a:pt x="4468" y="24"/>
                    <a:pt x="4463" y="19"/>
                    <a:pt x="4463" y="12"/>
                  </a:cubicBezTo>
                  <a:cubicBezTo>
                    <a:pt x="4463" y="5"/>
                    <a:pt x="4468" y="0"/>
                    <a:pt x="4475" y="0"/>
                  </a:cubicBezTo>
                  <a:close/>
                  <a:moveTo>
                    <a:pt x="4548" y="0"/>
                  </a:moveTo>
                  <a:lnTo>
                    <a:pt x="4572" y="0"/>
                  </a:lnTo>
                  <a:cubicBezTo>
                    <a:pt x="4579" y="0"/>
                    <a:pt x="4585" y="5"/>
                    <a:pt x="4585" y="12"/>
                  </a:cubicBezTo>
                  <a:cubicBezTo>
                    <a:pt x="4585" y="19"/>
                    <a:pt x="4579" y="24"/>
                    <a:pt x="4572" y="24"/>
                  </a:cubicBezTo>
                  <a:lnTo>
                    <a:pt x="4548" y="24"/>
                  </a:lnTo>
                  <a:cubicBezTo>
                    <a:pt x="4541" y="24"/>
                    <a:pt x="4536" y="19"/>
                    <a:pt x="4536" y="12"/>
                  </a:cubicBezTo>
                  <a:cubicBezTo>
                    <a:pt x="4536" y="5"/>
                    <a:pt x="4541" y="0"/>
                    <a:pt x="4548" y="0"/>
                  </a:cubicBezTo>
                  <a:close/>
                  <a:moveTo>
                    <a:pt x="4621" y="0"/>
                  </a:moveTo>
                  <a:lnTo>
                    <a:pt x="4646" y="0"/>
                  </a:lnTo>
                  <a:cubicBezTo>
                    <a:pt x="4652" y="0"/>
                    <a:pt x="4658" y="5"/>
                    <a:pt x="4658" y="12"/>
                  </a:cubicBezTo>
                  <a:cubicBezTo>
                    <a:pt x="4658" y="19"/>
                    <a:pt x="4652" y="24"/>
                    <a:pt x="4646" y="24"/>
                  </a:cubicBezTo>
                  <a:lnTo>
                    <a:pt x="4621" y="24"/>
                  </a:lnTo>
                  <a:cubicBezTo>
                    <a:pt x="4614" y="24"/>
                    <a:pt x="4609" y="19"/>
                    <a:pt x="4609" y="12"/>
                  </a:cubicBezTo>
                  <a:cubicBezTo>
                    <a:pt x="4609" y="5"/>
                    <a:pt x="4614" y="0"/>
                    <a:pt x="4621" y="0"/>
                  </a:cubicBezTo>
                  <a:close/>
                  <a:moveTo>
                    <a:pt x="4694" y="0"/>
                  </a:moveTo>
                  <a:lnTo>
                    <a:pt x="4719" y="0"/>
                  </a:lnTo>
                  <a:cubicBezTo>
                    <a:pt x="4725" y="0"/>
                    <a:pt x="4731" y="5"/>
                    <a:pt x="4731" y="12"/>
                  </a:cubicBezTo>
                  <a:cubicBezTo>
                    <a:pt x="4731" y="19"/>
                    <a:pt x="4725" y="24"/>
                    <a:pt x="4719" y="24"/>
                  </a:cubicBezTo>
                  <a:lnTo>
                    <a:pt x="4694" y="24"/>
                  </a:lnTo>
                  <a:cubicBezTo>
                    <a:pt x="4688" y="24"/>
                    <a:pt x="4682" y="19"/>
                    <a:pt x="4682" y="12"/>
                  </a:cubicBezTo>
                  <a:cubicBezTo>
                    <a:pt x="4682" y="5"/>
                    <a:pt x="4688" y="0"/>
                    <a:pt x="4694" y="0"/>
                  </a:cubicBezTo>
                  <a:close/>
                  <a:moveTo>
                    <a:pt x="4767" y="0"/>
                  </a:moveTo>
                  <a:lnTo>
                    <a:pt x="4792" y="0"/>
                  </a:lnTo>
                  <a:cubicBezTo>
                    <a:pt x="4799" y="0"/>
                    <a:pt x="4804" y="5"/>
                    <a:pt x="4804" y="12"/>
                  </a:cubicBezTo>
                  <a:cubicBezTo>
                    <a:pt x="4804" y="19"/>
                    <a:pt x="4799" y="24"/>
                    <a:pt x="4792" y="24"/>
                  </a:cubicBezTo>
                  <a:lnTo>
                    <a:pt x="4767" y="24"/>
                  </a:lnTo>
                  <a:cubicBezTo>
                    <a:pt x="4761" y="24"/>
                    <a:pt x="4755" y="19"/>
                    <a:pt x="4755" y="12"/>
                  </a:cubicBezTo>
                  <a:cubicBezTo>
                    <a:pt x="4755" y="5"/>
                    <a:pt x="4761" y="0"/>
                    <a:pt x="4767" y="0"/>
                  </a:cubicBezTo>
                  <a:close/>
                  <a:moveTo>
                    <a:pt x="4841" y="0"/>
                  </a:moveTo>
                  <a:lnTo>
                    <a:pt x="4865" y="0"/>
                  </a:lnTo>
                  <a:cubicBezTo>
                    <a:pt x="4872" y="0"/>
                    <a:pt x="4877" y="5"/>
                    <a:pt x="4877" y="12"/>
                  </a:cubicBezTo>
                  <a:cubicBezTo>
                    <a:pt x="4877" y="19"/>
                    <a:pt x="4872" y="24"/>
                    <a:pt x="4865" y="24"/>
                  </a:cubicBezTo>
                  <a:lnTo>
                    <a:pt x="4841" y="24"/>
                  </a:lnTo>
                  <a:cubicBezTo>
                    <a:pt x="4834" y="24"/>
                    <a:pt x="4828" y="19"/>
                    <a:pt x="4828" y="12"/>
                  </a:cubicBezTo>
                  <a:cubicBezTo>
                    <a:pt x="4828" y="5"/>
                    <a:pt x="4834" y="0"/>
                    <a:pt x="4841" y="0"/>
                  </a:cubicBezTo>
                  <a:close/>
                  <a:moveTo>
                    <a:pt x="4914" y="0"/>
                  </a:moveTo>
                  <a:lnTo>
                    <a:pt x="4938" y="0"/>
                  </a:lnTo>
                  <a:cubicBezTo>
                    <a:pt x="4945" y="0"/>
                    <a:pt x="4950" y="5"/>
                    <a:pt x="4950" y="12"/>
                  </a:cubicBezTo>
                  <a:cubicBezTo>
                    <a:pt x="4950" y="19"/>
                    <a:pt x="4945" y="24"/>
                    <a:pt x="4938" y="24"/>
                  </a:cubicBezTo>
                  <a:lnTo>
                    <a:pt x="4914" y="24"/>
                  </a:lnTo>
                  <a:cubicBezTo>
                    <a:pt x="4907" y="24"/>
                    <a:pt x="4902" y="19"/>
                    <a:pt x="4902" y="12"/>
                  </a:cubicBezTo>
                  <a:cubicBezTo>
                    <a:pt x="4902" y="5"/>
                    <a:pt x="4907" y="0"/>
                    <a:pt x="4914" y="0"/>
                  </a:cubicBezTo>
                  <a:close/>
                  <a:moveTo>
                    <a:pt x="4987" y="0"/>
                  </a:moveTo>
                  <a:lnTo>
                    <a:pt x="5011" y="0"/>
                  </a:lnTo>
                  <a:cubicBezTo>
                    <a:pt x="5018" y="0"/>
                    <a:pt x="5024" y="5"/>
                    <a:pt x="5024" y="12"/>
                  </a:cubicBezTo>
                  <a:cubicBezTo>
                    <a:pt x="5024" y="19"/>
                    <a:pt x="5018" y="24"/>
                    <a:pt x="5011" y="24"/>
                  </a:cubicBezTo>
                  <a:lnTo>
                    <a:pt x="4987" y="24"/>
                  </a:lnTo>
                  <a:cubicBezTo>
                    <a:pt x="4980" y="24"/>
                    <a:pt x="4975" y="19"/>
                    <a:pt x="4975" y="12"/>
                  </a:cubicBezTo>
                  <a:cubicBezTo>
                    <a:pt x="4975" y="5"/>
                    <a:pt x="4980" y="0"/>
                    <a:pt x="4987" y="0"/>
                  </a:cubicBezTo>
                  <a:close/>
                  <a:moveTo>
                    <a:pt x="5060" y="0"/>
                  </a:moveTo>
                  <a:lnTo>
                    <a:pt x="5084" y="0"/>
                  </a:lnTo>
                  <a:cubicBezTo>
                    <a:pt x="5091" y="0"/>
                    <a:pt x="5097" y="5"/>
                    <a:pt x="5097" y="12"/>
                  </a:cubicBezTo>
                  <a:cubicBezTo>
                    <a:pt x="5097" y="19"/>
                    <a:pt x="5091" y="24"/>
                    <a:pt x="5084" y="24"/>
                  </a:cubicBezTo>
                  <a:lnTo>
                    <a:pt x="5060" y="24"/>
                  </a:lnTo>
                  <a:cubicBezTo>
                    <a:pt x="5053" y="24"/>
                    <a:pt x="5048" y="19"/>
                    <a:pt x="5048" y="12"/>
                  </a:cubicBezTo>
                  <a:cubicBezTo>
                    <a:pt x="5048" y="5"/>
                    <a:pt x="5053" y="0"/>
                    <a:pt x="5060" y="0"/>
                  </a:cubicBezTo>
                  <a:close/>
                  <a:moveTo>
                    <a:pt x="5133" y="0"/>
                  </a:moveTo>
                  <a:lnTo>
                    <a:pt x="5158" y="0"/>
                  </a:lnTo>
                  <a:cubicBezTo>
                    <a:pt x="5164" y="0"/>
                    <a:pt x="5170" y="5"/>
                    <a:pt x="5170" y="12"/>
                  </a:cubicBezTo>
                  <a:cubicBezTo>
                    <a:pt x="5170" y="19"/>
                    <a:pt x="5164" y="24"/>
                    <a:pt x="5158" y="24"/>
                  </a:cubicBezTo>
                  <a:lnTo>
                    <a:pt x="5133" y="24"/>
                  </a:lnTo>
                  <a:cubicBezTo>
                    <a:pt x="5127" y="24"/>
                    <a:pt x="5121" y="19"/>
                    <a:pt x="5121" y="12"/>
                  </a:cubicBezTo>
                  <a:cubicBezTo>
                    <a:pt x="5121" y="5"/>
                    <a:pt x="5127" y="0"/>
                    <a:pt x="5133" y="0"/>
                  </a:cubicBezTo>
                  <a:close/>
                  <a:moveTo>
                    <a:pt x="5206" y="0"/>
                  </a:moveTo>
                  <a:lnTo>
                    <a:pt x="5231" y="0"/>
                  </a:lnTo>
                  <a:cubicBezTo>
                    <a:pt x="5238" y="0"/>
                    <a:pt x="5243" y="5"/>
                    <a:pt x="5243" y="12"/>
                  </a:cubicBezTo>
                  <a:cubicBezTo>
                    <a:pt x="5243" y="19"/>
                    <a:pt x="5238" y="24"/>
                    <a:pt x="5231" y="24"/>
                  </a:cubicBezTo>
                  <a:lnTo>
                    <a:pt x="5206" y="24"/>
                  </a:lnTo>
                  <a:cubicBezTo>
                    <a:pt x="5200" y="24"/>
                    <a:pt x="5194" y="19"/>
                    <a:pt x="5194" y="12"/>
                  </a:cubicBezTo>
                  <a:cubicBezTo>
                    <a:pt x="5194" y="5"/>
                    <a:pt x="5200" y="0"/>
                    <a:pt x="5206" y="0"/>
                  </a:cubicBezTo>
                  <a:close/>
                  <a:moveTo>
                    <a:pt x="5280" y="0"/>
                  </a:moveTo>
                  <a:lnTo>
                    <a:pt x="5304" y="0"/>
                  </a:lnTo>
                  <a:cubicBezTo>
                    <a:pt x="5311" y="0"/>
                    <a:pt x="5316" y="5"/>
                    <a:pt x="5316" y="12"/>
                  </a:cubicBezTo>
                  <a:cubicBezTo>
                    <a:pt x="5316" y="19"/>
                    <a:pt x="5311" y="24"/>
                    <a:pt x="5304" y="24"/>
                  </a:cubicBezTo>
                  <a:lnTo>
                    <a:pt x="5280" y="24"/>
                  </a:lnTo>
                  <a:cubicBezTo>
                    <a:pt x="5273" y="24"/>
                    <a:pt x="5267" y="19"/>
                    <a:pt x="5267" y="12"/>
                  </a:cubicBezTo>
                  <a:cubicBezTo>
                    <a:pt x="5267" y="5"/>
                    <a:pt x="5273" y="0"/>
                    <a:pt x="5280" y="0"/>
                  </a:cubicBezTo>
                  <a:close/>
                  <a:moveTo>
                    <a:pt x="5353" y="0"/>
                  </a:moveTo>
                  <a:lnTo>
                    <a:pt x="5377" y="0"/>
                  </a:lnTo>
                  <a:cubicBezTo>
                    <a:pt x="5384" y="0"/>
                    <a:pt x="5389" y="5"/>
                    <a:pt x="5389" y="12"/>
                  </a:cubicBezTo>
                  <a:cubicBezTo>
                    <a:pt x="5389" y="19"/>
                    <a:pt x="5384" y="24"/>
                    <a:pt x="5377" y="24"/>
                  </a:cubicBezTo>
                  <a:lnTo>
                    <a:pt x="5353" y="24"/>
                  </a:lnTo>
                  <a:cubicBezTo>
                    <a:pt x="5346" y="24"/>
                    <a:pt x="5341" y="19"/>
                    <a:pt x="5341" y="12"/>
                  </a:cubicBezTo>
                  <a:cubicBezTo>
                    <a:pt x="5341" y="5"/>
                    <a:pt x="5346" y="0"/>
                    <a:pt x="5353" y="0"/>
                  </a:cubicBezTo>
                  <a:close/>
                  <a:moveTo>
                    <a:pt x="5426" y="0"/>
                  </a:moveTo>
                  <a:lnTo>
                    <a:pt x="5450" y="0"/>
                  </a:lnTo>
                  <a:cubicBezTo>
                    <a:pt x="5457" y="0"/>
                    <a:pt x="5462" y="5"/>
                    <a:pt x="5462" y="12"/>
                  </a:cubicBezTo>
                  <a:cubicBezTo>
                    <a:pt x="5462" y="19"/>
                    <a:pt x="5457" y="24"/>
                    <a:pt x="5450" y="24"/>
                  </a:cubicBezTo>
                  <a:lnTo>
                    <a:pt x="5426" y="24"/>
                  </a:lnTo>
                  <a:cubicBezTo>
                    <a:pt x="5419" y="24"/>
                    <a:pt x="5414" y="19"/>
                    <a:pt x="5414" y="12"/>
                  </a:cubicBezTo>
                  <a:cubicBezTo>
                    <a:pt x="5414" y="5"/>
                    <a:pt x="5419" y="0"/>
                    <a:pt x="5426" y="0"/>
                  </a:cubicBezTo>
                  <a:close/>
                  <a:moveTo>
                    <a:pt x="5499" y="0"/>
                  </a:moveTo>
                  <a:lnTo>
                    <a:pt x="5523" y="0"/>
                  </a:lnTo>
                  <a:cubicBezTo>
                    <a:pt x="5530" y="0"/>
                    <a:pt x="5536" y="5"/>
                    <a:pt x="5536" y="12"/>
                  </a:cubicBezTo>
                  <a:cubicBezTo>
                    <a:pt x="5536" y="19"/>
                    <a:pt x="5530" y="24"/>
                    <a:pt x="5523" y="24"/>
                  </a:cubicBezTo>
                  <a:lnTo>
                    <a:pt x="5499" y="24"/>
                  </a:lnTo>
                  <a:cubicBezTo>
                    <a:pt x="5492" y="24"/>
                    <a:pt x="5487" y="19"/>
                    <a:pt x="5487" y="12"/>
                  </a:cubicBezTo>
                  <a:cubicBezTo>
                    <a:pt x="5487" y="5"/>
                    <a:pt x="5492" y="0"/>
                    <a:pt x="5499" y="0"/>
                  </a:cubicBezTo>
                  <a:close/>
                  <a:moveTo>
                    <a:pt x="5572" y="0"/>
                  </a:moveTo>
                  <a:lnTo>
                    <a:pt x="5597" y="0"/>
                  </a:lnTo>
                  <a:cubicBezTo>
                    <a:pt x="5603" y="0"/>
                    <a:pt x="5609" y="5"/>
                    <a:pt x="5609" y="12"/>
                  </a:cubicBezTo>
                  <a:cubicBezTo>
                    <a:pt x="5609" y="19"/>
                    <a:pt x="5603" y="24"/>
                    <a:pt x="5597" y="24"/>
                  </a:cubicBezTo>
                  <a:lnTo>
                    <a:pt x="5572" y="24"/>
                  </a:lnTo>
                  <a:cubicBezTo>
                    <a:pt x="5565" y="24"/>
                    <a:pt x="5560" y="19"/>
                    <a:pt x="5560" y="12"/>
                  </a:cubicBezTo>
                  <a:cubicBezTo>
                    <a:pt x="5560" y="5"/>
                    <a:pt x="5565" y="0"/>
                    <a:pt x="5572" y="0"/>
                  </a:cubicBezTo>
                  <a:close/>
                  <a:moveTo>
                    <a:pt x="5645" y="0"/>
                  </a:moveTo>
                  <a:lnTo>
                    <a:pt x="5670" y="0"/>
                  </a:lnTo>
                  <a:cubicBezTo>
                    <a:pt x="5676" y="0"/>
                    <a:pt x="5682" y="5"/>
                    <a:pt x="5682" y="12"/>
                  </a:cubicBezTo>
                  <a:cubicBezTo>
                    <a:pt x="5682" y="19"/>
                    <a:pt x="5676" y="24"/>
                    <a:pt x="5670" y="24"/>
                  </a:cubicBezTo>
                  <a:lnTo>
                    <a:pt x="5645" y="24"/>
                  </a:lnTo>
                  <a:cubicBezTo>
                    <a:pt x="5639" y="24"/>
                    <a:pt x="5633" y="19"/>
                    <a:pt x="5633" y="12"/>
                  </a:cubicBezTo>
                  <a:cubicBezTo>
                    <a:pt x="5633" y="5"/>
                    <a:pt x="5639" y="0"/>
                    <a:pt x="5645" y="0"/>
                  </a:cubicBezTo>
                  <a:close/>
                  <a:moveTo>
                    <a:pt x="5718" y="0"/>
                  </a:moveTo>
                  <a:lnTo>
                    <a:pt x="5743" y="0"/>
                  </a:lnTo>
                  <a:cubicBezTo>
                    <a:pt x="5750" y="0"/>
                    <a:pt x="5755" y="5"/>
                    <a:pt x="5755" y="12"/>
                  </a:cubicBezTo>
                  <a:cubicBezTo>
                    <a:pt x="5755" y="19"/>
                    <a:pt x="5750" y="24"/>
                    <a:pt x="5743" y="24"/>
                  </a:cubicBezTo>
                  <a:lnTo>
                    <a:pt x="5718" y="24"/>
                  </a:lnTo>
                  <a:cubicBezTo>
                    <a:pt x="5712" y="24"/>
                    <a:pt x="5706" y="19"/>
                    <a:pt x="5706" y="12"/>
                  </a:cubicBezTo>
                  <a:cubicBezTo>
                    <a:pt x="5706" y="5"/>
                    <a:pt x="5712" y="0"/>
                    <a:pt x="5718" y="0"/>
                  </a:cubicBezTo>
                  <a:close/>
                  <a:moveTo>
                    <a:pt x="5792" y="0"/>
                  </a:moveTo>
                  <a:lnTo>
                    <a:pt x="5816" y="0"/>
                  </a:lnTo>
                  <a:cubicBezTo>
                    <a:pt x="5823" y="0"/>
                    <a:pt x="5828" y="5"/>
                    <a:pt x="5828" y="12"/>
                  </a:cubicBezTo>
                  <a:cubicBezTo>
                    <a:pt x="5828" y="19"/>
                    <a:pt x="5823" y="24"/>
                    <a:pt x="5816" y="24"/>
                  </a:cubicBezTo>
                  <a:lnTo>
                    <a:pt x="5792" y="24"/>
                  </a:lnTo>
                  <a:cubicBezTo>
                    <a:pt x="5785" y="24"/>
                    <a:pt x="5779" y="19"/>
                    <a:pt x="5779" y="12"/>
                  </a:cubicBezTo>
                  <a:cubicBezTo>
                    <a:pt x="5779" y="5"/>
                    <a:pt x="5785" y="0"/>
                    <a:pt x="5792" y="0"/>
                  </a:cubicBezTo>
                  <a:close/>
                </a:path>
              </a:pathLst>
            </a:custGeom>
            <a:solidFill>
              <a:srgbClr val="000000"/>
            </a:solidFill>
            <a:ln w="8001" cap="flat">
              <a:solidFill>
                <a:srgbClr val="FF0000"/>
              </a:solidFill>
              <a:prstDash val="solid"/>
              <a:bevel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7" name="Freeform 417"/>
            <p:cNvSpPr>
              <a:spLocks noEditPoints="1"/>
            </p:cNvSpPr>
            <p:nvPr/>
          </p:nvSpPr>
          <p:spPr bwMode="auto">
            <a:xfrm>
              <a:off x="2105" y="1065"/>
              <a:ext cx="8" cy="1185"/>
            </a:xfrm>
            <a:custGeom>
              <a:avLst/>
              <a:gdLst>
                <a:gd name="T0" fmla="*/ 0 w 25"/>
                <a:gd name="T1" fmla="*/ 12 h 3121"/>
                <a:gd name="T2" fmla="*/ 13 w 25"/>
                <a:gd name="T3" fmla="*/ 122 h 3121"/>
                <a:gd name="T4" fmla="*/ 25 w 25"/>
                <a:gd name="T5" fmla="*/ 158 h 3121"/>
                <a:gd name="T6" fmla="*/ 13 w 25"/>
                <a:gd name="T7" fmla="*/ 146 h 3121"/>
                <a:gd name="T8" fmla="*/ 0 w 25"/>
                <a:gd name="T9" fmla="*/ 256 h 3121"/>
                <a:gd name="T10" fmla="*/ 25 w 25"/>
                <a:gd name="T11" fmla="*/ 329 h 3121"/>
                <a:gd name="T12" fmla="*/ 25 w 25"/>
                <a:gd name="T13" fmla="*/ 305 h 3121"/>
                <a:gd name="T14" fmla="*/ 0 w 25"/>
                <a:gd name="T15" fmla="*/ 378 h 3121"/>
                <a:gd name="T16" fmla="*/ 13 w 25"/>
                <a:gd name="T17" fmla="*/ 487 h 3121"/>
                <a:gd name="T18" fmla="*/ 25 w 25"/>
                <a:gd name="T19" fmla="*/ 524 h 3121"/>
                <a:gd name="T20" fmla="*/ 13 w 25"/>
                <a:gd name="T21" fmla="*/ 512 h 3121"/>
                <a:gd name="T22" fmla="*/ 0 w 25"/>
                <a:gd name="T23" fmla="*/ 622 h 3121"/>
                <a:gd name="T24" fmla="*/ 25 w 25"/>
                <a:gd name="T25" fmla="*/ 695 h 3121"/>
                <a:gd name="T26" fmla="*/ 25 w 25"/>
                <a:gd name="T27" fmla="*/ 670 h 3121"/>
                <a:gd name="T28" fmla="*/ 0 w 25"/>
                <a:gd name="T29" fmla="*/ 743 h 3121"/>
                <a:gd name="T30" fmla="*/ 13 w 25"/>
                <a:gd name="T31" fmla="*/ 853 h 3121"/>
                <a:gd name="T32" fmla="*/ 25 w 25"/>
                <a:gd name="T33" fmla="*/ 890 h 3121"/>
                <a:gd name="T34" fmla="*/ 13 w 25"/>
                <a:gd name="T35" fmla="*/ 878 h 3121"/>
                <a:gd name="T36" fmla="*/ 0 w 25"/>
                <a:gd name="T37" fmla="*/ 987 h 3121"/>
                <a:gd name="T38" fmla="*/ 25 w 25"/>
                <a:gd name="T39" fmla="*/ 1060 h 3121"/>
                <a:gd name="T40" fmla="*/ 25 w 25"/>
                <a:gd name="T41" fmla="*/ 1036 h 3121"/>
                <a:gd name="T42" fmla="*/ 0 w 25"/>
                <a:gd name="T43" fmla="*/ 1109 h 3121"/>
                <a:gd name="T44" fmla="*/ 13 w 25"/>
                <a:gd name="T45" fmla="*/ 1219 h 3121"/>
                <a:gd name="T46" fmla="*/ 25 w 25"/>
                <a:gd name="T47" fmla="*/ 1256 h 3121"/>
                <a:gd name="T48" fmla="*/ 13 w 25"/>
                <a:gd name="T49" fmla="*/ 1243 h 3121"/>
                <a:gd name="T50" fmla="*/ 0 w 25"/>
                <a:gd name="T51" fmla="*/ 1353 h 3121"/>
                <a:gd name="T52" fmla="*/ 25 w 25"/>
                <a:gd name="T53" fmla="*/ 1426 h 3121"/>
                <a:gd name="T54" fmla="*/ 25 w 25"/>
                <a:gd name="T55" fmla="*/ 1402 h 3121"/>
                <a:gd name="T56" fmla="*/ 0 w 25"/>
                <a:gd name="T57" fmla="*/ 1475 h 3121"/>
                <a:gd name="T58" fmla="*/ 13 w 25"/>
                <a:gd name="T59" fmla="*/ 1585 h 3121"/>
                <a:gd name="T60" fmla="*/ 25 w 25"/>
                <a:gd name="T61" fmla="*/ 1621 h 3121"/>
                <a:gd name="T62" fmla="*/ 13 w 25"/>
                <a:gd name="T63" fmla="*/ 1609 h 3121"/>
                <a:gd name="T64" fmla="*/ 0 w 25"/>
                <a:gd name="T65" fmla="*/ 1719 h 3121"/>
                <a:gd name="T66" fmla="*/ 25 w 25"/>
                <a:gd name="T67" fmla="*/ 1792 h 3121"/>
                <a:gd name="T68" fmla="*/ 25 w 25"/>
                <a:gd name="T69" fmla="*/ 1768 h 3121"/>
                <a:gd name="T70" fmla="*/ 0 w 25"/>
                <a:gd name="T71" fmla="*/ 1841 h 3121"/>
                <a:gd name="T72" fmla="*/ 13 w 25"/>
                <a:gd name="T73" fmla="*/ 1950 h 3121"/>
                <a:gd name="T74" fmla="*/ 25 w 25"/>
                <a:gd name="T75" fmla="*/ 1987 h 3121"/>
                <a:gd name="T76" fmla="*/ 13 w 25"/>
                <a:gd name="T77" fmla="*/ 1975 h 3121"/>
                <a:gd name="T78" fmla="*/ 0 w 25"/>
                <a:gd name="T79" fmla="*/ 2085 h 3121"/>
                <a:gd name="T80" fmla="*/ 25 w 25"/>
                <a:gd name="T81" fmla="*/ 2158 h 3121"/>
                <a:gd name="T82" fmla="*/ 25 w 25"/>
                <a:gd name="T83" fmla="*/ 2133 h 3121"/>
                <a:gd name="T84" fmla="*/ 0 w 25"/>
                <a:gd name="T85" fmla="*/ 2206 h 3121"/>
                <a:gd name="T86" fmla="*/ 13 w 25"/>
                <a:gd name="T87" fmla="*/ 2316 h 3121"/>
                <a:gd name="T88" fmla="*/ 25 w 25"/>
                <a:gd name="T89" fmla="*/ 2353 h 3121"/>
                <a:gd name="T90" fmla="*/ 13 w 25"/>
                <a:gd name="T91" fmla="*/ 2341 h 3121"/>
                <a:gd name="T92" fmla="*/ 0 w 25"/>
                <a:gd name="T93" fmla="*/ 2450 h 3121"/>
                <a:gd name="T94" fmla="*/ 25 w 25"/>
                <a:gd name="T95" fmla="*/ 2523 h 3121"/>
                <a:gd name="T96" fmla="*/ 25 w 25"/>
                <a:gd name="T97" fmla="*/ 2499 h 3121"/>
                <a:gd name="T98" fmla="*/ 0 w 25"/>
                <a:gd name="T99" fmla="*/ 2572 h 3121"/>
                <a:gd name="T100" fmla="*/ 13 w 25"/>
                <a:gd name="T101" fmla="*/ 2682 h 3121"/>
                <a:gd name="T102" fmla="*/ 25 w 25"/>
                <a:gd name="T103" fmla="*/ 2719 h 3121"/>
                <a:gd name="T104" fmla="*/ 13 w 25"/>
                <a:gd name="T105" fmla="*/ 2706 h 3121"/>
                <a:gd name="T106" fmla="*/ 0 w 25"/>
                <a:gd name="T107" fmla="*/ 2816 h 3121"/>
                <a:gd name="T108" fmla="*/ 25 w 25"/>
                <a:gd name="T109" fmla="*/ 2889 h 3121"/>
                <a:gd name="T110" fmla="*/ 25 w 25"/>
                <a:gd name="T111" fmla="*/ 2865 h 3121"/>
                <a:gd name="T112" fmla="*/ 0 w 25"/>
                <a:gd name="T113" fmla="*/ 2938 h 3121"/>
                <a:gd name="T114" fmla="*/ 13 w 25"/>
                <a:gd name="T115" fmla="*/ 3048 h 3121"/>
                <a:gd name="T116" fmla="*/ 25 w 25"/>
                <a:gd name="T117" fmla="*/ 3084 h 3121"/>
                <a:gd name="T118" fmla="*/ 13 w 25"/>
                <a:gd name="T119" fmla="*/ 3072 h 3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5" h="3121">
                  <a:moveTo>
                    <a:pt x="25" y="12"/>
                  </a:moveTo>
                  <a:lnTo>
                    <a:pt x="25" y="36"/>
                  </a:lnTo>
                  <a:cubicBezTo>
                    <a:pt x="25" y="43"/>
                    <a:pt x="19" y="48"/>
                    <a:pt x="13" y="48"/>
                  </a:cubicBezTo>
                  <a:cubicBezTo>
                    <a:pt x="6" y="48"/>
                    <a:pt x="0" y="43"/>
                    <a:pt x="0" y="36"/>
                  </a:cubicBezTo>
                  <a:lnTo>
                    <a:pt x="0" y="12"/>
                  </a:lnTo>
                  <a:cubicBezTo>
                    <a:pt x="0" y="5"/>
                    <a:pt x="6" y="0"/>
                    <a:pt x="13" y="0"/>
                  </a:cubicBezTo>
                  <a:cubicBezTo>
                    <a:pt x="19" y="0"/>
                    <a:pt x="25" y="5"/>
                    <a:pt x="25" y="12"/>
                  </a:cubicBezTo>
                  <a:close/>
                  <a:moveTo>
                    <a:pt x="25" y="85"/>
                  </a:moveTo>
                  <a:lnTo>
                    <a:pt x="25" y="109"/>
                  </a:lnTo>
                  <a:cubicBezTo>
                    <a:pt x="25" y="116"/>
                    <a:pt x="19" y="122"/>
                    <a:pt x="13" y="122"/>
                  </a:cubicBezTo>
                  <a:cubicBezTo>
                    <a:pt x="6" y="122"/>
                    <a:pt x="0" y="116"/>
                    <a:pt x="0" y="109"/>
                  </a:cubicBezTo>
                  <a:lnTo>
                    <a:pt x="0" y="85"/>
                  </a:lnTo>
                  <a:cubicBezTo>
                    <a:pt x="0" y="78"/>
                    <a:pt x="6" y="73"/>
                    <a:pt x="13" y="73"/>
                  </a:cubicBezTo>
                  <a:cubicBezTo>
                    <a:pt x="19" y="73"/>
                    <a:pt x="25" y="78"/>
                    <a:pt x="25" y="85"/>
                  </a:cubicBezTo>
                  <a:close/>
                  <a:moveTo>
                    <a:pt x="25" y="158"/>
                  </a:moveTo>
                  <a:lnTo>
                    <a:pt x="25" y="183"/>
                  </a:lnTo>
                  <a:cubicBezTo>
                    <a:pt x="25" y="189"/>
                    <a:pt x="19" y="195"/>
                    <a:pt x="13" y="195"/>
                  </a:cubicBezTo>
                  <a:cubicBezTo>
                    <a:pt x="6" y="195"/>
                    <a:pt x="0" y="189"/>
                    <a:pt x="0" y="183"/>
                  </a:cubicBezTo>
                  <a:lnTo>
                    <a:pt x="0" y="158"/>
                  </a:lnTo>
                  <a:cubicBezTo>
                    <a:pt x="0" y="151"/>
                    <a:pt x="6" y="146"/>
                    <a:pt x="13" y="146"/>
                  </a:cubicBezTo>
                  <a:cubicBezTo>
                    <a:pt x="19" y="146"/>
                    <a:pt x="25" y="151"/>
                    <a:pt x="25" y="158"/>
                  </a:cubicBezTo>
                  <a:close/>
                  <a:moveTo>
                    <a:pt x="25" y="231"/>
                  </a:moveTo>
                  <a:lnTo>
                    <a:pt x="25" y="256"/>
                  </a:lnTo>
                  <a:cubicBezTo>
                    <a:pt x="25" y="262"/>
                    <a:pt x="19" y="268"/>
                    <a:pt x="13" y="268"/>
                  </a:cubicBezTo>
                  <a:cubicBezTo>
                    <a:pt x="6" y="268"/>
                    <a:pt x="0" y="262"/>
                    <a:pt x="0" y="256"/>
                  </a:cubicBezTo>
                  <a:lnTo>
                    <a:pt x="0" y="231"/>
                  </a:lnTo>
                  <a:cubicBezTo>
                    <a:pt x="0" y="225"/>
                    <a:pt x="6" y="219"/>
                    <a:pt x="13" y="219"/>
                  </a:cubicBezTo>
                  <a:cubicBezTo>
                    <a:pt x="19" y="219"/>
                    <a:pt x="25" y="225"/>
                    <a:pt x="25" y="231"/>
                  </a:cubicBezTo>
                  <a:close/>
                  <a:moveTo>
                    <a:pt x="25" y="305"/>
                  </a:moveTo>
                  <a:lnTo>
                    <a:pt x="25" y="329"/>
                  </a:lnTo>
                  <a:cubicBezTo>
                    <a:pt x="25" y="336"/>
                    <a:pt x="19" y="341"/>
                    <a:pt x="13" y="341"/>
                  </a:cubicBezTo>
                  <a:cubicBezTo>
                    <a:pt x="6" y="341"/>
                    <a:pt x="0" y="336"/>
                    <a:pt x="0" y="329"/>
                  </a:cubicBezTo>
                  <a:lnTo>
                    <a:pt x="0" y="305"/>
                  </a:lnTo>
                  <a:cubicBezTo>
                    <a:pt x="0" y="298"/>
                    <a:pt x="6" y="292"/>
                    <a:pt x="13" y="292"/>
                  </a:cubicBezTo>
                  <a:cubicBezTo>
                    <a:pt x="19" y="292"/>
                    <a:pt x="25" y="298"/>
                    <a:pt x="25" y="305"/>
                  </a:cubicBezTo>
                  <a:close/>
                  <a:moveTo>
                    <a:pt x="25" y="378"/>
                  </a:moveTo>
                  <a:lnTo>
                    <a:pt x="25" y="402"/>
                  </a:lnTo>
                  <a:cubicBezTo>
                    <a:pt x="25" y="409"/>
                    <a:pt x="19" y="414"/>
                    <a:pt x="13" y="414"/>
                  </a:cubicBezTo>
                  <a:cubicBezTo>
                    <a:pt x="6" y="414"/>
                    <a:pt x="0" y="409"/>
                    <a:pt x="0" y="402"/>
                  </a:cubicBezTo>
                  <a:lnTo>
                    <a:pt x="0" y="378"/>
                  </a:lnTo>
                  <a:cubicBezTo>
                    <a:pt x="0" y="371"/>
                    <a:pt x="6" y="365"/>
                    <a:pt x="13" y="365"/>
                  </a:cubicBezTo>
                  <a:cubicBezTo>
                    <a:pt x="19" y="365"/>
                    <a:pt x="25" y="371"/>
                    <a:pt x="25" y="378"/>
                  </a:cubicBezTo>
                  <a:close/>
                  <a:moveTo>
                    <a:pt x="25" y="451"/>
                  </a:moveTo>
                  <a:lnTo>
                    <a:pt x="25" y="475"/>
                  </a:lnTo>
                  <a:cubicBezTo>
                    <a:pt x="25" y="482"/>
                    <a:pt x="19" y="487"/>
                    <a:pt x="13" y="487"/>
                  </a:cubicBezTo>
                  <a:cubicBezTo>
                    <a:pt x="6" y="487"/>
                    <a:pt x="0" y="482"/>
                    <a:pt x="0" y="475"/>
                  </a:cubicBezTo>
                  <a:lnTo>
                    <a:pt x="0" y="451"/>
                  </a:lnTo>
                  <a:cubicBezTo>
                    <a:pt x="0" y="444"/>
                    <a:pt x="6" y="439"/>
                    <a:pt x="13" y="439"/>
                  </a:cubicBezTo>
                  <a:cubicBezTo>
                    <a:pt x="19" y="439"/>
                    <a:pt x="25" y="444"/>
                    <a:pt x="25" y="451"/>
                  </a:cubicBezTo>
                  <a:close/>
                  <a:moveTo>
                    <a:pt x="25" y="524"/>
                  </a:moveTo>
                  <a:lnTo>
                    <a:pt x="25" y="548"/>
                  </a:lnTo>
                  <a:cubicBezTo>
                    <a:pt x="25" y="555"/>
                    <a:pt x="19" y="561"/>
                    <a:pt x="13" y="561"/>
                  </a:cubicBezTo>
                  <a:cubicBezTo>
                    <a:pt x="6" y="561"/>
                    <a:pt x="0" y="555"/>
                    <a:pt x="0" y="548"/>
                  </a:cubicBezTo>
                  <a:lnTo>
                    <a:pt x="0" y="524"/>
                  </a:lnTo>
                  <a:cubicBezTo>
                    <a:pt x="0" y="517"/>
                    <a:pt x="6" y="512"/>
                    <a:pt x="13" y="512"/>
                  </a:cubicBezTo>
                  <a:cubicBezTo>
                    <a:pt x="19" y="512"/>
                    <a:pt x="25" y="517"/>
                    <a:pt x="25" y="524"/>
                  </a:cubicBezTo>
                  <a:close/>
                  <a:moveTo>
                    <a:pt x="25" y="597"/>
                  </a:moveTo>
                  <a:lnTo>
                    <a:pt x="25" y="622"/>
                  </a:lnTo>
                  <a:cubicBezTo>
                    <a:pt x="25" y="628"/>
                    <a:pt x="19" y="634"/>
                    <a:pt x="13" y="634"/>
                  </a:cubicBezTo>
                  <a:cubicBezTo>
                    <a:pt x="6" y="634"/>
                    <a:pt x="0" y="628"/>
                    <a:pt x="0" y="622"/>
                  </a:cubicBezTo>
                  <a:lnTo>
                    <a:pt x="0" y="597"/>
                  </a:lnTo>
                  <a:cubicBezTo>
                    <a:pt x="0" y="590"/>
                    <a:pt x="6" y="585"/>
                    <a:pt x="13" y="585"/>
                  </a:cubicBezTo>
                  <a:cubicBezTo>
                    <a:pt x="19" y="585"/>
                    <a:pt x="25" y="590"/>
                    <a:pt x="25" y="597"/>
                  </a:cubicBezTo>
                  <a:close/>
                  <a:moveTo>
                    <a:pt x="25" y="670"/>
                  </a:moveTo>
                  <a:lnTo>
                    <a:pt x="25" y="695"/>
                  </a:lnTo>
                  <a:cubicBezTo>
                    <a:pt x="25" y="701"/>
                    <a:pt x="19" y="707"/>
                    <a:pt x="13" y="707"/>
                  </a:cubicBezTo>
                  <a:cubicBezTo>
                    <a:pt x="6" y="707"/>
                    <a:pt x="0" y="701"/>
                    <a:pt x="0" y="695"/>
                  </a:cubicBezTo>
                  <a:lnTo>
                    <a:pt x="0" y="670"/>
                  </a:lnTo>
                  <a:cubicBezTo>
                    <a:pt x="0" y="664"/>
                    <a:pt x="6" y="658"/>
                    <a:pt x="13" y="658"/>
                  </a:cubicBezTo>
                  <a:cubicBezTo>
                    <a:pt x="19" y="658"/>
                    <a:pt x="25" y="664"/>
                    <a:pt x="25" y="670"/>
                  </a:cubicBezTo>
                  <a:close/>
                  <a:moveTo>
                    <a:pt x="25" y="743"/>
                  </a:moveTo>
                  <a:lnTo>
                    <a:pt x="25" y="768"/>
                  </a:lnTo>
                  <a:cubicBezTo>
                    <a:pt x="25" y="775"/>
                    <a:pt x="19" y="780"/>
                    <a:pt x="13" y="780"/>
                  </a:cubicBezTo>
                  <a:cubicBezTo>
                    <a:pt x="6" y="780"/>
                    <a:pt x="0" y="775"/>
                    <a:pt x="0" y="768"/>
                  </a:cubicBezTo>
                  <a:lnTo>
                    <a:pt x="0" y="743"/>
                  </a:lnTo>
                  <a:cubicBezTo>
                    <a:pt x="0" y="737"/>
                    <a:pt x="6" y="731"/>
                    <a:pt x="13" y="731"/>
                  </a:cubicBezTo>
                  <a:cubicBezTo>
                    <a:pt x="19" y="731"/>
                    <a:pt x="25" y="737"/>
                    <a:pt x="25" y="743"/>
                  </a:cubicBezTo>
                  <a:close/>
                  <a:moveTo>
                    <a:pt x="25" y="817"/>
                  </a:moveTo>
                  <a:lnTo>
                    <a:pt x="25" y="841"/>
                  </a:lnTo>
                  <a:cubicBezTo>
                    <a:pt x="25" y="848"/>
                    <a:pt x="19" y="853"/>
                    <a:pt x="13" y="853"/>
                  </a:cubicBezTo>
                  <a:cubicBezTo>
                    <a:pt x="6" y="853"/>
                    <a:pt x="0" y="848"/>
                    <a:pt x="0" y="841"/>
                  </a:cubicBezTo>
                  <a:lnTo>
                    <a:pt x="0" y="817"/>
                  </a:lnTo>
                  <a:cubicBezTo>
                    <a:pt x="0" y="810"/>
                    <a:pt x="6" y="804"/>
                    <a:pt x="13" y="804"/>
                  </a:cubicBezTo>
                  <a:cubicBezTo>
                    <a:pt x="19" y="804"/>
                    <a:pt x="25" y="810"/>
                    <a:pt x="25" y="817"/>
                  </a:cubicBezTo>
                  <a:close/>
                  <a:moveTo>
                    <a:pt x="25" y="890"/>
                  </a:moveTo>
                  <a:lnTo>
                    <a:pt x="25" y="914"/>
                  </a:lnTo>
                  <a:cubicBezTo>
                    <a:pt x="25" y="921"/>
                    <a:pt x="19" y="926"/>
                    <a:pt x="13" y="926"/>
                  </a:cubicBezTo>
                  <a:cubicBezTo>
                    <a:pt x="6" y="926"/>
                    <a:pt x="0" y="921"/>
                    <a:pt x="0" y="914"/>
                  </a:cubicBezTo>
                  <a:lnTo>
                    <a:pt x="0" y="890"/>
                  </a:lnTo>
                  <a:cubicBezTo>
                    <a:pt x="0" y="883"/>
                    <a:pt x="6" y="878"/>
                    <a:pt x="13" y="878"/>
                  </a:cubicBezTo>
                  <a:cubicBezTo>
                    <a:pt x="19" y="878"/>
                    <a:pt x="25" y="883"/>
                    <a:pt x="25" y="890"/>
                  </a:cubicBezTo>
                  <a:close/>
                  <a:moveTo>
                    <a:pt x="25" y="963"/>
                  </a:moveTo>
                  <a:lnTo>
                    <a:pt x="25" y="987"/>
                  </a:lnTo>
                  <a:cubicBezTo>
                    <a:pt x="25" y="994"/>
                    <a:pt x="19" y="999"/>
                    <a:pt x="13" y="999"/>
                  </a:cubicBezTo>
                  <a:cubicBezTo>
                    <a:pt x="6" y="999"/>
                    <a:pt x="0" y="994"/>
                    <a:pt x="0" y="987"/>
                  </a:cubicBezTo>
                  <a:lnTo>
                    <a:pt x="0" y="963"/>
                  </a:lnTo>
                  <a:cubicBezTo>
                    <a:pt x="0" y="956"/>
                    <a:pt x="6" y="951"/>
                    <a:pt x="13" y="951"/>
                  </a:cubicBezTo>
                  <a:cubicBezTo>
                    <a:pt x="19" y="951"/>
                    <a:pt x="25" y="956"/>
                    <a:pt x="25" y="963"/>
                  </a:cubicBezTo>
                  <a:close/>
                  <a:moveTo>
                    <a:pt x="25" y="1036"/>
                  </a:moveTo>
                  <a:lnTo>
                    <a:pt x="25" y="1060"/>
                  </a:lnTo>
                  <a:cubicBezTo>
                    <a:pt x="25" y="1067"/>
                    <a:pt x="19" y="1073"/>
                    <a:pt x="13" y="1073"/>
                  </a:cubicBezTo>
                  <a:cubicBezTo>
                    <a:pt x="6" y="1073"/>
                    <a:pt x="0" y="1067"/>
                    <a:pt x="0" y="1060"/>
                  </a:cubicBezTo>
                  <a:lnTo>
                    <a:pt x="0" y="1036"/>
                  </a:lnTo>
                  <a:cubicBezTo>
                    <a:pt x="0" y="1029"/>
                    <a:pt x="6" y="1024"/>
                    <a:pt x="13" y="1024"/>
                  </a:cubicBezTo>
                  <a:cubicBezTo>
                    <a:pt x="19" y="1024"/>
                    <a:pt x="25" y="1029"/>
                    <a:pt x="25" y="1036"/>
                  </a:cubicBezTo>
                  <a:close/>
                  <a:moveTo>
                    <a:pt x="25" y="1109"/>
                  </a:moveTo>
                  <a:lnTo>
                    <a:pt x="25" y="1134"/>
                  </a:lnTo>
                  <a:cubicBezTo>
                    <a:pt x="25" y="1140"/>
                    <a:pt x="19" y="1146"/>
                    <a:pt x="13" y="1146"/>
                  </a:cubicBezTo>
                  <a:cubicBezTo>
                    <a:pt x="6" y="1146"/>
                    <a:pt x="0" y="1140"/>
                    <a:pt x="0" y="1134"/>
                  </a:cubicBezTo>
                  <a:lnTo>
                    <a:pt x="0" y="1109"/>
                  </a:lnTo>
                  <a:cubicBezTo>
                    <a:pt x="0" y="1102"/>
                    <a:pt x="6" y="1097"/>
                    <a:pt x="13" y="1097"/>
                  </a:cubicBezTo>
                  <a:cubicBezTo>
                    <a:pt x="19" y="1097"/>
                    <a:pt x="25" y="1102"/>
                    <a:pt x="25" y="1109"/>
                  </a:cubicBezTo>
                  <a:close/>
                  <a:moveTo>
                    <a:pt x="25" y="1182"/>
                  </a:moveTo>
                  <a:lnTo>
                    <a:pt x="25" y="1207"/>
                  </a:lnTo>
                  <a:cubicBezTo>
                    <a:pt x="25" y="1213"/>
                    <a:pt x="19" y="1219"/>
                    <a:pt x="13" y="1219"/>
                  </a:cubicBezTo>
                  <a:cubicBezTo>
                    <a:pt x="6" y="1219"/>
                    <a:pt x="0" y="1213"/>
                    <a:pt x="0" y="1207"/>
                  </a:cubicBezTo>
                  <a:lnTo>
                    <a:pt x="0" y="1182"/>
                  </a:lnTo>
                  <a:cubicBezTo>
                    <a:pt x="0" y="1176"/>
                    <a:pt x="6" y="1170"/>
                    <a:pt x="13" y="1170"/>
                  </a:cubicBezTo>
                  <a:cubicBezTo>
                    <a:pt x="19" y="1170"/>
                    <a:pt x="25" y="1176"/>
                    <a:pt x="25" y="1182"/>
                  </a:cubicBezTo>
                  <a:close/>
                  <a:moveTo>
                    <a:pt x="25" y="1256"/>
                  </a:moveTo>
                  <a:lnTo>
                    <a:pt x="25" y="1280"/>
                  </a:lnTo>
                  <a:cubicBezTo>
                    <a:pt x="25" y="1287"/>
                    <a:pt x="19" y="1292"/>
                    <a:pt x="13" y="1292"/>
                  </a:cubicBezTo>
                  <a:cubicBezTo>
                    <a:pt x="6" y="1292"/>
                    <a:pt x="0" y="1287"/>
                    <a:pt x="0" y="1280"/>
                  </a:cubicBezTo>
                  <a:lnTo>
                    <a:pt x="0" y="1256"/>
                  </a:lnTo>
                  <a:cubicBezTo>
                    <a:pt x="0" y="1249"/>
                    <a:pt x="6" y="1243"/>
                    <a:pt x="13" y="1243"/>
                  </a:cubicBezTo>
                  <a:cubicBezTo>
                    <a:pt x="19" y="1243"/>
                    <a:pt x="25" y="1249"/>
                    <a:pt x="25" y="1256"/>
                  </a:cubicBezTo>
                  <a:close/>
                  <a:moveTo>
                    <a:pt x="25" y="1329"/>
                  </a:moveTo>
                  <a:lnTo>
                    <a:pt x="25" y="1353"/>
                  </a:lnTo>
                  <a:cubicBezTo>
                    <a:pt x="25" y="1360"/>
                    <a:pt x="19" y="1365"/>
                    <a:pt x="13" y="1365"/>
                  </a:cubicBezTo>
                  <a:cubicBezTo>
                    <a:pt x="6" y="1365"/>
                    <a:pt x="0" y="1360"/>
                    <a:pt x="0" y="1353"/>
                  </a:cubicBezTo>
                  <a:lnTo>
                    <a:pt x="0" y="1329"/>
                  </a:lnTo>
                  <a:cubicBezTo>
                    <a:pt x="0" y="1322"/>
                    <a:pt x="6" y="1316"/>
                    <a:pt x="13" y="1316"/>
                  </a:cubicBezTo>
                  <a:cubicBezTo>
                    <a:pt x="19" y="1316"/>
                    <a:pt x="25" y="1322"/>
                    <a:pt x="25" y="1329"/>
                  </a:cubicBezTo>
                  <a:close/>
                  <a:moveTo>
                    <a:pt x="25" y="1402"/>
                  </a:moveTo>
                  <a:lnTo>
                    <a:pt x="25" y="1426"/>
                  </a:lnTo>
                  <a:cubicBezTo>
                    <a:pt x="25" y="1433"/>
                    <a:pt x="19" y="1438"/>
                    <a:pt x="13" y="1438"/>
                  </a:cubicBezTo>
                  <a:cubicBezTo>
                    <a:pt x="6" y="1438"/>
                    <a:pt x="0" y="1433"/>
                    <a:pt x="0" y="1426"/>
                  </a:cubicBezTo>
                  <a:lnTo>
                    <a:pt x="0" y="1402"/>
                  </a:lnTo>
                  <a:cubicBezTo>
                    <a:pt x="0" y="1395"/>
                    <a:pt x="6" y="1390"/>
                    <a:pt x="13" y="1390"/>
                  </a:cubicBezTo>
                  <a:cubicBezTo>
                    <a:pt x="19" y="1390"/>
                    <a:pt x="25" y="1395"/>
                    <a:pt x="25" y="1402"/>
                  </a:cubicBezTo>
                  <a:close/>
                  <a:moveTo>
                    <a:pt x="25" y="1475"/>
                  </a:moveTo>
                  <a:lnTo>
                    <a:pt x="25" y="1499"/>
                  </a:lnTo>
                  <a:cubicBezTo>
                    <a:pt x="25" y="1506"/>
                    <a:pt x="19" y="1512"/>
                    <a:pt x="13" y="1512"/>
                  </a:cubicBezTo>
                  <a:cubicBezTo>
                    <a:pt x="6" y="1512"/>
                    <a:pt x="0" y="1506"/>
                    <a:pt x="0" y="1499"/>
                  </a:cubicBezTo>
                  <a:lnTo>
                    <a:pt x="0" y="1475"/>
                  </a:lnTo>
                  <a:cubicBezTo>
                    <a:pt x="0" y="1468"/>
                    <a:pt x="6" y="1463"/>
                    <a:pt x="13" y="1463"/>
                  </a:cubicBezTo>
                  <a:cubicBezTo>
                    <a:pt x="19" y="1463"/>
                    <a:pt x="25" y="1468"/>
                    <a:pt x="25" y="1475"/>
                  </a:cubicBezTo>
                  <a:close/>
                  <a:moveTo>
                    <a:pt x="25" y="1548"/>
                  </a:moveTo>
                  <a:lnTo>
                    <a:pt x="25" y="1572"/>
                  </a:lnTo>
                  <a:cubicBezTo>
                    <a:pt x="25" y="1579"/>
                    <a:pt x="19" y="1585"/>
                    <a:pt x="13" y="1585"/>
                  </a:cubicBezTo>
                  <a:cubicBezTo>
                    <a:pt x="6" y="1585"/>
                    <a:pt x="0" y="1579"/>
                    <a:pt x="0" y="1572"/>
                  </a:cubicBezTo>
                  <a:lnTo>
                    <a:pt x="0" y="1548"/>
                  </a:lnTo>
                  <a:cubicBezTo>
                    <a:pt x="0" y="1541"/>
                    <a:pt x="6" y="1536"/>
                    <a:pt x="13" y="1536"/>
                  </a:cubicBezTo>
                  <a:cubicBezTo>
                    <a:pt x="19" y="1536"/>
                    <a:pt x="25" y="1541"/>
                    <a:pt x="25" y="1548"/>
                  </a:cubicBezTo>
                  <a:close/>
                  <a:moveTo>
                    <a:pt x="25" y="1621"/>
                  </a:moveTo>
                  <a:lnTo>
                    <a:pt x="25" y="1646"/>
                  </a:lnTo>
                  <a:cubicBezTo>
                    <a:pt x="25" y="1652"/>
                    <a:pt x="19" y="1658"/>
                    <a:pt x="13" y="1658"/>
                  </a:cubicBezTo>
                  <a:cubicBezTo>
                    <a:pt x="6" y="1658"/>
                    <a:pt x="0" y="1652"/>
                    <a:pt x="0" y="1646"/>
                  </a:cubicBezTo>
                  <a:lnTo>
                    <a:pt x="0" y="1621"/>
                  </a:lnTo>
                  <a:cubicBezTo>
                    <a:pt x="0" y="1615"/>
                    <a:pt x="6" y="1609"/>
                    <a:pt x="13" y="1609"/>
                  </a:cubicBezTo>
                  <a:cubicBezTo>
                    <a:pt x="19" y="1609"/>
                    <a:pt x="25" y="1615"/>
                    <a:pt x="25" y="1621"/>
                  </a:cubicBezTo>
                  <a:close/>
                  <a:moveTo>
                    <a:pt x="25" y="1694"/>
                  </a:moveTo>
                  <a:lnTo>
                    <a:pt x="25" y="1719"/>
                  </a:lnTo>
                  <a:cubicBezTo>
                    <a:pt x="25" y="1726"/>
                    <a:pt x="19" y="1731"/>
                    <a:pt x="13" y="1731"/>
                  </a:cubicBezTo>
                  <a:cubicBezTo>
                    <a:pt x="6" y="1731"/>
                    <a:pt x="0" y="1726"/>
                    <a:pt x="0" y="1719"/>
                  </a:cubicBezTo>
                  <a:lnTo>
                    <a:pt x="0" y="1694"/>
                  </a:lnTo>
                  <a:cubicBezTo>
                    <a:pt x="0" y="1688"/>
                    <a:pt x="6" y="1682"/>
                    <a:pt x="13" y="1682"/>
                  </a:cubicBezTo>
                  <a:cubicBezTo>
                    <a:pt x="19" y="1682"/>
                    <a:pt x="25" y="1688"/>
                    <a:pt x="25" y="1694"/>
                  </a:cubicBezTo>
                  <a:close/>
                  <a:moveTo>
                    <a:pt x="25" y="1768"/>
                  </a:moveTo>
                  <a:lnTo>
                    <a:pt x="25" y="1792"/>
                  </a:lnTo>
                  <a:cubicBezTo>
                    <a:pt x="25" y="1799"/>
                    <a:pt x="19" y="1804"/>
                    <a:pt x="13" y="1804"/>
                  </a:cubicBezTo>
                  <a:cubicBezTo>
                    <a:pt x="6" y="1804"/>
                    <a:pt x="0" y="1799"/>
                    <a:pt x="0" y="1792"/>
                  </a:cubicBezTo>
                  <a:lnTo>
                    <a:pt x="0" y="1768"/>
                  </a:lnTo>
                  <a:cubicBezTo>
                    <a:pt x="0" y="1761"/>
                    <a:pt x="6" y="1755"/>
                    <a:pt x="13" y="1755"/>
                  </a:cubicBezTo>
                  <a:cubicBezTo>
                    <a:pt x="19" y="1755"/>
                    <a:pt x="25" y="1761"/>
                    <a:pt x="25" y="1768"/>
                  </a:cubicBezTo>
                  <a:close/>
                  <a:moveTo>
                    <a:pt x="25" y="1841"/>
                  </a:moveTo>
                  <a:lnTo>
                    <a:pt x="25" y="1865"/>
                  </a:lnTo>
                  <a:cubicBezTo>
                    <a:pt x="25" y="1872"/>
                    <a:pt x="19" y="1877"/>
                    <a:pt x="13" y="1877"/>
                  </a:cubicBezTo>
                  <a:cubicBezTo>
                    <a:pt x="6" y="1877"/>
                    <a:pt x="0" y="1872"/>
                    <a:pt x="0" y="1865"/>
                  </a:cubicBezTo>
                  <a:lnTo>
                    <a:pt x="0" y="1841"/>
                  </a:lnTo>
                  <a:cubicBezTo>
                    <a:pt x="0" y="1834"/>
                    <a:pt x="6" y="1829"/>
                    <a:pt x="13" y="1829"/>
                  </a:cubicBezTo>
                  <a:cubicBezTo>
                    <a:pt x="19" y="1829"/>
                    <a:pt x="25" y="1834"/>
                    <a:pt x="25" y="1841"/>
                  </a:cubicBezTo>
                  <a:close/>
                  <a:moveTo>
                    <a:pt x="25" y="1914"/>
                  </a:moveTo>
                  <a:lnTo>
                    <a:pt x="25" y="1938"/>
                  </a:lnTo>
                  <a:cubicBezTo>
                    <a:pt x="25" y="1945"/>
                    <a:pt x="19" y="1950"/>
                    <a:pt x="13" y="1950"/>
                  </a:cubicBezTo>
                  <a:cubicBezTo>
                    <a:pt x="6" y="1950"/>
                    <a:pt x="0" y="1945"/>
                    <a:pt x="0" y="1938"/>
                  </a:cubicBezTo>
                  <a:lnTo>
                    <a:pt x="0" y="1914"/>
                  </a:lnTo>
                  <a:cubicBezTo>
                    <a:pt x="0" y="1907"/>
                    <a:pt x="6" y="1902"/>
                    <a:pt x="13" y="1902"/>
                  </a:cubicBezTo>
                  <a:cubicBezTo>
                    <a:pt x="19" y="1902"/>
                    <a:pt x="25" y="1907"/>
                    <a:pt x="25" y="1914"/>
                  </a:cubicBezTo>
                  <a:close/>
                  <a:moveTo>
                    <a:pt x="25" y="1987"/>
                  </a:moveTo>
                  <a:lnTo>
                    <a:pt x="25" y="2011"/>
                  </a:lnTo>
                  <a:cubicBezTo>
                    <a:pt x="25" y="2018"/>
                    <a:pt x="19" y="2024"/>
                    <a:pt x="13" y="2024"/>
                  </a:cubicBezTo>
                  <a:cubicBezTo>
                    <a:pt x="6" y="2024"/>
                    <a:pt x="0" y="2018"/>
                    <a:pt x="0" y="2011"/>
                  </a:cubicBezTo>
                  <a:lnTo>
                    <a:pt x="0" y="1987"/>
                  </a:lnTo>
                  <a:cubicBezTo>
                    <a:pt x="0" y="1980"/>
                    <a:pt x="6" y="1975"/>
                    <a:pt x="13" y="1975"/>
                  </a:cubicBezTo>
                  <a:cubicBezTo>
                    <a:pt x="19" y="1975"/>
                    <a:pt x="25" y="1980"/>
                    <a:pt x="25" y="1987"/>
                  </a:cubicBezTo>
                  <a:close/>
                  <a:moveTo>
                    <a:pt x="25" y="2060"/>
                  </a:moveTo>
                  <a:lnTo>
                    <a:pt x="25" y="2085"/>
                  </a:lnTo>
                  <a:cubicBezTo>
                    <a:pt x="25" y="2091"/>
                    <a:pt x="19" y="2097"/>
                    <a:pt x="13" y="2097"/>
                  </a:cubicBezTo>
                  <a:cubicBezTo>
                    <a:pt x="6" y="2097"/>
                    <a:pt x="0" y="2091"/>
                    <a:pt x="0" y="2085"/>
                  </a:cubicBezTo>
                  <a:lnTo>
                    <a:pt x="0" y="2060"/>
                  </a:lnTo>
                  <a:cubicBezTo>
                    <a:pt x="0" y="2053"/>
                    <a:pt x="6" y="2048"/>
                    <a:pt x="13" y="2048"/>
                  </a:cubicBezTo>
                  <a:cubicBezTo>
                    <a:pt x="19" y="2048"/>
                    <a:pt x="25" y="2053"/>
                    <a:pt x="25" y="2060"/>
                  </a:cubicBezTo>
                  <a:close/>
                  <a:moveTo>
                    <a:pt x="25" y="2133"/>
                  </a:moveTo>
                  <a:lnTo>
                    <a:pt x="25" y="2158"/>
                  </a:lnTo>
                  <a:cubicBezTo>
                    <a:pt x="25" y="2164"/>
                    <a:pt x="19" y="2170"/>
                    <a:pt x="13" y="2170"/>
                  </a:cubicBezTo>
                  <a:cubicBezTo>
                    <a:pt x="6" y="2170"/>
                    <a:pt x="0" y="2164"/>
                    <a:pt x="0" y="2158"/>
                  </a:cubicBezTo>
                  <a:lnTo>
                    <a:pt x="0" y="2133"/>
                  </a:lnTo>
                  <a:cubicBezTo>
                    <a:pt x="0" y="2127"/>
                    <a:pt x="6" y="2121"/>
                    <a:pt x="13" y="2121"/>
                  </a:cubicBezTo>
                  <a:cubicBezTo>
                    <a:pt x="19" y="2121"/>
                    <a:pt x="25" y="2127"/>
                    <a:pt x="25" y="2133"/>
                  </a:cubicBezTo>
                  <a:close/>
                  <a:moveTo>
                    <a:pt x="25" y="2206"/>
                  </a:moveTo>
                  <a:lnTo>
                    <a:pt x="25" y="2231"/>
                  </a:lnTo>
                  <a:cubicBezTo>
                    <a:pt x="25" y="2238"/>
                    <a:pt x="19" y="2243"/>
                    <a:pt x="13" y="2243"/>
                  </a:cubicBezTo>
                  <a:cubicBezTo>
                    <a:pt x="6" y="2243"/>
                    <a:pt x="0" y="2238"/>
                    <a:pt x="0" y="2231"/>
                  </a:cubicBezTo>
                  <a:lnTo>
                    <a:pt x="0" y="2206"/>
                  </a:lnTo>
                  <a:cubicBezTo>
                    <a:pt x="0" y="2200"/>
                    <a:pt x="6" y="2194"/>
                    <a:pt x="13" y="2194"/>
                  </a:cubicBezTo>
                  <a:cubicBezTo>
                    <a:pt x="19" y="2194"/>
                    <a:pt x="25" y="2200"/>
                    <a:pt x="25" y="2206"/>
                  </a:cubicBezTo>
                  <a:close/>
                  <a:moveTo>
                    <a:pt x="25" y="2280"/>
                  </a:moveTo>
                  <a:lnTo>
                    <a:pt x="25" y="2304"/>
                  </a:lnTo>
                  <a:cubicBezTo>
                    <a:pt x="25" y="2311"/>
                    <a:pt x="19" y="2316"/>
                    <a:pt x="13" y="2316"/>
                  </a:cubicBezTo>
                  <a:cubicBezTo>
                    <a:pt x="6" y="2316"/>
                    <a:pt x="0" y="2311"/>
                    <a:pt x="0" y="2304"/>
                  </a:cubicBezTo>
                  <a:lnTo>
                    <a:pt x="0" y="2280"/>
                  </a:lnTo>
                  <a:cubicBezTo>
                    <a:pt x="0" y="2273"/>
                    <a:pt x="6" y="2267"/>
                    <a:pt x="13" y="2267"/>
                  </a:cubicBezTo>
                  <a:cubicBezTo>
                    <a:pt x="19" y="2267"/>
                    <a:pt x="25" y="2273"/>
                    <a:pt x="25" y="2280"/>
                  </a:cubicBezTo>
                  <a:close/>
                  <a:moveTo>
                    <a:pt x="25" y="2353"/>
                  </a:moveTo>
                  <a:lnTo>
                    <a:pt x="25" y="2377"/>
                  </a:lnTo>
                  <a:cubicBezTo>
                    <a:pt x="25" y="2384"/>
                    <a:pt x="19" y="2389"/>
                    <a:pt x="13" y="2389"/>
                  </a:cubicBezTo>
                  <a:cubicBezTo>
                    <a:pt x="6" y="2389"/>
                    <a:pt x="0" y="2384"/>
                    <a:pt x="0" y="2377"/>
                  </a:cubicBezTo>
                  <a:lnTo>
                    <a:pt x="0" y="2353"/>
                  </a:lnTo>
                  <a:cubicBezTo>
                    <a:pt x="0" y="2346"/>
                    <a:pt x="6" y="2341"/>
                    <a:pt x="13" y="2341"/>
                  </a:cubicBezTo>
                  <a:cubicBezTo>
                    <a:pt x="19" y="2341"/>
                    <a:pt x="25" y="2346"/>
                    <a:pt x="25" y="2353"/>
                  </a:cubicBezTo>
                  <a:close/>
                  <a:moveTo>
                    <a:pt x="25" y="2426"/>
                  </a:moveTo>
                  <a:lnTo>
                    <a:pt x="25" y="2450"/>
                  </a:lnTo>
                  <a:cubicBezTo>
                    <a:pt x="25" y="2457"/>
                    <a:pt x="19" y="2463"/>
                    <a:pt x="13" y="2463"/>
                  </a:cubicBezTo>
                  <a:cubicBezTo>
                    <a:pt x="6" y="2463"/>
                    <a:pt x="0" y="2457"/>
                    <a:pt x="0" y="2450"/>
                  </a:cubicBezTo>
                  <a:lnTo>
                    <a:pt x="0" y="2426"/>
                  </a:lnTo>
                  <a:cubicBezTo>
                    <a:pt x="0" y="2419"/>
                    <a:pt x="6" y="2414"/>
                    <a:pt x="13" y="2414"/>
                  </a:cubicBezTo>
                  <a:cubicBezTo>
                    <a:pt x="19" y="2414"/>
                    <a:pt x="25" y="2419"/>
                    <a:pt x="25" y="2426"/>
                  </a:cubicBezTo>
                  <a:close/>
                  <a:moveTo>
                    <a:pt x="25" y="2499"/>
                  </a:moveTo>
                  <a:lnTo>
                    <a:pt x="25" y="2523"/>
                  </a:lnTo>
                  <a:cubicBezTo>
                    <a:pt x="25" y="2530"/>
                    <a:pt x="19" y="2536"/>
                    <a:pt x="13" y="2536"/>
                  </a:cubicBezTo>
                  <a:cubicBezTo>
                    <a:pt x="6" y="2536"/>
                    <a:pt x="0" y="2530"/>
                    <a:pt x="0" y="2523"/>
                  </a:cubicBezTo>
                  <a:lnTo>
                    <a:pt x="0" y="2499"/>
                  </a:lnTo>
                  <a:cubicBezTo>
                    <a:pt x="0" y="2492"/>
                    <a:pt x="6" y="2487"/>
                    <a:pt x="13" y="2487"/>
                  </a:cubicBezTo>
                  <a:cubicBezTo>
                    <a:pt x="19" y="2487"/>
                    <a:pt x="25" y="2492"/>
                    <a:pt x="25" y="2499"/>
                  </a:cubicBezTo>
                  <a:close/>
                  <a:moveTo>
                    <a:pt x="25" y="2572"/>
                  </a:moveTo>
                  <a:lnTo>
                    <a:pt x="25" y="2597"/>
                  </a:lnTo>
                  <a:cubicBezTo>
                    <a:pt x="25" y="2603"/>
                    <a:pt x="19" y="2609"/>
                    <a:pt x="13" y="2609"/>
                  </a:cubicBezTo>
                  <a:cubicBezTo>
                    <a:pt x="6" y="2609"/>
                    <a:pt x="0" y="2603"/>
                    <a:pt x="0" y="2597"/>
                  </a:cubicBezTo>
                  <a:lnTo>
                    <a:pt x="0" y="2572"/>
                  </a:lnTo>
                  <a:cubicBezTo>
                    <a:pt x="0" y="2566"/>
                    <a:pt x="6" y="2560"/>
                    <a:pt x="13" y="2560"/>
                  </a:cubicBezTo>
                  <a:cubicBezTo>
                    <a:pt x="19" y="2560"/>
                    <a:pt x="25" y="2566"/>
                    <a:pt x="25" y="2572"/>
                  </a:cubicBezTo>
                  <a:close/>
                  <a:moveTo>
                    <a:pt x="25" y="2645"/>
                  </a:moveTo>
                  <a:lnTo>
                    <a:pt x="25" y="2670"/>
                  </a:lnTo>
                  <a:cubicBezTo>
                    <a:pt x="25" y="2677"/>
                    <a:pt x="19" y="2682"/>
                    <a:pt x="13" y="2682"/>
                  </a:cubicBezTo>
                  <a:cubicBezTo>
                    <a:pt x="6" y="2682"/>
                    <a:pt x="0" y="2677"/>
                    <a:pt x="0" y="2670"/>
                  </a:cubicBezTo>
                  <a:lnTo>
                    <a:pt x="0" y="2645"/>
                  </a:lnTo>
                  <a:cubicBezTo>
                    <a:pt x="0" y="2639"/>
                    <a:pt x="6" y="2633"/>
                    <a:pt x="13" y="2633"/>
                  </a:cubicBezTo>
                  <a:cubicBezTo>
                    <a:pt x="19" y="2633"/>
                    <a:pt x="25" y="2639"/>
                    <a:pt x="25" y="2645"/>
                  </a:cubicBezTo>
                  <a:close/>
                  <a:moveTo>
                    <a:pt x="25" y="2719"/>
                  </a:moveTo>
                  <a:lnTo>
                    <a:pt x="25" y="2743"/>
                  </a:lnTo>
                  <a:cubicBezTo>
                    <a:pt x="25" y="2750"/>
                    <a:pt x="19" y="2755"/>
                    <a:pt x="13" y="2755"/>
                  </a:cubicBezTo>
                  <a:cubicBezTo>
                    <a:pt x="6" y="2755"/>
                    <a:pt x="0" y="2750"/>
                    <a:pt x="0" y="2743"/>
                  </a:cubicBezTo>
                  <a:lnTo>
                    <a:pt x="0" y="2719"/>
                  </a:lnTo>
                  <a:cubicBezTo>
                    <a:pt x="0" y="2712"/>
                    <a:pt x="6" y="2706"/>
                    <a:pt x="13" y="2706"/>
                  </a:cubicBezTo>
                  <a:cubicBezTo>
                    <a:pt x="19" y="2706"/>
                    <a:pt x="25" y="2712"/>
                    <a:pt x="25" y="2719"/>
                  </a:cubicBezTo>
                  <a:close/>
                  <a:moveTo>
                    <a:pt x="25" y="2792"/>
                  </a:moveTo>
                  <a:lnTo>
                    <a:pt x="25" y="2816"/>
                  </a:lnTo>
                  <a:cubicBezTo>
                    <a:pt x="25" y="2823"/>
                    <a:pt x="19" y="2828"/>
                    <a:pt x="13" y="2828"/>
                  </a:cubicBezTo>
                  <a:cubicBezTo>
                    <a:pt x="6" y="2828"/>
                    <a:pt x="0" y="2823"/>
                    <a:pt x="0" y="2816"/>
                  </a:cubicBezTo>
                  <a:lnTo>
                    <a:pt x="0" y="2792"/>
                  </a:lnTo>
                  <a:cubicBezTo>
                    <a:pt x="0" y="2785"/>
                    <a:pt x="6" y="2780"/>
                    <a:pt x="13" y="2780"/>
                  </a:cubicBezTo>
                  <a:cubicBezTo>
                    <a:pt x="19" y="2780"/>
                    <a:pt x="25" y="2785"/>
                    <a:pt x="25" y="2792"/>
                  </a:cubicBezTo>
                  <a:close/>
                  <a:moveTo>
                    <a:pt x="25" y="2865"/>
                  </a:moveTo>
                  <a:lnTo>
                    <a:pt x="25" y="2889"/>
                  </a:lnTo>
                  <a:cubicBezTo>
                    <a:pt x="25" y="2896"/>
                    <a:pt x="19" y="2901"/>
                    <a:pt x="13" y="2901"/>
                  </a:cubicBezTo>
                  <a:cubicBezTo>
                    <a:pt x="6" y="2901"/>
                    <a:pt x="0" y="2896"/>
                    <a:pt x="0" y="2889"/>
                  </a:cubicBezTo>
                  <a:lnTo>
                    <a:pt x="0" y="2865"/>
                  </a:lnTo>
                  <a:cubicBezTo>
                    <a:pt x="0" y="2858"/>
                    <a:pt x="6" y="2853"/>
                    <a:pt x="13" y="2853"/>
                  </a:cubicBezTo>
                  <a:cubicBezTo>
                    <a:pt x="19" y="2853"/>
                    <a:pt x="25" y="2858"/>
                    <a:pt x="25" y="2865"/>
                  </a:cubicBezTo>
                  <a:close/>
                  <a:moveTo>
                    <a:pt x="25" y="2938"/>
                  </a:moveTo>
                  <a:lnTo>
                    <a:pt x="25" y="2962"/>
                  </a:lnTo>
                  <a:cubicBezTo>
                    <a:pt x="25" y="2969"/>
                    <a:pt x="19" y="2975"/>
                    <a:pt x="13" y="2975"/>
                  </a:cubicBezTo>
                  <a:cubicBezTo>
                    <a:pt x="6" y="2975"/>
                    <a:pt x="0" y="2969"/>
                    <a:pt x="0" y="2962"/>
                  </a:cubicBezTo>
                  <a:lnTo>
                    <a:pt x="0" y="2938"/>
                  </a:lnTo>
                  <a:cubicBezTo>
                    <a:pt x="0" y="2931"/>
                    <a:pt x="6" y="2926"/>
                    <a:pt x="13" y="2926"/>
                  </a:cubicBezTo>
                  <a:cubicBezTo>
                    <a:pt x="19" y="2926"/>
                    <a:pt x="25" y="2931"/>
                    <a:pt x="25" y="2938"/>
                  </a:cubicBezTo>
                  <a:close/>
                  <a:moveTo>
                    <a:pt x="25" y="3011"/>
                  </a:moveTo>
                  <a:lnTo>
                    <a:pt x="25" y="3036"/>
                  </a:lnTo>
                  <a:cubicBezTo>
                    <a:pt x="25" y="3042"/>
                    <a:pt x="19" y="3048"/>
                    <a:pt x="13" y="3048"/>
                  </a:cubicBezTo>
                  <a:cubicBezTo>
                    <a:pt x="6" y="3048"/>
                    <a:pt x="0" y="3042"/>
                    <a:pt x="0" y="3036"/>
                  </a:cubicBezTo>
                  <a:lnTo>
                    <a:pt x="0" y="3011"/>
                  </a:lnTo>
                  <a:cubicBezTo>
                    <a:pt x="0" y="3004"/>
                    <a:pt x="6" y="2999"/>
                    <a:pt x="13" y="2999"/>
                  </a:cubicBezTo>
                  <a:cubicBezTo>
                    <a:pt x="19" y="2999"/>
                    <a:pt x="25" y="3004"/>
                    <a:pt x="25" y="3011"/>
                  </a:cubicBezTo>
                  <a:close/>
                  <a:moveTo>
                    <a:pt x="25" y="3084"/>
                  </a:moveTo>
                  <a:lnTo>
                    <a:pt x="25" y="3109"/>
                  </a:lnTo>
                  <a:cubicBezTo>
                    <a:pt x="25" y="3115"/>
                    <a:pt x="19" y="3121"/>
                    <a:pt x="13" y="3121"/>
                  </a:cubicBezTo>
                  <a:cubicBezTo>
                    <a:pt x="6" y="3121"/>
                    <a:pt x="0" y="3115"/>
                    <a:pt x="0" y="3109"/>
                  </a:cubicBezTo>
                  <a:lnTo>
                    <a:pt x="0" y="3084"/>
                  </a:lnTo>
                  <a:cubicBezTo>
                    <a:pt x="0" y="3078"/>
                    <a:pt x="6" y="3072"/>
                    <a:pt x="13" y="3072"/>
                  </a:cubicBezTo>
                  <a:cubicBezTo>
                    <a:pt x="19" y="3072"/>
                    <a:pt x="25" y="3078"/>
                    <a:pt x="25" y="3084"/>
                  </a:cubicBezTo>
                  <a:close/>
                </a:path>
              </a:pathLst>
            </a:custGeom>
            <a:solidFill>
              <a:srgbClr val="000000"/>
            </a:solidFill>
            <a:ln w="8001" cap="flat">
              <a:solidFill>
                <a:srgbClr val="FF0000"/>
              </a:solidFill>
              <a:prstDash val="solid"/>
              <a:bevel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8" name="Freeform 418"/>
            <p:cNvSpPr>
              <a:spLocks noEditPoints="1"/>
            </p:cNvSpPr>
            <p:nvPr/>
          </p:nvSpPr>
          <p:spPr bwMode="auto">
            <a:xfrm>
              <a:off x="4013" y="1065"/>
              <a:ext cx="8" cy="1185"/>
            </a:xfrm>
            <a:custGeom>
              <a:avLst/>
              <a:gdLst>
                <a:gd name="T0" fmla="*/ 0 w 24"/>
                <a:gd name="T1" fmla="*/ 12 h 3121"/>
                <a:gd name="T2" fmla="*/ 12 w 24"/>
                <a:gd name="T3" fmla="*/ 122 h 3121"/>
                <a:gd name="T4" fmla="*/ 24 w 24"/>
                <a:gd name="T5" fmla="*/ 158 h 3121"/>
                <a:gd name="T6" fmla="*/ 12 w 24"/>
                <a:gd name="T7" fmla="*/ 146 h 3121"/>
                <a:gd name="T8" fmla="*/ 0 w 24"/>
                <a:gd name="T9" fmla="*/ 256 h 3121"/>
                <a:gd name="T10" fmla="*/ 24 w 24"/>
                <a:gd name="T11" fmla="*/ 329 h 3121"/>
                <a:gd name="T12" fmla="*/ 24 w 24"/>
                <a:gd name="T13" fmla="*/ 305 h 3121"/>
                <a:gd name="T14" fmla="*/ 0 w 24"/>
                <a:gd name="T15" fmla="*/ 378 h 3121"/>
                <a:gd name="T16" fmla="*/ 12 w 24"/>
                <a:gd name="T17" fmla="*/ 487 h 3121"/>
                <a:gd name="T18" fmla="*/ 24 w 24"/>
                <a:gd name="T19" fmla="*/ 524 h 3121"/>
                <a:gd name="T20" fmla="*/ 12 w 24"/>
                <a:gd name="T21" fmla="*/ 512 h 3121"/>
                <a:gd name="T22" fmla="*/ 0 w 24"/>
                <a:gd name="T23" fmla="*/ 622 h 3121"/>
                <a:gd name="T24" fmla="*/ 24 w 24"/>
                <a:gd name="T25" fmla="*/ 695 h 3121"/>
                <a:gd name="T26" fmla="*/ 24 w 24"/>
                <a:gd name="T27" fmla="*/ 670 h 3121"/>
                <a:gd name="T28" fmla="*/ 0 w 24"/>
                <a:gd name="T29" fmla="*/ 743 h 3121"/>
                <a:gd name="T30" fmla="*/ 12 w 24"/>
                <a:gd name="T31" fmla="*/ 853 h 3121"/>
                <a:gd name="T32" fmla="*/ 24 w 24"/>
                <a:gd name="T33" fmla="*/ 890 h 3121"/>
                <a:gd name="T34" fmla="*/ 12 w 24"/>
                <a:gd name="T35" fmla="*/ 878 h 3121"/>
                <a:gd name="T36" fmla="*/ 0 w 24"/>
                <a:gd name="T37" fmla="*/ 987 h 3121"/>
                <a:gd name="T38" fmla="*/ 24 w 24"/>
                <a:gd name="T39" fmla="*/ 1060 h 3121"/>
                <a:gd name="T40" fmla="*/ 24 w 24"/>
                <a:gd name="T41" fmla="*/ 1036 h 3121"/>
                <a:gd name="T42" fmla="*/ 0 w 24"/>
                <a:gd name="T43" fmla="*/ 1109 h 3121"/>
                <a:gd name="T44" fmla="*/ 12 w 24"/>
                <a:gd name="T45" fmla="*/ 1219 h 3121"/>
                <a:gd name="T46" fmla="*/ 24 w 24"/>
                <a:gd name="T47" fmla="*/ 1256 h 3121"/>
                <a:gd name="T48" fmla="*/ 12 w 24"/>
                <a:gd name="T49" fmla="*/ 1243 h 3121"/>
                <a:gd name="T50" fmla="*/ 0 w 24"/>
                <a:gd name="T51" fmla="*/ 1353 h 3121"/>
                <a:gd name="T52" fmla="*/ 24 w 24"/>
                <a:gd name="T53" fmla="*/ 1426 h 3121"/>
                <a:gd name="T54" fmla="*/ 24 w 24"/>
                <a:gd name="T55" fmla="*/ 1402 h 3121"/>
                <a:gd name="T56" fmla="*/ 0 w 24"/>
                <a:gd name="T57" fmla="*/ 1475 h 3121"/>
                <a:gd name="T58" fmla="*/ 12 w 24"/>
                <a:gd name="T59" fmla="*/ 1585 h 3121"/>
                <a:gd name="T60" fmla="*/ 24 w 24"/>
                <a:gd name="T61" fmla="*/ 1621 h 3121"/>
                <a:gd name="T62" fmla="*/ 12 w 24"/>
                <a:gd name="T63" fmla="*/ 1609 h 3121"/>
                <a:gd name="T64" fmla="*/ 0 w 24"/>
                <a:gd name="T65" fmla="*/ 1719 h 3121"/>
                <a:gd name="T66" fmla="*/ 24 w 24"/>
                <a:gd name="T67" fmla="*/ 1792 h 3121"/>
                <a:gd name="T68" fmla="*/ 24 w 24"/>
                <a:gd name="T69" fmla="*/ 1768 h 3121"/>
                <a:gd name="T70" fmla="*/ 0 w 24"/>
                <a:gd name="T71" fmla="*/ 1841 h 3121"/>
                <a:gd name="T72" fmla="*/ 12 w 24"/>
                <a:gd name="T73" fmla="*/ 1950 h 3121"/>
                <a:gd name="T74" fmla="*/ 24 w 24"/>
                <a:gd name="T75" fmla="*/ 1987 h 3121"/>
                <a:gd name="T76" fmla="*/ 12 w 24"/>
                <a:gd name="T77" fmla="*/ 1975 h 3121"/>
                <a:gd name="T78" fmla="*/ 0 w 24"/>
                <a:gd name="T79" fmla="*/ 2085 h 3121"/>
                <a:gd name="T80" fmla="*/ 24 w 24"/>
                <a:gd name="T81" fmla="*/ 2158 h 3121"/>
                <a:gd name="T82" fmla="*/ 24 w 24"/>
                <a:gd name="T83" fmla="*/ 2133 h 3121"/>
                <a:gd name="T84" fmla="*/ 0 w 24"/>
                <a:gd name="T85" fmla="*/ 2206 h 3121"/>
                <a:gd name="T86" fmla="*/ 12 w 24"/>
                <a:gd name="T87" fmla="*/ 2316 h 3121"/>
                <a:gd name="T88" fmla="*/ 24 w 24"/>
                <a:gd name="T89" fmla="*/ 2353 h 3121"/>
                <a:gd name="T90" fmla="*/ 12 w 24"/>
                <a:gd name="T91" fmla="*/ 2341 h 3121"/>
                <a:gd name="T92" fmla="*/ 0 w 24"/>
                <a:gd name="T93" fmla="*/ 2450 h 3121"/>
                <a:gd name="T94" fmla="*/ 24 w 24"/>
                <a:gd name="T95" fmla="*/ 2523 h 3121"/>
                <a:gd name="T96" fmla="*/ 24 w 24"/>
                <a:gd name="T97" fmla="*/ 2499 h 3121"/>
                <a:gd name="T98" fmla="*/ 0 w 24"/>
                <a:gd name="T99" fmla="*/ 2572 h 3121"/>
                <a:gd name="T100" fmla="*/ 12 w 24"/>
                <a:gd name="T101" fmla="*/ 2682 h 3121"/>
                <a:gd name="T102" fmla="*/ 24 w 24"/>
                <a:gd name="T103" fmla="*/ 2719 h 3121"/>
                <a:gd name="T104" fmla="*/ 12 w 24"/>
                <a:gd name="T105" fmla="*/ 2706 h 3121"/>
                <a:gd name="T106" fmla="*/ 0 w 24"/>
                <a:gd name="T107" fmla="*/ 2816 h 3121"/>
                <a:gd name="T108" fmla="*/ 24 w 24"/>
                <a:gd name="T109" fmla="*/ 2889 h 3121"/>
                <a:gd name="T110" fmla="*/ 24 w 24"/>
                <a:gd name="T111" fmla="*/ 2865 h 3121"/>
                <a:gd name="T112" fmla="*/ 0 w 24"/>
                <a:gd name="T113" fmla="*/ 2938 h 3121"/>
                <a:gd name="T114" fmla="*/ 12 w 24"/>
                <a:gd name="T115" fmla="*/ 3048 h 3121"/>
                <a:gd name="T116" fmla="*/ 24 w 24"/>
                <a:gd name="T117" fmla="*/ 3084 h 3121"/>
                <a:gd name="T118" fmla="*/ 12 w 24"/>
                <a:gd name="T119" fmla="*/ 3072 h 3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4" h="3121">
                  <a:moveTo>
                    <a:pt x="24" y="12"/>
                  </a:moveTo>
                  <a:lnTo>
                    <a:pt x="24" y="36"/>
                  </a:lnTo>
                  <a:cubicBezTo>
                    <a:pt x="24" y="43"/>
                    <a:pt x="18" y="48"/>
                    <a:pt x="12" y="48"/>
                  </a:cubicBezTo>
                  <a:cubicBezTo>
                    <a:pt x="5" y="48"/>
                    <a:pt x="0" y="43"/>
                    <a:pt x="0" y="36"/>
                  </a:cubicBezTo>
                  <a:lnTo>
                    <a:pt x="0" y="12"/>
                  </a:ln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lose/>
                  <a:moveTo>
                    <a:pt x="24" y="85"/>
                  </a:moveTo>
                  <a:lnTo>
                    <a:pt x="24" y="109"/>
                  </a:lnTo>
                  <a:cubicBezTo>
                    <a:pt x="24" y="116"/>
                    <a:pt x="18" y="122"/>
                    <a:pt x="12" y="122"/>
                  </a:cubicBezTo>
                  <a:cubicBezTo>
                    <a:pt x="5" y="122"/>
                    <a:pt x="0" y="116"/>
                    <a:pt x="0" y="109"/>
                  </a:cubicBezTo>
                  <a:lnTo>
                    <a:pt x="0" y="85"/>
                  </a:lnTo>
                  <a:cubicBezTo>
                    <a:pt x="0" y="78"/>
                    <a:pt x="5" y="73"/>
                    <a:pt x="12" y="73"/>
                  </a:cubicBezTo>
                  <a:cubicBezTo>
                    <a:pt x="18" y="73"/>
                    <a:pt x="24" y="78"/>
                    <a:pt x="24" y="85"/>
                  </a:cubicBezTo>
                  <a:close/>
                  <a:moveTo>
                    <a:pt x="24" y="158"/>
                  </a:moveTo>
                  <a:lnTo>
                    <a:pt x="24" y="183"/>
                  </a:lnTo>
                  <a:cubicBezTo>
                    <a:pt x="24" y="189"/>
                    <a:pt x="18" y="195"/>
                    <a:pt x="12" y="195"/>
                  </a:cubicBezTo>
                  <a:cubicBezTo>
                    <a:pt x="5" y="195"/>
                    <a:pt x="0" y="189"/>
                    <a:pt x="0" y="183"/>
                  </a:cubicBezTo>
                  <a:lnTo>
                    <a:pt x="0" y="158"/>
                  </a:lnTo>
                  <a:cubicBezTo>
                    <a:pt x="0" y="151"/>
                    <a:pt x="5" y="146"/>
                    <a:pt x="12" y="146"/>
                  </a:cubicBezTo>
                  <a:cubicBezTo>
                    <a:pt x="18" y="146"/>
                    <a:pt x="24" y="151"/>
                    <a:pt x="24" y="158"/>
                  </a:cubicBezTo>
                  <a:close/>
                  <a:moveTo>
                    <a:pt x="24" y="231"/>
                  </a:moveTo>
                  <a:lnTo>
                    <a:pt x="24" y="256"/>
                  </a:lnTo>
                  <a:cubicBezTo>
                    <a:pt x="24" y="262"/>
                    <a:pt x="18" y="268"/>
                    <a:pt x="12" y="268"/>
                  </a:cubicBezTo>
                  <a:cubicBezTo>
                    <a:pt x="5" y="268"/>
                    <a:pt x="0" y="262"/>
                    <a:pt x="0" y="256"/>
                  </a:cubicBezTo>
                  <a:lnTo>
                    <a:pt x="0" y="231"/>
                  </a:lnTo>
                  <a:cubicBezTo>
                    <a:pt x="0" y="225"/>
                    <a:pt x="5" y="219"/>
                    <a:pt x="12" y="219"/>
                  </a:cubicBezTo>
                  <a:cubicBezTo>
                    <a:pt x="18" y="219"/>
                    <a:pt x="24" y="225"/>
                    <a:pt x="24" y="231"/>
                  </a:cubicBezTo>
                  <a:close/>
                  <a:moveTo>
                    <a:pt x="24" y="305"/>
                  </a:moveTo>
                  <a:lnTo>
                    <a:pt x="24" y="329"/>
                  </a:lnTo>
                  <a:cubicBezTo>
                    <a:pt x="24" y="336"/>
                    <a:pt x="18" y="341"/>
                    <a:pt x="12" y="341"/>
                  </a:cubicBezTo>
                  <a:cubicBezTo>
                    <a:pt x="5" y="341"/>
                    <a:pt x="0" y="336"/>
                    <a:pt x="0" y="329"/>
                  </a:cubicBezTo>
                  <a:lnTo>
                    <a:pt x="0" y="305"/>
                  </a:lnTo>
                  <a:cubicBezTo>
                    <a:pt x="0" y="298"/>
                    <a:pt x="5" y="292"/>
                    <a:pt x="12" y="292"/>
                  </a:cubicBezTo>
                  <a:cubicBezTo>
                    <a:pt x="18" y="292"/>
                    <a:pt x="24" y="298"/>
                    <a:pt x="24" y="305"/>
                  </a:cubicBezTo>
                  <a:close/>
                  <a:moveTo>
                    <a:pt x="24" y="378"/>
                  </a:moveTo>
                  <a:lnTo>
                    <a:pt x="24" y="402"/>
                  </a:lnTo>
                  <a:cubicBezTo>
                    <a:pt x="24" y="409"/>
                    <a:pt x="18" y="414"/>
                    <a:pt x="12" y="414"/>
                  </a:cubicBezTo>
                  <a:cubicBezTo>
                    <a:pt x="5" y="414"/>
                    <a:pt x="0" y="409"/>
                    <a:pt x="0" y="402"/>
                  </a:cubicBezTo>
                  <a:lnTo>
                    <a:pt x="0" y="378"/>
                  </a:lnTo>
                  <a:cubicBezTo>
                    <a:pt x="0" y="371"/>
                    <a:pt x="5" y="365"/>
                    <a:pt x="12" y="365"/>
                  </a:cubicBezTo>
                  <a:cubicBezTo>
                    <a:pt x="18" y="365"/>
                    <a:pt x="24" y="371"/>
                    <a:pt x="24" y="378"/>
                  </a:cubicBezTo>
                  <a:close/>
                  <a:moveTo>
                    <a:pt x="24" y="451"/>
                  </a:moveTo>
                  <a:lnTo>
                    <a:pt x="24" y="475"/>
                  </a:lnTo>
                  <a:cubicBezTo>
                    <a:pt x="24" y="482"/>
                    <a:pt x="18" y="487"/>
                    <a:pt x="12" y="487"/>
                  </a:cubicBezTo>
                  <a:cubicBezTo>
                    <a:pt x="5" y="487"/>
                    <a:pt x="0" y="482"/>
                    <a:pt x="0" y="475"/>
                  </a:cubicBezTo>
                  <a:lnTo>
                    <a:pt x="0" y="451"/>
                  </a:lnTo>
                  <a:cubicBezTo>
                    <a:pt x="0" y="444"/>
                    <a:pt x="5" y="439"/>
                    <a:pt x="12" y="439"/>
                  </a:cubicBezTo>
                  <a:cubicBezTo>
                    <a:pt x="18" y="439"/>
                    <a:pt x="24" y="444"/>
                    <a:pt x="24" y="451"/>
                  </a:cubicBezTo>
                  <a:close/>
                  <a:moveTo>
                    <a:pt x="24" y="524"/>
                  </a:moveTo>
                  <a:lnTo>
                    <a:pt x="24" y="548"/>
                  </a:lnTo>
                  <a:cubicBezTo>
                    <a:pt x="24" y="555"/>
                    <a:pt x="18" y="561"/>
                    <a:pt x="12" y="561"/>
                  </a:cubicBezTo>
                  <a:cubicBezTo>
                    <a:pt x="5" y="561"/>
                    <a:pt x="0" y="555"/>
                    <a:pt x="0" y="548"/>
                  </a:cubicBezTo>
                  <a:lnTo>
                    <a:pt x="0" y="524"/>
                  </a:lnTo>
                  <a:cubicBezTo>
                    <a:pt x="0" y="517"/>
                    <a:pt x="5" y="512"/>
                    <a:pt x="12" y="512"/>
                  </a:cubicBezTo>
                  <a:cubicBezTo>
                    <a:pt x="18" y="512"/>
                    <a:pt x="24" y="517"/>
                    <a:pt x="24" y="524"/>
                  </a:cubicBezTo>
                  <a:close/>
                  <a:moveTo>
                    <a:pt x="24" y="597"/>
                  </a:moveTo>
                  <a:lnTo>
                    <a:pt x="24" y="622"/>
                  </a:lnTo>
                  <a:cubicBezTo>
                    <a:pt x="24" y="628"/>
                    <a:pt x="18" y="634"/>
                    <a:pt x="12" y="634"/>
                  </a:cubicBezTo>
                  <a:cubicBezTo>
                    <a:pt x="5" y="634"/>
                    <a:pt x="0" y="628"/>
                    <a:pt x="0" y="622"/>
                  </a:cubicBezTo>
                  <a:lnTo>
                    <a:pt x="0" y="597"/>
                  </a:lnTo>
                  <a:cubicBezTo>
                    <a:pt x="0" y="590"/>
                    <a:pt x="5" y="585"/>
                    <a:pt x="12" y="585"/>
                  </a:cubicBezTo>
                  <a:cubicBezTo>
                    <a:pt x="18" y="585"/>
                    <a:pt x="24" y="590"/>
                    <a:pt x="24" y="597"/>
                  </a:cubicBezTo>
                  <a:close/>
                  <a:moveTo>
                    <a:pt x="24" y="670"/>
                  </a:moveTo>
                  <a:lnTo>
                    <a:pt x="24" y="695"/>
                  </a:lnTo>
                  <a:cubicBezTo>
                    <a:pt x="24" y="701"/>
                    <a:pt x="18" y="707"/>
                    <a:pt x="12" y="707"/>
                  </a:cubicBezTo>
                  <a:cubicBezTo>
                    <a:pt x="5" y="707"/>
                    <a:pt x="0" y="701"/>
                    <a:pt x="0" y="695"/>
                  </a:cubicBezTo>
                  <a:lnTo>
                    <a:pt x="0" y="670"/>
                  </a:lnTo>
                  <a:cubicBezTo>
                    <a:pt x="0" y="664"/>
                    <a:pt x="5" y="658"/>
                    <a:pt x="12" y="658"/>
                  </a:cubicBezTo>
                  <a:cubicBezTo>
                    <a:pt x="18" y="658"/>
                    <a:pt x="24" y="664"/>
                    <a:pt x="24" y="670"/>
                  </a:cubicBezTo>
                  <a:close/>
                  <a:moveTo>
                    <a:pt x="24" y="743"/>
                  </a:moveTo>
                  <a:lnTo>
                    <a:pt x="24" y="768"/>
                  </a:lnTo>
                  <a:cubicBezTo>
                    <a:pt x="24" y="775"/>
                    <a:pt x="18" y="780"/>
                    <a:pt x="12" y="780"/>
                  </a:cubicBezTo>
                  <a:cubicBezTo>
                    <a:pt x="5" y="780"/>
                    <a:pt x="0" y="775"/>
                    <a:pt x="0" y="768"/>
                  </a:cubicBezTo>
                  <a:lnTo>
                    <a:pt x="0" y="743"/>
                  </a:lnTo>
                  <a:cubicBezTo>
                    <a:pt x="0" y="737"/>
                    <a:pt x="5" y="731"/>
                    <a:pt x="12" y="731"/>
                  </a:cubicBezTo>
                  <a:cubicBezTo>
                    <a:pt x="18" y="731"/>
                    <a:pt x="24" y="737"/>
                    <a:pt x="24" y="743"/>
                  </a:cubicBezTo>
                  <a:close/>
                  <a:moveTo>
                    <a:pt x="24" y="817"/>
                  </a:moveTo>
                  <a:lnTo>
                    <a:pt x="24" y="841"/>
                  </a:lnTo>
                  <a:cubicBezTo>
                    <a:pt x="24" y="848"/>
                    <a:pt x="18" y="853"/>
                    <a:pt x="12" y="853"/>
                  </a:cubicBezTo>
                  <a:cubicBezTo>
                    <a:pt x="5" y="853"/>
                    <a:pt x="0" y="848"/>
                    <a:pt x="0" y="841"/>
                  </a:cubicBezTo>
                  <a:lnTo>
                    <a:pt x="0" y="817"/>
                  </a:lnTo>
                  <a:cubicBezTo>
                    <a:pt x="0" y="810"/>
                    <a:pt x="5" y="804"/>
                    <a:pt x="12" y="804"/>
                  </a:cubicBezTo>
                  <a:cubicBezTo>
                    <a:pt x="18" y="804"/>
                    <a:pt x="24" y="810"/>
                    <a:pt x="24" y="817"/>
                  </a:cubicBezTo>
                  <a:close/>
                  <a:moveTo>
                    <a:pt x="24" y="890"/>
                  </a:moveTo>
                  <a:lnTo>
                    <a:pt x="24" y="914"/>
                  </a:lnTo>
                  <a:cubicBezTo>
                    <a:pt x="24" y="921"/>
                    <a:pt x="18" y="926"/>
                    <a:pt x="12" y="926"/>
                  </a:cubicBezTo>
                  <a:cubicBezTo>
                    <a:pt x="5" y="926"/>
                    <a:pt x="0" y="921"/>
                    <a:pt x="0" y="914"/>
                  </a:cubicBezTo>
                  <a:lnTo>
                    <a:pt x="0" y="890"/>
                  </a:lnTo>
                  <a:cubicBezTo>
                    <a:pt x="0" y="883"/>
                    <a:pt x="5" y="878"/>
                    <a:pt x="12" y="878"/>
                  </a:cubicBezTo>
                  <a:cubicBezTo>
                    <a:pt x="18" y="878"/>
                    <a:pt x="24" y="883"/>
                    <a:pt x="24" y="890"/>
                  </a:cubicBezTo>
                  <a:close/>
                  <a:moveTo>
                    <a:pt x="24" y="963"/>
                  </a:moveTo>
                  <a:lnTo>
                    <a:pt x="24" y="987"/>
                  </a:lnTo>
                  <a:cubicBezTo>
                    <a:pt x="24" y="994"/>
                    <a:pt x="18" y="999"/>
                    <a:pt x="12" y="999"/>
                  </a:cubicBezTo>
                  <a:cubicBezTo>
                    <a:pt x="5" y="999"/>
                    <a:pt x="0" y="994"/>
                    <a:pt x="0" y="987"/>
                  </a:cubicBezTo>
                  <a:lnTo>
                    <a:pt x="0" y="963"/>
                  </a:lnTo>
                  <a:cubicBezTo>
                    <a:pt x="0" y="956"/>
                    <a:pt x="5" y="951"/>
                    <a:pt x="12" y="951"/>
                  </a:cubicBezTo>
                  <a:cubicBezTo>
                    <a:pt x="18" y="951"/>
                    <a:pt x="24" y="956"/>
                    <a:pt x="24" y="963"/>
                  </a:cubicBezTo>
                  <a:close/>
                  <a:moveTo>
                    <a:pt x="24" y="1036"/>
                  </a:moveTo>
                  <a:lnTo>
                    <a:pt x="24" y="1060"/>
                  </a:lnTo>
                  <a:cubicBezTo>
                    <a:pt x="24" y="1067"/>
                    <a:pt x="18" y="1073"/>
                    <a:pt x="12" y="1073"/>
                  </a:cubicBezTo>
                  <a:cubicBezTo>
                    <a:pt x="5" y="1073"/>
                    <a:pt x="0" y="1067"/>
                    <a:pt x="0" y="1060"/>
                  </a:cubicBezTo>
                  <a:lnTo>
                    <a:pt x="0" y="1036"/>
                  </a:lnTo>
                  <a:cubicBezTo>
                    <a:pt x="0" y="1029"/>
                    <a:pt x="5" y="1024"/>
                    <a:pt x="12" y="1024"/>
                  </a:cubicBezTo>
                  <a:cubicBezTo>
                    <a:pt x="18" y="1024"/>
                    <a:pt x="24" y="1029"/>
                    <a:pt x="24" y="1036"/>
                  </a:cubicBezTo>
                  <a:close/>
                  <a:moveTo>
                    <a:pt x="24" y="1109"/>
                  </a:moveTo>
                  <a:lnTo>
                    <a:pt x="24" y="1134"/>
                  </a:lnTo>
                  <a:cubicBezTo>
                    <a:pt x="24" y="1140"/>
                    <a:pt x="18" y="1146"/>
                    <a:pt x="12" y="1146"/>
                  </a:cubicBezTo>
                  <a:cubicBezTo>
                    <a:pt x="5" y="1146"/>
                    <a:pt x="0" y="1140"/>
                    <a:pt x="0" y="1134"/>
                  </a:cubicBezTo>
                  <a:lnTo>
                    <a:pt x="0" y="1109"/>
                  </a:lnTo>
                  <a:cubicBezTo>
                    <a:pt x="0" y="1102"/>
                    <a:pt x="5" y="1097"/>
                    <a:pt x="12" y="1097"/>
                  </a:cubicBezTo>
                  <a:cubicBezTo>
                    <a:pt x="18" y="1097"/>
                    <a:pt x="24" y="1102"/>
                    <a:pt x="24" y="1109"/>
                  </a:cubicBezTo>
                  <a:close/>
                  <a:moveTo>
                    <a:pt x="24" y="1182"/>
                  </a:moveTo>
                  <a:lnTo>
                    <a:pt x="24" y="1207"/>
                  </a:lnTo>
                  <a:cubicBezTo>
                    <a:pt x="24" y="1213"/>
                    <a:pt x="18" y="1219"/>
                    <a:pt x="12" y="1219"/>
                  </a:cubicBezTo>
                  <a:cubicBezTo>
                    <a:pt x="5" y="1219"/>
                    <a:pt x="0" y="1213"/>
                    <a:pt x="0" y="1207"/>
                  </a:cubicBezTo>
                  <a:lnTo>
                    <a:pt x="0" y="1182"/>
                  </a:lnTo>
                  <a:cubicBezTo>
                    <a:pt x="0" y="1176"/>
                    <a:pt x="5" y="1170"/>
                    <a:pt x="12" y="1170"/>
                  </a:cubicBezTo>
                  <a:cubicBezTo>
                    <a:pt x="18" y="1170"/>
                    <a:pt x="24" y="1176"/>
                    <a:pt x="24" y="1182"/>
                  </a:cubicBezTo>
                  <a:close/>
                  <a:moveTo>
                    <a:pt x="24" y="1256"/>
                  </a:moveTo>
                  <a:lnTo>
                    <a:pt x="24" y="1280"/>
                  </a:lnTo>
                  <a:cubicBezTo>
                    <a:pt x="24" y="1287"/>
                    <a:pt x="18" y="1292"/>
                    <a:pt x="12" y="1292"/>
                  </a:cubicBezTo>
                  <a:cubicBezTo>
                    <a:pt x="5" y="1292"/>
                    <a:pt x="0" y="1287"/>
                    <a:pt x="0" y="1280"/>
                  </a:cubicBezTo>
                  <a:lnTo>
                    <a:pt x="0" y="1256"/>
                  </a:lnTo>
                  <a:cubicBezTo>
                    <a:pt x="0" y="1249"/>
                    <a:pt x="5" y="1243"/>
                    <a:pt x="12" y="1243"/>
                  </a:cubicBezTo>
                  <a:cubicBezTo>
                    <a:pt x="18" y="1243"/>
                    <a:pt x="24" y="1249"/>
                    <a:pt x="24" y="1256"/>
                  </a:cubicBezTo>
                  <a:close/>
                  <a:moveTo>
                    <a:pt x="24" y="1329"/>
                  </a:moveTo>
                  <a:lnTo>
                    <a:pt x="24" y="1353"/>
                  </a:lnTo>
                  <a:cubicBezTo>
                    <a:pt x="24" y="1360"/>
                    <a:pt x="18" y="1365"/>
                    <a:pt x="12" y="1365"/>
                  </a:cubicBezTo>
                  <a:cubicBezTo>
                    <a:pt x="5" y="1365"/>
                    <a:pt x="0" y="1360"/>
                    <a:pt x="0" y="1353"/>
                  </a:cubicBezTo>
                  <a:lnTo>
                    <a:pt x="0" y="1329"/>
                  </a:lnTo>
                  <a:cubicBezTo>
                    <a:pt x="0" y="1322"/>
                    <a:pt x="5" y="1316"/>
                    <a:pt x="12" y="1316"/>
                  </a:cubicBezTo>
                  <a:cubicBezTo>
                    <a:pt x="18" y="1316"/>
                    <a:pt x="24" y="1322"/>
                    <a:pt x="24" y="1329"/>
                  </a:cubicBezTo>
                  <a:close/>
                  <a:moveTo>
                    <a:pt x="24" y="1402"/>
                  </a:moveTo>
                  <a:lnTo>
                    <a:pt x="24" y="1426"/>
                  </a:lnTo>
                  <a:cubicBezTo>
                    <a:pt x="24" y="1433"/>
                    <a:pt x="18" y="1438"/>
                    <a:pt x="12" y="1438"/>
                  </a:cubicBezTo>
                  <a:cubicBezTo>
                    <a:pt x="5" y="1438"/>
                    <a:pt x="0" y="1433"/>
                    <a:pt x="0" y="1426"/>
                  </a:cubicBezTo>
                  <a:lnTo>
                    <a:pt x="0" y="1402"/>
                  </a:lnTo>
                  <a:cubicBezTo>
                    <a:pt x="0" y="1395"/>
                    <a:pt x="5" y="1390"/>
                    <a:pt x="12" y="1390"/>
                  </a:cubicBezTo>
                  <a:cubicBezTo>
                    <a:pt x="18" y="1390"/>
                    <a:pt x="24" y="1395"/>
                    <a:pt x="24" y="1402"/>
                  </a:cubicBezTo>
                  <a:close/>
                  <a:moveTo>
                    <a:pt x="24" y="1475"/>
                  </a:moveTo>
                  <a:lnTo>
                    <a:pt x="24" y="1499"/>
                  </a:lnTo>
                  <a:cubicBezTo>
                    <a:pt x="24" y="1506"/>
                    <a:pt x="18" y="1512"/>
                    <a:pt x="12" y="1512"/>
                  </a:cubicBezTo>
                  <a:cubicBezTo>
                    <a:pt x="5" y="1512"/>
                    <a:pt x="0" y="1506"/>
                    <a:pt x="0" y="1499"/>
                  </a:cubicBezTo>
                  <a:lnTo>
                    <a:pt x="0" y="1475"/>
                  </a:lnTo>
                  <a:cubicBezTo>
                    <a:pt x="0" y="1468"/>
                    <a:pt x="5" y="1463"/>
                    <a:pt x="12" y="1463"/>
                  </a:cubicBezTo>
                  <a:cubicBezTo>
                    <a:pt x="18" y="1463"/>
                    <a:pt x="24" y="1468"/>
                    <a:pt x="24" y="1475"/>
                  </a:cubicBezTo>
                  <a:close/>
                  <a:moveTo>
                    <a:pt x="24" y="1548"/>
                  </a:moveTo>
                  <a:lnTo>
                    <a:pt x="24" y="1572"/>
                  </a:lnTo>
                  <a:cubicBezTo>
                    <a:pt x="24" y="1579"/>
                    <a:pt x="18" y="1585"/>
                    <a:pt x="12" y="1585"/>
                  </a:cubicBezTo>
                  <a:cubicBezTo>
                    <a:pt x="5" y="1585"/>
                    <a:pt x="0" y="1579"/>
                    <a:pt x="0" y="1572"/>
                  </a:cubicBezTo>
                  <a:lnTo>
                    <a:pt x="0" y="1548"/>
                  </a:lnTo>
                  <a:cubicBezTo>
                    <a:pt x="0" y="1541"/>
                    <a:pt x="5" y="1536"/>
                    <a:pt x="12" y="1536"/>
                  </a:cubicBezTo>
                  <a:cubicBezTo>
                    <a:pt x="18" y="1536"/>
                    <a:pt x="24" y="1541"/>
                    <a:pt x="24" y="1548"/>
                  </a:cubicBezTo>
                  <a:close/>
                  <a:moveTo>
                    <a:pt x="24" y="1621"/>
                  </a:moveTo>
                  <a:lnTo>
                    <a:pt x="24" y="1646"/>
                  </a:lnTo>
                  <a:cubicBezTo>
                    <a:pt x="24" y="1652"/>
                    <a:pt x="18" y="1658"/>
                    <a:pt x="12" y="1658"/>
                  </a:cubicBezTo>
                  <a:cubicBezTo>
                    <a:pt x="5" y="1658"/>
                    <a:pt x="0" y="1652"/>
                    <a:pt x="0" y="1646"/>
                  </a:cubicBezTo>
                  <a:lnTo>
                    <a:pt x="0" y="1621"/>
                  </a:lnTo>
                  <a:cubicBezTo>
                    <a:pt x="0" y="1615"/>
                    <a:pt x="5" y="1609"/>
                    <a:pt x="12" y="1609"/>
                  </a:cubicBezTo>
                  <a:cubicBezTo>
                    <a:pt x="18" y="1609"/>
                    <a:pt x="24" y="1615"/>
                    <a:pt x="24" y="1621"/>
                  </a:cubicBezTo>
                  <a:close/>
                  <a:moveTo>
                    <a:pt x="24" y="1694"/>
                  </a:moveTo>
                  <a:lnTo>
                    <a:pt x="24" y="1719"/>
                  </a:lnTo>
                  <a:cubicBezTo>
                    <a:pt x="24" y="1726"/>
                    <a:pt x="18" y="1731"/>
                    <a:pt x="12" y="1731"/>
                  </a:cubicBezTo>
                  <a:cubicBezTo>
                    <a:pt x="5" y="1731"/>
                    <a:pt x="0" y="1726"/>
                    <a:pt x="0" y="1719"/>
                  </a:cubicBezTo>
                  <a:lnTo>
                    <a:pt x="0" y="1694"/>
                  </a:lnTo>
                  <a:cubicBezTo>
                    <a:pt x="0" y="1688"/>
                    <a:pt x="5" y="1682"/>
                    <a:pt x="12" y="1682"/>
                  </a:cubicBezTo>
                  <a:cubicBezTo>
                    <a:pt x="18" y="1682"/>
                    <a:pt x="24" y="1688"/>
                    <a:pt x="24" y="1694"/>
                  </a:cubicBezTo>
                  <a:close/>
                  <a:moveTo>
                    <a:pt x="24" y="1768"/>
                  </a:moveTo>
                  <a:lnTo>
                    <a:pt x="24" y="1792"/>
                  </a:lnTo>
                  <a:cubicBezTo>
                    <a:pt x="24" y="1799"/>
                    <a:pt x="18" y="1804"/>
                    <a:pt x="12" y="1804"/>
                  </a:cubicBezTo>
                  <a:cubicBezTo>
                    <a:pt x="5" y="1804"/>
                    <a:pt x="0" y="1799"/>
                    <a:pt x="0" y="1792"/>
                  </a:cubicBezTo>
                  <a:lnTo>
                    <a:pt x="0" y="1768"/>
                  </a:lnTo>
                  <a:cubicBezTo>
                    <a:pt x="0" y="1761"/>
                    <a:pt x="5" y="1755"/>
                    <a:pt x="12" y="1755"/>
                  </a:cubicBezTo>
                  <a:cubicBezTo>
                    <a:pt x="18" y="1755"/>
                    <a:pt x="24" y="1761"/>
                    <a:pt x="24" y="1768"/>
                  </a:cubicBezTo>
                  <a:close/>
                  <a:moveTo>
                    <a:pt x="24" y="1841"/>
                  </a:moveTo>
                  <a:lnTo>
                    <a:pt x="24" y="1865"/>
                  </a:lnTo>
                  <a:cubicBezTo>
                    <a:pt x="24" y="1872"/>
                    <a:pt x="18" y="1877"/>
                    <a:pt x="12" y="1877"/>
                  </a:cubicBezTo>
                  <a:cubicBezTo>
                    <a:pt x="5" y="1877"/>
                    <a:pt x="0" y="1872"/>
                    <a:pt x="0" y="1865"/>
                  </a:cubicBezTo>
                  <a:lnTo>
                    <a:pt x="0" y="1841"/>
                  </a:lnTo>
                  <a:cubicBezTo>
                    <a:pt x="0" y="1834"/>
                    <a:pt x="5" y="1829"/>
                    <a:pt x="12" y="1829"/>
                  </a:cubicBezTo>
                  <a:cubicBezTo>
                    <a:pt x="18" y="1829"/>
                    <a:pt x="24" y="1834"/>
                    <a:pt x="24" y="1841"/>
                  </a:cubicBezTo>
                  <a:close/>
                  <a:moveTo>
                    <a:pt x="24" y="1914"/>
                  </a:moveTo>
                  <a:lnTo>
                    <a:pt x="24" y="1938"/>
                  </a:lnTo>
                  <a:cubicBezTo>
                    <a:pt x="24" y="1945"/>
                    <a:pt x="18" y="1950"/>
                    <a:pt x="12" y="1950"/>
                  </a:cubicBezTo>
                  <a:cubicBezTo>
                    <a:pt x="5" y="1950"/>
                    <a:pt x="0" y="1945"/>
                    <a:pt x="0" y="1938"/>
                  </a:cubicBezTo>
                  <a:lnTo>
                    <a:pt x="0" y="1914"/>
                  </a:lnTo>
                  <a:cubicBezTo>
                    <a:pt x="0" y="1907"/>
                    <a:pt x="5" y="1902"/>
                    <a:pt x="12" y="1902"/>
                  </a:cubicBezTo>
                  <a:cubicBezTo>
                    <a:pt x="18" y="1902"/>
                    <a:pt x="24" y="1907"/>
                    <a:pt x="24" y="1914"/>
                  </a:cubicBezTo>
                  <a:close/>
                  <a:moveTo>
                    <a:pt x="24" y="1987"/>
                  </a:moveTo>
                  <a:lnTo>
                    <a:pt x="24" y="2011"/>
                  </a:lnTo>
                  <a:cubicBezTo>
                    <a:pt x="24" y="2018"/>
                    <a:pt x="18" y="2024"/>
                    <a:pt x="12" y="2024"/>
                  </a:cubicBezTo>
                  <a:cubicBezTo>
                    <a:pt x="5" y="2024"/>
                    <a:pt x="0" y="2018"/>
                    <a:pt x="0" y="2011"/>
                  </a:cubicBezTo>
                  <a:lnTo>
                    <a:pt x="0" y="1987"/>
                  </a:lnTo>
                  <a:cubicBezTo>
                    <a:pt x="0" y="1980"/>
                    <a:pt x="5" y="1975"/>
                    <a:pt x="12" y="1975"/>
                  </a:cubicBezTo>
                  <a:cubicBezTo>
                    <a:pt x="18" y="1975"/>
                    <a:pt x="24" y="1980"/>
                    <a:pt x="24" y="1987"/>
                  </a:cubicBezTo>
                  <a:close/>
                  <a:moveTo>
                    <a:pt x="24" y="2060"/>
                  </a:moveTo>
                  <a:lnTo>
                    <a:pt x="24" y="2085"/>
                  </a:lnTo>
                  <a:cubicBezTo>
                    <a:pt x="24" y="2091"/>
                    <a:pt x="18" y="2097"/>
                    <a:pt x="12" y="2097"/>
                  </a:cubicBezTo>
                  <a:cubicBezTo>
                    <a:pt x="5" y="2097"/>
                    <a:pt x="0" y="2091"/>
                    <a:pt x="0" y="2085"/>
                  </a:cubicBezTo>
                  <a:lnTo>
                    <a:pt x="0" y="2060"/>
                  </a:lnTo>
                  <a:cubicBezTo>
                    <a:pt x="0" y="2053"/>
                    <a:pt x="5" y="2048"/>
                    <a:pt x="12" y="2048"/>
                  </a:cubicBezTo>
                  <a:cubicBezTo>
                    <a:pt x="18" y="2048"/>
                    <a:pt x="24" y="2053"/>
                    <a:pt x="24" y="2060"/>
                  </a:cubicBezTo>
                  <a:close/>
                  <a:moveTo>
                    <a:pt x="24" y="2133"/>
                  </a:moveTo>
                  <a:lnTo>
                    <a:pt x="24" y="2158"/>
                  </a:lnTo>
                  <a:cubicBezTo>
                    <a:pt x="24" y="2164"/>
                    <a:pt x="18" y="2170"/>
                    <a:pt x="12" y="2170"/>
                  </a:cubicBezTo>
                  <a:cubicBezTo>
                    <a:pt x="5" y="2170"/>
                    <a:pt x="0" y="2164"/>
                    <a:pt x="0" y="2158"/>
                  </a:cubicBezTo>
                  <a:lnTo>
                    <a:pt x="0" y="2133"/>
                  </a:lnTo>
                  <a:cubicBezTo>
                    <a:pt x="0" y="2127"/>
                    <a:pt x="5" y="2121"/>
                    <a:pt x="12" y="2121"/>
                  </a:cubicBezTo>
                  <a:cubicBezTo>
                    <a:pt x="18" y="2121"/>
                    <a:pt x="24" y="2127"/>
                    <a:pt x="24" y="2133"/>
                  </a:cubicBezTo>
                  <a:close/>
                  <a:moveTo>
                    <a:pt x="24" y="2206"/>
                  </a:moveTo>
                  <a:lnTo>
                    <a:pt x="24" y="2231"/>
                  </a:lnTo>
                  <a:cubicBezTo>
                    <a:pt x="24" y="2238"/>
                    <a:pt x="18" y="2243"/>
                    <a:pt x="12" y="2243"/>
                  </a:cubicBezTo>
                  <a:cubicBezTo>
                    <a:pt x="5" y="2243"/>
                    <a:pt x="0" y="2238"/>
                    <a:pt x="0" y="2231"/>
                  </a:cubicBezTo>
                  <a:lnTo>
                    <a:pt x="0" y="2206"/>
                  </a:lnTo>
                  <a:cubicBezTo>
                    <a:pt x="0" y="2200"/>
                    <a:pt x="5" y="2194"/>
                    <a:pt x="12" y="2194"/>
                  </a:cubicBezTo>
                  <a:cubicBezTo>
                    <a:pt x="18" y="2194"/>
                    <a:pt x="24" y="2200"/>
                    <a:pt x="24" y="2206"/>
                  </a:cubicBezTo>
                  <a:close/>
                  <a:moveTo>
                    <a:pt x="24" y="2280"/>
                  </a:moveTo>
                  <a:lnTo>
                    <a:pt x="24" y="2304"/>
                  </a:lnTo>
                  <a:cubicBezTo>
                    <a:pt x="24" y="2311"/>
                    <a:pt x="18" y="2316"/>
                    <a:pt x="12" y="2316"/>
                  </a:cubicBezTo>
                  <a:cubicBezTo>
                    <a:pt x="5" y="2316"/>
                    <a:pt x="0" y="2311"/>
                    <a:pt x="0" y="2304"/>
                  </a:cubicBezTo>
                  <a:lnTo>
                    <a:pt x="0" y="2280"/>
                  </a:lnTo>
                  <a:cubicBezTo>
                    <a:pt x="0" y="2273"/>
                    <a:pt x="5" y="2267"/>
                    <a:pt x="12" y="2267"/>
                  </a:cubicBezTo>
                  <a:cubicBezTo>
                    <a:pt x="18" y="2267"/>
                    <a:pt x="24" y="2273"/>
                    <a:pt x="24" y="2280"/>
                  </a:cubicBezTo>
                  <a:close/>
                  <a:moveTo>
                    <a:pt x="24" y="2353"/>
                  </a:moveTo>
                  <a:lnTo>
                    <a:pt x="24" y="2377"/>
                  </a:lnTo>
                  <a:cubicBezTo>
                    <a:pt x="24" y="2384"/>
                    <a:pt x="18" y="2389"/>
                    <a:pt x="12" y="2389"/>
                  </a:cubicBezTo>
                  <a:cubicBezTo>
                    <a:pt x="5" y="2389"/>
                    <a:pt x="0" y="2384"/>
                    <a:pt x="0" y="2377"/>
                  </a:cubicBezTo>
                  <a:lnTo>
                    <a:pt x="0" y="2353"/>
                  </a:lnTo>
                  <a:cubicBezTo>
                    <a:pt x="0" y="2346"/>
                    <a:pt x="5" y="2341"/>
                    <a:pt x="12" y="2341"/>
                  </a:cubicBezTo>
                  <a:cubicBezTo>
                    <a:pt x="18" y="2341"/>
                    <a:pt x="24" y="2346"/>
                    <a:pt x="24" y="2353"/>
                  </a:cubicBezTo>
                  <a:close/>
                  <a:moveTo>
                    <a:pt x="24" y="2426"/>
                  </a:moveTo>
                  <a:lnTo>
                    <a:pt x="24" y="2450"/>
                  </a:lnTo>
                  <a:cubicBezTo>
                    <a:pt x="24" y="2457"/>
                    <a:pt x="18" y="2463"/>
                    <a:pt x="12" y="2463"/>
                  </a:cubicBezTo>
                  <a:cubicBezTo>
                    <a:pt x="5" y="2463"/>
                    <a:pt x="0" y="2457"/>
                    <a:pt x="0" y="2450"/>
                  </a:cubicBezTo>
                  <a:lnTo>
                    <a:pt x="0" y="2426"/>
                  </a:lnTo>
                  <a:cubicBezTo>
                    <a:pt x="0" y="2419"/>
                    <a:pt x="5" y="2414"/>
                    <a:pt x="12" y="2414"/>
                  </a:cubicBezTo>
                  <a:cubicBezTo>
                    <a:pt x="18" y="2414"/>
                    <a:pt x="24" y="2419"/>
                    <a:pt x="24" y="2426"/>
                  </a:cubicBezTo>
                  <a:close/>
                  <a:moveTo>
                    <a:pt x="24" y="2499"/>
                  </a:moveTo>
                  <a:lnTo>
                    <a:pt x="24" y="2523"/>
                  </a:lnTo>
                  <a:cubicBezTo>
                    <a:pt x="24" y="2530"/>
                    <a:pt x="18" y="2536"/>
                    <a:pt x="12" y="2536"/>
                  </a:cubicBezTo>
                  <a:cubicBezTo>
                    <a:pt x="5" y="2536"/>
                    <a:pt x="0" y="2530"/>
                    <a:pt x="0" y="2523"/>
                  </a:cubicBezTo>
                  <a:lnTo>
                    <a:pt x="0" y="2499"/>
                  </a:lnTo>
                  <a:cubicBezTo>
                    <a:pt x="0" y="2492"/>
                    <a:pt x="5" y="2487"/>
                    <a:pt x="12" y="2487"/>
                  </a:cubicBezTo>
                  <a:cubicBezTo>
                    <a:pt x="18" y="2487"/>
                    <a:pt x="24" y="2492"/>
                    <a:pt x="24" y="2499"/>
                  </a:cubicBezTo>
                  <a:close/>
                  <a:moveTo>
                    <a:pt x="24" y="2572"/>
                  </a:moveTo>
                  <a:lnTo>
                    <a:pt x="24" y="2597"/>
                  </a:lnTo>
                  <a:cubicBezTo>
                    <a:pt x="24" y="2603"/>
                    <a:pt x="18" y="2609"/>
                    <a:pt x="12" y="2609"/>
                  </a:cubicBezTo>
                  <a:cubicBezTo>
                    <a:pt x="5" y="2609"/>
                    <a:pt x="0" y="2603"/>
                    <a:pt x="0" y="2597"/>
                  </a:cubicBezTo>
                  <a:lnTo>
                    <a:pt x="0" y="2572"/>
                  </a:lnTo>
                  <a:cubicBezTo>
                    <a:pt x="0" y="2566"/>
                    <a:pt x="5" y="2560"/>
                    <a:pt x="12" y="2560"/>
                  </a:cubicBezTo>
                  <a:cubicBezTo>
                    <a:pt x="18" y="2560"/>
                    <a:pt x="24" y="2566"/>
                    <a:pt x="24" y="2572"/>
                  </a:cubicBezTo>
                  <a:close/>
                  <a:moveTo>
                    <a:pt x="24" y="2645"/>
                  </a:moveTo>
                  <a:lnTo>
                    <a:pt x="24" y="2670"/>
                  </a:lnTo>
                  <a:cubicBezTo>
                    <a:pt x="24" y="2677"/>
                    <a:pt x="18" y="2682"/>
                    <a:pt x="12" y="2682"/>
                  </a:cubicBezTo>
                  <a:cubicBezTo>
                    <a:pt x="5" y="2682"/>
                    <a:pt x="0" y="2677"/>
                    <a:pt x="0" y="2670"/>
                  </a:cubicBezTo>
                  <a:lnTo>
                    <a:pt x="0" y="2645"/>
                  </a:lnTo>
                  <a:cubicBezTo>
                    <a:pt x="0" y="2639"/>
                    <a:pt x="5" y="2633"/>
                    <a:pt x="12" y="2633"/>
                  </a:cubicBezTo>
                  <a:cubicBezTo>
                    <a:pt x="18" y="2633"/>
                    <a:pt x="24" y="2639"/>
                    <a:pt x="24" y="2645"/>
                  </a:cubicBezTo>
                  <a:close/>
                  <a:moveTo>
                    <a:pt x="24" y="2719"/>
                  </a:moveTo>
                  <a:lnTo>
                    <a:pt x="24" y="2743"/>
                  </a:lnTo>
                  <a:cubicBezTo>
                    <a:pt x="24" y="2750"/>
                    <a:pt x="18" y="2755"/>
                    <a:pt x="12" y="2755"/>
                  </a:cubicBezTo>
                  <a:cubicBezTo>
                    <a:pt x="5" y="2755"/>
                    <a:pt x="0" y="2750"/>
                    <a:pt x="0" y="2743"/>
                  </a:cubicBezTo>
                  <a:lnTo>
                    <a:pt x="0" y="2719"/>
                  </a:lnTo>
                  <a:cubicBezTo>
                    <a:pt x="0" y="2712"/>
                    <a:pt x="5" y="2706"/>
                    <a:pt x="12" y="2706"/>
                  </a:cubicBezTo>
                  <a:cubicBezTo>
                    <a:pt x="18" y="2706"/>
                    <a:pt x="24" y="2712"/>
                    <a:pt x="24" y="2719"/>
                  </a:cubicBezTo>
                  <a:close/>
                  <a:moveTo>
                    <a:pt x="24" y="2792"/>
                  </a:moveTo>
                  <a:lnTo>
                    <a:pt x="24" y="2816"/>
                  </a:lnTo>
                  <a:cubicBezTo>
                    <a:pt x="24" y="2823"/>
                    <a:pt x="18" y="2828"/>
                    <a:pt x="12" y="2828"/>
                  </a:cubicBezTo>
                  <a:cubicBezTo>
                    <a:pt x="5" y="2828"/>
                    <a:pt x="0" y="2823"/>
                    <a:pt x="0" y="2816"/>
                  </a:cubicBezTo>
                  <a:lnTo>
                    <a:pt x="0" y="2792"/>
                  </a:lnTo>
                  <a:cubicBezTo>
                    <a:pt x="0" y="2785"/>
                    <a:pt x="5" y="2780"/>
                    <a:pt x="12" y="2780"/>
                  </a:cubicBezTo>
                  <a:cubicBezTo>
                    <a:pt x="18" y="2780"/>
                    <a:pt x="24" y="2785"/>
                    <a:pt x="24" y="2792"/>
                  </a:cubicBezTo>
                  <a:close/>
                  <a:moveTo>
                    <a:pt x="24" y="2865"/>
                  </a:moveTo>
                  <a:lnTo>
                    <a:pt x="24" y="2889"/>
                  </a:lnTo>
                  <a:cubicBezTo>
                    <a:pt x="24" y="2896"/>
                    <a:pt x="18" y="2901"/>
                    <a:pt x="12" y="2901"/>
                  </a:cubicBezTo>
                  <a:cubicBezTo>
                    <a:pt x="5" y="2901"/>
                    <a:pt x="0" y="2896"/>
                    <a:pt x="0" y="2889"/>
                  </a:cubicBezTo>
                  <a:lnTo>
                    <a:pt x="0" y="2865"/>
                  </a:lnTo>
                  <a:cubicBezTo>
                    <a:pt x="0" y="2858"/>
                    <a:pt x="5" y="2853"/>
                    <a:pt x="12" y="2853"/>
                  </a:cubicBezTo>
                  <a:cubicBezTo>
                    <a:pt x="18" y="2853"/>
                    <a:pt x="24" y="2858"/>
                    <a:pt x="24" y="2865"/>
                  </a:cubicBezTo>
                  <a:close/>
                  <a:moveTo>
                    <a:pt x="24" y="2938"/>
                  </a:moveTo>
                  <a:lnTo>
                    <a:pt x="24" y="2962"/>
                  </a:lnTo>
                  <a:cubicBezTo>
                    <a:pt x="24" y="2969"/>
                    <a:pt x="18" y="2975"/>
                    <a:pt x="12" y="2975"/>
                  </a:cubicBezTo>
                  <a:cubicBezTo>
                    <a:pt x="5" y="2975"/>
                    <a:pt x="0" y="2969"/>
                    <a:pt x="0" y="2962"/>
                  </a:cubicBezTo>
                  <a:lnTo>
                    <a:pt x="0" y="2938"/>
                  </a:lnTo>
                  <a:cubicBezTo>
                    <a:pt x="0" y="2931"/>
                    <a:pt x="5" y="2926"/>
                    <a:pt x="12" y="2926"/>
                  </a:cubicBezTo>
                  <a:cubicBezTo>
                    <a:pt x="18" y="2926"/>
                    <a:pt x="24" y="2931"/>
                    <a:pt x="24" y="2938"/>
                  </a:cubicBezTo>
                  <a:close/>
                  <a:moveTo>
                    <a:pt x="24" y="3011"/>
                  </a:moveTo>
                  <a:lnTo>
                    <a:pt x="24" y="3036"/>
                  </a:lnTo>
                  <a:cubicBezTo>
                    <a:pt x="24" y="3042"/>
                    <a:pt x="18" y="3048"/>
                    <a:pt x="12" y="3048"/>
                  </a:cubicBezTo>
                  <a:cubicBezTo>
                    <a:pt x="5" y="3048"/>
                    <a:pt x="0" y="3042"/>
                    <a:pt x="0" y="3036"/>
                  </a:cubicBezTo>
                  <a:lnTo>
                    <a:pt x="0" y="3011"/>
                  </a:lnTo>
                  <a:cubicBezTo>
                    <a:pt x="0" y="3004"/>
                    <a:pt x="5" y="2999"/>
                    <a:pt x="12" y="2999"/>
                  </a:cubicBezTo>
                  <a:cubicBezTo>
                    <a:pt x="18" y="2999"/>
                    <a:pt x="24" y="3004"/>
                    <a:pt x="24" y="3011"/>
                  </a:cubicBezTo>
                  <a:close/>
                  <a:moveTo>
                    <a:pt x="24" y="3084"/>
                  </a:moveTo>
                  <a:lnTo>
                    <a:pt x="24" y="3109"/>
                  </a:lnTo>
                  <a:cubicBezTo>
                    <a:pt x="24" y="3115"/>
                    <a:pt x="18" y="3121"/>
                    <a:pt x="12" y="3121"/>
                  </a:cubicBezTo>
                  <a:cubicBezTo>
                    <a:pt x="5" y="3121"/>
                    <a:pt x="0" y="3115"/>
                    <a:pt x="0" y="3109"/>
                  </a:cubicBezTo>
                  <a:lnTo>
                    <a:pt x="0" y="3084"/>
                  </a:lnTo>
                  <a:cubicBezTo>
                    <a:pt x="0" y="3078"/>
                    <a:pt x="5" y="3072"/>
                    <a:pt x="12" y="3072"/>
                  </a:cubicBezTo>
                  <a:cubicBezTo>
                    <a:pt x="18" y="3072"/>
                    <a:pt x="24" y="3078"/>
                    <a:pt x="24" y="3084"/>
                  </a:cubicBezTo>
                  <a:close/>
                </a:path>
              </a:pathLst>
            </a:custGeom>
            <a:solidFill>
              <a:srgbClr val="000000"/>
            </a:solidFill>
            <a:ln w="8001" cap="flat">
              <a:solidFill>
                <a:srgbClr val="FF0000"/>
              </a:solidFill>
              <a:prstDash val="solid"/>
              <a:bevel/>
              <a:headEnd/>
              <a:tailEnd/>
            </a:ln>
          </p:spPr>
          <p:txBody>
            <a:bodyPr/>
            <a:lstStyle/>
            <a:p>
              <a:endParaRPr lang="uz-Cyrl-UZ"/>
            </a:p>
          </p:txBody>
        </p:sp>
        <p:sp>
          <p:nvSpPr>
            <p:cNvPr id="92579" name="Rectangle 419"/>
            <p:cNvSpPr>
              <a:spLocks noChangeArrowheads="1"/>
            </p:cNvSpPr>
            <p:nvPr/>
          </p:nvSpPr>
          <p:spPr bwMode="auto">
            <a:xfrm>
              <a:off x="2244" y="1104"/>
              <a:ext cx="198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F(R</a:t>
              </a:r>
              <a:endParaRPr lang="ru-RU"/>
            </a:p>
          </p:txBody>
        </p:sp>
        <p:sp>
          <p:nvSpPr>
            <p:cNvPr id="92580" name="Rectangle 420"/>
            <p:cNvSpPr>
              <a:spLocks noChangeArrowheads="1"/>
            </p:cNvSpPr>
            <p:nvPr/>
          </p:nvSpPr>
          <p:spPr bwMode="auto">
            <a:xfrm>
              <a:off x="2400" y="1164"/>
              <a:ext cx="110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i-1</a:t>
              </a:r>
              <a:endParaRPr lang="ru-RU"/>
            </a:p>
          </p:txBody>
        </p:sp>
        <p:sp>
          <p:nvSpPr>
            <p:cNvPr id="92581" name="Rectangle 421"/>
            <p:cNvSpPr>
              <a:spLocks noChangeArrowheads="1"/>
            </p:cNvSpPr>
            <p:nvPr/>
          </p:nvSpPr>
          <p:spPr bwMode="auto">
            <a:xfrm>
              <a:off x="2468" y="1104"/>
              <a:ext cx="130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,K</a:t>
              </a:r>
              <a:endParaRPr lang="ru-RU"/>
            </a:p>
          </p:txBody>
        </p:sp>
        <p:sp>
          <p:nvSpPr>
            <p:cNvPr id="92582" name="Rectangle 422"/>
            <p:cNvSpPr>
              <a:spLocks noChangeArrowheads="1"/>
            </p:cNvSpPr>
            <p:nvPr/>
          </p:nvSpPr>
          <p:spPr bwMode="auto">
            <a:xfrm>
              <a:off x="2557" y="1164"/>
              <a:ext cx="47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9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ru-RU"/>
            </a:p>
          </p:txBody>
        </p:sp>
        <p:sp>
          <p:nvSpPr>
            <p:cNvPr id="92583" name="Rectangle 423"/>
            <p:cNvSpPr>
              <a:spLocks noChangeArrowheads="1"/>
            </p:cNvSpPr>
            <p:nvPr/>
          </p:nvSpPr>
          <p:spPr bwMode="auto">
            <a:xfrm>
              <a:off x="2567" y="1104"/>
              <a:ext cx="73" cy="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latin typeface="Arial" charset="0"/>
                </a:rPr>
                <a:t>)</a:t>
              </a:r>
              <a:endParaRPr lang="ru-RU"/>
            </a:p>
          </p:txBody>
        </p:sp>
        <p:sp>
          <p:nvSpPr>
            <p:cNvPr id="92584" name="Rectangle 424"/>
            <p:cNvSpPr>
              <a:spLocks noChangeArrowheads="1"/>
            </p:cNvSpPr>
            <p:nvPr/>
          </p:nvSpPr>
          <p:spPr bwMode="auto">
            <a:xfrm>
              <a:off x="3017" y="2621"/>
              <a:ext cx="179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ru-RU" sz="1800">
                  <a:solidFill>
                    <a:srgbClr val="000000"/>
                  </a:solidFill>
                  <a:latin typeface="Symbol" pitchFamily="18" charset="2"/>
                </a:rPr>
                <a:t>Å</a:t>
              </a:r>
              <a:endParaRPr lang="ru-RU"/>
            </a:p>
          </p:txBody>
        </p:sp>
      </p:grpSp>
      <p:sp>
        <p:nvSpPr>
          <p:cNvPr id="92231" name="Rectangle 71"/>
          <p:cNvSpPr>
            <a:spLocks noGrp="1" noChangeArrowheads="1"/>
          </p:cNvSpPr>
          <p:nvPr>
            <p:ph type="title"/>
          </p:nvPr>
        </p:nvSpPr>
        <p:spPr>
          <a:xfrm>
            <a:off x="1258888" y="4652963"/>
            <a:ext cx="6550025" cy="287337"/>
          </a:xfrm>
        </p:spPr>
        <p:txBody>
          <a:bodyPr/>
          <a:lstStyle/>
          <a:p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Кенгайтириш жадвали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2382" name="Group 22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9809917"/>
              </p:ext>
            </p:extLst>
          </p:nvPr>
        </p:nvGraphicFramePr>
        <p:xfrm>
          <a:off x="1044972" y="5013325"/>
          <a:ext cx="6983412" cy="1463040"/>
        </p:xfrm>
        <a:graphic>
          <a:graphicData uri="http://schemas.openxmlformats.org/drawingml/2006/table">
            <a:tbl>
              <a:tblPr/>
              <a:tblGrid>
                <a:gridCol w="582612"/>
                <a:gridCol w="581025"/>
                <a:gridCol w="582613"/>
                <a:gridCol w="581025"/>
                <a:gridCol w="582612"/>
                <a:gridCol w="582613"/>
                <a:gridCol w="581025"/>
                <a:gridCol w="582612"/>
                <a:gridCol w="581025"/>
                <a:gridCol w="582613"/>
                <a:gridCol w="581025"/>
                <a:gridCol w="582612"/>
              </a:tblGrid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32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2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24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379" name="Rectangle 219"/>
          <p:cNvSpPr>
            <a:spLocks noChangeArrowheads="1"/>
          </p:cNvSpPr>
          <p:nvPr/>
        </p:nvSpPr>
        <p:spPr bwMode="auto">
          <a:xfrm>
            <a:off x="395536" y="333375"/>
            <a:ext cx="8280920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uz-Cyrl-UZ" sz="28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DES шифрлаш </a:t>
            </a:r>
            <a:r>
              <a:rPr lang="uz-Cyrl-UZ" sz="2800" b="1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алгоритми</a:t>
            </a:r>
            <a:endParaRPr lang="ru-RU" sz="2800" b="1" dirty="0">
              <a:solidFill>
                <a:schemeClr val="tx2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381" name="Rectangle 221"/>
          <p:cNvSpPr>
            <a:spLocks noChangeArrowheads="1"/>
          </p:cNvSpPr>
          <p:nvPr/>
        </p:nvSpPr>
        <p:spPr bwMode="auto">
          <a:xfrm>
            <a:off x="0" y="2338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55016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152400" y="116160"/>
            <a:ext cx="8839200" cy="6553200"/>
          </a:xfrm>
          <a:prstGeom prst="rect">
            <a:avLst/>
          </a:prstGeom>
          <a:solidFill>
            <a:schemeClr val="bg1"/>
          </a:solidFill>
          <a:ln w="53975">
            <a:solidFill>
              <a:schemeClr val="accent1">
                <a:lumMod val="50000"/>
                <a:alpha val="87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302110"/>
              </p:ext>
            </p:extLst>
          </p:nvPr>
        </p:nvGraphicFramePr>
        <p:xfrm>
          <a:off x="395536" y="1052537"/>
          <a:ext cx="5184775" cy="518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Точечный рисунок" r:id="rId4" imgW="5276190" imgH="3715269" progId="PBrush">
                  <p:embed/>
                </p:oleObj>
              </mc:Choice>
              <mc:Fallback>
                <p:oleObj name="Точечный рисунок" r:id="rId4" imgW="5276190" imgH="3715269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052537"/>
                        <a:ext cx="5184775" cy="5184775"/>
                      </a:xfrm>
                      <a:prstGeom prst="rect">
                        <a:avLst/>
                      </a:prstGeom>
                      <a:solidFill>
                        <a:srgbClr val="72BFC5"/>
                      </a:solidFill>
                      <a:ln w="25400">
                        <a:solidFill>
                          <a:srgbClr val="C0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Прямоугольник 54"/>
          <p:cNvSpPr/>
          <p:nvPr/>
        </p:nvSpPr>
        <p:spPr>
          <a:xfrm>
            <a:off x="5870396" y="2856999"/>
            <a:ext cx="2736304" cy="150810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lang="ru-RU" sz="2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Оптимал</a:t>
            </a:r>
            <a:r>
              <a:rPr lang="ru-RU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ctr">
              <a:spcAft>
                <a:spcPts val="1200"/>
              </a:spcAft>
            </a:pPr>
            <a:r>
              <a:rPr lang="en-US" sz="24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=16 (010000),</a:t>
            </a:r>
          </a:p>
          <a:p>
            <a:pPr algn="ctr">
              <a:spcAft>
                <a:spcPts val="1200"/>
              </a:spcAft>
            </a:pPr>
            <a:r>
              <a:rPr lang="en-US" sz="24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=15 (1111),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Прямоугольник 55"/>
          <p:cNvSpPr/>
          <p:nvPr/>
        </p:nvSpPr>
        <p:spPr>
          <a:xfrm>
            <a:off x="395536" y="260648"/>
            <a:ext cx="8424936" cy="5334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блок учун аппроксимация тенгламасини қуриш</a:t>
            </a:r>
            <a:endParaRPr lang="uz-Cyrl-UZ" sz="24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52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/>
        </p:nvSpPr>
        <p:spPr>
          <a:xfrm>
            <a:off x="152400" y="116160"/>
            <a:ext cx="8839200" cy="6553200"/>
          </a:xfrm>
          <a:prstGeom prst="rect">
            <a:avLst/>
          </a:prstGeom>
          <a:solidFill>
            <a:schemeClr val="bg1"/>
          </a:solidFill>
          <a:ln w="53975">
            <a:solidFill>
              <a:schemeClr val="accent1">
                <a:lumMod val="50000"/>
                <a:alpha val="87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5" name="Прямоугольник 54"/>
          <p:cNvSpPr/>
          <p:nvPr/>
        </p:nvSpPr>
        <p:spPr>
          <a:xfrm>
            <a:off x="1403648" y="807095"/>
            <a:ext cx="6192688" cy="461665"/>
          </a:xfrm>
          <a:prstGeom prst="rec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lang="ru-RU" sz="2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Оптимал</a:t>
            </a:r>
            <a:r>
              <a:rPr lang="ru-RU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=16 (010000),</a:t>
            </a:r>
            <a:r>
              <a:rPr lang="uz-Cyrl-UZ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=15 (1111),</a:t>
            </a:r>
            <a:endParaRPr lang="ru-RU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Прямоугольник 55"/>
          <p:cNvSpPr/>
          <p:nvPr/>
        </p:nvSpPr>
        <p:spPr>
          <a:xfrm>
            <a:off x="395536" y="188640"/>
            <a:ext cx="8424936" cy="4680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baseline="-250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sz="24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блок учун аппроксимация тенгламасини қуриш</a:t>
            </a:r>
            <a:endParaRPr lang="uz-Cyrl-UZ" sz="24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572951"/>
              </p:ext>
            </p:extLst>
          </p:nvPr>
        </p:nvGraphicFramePr>
        <p:xfrm>
          <a:off x="858838" y="3501008"/>
          <a:ext cx="738505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Формула" r:id="rId4" imgW="3581280" imgH="228600" progId="Equation.3">
                  <p:embed/>
                </p:oleObj>
              </mc:Choice>
              <mc:Fallback>
                <p:oleObj name="Формула" r:id="rId4" imgW="3581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38" y="3501008"/>
                        <a:ext cx="7385050" cy="4016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Группа 11"/>
          <p:cNvGrpSpPr/>
          <p:nvPr/>
        </p:nvGrpSpPr>
        <p:grpSpPr>
          <a:xfrm>
            <a:off x="2808160" y="1412776"/>
            <a:ext cx="3204000" cy="1969005"/>
            <a:chOff x="2808160" y="2343255"/>
            <a:chExt cx="3204000" cy="1969005"/>
          </a:xfrm>
        </p:grpSpPr>
        <p:cxnSp>
          <p:nvCxnSpPr>
            <p:cNvPr id="3" name="Прямая соединительная линия 2"/>
            <p:cNvCxnSpPr/>
            <p:nvPr/>
          </p:nvCxnSpPr>
          <p:spPr>
            <a:xfrm>
              <a:off x="3180988" y="2836704"/>
              <a:ext cx="0" cy="2093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Прямоугольник 15"/>
            <p:cNvSpPr/>
            <p:nvPr/>
          </p:nvSpPr>
          <p:spPr>
            <a:xfrm>
              <a:off x="2808160" y="2343255"/>
              <a:ext cx="3204000" cy="5232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ru-RU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х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ru-RU" sz="28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х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ru-RU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 х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ru-RU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 х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ru-RU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 х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ru-RU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 х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ru-RU" sz="28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8" name="Прямая соединительная линия 17"/>
            <p:cNvCxnSpPr/>
            <p:nvPr/>
          </p:nvCxnSpPr>
          <p:spPr>
            <a:xfrm>
              <a:off x="3653428" y="2864366"/>
              <a:ext cx="0" cy="209301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/>
            <p:cNvCxnSpPr/>
            <p:nvPr/>
          </p:nvCxnSpPr>
          <p:spPr>
            <a:xfrm>
              <a:off x="4128522" y="2852936"/>
              <a:ext cx="0" cy="2093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/>
            <p:nvPr/>
          </p:nvCxnSpPr>
          <p:spPr>
            <a:xfrm>
              <a:off x="4572000" y="2867794"/>
              <a:ext cx="0" cy="2093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/>
            <p:nvPr/>
          </p:nvCxnSpPr>
          <p:spPr>
            <a:xfrm>
              <a:off x="5038338" y="2867794"/>
              <a:ext cx="0" cy="2093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/>
            <p:nvPr/>
          </p:nvCxnSpPr>
          <p:spPr>
            <a:xfrm>
              <a:off x="5508104" y="2852936"/>
              <a:ext cx="0" cy="2093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Прямоугольник 22"/>
            <p:cNvSpPr/>
            <p:nvPr/>
          </p:nvSpPr>
          <p:spPr>
            <a:xfrm>
              <a:off x="2808160" y="3789040"/>
              <a:ext cx="3204000" cy="52322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n-US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ru-RU" sz="28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ru-RU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en-US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ru-RU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  </a:t>
              </a:r>
              <a:r>
                <a:rPr lang="en-US" sz="2800" b="1" i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ru-RU" sz="28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  <a:endParaRPr lang="ru-RU" sz="2800" b="1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5" name="Прямая соединительная линия 24"/>
            <p:cNvCxnSpPr/>
            <p:nvPr/>
          </p:nvCxnSpPr>
          <p:spPr>
            <a:xfrm>
              <a:off x="3653428" y="3733264"/>
              <a:ext cx="0" cy="20930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Прямая соединительная линия 25"/>
            <p:cNvCxnSpPr/>
            <p:nvPr/>
          </p:nvCxnSpPr>
          <p:spPr>
            <a:xfrm>
              <a:off x="4128522" y="3733264"/>
              <a:ext cx="0" cy="20930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Прямая соединительная линия 27"/>
            <p:cNvCxnSpPr/>
            <p:nvPr/>
          </p:nvCxnSpPr>
          <p:spPr>
            <a:xfrm>
              <a:off x="4572000" y="3748122"/>
              <a:ext cx="0" cy="20930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/>
            <p:nvPr/>
          </p:nvCxnSpPr>
          <p:spPr>
            <a:xfrm>
              <a:off x="5038338" y="3748122"/>
              <a:ext cx="0" cy="209301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Прямоугольник 9"/>
            <p:cNvSpPr/>
            <p:nvPr/>
          </p:nvSpPr>
          <p:spPr>
            <a:xfrm>
              <a:off x="2808160" y="3055513"/>
              <a:ext cx="3204000" cy="674494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spcAft>
                  <a:spcPts val="1200"/>
                </a:spcAft>
              </a:pPr>
              <a:r>
                <a:rPr lang="en-US" sz="3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Book Antiqua" pitchFamily="18" charset="0"/>
                  <a:cs typeface="Times New Roman" pitchFamily="18" charset="0"/>
                </a:rPr>
                <a:t>S</a:t>
              </a:r>
              <a:r>
                <a:rPr lang="en-US" sz="3200" b="1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Book Antiqua" pitchFamily="18" charset="0"/>
                  <a:cs typeface="Times New Roman" pitchFamily="18" charset="0"/>
                </a:rPr>
                <a:t>5</a:t>
              </a:r>
              <a:r>
                <a:rPr lang="en-US" sz="3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Book Antiqua" pitchFamily="18" charset="0"/>
                  <a:cs typeface="Times New Roman" pitchFamily="18" charset="0"/>
                </a:rPr>
                <a:t>-</a:t>
              </a:r>
              <a:r>
                <a:rPr lang="uz-Cyrl-UZ" sz="3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Book Antiqua" pitchFamily="18" charset="0"/>
                  <a:cs typeface="Times New Roman" pitchFamily="18" charset="0"/>
                </a:rPr>
                <a:t>блок</a:t>
              </a:r>
              <a:endParaRPr lang="ru-RU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Book Antiqua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247072"/>
              </p:ext>
            </p:extLst>
          </p:nvPr>
        </p:nvGraphicFramePr>
        <p:xfrm>
          <a:off x="2232280" y="4005065"/>
          <a:ext cx="4860000" cy="683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Формула" r:id="rId6" imgW="1384200" imgH="228600" progId="Equation.3">
                  <p:embed/>
                </p:oleObj>
              </mc:Choice>
              <mc:Fallback>
                <p:oleObj name="Формула" r:id="rId6" imgW="13842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280" y="4005065"/>
                        <a:ext cx="4860000" cy="6838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539829"/>
              </p:ext>
            </p:extLst>
          </p:nvPr>
        </p:nvGraphicFramePr>
        <p:xfrm>
          <a:off x="2260600" y="5084763"/>
          <a:ext cx="5091113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Формула" r:id="rId8" imgW="1625400" imgH="228600" progId="Equation.3">
                  <p:embed/>
                </p:oleObj>
              </mc:Choice>
              <mc:Fallback>
                <p:oleObj name="Формула" r:id="rId8" imgW="1625400" imgH="228600" progId="Equation.3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5084763"/>
                        <a:ext cx="5091113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Стрелка вправо 30"/>
          <p:cNvSpPr/>
          <p:nvPr/>
        </p:nvSpPr>
        <p:spPr>
          <a:xfrm>
            <a:off x="7272360" y="4221128"/>
            <a:ext cx="540000" cy="360000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258824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44270"/>
            <a:ext cx="8310562" cy="523220"/>
          </a:xfrm>
        </p:spPr>
        <p:txBody>
          <a:bodyPr>
            <a:spAutoFit/>
          </a:bodyPr>
          <a:lstStyle/>
          <a:p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sz="2800" b="1" dirty="0" smtClean="0">
                <a:latin typeface="Times New Roman" pitchFamily="18" charset="0"/>
                <a:cs typeface="Times New Roman" pitchFamily="18" charset="0"/>
              </a:rPr>
              <a:t>блок</a:t>
            </a:r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к</a:t>
            </a:r>
            <a:r>
              <a:rPr lang="uz-Cyrl-UZ" sz="2800" b="1" dirty="0" smtClean="0">
                <a:latin typeface="Times New Roman" pitchFamily="18" charset="0"/>
                <a:cs typeface="Times New Roman" pitchFamily="18" charset="0"/>
              </a:rPr>
              <a:t>а кирувчи </a:t>
            </a:r>
            <a:r>
              <a:rPr lang="en-US" sz="28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b="1" baseline="-25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800" b="1" dirty="0" smtClean="0">
                <a:latin typeface="Times New Roman" pitchFamily="18" charset="0"/>
                <a:cs typeface="Times New Roman" pitchFamily="18" charset="0"/>
              </a:rPr>
              <a:t>битни</a:t>
            </a:r>
            <a:r>
              <a:rPr lang="ru-RU" sz="2800" b="1" dirty="0" err="1" smtClean="0">
                <a:latin typeface="Times New Roman" pitchFamily="18" charset="0"/>
                <a:cs typeface="Times New Roman" pitchFamily="18" charset="0"/>
              </a:rPr>
              <a:t>нг</a:t>
            </a:r>
            <a:r>
              <a:rPr lang="uz-Cyrl-UZ" sz="2800" b="1" dirty="0" smtClean="0">
                <a:latin typeface="Times New Roman" pitchFamily="18" charset="0"/>
                <a:cs typeface="Times New Roman" pitchFamily="18" charset="0"/>
              </a:rPr>
              <a:t> ўзга</a:t>
            </a:r>
            <a:r>
              <a:rPr lang="ru-RU" sz="2800" b="1" dirty="0">
                <a:latin typeface="Times New Roman" pitchFamily="18" charset="0"/>
                <a:cs typeface="Times New Roman" pitchFamily="18" charset="0"/>
              </a:rPr>
              <a:t>р</a:t>
            </a:r>
            <a:r>
              <a:rPr lang="uz-Cyrl-UZ" sz="2800" b="1" dirty="0" smtClean="0">
                <a:latin typeface="Times New Roman" pitchFamily="18" charset="0"/>
                <a:cs typeface="Times New Roman" pitchFamily="18" charset="0"/>
              </a:rPr>
              <a:t>иши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8025" name="Object 137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00397015"/>
              </p:ext>
            </p:extLst>
          </p:nvPr>
        </p:nvGraphicFramePr>
        <p:xfrm>
          <a:off x="2533650" y="364296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Формула" r:id="rId4" imgW="114120" imgH="215640" progId="Equation.3">
                  <p:embed/>
                </p:oleObj>
              </mc:Choice>
              <mc:Fallback>
                <p:oleObj name="Формула" r:id="rId4" imgW="114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3642965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054" name="Group 166"/>
          <p:cNvGrpSpPr>
            <a:grpSpLocks/>
          </p:cNvGrpSpPr>
          <p:nvPr/>
        </p:nvGrpSpPr>
        <p:grpSpPr bwMode="auto">
          <a:xfrm>
            <a:off x="354013" y="1398240"/>
            <a:ext cx="8220075" cy="1355725"/>
            <a:chOff x="277" y="1053"/>
            <a:chExt cx="5178" cy="854"/>
          </a:xfrm>
        </p:grpSpPr>
        <p:sp>
          <p:nvSpPr>
            <p:cNvPr id="37898" name="Line 10"/>
            <p:cNvSpPr>
              <a:spLocks noChangeShapeType="1"/>
            </p:cNvSpPr>
            <p:nvPr/>
          </p:nvSpPr>
          <p:spPr bwMode="auto">
            <a:xfrm>
              <a:off x="405" y="1082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899" name="Line 11"/>
            <p:cNvSpPr>
              <a:spLocks noChangeShapeType="1"/>
            </p:cNvSpPr>
            <p:nvPr/>
          </p:nvSpPr>
          <p:spPr bwMode="auto">
            <a:xfrm>
              <a:off x="541" y="1082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00" name="Line 12"/>
            <p:cNvSpPr>
              <a:spLocks noChangeShapeType="1"/>
            </p:cNvSpPr>
            <p:nvPr/>
          </p:nvSpPr>
          <p:spPr bwMode="auto">
            <a:xfrm>
              <a:off x="669" y="1082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01" name="Line 13"/>
            <p:cNvSpPr>
              <a:spLocks noChangeShapeType="1"/>
            </p:cNvSpPr>
            <p:nvPr/>
          </p:nvSpPr>
          <p:spPr bwMode="auto">
            <a:xfrm>
              <a:off x="277" y="1082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02" name="Line 14"/>
            <p:cNvSpPr>
              <a:spLocks noChangeShapeType="1"/>
            </p:cNvSpPr>
            <p:nvPr/>
          </p:nvSpPr>
          <p:spPr bwMode="auto">
            <a:xfrm>
              <a:off x="938" y="1090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03" name="Line 15"/>
            <p:cNvSpPr>
              <a:spLocks noChangeShapeType="1"/>
            </p:cNvSpPr>
            <p:nvPr/>
          </p:nvSpPr>
          <p:spPr bwMode="auto">
            <a:xfrm>
              <a:off x="1058" y="1090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04" name="Line 16"/>
            <p:cNvSpPr>
              <a:spLocks noChangeShapeType="1"/>
            </p:cNvSpPr>
            <p:nvPr/>
          </p:nvSpPr>
          <p:spPr bwMode="auto">
            <a:xfrm>
              <a:off x="1178" y="1090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05" name="Line 17"/>
            <p:cNvSpPr>
              <a:spLocks noChangeShapeType="1"/>
            </p:cNvSpPr>
            <p:nvPr/>
          </p:nvSpPr>
          <p:spPr bwMode="auto">
            <a:xfrm>
              <a:off x="1301" y="1090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06" name="Line 18"/>
            <p:cNvSpPr>
              <a:spLocks noChangeShapeType="1"/>
            </p:cNvSpPr>
            <p:nvPr/>
          </p:nvSpPr>
          <p:spPr bwMode="auto">
            <a:xfrm>
              <a:off x="1544" y="1090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07" name="Line 19"/>
            <p:cNvSpPr>
              <a:spLocks noChangeShapeType="1"/>
            </p:cNvSpPr>
            <p:nvPr/>
          </p:nvSpPr>
          <p:spPr bwMode="auto">
            <a:xfrm>
              <a:off x="1672" y="1090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08" name="Line 20"/>
            <p:cNvSpPr>
              <a:spLocks noChangeShapeType="1"/>
            </p:cNvSpPr>
            <p:nvPr/>
          </p:nvSpPr>
          <p:spPr bwMode="auto">
            <a:xfrm>
              <a:off x="1811" y="1077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09" name="Line 21"/>
            <p:cNvSpPr>
              <a:spLocks noChangeShapeType="1"/>
            </p:cNvSpPr>
            <p:nvPr/>
          </p:nvSpPr>
          <p:spPr bwMode="auto">
            <a:xfrm>
              <a:off x="1936" y="1090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10" name="Line 22"/>
            <p:cNvSpPr>
              <a:spLocks noChangeShapeType="1"/>
            </p:cNvSpPr>
            <p:nvPr/>
          </p:nvSpPr>
          <p:spPr bwMode="auto">
            <a:xfrm>
              <a:off x="2348" y="1081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11" name="Line 23"/>
            <p:cNvSpPr>
              <a:spLocks noChangeShapeType="1"/>
            </p:cNvSpPr>
            <p:nvPr/>
          </p:nvSpPr>
          <p:spPr bwMode="auto">
            <a:xfrm>
              <a:off x="2503" y="1085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12" name="Line 24"/>
            <p:cNvSpPr>
              <a:spLocks noChangeShapeType="1"/>
            </p:cNvSpPr>
            <p:nvPr/>
          </p:nvSpPr>
          <p:spPr bwMode="auto">
            <a:xfrm>
              <a:off x="2639" y="1090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13" name="Line 25"/>
            <p:cNvSpPr>
              <a:spLocks noChangeShapeType="1"/>
            </p:cNvSpPr>
            <p:nvPr/>
          </p:nvSpPr>
          <p:spPr bwMode="auto">
            <a:xfrm>
              <a:off x="2204" y="1084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14" name="Line 26"/>
            <p:cNvSpPr>
              <a:spLocks noChangeShapeType="1"/>
            </p:cNvSpPr>
            <p:nvPr/>
          </p:nvSpPr>
          <p:spPr bwMode="auto">
            <a:xfrm>
              <a:off x="2961" y="1077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15" name="Line 27"/>
            <p:cNvSpPr>
              <a:spLocks noChangeShapeType="1"/>
            </p:cNvSpPr>
            <p:nvPr/>
          </p:nvSpPr>
          <p:spPr bwMode="auto">
            <a:xfrm>
              <a:off x="3094" y="1077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16" name="Line 28"/>
            <p:cNvSpPr>
              <a:spLocks noChangeShapeType="1"/>
            </p:cNvSpPr>
            <p:nvPr/>
          </p:nvSpPr>
          <p:spPr bwMode="auto">
            <a:xfrm>
              <a:off x="3233" y="1074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17" name="Line 29"/>
            <p:cNvSpPr>
              <a:spLocks noChangeShapeType="1"/>
            </p:cNvSpPr>
            <p:nvPr/>
          </p:nvSpPr>
          <p:spPr bwMode="auto">
            <a:xfrm>
              <a:off x="3377" y="1061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18" name="Line 30"/>
            <p:cNvSpPr>
              <a:spLocks noChangeShapeType="1"/>
            </p:cNvSpPr>
            <p:nvPr/>
          </p:nvSpPr>
          <p:spPr bwMode="auto">
            <a:xfrm>
              <a:off x="3697" y="1069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19" name="Line 31"/>
            <p:cNvSpPr>
              <a:spLocks noChangeShapeType="1"/>
            </p:cNvSpPr>
            <p:nvPr/>
          </p:nvSpPr>
          <p:spPr bwMode="auto">
            <a:xfrm>
              <a:off x="3825" y="1061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20" name="Line 32"/>
            <p:cNvSpPr>
              <a:spLocks noChangeShapeType="1"/>
            </p:cNvSpPr>
            <p:nvPr/>
          </p:nvSpPr>
          <p:spPr bwMode="auto">
            <a:xfrm>
              <a:off x="3964" y="1066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21" name="Line 33"/>
            <p:cNvSpPr>
              <a:spLocks noChangeShapeType="1"/>
            </p:cNvSpPr>
            <p:nvPr/>
          </p:nvSpPr>
          <p:spPr bwMode="auto">
            <a:xfrm>
              <a:off x="4089" y="1061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22" name="Line 34"/>
            <p:cNvSpPr>
              <a:spLocks noChangeShapeType="1"/>
            </p:cNvSpPr>
            <p:nvPr/>
          </p:nvSpPr>
          <p:spPr bwMode="auto">
            <a:xfrm>
              <a:off x="4388" y="1066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23" name="Line 35"/>
            <p:cNvSpPr>
              <a:spLocks noChangeShapeType="1"/>
            </p:cNvSpPr>
            <p:nvPr/>
          </p:nvSpPr>
          <p:spPr bwMode="auto">
            <a:xfrm>
              <a:off x="4511" y="1066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24" name="Line 36"/>
            <p:cNvSpPr>
              <a:spLocks noChangeShapeType="1"/>
            </p:cNvSpPr>
            <p:nvPr/>
          </p:nvSpPr>
          <p:spPr bwMode="auto">
            <a:xfrm>
              <a:off x="4650" y="1063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25" name="Line 37"/>
            <p:cNvSpPr>
              <a:spLocks noChangeShapeType="1"/>
            </p:cNvSpPr>
            <p:nvPr/>
          </p:nvSpPr>
          <p:spPr bwMode="auto">
            <a:xfrm>
              <a:off x="4788" y="1053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26" name="Line 38"/>
            <p:cNvSpPr>
              <a:spLocks noChangeShapeType="1"/>
            </p:cNvSpPr>
            <p:nvPr/>
          </p:nvSpPr>
          <p:spPr bwMode="auto">
            <a:xfrm>
              <a:off x="5061" y="1058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27" name="Line 39"/>
            <p:cNvSpPr>
              <a:spLocks noChangeShapeType="1"/>
            </p:cNvSpPr>
            <p:nvPr/>
          </p:nvSpPr>
          <p:spPr bwMode="auto">
            <a:xfrm>
              <a:off x="5194" y="1066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28" name="Line 40"/>
            <p:cNvSpPr>
              <a:spLocks noChangeShapeType="1"/>
            </p:cNvSpPr>
            <p:nvPr/>
          </p:nvSpPr>
          <p:spPr bwMode="auto">
            <a:xfrm>
              <a:off x="5330" y="1058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29" name="Line 41"/>
            <p:cNvSpPr>
              <a:spLocks noChangeShapeType="1"/>
            </p:cNvSpPr>
            <p:nvPr/>
          </p:nvSpPr>
          <p:spPr bwMode="auto">
            <a:xfrm>
              <a:off x="5455" y="1053"/>
              <a:ext cx="0" cy="81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38095" name="Group 207"/>
          <p:cNvGrpSpPr>
            <a:grpSpLocks/>
          </p:cNvGrpSpPr>
          <p:nvPr/>
        </p:nvGrpSpPr>
        <p:grpSpPr bwMode="auto">
          <a:xfrm>
            <a:off x="192088" y="3601690"/>
            <a:ext cx="8539162" cy="476250"/>
            <a:chOff x="121" y="2450"/>
            <a:chExt cx="5379" cy="300"/>
          </a:xfrm>
        </p:grpSpPr>
        <p:sp>
          <p:nvSpPr>
            <p:cNvPr id="37930" name="Line 42"/>
            <p:cNvSpPr>
              <a:spLocks noChangeShapeType="1"/>
            </p:cNvSpPr>
            <p:nvPr/>
          </p:nvSpPr>
          <p:spPr bwMode="auto">
            <a:xfrm>
              <a:off x="121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31" name="Line 43"/>
            <p:cNvSpPr>
              <a:spLocks noChangeShapeType="1"/>
            </p:cNvSpPr>
            <p:nvPr/>
          </p:nvSpPr>
          <p:spPr bwMode="auto">
            <a:xfrm>
              <a:off x="230" y="247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32" name="Line 44"/>
            <p:cNvSpPr>
              <a:spLocks noChangeShapeType="1"/>
            </p:cNvSpPr>
            <p:nvPr/>
          </p:nvSpPr>
          <p:spPr bwMode="auto">
            <a:xfrm>
              <a:off x="348" y="247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33" name="Line 45"/>
            <p:cNvSpPr>
              <a:spLocks noChangeShapeType="1"/>
            </p:cNvSpPr>
            <p:nvPr/>
          </p:nvSpPr>
          <p:spPr bwMode="auto">
            <a:xfrm>
              <a:off x="493" y="247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34" name="Line 46"/>
            <p:cNvSpPr>
              <a:spLocks noChangeShapeType="1"/>
            </p:cNvSpPr>
            <p:nvPr/>
          </p:nvSpPr>
          <p:spPr bwMode="auto">
            <a:xfrm>
              <a:off x="620" y="2464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35" name="Line 47"/>
            <p:cNvSpPr>
              <a:spLocks noChangeShapeType="1"/>
            </p:cNvSpPr>
            <p:nvPr/>
          </p:nvSpPr>
          <p:spPr bwMode="auto">
            <a:xfrm>
              <a:off x="711" y="246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36" name="Line 48"/>
            <p:cNvSpPr>
              <a:spLocks noChangeShapeType="1"/>
            </p:cNvSpPr>
            <p:nvPr/>
          </p:nvSpPr>
          <p:spPr bwMode="auto">
            <a:xfrm>
              <a:off x="801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37" name="Line 49"/>
            <p:cNvSpPr>
              <a:spLocks noChangeShapeType="1"/>
            </p:cNvSpPr>
            <p:nvPr/>
          </p:nvSpPr>
          <p:spPr bwMode="auto">
            <a:xfrm>
              <a:off x="902" y="247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38" name="Line 50"/>
            <p:cNvSpPr>
              <a:spLocks noChangeShapeType="1"/>
            </p:cNvSpPr>
            <p:nvPr/>
          </p:nvSpPr>
          <p:spPr bwMode="auto">
            <a:xfrm>
              <a:off x="1011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39" name="Line 51"/>
            <p:cNvSpPr>
              <a:spLocks noChangeShapeType="1"/>
            </p:cNvSpPr>
            <p:nvPr/>
          </p:nvSpPr>
          <p:spPr bwMode="auto">
            <a:xfrm>
              <a:off x="1120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40" name="Line 52"/>
            <p:cNvSpPr>
              <a:spLocks noChangeShapeType="1"/>
            </p:cNvSpPr>
            <p:nvPr/>
          </p:nvSpPr>
          <p:spPr bwMode="auto">
            <a:xfrm>
              <a:off x="1239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41" name="Line 53"/>
            <p:cNvSpPr>
              <a:spLocks noChangeShapeType="1"/>
            </p:cNvSpPr>
            <p:nvPr/>
          </p:nvSpPr>
          <p:spPr bwMode="auto">
            <a:xfrm>
              <a:off x="1329" y="245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60" name="Line 72"/>
            <p:cNvSpPr>
              <a:spLocks noChangeShapeType="1"/>
            </p:cNvSpPr>
            <p:nvPr/>
          </p:nvSpPr>
          <p:spPr bwMode="auto">
            <a:xfrm>
              <a:off x="1419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61" name="Line 73"/>
            <p:cNvSpPr>
              <a:spLocks noChangeShapeType="1"/>
            </p:cNvSpPr>
            <p:nvPr/>
          </p:nvSpPr>
          <p:spPr bwMode="auto">
            <a:xfrm>
              <a:off x="1502" y="245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62" name="Line 74"/>
            <p:cNvSpPr>
              <a:spLocks noChangeShapeType="1"/>
            </p:cNvSpPr>
            <p:nvPr/>
          </p:nvSpPr>
          <p:spPr bwMode="auto">
            <a:xfrm>
              <a:off x="1610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63" name="Line 75"/>
            <p:cNvSpPr>
              <a:spLocks noChangeShapeType="1"/>
            </p:cNvSpPr>
            <p:nvPr/>
          </p:nvSpPr>
          <p:spPr bwMode="auto">
            <a:xfrm>
              <a:off x="1763" y="245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64" name="Line 76"/>
            <p:cNvSpPr>
              <a:spLocks noChangeShapeType="1"/>
            </p:cNvSpPr>
            <p:nvPr/>
          </p:nvSpPr>
          <p:spPr bwMode="auto">
            <a:xfrm>
              <a:off x="1882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65" name="Line 77"/>
            <p:cNvSpPr>
              <a:spLocks noChangeShapeType="1"/>
            </p:cNvSpPr>
            <p:nvPr/>
          </p:nvSpPr>
          <p:spPr bwMode="auto">
            <a:xfrm>
              <a:off x="1982" y="245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66" name="Line 78"/>
            <p:cNvSpPr>
              <a:spLocks noChangeShapeType="1"/>
            </p:cNvSpPr>
            <p:nvPr/>
          </p:nvSpPr>
          <p:spPr bwMode="auto">
            <a:xfrm>
              <a:off x="2083" y="245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67" name="Line 79"/>
            <p:cNvSpPr>
              <a:spLocks noChangeShapeType="1"/>
            </p:cNvSpPr>
            <p:nvPr/>
          </p:nvSpPr>
          <p:spPr bwMode="auto">
            <a:xfrm>
              <a:off x="2190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68" name="Line 80"/>
            <p:cNvSpPr>
              <a:spLocks noChangeShapeType="1"/>
            </p:cNvSpPr>
            <p:nvPr/>
          </p:nvSpPr>
          <p:spPr bwMode="auto">
            <a:xfrm>
              <a:off x="2308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69" name="Line 81"/>
            <p:cNvSpPr>
              <a:spLocks noChangeShapeType="1"/>
            </p:cNvSpPr>
            <p:nvPr/>
          </p:nvSpPr>
          <p:spPr bwMode="auto">
            <a:xfrm>
              <a:off x="2443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70" name="Line 82"/>
            <p:cNvSpPr>
              <a:spLocks noChangeShapeType="1"/>
            </p:cNvSpPr>
            <p:nvPr/>
          </p:nvSpPr>
          <p:spPr bwMode="auto">
            <a:xfrm>
              <a:off x="2580" y="245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71" name="Line 83"/>
            <p:cNvSpPr>
              <a:spLocks noChangeShapeType="1"/>
            </p:cNvSpPr>
            <p:nvPr/>
          </p:nvSpPr>
          <p:spPr bwMode="auto">
            <a:xfrm>
              <a:off x="2698" y="245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72" name="Line 84"/>
            <p:cNvSpPr>
              <a:spLocks noChangeShapeType="1"/>
            </p:cNvSpPr>
            <p:nvPr/>
          </p:nvSpPr>
          <p:spPr bwMode="auto">
            <a:xfrm>
              <a:off x="2798" y="245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73" name="Line 85"/>
            <p:cNvSpPr>
              <a:spLocks noChangeShapeType="1"/>
            </p:cNvSpPr>
            <p:nvPr/>
          </p:nvSpPr>
          <p:spPr bwMode="auto">
            <a:xfrm>
              <a:off x="2907" y="245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74" name="Line 86"/>
            <p:cNvSpPr>
              <a:spLocks noChangeShapeType="1"/>
            </p:cNvSpPr>
            <p:nvPr/>
          </p:nvSpPr>
          <p:spPr bwMode="auto">
            <a:xfrm>
              <a:off x="3043" y="2451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75" name="Line 87"/>
            <p:cNvSpPr>
              <a:spLocks noChangeShapeType="1"/>
            </p:cNvSpPr>
            <p:nvPr/>
          </p:nvSpPr>
          <p:spPr bwMode="auto">
            <a:xfrm>
              <a:off x="3179" y="245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76" name="Line 88"/>
            <p:cNvSpPr>
              <a:spLocks noChangeShapeType="1"/>
            </p:cNvSpPr>
            <p:nvPr/>
          </p:nvSpPr>
          <p:spPr bwMode="auto">
            <a:xfrm>
              <a:off x="3314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77" name="Line 89"/>
            <p:cNvSpPr>
              <a:spLocks noChangeShapeType="1"/>
            </p:cNvSpPr>
            <p:nvPr/>
          </p:nvSpPr>
          <p:spPr bwMode="auto">
            <a:xfrm>
              <a:off x="3415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78" name="Line 90"/>
            <p:cNvSpPr>
              <a:spLocks noChangeShapeType="1"/>
            </p:cNvSpPr>
            <p:nvPr/>
          </p:nvSpPr>
          <p:spPr bwMode="auto">
            <a:xfrm>
              <a:off x="3524" y="246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79" name="Line 91"/>
            <p:cNvSpPr>
              <a:spLocks noChangeShapeType="1"/>
            </p:cNvSpPr>
            <p:nvPr/>
          </p:nvSpPr>
          <p:spPr bwMode="auto">
            <a:xfrm>
              <a:off x="3641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80" name="Line 92"/>
            <p:cNvSpPr>
              <a:spLocks noChangeShapeType="1"/>
            </p:cNvSpPr>
            <p:nvPr/>
          </p:nvSpPr>
          <p:spPr bwMode="auto">
            <a:xfrm>
              <a:off x="3768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81" name="Line 93"/>
            <p:cNvSpPr>
              <a:spLocks noChangeShapeType="1"/>
            </p:cNvSpPr>
            <p:nvPr/>
          </p:nvSpPr>
          <p:spPr bwMode="auto">
            <a:xfrm>
              <a:off x="3913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82" name="Line 94"/>
            <p:cNvSpPr>
              <a:spLocks noChangeShapeType="1"/>
            </p:cNvSpPr>
            <p:nvPr/>
          </p:nvSpPr>
          <p:spPr bwMode="auto">
            <a:xfrm>
              <a:off x="4032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83" name="Line 95"/>
            <p:cNvSpPr>
              <a:spLocks noChangeShapeType="1"/>
            </p:cNvSpPr>
            <p:nvPr/>
          </p:nvSpPr>
          <p:spPr bwMode="auto">
            <a:xfrm>
              <a:off x="4149" y="245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84" name="Line 96"/>
            <p:cNvSpPr>
              <a:spLocks noChangeShapeType="1"/>
            </p:cNvSpPr>
            <p:nvPr/>
          </p:nvSpPr>
          <p:spPr bwMode="auto">
            <a:xfrm>
              <a:off x="4249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85" name="Line 97"/>
            <p:cNvSpPr>
              <a:spLocks noChangeShapeType="1"/>
            </p:cNvSpPr>
            <p:nvPr/>
          </p:nvSpPr>
          <p:spPr bwMode="auto">
            <a:xfrm>
              <a:off x="4349" y="247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86" name="Line 98"/>
            <p:cNvSpPr>
              <a:spLocks noChangeShapeType="1"/>
            </p:cNvSpPr>
            <p:nvPr/>
          </p:nvSpPr>
          <p:spPr bwMode="auto">
            <a:xfrm>
              <a:off x="4458" y="247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87" name="Line 99"/>
            <p:cNvSpPr>
              <a:spLocks noChangeShapeType="1"/>
            </p:cNvSpPr>
            <p:nvPr/>
          </p:nvSpPr>
          <p:spPr bwMode="auto">
            <a:xfrm>
              <a:off x="4585" y="247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88" name="Line 100"/>
            <p:cNvSpPr>
              <a:spLocks noChangeShapeType="1"/>
            </p:cNvSpPr>
            <p:nvPr/>
          </p:nvSpPr>
          <p:spPr bwMode="auto">
            <a:xfrm>
              <a:off x="4721" y="247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89" name="Line 101"/>
            <p:cNvSpPr>
              <a:spLocks noChangeShapeType="1"/>
            </p:cNvSpPr>
            <p:nvPr/>
          </p:nvSpPr>
          <p:spPr bwMode="auto">
            <a:xfrm>
              <a:off x="4821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90" name="Line 102"/>
            <p:cNvSpPr>
              <a:spLocks noChangeShapeType="1"/>
            </p:cNvSpPr>
            <p:nvPr/>
          </p:nvSpPr>
          <p:spPr bwMode="auto">
            <a:xfrm>
              <a:off x="4930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91" name="Line 103"/>
            <p:cNvSpPr>
              <a:spLocks noChangeShapeType="1"/>
            </p:cNvSpPr>
            <p:nvPr/>
          </p:nvSpPr>
          <p:spPr bwMode="auto">
            <a:xfrm>
              <a:off x="5012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92" name="Line 104"/>
            <p:cNvSpPr>
              <a:spLocks noChangeShapeType="1"/>
            </p:cNvSpPr>
            <p:nvPr/>
          </p:nvSpPr>
          <p:spPr bwMode="auto">
            <a:xfrm>
              <a:off x="5148" y="246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93" name="Line 105"/>
            <p:cNvSpPr>
              <a:spLocks noChangeShapeType="1"/>
            </p:cNvSpPr>
            <p:nvPr/>
          </p:nvSpPr>
          <p:spPr bwMode="auto">
            <a:xfrm>
              <a:off x="5283" y="2477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94" name="Line 106"/>
            <p:cNvSpPr>
              <a:spLocks noChangeShapeType="1"/>
            </p:cNvSpPr>
            <p:nvPr/>
          </p:nvSpPr>
          <p:spPr bwMode="auto">
            <a:xfrm>
              <a:off x="5402" y="247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95" name="Line 107"/>
            <p:cNvSpPr>
              <a:spLocks noChangeShapeType="1"/>
            </p:cNvSpPr>
            <p:nvPr/>
          </p:nvSpPr>
          <p:spPr bwMode="auto">
            <a:xfrm>
              <a:off x="5500" y="2468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sp>
        <p:nvSpPr>
          <p:cNvPr id="38001" name="Rectangle 113"/>
          <p:cNvSpPr>
            <a:spLocks noChangeArrowheads="1"/>
          </p:cNvSpPr>
          <p:nvPr/>
        </p:nvSpPr>
        <p:spPr bwMode="auto">
          <a:xfrm>
            <a:off x="6732588" y="1125190"/>
            <a:ext cx="576262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uz-Cyrl-UZ"/>
          </a:p>
        </p:txBody>
      </p:sp>
      <p:sp>
        <p:nvSpPr>
          <p:cNvPr id="38024" name="Text Box 136"/>
          <p:cNvSpPr txBox="1">
            <a:spLocks noChangeArrowheads="1"/>
          </p:cNvSpPr>
          <p:nvPr/>
        </p:nvSpPr>
        <p:spPr bwMode="auto">
          <a:xfrm>
            <a:off x="395536" y="4499648"/>
            <a:ext cx="8208144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Яъни, </a:t>
            </a:r>
            <a:r>
              <a:rPr lang="uz-Cyrl-UZ" sz="28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17-бит</a:t>
            </a: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8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26</a:t>
            </a:r>
            <a:r>
              <a:rPr lang="uz-Cyrl-UZ" sz="2800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-бит,  </a:t>
            </a:r>
            <a:r>
              <a:rPr lang="uz-Cyrl-UZ" sz="2800" i="1" dirty="0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uz-Cyrl-UZ" sz="2800" baseline="-25000" dirty="0" smtClean="0">
                <a:latin typeface="Times New Roman" pitchFamily="18" charset="0"/>
                <a:cs typeface="Times New Roman" pitchFamily="18" charset="0"/>
              </a:rPr>
              <a:t>26</a:t>
            </a: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 sz="28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800" i="1" dirty="0" smtClean="0">
                <a:latin typeface="Times New Roman" pitchFamily="18" charset="0"/>
                <a:cs typeface="Times New Roman" pitchFamily="18" charset="0"/>
              </a:rPr>
              <a:t>Х</a:t>
            </a:r>
            <a:r>
              <a:rPr lang="en-US" sz="2800" i="1" baseline="30000" dirty="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uz-Cyrl-UZ" sz="2800" dirty="0" smtClean="0">
                <a:latin typeface="Times New Roman" pitchFamily="18" charset="0"/>
                <a:cs typeface="Times New Roman" pitchFamily="18" charset="0"/>
                <a:sym typeface="Symbol"/>
              </a:rPr>
              <a:t>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K</a:t>
            </a:r>
            <a:r>
              <a:rPr lang="en-US" sz="28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26</a:t>
            </a:r>
            <a:endParaRPr lang="uz-Cyrl-UZ" sz="2800" baseline="-25000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uz-Cyrl-UZ" sz="2800" b="1" dirty="0" smtClean="0">
                <a:latin typeface="Times New Roman" pitchFamily="18" charset="0"/>
                <a:cs typeface="Times New Roman" pitchFamily="18" charset="0"/>
              </a:rPr>
              <a:t>Демак:</a:t>
            </a:r>
            <a:endParaRPr lang="ru-RU" sz="2800" b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042" name="Text Box 154"/>
          <p:cNvSpPr txBox="1">
            <a:spLocks noChangeArrowheads="1"/>
          </p:cNvSpPr>
          <p:nvPr/>
        </p:nvSpPr>
        <p:spPr bwMode="auto">
          <a:xfrm>
            <a:off x="588963" y="286826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38043" name="Text Box 155"/>
          <p:cNvSpPr txBox="1">
            <a:spLocks noChangeArrowheads="1"/>
          </p:cNvSpPr>
          <p:nvPr/>
        </p:nvSpPr>
        <p:spPr bwMode="auto">
          <a:xfrm>
            <a:off x="1590675" y="286826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38044" name="Text Box 156"/>
          <p:cNvSpPr txBox="1">
            <a:spLocks noChangeArrowheads="1"/>
          </p:cNvSpPr>
          <p:nvPr/>
        </p:nvSpPr>
        <p:spPr bwMode="auto">
          <a:xfrm>
            <a:off x="2598738" y="286826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38047" name="Text Box 159"/>
          <p:cNvSpPr txBox="1">
            <a:spLocks noChangeArrowheads="1"/>
          </p:cNvSpPr>
          <p:nvPr/>
        </p:nvSpPr>
        <p:spPr bwMode="auto">
          <a:xfrm>
            <a:off x="6011863" y="283969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38048" name="Text Box 160"/>
          <p:cNvSpPr txBox="1">
            <a:spLocks noChangeArrowheads="1"/>
          </p:cNvSpPr>
          <p:nvPr/>
        </p:nvSpPr>
        <p:spPr bwMode="auto">
          <a:xfrm>
            <a:off x="7105650" y="2853978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38049" name="Text Box 161"/>
          <p:cNvSpPr txBox="1">
            <a:spLocks noChangeArrowheads="1"/>
          </p:cNvSpPr>
          <p:nvPr/>
        </p:nvSpPr>
        <p:spPr bwMode="auto">
          <a:xfrm>
            <a:off x="8201025" y="2825403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38052" name="Text Box 164"/>
          <p:cNvSpPr txBox="1">
            <a:spLocks noChangeArrowheads="1"/>
          </p:cNvSpPr>
          <p:nvPr/>
        </p:nvSpPr>
        <p:spPr bwMode="auto">
          <a:xfrm>
            <a:off x="4356100" y="980728"/>
            <a:ext cx="7207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17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053" name="Text Box 165"/>
          <p:cNvSpPr txBox="1">
            <a:spLocks noChangeArrowheads="1"/>
          </p:cNvSpPr>
          <p:nvPr/>
        </p:nvSpPr>
        <p:spPr bwMode="auto">
          <a:xfrm>
            <a:off x="4356100" y="2900015"/>
            <a:ext cx="7207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="1" baseline="-25000" dirty="0">
                <a:latin typeface="Times New Roman" pitchFamily="18" charset="0"/>
                <a:cs typeface="Times New Roman" pitchFamily="18" charset="0"/>
              </a:rPr>
              <a:t>26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8058" name="Group 170"/>
          <p:cNvGrpSpPr>
            <a:grpSpLocks/>
          </p:cNvGrpSpPr>
          <p:nvPr/>
        </p:nvGrpSpPr>
        <p:grpSpPr bwMode="auto">
          <a:xfrm>
            <a:off x="173038" y="2680940"/>
            <a:ext cx="8713787" cy="936625"/>
            <a:chOff x="109" y="1870"/>
            <a:chExt cx="5489" cy="590"/>
          </a:xfrm>
        </p:grpSpPr>
        <p:sp>
          <p:nvSpPr>
            <p:cNvPr id="38038" name="Text Box 150"/>
            <p:cNvSpPr txBox="1">
              <a:spLocks noChangeArrowheads="1"/>
            </p:cNvSpPr>
            <p:nvPr/>
          </p:nvSpPr>
          <p:spPr bwMode="auto">
            <a:xfrm>
              <a:off x="2091" y="207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48</a:t>
              </a:r>
              <a:endParaRPr lang="ru-RU"/>
            </a:p>
          </p:txBody>
        </p:sp>
        <p:sp>
          <p:nvSpPr>
            <p:cNvPr id="38040" name="Line 152"/>
            <p:cNvSpPr>
              <a:spLocks noChangeShapeType="1"/>
            </p:cNvSpPr>
            <p:nvPr/>
          </p:nvSpPr>
          <p:spPr bwMode="auto">
            <a:xfrm flipV="1">
              <a:off x="109" y="1870"/>
              <a:ext cx="5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41" name="Line 153"/>
            <p:cNvSpPr>
              <a:spLocks noChangeShapeType="1"/>
            </p:cNvSpPr>
            <p:nvPr/>
          </p:nvSpPr>
          <p:spPr bwMode="auto">
            <a:xfrm>
              <a:off x="145" y="2460"/>
              <a:ext cx="54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45" name="Text Box 157"/>
            <p:cNvSpPr txBox="1">
              <a:spLocks noChangeArrowheads="1"/>
            </p:cNvSpPr>
            <p:nvPr/>
          </p:nvSpPr>
          <p:spPr bwMode="auto">
            <a:xfrm>
              <a:off x="2317" y="2006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ru-RU"/>
            </a:p>
          </p:txBody>
        </p:sp>
        <p:sp>
          <p:nvSpPr>
            <p:cNvPr id="38046" name="Text Box 158"/>
            <p:cNvSpPr txBox="1">
              <a:spLocks noChangeArrowheads="1"/>
            </p:cNvSpPr>
            <p:nvPr/>
          </p:nvSpPr>
          <p:spPr bwMode="auto">
            <a:xfrm>
              <a:off x="1401" y="2053"/>
              <a:ext cx="52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E: 32</a:t>
              </a:r>
              <a:endParaRPr lang="ru-RU"/>
            </a:p>
          </p:txBody>
        </p:sp>
        <p:sp>
          <p:nvSpPr>
            <p:cNvPr id="38055" name="Line 167"/>
            <p:cNvSpPr>
              <a:spLocks noChangeShapeType="1"/>
            </p:cNvSpPr>
            <p:nvPr/>
          </p:nvSpPr>
          <p:spPr bwMode="auto">
            <a:xfrm>
              <a:off x="1882" y="2233"/>
              <a:ext cx="2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pSp>
        <p:nvGrpSpPr>
          <p:cNvPr id="38093" name="Group 205"/>
          <p:cNvGrpSpPr>
            <a:grpSpLocks/>
          </p:cNvGrpSpPr>
          <p:nvPr/>
        </p:nvGrpSpPr>
        <p:grpSpPr bwMode="auto">
          <a:xfrm>
            <a:off x="-36513" y="2565053"/>
            <a:ext cx="9026526" cy="1111250"/>
            <a:chOff x="-23" y="1806"/>
            <a:chExt cx="5686" cy="691"/>
          </a:xfrm>
        </p:grpSpPr>
        <p:sp>
          <p:nvSpPr>
            <p:cNvPr id="37942" name="Line 54"/>
            <p:cNvSpPr>
              <a:spLocks noChangeShapeType="1"/>
            </p:cNvSpPr>
            <p:nvPr/>
          </p:nvSpPr>
          <p:spPr bwMode="auto">
            <a:xfrm>
              <a:off x="629" y="1888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43" name="Line 55"/>
            <p:cNvSpPr>
              <a:spLocks noChangeShapeType="1"/>
            </p:cNvSpPr>
            <p:nvPr/>
          </p:nvSpPr>
          <p:spPr bwMode="auto">
            <a:xfrm>
              <a:off x="1238" y="1862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44" name="Line 56"/>
            <p:cNvSpPr>
              <a:spLocks noChangeShapeType="1"/>
            </p:cNvSpPr>
            <p:nvPr/>
          </p:nvSpPr>
          <p:spPr bwMode="auto">
            <a:xfrm>
              <a:off x="1899" y="1888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45" name="Line 57"/>
            <p:cNvSpPr>
              <a:spLocks noChangeShapeType="1"/>
            </p:cNvSpPr>
            <p:nvPr/>
          </p:nvSpPr>
          <p:spPr bwMode="auto">
            <a:xfrm>
              <a:off x="2626" y="1870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46" name="Line 58"/>
            <p:cNvSpPr>
              <a:spLocks noChangeShapeType="1"/>
            </p:cNvSpPr>
            <p:nvPr/>
          </p:nvSpPr>
          <p:spPr bwMode="auto">
            <a:xfrm>
              <a:off x="3351" y="1870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47" name="Line 59"/>
            <p:cNvSpPr>
              <a:spLocks noChangeShapeType="1"/>
            </p:cNvSpPr>
            <p:nvPr/>
          </p:nvSpPr>
          <p:spPr bwMode="auto">
            <a:xfrm>
              <a:off x="4067" y="1870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48" name="Line 60"/>
            <p:cNvSpPr>
              <a:spLocks noChangeShapeType="1"/>
            </p:cNvSpPr>
            <p:nvPr/>
          </p:nvSpPr>
          <p:spPr bwMode="auto">
            <a:xfrm>
              <a:off x="-23" y="1907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49" name="Line 61"/>
            <p:cNvSpPr>
              <a:spLocks noChangeShapeType="1"/>
            </p:cNvSpPr>
            <p:nvPr/>
          </p:nvSpPr>
          <p:spPr bwMode="auto">
            <a:xfrm>
              <a:off x="5419" y="1869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50" name="Line 62"/>
            <p:cNvSpPr>
              <a:spLocks noChangeShapeType="1"/>
            </p:cNvSpPr>
            <p:nvPr/>
          </p:nvSpPr>
          <p:spPr bwMode="auto">
            <a:xfrm>
              <a:off x="4748" y="1860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51" name="Line 63"/>
            <p:cNvSpPr>
              <a:spLocks noChangeShapeType="1"/>
            </p:cNvSpPr>
            <p:nvPr/>
          </p:nvSpPr>
          <p:spPr bwMode="auto">
            <a:xfrm flipH="1">
              <a:off x="702" y="1878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52" name="Line 64"/>
            <p:cNvSpPr>
              <a:spLocks noChangeShapeType="1"/>
            </p:cNvSpPr>
            <p:nvPr/>
          </p:nvSpPr>
          <p:spPr bwMode="auto">
            <a:xfrm flipH="1">
              <a:off x="1319" y="1888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53" name="Line 65"/>
            <p:cNvSpPr>
              <a:spLocks noChangeShapeType="1"/>
            </p:cNvSpPr>
            <p:nvPr/>
          </p:nvSpPr>
          <p:spPr bwMode="auto">
            <a:xfrm flipH="1">
              <a:off x="1973" y="1888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54" name="Line 66"/>
            <p:cNvSpPr>
              <a:spLocks noChangeShapeType="1"/>
            </p:cNvSpPr>
            <p:nvPr/>
          </p:nvSpPr>
          <p:spPr bwMode="auto">
            <a:xfrm flipH="1">
              <a:off x="32" y="1896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55" name="Line 67"/>
            <p:cNvSpPr>
              <a:spLocks noChangeShapeType="1"/>
            </p:cNvSpPr>
            <p:nvPr/>
          </p:nvSpPr>
          <p:spPr bwMode="auto">
            <a:xfrm flipH="1">
              <a:off x="5482" y="1856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56" name="Line 68"/>
            <p:cNvSpPr>
              <a:spLocks noChangeShapeType="1"/>
            </p:cNvSpPr>
            <p:nvPr/>
          </p:nvSpPr>
          <p:spPr bwMode="auto">
            <a:xfrm flipH="1">
              <a:off x="4821" y="1853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57" name="Line 69"/>
            <p:cNvSpPr>
              <a:spLocks noChangeShapeType="1"/>
            </p:cNvSpPr>
            <p:nvPr/>
          </p:nvSpPr>
          <p:spPr bwMode="auto">
            <a:xfrm flipH="1">
              <a:off x="4141" y="1869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58" name="Line 70"/>
            <p:cNvSpPr>
              <a:spLocks noChangeShapeType="1"/>
            </p:cNvSpPr>
            <p:nvPr/>
          </p:nvSpPr>
          <p:spPr bwMode="auto">
            <a:xfrm flipH="1">
              <a:off x="3414" y="1843"/>
              <a:ext cx="236" cy="60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7959" name="Line 71"/>
            <p:cNvSpPr>
              <a:spLocks noChangeShapeType="1"/>
            </p:cNvSpPr>
            <p:nvPr/>
          </p:nvSpPr>
          <p:spPr bwMode="auto">
            <a:xfrm flipH="1">
              <a:off x="2698" y="1870"/>
              <a:ext cx="181" cy="59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59" name="Line 171"/>
            <p:cNvSpPr>
              <a:spLocks noChangeShapeType="1"/>
            </p:cNvSpPr>
            <p:nvPr/>
          </p:nvSpPr>
          <p:spPr bwMode="auto">
            <a:xfrm>
              <a:off x="222" y="1842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60" name="Line 172"/>
            <p:cNvSpPr>
              <a:spLocks noChangeShapeType="1"/>
            </p:cNvSpPr>
            <p:nvPr/>
          </p:nvSpPr>
          <p:spPr bwMode="auto">
            <a:xfrm>
              <a:off x="349" y="182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61" name="Line 173"/>
            <p:cNvSpPr>
              <a:spLocks noChangeShapeType="1"/>
            </p:cNvSpPr>
            <p:nvPr/>
          </p:nvSpPr>
          <p:spPr bwMode="auto">
            <a:xfrm>
              <a:off x="485" y="1824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62" name="Line 174"/>
            <p:cNvSpPr>
              <a:spLocks noChangeShapeType="1"/>
            </p:cNvSpPr>
            <p:nvPr/>
          </p:nvSpPr>
          <p:spPr bwMode="auto">
            <a:xfrm>
              <a:off x="612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63" name="Line 175"/>
            <p:cNvSpPr>
              <a:spLocks noChangeShapeType="1"/>
            </p:cNvSpPr>
            <p:nvPr/>
          </p:nvSpPr>
          <p:spPr bwMode="auto">
            <a:xfrm>
              <a:off x="894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64" name="Line 176"/>
            <p:cNvSpPr>
              <a:spLocks noChangeShapeType="1"/>
            </p:cNvSpPr>
            <p:nvPr/>
          </p:nvSpPr>
          <p:spPr bwMode="auto">
            <a:xfrm>
              <a:off x="1111" y="1824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65" name="Line 177"/>
            <p:cNvSpPr>
              <a:spLocks noChangeShapeType="1"/>
            </p:cNvSpPr>
            <p:nvPr/>
          </p:nvSpPr>
          <p:spPr bwMode="auto">
            <a:xfrm>
              <a:off x="1002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66" name="Line 178"/>
            <p:cNvSpPr>
              <a:spLocks noChangeShapeType="1"/>
            </p:cNvSpPr>
            <p:nvPr/>
          </p:nvSpPr>
          <p:spPr bwMode="auto">
            <a:xfrm>
              <a:off x="1247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67" name="Line 179"/>
            <p:cNvSpPr>
              <a:spLocks noChangeShapeType="1"/>
            </p:cNvSpPr>
            <p:nvPr/>
          </p:nvSpPr>
          <p:spPr bwMode="auto">
            <a:xfrm>
              <a:off x="1492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68" name="Line 180"/>
            <p:cNvSpPr>
              <a:spLocks noChangeShapeType="1"/>
            </p:cNvSpPr>
            <p:nvPr/>
          </p:nvSpPr>
          <p:spPr bwMode="auto">
            <a:xfrm>
              <a:off x="1610" y="1824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69" name="Line 181"/>
            <p:cNvSpPr>
              <a:spLocks noChangeShapeType="1"/>
            </p:cNvSpPr>
            <p:nvPr/>
          </p:nvSpPr>
          <p:spPr bwMode="auto">
            <a:xfrm>
              <a:off x="1755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70" name="Line 182"/>
            <p:cNvSpPr>
              <a:spLocks noChangeShapeType="1"/>
            </p:cNvSpPr>
            <p:nvPr/>
          </p:nvSpPr>
          <p:spPr bwMode="auto">
            <a:xfrm>
              <a:off x="1873" y="1806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71" name="Line 183"/>
            <p:cNvSpPr>
              <a:spLocks noChangeShapeType="1"/>
            </p:cNvSpPr>
            <p:nvPr/>
          </p:nvSpPr>
          <p:spPr bwMode="auto">
            <a:xfrm>
              <a:off x="2164" y="1834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73" name="Line 185"/>
            <p:cNvSpPr>
              <a:spLocks noChangeShapeType="1"/>
            </p:cNvSpPr>
            <p:nvPr/>
          </p:nvSpPr>
          <p:spPr bwMode="auto">
            <a:xfrm>
              <a:off x="2299" y="1824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74" name="Line 186"/>
            <p:cNvSpPr>
              <a:spLocks noChangeShapeType="1"/>
            </p:cNvSpPr>
            <p:nvPr/>
          </p:nvSpPr>
          <p:spPr bwMode="auto">
            <a:xfrm>
              <a:off x="2444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75" name="Line 187"/>
            <p:cNvSpPr>
              <a:spLocks noChangeShapeType="1"/>
            </p:cNvSpPr>
            <p:nvPr/>
          </p:nvSpPr>
          <p:spPr bwMode="auto">
            <a:xfrm>
              <a:off x="2580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76" name="Line 188"/>
            <p:cNvSpPr>
              <a:spLocks noChangeShapeType="1"/>
            </p:cNvSpPr>
            <p:nvPr/>
          </p:nvSpPr>
          <p:spPr bwMode="auto">
            <a:xfrm>
              <a:off x="2889" y="1815"/>
              <a:ext cx="18" cy="654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77" name="Line 189"/>
            <p:cNvSpPr>
              <a:spLocks noChangeShapeType="1"/>
            </p:cNvSpPr>
            <p:nvPr/>
          </p:nvSpPr>
          <p:spPr bwMode="auto">
            <a:xfrm>
              <a:off x="3035" y="1833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78" name="Line 190"/>
            <p:cNvSpPr>
              <a:spLocks noChangeShapeType="1"/>
            </p:cNvSpPr>
            <p:nvPr/>
          </p:nvSpPr>
          <p:spPr bwMode="auto">
            <a:xfrm>
              <a:off x="3171" y="1824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79" name="Line 191"/>
            <p:cNvSpPr>
              <a:spLocks noChangeShapeType="1"/>
            </p:cNvSpPr>
            <p:nvPr/>
          </p:nvSpPr>
          <p:spPr bwMode="auto">
            <a:xfrm>
              <a:off x="3316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80" name="Line 192"/>
            <p:cNvSpPr>
              <a:spLocks noChangeShapeType="1"/>
            </p:cNvSpPr>
            <p:nvPr/>
          </p:nvSpPr>
          <p:spPr bwMode="auto">
            <a:xfrm>
              <a:off x="3642" y="1824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81" name="Line 193"/>
            <p:cNvSpPr>
              <a:spLocks noChangeShapeType="1"/>
            </p:cNvSpPr>
            <p:nvPr/>
          </p:nvSpPr>
          <p:spPr bwMode="auto">
            <a:xfrm>
              <a:off x="3769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82" name="Line 194"/>
            <p:cNvSpPr>
              <a:spLocks noChangeShapeType="1"/>
            </p:cNvSpPr>
            <p:nvPr/>
          </p:nvSpPr>
          <p:spPr bwMode="auto">
            <a:xfrm>
              <a:off x="3905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83" name="Line 195"/>
            <p:cNvSpPr>
              <a:spLocks noChangeShapeType="1"/>
            </p:cNvSpPr>
            <p:nvPr/>
          </p:nvSpPr>
          <p:spPr bwMode="auto">
            <a:xfrm>
              <a:off x="4032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84" name="Line 196"/>
            <p:cNvSpPr>
              <a:spLocks noChangeShapeType="1"/>
            </p:cNvSpPr>
            <p:nvPr/>
          </p:nvSpPr>
          <p:spPr bwMode="auto">
            <a:xfrm>
              <a:off x="4341" y="1824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85" name="Line 197"/>
            <p:cNvSpPr>
              <a:spLocks noChangeShapeType="1"/>
            </p:cNvSpPr>
            <p:nvPr/>
          </p:nvSpPr>
          <p:spPr bwMode="auto">
            <a:xfrm>
              <a:off x="4450" y="182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86" name="Line 198"/>
            <p:cNvSpPr>
              <a:spLocks noChangeShapeType="1"/>
            </p:cNvSpPr>
            <p:nvPr/>
          </p:nvSpPr>
          <p:spPr bwMode="auto">
            <a:xfrm>
              <a:off x="4576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87" name="Line 199"/>
            <p:cNvSpPr>
              <a:spLocks noChangeShapeType="1"/>
            </p:cNvSpPr>
            <p:nvPr/>
          </p:nvSpPr>
          <p:spPr bwMode="auto">
            <a:xfrm>
              <a:off x="4722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88" name="Line 200"/>
            <p:cNvSpPr>
              <a:spLocks noChangeShapeType="1"/>
            </p:cNvSpPr>
            <p:nvPr/>
          </p:nvSpPr>
          <p:spPr bwMode="auto">
            <a:xfrm>
              <a:off x="5012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89" name="Line 201"/>
            <p:cNvSpPr>
              <a:spLocks noChangeShapeType="1"/>
            </p:cNvSpPr>
            <p:nvPr/>
          </p:nvSpPr>
          <p:spPr bwMode="auto">
            <a:xfrm>
              <a:off x="5148" y="1824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90" name="Line 202"/>
            <p:cNvSpPr>
              <a:spLocks noChangeShapeType="1"/>
            </p:cNvSpPr>
            <p:nvPr/>
          </p:nvSpPr>
          <p:spPr bwMode="auto">
            <a:xfrm>
              <a:off x="5275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  <p:sp>
          <p:nvSpPr>
            <p:cNvPr id="38091" name="Line 203"/>
            <p:cNvSpPr>
              <a:spLocks noChangeShapeType="1"/>
            </p:cNvSpPr>
            <p:nvPr/>
          </p:nvSpPr>
          <p:spPr bwMode="auto">
            <a:xfrm>
              <a:off x="5393" y="1815"/>
              <a:ext cx="0" cy="6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uz-Cyrl-UZ"/>
            </a:p>
          </p:txBody>
        </p:sp>
      </p:grpSp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98174"/>
              </p:ext>
            </p:extLst>
          </p:nvPr>
        </p:nvGraphicFramePr>
        <p:xfrm>
          <a:off x="1704976" y="5175596"/>
          <a:ext cx="3721100" cy="527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Формула" r:id="rId6" imgW="1625400" imgH="228600" progId="Equation.3">
                  <p:embed/>
                </p:oleObj>
              </mc:Choice>
              <mc:Fallback>
                <p:oleObj name="Формула" r:id="rId6" imgW="1625400" imgH="228600" progId="Equation.3">
                  <p:embed/>
                  <p:pic>
                    <p:nvPicPr>
                      <p:cNvPr id="0" name="Объект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4976" y="5175596"/>
                        <a:ext cx="3721100" cy="5279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" name="Стрелка вправо 154"/>
          <p:cNvSpPr/>
          <p:nvPr/>
        </p:nvSpPr>
        <p:spPr>
          <a:xfrm>
            <a:off x="5513263" y="5249142"/>
            <a:ext cx="540000" cy="360000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graphicFrame>
        <p:nvGraphicFramePr>
          <p:cNvPr id="156" name="Объект 1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069726"/>
              </p:ext>
            </p:extLst>
          </p:nvPr>
        </p:nvGraphicFramePr>
        <p:xfrm>
          <a:off x="3398838" y="5966544"/>
          <a:ext cx="46815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Формула" r:id="rId8" imgW="2044440" imgH="241200" progId="Equation.3">
                  <p:embed/>
                </p:oleObj>
              </mc:Choice>
              <mc:Fallback>
                <p:oleObj name="Формула" r:id="rId8" imgW="20444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8838" y="5966544"/>
                        <a:ext cx="46815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70439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8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8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81 0.03538 L -0.00955 0.25781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80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" y="111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8" presetID="3" presetClass="exit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38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6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.00156 0.15532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380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77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38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8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24" grpId="0"/>
      <p:bldP spid="38052" grpId="0"/>
      <p:bldP spid="38052" grpId="1"/>
      <p:bldP spid="38052" grpId="2"/>
      <p:bldP spid="38053" grpId="0"/>
      <p:bldP spid="38053" grpId="1"/>
      <p:bldP spid="1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0" name="Rectangle 96"/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658813"/>
          </a:xfrm>
        </p:spPr>
        <p:txBody>
          <a:bodyPr/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P-</a:t>
            </a:r>
            <a:r>
              <a:rPr lang="uz-Cyrl-UZ" sz="4000" b="1" dirty="0">
                <a:latin typeface="Times New Roman" pitchFamily="18" charset="0"/>
                <a:cs typeface="Times New Roman" pitchFamily="18" charset="0"/>
              </a:rPr>
              <a:t>блок</a:t>
            </a:r>
            <a:endParaRPr lang="ru-RU" sz="4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7704" name="Group 360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09376638"/>
              </p:ext>
            </p:extLst>
          </p:nvPr>
        </p:nvGraphicFramePr>
        <p:xfrm>
          <a:off x="539750" y="2918232"/>
          <a:ext cx="8208963" cy="2270125"/>
        </p:xfrm>
        <a:graphic>
          <a:graphicData uri="http://schemas.openxmlformats.org/drawingml/2006/table">
            <a:tbl>
              <a:tblPr/>
              <a:tblGrid>
                <a:gridCol w="482600"/>
                <a:gridCol w="482600"/>
                <a:gridCol w="484188"/>
                <a:gridCol w="482600"/>
                <a:gridCol w="482600"/>
                <a:gridCol w="482600"/>
                <a:gridCol w="484187"/>
                <a:gridCol w="482600"/>
                <a:gridCol w="481013"/>
                <a:gridCol w="482600"/>
                <a:gridCol w="484187"/>
                <a:gridCol w="482600"/>
                <a:gridCol w="482600"/>
                <a:gridCol w="482600"/>
                <a:gridCol w="484188"/>
                <a:gridCol w="482600"/>
                <a:gridCol w="482600"/>
              </a:tblGrid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</a:t>
                      </a:r>
                      <a:endParaRPr kumimoji="0" lang="ru-RU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  <a:endParaRPr kumimoji="0" lang="ru-RU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  <a:endParaRPr kumimoji="0" 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29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28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  <a:endParaRPr kumimoji="0" 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23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26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  <a:endParaRPr kumimoji="0" 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2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Ч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К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8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14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27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9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  <a:endParaRPr kumimoji="0" lang="ru-RU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13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30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11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  <a:endParaRPr kumimoji="0" lang="ru-RU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uz-Cyrl-UZ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Ч</a:t>
                      </a: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488" name="Text Box 144"/>
          <p:cNvSpPr txBox="1">
            <a:spLocks noChangeArrowheads="1"/>
          </p:cNvSpPr>
          <p:nvPr/>
        </p:nvSpPr>
        <p:spPr bwMode="auto">
          <a:xfrm>
            <a:off x="769938" y="2346732"/>
            <a:ext cx="230346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uz-Cyrl-UZ" dirty="0">
                <a:latin typeface="Times New Roman" pitchFamily="18" charset="0"/>
                <a:cs typeface="Times New Roman" pitchFamily="18" charset="0"/>
              </a:rPr>
              <a:t>Кирувчи 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битлар: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7489" name="Text Box 145"/>
          <p:cNvSpPr txBox="1">
            <a:spLocks noChangeArrowheads="1"/>
          </p:cNvSpPr>
          <p:nvPr/>
        </p:nvSpPr>
        <p:spPr bwMode="auto">
          <a:xfrm>
            <a:off x="4932363" y="2372132"/>
            <a:ext cx="5032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uz-Cyrl-UZ" sz="2000" b="1">
                <a:solidFill>
                  <a:srgbClr val="FF0000"/>
                </a:solidFill>
              </a:rPr>
              <a:t>20</a:t>
            </a:r>
            <a:endParaRPr lang="ru-RU" sz="2000" b="1">
              <a:solidFill>
                <a:srgbClr val="FF0000"/>
              </a:solidFill>
            </a:endParaRPr>
          </a:p>
        </p:txBody>
      </p:sp>
      <p:sp>
        <p:nvSpPr>
          <p:cNvPr id="57491" name="Text Box 147"/>
          <p:cNvSpPr txBox="1">
            <a:spLocks noChangeArrowheads="1"/>
          </p:cNvSpPr>
          <p:nvPr/>
        </p:nvSpPr>
        <p:spPr bwMode="auto">
          <a:xfrm>
            <a:off x="3203575" y="2376894"/>
            <a:ext cx="503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uz-Cyrl-UZ" sz="2000" b="1" dirty="0">
                <a:solidFill>
                  <a:srgbClr val="FF3300"/>
                </a:solidFill>
              </a:rPr>
              <a:t>17</a:t>
            </a:r>
            <a:endParaRPr lang="ru-RU" sz="2000" b="1" dirty="0">
              <a:solidFill>
                <a:srgbClr val="FF3300"/>
              </a:solidFill>
            </a:endParaRPr>
          </a:p>
        </p:txBody>
      </p:sp>
      <p:sp>
        <p:nvSpPr>
          <p:cNvPr id="57492" name="Text Box 148"/>
          <p:cNvSpPr txBox="1">
            <a:spLocks noChangeArrowheads="1"/>
          </p:cNvSpPr>
          <p:nvPr/>
        </p:nvSpPr>
        <p:spPr bwMode="auto">
          <a:xfrm>
            <a:off x="3767138" y="2391182"/>
            <a:ext cx="5032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uz-Cyrl-UZ" sz="2000" b="1">
                <a:solidFill>
                  <a:srgbClr val="FF3300"/>
                </a:solidFill>
              </a:rPr>
              <a:t>18</a:t>
            </a:r>
            <a:endParaRPr lang="ru-RU" sz="2000" b="1">
              <a:solidFill>
                <a:srgbClr val="FF3300"/>
              </a:solidFill>
            </a:endParaRPr>
          </a:p>
        </p:txBody>
      </p:sp>
      <p:sp>
        <p:nvSpPr>
          <p:cNvPr id="57493" name="Text Box 149"/>
          <p:cNvSpPr txBox="1">
            <a:spLocks noChangeArrowheads="1"/>
          </p:cNvSpPr>
          <p:nvPr/>
        </p:nvSpPr>
        <p:spPr bwMode="auto">
          <a:xfrm>
            <a:off x="4284663" y="2376894"/>
            <a:ext cx="5032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uz-Cyrl-UZ" sz="2000" b="1">
                <a:solidFill>
                  <a:srgbClr val="FF0000"/>
                </a:solidFill>
              </a:rPr>
              <a:t>19</a:t>
            </a:r>
            <a:endParaRPr lang="ru-RU" sz="2000" b="1">
              <a:solidFill>
                <a:srgbClr val="FF0000"/>
              </a:solidFill>
            </a:endParaRPr>
          </a:p>
        </p:txBody>
      </p:sp>
      <p:sp>
        <p:nvSpPr>
          <p:cNvPr id="57494" name="Line 150"/>
          <p:cNvSpPr>
            <a:spLocks noChangeShapeType="1"/>
          </p:cNvSpPr>
          <p:nvPr/>
        </p:nvSpPr>
        <p:spPr bwMode="auto">
          <a:xfrm>
            <a:off x="4557713" y="3250019"/>
            <a:ext cx="0" cy="288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7495" name="Line 151"/>
          <p:cNvSpPr>
            <a:spLocks noChangeShapeType="1"/>
          </p:cNvSpPr>
          <p:nvPr/>
        </p:nvSpPr>
        <p:spPr bwMode="auto">
          <a:xfrm>
            <a:off x="7481888" y="3235732"/>
            <a:ext cx="0" cy="288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7496" name="Line 152"/>
          <p:cNvSpPr>
            <a:spLocks noChangeShapeType="1"/>
          </p:cNvSpPr>
          <p:nvPr/>
        </p:nvSpPr>
        <p:spPr bwMode="auto">
          <a:xfrm>
            <a:off x="2152650" y="3250019"/>
            <a:ext cx="0" cy="288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7497" name="Line 153"/>
          <p:cNvSpPr>
            <a:spLocks noChangeShapeType="1"/>
          </p:cNvSpPr>
          <p:nvPr/>
        </p:nvSpPr>
        <p:spPr bwMode="auto">
          <a:xfrm>
            <a:off x="5062538" y="4429532"/>
            <a:ext cx="0" cy="2889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7498" name="Text Box 154"/>
          <p:cNvSpPr txBox="1">
            <a:spLocks noChangeArrowheads="1"/>
          </p:cNvSpPr>
          <p:nvPr/>
        </p:nvSpPr>
        <p:spPr bwMode="auto">
          <a:xfrm>
            <a:off x="1965325" y="3459569"/>
            <a:ext cx="3603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uz-Cyrl-UZ" sz="2000"/>
              <a:t>3</a:t>
            </a:r>
            <a:endParaRPr lang="ru-RU" sz="2000"/>
          </a:p>
        </p:txBody>
      </p:sp>
      <p:sp>
        <p:nvSpPr>
          <p:cNvPr id="57499" name="Text Box 155"/>
          <p:cNvSpPr txBox="1">
            <a:spLocks noChangeArrowheads="1"/>
          </p:cNvSpPr>
          <p:nvPr/>
        </p:nvSpPr>
        <p:spPr bwMode="auto">
          <a:xfrm>
            <a:off x="4373563" y="3472269"/>
            <a:ext cx="3603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uz-Cyrl-UZ" sz="2000"/>
              <a:t>8</a:t>
            </a:r>
            <a:endParaRPr lang="ru-RU" sz="2000"/>
          </a:p>
        </p:txBody>
      </p:sp>
      <p:sp>
        <p:nvSpPr>
          <p:cNvPr id="57500" name="Text Box 156"/>
          <p:cNvSpPr txBox="1">
            <a:spLocks noChangeArrowheads="1"/>
          </p:cNvSpPr>
          <p:nvPr/>
        </p:nvSpPr>
        <p:spPr bwMode="auto">
          <a:xfrm>
            <a:off x="7267575" y="3459569"/>
            <a:ext cx="5032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uz-Cyrl-UZ" sz="2000"/>
              <a:t>14</a:t>
            </a:r>
            <a:endParaRPr lang="ru-RU" sz="2000"/>
          </a:p>
        </p:txBody>
      </p:sp>
      <p:sp>
        <p:nvSpPr>
          <p:cNvPr id="57501" name="Text Box 157"/>
          <p:cNvSpPr txBox="1">
            <a:spLocks noChangeArrowheads="1"/>
          </p:cNvSpPr>
          <p:nvPr/>
        </p:nvSpPr>
        <p:spPr bwMode="auto">
          <a:xfrm>
            <a:off x="4860925" y="4639082"/>
            <a:ext cx="5048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uz-Cyrl-UZ" sz="2000"/>
              <a:t>25</a:t>
            </a:r>
            <a:endParaRPr lang="ru-RU" sz="2000"/>
          </a:p>
        </p:txBody>
      </p:sp>
      <p:sp>
        <p:nvSpPr>
          <p:cNvPr id="57502" name="Text Box 158"/>
          <p:cNvSpPr txBox="1">
            <a:spLocks noChangeArrowheads="1"/>
          </p:cNvSpPr>
          <p:nvPr/>
        </p:nvSpPr>
        <p:spPr bwMode="auto">
          <a:xfrm>
            <a:off x="468313" y="5302657"/>
            <a:ext cx="58324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dirty="0" smtClean="0">
                <a:latin typeface="Times New Roman" pitchFamily="18" charset="0"/>
                <a:cs typeface="Times New Roman" pitchFamily="18" charset="0"/>
              </a:rPr>
              <a:t>-блокдан чиқувчи битлар: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7702" name="Object 358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21937102"/>
              </p:ext>
            </p:extLst>
          </p:nvPr>
        </p:nvGraphicFramePr>
        <p:xfrm>
          <a:off x="755650" y="847453"/>
          <a:ext cx="7848600" cy="125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Точечный рисунок" r:id="rId4" imgW="5076190" imgH="790476" progId="Paint.Picture">
                  <p:embed/>
                </p:oleObj>
              </mc:Choice>
              <mc:Fallback>
                <p:oleObj name="Точечный рисунок" r:id="rId4" imgW="5076190" imgH="790476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847453"/>
                        <a:ext cx="7848600" cy="1258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 algn="ctr">
                            <a:solidFill>
                              <a:srgbClr val="FF0000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Объект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632299"/>
              </p:ext>
            </p:extLst>
          </p:nvPr>
        </p:nvGraphicFramePr>
        <p:xfrm>
          <a:off x="362719" y="5892800"/>
          <a:ext cx="37052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Формула" r:id="rId6" imgW="2044440" imgH="241200" progId="Equation.3">
                  <p:embed/>
                </p:oleObj>
              </mc:Choice>
              <mc:Fallback>
                <p:oleObj name="Формула" r:id="rId6" imgW="2044440" imgH="241200" progId="Equation.3">
                  <p:embed/>
                  <p:pic>
                    <p:nvPicPr>
                      <p:cNvPr id="0" name="Объект 1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19" y="5892800"/>
                        <a:ext cx="37052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Объект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250775"/>
              </p:ext>
            </p:extLst>
          </p:nvPr>
        </p:nvGraphicFramePr>
        <p:xfrm>
          <a:off x="4898776" y="5973911"/>
          <a:ext cx="384968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Формула" r:id="rId8" imgW="1955520" imgH="241200" progId="Equation.3">
                  <p:embed/>
                </p:oleObj>
              </mc:Choice>
              <mc:Fallback>
                <p:oleObj name="Формула" r:id="rId8" imgW="19555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8776" y="5973911"/>
                        <a:ext cx="384968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Стрелка вправо 21"/>
          <p:cNvSpPr/>
          <p:nvPr/>
        </p:nvSpPr>
        <p:spPr>
          <a:xfrm>
            <a:off x="4248024" y="5986998"/>
            <a:ext cx="540000" cy="360000"/>
          </a:xfrm>
          <a:prstGeom prst="right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393930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7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7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7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7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37 0.00208 L 0.12847 0.07931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574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55" y="3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-0.00624 L 0.38351 0.07954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574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253" y="42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4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12 0.00208 L 0.06232 0.2492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574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" y="12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7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031 0.00832 L -0.325 0.08023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574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243" y="35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withGroup">
                            <p:stCondLst>
                              <p:cond delay="8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5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7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withGroup">
                            <p:stCondLst>
                              <p:cond delay="8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withGroup">
                            <p:stCondLst>
                              <p:cond delay="8500"/>
                            </p:stCondLst>
                            <p:childTnLst>
                              <p:par>
                                <p:cTn id="6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0.02289 L 0.48594 0.27607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574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288" y="126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6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3329 L 0.26181 0.27445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574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60" y="120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72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2913 L -0.02482 0.2726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575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3" y="12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7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6 0.01457 L 0.29514 0.09827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575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26" y="4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65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6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6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88" grpId="0"/>
      <p:bldP spid="57489" grpId="0"/>
      <p:bldP spid="57489" grpId="1"/>
      <p:bldP spid="57491" grpId="0"/>
      <p:bldP spid="57491" grpId="1"/>
      <p:bldP spid="57492" grpId="0"/>
      <p:bldP spid="57492" grpId="1"/>
      <p:bldP spid="57493" grpId="0"/>
      <p:bldP spid="57493" grpId="1"/>
      <p:bldP spid="57494" grpId="0" animBg="1"/>
      <p:bldP spid="57495" grpId="0" animBg="1"/>
      <p:bldP spid="57496" grpId="0" animBg="1"/>
      <p:bldP spid="57497" grpId="0" animBg="1"/>
      <p:bldP spid="57498" grpId="0"/>
      <p:bldP spid="57498" grpId="1"/>
      <p:bldP spid="57499" grpId="0"/>
      <p:bldP spid="57499" grpId="1"/>
      <p:bldP spid="57500" grpId="0"/>
      <p:bldP spid="57500" grpId="1"/>
      <p:bldP spid="57501" grpId="0"/>
      <p:bldP spid="57501" grpId="1"/>
      <p:bldP spid="57502" grpId="0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/>
          <p:cNvSpPr/>
          <p:nvPr/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bg1"/>
          </a:solidFill>
          <a:ln w="53975">
            <a:solidFill>
              <a:schemeClr val="accent1">
                <a:lumMod val="50000"/>
                <a:alpha val="87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4724400" y="1371600"/>
            <a:ext cx="3962400" cy="4876800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  <a:alpha val="71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u="sng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685800" y="303312"/>
            <a:ext cx="7772400" cy="533400"/>
          </a:xfrm>
          <a:prstGeom prst="rect">
            <a:avLst/>
          </a:prstGeom>
          <a:gradFill flip="none" rotWithShape="1">
            <a:gsLst>
              <a:gs pos="37000">
                <a:srgbClr val="C00000">
                  <a:alpha val="19000"/>
                  <a:lumMod val="0"/>
                  <a:lumOff val="100000"/>
                </a:srgbClr>
              </a:gs>
              <a:gs pos="100000">
                <a:schemeClr val="bg1"/>
              </a:gs>
            </a:gsLst>
            <a:lin ang="5400000" scaled="0"/>
            <a:tileRect r="-100000" b="-100000"/>
          </a:gradFill>
          <a:ln>
            <a:noFill/>
          </a:ln>
          <a:effectLst>
            <a:glow rad="63500">
              <a:srgbClr val="C00000">
                <a:alpha val="40000"/>
              </a:srgbClr>
            </a:glow>
            <a:innerShdw blurRad="114300">
              <a:srgbClr val="C00000"/>
            </a:innerShdw>
            <a:reflection blurRad="1270000" endPos="0" dist="1270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0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1, </a:t>
            </a:r>
            <a:r>
              <a:rPr lang="uz-Cyrl-UZ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2-раундли </a:t>
            </a:r>
            <a:r>
              <a:rPr lang="uz-Cyrl-UZ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алгоритми </a:t>
            </a:r>
            <a:r>
              <a:rPr lang="uz-Cyrl-UZ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учун аппроксимация тенгламаси</a:t>
            </a:r>
            <a:endParaRPr lang="ru-RU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57" name="Группа 2056"/>
          <p:cNvGrpSpPr/>
          <p:nvPr/>
        </p:nvGrpSpPr>
        <p:grpSpPr>
          <a:xfrm>
            <a:off x="533400" y="1295400"/>
            <a:ext cx="3962400" cy="4953000"/>
            <a:chOff x="533400" y="1295400"/>
            <a:chExt cx="3962400" cy="4953000"/>
          </a:xfrm>
        </p:grpSpPr>
        <p:grpSp>
          <p:nvGrpSpPr>
            <p:cNvPr id="7" name="Группа 6"/>
            <p:cNvGrpSpPr/>
            <p:nvPr/>
          </p:nvGrpSpPr>
          <p:grpSpPr>
            <a:xfrm>
              <a:off x="533400" y="1295400"/>
              <a:ext cx="3962400" cy="4953000"/>
              <a:chOff x="533400" y="1295400"/>
              <a:chExt cx="3962400" cy="4953000"/>
            </a:xfrm>
          </p:grpSpPr>
          <p:sp>
            <p:nvSpPr>
              <p:cNvPr id="6" name="Прямоугольник 5"/>
              <p:cNvSpPr/>
              <p:nvPr/>
            </p:nvSpPr>
            <p:spPr>
              <a:xfrm>
                <a:off x="533400" y="1371600"/>
                <a:ext cx="3962400" cy="48768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1">
                    <a:lumMod val="50000"/>
                    <a:alpha val="71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u="sng" dirty="0"/>
              </a:p>
            </p:txBody>
          </p:sp>
          <p:grpSp>
            <p:nvGrpSpPr>
              <p:cNvPr id="4" name="Группа 3"/>
              <p:cNvGrpSpPr/>
              <p:nvPr/>
            </p:nvGrpSpPr>
            <p:grpSpPr>
              <a:xfrm>
                <a:off x="648468" y="1295400"/>
                <a:ext cx="3390132" cy="4572000"/>
                <a:chOff x="648468" y="1295400"/>
                <a:chExt cx="3390132" cy="4572000"/>
              </a:xfrm>
            </p:grpSpPr>
            <p:pic>
              <p:nvPicPr>
                <p:cNvPr id="2051" name="Picture 3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8468" y="1536700"/>
                  <a:ext cx="3313932" cy="43307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3" name="Группа 2"/>
                <p:cNvGrpSpPr/>
                <p:nvPr/>
              </p:nvGrpSpPr>
              <p:grpSpPr>
                <a:xfrm>
                  <a:off x="751114" y="1295400"/>
                  <a:ext cx="3287486" cy="4267200"/>
                  <a:chOff x="751114" y="1295400"/>
                  <a:chExt cx="3287486" cy="4267200"/>
                </a:xfrm>
              </p:grpSpPr>
              <p:sp>
                <p:nvSpPr>
                  <p:cNvPr id="2" name="Прямоугольник 1"/>
                  <p:cNvSpPr/>
                  <p:nvPr/>
                </p:nvSpPr>
                <p:spPr>
                  <a:xfrm>
                    <a:off x="751114" y="1373414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P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L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" name="Прямоугольник 9"/>
                  <p:cNvSpPr/>
                  <p:nvPr/>
                </p:nvSpPr>
                <p:spPr>
                  <a:xfrm>
                    <a:off x="3048000" y="1373414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P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R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" name="Прямоугольник 10"/>
                  <p:cNvSpPr/>
                  <p:nvPr/>
                </p:nvSpPr>
                <p:spPr>
                  <a:xfrm>
                    <a:off x="3581400" y="17526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K</a:t>
                    </a:r>
                    <a:r>
                      <a:rPr lang="en-US" sz="1400" baseline="-250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8" name="Прямоугольник 17"/>
                  <p:cNvSpPr/>
                  <p:nvPr/>
                </p:nvSpPr>
                <p:spPr>
                  <a:xfrm>
                    <a:off x="3581400" y="325755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K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2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9" name="Прямоугольник 18"/>
                  <p:cNvSpPr/>
                  <p:nvPr/>
                </p:nvSpPr>
                <p:spPr>
                  <a:xfrm>
                    <a:off x="3581400" y="47244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K</a:t>
                    </a:r>
                    <a:r>
                      <a:rPr lang="en-US" sz="1400" baseline="-250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3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" name="Прямоугольник 11"/>
                  <p:cNvSpPr/>
                  <p:nvPr/>
                </p:nvSpPr>
                <p:spPr>
                  <a:xfrm>
                    <a:off x="1208314" y="20574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Y</a:t>
                    </a:r>
                    <a:r>
                      <a:rPr lang="en-US" sz="1400" baseline="-250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" name="Прямоугольник 12"/>
                  <p:cNvSpPr/>
                  <p:nvPr/>
                </p:nvSpPr>
                <p:spPr>
                  <a:xfrm>
                    <a:off x="1208314" y="358775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Y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2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" name="Прямоугольник 13"/>
                  <p:cNvSpPr/>
                  <p:nvPr/>
                </p:nvSpPr>
                <p:spPr>
                  <a:xfrm>
                    <a:off x="1208314" y="50292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Y</a:t>
                    </a:r>
                    <a:r>
                      <a:rPr lang="en-US" sz="1400" baseline="-250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3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" name="Прямоугольник 15"/>
                  <p:cNvSpPr/>
                  <p:nvPr/>
                </p:nvSpPr>
                <p:spPr>
                  <a:xfrm>
                    <a:off x="2590800" y="51181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X</a:t>
                    </a:r>
                    <a:r>
                      <a:rPr lang="en-US" sz="1400" baseline="-250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3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7" name="Прямоугольник 16"/>
                  <p:cNvSpPr/>
                  <p:nvPr/>
                </p:nvSpPr>
                <p:spPr>
                  <a:xfrm>
                    <a:off x="2590800" y="36576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X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2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24" name="Прямоугольник 23"/>
                  <p:cNvSpPr/>
                  <p:nvPr/>
                </p:nvSpPr>
                <p:spPr>
                  <a:xfrm>
                    <a:off x="2590800" y="21463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X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25" name="Прямоугольник 24"/>
                  <p:cNvSpPr/>
                  <p:nvPr/>
                </p:nvSpPr>
                <p:spPr>
                  <a:xfrm>
                    <a:off x="2057400" y="12954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P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</p:grpSp>
        </p:grpSp>
        <p:sp>
          <p:nvSpPr>
            <p:cNvPr id="53" name="Прямоугольник 52"/>
            <p:cNvSpPr/>
            <p:nvPr/>
          </p:nvSpPr>
          <p:spPr>
            <a:xfrm>
              <a:off x="762000" y="5651500"/>
              <a:ext cx="457200" cy="444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L</a:t>
              </a:r>
              <a:endParaRPr lang="ru-RU" sz="1400" baseline="-25000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Прямоугольник 53"/>
            <p:cNvSpPr/>
            <p:nvPr/>
          </p:nvSpPr>
          <p:spPr>
            <a:xfrm>
              <a:off x="3200400" y="5727700"/>
              <a:ext cx="457200" cy="444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endParaRPr lang="ru-RU" sz="1400" baseline="-25000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5" name="Прямоугольник 44"/>
          <p:cNvSpPr/>
          <p:nvPr/>
        </p:nvSpPr>
        <p:spPr>
          <a:xfrm>
            <a:off x="4879032" y="1556792"/>
            <a:ext cx="3581400" cy="801092"/>
          </a:xfrm>
          <a:prstGeom prst="rect">
            <a:avLst/>
          </a:prstGeom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1200"/>
              </a:spcAft>
            </a:pPr>
            <a:r>
              <a:rPr lang="uz-Cyrl-UZ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Фейстель функцияси учун:</a:t>
            </a:r>
          </a:p>
          <a:p>
            <a:pPr algn="ctr">
              <a:spcAft>
                <a:spcPts val="1200"/>
              </a:spcAft>
            </a:pP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X(1)</a:t>
            </a:r>
            <a:r>
              <a:rPr lang="en-US" sz="14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+Y(1)</a:t>
            </a:r>
            <a:r>
              <a:rPr lang="en-US" sz="14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+Y(1)</a:t>
            </a:r>
            <a:r>
              <a:rPr lang="en-US" sz="14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+Y(1)</a:t>
            </a:r>
            <a:r>
              <a:rPr lang="en-US" sz="14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+Y(1)</a:t>
            </a:r>
            <a:r>
              <a:rPr lang="en-US" sz="14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25</a:t>
            </a:r>
            <a:r>
              <a: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=K(1)</a:t>
            </a:r>
            <a:r>
              <a:rPr lang="en-US" sz="1400" baseline="-25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26</a:t>
            </a:r>
          </a:p>
          <a:p>
            <a:pPr algn="ctr"/>
            <a:endParaRPr lang="ru-RU" sz="1400" dirty="0"/>
          </a:p>
        </p:txBody>
      </p:sp>
      <p:sp>
        <p:nvSpPr>
          <p:cNvPr id="47" name="Прямоугольник 46"/>
          <p:cNvSpPr/>
          <p:nvPr/>
        </p:nvSpPr>
        <p:spPr>
          <a:xfrm>
            <a:off x="4879032" y="2555900"/>
            <a:ext cx="3581400" cy="1101700"/>
          </a:xfrm>
          <a:prstGeom prst="rect">
            <a:avLst/>
          </a:prstGeom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0"/>
              </a:spcAft>
            </a:pPr>
            <a:r>
              <a:rPr lang="uz-Cyrl-UZ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1 раунд учун:</a:t>
            </a:r>
          </a:p>
          <a:p>
            <a:pPr algn="ctr">
              <a:spcAft>
                <a:spcPts val="0"/>
              </a:spcAft>
            </a:pPr>
            <a:r>
              <a:rPr lang="uz-Cyrl-UZ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en-US" sz="2000" b="1" baseline="-250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1400" dirty="0"/>
          </a:p>
        </p:txBody>
      </p:sp>
      <p:sp>
        <p:nvSpPr>
          <p:cNvPr id="49" name="Прямоугольник 48"/>
          <p:cNvSpPr/>
          <p:nvPr/>
        </p:nvSpPr>
        <p:spPr>
          <a:xfrm>
            <a:off x="4879032" y="3839468"/>
            <a:ext cx="3581400" cy="1101700"/>
          </a:xfrm>
          <a:prstGeom prst="rect">
            <a:avLst/>
          </a:prstGeom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4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0"/>
              </a:spcAft>
            </a:pPr>
            <a:r>
              <a:rPr lang="uz-Cyrl-UZ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2 раунд учун:</a:t>
            </a:r>
          </a:p>
          <a:p>
            <a:pPr algn="ctr">
              <a:spcAft>
                <a:spcPts val="0"/>
              </a:spcAft>
            </a:pPr>
            <a:r>
              <a:rPr lang="uz-Cyrl-UZ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en-US" sz="2000" b="1" baseline="-250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73702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/>
          <p:cNvSpPr/>
          <p:nvPr/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bg1"/>
          </a:solidFill>
          <a:ln w="53975">
            <a:solidFill>
              <a:schemeClr val="accent1">
                <a:lumMod val="50000"/>
                <a:alpha val="87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4724400" y="1371600"/>
            <a:ext cx="3962400" cy="4876800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  <a:alpha val="71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u="sng" dirty="0"/>
          </a:p>
        </p:txBody>
      </p:sp>
      <p:grpSp>
        <p:nvGrpSpPr>
          <p:cNvPr id="2056" name="Группа 2055"/>
          <p:cNvGrpSpPr/>
          <p:nvPr/>
        </p:nvGrpSpPr>
        <p:grpSpPr>
          <a:xfrm>
            <a:off x="4953000" y="1447800"/>
            <a:ext cx="3581400" cy="3302000"/>
            <a:chOff x="4953000" y="1447800"/>
            <a:chExt cx="3581400" cy="3302000"/>
          </a:xfrm>
        </p:grpSpPr>
        <p:grpSp>
          <p:nvGrpSpPr>
            <p:cNvPr id="2054" name="Группа 2053"/>
            <p:cNvGrpSpPr/>
            <p:nvPr/>
          </p:nvGrpSpPr>
          <p:grpSpPr>
            <a:xfrm>
              <a:off x="4953000" y="1447800"/>
              <a:ext cx="3581400" cy="2987222"/>
              <a:chOff x="4953000" y="1508578"/>
              <a:chExt cx="3581400" cy="2987222"/>
            </a:xfrm>
          </p:grpSpPr>
          <p:grpSp>
            <p:nvGrpSpPr>
              <p:cNvPr id="2053" name="Группа 2052"/>
              <p:cNvGrpSpPr/>
              <p:nvPr/>
            </p:nvGrpSpPr>
            <p:grpSpPr>
              <a:xfrm>
                <a:off x="4953000" y="1508578"/>
                <a:ext cx="3581400" cy="2524901"/>
                <a:chOff x="4953000" y="1508578"/>
                <a:chExt cx="3581400" cy="2524901"/>
              </a:xfrm>
            </p:grpSpPr>
            <p:sp>
              <p:nvSpPr>
                <p:cNvPr id="44" name="Прямоугольник 43"/>
                <p:cNvSpPr/>
                <p:nvPr/>
              </p:nvSpPr>
              <p:spPr>
                <a:xfrm>
                  <a:off x="4953000" y="1508578"/>
                  <a:ext cx="3581400" cy="679450"/>
                </a:xfrm>
                <a:prstGeom prst="rect">
                  <a:avLst/>
                </a:prstGeom>
                <a:ln/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 smtClean="0">
                      <a:solidFill>
                        <a:srgbClr val="C00000"/>
                      </a:solidFill>
                      <a:latin typeface="Times New Roman" pitchFamily="18" charset="0"/>
                      <a:cs typeface="Times New Roman" pitchFamily="18" charset="0"/>
                    </a:rPr>
                    <a:t>3-</a:t>
                  </a:r>
                  <a:r>
                    <a:rPr lang="uz-Cyrl-UZ" sz="1400" dirty="0" smtClean="0">
                      <a:solidFill>
                        <a:srgbClr val="C00000"/>
                      </a:solidFill>
                      <a:latin typeface="Times New Roman" pitchFamily="18" charset="0"/>
                      <a:cs typeface="Times New Roman" pitchFamily="18" charset="0"/>
                    </a:rPr>
                    <a:t>раундли </a:t>
                  </a:r>
                  <a:r>
                    <a:rPr lang="en-US" sz="1400" dirty="0" smtClean="0">
                      <a:solidFill>
                        <a:srgbClr val="C00000"/>
                      </a:solidFill>
                      <a:latin typeface="Times New Roman" pitchFamily="18" charset="0"/>
                      <a:cs typeface="Times New Roman" pitchFamily="18" charset="0"/>
                    </a:rPr>
                    <a:t>DES </a:t>
                  </a:r>
                  <a:r>
                    <a:rPr lang="uz-Cyrl-UZ" sz="1400" dirty="0" smtClean="0">
                      <a:solidFill>
                        <a:srgbClr val="C00000"/>
                      </a:solidFill>
                      <a:latin typeface="Times New Roman" pitchFamily="18" charset="0"/>
                      <a:cs typeface="Times New Roman" pitchFamily="18" charset="0"/>
                    </a:rPr>
                    <a:t>алгоритми учун апроксимация тенгламаси</a:t>
                  </a:r>
                  <a:endParaRPr lang="ru-RU" sz="1400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pic>
              <p:nvPicPr>
                <p:cNvPr id="3082" name="Picture 10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08147" y="3694471"/>
                  <a:ext cx="2921454" cy="339008"/>
                </a:xfrm>
                <a:prstGeom prst="rect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</p:pic>
            <p:sp>
              <p:nvSpPr>
                <p:cNvPr id="46" name="Прямоугольник 45"/>
                <p:cNvSpPr/>
                <p:nvPr/>
              </p:nvSpPr>
              <p:spPr>
                <a:xfrm>
                  <a:off x="5105400" y="3278088"/>
                  <a:ext cx="3048000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uz-Cyrl-UZ" sz="1400" dirty="0" smtClean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rPr>
                    <a:t>5.1 Леммага кўра четланиш қиймати:</a:t>
                  </a:r>
                  <a:endParaRPr lang="ru-RU" sz="1400" dirty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sp>
            <p:nvSpPr>
              <p:cNvPr id="48" name="Прямоугольник 47"/>
              <p:cNvSpPr/>
              <p:nvPr/>
            </p:nvSpPr>
            <p:spPr>
              <a:xfrm>
                <a:off x="5105400" y="4188023"/>
                <a:ext cx="3048000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uz-Cyrl-UZ" sz="14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ва бундан эҳтимоллик қиймати:</a:t>
                </a:r>
                <a:endParaRPr lang="ru-RU" sz="14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pic>
          <p:nvPicPr>
            <p:cNvPr id="3083" name="Picture 1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38850" y="4464050"/>
              <a:ext cx="1409700" cy="285750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pic>
      </p:grpSp>
      <p:sp>
        <p:nvSpPr>
          <p:cNvPr id="15" name="Прямоугольник 14"/>
          <p:cNvSpPr/>
          <p:nvPr/>
        </p:nvSpPr>
        <p:spPr>
          <a:xfrm>
            <a:off x="685800" y="303312"/>
            <a:ext cx="7772400" cy="533400"/>
          </a:xfrm>
          <a:prstGeom prst="rect">
            <a:avLst/>
          </a:prstGeom>
          <a:gradFill flip="none" rotWithShape="1">
            <a:gsLst>
              <a:gs pos="37000">
                <a:srgbClr val="C00000">
                  <a:alpha val="19000"/>
                  <a:lumMod val="0"/>
                  <a:lumOff val="100000"/>
                </a:srgbClr>
              </a:gs>
              <a:gs pos="100000">
                <a:schemeClr val="bg1"/>
              </a:gs>
            </a:gsLst>
            <a:lin ang="5400000" scaled="0"/>
            <a:tileRect r="-100000" b="-100000"/>
          </a:gradFill>
          <a:ln>
            <a:noFill/>
          </a:ln>
          <a:effectLst>
            <a:glow rad="63500">
              <a:srgbClr val="C00000">
                <a:alpha val="40000"/>
              </a:srgbClr>
            </a:glow>
            <a:innerShdw blurRad="114300">
              <a:srgbClr val="C00000"/>
            </a:innerShdw>
            <a:reflection blurRad="1270000" endPos="0" dist="1270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000" b="1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3-раундли </a:t>
            </a:r>
            <a:r>
              <a:rPr lang="uz-Cyrl-UZ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алгоритми </a:t>
            </a:r>
            <a:r>
              <a:rPr lang="uz-Cyrl-UZ" sz="20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учун аппроксимация тенгламаси</a:t>
            </a:r>
            <a:endParaRPr lang="ru-RU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Прямоугольник 41"/>
          <p:cNvSpPr/>
          <p:nvPr/>
        </p:nvSpPr>
        <p:spPr>
          <a:xfrm>
            <a:off x="4953000" y="5111750"/>
            <a:ext cx="3581400" cy="679450"/>
          </a:xfrm>
          <a:prstGeom prst="rect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+C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17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+(P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+C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+(P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+C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+(P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+C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 sz="1400" dirty="0" smtClean="0">
                <a:latin typeface="Times New Roman" pitchFamily="18" charset="0"/>
                <a:cs typeface="Times New Roman" pitchFamily="18" charset="0"/>
              </a:rPr>
              <a:t>        +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(P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+C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25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=(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057" name="Группа 2056"/>
          <p:cNvGrpSpPr/>
          <p:nvPr/>
        </p:nvGrpSpPr>
        <p:grpSpPr>
          <a:xfrm>
            <a:off x="533400" y="1295400"/>
            <a:ext cx="3962400" cy="4953000"/>
            <a:chOff x="533400" y="1295400"/>
            <a:chExt cx="3962400" cy="4953000"/>
          </a:xfrm>
        </p:grpSpPr>
        <p:grpSp>
          <p:nvGrpSpPr>
            <p:cNvPr id="7" name="Группа 6"/>
            <p:cNvGrpSpPr/>
            <p:nvPr/>
          </p:nvGrpSpPr>
          <p:grpSpPr>
            <a:xfrm>
              <a:off x="533400" y="1295400"/>
              <a:ext cx="3962400" cy="4953000"/>
              <a:chOff x="533400" y="1295400"/>
              <a:chExt cx="3962400" cy="4953000"/>
            </a:xfrm>
          </p:grpSpPr>
          <p:sp>
            <p:nvSpPr>
              <p:cNvPr id="6" name="Прямоугольник 5"/>
              <p:cNvSpPr/>
              <p:nvPr/>
            </p:nvSpPr>
            <p:spPr>
              <a:xfrm>
                <a:off x="533400" y="1371600"/>
                <a:ext cx="3962400" cy="4876800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1">
                    <a:lumMod val="50000"/>
                    <a:alpha val="71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u="sng" dirty="0"/>
              </a:p>
            </p:txBody>
          </p:sp>
          <p:grpSp>
            <p:nvGrpSpPr>
              <p:cNvPr id="4" name="Группа 3"/>
              <p:cNvGrpSpPr/>
              <p:nvPr/>
            </p:nvGrpSpPr>
            <p:grpSpPr>
              <a:xfrm>
                <a:off x="648468" y="1295400"/>
                <a:ext cx="3390132" cy="4572000"/>
                <a:chOff x="648468" y="1295400"/>
                <a:chExt cx="3390132" cy="4572000"/>
              </a:xfrm>
            </p:grpSpPr>
            <p:pic>
              <p:nvPicPr>
                <p:cNvPr id="2051" name="Picture 3"/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48468" y="1536700"/>
                  <a:ext cx="3313932" cy="43307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3" name="Группа 2"/>
                <p:cNvGrpSpPr/>
                <p:nvPr/>
              </p:nvGrpSpPr>
              <p:grpSpPr>
                <a:xfrm>
                  <a:off x="751114" y="1295400"/>
                  <a:ext cx="3287486" cy="4267200"/>
                  <a:chOff x="751114" y="1295400"/>
                  <a:chExt cx="3287486" cy="4267200"/>
                </a:xfrm>
              </p:grpSpPr>
              <p:sp>
                <p:nvSpPr>
                  <p:cNvPr id="2" name="Прямоугольник 1"/>
                  <p:cNvSpPr/>
                  <p:nvPr/>
                </p:nvSpPr>
                <p:spPr>
                  <a:xfrm>
                    <a:off x="751114" y="1373414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P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L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0" name="Прямоугольник 9"/>
                  <p:cNvSpPr/>
                  <p:nvPr/>
                </p:nvSpPr>
                <p:spPr>
                  <a:xfrm>
                    <a:off x="3048000" y="1373414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P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R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1" name="Прямоугольник 10"/>
                  <p:cNvSpPr/>
                  <p:nvPr/>
                </p:nvSpPr>
                <p:spPr>
                  <a:xfrm>
                    <a:off x="3581400" y="17526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K</a:t>
                    </a:r>
                    <a:r>
                      <a:rPr lang="en-US" sz="1400" baseline="-250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8" name="Прямоугольник 17"/>
                  <p:cNvSpPr/>
                  <p:nvPr/>
                </p:nvSpPr>
                <p:spPr>
                  <a:xfrm>
                    <a:off x="3581400" y="325755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K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2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9" name="Прямоугольник 18"/>
                  <p:cNvSpPr/>
                  <p:nvPr/>
                </p:nvSpPr>
                <p:spPr>
                  <a:xfrm>
                    <a:off x="3581400" y="47244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K</a:t>
                    </a:r>
                    <a:r>
                      <a:rPr lang="en-US" sz="1400" baseline="-250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3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2" name="Прямоугольник 11"/>
                  <p:cNvSpPr/>
                  <p:nvPr/>
                </p:nvSpPr>
                <p:spPr>
                  <a:xfrm>
                    <a:off x="1208314" y="20574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Y</a:t>
                    </a:r>
                    <a:r>
                      <a:rPr lang="en-US" sz="1400" baseline="-250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3" name="Прямоугольник 12"/>
                  <p:cNvSpPr/>
                  <p:nvPr/>
                </p:nvSpPr>
                <p:spPr>
                  <a:xfrm>
                    <a:off x="1208314" y="358775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Y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2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4" name="Прямоугольник 13"/>
                  <p:cNvSpPr/>
                  <p:nvPr/>
                </p:nvSpPr>
                <p:spPr>
                  <a:xfrm>
                    <a:off x="1208314" y="50292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Y</a:t>
                    </a:r>
                    <a:r>
                      <a:rPr lang="en-US" sz="1400" baseline="-250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3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6" name="Прямоугольник 15"/>
                  <p:cNvSpPr/>
                  <p:nvPr/>
                </p:nvSpPr>
                <p:spPr>
                  <a:xfrm>
                    <a:off x="2590800" y="51181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X</a:t>
                    </a:r>
                    <a:r>
                      <a:rPr lang="en-US" sz="1400" baseline="-250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3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17" name="Прямоугольник 16"/>
                  <p:cNvSpPr/>
                  <p:nvPr/>
                </p:nvSpPr>
                <p:spPr>
                  <a:xfrm>
                    <a:off x="2590800" y="36576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X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2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24" name="Прямоугольник 23"/>
                  <p:cNvSpPr/>
                  <p:nvPr/>
                </p:nvSpPr>
                <p:spPr>
                  <a:xfrm>
                    <a:off x="2590800" y="21463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X</a:t>
                    </a:r>
                    <a:r>
                      <a:rPr lang="en-US" sz="1400" baseline="-25000" dirty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25" name="Прямоугольник 24"/>
                  <p:cNvSpPr/>
                  <p:nvPr/>
                </p:nvSpPr>
                <p:spPr>
                  <a:xfrm>
                    <a:off x="2057400" y="1295400"/>
                    <a:ext cx="457200" cy="444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P</a:t>
                    </a:r>
                    <a:endParaRPr lang="ru-RU" sz="14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</p:grpSp>
        </p:grpSp>
        <p:sp>
          <p:nvSpPr>
            <p:cNvPr id="53" name="Прямоугольник 52"/>
            <p:cNvSpPr/>
            <p:nvPr/>
          </p:nvSpPr>
          <p:spPr>
            <a:xfrm>
              <a:off x="762000" y="5651500"/>
              <a:ext cx="457200" cy="444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L</a:t>
              </a:r>
              <a:endParaRPr lang="ru-RU" sz="1400" baseline="-25000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Прямоугольник 53"/>
            <p:cNvSpPr/>
            <p:nvPr/>
          </p:nvSpPr>
          <p:spPr>
            <a:xfrm>
              <a:off x="3200400" y="5727700"/>
              <a:ext cx="457200" cy="4445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R</a:t>
              </a:r>
              <a:endParaRPr lang="ru-RU" sz="1400" baseline="-25000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052" name="Группа 2051"/>
          <p:cNvGrpSpPr/>
          <p:nvPr/>
        </p:nvGrpSpPr>
        <p:grpSpPr>
          <a:xfrm>
            <a:off x="4876800" y="1524000"/>
            <a:ext cx="3657600" cy="3422650"/>
            <a:chOff x="4876800" y="1524000"/>
            <a:chExt cx="3657600" cy="3422650"/>
          </a:xfrm>
        </p:grpSpPr>
        <p:sp>
          <p:nvSpPr>
            <p:cNvPr id="2050" name="Прямоугольник 2049"/>
            <p:cNvSpPr/>
            <p:nvPr/>
          </p:nvSpPr>
          <p:spPr>
            <a:xfrm>
              <a:off x="4953000" y="3479800"/>
              <a:ext cx="3581400" cy="622300"/>
            </a:xfrm>
            <a:prstGeom prst="rect">
              <a:avLst/>
            </a:prstGeom>
            <a:ln>
              <a:solidFill>
                <a:schemeClr val="tx2">
                  <a:lumMod val="95000"/>
                  <a:lumOff val="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X(1)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17</a:t>
              </a:r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+Y(1)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+Y(1)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+Y(1)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14</a:t>
              </a:r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+Y(1)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25</a:t>
              </a:r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=K(1)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26</a:t>
              </a:r>
            </a:p>
            <a:p>
              <a:pPr algn="ctr"/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X(3)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17</a:t>
              </a:r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+Y(3)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+Y(3)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+Y(3)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14</a:t>
              </a:r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+Y(3)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25</a:t>
              </a:r>
              <a:r>
                <a:rPr lang="en-US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=K(3)</a:t>
              </a:r>
              <a:r>
                <a:rPr lang="en-US" sz="1400" baseline="-25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26</a:t>
              </a:r>
              <a:endPara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endParaRPr lang="ru-RU" sz="1400" dirty="0"/>
            </a:p>
          </p:txBody>
        </p:sp>
        <p:sp>
          <p:nvSpPr>
            <p:cNvPr id="37" name="Прямоугольник 36"/>
            <p:cNvSpPr/>
            <p:nvPr/>
          </p:nvSpPr>
          <p:spPr>
            <a:xfrm>
              <a:off x="4876800" y="1524000"/>
              <a:ext cx="3657600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uz-Cyrl-UZ" sz="1400" b="1" i="1" dirty="0" smtClean="0">
                  <a:latin typeface="Times New Roman" pitchFamily="18" charset="0"/>
                  <a:cs typeface="Times New Roman" pitchFamily="18" charset="0"/>
                </a:rPr>
                <a:t>	Лемма </a:t>
              </a:r>
              <a:r>
                <a:rPr lang="uz-Cyrl-UZ" sz="1400" b="1" i="1" dirty="0">
                  <a:latin typeface="Times New Roman" pitchFamily="18" charset="0"/>
                  <a:cs typeface="Times New Roman" pitchFamily="18" charset="0"/>
                </a:rPr>
                <a:t>5.1. </a:t>
              </a:r>
              <a:r>
                <a:rPr lang="uz-Cyrl-UZ" sz="1400" dirty="0">
                  <a:latin typeface="Times New Roman" pitchFamily="18" charset="0"/>
                  <a:cs typeface="Times New Roman" pitchFamily="18" charset="0"/>
                </a:rPr>
                <a:t>Агар S</a:t>
              </a:r>
              <a:r>
                <a:rPr lang="uz-Cyrl-UZ" sz="1400" baseline="-25000" dirty="0">
                  <a:latin typeface="Times New Roman" pitchFamily="18" charset="0"/>
                  <a:cs typeface="Times New Roman" pitchFamily="18" charset="0"/>
                </a:rPr>
                <a:t>(1) </a:t>
              </a:r>
              <a:r>
                <a:rPr lang="uz-Cyrl-UZ" sz="1400" dirty="0">
                  <a:latin typeface="Times New Roman" pitchFamily="18" charset="0"/>
                  <a:cs typeface="Times New Roman" pitchFamily="18" charset="0"/>
                </a:rPr>
                <a:t>, ...,  S</a:t>
              </a:r>
              <a:r>
                <a:rPr lang="uz-Cyrl-UZ" sz="1400" baseline="-25000" dirty="0">
                  <a:latin typeface="Times New Roman" pitchFamily="18" charset="0"/>
                  <a:cs typeface="Times New Roman" pitchFamily="18" charset="0"/>
                </a:rPr>
                <a:t>(n)</a:t>
              </a:r>
              <a:r>
                <a:rPr lang="uz-Cyrl-UZ" sz="1400" dirty="0">
                  <a:latin typeface="Times New Roman" pitchFamily="18" charset="0"/>
                  <a:cs typeface="Times New Roman" pitchFamily="18" charset="0"/>
                </a:rPr>
                <a:t>- боғлиқсиз тасодифий бинар катталиклар бўлса, у ҳолда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38" name="Picture 18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7800" y="2286000"/>
              <a:ext cx="2895600" cy="572252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pic>
        <p:sp>
          <p:nvSpPr>
            <p:cNvPr id="39" name="Прямоугольник 38"/>
            <p:cNvSpPr/>
            <p:nvPr/>
          </p:nvSpPr>
          <p:spPr>
            <a:xfrm>
              <a:off x="4953000" y="2971800"/>
              <a:ext cx="190500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uz-Cyrl-UZ" sz="14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бу ерда: i=1,…,n</a:t>
              </a:r>
              <a:r>
                <a:rPr lang="uz-Cyrl-UZ" sz="1400" dirty="0" smtClean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.</a:t>
              </a:r>
              <a:endParaRPr lang="ru-RU" sz="1400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Прямоугольник 40"/>
            <p:cNvSpPr/>
            <p:nvPr/>
          </p:nvSpPr>
          <p:spPr>
            <a:xfrm>
              <a:off x="4953000" y="4267200"/>
              <a:ext cx="3581400" cy="679450"/>
            </a:xfrm>
            <a:prstGeom prst="rect">
              <a:avLst/>
            </a:prstGeom>
            <a:ln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X(1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)=P</a:t>
              </a:r>
              <a:r>
                <a:rPr lang="en-US" sz="1400" baseline="-25000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, X(3)=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Y(1)=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+X(2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), </a:t>
              </a:r>
              <a:endParaRPr lang="en-US" sz="1400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Y(3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)=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+X(2) 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" name="Прямоугольник 7"/>
          <p:cNvSpPr/>
          <p:nvPr/>
        </p:nvSpPr>
        <p:spPr>
          <a:xfrm>
            <a:off x="6038850" y="4464050"/>
            <a:ext cx="1409700" cy="28575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181600" y="3587750"/>
            <a:ext cx="3124200" cy="2222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/>
          <p:cNvSpPr/>
          <p:nvPr/>
        </p:nvSpPr>
        <p:spPr>
          <a:xfrm>
            <a:off x="5181600" y="3810001"/>
            <a:ext cx="3124200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68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00417 -0.41713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-2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42" grpId="0" animBg="1"/>
      <p:bldP spid="42" grpId="1" animBg="1"/>
      <p:bldP spid="8" grpId="0" animBg="1"/>
      <p:bldP spid="5" grpId="0" animBg="1"/>
      <p:bldP spid="5" grpId="1" animBg="1"/>
      <p:bldP spid="40" grpId="0" animBg="1"/>
      <p:bldP spid="4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bg1"/>
          </a:solidFill>
          <a:ln w="53975">
            <a:solidFill>
              <a:schemeClr val="accent1">
                <a:lumMod val="50000"/>
                <a:alpha val="87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85800" y="381000"/>
            <a:ext cx="7772400" cy="533400"/>
          </a:xfrm>
          <a:prstGeom prst="rect">
            <a:avLst/>
          </a:prstGeom>
          <a:gradFill flip="none" rotWithShape="1">
            <a:gsLst>
              <a:gs pos="37000">
                <a:srgbClr val="C00000">
                  <a:alpha val="19000"/>
                  <a:lumMod val="0"/>
                  <a:lumOff val="100000"/>
                </a:srgbClr>
              </a:gs>
              <a:gs pos="100000">
                <a:schemeClr val="bg1"/>
              </a:gs>
            </a:gsLst>
            <a:lin ang="5400000" scaled="0"/>
            <a:tileRect r="-100000" b="-100000"/>
          </a:gradFill>
          <a:ln>
            <a:noFill/>
          </a:ln>
          <a:effectLst>
            <a:glow rad="63500">
              <a:srgbClr val="C00000">
                <a:alpha val="40000"/>
              </a:srgbClr>
            </a:glow>
            <a:innerShdw blurRad="114300">
              <a:srgbClr val="C00000"/>
            </a:innerShdw>
            <a:reflection blurRad="1270000" endPos="0" dist="1270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5- </a:t>
            </a: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раундли DES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алгоритми учун чизиқли </a:t>
            </a: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криптотаҳлил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усули қўлланилиши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886887"/>
              </p:ext>
            </p:extLst>
          </p:nvPr>
        </p:nvGraphicFramePr>
        <p:xfrm>
          <a:off x="1004886" y="2224467"/>
          <a:ext cx="7072314" cy="2456913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42912"/>
                <a:gridCol w="2613027"/>
                <a:gridCol w="690443"/>
                <a:gridCol w="1248055"/>
                <a:gridCol w="1120552"/>
                <a:gridCol w="957325"/>
              </a:tblGrid>
              <a:tr h="76928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 </a:t>
                      </a: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Тенламалар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S-</a:t>
                      </a: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блок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i,j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бирлик векторлар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р  эҳтимоллик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∆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четланиш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8358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X[17]</a:t>
                      </a:r>
                      <a:r>
                        <a:rPr lang="uz-Cyrl-UZ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Y[3,8,14,25]=K[26]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0100</a:t>
                      </a:r>
                      <a:r>
                        <a:rPr lang="uz-Cyrl-UZ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0,1111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12/64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5/8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7698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X[1,2,4,5] </a:t>
                      </a:r>
                      <a:r>
                        <a:rPr lang="uz-Cyrl-UZ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Y[17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]=K[2,3,5,6]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011011,0100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22/64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20/64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8358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X[3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</a:t>
                      </a:r>
                      <a:r>
                        <a:rPr lang="uz-Cyrl-UZ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Y[17]=K[4]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000100,0100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30/64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4/64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28358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X[17] </a:t>
                      </a:r>
                      <a:r>
                        <a:rPr lang="uz-Cyrl-UZ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Y[8,14,25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]=K[26]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010000,1110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42/64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20/64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uz-Cyrl-UZ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X[16,20] </a:t>
                      </a: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+Y[8,14,25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]=K[25,29]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ru-RU" sz="14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100010,1110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16/64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1/2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8" name="Прямоугольник 17"/>
          <p:cNvSpPr/>
          <p:nvPr/>
        </p:nvSpPr>
        <p:spPr>
          <a:xfrm>
            <a:off x="2705100" y="1538667"/>
            <a:ext cx="3733800" cy="5334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z-Cyrl-UZ" dirty="0" smtClean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М.Матсуи таклиф этган тенгламалар</a:t>
            </a:r>
            <a:endParaRPr lang="ru-RU" dirty="0">
              <a:solidFill>
                <a:schemeClr val="accent1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" name="Прямоугольник 81"/>
          <p:cNvSpPr/>
          <p:nvPr/>
        </p:nvSpPr>
        <p:spPr>
          <a:xfrm>
            <a:off x="2362200" y="1079304"/>
            <a:ext cx="3429000" cy="5473896"/>
          </a:xfrm>
          <a:prstGeom prst="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  <a:alpha val="71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u="sng" dirty="0"/>
          </a:p>
        </p:txBody>
      </p:sp>
      <p:grpSp>
        <p:nvGrpSpPr>
          <p:cNvPr id="84" name="Группа 83"/>
          <p:cNvGrpSpPr/>
          <p:nvPr/>
        </p:nvGrpSpPr>
        <p:grpSpPr>
          <a:xfrm>
            <a:off x="2574424" y="990600"/>
            <a:ext cx="3216776" cy="5638800"/>
            <a:chOff x="435858" y="838200"/>
            <a:chExt cx="3016825" cy="5791200"/>
          </a:xfrm>
        </p:grpSpPr>
        <p:grpSp>
          <p:nvGrpSpPr>
            <p:cNvPr id="98" name="Группа 97"/>
            <p:cNvGrpSpPr/>
            <p:nvPr/>
          </p:nvGrpSpPr>
          <p:grpSpPr>
            <a:xfrm>
              <a:off x="489524" y="838200"/>
              <a:ext cx="2963159" cy="5791200"/>
              <a:chOff x="260924" y="838200"/>
              <a:chExt cx="2963159" cy="5791200"/>
            </a:xfrm>
          </p:grpSpPr>
          <p:sp>
            <p:nvSpPr>
              <p:cNvPr id="100" name="Прямоугольник 99"/>
              <p:cNvSpPr/>
              <p:nvPr/>
            </p:nvSpPr>
            <p:spPr>
              <a:xfrm>
                <a:off x="2333366" y="83820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sz="1400" baseline="-25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Прямоугольник 100"/>
              <p:cNvSpPr/>
              <p:nvPr/>
            </p:nvSpPr>
            <p:spPr>
              <a:xfrm>
                <a:off x="260925" y="83820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sz="1400" baseline="-25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endPara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2" name="Прямоугольник 101"/>
              <p:cNvSpPr/>
              <p:nvPr/>
            </p:nvSpPr>
            <p:spPr>
              <a:xfrm>
                <a:off x="260924" y="617220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1400" baseline="-25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endPara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3" name="Прямоугольник 102"/>
              <p:cNvSpPr/>
              <p:nvPr/>
            </p:nvSpPr>
            <p:spPr>
              <a:xfrm>
                <a:off x="2333366" y="617220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1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4" name="Прямоугольник 103"/>
              <p:cNvSpPr/>
              <p:nvPr/>
            </p:nvSpPr>
            <p:spPr>
              <a:xfrm>
                <a:off x="2690683" y="114300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400" baseline="-25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5" name="Прямоугольник 104"/>
              <p:cNvSpPr/>
              <p:nvPr/>
            </p:nvSpPr>
            <p:spPr>
              <a:xfrm>
                <a:off x="2690683" y="228600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Прямоугольник 105"/>
              <p:cNvSpPr/>
              <p:nvPr/>
            </p:nvSpPr>
            <p:spPr>
              <a:xfrm>
                <a:off x="2690683" y="335280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400" baseline="-25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endPara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7" name="Прямоугольник 106"/>
              <p:cNvSpPr/>
              <p:nvPr/>
            </p:nvSpPr>
            <p:spPr>
              <a:xfrm>
                <a:off x="2690683" y="449580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400" baseline="-25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4</a:t>
                </a:r>
                <a:endPara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8" name="Прямоугольник 107"/>
              <p:cNvSpPr/>
              <p:nvPr/>
            </p:nvSpPr>
            <p:spPr>
              <a:xfrm>
                <a:off x="2690683" y="5638800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400" baseline="-250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5</a:t>
                </a:r>
                <a:endParaRPr lang="ru-RU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pic>
          <p:nvPicPr>
            <p:cNvPr id="99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858" y="1143000"/>
              <a:ext cx="2730971" cy="5257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2" name="Группа 1"/>
          <p:cNvGrpSpPr/>
          <p:nvPr/>
        </p:nvGrpSpPr>
        <p:grpSpPr>
          <a:xfrm>
            <a:off x="2743199" y="1219200"/>
            <a:ext cx="2164521" cy="4879777"/>
            <a:chOff x="2743199" y="1219200"/>
            <a:chExt cx="2164521" cy="4879777"/>
          </a:xfrm>
        </p:grpSpPr>
        <p:grpSp>
          <p:nvGrpSpPr>
            <p:cNvPr id="85" name="Группа 84"/>
            <p:cNvGrpSpPr/>
            <p:nvPr/>
          </p:nvGrpSpPr>
          <p:grpSpPr>
            <a:xfrm>
              <a:off x="2743199" y="1219200"/>
              <a:ext cx="2164521" cy="4879777"/>
              <a:chOff x="5105399" y="1219200"/>
              <a:chExt cx="2164521" cy="4879777"/>
            </a:xfrm>
          </p:grpSpPr>
          <p:sp>
            <p:nvSpPr>
              <p:cNvPr id="86" name="Прямоугольник 85"/>
              <p:cNvSpPr/>
              <p:nvPr/>
            </p:nvSpPr>
            <p:spPr>
              <a:xfrm>
                <a:off x="6179379" y="1219200"/>
                <a:ext cx="41870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sz="14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7" name="Прямоугольник 86"/>
              <p:cNvSpPr/>
              <p:nvPr/>
            </p:nvSpPr>
            <p:spPr>
              <a:xfrm>
                <a:off x="6484179" y="1524000"/>
                <a:ext cx="37382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8" name="Прямоугольник 87"/>
              <p:cNvSpPr/>
              <p:nvPr/>
            </p:nvSpPr>
            <p:spPr>
              <a:xfrm>
                <a:off x="5198397" y="1524000"/>
                <a:ext cx="37382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1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9" name="Прямоугольник 88"/>
              <p:cNvSpPr/>
              <p:nvPr/>
            </p:nvSpPr>
            <p:spPr>
              <a:xfrm>
                <a:off x="5181599" y="2587823"/>
                <a:ext cx="390618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0" name="Прямоугольник 89"/>
              <p:cNvSpPr/>
              <p:nvPr/>
            </p:nvSpPr>
            <p:spPr>
              <a:xfrm>
                <a:off x="6210299" y="2286000"/>
                <a:ext cx="37382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1" name="Прямоугольник 90"/>
              <p:cNvSpPr/>
              <p:nvPr/>
            </p:nvSpPr>
            <p:spPr>
              <a:xfrm>
                <a:off x="6515099" y="2590800"/>
                <a:ext cx="37382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2" name="Прямоугольник 91"/>
              <p:cNvSpPr/>
              <p:nvPr/>
            </p:nvSpPr>
            <p:spPr>
              <a:xfrm>
                <a:off x="5105399" y="4721423"/>
                <a:ext cx="520192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4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3" name="Прямоугольник 92"/>
              <p:cNvSpPr/>
              <p:nvPr/>
            </p:nvSpPr>
            <p:spPr>
              <a:xfrm>
                <a:off x="6210299" y="4419600"/>
                <a:ext cx="37382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4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4" name="Прямоугольник 93"/>
              <p:cNvSpPr/>
              <p:nvPr/>
            </p:nvSpPr>
            <p:spPr>
              <a:xfrm>
                <a:off x="6896100" y="4724400"/>
                <a:ext cx="37382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4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5" name="Прямоугольник 94"/>
              <p:cNvSpPr/>
              <p:nvPr/>
            </p:nvSpPr>
            <p:spPr>
              <a:xfrm>
                <a:off x="6255579" y="5486400"/>
                <a:ext cx="37382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5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6" name="Прямоугольник 95"/>
              <p:cNvSpPr/>
              <p:nvPr/>
            </p:nvSpPr>
            <p:spPr>
              <a:xfrm>
                <a:off x="6484179" y="5791200"/>
                <a:ext cx="37382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X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5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7" name="Прямоугольник 96"/>
              <p:cNvSpPr/>
              <p:nvPr/>
            </p:nvSpPr>
            <p:spPr>
              <a:xfrm>
                <a:off x="5160297" y="5791200"/>
                <a:ext cx="37382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400" dirty="0" smtClean="0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en-US" sz="1400" baseline="-25000" dirty="0" smtClean="0">
                    <a:latin typeface="Times New Roman" pitchFamily="18" charset="0"/>
                    <a:cs typeface="Times New Roman" pitchFamily="18" charset="0"/>
                  </a:rPr>
                  <a:t>5</a:t>
                </a:r>
                <a:endParaRPr lang="ru-RU" sz="1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109" name="Прямоугольник 108"/>
            <p:cNvSpPr/>
            <p:nvPr/>
          </p:nvSpPr>
          <p:spPr>
            <a:xfrm>
              <a:off x="2819399" y="3651646"/>
              <a:ext cx="39061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sz="1400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Прямоугольник 109"/>
            <p:cNvSpPr/>
            <p:nvPr/>
          </p:nvSpPr>
          <p:spPr>
            <a:xfrm>
              <a:off x="3848099" y="3349823"/>
              <a:ext cx="37382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Прямоугольник 110"/>
            <p:cNvSpPr/>
            <p:nvPr/>
          </p:nvSpPr>
          <p:spPr>
            <a:xfrm>
              <a:off x="4152899" y="3654623"/>
              <a:ext cx="37382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1400" baseline="-25000" dirty="0">
                  <a:latin typeface="Times New Roman" pitchFamily="18" charset="0"/>
                  <a:cs typeface="Times New Roman" pitchFamily="18" charset="0"/>
                </a:rPr>
                <a:t>3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4097" name="Группа 4096"/>
          <p:cNvGrpSpPr/>
          <p:nvPr/>
        </p:nvGrpSpPr>
        <p:grpSpPr>
          <a:xfrm>
            <a:off x="2924582" y="1292423"/>
            <a:ext cx="1952218" cy="4879777"/>
            <a:chOff x="5624054" y="995060"/>
            <a:chExt cx="1904995" cy="4879777"/>
          </a:xfrm>
        </p:grpSpPr>
        <p:sp>
          <p:nvSpPr>
            <p:cNvPr id="21" name="Прямоугольник 20"/>
            <p:cNvSpPr/>
            <p:nvPr/>
          </p:nvSpPr>
          <p:spPr>
            <a:xfrm>
              <a:off x="6637435" y="995060"/>
              <a:ext cx="66198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2,3,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,6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2" name="Прямоугольник 21"/>
            <p:cNvSpPr/>
            <p:nvPr/>
          </p:nvSpPr>
          <p:spPr>
            <a:xfrm>
              <a:off x="6850658" y="1299860"/>
              <a:ext cx="67839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1,2,4,5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3" name="Прямоугольник 22"/>
            <p:cNvSpPr/>
            <p:nvPr/>
          </p:nvSpPr>
          <p:spPr>
            <a:xfrm>
              <a:off x="5717046" y="1299860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17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4" name="Прямоугольник 23"/>
            <p:cNvSpPr/>
            <p:nvPr/>
          </p:nvSpPr>
          <p:spPr>
            <a:xfrm>
              <a:off x="5624054" y="2119694"/>
              <a:ext cx="762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3,8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,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14,25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5" name="Прямоугольник 24"/>
            <p:cNvSpPr/>
            <p:nvPr/>
          </p:nvSpPr>
          <p:spPr>
            <a:xfrm>
              <a:off x="6728954" y="2061860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26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7033753" y="2366660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17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Прямоугольник 42"/>
            <p:cNvSpPr/>
            <p:nvPr/>
          </p:nvSpPr>
          <p:spPr>
            <a:xfrm>
              <a:off x="5624054" y="4253294"/>
              <a:ext cx="762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3,8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,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14,25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Прямоугольник 43"/>
            <p:cNvSpPr/>
            <p:nvPr/>
          </p:nvSpPr>
          <p:spPr>
            <a:xfrm>
              <a:off x="6728955" y="4195460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26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Прямоугольник 44"/>
            <p:cNvSpPr/>
            <p:nvPr/>
          </p:nvSpPr>
          <p:spPr>
            <a:xfrm>
              <a:off x="7057883" y="4495794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17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Прямоугольник 45"/>
            <p:cNvSpPr/>
            <p:nvPr/>
          </p:nvSpPr>
          <p:spPr>
            <a:xfrm>
              <a:off x="6599342" y="5262260"/>
              <a:ext cx="66198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2,3,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,6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Прямоугольник 46"/>
            <p:cNvSpPr/>
            <p:nvPr/>
          </p:nvSpPr>
          <p:spPr>
            <a:xfrm>
              <a:off x="6812558" y="5567060"/>
              <a:ext cx="67839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1,2,4,5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Прямоугольник 47"/>
            <p:cNvSpPr/>
            <p:nvPr/>
          </p:nvSpPr>
          <p:spPr>
            <a:xfrm>
              <a:off x="5678952" y="5567060"/>
              <a:ext cx="36420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17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5715000" y="1378745"/>
            <a:ext cx="2438400" cy="4793455"/>
            <a:chOff x="3784600" y="1249363"/>
            <a:chExt cx="2438400" cy="4793455"/>
          </a:xfrm>
        </p:grpSpPr>
        <p:sp>
          <p:nvSpPr>
            <p:cNvPr id="50" name="Rectangle 7"/>
            <p:cNvSpPr>
              <a:spLocks noChangeArrowheads="1"/>
            </p:cNvSpPr>
            <p:nvPr/>
          </p:nvSpPr>
          <p:spPr bwMode="auto">
            <a:xfrm>
              <a:off x="3784600" y="1249363"/>
              <a:ext cx="2438400" cy="35083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X[1,2,4,5]</a:t>
              </a:r>
              <a:r>
                <a:rPr kumimoji="0" lang="uz-Cyrl-UZ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Y[17]=K[2,3,5,6]</a:t>
              </a:r>
              <a:endParaRPr kumimoji="0" lang="uz-Cyrl-UZ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Rectangle 7"/>
            <p:cNvSpPr>
              <a:spLocks noChangeArrowheads="1"/>
            </p:cNvSpPr>
            <p:nvPr/>
          </p:nvSpPr>
          <p:spPr bwMode="auto">
            <a:xfrm>
              <a:off x="3784600" y="5691981"/>
              <a:ext cx="2438400" cy="35083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X[1,2,4,5]</a:t>
              </a:r>
              <a:r>
                <a:rPr kumimoji="0" lang="uz-Cyrl-UZ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Y[17]=K[2,3,5,6]</a:t>
              </a:r>
              <a:endParaRPr kumimoji="0" lang="uz-Cyrl-UZ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Rectangle 8"/>
            <p:cNvSpPr>
              <a:spLocks noChangeArrowheads="1"/>
            </p:cNvSpPr>
            <p:nvPr/>
          </p:nvSpPr>
          <p:spPr bwMode="auto">
            <a:xfrm>
              <a:off x="3784600" y="4572000"/>
              <a:ext cx="2438400" cy="3508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X[17]</a:t>
              </a: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+Y[3,8,14,25]=K[26]</a:t>
              </a:r>
              <a:endPara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Rectangle 8"/>
            <p:cNvSpPr>
              <a:spLocks noChangeArrowheads="1"/>
            </p:cNvSpPr>
            <p:nvPr/>
          </p:nvSpPr>
          <p:spPr bwMode="auto">
            <a:xfrm>
              <a:off x="3784600" y="2362200"/>
              <a:ext cx="2438400" cy="350838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X[17]</a:t>
              </a:r>
              <a:r>
                <a:rPr kumimoji="0" lang="ru-RU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0" 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Times New Roman" pitchFamily="18" charset="0"/>
                </a:rPr>
                <a:t>+Y[3,8,14,25]=K[26]</a:t>
              </a:r>
              <a:endPara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4004089" y="1292424"/>
            <a:ext cx="637386" cy="24624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Прямоугольник 55"/>
          <p:cNvSpPr/>
          <p:nvPr/>
        </p:nvSpPr>
        <p:spPr>
          <a:xfrm>
            <a:off x="7363614" y="1444824"/>
            <a:ext cx="637386" cy="24624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4267199" y="1600200"/>
            <a:ext cx="570557" cy="3048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 56"/>
          <p:cNvSpPr/>
          <p:nvPr/>
        </p:nvSpPr>
        <p:spPr>
          <a:xfrm>
            <a:off x="6019800" y="1371600"/>
            <a:ext cx="570557" cy="3048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рямоугольник 57"/>
          <p:cNvSpPr/>
          <p:nvPr/>
        </p:nvSpPr>
        <p:spPr>
          <a:xfrm>
            <a:off x="3026924" y="1597223"/>
            <a:ext cx="366186" cy="3048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6872814" y="1415546"/>
            <a:ext cx="289986" cy="26085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802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7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0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82" grpId="0" animBg="1"/>
      <p:bldP spid="3" grpId="0" animBg="1"/>
      <p:bldP spid="3" grpId="1" animBg="1"/>
      <p:bldP spid="56" grpId="0" animBg="1"/>
      <p:bldP spid="56" grpId="1" animBg="1"/>
      <p:bldP spid="4" grpId="0" animBg="1"/>
      <p:bldP spid="4" grpId="1" animBg="1"/>
      <p:bldP spid="57" grpId="0" animBg="1"/>
      <p:bldP spid="57" grpId="1" animBg="1"/>
      <p:bldP spid="58" grpId="0" animBg="1"/>
      <p:bldP spid="7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/>
          <p:nvPr/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bg1"/>
          </a:solidFill>
          <a:ln w="53975">
            <a:solidFill>
              <a:schemeClr val="accent1">
                <a:lumMod val="50000"/>
                <a:alpha val="87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685800" y="381000"/>
            <a:ext cx="7772400" cy="533400"/>
          </a:xfrm>
          <a:prstGeom prst="rect">
            <a:avLst/>
          </a:prstGeom>
          <a:gradFill flip="none" rotWithShape="1">
            <a:gsLst>
              <a:gs pos="37000">
                <a:srgbClr val="C00000">
                  <a:alpha val="19000"/>
                  <a:lumMod val="0"/>
                  <a:lumOff val="100000"/>
                </a:srgbClr>
              </a:gs>
              <a:gs pos="100000">
                <a:schemeClr val="bg1"/>
              </a:gs>
            </a:gsLst>
            <a:lin ang="5400000" scaled="0"/>
            <a:tileRect r="-100000" b="-100000"/>
          </a:gradFill>
          <a:ln>
            <a:noFill/>
          </a:ln>
          <a:effectLst>
            <a:glow rad="63500">
              <a:srgbClr val="C00000">
                <a:alpha val="40000"/>
              </a:srgbClr>
            </a:glow>
            <a:innerShdw blurRad="114300">
              <a:srgbClr val="C00000"/>
            </a:innerShdw>
            <a:reflection blurRad="1270000" endPos="0" dist="1270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5- </a:t>
            </a:r>
            <a:r>
              <a:rPr lang="uz-Cyrl-UZ" dirty="0" smtClean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раундли </a:t>
            </a:r>
            <a:r>
              <a:rPr lang="uz-Cyrl-UZ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uz-Cyrl-UZ" dirty="0" smtClean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алгоритми  апроксимация тенгламаси</a:t>
            </a:r>
            <a:endParaRPr lang="ru-RU" dirty="0">
              <a:solidFill>
                <a:schemeClr val="accent1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09600" y="1219200"/>
            <a:ext cx="7924800" cy="5257800"/>
          </a:xfrm>
          <a:prstGeom prst="rect">
            <a:avLst/>
          </a:prstGeom>
          <a:solidFill>
            <a:schemeClr val="bg1"/>
          </a:solidFill>
          <a:ln w="57150"/>
          <a:effectLst>
            <a:glow rad="228600">
              <a:schemeClr val="accent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/>
          <p:cNvGrpSpPr/>
          <p:nvPr/>
        </p:nvGrpSpPr>
        <p:grpSpPr>
          <a:xfrm>
            <a:off x="2682240" y="1577182"/>
            <a:ext cx="3779520" cy="404018"/>
            <a:chOff x="4876800" y="1500982"/>
            <a:chExt cx="2362200" cy="404018"/>
          </a:xfrm>
        </p:grpSpPr>
        <p:sp>
          <p:nvSpPr>
            <p:cNvPr id="8" name="Прямоугольник 7"/>
            <p:cNvSpPr/>
            <p:nvPr/>
          </p:nvSpPr>
          <p:spPr>
            <a:xfrm>
              <a:off x="5676900" y="1500982"/>
              <a:ext cx="762000" cy="404018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endParaRPr lang="ru-RU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9" name="Прямая со стрелкой 8"/>
            <p:cNvCxnSpPr>
              <a:endCxn id="8" idx="1"/>
            </p:cNvCxnSpPr>
            <p:nvPr/>
          </p:nvCxnSpPr>
          <p:spPr>
            <a:xfrm>
              <a:off x="4876800" y="1702991"/>
              <a:ext cx="8001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 стрелкой 9"/>
            <p:cNvCxnSpPr/>
            <p:nvPr/>
          </p:nvCxnSpPr>
          <p:spPr>
            <a:xfrm>
              <a:off x="6438900" y="1702991"/>
              <a:ext cx="8001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Прямоугольник 6"/>
          <p:cNvSpPr/>
          <p:nvPr/>
        </p:nvSpPr>
        <p:spPr>
          <a:xfrm>
            <a:off x="873760" y="2133600"/>
            <a:ext cx="7396480" cy="1524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z-Cyrl-UZ" sz="1400" dirty="0" smtClean="0">
                <a:latin typeface="Times New Roman" pitchFamily="18" charset="0"/>
                <a:cs typeface="Times New Roman" pitchFamily="18" charset="0"/>
              </a:rPr>
              <a:t>5-раунд  учун умуммий тенглама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+Y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+Y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+Y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+Y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+X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+Y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=K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+K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uz-Cyrl-UZ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uz-Cyrl-UZ" sz="1400" dirty="0" smtClean="0"/>
          </a:p>
          <a:p>
            <a:pPr algn="ctr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Y1=P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sz="1400" baseline="-250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=P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=X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=X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4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endParaRPr lang="uz-Cyrl-UZ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1066800" y="4319826"/>
            <a:ext cx="70104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[17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]+P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[1,2,4,5]+X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[17]+P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[3,8,14,25]+X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[3,8,14,25]+X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[17]+X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[3,8,14,25]+ +C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[3,8,14,25]+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[17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]+X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[17]+C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[17]+C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[1,2,4,5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]=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=K</a:t>
            </a:r>
            <a:r>
              <a:rPr lang="en-US" sz="16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[2,3,5,6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]+K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[26]+K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[26]+K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[2,3,5,6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]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1524000" y="5282625"/>
            <a:ext cx="6096000" cy="584775"/>
          </a:xfrm>
          <a:prstGeom prst="rect">
            <a:avLst/>
          </a:prstGeom>
          <a:ln w="25400">
            <a:solidFill>
              <a:srgbClr val="AC0808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[17]</a:t>
            </a:r>
            <a:r>
              <a:rPr lang="uz-Cyrl-UZ" sz="16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[1,2,4,5]</a:t>
            </a:r>
            <a:r>
              <a:rPr lang="uz-Cyrl-UZ" sz="16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[3,8,14,25]</a:t>
            </a:r>
            <a:r>
              <a:rPr lang="uz-Cyrl-UZ" sz="16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[3,8,14,25]</a:t>
            </a:r>
            <a:r>
              <a:rPr lang="uz-Cyrl-UZ" sz="16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[17]</a:t>
            </a:r>
            <a:r>
              <a:rPr lang="uz-Cyrl-UZ" sz="16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[1,2,4,5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]=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[2,3,5,6]</a:t>
            </a:r>
            <a:r>
              <a:rPr lang="uz-Cyrl-UZ" sz="16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[26]</a:t>
            </a:r>
            <a:r>
              <a:rPr lang="uz-Cyrl-UZ" sz="16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[26]</a:t>
            </a:r>
            <a:r>
              <a:rPr lang="uz-Cyrl-UZ" sz="1600" dirty="0" smtClean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600" baseline="-25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[2,3,5,6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]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1866900" y="3657600"/>
            <a:ext cx="5410200" cy="584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У ҳолда </a:t>
            </a:r>
            <a:r>
              <a:rPr lang="uz-Cyrl-UZ" sz="1600" dirty="0" smtClean="0">
                <a:latin typeface="Times New Roman" pitchFamily="18" charset="0"/>
                <a:cs typeface="Times New Roman" pitchFamily="18" charset="0"/>
              </a:rPr>
              <a:t>юқоридаги расмда берилган очиқ ва шифр матн битларига </a:t>
            </a:r>
            <a:r>
              <a:rPr lang="uz-Cyrl-UZ" sz="1600" dirty="0">
                <a:latin typeface="Times New Roman" pitchFamily="18" charset="0"/>
                <a:cs typeface="Times New Roman" pitchFamily="18" charset="0"/>
              </a:rPr>
              <a:t>нисбатан қуйидагига эга бўламиз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124200" y="1227533"/>
            <a:ext cx="457200" cy="47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baseline="-25000" dirty="0" smtClean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ru-RU" dirty="0">
              <a:solidFill>
                <a:schemeClr val="accent1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5638800" y="1227533"/>
            <a:ext cx="457200" cy="4754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 smtClean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ru-RU" dirty="0">
              <a:solidFill>
                <a:schemeClr val="accent1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Группа 1"/>
          <p:cNvGrpSpPr/>
          <p:nvPr/>
        </p:nvGrpSpPr>
        <p:grpSpPr>
          <a:xfrm>
            <a:off x="990600" y="1840468"/>
            <a:ext cx="7086600" cy="3937276"/>
            <a:chOff x="990600" y="1840468"/>
            <a:chExt cx="7086600" cy="3937276"/>
          </a:xfrm>
        </p:grpSpPr>
        <p:pic>
          <p:nvPicPr>
            <p:cNvPr id="24" name="Picture 1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400" y="4315152"/>
              <a:ext cx="6553200" cy="33304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pic>
        <p:sp>
          <p:nvSpPr>
            <p:cNvPr id="25" name="Прямоугольник 24"/>
            <p:cNvSpPr/>
            <p:nvPr/>
          </p:nvSpPr>
          <p:spPr>
            <a:xfrm>
              <a:off x="990600" y="3440669"/>
              <a:ext cx="7010400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uz-Cyrl-UZ" dirty="0">
                  <a:latin typeface="Times New Roman" pitchFamily="18" charset="0"/>
                  <a:cs typeface="Times New Roman" pitchFamily="18" charset="0"/>
                </a:rPr>
                <a:t>5.1 Леммага кўра </a:t>
              </a:r>
              <a:r>
                <a:rPr lang="uz-Cyrl-UZ" dirty="0" smtClean="0">
                  <a:latin typeface="Times New Roman" pitchFamily="18" charset="0"/>
                  <a:cs typeface="Times New Roman" pitchFamily="18" charset="0"/>
                </a:rPr>
                <a:t>тенгламанинг </a:t>
              </a:r>
              <a:r>
                <a:rPr lang="uz-Cyrl-UZ" dirty="0">
                  <a:latin typeface="Times New Roman" pitchFamily="18" charset="0"/>
                  <a:cs typeface="Times New Roman" pitchFamily="18" charset="0"/>
                </a:rPr>
                <a:t>четланиш </a:t>
              </a:r>
              <a:r>
                <a:rPr lang="uz-Cyrl-UZ" dirty="0" smtClean="0">
                  <a:latin typeface="Times New Roman" pitchFamily="18" charset="0"/>
                  <a:cs typeface="Times New Roman" pitchFamily="18" charset="0"/>
                </a:rPr>
                <a:t>қиймати</a:t>
              </a:r>
            </a:p>
            <a:p>
              <a:r>
                <a:rPr lang="uz-Cyrl-UZ" dirty="0" smtClean="0">
                  <a:latin typeface="Times New Roman" pitchFamily="18" charset="0"/>
                  <a:cs typeface="Times New Roman" pitchFamily="18" charset="0"/>
                </a:rPr>
                <a:t>қуйидагича </a:t>
              </a:r>
              <a:endParaRPr lang="ru-RU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Прямоугольник 25"/>
            <p:cNvSpPr/>
            <p:nvPr/>
          </p:nvSpPr>
          <p:spPr>
            <a:xfrm>
              <a:off x="1066800" y="4840069"/>
              <a:ext cx="70104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uz-Cyrl-UZ" dirty="0" smtClean="0">
                  <a:latin typeface="Times New Roman" pitchFamily="18" charset="0"/>
                  <a:cs typeface="Times New Roman" pitchFamily="18" charset="0"/>
                </a:rPr>
                <a:t>мос ҳолда тенглама қуйидаги эҳтимоллик қийматига эга бўлади</a:t>
              </a:r>
              <a:endParaRPr lang="ru-RU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27" name="Picture 2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5366506"/>
              <a:ext cx="2286000" cy="411238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pic>
        <p:sp>
          <p:nvSpPr>
            <p:cNvPr id="28" name="Прямоугольник 27"/>
            <p:cNvSpPr/>
            <p:nvPr/>
          </p:nvSpPr>
          <p:spPr>
            <a:xfrm>
              <a:off x="1453243" y="1840468"/>
              <a:ext cx="5889171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uz-Cyrl-UZ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5- раундли DES алгоритми  </a:t>
              </a:r>
              <a:r>
                <a:rPr lang="uz-Cyrl-UZ" dirty="0" smtClean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апроксимация </a:t>
              </a:r>
              <a:r>
                <a:rPr lang="uz-Cyrl-UZ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тенгламаси </a:t>
              </a:r>
              <a:endParaRPr lang="ru-RU" dirty="0">
                <a:solidFill>
                  <a:srgbClr val="C00000"/>
                </a:solidFill>
              </a:endParaRPr>
            </a:p>
          </p:txBody>
        </p:sp>
      </p:grpSp>
      <p:sp>
        <p:nvSpPr>
          <p:cNvPr id="3" name="Прямоугольник 2"/>
          <p:cNvSpPr/>
          <p:nvPr/>
        </p:nvSpPr>
        <p:spPr>
          <a:xfrm>
            <a:off x="3352800" y="5366506"/>
            <a:ext cx="2286000" cy="41123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2438400" y="2590800"/>
            <a:ext cx="4267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4114800" y="2728914"/>
            <a:ext cx="914400" cy="91440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744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0 -0.40185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0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7" grpId="1"/>
      <p:bldP spid="13" grpId="0"/>
      <p:bldP spid="13" grpId="1"/>
      <p:bldP spid="32" grpId="0" animBg="1"/>
      <p:bldP spid="32" grpId="1" animBg="1"/>
      <p:bldP spid="34" grpId="0" animBg="1"/>
      <p:bldP spid="34" grpId="1" animBg="1"/>
      <p:bldP spid="11" grpId="0"/>
      <p:bldP spid="11" grpId="1"/>
      <p:bldP spid="12" grpId="0"/>
      <p:bldP spid="12" grpId="1"/>
      <p:bldP spid="3" grpId="0" animBg="1"/>
      <p:bldP spid="21" grpId="0" animBg="1"/>
      <p:bldP spid="21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Прямоугольник 43"/>
          <p:cNvSpPr/>
          <p:nvPr/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bg1"/>
          </a:solidFill>
          <a:ln w="53975">
            <a:solidFill>
              <a:schemeClr val="accent1">
                <a:lumMod val="50000"/>
                <a:alpha val="87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/>
          <p:cNvSpPr/>
          <p:nvPr/>
        </p:nvSpPr>
        <p:spPr>
          <a:xfrm>
            <a:off x="685800" y="381000"/>
            <a:ext cx="7772400" cy="533400"/>
          </a:xfrm>
          <a:prstGeom prst="rect">
            <a:avLst/>
          </a:prstGeom>
          <a:gradFill flip="none" rotWithShape="1">
            <a:gsLst>
              <a:gs pos="37000">
                <a:srgbClr val="C00000">
                  <a:alpha val="19000"/>
                  <a:lumMod val="0"/>
                  <a:lumOff val="100000"/>
                </a:srgbClr>
              </a:gs>
              <a:gs pos="100000">
                <a:schemeClr val="bg1"/>
              </a:gs>
            </a:gsLst>
            <a:lin ang="5400000" scaled="0"/>
            <a:tileRect r="-100000" b="-100000"/>
          </a:gradFill>
          <a:ln>
            <a:noFill/>
          </a:ln>
          <a:effectLst>
            <a:glow rad="63500">
              <a:srgbClr val="C00000">
                <a:alpha val="40000"/>
              </a:srgbClr>
            </a:glow>
            <a:innerShdw blurRad="114300">
              <a:srgbClr val="C00000"/>
            </a:innerShdw>
            <a:reflection blurRad="1270000" endPos="0" dist="1270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dirty="0" smtClean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7</a:t>
            </a:r>
            <a:r>
              <a:rPr lang="uz-Cyrl-UZ" dirty="0" smtClean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uz-Cyrl-UZ" dirty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раундли DES алгоритми  </a:t>
            </a:r>
            <a:r>
              <a:rPr lang="uz-Cyrl-UZ" dirty="0" smtClean="0">
                <a:solidFill>
                  <a:schemeClr val="accent1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апроксимация тенгламаси</a:t>
            </a:r>
            <a:endParaRPr lang="ru-RU" dirty="0">
              <a:solidFill>
                <a:schemeClr val="accent1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533400" y="990600"/>
            <a:ext cx="3581400" cy="5638800"/>
            <a:chOff x="533400" y="990600"/>
            <a:chExt cx="3581400" cy="5638800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533400" y="990600"/>
              <a:ext cx="3581400" cy="56388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1">
                  <a:lumMod val="50000"/>
                  <a:alpha val="71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u="sng" dirty="0"/>
            </a:p>
          </p:txBody>
        </p:sp>
        <p:grpSp>
          <p:nvGrpSpPr>
            <p:cNvPr id="4" name="Группа 3"/>
            <p:cNvGrpSpPr/>
            <p:nvPr/>
          </p:nvGrpSpPr>
          <p:grpSpPr>
            <a:xfrm>
              <a:off x="736857" y="990600"/>
              <a:ext cx="2996943" cy="5638800"/>
              <a:chOff x="736857" y="990600"/>
              <a:chExt cx="2996943" cy="5638800"/>
            </a:xfrm>
          </p:grpSpPr>
          <p:grpSp>
            <p:nvGrpSpPr>
              <p:cNvPr id="7173" name="Группа 7172"/>
              <p:cNvGrpSpPr/>
              <p:nvPr/>
            </p:nvGrpSpPr>
            <p:grpSpPr>
              <a:xfrm>
                <a:off x="736857" y="990600"/>
                <a:ext cx="2687055" cy="5486400"/>
                <a:chOff x="736857" y="990600"/>
                <a:chExt cx="2687055" cy="5486400"/>
              </a:xfrm>
            </p:grpSpPr>
            <p:pic>
              <p:nvPicPr>
                <p:cNvPr id="7171" name="Picture 3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36857" y="1063258"/>
                  <a:ext cx="2687055" cy="541374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7169" name="Группа 7168"/>
                <p:cNvGrpSpPr/>
                <p:nvPr/>
              </p:nvGrpSpPr>
              <p:grpSpPr>
                <a:xfrm>
                  <a:off x="1066800" y="990600"/>
                  <a:ext cx="1828800" cy="5334000"/>
                  <a:chOff x="1066800" y="990600"/>
                  <a:chExt cx="1828800" cy="5334000"/>
                </a:xfrm>
              </p:grpSpPr>
              <p:sp>
                <p:nvSpPr>
                  <p:cNvPr id="7168" name="Прямоугольник 7167"/>
                  <p:cNvSpPr/>
                  <p:nvPr/>
                </p:nvSpPr>
                <p:spPr>
                  <a:xfrm>
                    <a:off x="1981200" y="9906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5,29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37" name="Прямоугольник 36"/>
                  <p:cNvSpPr/>
                  <p:nvPr/>
                </p:nvSpPr>
                <p:spPr>
                  <a:xfrm>
                    <a:off x="2362200" y="1219200"/>
                    <a:ext cx="5334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16,20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40" name="Прямоугольник 39"/>
                  <p:cNvSpPr/>
                  <p:nvPr/>
                </p:nvSpPr>
                <p:spPr>
                  <a:xfrm>
                    <a:off x="1066800" y="1066800"/>
                    <a:ext cx="533400" cy="38454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8,</a:t>
                    </a:r>
                  </a:p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14,25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3" name="Прямоугольник 52"/>
                  <p:cNvSpPr/>
                  <p:nvPr/>
                </p:nvSpPr>
                <p:spPr>
                  <a:xfrm>
                    <a:off x="1066800" y="2590800"/>
                    <a:ext cx="533400" cy="38454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8,</a:t>
                    </a:r>
                  </a:p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14,25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4" name="Прямоугольник 53"/>
                  <p:cNvSpPr/>
                  <p:nvPr/>
                </p:nvSpPr>
                <p:spPr>
                  <a:xfrm>
                    <a:off x="1981200" y="25146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16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5" name="Прямоугольник 54"/>
                  <p:cNvSpPr/>
                  <p:nvPr/>
                </p:nvSpPr>
                <p:spPr>
                  <a:xfrm>
                    <a:off x="2362200" y="2743200"/>
                    <a:ext cx="5334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17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6" name="Прямоугольник 55"/>
                  <p:cNvSpPr/>
                  <p:nvPr/>
                </p:nvSpPr>
                <p:spPr>
                  <a:xfrm>
                    <a:off x="1981200" y="3352800"/>
                    <a:ext cx="5334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4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7" name="Прямоугольник 56"/>
                  <p:cNvSpPr/>
                  <p:nvPr/>
                </p:nvSpPr>
                <p:spPr>
                  <a:xfrm>
                    <a:off x="2362200" y="3581400"/>
                    <a:ext cx="5334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3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8" name="Прямоугольник 57"/>
                  <p:cNvSpPr/>
                  <p:nvPr/>
                </p:nvSpPr>
                <p:spPr>
                  <a:xfrm>
                    <a:off x="1066800" y="3505200"/>
                    <a:ext cx="5334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17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59" name="Прямоугольник 58"/>
                  <p:cNvSpPr/>
                  <p:nvPr/>
                </p:nvSpPr>
                <p:spPr>
                  <a:xfrm>
                    <a:off x="1981200" y="41148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16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0" name="Прямоугольник 59"/>
                  <p:cNvSpPr/>
                  <p:nvPr/>
                </p:nvSpPr>
                <p:spPr>
                  <a:xfrm>
                    <a:off x="2362200" y="4419600"/>
                    <a:ext cx="533400" cy="228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17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1" name="Прямоугольник 60"/>
                  <p:cNvSpPr/>
                  <p:nvPr/>
                </p:nvSpPr>
                <p:spPr>
                  <a:xfrm>
                    <a:off x="1981200" y="5791200"/>
                    <a:ext cx="4572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16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2" name="Прямоугольник 61"/>
                  <p:cNvSpPr/>
                  <p:nvPr/>
                </p:nvSpPr>
                <p:spPr>
                  <a:xfrm>
                    <a:off x="2362200" y="6019800"/>
                    <a:ext cx="533400" cy="3048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17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3" name="Прямоугольник 62"/>
                  <p:cNvSpPr/>
                  <p:nvPr/>
                </p:nvSpPr>
                <p:spPr>
                  <a:xfrm>
                    <a:off x="1066800" y="4263658"/>
                    <a:ext cx="533400" cy="38454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3,8,</a:t>
                    </a:r>
                  </a:p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14,25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  <p:sp>
                <p:nvSpPr>
                  <p:cNvPr id="64" name="Прямоугольник 63"/>
                  <p:cNvSpPr/>
                  <p:nvPr/>
                </p:nvSpPr>
                <p:spPr>
                  <a:xfrm>
                    <a:off x="1066800" y="5863858"/>
                    <a:ext cx="533400" cy="38454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3,8,</a:t>
                    </a:r>
                  </a:p>
                  <a:p>
                    <a:pPr algn="ctr"/>
                    <a:r>
                      <a:rPr lang="uz-Cyrl-UZ" sz="1200" dirty="0" smtClean="0">
                        <a:solidFill>
                          <a:schemeClr val="accent1">
                            <a:lumMod val="10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rPr>
                      <a:t>14,25</a:t>
                    </a:r>
                    <a:endParaRPr lang="ru-RU" sz="1200" dirty="0">
                      <a:solidFill>
                        <a:schemeClr val="accent1">
                          <a:lumMod val="10000"/>
                        </a:schemeClr>
                      </a:solidFill>
                      <a:latin typeface="Times New Roman" pitchFamily="18" charset="0"/>
                      <a:cs typeface="Times New Roman" pitchFamily="18" charset="0"/>
                    </a:endParaRPr>
                  </a:p>
                </p:txBody>
              </p:sp>
            </p:grpSp>
          </p:grpSp>
          <p:sp>
            <p:nvSpPr>
              <p:cNvPr id="7174" name="Прямоугольник 7173"/>
              <p:cNvSpPr/>
              <p:nvPr/>
            </p:nvSpPr>
            <p:spPr>
              <a:xfrm>
                <a:off x="838200" y="9906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sz="1200" baseline="-25000" dirty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endParaRPr lang="ru-RU" sz="12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Прямоугольник 67"/>
              <p:cNvSpPr/>
              <p:nvPr/>
            </p:nvSpPr>
            <p:spPr>
              <a:xfrm>
                <a:off x="2895600" y="9906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P</a:t>
                </a:r>
                <a:r>
                  <a:rPr lang="en-US" sz="1200" baseline="-250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ru-RU" sz="12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Прямоугольник 68"/>
              <p:cNvSpPr/>
              <p:nvPr/>
            </p:nvSpPr>
            <p:spPr>
              <a:xfrm>
                <a:off x="914400" y="63246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1200" baseline="-250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L</a:t>
                </a:r>
                <a:endParaRPr lang="ru-RU" sz="12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Прямоугольник 69"/>
              <p:cNvSpPr/>
              <p:nvPr/>
            </p:nvSpPr>
            <p:spPr>
              <a:xfrm>
                <a:off x="2895600" y="63246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1200" baseline="-25000" dirty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ru-RU" sz="12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Прямоугольник 70"/>
              <p:cNvSpPr/>
              <p:nvPr/>
            </p:nvSpPr>
            <p:spPr>
              <a:xfrm>
                <a:off x="3352800" y="59436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200" baseline="-250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7</a:t>
                </a:r>
                <a:endParaRPr lang="ru-RU" sz="12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Прямоугольник 71"/>
              <p:cNvSpPr/>
              <p:nvPr/>
            </p:nvSpPr>
            <p:spPr>
              <a:xfrm>
                <a:off x="3352800" y="51054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200" baseline="-250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6</a:t>
                </a:r>
                <a:endParaRPr lang="ru-RU" sz="1200" baseline="-250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Прямоугольник 72"/>
              <p:cNvSpPr/>
              <p:nvPr/>
            </p:nvSpPr>
            <p:spPr>
              <a:xfrm>
                <a:off x="3352800" y="42672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200" baseline="-25000" dirty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5</a:t>
                </a:r>
                <a:endParaRPr lang="ru-RU" sz="1200" baseline="-250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Прямоугольник 73"/>
              <p:cNvSpPr/>
              <p:nvPr/>
            </p:nvSpPr>
            <p:spPr>
              <a:xfrm>
                <a:off x="3352800" y="35052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200" baseline="-250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4</a:t>
                </a:r>
                <a:endParaRPr lang="ru-RU" sz="1200" baseline="-250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Прямоугольник 74"/>
              <p:cNvSpPr/>
              <p:nvPr/>
            </p:nvSpPr>
            <p:spPr>
              <a:xfrm>
                <a:off x="3352800" y="26670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200" baseline="-250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3</a:t>
                </a:r>
                <a:endParaRPr lang="ru-RU" sz="1200" baseline="-250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6" name="Прямоугольник 75"/>
              <p:cNvSpPr/>
              <p:nvPr/>
            </p:nvSpPr>
            <p:spPr>
              <a:xfrm>
                <a:off x="3352800" y="19050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200" baseline="-25000" dirty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ru-RU" sz="1200" baseline="-250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7" name="Прямоугольник 76"/>
              <p:cNvSpPr/>
              <p:nvPr/>
            </p:nvSpPr>
            <p:spPr>
              <a:xfrm>
                <a:off x="3352800" y="1143000"/>
                <a:ext cx="381000" cy="304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en-US" sz="1200" baseline="-25000" dirty="0" smtClean="0">
                    <a:solidFill>
                      <a:schemeClr val="accent1">
                        <a:lumMod val="1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ru-RU" sz="1200" baseline="-25000" dirty="0">
                  <a:solidFill>
                    <a:schemeClr val="accent1">
                      <a:lumMod val="10000"/>
                    </a:schemeClr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3" name="Группа 2"/>
          <p:cNvGrpSpPr/>
          <p:nvPr/>
        </p:nvGrpSpPr>
        <p:grpSpPr>
          <a:xfrm>
            <a:off x="4343400" y="990600"/>
            <a:ext cx="4267200" cy="5638800"/>
            <a:chOff x="4343400" y="990600"/>
            <a:chExt cx="4267200" cy="5638800"/>
          </a:xfrm>
        </p:grpSpPr>
        <p:sp>
          <p:nvSpPr>
            <p:cNvPr id="78" name="Прямоугольник 77"/>
            <p:cNvSpPr/>
            <p:nvPr/>
          </p:nvSpPr>
          <p:spPr>
            <a:xfrm>
              <a:off x="4343400" y="990600"/>
              <a:ext cx="4267200" cy="5638800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1">
                  <a:lumMod val="50000"/>
                  <a:alpha val="71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u="sng" dirty="0"/>
            </a:p>
          </p:txBody>
        </p:sp>
        <p:sp>
          <p:nvSpPr>
            <p:cNvPr id="79" name="Прямоугольник 78"/>
            <p:cNvSpPr/>
            <p:nvPr/>
          </p:nvSpPr>
          <p:spPr>
            <a:xfrm>
              <a:off x="4495800" y="1524000"/>
              <a:ext cx="4038600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[8,14,25]+P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[16,20]+X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[8,14,25]+X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[17]+ +X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[8,14,25]+X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[8,14,25]+X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[3]+X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[17]+X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[17]+ 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sz="1400" baseline="-25000" dirty="0"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[17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]+X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[3,8,14,25]+X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[3,8,14,25]+C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[17]+ +X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[3,8,14,25]+C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[3,8,14,25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]=K</a:t>
              </a:r>
              <a:r>
                <a:rPr lang="en-US" sz="1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[25,29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]+ +K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[26]+K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[4]+K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[26]+K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]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5" name="Прямоугольник 34"/>
            <p:cNvSpPr/>
            <p:nvPr/>
          </p:nvSpPr>
          <p:spPr>
            <a:xfrm>
              <a:off x="4648200" y="3058180"/>
              <a:ext cx="3733800" cy="523220"/>
            </a:xfrm>
            <a:prstGeom prst="rect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sz="1400" baseline="-25000" dirty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[8,14,25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]+P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[16,20]+C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[17]+C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[3,8,14,25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]=                                                            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=K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[25,29]+K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[26]+K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[4]+K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[26]+K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] 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8" name="Прямоугольник 37"/>
            <p:cNvSpPr/>
            <p:nvPr/>
          </p:nvSpPr>
          <p:spPr>
            <a:xfrm>
              <a:off x="4876800" y="2693551"/>
              <a:ext cx="327660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uz-Cyrl-UZ" sz="1400" dirty="0" smtClean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rPr>
                <a:t>Умумий апроксимация тенгламаси</a:t>
              </a:r>
              <a:endParaRPr lang="ru-RU" sz="1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" name="Прямоугольник 1"/>
            <p:cNvSpPr/>
            <p:nvPr/>
          </p:nvSpPr>
          <p:spPr>
            <a:xfrm>
              <a:off x="4495800" y="3733800"/>
              <a:ext cx="4038600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uz-Cyrl-UZ" sz="14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5.1 Леммага кўра </a:t>
              </a:r>
              <a:r>
                <a:rPr lang="uz-Cyrl-UZ" sz="14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четланиш </a:t>
              </a:r>
              <a:r>
                <a:rPr lang="uz-Cyrl-UZ" sz="1400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қиймати қуйидагича:</a:t>
              </a:r>
              <a:endPara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53542" y="4191000"/>
              <a:ext cx="4080858" cy="460742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1841" y="5314950"/>
              <a:ext cx="1476375" cy="323850"/>
            </a:xfrm>
            <a:prstGeom prst="rect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</p:pic>
        <p:sp>
          <p:nvSpPr>
            <p:cNvPr id="41" name="Прямоугольник 40"/>
            <p:cNvSpPr/>
            <p:nvPr/>
          </p:nvSpPr>
          <p:spPr>
            <a:xfrm>
              <a:off x="4648200" y="4800600"/>
              <a:ext cx="2743200" cy="381000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uz-Cyrl-UZ" sz="1400" dirty="0" smtClean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мос ҳолда эҳтимоллик қиймати:</a:t>
              </a:r>
              <a:endParaRPr lang="ru-RU" sz="1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" name="Прямоугольник 6"/>
          <p:cNvSpPr/>
          <p:nvPr/>
        </p:nvSpPr>
        <p:spPr>
          <a:xfrm>
            <a:off x="5721841" y="5314950"/>
            <a:ext cx="1476375" cy="32385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96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bg1"/>
          </a:solidFill>
          <a:ln w="53975">
            <a:solidFill>
              <a:schemeClr val="accent1">
                <a:lumMod val="50000"/>
                <a:alpha val="87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685800" y="381000"/>
            <a:ext cx="7772400" cy="533400"/>
          </a:xfrm>
          <a:prstGeom prst="rect">
            <a:avLst/>
          </a:prstGeom>
          <a:gradFill flip="none" rotWithShape="1">
            <a:gsLst>
              <a:gs pos="37000">
                <a:srgbClr val="C00000">
                  <a:alpha val="19000"/>
                  <a:lumMod val="0"/>
                  <a:lumOff val="100000"/>
                </a:srgbClr>
              </a:gs>
              <a:gs pos="100000">
                <a:schemeClr val="bg1"/>
              </a:gs>
            </a:gsLst>
            <a:lin ang="5400000" scaled="0"/>
            <a:tileRect r="-100000" b="-100000"/>
          </a:gradFill>
          <a:ln>
            <a:noFill/>
          </a:ln>
          <a:effectLst>
            <a:glow rad="63500">
              <a:srgbClr val="C00000">
                <a:alpha val="40000"/>
              </a:srgbClr>
            </a:glow>
            <a:innerShdw blurRad="114300">
              <a:srgbClr val="C00000"/>
            </a:innerShdw>
            <a:reflection blurRad="1270000" endPos="0" dist="1270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8,12,14,16- </a:t>
            </a:r>
            <a:r>
              <a:rPr lang="uz-Cyrl-UZ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раундли DES алгоритми  </a:t>
            </a:r>
            <a:r>
              <a:rPr lang="uz-Cyrl-UZ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апроксимация тенгламалари</a:t>
            </a:r>
            <a:endParaRPr lang="ru-RU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609600" y="1600200"/>
            <a:ext cx="7924800" cy="4245428"/>
            <a:chOff x="609600" y="1600200"/>
            <a:chExt cx="7924800" cy="4245428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609600" y="1600200"/>
              <a:ext cx="7924800" cy="4245428"/>
            </a:xfrm>
            <a:prstGeom prst="rect">
              <a:avLst/>
            </a:prstGeom>
            <a:solidFill>
              <a:schemeClr val="bg1"/>
            </a:solidFill>
            <a:ln w="57150"/>
            <a:effectLst>
              <a:glow rad="228600">
                <a:schemeClr val="accent1">
                  <a:lumMod val="50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uz-Cyrl-UZ" sz="2000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	</a:t>
              </a:r>
            </a:p>
            <a:p>
              <a:pPr algn="just"/>
              <a:r>
                <a:rPr lang="uz-Cyrl-UZ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	</a:t>
              </a:r>
              <a:endParaRPr lang="ru-RU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" name="Прямоугольник 5"/>
            <p:cNvSpPr/>
            <p:nvPr/>
          </p:nvSpPr>
          <p:spPr>
            <a:xfrm>
              <a:off x="2133600" y="2004536"/>
              <a:ext cx="6302829" cy="523220"/>
            </a:xfrm>
            <a:prstGeom prst="rect">
              <a:avLst/>
            </a:prstGeom>
            <a:ln w="25400">
              <a:solidFill>
                <a:srgbClr val="AC0808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[8,14,25]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[16,20]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[3,8,14,25]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[1,2,4,5]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[17]=</a:t>
              </a:r>
              <a:endParaRPr lang="uz-Cyrl-UZ" sz="1400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=K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[25,29]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[4]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,.3,5,6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]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" name="Прямоугольник 6"/>
            <p:cNvSpPr/>
            <p:nvPr/>
          </p:nvSpPr>
          <p:spPr>
            <a:xfrm>
              <a:off x="2133600" y="2867560"/>
              <a:ext cx="6302829" cy="523220"/>
            </a:xfrm>
            <a:prstGeom prst="rect">
              <a:avLst/>
            </a:prstGeom>
            <a:ln w="25400">
              <a:solidFill>
                <a:srgbClr val="AC0808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[17]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[3,8,14,25]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[3,8,14,25]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[1,2,4,5]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[17]=</a:t>
              </a:r>
              <a:endParaRPr lang="uz-Cyrl-UZ" sz="1400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[4]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[4]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9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11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12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[2,3,5,6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] 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Прямоугольник 7"/>
            <p:cNvSpPr/>
            <p:nvPr/>
          </p:nvSpPr>
          <p:spPr>
            <a:xfrm>
              <a:off x="2133599" y="3757136"/>
              <a:ext cx="6302829" cy="523220"/>
            </a:xfrm>
            <a:prstGeom prst="rect">
              <a:avLst/>
            </a:prstGeom>
            <a:ln w="25400">
              <a:solidFill>
                <a:srgbClr val="AC0808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[8,14,25]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[17]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[3,8,14,25]=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[26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[4]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6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[4]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ru-RU" sz="14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10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11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[4]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12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14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]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Прямоугольник 8"/>
            <p:cNvSpPr/>
            <p:nvPr/>
          </p:nvSpPr>
          <p:spPr>
            <a:xfrm>
              <a:off x="2133600" y="4595336"/>
              <a:ext cx="6302829" cy="738664"/>
            </a:xfrm>
            <a:prstGeom prst="rect">
              <a:avLst/>
            </a:prstGeom>
            <a:ln w="25400">
              <a:solidFill>
                <a:srgbClr val="AC0808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[16,20]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P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[8,14,25]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[3,8,14,25]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R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[1,2,4,5]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C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L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[17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]=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=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[29,25]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[4]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7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8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9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11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12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[4]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  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13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15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[26]</a:t>
              </a:r>
              <a:r>
                <a:rPr lang="uz-Cyrl-UZ" sz="1400" dirty="0" smtClean="0">
                  <a:latin typeface="Times New Roman" pitchFamily="18" charset="0"/>
                  <a:cs typeface="Times New Roman" pitchFamily="18" charset="0"/>
                </a:rPr>
                <a:t>+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K</a:t>
              </a:r>
              <a:r>
                <a:rPr lang="en-US" sz="1400" baseline="-25000" dirty="0" smtClean="0">
                  <a:latin typeface="Times New Roman" pitchFamily="18" charset="0"/>
                  <a:cs typeface="Times New Roman" pitchFamily="18" charset="0"/>
                </a:rPr>
                <a:t>16</a:t>
              </a:r>
              <a:r>
                <a:rPr lang="en-US" sz="1400" dirty="0" smtClean="0">
                  <a:latin typeface="Times New Roman" pitchFamily="18" charset="0"/>
                  <a:cs typeface="Times New Roman" pitchFamily="18" charset="0"/>
                </a:rPr>
                <a:t>[2,3,5,6</a:t>
              </a:r>
              <a:r>
                <a:rPr lang="en-US" sz="1400" dirty="0">
                  <a:latin typeface="Times New Roman" pitchFamily="18" charset="0"/>
                  <a:cs typeface="Times New Roman" pitchFamily="18" charset="0"/>
                </a:rPr>
                <a:t>]</a:t>
              </a:r>
              <a:r>
                <a:rPr lang="uz-Cyrl-UZ" sz="1400" dirty="0">
                  <a:latin typeface="Times New Roman" pitchFamily="18" charset="0"/>
                  <a:cs typeface="Times New Roman" pitchFamily="18" charset="0"/>
                </a:rPr>
                <a:t> </a:t>
              </a:r>
              <a:endParaRPr lang="ru-RU" sz="14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" name="Прямоугольник 9"/>
            <p:cNvSpPr/>
            <p:nvPr/>
          </p:nvSpPr>
          <p:spPr>
            <a:xfrm>
              <a:off x="838200" y="2057400"/>
              <a:ext cx="1143000" cy="381000"/>
            </a:xfrm>
            <a:prstGeom prst="rect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uz-Cyrl-UZ" sz="1600" dirty="0" smtClean="0">
                  <a:latin typeface="Times New Roman" pitchFamily="18" charset="0"/>
                  <a:cs typeface="Times New Roman" pitchFamily="18" charset="0"/>
                </a:rPr>
                <a:t>8-раунд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Прямоугольник 10"/>
            <p:cNvSpPr/>
            <p:nvPr/>
          </p:nvSpPr>
          <p:spPr>
            <a:xfrm>
              <a:off x="838200" y="2895600"/>
              <a:ext cx="1143000" cy="381000"/>
            </a:xfrm>
            <a:prstGeom prst="rect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uz-Cyrl-UZ" sz="1600" dirty="0" smtClean="0">
                  <a:latin typeface="Times New Roman" pitchFamily="18" charset="0"/>
                  <a:cs typeface="Times New Roman" pitchFamily="18" charset="0"/>
                </a:rPr>
                <a:t>12-раунд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Прямоугольник 11"/>
            <p:cNvSpPr/>
            <p:nvPr/>
          </p:nvSpPr>
          <p:spPr>
            <a:xfrm>
              <a:off x="843776" y="3810000"/>
              <a:ext cx="1143000" cy="381000"/>
            </a:xfrm>
            <a:prstGeom prst="rect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uz-Cyrl-UZ" sz="1600" dirty="0" smtClean="0">
                  <a:latin typeface="Times New Roman" pitchFamily="18" charset="0"/>
                  <a:cs typeface="Times New Roman" pitchFamily="18" charset="0"/>
                </a:rPr>
                <a:t>14-раунд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838200" y="4724400"/>
              <a:ext cx="1143000" cy="381000"/>
            </a:xfrm>
            <a:prstGeom prst="rect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uz-Cyrl-UZ" sz="1600" dirty="0" smtClean="0">
                  <a:latin typeface="Times New Roman" pitchFamily="18" charset="0"/>
                  <a:cs typeface="Times New Roman" pitchFamily="18" charset="0"/>
                </a:rPr>
                <a:t>16-раунд</a:t>
              </a:r>
              <a:endParaRPr lang="ru-RU" sz="16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541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52400" y="152400"/>
            <a:ext cx="8839200" cy="6553200"/>
          </a:xfrm>
          <a:prstGeom prst="rect">
            <a:avLst/>
          </a:prstGeom>
          <a:solidFill>
            <a:schemeClr val="bg1"/>
          </a:solidFill>
          <a:ln w="53975">
            <a:solidFill>
              <a:schemeClr val="accent1">
                <a:lumMod val="50000"/>
                <a:alpha val="87000"/>
              </a:schemeClr>
            </a:solidFill>
          </a:ln>
          <a:scene3d>
            <a:camera prst="orthographicFront"/>
            <a:lightRig rig="threePt" dir="t"/>
          </a:scene3d>
          <a:sp3d>
            <a:bevelT prst="slope"/>
            <a:bevelB prst="slop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09600" y="1143000"/>
            <a:ext cx="7924800" cy="4876800"/>
          </a:xfrm>
          <a:prstGeom prst="rect">
            <a:avLst/>
          </a:prstGeom>
          <a:solidFill>
            <a:schemeClr val="bg1"/>
          </a:solidFill>
          <a:ln w="57150"/>
          <a:effectLst>
            <a:glow rad="228600">
              <a:schemeClr val="accent1">
                <a:lumMod val="5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ru-RU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85800" y="381000"/>
            <a:ext cx="7772400" cy="533400"/>
          </a:xfrm>
          <a:prstGeom prst="rect">
            <a:avLst/>
          </a:prstGeom>
          <a:gradFill flip="none" rotWithShape="1">
            <a:gsLst>
              <a:gs pos="37000">
                <a:srgbClr val="C00000">
                  <a:alpha val="19000"/>
                  <a:lumMod val="0"/>
                  <a:lumOff val="100000"/>
                </a:srgbClr>
              </a:gs>
              <a:gs pos="100000">
                <a:schemeClr val="bg1"/>
              </a:gs>
            </a:gsLst>
            <a:lin ang="5400000" scaled="0"/>
            <a:tileRect r="-100000" b="-100000"/>
          </a:gradFill>
          <a:ln>
            <a:noFill/>
          </a:ln>
          <a:effectLst>
            <a:glow rad="63500">
              <a:srgbClr val="C00000">
                <a:alpha val="40000"/>
              </a:srgbClr>
            </a:glow>
            <a:innerShdw blurRad="114300">
              <a:srgbClr val="C00000"/>
            </a:innerShdw>
            <a:reflection blurRad="1270000" endPos="0" dist="1270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Хулоса </a:t>
            </a:r>
            <a:endParaRPr lang="ru-RU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14400" y="1447800"/>
            <a:ext cx="7391400" cy="441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uz-Cyrl-UZ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Кўриб чиқилган таҳлил натижасида қуйидагилар аниқланди:</a:t>
            </a:r>
          </a:p>
          <a:p>
            <a:pPr marL="342900" indent="-342900" algn="just">
              <a:buAutoNum type="arabicPeriod"/>
            </a:pPr>
            <a:r>
              <a:rPr lang="uz-Cyrl-UZ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5,9,13,17-раундли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uz-Cyrl-UZ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шифрлаш алгоритми учун апроксимация тенглама тузишда биринчи иккки ва охирги икки раундлар доимо иштирок этади</a:t>
            </a:r>
          </a:p>
          <a:p>
            <a:pPr marL="342900" indent="-342900" algn="just">
              <a:buFontTx/>
              <a:buAutoNum type="arabicPeriod"/>
            </a:pPr>
            <a:r>
              <a:rPr lang="uz-Cyrl-UZ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6,10,14,18-раундли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uz-Cyrl-UZ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шифрлаш алгоритми учун апроксимация тенглама тузишда охирги раунд доимо иштирок этади ва биринчи ва охиргидан битта олдинги раунд хеч қачон иштирок этмайди</a:t>
            </a:r>
          </a:p>
          <a:p>
            <a:pPr marL="342900" indent="-342900" algn="just">
              <a:buFontTx/>
              <a:buAutoNum type="arabicPeriod"/>
            </a:pPr>
            <a:r>
              <a:rPr lang="uz-Cyrl-UZ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7,11,15,19-раундли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uz-Cyrl-UZ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шифрлаш алгоритми учун апроксимация тенглама тузишда биринчи  ва охирги раундлар доимо иштирок этади ва иккинчи ва охиогидан битта олдиги раундлар хеч қачон иштирок этмайди</a:t>
            </a:r>
          </a:p>
          <a:p>
            <a:pPr marL="342900" indent="-342900" algn="just">
              <a:buFontTx/>
              <a:buAutoNum type="arabicPeriod"/>
            </a:pPr>
            <a:r>
              <a:rPr lang="uz-Cyrl-UZ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8,12,16,20-раундли 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DES </a:t>
            </a:r>
            <a:r>
              <a:rPr lang="uz-Cyrl-UZ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шифрлаш алгоритми учун апроксимация тенглама тузишда биринчи  ва охирги икки раундлар иштирок этмайди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Юқоридагилардан келиб чиқиб, кейинги бобда қуйидаги вазифалар белгилаб олинди: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indent="-400050" algn="just">
              <a:buFont typeface="+mj-lt"/>
              <a:buAutoNum type="romanUcPeriod"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ГОСТ 28147-89 алгоритми </a:t>
            </a: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блоклари (</a:t>
            </a:r>
            <a:r>
              <a:rPr lang="en-US" sz="16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GF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1600" i="1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ru-RU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майдон) учун чизиқли криптотахлил усули	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indent="-400050" algn="just">
              <a:buFont typeface="+mj-lt"/>
              <a:buAutoNum type="romanUcPeriod"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ГОСТ 28147-89 алгоритми 1,3- раундлари учун чизиқли криптотахлил усули</a:t>
            </a:r>
            <a:endParaRPr lang="en-US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00050" indent="-400050" algn="just">
              <a:buFont typeface="+mj-lt"/>
              <a:buAutoNum type="romanUcPeriod"/>
            </a:pPr>
            <a:r>
              <a:rPr lang="uz-Cyrl-UZ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ГОСТ 28147-89 алгоритми 5,7- раундлари учун чизиқли криптотахлил усули</a:t>
            </a:r>
            <a:endParaRPr lang="ru-RU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739908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123593"/>
              </p:ext>
            </p:extLst>
          </p:nvPr>
        </p:nvGraphicFramePr>
        <p:xfrm>
          <a:off x="611560" y="1124744"/>
          <a:ext cx="7793984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60717"/>
                <a:gridCol w="657542"/>
                <a:gridCol w="660717"/>
                <a:gridCol w="645477"/>
                <a:gridCol w="660717"/>
                <a:gridCol w="657542"/>
                <a:gridCol w="660717"/>
                <a:gridCol w="657542"/>
                <a:gridCol w="660717"/>
                <a:gridCol w="657542"/>
                <a:gridCol w="660717"/>
                <a:gridCol w="554037"/>
              </a:tblGrid>
              <a:tr h="207010"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32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2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3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4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5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4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5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6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7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8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9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8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9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10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11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spc="-40" dirty="0">
                          <a:effectLst/>
                        </a:rPr>
                        <a:t>12</a:t>
                      </a:r>
                      <a:r>
                        <a:rPr lang="ru-RU" sz="2400" dirty="0">
                          <a:effectLst/>
                        </a:rPr>
                        <a:t>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13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12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13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14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15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16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17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16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ru-RU" sz="24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18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19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20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21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20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21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22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23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24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25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24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25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26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9461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27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28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29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28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29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30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668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31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985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32 </a:t>
                      </a:r>
                      <a:endParaRPr lang="ru-RU" sz="24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 </a:t>
                      </a:r>
                      <a:endParaRPr lang="ru-RU" sz="24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5400" marR="2540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5" name="Group 1"/>
          <p:cNvGrpSpPr>
            <a:grpSpLocks noChangeAspect="1"/>
          </p:cNvGrpSpPr>
          <p:nvPr/>
        </p:nvGrpSpPr>
        <p:grpSpPr bwMode="auto">
          <a:xfrm>
            <a:off x="0" y="0"/>
            <a:ext cx="342900" cy="114300"/>
            <a:chOff x="2284" y="1353"/>
            <a:chExt cx="7200" cy="4320"/>
          </a:xfrm>
        </p:grpSpPr>
        <p:sp>
          <p:nvSpPr>
            <p:cNvPr id="6" name="AutoShape 2"/>
            <p:cNvSpPr>
              <a:spLocks noChangeAspect="1" noChangeArrowheads="1" noTextEdit="1"/>
            </p:cNvSpPr>
            <p:nvPr/>
          </p:nvSpPr>
          <p:spPr bwMode="auto">
            <a:xfrm>
              <a:off x="2284" y="1353"/>
              <a:ext cx="7200" cy="43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731348"/>
              </p:ext>
            </p:extLst>
          </p:nvPr>
        </p:nvGraphicFramePr>
        <p:xfrm>
          <a:off x="683568" y="4314800"/>
          <a:ext cx="7590473" cy="9144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483235"/>
                <a:gridCol w="341948"/>
                <a:gridCol w="483235"/>
                <a:gridCol w="483235"/>
                <a:gridCol w="483235"/>
                <a:gridCol w="483235"/>
                <a:gridCol w="483235"/>
                <a:gridCol w="483235"/>
                <a:gridCol w="483235"/>
                <a:gridCol w="483235"/>
                <a:gridCol w="483235"/>
                <a:gridCol w="483235"/>
                <a:gridCol w="483235"/>
                <a:gridCol w="483235"/>
                <a:gridCol w="483235"/>
                <a:gridCol w="483235"/>
              </a:tblGrid>
              <a:tr h="386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16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7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20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21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29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12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28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17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1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15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23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26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5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18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31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10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2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8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24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14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32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27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3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9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19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13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30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>
                          <a:effectLst/>
                        </a:rPr>
                        <a:t>6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>
                          <a:effectLst/>
                        </a:rPr>
                        <a:t>22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>
                          <a:effectLst/>
                        </a:rPr>
                        <a:t>11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>
                          <a:effectLst/>
                        </a:rPr>
                        <a:t>4</a:t>
                      </a:r>
                      <a:endParaRPr lang="ru-RU" sz="200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50"/>
                        </a:spcBef>
                        <a:spcAft>
                          <a:spcPts val="0"/>
                        </a:spcAft>
                        <a:tabLst>
                          <a:tab pos="6260465" algn="l"/>
                        </a:tabLst>
                      </a:pPr>
                      <a:r>
                        <a:rPr lang="uz-Cyrl-UZ" sz="2000" dirty="0">
                          <a:effectLst/>
                        </a:rPr>
                        <a:t>25</a:t>
                      </a:r>
                      <a:endParaRPr lang="ru-RU" sz="20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43608" y="447055"/>
            <a:ext cx="723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E/P – </a:t>
            </a:r>
            <a:r>
              <a:rPr lang="ru-RU" sz="2400" b="1" dirty="0" err="1" smtClean="0"/>
              <a:t>кенгайтириб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ўрин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алмаштириш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жадвали</a:t>
            </a:r>
            <a:endParaRPr lang="ru-RU" sz="24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2123728" y="3687415"/>
            <a:ext cx="4951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P – </a:t>
            </a:r>
            <a:r>
              <a:rPr lang="uz-Cyrl-UZ" sz="2400" b="1" dirty="0" smtClean="0"/>
              <a:t>ўрин алмаштириш </a:t>
            </a:r>
            <a:r>
              <a:rPr lang="ru-RU" sz="2400" b="1" dirty="0" err="1" smtClean="0"/>
              <a:t>жадвали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366137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/>
          <p:cNvSpPr/>
          <p:nvPr/>
        </p:nvSpPr>
        <p:spPr>
          <a:xfrm>
            <a:off x="74582" y="77456"/>
            <a:ext cx="9000000" cy="6696000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Text Box 136"/>
          <p:cNvSpPr txBox="1">
            <a:spLocks noChangeArrowheads="1"/>
          </p:cNvSpPr>
          <p:nvPr/>
        </p:nvSpPr>
        <p:spPr bwMode="auto">
          <a:xfrm>
            <a:off x="773113" y="188640"/>
            <a:ext cx="7632700" cy="307975"/>
          </a:xfrm>
          <a:prstGeom prst="rect">
            <a:avLst/>
          </a:prstGeom>
          <a:solidFill>
            <a:srgbClr val="FF0000">
              <a:alpha val="5803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sz="2000" b="1" dirty="0" smtClean="0">
                <a:latin typeface="Times New Roman" pitchFamily="18" charset="0"/>
              </a:rPr>
              <a:t>Раунд функциясига кир</a:t>
            </a:r>
            <a:r>
              <a:rPr lang="ru-RU" sz="2000" b="1" dirty="0" err="1" smtClean="0">
                <a:latin typeface="Times New Roman" pitchFamily="18" charset="0"/>
              </a:rPr>
              <a:t>иш</a:t>
            </a:r>
            <a:endParaRPr lang="ru-RU" sz="2000" b="1" dirty="0">
              <a:latin typeface="Times New Roman" pitchFamily="18" charset="0"/>
            </a:endParaRPr>
          </a:p>
        </p:txBody>
      </p:sp>
      <p:grpSp>
        <p:nvGrpSpPr>
          <p:cNvPr id="8" name="Group 149"/>
          <p:cNvGrpSpPr>
            <a:grpSpLocks/>
          </p:cNvGrpSpPr>
          <p:nvPr/>
        </p:nvGrpSpPr>
        <p:grpSpPr bwMode="auto">
          <a:xfrm>
            <a:off x="280988" y="492125"/>
            <a:ext cx="8539163" cy="5868988"/>
            <a:chOff x="177" y="310"/>
            <a:chExt cx="5379" cy="3697"/>
          </a:xfrm>
        </p:grpSpPr>
        <p:grpSp>
          <p:nvGrpSpPr>
            <p:cNvPr id="16" name="Group 132"/>
            <p:cNvGrpSpPr>
              <a:grpSpLocks/>
            </p:cNvGrpSpPr>
            <p:nvPr/>
          </p:nvGrpSpPr>
          <p:grpSpPr bwMode="auto">
            <a:xfrm>
              <a:off x="177" y="473"/>
              <a:ext cx="5379" cy="3362"/>
              <a:chOff x="177" y="188"/>
              <a:chExt cx="5379" cy="3362"/>
            </a:xfrm>
          </p:grpSpPr>
          <p:grpSp>
            <p:nvGrpSpPr>
              <p:cNvPr id="18" name="Group 122"/>
              <p:cNvGrpSpPr>
                <a:grpSpLocks/>
              </p:cNvGrpSpPr>
              <p:nvPr/>
            </p:nvGrpSpPr>
            <p:grpSpPr bwMode="auto">
              <a:xfrm>
                <a:off x="177" y="188"/>
                <a:ext cx="5379" cy="3362"/>
                <a:chOff x="177" y="119"/>
                <a:chExt cx="5379" cy="3362"/>
              </a:xfrm>
            </p:grpSpPr>
            <p:sp>
              <p:nvSpPr>
                <p:cNvPr id="28" name="Rectangle 4"/>
                <p:cNvSpPr>
                  <a:spLocks noChangeArrowheads="1"/>
                </p:cNvSpPr>
                <p:nvPr/>
              </p:nvSpPr>
              <p:spPr bwMode="auto">
                <a:xfrm>
                  <a:off x="189" y="539"/>
                  <a:ext cx="5367" cy="2510"/>
                </a:xfrm>
                <a:prstGeom prst="rect">
                  <a:avLst/>
                </a:prstGeom>
                <a:ln>
                  <a:headEnd/>
                  <a:tailEnd/>
                </a:ln>
                <a:effectLst>
                  <a:glow rad="1016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wrap="none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9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612" y="119"/>
                  <a:ext cx="4539" cy="271"/>
                </a:xfrm>
                <a:prstGeom prst="rect">
                  <a:avLst/>
                </a:prstGeom>
                <a:solidFill>
                  <a:srgbClr val="CCFFFF"/>
                </a:solidFill>
                <a:ln w="285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squar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sz="2200" dirty="0">
                      <a:latin typeface="Times New Roman" pitchFamily="18" charset="0"/>
                    </a:rPr>
                    <a:t>0 </a:t>
                  </a:r>
                  <a:r>
                    <a:rPr lang="ru-RU" sz="2200" dirty="0" smtClean="0">
                      <a:latin typeface="Times New Roman" pitchFamily="18" charset="0"/>
                    </a:rPr>
                    <a:t>0</a:t>
                  </a:r>
                  <a:r>
                    <a:rPr lang="en-US" sz="2200" dirty="0" smtClean="0">
                      <a:latin typeface="Times New Roman" pitchFamily="18" charset="0"/>
                    </a:rPr>
                    <a:t> </a:t>
                  </a:r>
                  <a:r>
                    <a:rPr lang="ru-RU" sz="2200" dirty="0" smtClean="0">
                      <a:latin typeface="Times New Roman" pitchFamily="18" charset="0"/>
                    </a:rPr>
                    <a:t>0</a:t>
                  </a:r>
                  <a:r>
                    <a:rPr lang="en-US" sz="2200" dirty="0" smtClean="0">
                      <a:latin typeface="Times New Roman" pitchFamily="18" charset="0"/>
                    </a:rPr>
                    <a:t> </a:t>
                  </a:r>
                  <a:r>
                    <a:rPr lang="en-US" sz="2200" dirty="0">
                      <a:latin typeface="Times New Roman" pitchFamily="18" charset="0"/>
                    </a:rPr>
                    <a:t>0 0 0 0 0 0 0 0 0 0 0 0 0 </a:t>
                  </a:r>
                  <a:r>
                    <a:rPr lang="ru-RU" sz="2200" b="1" dirty="0" smtClean="0">
                      <a:solidFill>
                        <a:srgbClr val="FF0000"/>
                      </a:solidFill>
                      <a:latin typeface="Times New Roman" pitchFamily="18" charset="0"/>
                    </a:rPr>
                    <a:t>1</a:t>
                  </a:r>
                  <a:r>
                    <a:rPr lang="ru-RU" sz="2200" baseline="-25000" dirty="0" smtClean="0">
                      <a:solidFill>
                        <a:srgbClr val="FF0000"/>
                      </a:solidFill>
                      <a:latin typeface="Times New Roman" pitchFamily="18" charset="0"/>
                    </a:rPr>
                    <a:t>17</a:t>
                  </a:r>
                  <a:r>
                    <a:rPr lang="en-US" sz="2200" dirty="0" smtClean="0">
                      <a:latin typeface="Times New Roman" pitchFamily="18" charset="0"/>
                    </a:rPr>
                    <a:t> </a:t>
                  </a:r>
                  <a:r>
                    <a:rPr lang="en-US" sz="2200" dirty="0">
                      <a:latin typeface="Times New Roman" pitchFamily="18" charset="0"/>
                    </a:rPr>
                    <a:t>0 0 0 0 0 0 0 0 0 0 0 0 0 0 0</a:t>
                  </a:r>
                  <a:endParaRPr lang="ru-RU" sz="2200" dirty="0">
                    <a:latin typeface="Times New Roman" pitchFamily="18" charset="0"/>
                  </a:endParaRPr>
                </a:p>
              </p:txBody>
            </p:sp>
            <p:grpSp>
              <p:nvGrpSpPr>
                <p:cNvPr id="30" name="Group 12"/>
                <p:cNvGrpSpPr>
                  <a:grpSpLocks/>
                </p:cNvGrpSpPr>
                <p:nvPr/>
              </p:nvGrpSpPr>
              <p:grpSpPr bwMode="auto">
                <a:xfrm>
                  <a:off x="1156" y="407"/>
                  <a:ext cx="3472" cy="271"/>
                  <a:chOff x="1156" y="407"/>
                  <a:chExt cx="3472" cy="141"/>
                </a:xfrm>
              </p:grpSpPr>
              <p:sp>
                <p:nvSpPr>
                  <p:cNvPr id="108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1156" y="412"/>
                    <a:ext cx="0" cy="1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9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1914" y="407"/>
                    <a:ext cx="0" cy="1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10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4628" y="407"/>
                    <a:ext cx="0" cy="1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11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2789" y="407"/>
                    <a:ext cx="0" cy="1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12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3734" y="407"/>
                    <a:ext cx="0" cy="1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31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036" y="659"/>
                  <a:ext cx="3704" cy="281"/>
                </a:xfrm>
                <a:prstGeom prst="rect">
                  <a:avLst/>
                </a:prstGeom>
                <a:solidFill>
                  <a:srgbClr val="CCFFCC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sz="2200" b="1" dirty="0" smtClean="0">
                      <a:latin typeface="Times New Roman" pitchFamily="18" charset="0"/>
                    </a:rPr>
                    <a:t>E(</a:t>
                  </a:r>
                  <a:r>
                    <a:rPr lang="en-US" sz="2200" dirty="0" smtClean="0">
                      <a:latin typeface="Times New Roman" pitchFamily="18" charset="0"/>
                    </a:rPr>
                    <a:t>0</a:t>
                  </a:r>
                  <a:r>
                    <a:rPr lang="ru-RU" sz="2200" dirty="0" smtClean="0">
                      <a:latin typeface="Times New Roman" pitchFamily="18" charset="0"/>
                    </a:rPr>
                    <a:t>00</a:t>
                  </a:r>
                  <a:r>
                    <a:rPr lang="en-US" sz="2200" dirty="0" smtClean="0">
                      <a:latin typeface="Times New Roman" pitchFamily="18" charset="0"/>
                    </a:rPr>
                    <a:t>00000000000000</a:t>
                  </a:r>
                  <a:r>
                    <a:rPr lang="ru-RU" sz="2200" b="1" dirty="0" smtClean="0">
                      <a:solidFill>
                        <a:srgbClr val="FF0000"/>
                      </a:solidFill>
                      <a:latin typeface="Times New Roman" pitchFamily="18" charset="0"/>
                    </a:rPr>
                    <a:t>1</a:t>
                  </a:r>
                  <a:r>
                    <a:rPr lang="en-US" sz="2200" dirty="0" smtClean="0">
                      <a:latin typeface="Times New Roman" pitchFamily="18" charset="0"/>
                    </a:rPr>
                    <a:t>00000000000000</a:t>
                  </a:r>
                  <a:r>
                    <a:rPr lang="en-US" sz="2200" b="1" dirty="0">
                      <a:latin typeface="Times New Roman" pitchFamily="18" charset="0"/>
                    </a:rPr>
                    <a:t>)</a:t>
                  </a:r>
                  <a:endParaRPr lang="ru-RU" sz="2200" b="1" dirty="0">
                    <a:latin typeface="Times New Roman" pitchFamily="18" charset="0"/>
                  </a:endParaRPr>
                </a:p>
              </p:txBody>
            </p:sp>
            <p:grpSp>
              <p:nvGrpSpPr>
                <p:cNvPr id="32" name="Group 20"/>
                <p:cNvGrpSpPr>
                  <a:grpSpLocks/>
                </p:cNvGrpSpPr>
                <p:nvPr/>
              </p:nvGrpSpPr>
              <p:grpSpPr bwMode="auto">
                <a:xfrm>
                  <a:off x="1156" y="944"/>
                  <a:ext cx="3472" cy="148"/>
                  <a:chOff x="1156" y="407"/>
                  <a:chExt cx="3472" cy="141"/>
                </a:xfrm>
              </p:grpSpPr>
              <p:sp>
                <p:nvSpPr>
                  <p:cNvPr id="103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1156" y="412"/>
                    <a:ext cx="0" cy="1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4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1914" y="407"/>
                    <a:ext cx="0" cy="1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5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4628" y="407"/>
                    <a:ext cx="0" cy="1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6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2789" y="407"/>
                    <a:ext cx="0" cy="1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  <p:sp>
                <p:nvSpPr>
                  <p:cNvPr id="107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3734" y="407"/>
                    <a:ext cx="0" cy="13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stealth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ru-RU"/>
                  </a:p>
                </p:txBody>
              </p:sp>
            </p:grpSp>
            <p:sp>
              <p:nvSpPr>
                <p:cNvPr id="33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649" y="1080"/>
                  <a:ext cx="4400" cy="281"/>
                </a:xfrm>
                <a:prstGeom prst="rect">
                  <a:avLst/>
                </a:prstGeom>
                <a:solidFill>
                  <a:srgbClr val="DDDDDD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sz="2200" dirty="0" smtClean="0">
                      <a:latin typeface="Times New Roman" pitchFamily="18" charset="0"/>
                    </a:rPr>
                    <a:t>00</a:t>
                  </a:r>
                  <a:r>
                    <a:rPr lang="ru-RU" sz="2200" dirty="0" smtClean="0">
                      <a:latin typeface="Times New Roman" pitchFamily="18" charset="0"/>
                    </a:rPr>
                    <a:t>00</a:t>
                  </a:r>
                  <a:r>
                    <a:rPr lang="en-US" sz="2200" dirty="0" smtClean="0">
                      <a:latin typeface="Times New Roman" pitchFamily="18" charset="0"/>
                    </a:rPr>
                    <a:t>0000000000000000000</a:t>
                  </a:r>
                  <a:r>
                    <a:rPr lang="ru-RU" sz="2200" b="1" dirty="0" smtClean="0">
                      <a:solidFill>
                        <a:srgbClr val="FF0000"/>
                      </a:solidFill>
                      <a:latin typeface="Times New Roman" pitchFamily="18" charset="0"/>
                    </a:rPr>
                    <a:t>1</a:t>
                  </a:r>
                  <a:r>
                    <a:rPr lang="en-US" sz="2200" dirty="0" smtClean="0">
                      <a:latin typeface="Times New Roman" pitchFamily="18" charset="0"/>
                    </a:rPr>
                    <a:t>0</a:t>
                  </a:r>
                  <a:r>
                    <a:rPr lang="ru-RU" sz="2200" b="1" dirty="0" smtClean="0">
                      <a:solidFill>
                        <a:srgbClr val="FF0000"/>
                      </a:solidFill>
                      <a:latin typeface="Times New Roman" pitchFamily="18" charset="0"/>
                    </a:rPr>
                    <a:t>1</a:t>
                  </a:r>
                  <a:r>
                    <a:rPr lang="en-US" sz="2200" dirty="0" smtClean="0">
                      <a:latin typeface="Times New Roman" pitchFamily="18" charset="0"/>
                    </a:rPr>
                    <a:t>0000000000000000000000</a:t>
                  </a:r>
                  <a:endParaRPr lang="ru-RU" sz="2200" b="1" dirty="0">
                    <a:latin typeface="Times New Roman" pitchFamily="18" charset="0"/>
                  </a:endParaRPr>
                </a:p>
              </p:txBody>
            </p:sp>
            <p:sp>
              <p:nvSpPr>
                <p:cNvPr id="34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94" y="1474"/>
                  <a:ext cx="5126" cy="1059"/>
                </a:xfrm>
                <a:prstGeom prst="rect">
                  <a:avLst/>
                </a:prstGeom>
                <a:solidFill>
                  <a:srgbClr val="CCFFCC"/>
                </a:solidFill>
                <a:ln w="1905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 sz="2200" b="1">
                    <a:latin typeface="Times New Roman" pitchFamily="18" charset="0"/>
                  </a:endParaRPr>
                </a:p>
                <a:p>
                  <a:pPr algn="ctr" eaLnBrk="1" hangingPunct="1">
                    <a:spcBef>
                      <a:spcPct val="50000"/>
                    </a:spcBef>
                  </a:pPr>
                  <a:endParaRPr lang="en-US" sz="1000" b="1">
                    <a:latin typeface="Times New Roman" pitchFamily="18" charset="0"/>
                  </a:endParaRPr>
                </a:p>
                <a:p>
                  <a:pPr algn="ctr" eaLnBrk="1" hangingPunct="1">
                    <a:spcBef>
                      <a:spcPct val="50000"/>
                    </a:spcBef>
                  </a:pPr>
                  <a:endParaRPr lang="en-US" sz="2200" b="1">
                    <a:latin typeface="Times New Roman" pitchFamily="18" charset="0"/>
                  </a:endParaRPr>
                </a:p>
                <a:p>
                  <a:pPr algn="ctr" eaLnBrk="1" hangingPunct="1">
                    <a:spcBef>
                      <a:spcPct val="50000"/>
                    </a:spcBef>
                  </a:pPr>
                  <a:endParaRPr lang="ru-RU" sz="2200" b="1">
                    <a:latin typeface="Times New Roman" pitchFamily="18" charset="0"/>
                  </a:endParaRPr>
                </a:p>
              </p:txBody>
            </p:sp>
            <p:grpSp>
              <p:nvGrpSpPr>
                <p:cNvPr id="35" name="Group 118"/>
                <p:cNvGrpSpPr>
                  <a:grpSpLocks/>
                </p:cNvGrpSpPr>
                <p:nvPr/>
              </p:nvGrpSpPr>
              <p:grpSpPr bwMode="auto">
                <a:xfrm>
                  <a:off x="385" y="1364"/>
                  <a:ext cx="4990" cy="2117"/>
                  <a:chOff x="385" y="1356"/>
                  <a:chExt cx="4990" cy="2117"/>
                </a:xfrm>
              </p:grpSpPr>
              <p:grpSp>
                <p:nvGrpSpPr>
                  <p:cNvPr id="38" name="Group 115"/>
                  <p:cNvGrpSpPr>
                    <a:grpSpLocks/>
                  </p:cNvGrpSpPr>
                  <p:nvPr/>
                </p:nvGrpSpPr>
                <p:grpSpPr bwMode="auto">
                  <a:xfrm>
                    <a:off x="385" y="1356"/>
                    <a:ext cx="4990" cy="737"/>
                    <a:chOff x="385" y="1359"/>
                    <a:chExt cx="4990" cy="737"/>
                  </a:xfrm>
                </p:grpSpPr>
                <p:grpSp>
                  <p:nvGrpSpPr>
                    <p:cNvPr id="66" name="Group 4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07" y="1915"/>
                      <a:ext cx="4914" cy="181"/>
                      <a:chOff x="415" y="1661"/>
                      <a:chExt cx="4914" cy="181"/>
                    </a:xfrm>
                  </p:grpSpPr>
                  <p:sp>
                    <p:nvSpPr>
                      <p:cNvPr id="95" name="Rectangle 34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5" y="1661"/>
                        <a:ext cx="499" cy="18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ctr"/>
                        <a:r>
                          <a:rPr lang="en-US">
                            <a:latin typeface="Times New Roman" pitchFamily="18" charset="0"/>
                          </a:rPr>
                          <a:t>S1</a:t>
                        </a:r>
                        <a:endParaRPr lang="ru-RU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96" name="Rectangle 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042" y="1661"/>
                        <a:ext cx="499" cy="18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ctr"/>
                        <a:r>
                          <a:rPr lang="en-US">
                            <a:latin typeface="Times New Roman" pitchFamily="18" charset="0"/>
                          </a:rPr>
                          <a:t>S2</a:t>
                        </a:r>
                        <a:endParaRPr lang="ru-RU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97" name="Rectangle 3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669" y="1661"/>
                        <a:ext cx="499" cy="18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ctr"/>
                        <a:r>
                          <a:rPr lang="en-US">
                            <a:latin typeface="Times New Roman" pitchFamily="18" charset="0"/>
                          </a:rPr>
                          <a:t>S3</a:t>
                        </a:r>
                        <a:endParaRPr lang="ru-RU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98" name="Rectangle 37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290" y="1661"/>
                        <a:ext cx="499" cy="18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ctr"/>
                        <a:r>
                          <a:rPr lang="en-US">
                            <a:latin typeface="Times New Roman" pitchFamily="18" charset="0"/>
                          </a:rPr>
                          <a:t>S4</a:t>
                        </a:r>
                        <a:endParaRPr lang="ru-RU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99" name="Rectangle 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5" y="1661"/>
                        <a:ext cx="499" cy="18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ctr"/>
                        <a:r>
                          <a:rPr lang="en-US">
                            <a:latin typeface="Times New Roman" pitchFamily="18" charset="0"/>
                          </a:rPr>
                          <a:t>S5</a:t>
                        </a:r>
                        <a:endParaRPr lang="ru-RU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100" name="Rectangle 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560" y="1661"/>
                        <a:ext cx="499" cy="18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ctr"/>
                        <a:r>
                          <a:rPr lang="en-US">
                            <a:latin typeface="Times New Roman" pitchFamily="18" charset="0"/>
                          </a:rPr>
                          <a:t>S6</a:t>
                        </a:r>
                        <a:endParaRPr lang="ru-RU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101" name="Rectangle 40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195" y="1661"/>
                        <a:ext cx="499" cy="18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ctr"/>
                        <a:r>
                          <a:rPr lang="en-US">
                            <a:latin typeface="Times New Roman" pitchFamily="18" charset="0"/>
                          </a:rPr>
                          <a:t>S7</a:t>
                        </a:r>
                        <a:endParaRPr lang="ru-RU">
                          <a:latin typeface="Times New Roman" pitchFamily="18" charset="0"/>
                        </a:endParaRPr>
                      </a:p>
                    </p:txBody>
                  </p:sp>
                  <p:sp>
                    <p:nvSpPr>
                      <p:cNvPr id="102" name="Rectangle 41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830" y="1661"/>
                        <a:ext cx="499" cy="181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/>
                      <a:p>
                        <a:pPr algn="ctr"/>
                        <a:r>
                          <a:rPr lang="en-US">
                            <a:latin typeface="Times New Roman" pitchFamily="18" charset="0"/>
                          </a:rPr>
                          <a:t>S8</a:t>
                        </a:r>
                        <a:endParaRPr lang="ru-RU">
                          <a:latin typeface="Times New Roman" pitchFamily="18" charset="0"/>
                        </a:endParaRPr>
                      </a:p>
                    </p:txBody>
                  </p:sp>
                </p:grpSp>
                <p:grpSp>
                  <p:nvGrpSpPr>
                    <p:cNvPr id="67" name="Group 6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57" y="1823"/>
                      <a:ext cx="4419" cy="110"/>
                      <a:chOff x="657" y="1877"/>
                      <a:chExt cx="4419" cy="110"/>
                    </a:xfrm>
                  </p:grpSpPr>
                  <p:sp>
                    <p:nvSpPr>
                      <p:cNvPr id="87" name="Line 5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57" y="1877"/>
                        <a:ext cx="0" cy="99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 type="stealth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88" name="Line 5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290" y="1881"/>
                        <a:ext cx="0" cy="99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 type="stealth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89" name="Line 5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176" y="1881"/>
                        <a:ext cx="0" cy="99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 type="stealth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0" name="Line 5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925" y="1881"/>
                        <a:ext cx="0" cy="99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 type="stealth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1" name="Line 5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541" y="1881"/>
                        <a:ext cx="0" cy="99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 type="stealth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2" name="Line 5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819" y="1877"/>
                        <a:ext cx="0" cy="99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 type="stealth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3" name="Line 5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38" y="1877"/>
                        <a:ext cx="0" cy="99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 type="stealth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sp>
                    <p:nvSpPr>
                      <p:cNvPr id="94" name="Line 5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5076" y="1888"/>
                        <a:ext cx="0" cy="99"/>
                      </a:xfrm>
                      <a:prstGeom prst="line">
                        <a:avLst/>
                      </a:prstGeom>
                      <a:noFill/>
                      <a:ln w="38100">
                        <a:solidFill>
                          <a:schemeClr val="tx1"/>
                        </a:solidFill>
                        <a:round/>
                        <a:headEnd/>
                        <a:tailEnd type="stealth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</p:grpSp>
                <p:grpSp>
                  <p:nvGrpSpPr>
                    <p:cNvPr id="68" name="Group 114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85" y="1359"/>
                      <a:ext cx="4990" cy="499"/>
                      <a:chOff x="385" y="1359"/>
                      <a:chExt cx="4990" cy="499"/>
                    </a:xfrm>
                  </p:grpSpPr>
                  <p:sp>
                    <p:nvSpPr>
                      <p:cNvPr id="69" name="Text Box 5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85" y="1627"/>
                        <a:ext cx="4990" cy="231"/>
                      </a:xfrm>
                      <a:prstGeom prst="rect">
                        <a:avLst/>
                      </a:prstGeom>
                      <a:solidFill>
                        <a:srgbClr val="CCFFCC">
                          <a:alpha val="65097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9pPr>
                      </a:lstStyle>
                      <a:p>
                        <a:pPr algn="just" eaLnBrk="1" hangingPunct="1">
                          <a:spcBef>
                            <a:spcPct val="50000"/>
                          </a:spcBef>
                        </a:pPr>
                        <a:r>
                          <a:rPr lang="en-US" dirty="0" smtClean="0">
                            <a:latin typeface="Times New Roman" pitchFamily="18" charset="0"/>
                          </a:rPr>
                          <a:t>00</a:t>
                        </a:r>
                        <a:r>
                          <a:rPr lang="ru-RU" dirty="0" smtClean="0">
                            <a:latin typeface="Times New Roman" pitchFamily="18" charset="0"/>
                          </a:rPr>
                          <a:t>00</a:t>
                        </a:r>
                        <a:r>
                          <a:rPr lang="en-US" dirty="0" smtClean="0">
                            <a:latin typeface="Times New Roman" pitchFamily="18" charset="0"/>
                          </a:rPr>
                          <a:t>00     </a:t>
                        </a:r>
                        <a:r>
                          <a:rPr lang="en-US" dirty="0">
                            <a:latin typeface="Times New Roman" pitchFamily="18" charset="0"/>
                          </a:rPr>
                          <a:t>000000      000000     </a:t>
                        </a:r>
                        <a:r>
                          <a:rPr lang="en-US" dirty="0" smtClean="0">
                            <a:latin typeface="Times New Roman" pitchFamily="18" charset="0"/>
                          </a:rPr>
                          <a:t>00000</a:t>
                        </a:r>
                        <a:r>
                          <a:rPr lang="ru-RU" b="1" dirty="0" smtClean="0">
                            <a:latin typeface="Times New Roman" pitchFamily="18" charset="0"/>
                          </a:rPr>
                          <a:t>1</a:t>
                        </a:r>
                        <a:r>
                          <a:rPr lang="en-US" dirty="0" smtClean="0">
                            <a:latin typeface="Times New Roman" pitchFamily="18" charset="0"/>
                          </a:rPr>
                          <a:t>      0</a:t>
                        </a:r>
                        <a:r>
                          <a:rPr lang="ru-RU" b="1" dirty="0" smtClean="0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en-US" dirty="0" smtClean="0">
                            <a:latin typeface="Times New Roman" pitchFamily="18" charset="0"/>
                          </a:rPr>
                          <a:t>0000      </a:t>
                        </a:r>
                        <a:r>
                          <a:rPr lang="en-US" dirty="0">
                            <a:latin typeface="Times New Roman" pitchFamily="18" charset="0"/>
                          </a:rPr>
                          <a:t>000000     000000     000000</a:t>
                        </a:r>
                        <a:endParaRPr lang="ru-RU" b="1" dirty="0">
                          <a:latin typeface="Times New Roman" pitchFamily="18" charset="0"/>
                        </a:endParaRPr>
                      </a:p>
                    </p:txBody>
                  </p:sp>
                  <p:grpSp>
                    <p:nvGrpSpPr>
                      <p:cNvPr id="70" name="Group 1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44" y="1359"/>
                        <a:ext cx="4446" cy="312"/>
                        <a:chOff x="644" y="1359"/>
                        <a:chExt cx="4446" cy="312"/>
                      </a:xfrm>
                    </p:grpSpPr>
                    <p:grpSp>
                      <p:nvGrpSpPr>
                        <p:cNvPr id="71" name="Group 28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1111" y="1359"/>
                          <a:ext cx="3472" cy="210"/>
                          <a:chOff x="1156" y="407"/>
                          <a:chExt cx="3472" cy="141"/>
                        </a:xfrm>
                      </p:grpSpPr>
                      <p:sp>
                        <p:nvSpPr>
                          <p:cNvPr id="82" name="Line 2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156" y="412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83" name="Line 3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914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84" name="Line 3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628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85" name="Line 3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789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86" name="Line 3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734" y="407"/>
                            <a:ext cx="0" cy="136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  <p:sp>
                      <p:nvSpPr>
                        <p:cNvPr id="72" name="Line 4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644" y="1566"/>
                          <a:ext cx="4446" cy="0"/>
                        </a:xfrm>
                        <a:prstGeom prst="line">
                          <a:avLst/>
                        </a:prstGeom>
                        <a:noFill/>
                        <a:ln w="222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grpSp>
                      <p:nvGrpSpPr>
                        <p:cNvPr id="73" name="Group 6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655" y="1561"/>
                          <a:ext cx="4419" cy="110"/>
                          <a:chOff x="657" y="1877"/>
                          <a:chExt cx="4419" cy="110"/>
                        </a:xfrm>
                      </p:grpSpPr>
                      <p:sp>
                        <p:nvSpPr>
                          <p:cNvPr id="74" name="Line 6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657" y="1877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75" name="Line 6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290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76" name="Line 6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176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77" name="Line 6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1925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78" name="Line 6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2541" y="1881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79" name="Line 6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3819" y="1877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80" name="Line 6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4438" y="1877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  <p:sp>
                        <p:nvSpPr>
                          <p:cNvPr id="81" name="Line 6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>
                            <a:off x="5076" y="1888"/>
                            <a:ext cx="0" cy="99"/>
                          </a:xfrm>
                          <a:prstGeom prst="line">
                            <a:avLst/>
                          </a:prstGeom>
                          <a:noFill/>
                          <a:ln w="38100">
                            <a:solidFill>
                              <a:schemeClr val="tx1"/>
                            </a:solidFill>
                            <a:round/>
                            <a:headEnd/>
                            <a:tailEnd type="stealth" w="med" len="med"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ru-RU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39" name="Group 117"/>
                  <p:cNvGrpSpPr>
                    <a:grpSpLocks/>
                  </p:cNvGrpSpPr>
                  <p:nvPr/>
                </p:nvGrpSpPr>
                <p:grpSpPr bwMode="auto">
                  <a:xfrm>
                    <a:off x="449" y="2127"/>
                    <a:ext cx="4904" cy="1346"/>
                    <a:chOff x="449" y="2127"/>
                    <a:chExt cx="4904" cy="1346"/>
                  </a:xfrm>
                </p:grpSpPr>
                <p:sp>
                  <p:nvSpPr>
                    <p:cNvPr id="40" name="Text Box 79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449" y="2127"/>
                      <a:ext cx="4904" cy="23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19050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Verdana" pitchFamily="34" charset="0"/>
                        </a:defRPr>
                      </a:lvl9pPr>
                    </a:lstStyle>
                    <a:p>
                      <a:pPr algn="just" eaLnBrk="1" hangingPunct="1">
                        <a:spcBef>
                          <a:spcPct val="50000"/>
                        </a:spcBef>
                      </a:pPr>
                      <a:r>
                        <a:rPr lang="ru-RU" dirty="0" smtClean="0">
                          <a:latin typeface="Times New Roman" pitchFamily="18" charset="0"/>
                        </a:rPr>
                        <a:t>000</a:t>
                      </a:r>
                      <a:r>
                        <a:rPr lang="en-US" dirty="0" smtClean="0">
                          <a:latin typeface="Times New Roman" pitchFamily="18" charset="0"/>
                        </a:rPr>
                        <a:t>0          </a:t>
                      </a:r>
                      <a:r>
                        <a:rPr lang="en-US" dirty="0">
                          <a:latin typeface="Times New Roman" pitchFamily="18" charset="0"/>
                        </a:rPr>
                        <a:t>0000         0000         0000          </a:t>
                      </a:r>
                      <a:r>
                        <a:rPr lang="ru-RU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</a:rPr>
                        <a:t>1111</a:t>
                      </a:r>
                      <a:r>
                        <a:rPr lang="en-US" dirty="0" smtClean="0">
                          <a:latin typeface="Times New Roman" pitchFamily="18" charset="0"/>
                        </a:rPr>
                        <a:t>          </a:t>
                      </a:r>
                      <a:r>
                        <a:rPr lang="en-US" dirty="0">
                          <a:latin typeface="Times New Roman" pitchFamily="18" charset="0"/>
                        </a:rPr>
                        <a:t>0000         0000          0000</a:t>
                      </a:r>
                      <a:endParaRPr lang="ru-RU" dirty="0">
                        <a:latin typeface="Times New Roman" pitchFamily="18" charset="0"/>
                      </a:endParaRPr>
                    </a:p>
                  </p:txBody>
                </p:sp>
                <p:grpSp>
                  <p:nvGrpSpPr>
                    <p:cNvPr id="41" name="Group 116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67" y="2322"/>
                      <a:ext cx="4672" cy="1151"/>
                      <a:chOff x="567" y="2322"/>
                      <a:chExt cx="4672" cy="1151"/>
                    </a:xfrm>
                  </p:grpSpPr>
                  <p:sp>
                    <p:nvSpPr>
                      <p:cNvPr id="42" name="Text Box 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567" y="3202"/>
                        <a:ext cx="4672" cy="271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square"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50000"/>
                          </a:spcBef>
                        </a:pPr>
                        <a:r>
                          <a:rPr lang="en-US" sz="2200" dirty="0">
                            <a:latin typeface="Times New Roman" pitchFamily="18" charset="0"/>
                          </a:rPr>
                          <a:t>0 0 </a:t>
                        </a:r>
                        <a:r>
                          <a:rPr lang="ru-RU" sz="2200" b="1" dirty="0" smtClean="0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ru-RU" sz="2200" baseline="-25000" dirty="0" smtClean="0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3</a:t>
                        </a:r>
                        <a:r>
                          <a:rPr lang="en-US" sz="2200" dirty="0" smtClean="0">
                            <a:latin typeface="Times New Roman" pitchFamily="18" charset="0"/>
                          </a:rPr>
                          <a:t> </a:t>
                        </a:r>
                        <a:r>
                          <a:rPr lang="en-US" sz="2200" dirty="0">
                            <a:latin typeface="Times New Roman" pitchFamily="18" charset="0"/>
                          </a:rPr>
                          <a:t>0 0 0 0 </a:t>
                        </a:r>
                        <a:r>
                          <a:rPr lang="ru-RU" sz="2200" b="1" dirty="0" smtClean="0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ru-RU" sz="2200" baseline="-25000" dirty="0" smtClean="0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8</a:t>
                        </a:r>
                        <a:r>
                          <a:rPr lang="en-US" sz="2200" dirty="0" smtClean="0">
                            <a:latin typeface="Times New Roman" pitchFamily="18" charset="0"/>
                          </a:rPr>
                          <a:t> </a:t>
                        </a:r>
                        <a:r>
                          <a:rPr lang="ru-RU" sz="2200" dirty="0" smtClean="0">
                            <a:latin typeface="Times New Roman" pitchFamily="18" charset="0"/>
                          </a:rPr>
                          <a:t>0</a:t>
                        </a:r>
                        <a:r>
                          <a:rPr lang="en-US" sz="2200" dirty="0" smtClean="0">
                            <a:latin typeface="Times New Roman" pitchFamily="18" charset="0"/>
                          </a:rPr>
                          <a:t> </a:t>
                        </a:r>
                        <a:r>
                          <a:rPr lang="en-US" sz="2200" dirty="0">
                            <a:latin typeface="Times New Roman" pitchFamily="18" charset="0"/>
                          </a:rPr>
                          <a:t>0 0 0 0 </a:t>
                        </a:r>
                        <a:r>
                          <a:rPr lang="ru-RU" sz="2200" b="1" dirty="0" smtClean="0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ru-RU" sz="2200" baseline="-25000" dirty="0" smtClean="0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14</a:t>
                        </a:r>
                        <a:r>
                          <a:rPr lang="en-US" sz="2200" dirty="0" smtClean="0">
                            <a:latin typeface="Times New Roman" pitchFamily="18" charset="0"/>
                          </a:rPr>
                          <a:t> </a:t>
                        </a:r>
                        <a:r>
                          <a:rPr lang="en-US" sz="2200" dirty="0">
                            <a:latin typeface="Times New Roman" pitchFamily="18" charset="0"/>
                          </a:rPr>
                          <a:t>0 0 </a:t>
                        </a:r>
                        <a:r>
                          <a:rPr lang="ru-RU" sz="2200" dirty="0" smtClean="0">
                            <a:latin typeface="Times New Roman" pitchFamily="18" charset="0"/>
                          </a:rPr>
                          <a:t>0</a:t>
                        </a:r>
                        <a:r>
                          <a:rPr lang="en-US" sz="2200" dirty="0" smtClean="0">
                            <a:latin typeface="Times New Roman" pitchFamily="18" charset="0"/>
                          </a:rPr>
                          <a:t> </a:t>
                        </a:r>
                        <a:r>
                          <a:rPr lang="en-US" sz="2200" dirty="0">
                            <a:latin typeface="Times New Roman" pitchFamily="18" charset="0"/>
                          </a:rPr>
                          <a:t>0 0 0 0 0 </a:t>
                        </a:r>
                        <a:r>
                          <a:rPr lang="ru-RU" sz="2200" dirty="0" smtClean="0">
                            <a:latin typeface="Times New Roman" pitchFamily="18" charset="0"/>
                          </a:rPr>
                          <a:t>0</a:t>
                        </a:r>
                        <a:r>
                          <a:rPr lang="en-US" sz="2200" dirty="0" smtClean="0">
                            <a:latin typeface="Times New Roman" pitchFamily="18" charset="0"/>
                          </a:rPr>
                          <a:t> </a:t>
                        </a:r>
                        <a:r>
                          <a:rPr lang="en-US" sz="2200" dirty="0">
                            <a:latin typeface="Times New Roman" pitchFamily="18" charset="0"/>
                          </a:rPr>
                          <a:t>0 </a:t>
                        </a:r>
                        <a:r>
                          <a:rPr lang="ru-RU" sz="2200" b="1" dirty="0" smtClean="0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</a:t>
                        </a:r>
                        <a:r>
                          <a:rPr lang="ru-RU" sz="2200" baseline="-25000" dirty="0" smtClean="0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25</a:t>
                        </a:r>
                        <a:r>
                          <a:rPr lang="en-US" sz="2200" dirty="0" smtClean="0">
                            <a:latin typeface="Times New Roman" pitchFamily="18" charset="0"/>
                          </a:rPr>
                          <a:t> </a:t>
                        </a:r>
                        <a:r>
                          <a:rPr lang="en-US" sz="2200" dirty="0">
                            <a:latin typeface="Times New Roman" pitchFamily="18" charset="0"/>
                          </a:rPr>
                          <a:t>0 0 0 0 0 0 0</a:t>
                        </a:r>
                        <a:endParaRPr lang="ru-RU" sz="2200" dirty="0">
                          <a:latin typeface="Times New Roman" pitchFamily="18" charset="0"/>
                        </a:endParaRPr>
                      </a:p>
                    </p:txBody>
                  </p:sp>
                  <p:grpSp>
                    <p:nvGrpSpPr>
                      <p:cNvPr id="43" name="Group 1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77" y="2897"/>
                        <a:ext cx="3472" cy="306"/>
                        <a:chOff x="1156" y="407"/>
                        <a:chExt cx="3472" cy="141"/>
                      </a:xfrm>
                    </p:grpSpPr>
                    <p:sp>
                      <p:nvSpPr>
                        <p:cNvPr id="61" name="Line 1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156" y="412"/>
                          <a:ext cx="0" cy="136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2" name="Line 1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914" y="407"/>
                          <a:ext cx="0" cy="136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3" name="Line 1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628" y="407"/>
                          <a:ext cx="0" cy="136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4" name="Line 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789" y="407"/>
                          <a:ext cx="0" cy="136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5" name="Line 1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734" y="407"/>
                          <a:ext cx="0" cy="136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44" name="Line 8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36" y="2416"/>
                        <a:ext cx="4446" cy="0"/>
                      </a:xfrm>
                      <a:prstGeom prst="line">
                        <a:avLst/>
                      </a:prstGeom>
                      <a:noFill/>
                      <a:ln w="222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ru-RU"/>
                      </a:p>
                    </p:txBody>
                  </p:sp>
                  <p:grpSp>
                    <p:nvGrpSpPr>
                      <p:cNvPr id="45" name="Group 8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47" y="2322"/>
                        <a:ext cx="4419" cy="110"/>
                        <a:chOff x="657" y="1877"/>
                        <a:chExt cx="4419" cy="110"/>
                      </a:xfrm>
                    </p:grpSpPr>
                    <p:sp>
                      <p:nvSpPr>
                        <p:cNvPr id="53" name="Line 8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657" y="1877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54" name="Line 8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290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55" name="Line 8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176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56" name="Line 8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925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57" name="Line 8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541" y="188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58" name="Line 8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819" y="1877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59" name="Line 8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438" y="1877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60" name="Line 9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5076" y="1888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  <p:sp>
                    <p:nvSpPr>
                      <p:cNvPr id="46" name="Text Box 91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996" y="2631"/>
                        <a:ext cx="3704" cy="281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>
                        <a:spAutoFit/>
                      </a:bodyPr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Verdana" pitchFamily="34" charset="0"/>
                          </a:defRPr>
                        </a:lvl9pPr>
                      </a:lstStyle>
                      <a:p>
                        <a:pPr algn="ctr" eaLnBrk="1" hangingPunct="1">
                          <a:spcBef>
                            <a:spcPct val="50000"/>
                          </a:spcBef>
                        </a:pPr>
                        <a:r>
                          <a:rPr lang="en-US" sz="2200" b="1" dirty="0" smtClean="0">
                            <a:latin typeface="Times New Roman" pitchFamily="18" charset="0"/>
                          </a:rPr>
                          <a:t>P(</a:t>
                        </a:r>
                        <a:r>
                          <a:rPr lang="ru-RU" sz="2200" dirty="0" smtClean="0">
                            <a:latin typeface="Times New Roman" pitchFamily="18" charset="0"/>
                          </a:rPr>
                          <a:t>0000</a:t>
                        </a:r>
                        <a:r>
                          <a:rPr lang="en-US" sz="2200" dirty="0" smtClean="0">
                            <a:latin typeface="Times New Roman" pitchFamily="18" charset="0"/>
                          </a:rPr>
                          <a:t>000000000000</a:t>
                        </a:r>
                        <a:r>
                          <a:rPr lang="ru-RU" sz="2200" b="1" dirty="0" smtClean="0">
                            <a:solidFill>
                              <a:srgbClr val="FF0000"/>
                            </a:solidFill>
                            <a:latin typeface="Times New Roman" pitchFamily="18" charset="0"/>
                          </a:rPr>
                          <a:t>1111</a:t>
                        </a:r>
                        <a:r>
                          <a:rPr lang="en-US" sz="2200" dirty="0" smtClean="0">
                            <a:latin typeface="Times New Roman" pitchFamily="18" charset="0"/>
                          </a:rPr>
                          <a:t>000000000000</a:t>
                        </a:r>
                        <a:r>
                          <a:rPr lang="en-US" sz="2200" b="1" dirty="0">
                            <a:latin typeface="Times New Roman" pitchFamily="18" charset="0"/>
                          </a:rPr>
                          <a:t>)</a:t>
                        </a:r>
                        <a:endParaRPr lang="ru-RU" sz="2200" b="1" dirty="0">
                          <a:latin typeface="Times New Roman" pitchFamily="18" charset="0"/>
                        </a:endParaRPr>
                      </a:p>
                    </p:txBody>
                  </p:sp>
                  <p:grpSp>
                    <p:nvGrpSpPr>
                      <p:cNvPr id="47" name="Group 10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64" y="2389"/>
                        <a:ext cx="2519" cy="218"/>
                        <a:chOff x="1564" y="2371"/>
                        <a:chExt cx="2519" cy="103"/>
                      </a:xfrm>
                    </p:grpSpPr>
                    <p:sp>
                      <p:nvSpPr>
                        <p:cNvPr id="48" name="Line 9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1564" y="2371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49" name="Line 9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197" y="2375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50" name="Line 9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4083" y="2375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51" name="Line 9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2832" y="2375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  <p:sp>
                      <p:nvSpPr>
                        <p:cNvPr id="52" name="Line 9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448" y="2375"/>
                          <a:ext cx="0" cy="99"/>
                        </a:xfrm>
                        <a:prstGeom prst="line">
                          <a:avLst/>
                        </a:prstGeom>
                        <a:noFill/>
                        <a:ln w="38100">
                          <a:solidFill>
                            <a:schemeClr val="tx1"/>
                          </a:solidFill>
                          <a:round/>
                          <a:headEnd/>
                          <a:tailEnd type="stealth" w="med" len="med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ru-RU"/>
                        </a:p>
                      </p:txBody>
                    </p:sp>
                  </p:grpSp>
                </p:grpSp>
              </p:grpSp>
            </p:grpSp>
            <p:sp>
              <p:nvSpPr>
                <p:cNvPr id="36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177" y="490"/>
                  <a:ext cx="435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Verdana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endParaRPr lang="ru-RU" sz="2800" b="1" i="1">
                    <a:latin typeface="Times New Roman" pitchFamily="18" charset="0"/>
                  </a:endParaRPr>
                </a:p>
              </p:txBody>
            </p:sp>
            <p:sp>
              <p:nvSpPr>
                <p:cNvPr id="37" name="Line 111"/>
                <p:cNvSpPr>
                  <a:spLocks noChangeShapeType="1"/>
                </p:cNvSpPr>
                <p:nvPr/>
              </p:nvSpPr>
              <p:spPr bwMode="auto">
                <a:xfrm flipV="1">
                  <a:off x="188" y="539"/>
                  <a:ext cx="588" cy="399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  <p:grpSp>
            <p:nvGrpSpPr>
              <p:cNvPr id="19" name="Group 123"/>
              <p:cNvGrpSpPr>
                <a:grpSpLocks/>
              </p:cNvGrpSpPr>
              <p:nvPr/>
            </p:nvGrpSpPr>
            <p:grpSpPr bwMode="auto">
              <a:xfrm>
                <a:off x="657" y="2168"/>
                <a:ext cx="4419" cy="110"/>
                <a:chOff x="657" y="1877"/>
                <a:chExt cx="4419" cy="110"/>
              </a:xfrm>
            </p:grpSpPr>
            <p:sp>
              <p:nvSpPr>
                <p:cNvPr id="20" name="Line 124"/>
                <p:cNvSpPr>
                  <a:spLocks noChangeShapeType="1"/>
                </p:cNvSpPr>
                <p:nvPr/>
              </p:nvSpPr>
              <p:spPr bwMode="auto">
                <a:xfrm>
                  <a:off x="657" y="1877"/>
                  <a:ext cx="0" cy="9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1" name="Line 125"/>
                <p:cNvSpPr>
                  <a:spLocks noChangeShapeType="1"/>
                </p:cNvSpPr>
                <p:nvPr/>
              </p:nvSpPr>
              <p:spPr bwMode="auto">
                <a:xfrm>
                  <a:off x="1290" y="1881"/>
                  <a:ext cx="0" cy="9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2" name="Line 126"/>
                <p:cNvSpPr>
                  <a:spLocks noChangeShapeType="1"/>
                </p:cNvSpPr>
                <p:nvPr/>
              </p:nvSpPr>
              <p:spPr bwMode="auto">
                <a:xfrm>
                  <a:off x="3176" y="1881"/>
                  <a:ext cx="0" cy="9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3" name="Line 127"/>
                <p:cNvSpPr>
                  <a:spLocks noChangeShapeType="1"/>
                </p:cNvSpPr>
                <p:nvPr/>
              </p:nvSpPr>
              <p:spPr bwMode="auto">
                <a:xfrm>
                  <a:off x="1925" y="1881"/>
                  <a:ext cx="0" cy="9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4" name="Line 128"/>
                <p:cNvSpPr>
                  <a:spLocks noChangeShapeType="1"/>
                </p:cNvSpPr>
                <p:nvPr/>
              </p:nvSpPr>
              <p:spPr bwMode="auto">
                <a:xfrm>
                  <a:off x="2541" y="1881"/>
                  <a:ext cx="0" cy="9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5" name="Line 129"/>
                <p:cNvSpPr>
                  <a:spLocks noChangeShapeType="1"/>
                </p:cNvSpPr>
                <p:nvPr/>
              </p:nvSpPr>
              <p:spPr bwMode="auto">
                <a:xfrm>
                  <a:off x="3819" y="1877"/>
                  <a:ext cx="0" cy="9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6" name="Line 130"/>
                <p:cNvSpPr>
                  <a:spLocks noChangeShapeType="1"/>
                </p:cNvSpPr>
                <p:nvPr/>
              </p:nvSpPr>
              <p:spPr bwMode="auto">
                <a:xfrm>
                  <a:off x="4438" y="1877"/>
                  <a:ext cx="0" cy="9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  <p:sp>
              <p:nvSpPr>
                <p:cNvPr id="27" name="Line 131"/>
                <p:cNvSpPr>
                  <a:spLocks noChangeShapeType="1"/>
                </p:cNvSpPr>
                <p:nvPr/>
              </p:nvSpPr>
              <p:spPr bwMode="auto">
                <a:xfrm>
                  <a:off x="5076" y="1888"/>
                  <a:ext cx="0" cy="99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ru-RU"/>
                </a:p>
              </p:txBody>
            </p:sp>
          </p:grpSp>
        </p:grpSp>
        <p:grpSp>
          <p:nvGrpSpPr>
            <p:cNvPr id="10" name="Group 140"/>
            <p:cNvGrpSpPr>
              <a:grpSpLocks/>
            </p:cNvGrpSpPr>
            <p:nvPr/>
          </p:nvGrpSpPr>
          <p:grpSpPr bwMode="auto">
            <a:xfrm>
              <a:off x="1882" y="310"/>
              <a:ext cx="2132" cy="181"/>
              <a:chOff x="1882" y="346"/>
              <a:chExt cx="2132" cy="227"/>
            </a:xfrm>
          </p:grpSpPr>
          <p:sp>
            <p:nvSpPr>
              <p:cNvPr id="14" name="Line 137"/>
              <p:cNvSpPr>
                <a:spLocks noChangeShapeType="1"/>
              </p:cNvSpPr>
              <p:nvPr/>
            </p:nvSpPr>
            <p:spPr bwMode="auto">
              <a:xfrm>
                <a:off x="1882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5" name="Line 138"/>
              <p:cNvSpPr>
                <a:spLocks noChangeShapeType="1"/>
              </p:cNvSpPr>
              <p:nvPr/>
            </p:nvSpPr>
            <p:spPr bwMode="auto">
              <a:xfrm>
                <a:off x="4014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  <p:grpSp>
          <p:nvGrpSpPr>
            <p:cNvPr id="11" name="Group 144"/>
            <p:cNvGrpSpPr>
              <a:grpSpLocks/>
            </p:cNvGrpSpPr>
            <p:nvPr/>
          </p:nvGrpSpPr>
          <p:grpSpPr bwMode="auto">
            <a:xfrm>
              <a:off x="1909" y="3848"/>
              <a:ext cx="2132" cy="159"/>
              <a:chOff x="1882" y="346"/>
              <a:chExt cx="2132" cy="227"/>
            </a:xfrm>
          </p:grpSpPr>
          <p:sp>
            <p:nvSpPr>
              <p:cNvPr id="12" name="Line 145"/>
              <p:cNvSpPr>
                <a:spLocks noChangeShapeType="1"/>
              </p:cNvSpPr>
              <p:nvPr/>
            </p:nvSpPr>
            <p:spPr bwMode="auto">
              <a:xfrm>
                <a:off x="1882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  <p:sp>
            <p:nvSpPr>
              <p:cNvPr id="13" name="Line 146"/>
              <p:cNvSpPr>
                <a:spLocks noChangeShapeType="1"/>
              </p:cNvSpPr>
              <p:nvPr/>
            </p:nvSpPr>
            <p:spPr bwMode="auto">
              <a:xfrm>
                <a:off x="4014" y="346"/>
                <a:ext cx="0" cy="227"/>
              </a:xfrm>
              <a:prstGeom prst="line">
                <a:avLst/>
              </a:prstGeom>
              <a:noFill/>
              <a:ln w="635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ru-RU"/>
              </a:p>
            </p:txBody>
          </p:sp>
        </p:grpSp>
      </p:grpSp>
      <p:sp>
        <p:nvSpPr>
          <p:cNvPr id="113" name="Text Box 148"/>
          <p:cNvSpPr txBox="1">
            <a:spLocks noChangeArrowheads="1"/>
          </p:cNvSpPr>
          <p:nvPr/>
        </p:nvSpPr>
        <p:spPr bwMode="auto">
          <a:xfrm>
            <a:off x="771525" y="6350000"/>
            <a:ext cx="7632700" cy="307975"/>
          </a:xfrm>
          <a:prstGeom prst="rect">
            <a:avLst/>
          </a:prstGeom>
          <a:solidFill>
            <a:srgbClr val="FF0000">
              <a:alpha val="5803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uz-Cyrl-UZ" sz="2000" b="1" dirty="0" smtClean="0">
                <a:latin typeface="Times New Roman" pitchFamily="18" charset="0"/>
              </a:rPr>
              <a:t>Раунд функциясидан чиқиш</a:t>
            </a:r>
            <a:endParaRPr lang="ru-RU" sz="20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7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4380</TotalTime>
  <Words>1354</Words>
  <Application>Microsoft Office PowerPoint</Application>
  <PresentationFormat>On-screen Show (4:3)</PresentationFormat>
  <Paragraphs>541</Paragraphs>
  <Slides>16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Book Antiqua</vt:lpstr>
      <vt:lpstr>Calibri</vt:lpstr>
      <vt:lpstr>Symbol</vt:lpstr>
      <vt:lpstr>Times New Roman</vt:lpstr>
      <vt:lpstr>Wingdings</vt:lpstr>
      <vt:lpstr>Оформление по умолчанию</vt:lpstr>
      <vt:lpstr>Точечный рисунок</vt:lpstr>
      <vt:lpstr>Формула</vt:lpstr>
      <vt:lpstr>Microsoft Equation 3.0</vt:lpstr>
      <vt:lpstr>PowerPoint Presentation</vt:lpstr>
      <vt:lpstr>PowerPoint Presentation</vt:lpstr>
      <vt:lpstr>Кенгайтириш жадвали</vt:lpstr>
      <vt:lpstr>PowerPoint Presentation</vt:lpstr>
      <vt:lpstr>PowerPoint Presentation</vt:lpstr>
      <vt:lpstr>E-блокка кирувчи X17 битнинг ўзгариши</vt:lpstr>
      <vt:lpstr>P-блок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Microsoft Office</cp:lastModifiedBy>
  <cp:revision>179</cp:revision>
  <cp:lastPrinted>1601-01-01T00:00:00Z</cp:lastPrinted>
  <dcterms:created xsi:type="dcterms:W3CDTF">2011-09-06T09:23:06Z</dcterms:created>
  <dcterms:modified xsi:type="dcterms:W3CDTF">2022-06-15T05:10:28Z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