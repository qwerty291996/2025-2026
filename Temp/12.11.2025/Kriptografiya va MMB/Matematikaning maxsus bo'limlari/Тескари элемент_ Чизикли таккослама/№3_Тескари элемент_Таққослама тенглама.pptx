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99FF"/>
    <a:srgbClr val="000099"/>
    <a:srgbClr val="800000"/>
    <a:srgbClr val="99CCFF"/>
    <a:srgbClr val="CCECFF"/>
    <a:srgbClr val="003399"/>
    <a:srgbClr val="CCCC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47" autoAdjust="0"/>
    <p:restoredTop sz="97876" autoAdjust="0"/>
  </p:normalViewPr>
  <p:slideViewPr>
    <p:cSldViewPr>
      <p:cViewPr varScale="1">
        <p:scale>
          <a:sx n="111" d="100"/>
          <a:sy n="111" d="100"/>
        </p:scale>
        <p:origin x="-182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0BA8780-3345-4918-B258-50260F9BC632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3F38EA2-2D25-46F7-8550-47764AB5A07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91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73555C6-375E-4B61-925E-15FFA9FC6F02}" type="datetimeFigureOut">
              <a:rPr lang="ru-RU"/>
              <a:pPr>
                <a:defRPr/>
              </a:pPr>
              <a:t>21.08.2019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5B4BA5A-D549-448B-82C0-4373EE47A4C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9255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uz-Cyrl-UZ" altLang="uz-Cyrl-UZ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/>
            <a:fld id="{6A52CD6C-02BD-47DD-91EA-A9A705EE5987}" type="slidenum">
              <a:rPr lang="ru-RU" altLang="uz-Cyrl-UZ" smtClean="0"/>
              <a:pPr eaLnBrk="1" hangingPunct="1"/>
              <a:t>1</a:t>
            </a:fld>
            <a:endParaRPr lang="ru-RU" altLang="uz-Cyrl-U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573 h 1000"/>
              <a:gd name="T6" fmla="*/ 0 w 1000"/>
              <a:gd name="T7" fmla="*/ 11998573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5B02E-C2D3-4CDE-B94A-A1A4A8A1BB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743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E2ABD1-8BB2-4A97-B7ED-597DA37009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603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17539-FFF0-43F7-9B48-F204047044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310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81115B-5A19-4A86-9A9B-08994ABD411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8200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F40DCA-C58E-47C1-AF37-99F0034EF8A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452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CA6017-E5AD-4492-85F9-DC038D8B0B4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098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67D89B-9369-48B1-BD23-B4672846C91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46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4AB242-6B79-45D0-9CFF-CF3A828D6B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92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8BABB-A206-49FC-B435-0D5127D6E5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8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FFE4FA-556A-4D83-AF9A-AFC7E74637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35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225C-30D9-43B5-8E2E-641107B678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744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uz-Cyrl-UZ" smtClean="0"/>
              <a:t>Образец текста</a:t>
            </a:r>
          </a:p>
          <a:p>
            <a:pPr lvl="1"/>
            <a:r>
              <a:rPr lang="ru-RU" altLang="uz-Cyrl-UZ" smtClean="0"/>
              <a:t>Второй уровень</a:t>
            </a:r>
          </a:p>
          <a:p>
            <a:pPr lvl="2"/>
            <a:r>
              <a:rPr lang="ru-RU" altLang="uz-Cyrl-UZ" smtClean="0"/>
              <a:t>Третий уровень</a:t>
            </a:r>
          </a:p>
          <a:p>
            <a:pPr lvl="3"/>
            <a:r>
              <a:rPr lang="ru-RU" altLang="uz-Cyrl-UZ" smtClean="0"/>
              <a:t>Четвертый уровень</a:t>
            </a:r>
          </a:p>
          <a:p>
            <a:pPr lvl="4"/>
            <a:r>
              <a:rPr lang="ru-RU" altLang="uz-Cyrl-UZ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11998354 h 1000"/>
              <a:gd name="T6" fmla="*/ 0 w 1000"/>
              <a:gd name="T7" fmla="*/ 11998354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5D165-7FB5-4080-B087-95F0B7427A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9044" y="253977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03238" y="463550"/>
            <a:ext cx="8172450" cy="76835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uz-Cyrl-UZ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Тошкент ахборот технологиялари университети ҳузуридаги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Радиоэлектрон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тизимлар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ва</a:t>
            </a:r>
            <a:r>
              <a:rPr lang="ru-RU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ахборот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технологиялари</a:t>
            </a:r>
            <a:r>
              <a:rPr lang="en-US" sz="2200" b="1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 dirty="0" err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маркази</a:t>
            </a:r>
            <a:endParaRPr lang="ru-RU" sz="2200" dirty="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81088" y="1574800"/>
            <a:ext cx="688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93441" dir="12191915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uz-Cyrl-UZ" sz="3200" b="1" dirty="0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Математиканинг махсус бўлимлари</a:t>
            </a:r>
            <a:endParaRPr lang="ru-RU" sz="3200" b="1" dirty="0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468313" y="2744788"/>
            <a:ext cx="8064500" cy="208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ru-RU" sz="3400" b="1" dirty="0">
                <a:latin typeface="Times New Roman" pitchFamily="18" charset="0"/>
              </a:rPr>
              <a:t>Б</a:t>
            </a:r>
            <a:r>
              <a:rPr lang="uz-Cyrl-UZ" sz="3400" b="1" dirty="0">
                <a:latin typeface="Times New Roman" pitchFamily="18" charset="0"/>
              </a:rPr>
              <a:t>ерилган модул бўйича тескари элементни </a:t>
            </a:r>
            <a:r>
              <a:rPr lang="uz-Cyrl-UZ" sz="3400" b="1" dirty="0" smtClean="0">
                <a:latin typeface="Times New Roman" pitchFamily="18" charset="0"/>
              </a:rPr>
              <a:t>топиш</a:t>
            </a:r>
            <a:r>
              <a:rPr lang="en-US" sz="3400" b="1" dirty="0" smtClean="0">
                <a:latin typeface="Times New Roman" pitchFamily="18" charset="0"/>
              </a:rPr>
              <a:t>.</a:t>
            </a:r>
          </a:p>
          <a:p>
            <a:pPr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sz="3400" b="1" i="1" dirty="0" err="1">
                <a:latin typeface="Times New Roman" pitchFamily="18" charset="0"/>
              </a:rPr>
              <a:t>a</a:t>
            </a:r>
            <a:r>
              <a:rPr lang="en-US" sz="3400" b="1" dirty="0" err="1">
                <a:latin typeface="Times New Roman" pitchFamily="18" charset="0"/>
              </a:rPr>
              <a:t>x≡</a:t>
            </a:r>
            <a:r>
              <a:rPr lang="en-US" sz="3400" b="1" i="1" dirty="0" err="1">
                <a:latin typeface="Times New Roman" pitchFamily="18" charset="0"/>
              </a:rPr>
              <a:t>c</a:t>
            </a:r>
            <a:r>
              <a:rPr lang="en-US" sz="3400" b="1" dirty="0">
                <a:latin typeface="Times New Roman" pitchFamily="18" charset="0"/>
              </a:rPr>
              <a:t>(mod </a:t>
            </a:r>
            <a:r>
              <a:rPr lang="en-US" sz="3400" b="1" i="1" dirty="0">
                <a:latin typeface="Times New Roman" pitchFamily="18" charset="0"/>
              </a:rPr>
              <a:t>m</a:t>
            </a:r>
            <a:r>
              <a:rPr lang="en-US" sz="3400" b="1" dirty="0">
                <a:latin typeface="Times New Roman" pitchFamily="18" charset="0"/>
              </a:rPr>
              <a:t>) </a:t>
            </a:r>
            <a:r>
              <a:rPr lang="uz-Cyrl-UZ" sz="3400" b="1" dirty="0">
                <a:latin typeface="Times New Roman" pitchFamily="18" charset="0"/>
              </a:rPr>
              <a:t>таққослама </a:t>
            </a:r>
            <a:r>
              <a:rPr lang="uz-Cyrl-UZ" sz="3400" b="1" dirty="0" smtClean="0">
                <a:latin typeface="Times New Roman" pitchFamily="18" charset="0"/>
              </a:rPr>
              <a:t>тенгламани ечиш</a:t>
            </a:r>
            <a:endParaRPr lang="en-US" sz="3400" b="1" dirty="0" smtClean="0">
              <a:latin typeface="Times New Roman" pitchFamily="18" charset="0"/>
            </a:endParaRPr>
          </a:p>
        </p:txBody>
      </p:sp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2987675" y="6057900"/>
            <a:ext cx="3241675" cy="34925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marL="469900" indent="-469900"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</a:pPr>
            <a:r>
              <a:rPr lang="uz-Cyrl-UZ" altLang="uz-Cyrl-UZ" b="1">
                <a:latin typeface="Times New Roman" pitchFamily="18" charset="0"/>
              </a:rPr>
              <a:t>Тошкент – 2019</a:t>
            </a:r>
            <a:endParaRPr lang="ru-RU" altLang="uz-Cyrl-UZ">
              <a:solidFill>
                <a:srgbClr val="0033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57315"/>
            <a:ext cx="8984810" cy="6634663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249238"/>
            <a:ext cx="8316912" cy="4429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Берилган модул бўйича текари элементни топиш</a:t>
            </a:r>
            <a:endParaRPr lang="ru-RU" sz="230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4103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1131888"/>
            <a:ext cx="8753475" cy="4710112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just"/>
            <a:r>
              <a:rPr kumimoji="1" lang="uz-Cyrl-UZ" altLang="zh-CN" sz="2200">
                <a:solidFill>
                  <a:schemeClr val="accent2"/>
                </a:solidFill>
                <a:latin typeface="Times New Roman" pitchFamily="18" charset="0"/>
              </a:rPr>
              <a:t>Теорема-1.</a:t>
            </a:r>
            <a:r>
              <a:rPr kumimoji="1" lang="uz-Cyrl-UZ" altLang="zh-CN" sz="2200">
                <a:solidFill>
                  <a:srgbClr val="003399"/>
                </a:solidFill>
                <a:latin typeface="Times New Roman" pitchFamily="18" charset="0"/>
              </a:rPr>
              <a:t> </a:t>
            </a:r>
            <a:r>
              <a:rPr kumimoji="1" lang="uz-Cyrl-UZ" altLang="zh-CN" sz="2200">
                <a:latin typeface="Times New Roman" pitchFamily="18" charset="0"/>
              </a:rPr>
              <a:t>Агар </a:t>
            </a:r>
            <a:r>
              <a:rPr kumimoji="1" lang="uz-Cyrl-UZ" altLang="zh-CN" sz="2200" i="1">
                <a:latin typeface="Times New Roman" pitchFamily="18" charset="0"/>
              </a:rPr>
              <a:t>а</a:t>
            </a:r>
            <a:r>
              <a:rPr kumimoji="1" lang="uz-Cyrl-UZ" altLang="zh-CN" sz="2200">
                <a:latin typeface="Times New Roman" pitchFamily="18" charset="0"/>
              </a:rPr>
              <a:t> ва </a:t>
            </a:r>
            <a:r>
              <a:rPr kumimoji="1" lang="uz-Cyrl-UZ" altLang="zh-CN" sz="2200" i="1">
                <a:latin typeface="Times New Roman" pitchFamily="18" charset="0"/>
              </a:rPr>
              <a:t>n </a:t>
            </a:r>
            <a:r>
              <a:rPr kumimoji="1" lang="uz-Cyrl-UZ" altLang="zh-CN" sz="2200">
                <a:latin typeface="Times New Roman" pitchFamily="18" charset="0"/>
              </a:rPr>
              <a:t>бутун сонлар ўзаро туб бўлса, шундай </a:t>
            </a:r>
            <a:r>
              <a:rPr kumimoji="1" lang="uz-Cyrl-UZ" altLang="zh-CN" sz="2200" i="1">
                <a:latin typeface="Times New Roman" pitchFamily="18" charset="0"/>
              </a:rPr>
              <a:t>а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-1</a:t>
            </a:r>
            <a:r>
              <a:rPr kumimoji="1" lang="uz-Cyrl-UZ" altLang="zh-CN" sz="2200">
                <a:latin typeface="Times New Roman" pitchFamily="18" charset="0"/>
              </a:rPr>
              <a:t> сон 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200">
                <a:latin typeface="Times New Roman" pitchFamily="18" charset="0"/>
              </a:rPr>
              <a:t>мавжуд бўлиб,</a:t>
            </a:r>
            <a:endParaRPr kumimoji="1" lang="en-US" altLang="zh-CN" sz="2200">
              <a:latin typeface="Times New Roman" pitchFamily="18" charset="0"/>
              <a:ea typeface="宋体" charset="-122"/>
            </a:endParaRPr>
          </a:p>
          <a:p>
            <a:pPr algn="ctr"/>
            <a:r>
              <a:rPr kumimoji="1" lang="ru-RU" altLang="zh-CN" sz="2200" b="1" i="1">
                <a:latin typeface="Times New Roman" pitchFamily="18" charset="0"/>
              </a:rPr>
              <a:t>а</a:t>
            </a:r>
            <a:r>
              <a:rPr kumimoji="1" lang="uz-Cyrl-UZ" altLang="zh-CN" sz="2200" b="1" i="1">
                <a:latin typeface="Times New Roman" pitchFamily="18" charset="0"/>
              </a:rPr>
              <a:t> </a:t>
            </a:r>
            <a:r>
              <a:rPr kumimoji="1" lang="uz-Cyrl-UZ" altLang="zh-CN" sz="2200" b="1" i="1" baseline="30000">
                <a:latin typeface="Times New Roman" pitchFamily="18" charset="0"/>
              </a:rPr>
              <a:t>.</a:t>
            </a:r>
            <a:r>
              <a:rPr kumimoji="1" lang="ru-RU" altLang="zh-CN" sz="2200" b="1" i="1">
                <a:latin typeface="Times New Roman" pitchFamily="18" charset="0"/>
              </a:rPr>
              <a:t>а</a:t>
            </a:r>
            <a:r>
              <a:rPr kumimoji="1" lang="en-US" altLang="zh-CN" sz="2200" b="1" i="1" baseline="30000">
                <a:latin typeface="Times New Roman" pitchFamily="18" charset="0"/>
                <a:ea typeface="宋体" charset="-122"/>
              </a:rPr>
              <a:t>-1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  <a:cs typeface="Times New Roman" pitchFamily="18" charset="0"/>
              </a:rPr>
              <a:t>≡</a:t>
            </a:r>
            <a:r>
              <a:rPr kumimoji="1" lang="ru-RU" altLang="zh-CN" sz="2200" b="1" i="1">
                <a:latin typeface="Times New Roman" pitchFamily="18" charset="0"/>
              </a:rPr>
              <a:t>1(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</a:rPr>
              <a:t>mod n</a:t>
            </a:r>
            <a:r>
              <a:rPr kumimoji="1" lang="ru-RU" altLang="zh-CN" sz="2200" b="1" i="1">
                <a:latin typeface="Times New Roman" pitchFamily="18" charset="0"/>
              </a:rPr>
              <a:t>)</a:t>
            </a:r>
            <a:endParaRPr kumimoji="1" lang="en-US" altLang="zh-CN" sz="2200" b="1" i="1">
              <a:latin typeface="Times New Roman" pitchFamily="18" charset="0"/>
              <a:ea typeface="宋体" charset="-122"/>
            </a:endParaRPr>
          </a:p>
          <a:p>
            <a:pPr algn="ctr"/>
            <a:endParaRPr kumimoji="1" lang="ru-RU" altLang="zh-CN" sz="500" b="1" i="1">
              <a:latin typeface="Times New Roman" pitchFamily="18" charset="0"/>
            </a:endParaRPr>
          </a:p>
          <a:p>
            <a:pPr algn="just"/>
            <a:r>
              <a:rPr kumimoji="1" lang="en-US" altLang="zh-CN" sz="2200">
                <a:latin typeface="Times New Roman" pitchFamily="18" charset="0"/>
                <a:ea typeface="宋体" charset="-122"/>
              </a:rPr>
              <a:t>	</a:t>
            </a:r>
            <a:r>
              <a:rPr kumimoji="1" lang="ru-RU" altLang="zh-CN" sz="2200">
                <a:latin typeface="Times New Roman" pitchFamily="18" charset="0"/>
              </a:rPr>
              <a:t>та</a:t>
            </a:r>
            <a:r>
              <a:rPr kumimoji="1" lang="uz-Cyrl-UZ" altLang="zh-CN" sz="2200">
                <a:latin typeface="Times New Roman" pitchFamily="18" charset="0"/>
              </a:rPr>
              <a:t>ққ</a:t>
            </a:r>
            <a:r>
              <a:rPr kumimoji="1" lang="ru-RU" altLang="zh-CN" sz="2200">
                <a:latin typeface="Times New Roman" pitchFamily="18" charset="0"/>
              </a:rPr>
              <a:t>ослама ўринли  бўлади. </a:t>
            </a:r>
            <a:endParaRPr kumimoji="1" lang="en-US" altLang="zh-CN" sz="2200">
              <a:latin typeface="Times New Roman" pitchFamily="18" charset="0"/>
              <a:ea typeface="宋体" charset="-122"/>
            </a:endParaRPr>
          </a:p>
          <a:p>
            <a:pPr algn="just"/>
            <a:endParaRPr kumimoji="1" lang="en-US" altLang="zh-CN" sz="1000">
              <a:latin typeface="Times New Roman" pitchFamily="18" charset="0"/>
              <a:ea typeface="宋体" charset="-122"/>
            </a:endParaRPr>
          </a:p>
          <a:p>
            <a:pPr algn="just"/>
            <a:r>
              <a:rPr kumimoji="1" lang="en-US" altLang="zh-CN" sz="2200">
                <a:latin typeface="Times New Roman" pitchFamily="18" charset="0"/>
                <a:ea typeface="宋体" charset="-122"/>
              </a:rPr>
              <a:t>	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a</a:t>
            </a:r>
            <a:r>
              <a:rPr kumimoji="1" lang="ru-RU" altLang="zh-CN" sz="2200" i="1" baseline="30000">
                <a:latin typeface="Times New Roman" pitchFamily="18" charset="0"/>
              </a:rPr>
              <a:t>-1</a:t>
            </a:r>
            <a:r>
              <a:rPr kumimoji="1" lang="ru-RU" altLang="zh-CN" sz="2200">
                <a:latin typeface="Times New Roman" pitchFamily="18" charset="0"/>
              </a:rPr>
              <a:t> </a:t>
            </a:r>
            <a:r>
              <a:rPr kumimoji="1" lang="uz-Cyrl-UZ" altLang="zh-CN" sz="2200">
                <a:latin typeface="Times New Roman" pitchFamily="18" charset="0"/>
              </a:rPr>
              <a:t>сон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200">
                <a:latin typeface="Times New Roman" pitchFamily="18" charset="0"/>
              </a:rPr>
              <a:t>сонига берилган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n</a:t>
            </a:r>
            <a:r>
              <a:rPr kumimoji="1" lang="uz-Cyrl-UZ" altLang="zh-CN" sz="2200">
                <a:latin typeface="Times New Roman" pitchFamily="18" charset="0"/>
              </a:rPr>
              <a:t> модул бўйича </a:t>
            </a:r>
            <a:r>
              <a:rPr kumimoji="1" lang="uz-Cyrl-UZ" altLang="zh-CN" sz="2200" b="1" i="1">
                <a:latin typeface="Times New Roman" pitchFamily="18" charset="0"/>
              </a:rPr>
              <a:t>тескари элемент 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200">
                <a:latin typeface="Times New Roman" pitchFamily="18" charset="0"/>
              </a:rPr>
              <a:t>дейилиб, қуйидагича аниқланади:</a:t>
            </a:r>
            <a:endParaRPr kumimoji="1" lang="en-US" altLang="zh-CN" sz="2200">
              <a:latin typeface="Times New Roman" pitchFamily="18" charset="0"/>
              <a:ea typeface="宋体" charset="-122"/>
            </a:endParaRPr>
          </a:p>
          <a:p>
            <a:pPr algn="just"/>
            <a:endParaRPr kumimoji="1" lang="en-US" altLang="zh-CN" sz="500">
              <a:latin typeface="Times New Roman" pitchFamily="18" charset="0"/>
              <a:ea typeface="宋体" charset="-122"/>
            </a:endParaRPr>
          </a:p>
          <a:p>
            <a:pPr algn="ctr"/>
            <a:r>
              <a:rPr kumimoji="1" lang="ru-RU" altLang="zh-CN" sz="2200" b="1" i="1">
                <a:latin typeface="Times New Roman" pitchFamily="18" charset="0"/>
              </a:rPr>
              <a:t>а</a:t>
            </a:r>
            <a:r>
              <a:rPr kumimoji="1" lang="uz-Cyrl-UZ" altLang="zh-CN" sz="2200" b="1" i="1" baseline="30000">
                <a:latin typeface="Times New Roman" pitchFamily="18" charset="0"/>
              </a:rPr>
              <a:t>-1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</a:rPr>
              <a:t>≡a</a:t>
            </a:r>
            <a:r>
              <a:rPr kumimoji="1" lang="el-GR" altLang="zh-CN" sz="2200" b="1" i="1" baseline="30000">
                <a:latin typeface="Times New Roman" pitchFamily="18" charset="0"/>
              </a:rPr>
              <a:t>φ</a:t>
            </a:r>
            <a:r>
              <a:rPr kumimoji="1" lang="en-US" altLang="zh-CN" sz="2200" b="1" i="1" baseline="30000">
                <a:latin typeface="Times New Roman" pitchFamily="18" charset="0"/>
                <a:ea typeface="宋体" charset="-122"/>
              </a:rPr>
              <a:t>(n)-</a:t>
            </a:r>
            <a:r>
              <a:rPr kumimoji="1" lang="ru-RU" altLang="zh-CN" sz="2200" b="1" i="1" baseline="30000">
                <a:latin typeface="Times New Roman" pitchFamily="18" charset="0"/>
              </a:rPr>
              <a:t>1</a:t>
            </a:r>
            <a:r>
              <a:rPr kumimoji="1" lang="ru-RU" altLang="zh-CN" sz="2200" b="1" i="1">
                <a:latin typeface="Times New Roman" pitchFamily="18" charset="0"/>
              </a:rPr>
              <a:t>(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</a:rPr>
              <a:t>mod n</a:t>
            </a:r>
            <a:r>
              <a:rPr kumimoji="1" lang="ru-RU" altLang="zh-CN" sz="2200" b="1" i="1">
                <a:latin typeface="Times New Roman" pitchFamily="18" charset="0"/>
              </a:rPr>
              <a:t>)</a:t>
            </a:r>
            <a:r>
              <a:rPr kumimoji="1" lang="en-US" altLang="zh-CN" sz="2200" b="1" i="1">
                <a:latin typeface="Times New Roman" pitchFamily="18" charset="0"/>
                <a:ea typeface="宋体" charset="-122"/>
              </a:rPr>
              <a:t>.</a:t>
            </a:r>
          </a:p>
          <a:p>
            <a:pPr algn="ctr"/>
            <a:endParaRPr kumimoji="1" lang="ru-RU" altLang="zh-CN" sz="1200" b="1" i="1">
              <a:latin typeface="Times New Roman" pitchFamily="18" charset="0"/>
            </a:endParaRPr>
          </a:p>
          <a:p>
            <a:pPr algn="just">
              <a:spcAft>
                <a:spcPct val="10000"/>
              </a:spcAft>
            </a:pPr>
            <a:r>
              <a:rPr kumimoji="1" lang="uz-Cyrl-UZ" altLang="zh-CN" sz="2200">
                <a:solidFill>
                  <a:schemeClr val="accent2"/>
                </a:solidFill>
                <a:latin typeface="Times New Roman" pitchFamily="18" charset="0"/>
              </a:rPr>
              <a:t>Мисол. </a:t>
            </a:r>
            <a:r>
              <a:rPr kumimoji="1" lang="en-US" altLang="zh-CN" sz="220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1)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a=25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n=7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200">
                <a:latin typeface="Times New Roman" pitchFamily="18" charset="0"/>
              </a:rPr>
              <a:t>бўлса, </a:t>
            </a:r>
            <a:r>
              <a:rPr kumimoji="1" lang="ru-RU" altLang="zh-CN" sz="2200" i="1">
                <a:latin typeface="Times New Roman" pitchFamily="18" charset="0"/>
              </a:rPr>
              <a:t>а</a:t>
            </a:r>
            <a:r>
              <a:rPr kumimoji="1" lang="uz-Cyrl-UZ" altLang="zh-CN" sz="2200" i="1" baseline="30000">
                <a:latin typeface="Times New Roman" pitchFamily="18" charset="0"/>
              </a:rPr>
              <a:t>-1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</a:t>
            </a:r>
            <a:r>
              <a:rPr kumimoji="1" lang="uz-Cyrl-UZ" altLang="zh-CN" sz="2200" i="1">
                <a:latin typeface="Times New Roman" pitchFamily="18" charset="0"/>
              </a:rPr>
              <a:t>25</a:t>
            </a:r>
            <a:r>
              <a:rPr kumimoji="1" lang="el-GR" altLang="zh-CN" sz="2200" i="1" baseline="30000">
                <a:latin typeface="Times New Roman" pitchFamily="18" charset="0"/>
              </a:rPr>
              <a:t>φ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(</a:t>
            </a:r>
            <a:r>
              <a:rPr kumimoji="1" lang="uz-Cyrl-UZ" altLang="zh-CN" sz="2200" i="1" baseline="30000">
                <a:latin typeface="Times New Roman" pitchFamily="18" charset="0"/>
              </a:rPr>
              <a:t>7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)-</a:t>
            </a:r>
            <a:r>
              <a:rPr kumimoji="1" lang="ru-RU" altLang="zh-CN" sz="2200" i="1" baseline="30000">
                <a:latin typeface="Times New Roman" pitchFamily="18" charset="0"/>
              </a:rPr>
              <a:t>1</a:t>
            </a:r>
            <a:r>
              <a:rPr kumimoji="1" lang="ru-RU" altLang="zh-CN" sz="2200" i="1">
                <a:latin typeface="Times New Roman" pitchFamily="18" charset="0"/>
              </a:rPr>
              <a:t>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</a:t>
            </a:r>
            <a:r>
              <a:rPr kumimoji="1" lang="uz-Cyrl-UZ" altLang="zh-CN" sz="2200" i="1">
                <a:latin typeface="Times New Roman" pitchFamily="18" charset="0"/>
              </a:rPr>
              <a:t>7</a:t>
            </a:r>
            <a:r>
              <a:rPr kumimoji="1" lang="ru-RU" altLang="zh-CN" sz="2200" i="1">
                <a:latin typeface="Times New Roman" pitchFamily="18" charset="0"/>
              </a:rPr>
              <a:t>)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</a:t>
            </a:r>
            <a:r>
              <a:rPr kumimoji="1" lang="uz-Cyrl-UZ" altLang="zh-CN" sz="2200" i="1">
                <a:latin typeface="Times New Roman" pitchFamily="18" charset="0"/>
              </a:rPr>
              <a:t>25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5</a:t>
            </a:r>
            <a:r>
              <a:rPr kumimoji="1" lang="ru-RU" altLang="zh-CN" sz="2200" i="1">
                <a:latin typeface="Times New Roman" pitchFamily="18" charset="0"/>
              </a:rPr>
              <a:t>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</a:t>
            </a:r>
            <a:r>
              <a:rPr kumimoji="1" lang="uz-Cyrl-UZ" altLang="zh-CN" sz="2200" i="1">
                <a:latin typeface="Times New Roman" pitchFamily="18" charset="0"/>
              </a:rPr>
              <a:t>7</a:t>
            </a:r>
            <a:r>
              <a:rPr kumimoji="1" lang="ru-RU" altLang="zh-CN" sz="2200" i="1">
                <a:latin typeface="Times New Roman" pitchFamily="18" charset="0"/>
              </a:rPr>
              <a:t>)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≡4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5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(mod 7)≡2.</a:t>
            </a:r>
          </a:p>
          <a:p>
            <a:pPr algn="just">
              <a:spcAft>
                <a:spcPct val="10000"/>
              </a:spcAft>
            </a:pP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200">
                <a:latin typeface="Times New Roman" pitchFamily="18" charset="0"/>
              </a:rPr>
              <a:t>Текшириш: </a:t>
            </a:r>
            <a:r>
              <a:rPr kumimoji="1" lang="uz-Cyrl-UZ" altLang="zh-CN" sz="2200" i="1">
                <a:latin typeface="Times New Roman" pitchFamily="18" charset="0"/>
              </a:rPr>
              <a:t>25</a:t>
            </a:r>
            <a:r>
              <a:rPr kumimoji="1" lang="uz-Cyrl-UZ" altLang="zh-CN" sz="2200" b="1" i="1" baseline="30000">
                <a:latin typeface="Times New Roman" pitchFamily="18" charset="0"/>
              </a:rPr>
              <a:t>.</a:t>
            </a:r>
            <a:r>
              <a:rPr kumimoji="1" lang="uz-Cyrl-UZ" altLang="zh-CN" sz="2200" i="1">
                <a:latin typeface="Times New Roman" pitchFamily="18" charset="0"/>
              </a:rPr>
              <a:t>2(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7</a:t>
            </a:r>
            <a:r>
              <a:rPr kumimoji="1" lang="uz-Cyrl-UZ" altLang="zh-CN" sz="2200" i="1">
                <a:latin typeface="Times New Roman" pitchFamily="18" charset="0"/>
              </a:rPr>
              <a:t>)</a:t>
            </a:r>
            <a:r>
              <a:rPr kumimoji="1" lang="uz-Cyrl-UZ" altLang="zh-CN" sz="2200" i="1">
                <a:latin typeface="Times New Roman" pitchFamily="18" charset="0"/>
                <a:cs typeface="Times New Roman" pitchFamily="18" charset="0"/>
              </a:rPr>
              <a:t>≡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49(mod 7)≡1.</a:t>
            </a:r>
          </a:p>
          <a:p>
            <a:pPr algn="just">
              <a:spcAft>
                <a:spcPct val="10000"/>
              </a:spcAft>
            </a:pPr>
            <a:endParaRPr kumimoji="1" lang="en-US" altLang="zh-CN" sz="1000" i="1">
              <a:latin typeface="Times New Roman" pitchFamily="18" charset="0"/>
              <a:ea typeface="宋体" charset="-122"/>
            </a:endParaRPr>
          </a:p>
          <a:p>
            <a:pPr algn="just">
              <a:spcAft>
                <a:spcPct val="10000"/>
              </a:spcAft>
            </a:pPr>
            <a:r>
              <a:rPr kumimoji="1" lang="en-US" altLang="zh-CN" sz="220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	 2)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a=5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n=14</a:t>
            </a:r>
            <a:r>
              <a:rPr kumimoji="1" lang="en-US" altLang="zh-CN" sz="22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200">
                <a:latin typeface="Times New Roman" pitchFamily="18" charset="0"/>
              </a:rPr>
              <a:t>бўлса, </a:t>
            </a:r>
            <a:r>
              <a:rPr kumimoji="1" lang="ru-RU" altLang="zh-CN" sz="2200" i="1">
                <a:latin typeface="Times New Roman" pitchFamily="18" charset="0"/>
              </a:rPr>
              <a:t>а</a:t>
            </a:r>
            <a:r>
              <a:rPr kumimoji="1" lang="uz-Cyrl-UZ" altLang="zh-CN" sz="2200" i="1" baseline="30000">
                <a:latin typeface="Times New Roman" pitchFamily="18" charset="0"/>
              </a:rPr>
              <a:t>-1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</a:t>
            </a:r>
            <a:r>
              <a:rPr kumimoji="1" lang="uz-Cyrl-UZ" altLang="zh-CN" sz="2200" i="1">
                <a:latin typeface="Times New Roman" pitchFamily="18" charset="0"/>
              </a:rPr>
              <a:t>5</a:t>
            </a:r>
            <a:r>
              <a:rPr kumimoji="1" lang="el-GR" altLang="zh-CN" sz="2200" i="1" baseline="30000">
                <a:latin typeface="Times New Roman" pitchFamily="18" charset="0"/>
              </a:rPr>
              <a:t>φ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(14)-</a:t>
            </a:r>
            <a:r>
              <a:rPr kumimoji="1" lang="ru-RU" altLang="zh-CN" sz="2200" i="1" baseline="30000">
                <a:latin typeface="Times New Roman" pitchFamily="18" charset="0"/>
              </a:rPr>
              <a:t>1</a:t>
            </a:r>
            <a:r>
              <a:rPr kumimoji="1" lang="ru-RU" altLang="zh-CN" sz="2200" i="1">
                <a:latin typeface="Times New Roman" pitchFamily="18" charset="0"/>
              </a:rPr>
              <a:t>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14</a:t>
            </a:r>
            <a:r>
              <a:rPr kumimoji="1" lang="ru-RU" altLang="zh-CN" sz="2200" i="1">
                <a:latin typeface="Times New Roman" pitchFamily="18" charset="0"/>
              </a:rPr>
              <a:t>)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</a:t>
            </a:r>
            <a:r>
              <a:rPr kumimoji="1" lang="uz-Cyrl-UZ" altLang="zh-CN" sz="2200" i="1">
                <a:latin typeface="Times New Roman" pitchFamily="18" charset="0"/>
              </a:rPr>
              <a:t>5</a:t>
            </a:r>
            <a:r>
              <a:rPr kumimoji="1" lang="en-US" altLang="zh-CN" sz="2200" i="1" baseline="30000">
                <a:latin typeface="Times New Roman" pitchFamily="18" charset="0"/>
                <a:ea typeface="宋体" charset="-122"/>
              </a:rPr>
              <a:t>5</a:t>
            </a:r>
            <a:r>
              <a:rPr kumimoji="1" lang="ru-RU" altLang="zh-CN" sz="2200" i="1">
                <a:latin typeface="Times New Roman" pitchFamily="18" charset="0"/>
              </a:rPr>
              <a:t>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14</a:t>
            </a:r>
            <a:r>
              <a:rPr kumimoji="1" lang="ru-RU" altLang="zh-CN" sz="2200" i="1">
                <a:latin typeface="Times New Roman" pitchFamily="18" charset="0"/>
              </a:rPr>
              <a:t>)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≡3.</a:t>
            </a:r>
            <a:endParaRPr kumimoji="1" lang="uz-Cyrl-UZ" altLang="zh-CN" sz="2200" i="1">
              <a:latin typeface="Times New Roman" pitchFamily="18" charset="0"/>
            </a:endParaRPr>
          </a:p>
          <a:p>
            <a:pPr algn="just"/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200">
                <a:latin typeface="Times New Roman" pitchFamily="18" charset="0"/>
              </a:rPr>
              <a:t>Текшириш: 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5</a:t>
            </a:r>
            <a:r>
              <a:rPr kumimoji="1" lang="uz-Cyrl-UZ" altLang="zh-CN" sz="2200" b="1" i="1" baseline="30000">
                <a:latin typeface="Times New Roman" pitchFamily="18" charset="0"/>
              </a:rPr>
              <a:t>.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3</a:t>
            </a:r>
            <a:r>
              <a:rPr kumimoji="1" lang="uz-Cyrl-UZ" altLang="zh-CN" sz="2200" i="1">
                <a:latin typeface="Times New Roman" pitchFamily="18" charset="0"/>
              </a:rPr>
              <a:t>(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mod 14</a:t>
            </a:r>
            <a:r>
              <a:rPr kumimoji="1" lang="uz-Cyrl-UZ" altLang="zh-CN" sz="2200" i="1">
                <a:latin typeface="Times New Roman" pitchFamily="18" charset="0"/>
              </a:rPr>
              <a:t>)≡</a:t>
            </a:r>
            <a:r>
              <a:rPr kumimoji="1" lang="en-US" altLang="zh-CN" sz="2200" i="1">
                <a:latin typeface="Times New Roman" pitchFamily="18" charset="0"/>
                <a:ea typeface="宋体" charset="-122"/>
              </a:rPr>
              <a:t>15(mod 14)≡1.</a:t>
            </a:r>
            <a:endParaRPr kumimoji="1" lang="uz-Cyrl-UZ" altLang="zh-CN" sz="2200" i="1">
              <a:latin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3944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175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590550"/>
            <a:ext cx="8628063" cy="60483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/>
          <a:p>
            <a:pPr indent="355600" algn="just">
              <a:spcAft>
                <a:spcPct val="10000"/>
              </a:spcAft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9138" y="981075"/>
          <a:ext cx="36861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294"/>
                <a:gridCol w="643106"/>
                <a:gridCol w="538568"/>
                <a:gridCol w="2034207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932363" y="2312988"/>
          <a:ext cx="3578225" cy="329247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111"/>
                <a:gridCol w="537088"/>
                <a:gridCol w="537088"/>
                <a:gridCol w="2033938"/>
              </a:tblGrid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199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590550"/>
            <a:ext cx="8628063" cy="60483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/>
          <a:p>
            <a:pPr indent="355600" algn="just">
              <a:spcAft>
                <a:spcPct val="10000"/>
              </a:spcAft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9138" y="981075"/>
          <a:ext cx="36861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294"/>
                <a:gridCol w="643106"/>
                <a:gridCol w="538568"/>
                <a:gridCol w="2034207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932363" y="2312988"/>
          <a:ext cx="3578225" cy="329247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111"/>
                <a:gridCol w="537088"/>
                <a:gridCol w="537088"/>
                <a:gridCol w="2033938"/>
              </a:tblGrid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sz="1800" i="0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19" marR="91419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5" marR="68565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57315"/>
            <a:ext cx="8984810" cy="6634663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uz-Cyrl-UZ" sz="2400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ax</a:t>
            </a:r>
            <a:r>
              <a:rPr lang="en-US" altLang="uz-Cyrl-UZ" sz="2400" b="1" i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≡c</a:t>
            </a:r>
            <a:r>
              <a:rPr lang="en-US" altLang="uz-Cyrl-UZ" sz="2400" b="1" i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(mod m)</a:t>
            </a:r>
            <a:r>
              <a:rPr lang="en-US" altLang="uz-Cyrl-UZ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altLang="uz-Cyrl-UZ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таққослама тенглама</a:t>
            </a:r>
            <a:endParaRPr lang="en-US" altLang="uz-Cyrl-UZ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3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1265238"/>
            <a:ext cx="8753475" cy="504983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/>
          <a:p>
            <a:pPr algn="just"/>
            <a:r>
              <a:rPr kumimoji="1" lang="uz-Cyrl-UZ" altLang="zh-CN" sz="2400">
                <a:solidFill>
                  <a:schemeClr val="accent2"/>
                </a:solidFill>
                <a:latin typeface="Times New Roman" pitchFamily="18" charset="0"/>
              </a:rPr>
              <a:t>Теорема-1.</a:t>
            </a:r>
            <a:r>
              <a:rPr kumimoji="1" lang="uz-Cyrl-UZ" altLang="zh-CN" sz="2400">
                <a:solidFill>
                  <a:srgbClr val="003399"/>
                </a:solidFill>
                <a:latin typeface="Times New Roman" pitchFamily="18" charset="0"/>
              </a:rPr>
              <a:t> 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ax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cs typeface="Times New Roman" pitchFamily="18" charset="0"/>
              </a:rPr>
              <a:t>≡c(mod m)</a:t>
            </a:r>
            <a:r>
              <a:rPr kumimoji="1" lang="en-US" altLang="zh-CN" sz="240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таққослама тенглама </a:t>
            </a:r>
            <a:r>
              <a:rPr kumimoji="1" lang="uz-Cyrl-UZ" altLang="zh-CN" sz="2400" i="1">
                <a:latin typeface="Times New Roman" pitchFamily="18" charset="0"/>
                <a:cs typeface="Times New Roman" pitchFamily="18" charset="0"/>
              </a:rPr>
              <a:t>с:ЭКУБ(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a,m</a:t>
            </a:r>
            <a:r>
              <a:rPr kumimoji="1" lang="uz-Cyrl-UZ" altLang="zh-CN" sz="2400" i="1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 бўлганда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чекли бутун ечимга эга бўлиб, унинг ечими қуйидагига тенг: </a:t>
            </a:r>
          </a:p>
          <a:p>
            <a:pPr algn="ctr"/>
            <a:endParaRPr kumimoji="1" lang="en-US" altLang="zh-CN" sz="2400" b="1" i="1">
              <a:latin typeface="Times New Roman" pitchFamily="18" charset="0"/>
              <a:ea typeface="宋体" charset="-122"/>
            </a:endParaRPr>
          </a:p>
          <a:p>
            <a:pPr algn="ctr"/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x=(x</a:t>
            </a:r>
            <a:r>
              <a:rPr kumimoji="1" lang="en-US" altLang="zh-CN" sz="2400" b="1" i="1" baseline="-25000">
                <a:latin typeface="Times New Roman" pitchFamily="18" charset="0"/>
                <a:ea typeface="宋体" charset="-122"/>
              </a:rPr>
              <a:t>o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+t 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m/</a:t>
            </a:r>
            <a:r>
              <a:rPr kumimoji="1" lang="uz-Cyrl-UZ" altLang="zh-CN" sz="2400" b="1" i="1">
                <a:latin typeface="Times New Roman" pitchFamily="18" charset="0"/>
              </a:rPr>
              <a:t>ЭКУБ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(a,m)) (mod m)</a:t>
            </a:r>
          </a:p>
          <a:p>
            <a:pPr algn="ctr"/>
            <a:endParaRPr kumimoji="1" lang="ru-RU" altLang="zh-CN" sz="2400" b="1" i="1">
              <a:latin typeface="Times New Roman" pitchFamily="18" charset="0"/>
            </a:endParaRPr>
          </a:p>
          <a:p>
            <a:pPr algn="just"/>
            <a:r>
              <a:rPr kumimoji="1" lang="uz-Cyrl-UZ" altLang="zh-CN" sz="2400">
                <a:latin typeface="Times New Roman" pitchFamily="18" charset="0"/>
              </a:rPr>
              <a:t>бу ерда “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i="1" baseline="-25000">
                <a:latin typeface="Times New Roman" pitchFamily="18" charset="0"/>
                <a:ea typeface="宋体" charset="-122"/>
              </a:rPr>
              <a:t>o</a:t>
            </a:r>
            <a:r>
              <a:rPr kumimoji="1" lang="uz-Cyrl-UZ" altLang="zh-CN" sz="2400" i="1">
                <a:latin typeface="Times New Roman" pitchFamily="18" charset="0"/>
              </a:rPr>
              <a:t>” – 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</a:t>
            </a:r>
            <a:r>
              <a:rPr kumimoji="1" lang="uz-Cyrl-UZ" altLang="zh-CN" sz="2400" b="1" i="1" baseline="30000">
                <a:latin typeface="Times New Roman" pitchFamily="18" charset="0"/>
              </a:rPr>
              <a:t>.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x+m</a:t>
            </a:r>
            <a:r>
              <a:rPr kumimoji="1" lang="uz-Cyrl-UZ" altLang="zh-CN" sz="2400" b="1" i="1" baseline="30000">
                <a:latin typeface="Times New Roman" pitchFamily="18" charset="0"/>
              </a:rPr>
              <a:t>.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y=c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тенгламанинг хусусий ечими,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t=1,2,3,</a:t>
            </a:r>
            <a:r>
              <a:rPr kumimoji="1" lang="ru-RU" altLang="zh-CN" sz="2400" i="1">
                <a:latin typeface="Times New Roman" pitchFamily="18" charset="0"/>
              </a:rPr>
              <a:t>…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,</a:t>
            </a:r>
            <a:r>
              <a:rPr kumimoji="1" lang="uz-Cyrl-UZ" altLang="zh-CN" sz="2400" i="1">
                <a:latin typeface="Times New Roman" pitchFamily="18" charset="0"/>
              </a:rPr>
              <a:t>ЭКУБ(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a,m</a:t>
            </a:r>
            <a:r>
              <a:rPr kumimoji="1" lang="uz-Cyrl-UZ" altLang="zh-CN" sz="2400" i="1">
                <a:latin typeface="Times New Roman" pitchFamily="18" charset="0"/>
              </a:rPr>
              <a:t>)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.</a:t>
            </a:r>
            <a:endParaRPr kumimoji="1" lang="uz-Cyrl-UZ" altLang="zh-CN" sz="2400">
              <a:latin typeface="Times New Roman" pitchFamily="18" charset="0"/>
            </a:endParaRPr>
          </a:p>
          <a:p>
            <a:pPr algn="just"/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/>
            <a:r>
              <a:rPr kumimoji="1" lang="en-US" altLang="zh-CN" sz="2400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400">
                <a:latin typeface="Times New Roman" pitchFamily="18" charset="0"/>
              </a:rPr>
              <a:t>Агар </a:t>
            </a:r>
            <a:r>
              <a:rPr kumimoji="1" lang="uz-Cyrl-UZ" altLang="zh-CN" sz="2400" i="1">
                <a:latin typeface="Times New Roman" pitchFamily="18" charset="0"/>
              </a:rPr>
              <a:t>ЭКУБ(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a,m</a:t>
            </a:r>
            <a:r>
              <a:rPr kumimoji="1" lang="uz-Cyrl-UZ" altLang="zh-CN" sz="2400" i="1">
                <a:latin typeface="Times New Roman" pitchFamily="18" charset="0"/>
              </a:rPr>
              <a:t>)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=1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бўлса унинг ечимини Эйлер функцияси орқали қуйидагича аниқлаш мумкин:</a:t>
            </a: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/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ctr"/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x=a</a:t>
            </a:r>
            <a:r>
              <a:rPr kumimoji="1" lang="el-GR" altLang="zh-CN" sz="2400" b="1" i="1" baseline="30000">
                <a:latin typeface="Times New Roman" pitchFamily="18" charset="0"/>
              </a:rPr>
              <a:t>φ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(m)-1.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c (mod m)</a:t>
            </a: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ctr"/>
            <a:endParaRPr kumimoji="1" lang="ru-RU" altLang="zh-CN" sz="100" b="1" i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8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57315"/>
            <a:ext cx="8984810" cy="6634663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uz-Cyrl-UZ" sz="2400" b="1" i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ax</a:t>
            </a:r>
            <a:r>
              <a:rPr lang="en-US" altLang="uz-Cyrl-UZ" sz="2400" b="1" i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≡c(mod m)</a:t>
            </a:r>
            <a:r>
              <a:rPr lang="en-US" altLang="uz-Cyrl-UZ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altLang="uz-Cyrl-UZ" sz="24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cs typeface="Times New Roman" pitchFamily="18" charset="0"/>
              </a:rPr>
              <a:t>таққослама тенглама</a:t>
            </a:r>
            <a:endParaRPr lang="en-US" altLang="uz-Cyrl-UZ" sz="240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12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1520825"/>
            <a:ext cx="8753475" cy="4538663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/>
          <a:p>
            <a:pPr algn="ctr"/>
            <a:endParaRPr kumimoji="1" lang="ru-RU" altLang="zh-CN" sz="100" b="1" i="1">
              <a:latin typeface="Times New Roman" pitchFamily="18" charset="0"/>
            </a:endParaRPr>
          </a:p>
          <a:p>
            <a:pPr algn="just"/>
            <a:r>
              <a:rPr kumimoji="1" lang="uz-Cyrl-UZ" altLang="zh-CN" sz="2000">
                <a:solidFill>
                  <a:schemeClr val="accent2"/>
                </a:solidFill>
                <a:latin typeface="Times New Roman" pitchFamily="18" charset="0"/>
              </a:rPr>
              <a:t>Мисол. </a:t>
            </a:r>
            <a:r>
              <a:rPr kumimoji="1" lang="en-US" altLang="zh-CN" sz="200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>
                <a:latin typeface="Times New Roman" pitchFamily="18" charset="0"/>
                <a:ea typeface="宋体" charset="-122"/>
              </a:rPr>
              <a:t>11x≡3(mod 25),</a:t>
            </a:r>
            <a:r>
              <a:rPr kumimoji="1" lang="uz-Cyrl-UZ" altLang="zh-CN" sz="2000" b="1">
                <a:latin typeface="Times New Roman" pitchFamily="18" charset="0"/>
              </a:rPr>
              <a:t> </a:t>
            </a:r>
            <a:r>
              <a:rPr kumimoji="1" lang="en-US" altLang="zh-CN" sz="2000" b="1" i="1">
                <a:latin typeface="Times New Roman" pitchFamily="18" charset="0"/>
                <a:ea typeface="宋体" charset="-122"/>
              </a:rPr>
              <a:t>x=?</a:t>
            </a:r>
          </a:p>
          <a:p>
            <a:pPr algn="just"/>
            <a:endParaRPr kumimoji="1" lang="en-US" altLang="zh-CN" sz="2000" b="1" i="1">
              <a:latin typeface="Times New Roman" pitchFamily="18" charset="0"/>
              <a:ea typeface="宋体" charset="-122"/>
            </a:endParaRPr>
          </a:p>
          <a:p>
            <a:pPr algn="just"/>
            <a:r>
              <a:rPr kumimoji="1" lang="uz-Cyrl-UZ" altLang="zh-CN" sz="2000">
                <a:latin typeface="Times New Roman" pitchFamily="18" charset="0"/>
              </a:rPr>
              <a:t>Ечиш (</a:t>
            </a:r>
            <a:r>
              <a:rPr kumimoji="1" lang="uz-Cyrl-UZ" altLang="zh-CN" sz="2000" b="1" i="1" u="sng">
                <a:latin typeface="Times New Roman" pitchFamily="18" charset="0"/>
              </a:rPr>
              <a:t>Таққослама хоссаларидан фойдаланиш орқали</a:t>
            </a:r>
            <a:r>
              <a:rPr kumimoji="1" lang="uz-Cyrl-UZ" altLang="zh-CN" sz="2000">
                <a:latin typeface="Times New Roman" pitchFamily="18" charset="0"/>
              </a:rPr>
              <a:t>):</a:t>
            </a:r>
          </a:p>
          <a:p>
            <a:pPr algn="just"/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000" i="1">
                <a:latin typeface="Times New Roman" pitchFamily="18" charset="0"/>
              </a:rPr>
              <a:t>11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cs typeface="Times New Roman" pitchFamily="18" charset="0"/>
              </a:rPr>
              <a:t>≡3-25(mod 25)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uz-Cyrl-UZ" altLang="zh-CN" sz="2000" i="1">
                <a:latin typeface="Times New Roman" pitchFamily="18" charset="0"/>
              </a:rPr>
              <a:t>11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x≡-22(mod 25)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 x≡-2(mod 25)=23</a:t>
            </a:r>
          </a:p>
          <a:p>
            <a:pPr algn="just"/>
            <a:endParaRPr kumimoji="1" lang="en-US" altLang="zh-CN" sz="2000" i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/>
            <a:endParaRPr kumimoji="1" lang="en-US" altLang="zh-CN" sz="2000">
              <a:latin typeface="Times New Roman" pitchFamily="18" charset="0"/>
              <a:ea typeface="宋体" charset="-122"/>
            </a:endParaRPr>
          </a:p>
          <a:p>
            <a:pPr algn="just"/>
            <a:r>
              <a:rPr kumimoji="1" lang="uz-Cyrl-UZ" altLang="zh-CN" sz="2000">
                <a:latin typeface="Times New Roman" pitchFamily="18" charset="0"/>
              </a:rPr>
              <a:t>Ечиш (</a:t>
            </a:r>
            <a:r>
              <a:rPr kumimoji="1" lang="uz-Cyrl-UZ" altLang="zh-CN" sz="2000" b="1" i="1" u="sng">
                <a:latin typeface="Times New Roman" pitchFamily="18" charset="0"/>
              </a:rPr>
              <a:t>Эйлер функцияси орқали</a:t>
            </a:r>
            <a:r>
              <a:rPr kumimoji="1" lang="uz-Cyrl-UZ" altLang="zh-CN" sz="2000">
                <a:latin typeface="Times New Roman" pitchFamily="18" charset="0"/>
              </a:rPr>
              <a:t>):</a:t>
            </a:r>
          </a:p>
          <a:p>
            <a:pPr algn="just"/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000" i="1">
                <a:latin typeface="Times New Roman" pitchFamily="18" charset="0"/>
              </a:rPr>
              <a:t>ЭКУБ(11,25)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=1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x≡11</a:t>
            </a:r>
            <a:r>
              <a:rPr kumimoji="1" lang="el-GR" altLang="zh-CN" sz="2000" i="1" baseline="30000">
                <a:latin typeface="Times New Roman" pitchFamily="18" charset="0"/>
                <a:cs typeface="Times New Roman" pitchFamily="18" charset="0"/>
              </a:rPr>
              <a:t>φ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</a:rPr>
              <a:t>(25)-1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3(mod 25)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x≡11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</a:rPr>
              <a:t>19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3(mod 25)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endParaRPr kumimoji="1" lang="en-US" altLang="zh-CN" sz="2000" i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/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			   x≡(11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3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)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6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11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3(mod 25) 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 x≡(6)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6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  <a:sym typeface="Wingdings" pitchFamily="2" charset="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  <a:sym typeface="Wingdings" pitchFamily="2" charset="2"/>
              </a:rPr>
              <a:t>8(mod 25)=23</a:t>
            </a:r>
            <a:r>
              <a:rPr kumimoji="1" lang="en-US" altLang="zh-CN">
                <a:ea typeface="宋体" charset="-122"/>
                <a:sym typeface="Wingdings" pitchFamily="2" charset="2"/>
              </a:rPr>
              <a:t> </a:t>
            </a:r>
          </a:p>
          <a:p>
            <a:pPr algn="just"/>
            <a:endParaRPr kumimoji="1" lang="en-US" altLang="zh-CN" sz="2000" i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/>
            <a:r>
              <a:rPr kumimoji="1" lang="uz-Cyrl-UZ" altLang="zh-CN" sz="2000">
                <a:latin typeface="Times New Roman" pitchFamily="18" charset="0"/>
              </a:rPr>
              <a:t>Ечиш (</a:t>
            </a:r>
            <a:r>
              <a:rPr kumimoji="1" lang="uz-Cyrl-UZ" altLang="zh-CN" sz="2000" b="1" i="1" u="sng">
                <a:latin typeface="Times New Roman" pitchFamily="18" charset="0"/>
              </a:rPr>
              <a:t>Теорема-1 орқали</a:t>
            </a:r>
            <a:r>
              <a:rPr kumimoji="1" lang="uz-Cyrl-UZ" altLang="zh-CN" sz="2000">
                <a:latin typeface="Times New Roman" pitchFamily="18" charset="0"/>
              </a:rPr>
              <a:t>):</a:t>
            </a:r>
          </a:p>
          <a:p>
            <a:pPr algn="just"/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	</a:t>
            </a:r>
            <a:r>
              <a:rPr kumimoji="1" lang="uz-Cyrl-UZ" altLang="zh-CN" sz="2000" i="1">
                <a:latin typeface="Times New Roman" pitchFamily="18" charset="0"/>
              </a:rPr>
              <a:t>25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</a:t>
            </a:r>
            <a:r>
              <a:rPr kumimoji="1" lang="uz-Cyrl-UZ" altLang="zh-CN" sz="2000" i="1">
                <a:latin typeface="Times New Roman" pitchFamily="18" charset="0"/>
              </a:rPr>
              <a:t>11</a:t>
            </a:r>
            <a:r>
              <a:rPr kumimoji="1" lang="uz-Cyrl-UZ" altLang="zh-CN" sz="2000" b="1" i="1" baseline="30000">
                <a:latin typeface="Times New Roman" pitchFamily="18" charset="0"/>
              </a:rPr>
              <a:t>.</a:t>
            </a:r>
            <a:r>
              <a:rPr kumimoji="1" lang="uz-Cyrl-UZ" altLang="zh-CN" sz="2000" i="1">
                <a:latin typeface="Times New Roman" pitchFamily="18" charset="0"/>
              </a:rPr>
              <a:t>2+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3	x</a:t>
            </a:r>
            <a:r>
              <a:rPr kumimoji="1" lang="en-US" altLang="zh-CN" sz="2000" i="1" baseline="-2500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=0-2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1=-2	x</a:t>
            </a:r>
            <a:r>
              <a:rPr kumimoji="1" lang="en-US" altLang="zh-CN" sz="2000" i="1" baseline="-25000">
                <a:latin typeface="Times New Roman" pitchFamily="18" charset="0"/>
                <a:ea typeface="宋体" charset="-122"/>
              </a:rPr>
              <a:t>o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=-9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3/</a:t>
            </a:r>
            <a:r>
              <a:rPr kumimoji="1" lang="ru-RU" altLang="zh-CN" sz="2000" i="1">
                <a:latin typeface="Times New Roman" pitchFamily="18" charset="0"/>
              </a:rPr>
              <a:t>ЭКУБ(11,25)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=-27	</a:t>
            </a:r>
            <a:r>
              <a:rPr kumimoji="1" lang="en-US" altLang="zh-CN" i="1">
                <a:ea typeface="宋体" charset="-122"/>
                <a:sym typeface="Wingdings" pitchFamily="2" charset="2"/>
              </a:rPr>
              <a:t></a:t>
            </a:r>
            <a:endParaRPr kumimoji="1" lang="en-US" altLang="zh-CN" sz="2000" i="1">
              <a:latin typeface="Times New Roman" pitchFamily="18" charset="0"/>
              <a:ea typeface="宋体" charset="-122"/>
            </a:endParaRPr>
          </a:p>
          <a:p>
            <a:pPr algn="just">
              <a:buFont typeface="Wingdings" pitchFamily="2" charset="2"/>
              <a:buNone/>
            </a:pP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	11=3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3+2	x</a:t>
            </a:r>
            <a:r>
              <a:rPr kumimoji="1" lang="en-US" altLang="zh-CN" sz="2000" i="1" baseline="-25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=1+3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2=7	x=(-27+25</a:t>
            </a:r>
            <a:r>
              <a:rPr kumimoji="1" lang="en-US" altLang="zh-CN" sz="2000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t)(mod 25)=23      (t=1)</a:t>
            </a:r>
          </a:p>
          <a:p>
            <a:pPr algn="just"/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	3=2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1+1		x</a:t>
            </a:r>
            <a:r>
              <a:rPr kumimoji="1" lang="en-US" altLang="zh-CN" sz="2000" i="1" baseline="-25000"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=-2-1</a:t>
            </a:r>
            <a:r>
              <a:rPr kumimoji="1" lang="en-US" altLang="zh-CN" sz="20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>
                <a:latin typeface="Times New Roman" pitchFamily="18" charset="0"/>
                <a:ea typeface="宋体" charset="-122"/>
              </a:rPr>
              <a:t>7=-9=u</a:t>
            </a:r>
          </a:p>
        </p:txBody>
      </p:sp>
    </p:spTree>
    <p:extLst>
      <p:ext uri="{BB962C8B-B14F-4D97-AF65-F5344CB8AC3E}">
        <p14:creationId xmlns:p14="http://schemas.microsoft.com/office/powerpoint/2010/main" val="118326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6151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800100"/>
            <a:ext cx="8628063" cy="5754688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/>
          <a:p>
            <a:pPr indent="355600" algn="just">
              <a:spcAft>
                <a:spcPct val="10000"/>
              </a:spcAft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684213" y="1628775"/>
          <a:ext cx="36861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0341"/>
                <a:gridCol w="561123"/>
                <a:gridCol w="469912"/>
                <a:gridCol w="469912"/>
                <a:gridCol w="1774887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929188" y="2800350"/>
          <a:ext cx="3638551" cy="329247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034"/>
                <a:gridCol w="466853"/>
                <a:gridCol w="466853"/>
                <a:gridCol w="466853"/>
                <a:gridCol w="1767958"/>
              </a:tblGrid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</a:tbl>
          </a:graphicData>
        </a:graphic>
      </p:graphicFrame>
      <p:sp>
        <p:nvSpPr>
          <p:cNvPr id="6282" name="Прямоугольник 2"/>
          <p:cNvSpPr>
            <a:spLocks noChangeArrowheads="1"/>
          </p:cNvSpPr>
          <p:nvPr/>
        </p:nvSpPr>
        <p:spPr bwMode="auto">
          <a:xfrm>
            <a:off x="647700" y="944563"/>
            <a:ext cx="80835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sz="2200" b="1" i="1">
                <a:latin typeface="Times New Roman" pitchFamily="18" charset="0"/>
              </a:rPr>
              <a:t>ax=c (mod m) </a:t>
            </a:r>
            <a:r>
              <a:rPr kumimoji="1" lang="uz-Cyrl-UZ" sz="2200" i="1">
                <a:latin typeface="Times New Roman" pitchFamily="18" charset="0"/>
              </a:rPr>
              <a:t>таққослама тенгламадан </a:t>
            </a:r>
            <a:r>
              <a:rPr kumimoji="1" lang="en-US" sz="2200" b="1" i="1">
                <a:latin typeface="Times New Roman" pitchFamily="18" charset="0"/>
              </a:rPr>
              <a:t>x&lt;m </a:t>
            </a:r>
            <a:r>
              <a:rPr kumimoji="1" lang="uz-Cyrl-UZ" sz="2200" b="1" i="1">
                <a:latin typeface="Times New Roman" pitchFamily="18" charset="0"/>
              </a:rPr>
              <a:t>– </a:t>
            </a:r>
            <a:r>
              <a:rPr kumimoji="1" lang="uz-Cyrl-UZ" sz="2200" i="1">
                <a:latin typeface="Times New Roman" pitchFamily="18" charset="0"/>
              </a:rPr>
              <a:t>ечимларни топинг</a:t>
            </a:r>
            <a:endParaRPr lang="uz-Cyrl-UZ" sz="2200" i="1"/>
          </a:p>
        </p:txBody>
      </p:sp>
    </p:spTree>
    <p:extLst>
      <p:ext uri="{BB962C8B-B14F-4D97-AF65-F5344CB8AC3E}">
        <p14:creationId xmlns:p14="http://schemas.microsoft.com/office/powerpoint/2010/main" val="74089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7175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800100"/>
            <a:ext cx="8628063" cy="5754688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/>
          <a:p>
            <a:pPr indent="355600" algn="just">
              <a:spcAft>
                <a:spcPct val="10000"/>
              </a:spcAft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684213" y="1628775"/>
          <a:ext cx="36861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10341"/>
                <a:gridCol w="561123"/>
                <a:gridCol w="469912"/>
                <a:gridCol w="469912"/>
                <a:gridCol w="1774887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4, 9, 14 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 err="1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Ечим</a:t>
                      </a:r>
                      <a:r>
                        <a:rPr lang="ru-RU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й</a:t>
                      </a:r>
                      <a:r>
                        <a:rPr lang="uz-Cyrl-UZ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ўқ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8,</a:t>
                      </a:r>
                      <a:r>
                        <a:rPr lang="uz-Cyrl-UZ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19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5" marR="9145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91" marR="68591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929188" y="2800350"/>
          <a:ext cx="3638551" cy="329247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034"/>
                <a:gridCol w="466853"/>
                <a:gridCol w="466853"/>
                <a:gridCol w="466853"/>
                <a:gridCol w="1767958"/>
              </a:tblGrid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ru-RU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anchor="ctr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 err="1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Ечим</a:t>
                      </a:r>
                      <a:r>
                        <a:rPr lang="ru-RU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й</a:t>
                      </a:r>
                      <a:r>
                        <a:rPr lang="uz-Cyrl-UZ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ўқ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2, 5, 8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35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  <a:tr h="365831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392" marR="91392" marT="45729" marB="4572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b="1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4,</a:t>
                      </a:r>
                      <a:r>
                        <a:rPr lang="uz-Cyrl-UZ" sz="1800" b="1" baseline="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 12</a:t>
                      </a:r>
                      <a:endParaRPr lang="uz-Cyrl-UZ" sz="1800" b="1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44" marR="68544" marT="0" marB="0"/>
                </a:tc>
              </a:tr>
            </a:tbl>
          </a:graphicData>
        </a:graphic>
      </p:graphicFrame>
      <p:sp>
        <p:nvSpPr>
          <p:cNvPr id="7306" name="Прямоугольник 2"/>
          <p:cNvSpPr>
            <a:spLocks noChangeArrowheads="1"/>
          </p:cNvSpPr>
          <p:nvPr/>
        </p:nvSpPr>
        <p:spPr bwMode="auto">
          <a:xfrm>
            <a:off x="647700" y="944563"/>
            <a:ext cx="80835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sz="2200" b="1" i="1">
                <a:latin typeface="Times New Roman" pitchFamily="18" charset="0"/>
              </a:rPr>
              <a:t>ax=c (mod m) </a:t>
            </a:r>
            <a:r>
              <a:rPr kumimoji="1" lang="uz-Cyrl-UZ" sz="2200" i="1">
                <a:latin typeface="Times New Roman" pitchFamily="18" charset="0"/>
              </a:rPr>
              <a:t>таққослама тенгламадан </a:t>
            </a:r>
            <a:r>
              <a:rPr kumimoji="1" lang="en-US" sz="2200" b="1" i="1">
                <a:latin typeface="Times New Roman" pitchFamily="18" charset="0"/>
              </a:rPr>
              <a:t>x&lt;m </a:t>
            </a:r>
            <a:r>
              <a:rPr kumimoji="1" lang="uz-Cyrl-UZ" sz="2200" b="1" i="1">
                <a:latin typeface="Times New Roman" pitchFamily="18" charset="0"/>
              </a:rPr>
              <a:t>– </a:t>
            </a:r>
            <a:r>
              <a:rPr kumimoji="1" lang="uz-Cyrl-UZ" sz="2200" i="1">
                <a:latin typeface="Times New Roman" pitchFamily="18" charset="0"/>
              </a:rPr>
              <a:t>ечимларни топинг</a:t>
            </a:r>
            <a:endParaRPr lang="uz-Cyrl-UZ" sz="2200" i="1"/>
          </a:p>
        </p:txBody>
      </p:sp>
    </p:spTree>
    <p:extLst>
      <p:ext uri="{BB962C8B-B14F-4D97-AF65-F5344CB8AC3E}">
        <p14:creationId xmlns:p14="http://schemas.microsoft.com/office/powerpoint/2010/main" val="190598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397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246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2379682"/>
            <a:ext cx="8628063" cy="185416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just"/>
            <a:r>
              <a:rPr kumimoji="1" lang="ru-RU" altLang="uz-Cyrl-UZ" sz="2200" b="1" dirty="0" err="1">
                <a:solidFill>
                  <a:schemeClr val="accent2"/>
                </a:solidFill>
                <a:latin typeface="Times New Roman" pitchFamily="18" charset="0"/>
              </a:rPr>
              <a:t>Вазифа</a:t>
            </a:r>
            <a:r>
              <a:rPr kumimoji="1" lang="uz-Cyrl-UZ" altLang="uz-Cyrl-UZ" sz="2200" dirty="0">
                <a:solidFill>
                  <a:schemeClr val="accent2"/>
                </a:solidFill>
                <a:latin typeface="Times New Roman" pitchFamily="18" charset="0"/>
              </a:rPr>
              <a:t>. </a:t>
            </a:r>
            <a:r>
              <a:rPr kumimoji="1" lang="en-US" altLang="uz-Cyrl-UZ" sz="2200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endParaRPr kumimoji="1" lang="ru-RU" altLang="uz-Cyrl-UZ" sz="2200" dirty="0">
              <a:solidFill>
                <a:schemeClr val="accent2"/>
              </a:solidFill>
              <a:latin typeface="Times New Roman" pitchFamily="18" charset="0"/>
            </a:endParaRPr>
          </a:p>
          <a:p>
            <a:pPr algn="just"/>
            <a:r>
              <a:rPr kumimoji="1" lang="ru-RU" altLang="uz-Cyrl-UZ" sz="2200" b="1" dirty="0">
                <a:latin typeface="Times New Roman" pitchFamily="18" charset="0"/>
              </a:rPr>
              <a:t>Та</a:t>
            </a:r>
            <a:r>
              <a:rPr kumimoji="1" lang="uz-Cyrl-UZ" altLang="uz-Cyrl-UZ" sz="2200" b="1" dirty="0">
                <a:latin typeface="Times New Roman" pitchFamily="18" charset="0"/>
              </a:rPr>
              <a:t>ққ</a:t>
            </a:r>
            <a:r>
              <a:rPr kumimoji="1" lang="ru-RU" altLang="uz-Cyrl-UZ" sz="2200" b="1" dirty="0" err="1">
                <a:latin typeface="Times New Roman" pitchFamily="18" charset="0"/>
              </a:rPr>
              <a:t>ослама</a:t>
            </a:r>
            <a:r>
              <a:rPr kumimoji="1" lang="ru-RU" altLang="uz-Cyrl-UZ" sz="2200" b="1" dirty="0">
                <a:latin typeface="Times New Roman" pitchFamily="18" charset="0"/>
              </a:rPr>
              <a:t> </a:t>
            </a:r>
            <a:r>
              <a:rPr kumimoji="1" lang="ru-RU" altLang="uz-Cyrl-UZ" sz="2200" b="1" dirty="0" err="1">
                <a:latin typeface="Times New Roman" pitchFamily="18" charset="0"/>
              </a:rPr>
              <a:t>тенглама</a:t>
            </a:r>
            <a:r>
              <a:rPr kumimoji="1" lang="ru-RU" altLang="uz-Cyrl-UZ" sz="2200" b="1" dirty="0">
                <a:latin typeface="Times New Roman" pitchFamily="18" charset="0"/>
              </a:rPr>
              <a:t> </a:t>
            </a:r>
            <a:r>
              <a:rPr kumimoji="1" lang="ru-RU" altLang="uz-Cyrl-UZ" sz="2200" b="1" dirty="0" err="1">
                <a:latin typeface="Times New Roman" pitchFamily="18" charset="0"/>
              </a:rPr>
              <a:t>бўйича</a:t>
            </a:r>
            <a:r>
              <a:rPr kumimoji="1" lang="ru-RU" altLang="uz-Cyrl-UZ" sz="2200" b="1" dirty="0">
                <a:latin typeface="Times New Roman" pitchFamily="18" charset="0"/>
              </a:rPr>
              <a:t>:</a:t>
            </a:r>
          </a:p>
          <a:p>
            <a:pPr algn="just"/>
            <a:r>
              <a:rPr kumimoji="1" lang="ru-RU" altLang="uz-Cyrl-UZ" sz="2200" b="1" dirty="0">
                <a:latin typeface="Times New Roman" pitchFamily="18" charset="0"/>
              </a:rPr>
              <a:t>	 1) </a:t>
            </a:r>
            <a:r>
              <a:rPr kumimoji="1" lang="ru-RU" altLang="uz-Cyrl-UZ" sz="2200" dirty="0">
                <a:latin typeface="Times New Roman" pitchFamily="18" charset="0"/>
              </a:rPr>
              <a:t>35х=14 (</a:t>
            </a:r>
            <a:r>
              <a:rPr kumimoji="1" lang="ru-RU" altLang="uz-Cyrl-UZ" sz="2200" dirty="0" err="1">
                <a:latin typeface="Times New Roman" pitchFamily="18" charset="0"/>
              </a:rPr>
              <a:t>mod</a:t>
            </a:r>
            <a:r>
              <a:rPr kumimoji="1" lang="ru-RU" altLang="uz-Cyrl-UZ" sz="2200" dirty="0">
                <a:latin typeface="Times New Roman" pitchFamily="18" charset="0"/>
              </a:rPr>
              <a:t> 84),      </a:t>
            </a:r>
            <a:r>
              <a:rPr kumimoji="1" lang="ru-RU" altLang="uz-Cyrl-UZ" sz="2200" b="1" dirty="0">
                <a:latin typeface="Times New Roman" pitchFamily="18" charset="0"/>
              </a:rPr>
              <a:t>2) </a:t>
            </a:r>
            <a:r>
              <a:rPr kumimoji="1" lang="ru-RU" altLang="uz-Cyrl-UZ" sz="2200" dirty="0">
                <a:latin typeface="Times New Roman" pitchFamily="18" charset="0"/>
              </a:rPr>
              <a:t>4х=3 (</a:t>
            </a:r>
            <a:r>
              <a:rPr kumimoji="1" lang="ru-RU" altLang="uz-Cyrl-UZ" sz="2200" dirty="0" err="1">
                <a:latin typeface="Times New Roman" pitchFamily="18" charset="0"/>
              </a:rPr>
              <a:t>mod</a:t>
            </a:r>
            <a:r>
              <a:rPr kumimoji="1" lang="ru-RU" altLang="uz-Cyrl-UZ" sz="2200" dirty="0">
                <a:latin typeface="Times New Roman" pitchFamily="18" charset="0"/>
              </a:rPr>
              <a:t> 7).</a:t>
            </a:r>
          </a:p>
          <a:p>
            <a:pPr algn="just"/>
            <a:endParaRPr kumimoji="1" lang="ru-RU" altLang="uz-Cyrl-UZ" sz="2200" b="1" dirty="0">
              <a:latin typeface="Times New Roman" pitchFamily="18" charset="0"/>
            </a:endParaRPr>
          </a:p>
          <a:p>
            <a:pPr algn="just"/>
            <a:r>
              <a:rPr kumimoji="1" lang="ru-RU" altLang="uz-Cyrl-UZ" sz="2200" b="1" dirty="0">
                <a:latin typeface="Times New Roman" pitchFamily="18" charset="0"/>
              </a:rPr>
              <a:t>	3) </a:t>
            </a:r>
            <a:r>
              <a:rPr kumimoji="1" lang="ru-RU" altLang="uz-Cyrl-UZ" sz="2200" dirty="0">
                <a:latin typeface="Times New Roman" pitchFamily="18" charset="0"/>
              </a:rPr>
              <a:t>24х= 6 (</a:t>
            </a:r>
            <a:r>
              <a:rPr kumimoji="1" lang="ru-RU" altLang="uz-Cyrl-UZ" sz="2200" dirty="0" err="1">
                <a:latin typeface="Times New Roman" pitchFamily="18" charset="0"/>
              </a:rPr>
              <a:t>mod</a:t>
            </a:r>
            <a:r>
              <a:rPr kumimoji="1" lang="ru-RU" altLang="uz-Cyrl-UZ" sz="2200" dirty="0">
                <a:latin typeface="Times New Roman" pitchFamily="18" charset="0"/>
              </a:rPr>
              <a:t> 81),       </a:t>
            </a:r>
            <a:r>
              <a:rPr kumimoji="1" lang="ru-RU" altLang="uz-Cyrl-UZ" sz="2200" b="1" dirty="0">
                <a:latin typeface="Times New Roman" pitchFamily="18" charset="0"/>
              </a:rPr>
              <a:t>4) </a:t>
            </a:r>
            <a:r>
              <a:rPr kumimoji="1" lang="ru-RU" altLang="uz-Cyrl-UZ" sz="2200" dirty="0">
                <a:latin typeface="Times New Roman" pitchFamily="18" charset="0"/>
              </a:rPr>
              <a:t>28х=56 (</a:t>
            </a:r>
            <a:r>
              <a:rPr kumimoji="1" lang="ru-RU" altLang="uz-Cyrl-UZ" sz="2200" dirty="0" err="1">
                <a:latin typeface="Times New Roman" pitchFamily="18" charset="0"/>
              </a:rPr>
              <a:t>mod</a:t>
            </a:r>
            <a:r>
              <a:rPr kumimoji="1" lang="ru-RU" altLang="uz-Cyrl-UZ" sz="2200" dirty="0">
                <a:latin typeface="Times New Roman" pitchFamily="18" charset="0"/>
              </a:rPr>
              <a:t> 49</a:t>
            </a:r>
            <a:r>
              <a:rPr kumimoji="1" lang="ru-RU" altLang="uz-Cyrl-UZ" sz="2200" dirty="0" smtClean="0">
                <a:latin typeface="Times New Roman" pitchFamily="18" charset="0"/>
              </a:rPr>
              <a:t>).</a:t>
            </a:r>
            <a:endParaRPr kumimoji="1" lang="ru-RU" altLang="uz-Cyrl-UZ" sz="2200" b="1" dirty="0">
              <a:latin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3944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207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11063</TotalTime>
  <Words>527</Words>
  <Application>Microsoft Office PowerPoint</Application>
  <PresentationFormat>Экран (4:3)</PresentationFormat>
  <Paragraphs>366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Профиль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Microsoft Office</cp:lastModifiedBy>
  <cp:revision>1460</cp:revision>
  <dcterms:created xsi:type="dcterms:W3CDTF">2010-10-01T16:11:11Z</dcterms:created>
  <dcterms:modified xsi:type="dcterms:W3CDTF">2019-08-21T04:13:44Z</dcterms:modified>
</cp:coreProperties>
</file>