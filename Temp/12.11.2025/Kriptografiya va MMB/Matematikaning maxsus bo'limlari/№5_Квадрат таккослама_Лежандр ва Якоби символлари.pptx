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66" r:id="rId4"/>
    <p:sldId id="261" r:id="rId5"/>
    <p:sldId id="267" r:id="rId6"/>
    <p:sldId id="268" r:id="rId7"/>
    <p:sldId id="260" r:id="rId8"/>
    <p:sldId id="262" r:id="rId9"/>
    <p:sldId id="269" r:id="rId10"/>
    <p:sldId id="263" r:id="rId11"/>
    <p:sldId id="264" r:id="rId12"/>
    <p:sldId id="270" r:id="rId13"/>
    <p:sldId id="265" r:id="rId14"/>
    <p:sldId id="271" r:id="rId15"/>
    <p:sldId id="272" r:id="rId16"/>
    <p:sldId id="274" r:id="rId17"/>
    <p:sldId id="273" r:id="rId18"/>
  </p:sldIdLst>
  <p:sldSz cx="9144000" cy="6858000" type="screen4x3"/>
  <p:notesSz cx="6797675" cy="987425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99CCFF"/>
    <a:srgbClr val="9999FF"/>
    <a:srgbClr val="800000"/>
    <a:srgbClr val="CCECFF"/>
    <a:srgbClr val="003399"/>
    <a:srgbClr val="CCCC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7" autoAdjust="0"/>
    <p:restoredTop sz="97876" autoAdjust="0"/>
  </p:normalViewPr>
  <p:slideViewPr>
    <p:cSldViewPr>
      <p:cViewPr varScale="1">
        <p:scale>
          <a:sx n="111" d="100"/>
          <a:sy n="111" d="100"/>
        </p:scale>
        <p:origin x="-182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882FF9F-91BF-447F-999D-81B9B773C0AF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86C5D3-299E-43DC-88F7-671F251F17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426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6129E68-D73D-475A-ADF7-3A685EE8BADA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1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8CD64E6-B177-4F72-A07A-3E93DB6B6EC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47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8C184E2-7277-4828-9C10-49F0CFF76654}" type="slidenum">
              <a:rPr lang="ru-RU" altLang="ru-RU" smtClean="0">
                <a:latin typeface="Verdana" pitchFamily="34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ru-RU" altLang="ru-RU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DE971-B85D-4A5D-AEA8-3044EC48DD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30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4122E-62FE-48FD-897D-333900C718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13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8A898-EC15-4AD2-AFF1-895EEE51A41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09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23CC0-85C0-45D0-9CF0-89B102871A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142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E502C-A59B-4B14-997D-0420E0BA26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56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DD745-264E-47CF-B221-D80444934F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78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0D399-D2AC-4D2B-9AF9-7434AE84D76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64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57981-287F-44D1-A64D-C8557325FA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9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D1060-AB7C-4D03-BE1E-EC025571ED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21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42953-98B0-42F1-BDC1-9DB7DE3220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6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38D82-C725-4AC0-90BF-62332069EE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3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9CE9EB2-53EC-400E-AA72-D242BFC1B9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9044" y="253977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503238" y="463005"/>
            <a:ext cx="8172450" cy="769441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>
            <a:prstShdw prst="shdw17" dist="17961" dir="2700000">
              <a:srgbClr val="C0C0C0">
                <a:gamma/>
                <a:shade val="60000"/>
                <a:invGamma/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uz-Cyrl-UZ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Тошкент ахборот технологиялари университети </a:t>
            </a:r>
            <a:r>
              <a:rPr lang="uz-Cyrl-UZ" sz="2200" b="1" dirty="0" smtClean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ҳузуридаги </a:t>
            </a:r>
            <a:r>
              <a:rPr lang="ru-RU" sz="2200" b="1" dirty="0" err="1" smtClean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Радиоэлектрон</a:t>
            </a:r>
            <a:r>
              <a:rPr lang="ru-RU" sz="2200" b="1" dirty="0" smtClean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тизимлар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ва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ахборот</a:t>
            </a:r>
            <a:r>
              <a:rPr lang="en-US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технологиялари</a:t>
            </a:r>
            <a:r>
              <a:rPr lang="en-US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 smtClean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маркази</a:t>
            </a:r>
            <a:endParaRPr lang="ru-RU" sz="2200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081088" y="1574800"/>
            <a:ext cx="6883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93441" dir="12191915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uz-Cyrl-UZ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Математиканинг махсус бўлимлари</a:t>
            </a:r>
            <a:endParaRPr lang="ru-RU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250825" y="2816225"/>
            <a:ext cx="8534400" cy="15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998538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406525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814513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2225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6797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1369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5941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0513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ru-RU" altLang="ru-RU" sz="3000" b="1" dirty="0" smtClean="0">
                <a:latin typeface="Times New Roman" pitchFamily="18" charset="0"/>
              </a:rPr>
              <a:t>К</a:t>
            </a:r>
            <a:r>
              <a:rPr lang="uz-Cyrl-UZ" altLang="ru-RU" sz="3000" b="1" dirty="0" smtClean="0">
                <a:latin typeface="Times New Roman" pitchFamily="18" charset="0"/>
              </a:rPr>
              <a:t>вадратик таққослама</a:t>
            </a:r>
            <a:r>
              <a:rPr lang="uz-Cyrl-UZ" altLang="ru-RU" sz="3000" b="1" dirty="0" smtClean="0">
                <a:latin typeface="Times New Roman" pitchFamily="18" charset="0"/>
              </a:rPr>
              <a:t>.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uz-Cyrl-UZ" altLang="ru-RU" sz="3000" b="1" dirty="0" smtClean="0">
                <a:latin typeface="Times New Roman" pitchFamily="18" charset="0"/>
              </a:rPr>
              <a:t> </a:t>
            </a:r>
            <a:r>
              <a:rPr lang="uz-Cyrl-UZ" altLang="ru-RU" sz="3000" b="1" dirty="0" smtClean="0">
                <a:latin typeface="Times New Roman" pitchFamily="18" charset="0"/>
              </a:rPr>
              <a:t>Лежандр ва Якоби символлари. </a:t>
            </a:r>
            <a:endParaRPr lang="en-US" altLang="ru-RU" sz="3000" b="1" dirty="0" smtClean="0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uz-Cyrl-UZ" altLang="ru-RU" sz="3000" b="1" dirty="0" smtClean="0">
                <a:solidFill>
                  <a:srgbClr val="99CCFF"/>
                </a:solidFill>
                <a:latin typeface="Times New Roman" pitchFamily="18" charset="0"/>
              </a:rPr>
              <a:t>Квадратик таққосламанинг айрим ечимлари.</a:t>
            </a:r>
            <a:endParaRPr lang="ru-RU" altLang="ru-RU" sz="3000" b="1" dirty="0" smtClean="0">
              <a:solidFill>
                <a:srgbClr val="99CC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0" name="Rectangle 10"/>
          <p:cNvSpPr>
            <a:spLocks noChangeArrowheads="1"/>
          </p:cNvSpPr>
          <p:nvPr/>
        </p:nvSpPr>
        <p:spPr bwMode="auto">
          <a:xfrm>
            <a:off x="2987675" y="6057900"/>
            <a:ext cx="3241675" cy="34925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69900" indent="-469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uz-Cyrl-UZ" altLang="ru-RU" sz="1800" b="1">
                <a:latin typeface="Times New Roman" pitchFamily="18" charset="0"/>
              </a:rPr>
              <a:t>Тошкент – </a:t>
            </a:r>
            <a:r>
              <a:rPr lang="uz-Cyrl-UZ" altLang="ru-RU" sz="1800" b="1" smtClean="0">
                <a:latin typeface="Times New Roman" pitchFamily="18" charset="0"/>
              </a:rPr>
              <a:t>2019</a:t>
            </a:r>
            <a:endParaRPr lang="ru-RU" altLang="ru-RU" sz="1800" dirty="0">
              <a:solidFill>
                <a:srgbClr val="0033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949325"/>
            <a:ext cx="8753475" cy="546735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400" b="1">
                <a:solidFill>
                  <a:schemeClr val="accent2"/>
                </a:solidFill>
                <a:latin typeface="Times New Roman" pitchFamily="18" charset="0"/>
              </a:rPr>
              <a:t>Таъриф-1. </a:t>
            </a:r>
            <a:r>
              <a:rPr kumimoji="1" lang="uz-Cyrl-UZ" altLang="zh-CN" sz="2400">
                <a:latin typeface="Times New Roman" pitchFamily="18" charset="0"/>
              </a:rPr>
              <a:t>Қуйидаги: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ax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+bx+c</a:t>
            </a:r>
            <a:r>
              <a:rPr kumimoji="1" lang="uz-Cyrl-UZ" altLang="zh-CN" sz="2400" b="1">
                <a:latin typeface="Times New Roman" pitchFamily="18" charset="0"/>
              </a:rPr>
              <a:t>≡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  <a:cs typeface="Times New Roman" pitchFamily="18" charset="0"/>
              </a:rPr>
              <a:t>0 (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mod m)		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(1)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ru-RU" altLang="zh-CN" sz="2400">
                <a:latin typeface="Times New Roman" pitchFamily="18" charset="0"/>
              </a:rPr>
              <a:t>к</a:t>
            </a:r>
            <a:r>
              <a:rPr kumimoji="1" lang="uz-Cyrl-UZ" altLang="zh-CN" sz="2400">
                <a:latin typeface="Times New Roman" pitchFamily="18" charset="0"/>
              </a:rPr>
              <a:t>ў</a:t>
            </a:r>
            <a:r>
              <a:rPr kumimoji="1" lang="ru-RU" altLang="zh-CN" sz="2400">
                <a:latin typeface="Times New Roman" pitchFamily="18" charset="0"/>
              </a:rPr>
              <a:t>ринишдаги </a:t>
            </a:r>
            <a:r>
              <a:rPr kumimoji="1" lang="uz-Cyrl-UZ" altLang="zh-CN" sz="2400">
                <a:latin typeface="Times New Roman" pitchFamily="18" charset="0"/>
              </a:rPr>
              <a:t>таққослама</a:t>
            </a:r>
            <a:r>
              <a:rPr kumimoji="1" lang="ru-RU" altLang="zh-CN" sz="2400">
                <a:latin typeface="Times New Roman" pitchFamily="18" charset="0"/>
              </a:rPr>
              <a:t>га</a:t>
            </a:r>
            <a:r>
              <a:rPr kumimoji="1" lang="uz-Cyrl-UZ" altLang="zh-CN" sz="2400">
                <a:latin typeface="Times New Roman" pitchFamily="18" charset="0"/>
              </a:rPr>
              <a:t> </a:t>
            </a:r>
            <a:r>
              <a:rPr kumimoji="1" lang="uz-Cyrl-UZ" altLang="zh-CN" sz="2400" b="1" i="1">
                <a:latin typeface="Times New Roman" pitchFamily="18" charset="0"/>
              </a:rPr>
              <a:t>квадратик таққослама </a:t>
            </a:r>
            <a:r>
              <a:rPr kumimoji="1" lang="uz-Cyrl-UZ" altLang="zh-CN" sz="2400">
                <a:latin typeface="Times New Roman" pitchFamily="18" charset="0"/>
              </a:rPr>
              <a:t>дейилади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400">
                <a:latin typeface="Times New Roman" pitchFamily="18" charset="0"/>
              </a:rPr>
              <a:t>(</a:t>
            </a:r>
            <a:r>
              <a:rPr kumimoji="1" lang="ru-RU" altLang="zh-CN" sz="2400">
                <a:latin typeface="Times New Roman" pitchFamily="18" charset="0"/>
              </a:rPr>
              <a:t>бу ерда</a:t>
            </a:r>
            <a:r>
              <a:rPr kumimoji="1" lang="ru-RU" altLang="zh-CN" sz="2400" i="1">
                <a:latin typeface="Times New Roman" pitchFamily="18" charset="0"/>
              </a:rPr>
              <a:t> 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</a:t>
            </a:r>
            <a:r>
              <a:rPr kumimoji="1" lang="ru-RU" altLang="zh-CN" sz="2400" i="1">
                <a:latin typeface="Times New Roman" pitchFamily="18" charset="0"/>
              </a:rPr>
              <a:t>(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mod m</a:t>
            </a:r>
            <a:r>
              <a:rPr kumimoji="1" lang="ru-RU" altLang="zh-CN" sz="2400" i="1">
                <a:latin typeface="Times New Roman" pitchFamily="18" charset="0"/>
              </a:rPr>
              <a:t>)</a:t>
            </a:r>
            <a:r>
              <a:rPr kumimoji="1" lang="ru-RU" altLang="zh-CN" sz="2400" i="1">
                <a:latin typeface="Times New Roman" pitchFamily="18" charset="0"/>
                <a:cs typeface="Times New Roman" pitchFamily="18" charset="0"/>
              </a:rPr>
              <a:t>≠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0</a:t>
            </a:r>
            <a:r>
              <a:rPr kumimoji="1" lang="uz-Cyrl-UZ" altLang="zh-CN" sz="2400">
                <a:latin typeface="Times New Roman" pitchFamily="18" charset="0"/>
              </a:rPr>
              <a:t>). </a:t>
            </a:r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ru-RU" altLang="zh-CN" sz="2400" b="1">
                <a:solidFill>
                  <a:schemeClr val="accent2"/>
                </a:solidFill>
                <a:latin typeface="Times New Roman" pitchFamily="18" charset="0"/>
              </a:rPr>
              <a:t>Теорема-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b="1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 (1)</a:t>
            </a:r>
            <a:r>
              <a:rPr kumimoji="1" lang="ru-RU" altLang="zh-CN" sz="2400" i="1">
                <a:latin typeface="Times New Roman" pitchFamily="18" charset="0"/>
              </a:rPr>
              <a:t> </a:t>
            </a:r>
            <a:r>
              <a:rPr kumimoji="1" lang="uz-Cyrl-UZ" altLang="zh-CN" sz="2400">
                <a:latin typeface="Times New Roman" pitchFamily="18" charset="0"/>
              </a:rPr>
              <a:t>кўринишидаги таққосламани ҳар доим қуйидаги: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 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uz-Cyrl-UZ" altLang="zh-CN" sz="2400" b="1" i="1">
                <a:latin typeface="Times New Roman" pitchFamily="18" charset="0"/>
              </a:rPr>
              <a:t>≡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d (mod m</a:t>
            </a:r>
            <a:r>
              <a:rPr kumimoji="1" lang="en-US" altLang="zh-CN" sz="2400" b="1" i="1" baseline="-2500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) 	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(2)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400">
                <a:latin typeface="Times New Roman" pitchFamily="18" charset="0"/>
              </a:rPr>
              <a:t>кўринишга келтириш мумкин.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sz="2400" b="1">
              <a:solidFill>
                <a:schemeClr val="accent2"/>
              </a:solidFill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ru-RU" altLang="zh-CN" sz="2400" b="1">
                <a:solidFill>
                  <a:schemeClr val="accent2"/>
                </a:solidFill>
                <a:latin typeface="Times New Roman" pitchFamily="18" charset="0"/>
              </a:rPr>
              <a:t>Исботи:</a:t>
            </a:r>
            <a:r>
              <a:rPr kumimoji="1" lang="ru-RU" altLang="zh-CN" sz="24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endParaRPr kumimoji="1" lang="en-US" altLang="zh-CN" sz="2400">
              <a:solidFill>
                <a:schemeClr val="accent2"/>
              </a:solidFill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	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ax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+bx+c</a:t>
            </a:r>
            <a:r>
              <a:rPr kumimoji="1" lang="uz-Cyrl-UZ" altLang="zh-CN" sz="2400" i="1">
                <a:latin typeface="Times New Roman" pitchFamily="18" charset="0"/>
              </a:rPr>
              <a:t>≡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0(mod m)|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4a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4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+4abx+4ac</a:t>
            </a:r>
            <a:r>
              <a:rPr kumimoji="1" lang="uz-Cyrl-UZ" altLang="zh-CN" sz="2400" i="1">
                <a:latin typeface="Times New Roman" pitchFamily="18" charset="0"/>
              </a:rPr>
              <a:t>≡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0(mod 4am)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y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=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2ax-b;  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=b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-4ac; 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400" b="1" i="1" baseline="-2500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=4am;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y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uz-Cyrl-UZ" altLang="zh-CN" sz="2400" i="1">
                <a:latin typeface="Times New Roman" pitchFamily="18" charset="0"/>
              </a:rPr>
              <a:t>≡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d(mod m</a:t>
            </a:r>
            <a:r>
              <a:rPr kumimoji="1" lang="en-US" altLang="zh-CN" sz="2400" i="1" baseline="-2500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)</a:t>
            </a: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9765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6866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696913"/>
            <a:ext cx="8856663" cy="53244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defRPr/>
            </a:pPr>
            <a:r>
              <a:rPr kumimoji="1" lang="uz-Cyrl-UZ" altLang="zh-CN" sz="2800" b="1" dirty="0" smtClean="0">
                <a:solidFill>
                  <a:schemeClr val="accent2"/>
                </a:solidFill>
                <a:latin typeface="Times New Roman" pitchFamily="18" charset="0"/>
              </a:rPr>
              <a:t>Мисол</a:t>
            </a:r>
            <a:r>
              <a:rPr kumimoji="1" lang="uz-Cyrl-UZ" altLang="zh-CN" sz="2800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zh-CN" sz="2800" dirty="0" smtClean="0">
                <a:latin typeface="Times New Roman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</a:rPr>
              <a:t>4x</a:t>
            </a:r>
            <a:r>
              <a:rPr kumimoji="1" lang="en-US" altLang="zh-CN" sz="2800" b="1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</a:rPr>
              <a:t>-11x-3≡0(mod 13),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8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</a:rPr>
              <a:t>x=?</a:t>
            </a:r>
          </a:p>
          <a:p>
            <a:pPr algn="just" eaLnBrk="1" hangingPunct="1">
              <a:defRPr/>
            </a:pPr>
            <a:endParaRPr kumimoji="1" lang="en-US" altLang="zh-CN" sz="2800" b="1" i="1" dirty="0" smtClean="0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Aft>
                <a:spcPct val="50000"/>
              </a:spcAft>
              <a:defRPr/>
            </a:pPr>
            <a:r>
              <a:rPr kumimoji="1" lang="uz-Cyrl-UZ" altLang="zh-CN" sz="2800" b="1" dirty="0" smtClean="0">
                <a:latin typeface="Times New Roman" pitchFamily="18" charset="0"/>
                <a:cs typeface="Times New Roman" pitchFamily="18" charset="0"/>
              </a:rPr>
              <a:t>Ечиш</a:t>
            </a:r>
            <a:r>
              <a:rPr kumimoji="1" lang="uz-Cyrl-UZ" altLang="zh-CN" sz="28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1" lang="uz-Cyrl-UZ" altLang="zh-CN" sz="2800" i="1" dirty="0" smtClean="0">
                <a:latin typeface="Times New Roman" pitchFamily="18" charset="0"/>
                <a:cs typeface="Times New Roman" pitchFamily="18" charset="0"/>
              </a:rPr>
              <a:t>таққослама хоссаларидан фойдаланиш асосида</a:t>
            </a:r>
            <a:r>
              <a:rPr kumimoji="1" lang="uz-Cyrl-UZ" altLang="zh-CN" sz="28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kumimoji="1" lang="en-US" altLang="zh-CN" sz="2800" dirty="0" smtClean="0">
                <a:latin typeface="Times New Roman" pitchFamily="18" charset="0"/>
                <a:ea typeface="宋体" charset="-122"/>
              </a:rPr>
              <a:t>   </a:t>
            </a:r>
            <a:endParaRPr kumimoji="1" lang="uz-Cyrl-UZ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uz-Cyrl-UZ" altLang="zh-CN" sz="2800" i="1" dirty="0" smtClean="0">
                <a:latin typeface="Times New Roman" pitchFamily="18" charset="0"/>
                <a:cs typeface="Times New Roman" pitchFamily="18" charset="0"/>
              </a:rPr>
              <a:t>	4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-11x-3≡0(mod 13) 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uz-Cyrl-UZ" altLang="zh-CN" sz="2800" i="1" dirty="0" smtClean="0">
                <a:latin typeface="Times New Roman" pitchFamily="18" charset="0"/>
              </a:rPr>
              <a:t>4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-(11</a:t>
            </a:r>
            <a:r>
              <a:rPr kumimoji="1" lang="en-US" altLang="zh-CN" sz="2800" b="1" i="1" dirty="0" smtClean="0">
                <a:solidFill>
                  <a:srgbClr val="C00000"/>
                </a:solidFill>
                <a:latin typeface="Times New Roman" pitchFamily="18" charset="0"/>
                <a:ea typeface="宋体" charset="-122"/>
              </a:rPr>
              <a:t>+13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)x-(3</a:t>
            </a:r>
            <a:r>
              <a:rPr kumimoji="1" lang="en-US" altLang="zh-CN" sz="2800" b="1" i="1" dirty="0" smtClean="0">
                <a:solidFill>
                  <a:srgbClr val="C00000"/>
                </a:solidFill>
                <a:latin typeface="Times New Roman" pitchFamily="18" charset="0"/>
                <a:ea typeface="宋体" charset="-122"/>
              </a:rPr>
              <a:t>+13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)≡0(mod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endParaRPr kumimoji="1" lang="en-US" altLang="zh-CN" sz="2800" i="1" dirty="0" smtClean="0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uz-Cyrl-UZ" altLang="zh-CN" sz="2800" i="1" dirty="0" smtClean="0">
                <a:latin typeface="Times New Roman" pitchFamily="18" charset="0"/>
              </a:rPr>
              <a:t>4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-24x-16≡0(mod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-6x-4≡0(mod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	(x-3)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≡13(mod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(x-3)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≡0(mod 13)   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x=3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.</a:t>
            </a: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9765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6682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150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1803400"/>
            <a:ext cx="8628063" cy="32035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en-US" altLang="ru-RU" sz="800" b="1">
              <a:solidFill>
                <a:schemeClr val="accent2"/>
              </a:solidFill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800" b="1">
                <a:solidFill>
                  <a:schemeClr val="accent2"/>
                </a:solidFill>
                <a:latin typeface="Times New Roman" pitchFamily="18" charset="0"/>
              </a:rPr>
              <a:t>Таъриф-2. </a:t>
            </a:r>
            <a:endParaRPr kumimoji="1" lang="en-US" altLang="ru-RU" sz="2800" b="1">
              <a:solidFill>
                <a:schemeClr val="accent2"/>
              </a:solidFill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800">
                <a:latin typeface="Times New Roman" pitchFamily="18" charset="0"/>
              </a:rPr>
              <a:t>Агар </a:t>
            </a:r>
            <a:r>
              <a:rPr kumimoji="1" lang="uz-Cyrl-UZ" altLang="ru-RU" sz="2800" i="1">
                <a:latin typeface="Times New Roman" pitchFamily="18" charset="0"/>
              </a:rPr>
              <a:t>ЭКУБ(</a:t>
            </a:r>
            <a:r>
              <a:rPr kumimoji="1" lang="en-US" altLang="ru-RU" sz="2800" i="1">
                <a:latin typeface="Times New Roman" pitchFamily="18" charset="0"/>
              </a:rPr>
              <a:t>a,m</a:t>
            </a:r>
            <a:r>
              <a:rPr kumimoji="1" lang="uz-Cyrl-UZ" altLang="ru-RU" sz="2800" i="1">
                <a:latin typeface="Times New Roman" pitchFamily="18" charset="0"/>
              </a:rPr>
              <a:t>)</a:t>
            </a:r>
            <a:r>
              <a:rPr kumimoji="1" lang="en-US" altLang="ru-RU" sz="2800" i="1">
                <a:latin typeface="Times New Roman" pitchFamily="18" charset="0"/>
              </a:rPr>
              <a:t>=1</a:t>
            </a:r>
            <a:r>
              <a:rPr kumimoji="1" lang="en-US" altLang="ru-RU" sz="2800">
                <a:latin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</a:rPr>
              <a:t>бўлганда, </a:t>
            </a:r>
            <a:r>
              <a:rPr kumimoji="1" lang="en-US" altLang="ru-RU" sz="2800" i="1">
                <a:latin typeface="Times New Roman" pitchFamily="18" charset="0"/>
              </a:rPr>
              <a:t>x</a:t>
            </a:r>
            <a:r>
              <a:rPr kumimoji="1" lang="en-US" altLang="ru-RU" sz="2800" i="1" baseline="30000">
                <a:latin typeface="Times New Roman" pitchFamily="18" charset="0"/>
              </a:rPr>
              <a:t>2</a:t>
            </a:r>
            <a:r>
              <a:rPr kumimoji="1" lang="en-US" altLang="ru-RU" sz="2800" i="1">
                <a:latin typeface="Times New Roman" pitchFamily="18" charset="0"/>
                <a:cs typeface="Times New Roman" pitchFamily="18" charset="0"/>
              </a:rPr>
              <a:t>≡a</a:t>
            </a:r>
            <a:r>
              <a:rPr kumimoji="1" lang="uz-Cyrl-UZ" altLang="ru-RU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800" i="1">
                <a:latin typeface="Times New Roman" pitchFamily="18" charset="0"/>
                <a:cs typeface="Times New Roman" pitchFamily="18" charset="0"/>
              </a:rPr>
              <a:t>(mod m)</a:t>
            </a:r>
            <a:r>
              <a:rPr kumimoji="1" lang="en-US" altLang="ru-RU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таққослама ечимга эга бўлса, </a:t>
            </a:r>
            <a:r>
              <a:rPr kumimoji="1" lang="en-US" altLang="ru-RU" sz="28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1" lang="en-US" altLang="ru-RU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– сонига </a:t>
            </a:r>
            <a:r>
              <a:rPr kumimoji="1" lang="en-US" altLang="ru-RU" sz="2800" b="1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kumimoji="1" lang="en-US" altLang="ru-RU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– модул бўйича </a:t>
            </a:r>
            <a:r>
              <a:rPr kumimoji="1" lang="uz-Cyrl-UZ" altLang="ru-RU" sz="2800" b="1" i="1">
                <a:latin typeface="Times New Roman" pitchFamily="18" charset="0"/>
                <a:cs typeface="Times New Roman" pitchFamily="18" charset="0"/>
              </a:rPr>
              <a:t>квадратик чегирма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, акс ҳолда </a:t>
            </a:r>
            <a:r>
              <a:rPr kumimoji="1" lang="uz-Cyrl-UZ" altLang="ru-RU" sz="2800" b="1" i="1">
                <a:latin typeface="Times New Roman" pitchFamily="18" charset="0"/>
                <a:cs typeface="Times New Roman" pitchFamily="18" charset="0"/>
              </a:rPr>
              <a:t>квадратик ночегирма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дейилади.</a:t>
            </a: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61138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6682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174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531813"/>
            <a:ext cx="8628063" cy="574675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Теорема-2</a:t>
            </a:r>
            <a:r>
              <a:rPr kumimoji="1" lang="uz-Cyrl-UZ" altLang="ru-RU" sz="26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 Агар 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– сони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-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туб сон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–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модул бўйича квадратик чегирма бўлса,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у ҳолда қуйидаги:</a:t>
            </a:r>
          </a:p>
          <a:p>
            <a:pPr algn="ctr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1" lang="en-US" altLang="ru-RU" sz="2600" b="1" i="1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≡a (mod p)</a:t>
            </a:r>
            <a:r>
              <a:rPr kumimoji="1" lang="en-US" altLang="ru-RU" sz="26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 b="1">
                <a:latin typeface="Times New Roman" pitchFamily="18" charset="0"/>
                <a:cs typeface="Times New Roman" pitchFamily="18" charset="0"/>
              </a:rPr>
              <a:t>	(1)</a:t>
            </a:r>
            <a:endParaRPr kumimoji="1" lang="en-US" altLang="ru-RU" sz="2600" b="1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тенглама 2 та ечимга эга бўлади.</a:t>
            </a:r>
            <a:endParaRPr kumimoji="1" lang="en-US" altLang="ru-RU" sz="260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Теорема-</a:t>
            </a:r>
            <a:r>
              <a:rPr kumimoji="1" lang="uz-Cyrl-UZ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ru-RU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6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Эйлер теоремаси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критерияси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)) </a:t>
            </a:r>
            <a:endParaRPr kumimoji="1" lang="en-US" altLang="ru-RU" sz="260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Агар 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ЭКУБ(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a,p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=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бўлиб, 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1" lang="en-US" altLang="ru-RU" sz="2600" b="1" i="1" baseline="30000">
                <a:latin typeface="Times New Roman" pitchFamily="18" charset="0"/>
                <a:cs typeface="Times New Roman" pitchFamily="18" charset="0"/>
              </a:rPr>
              <a:t>(p-1)/2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≡1(mod p)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ўринли бўлса, (1) тенглама 2 та ечимга эга бўлади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 b="1" i="1">
                <a:latin typeface="Times New Roman" pitchFamily="18" charset="0"/>
              </a:rPr>
              <a:t>	</a:t>
            </a:r>
            <a:r>
              <a:rPr kumimoji="1" lang="en-US" altLang="ru-RU" sz="2600" b="1" i="1">
                <a:latin typeface="Times New Roman" pitchFamily="18" charset="0"/>
              </a:rPr>
              <a:t>a</a:t>
            </a:r>
            <a:r>
              <a:rPr kumimoji="1" lang="en-US" altLang="ru-RU" sz="2600" b="1" i="1" baseline="30000">
                <a:latin typeface="Times New Roman" pitchFamily="18" charset="0"/>
              </a:rPr>
              <a:t>(p-1)/2</a:t>
            </a:r>
            <a:r>
              <a:rPr kumimoji="1" lang="en-US" altLang="ru-RU" sz="2600" b="1" i="1">
                <a:latin typeface="Times New Roman" pitchFamily="18" charset="0"/>
              </a:rPr>
              <a:t>≡</a:t>
            </a:r>
            <a:r>
              <a:rPr kumimoji="1" lang="uz-Cyrl-UZ" altLang="ru-RU" sz="2600" b="1" i="1">
                <a:latin typeface="Times New Roman" pitchFamily="18" charset="0"/>
              </a:rPr>
              <a:t>-</a:t>
            </a:r>
            <a:r>
              <a:rPr kumimoji="1" lang="en-US" altLang="ru-RU" sz="2600" b="1" i="1">
                <a:latin typeface="Times New Roman" pitchFamily="18" charset="0"/>
              </a:rPr>
              <a:t>1(mod p)</a:t>
            </a:r>
            <a:r>
              <a:rPr kumimoji="1" lang="en-US" altLang="ru-RU" sz="2600">
                <a:latin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</a:rPr>
              <a:t>ўринли бўлса, (1) тенглама ечимга эга бўлмайди.</a:t>
            </a:r>
            <a:endParaRPr kumimoji="1" lang="en-US" altLang="ru-RU" sz="2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61138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6682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198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422275"/>
            <a:ext cx="8628063" cy="596582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kumimoji="1" lang="uz-Cyrl-UZ" altLang="zh-CN" sz="2400" b="1">
                <a:solidFill>
                  <a:schemeClr val="accent2"/>
                </a:solidFill>
                <a:latin typeface="Times New Roman" pitchFamily="18" charset="0"/>
              </a:rPr>
              <a:t>Мисол</a:t>
            </a:r>
            <a:r>
              <a:rPr kumimoji="1" lang="uz-Cyrl-UZ" altLang="zh-CN" sz="240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zh-CN" sz="2400">
                <a:latin typeface="Times New Roman" pitchFamily="18" charset="0"/>
              </a:rPr>
              <a:t> 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≡3(mod 13) – </a:t>
            </a:r>
            <a:r>
              <a:rPr kumimoji="1" lang="uz-Cyrl-UZ" altLang="zh-CN" sz="2400" b="1">
                <a:latin typeface="Times New Roman" pitchFamily="18" charset="0"/>
                <a:ea typeface="宋体" charset="-122"/>
              </a:rPr>
              <a:t>таққослама ечимга эгами?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 </a:t>
            </a:r>
            <a:endParaRPr kumimoji="1" lang="en-US" altLang="zh-CN" sz="2400" b="1" i="1">
              <a:latin typeface="Times New Roman" pitchFamily="18" charset="0"/>
              <a:ea typeface="宋体" charset="-122"/>
            </a:endParaRPr>
          </a:p>
          <a:p>
            <a:pPr algn="just" eaLnBrk="1" hangingPunct="1">
              <a:buFont typeface="Wingdings" pitchFamily="2" charset="2"/>
              <a:buNone/>
            </a:pPr>
            <a:endParaRPr kumimoji="1" lang="en-US" altLang="zh-CN" sz="2400" b="1" i="1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zh-CN" sz="2400" b="1">
                <a:latin typeface="Times New Roman" pitchFamily="18" charset="0"/>
                <a:cs typeface="Times New Roman" pitchFamily="18" charset="0"/>
              </a:rPr>
              <a:t>Ечиш</a:t>
            </a:r>
            <a:r>
              <a:rPr kumimoji="1" lang="uz-Cyrl-UZ" altLang="zh-CN" sz="2400"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1" lang="uz-Cyrl-UZ" altLang="zh-CN" sz="2400" i="1">
                <a:latin typeface="Times New Roman" pitchFamily="18" charset="0"/>
                <a:cs typeface="Times New Roman" pitchFamily="18" charset="0"/>
              </a:rPr>
              <a:t>Эйлер критериясидан фойдаланиш асосида</a:t>
            </a:r>
            <a:r>
              <a:rPr kumimoji="1" lang="uz-Cyrl-UZ" altLang="zh-CN" sz="2400">
                <a:latin typeface="Times New Roman" pitchFamily="18" charset="0"/>
                <a:cs typeface="Times New Roman" pitchFamily="18" charset="0"/>
              </a:rPr>
              <a:t>): 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  </a:t>
            </a:r>
            <a:endParaRPr kumimoji="1" lang="uz-Cyrl-UZ" altLang="zh-CN" sz="240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zh-CN" sz="2400" b="1" i="1"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  <a:cs typeface="Times New Roman" pitchFamily="18" charset="0"/>
              </a:rPr>
              <a:t>a=3; p=13;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 </a:t>
            </a: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a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(p-1)/2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p)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(13-1)/2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</a:t>
            </a:r>
            <a:endParaRPr kumimoji="1" lang="en-US" altLang="ru-RU" sz="2400" i="1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			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3.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3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27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27(mod 13)</a:t>
            </a:r>
            <a:r>
              <a:rPr kumimoji="1" lang="en-US" altLang="ru-RU" sz="2400" b="1" i="1">
                <a:latin typeface="Times New Roman" pitchFamily="18" charset="0"/>
              </a:rPr>
              <a:t> ≡</a:t>
            </a: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			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=</a:t>
            </a:r>
            <a:r>
              <a:rPr kumimoji="1" lang="en-US" altLang="ru-RU" sz="2400" b="1" i="1">
                <a:latin typeface="Times New Roman" pitchFamily="18" charset="0"/>
              </a:rPr>
              <a:t>1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 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ctr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берилган тенглама 2 та ечимга эга, </a:t>
            </a:r>
          </a:p>
          <a:p>
            <a:pPr algn="ctr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яъни 3 сони 13 модул бўйича квадратик чегирма.</a:t>
            </a:r>
            <a:endParaRPr kumimoji="1" lang="en-US" altLang="zh-CN" sz="2400" i="1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endParaRPr kumimoji="1" lang="en-US" altLang="zh-CN" sz="2400" b="1" i="1">
              <a:latin typeface="Times New Roman" pitchFamily="18" charset="0"/>
              <a:ea typeface="宋体" charset="-122"/>
              <a:sym typeface="Wingdings" pitchFamily="2" charset="2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61138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88913"/>
            <a:ext cx="8316912" cy="4429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uz-Cyrl-UZ" altLang="ru-RU" sz="23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Лежандр символи</a:t>
            </a:r>
            <a:endParaRPr lang="ru-RU" altLang="ru-RU" sz="2300" smtClean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9223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725488"/>
            <a:ext cx="8628063" cy="6002337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solidFill>
                  <a:schemeClr val="accent2"/>
                </a:solidFill>
                <a:latin typeface="Times New Roman" pitchFamily="18" charset="0"/>
              </a:rPr>
              <a:t>Таъриф-3.</a:t>
            </a:r>
            <a:r>
              <a:rPr kumimoji="1" lang="uz-Cyrl-UZ" altLang="ru-RU" sz="2000">
                <a:latin typeface="Times New Roman" pitchFamily="18" charset="0"/>
              </a:rPr>
              <a:t> </a:t>
            </a:r>
            <a:r>
              <a:rPr kumimoji="1" lang="uz-Cyrl-UZ" altLang="ru-RU" sz="2000" b="1" i="1">
                <a:latin typeface="Times New Roman" pitchFamily="18" charset="0"/>
              </a:rPr>
              <a:t>Лежандр символи</a:t>
            </a:r>
            <a:r>
              <a:rPr kumimoji="1" lang="uz-Cyrl-UZ" altLang="ru-RU" sz="2000">
                <a:latin typeface="Times New Roman" pitchFamily="18" charset="0"/>
              </a:rPr>
              <a:t> деб, қуйидаги: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latin typeface="Times New Roman" pitchFamily="18" charset="0"/>
              </a:rPr>
              <a:t>     L(a/p)=1, </a:t>
            </a:r>
            <a:r>
              <a:rPr kumimoji="1" lang="uz-Cyrl-UZ" altLang="ru-RU" sz="2000">
                <a:latin typeface="Times New Roman" pitchFamily="18" charset="0"/>
              </a:rPr>
              <a:t>агар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en-US" altLang="ru-RU" sz="2000">
                <a:latin typeface="Times New Roman" pitchFamily="18" charset="0"/>
              </a:rPr>
              <a:t> </a:t>
            </a:r>
            <a:r>
              <a:rPr kumimoji="1" lang="uz-Cyrl-UZ" altLang="ru-RU" sz="2000">
                <a:latin typeface="Times New Roman" pitchFamily="18" charset="0"/>
              </a:rPr>
              <a:t>сон </a:t>
            </a:r>
            <a:r>
              <a:rPr kumimoji="1" lang="en-US" altLang="ru-RU" sz="2000" i="1">
                <a:latin typeface="Times New Roman" pitchFamily="18" charset="0"/>
              </a:rPr>
              <a:t>p (p&gt;2)</a:t>
            </a:r>
            <a:r>
              <a:rPr kumimoji="1" lang="uz-Cyrl-UZ" altLang="ru-RU" sz="2000">
                <a:latin typeface="Times New Roman" pitchFamily="18" charset="0"/>
              </a:rPr>
              <a:t> туб модул бўйича кв.чегирма бўлса</a:t>
            </a:r>
            <a:r>
              <a:rPr kumimoji="1" lang="en-US" altLang="ru-RU" sz="2000">
                <a:latin typeface="Times New Roman" pitchFamily="18" charset="0"/>
              </a:rPr>
              <a:t>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latin typeface="Times New Roman" pitchFamily="18" charset="0"/>
              </a:rPr>
              <a:t>     L(a/p)=-1, </a:t>
            </a:r>
            <a:r>
              <a:rPr kumimoji="1" lang="uz-Cyrl-UZ" altLang="ru-RU" sz="2000">
                <a:latin typeface="Times New Roman" pitchFamily="18" charset="0"/>
              </a:rPr>
              <a:t>агар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en-US" altLang="ru-RU" sz="2000">
                <a:latin typeface="Times New Roman" pitchFamily="18" charset="0"/>
              </a:rPr>
              <a:t> </a:t>
            </a:r>
            <a:r>
              <a:rPr kumimoji="1" lang="uz-Cyrl-UZ" altLang="ru-RU" sz="2000">
                <a:latin typeface="Times New Roman" pitchFamily="18" charset="0"/>
              </a:rPr>
              <a:t>сон </a:t>
            </a:r>
            <a:r>
              <a:rPr kumimoji="1" lang="en-US" altLang="ru-RU" sz="2000" i="1">
                <a:latin typeface="Times New Roman" pitchFamily="18" charset="0"/>
              </a:rPr>
              <a:t>p (p&gt;2)</a:t>
            </a:r>
            <a:r>
              <a:rPr kumimoji="1" lang="uz-Cyrl-UZ" altLang="ru-RU" sz="2000">
                <a:latin typeface="Times New Roman" pitchFamily="18" charset="0"/>
              </a:rPr>
              <a:t> туб модул бўйича кв.</a:t>
            </a:r>
            <a:r>
              <a:rPr kumimoji="1" lang="ru-RU" altLang="ru-RU" sz="2000">
                <a:latin typeface="Times New Roman" pitchFamily="18" charset="0"/>
              </a:rPr>
              <a:t>но</a:t>
            </a:r>
            <a:r>
              <a:rPr kumimoji="1" lang="uz-Cyrl-UZ" altLang="ru-RU" sz="2000">
                <a:latin typeface="Times New Roman" pitchFamily="18" charset="0"/>
              </a:rPr>
              <a:t>чегирма</a:t>
            </a:r>
            <a:r>
              <a:rPr kumimoji="1" lang="en-US" altLang="ru-RU" sz="2000">
                <a:latin typeface="Times New Roman" pitchFamily="18" charset="0"/>
              </a:rPr>
              <a:t> </a:t>
            </a:r>
            <a:r>
              <a:rPr kumimoji="1" lang="uz-Cyrl-UZ" altLang="ru-RU" sz="2000">
                <a:latin typeface="Times New Roman" pitchFamily="18" charset="0"/>
              </a:rPr>
              <a:t>бўлса</a:t>
            </a:r>
            <a:r>
              <a:rPr kumimoji="1" lang="en-US" altLang="ru-RU" sz="2000">
                <a:latin typeface="Times New Roman" pitchFamily="18" charset="0"/>
              </a:rPr>
              <a:t>.</a:t>
            </a:r>
            <a:endParaRPr kumimoji="1" lang="ru-RU" altLang="ru-RU" sz="2000">
              <a:latin typeface="Times New Roman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latin typeface="Times New Roman" pitchFamily="18" charset="0"/>
              </a:rPr>
              <a:t>     шартларни     қаноатлантирувчи     символга      айтилади.  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uz-Cyrl-UZ" altLang="ru-RU" sz="2000" i="1">
                <a:latin typeface="Times New Roman" pitchFamily="18" charset="0"/>
              </a:rPr>
              <a:t>   </a:t>
            </a:r>
            <a:r>
              <a:rPr kumimoji="1" lang="en-US" altLang="ru-RU" sz="2000">
                <a:latin typeface="Times New Roman" pitchFamily="18" charset="0"/>
              </a:rPr>
              <a:t>–</a:t>
            </a:r>
            <a:r>
              <a:rPr kumimoji="1" lang="uz-Cyrl-UZ" altLang="ru-RU" sz="2000">
                <a:latin typeface="Times New Roman" pitchFamily="18" charset="0"/>
              </a:rPr>
              <a:t>    Лежандр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latin typeface="Times New Roman" pitchFamily="18" charset="0"/>
              </a:rPr>
              <a:t>     символнинг </a:t>
            </a:r>
            <a:r>
              <a:rPr kumimoji="1" lang="uz-Cyrl-UZ" altLang="ru-RU" sz="2000" u="sng">
                <a:latin typeface="Times New Roman" pitchFamily="18" charset="0"/>
              </a:rPr>
              <a:t>сурати</a:t>
            </a:r>
            <a:r>
              <a:rPr kumimoji="1" lang="uz-Cyrl-UZ" altLang="ru-RU" sz="2000">
                <a:latin typeface="Times New Roman" pitchFamily="18" charset="0"/>
              </a:rPr>
              <a:t>,  </a:t>
            </a:r>
            <a:r>
              <a:rPr kumimoji="1" lang="en-US" altLang="ru-RU" sz="2000" i="1">
                <a:latin typeface="Times New Roman" pitchFamily="18" charset="0"/>
              </a:rPr>
              <a:t>p</a:t>
            </a:r>
            <a:r>
              <a:rPr kumimoji="1" lang="en-US" altLang="ru-RU" sz="2000">
                <a:latin typeface="Times New Roman" pitchFamily="18" charset="0"/>
              </a:rPr>
              <a:t> –</a:t>
            </a:r>
            <a:r>
              <a:rPr kumimoji="1" lang="uz-Cyrl-UZ" altLang="ru-RU" sz="2000">
                <a:latin typeface="Times New Roman" pitchFamily="18" charset="0"/>
              </a:rPr>
              <a:t> эса </a:t>
            </a:r>
            <a:r>
              <a:rPr kumimoji="1" lang="uz-Cyrl-UZ" altLang="ru-RU" sz="2000" u="sng">
                <a:latin typeface="Times New Roman" pitchFamily="18" charset="0"/>
              </a:rPr>
              <a:t>махражи</a:t>
            </a:r>
            <a:r>
              <a:rPr kumimoji="1" lang="uz-Cyrl-UZ" altLang="ru-RU" sz="2000">
                <a:latin typeface="Times New Roman" pitchFamily="18" charset="0"/>
              </a:rPr>
              <a:t> дейилади.</a:t>
            </a:r>
            <a:endParaRPr kumimoji="1" lang="en-US" altLang="ru-RU" sz="2000">
              <a:latin typeface="Times New Roman" pitchFamily="18" charset="0"/>
            </a:endParaRPr>
          </a:p>
          <a:p>
            <a:pPr algn="ctr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 u="sng">
                <a:solidFill>
                  <a:schemeClr val="accent2"/>
                </a:solidFill>
                <a:latin typeface="Times New Roman" pitchFamily="18" charset="0"/>
              </a:rPr>
              <a:t>Лежандр символи хоссалари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kumimoji="1" lang="uz-Cyrl-UZ" altLang="ru-RU" sz="2000" b="1" i="1" baseline="3000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>
                <a:latin typeface="Times New Roman" pitchFamily="18" charset="0"/>
              </a:rPr>
              <a:t> Агар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≡a</a:t>
            </a:r>
            <a:r>
              <a:rPr kumimoji="1" lang="en-US" altLang="ru-RU" sz="2000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(mod p)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бўлса, у ҳолда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L(a/p)=L(a</a:t>
            </a:r>
            <a:r>
              <a:rPr kumimoji="1" lang="uz-Cyrl-UZ" altLang="ru-RU" sz="2000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/p)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– ўринли бўлади.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uz-Cyrl-UZ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L(1/p)=1;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uz-Cyrl-UZ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L(-1/p)=(-1)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(p-1)/2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L(2/p)=(-1)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(p*p-1)/8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L((a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...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t)/p)=L(a/p)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L(b/p)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L(c/p)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...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L(t/p);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endParaRPr kumimoji="1" lang="en-US" altLang="ru-RU" sz="2000" i="1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L(a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/p)=L(a/p);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Агар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p 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ва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q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сонлар тоқ туб сонлар бўлса,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L(p/q)=(-1)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(p-1)(q-1)/4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L(q/p);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Агар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a=0 </a:t>
            </a: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бўлса,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L(0/p)=0 </a:t>
            </a: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бўлиб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(1) тенгламанинг ечими нол бўлади. </a:t>
            </a:r>
            <a:endParaRPr kumimoji="1" lang="en-US" altLang="ru-RU"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2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2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8257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246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704850"/>
            <a:ext cx="8628063" cy="5230813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 b="1">
                <a:solidFill>
                  <a:schemeClr val="accent2"/>
                </a:solidFill>
                <a:latin typeface="Times New Roman" pitchFamily="18" charset="0"/>
              </a:rPr>
              <a:t>Мисол</a:t>
            </a:r>
            <a:r>
              <a:rPr kumimoji="1" lang="uz-Cyrl-UZ" altLang="ru-RU" sz="240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400">
                <a:latin typeface="Times New Roman" pitchFamily="18" charset="0"/>
              </a:rPr>
              <a:t> </a:t>
            </a:r>
            <a:r>
              <a:rPr kumimoji="1" lang="en-US" altLang="ru-RU" sz="2400">
                <a:latin typeface="Times New Roman" pitchFamily="18" charset="0"/>
              </a:rPr>
              <a:t> </a:t>
            </a:r>
            <a:r>
              <a:rPr kumimoji="1" lang="en-US" altLang="ru-RU" sz="2400" b="1" i="1">
                <a:latin typeface="Times New Roman" pitchFamily="18" charset="0"/>
              </a:rPr>
              <a:t>x</a:t>
            </a:r>
            <a:r>
              <a:rPr kumimoji="1" lang="en-US" altLang="ru-RU" sz="2400" b="1" i="1" baseline="30000">
                <a:latin typeface="Times New Roman" pitchFamily="18" charset="0"/>
              </a:rPr>
              <a:t>2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≡111 (mod 271) </a:t>
            </a: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таққосламани Лежандир символи 	ёрдамида ечими бор ёки йўқлигини текшириш</a:t>
            </a:r>
            <a:r>
              <a:rPr kumimoji="1" lang="uz-Cyrl-UZ" altLang="ru-RU" sz="2400" b="1">
                <a:latin typeface="Times New Roman" pitchFamily="18" charset="0"/>
              </a:rPr>
              <a:t>.</a:t>
            </a:r>
            <a:r>
              <a:rPr kumimoji="1" lang="uz-Cyrl-UZ" altLang="ru-RU" sz="2400" b="1" i="1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en-US" altLang="ru-RU" sz="1000" b="1" i="1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 b="1">
                <a:latin typeface="Times New Roman" pitchFamily="18" charset="0"/>
              </a:rPr>
              <a:t>Ечиш</a:t>
            </a:r>
            <a:r>
              <a:rPr kumimoji="1" lang="uz-Cyrl-UZ" altLang="ru-RU" sz="2400">
                <a:latin typeface="Times New Roman" pitchFamily="18" charset="0"/>
              </a:rPr>
              <a:t>:</a:t>
            </a:r>
            <a:r>
              <a:rPr kumimoji="1" lang="uz-Cyrl-UZ" altLang="ru-RU" sz="2400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  L</a:t>
            </a:r>
            <a:r>
              <a:rPr kumimoji="1" lang="uz-Cyrl-UZ" altLang="ru-RU" sz="2400" i="1">
                <a:latin typeface="Times New Roman" pitchFamily="18" charset="0"/>
              </a:rPr>
              <a:t>(111/271)</a:t>
            </a:r>
            <a:r>
              <a:rPr kumimoji="1" lang="en-US" altLang="ru-RU" sz="2400" i="1">
                <a:latin typeface="Times New Roman" pitchFamily="18" charset="0"/>
              </a:rPr>
              <a:t>=L</a:t>
            </a:r>
            <a:r>
              <a:rPr kumimoji="1" lang="uz-Cyrl-UZ" altLang="ru-RU" sz="2400" i="1">
                <a:latin typeface="Times New Roman" pitchFamily="18" charset="0"/>
              </a:rPr>
              <a:t>(</a:t>
            </a:r>
            <a:r>
              <a:rPr kumimoji="1" lang="uz-Cyrl-UZ" altLang="ru-RU" sz="2400" b="1" i="1">
                <a:solidFill>
                  <a:srgbClr val="C00000"/>
                </a:solidFill>
                <a:latin typeface="Times New Roman" pitchFamily="18" charset="0"/>
              </a:rPr>
              <a:t>3</a:t>
            </a:r>
            <a:r>
              <a:rPr kumimoji="1" lang="uz-Cyrl-UZ" altLang="ru-RU" sz="2400" b="1" i="1" baseline="30000">
                <a:latin typeface="Times New Roman" pitchFamily="18" charset="0"/>
              </a:rPr>
              <a:t>.</a:t>
            </a:r>
            <a:r>
              <a:rPr kumimoji="1" lang="uz-Cyrl-UZ" altLang="ru-RU" sz="2400" i="1">
                <a:latin typeface="Times New Roman" pitchFamily="18" charset="0"/>
              </a:rPr>
              <a:t>37/271)</a:t>
            </a:r>
            <a:r>
              <a:rPr kumimoji="1" lang="en-US" altLang="ru-RU" sz="2400" i="1">
                <a:latin typeface="Times New Roman" pitchFamily="18" charset="0"/>
              </a:rPr>
              <a:t>=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L(3/271)</a:t>
            </a:r>
            <a:r>
              <a:rPr kumimoji="1" lang="en-US" altLang="ru-RU" sz="2400" i="1">
                <a:latin typeface="Times New Roman" pitchFamily="18" charset="0"/>
              </a:rPr>
              <a:t> </a:t>
            </a:r>
            <a:r>
              <a:rPr kumimoji="1" lang="en-US" altLang="ru-RU" sz="2400" b="1" i="1" baseline="30000">
                <a:latin typeface="Times New Roman" pitchFamily="18" charset="0"/>
              </a:rPr>
              <a:t>. </a:t>
            </a:r>
            <a:r>
              <a:rPr kumimoji="1" lang="en-US" altLang="ru-RU" sz="2400" i="1">
                <a:latin typeface="Times New Roman" pitchFamily="18" charset="0"/>
              </a:rPr>
              <a:t>L(37/271)=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=(-1)</a:t>
            </a:r>
            <a:r>
              <a:rPr kumimoji="1" lang="en-US" altLang="ru-RU" sz="2400" b="1" i="1" baseline="30000">
                <a:solidFill>
                  <a:srgbClr val="C00000"/>
                </a:solidFill>
                <a:latin typeface="Times New Roman" pitchFamily="18" charset="0"/>
              </a:rPr>
              <a:t>(3-1)(271-1)/4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L(271/3) </a:t>
            </a:r>
            <a:r>
              <a:rPr kumimoji="1" lang="en-US" altLang="ru-RU" sz="2400" b="1" i="1" baseline="30000">
                <a:latin typeface="Times New Roman" pitchFamily="18" charset="0"/>
              </a:rPr>
              <a:t>. 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(37-1)(271-1)/4</a:t>
            </a:r>
            <a:r>
              <a:rPr kumimoji="1" lang="en-US" altLang="ru-RU" sz="2400" i="1">
                <a:latin typeface="Times New Roman" pitchFamily="18" charset="0"/>
              </a:rPr>
              <a:t>L(271/31)=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=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solidFill>
                  <a:srgbClr val="C00000"/>
                </a:solidFill>
                <a:latin typeface="Times New Roman" pitchFamily="18" charset="0"/>
              </a:rPr>
              <a:t>135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L(1/3) </a:t>
            </a:r>
            <a:r>
              <a:rPr kumimoji="1" lang="en-US" altLang="ru-RU" sz="2400" b="1" i="1" baseline="30000">
                <a:latin typeface="Times New Roman" pitchFamily="18" charset="0"/>
              </a:rPr>
              <a:t>. 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2430</a:t>
            </a:r>
            <a:r>
              <a:rPr kumimoji="1" lang="en-US" altLang="ru-RU" sz="2400" i="1">
                <a:latin typeface="Times New Roman" pitchFamily="18" charset="0"/>
              </a:rPr>
              <a:t>L(12/37) 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L(2</a:t>
            </a:r>
            <a:r>
              <a:rPr kumimoji="1" lang="en-US" altLang="ru-RU" sz="2400" i="1" baseline="30000">
                <a:latin typeface="Times New Roman" pitchFamily="18" charset="0"/>
              </a:rPr>
              <a:t>2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3/37)=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L(3/37) 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(3-1)(37-1)/4</a:t>
            </a:r>
            <a:r>
              <a:rPr kumimoji="1" lang="en-US" altLang="ru-RU" sz="2400" i="1">
                <a:latin typeface="Times New Roman" pitchFamily="18" charset="0"/>
              </a:rPr>
              <a:t>L(37/3)=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18</a:t>
            </a:r>
            <a:r>
              <a:rPr kumimoji="1" lang="en-US" altLang="ru-RU" sz="2400" i="1">
                <a:latin typeface="Times New Roman" pitchFamily="18" charset="0"/>
              </a:rPr>
              <a:t>L(1/3)=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1=-1 </a:t>
            </a:r>
            <a:r>
              <a:rPr kumimoji="1" lang="uz-Cyrl-UZ" altLang="ru-RU" sz="2400" i="1">
                <a:latin typeface="Times New Roman" pitchFamily="18" charset="0"/>
              </a:rPr>
              <a:t> </a:t>
            </a:r>
            <a:r>
              <a:rPr kumimoji="1" lang="en-US" altLang="ru-RU" sz="1800" i="1">
                <a:sym typeface="Wingdings" pitchFamily="2" charset="2"/>
              </a:rPr>
              <a:t></a:t>
            </a:r>
            <a:endParaRPr kumimoji="1" lang="uz-Cyrl-UZ" altLang="ru-RU" sz="1800" i="1">
              <a:sym typeface="Wingdings" pitchFamily="2" charset="2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uz-Cyrl-UZ" altLang="ru-RU" sz="2400" i="1">
                <a:latin typeface="Times New Roman" pitchFamily="18" charset="0"/>
                <a:sym typeface="Wingdings" pitchFamily="2" charset="2"/>
              </a:rPr>
              <a:t>	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Демак</a:t>
            </a:r>
            <a:r>
              <a:rPr kumimoji="1" lang="uz-Cyrl-UZ" altLang="ru-RU" sz="2400" i="1">
                <a:latin typeface="Times New Roman" pitchFamily="18" charset="0"/>
                <a:sym typeface="Wingdings" pitchFamily="2" charset="2"/>
              </a:rPr>
              <a:t>, </a:t>
            </a:r>
            <a:r>
              <a:rPr kumimoji="1" lang="en-US" altLang="ru-RU" sz="2400" i="1">
                <a:latin typeface="Times New Roman" pitchFamily="18" charset="0"/>
                <a:sym typeface="Wingdings" pitchFamily="2" charset="2"/>
              </a:rPr>
              <a:t>111 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сони </a:t>
            </a:r>
            <a:r>
              <a:rPr kumimoji="1" lang="en-US" altLang="ru-RU" sz="2400" i="1">
                <a:latin typeface="Times New Roman" pitchFamily="18" charset="0"/>
                <a:sym typeface="Wingdings" pitchFamily="2" charset="2"/>
              </a:rPr>
              <a:t>271</a:t>
            </a:r>
            <a:r>
              <a:rPr kumimoji="1" lang="en-US" altLang="ru-RU" sz="2400"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модул 	бўйича квадратик чегирма 	эмас, яъни таққослама тенглама ечимга эга эмас.</a:t>
            </a:r>
            <a:endParaRPr kumimoji="1" lang="en-US" altLang="ru-RU" sz="2400"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287338" y="648970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27000"/>
            <a:ext cx="8316912" cy="44767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Дарс давомида мустақил ишлаш учун</a:t>
            </a:r>
            <a:endParaRPr lang="ru-RU" sz="23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271" name="AutoShape 13" descr="Точечные ромбики"/>
          <p:cNvSpPr>
            <a:spLocks noChangeArrowheads="1"/>
          </p:cNvSpPr>
          <p:nvPr/>
        </p:nvSpPr>
        <p:spPr bwMode="auto">
          <a:xfrm>
            <a:off x="285750" y="836613"/>
            <a:ext cx="8628063" cy="5802312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10800" anchor="ctr"/>
          <a:lstStyle>
            <a:lvl1pPr indent="355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10000"/>
              </a:spcAft>
              <a:buClrTx/>
              <a:buFontTx/>
              <a:buNone/>
            </a:pPr>
            <a:endParaRPr kumimoji="1" lang="en-US" altLang="uz-Cyrl-UZ" sz="2000" i="1">
              <a:latin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19138" y="1196975"/>
          <a:ext cx="320992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273"/>
                <a:gridCol w="643078"/>
                <a:gridCol w="538544"/>
                <a:gridCol w="1558030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ru-RU" sz="1800" b="1" i="1" dirty="0" smtClean="0">
                          <a:latin typeface="Times New Roman" pitchFamily="18" charset="0"/>
                        </a:rPr>
                        <a:t>L(a/p) = 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266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306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149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648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816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620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895850" y="2241550"/>
          <a:ext cx="310197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140"/>
                <a:gridCol w="537122"/>
                <a:gridCol w="537122"/>
                <a:gridCol w="1557591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ru-RU" sz="1800" b="1" i="1" dirty="0" smtClean="0">
                          <a:latin typeface="Times New Roman" pitchFamily="18" charset="0"/>
                        </a:rPr>
                        <a:t>L(a/p) = 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246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816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918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0642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88913"/>
            <a:ext cx="8316912" cy="4429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uz-Cyrl-UZ" altLang="ru-RU" sz="23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Якоби символи</a:t>
            </a:r>
            <a:endParaRPr lang="ru-RU" altLang="ru-RU" sz="2300" smtClean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8199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773113"/>
            <a:ext cx="8628063" cy="56419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50850"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dirty="0" smtClean="0">
                <a:latin typeface="Times New Roman" pitchFamily="18" charset="0"/>
              </a:rPr>
              <a:t>Айтайлик, </a:t>
            </a:r>
            <a:r>
              <a:rPr kumimoji="1" lang="en-US" altLang="ru-RU" sz="2000" i="1" dirty="0" smtClean="0">
                <a:latin typeface="Times New Roman" pitchFamily="18" charset="0"/>
              </a:rPr>
              <a:t>x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2</a:t>
            </a:r>
            <a:r>
              <a:rPr kumimoji="1" lang="en-US" altLang="ru-RU" sz="2000" i="1" dirty="0" smtClean="0">
                <a:latin typeface="Times New Roman" pitchFamily="18" charset="0"/>
                <a:cs typeface="Times New Roman" pitchFamily="18" charset="0"/>
              </a:rPr>
              <a:t>≡a</a:t>
            </a:r>
            <a:r>
              <a:rPr kumimoji="1" lang="uz-Cyrl-UZ" alt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  <a:cs typeface="Times New Roman" pitchFamily="18" charset="0"/>
              </a:rPr>
              <a:t>(mod P)</a:t>
            </a:r>
            <a:r>
              <a:rPr kumimoji="1" lang="uz-Cyrl-UZ" altLang="ru-RU" sz="2000" dirty="0" smtClean="0">
                <a:latin typeface="Times New Roman" pitchFamily="18" charset="0"/>
              </a:rPr>
              <a:t> таққослама тенглама берилган бўлиб, </a:t>
            </a:r>
            <a:r>
              <a:rPr kumimoji="1" lang="uz-Cyrl-UZ" altLang="ru-RU" sz="2000" i="1" dirty="0" smtClean="0">
                <a:latin typeface="Times New Roman" pitchFamily="18" charset="0"/>
              </a:rPr>
              <a:t>ЭКУБ(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a,P</a:t>
            </a:r>
            <a:r>
              <a:rPr kumimoji="1" lang="uz-Cyrl-UZ" altLang="ru-RU" sz="2000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dirty="0" smtClean="0">
                <a:latin typeface="Times New Roman" pitchFamily="18" charset="0"/>
              </a:rPr>
              <a:t>=1 </a:t>
            </a:r>
            <a:r>
              <a:rPr kumimoji="1" lang="uz-Cyrl-UZ" altLang="ru-RU" sz="2000" dirty="0" smtClean="0">
                <a:latin typeface="Times New Roman" pitchFamily="18" charset="0"/>
              </a:rPr>
              <a:t>ва</a:t>
            </a:r>
            <a:r>
              <a:rPr kumimoji="1" lang="en-US" altLang="ru-RU" sz="2000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P=p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a1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a2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3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a3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...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err="1" smtClean="0">
                <a:latin typeface="Times New Roman" pitchFamily="18" charset="0"/>
              </a:rPr>
              <a:t>k</a:t>
            </a:r>
            <a:r>
              <a:rPr kumimoji="1" lang="en-US" altLang="ru-RU" sz="2000" i="1" baseline="30000" dirty="0" err="1" smtClean="0">
                <a:latin typeface="Times New Roman" pitchFamily="18" charset="0"/>
              </a:rPr>
              <a:t>ak</a:t>
            </a:r>
            <a:r>
              <a:rPr kumimoji="1" lang="en-US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dirty="0" smtClean="0">
                <a:latin typeface="Times New Roman" pitchFamily="18" charset="0"/>
              </a:rPr>
              <a:t>(</a:t>
            </a:r>
            <a:r>
              <a:rPr kumimoji="1" lang="en-US" altLang="ru-RU" sz="2000" i="1" dirty="0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i</a:t>
            </a:r>
            <a:r>
              <a:rPr kumimoji="1" lang="uz-Cyrl-UZ" altLang="ru-RU" sz="2000" i="1" baseline="-25000" dirty="0" smtClean="0">
                <a:latin typeface="Times New Roman" pitchFamily="18" charset="0"/>
              </a:rPr>
              <a:t> </a:t>
            </a:r>
            <a:r>
              <a:rPr kumimoji="1" lang="en-US" altLang="ru-RU" sz="2000" dirty="0" smtClean="0">
                <a:latin typeface="Times New Roman" pitchFamily="18" charset="0"/>
              </a:rPr>
              <a:t>-</a:t>
            </a:r>
            <a:r>
              <a:rPr kumimoji="1" lang="uz-Cyrl-UZ" altLang="ru-RU" sz="2000" dirty="0" smtClean="0">
                <a:latin typeface="Times New Roman" pitchFamily="18" charset="0"/>
              </a:rPr>
              <a:t> тоқ туб сон</a:t>
            </a:r>
            <a:r>
              <a:rPr kumimoji="1" lang="en-US" altLang="ru-RU" sz="2000" dirty="0" smtClean="0">
                <a:latin typeface="Times New Roman" pitchFamily="18" charset="0"/>
              </a:rPr>
              <a:t>)</a:t>
            </a:r>
            <a:r>
              <a:rPr kumimoji="1" lang="uz-Cyrl-UZ" altLang="ru-RU" sz="2000" dirty="0" smtClean="0">
                <a:latin typeface="Times New Roman" pitchFamily="18" charset="0"/>
              </a:rPr>
              <a:t> бўлсин.</a:t>
            </a:r>
            <a:r>
              <a:rPr kumimoji="1" lang="en-US" altLang="ru-RU" sz="2000" dirty="0" smtClean="0">
                <a:latin typeface="Times New Roman" pitchFamily="18" charset="0"/>
              </a:rPr>
              <a:t> </a:t>
            </a:r>
          </a:p>
          <a:p>
            <a:pPr indent="450850"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dirty="0" smtClean="0">
                <a:latin typeface="Times New Roman" pitchFamily="18" charset="0"/>
              </a:rPr>
              <a:t>Ушбу ҳолда ҳисоблашни осонлаштириш учун </a:t>
            </a:r>
            <a:r>
              <a:rPr kumimoji="1" lang="uz-Cyrl-UZ" altLang="ru-RU" sz="2000" b="1" i="1" dirty="0" smtClean="0">
                <a:latin typeface="Times New Roman" pitchFamily="18" charset="0"/>
              </a:rPr>
              <a:t>Якоби символи</a:t>
            </a:r>
            <a:r>
              <a:rPr kumimoji="1" lang="uz-Cyrl-UZ" altLang="ru-RU" sz="2000" dirty="0" smtClean="0">
                <a:latin typeface="Times New Roman" pitchFamily="18" charset="0"/>
              </a:rPr>
              <a:t>дан фойдаланилади ва бу символ қуйидаги</a:t>
            </a:r>
            <a:r>
              <a:rPr kumimoji="1" lang="uz-Cyrl-UZ" altLang="ru-RU" sz="2000" b="1" i="1" dirty="0" smtClean="0">
                <a:latin typeface="Times New Roman" pitchFamily="18" charset="0"/>
              </a:rPr>
              <a:t>:</a:t>
            </a:r>
            <a:endParaRPr kumimoji="1" lang="en-US" altLang="ru-RU" sz="2000" dirty="0" smtClean="0">
              <a:latin typeface="Times New Roman" pitchFamily="18" charset="0"/>
            </a:endParaRPr>
          </a:p>
          <a:p>
            <a:pPr algn="ctr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J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(а/Р)=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L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</a:t>
            </a:r>
            <a:r>
              <a:rPr kumimoji="1" lang="ru-RU" altLang="zh-CN" sz="2000" b="1" i="1" baseline="-25000" dirty="0" smtClean="0">
                <a:latin typeface="Times New Roman" pitchFamily="18" charset="0"/>
              </a:rPr>
              <a:t>1</a:t>
            </a:r>
            <a:r>
              <a:rPr kumimoji="1" lang="ru-RU" altLang="zh-CN" sz="2000" b="1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a1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.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L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</a:t>
            </a:r>
            <a:r>
              <a:rPr kumimoji="1" lang="ru-RU" altLang="zh-CN" sz="2000" b="1" i="1" baseline="-25000" dirty="0" smtClean="0">
                <a:latin typeface="Times New Roman" pitchFamily="18" charset="0"/>
              </a:rPr>
              <a:t>2</a:t>
            </a:r>
            <a:r>
              <a:rPr kumimoji="1" lang="ru-RU" altLang="zh-CN" sz="2000" b="1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a2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b="1" i="1" dirty="0" smtClean="0">
                <a:latin typeface="Times New Roman" pitchFamily="18" charset="0"/>
              </a:rPr>
              <a:t>.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.. 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.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L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</a:t>
            </a:r>
            <a:r>
              <a:rPr kumimoji="1" lang="en-US" altLang="zh-CN" sz="2000" b="1" i="1" baseline="-25000" dirty="0" smtClean="0">
                <a:latin typeface="Times New Roman" pitchFamily="18" charset="0"/>
                <a:ea typeface="宋体" charset="-122"/>
              </a:rPr>
              <a:t>k</a:t>
            </a:r>
            <a:r>
              <a:rPr kumimoji="1" lang="ru-RU" altLang="zh-CN" sz="2000" b="1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baseline="30000" dirty="0" err="1" smtClean="0">
                <a:latin typeface="Times New Roman" pitchFamily="18" charset="0"/>
              </a:rPr>
              <a:t>ak</a:t>
            </a:r>
            <a:r>
              <a:rPr kumimoji="1" lang="uz-Cyrl-UZ" altLang="ru-RU" sz="2000" b="1" i="1" dirty="0" smtClean="0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dirty="0" smtClean="0">
                <a:latin typeface="Times New Roman" pitchFamily="18" charset="0"/>
              </a:rPr>
              <a:t>тенглик билан аниқланади.</a:t>
            </a:r>
          </a:p>
          <a:p>
            <a:pPr algn="ctr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u="sng" dirty="0" smtClean="0">
                <a:solidFill>
                  <a:schemeClr val="accent2"/>
                </a:solidFill>
                <a:latin typeface="Times New Roman" pitchFamily="18" charset="0"/>
              </a:rPr>
              <a:t>Якоби символи хоссалари</a:t>
            </a:r>
            <a:r>
              <a:rPr kumimoji="1" lang="uz-Cyrl-UZ" altLang="ru-RU" sz="2000" dirty="0" smtClean="0">
                <a:latin typeface="Times New Roman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kumimoji="1" lang="uz-Cyrl-UZ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 Агар </a:t>
            </a:r>
            <a:r>
              <a:rPr kumimoji="1" lang="en-US" altLang="ru-RU" sz="2000" i="1" dirty="0" smtClean="0">
                <a:latin typeface="Times New Roman" pitchFamily="18" charset="0"/>
              </a:rPr>
              <a:t>a≡a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ru-RU" sz="2000" i="1" dirty="0" smtClean="0">
                <a:latin typeface="Times New Roman" pitchFamily="18" charset="0"/>
              </a:rPr>
              <a:t>(mod P) </a:t>
            </a:r>
            <a:r>
              <a:rPr kumimoji="1" lang="uz-Cyrl-UZ" altLang="ru-RU" sz="2000" i="1" dirty="0" smtClean="0">
                <a:latin typeface="Times New Roman" pitchFamily="18" charset="0"/>
              </a:rPr>
              <a:t>бўлса, у ҳолда </a:t>
            </a:r>
            <a:r>
              <a:rPr kumimoji="1" lang="en-US" altLang="ru-RU" sz="2000" i="1" dirty="0" smtClean="0">
                <a:latin typeface="Times New Roman" pitchFamily="18" charset="0"/>
              </a:rPr>
              <a:t>J(a/P)=J(a</a:t>
            </a:r>
            <a:r>
              <a:rPr kumimoji="1" lang="uz-Cyrl-UZ" altLang="ru-RU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ru-RU" sz="2000" i="1" dirty="0" smtClean="0">
                <a:latin typeface="Times New Roman" pitchFamily="18" charset="0"/>
              </a:rPr>
              <a:t>/P) </a:t>
            </a:r>
            <a:r>
              <a:rPr kumimoji="1" lang="uz-Cyrl-UZ" altLang="ru-RU" sz="2000" i="1" dirty="0" smtClean="0">
                <a:latin typeface="Times New Roman" pitchFamily="18" charset="0"/>
              </a:rPr>
              <a:t>– ўринли бўлади.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kumimoji="1" lang="uz-Cyrl-UZ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J(1/P)=1;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kumimoji="1" lang="uz-Cyrl-UZ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J(-1/P)=(-1)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(P-1)/2</a:t>
            </a:r>
            <a:r>
              <a:rPr kumimoji="1" lang="en-US" altLang="ru-RU" sz="2000" i="1" dirty="0" smtClean="0">
                <a:latin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4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J(2/P)=(-1)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(P*P-1)/8</a:t>
            </a:r>
            <a:r>
              <a:rPr kumimoji="1" lang="en-US" altLang="ru-RU" sz="2000" i="1" dirty="0" smtClean="0">
                <a:latin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5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J((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a</a:t>
            </a:r>
            <a:r>
              <a:rPr kumimoji="1" lang="en-US" altLang="ru-RU" sz="2000" b="1" i="1" baseline="30000" dirty="0" err="1" smtClean="0">
                <a:latin typeface="Times New Roman" pitchFamily="18" charset="0"/>
              </a:rPr>
              <a:t>.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b</a:t>
            </a:r>
            <a:r>
              <a:rPr kumimoji="1" lang="en-US" altLang="ru-RU" sz="2000" b="1" i="1" baseline="30000" dirty="0" err="1" smtClean="0">
                <a:latin typeface="Times New Roman" pitchFamily="18" charset="0"/>
              </a:rPr>
              <a:t>.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c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...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t)/P)=J(a/P)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J(b/P)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J(c/P)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...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J(t/P);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endParaRPr kumimoji="1" lang="en-US" altLang="ru-RU" sz="2000" i="1" dirty="0" smtClean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6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J(a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b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2</a:t>
            </a:r>
            <a:r>
              <a:rPr kumimoji="1" lang="en-US" altLang="ru-RU" sz="2000" i="1" dirty="0" smtClean="0">
                <a:latin typeface="Times New Roman" pitchFamily="18" charset="0"/>
              </a:rPr>
              <a:t>/P)=J(a/P);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7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uz-Cyrl-UZ" altLang="ru-RU" sz="2000" i="1" dirty="0" smtClean="0">
                <a:latin typeface="Times New Roman" pitchFamily="18" charset="0"/>
              </a:rPr>
              <a:t>Агар </a:t>
            </a:r>
            <a:r>
              <a:rPr kumimoji="1" lang="en-US" altLang="ru-RU" sz="2000" i="1" dirty="0" smtClean="0">
                <a:latin typeface="Times New Roman" pitchFamily="18" charset="0"/>
              </a:rPr>
              <a:t>P </a:t>
            </a:r>
            <a:r>
              <a:rPr kumimoji="1" lang="ru-RU" altLang="ru-RU" sz="2000" i="1" dirty="0" err="1" smtClean="0">
                <a:latin typeface="Times New Roman" pitchFamily="18" charset="0"/>
              </a:rPr>
              <a:t>ва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q </a:t>
            </a:r>
            <a:r>
              <a:rPr kumimoji="1" lang="uz-Cyrl-UZ" altLang="ru-RU" sz="2000" i="1" dirty="0" smtClean="0">
                <a:latin typeface="Times New Roman" pitchFamily="18" charset="0"/>
              </a:rPr>
              <a:t>тоқ ва ўзаро туб сонлар бўлса, </a:t>
            </a:r>
            <a:r>
              <a:rPr kumimoji="1" lang="en-US" altLang="ru-RU" sz="2000" i="1" dirty="0" smtClean="0">
                <a:latin typeface="Times New Roman" pitchFamily="18" charset="0"/>
              </a:rPr>
              <a:t>J(q/P)=(-1)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(P-1)(q-1)/4</a:t>
            </a:r>
            <a:r>
              <a:rPr kumimoji="1" lang="en-US" altLang="ru-RU" sz="2000" i="1" dirty="0" smtClean="0">
                <a:latin typeface="Times New Roman" pitchFamily="18" charset="0"/>
              </a:rPr>
              <a:t>J(P/q);</a:t>
            </a: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24625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8257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318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1281113"/>
            <a:ext cx="8628063" cy="4030662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>
                <a:solidFill>
                  <a:schemeClr val="accent2"/>
                </a:solidFill>
                <a:latin typeface="Times New Roman" pitchFamily="18" charset="0"/>
              </a:rPr>
              <a:t>Мисол.</a:t>
            </a:r>
            <a:r>
              <a:rPr kumimoji="1" lang="uz-Cyrl-UZ" altLang="ru-RU" sz="2400">
                <a:latin typeface="Times New Roman" pitchFamily="18" charset="0"/>
              </a:rPr>
              <a:t> </a:t>
            </a:r>
            <a:r>
              <a:rPr kumimoji="1" lang="en-US" altLang="ru-RU" sz="2400">
                <a:latin typeface="Times New Roman" pitchFamily="18" charset="0"/>
              </a:rPr>
              <a:t> </a:t>
            </a:r>
            <a:r>
              <a:rPr kumimoji="1" lang="en-US" altLang="ru-RU" sz="2400" b="1" i="1">
                <a:latin typeface="Times New Roman" pitchFamily="18" charset="0"/>
              </a:rPr>
              <a:t>x</a:t>
            </a:r>
            <a:r>
              <a:rPr kumimoji="1" lang="en-US" altLang="ru-RU" sz="2400" b="1" i="1" baseline="30000">
                <a:latin typeface="Times New Roman" pitchFamily="18" charset="0"/>
              </a:rPr>
              <a:t>2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≡</a:t>
            </a:r>
            <a:r>
              <a:rPr kumimoji="1" lang="uz-Cyrl-UZ" altLang="ru-RU" sz="2400" b="1" i="1">
                <a:latin typeface="Times New Roman" pitchFamily="18" charset="0"/>
                <a:cs typeface="Times New Roman" pitchFamily="18" charset="0"/>
              </a:rPr>
              <a:t>261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 (mod </a:t>
            </a:r>
            <a:r>
              <a:rPr kumimoji="1" lang="uz-Cyrl-UZ" altLang="ru-RU" sz="2400" b="1" i="1">
                <a:latin typeface="Times New Roman" pitchFamily="18" charset="0"/>
                <a:cs typeface="Times New Roman" pitchFamily="18" charset="0"/>
              </a:rPr>
              <a:t>443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) </a:t>
            </a: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таққосламани ечими бор ёки 	йўқлигини текшириш</a:t>
            </a:r>
            <a:r>
              <a:rPr kumimoji="1" lang="uz-Cyrl-UZ" altLang="ru-RU" sz="2400" b="1">
                <a:latin typeface="Times New Roman" pitchFamily="18" charset="0"/>
              </a:rPr>
              <a:t>.</a:t>
            </a:r>
            <a:r>
              <a:rPr kumimoji="1" lang="uz-Cyrl-UZ" altLang="ru-RU" sz="2400" b="1" i="1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>
                <a:latin typeface="Times New Roman" pitchFamily="18" charset="0"/>
              </a:rPr>
              <a:t>Ечиш:</a:t>
            </a:r>
            <a:r>
              <a:rPr kumimoji="1" lang="uz-Cyrl-UZ" altLang="ru-RU" sz="2400" i="1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2400" i="1">
              <a:latin typeface="Times New Roman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2400" i="1">
              <a:latin typeface="Times New Roman" pitchFamily="18" charset="0"/>
              <a:sym typeface="Wingdings" pitchFamily="2" charset="2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2400">
              <a:latin typeface="Times New Roman" pitchFamily="18" charset="0"/>
              <a:sym typeface="Wingdings" pitchFamily="2" charset="2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Демак</a:t>
            </a:r>
            <a:r>
              <a:rPr kumimoji="1" lang="uz-Cyrl-UZ" altLang="ru-RU" sz="2400" i="1">
                <a:latin typeface="Times New Roman" pitchFamily="18" charset="0"/>
                <a:sym typeface="Wingdings" pitchFamily="2" charset="2"/>
              </a:rPr>
              <a:t>, 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таққослама тенглама ечимга эга эмас.</a:t>
            </a:r>
            <a:endParaRPr kumimoji="1" lang="en-US" altLang="ru-RU" sz="2400"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287338" y="648970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133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893852"/>
              </p:ext>
            </p:extLst>
          </p:nvPr>
        </p:nvGraphicFramePr>
        <p:xfrm>
          <a:off x="900113" y="2852738"/>
          <a:ext cx="77724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Уравнение" r:id="rId3" imgW="3733560" imgH="736560" progId="Equation.3">
                  <p:embed/>
                </p:oleObj>
              </mc:Choice>
              <mc:Fallback>
                <p:oleObj name="Уравнение" r:id="rId3" imgW="3733560" imgH="7365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852738"/>
                        <a:ext cx="77724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850" y="1997075"/>
            <a:ext cx="8027988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Вазифа</a:t>
            </a:r>
            <a:r>
              <a:rPr lang="ru-RU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№1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Лежандр симолларини ҳисоблаш. 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(401/757),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(215/761),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(113/997),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(514/1093).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№2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Якоби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симолларини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ҳ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исоблаш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J(532/2739),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(2/15),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152/557), D) J(1234/5981).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984102"/>
            <a:ext cx="8753475" cy="5623221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3200" dirty="0">
                <a:latin typeface="Times New Roman" pitchFamily="18" charset="0"/>
              </a:rPr>
              <a:t>     Айтайлик,  </a:t>
            </a:r>
          </a:p>
          <a:p>
            <a:pPr algn="ctr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3200" b="1" i="1" baseline="30000" dirty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≡a</a:t>
            </a:r>
            <a:r>
              <a:rPr kumimoji="1" lang="uz-Cyrl-UZ" altLang="zh-CN" sz="3200" b="1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(mod p)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	(1)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квадратик таққослама берилган бўлиб,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p&gt;2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туб сон,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a(mod p)≠0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3200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200" i="1" baseline="30000" dirty="0" smtClean="0">
                <a:latin typeface="Times New Roman" pitchFamily="18" charset="0"/>
                <a:ea typeface="宋体" charset="-122"/>
              </a:rPr>
              <a:t>(p-1</a:t>
            </a:r>
            <a:r>
              <a:rPr kumimoji="1" lang="en-US" altLang="zh-CN" sz="3200" i="1" baseline="30000" dirty="0">
                <a:latin typeface="Times New Roman" pitchFamily="18" charset="0"/>
                <a:ea typeface="宋体" charset="-122"/>
              </a:rPr>
              <a:t>)/2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≡1(mod</a:t>
            </a:r>
            <a:r>
              <a:rPr kumimoji="1" lang="uz-Cyrl-UZ" altLang="zh-CN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p)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L(a/p)=1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бўлсин. </a:t>
            </a:r>
            <a:endParaRPr kumimoji="1" lang="en-US" altLang="zh-CN" sz="3200" dirty="0" smtClean="0">
              <a:latin typeface="Times New Roman" pitchFamily="18" charset="0"/>
              <a:cs typeface="Times New Roman" pitchFamily="18" charset="0"/>
            </a:endParaRPr>
          </a:p>
          <a:p>
            <a:pPr indent="541338"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3200" dirty="0" smtClean="0">
                <a:latin typeface="Times New Roman" pitchFamily="18" charset="0"/>
                <a:cs typeface="Times New Roman" pitchFamily="18" charset="0"/>
              </a:rPr>
              <a:t>У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ҳолда (1) таққосламанинг айрим ечимларини қуйидагича аниқлаш мумкин: </a:t>
            </a:r>
          </a:p>
          <a:p>
            <a:pPr algn="just" eaLnBrk="1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</a:pPr>
            <a:r>
              <a:rPr kumimoji="1" lang="en-US" altLang="zh-CN" sz="32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ru-RU" altLang="zh-CN" sz="3200" b="1" i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zh-CN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zh-CN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zh-CN" sz="3200" b="1" dirty="0" smtClean="0">
                <a:latin typeface="Times New Roman" pitchFamily="18" charset="0"/>
                <a:cs typeface="Times New Roman" pitchFamily="18" charset="0"/>
              </a:rPr>
              <a:t>Айтайлик </a:t>
            </a: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p=4k+3</a:t>
            </a:r>
            <a:r>
              <a:rPr kumimoji="1" lang="en-US" altLang="zh-CN" sz="32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(p≡</a:t>
            </a: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3mod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4)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200" b="1" dirty="0" smtClean="0">
                <a:latin typeface="Times New Roman" pitchFamily="18" charset="0"/>
                <a:cs typeface="Times New Roman" pitchFamily="18" charset="0"/>
              </a:rPr>
              <a:t>бўлсин.            У ҳолда:</a:t>
            </a:r>
            <a:endParaRPr kumimoji="1" lang="en-US" altLang="zh-CN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x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≡ 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</a:rPr>
              <a:t>±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 a</a:t>
            </a:r>
            <a:r>
              <a:rPr kumimoji="1" lang="en-US" altLang="zh-CN" sz="3200" b="1" i="1" baseline="30000" dirty="0">
                <a:latin typeface="Times New Roman" pitchFamily="18" charset="0"/>
                <a:ea typeface="宋体" charset="-122"/>
              </a:rPr>
              <a:t>k+1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(mod p</a:t>
            </a: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)</a:t>
            </a:r>
            <a:endParaRPr kumimoji="1" lang="en-US" altLang="zh-CN" sz="3200" i="1" dirty="0"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1335755"/>
            <a:ext cx="8753475" cy="4919918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3600" b="1" dirty="0" smtClean="0">
                <a:solidFill>
                  <a:schemeClr val="accent2"/>
                </a:solidFill>
                <a:latin typeface="Times New Roman" pitchFamily="18" charset="0"/>
              </a:rPr>
              <a:t>II</a:t>
            </a:r>
            <a:r>
              <a:rPr kumimoji="1" lang="ru-RU" altLang="zh-CN" sz="3600" b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zh-CN" sz="3600" dirty="0" smtClean="0">
                <a:latin typeface="Times New Roman" pitchFamily="18" charset="0"/>
              </a:rPr>
              <a:t> </a:t>
            </a:r>
            <a:r>
              <a:rPr kumimoji="1" lang="uz-Cyrl-UZ" altLang="zh-CN" sz="3600" dirty="0" smtClean="0">
                <a:latin typeface="Times New Roman" pitchFamily="18" charset="0"/>
              </a:rPr>
              <a:t> </a:t>
            </a:r>
            <a:r>
              <a:rPr kumimoji="1" lang="uz-Cyrl-UZ" altLang="zh-CN" sz="3600" b="1" dirty="0" smtClean="0">
                <a:latin typeface="Times New Roman" pitchFamily="18" charset="0"/>
              </a:rPr>
              <a:t>Айтайлик 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p=8k+5</a:t>
            </a:r>
            <a:r>
              <a:rPr kumimoji="1" lang="en-US" altLang="zh-CN" sz="36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>
                <a:latin typeface="Times New Roman" pitchFamily="18" charset="0"/>
                <a:ea typeface="宋体" charset="-122"/>
              </a:rPr>
              <a:t>(p≡5 mod 8)</a:t>
            </a:r>
            <a:r>
              <a:rPr kumimoji="1" lang="en-US" altLang="zh-CN" sz="3600" b="1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b="1" dirty="0" smtClean="0">
                <a:latin typeface="Times New Roman" pitchFamily="18" charset="0"/>
              </a:rPr>
              <a:t>бўлсин</a:t>
            </a:r>
            <a:r>
              <a:rPr kumimoji="1" lang="uz-Cyrl-UZ" altLang="zh-CN" sz="3600" dirty="0" smtClean="0">
                <a:latin typeface="Times New Roman" pitchFamily="18" charset="0"/>
              </a:rPr>
              <a:t>.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3600" dirty="0" smtClean="0">
                <a:solidFill>
                  <a:srgbClr val="000099"/>
                </a:solidFill>
                <a:latin typeface="Times New Roman" pitchFamily="18" charset="0"/>
              </a:rPr>
              <a:t>Агар  </a:t>
            </a:r>
            <a:r>
              <a:rPr kumimoji="1" lang="en-US" altLang="zh-CN" sz="3600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i="1" baseline="30000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2k+1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≡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(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mod p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)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бўлса:</a:t>
            </a:r>
          </a:p>
          <a:p>
            <a:pPr indent="355600" algn="ctr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x </a:t>
            </a:r>
            <a:r>
              <a:rPr kumimoji="1" lang="en-US" altLang="zh-CN" sz="3600" b="1" i="1" dirty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≡ </a:t>
            </a:r>
            <a:r>
              <a:rPr kumimoji="1" lang="en-US" altLang="zh-CN" sz="3600" b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±</a:t>
            </a:r>
            <a:r>
              <a:rPr kumimoji="1" lang="uz-Cyrl-UZ" altLang="zh-CN" sz="3600" b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b="1" i="1" baseline="30000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k+1</a:t>
            </a: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(mod p</a:t>
            </a: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)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,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endParaRPr kumimoji="1" lang="uz-Cyrl-UZ" altLang="zh-CN" sz="1600" dirty="0" smtClean="0">
              <a:latin typeface="Times New Roman" pitchFamily="18" charset="0"/>
            </a:endParaRP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uz-Cyrl-UZ" altLang="zh-CN" sz="3600" dirty="0" smtClean="0">
                <a:latin typeface="Times New Roman" pitchFamily="18" charset="0"/>
              </a:rPr>
              <a:t>Агар  </a:t>
            </a:r>
            <a:r>
              <a:rPr kumimoji="1" lang="en-US" altLang="zh-CN" sz="3600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i="1" baseline="30000" dirty="0" smtClean="0">
                <a:latin typeface="Times New Roman" pitchFamily="18" charset="0"/>
                <a:ea typeface="宋体" charset="-122"/>
              </a:rPr>
              <a:t>2k+1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 ≡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-1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(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mod p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)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бўлса:</a:t>
            </a:r>
          </a:p>
          <a:p>
            <a:pPr indent="355600" algn="ctr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x ≡ </a:t>
            </a:r>
            <a:r>
              <a:rPr kumimoji="1" lang="en-US" altLang="zh-CN" sz="3600" b="1" dirty="0" smtClean="0">
                <a:latin typeface="Times New Roman" pitchFamily="18" charset="0"/>
                <a:ea typeface="宋体" charset="-122"/>
              </a:rPr>
              <a:t>±</a:t>
            </a:r>
            <a:r>
              <a:rPr kumimoji="1" lang="uz-Cyrl-UZ" altLang="zh-CN" sz="36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b="1" i="1" baseline="30000" dirty="0" smtClean="0">
                <a:latin typeface="Times New Roman" pitchFamily="18" charset="0"/>
                <a:ea typeface="宋体" charset="-122"/>
              </a:rPr>
              <a:t>k+1.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3600" b="1" i="1" baseline="30000" dirty="0" smtClean="0">
                <a:latin typeface="Times New Roman" pitchFamily="18" charset="0"/>
                <a:ea typeface="宋体" charset="-122"/>
              </a:rPr>
              <a:t>2k+1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 (mod p)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.</a:t>
            </a:r>
            <a:endParaRPr kumimoji="1" lang="en-US" altLang="zh-CN" sz="3600" i="1" dirty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70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2687" y="234737"/>
            <a:ext cx="8753475" cy="6457593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kumimoji="1" lang="en-US" altLang="zh-CN" sz="2000" b="1" dirty="0" smtClean="0">
                <a:solidFill>
                  <a:schemeClr val="accent2"/>
                </a:solidFill>
                <a:latin typeface="Times New Roman" pitchFamily="18" charset="0"/>
              </a:rPr>
              <a:t>III.</a:t>
            </a:r>
            <a:r>
              <a:rPr kumimoji="1" lang="ru-RU" altLang="zh-CN" sz="2000" b="1" dirty="0" smtClean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≡a</a:t>
            </a:r>
            <a:r>
              <a:rPr kumimoji="1" lang="uz-Cyrl-UZ" altLang="zh-CN" sz="2000" b="1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(mod p)</a:t>
            </a:r>
            <a:r>
              <a:rPr kumimoji="1" lang="ru-RU" altLang="zh-CN" sz="2000" b="1" i="1" dirty="0" smtClean="0">
                <a:latin typeface="Times New Roman" pitchFamily="18" charset="0"/>
              </a:rPr>
              <a:t> (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p&gt;2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</a:rPr>
              <a:t> – туб сон</a:t>
            </a:r>
            <a:r>
              <a:rPr kumimoji="1" lang="ru-RU" altLang="zh-CN" sz="2000" b="1" i="1" dirty="0" smtClean="0">
                <a:latin typeface="Times New Roman" pitchFamily="18" charset="0"/>
              </a:rPr>
              <a:t>)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таққосламани</a:t>
            </a:r>
            <a:r>
              <a:rPr kumimoji="1" lang="ru-RU" altLang="zh-CN" sz="2000" b="1" i="1" dirty="0" smtClean="0">
                <a:latin typeface="Times New Roman" pitchFamily="18" charset="0"/>
              </a:rPr>
              <a:t>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ечишнинг</a:t>
            </a:r>
            <a:r>
              <a:rPr kumimoji="1" lang="ru-RU" altLang="zh-CN" sz="2000" b="1" i="1" dirty="0" smtClean="0">
                <a:latin typeface="Times New Roman" pitchFamily="18" charset="0"/>
              </a:rPr>
              <a:t>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умумий</a:t>
            </a:r>
            <a:r>
              <a:rPr kumimoji="1" lang="ru-RU" altLang="zh-CN" sz="2000" b="1" i="1" dirty="0" smtClean="0">
                <a:latin typeface="Times New Roman" pitchFamily="18" charset="0"/>
              </a:rPr>
              <a:t>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алгоритми</a:t>
            </a:r>
            <a:r>
              <a:rPr kumimoji="1" lang="ru-RU" altLang="zh-CN" sz="2000" b="1" i="1" dirty="0" smtClean="0">
                <a:latin typeface="Times New Roman" pitchFamily="18" charset="0"/>
              </a:rPr>
              <a:t>.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i="1" u="sng" dirty="0" err="1" smtClean="0">
                <a:latin typeface="Times New Roman" pitchFamily="18" charset="0"/>
              </a:rPr>
              <a:t>Кириш</a:t>
            </a:r>
            <a:r>
              <a:rPr kumimoji="1" lang="ru-RU" altLang="zh-CN" sz="2000" b="1" i="1" dirty="0" smtClean="0">
                <a:latin typeface="Times New Roman" pitchFamily="18" charset="0"/>
              </a:rPr>
              <a:t>: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p</a:t>
            </a:r>
            <a:r>
              <a:rPr kumimoji="1" lang="uz-Cyrl-UZ" altLang="zh-CN" sz="2000" i="1" dirty="0">
                <a:latin typeface="Times New Roman" pitchFamily="18" charset="0"/>
                <a:ea typeface="宋体" charset="-122"/>
              </a:rPr>
              <a:t>,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b="1" i="1" dirty="0" smtClean="0">
                <a:latin typeface="Times New Roman" pitchFamily="18" charset="0"/>
                <a:ea typeface="宋体" charset="-122"/>
              </a:rPr>
              <a:t>а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</a:rPr>
              <a:t> ва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N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i="1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</a:rPr>
              <a:t>- </a:t>
            </a:r>
            <a:r>
              <a:rPr kumimoji="1" lang="uz-Cyrl-UZ" altLang="zh-CN" sz="2000" i="1" dirty="0" smtClean="0">
                <a:latin typeface="Times New Roman" pitchFamily="18" charset="0"/>
              </a:rPr>
              <a:t>бутун сонлар, бу ерда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kumimoji="1" lang="uz-Cyrl-UZ" altLang="zh-CN" sz="20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қ</a:t>
            </a:r>
            <a:r>
              <a:rPr kumimoji="1" lang="ru-RU" altLang="zh-CN" sz="2000" b="1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иш</a:t>
            </a:r>
            <a:r>
              <a:rPr kumimoji="1" lang="ru-RU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ru-RU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0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≡a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(mod p)</a:t>
            </a:r>
            <a:r>
              <a:rPr kumimoji="1" lang="en-US" altLang="zh-CN" sz="2000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  <a:ea typeface="宋体" charset="-122"/>
              </a:rPr>
              <a:t>– таққослама ечими.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1</a:t>
            </a:r>
            <a:r>
              <a:rPr kumimoji="1" lang="uz-Cyrl-UZ" altLang="zh-CN" sz="2000" b="1" dirty="0" smtClean="0">
                <a:latin typeface="Times New Roman" pitchFamily="18" charset="0"/>
              </a:rPr>
              <a:t>.</a:t>
            </a:r>
            <a:r>
              <a:rPr kumimoji="1" lang="uz-Cyrl-UZ" altLang="zh-CN" sz="2000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</a:rPr>
              <a:t>P</a:t>
            </a:r>
            <a:r>
              <a:rPr kumimoji="1" lang="en-US" altLang="zh-CN" sz="2000" dirty="0" smtClean="0">
                <a:latin typeface="Times New Roman" pitchFamily="18" charset="0"/>
              </a:rPr>
              <a:t> – </a:t>
            </a:r>
            <a:r>
              <a:rPr kumimoji="1" lang="uz-Cyrl-UZ" altLang="zh-CN" sz="2000" dirty="0" smtClean="0">
                <a:latin typeface="Times New Roman" pitchFamily="18" charset="0"/>
              </a:rPr>
              <a:t>сонини </a:t>
            </a:r>
            <a:r>
              <a:rPr kumimoji="1" lang="en-US" altLang="zh-CN" sz="2000" i="1" dirty="0" smtClean="0">
                <a:latin typeface="Times New Roman" pitchFamily="18" charset="0"/>
              </a:rPr>
              <a:t>p</a:t>
            </a:r>
            <a:r>
              <a:rPr kumimoji="1" lang="en-US" altLang="zh-CN" sz="2000" dirty="0" smtClean="0">
                <a:latin typeface="Times New Roman" pitchFamily="18" charset="0"/>
              </a:rPr>
              <a:t>=2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k</a:t>
            </a:r>
            <a:r>
              <a:rPr kumimoji="1" lang="en-US" altLang="zh-CN" sz="2000" i="1" dirty="0" smtClean="0">
                <a:latin typeface="Times New Roman" pitchFamily="18" charset="0"/>
              </a:rPr>
              <a:t>h+1 </a:t>
            </a:r>
            <a:r>
              <a:rPr kumimoji="1" lang="en-US" altLang="zh-CN" sz="2000" dirty="0" smtClean="0">
                <a:latin typeface="Times New Roman" pitchFamily="18" charset="0"/>
              </a:rPr>
              <a:t>(</a:t>
            </a:r>
            <a:r>
              <a:rPr kumimoji="1" lang="en-US" altLang="zh-CN" sz="2000" i="1" dirty="0" smtClean="0">
                <a:latin typeface="Times New Roman" pitchFamily="18" charset="0"/>
              </a:rPr>
              <a:t>h </a:t>
            </a:r>
            <a:r>
              <a:rPr kumimoji="1" lang="en-US" altLang="zh-CN" sz="2000" dirty="0" smtClean="0">
                <a:latin typeface="Times New Roman" pitchFamily="18" charset="0"/>
              </a:rPr>
              <a:t>– </a:t>
            </a:r>
            <a:r>
              <a:rPr kumimoji="1" lang="ru-RU" altLang="zh-CN" sz="2000" dirty="0" smtClean="0">
                <a:latin typeface="Times New Roman" pitchFamily="18" charset="0"/>
              </a:rPr>
              <a:t>т</a:t>
            </a:r>
            <a:r>
              <a:rPr kumimoji="1" lang="uz-Cyrl-UZ" altLang="zh-CN" sz="2000" dirty="0" smtClean="0">
                <a:latin typeface="Times New Roman" pitchFamily="18" charset="0"/>
              </a:rPr>
              <a:t>оқ сон</a:t>
            </a:r>
            <a:r>
              <a:rPr kumimoji="1" lang="en-US" altLang="zh-CN" sz="2000" dirty="0" smtClean="0">
                <a:latin typeface="Times New Roman" pitchFamily="18" charset="0"/>
              </a:rPr>
              <a:t>)</a:t>
            </a:r>
            <a:r>
              <a:rPr kumimoji="1" lang="uz-Cyrl-UZ" altLang="zh-CN" sz="2000" dirty="0" smtClean="0">
                <a:latin typeface="Times New Roman" pitchFamily="18" charset="0"/>
              </a:rPr>
              <a:t> кўринишида ифодалаймиз.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dirty="0" smtClean="0">
                <a:latin typeface="Times New Roman" pitchFamily="18" charset="0"/>
              </a:rPr>
              <a:t>2.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</a:rPr>
              <a:t>Ҳисоблансин: </a:t>
            </a:r>
            <a:r>
              <a:rPr kumimoji="1" lang="en-US" altLang="zh-CN" sz="2000" i="1" dirty="0" smtClean="0">
                <a:latin typeface="Times New Roman" pitchFamily="18" charset="0"/>
              </a:rPr>
              <a:t>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zh-CN" sz="2000" i="1" dirty="0" smtClean="0">
                <a:latin typeface="Times New Roman" pitchFamily="18" charset="0"/>
              </a:rPr>
              <a:t>=a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(h+1)/2</a:t>
            </a:r>
            <a:r>
              <a:rPr kumimoji="1" lang="en-US" altLang="zh-CN" sz="2000" i="1" dirty="0" smtClean="0">
                <a:latin typeface="Times New Roman" pitchFamily="18" charset="0"/>
              </a:rPr>
              <a:t>(mod p), 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=a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-1</a:t>
            </a:r>
            <a:r>
              <a:rPr kumimoji="1" lang="en-US" altLang="zh-CN" sz="2000" i="1" dirty="0" smtClean="0">
                <a:latin typeface="Times New Roman" pitchFamily="18" charset="0"/>
              </a:rPr>
              <a:t>(mod p), N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zh-CN" sz="2000" i="1" dirty="0" smtClean="0">
                <a:latin typeface="Times New Roman" pitchFamily="18" charset="0"/>
              </a:rPr>
              <a:t>=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N</a:t>
            </a:r>
            <a:r>
              <a:rPr kumimoji="1" lang="en-US" altLang="zh-CN" sz="2000" i="1" baseline="30000" dirty="0" err="1" smtClean="0">
                <a:latin typeface="Times New Roman" pitchFamily="18" charset="0"/>
              </a:rPr>
              <a:t>h</a:t>
            </a:r>
            <a:r>
              <a:rPr kumimoji="1" lang="en-US" altLang="zh-CN" sz="2000" i="1" dirty="0" smtClean="0">
                <a:latin typeface="Times New Roman" pitchFamily="18" charset="0"/>
              </a:rPr>
              <a:t>(mod p), N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=1, j=0;</a:t>
            </a:r>
            <a:endParaRPr kumimoji="1" lang="uz-Cyrl-UZ" altLang="zh-CN" sz="2000" i="1" dirty="0" smtClean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2000" b="1" dirty="0" smtClean="0">
                <a:latin typeface="Times New Roman" pitchFamily="18" charset="0"/>
              </a:rPr>
              <a:t>3. </a:t>
            </a:r>
            <a:r>
              <a:rPr kumimoji="1" lang="uz-Cyrl-UZ" altLang="zh-CN" sz="2000" dirty="0" smtClean="0">
                <a:latin typeface="Times New Roman" pitchFamily="18" charset="0"/>
              </a:rPr>
              <a:t>Барча</a:t>
            </a:r>
            <a:r>
              <a:rPr kumimoji="1" lang="uz-Cyrl-UZ" altLang="zh-CN" sz="2000" i="1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i</a:t>
            </a:r>
            <a:r>
              <a:rPr kumimoji="1" lang="en-US" altLang="zh-CN" sz="2000" i="1" dirty="0" smtClean="0">
                <a:latin typeface="Times New Roman" pitchFamily="18" charset="0"/>
              </a:rPr>
              <a:t>=0,1,2,,,k–2</a:t>
            </a:r>
            <a:r>
              <a:rPr kumimoji="1" lang="en-US" altLang="zh-CN" sz="2000" dirty="0" smtClean="0">
                <a:latin typeface="Times New Roman" pitchFamily="18" charset="0"/>
              </a:rPr>
              <a:t> </a:t>
            </a:r>
            <a:r>
              <a:rPr kumimoji="1" lang="ru-RU" altLang="zh-CN" sz="2000" dirty="0" err="1" smtClean="0">
                <a:latin typeface="Times New Roman" pitchFamily="18" charset="0"/>
              </a:rPr>
              <a:t>лар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</a:rPr>
              <a:t>учун қуйидагилар бажарилсин:</a:t>
            </a: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2000" b="1" dirty="0" smtClean="0">
                <a:latin typeface="Times New Roman" pitchFamily="18" charset="0"/>
              </a:rPr>
              <a:t>3.1. </a:t>
            </a:r>
            <a:r>
              <a:rPr kumimoji="1" lang="en-US" altLang="zh-CN" sz="2000" i="1" dirty="0" smtClean="0">
                <a:latin typeface="Times New Roman" pitchFamily="18" charset="0"/>
              </a:rPr>
              <a:t>b=a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zh-CN" sz="2000" i="1" dirty="0" smtClean="0">
                <a:latin typeface="Times New Roman" pitchFamily="18" charset="0"/>
              </a:rPr>
              <a:t>N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(mod p).</a:t>
            </a: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3.2. </a:t>
            </a:r>
            <a:r>
              <a:rPr kumimoji="1" lang="en-US" altLang="zh-CN" sz="2000" i="1" dirty="0" smtClean="0">
                <a:latin typeface="Times New Roman" pitchFamily="18" charset="0"/>
              </a:rPr>
              <a:t>c=a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b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(mod p).</a:t>
            </a: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3.3. </a:t>
            </a:r>
            <a:r>
              <a:rPr kumimoji="1" lang="en-US" altLang="zh-CN" sz="2000" dirty="0" smtClean="0">
                <a:latin typeface="Times New Roman" pitchFamily="18" charset="0"/>
              </a:rPr>
              <a:t>		</a:t>
            </a:r>
            <a:r>
              <a:rPr kumimoji="1" lang="en-US" altLang="zh-CN" sz="2000" dirty="0">
                <a:latin typeface="Times New Roman" pitchFamily="18" charset="0"/>
              </a:rPr>
              <a:t> </a:t>
            </a:r>
            <a:r>
              <a:rPr kumimoji="1" lang="en-US" altLang="zh-CN" sz="2000" dirty="0" smtClean="0">
                <a:latin typeface="Times New Roman" pitchFamily="18" charset="0"/>
              </a:rPr>
              <a:t>      </a:t>
            </a:r>
            <a:endParaRPr kumimoji="1" lang="uz-Cyrl-UZ" altLang="zh-CN" sz="2000" dirty="0" smtClean="0">
              <a:latin typeface="Times New Roman" pitchFamily="18" charset="0"/>
            </a:endParaRPr>
          </a:p>
          <a:p>
            <a:pPr marL="1074738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uz-Cyrl-UZ" altLang="zh-CN" sz="2000" dirty="0" smtClean="0">
                <a:latin typeface="Times New Roman" pitchFamily="18" charset="0"/>
              </a:rPr>
              <a:t>Агар </a:t>
            </a:r>
            <a:r>
              <a:rPr kumimoji="1" lang="en-US" altLang="zh-CN" sz="2000" i="1" dirty="0" smtClean="0">
                <a:latin typeface="Times New Roman" pitchFamily="18" charset="0"/>
              </a:rPr>
              <a:t>d</a:t>
            </a:r>
            <a:r>
              <a:rPr kumimoji="1" lang="en-US" altLang="zh-CN" sz="2000" dirty="0" smtClean="0">
                <a:latin typeface="Times New Roman" pitchFamily="18" charset="0"/>
              </a:rPr>
              <a:t>=1 </a:t>
            </a:r>
            <a:r>
              <a:rPr kumimoji="1" lang="ru-RU" altLang="zh-CN" sz="2000" dirty="0" smtClean="0">
                <a:latin typeface="Times New Roman" pitchFamily="18" charset="0"/>
              </a:rPr>
              <a:t>б</a:t>
            </a:r>
            <a:r>
              <a:rPr kumimoji="1" lang="uz-Cyrl-UZ" altLang="zh-CN" sz="2000" dirty="0" smtClean="0">
                <a:latin typeface="Times New Roman" pitchFamily="18" charset="0"/>
              </a:rPr>
              <a:t>ў</a:t>
            </a:r>
            <a:r>
              <a:rPr kumimoji="1" lang="ru-RU" altLang="zh-CN" sz="2000" dirty="0" err="1" smtClean="0">
                <a:latin typeface="Times New Roman" pitchFamily="18" charset="0"/>
              </a:rPr>
              <a:t>лса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j</a:t>
            </a:r>
            <a:r>
              <a:rPr kumimoji="1" lang="en-US" altLang="zh-CN" sz="2000" i="1" baseline="-25000" dirty="0" err="1" smtClean="0">
                <a:latin typeface="Times New Roman" pitchFamily="18" charset="0"/>
              </a:rPr>
              <a:t>i</a:t>
            </a:r>
            <a:r>
              <a:rPr kumimoji="1" lang="en-US" altLang="zh-CN" sz="2000" dirty="0" smtClean="0">
                <a:latin typeface="Times New Roman" pitchFamily="18" charset="0"/>
              </a:rPr>
              <a:t>=0, 	</a:t>
            </a:r>
            <a:r>
              <a:rPr kumimoji="1" lang="ru-RU" altLang="zh-CN" sz="2000" dirty="0" smtClean="0">
                <a:latin typeface="Times New Roman" pitchFamily="18" charset="0"/>
              </a:rPr>
              <a:t>а</a:t>
            </a:r>
            <a:r>
              <a:rPr kumimoji="1" lang="uz-Cyrl-UZ" altLang="zh-CN" sz="2000" dirty="0" smtClean="0">
                <a:latin typeface="Times New Roman" pitchFamily="18" charset="0"/>
              </a:rPr>
              <a:t>гар </a:t>
            </a:r>
            <a:r>
              <a:rPr kumimoji="1" lang="en-US" altLang="zh-CN" sz="2000" i="1" dirty="0" smtClean="0">
                <a:latin typeface="Times New Roman" pitchFamily="18" charset="0"/>
              </a:rPr>
              <a:t>d</a:t>
            </a:r>
            <a:r>
              <a:rPr kumimoji="1" lang="en-US" altLang="zh-CN" sz="2000" dirty="0" smtClean="0">
                <a:latin typeface="Times New Roman" pitchFamily="18" charset="0"/>
              </a:rPr>
              <a:t>=-1 </a:t>
            </a:r>
            <a:r>
              <a:rPr kumimoji="1" lang="ru-RU" altLang="zh-CN" sz="2000" dirty="0" smtClean="0">
                <a:latin typeface="Times New Roman" pitchFamily="18" charset="0"/>
              </a:rPr>
              <a:t>б</a:t>
            </a:r>
            <a:r>
              <a:rPr kumimoji="1" lang="uz-Cyrl-UZ" altLang="zh-CN" sz="2000" dirty="0" smtClean="0">
                <a:latin typeface="Times New Roman" pitchFamily="18" charset="0"/>
              </a:rPr>
              <a:t>ў</a:t>
            </a:r>
            <a:r>
              <a:rPr kumimoji="1" lang="ru-RU" altLang="zh-CN" sz="2000" dirty="0" err="1" smtClean="0">
                <a:latin typeface="Times New Roman" pitchFamily="18" charset="0"/>
              </a:rPr>
              <a:t>лса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j</a:t>
            </a:r>
            <a:r>
              <a:rPr kumimoji="1" lang="en-US" altLang="zh-CN" sz="2000" i="1" baseline="-25000" dirty="0" err="1" smtClean="0">
                <a:latin typeface="Times New Roman" pitchFamily="18" charset="0"/>
              </a:rPr>
              <a:t>i</a:t>
            </a:r>
            <a:r>
              <a:rPr kumimoji="1" lang="en-US" altLang="zh-CN" sz="2000" dirty="0" smtClean="0">
                <a:latin typeface="Times New Roman" pitchFamily="18" charset="0"/>
              </a:rPr>
              <a:t>=1.</a:t>
            </a:r>
            <a:endParaRPr kumimoji="1" lang="ru-RU" altLang="zh-CN" sz="2000" dirty="0" smtClean="0">
              <a:latin typeface="Times New Roman" pitchFamily="18" charset="0"/>
            </a:endParaRP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ru-RU" altLang="zh-CN" sz="2000" b="1" dirty="0" smtClean="0">
                <a:latin typeface="Times New Roman" pitchFamily="18" charset="0"/>
              </a:rPr>
              <a:t>3.4. </a:t>
            </a:r>
            <a:endParaRPr kumimoji="1" lang="en-US" altLang="zh-CN" sz="2000" b="1" dirty="0" smtClean="0">
              <a:latin typeface="Times New Roman" pitchFamily="18" charset="0"/>
            </a:endParaRPr>
          </a:p>
          <a:p>
            <a:pPr algn="just" eaLnBrk="1" hangingPunct="1">
              <a:spcBef>
                <a:spcPts val="1200"/>
              </a:spcBef>
              <a:spcAft>
                <a:spcPts val="0"/>
              </a:spcAft>
              <a:buClr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4. </a:t>
            </a:r>
            <a:r>
              <a:rPr kumimoji="1" lang="ru-RU" altLang="zh-CN" sz="2000" b="1" dirty="0" err="1" smtClean="0">
                <a:solidFill>
                  <a:srgbClr val="C00000"/>
                </a:solidFill>
                <a:latin typeface="Times New Roman" pitchFamily="18" charset="0"/>
              </a:rPr>
              <a:t>Ечим</a:t>
            </a:r>
            <a:r>
              <a:rPr kumimoji="1" lang="ru-RU" altLang="zh-CN" sz="2000" b="1" dirty="0" smtClean="0">
                <a:latin typeface="Times New Roman" pitchFamily="18" charset="0"/>
              </a:rPr>
              <a:t>: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x ≡ </a:t>
            </a:r>
            <a:r>
              <a:rPr kumimoji="1" lang="en-US" altLang="zh-CN" sz="2000" b="1" dirty="0" smtClean="0">
                <a:latin typeface="Times New Roman" pitchFamily="18" charset="0"/>
                <a:ea typeface="宋体" charset="-122"/>
              </a:rPr>
              <a:t>±</a:t>
            </a:r>
            <a:r>
              <a:rPr kumimoji="1" lang="uz-Cyrl-UZ" altLang="zh-CN" sz="20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000" b="1" i="1" baseline="-25000" dirty="0" smtClean="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N</a:t>
            </a:r>
            <a:r>
              <a:rPr kumimoji="1" lang="en-US" altLang="zh-CN" sz="2000" b="1" i="1" baseline="-25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 (mod p)</a:t>
            </a:r>
            <a:endParaRPr kumimoji="1" lang="en-US" altLang="zh-CN" sz="2000" b="1" dirty="0" smtClean="0">
              <a:latin typeface="Times New Roman" pitchFamily="18" charset="0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090952"/>
              </p:ext>
            </p:extLst>
          </p:nvPr>
        </p:nvGraphicFramePr>
        <p:xfrm>
          <a:off x="1115616" y="4365104"/>
          <a:ext cx="1841348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Уравнение" r:id="rId3" imgW="1091880" imgH="253800" progId="Equation.3">
                  <p:embed/>
                </p:oleObj>
              </mc:Choice>
              <mc:Fallback>
                <p:oleObj name="Уравнение" r:id="rId3" imgW="1091880" imgH="253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365104"/>
                        <a:ext cx="1841348" cy="43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354453"/>
              </p:ext>
            </p:extLst>
          </p:nvPr>
        </p:nvGraphicFramePr>
        <p:xfrm>
          <a:off x="1115616" y="5337460"/>
          <a:ext cx="2270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Уравнение" r:id="rId5" imgW="1346040" imgH="253800" progId="Equation.3">
                  <p:embed/>
                </p:oleObj>
              </mc:Choice>
              <mc:Fallback>
                <p:oleObj name="Уравнение" r:id="rId5" imgW="13460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5337460"/>
                        <a:ext cx="22701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527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 dirty="0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2735964"/>
            <a:ext cx="8753475" cy="2119497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3600" b="1" i="1" dirty="0" smtClean="0">
                <a:solidFill>
                  <a:srgbClr val="C00000"/>
                </a:solidFill>
                <a:latin typeface="Times New Roman" pitchFamily="18" charset="0"/>
              </a:rPr>
              <a:t>Вазифа: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3600" b="1" i="1" dirty="0" smtClean="0">
                <a:latin typeface="Times New Roman" pitchFamily="18" charset="0"/>
              </a:rPr>
              <a:t>Таққослама ечишнинг ҳар бир усул бўйича 1 тадан мустақил мисол ишлаш.</a:t>
            </a:r>
            <a:endParaRPr kumimoji="1" lang="en-US" altLang="zh-CN" sz="3600" dirty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85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2253242"/>
            <a:ext cx="8753475" cy="3084939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4.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>
                <a:latin typeface="Times New Roman" pitchFamily="18" charset="0"/>
              </a:rPr>
              <a:t>Агар 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p=4k+1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(p≡1 mod 4)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dirty="0">
                <a:latin typeface="Times New Roman" pitchFamily="18" charset="0"/>
              </a:rPr>
              <a:t>бўлса, 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x ≡ ± a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(t+1)/2.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N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 (mod p)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.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ru-RU" altLang="zh-CN" sz="2000" dirty="0">
                <a:solidFill>
                  <a:schemeClr val="accent2"/>
                </a:solidFill>
                <a:latin typeface="Times New Roman" pitchFamily="18" charset="0"/>
              </a:rPr>
              <a:t>Теорема-</a:t>
            </a:r>
            <a:r>
              <a:rPr kumimoji="1" lang="en-US" altLang="zh-CN" sz="2000" dirty="0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i="1" dirty="0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dirty="0" err="1">
                <a:latin typeface="Times New Roman" pitchFamily="18" charset="0"/>
              </a:rPr>
              <a:t>Агар</a:t>
            </a:r>
            <a:r>
              <a:rPr kumimoji="1" lang="ru-RU" altLang="zh-CN" sz="2000" dirty="0">
                <a:latin typeface="Times New Roman" pitchFamily="18" charset="0"/>
              </a:rPr>
              <a:t>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3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, …, </a:t>
            </a:r>
            <a:r>
              <a:rPr kumimoji="1" lang="en-US" altLang="zh-CN" sz="2000" i="1" dirty="0" err="1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 err="1">
                <a:latin typeface="Times New Roman" pitchFamily="18" charset="0"/>
                <a:ea typeface="宋体" charset="-122"/>
              </a:rPr>
              <a:t>k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dirty="0">
                <a:latin typeface="Times New Roman" pitchFamily="18" charset="0"/>
              </a:rPr>
              <a:t>жуфт-жуфти билан ўзаро туб бўлса, у ҳолда 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uz-Cyrl-UZ" altLang="zh-CN" sz="20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3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uz-Cyrl-UZ" altLang="zh-CN" sz="2000" i="1" dirty="0">
                <a:latin typeface="Times New Roman" pitchFamily="18" charset="0"/>
                <a:cs typeface="Times New Roman" pitchFamily="18" charset="0"/>
              </a:rPr>
              <a:t>...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 dirty="0" err="1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 err="1">
                <a:latin typeface="Times New Roman" pitchFamily="18" charset="0"/>
                <a:ea typeface="宋体" charset="-122"/>
              </a:rPr>
              <a:t>k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</a:t>
            </a:r>
            <a:r>
              <a:rPr kumimoji="1" lang="uz-Cyrl-UZ" altLang="zh-CN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zh-CN" sz="2000" dirty="0">
                <a:latin typeface="Times New Roman" pitchFamily="18" charset="0"/>
                <a:cs typeface="Times New Roman" pitchFamily="18" charset="0"/>
              </a:rPr>
              <a:t>таққослама қуйидаги: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m</a:t>
            </a:r>
            <a:r>
              <a:rPr kumimoji="1" lang="uz-Cyrl-UZ" altLang="zh-CN" sz="2000" i="1" baseline="-25000" dirty="0">
                <a:latin typeface="Times New Roman" pitchFamily="18" charset="0"/>
              </a:rPr>
              <a:t>1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</a:t>
            </a:r>
            <a:endParaRPr kumimoji="1" lang="uz-Cyrl-UZ" altLang="zh-CN" sz="2000" i="1" dirty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m</a:t>
            </a:r>
            <a:r>
              <a:rPr kumimoji="1" lang="uz-Cyrl-UZ" altLang="zh-CN" sz="2000" i="1" baseline="-25000" dirty="0">
                <a:latin typeface="Times New Roman" pitchFamily="18" charset="0"/>
              </a:rPr>
              <a:t>2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…………………</a:t>
            </a:r>
            <a:endParaRPr kumimoji="1" lang="uz-Cyrl-UZ" altLang="zh-CN" sz="2000" i="1" dirty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</a:t>
            </a:r>
            <a:r>
              <a:rPr kumimoji="1" lang="en-US" altLang="zh-CN" sz="2000" i="1" dirty="0" err="1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 err="1">
                <a:latin typeface="Times New Roman" pitchFamily="18" charset="0"/>
                <a:ea typeface="宋体" charset="-122"/>
              </a:rPr>
              <a:t>k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 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2000" dirty="0">
                <a:latin typeface="Times New Roman" pitchFamily="18" charset="0"/>
              </a:rPr>
              <a:t>таққосламалар системаси билан тенг кучлидир.</a:t>
            </a:r>
            <a:endParaRPr kumimoji="1" lang="en-US" altLang="zh-CN" sz="2000" dirty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955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12430</TotalTime>
  <Words>881</Words>
  <Application>Microsoft Office PowerPoint</Application>
  <PresentationFormat>Экран (4:3)</PresentationFormat>
  <Paragraphs>198</Paragraphs>
  <Slides>17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Профиль</vt:lpstr>
      <vt:lpstr>Уравнение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1682</cp:revision>
  <dcterms:created xsi:type="dcterms:W3CDTF">2010-10-01T16:11:11Z</dcterms:created>
  <dcterms:modified xsi:type="dcterms:W3CDTF">2019-08-21T04:22:20Z</dcterms:modified>
</cp:coreProperties>
</file>