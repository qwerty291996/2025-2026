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92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34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634775-00F5-4AF1-A20E-0CB34ED12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1ABB9E-73C5-4C26-9289-D3F1E3C48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88740B-00BA-46EB-AD0B-97A86D8F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F69F2E-ABB5-4974-A112-7D0B4BCD0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3434F3-F76C-41B7-965F-90E2156A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94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84DEF-125E-404A-BAFF-16D3CEAAF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95414A-491B-4BAD-BC61-4B3D9B8F5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C39C1A-95DB-45FC-995D-09571056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3FCE85-F5EF-4EF7-A018-DBD6E954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134507-6A98-4D9A-BB79-03FA9980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47B4E-51BB-4C56-ADA1-26407B64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061885-C83E-4047-BAC4-B509C942A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232DDD-10D5-4262-9CBD-2C1D9F875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50ABFD-D415-46E2-9A38-F8F98C33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44F13A-A84D-442F-9413-02E88B1D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94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A509D-A112-47F3-A58F-21E5A98B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5870AA-B279-4308-AB40-767A451EC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FCB7C2-9DB2-4289-BAF0-D4D4FF529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41C492-08D7-447C-A59A-6EB882875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6FB947-88E1-42DB-8559-F776AD8C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D2F777-81C0-4ABC-8E00-D38731CD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249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904E8-8100-48B8-964E-64D16A92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24113A-97C5-4603-A8C8-725374C10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88F69D-51D0-4DA2-AE09-B271ABF72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EE15313-0801-4C00-91C5-7ACAF710A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B8D7E38-4351-41CD-AFD8-118E1891A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F75485-9640-4934-9BD6-65BF2118F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D44DB74-450B-4211-92C0-EBD616AE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4A907C6-A034-4994-B90D-D6BCB876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03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92F4D-E4AC-44DD-ABB6-731FFD04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B4D6FC-974D-40B8-8376-326BEFA3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00C192-A68A-48B4-B750-E89C1802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456187-935A-4875-B4EA-55437DC9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52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1FCD0E-A036-4F16-B700-689063587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32D495-12B0-4DC3-B15D-173CB948F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3BDA49-A9C2-43D3-B626-7F1298A9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13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4E8A1-1C2F-4D11-B00D-AC59E651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9F1C69-F6C0-40D1-A654-5BCCE445F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6F38C5-72C0-4261-B427-4236F849A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A98A96-19B2-4B37-B20D-195DDECB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AEC34E-106E-485D-AC7B-F2CFDBCB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F1C1F8-561E-40BE-8F66-111DF157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9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CE6FD-9878-4905-9315-71C486C61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46C479-4562-4BFC-BE1D-41EF1743D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97DF17-8C57-4010-B418-92224F914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7C0817-4903-4768-B55B-A57A8B89F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3A04C7-532E-4C32-A502-65228DF6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CDA588-C799-47F2-A441-8EFA49D8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73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B3328-BDA0-4FCE-A0C9-BD7E7ADA3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453AAC-5F55-431E-A387-594123CD2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F3C602-BCA2-4DC3-9459-73F9F4CB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67A564-1F99-466C-BC6F-D095266D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66F3A0-D73C-40D2-83DB-8B4D247A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156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936451-8732-4AE4-B1C5-649257C87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E9A588-3497-4761-9456-C71656FDD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9F8BA9-32AE-44B2-AE5D-0321BBFC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F52AF6-9477-468E-9F41-6EA44ACF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1B40FA-ED1F-4C17-A2C7-98A674F4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084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F58E4-9B8A-48C5-84F6-EA803A30C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10F656-667F-4E59-B687-E180DB5D7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8605FA-6D2E-4B69-9FC4-1B3B8859F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FE4D5-8AD1-4518-8864-645A5FD2C5EC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33A8A6-480E-495B-BF91-BFFECD758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1C085E-8973-479C-B31C-1A0A49039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0F803-20D7-42B3-9E57-FBEB13879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85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314CBD04-CC92-4BF3-8B74-236FDC33C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3" y="1354138"/>
            <a:ext cx="8528050" cy="12192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 bIns="91440" anchor="b"/>
          <a:lstStyle>
            <a:lvl1pPr indent="363538" eaLnBrk="0" hangingPunct="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363538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363538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36353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363538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363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363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363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363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uz-Cyrl-UZ" sz="2400" b="1" u="sng">
                <a:solidFill>
                  <a:srgbClr val="AC0000"/>
                </a:solidFill>
                <a:latin typeface="Times New Roman" panose="02020603050405020304" pitchFamily="18" charset="0"/>
              </a:rPr>
              <a:t>Криптография</a:t>
            </a:r>
            <a:r>
              <a:rPr lang="ru-RU" altLang="uz-Cyrl-UZ" sz="240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занимается методами преобразования информации, которые бы не позволили противнику  извлечь ее из перехватываемых сообщений.</a:t>
            </a:r>
          </a:p>
        </p:txBody>
      </p:sp>
      <p:sp>
        <p:nvSpPr>
          <p:cNvPr id="79875" name="Rectangle 5">
            <a:extLst>
              <a:ext uri="{FF2B5EF4-FFF2-40B4-BE49-F238E27FC236}">
                <a16:creationId xmlns:a16="http://schemas.microsoft.com/office/drawing/2014/main" id="{354754DB-C868-45F6-917A-89DCF607C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4" y="2852738"/>
            <a:ext cx="8466137" cy="3600450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763" indent="358775" eaLnBrk="0" hangingPunct="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09638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17625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25613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36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90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48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05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24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2500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Основными</a:t>
            </a:r>
            <a:r>
              <a:rPr lang="ru-RU" altLang="uz-Cyrl-UZ" sz="2000" b="1">
                <a:latin typeface="Times New Roman" panose="02020603050405020304" pitchFamily="18" charset="0"/>
              </a:rPr>
              <a:t> </a:t>
            </a:r>
            <a:r>
              <a:rPr lang="ru-RU" altLang="uz-Cyrl-UZ" sz="2400" b="1">
                <a:solidFill>
                  <a:srgbClr val="0000CC"/>
                </a:solidFill>
                <a:latin typeface="Times New Roman" panose="02020603050405020304" pitchFamily="18" charset="0"/>
              </a:rPr>
              <a:t>задачами</a:t>
            </a:r>
            <a:r>
              <a:rPr lang="ru-RU" altLang="uz-Cyrl-UZ" sz="2400" b="1">
                <a:latin typeface="Times New Roman" panose="02020603050405020304" pitchFamily="18" charset="0"/>
              </a:rPr>
              <a:t> 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защиты информации (ЗИ) </a:t>
            </a:r>
          </a:p>
          <a:p>
            <a:pPr algn="just" eaLnBrk="1" hangingPunct="1">
              <a:lnSpc>
                <a:spcPct val="80000"/>
              </a:lnSpc>
              <a:spcBef>
                <a:spcPct val="2500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в сети телекоммуникации являются следующие:</a:t>
            </a:r>
          </a:p>
          <a:p>
            <a:pPr lvl="1" algn="just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0000CC"/>
              </a:buClr>
              <a:buFont typeface="Wingdings" panose="05000000000000000000" pitchFamily="2" charset="2"/>
              <a:buChar char="þ"/>
            </a:pPr>
            <a:r>
              <a:rPr lang="ru-RU" altLang="uz-Cyrl-UZ" sz="2400">
                <a:latin typeface="Times New Roman" panose="02020603050405020304" pitchFamily="18" charset="0"/>
              </a:rPr>
              <a:t> 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обеспечение конфиденциальности информации; </a:t>
            </a:r>
          </a:p>
          <a:p>
            <a:pPr lvl="1" algn="just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0000CC"/>
              </a:buClr>
              <a:buFont typeface="Wingdings" panose="05000000000000000000" pitchFamily="2" charset="2"/>
              <a:buChar char="þ"/>
            </a:pP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обеспечение целостности информации; </a:t>
            </a:r>
          </a:p>
          <a:p>
            <a:pPr lvl="1" algn="just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0000CC"/>
              </a:buClr>
              <a:buFont typeface="Wingdings" panose="05000000000000000000" pitchFamily="2" charset="2"/>
              <a:buChar char="þ"/>
            </a:pP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обеспечение аутентификации информации; </a:t>
            </a:r>
          </a:p>
          <a:p>
            <a:pPr lvl="1" algn="just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0000CC"/>
              </a:buClr>
              <a:buFont typeface="Wingdings" panose="05000000000000000000" pitchFamily="2" charset="2"/>
              <a:buChar char="þ"/>
            </a:pP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обеспечение невозможности отказа от факта авторства     </a:t>
            </a:r>
          </a:p>
          <a:p>
            <a:pPr lvl="1" algn="just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    информации; </a:t>
            </a:r>
          </a:p>
          <a:p>
            <a:pPr lvl="1" algn="just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0000CC"/>
              </a:buClr>
              <a:buFont typeface="Wingdings" panose="05000000000000000000" pitchFamily="2" charset="2"/>
              <a:buChar char="þ"/>
            </a:pP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генерация и распределение ключей среди пользователей.</a:t>
            </a: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20431522-2EB3-4E37-A7C3-A99E02482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57151"/>
            <a:ext cx="6985000" cy="7651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mpd="dbl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90000" bIns="91440" anchor="b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ru-RU" altLang="uz-Cyrl-UZ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Криптография </a:t>
            </a:r>
            <a:br>
              <a:rPr lang="ru-RU" altLang="uz-Cyrl-UZ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ru-RU" altLang="uz-Cyrl-UZ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и основные задачи защиты информации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6A3FD49-C354-42DB-B0F8-5AF355F23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4" y="260350"/>
            <a:ext cx="5184775" cy="431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mpd="dbl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90000" bIns="91440" anchor="b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uz-Cyrl-UZ" sz="2600" b="1">
                <a:solidFill>
                  <a:schemeClr val="bg1"/>
                </a:solidFill>
                <a:latin typeface="Times New Roman" panose="02020603050405020304" pitchFamily="18" charset="0"/>
              </a:rPr>
              <a:t>Инструменты криптографии</a:t>
            </a:r>
          </a:p>
        </p:txBody>
      </p:sp>
      <p:sp>
        <p:nvSpPr>
          <p:cNvPr id="90115" name="Rectangle 5">
            <a:extLst>
              <a:ext uri="{FF2B5EF4-FFF2-40B4-BE49-F238E27FC236}">
                <a16:creationId xmlns:a16="http://schemas.microsoft.com/office/drawing/2014/main" id="{DD65439A-1230-4AD3-94AD-3B14B8F40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963" y="1227138"/>
            <a:ext cx="8686800" cy="5154612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indent="268288" eaLnBrk="0" hangingPunct="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5963" indent="-268288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0495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12938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20925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7812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3532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9252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4972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ru-RU" altLang="uz-Cyrl-UZ" sz="2000" b="1">
                <a:solidFill>
                  <a:srgbClr val="AC0000"/>
                </a:solidFill>
                <a:latin typeface="Times New Roman" panose="02020603050405020304" pitchFamily="18" charset="0"/>
              </a:rPr>
              <a:t>1</a:t>
            </a:r>
            <a:r>
              <a:rPr lang="ru-RU" altLang="uz-Cyrl-UZ" sz="2000">
                <a:solidFill>
                  <a:srgbClr val="AC0000"/>
                </a:solidFill>
                <a:latin typeface="Times New Roman" panose="02020603050405020304" pitchFamily="18" charset="0"/>
              </a:rPr>
              <a:t>.</a:t>
            </a:r>
            <a:r>
              <a:rPr lang="ru-RU" altLang="uz-Cyrl-UZ" sz="2400">
                <a:latin typeface="Times New Roman" panose="02020603050405020304" pitchFamily="18" charset="0"/>
              </a:rPr>
              <a:t> 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Решением задачи криптографическими средствами 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обеспечения конфиденциальности информации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являются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алгоритмы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шифрования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данных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(АШД)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ru-RU" altLang="uz-Cyrl-UZ" sz="2000" b="1">
                <a:solidFill>
                  <a:srgbClr val="AC0000"/>
                </a:solidFill>
                <a:latin typeface="Times New Roman" panose="02020603050405020304" pitchFamily="18" charset="0"/>
              </a:rPr>
              <a:t>2</a:t>
            </a:r>
            <a:r>
              <a:rPr lang="ru-RU" altLang="uz-Cyrl-UZ" sz="2000">
                <a:solidFill>
                  <a:srgbClr val="AC0000"/>
                </a:solidFill>
                <a:latin typeface="Times New Roman" panose="02020603050405020304" pitchFamily="18" charset="0"/>
              </a:rPr>
              <a:t>.</a:t>
            </a:r>
            <a:r>
              <a:rPr lang="ru-RU" altLang="uz-Cyrl-UZ" sz="2000">
                <a:latin typeface="Times New Roman" panose="02020603050405020304" pitchFamily="18" charset="0"/>
              </a:rPr>
              <a:t> 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Задачи</a:t>
            </a:r>
            <a:r>
              <a:rPr lang="en-US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обеспечения целостности</a:t>
            </a:r>
            <a:r>
              <a:rPr lang="en-US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аутентификации</a:t>
            </a:r>
            <a:r>
              <a:rPr lang="en-US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невозможности отказа от факта авторства информации</a:t>
            </a:r>
            <a:r>
              <a:rPr lang="en-US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решаются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криптографическими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алгоритмами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Хеш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–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функции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и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ЭЦП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ru-RU" altLang="uz-Cyrl-UZ" sz="2000" b="1">
                <a:solidFill>
                  <a:srgbClr val="AC0000"/>
                </a:solidFill>
                <a:latin typeface="Times New Roman" panose="02020603050405020304" pitchFamily="18" charset="0"/>
              </a:rPr>
              <a:t>3.</a:t>
            </a:r>
            <a:r>
              <a:rPr lang="ru-RU" altLang="uz-Cyrl-UZ" sz="2000">
                <a:latin typeface="Times New Roman" panose="02020603050405020304" pitchFamily="18" charset="0"/>
              </a:rPr>
              <a:t> 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Задача 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генерации стойких ключей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решается средствами генерации:</a:t>
            </a:r>
          </a:p>
          <a:p>
            <a:pPr lvl="1" algn="just" eaLnBrk="1" hangingPunct="1">
              <a:lnSpc>
                <a:spcPct val="80000"/>
              </a:lnSpc>
              <a:spcAft>
                <a:spcPct val="25000"/>
              </a:spcAft>
              <a:buClr>
                <a:srgbClr val="AC0000"/>
              </a:buClr>
              <a:buSzPct val="85000"/>
              <a:buFont typeface="Wingdings" panose="05000000000000000000" pitchFamily="2" charset="2"/>
              <a:buChar char="þ"/>
            </a:pP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псевдослучайных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последовательностей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, которые имеют математическую модель описания процесса последовательной выработки с последующей проверкой на критерий случайности (критерий Колмогоров, критерий Смирнова и др);  </a:t>
            </a:r>
          </a:p>
          <a:p>
            <a:pPr lvl="1" algn="just" eaLnBrk="1" hangingPunct="1">
              <a:lnSpc>
                <a:spcPct val="80000"/>
              </a:lnSpc>
              <a:spcAft>
                <a:spcPct val="25000"/>
              </a:spcAft>
              <a:buClr>
                <a:srgbClr val="AC0000"/>
              </a:buClr>
              <a:buSzPct val="85000"/>
              <a:buFont typeface="Wingdings" panose="05000000000000000000" pitchFamily="2" charset="2"/>
              <a:buChar char="þ"/>
            </a:pP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истинно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случайных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последовательностей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, которые базируются на изменении параметров физических свойств некоторого реального объекта и следовательно не описаются математическими моделями.</a:t>
            </a:r>
            <a:r>
              <a:rPr lang="ru-RU" altLang="uz-Cyrl-UZ" sz="2000">
                <a:latin typeface="Times New Roman" panose="02020603050405020304" pitchFamily="18" charset="0"/>
              </a:rPr>
              <a:t>    </a:t>
            </a:r>
          </a:p>
          <a:p>
            <a:pPr algn="just" eaLnBrk="1" hangingPunct="1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ru-RU" altLang="uz-Cyrl-UZ" sz="2000" b="1">
                <a:solidFill>
                  <a:srgbClr val="AC0000"/>
                </a:solidFill>
                <a:latin typeface="Times New Roman" panose="02020603050405020304" pitchFamily="18" charset="0"/>
              </a:rPr>
              <a:t>4.</a:t>
            </a:r>
            <a:r>
              <a:rPr lang="ru-RU" altLang="uz-Cyrl-UZ" sz="2000" b="1">
                <a:latin typeface="Times New Roman" panose="02020603050405020304" pitchFamily="18" charset="0"/>
              </a:rPr>
              <a:t> 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Задача 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распределения ключей 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решается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криптографическими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алгоритмами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 u="sng">
                <a:solidFill>
                  <a:srgbClr val="000000"/>
                </a:solidFill>
                <a:latin typeface="Times New Roman" panose="02020603050405020304" pitchFamily="18" charset="0"/>
              </a:rPr>
              <a:t>протоколов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ru-RU" altLang="uz-Cyrl-UZ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обмен ключами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 и </a:t>
            </a:r>
            <a:r>
              <a:rPr lang="ru-RU" altLang="uz-Cyrl-UZ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аутентификации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) распределения ключей</a:t>
            </a:r>
            <a:r>
              <a:rPr lang="ru-RU" altLang="uz-Cyrl-UZ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uz-Cyrl-UZ" sz="2000">
                <a:solidFill>
                  <a:srgbClr val="000000"/>
                </a:solidFill>
                <a:latin typeface="Times New Roman" panose="02020603050405020304" pitchFamily="18" charset="0"/>
              </a:rPr>
              <a:t>среди пользователей сети.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191</Words>
  <Application>Microsoft Office PowerPoint</Application>
  <PresentationFormat>Широкоэкранный</PresentationFormat>
  <Paragraphs>17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</cp:revision>
  <dcterms:created xsi:type="dcterms:W3CDTF">2026-01-05T11:40:40Z</dcterms:created>
  <dcterms:modified xsi:type="dcterms:W3CDTF">2026-01-05T11:45:27Z</dcterms:modified>
</cp:coreProperties>
</file>