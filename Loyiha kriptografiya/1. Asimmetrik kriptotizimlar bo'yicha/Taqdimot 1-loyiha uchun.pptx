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324" r:id="rId3"/>
    <p:sldId id="335" r:id="rId4"/>
    <p:sldId id="257" r:id="rId5"/>
    <p:sldId id="282" r:id="rId6"/>
    <p:sldId id="312" r:id="rId7"/>
    <p:sldId id="313" r:id="rId8"/>
    <p:sldId id="302" r:id="rId9"/>
    <p:sldId id="336" r:id="rId10"/>
    <p:sldId id="283" r:id="rId11"/>
    <p:sldId id="337" r:id="rId12"/>
    <p:sldId id="329" r:id="rId13"/>
    <p:sldId id="330" r:id="rId14"/>
    <p:sldId id="292" r:id="rId15"/>
    <p:sldId id="308" r:id="rId16"/>
    <p:sldId id="326" r:id="rId17"/>
    <p:sldId id="331" r:id="rId18"/>
    <p:sldId id="290" r:id="rId19"/>
    <p:sldId id="334" r:id="rId20"/>
    <p:sldId id="305" r:id="rId21"/>
    <p:sldId id="291" r:id="rId22"/>
    <p:sldId id="300" r:id="rId23"/>
    <p:sldId id="301" r:id="rId24"/>
    <p:sldId id="332" r:id="rId25"/>
    <p:sldId id="295" r:id="rId26"/>
    <p:sldId id="338" r:id="rId27"/>
    <p:sldId id="333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8FA0"/>
    <a:srgbClr val="4BB8EF"/>
    <a:srgbClr val="16C8E0"/>
    <a:srgbClr val="4DDA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Светлый стиль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FECB4D8-DB02-4DC6-A0A2-4F2EBAE1DC90}" styleName="Средний стиль 1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>
      <p:cViewPr varScale="1">
        <p:scale>
          <a:sx n="57" d="100"/>
          <a:sy n="57" d="100"/>
        </p:scale>
        <p:origin x="108" y="137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3523B-CB0D-4846-B2D5-44A6D906C78E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67B2F-C2DC-4835-9C88-D241D730A1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1415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3523B-CB0D-4846-B2D5-44A6D906C78E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67B2F-C2DC-4835-9C88-D241D730A1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2596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3523B-CB0D-4846-B2D5-44A6D906C78E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67B2F-C2DC-4835-9C88-D241D730A1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6442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3523B-CB0D-4846-B2D5-44A6D906C78E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67B2F-C2DC-4835-9C88-D241D730A1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4707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3523B-CB0D-4846-B2D5-44A6D906C78E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67B2F-C2DC-4835-9C88-D241D730A1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38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3523B-CB0D-4846-B2D5-44A6D906C78E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67B2F-C2DC-4835-9C88-D241D730A1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4718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3523B-CB0D-4846-B2D5-44A6D906C78E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67B2F-C2DC-4835-9C88-D241D730A1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4655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3523B-CB0D-4846-B2D5-44A6D906C78E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67B2F-C2DC-4835-9C88-D241D730A1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4185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3523B-CB0D-4846-B2D5-44A6D906C78E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67B2F-C2DC-4835-9C88-D241D730A1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001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3523B-CB0D-4846-B2D5-44A6D906C78E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67B2F-C2DC-4835-9C88-D241D730A1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552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3523B-CB0D-4846-B2D5-44A6D906C78E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67B2F-C2DC-4835-9C88-D241D730A1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5284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33523B-CB0D-4846-B2D5-44A6D906C78E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367B2F-C2DC-4835-9C88-D241D730A1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7310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88" r="11188"/>
          <a:stretch>
            <a:fillRect/>
          </a:stretch>
        </p:blipFill>
        <p:spPr bwMode="auto">
          <a:xfrm>
            <a:off x="0" y="-1"/>
            <a:ext cx="12192000" cy="68801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Прямоугольник 7"/>
          <p:cNvSpPr/>
          <p:nvPr/>
        </p:nvSpPr>
        <p:spPr>
          <a:xfrm>
            <a:off x="5283277" y="6309320"/>
            <a:ext cx="16254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Toshkent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-202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5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407368" y="265354"/>
            <a:ext cx="1144927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uz-Cyrl-UZ" b="1" dirty="0">
                <a:latin typeface="Times New Roman" panose="02020603050405020304" pitchFamily="18" charset="0"/>
                <a:ea typeface="SimSun" panose="02010600030101010101" pitchFamily="2" charset="-122"/>
              </a:rPr>
              <a:t>O‘ZB</a:t>
            </a:r>
            <a:r>
              <a:rPr lang="en-US" b="1" dirty="0">
                <a:latin typeface="Times New Roman" panose="02020603050405020304" pitchFamily="18" charset="0"/>
                <a:ea typeface="SimSun" panose="02010600030101010101" pitchFamily="2" charset="-122"/>
              </a:rPr>
              <a:t>E</a:t>
            </a:r>
            <a:r>
              <a:rPr lang="uz-Cyrl-UZ" b="1" dirty="0">
                <a:latin typeface="Times New Roman" panose="02020603050405020304" pitchFamily="18" charset="0"/>
                <a:ea typeface="SimSun" panose="02010600030101010101" pitchFamily="2" charset="-122"/>
              </a:rPr>
              <a:t>KISTON R</a:t>
            </a:r>
            <a:r>
              <a:rPr lang="en-US" b="1" dirty="0">
                <a:latin typeface="Times New Roman" panose="02020603050405020304" pitchFamily="18" charset="0"/>
                <a:ea typeface="SimSun" panose="02010600030101010101" pitchFamily="2" charset="-122"/>
              </a:rPr>
              <a:t>E</a:t>
            </a:r>
            <a:r>
              <a:rPr lang="uz-Cyrl-UZ" b="1" dirty="0">
                <a:latin typeface="Times New Roman" panose="02020603050405020304" pitchFamily="18" charset="0"/>
                <a:ea typeface="SimSun" panose="02010600030101010101" pitchFamily="2" charset="-122"/>
              </a:rPr>
              <a:t>SPUBLIKASI </a:t>
            </a:r>
            <a:r>
              <a:rPr lang="en-US" b="1" dirty="0">
                <a:latin typeface="Times New Roman" panose="02020603050405020304" pitchFamily="18" charset="0"/>
                <a:ea typeface="SimSun" panose="02010600030101010101" pitchFamily="2" charset="-122"/>
              </a:rPr>
              <a:t>HARBIY XAVFSIZLIK VA MUDOFAA UNIVERSITETINING</a:t>
            </a:r>
            <a:endParaRPr lang="ru-RU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ctr"/>
            <a:r>
              <a:rPr lang="uz-Cyrl-UZ" b="1" dirty="0">
                <a:latin typeface="Times New Roman" panose="02020603050405020304" pitchFamily="18" charset="0"/>
                <a:ea typeface="SimSun" panose="02010600030101010101" pitchFamily="2" charset="-122"/>
              </a:rPr>
              <a:t> </a:t>
            </a:r>
            <a:endParaRPr lang="ru-RU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ctr"/>
            <a:r>
              <a:rPr lang="en-US" b="1" dirty="0">
                <a:latin typeface="Times New Roman" panose="02020603050405020304" pitchFamily="18" charset="0"/>
                <a:ea typeface="SimSun" panose="02010600030101010101" pitchFamily="2" charset="-122"/>
              </a:rPr>
              <a:t>AXBOROT-KOMMUNIKATSIYA TEXNOLOGIYALARI VA HARBIY ALOQA INSTITUTI</a:t>
            </a:r>
            <a:endParaRPr lang="ru-RU" dirty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12939" y="2852936"/>
            <a:ext cx="119661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ASIMMETRIK KRIPTOTIZIM PARAMETRLARINI GENERATSIYA QILISH ALGORITMLARINI YARATISH</a:t>
            </a:r>
            <a:endParaRPr lang="ru-RU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6096000" y="4320879"/>
            <a:ext cx="612274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Loyiha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rahbari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PhD,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Boboyev</a:t>
            </a:r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Nabi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Tohir</a:t>
            </a:r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o‘g‘li</a:t>
            </a:r>
            <a:endParaRPr lang="uz-Cyrl-UZ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>
                <a:latin typeface="Times New Roman" pitchFamily="18" charset="0"/>
                <a:cs typeface="Times New Roman" pitchFamily="18" charset="0"/>
              </a:rPr>
              <a:t>Axborot-kommunikatsiya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texnologiyalari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harbiy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aloqa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instituti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uz-Cyrl-UZ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tel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(+998 71)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502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-7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75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, (9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9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385-15-74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Е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mail: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crypton97@mail.ru</a:t>
            </a:r>
            <a:endParaRPr lang="uz-Cyrl-UZ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6535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Картинки по запросу &quot;shavkat mirziyoyev&quot;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0136" y="835802"/>
            <a:ext cx="3535389" cy="353539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Прямоугольник 1"/>
          <p:cNvSpPr>
            <a:spLocks noChangeArrowheads="1"/>
          </p:cNvSpPr>
          <p:nvPr/>
        </p:nvSpPr>
        <p:spPr bwMode="auto">
          <a:xfrm>
            <a:off x="1193295" y="1409787"/>
            <a:ext cx="4902705" cy="1532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None/>
            </a:pPr>
            <a:r>
              <a:rPr lang="ru-RU" sz="1800" b="1" dirty="0" err="1">
                <a:solidFill>
                  <a:srgbClr val="00008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Oʻzbekiston</a:t>
            </a:r>
            <a:r>
              <a:rPr lang="ru-RU" sz="1800" b="1" dirty="0">
                <a:solidFill>
                  <a:srgbClr val="00008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b="1" dirty="0" err="1">
                <a:solidFill>
                  <a:srgbClr val="00008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Respublikasida</a:t>
            </a:r>
            <a:r>
              <a:rPr lang="ru-RU" sz="1800" b="1" dirty="0">
                <a:solidFill>
                  <a:srgbClr val="00008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b="1" dirty="0" err="1">
                <a:solidFill>
                  <a:srgbClr val="00008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milliy</a:t>
            </a:r>
            <a:r>
              <a:rPr lang="ru-RU" sz="1800" b="1" dirty="0">
                <a:solidFill>
                  <a:srgbClr val="00008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b="1" dirty="0" err="1">
                <a:solidFill>
                  <a:srgbClr val="00008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kriptologiya</a:t>
            </a:r>
            <a:r>
              <a:rPr lang="ru-RU" sz="1800" b="1" dirty="0">
                <a:solidFill>
                  <a:srgbClr val="00008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b="1" dirty="0" err="1">
                <a:solidFill>
                  <a:srgbClr val="00008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sohasini</a:t>
            </a:r>
            <a:r>
              <a:rPr lang="ru-RU" sz="1800" b="1" dirty="0">
                <a:solidFill>
                  <a:srgbClr val="00008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b="1" dirty="0" err="1">
                <a:solidFill>
                  <a:srgbClr val="00008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rivojlantirishning</a:t>
            </a:r>
            <a:r>
              <a:rPr lang="ru-RU" sz="1800" b="1" dirty="0">
                <a:solidFill>
                  <a:srgbClr val="00008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b="1" dirty="0" err="1">
                <a:solidFill>
                  <a:srgbClr val="00008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dolzarb</a:t>
            </a:r>
            <a:r>
              <a:rPr lang="ru-RU" sz="1800" b="1" dirty="0">
                <a:solidFill>
                  <a:srgbClr val="00008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b="1" dirty="0" err="1">
                <a:solidFill>
                  <a:srgbClr val="00008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yoʻnalishlari</a:t>
            </a:r>
            <a:r>
              <a:rPr lang="ru-RU" sz="1800" b="1" dirty="0">
                <a:solidFill>
                  <a:srgbClr val="00008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b="1" dirty="0" err="1">
                <a:solidFill>
                  <a:srgbClr val="00008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boʻyicha</a:t>
            </a:r>
            <a:r>
              <a:rPr lang="ru-RU" sz="1800" b="1" dirty="0">
                <a:solidFill>
                  <a:srgbClr val="00008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2024 — 2028-yillarga </a:t>
            </a:r>
            <a:r>
              <a:rPr lang="ru-RU" sz="1800" b="1" dirty="0" err="1">
                <a:solidFill>
                  <a:srgbClr val="00008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moʻljallangan</a:t>
            </a:r>
            <a:r>
              <a:rPr lang="ru-RU" sz="1800" b="1" dirty="0">
                <a:solidFill>
                  <a:srgbClr val="00008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b="1" dirty="0" err="1">
                <a:solidFill>
                  <a:srgbClr val="00008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ilmiy-tadqiqot</a:t>
            </a:r>
            <a:r>
              <a:rPr lang="ru-RU" sz="1800" b="1" dirty="0">
                <a:solidFill>
                  <a:srgbClr val="00008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b="1" dirty="0" err="1">
                <a:solidFill>
                  <a:srgbClr val="00008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ishlari</a:t>
            </a:r>
            <a:r>
              <a:rPr lang="ru-RU" sz="1800" b="1" dirty="0">
                <a:solidFill>
                  <a:srgbClr val="00008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buNone/>
            </a:pPr>
            <a:r>
              <a:rPr lang="ru-RU" sz="1800" cap="all" dirty="0" err="1">
                <a:solidFill>
                  <a:srgbClr val="00008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dasturi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7145442" y="4390982"/>
            <a:ext cx="3884775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O‘zbekiston</a:t>
            </a:r>
            <a:r>
              <a:rPr lang="en-US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Respublikasi</a:t>
            </a:r>
            <a:r>
              <a:rPr lang="en-US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Prezidenti</a:t>
            </a:r>
            <a:r>
              <a:rPr lang="en-US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US" alt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Qurolli</a:t>
            </a:r>
            <a:r>
              <a:rPr lang="en-US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kuchlar</a:t>
            </a:r>
            <a:r>
              <a:rPr lang="en-US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Oliy</a:t>
            </a:r>
            <a:r>
              <a:rPr lang="en-US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Bosh </a:t>
            </a:r>
            <a:r>
              <a:rPr lang="en-US" alt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Qo‘mondoni</a:t>
            </a:r>
            <a:r>
              <a:rPr lang="en-US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Sh.M.Mirziyoyev</a:t>
            </a:r>
            <a:r>
              <a:rPr lang="en-US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endParaRPr lang="en-US" alt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1055440" y="4390982"/>
            <a:ext cx="4896545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2024-yil 15-avgustdagi PQ-293-sonli </a:t>
            </a:r>
            <a:r>
              <a:rPr lang="ru-RU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en-US" alt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Oʻzbekiston</a:t>
            </a:r>
            <a:r>
              <a:rPr lang="en-US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Respublikasida</a:t>
            </a:r>
            <a:r>
              <a:rPr lang="en-US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kriptologiya</a:t>
            </a:r>
            <a:r>
              <a:rPr lang="en-US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sohasida</a:t>
            </a:r>
            <a:r>
              <a:rPr lang="en-US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taʼlim</a:t>
            </a:r>
            <a:r>
              <a:rPr lang="en-US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ilm-fanni</a:t>
            </a:r>
            <a:r>
              <a:rPr lang="en-US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rivojlantirish</a:t>
            </a:r>
            <a:r>
              <a:rPr lang="en-US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boʻyicha</a:t>
            </a:r>
            <a:r>
              <a:rPr lang="en-US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qoʻshimcha</a:t>
            </a:r>
            <a:r>
              <a:rPr lang="en-US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chora-tadbirlar</a:t>
            </a:r>
            <a:r>
              <a:rPr lang="en-US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toʻgʻrisida</a:t>
            </a:r>
            <a:r>
              <a:rPr lang="ru-RU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r>
              <a:rPr lang="en-US" alt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</a:t>
            </a:r>
            <a:r>
              <a:rPr lang="ru-RU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Qarori</a:t>
            </a:r>
            <a:endParaRPr lang="ru-RU" alt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0" y="-27384"/>
            <a:ext cx="12192000" cy="620873"/>
          </a:xfrm>
          <a:prstGeom prst="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16200000" scaled="1"/>
            <a:tileRect/>
          </a:gradFill>
          <a:ln>
            <a:noFill/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444625" eaLnBrk="0" hangingPunct="0">
              <a:defRPr/>
            </a:pPr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LOYIHANING DOLZARBLIGI</a:t>
            </a:r>
            <a:endParaRPr lang="ru-RU" sz="2000" dirty="0">
              <a:ln w="11430">
                <a:solidFill>
                  <a:schemeClr val="tx2"/>
                </a:solidFill>
              </a:ln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0205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775520" y="144018"/>
            <a:ext cx="8784976" cy="908719"/>
          </a:xfrm>
          <a:prstGeom prst="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16200000" scaled="1"/>
            <a:tileRect/>
          </a:gradFill>
          <a:ln>
            <a:noFill/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444625" eaLnBrk="0" hangingPunct="0">
              <a:defRPr/>
            </a:pPr>
            <a:r>
              <a:rPr lang="ru-RU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ЛОЙИҲА НАТИЖАЛАРИНИНГ ТИЖОРАТЛАШТИРИШ </a:t>
            </a:r>
          </a:p>
          <a:p>
            <a:pPr algn="ctr" defTabSz="1444625" eaLnBrk="0" hangingPunct="0">
              <a:defRPr/>
            </a:pPr>
            <a:r>
              <a:rPr lang="ru-RU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САЛОҲИЯТИ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1775520" y="1340769"/>
            <a:ext cx="878497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uz-Cyrl-UZ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      Ҳозирги кунда амалиётда кенг фойдаланиб келинаётган DLP тизимларини сотиб олиш ва улардан 12 ой муддатда фойдаланиш ҳуқуқини ўз ичига олган лицензия нархлари таҳминан қуйидагича (нархлар 250 нафар фойдаланувчи учун кўрсатилган):</a:t>
            </a:r>
          </a:p>
          <a:p>
            <a:pPr algn="just"/>
            <a:r>
              <a:rPr lang="uz-Cyrl-UZ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uz-Cyrl-UZ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DeviceLock DLP––23000 $;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uz-Cyrl-UZ" sz="24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uz-Cyrl-UZ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Symantec Data Loss Prevention (DLP) Suite–20000 $;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uz-Cyrl-UZ" sz="24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uz-Cyrl-UZ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McAfee Total Protection for DLP –22500 $. </a:t>
            </a:r>
          </a:p>
        </p:txBody>
      </p:sp>
    </p:spTree>
    <p:extLst>
      <p:ext uri="{BB962C8B-B14F-4D97-AF65-F5344CB8AC3E}">
        <p14:creationId xmlns:p14="http://schemas.microsoft.com/office/powerpoint/2010/main" val="2521329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0" y="-27384"/>
            <a:ext cx="12192000" cy="620873"/>
          </a:xfrm>
          <a:prstGeom prst="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16200000" scaled="1"/>
            <a:tileRect/>
          </a:gradFill>
          <a:ln>
            <a:noFill/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444625" eaLnBrk="0" hangingPunct="0">
              <a:defRPr/>
            </a:pPr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LOYIHANING DOLZARBLIGI</a:t>
            </a:r>
            <a:endParaRPr lang="ru-RU" sz="2000" dirty="0">
              <a:ln w="11430">
                <a:solidFill>
                  <a:schemeClr val="tx2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95D142-2202-4B83-A5C9-C6ED1B3373BF}"/>
              </a:ext>
            </a:extLst>
          </p:cNvPr>
          <p:cNvSpPr txBox="1"/>
          <p:nvPr/>
        </p:nvSpPr>
        <p:spPr>
          <a:xfrm>
            <a:off x="555866" y="764704"/>
            <a:ext cx="11084750" cy="1906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44500" algn="just">
              <a:lnSpc>
                <a:spcPct val="120000"/>
              </a:lnSpc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Kvant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kompyuterlar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rivoji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mavjud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elliptik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egri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chiziq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EECh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kriptotizimlariga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jiddiy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xavf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tug‘dirayotgan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paytda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PQC ga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to‘liq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o‘tish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kamida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necha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yil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davom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etadi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Shu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o‘tish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davrida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milliy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xavfsizlikni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ta’minlash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O‘zbekiston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o‘zining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mustaqil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shaffof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matematik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asoslangan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EECh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parametrlarini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yaratishi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strategik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zaruratdir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Loyiha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harbiy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davlat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maxsus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aloqa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tizimlari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importga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qaram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bo‘lmagan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yuqori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darajadagi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xavfsizlikni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ta’minlaydi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BC5A37-5403-4F1D-A742-0C0246E6295F}"/>
              </a:ext>
            </a:extLst>
          </p:cNvPr>
          <p:cNvSpPr txBox="1"/>
          <p:nvPr/>
        </p:nvSpPr>
        <p:spPr>
          <a:xfrm>
            <a:off x="555866" y="2996952"/>
            <a:ext cx="11084750" cy="3384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Loyihaning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dolzarbligini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asoslovchi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omillar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Milliy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standart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yo‘qligi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Hozirda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O‘zbekistonda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EECh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parametrlarini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generatsiya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qilish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bo‘yicha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milliy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standart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mavjud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emas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tizimlar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xorijiy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egri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chiziqlarga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tayanadi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Kvant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tahdidlarining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kuchayishi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PQC ga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o‘tish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jarayoni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uzoq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davom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etadi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bois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EECh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kuchaytirish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shaffof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parametrlar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yaratish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dolzarb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Harbiy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maxsus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tizimlar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ehtiyoji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Dronlar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radioaloqa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maxfiy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kanallar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mustaqil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generatsiya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qilingan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ishonchli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kriptografik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parametrlar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talab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etiladi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Iqtisodiy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texnologik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foyda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Milliy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kriptomodullar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chiqarish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imkoniyati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yaratiladi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importga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qaramlik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kamayadi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ilmiy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maktab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shakllanadi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53262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-27384"/>
            <a:ext cx="12184298" cy="620873"/>
          </a:xfrm>
          <a:prstGeom prst="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16200000" scaled="1"/>
            <a:tileRect/>
          </a:gradFill>
          <a:ln>
            <a:noFill/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444625" eaLnBrk="0" hangingPunct="0">
              <a:defRPr/>
            </a:pPr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LOYIHANING MAQSADI</a:t>
            </a:r>
            <a:endParaRPr lang="ru-RU" sz="2000" dirty="0">
              <a:ln w="11430">
                <a:solidFill>
                  <a:schemeClr val="tx2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681537" y="1844824"/>
            <a:ext cx="10821224" cy="27959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4500" algn="just" defTabSz="1280160">
              <a:lnSpc>
                <a:spcPct val="150000"/>
              </a:lnSpc>
              <a:defRPr/>
            </a:pPr>
            <a:r>
              <a:rPr lang="en-US" sz="2400" b="1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Loyihaning</a:t>
            </a:r>
            <a:r>
              <a:rPr lang="en-US" sz="2400" b="1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sz="2400" b="1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maqsadi</a:t>
            </a:r>
            <a:r>
              <a:rPr lang="en-US" sz="2400" b="1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asimmetrik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kriptotizimlar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yuqori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xavfsizlik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darajasi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(128, 192, 256 bit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undan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yuqori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) ga,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resurslari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cheklangan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qurilmalarda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qo‘llash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imkoniyatiga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ega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bo‘lgan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milliy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kriptostandartlar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asos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bo‘la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oladigan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parametrlar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to‘plamini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ta’minlaydigan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deterministik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ehtimoliy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parametr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generatsiya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algoritmlarini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yaratishdan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iborat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ln w="11430"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7623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1505" y="980730"/>
            <a:ext cx="8928992" cy="5760639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841367" y="116633"/>
            <a:ext cx="8633258" cy="620873"/>
          </a:xfrm>
          <a:prstGeom prst="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16200000" scaled="1"/>
            <a:tileRect/>
          </a:gradFill>
          <a:ln>
            <a:noFill/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444625" eaLnBrk="0" hangingPunct="0">
              <a:defRPr/>
            </a:pPr>
            <a:r>
              <a:rPr lang="ru-RU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ЛОЙИ</a:t>
            </a:r>
            <a:r>
              <a:rPr lang="uz-Cyrl-UZ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ҲАНИНГ МАҚСАДИ</a:t>
            </a:r>
            <a:endParaRPr lang="ru-RU" sz="2000" dirty="0">
              <a:ln w="11430">
                <a:solidFill>
                  <a:schemeClr val="tx2"/>
                </a:solidFill>
              </a:ln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2146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C:\Users\тттттттт\Desktop\111.jpg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0" t="34228" r="2334" b="12081"/>
          <a:stretch/>
        </p:blipFill>
        <p:spPr bwMode="auto">
          <a:xfrm>
            <a:off x="1919537" y="1700808"/>
            <a:ext cx="8555088" cy="288032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Прямоугольник 6"/>
          <p:cNvSpPr/>
          <p:nvPr/>
        </p:nvSpPr>
        <p:spPr>
          <a:xfrm>
            <a:off x="1841367" y="287848"/>
            <a:ext cx="8633258" cy="620873"/>
          </a:xfrm>
          <a:prstGeom prst="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16200000" scaled="1"/>
            <a:tileRect/>
          </a:gradFill>
          <a:ln>
            <a:noFill/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444625" eaLnBrk="0" hangingPunct="0">
              <a:defRPr/>
            </a:pPr>
            <a:r>
              <a:rPr lang="ru-RU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ЛОЙИ</a:t>
            </a:r>
            <a:r>
              <a:rPr lang="uz-Cyrl-UZ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ҲАНИНГ МАҚСАДИ</a:t>
            </a:r>
            <a:endParaRPr lang="ru-RU" sz="2000" dirty="0">
              <a:ln w="11430">
                <a:solidFill>
                  <a:schemeClr val="tx2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919536" y="4797153"/>
            <a:ext cx="855508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Конфиденциал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электрон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маълумотларни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кафолатли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ҳимоялаш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мажмуаси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564252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-27384"/>
            <a:ext cx="12192000" cy="620873"/>
          </a:xfrm>
          <a:prstGeom prst="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16200000" scaled="1"/>
            <a:tileRect/>
          </a:gradFill>
          <a:ln>
            <a:noFill/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444625" eaLnBrk="0" hangingPunct="0">
              <a:defRPr/>
            </a:pPr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LOYIHANING VAZIFALARI</a:t>
            </a:r>
            <a:endParaRPr lang="ru-RU" sz="2000" dirty="0">
              <a:ln w="11430">
                <a:solidFill>
                  <a:schemeClr val="tx2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A9E1B71-2D4E-45FD-9DE8-AF1DF3C2E2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360" y="2025506"/>
            <a:ext cx="11521280" cy="2806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Mavjud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xalqaro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r>
              <a:rPr kumimoji="0" lang="en-US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ECh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parametr-generatsiya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usullarini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(NIST,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Brainpool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GOST, SM2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b.)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tahlil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qilish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xavfsizlik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hamda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samaradorlik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bo‘yicha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mezonlar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tizimini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ishlab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chiqish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maydon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moduli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ru-RU" altLang="ru-RU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egri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chiziq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koeffitsiyentlari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ru-RU" altLang="ru-RU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a, b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bazaviy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nuqta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ru-RU" altLang="ru-RU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uning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tartibi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ru-RU" altLang="ru-RU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ni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shakllantirish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matematik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jihatdan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asoslangan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algoritmik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mexanizmlarni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ishlab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chiqish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128/192/256-bit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undan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yuqori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xavfsizlik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darajalari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deterministik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seed+hash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ehtimoliy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(DRBG,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apparat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RNG)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parametr-generatsiya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algoritmlarini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yaratish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ularni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solishtirish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161340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-27384"/>
            <a:ext cx="12192000" cy="620873"/>
          </a:xfrm>
          <a:prstGeom prst="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16200000" scaled="1"/>
            <a:tileRect/>
          </a:gradFill>
          <a:ln>
            <a:noFill/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444625" eaLnBrk="0" hangingPunct="0">
              <a:defRPr/>
            </a:pPr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LOYIHANING VAZIFALARI</a:t>
            </a:r>
            <a:endParaRPr lang="ru-RU" sz="2000" dirty="0">
              <a:ln w="11430">
                <a:solidFill>
                  <a:schemeClr val="tx2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A9E1B71-2D4E-45FD-9DE8-AF1DF3C2E2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368" y="1151453"/>
            <a:ext cx="11377264" cy="4555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Yaratuvchi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algoritmlarni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MOV, CM,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kichik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bo‘linuvchi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tartiblar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backdoor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tasodifiylik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boshqa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kriptotahlil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mezonlari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bo‘yicha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baholash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xatarlar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modeliga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ravishda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xavfsizlikni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isbotlash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Algoritmlarni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resurslari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cheklangan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qurilmalar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mobil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harbiy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modullar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umumiy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maqsadli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platformalar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dasturiy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modullar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kutubxonalar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ko‘rinishida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implementatsiya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qilish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tezlik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resurs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sarfini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tajribaviy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tahlil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qilish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O‘zbekiston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milliy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EECh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parametrlar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bazasini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ulardan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foydalanish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bo‘yicha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metodik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ko‘rsatmalarni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milliy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kriptostandart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loyihasini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ishlab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chiqish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Loyiha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bo‘yicha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yakuniy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ilmiy-texnik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hisobot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texnik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pasportlar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amaliyotga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joriy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etish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bo‘yicha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taklif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tavsiyalarni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tayyorlash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35503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-27384"/>
            <a:ext cx="12184298" cy="620873"/>
          </a:xfrm>
          <a:prstGeom prst="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16200000" scaled="1"/>
            <a:tileRect/>
          </a:gradFill>
          <a:ln>
            <a:noFill/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444625" eaLnBrk="0" hangingPunct="0">
              <a:defRPr/>
            </a:pPr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TADQIQOTNING ILMIY YANGILIGI</a:t>
            </a:r>
            <a:endParaRPr lang="ru-RU" sz="2000" dirty="0">
              <a:ln w="11430">
                <a:solidFill>
                  <a:schemeClr val="tx2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56074D-B48B-470D-92BF-95FF6FD219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661" y="871344"/>
            <a:ext cx="10702678" cy="5115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O‘zbekistonda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birinchi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marta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elliptik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egri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chiziq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EECh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asosidagi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asimmetrik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kriptotizimlar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mustaqil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shaffof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tekshiriladigan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parametr-generatsiya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algoritmi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ishlab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chiqiladi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Parametrlarni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ru-RU" altLang="ru-RU" sz="20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p, a, b, G, 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generatsiya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qilishda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deterministik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seed-based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yondashuvning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yangi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matematik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asoslangan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varianti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taklif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qilinadi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yondashuv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backdoor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bo‘lish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ehtimolini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nolga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yaqinlashtiradi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Tasodifiy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probabilistik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parametr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generatsiyasi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DRBG,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apparat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RNG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qo‘shimcha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entropiya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manbalarini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birlashtiruvchi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integral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ishlab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chiqiladi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bunday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mavjud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xalqaro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standartlarda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to‘liq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ko‘rinishda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berilmagan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Generatsiya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qilingan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parametrlarni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filtrlash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anomaliya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CM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zaifligi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kichik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bo‘linuvchi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tartiblar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embedding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degree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J-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invariant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asosida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ishlaydigan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avtomatik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matematik-verifikatsiya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mexanizmi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yaratiladi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461919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756074D-B48B-470D-92BF-95FF6FD219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58" y="593489"/>
            <a:ext cx="11528982" cy="6077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Parametr-generatsiya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jarayonining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to‘liq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shaffoflikni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ta’minlaydigan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deterministik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izohlanuvchi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sxemasi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verifiable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randomness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taklif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qilinadi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NIST P-256/P-384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egri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chiziqlaridagi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mavjud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noaniqliklarni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yumshatadi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128/192/256+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xavfsizlik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darajalari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yangi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milliy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EECh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parametrlar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to‘plami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national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ECC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profiles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matematik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jihatdan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asoslab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ishlab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chiqiladi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O‘zbekiston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ilk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fundamental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natija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bo‘ladi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Parametr-generatsiya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algoritmlarining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mobil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harbiy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sensor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tarmoqlari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kabi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resurslari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cheklangan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qurilmalar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optimallashtirilgan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versiyasi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yaratiladi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bunda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arifmetik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amallar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minimal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xotira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energiya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talabiga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moslashtiriladi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Yaratuvchi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algoritmlar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MOV, CM, ECDLP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murakkabligi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twist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hujumlari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boshqa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kriptotahlil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mezonlari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bo‘yicha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rasmiy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baholash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metodologiyasi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qatorda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qo‘llaniladi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bunday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integral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yondashuv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amaldagi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standartlarda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to‘liq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yoritilmagan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Parametr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generatsiyasi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natijalarini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xalqaro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egri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chiziqlar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(Curve25519,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Brainpool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SM2, NIST P-256)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taqqoslab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ularning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ustunlik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cheklovlarini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baholovchi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yangi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analitik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yaratiladi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C1F5F8D-83A1-4956-99C5-7EA97F52A961}"/>
              </a:ext>
            </a:extLst>
          </p:cNvPr>
          <p:cNvSpPr/>
          <p:nvPr/>
        </p:nvSpPr>
        <p:spPr>
          <a:xfrm>
            <a:off x="0" y="-27384"/>
            <a:ext cx="12184298" cy="620873"/>
          </a:xfrm>
          <a:prstGeom prst="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16200000" scaled="1"/>
            <a:tileRect/>
          </a:gradFill>
          <a:ln>
            <a:noFill/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444625" eaLnBrk="0" hangingPunct="0">
              <a:defRPr/>
            </a:pPr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TADQIQOTNING ILMIY YANGILIGI</a:t>
            </a:r>
            <a:endParaRPr lang="ru-RU" sz="2000" dirty="0">
              <a:ln w="11430">
                <a:solidFill>
                  <a:schemeClr val="tx2"/>
                </a:solidFill>
              </a:ln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35947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Таблица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8125335"/>
              </p:ext>
            </p:extLst>
          </p:nvPr>
        </p:nvGraphicFramePr>
        <p:xfrm>
          <a:off x="1991544" y="764704"/>
          <a:ext cx="8287080" cy="3655118"/>
        </p:xfrm>
        <a:graphic>
          <a:graphicData uri="http://schemas.openxmlformats.org/drawingml/2006/table">
            <a:tbl>
              <a:tblPr/>
              <a:tblGrid>
                <a:gridCol w="626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306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62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31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421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т/р</a:t>
                      </a:r>
                      <a:endParaRPr kumimoji="0" lang="ru-RU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5050" marR="45050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2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Номи </a:t>
                      </a:r>
                      <a:endParaRPr kumimoji="0" lang="ru-RU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5050" marR="45050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2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2020 йил</a:t>
                      </a:r>
                      <a:endParaRPr kumimoji="0" lang="ru-RU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5050" marR="45050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2021 йил 3-чорак</a:t>
                      </a:r>
                      <a:endParaRPr kumimoji="0" lang="ru-RU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5050" marR="45050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21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</a:t>
                      </a:r>
                      <a:endParaRPr kumimoji="0" lang="ru-RU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5050" marR="45050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Дастурий махсулотларга гувоҳномалар сони, жумладан</a:t>
                      </a:r>
                      <a:endParaRPr kumimoji="0" lang="ru-RU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5050" marR="45050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kumimoji="0" lang="ru-RU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5050" marR="45050" marT="0" marB="0" anchor="ctr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</a:t>
                      </a:r>
                      <a:endParaRPr kumimoji="0" lang="ru-RU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5050" marR="45050" marT="0" marB="0" anchor="ctr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1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2.</a:t>
                      </a:r>
                      <a:endParaRPr kumimoji="0" lang="ru-RU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5050" marR="45050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Амалиётга жорий этилган ишларнинг сони</a:t>
                      </a:r>
                      <a:endParaRPr kumimoji="0" lang="ru-RU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5050" marR="45050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kumimoji="0" lang="ru-RU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5050" marR="45050" marT="0" marB="0" anchor="ctr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kumimoji="0" lang="ru-RU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5050" marR="45050" marT="0" marB="0" anchor="ctr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1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3.</a:t>
                      </a:r>
                      <a:endParaRPr kumimoji="0" lang="ru-RU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5050" marR="45050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Чоп этилган мақолалар сони, жумладан</a:t>
                      </a:r>
                      <a:endParaRPr kumimoji="0" lang="ru-RU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5050" marR="45050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113</a:t>
                      </a:r>
                      <a:endParaRPr kumimoji="0" lang="ru-RU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5050" marR="45050" marT="0" marB="0" anchor="ctr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r>
                        <a:rPr kumimoji="0" 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kumimoji="0" lang="ru-RU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5050" marR="45050" marT="0" marB="0" anchor="ctr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1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kumimoji="0" lang="ru-RU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5050" marR="45050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Республика журналларида</a:t>
                      </a:r>
                      <a:endParaRPr kumimoji="0" lang="ru-RU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5050" marR="45050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99</a:t>
                      </a:r>
                      <a:endParaRPr kumimoji="0" lang="ru-RU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5050" marR="45050" marT="0" marB="0" anchor="ctr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91</a:t>
                      </a:r>
                      <a:endParaRPr kumimoji="0" lang="ru-RU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5050" marR="45050" marT="0" marB="0" anchor="ctr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1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kumimoji="0" lang="ru-RU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5050" marR="45050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Хорижий журналларда</a:t>
                      </a:r>
                      <a:endParaRPr kumimoji="0" lang="ru-RU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5050" marR="45050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14</a:t>
                      </a:r>
                      <a:endParaRPr kumimoji="0" lang="ru-RU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5050" marR="45050" marT="0" marB="0" anchor="ctr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16</a:t>
                      </a:r>
                      <a:endParaRPr kumimoji="0" lang="ru-RU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5050" marR="45050" marT="0" marB="0" anchor="ctr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1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4.</a:t>
                      </a:r>
                      <a:endParaRPr kumimoji="0" lang="ru-RU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5050" marR="45050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Чоп этилган тезислар сони, жумладан</a:t>
                      </a:r>
                      <a:endParaRPr kumimoji="0" lang="ru-RU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5050" marR="45050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70</a:t>
                      </a:r>
                      <a:endParaRPr kumimoji="0" lang="ru-RU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5050" marR="45050" marT="0" marB="0" anchor="ctr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r>
                        <a:rPr kumimoji="0" 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kumimoji="0" lang="ru-RU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5050" marR="45050" marT="0" marB="0" anchor="ctr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1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kumimoji="0" lang="ru-RU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5050" marR="45050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Республика миқиёсидаги анжуманларда</a:t>
                      </a:r>
                      <a:endParaRPr kumimoji="0" lang="ru-RU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5050" marR="45050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63</a:t>
                      </a:r>
                      <a:endParaRPr kumimoji="0" lang="ru-RU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5050" marR="45050" marT="0" marB="0" anchor="ctr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62</a:t>
                      </a:r>
                      <a:endParaRPr kumimoji="0" lang="ru-RU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5050" marR="45050" marT="0" marB="0" anchor="ctr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1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5050" marR="45050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Ҳалқаро ва хорижий анжуманларда</a:t>
                      </a:r>
                      <a:endParaRPr kumimoji="0" lang="ru-RU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5050" marR="45050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kumimoji="0" lang="ru-RU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5050" marR="45050" marT="0" marB="0" anchor="ctr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25</a:t>
                      </a:r>
                      <a:endParaRPr kumimoji="0" lang="ru-RU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5050" marR="45050" marT="0" marB="0" anchor="ctr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19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kumimoji="0" lang="ru-RU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5050" marR="45050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Жами:</a:t>
                      </a:r>
                      <a:endParaRPr kumimoji="0" lang="ru-RU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5050" marR="45050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189</a:t>
                      </a:r>
                      <a:endParaRPr kumimoji="0" lang="ru-RU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5050" marR="45050" marT="0" marB="0" anchor="ctr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216</a:t>
                      </a:r>
                      <a:endParaRPr kumimoji="0" lang="ru-RU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5050" marR="45050" marT="0" marB="0" anchor="ctr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2" name="Таблица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6221602"/>
              </p:ext>
            </p:extLst>
          </p:nvPr>
        </p:nvGraphicFramePr>
        <p:xfrm>
          <a:off x="1991544" y="4437112"/>
          <a:ext cx="8287080" cy="2219200"/>
        </p:xfrm>
        <a:graphic>
          <a:graphicData uri="http://schemas.openxmlformats.org/drawingml/2006/table">
            <a:tbl>
              <a:tblPr firstRow="1" firstCol="1" bandRow="1">
                <a:tableStyleId>{E8B1032C-EA38-4F05-BA0D-38AFFFC7BED3}</a:tableStyleId>
              </a:tblPr>
              <a:tblGrid>
                <a:gridCol w="627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5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67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68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0377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uz-Cyrl-UZ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т/р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29" marR="45129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uz-Cyrl-UZ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Номи 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29" marR="45129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uz-Cyrl-UZ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2020 йил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29" marR="45129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uz-Cyrl-UZ" sz="20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2021 йил 3-чорак</a:t>
                      </a:r>
                      <a:endParaRPr lang="ru-RU" sz="2000" b="1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129" marR="45129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78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29" marR="45129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20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Дарсликлар</a:t>
                      </a:r>
                      <a:endParaRPr lang="ru-RU" sz="2000" b="0" i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29" marR="45129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uz-Cyrl-UZ" sz="2000" b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ru-RU" sz="20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29" marR="45129" marT="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ru-RU" sz="20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29" marR="45129" marT="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78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29" marR="45129" marT="0" marB="0"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uz-Cyrl-UZ" sz="20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Монография </a:t>
                      </a:r>
                      <a:endParaRPr lang="ru-RU" sz="20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29" marR="45129" marT="0" marB="0"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uz-Cyrl-UZ" sz="2000" b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ru-RU" sz="20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29" marR="45129" marT="0" marB="0" anchor="ctr"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ru-RU" sz="20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29" marR="45129" marT="0" marB="0" anchor="ctr"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778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29" marR="45129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z-Cyrl-UZ" sz="20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Ўқув қўлланмалар</a:t>
                      </a:r>
                      <a:endParaRPr lang="ru-RU" sz="2000" b="0" i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29" marR="45129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uz-Cyrl-UZ" sz="2000" b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ru-RU" sz="20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29" marR="45129" marT="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ru-RU" sz="20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29" marR="45129" marT="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778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2000" i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2000" i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29" marR="45129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uz-Cyrl-UZ" sz="2000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Жами:</a:t>
                      </a:r>
                      <a:endParaRPr lang="ru-RU" sz="2000" b="1" i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29" marR="45129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uz-Cyrl-UZ" sz="2000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  <a:endParaRPr lang="ru-RU" sz="2000" b="1" i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29" marR="45129" marT="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</a:t>
                      </a:r>
                      <a:endParaRPr lang="ru-RU" sz="2000" b="1" i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29" marR="45129" marT="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1841367" y="44625"/>
            <a:ext cx="8633258" cy="620873"/>
          </a:xfrm>
          <a:prstGeom prst="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16200000" scaled="1"/>
            <a:tileRect/>
          </a:gradFill>
          <a:ln>
            <a:noFill/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444625" eaLnBrk="0" hangingPunct="0">
              <a:defRPr/>
            </a:pPr>
            <a:r>
              <a:rPr lang="ru-RU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ЛОЙИҲА ИЖРОЧИЛАРИНИНГ РЕСУРС ИМКОНИЯТЛАРИ</a:t>
            </a:r>
          </a:p>
        </p:txBody>
      </p:sp>
    </p:spTree>
    <p:extLst>
      <p:ext uri="{BB962C8B-B14F-4D97-AF65-F5344CB8AC3E}">
        <p14:creationId xmlns:p14="http://schemas.microsoft.com/office/powerpoint/2010/main" val="6115143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 descr="C:\Users\Admin\Desktop\22\IMG_20200924_150940.jp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5430" y="928126"/>
            <a:ext cx="3401203" cy="2531704"/>
          </a:xfrm>
          <a:prstGeom prst="rect">
            <a:avLst/>
          </a:prstGeom>
          <a:noFill/>
          <a:ln>
            <a:noFill/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3"/>
          <a:srcRect l="21584" t="103" r="15933" b="-103"/>
          <a:stretch/>
        </p:blipFill>
        <p:spPr>
          <a:xfrm>
            <a:off x="2225430" y="3789041"/>
            <a:ext cx="3401203" cy="2473327"/>
          </a:xfrm>
          <a:prstGeom prst="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8" name="Рисунок 7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18"/>
          <a:stretch/>
        </p:blipFill>
        <p:spPr>
          <a:xfrm>
            <a:off x="6240016" y="3789040"/>
            <a:ext cx="3618260" cy="2631010"/>
          </a:xfrm>
          <a:prstGeom prst="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" r="3322"/>
          <a:stretch/>
        </p:blipFill>
        <p:spPr>
          <a:xfrm>
            <a:off x="6240016" y="920194"/>
            <a:ext cx="3618261" cy="2631170"/>
          </a:xfrm>
          <a:prstGeom prst="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10" name="Прямоугольник 9"/>
          <p:cNvSpPr/>
          <p:nvPr/>
        </p:nvSpPr>
        <p:spPr>
          <a:xfrm>
            <a:off x="1841367" y="116633"/>
            <a:ext cx="8633258" cy="620873"/>
          </a:xfrm>
          <a:prstGeom prst="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16200000" scaled="1"/>
            <a:tileRect/>
          </a:gradFill>
          <a:ln>
            <a:noFill/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444625" eaLnBrk="0" hangingPunct="0">
              <a:defRPr/>
            </a:pPr>
            <a:r>
              <a:rPr lang="ru-RU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ЛОЙИҲА ИЖРОЧИЛАРИНИНГ РЕСУРС ИМКОНИЯТЛАРИ</a:t>
            </a:r>
          </a:p>
        </p:txBody>
      </p:sp>
    </p:spTree>
    <p:extLst>
      <p:ext uri="{BB962C8B-B14F-4D97-AF65-F5344CB8AC3E}">
        <p14:creationId xmlns:p14="http://schemas.microsoft.com/office/powerpoint/2010/main" val="18363080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931020"/>
              </p:ext>
            </p:extLst>
          </p:nvPr>
        </p:nvGraphicFramePr>
        <p:xfrm>
          <a:off x="551384" y="772119"/>
          <a:ext cx="11089233" cy="5313761"/>
        </p:xfrm>
        <a:graphic>
          <a:graphicData uri="http://schemas.openxmlformats.org/drawingml/2006/table">
            <a:tbl>
              <a:tblPr firstRow="1" firstCol="1">
                <a:tableStyleId>{5940675A-B579-460E-94D1-54222C63F5DA}</a:tableStyleId>
              </a:tblPr>
              <a:tblGrid>
                <a:gridCol w="877589">
                  <a:extLst>
                    <a:ext uri="{9D8B030D-6E8A-4147-A177-3AD203B41FA5}">
                      <a16:colId xmlns:a16="http://schemas.microsoft.com/office/drawing/2014/main" val="3636845309"/>
                    </a:ext>
                  </a:extLst>
                </a:gridCol>
                <a:gridCol w="5129079">
                  <a:extLst>
                    <a:ext uri="{9D8B030D-6E8A-4147-A177-3AD203B41FA5}">
                      <a16:colId xmlns:a16="http://schemas.microsoft.com/office/drawing/2014/main" val="567985935"/>
                    </a:ext>
                  </a:extLst>
                </a:gridCol>
                <a:gridCol w="5082565">
                  <a:extLst>
                    <a:ext uri="{9D8B030D-6E8A-4147-A177-3AD203B41FA5}">
                      <a16:colId xmlns:a16="http://schemas.microsoft.com/office/drawing/2014/main" val="1109941246"/>
                    </a:ext>
                  </a:extLst>
                </a:gridCol>
              </a:tblGrid>
              <a:tr h="24666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uz-Cyrl-UZ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№</a:t>
                      </a:r>
                      <a:endParaRPr lang="ru-RU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F.I.O</a:t>
                      </a:r>
                      <a:r>
                        <a:rPr lang="uz-Cyrl-UZ" sz="16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ru-RU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Loyihadagi ishtiroki </a:t>
                      </a:r>
                      <a:r>
                        <a:rPr lang="uz-Cyrl-UZ" sz="16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lavozimi</a:t>
                      </a:r>
                      <a:r>
                        <a:rPr lang="uz-Cyrl-UZ" sz="16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ru-RU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82362721"/>
                  </a:ext>
                </a:extLst>
              </a:tr>
              <a:tr h="270440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uz-Cyrl-UZ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88900" algn="l"/>
                          <a:tab pos="177800" algn="l"/>
                        </a:tabLst>
                      </a:pP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Boboyev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Nabi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Tohir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o‘g‘li</a:t>
                      </a: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Loyiha rahbari</a:t>
                      </a:r>
                      <a:r>
                        <a:rPr lang="uz-Cyrl-UZ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PhD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10540961"/>
                  </a:ext>
                </a:extLst>
              </a:tr>
              <a:tr h="270440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uz-Cyrl-UZ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88900" algn="l"/>
                          <a:tab pos="177800" algn="l"/>
                        </a:tabLst>
                      </a:pP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Raximov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Baxtiyorjon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Ne’matovich</a:t>
                      </a:r>
                      <a:endParaRPr lang="ru-RU" sz="18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uz-Cyrl-UZ" sz="18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Бош илмий ходим, фан доктори</a:t>
                      </a:r>
                      <a:endParaRPr lang="uz-Cyrl-UZ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004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uz-Cyrl-UZ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kumimoji="0" lang="en-US" sz="1800" kern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To‘rayev</a:t>
                      </a:r>
                      <a:r>
                        <a:rPr kumimoji="0" lang="en-US" sz="18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1800" kern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Botir</a:t>
                      </a:r>
                      <a:r>
                        <a:rPr kumimoji="0" lang="en-US" sz="18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1800" kern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Zokirovich</a:t>
                      </a:r>
                      <a:endParaRPr kumimoji="0" lang="ru-RU" sz="18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uz-Cyrl-UZ" sz="18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Етакчи илмий ходим, фан доктори</a:t>
                      </a:r>
                      <a:endParaRPr lang="ru-RU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3922815104"/>
                  </a:ext>
                </a:extLst>
              </a:tr>
              <a:tr h="271004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uz-Cyrl-UZ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Turapov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Sherzod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Nurmatovich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endParaRPr lang="ru-RU" sz="18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uz-Cyrl-UZ" sz="18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Етакчи илмий ходим,</a:t>
                      </a:r>
                      <a:r>
                        <a:rPr lang="uz-Cyrl-UZ" sz="1800" baseline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фан номзоди</a:t>
                      </a:r>
                      <a:endParaRPr lang="ru-RU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4165772307"/>
                  </a:ext>
                </a:extLst>
              </a:tr>
              <a:tr h="313386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uz-Cyrl-UZ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tabLst>
                          <a:tab pos="88900" algn="l"/>
                          <a:tab pos="177800" algn="l"/>
                        </a:tabLst>
                      </a:pP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Shafeyev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Axmed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Nailevich</a:t>
                      </a:r>
                      <a:endParaRPr lang="ru-RU" sz="18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z-Cyrl-UZ" sz="18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Катта илмий ходим</a:t>
                      </a:r>
                      <a:r>
                        <a:rPr lang="en-US" sz="18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1800" baseline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uz-Cyrl-UZ" sz="1800" baseline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фан номзоди</a:t>
                      </a:r>
                      <a:endParaRPr lang="ru-RU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1004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uz-Cyrl-UZ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Allanov</a:t>
                      </a:r>
                      <a:r>
                        <a:rPr lang="ru-RU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Orif</a:t>
                      </a:r>
                      <a:r>
                        <a:rPr lang="ru-RU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Menglimuratovich</a:t>
                      </a:r>
                      <a:endParaRPr lang="ru-RU" sz="18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z-Cyrl-UZ" sz="18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Катта илмий ходим,</a:t>
                      </a:r>
                      <a:r>
                        <a:rPr lang="en-US" sz="18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PhD</a:t>
                      </a:r>
                      <a:endParaRPr lang="ru-RU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37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uz-Cyrl-UZ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Yusupov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Bahodir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Karamatovich</a:t>
                      </a:r>
                      <a:endParaRPr lang="ru-RU" sz="18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z-Cyrl-UZ" sz="18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Катта илмий ходим,</a:t>
                      </a:r>
                      <a:r>
                        <a:rPr lang="en-US" sz="18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PhD</a:t>
                      </a:r>
                      <a:endParaRPr lang="ru-RU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uz-Cyrl-UZ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8.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Komilov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 Alisher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Abdumannob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o‘g‘li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ru-RU" sz="18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uz-Cyrl-UZ" sz="18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Катта илмий ходим,</a:t>
                      </a:r>
                      <a:r>
                        <a:rPr lang="en-US" sz="18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PhD</a:t>
                      </a:r>
                      <a:endParaRPr lang="ru-RU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1004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uz-Cyrl-UZ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9.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uz-Cyrl-UZ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Xayitov Davronbek Dilshodbek o‘g‘li</a:t>
                      </a:r>
                      <a:endParaRPr lang="ru-RU" sz="18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z-Cyrl-UZ" sz="18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Катта илмий ходим,</a:t>
                      </a:r>
                      <a:r>
                        <a:rPr lang="en-US" sz="18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PhD</a:t>
                      </a:r>
                      <a:endParaRPr lang="ru-RU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42008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uz-Cyrl-UZ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10.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Isakov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Muxriddin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Marifjon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o‘g‘li</a:t>
                      </a:r>
                      <a:endParaRPr lang="ru-RU" sz="18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Катта илмий ходим 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 йилдан ортиқ илмий тажрибага эга)</a:t>
                      </a:r>
                      <a:endParaRPr lang="ru-RU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42008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uz-Cyrl-UZ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11.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Fayzullayev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Arslonbek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Xayrulla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o‘g‘li</a:t>
                      </a:r>
                      <a:endParaRPr lang="ru-RU" sz="18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Катта илмий ходим 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 йилдан ортиқ илмий тажрибага эга)</a:t>
                      </a:r>
                      <a:endParaRPr lang="ru-RU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42008">
                <a:tc>
                  <a:txBody>
                    <a:bodyPr/>
                    <a:lstStyle/>
                    <a:p>
                      <a:pPr algn="ctr"/>
                      <a:r>
                        <a:rPr lang="uz-Cyrl-UZ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12.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Qodomboyev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Rasulbek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O‘tkir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o‘g‘li</a:t>
                      </a:r>
                      <a:endParaRPr lang="ru-RU" sz="18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Катта илмий ходим 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 йилдан ортиқ илмий тажрибага эга)</a:t>
                      </a:r>
                      <a:endParaRPr lang="ru-RU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542008">
                <a:tc>
                  <a:txBody>
                    <a:bodyPr/>
                    <a:lstStyle/>
                    <a:p>
                      <a:pPr algn="ctr"/>
                      <a:r>
                        <a:rPr lang="uz-Cyrl-UZ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Ortiqboyev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 Akbar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Murodullayevich</a:t>
                      </a:r>
                      <a:endParaRPr lang="ru-RU" sz="18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Катта илмий ходим </a:t>
                      </a:r>
                    </a:p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 йилдан ортиқ илмий тажрибага эга)</a:t>
                      </a:r>
                      <a:endParaRPr lang="ru-RU" sz="18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406914346"/>
                  </a:ext>
                </a:extLst>
              </a:tr>
              <a:tr h="271004">
                <a:tc>
                  <a:txBody>
                    <a:bodyPr/>
                    <a:lstStyle/>
                    <a:p>
                      <a:pPr algn="ctr"/>
                      <a:r>
                        <a:rPr lang="uz-Cyrl-UZ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14.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Mardiyev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 Ulugbek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Rasulovich</a:t>
                      </a:r>
                      <a:endParaRPr lang="ru-RU" sz="18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Cyrl-UZ" sz="180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Стажер тадқиқотчи</a:t>
                      </a:r>
                      <a:endParaRPr lang="ru-RU" sz="1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3397519229"/>
                  </a:ext>
                </a:extLst>
              </a:tr>
            </a:tbl>
          </a:graphicData>
        </a:graphic>
      </p:graphicFrame>
      <p:sp>
        <p:nvSpPr>
          <p:cNvPr id="5" name="Прямоугольник 4"/>
          <p:cNvSpPr/>
          <p:nvPr/>
        </p:nvSpPr>
        <p:spPr>
          <a:xfrm>
            <a:off x="0" y="-27384"/>
            <a:ext cx="12192000" cy="548865"/>
          </a:xfrm>
          <a:prstGeom prst="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16200000" scaled="1"/>
            <a:tileRect/>
          </a:gradFill>
          <a:ln>
            <a:noFill/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444625" eaLnBrk="0" hangingPunct="0">
              <a:defRPr/>
            </a:pPr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ASOSIY ISHTIROKCHILAR</a:t>
            </a:r>
            <a:endParaRPr lang="ru-RU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84608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0377569"/>
              </p:ext>
            </p:extLst>
          </p:nvPr>
        </p:nvGraphicFramePr>
        <p:xfrm>
          <a:off x="1783905" y="980728"/>
          <a:ext cx="8632577" cy="578267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91572">
                  <a:extLst>
                    <a:ext uri="{9D8B030D-6E8A-4147-A177-3AD203B41FA5}">
                      <a16:colId xmlns:a16="http://schemas.microsoft.com/office/drawing/2014/main" val="2900988120"/>
                    </a:ext>
                  </a:extLst>
                </a:gridCol>
                <a:gridCol w="2642256">
                  <a:extLst>
                    <a:ext uri="{9D8B030D-6E8A-4147-A177-3AD203B41FA5}">
                      <a16:colId xmlns:a16="http://schemas.microsoft.com/office/drawing/2014/main" val="3555246516"/>
                    </a:ext>
                  </a:extLst>
                </a:gridCol>
                <a:gridCol w="5498749">
                  <a:extLst>
                    <a:ext uri="{9D8B030D-6E8A-4147-A177-3AD203B41FA5}">
                      <a16:colId xmlns:a16="http://schemas.microsoft.com/office/drawing/2014/main" val="2462287061"/>
                    </a:ext>
                  </a:extLst>
                </a:gridCol>
              </a:tblGrid>
              <a:tr h="576064">
                <a:tc>
                  <a:txBody>
                    <a:bodyPr/>
                    <a:lstStyle/>
                    <a:p>
                      <a:pPr algn="ctr">
                        <a:spcBef>
                          <a:spcPts val="400"/>
                        </a:spcBef>
                        <a:spcAft>
                          <a:spcPts val="0"/>
                        </a:spcAft>
                        <a:tabLst>
                          <a:tab pos="2003425" algn="l"/>
                        </a:tabLst>
                      </a:pPr>
                      <a:r>
                        <a:rPr lang="uz-Cyrl-UZ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Т/р</a:t>
                      </a:r>
                      <a:endParaRPr lang="ru-RU" sz="12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680" marR="456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00"/>
                        </a:spcBef>
                        <a:spcAft>
                          <a:spcPts val="0"/>
                        </a:spcAft>
                        <a:tabLst>
                          <a:tab pos="2003425" algn="l"/>
                        </a:tabLst>
                      </a:pPr>
                      <a:r>
                        <a:rPr lang="uz-Cyrl-UZ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Нашр ишлари, патентлар, гувоҳномалар номлари</a:t>
                      </a:r>
                      <a:endParaRPr lang="ru-RU" sz="12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680" marR="456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00"/>
                        </a:spcBef>
                        <a:spcAft>
                          <a:spcPts val="0"/>
                        </a:spcAft>
                        <a:tabLst>
                          <a:tab pos="2003425" algn="l"/>
                        </a:tabLst>
                      </a:pPr>
                      <a:r>
                        <a:rPr lang="uz-Cyrl-UZ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Журнал, тўплам (йил, номер, бетли), нашриёт ёки муаллификлик гувоҳномаси рақами</a:t>
                      </a:r>
                      <a:endParaRPr lang="ru-RU" sz="12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680" marR="45680" marT="0" marB="0" anchor="ctr"/>
                </a:tc>
                <a:extLst>
                  <a:ext uri="{0D108BD9-81ED-4DB2-BD59-A6C34878D82A}">
                    <a16:rowId xmlns:a16="http://schemas.microsoft.com/office/drawing/2014/main" val="3478546622"/>
                  </a:ext>
                </a:extLst>
              </a:tr>
              <a:tr h="555987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  <a:tabLst>
                          <a:tab pos="2003425" algn="l"/>
                        </a:tabLst>
                      </a:pPr>
                      <a:r>
                        <a:rPr lang="uz-Cyrl-UZ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680" marR="456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  <a:tabLst>
                          <a:tab pos="2003425" algn="l"/>
                        </a:tabLs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Development of a method for generating substitution tables for binary and ternary number systems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326" marR="3232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003425" algn="l"/>
                        </a:tabLs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AIP Publishing: AIP Conference Proceedings “International Uzbekistan-Malaysia Conference on “Computational models and technologies (CMT2020)”, Volume 2365. Melville, New York, 2021, </a:t>
                      </a: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 040003-1 - 040003-11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(Scopus).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326" marR="32326" marT="0" marB="0" anchor="ctr"/>
                </a:tc>
                <a:extLst>
                  <a:ext uri="{0D108BD9-81ED-4DB2-BD59-A6C34878D82A}">
                    <a16:rowId xmlns:a16="http://schemas.microsoft.com/office/drawing/2014/main" val="2284833609"/>
                  </a:ext>
                </a:extLst>
              </a:tr>
              <a:tr h="555987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  <a:tabLst>
                          <a:tab pos="2003425" algn="l"/>
                        </a:tabLst>
                      </a:pPr>
                      <a:r>
                        <a:rPr lang="uz-Cyrl-UZ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680" marR="456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003425" algn="l"/>
                        </a:tabLs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Selection of the optimal type of the gamming function for symmetric encryption algorithms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326" marR="3232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003425" algn="l"/>
                        </a:tabLs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AIP Publishing: AIP Conference Proceedings “International Uzbekistan-Malaysia Conference on “Computational models and technologies (CMT2020)”, Volume 2365. Melville, New York, 2021, </a:t>
                      </a: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 040004-1 - 040003-13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(Scopus).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326" marR="32326" marT="0" marB="0" anchor="ctr"/>
                </a:tc>
                <a:extLst>
                  <a:ext uri="{0D108BD9-81ED-4DB2-BD59-A6C34878D82A}">
                    <a16:rowId xmlns:a16="http://schemas.microsoft.com/office/drawing/2014/main" val="1495308087"/>
                  </a:ext>
                </a:extLst>
              </a:tr>
              <a:tr h="333593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  <a:tabLst>
                          <a:tab pos="2003425" algn="l"/>
                        </a:tabLst>
                      </a:pPr>
                      <a:r>
                        <a:rPr lang="uz-Cyrl-UZ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680" marR="456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  <a:tabLst>
                          <a:tab pos="2003425" algn="l"/>
                        </a:tabLst>
                      </a:pPr>
                      <a:r>
                        <a:rPr lang="uz-Latn-UZ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Verification of the pocket filtering based on method of verification on the model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680" marR="456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5000"/>
                        </a:lnSpc>
                        <a:spcAft>
                          <a:spcPts val="0"/>
                        </a:spcAft>
                        <a:tabLst>
                          <a:tab pos="2003425" algn="l"/>
                        </a:tabLst>
                      </a:pPr>
                      <a:r>
                        <a:rPr lang="uz-Cyrl-UZ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ICISCT Uzbekistan 2019. International Conference on Information Science and Communications Technologies 4-6 November, TUIT Campus, Local Hotels, Tashkent Uzbekistan. Section II № 28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(Scopus).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680" marR="45680" marT="0" marB="0" anchor="ctr"/>
                </a:tc>
                <a:extLst>
                  <a:ext uri="{0D108BD9-81ED-4DB2-BD59-A6C34878D82A}">
                    <a16:rowId xmlns:a16="http://schemas.microsoft.com/office/drawing/2014/main" val="347993181"/>
                  </a:ext>
                </a:extLst>
              </a:tr>
              <a:tr h="767083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  <a:tabLst>
                          <a:tab pos="2003425" algn="l"/>
                        </a:tabLst>
                      </a:pPr>
                      <a:r>
                        <a:rPr lang="uz-Cyrl-UZ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680" marR="456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  <a:tabLst>
                          <a:tab pos="368300" algn="l"/>
                        </a:tabLst>
                      </a:pPr>
                      <a:r>
                        <a:rPr lang="uz-Latn-UZ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Models and algorithms for solving problems associated with large amounts of data in the military sphere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326" marR="32326" marT="0" marB="0" anchor="ctr"/>
                </a:tc>
                <a:tc>
                  <a:txBody>
                    <a:bodyPr/>
                    <a:lstStyle/>
                    <a:p>
                      <a:pPr marL="0" marR="0" lvl="0" indent="0" algn="just" defTabSz="6858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003425" algn="l"/>
                        </a:tabLst>
                        <a:defRPr/>
                      </a:pPr>
                      <a:r>
                        <a:rPr lang="uz-Latn-UZ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ICISCT 2020. International Conference on Information Science and Communications Technologies 4-6 November, TUIT Campus, Local Hotels, Tashkent Uzbekistan. Section II № 2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(Scopus).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326" marR="32326" marT="0" marB="0" anchor="ctr"/>
                </a:tc>
                <a:extLst>
                  <a:ext uri="{0D108BD9-81ED-4DB2-BD59-A6C34878D82A}">
                    <a16:rowId xmlns:a16="http://schemas.microsoft.com/office/drawing/2014/main" val="2085451053"/>
                  </a:ext>
                </a:extLst>
              </a:tr>
              <a:tr h="804787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  <a:tabLst>
                          <a:tab pos="2003425" algn="l"/>
                        </a:tabLst>
                      </a:pPr>
                      <a:r>
                        <a:rPr lang="uz-Cyrl-UZ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680" marR="4568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Тhe</a:t>
                      </a:r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comparative analysis of technologies relational databases and block chain</a:t>
                      </a:r>
                      <a:endParaRPr lang="ru-RU" sz="12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2326" marR="32326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Solid State Technology Volume: 63 Issue: 6, 2020, р. 131-140, http://solidstatetechnology.us/index.php/JSST/issue/view/49(Scopus). </a:t>
                      </a:r>
                      <a:endParaRPr lang="ru-RU" sz="12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2326" marR="32326" marT="0" marB="0" anchor="ctr"/>
                </a:tc>
                <a:extLst>
                  <a:ext uri="{0D108BD9-81ED-4DB2-BD59-A6C34878D82A}">
                    <a16:rowId xmlns:a16="http://schemas.microsoft.com/office/drawing/2014/main" val="3288024773"/>
                  </a:ext>
                </a:extLst>
              </a:tr>
              <a:tr h="1000778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  <a:tabLst>
                          <a:tab pos="2003425" algn="l"/>
                        </a:tabLst>
                      </a:pPr>
                      <a:r>
                        <a:rPr lang="uz-Cyrl-UZ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680" marR="456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003425" algn="l"/>
                        </a:tabLs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of the application of the new cryptographic algorithms: applying the cipher algorithm O’zDSt1105:2009 for MS office document encryption. 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326" marR="3232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003425" algn="l"/>
                        </a:tabLs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 Proceedings of the 5th International Conference on Engineering and MIS (ICEMIS ’19). ACM, New York, NY, USA. 10.1145/3330431.3330434 (Scopus)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326" marR="32326" marT="0" marB="0" anchor="ctr"/>
                </a:tc>
                <a:extLst>
                  <a:ext uri="{0D108BD9-81ED-4DB2-BD59-A6C34878D82A}">
                    <a16:rowId xmlns:a16="http://schemas.microsoft.com/office/drawing/2014/main" val="1056022892"/>
                  </a:ext>
                </a:extLst>
              </a:tr>
              <a:tr h="1000778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  <a:tabLst>
                          <a:tab pos="2003425" algn="l"/>
                        </a:tabLst>
                      </a:pPr>
                      <a:r>
                        <a:rPr lang="uz-Cyrl-UZ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680" marR="456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  <a:tabLst>
                          <a:tab pos="2003425" algn="l"/>
                        </a:tabLst>
                      </a:pPr>
                      <a:r>
                        <a:rPr lang="uz-Latn-UZ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 of constucting packet filtering rules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680" marR="45680" marT="0" marB="0" anchor="ctr"/>
                </a:tc>
                <a:tc>
                  <a:txBody>
                    <a:bodyPr/>
                    <a:lstStyle/>
                    <a:p>
                      <a:pPr marL="0" marR="0" lvl="0" indent="0" algn="just" defTabSz="6858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003425" algn="l"/>
                        </a:tabLst>
                        <a:defRPr/>
                      </a:pPr>
                      <a:r>
                        <a:rPr lang="uz-Latn-UZ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ICISCT Uzbekistan 2019. International Conference on Information Science and Communications Technologies 4-6 November, TUIT Campus, Local Hotels, Tashkent Uzbekistan. Section IV № 40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(Scopus).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680" marR="45680" marT="0" marB="0" anchor="ctr"/>
                </a:tc>
                <a:extLst>
                  <a:ext uri="{0D108BD9-81ED-4DB2-BD59-A6C34878D82A}">
                    <a16:rowId xmlns:a16="http://schemas.microsoft.com/office/drawing/2014/main" val="617627041"/>
                  </a:ext>
                </a:extLst>
              </a:tr>
            </a:tbl>
          </a:graphicData>
        </a:graphic>
      </p:graphicFrame>
      <p:sp>
        <p:nvSpPr>
          <p:cNvPr id="4" name="Прямоугольник 3"/>
          <p:cNvSpPr/>
          <p:nvPr/>
        </p:nvSpPr>
        <p:spPr>
          <a:xfrm>
            <a:off x="1841367" y="71824"/>
            <a:ext cx="8633258" cy="764889"/>
          </a:xfrm>
          <a:prstGeom prst="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16200000" scaled="1"/>
            <a:tileRect/>
          </a:gradFill>
          <a:ln>
            <a:noFill/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444625" eaLnBrk="0" hangingPunct="0">
              <a:defRPr/>
            </a:pPr>
            <a:r>
              <a:rPr lang="ru-RU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ЛОЙИҲА ИЖРОЧИЛАРИНИНГ СЎНГГИ УЧ ЙИЛ ДАВОМИДА ЭРИШГАН АСОСИЙ ИЛМИЙ НАТИЖАЛАРИ</a:t>
            </a:r>
          </a:p>
        </p:txBody>
      </p:sp>
    </p:spTree>
    <p:extLst>
      <p:ext uri="{BB962C8B-B14F-4D97-AF65-F5344CB8AC3E}">
        <p14:creationId xmlns:p14="http://schemas.microsoft.com/office/powerpoint/2010/main" val="23022294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5227117"/>
              </p:ext>
            </p:extLst>
          </p:nvPr>
        </p:nvGraphicFramePr>
        <p:xfrm>
          <a:off x="1775520" y="979732"/>
          <a:ext cx="8712968" cy="543179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39309">
                  <a:extLst>
                    <a:ext uri="{9D8B030D-6E8A-4147-A177-3AD203B41FA5}">
                      <a16:colId xmlns:a16="http://schemas.microsoft.com/office/drawing/2014/main" val="2900988120"/>
                    </a:ext>
                  </a:extLst>
                </a:gridCol>
                <a:gridCol w="2635856">
                  <a:extLst>
                    <a:ext uri="{9D8B030D-6E8A-4147-A177-3AD203B41FA5}">
                      <a16:colId xmlns:a16="http://schemas.microsoft.com/office/drawing/2014/main" val="3555246516"/>
                    </a:ext>
                  </a:extLst>
                </a:gridCol>
                <a:gridCol w="5637803">
                  <a:extLst>
                    <a:ext uri="{9D8B030D-6E8A-4147-A177-3AD203B41FA5}">
                      <a16:colId xmlns:a16="http://schemas.microsoft.com/office/drawing/2014/main" val="2462287061"/>
                    </a:ext>
                  </a:extLst>
                </a:gridCol>
              </a:tblGrid>
              <a:tr h="508314">
                <a:tc>
                  <a:txBody>
                    <a:bodyPr/>
                    <a:lstStyle/>
                    <a:p>
                      <a:pPr algn="ctr">
                        <a:spcBef>
                          <a:spcPts val="400"/>
                        </a:spcBef>
                        <a:spcAft>
                          <a:spcPts val="0"/>
                        </a:spcAft>
                        <a:tabLst>
                          <a:tab pos="2003425" algn="l"/>
                        </a:tabLst>
                      </a:pPr>
                      <a:r>
                        <a:rPr lang="uz-Cyrl-UZ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Т/р</a:t>
                      </a:r>
                      <a:endParaRPr lang="ru-RU" sz="12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326" marR="32326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00"/>
                        </a:spcBef>
                        <a:spcAft>
                          <a:spcPts val="0"/>
                        </a:spcAft>
                        <a:tabLst>
                          <a:tab pos="2003425" algn="l"/>
                        </a:tabLst>
                      </a:pPr>
                      <a:r>
                        <a:rPr lang="uz-Cyrl-UZ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Нашр ишлари, патентлар, гувоҳномалар номлари</a:t>
                      </a:r>
                      <a:endParaRPr lang="ru-RU" sz="12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326" marR="32326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00"/>
                        </a:spcBef>
                        <a:spcAft>
                          <a:spcPts val="0"/>
                        </a:spcAft>
                        <a:tabLst>
                          <a:tab pos="2003425" algn="l"/>
                        </a:tabLst>
                      </a:pPr>
                      <a:r>
                        <a:rPr lang="uz-Cyrl-UZ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Журнал, тўплам (йил, номер, бетли), нашриёт ёки муаллификлик гувоҳномаси рақами</a:t>
                      </a:r>
                      <a:endParaRPr lang="ru-RU" sz="12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326" marR="32326" marT="0" marB="0" anchor="ctr"/>
                </a:tc>
                <a:extLst>
                  <a:ext uri="{0D108BD9-81ED-4DB2-BD59-A6C34878D82A}">
                    <a16:rowId xmlns:a16="http://schemas.microsoft.com/office/drawing/2014/main" val="3478546622"/>
                  </a:ext>
                </a:extLst>
              </a:tr>
              <a:tr h="860835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  <a:tabLst>
                          <a:tab pos="2003425" algn="l"/>
                        </a:tabLs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r>
                        <a:rPr lang="uz-Cyrl-UZ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326" marR="3232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003425" algn="l"/>
                        </a:tabLs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Uzbek language processing on the Multilanguage modeled technology for computer translator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326" marR="3232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003425" algn="l"/>
                        </a:tabLs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9th Language and Technology Conference  (LTC 2019)  May 17-19, 2019, 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Poznań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Poland, p. 300-304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326" marR="32326" marT="0" marB="0" anchor="ctr"/>
                </a:tc>
                <a:extLst>
                  <a:ext uri="{0D108BD9-81ED-4DB2-BD59-A6C34878D82A}">
                    <a16:rowId xmlns:a16="http://schemas.microsoft.com/office/drawing/2014/main" val="526092851"/>
                  </a:ext>
                </a:extLst>
              </a:tr>
              <a:tr h="864096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  <a:tabLst>
                          <a:tab pos="2003425" algn="l"/>
                        </a:tabLs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  <a:r>
                        <a:rPr lang="uz-Cyrl-UZ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326" marR="3232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  <a:tabLst>
                          <a:tab pos="2003425" algn="l"/>
                        </a:tabLs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Processing of the Uzbek language by technology the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multilanguage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modeled computer interpreter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326" marR="3232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003425" algn="l"/>
                        </a:tabLs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International Journal of Advanced Research in Science,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Еngineering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Technology/Vol. 6,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Issee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3, March 2019, p. 8265-8270, Journal impact factor value: 5.474, ISSN:2350-0328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326" marR="32326" marT="0" marB="0" anchor="ctr"/>
                </a:tc>
                <a:extLst>
                  <a:ext uri="{0D108BD9-81ED-4DB2-BD59-A6C34878D82A}">
                    <a16:rowId xmlns:a16="http://schemas.microsoft.com/office/drawing/2014/main" val="1869510239"/>
                  </a:ext>
                </a:extLst>
              </a:tr>
              <a:tr h="864096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  <a:tabLst>
                          <a:tab pos="2003425" algn="l"/>
                        </a:tabLs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</a:t>
                      </a:r>
                      <a:r>
                        <a:rPr lang="uz-Cyrl-UZ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326" marR="3232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  <a:tabLst>
                          <a:tab pos="368300" algn="l"/>
                        </a:tabLs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Алгоритмы анализа английских текстов, сформированных с применением расширяемого входного языка</a:t>
                      </a:r>
                    </a:p>
                  </a:txBody>
                  <a:tcPr marL="32326" marR="3232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5000"/>
                        </a:lnSpc>
                        <a:spcAft>
                          <a:spcPts val="0"/>
                        </a:spcAft>
                        <a:tabLst>
                          <a:tab pos="2003425" algn="l"/>
                        </a:tabLs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VIII межд. </a:t>
                      </a:r>
                      <a:r>
                        <a:rPr lang="ru-RU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конф</a:t>
                      </a: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 по компьютерной </a:t>
                      </a:r>
                      <a:r>
                        <a:rPr lang="ru-RU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обра¬ботке</a:t>
                      </a: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тюрских</a:t>
                      </a: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язы¬ков</a:t>
                      </a: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 «TURKLANG 2020», Труды </a:t>
                      </a:r>
                      <a:r>
                        <a:rPr lang="ru-RU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конф</a:t>
                      </a: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 Уфа, с. 136-143, ISBN 978-5-91608-199-2</a:t>
                      </a:r>
                    </a:p>
                  </a:txBody>
                  <a:tcPr marL="32326" marR="32326" marT="0" marB="0" anchor="ctr"/>
                </a:tc>
                <a:extLst>
                  <a:ext uri="{0D108BD9-81ED-4DB2-BD59-A6C34878D82A}">
                    <a16:rowId xmlns:a16="http://schemas.microsoft.com/office/drawing/2014/main" val="518115890"/>
                  </a:ext>
                </a:extLst>
              </a:tr>
              <a:tr h="673208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  <a:tabLst>
                          <a:tab pos="2003425" algn="l"/>
                        </a:tabLs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</a:t>
                      </a:r>
                      <a:r>
                        <a:rPr lang="uz-Cyrl-UZ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326" marR="3232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  <a:tabLst>
                          <a:tab pos="2003425" algn="l"/>
                        </a:tabLst>
                      </a:pP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Lingvistik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protsessor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va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elektron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korpuslar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uchun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o'zbek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tilining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morfologik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bazasi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326" marR="3232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5000"/>
                        </a:lnSpc>
                        <a:spcAft>
                          <a:spcPts val="0"/>
                        </a:spcAft>
                        <a:tabLst>
                          <a:tab pos="2003425" algn="l"/>
                        </a:tabLst>
                      </a:pP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O‘zR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Adliya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vazirligi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huzuridagi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Intellektual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mulk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agentligi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№DGU 00394, 29.01.20.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326" marR="32326" marT="0" marB="0" anchor="ctr"/>
                </a:tc>
                <a:extLst>
                  <a:ext uri="{0D108BD9-81ED-4DB2-BD59-A6C34878D82A}">
                    <a16:rowId xmlns:a16="http://schemas.microsoft.com/office/drawing/2014/main" val="1648750086"/>
                  </a:ext>
                </a:extLst>
              </a:tr>
              <a:tr h="802994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  <a:tabLst>
                          <a:tab pos="2003425" algn="l"/>
                        </a:tabLs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  <a:r>
                        <a:rPr lang="uz-Cyrl-UZ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326" marR="3232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  <a:tabLst>
                          <a:tab pos="2003425" algn="l"/>
                        </a:tabLst>
                      </a:pP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Konfidensial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ma'lumotlarni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qidirish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va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klassifikatsiyalash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dasturiy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ta'minoti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326" marR="32326" marT="0" marB="0" anchor="ctr"/>
                </a:tc>
                <a:tc>
                  <a:txBody>
                    <a:bodyPr/>
                    <a:lstStyle/>
                    <a:p>
                      <a:pPr marL="0" marR="0" lvl="0" indent="0" algn="just" defTabSz="6858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003425" algn="l"/>
                        </a:tabLst>
                        <a:defRPr/>
                      </a:pP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O‘zR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Adliya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vazirligi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huzuridagi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Intellektual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mulk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agentligi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№DGU 12391, 11.09.21.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326" marR="32326" marT="0" marB="0" anchor="ctr"/>
                </a:tc>
                <a:extLst>
                  <a:ext uri="{0D108BD9-81ED-4DB2-BD59-A6C34878D82A}">
                    <a16:rowId xmlns:a16="http://schemas.microsoft.com/office/drawing/2014/main" val="313979841"/>
                  </a:ext>
                </a:extLst>
              </a:tr>
              <a:tr h="858252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  <a:tabLst>
                          <a:tab pos="2003425" algn="l"/>
                        </a:tabLs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r>
                        <a:rPr lang="uz-Cyrl-UZ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326" marR="3232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  <a:tabLst>
                          <a:tab pos="2003425" algn="l"/>
                        </a:tabLst>
                      </a:pP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O‘zDSt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1092:2009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va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O‘zDSt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1106:2009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kriptoalgoritmlari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asosida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ishlab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chiqarilgan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raqamli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sertifikatlarni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boshqarish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dasturi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326" marR="3232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5000"/>
                        </a:lnSpc>
                        <a:spcAft>
                          <a:spcPts val="0"/>
                        </a:spcAft>
                        <a:tabLst>
                          <a:tab pos="2003425" algn="l"/>
                        </a:tabLst>
                      </a:pP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O‘zR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Adliya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vazirligi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huzuridagi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Intellektual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mulk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agentligi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№DGU 12219, 17.06.21.</a:t>
                      </a:r>
                    </a:p>
                  </a:txBody>
                  <a:tcPr marL="32326" marR="32326" marT="0" marB="0" anchor="ctr"/>
                </a:tc>
                <a:extLst>
                  <a:ext uri="{0D108BD9-81ED-4DB2-BD59-A6C34878D82A}">
                    <a16:rowId xmlns:a16="http://schemas.microsoft.com/office/drawing/2014/main" val="2894822742"/>
                  </a:ext>
                </a:extLst>
              </a:tr>
            </a:tbl>
          </a:graphicData>
        </a:graphic>
      </p:graphicFrame>
      <p:sp>
        <p:nvSpPr>
          <p:cNvPr id="4" name="Прямоугольник 3"/>
          <p:cNvSpPr/>
          <p:nvPr/>
        </p:nvSpPr>
        <p:spPr>
          <a:xfrm>
            <a:off x="1775520" y="71824"/>
            <a:ext cx="8784976" cy="764889"/>
          </a:xfrm>
          <a:prstGeom prst="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16200000" scaled="1"/>
            <a:tileRect/>
          </a:gradFill>
          <a:ln>
            <a:noFill/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444625" eaLnBrk="0" hangingPunct="0">
              <a:defRPr/>
            </a:pPr>
            <a:r>
              <a:rPr lang="ru-RU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ЛОЙИҲА РАҲБАРИНИНГ СЎНГГИ УЧ ЙИЛ ДАВОМИДА ЭРИШГАН АСОСИЙ ИЛМИЙ НАТИЖАЛАРИ</a:t>
            </a:r>
          </a:p>
        </p:txBody>
      </p:sp>
    </p:spTree>
    <p:extLst>
      <p:ext uri="{BB962C8B-B14F-4D97-AF65-F5344CB8AC3E}">
        <p14:creationId xmlns:p14="http://schemas.microsoft.com/office/powerpoint/2010/main" val="28825742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Таблица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7453355"/>
              </p:ext>
            </p:extLst>
          </p:nvPr>
        </p:nvGraphicFramePr>
        <p:xfrm>
          <a:off x="1775520" y="980729"/>
          <a:ext cx="8784977" cy="3642265"/>
        </p:xfrm>
        <a:graphic>
          <a:graphicData uri="http://schemas.openxmlformats.org/drawingml/2006/table">
            <a:tbl>
              <a:tblPr/>
              <a:tblGrid>
                <a:gridCol w="6420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359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6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14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т/р</a:t>
                      </a:r>
                      <a:endParaRPr kumimoji="0" lang="ru-RU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7007" marR="47007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2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Номи </a:t>
                      </a:r>
                      <a:endParaRPr kumimoji="0" lang="ru-RU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7007" marR="47007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2019/21 йилларда</a:t>
                      </a:r>
                      <a:endParaRPr kumimoji="0" lang="ru-RU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7007" marR="47007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14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</a:t>
                      </a:r>
                      <a:endParaRPr kumimoji="0" lang="ru-RU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7007" marR="47007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Дастурий махсулотларга гувоҳномалар сони, жумладан</a:t>
                      </a: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7007" marR="47007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14</a:t>
                      </a: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7007" marR="47007" marT="0" marB="0" anchor="ctr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2.</a:t>
                      </a:r>
                      <a:endParaRPr kumimoji="0" lang="ru-RU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7007" marR="47007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Амалиётга жорий этилган ишларнинг сони</a:t>
                      </a: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7007" marR="47007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7007" marR="47007" marT="0" marB="0" anchor="ctr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3.</a:t>
                      </a:r>
                      <a:endParaRPr kumimoji="0" lang="ru-RU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7007" marR="47007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Чоп этилган мақолалар сони, жумладан</a:t>
                      </a:r>
                      <a:endParaRPr kumimoji="0" lang="ru-RU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7007" marR="47007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62</a:t>
                      </a: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7007" marR="47007" marT="0" marB="0" anchor="ctr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kumimoji="0" lang="ru-RU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7007" marR="47007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Республика журналларида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7007" marR="47007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54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7007" marR="47007" marT="0" marB="0" anchor="ctr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kumimoji="0" lang="ru-RU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7007" marR="47007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uz-Cyrl-U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Хорижий журналларда (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Scopus</a:t>
                      </a:r>
                      <a:r>
                        <a:rPr lang="uz-Cyrl-UZ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ва 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</a:t>
                      </a:r>
                      <a:r>
                        <a:rPr lang="en-US" sz="1400" baseline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 Science</a:t>
                      </a:r>
                      <a:r>
                        <a:rPr kumimoji="0" lang="uz-Cyrl-U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7007" marR="47007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7007" marR="47007" marT="0" marB="0" anchor="ctr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8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4.</a:t>
                      </a:r>
                      <a:endParaRPr kumimoji="0" lang="ru-RU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7007" marR="47007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Чоп этилган тезислар сони, жумладан</a:t>
                      </a:r>
                      <a:endParaRPr kumimoji="0" lang="ru-RU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7007" marR="47007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88</a:t>
                      </a: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7007" marR="47007" marT="0" marB="0" anchor="ctr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kumimoji="0" lang="ru-RU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7007" marR="47007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Республика миқиёсидаги анжуманларда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7007" marR="47007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56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7007" marR="47007" marT="0" marB="0" anchor="ctr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8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7007" marR="47007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Ҳалқаро ва хорижий анжуманларда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7007" marR="47007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32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7007" marR="47007" marT="0" marB="0" anchor="ctr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58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kumimoji="0" lang="ru-RU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7007" marR="47007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Жами:</a:t>
                      </a:r>
                      <a:endParaRPr kumimoji="0" lang="ru-RU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7007" marR="47007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168</a:t>
                      </a:r>
                      <a:endParaRPr kumimoji="0" lang="ru-RU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7007" marR="47007" marT="0" marB="0" anchor="ctr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2" name="Таблица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9251631"/>
              </p:ext>
            </p:extLst>
          </p:nvPr>
        </p:nvGraphicFramePr>
        <p:xfrm>
          <a:off x="1775520" y="4629422"/>
          <a:ext cx="8784976" cy="2122814"/>
        </p:xfrm>
        <a:graphic>
          <a:graphicData uri="http://schemas.openxmlformats.org/drawingml/2006/table">
            <a:tbl>
              <a:tblPr firstRow="1" firstCol="1" bandRow="1">
                <a:tableStyleId>{E8B1032C-EA38-4F05-BA0D-38AFFFC7BED3}</a:tableStyleId>
              </a:tblPr>
              <a:tblGrid>
                <a:gridCol w="6508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329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11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uz-Cyrl-UZ" sz="17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т/р</a:t>
                      </a:r>
                      <a:endParaRPr lang="ru-RU" sz="1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014" marR="47014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uz-Cyrl-UZ" sz="17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Номи </a:t>
                      </a:r>
                      <a:endParaRPr lang="ru-RU" sz="1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014" marR="47014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uz-Cyrl-UZ" sz="17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2021 йил 3-чорак</a:t>
                      </a:r>
                      <a:endParaRPr lang="ru-RU" sz="1700" b="1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7014" marR="47014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7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  <a:endParaRPr lang="ru-RU" sz="17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014" marR="47014" marT="0" marB="0"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700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Дарсликлар</a:t>
                      </a:r>
                      <a:endParaRPr lang="ru-RU" sz="1700" b="1" i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014" marR="47014" marT="0" marB="0"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uz-Cyrl-UZ" sz="17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ru-RU" sz="17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014" marR="47014" marT="0" marB="0" anchor="ctr"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7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</a:t>
                      </a:r>
                      <a:endParaRPr lang="ru-RU" sz="17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014" marR="47014" marT="0" marB="0"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uz-Cyrl-UZ" sz="17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Монография </a:t>
                      </a:r>
                      <a:endParaRPr lang="ru-RU" sz="1700" b="1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014" marR="47014" marT="0" marB="0"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uz-Cyrl-UZ" sz="17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ru-RU" sz="17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014" marR="47014" marT="0" marB="0" anchor="ctr"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7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</a:t>
                      </a:r>
                      <a:endParaRPr lang="ru-RU" sz="17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014" marR="47014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z-Cyrl-UZ" sz="1700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Ўқув қўлланмалар</a:t>
                      </a:r>
                      <a:endParaRPr lang="ru-RU" sz="1700" b="1" i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014" marR="47014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uz-Cyrl-UZ" sz="17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ru-RU" sz="17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014" marR="47014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79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900" i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900" i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014" marR="47014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uz-Cyrl-UZ" sz="1700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Жами:</a:t>
                      </a:r>
                      <a:endParaRPr lang="ru-RU" sz="1700" b="1" i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014" marR="47014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uz-Cyrl-UZ" sz="1700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</a:t>
                      </a:r>
                      <a:endParaRPr lang="ru-RU" sz="1700" b="1" i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014" marR="47014" marT="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1775520" y="71824"/>
            <a:ext cx="8784976" cy="764889"/>
          </a:xfrm>
          <a:prstGeom prst="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16200000" scaled="1"/>
            <a:tileRect/>
          </a:gradFill>
          <a:ln>
            <a:noFill/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444625" eaLnBrk="0" hangingPunct="0">
              <a:defRPr/>
            </a:pPr>
            <a:r>
              <a:rPr lang="ru-RU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ЛОЙИҲА ИШТИРОКЧИЛАРИНИНГ 2019/21 ЙИЛЛАРДА ЧОП ЭТГАН ИЛМИЙ ВА УСЛУБИЙ ИШЛАРИ </a:t>
            </a:r>
          </a:p>
        </p:txBody>
      </p:sp>
    </p:spTree>
    <p:extLst>
      <p:ext uri="{BB962C8B-B14F-4D97-AF65-F5344CB8AC3E}">
        <p14:creationId xmlns:p14="http://schemas.microsoft.com/office/powerpoint/2010/main" val="29248376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1775520" y="71824"/>
            <a:ext cx="8784976" cy="836897"/>
          </a:xfrm>
          <a:prstGeom prst="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16200000" scaled="1"/>
            <a:tileRect/>
          </a:gradFill>
          <a:ln>
            <a:noFill/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444625" eaLnBrk="0" hangingPunct="0">
              <a:defRPr/>
            </a:pPr>
            <a:r>
              <a:rPr lang="ru-RU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ЛОЙИҲА ИШТИРОКЧИЛАРИ ТОМОНИДАН БАЖАРИЛГАН ВА БАЖАРИБ КЕЛИНАЁТГАН ЛОЙИҲАЛАР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775520" y="1124744"/>
            <a:ext cx="8784976" cy="52014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38163" algn="just">
              <a:spcAft>
                <a:spcPts val="1200"/>
              </a:spcAft>
              <a:buFont typeface="+mj-lt"/>
              <a:buAutoNum type="arabicPeriod"/>
            </a:pPr>
            <a:r>
              <a:rPr lang="uz-Cyrl-UZ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Лойиҳа ижрочилари томонидан жумладан, </a:t>
            </a:r>
            <a:r>
              <a:rPr lang="uz-Cyrl-U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Давлат илмий-техника дастурлари бажарилиши 2019-2021 йилларга мўлжалланган “Камуфляж” шифрли “Махсус операция кучлари ҳарбий хизматчиларини иссиқлик спектридан ҳимояловчи камуфляж” мавзусидаги инновацион лойиҳа.</a:t>
            </a:r>
          </a:p>
          <a:p>
            <a:pPr indent="538163" algn="just">
              <a:spcAft>
                <a:spcPts val="1200"/>
              </a:spcAft>
              <a:buFont typeface="+mj-lt"/>
              <a:buAutoNum type="arabicPeriod"/>
            </a:pPr>
            <a:r>
              <a:rPr lang="uz-Cyrl-U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Қўшма «Танкист» шифрли “Танк экипажини амалий билим ва кўникмаларини ошириш учун Т-72 танкининг инновацион симулятор тренажерини ишлаб чиқиш” мақсадли инновацион лойиҳа. </a:t>
            </a:r>
          </a:p>
          <a:p>
            <a:pPr indent="538163" algn="just">
              <a:spcAft>
                <a:spcPts val="1200"/>
              </a:spcAft>
              <a:buFont typeface="+mj-lt"/>
              <a:buAutoNum type="arabicPeriod"/>
            </a:pPr>
            <a:r>
              <a:rPr lang="uz-Cyrl-U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2020-2022 йилларга мўлжалланган қўшма «Ҳумоюн» шифрли «Зенит ракета дивизионининг қўмондонлик бошқарув машинасининг жанговар иш бўйича симуляцион тренажерини ишлаб чиқиш» мақсадли инновацион лойиҳа.</a:t>
            </a:r>
          </a:p>
        </p:txBody>
      </p:sp>
    </p:spTree>
    <p:extLst>
      <p:ext uri="{BB962C8B-B14F-4D97-AF65-F5344CB8AC3E}">
        <p14:creationId xmlns:p14="http://schemas.microsoft.com/office/powerpoint/2010/main" val="18250045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1775520" y="144016"/>
            <a:ext cx="8784976" cy="980729"/>
          </a:xfrm>
          <a:prstGeom prst="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16200000" scaled="1"/>
            <a:tileRect/>
          </a:gradFill>
          <a:ln>
            <a:noFill/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444625" eaLnBrk="0" hangingPunct="0">
              <a:defRPr/>
            </a:pPr>
            <a:r>
              <a:rPr lang="ru-RU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ЛОЙИҲА ИШТИРОКЧИЛАРИ ТОМОНИДАН БАЖАРИЛГАН ВА БАЖАРИБ КЕЛИНАЁТГАН ЛОЙИҲАЛАР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775520" y="1280368"/>
            <a:ext cx="8784976" cy="43088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uz-Cyrl-UZ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4. Лойиҳа ижрочилари Ўзбекистон Республикаси Давлат хавфсизлик хизмати томонидан ташкиллаштирилган танловларда 4 та ёпиқ мавзудаги  илмий лойиҳаларни ютишга муваффақ бўлишган. Ушбу лойиҳалар ўз вақтида ва сифатли бажарилган. Бунинг натижасида ахборотни ҳимоялашни криптографик воситаларини лойиҳалаштириш ва ишлаб чиқиш фаолият турлари билан шуғулланиш ҳуқуқини берувчи 2 та лицензия Давлат хавфсизлик хизмати томонидан Ўзбекистон Миллий университетига берилган </a:t>
            </a:r>
            <a:r>
              <a:rPr lang="uz-Cyrl-UZ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(илова қилинади)</a:t>
            </a:r>
            <a:r>
              <a:rPr lang="uz-Cyrl-UZ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algn="just">
              <a:spcAft>
                <a:spcPts val="1200"/>
              </a:spcAft>
            </a:pPr>
            <a:r>
              <a:rPr lang="uz-Cyrl-UZ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5. 2021 йил январь ойидан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UZB-Ind-2021-98 </a:t>
            </a:r>
            <a:r>
              <a:rPr lang="uz-Cyrl-UZ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шифрли Ўзбекистон-Ҳиндистон қўшма лойиҳалар бажарилмоқда.</a:t>
            </a:r>
          </a:p>
        </p:txBody>
      </p:sp>
    </p:spTree>
    <p:extLst>
      <p:ext uri="{BB962C8B-B14F-4D97-AF65-F5344CB8AC3E}">
        <p14:creationId xmlns:p14="http://schemas.microsoft.com/office/powerpoint/2010/main" val="15866665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775520" y="1280949"/>
            <a:ext cx="8712968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120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uz-Cyrl-UZ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Қуролли Кучлар тизимида конфиденциал маълумотлар рухсатсиз чиқиб кетишини олдини олишга имкон берувчи </a:t>
            </a:r>
            <a:r>
              <a:rPr lang="uz-Cyrl-UZ" sz="2400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миллий </a:t>
            </a:r>
            <a:r>
              <a:rPr lang="en-US" sz="2400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DLP </a:t>
            </a:r>
            <a:r>
              <a:rPr lang="uz-Cyrl-UZ" sz="2400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тизими ишлаб </a:t>
            </a:r>
            <a:r>
              <a:rPr lang="uz-Cyrl-UZ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чиқилади;</a:t>
            </a:r>
          </a:p>
          <a:p>
            <a:pPr marL="342900" indent="-342900" algn="just">
              <a:spcAft>
                <a:spcPts val="120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uz-Cyrl-UZ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криптографик калитни шахсий компьютерга киритувчи </a:t>
            </a:r>
            <a:r>
              <a:rPr lang="uz-Cyrl-UZ" sz="2400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аппарат-дастурий модули яратилади</a:t>
            </a:r>
            <a:r>
              <a:rPr lang="uz-Cyrl-UZ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</a:p>
          <a:p>
            <a:pPr marL="342900" indent="-342900" algn="just">
              <a:spcAft>
                <a:spcPts val="120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uz-Cyrl-UZ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конфиденциал электрон маълумотларни ГОСТ 28147-89 ва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O‘zDst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1105:2009 </a:t>
            </a:r>
            <a:r>
              <a:rPr lang="uz-Cyrl-UZ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алгоритмлари асосида </a:t>
            </a:r>
            <a:r>
              <a:rPr lang="uz-Cyrl-UZ" sz="2400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криптографик ҳимоялашга имкон берувчи дастурий таъминот яратилади</a:t>
            </a:r>
            <a:r>
              <a:rPr lang="uz-Cyrl-UZ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</a:p>
          <a:p>
            <a:pPr marL="342900" indent="-342900" algn="just">
              <a:spcAft>
                <a:spcPts val="120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uz-Cyrl-UZ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Ўзбекистон Республикаси ҳудудида амалдаги қонунчилик ва меъёрий-техник ҳужжатларга тўла амал қилиш асосида </a:t>
            </a:r>
            <a:r>
              <a:rPr lang="uz-Cyrl-UZ" sz="2400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электрон ҳужжатларни конф</a:t>
            </a:r>
            <a:r>
              <a:rPr lang="ru-RU" sz="2400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и</a:t>
            </a:r>
            <a:r>
              <a:rPr lang="uz-Cyrl-UZ" sz="2400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денциаллигини таъминлаш технологияси яратилади.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775520" y="116633"/>
            <a:ext cx="8784976" cy="936104"/>
          </a:xfrm>
          <a:prstGeom prst="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16200000" scaled="1"/>
            <a:tileRect/>
          </a:gradFill>
          <a:ln>
            <a:noFill/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444625" eaLnBrk="0" hangingPunct="0">
              <a:defRPr/>
            </a:pPr>
            <a:r>
              <a:rPr lang="ru-RU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ЛОЙИҲАНИ АМАЛГА ОШИРИШДАН  ОЛИНАДИГАН </a:t>
            </a:r>
          </a:p>
          <a:p>
            <a:pPr algn="ctr" defTabSz="1444625" eaLnBrk="0" hangingPunct="0">
              <a:defRPr/>
            </a:pPr>
            <a:r>
              <a:rPr lang="ru-RU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НАТИЖАЛАР </a:t>
            </a:r>
          </a:p>
        </p:txBody>
      </p:sp>
    </p:spTree>
    <p:extLst>
      <p:ext uri="{BB962C8B-B14F-4D97-AF65-F5344CB8AC3E}">
        <p14:creationId xmlns:p14="http://schemas.microsoft.com/office/powerpoint/2010/main" val="27104284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4554" y="980728"/>
            <a:ext cx="4333454" cy="5805264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1775520" y="72010"/>
            <a:ext cx="8784976" cy="836711"/>
          </a:xfrm>
          <a:prstGeom prst="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16200000" scaled="1"/>
            <a:tileRect/>
          </a:gradFill>
          <a:ln>
            <a:noFill/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444625" eaLnBrk="0" hangingPunct="0">
              <a:defRPr/>
            </a:pPr>
            <a:r>
              <a:rPr lang="ru-RU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ЛОЙИҲА НАТИЖАЛАРИГА ИҚТИСОДИЁТ ТАРМОҚЛАРИ БЎЙИЧА ТАЛАБЛАРНИНГ МАВЖУДЛИГИ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7300" y="980729"/>
            <a:ext cx="4213197" cy="5796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9663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520" y="805557"/>
            <a:ext cx="4203076" cy="5943625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1775520" y="144018"/>
            <a:ext cx="8784976" cy="548679"/>
          </a:xfrm>
          <a:prstGeom prst="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16200000" scaled="1"/>
            <a:tileRect/>
          </a:gradFill>
          <a:ln>
            <a:noFill/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444625" eaLnBrk="0" hangingPunct="0">
              <a:defRPr/>
            </a:pPr>
            <a:r>
              <a:rPr lang="uz-Cyrl-UZ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ҚЎЛЛАБ ҚУВВАТЛАШ ХАТЛАРИ</a:t>
            </a:r>
            <a:r>
              <a:rPr lang="ru-RU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8008" y="805557"/>
            <a:ext cx="4320480" cy="594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482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1314" y="792088"/>
            <a:ext cx="4376934" cy="6021288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775520" y="144018"/>
            <a:ext cx="8784976" cy="548679"/>
          </a:xfrm>
          <a:prstGeom prst="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16200000" scaled="1"/>
            <a:tileRect/>
          </a:gradFill>
          <a:ln>
            <a:noFill/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444625" eaLnBrk="0" hangingPunct="0">
              <a:defRPr/>
            </a:pPr>
            <a:r>
              <a:rPr lang="uz-Cyrl-UZ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ҚЎЛЛАБ ҚУВВАТЛАШ ХАТЛАРИ</a:t>
            </a:r>
            <a:r>
              <a:rPr lang="ru-RU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379742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786754" y="5219908"/>
            <a:ext cx="1085386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z-Cyrl-UZ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1 588 574 245</a:t>
            </a:r>
            <a:r>
              <a:rPr lang="uz-Cyrl-UZ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), 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bir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milliard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besh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yuz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sakson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sakkiz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million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besh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yuz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yetmish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to‘rt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ming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ikki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yuz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qirq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besh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ru-RU" b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0"/>
            <a:ext cx="12192000" cy="908719"/>
          </a:xfrm>
          <a:prstGeom prst="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16200000" scaled="1"/>
            <a:tileRect/>
          </a:gradFill>
          <a:ln>
            <a:noFill/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444625" eaLnBrk="0" hangingPunct="0">
              <a:defRPr/>
            </a:pPr>
            <a:r>
              <a:rPr lang="en-US" altLang="ru-RU" sz="20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LOYIHANING</a:t>
            </a:r>
            <a:r>
              <a:rPr lang="uz-Cyrl-UZ" altLang="ru-RU" sz="20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ru-RU" sz="20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MOLIYAVIY</a:t>
            </a:r>
            <a:r>
              <a:rPr lang="uz-Cyrl-UZ" altLang="ru-RU" sz="20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ru-RU" sz="20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HISOB</a:t>
            </a:r>
            <a:r>
              <a:rPr lang="uz-Cyrl-UZ" altLang="ru-RU" sz="20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en-US" altLang="ru-RU" sz="20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KITOBLARI</a:t>
            </a:r>
            <a:br>
              <a:rPr lang="ru-RU" alt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ru-RU" sz="20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XARAJATLAR</a:t>
            </a:r>
            <a:r>
              <a:rPr lang="uz-Cyrl-UZ" altLang="ru-RU" sz="20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ru-RU" sz="20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SMETASI</a:t>
            </a:r>
            <a:endParaRPr lang="ru-RU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F5D34271-F36B-4F7F-9288-AE27053F19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4387751"/>
              </p:ext>
            </p:extLst>
          </p:nvPr>
        </p:nvGraphicFramePr>
        <p:xfrm>
          <a:off x="570730" y="1268760"/>
          <a:ext cx="11069886" cy="374441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563077">
                  <a:extLst>
                    <a:ext uri="{9D8B030D-6E8A-4147-A177-3AD203B41FA5}">
                      <a16:colId xmlns:a16="http://schemas.microsoft.com/office/drawing/2014/main" val="2742616807"/>
                    </a:ext>
                  </a:extLst>
                </a:gridCol>
                <a:gridCol w="1563077">
                  <a:extLst>
                    <a:ext uri="{9D8B030D-6E8A-4147-A177-3AD203B41FA5}">
                      <a16:colId xmlns:a16="http://schemas.microsoft.com/office/drawing/2014/main" val="1925504285"/>
                    </a:ext>
                  </a:extLst>
                </a:gridCol>
                <a:gridCol w="736158">
                  <a:extLst>
                    <a:ext uri="{9D8B030D-6E8A-4147-A177-3AD203B41FA5}">
                      <a16:colId xmlns:a16="http://schemas.microsoft.com/office/drawing/2014/main" val="2801518574"/>
                    </a:ext>
                  </a:extLst>
                </a:gridCol>
                <a:gridCol w="737076">
                  <a:extLst>
                    <a:ext uri="{9D8B030D-6E8A-4147-A177-3AD203B41FA5}">
                      <a16:colId xmlns:a16="http://schemas.microsoft.com/office/drawing/2014/main" val="982094107"/>
                    </a:ext>
                  </a:extLst>
                </a:gridCol>
                <a:gridCol w="853874">
                  <a:extLst>
                    <a:ext uri="{9D8B030D-6E8A-4147-A177-3AD203B41FA5}">
                      <a16:colId xmlns:a16="http://schemas.microsoft.com/office/drawing/2014/main" val="459921773"/>
                    </a:ext>
                  </a:extLst>
                </a:gridCol>
                <a:gridCol w="1977084">
                  <a:extLst>
                    <a:ext uri="{9D8B030D-6E8A-4147-A177-3AD203B41FA5}">
                      <a16:colId xmlns:a16="http://schemas.microsoft.com/office/drawing/2014/main" val="1917387077"/>
                    </a:ext>
                  </a:extLst>
                </a:gridCol>
                <a:gridCol w="1819770">
                  <a:extLst>
                    <a:ext uri="{9D8B030D-6E8A-4147-A177-3AD203B41FA5}">
                      <a16:colId xmlns:a16="http://schemas.microsoft.com/office/drawing/2014/main" val="289976843"/>
                    </a:ext>
                  </a:extLst>
                </a:gridCol>
                <a:gridCol w="1819770">
                  <a:extLst>
                    <a:ext uri="{9D8B030D-6E8A-4147-A177-3AD203B41FA5}">
                      <a16:colId xmlns:a16="http://schemas.microsoft.com/office/drawing/2014/main" val="732941067"/>
                    </a:ext>
                  </a:extLst>
                </a:gridCol>
              </a:tblGrid>
              <a:tr h="329783">
                <a:tc gridSpan="8">
                  <a:txBody>
                    <a:bodyPr/>
                    <a:lstStyle/>
                    <a:p>
                      <a:pPr algn="ctr"/>
                      <a:r>
                        <a:rPr lang="ru-RU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Xarajatlar</a:t>
                      </a: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smetasi</a:t>
                      </a: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ru-RU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so‘m</a:t>
                      </a: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6341824"/>
                  </a:ext>
                </a:extLst>
              </a:tr>
              <a:tr h="329783">
                <a:tc rowSpan="2">
                  <a:txBody>
                    <a:bodyPr/>
                    <a:lstStyle/>
                    <a:p>
                      <a:pPr algn="ctr"/>
                      <a:r>
                        <a:rPr lang="ru-RU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Guruh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Xarajatlar turlari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JAMI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69582382"/>
                  </a:ext>
                </a:extLst>
              </a:tr>
              <a:tr h="209549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1755" marR="71755" algn="ctr"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Ish</a:t>
                      </a: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haqi</a:t>
                      </a: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fondi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vert270" anchor="ctr"/>
                </a:tc>
                <a:tc>
                  <a:txBody>
                    <a:bodyPr/>
                    <a:lstStyle/>
                    <a:p>
                      <a:pPr marL="71755" marR="71755" algn="ctr"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Qo‘shimcha xarajatlar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vert270" anchor="ctr"/>
                </a:tc>
                <a:tc>
                  <a:txBody>
                    <a:bodyPr/>
                    <a:lstStyle/>
                    <a:p>
                      <a:pPr marL="71755" marR="71755" algn="ctr">
                        <a:spcAft>
                          <a:spcPts val="0"/>
                        </a:spcAft>
                      </a:pPr>
                      <a:r>
                        <a:rPr lang="uz-Cyrl-UZ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Safar </a:t>
                      </a:r>
                      <a:r>
                        <a:rPr lang="ru-RU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xarajatlari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vert270" anchor="ctr"/>
                </a:tc>
                <a:tc>
                  <a:txBody>
                    <a:bodyPr/>
                    <a:lstStyle/>
                    <a:p>
                      <a:pPr marL="71755" marR="71755" algn="ctr">
                        <a:spcAft>
                          <a:spcPts val="0"/>
                        </a:spcAft>
                      </a:pPr>
                      <a:r>
                        <a:rPr lang="uz-Cyrl-UZ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Materiallar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vert270" anchor="ctr"/>
                </a:tc>
                <a:tc>
                  <a:txBody>
                    <a:bodyPr/>
                    <a:lstStyle/>
                    <a:p>
                      <a:pPr marL="71755" marR="71755" algn="ctr"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Qurilmalar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vert270" anchor="ctr"/>
                </a:tc>
                <a:tc>
                  <a:txBody>
                    <a:bodyPr/>
                    <a:lstStyle/>
                    <a:p>
                      <a:pPr marL="71755" marR="71755" algn="ctr"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Boshqa xarajatlar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vert270" anchor="ctr"/>
                </a:tc>
                <a:tc>
                  <a:txBody>
                    <a:bodyPr/>
                    <a:lstStyle/>
                    <a:p>
                      <a:pPr marL="71755" marR="71755" algn="ctr"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Jami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vert270" anchor="ctr"/>
                </a:tc>
                <a:extLst>
                  <a:ext uri="{0D108BD9-81ED-4DB2-BD59-A6C34878D82A}">
                    <a16:rowId xmlns:a16="http://schemas.microsoft.com/office/drawing/2014/main" val="584797869"/>
                  </a:ext>
                </a:extLst>
              </a:tr>
              <a:tr h="659567">
                <a:tc>
                  <a:txBody>
                    <a:bodyPr/>
                    <a:lstStyle/>
                    <a:p>
                      <a:pPr algn="ctr"/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Ijrochi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1 345 474 245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Cyrl-UZ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Cyrl-UZ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Cyrl-UZ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243 100 000.0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1 588 574 245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43759507"/>
                  </a:ext>
                </a:extLst>
              </a:tr>
              <a:tr h="329783">
                <a:tc>
                  <a:txBody>
                    <a:bodyPr/>
                    <a:lstStyle/>
                    <a:p>
                      <a:pPr algn="ctr"/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Jami: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70001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6819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0160191"/>
              </p:ext>
            </p:extLst>
          </p:nvPr>
        </p:nvGraphicFramePr>
        <p:xfrm>
          <a:off x="263352" y="980728"/>
          <a:ext cx="11521280" cy="530091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76064">
                  <a:extLst>
                    <a:ext uri="{9D8B030D-6E8A-4147-A177-3AD203B41FA5}">
                      <a16:colId xmlns:a16="http://schemas.microsoft.com/office/drawing/2014/main" val="906468400"/>
                    </a:ext>
                  </a:extLst>
                </a:gridCol>
                <a:gridCol w="2880320">
                  <a:extLst>
                    <a:ext uri="{9D8B030D-6E8A-4147-A177-3AD203B41FA5}">
                      <a16:colId xmlns:a16="http://schemas.microsoft.com/office/drawing/2014/main" val="2976843636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3431731965"/>
                    </a:ext>
                  </a:extLst>
                </a:gridCol>
                <a:gridCol w="6768752">
                  <a:extLst>
                    <a:ext uri="{9D8B030D-6E8A-4147-A177-3AD203B41FA5}">
                      <a16:colId xmlns:a16="http://schemas.microsoft.com/office/drawing/2014/main" val="3831885711"/>
                    </a:ext>
                  </a:extLst>
                </a:gridCol>
              </a:tblGrid>
              <a:tr h="108012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80340" algn="l"/>
                          <a:tab pos="270510" algn="l"/>
                          <a:tab pos="810260" algn="l"/>
                        </a:tabLst>
                      </a:pPr>
                      <a:r>
                        <a:rPr lang="en-US" sz="1600" b="1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Bosqich</a:t>
                      </a:r>
                      <a:endParaRPr lang="ru-RU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vert="vert27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80340" algn="l"/>
                          <a:tab pos="270510" algn="l"/>
                          <a:tab pos="810260" algn="l"/>
                        </a:tabLst>
                      </a:pPr>
                      <a:r>
                        <a:rPr lang="en-US" sz="16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Topshiriq</a:t>
                      </a: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nomi</a:t>
                      </a:r>
                      <a:endParaRPr lang="ru-RU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80340" algn="l"/>
                          <a:tab pos="270510" algn="l"/>
                          <a:tab pos="810260" algn="l"/>
                        </a:tabLst>
                      </a:pPr>
                      <a:r>
                        <a:rPr lang="en-US" sz="16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Muddati</a:t>
                      </a:r>
                      <a:endParaRPr lang="ru-RU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80340" algn="l"/>
                          <a:tab pos="270510" algn="l"/>
                          <a:tab pos="810260" algn="l"/>
                        </a:tabLst>
                      </a:pPr>
                      <a:r>
                        <a:rPr lang="en-US" sz="16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Natija</a:t>
                      </a:r>
                      <a:endParaRPr lang="ru-RU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9995937"/>
                  </a:ext>
                </a:extLst>
              </a:tr>
              <a:tr h="150742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80340" algn="l"/>
                          <a:tab pos="270510" algn="l"/>
                          <a:tab pos="810260" algn="l"/>
                        </a:tabLs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16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80340" algn="l"/>
                          <a:tab pos="270510" algn="l"/>
                          <a:tab pos="810260" algn="l"/>
                        </a:tabLst>
                      </a:pP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Mavjud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elliptik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egri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chiziq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parametrlarini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generatsiya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qilish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algoritmlarini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tahlil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qilish</a:t>
                      </a:r>
                      <a:endParaRPr lang="ru-RU" sz="1800" b="0" i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80340" algn="l"/>
                          <a:tab pos="270510" algn="l"/>
                          <a:tab pos="810260" algn="l"/>
                        </a:tabLst>
                      </a:pPr>
                      <a:r>
                        <a:rPr lang="en-US" sz="18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ru-RU" sz="1800" b="0" i="0" baseline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baseline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oy</a:t>
                      </a:r>
                      <a:endParaRPr lang="ru-RU" sz="1800" b="0" i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80340" algn="l"/>
                          <a:tab pos="270510" algn="l"/>
                          <a:tab pos="810260" algn="l"/>
                        </a:tabLst>
                      </a:pP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Ushbu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bosqichda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xalqaro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milliy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standartlarda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qo‘llaniladigan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egri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chiziqlar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ularning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qurilish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tamoyillari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zaifliklari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elliptik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egri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chiziqlar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hamda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ularning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parametrlariga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qo‘yilgan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umumiy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talablar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o‘rganiladi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Parametrlar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generatsiyasi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uchun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asosiy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xavfsizlik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mezonlari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ishlab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chiqiladi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ru-RU" sz="1800" b="0" i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96629974"/>
                  </a:ext>
                </a:extLst>
              </a:tr>
              <a:tr h="120594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80340" algn="l"/>
                          <a:tab pos="270510" algn="l"/>
                          <a:tab pos="810260" algn="l"/>
                        </a:tabLst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80340" algn="l"/>
                          <a:tab pos="270510" algn="l"/>
                          <a:tab pos="810260" algn="l"/>
                        </a:tabLst>
                      </a:pP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Asosiy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maydon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egri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chiziq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koeffitsiyentlari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generator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nuqtalarini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shakllantirish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mexanizmlarini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ishlab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chiqish</a:t>
                      </a:r>
                      <a:endParaRPr lang="ru-RU" sz="1800" b="0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80340" algn="l"/>
                          <a:tab pos="270510" algn="l"/>
                          <a:tab pos="810260" algn="l"/>
                        </a:tabLst>
                      </a:pPr>
                      <a:r>
                        <a:rPr lang="en-US" sz="18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ru-RU" sz="1800" b="0" i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oy</a:t>
                      </a:r>
                      <a:endParaRPr lang="ru-RU" sz="1800" b="0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80340" algn="l"/>
                          <a:tab pos="270510" algn="l"/>
                          <a:tab pos="810260" algn="l"/>
                        </a:tabLst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Bu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bosqichda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egri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chiziqning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kriptografik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bardoshliligini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ta’minlovchi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matematik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asoslar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p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asosiy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sonini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tanlash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diskriminantni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tekshirish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(a, b)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koyeffitsiyentlarini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yaratish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algoritmlari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hamda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 generator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nuqtasini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aniqlash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usullari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ishlab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chiqiladi</a:t>
                      </a:r>
                      <a:endParaRPr lang="ru-RU" sz="1800" b="0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71851600"/>
                  </a:ext>
                </a:extLst>
              </a:tr>
              <a:tr h="150742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80340" algn="l"/>
                          <a:tab pos="270510" algn="l"/>
                          <a:tab pos="810260" algn="l"/>
                        </a:tabLst>
                      </a:pPr>
                      <a:r>
                        <a:rPr lang="uz-Cyrl-UZ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ru-RU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80340" algn="l"/>
                          <a:tab pos="270510" algn="l"/>
                          <a:tab pos="810260" algn="l"/>
                        </a:tabLst>
                      </a:pP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Asimmetrik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kriptotizimlar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uchun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deterministik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tasodifiy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parametr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generatsiyasi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algoritmlarini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ishlab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chiqish</a:t>
                      </a:r>
                      <a:endParaRPr lang="ru-RU" sz="1800" b="0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80340" algn="l"/>
                          <a:tab pos="270510" algn="l"/>
                          <a:tab pos="810260" algn="l"/>
                        </a:tabLst>
                        <a:defRPr/>
                      </a:pPr>
                      <a:r>
                        <a:rPr lang="en-US" sz="18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ru-RU" sz="18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oy</a:t>
                      </a:r>
                      <a:endParaRPr lang="ru-RU" sz="1800" b="0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80340" algn="l"/>
                          <a:tab pos="270510" algn="l"/>
                          <a:tab pos="810260" algn="l"/>
                        </a:tabLst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Bu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bosqichda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kalitlar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generatsiyasi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uchun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mos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turli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xavfsizlik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darajalariga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ega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bo‘lgan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algoritmlar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ishlab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chiqiladi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parametrlar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to‘plamlari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shakllantiriladi</a:t>
                      </a:r>
                      <a:endParaRPr lang="ru-RU" sz="1800" b="0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Прямоугольник 3"/>
          <p:cNvSpPr/>
          <p:nvPr/>
        </p:nvSpPr>
        <p:spPr>
          <a:xfrm>
            <a:off x="0" y="-14560"/>
            <a:ext cx="12192000" cy="764703"/>
          </a:xfrm>
          <a:prstGeom prst="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16200000" scaled="1"/>
            <a:tileRect/>
          </a:gradFill>
          <a:ln>
            <a:noFill/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444625" eaLnBrk="0" hangingPunct="0">
              <a:defRPr/>
            </a:pPr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LOYIHANI</a:t>
            </a:r>
            <a:r>
              <a:rPr lang="ru-RU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AMALGA OSHIRISH BOSQICHLARI</a:t>
            </a:r>
            <a:endParaRPr lang="ru-RU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76890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048946"/>
              </p:ext>
            </p:extLst>
          </p:nvPr>
        </p:nvGraphicFramePr>
        <p:xfrm>
          <a:off x="335360" y="1463577"/>
          <a:ext cx="11521280" cy="388934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76064">
                  <a:extLst>
                    <a:ext uri="{9D8B030D-6E8A-4147-A177-3AD203B41FA5}">
                      <a16:colId xmlns:a16="http://schemas.microsoft.com/office/drawing/2014/main" val="906468400"/>
                    </a:ext>
                  </a:extLst>
                </a:gridCol>
                <a:gridCol w="2880320">
                  <a:extLst>
                    <a:ext uri="{9D8B030D-6E8A-4147-A177-3AD203B41FA5}">
                      <a16:colId xmlns:a16="http://schemas.microsoft.com/office/drawing/2014/main" val="2976843636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3431731965"/>
                    </a:ext>
                  </a:extLst>
                </a:gridCol>
                <a:gridCol w="6768752">
                  <a:extLst>
                    <a:ext uri="{9D8B030D-6E8A-4147-A177-3AD203B41FA5}">
                      <a16:colId xmlns:a16="http://schemas.microsoft.com/office/drawing/2014/main" val="3831885711"/>
                    </a:ext>
                  </a:extLst>
                </a:gridCol>
              </a:tblGrid>
              <a:tr h="117333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80340" algn="l"/>
                          <a:tab pos="270510" algn="l"/>
                          <a:tab pos="810260" algn="l"/>
                        </a:tabLst>
                      </a:pPr>
                      <a:r>
                        <a:rPr lang="en-US" sz="1600" b="1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Bosqich</a:t>
                      </a:r>
                      <a:endParaRPr lang="ru-RU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vert="vert27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80340" algn="l"/>
                          <a:tab pos="270510" algn="l"/>
                          <a:tab pos="810260" algn="l"/>
                        </a:tabLst>
                      </a:pPr>
                      <a:r>
                        <a:rPr lang="en-US" sz="16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Topshiriq</a:t>
                      </a: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nomi</a:t>
                      </a:r>
                      <a:endParaRPr lang="ru-RU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80340" algn="l"/>
                          <a:tab pos="270510" algn="l"/>
                          <a:tab pos="810260" algn="l"/>
                        </a:tabLst>
                      </a:pPr>
                      <a:r>
                        <a:rPr lang="en-US" sz="16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Muddati</a:t>
                      </a:r>
                      <a:endParaRPr lang="ru-RU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80340" algn="l"/>
                          <a:tab pos="270510" algn="l"/>
                          <a:tab pos="810260" algn="l"/>
                        </a:tabLst>
                      </a:pPr>
                      <a:r>
                        <a:rPr lang="en-US" sz="16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Natija</a:t>
                      </a:r>
                      <a:endParaRPr lang="ru-RU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9995937"/>
                  </a:ext>
                </a:extLst>
              </a:tr>
              <a:tr h="135800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80340" algn="l"/>
                          <a:tab pos="270510" algn="l"/>
                          <a:tab pos="810260" algn="l"/>
                        </a:tabLs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ru-RU" sz="16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80340" algn="l"/>
                          <a:tab pos="270510" algn="l"/>
                          <a:tab pos="810260" algn="l"/>
                        </a:tabLst>
                      </a:pP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Parametrlar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generatsiyasi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algoritmlarini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kriptografik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xavfsizlik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samaradorlik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bo‘yicha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baholash</a:t>
                      </a:r>
                      <a:endParaRPr lang="ru-RU" sz="1800" b="0" i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80340" algn="l"/>
                          <a:tab pos="270510" algn="l"/>
                          <a:tab pos="810260" algn="l"/>
                        </a:tabLst>
                      </a:pPr>
                      <a:r>
                        <a:rPr lang="en-US" sz="18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ru-RU" sz="1800" b="0" i="0" baseline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baseline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oy</a:t>
                      </a:r>
                      <a:endParaRPr lang="ru-RU" sz="1800" b="0" i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80340" algn="l"/>
                          <a:tab pos="270510" algn="l"/>
                          <a:tab pos="810260" algn="l"/>
                        </a:tabLst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Bu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bosqichda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yaratilgan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algoritmlar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kriptotahlil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usullari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(MOV (Menezes–Okamoto–Vanstone)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darajasi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CM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zaifligi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chekli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maydonda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diskret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logarifmlash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murakkabligi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bo‘yicha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baholanadi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tezkorlik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hisoblash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samaradorligi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resurs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talablarining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tahlili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amalga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oshiriladi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ru-RU" sz="1800" b="0" i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96629974"/>
                  </a:ext>
                </a:extLst>
              </a:tr>
              <a:tr h="135800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80340" algn="l"/>
                          <a:tab pos="270510" algn="l"/>
                          <a:tab pos="810260" algn="l"/>
                        </a:tabLs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ru-RU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80340" algn="l"/>
                          <a:tab pos="270510" algn="l"/>
                          <a:tab pos="810260" algn="l"/>
                        </a:tabLst>
                      </a:pP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Parametrlar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generatsiyasi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algoritmlarini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amaliy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dasturiy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ta’minot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ko‘rinishida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yaratish</a:t>
                      </a:r>
                      <a:endParaRPr lang="ru-RU" sz="1800" b="0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80340" algn="l"/>
                          <a:tab pos="270510" algn="l"/>
                          <a:tab pos="810260" algn="l"/>
                        </a:tabLst>
                      </a:pPr>
                      <a:r>
                        <a:rPr lang="en-US" sz="18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ru-RU" sz="1800" b="0" i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oy</a:t>
                      </a:r>
                      <a:endParaRPr lang="ru-RU" sz="1800" b="0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80340" algn="l"/>
                          <a:tab pos="270510" algn="l"/>
                          <a:tab pos="810260" algn="l"/>
                        </a:tabLst>
                      </a:pP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Ushbu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bosqichda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algoritmlar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zamonaviy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dasturlash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tillarida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dasturiy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modullar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shaklida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amalga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oshiriladi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ulardan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foydalanish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uchun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dasturiy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kutubxonalar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yaratiladi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Parametrlarni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apparat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darajasida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generatsiya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qilish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bo‘yicha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texnik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tavsiyalar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ishlab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chiqiladi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ru-RU" sz="1800" b="0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71851600"/>
                  </a:ext>
                </a:extLst>
              </a:tr>
            </a:tbl>
          </a:graphicData>
        </a:graphic>
      </p:graphicFrame>
      <p:sp>
        <p:nvSpPr>
          <p:cNvPr id="4" name="Прямоугольник 3"/>
          <p:cNvSpPr/>
          <p:nvPr/>
        </p:nvSpPr>
        <p:spPr>
          <a:xfrm>
            <a:off x="0" y="-14560"/>
            <a:ext cx="12192000" cy="764703"/>
          </a:xfrm>
          <a:prstGeom prst="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16200000" scaled="1"/>
            <a:tileRect/>
          </a:gradFill>
          <a:ln>
            <a:noFill/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444625" eaLnBrk="0" hangingPunct="0">
              <a:defRPr/>
            </a:pPr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LOYIHANI</a:t>
            </a:r>
            <a:r>
              <a:rPr lang="ru-RU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AMALGA OSHIRISH BOSQICHLARI</a:t>
            </a:r>
            <a:endParaRPr lang="ru-RU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99892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087114" y="3075057"/>
            <a:ext cx="801777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000" dirty="0"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E’TIBORINGIZ UCHUN RAHMAT!</a:t>
            </a:r>
            <a:endParaRPr lang="ru-RU" sz="4000" dirty="0">
              <a:solidFill>
                <a:schemeClr val="accent5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2046252"/>
      </p:ext>
    </p:extLst>
  </p:cSld>
  <p:clrMapOvr>
    <a:masterClrMapping/>
  </p:clrMapOvr>
</p:sld>
</file>

<file path=ppt/theme/theme1.xml><?xml version="1.0" encoding="utf-8"?>
<a:theme xmlns:a="http://schemas.openxmlformats.org/drawingml/2006/main" name="1_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3204</TotalTime>
  <Words>2608</Words>
  <Application>Microsoft Office PowerPoint</Application>
  <PresentationFormat>Широкоэкранный</PresentationFormat>
  <Paragraphs>329</Paragraphs>
  <Slides>27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3" baseType="lpstr">
      <vt:lpstr>Arial</vt:lpstr>
      <vt:lpstr>Calibri</vt:lpstr>
      <vt:lpstr>Calibri Light</vt:lpstr>
      <vt:lpstr>Times New Roman</vt:lpstr>
      <vt:lpstr>Wingdings</vt:lpstr>
      <vt:lpstr>1_Тема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458</cp:revision>
  <cp:lastPrinted>2021-06-29T10:00:13Z</cp:lastPrinted>
  <dcterms:created xsi:type="dcterms:W3CDTF">2017-07-13T05:40:18Z</dcterms:created>
  <dcterms:modified xsi:type="dcterms:W3CDTF">2025-12-09T13:20:06Z</dcterms:modified>
</cp:coreProperties>
</file>