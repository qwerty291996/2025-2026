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324" r:id="rId3"/>
    <p:sldId id="257" r:id="rId4"/>
    <p:sldId id="282" r:id="rId5"/>
    <p:sldId id="339" r:id="rId6"/>
    <p:sldId id="340" r:id="rId7"/>
    <p:sldId id="295" r:id="rId8"/>
    <p:sldId id="341" r:id="rId9"/>
    <p:sldId id="338" r:id="rId10"/>
    <p:sldId id="336" r:id="rId11"/>
    <p:sldId id="342" r:id="rId12"/>
    <p:sldId id="343" r:id="rId13"/>
    <p:sldId id="337" r:id="rId14"/>
    <p:sldId id="308" r:id="rId15"/>
    <p:sldId id="290" r:id="rId16"/>
    <p:sldId id="334" r:id="rId17"/>
    <p:sldId id="332" r:id="rId18"/>
    <p:sldId id="33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FA0"/>
    <a:srgbClr val="4BB8EF"/>
    <a:srgbClr val="16C8E0"/>
    <a:srgbClr val="4DD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5" d="100"/>
          <a:sy n="115" d="100"/>
        </p:scale>
        <p:origin x="29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41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59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442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70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8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71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65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18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1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5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28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3523B-CB0D-4846-B2D5-44A6D906C78E}" type="datetimeFigureOut">
              <a:rPr lang="ru-RU" smtClean="0"/>
              <a:t>06.01.2026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67B2F-C2DC-4835-9C88-D241D730A1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31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islom.ibragimov.1988@gmail.co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8" r="11188"/>
          <a:stretch>
            <a:fillRect/>
          </a:stretch>
        </p:blipFill>
        <p:spPr bwMode="auto">
          <a:xfrm>
            <a:off x="0" y="-1"/>
            <a:ext cx="12192000" cy="6880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5283277" y="6309320"/>
            <a:ext cx="1625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Toshkent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-202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6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07368" y="265354"/>
            <a:ext cx="114492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b="1" dirty="0">
                <a:latin typeface="Times New Roman" panose="02020603050405020304" pitchFamily="18" charset="0"/>
                <a:ea typeface="SimSun" panose="02010600030101010101" pitchFamily="2" charset="-122"/>
              </a:rPr>
              <a:t>O‘ZB</a:t>
            </a:r>
            <a:r>
              <a:rPr lang="en-US" b="1" dirty="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r>
              <a:rPr lang="uz-Cyrl-UZ" b="1" dirty="0">
                <a:latin typeface="Times New Roman" panose="02020603050405020304" pitchFamily="18" charset="0"/>
                <a:ea typeface="SimSun" panose="02010600030101010101" pitchFamily="2" charset="-122"/>
              </a:rPr>
              <a:t>KISTON R</a:t>
            </a:r>
            <a:r>
              <a:rPr lang="en-US" b="1" dirty="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r>
              <a:rPr lang="uz-Cyrl-UZ" b="1" dirty="0">
                <a:latin typeface="Times New Roman" panose="02020603050405020304" pitchFamily="18" charset="0"/>
                <a:ea typeface="SimSun" panose="02010600030101010101" pitchFamily="2" charset="-122"/>
              </a:rPr>
              <a:t>SPUBLIKASI </a:t>
            </a:r>
            <a:r>
              <a:rPr lang="en-US" b="1" dirty="0">
                <a:latin typeface="Times New Roman" panose="02020603050405020304" pitchFamily="18" charset="0"/>
                <a:ea typeface="SimSun" panose="02010600030101010101" pitchFamily="2" charset="-122"/>
              </a:rPr>
              <a:t>HARBIY XAVFSIZLIK VA MUDOFAA UNIVERSITETINING</a:t>
            </a:r>
            <a:endParaRPr lang="ru-RU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/>
            <a:r>
              <a:rPr lang="uz-Cyrl-UZ" b="1" dirty="0">
                <a:latin typeface="Times New Roman" panose="02020603050405020304" pitchFamily="18" charset="0"/>
                <a:ea typeface="SimSun" panose="02010600030101010101" pitchFamily="2" charset="-122"/>
              </a:rPr>
              <a:t> </a:t>
            </a:r>
            <a:endParaRPr lang="ru-RU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SimSun" panose="02010600030101010101" pitchFamily="2" charset="-122"/>
              </a:rPr>
              <a:t>AXBOROT-KOMMUNIKATSIYA TEXNOLOGIYALARI VA HARBIY ALOQA INSTITUTI</a:t>
            </a:r>
            <a:endParaRPr lang="ru-RU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2939" y="2852936"/>
            <a:ext cx="11966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 POG‘ONASIDA XAVFSIZ ALOQANI O‘RNATISH UCHUN KALITLARNI GENERATSIYA QILISH ALGORITMINI YARATISH</a:t>
            </a:r>
            <a:endParaRPr 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96000" y="4320879"/>
            <a:ext cx="61227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Loyiha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rahbari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PhD, professor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Yusupov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Bahodir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Karamatovich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Axborot-kommunikatsiya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harbiy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aloqa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instituti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tel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(+998 71)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502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-7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72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(9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718-05-60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mail: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bahodiryusupov1988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@gmail.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com</a:t>
            </a:r>
            <a:endParaRPr lang="uz-Cyrl-UZ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53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Картинки по запросу &quot;shavkat mirziyoyev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835802"/>
            <a:ext cx="3535389" cy="35353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Прямоугольник 1"/>
          <p:cNvSpPr>
            <a:spLocks noChangeArrowheads="1"/>
          </p:cNvSpPr>
          <p:nvPr/>
        </p:nvSpPr>
        <p:spPr bwMode="auto">
          <a:xfrm>
            <a:off x="1193295" y="1409787"/>
            <a:ext cx="4902705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Oʻzbekiston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Respublikasida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milliy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kriptologiya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sohasini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rivojlantirishning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dolzarb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yoʻnalishlari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boʻyicha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2024 — 2028-yillarga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moʻljallangan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ilmiy-tadqiqot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ishlari</a:t>
            </a:r>
            <a:r>
              <a:rPr lang="ru-RU" sz="1800" b="1" dirty="0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sz="1800" cap="all" dirty="0" err="1">
                <a:solidFill>
                  <a:srgbClr val="000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dasturi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145442" y="4390982"/>
            <a:ext cx="38847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Respublikasi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Prezidenti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Qurolli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Oliy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Bosh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Qo‘mondoni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Sh.M.Mirziyoyev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55440" y="4390982"/>
            <a:ext cx="489654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2024-yil 15-avgustdagi PQ-293-sonli 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Oʻzbekiston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Respublikasida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kriptologiya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taʼlim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ilm-fanni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rivojlantirish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boʻyicha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qoʻshimcha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chora-tadbirlar</a:t>
            </a:r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toʻgʻrisida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Qarori</a:t>
            </a:r>
            <a:endParaRPr lang="ru-RU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-27384"/>
            <a:ext cx="12192000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LOYIHANING DOLZARBLIGI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205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-27384"/>
            <a:ext cx="12192000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LOYIHANING DOLZARBLIGI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95D142-2202-4B83-A5C9-C6ED1B3373BF}"/>
              </a:ext>
            </a:extLst>
          </p:cNvPr>
          <p:cNvSpPr txBox="1"/>
          <p:nvPr/>
        </p:nvSpPr>
        <p:spPr>
          <a:xfrm>
            <a:off x="553625" y="1629372"/>
            <a:ext cx="11084750" cy="359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4500" algn="just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pog‘onasida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aloqani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rejimida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kriptobardoshli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generatsiyasini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axborot-kommunikatsiya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sanoat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infratuzilmalari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dolzarb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masala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Hozirgi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protokollar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qurilmalarda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olmaydi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himoyalash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bardoshlilik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yetarlicha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o‘rganilmagan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Shu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tezkor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xavfsizligini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262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-27384"/>
            <a:ext cx="1218429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LOYIHANING MAQSADI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81537" y="1638606"/>
            <a:ext cx="10821224" cy="3580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4500" algn="just" defTabSz="1280160">
              <a:lnSpc>
                <a:spcPct val="150000"/>
              </a:lnSpc>
              <a:defRPr/>
            </a:pP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Mazkur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transport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pog‘onasida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kriptografik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kalitlarni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algoritmini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chiqishga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qaratilgan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indent="444500" algn="just" defTabSz="1280160">
              <a:lnSpc>
                <a:spcPct val="150000"/>
              </a:lnSpc>
              <a:defRPr/>
            </a:pPr>
            <a:endParaRPr lang="en-US" sz="1000" b="1" dirty="0">
              <a:ln w="1143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4500" algn="just" defTabSz="1280160">
              <a:lnSpc>
                <a:spcPct val="150000"/>
              </a:lnSpc>
              <a:defRPr/>
            </a:pPr>
            <a:r>
              <a:rPr lang="en-US" sz="2400" b="1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Loyihaning</a:t>
            </a:r>
            <a:r>
              <a:rPr lang="en-US" sz="2400" b="1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b="1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r>
              <a:rPr lang="en-US" sz="2400" b="1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- transport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pog‘onasida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aloqani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ta’minlaydigan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kriptobardoshli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real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vaqtda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ishlaydigan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kalitlarni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algoritmini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yaratishdir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Mazkur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algoritm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almashinayotgan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maxfiylik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yaxlitlik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autentifikatsiya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kafolatlanadi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n w="11430"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623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-27384"/>
            <a:ext cx="1218429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 DOIRASIDA YECHILADIGAN MUAMMO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81537" y="1124744"/>
            <a:ext cx="10821224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4500" algn="just" defTabSz="1280160">
              <a:lnSpc>
                <a:spcPct val="150000"/>
              </a:lnSpc>
              <a:defRPr/>
            </a:pP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doirasida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platformalarda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jumladan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resurslari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xotira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energiya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past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quvvati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qurilmalarda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ishlay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real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rejimida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tezkor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imkoniyatiga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algoritm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44500" algn="just" defTabSz="1280160">
              <a:lnSpc>
                <a:spcPct val="150000"/>
              </a:lnSpc>
              <a:defRPr/>
            </a:pP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e’tibor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transport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pog‘onasida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zarur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kriptobardoshli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takrorlanmaydigan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sessiya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kalitlarini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yaratishga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qaratiladi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dastlabki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yopiq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qurilma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identifikatori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jihatdan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resurslarini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talab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qiladigan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usul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8380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-27384"/>
            <a:ext cx="1218429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 DOIRASIDA YECHILADIGAN MUAMMO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81537" y="1124744"/>
            <a:ext cx="10821224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4500" algn="just" defTabSz="1280160">
              <a:lnSpc>
                <a:spcPct val="150000"/>
              </a:lnSpc>
              <a:defRPr/>
            </a:pP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doirasida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platformalarda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jumladan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resurslari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xotira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energiya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past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quvvati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qurilmalarda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ishlay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real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rejimida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tezkor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imkoniyatiga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algoritm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44500" algn="just" defTabSz="1280160">
              <a:lnSpc>
                <a:spcPct val="150000"/>
              </a:lnSpc>
              <a:defRPr/>
            </a:pP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e’tibor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transport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pog‘onasida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zarur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kriptobardoshli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takrorlanmaydigan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sessiya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kalitlarini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yaratishga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qaratiladi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dastlabki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yopiq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qurilma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identifikatori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jihatdan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resurslarini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talab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qiladigan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usul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sz="2400" dirty="0">
                <a:ln w="11430"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571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14560"/>
            <a:ext cx="12192000" cy="76470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 TAFSILOTLARI</a:t>
            </a: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8039065-C8DE-4A0A-938A-C77EEF23AB86}"/>
              </a:ext>
            </a:extLst>
          </p:cNvPr>
          <p:cNvSpPr/>
          <p:nvPr/>
        </p:nvSpPr>
        <p:spPr>
          <a:xfrm>
            <a:off x="911424" y="1366791"/>
            <a:ext cx="10081119" cy="11575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9580" algn="just">
              <a:lnSpc>
                <a:spcPct val="150000"/>
              </a:lnSpc>
            </a:pPr>
            <a:r>
              <a:rPr lang="uz-Cyrl-UZ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Loyiha i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</a:t>
            </a:r>
            <a:r>
              <a:rPr lang="uz-Cyrl-UZ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tirokchilari</a:t>
            </a:r>
            <a:r>
              <a:rPr lang="uz-Cyrl-UZ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bir nafar rahbar va 1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2 </a:t>
            </a:r>
            <a:r>
              <a:rPr lang="uz-Cyrl-UZ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nafar ishchi xodimlardan iborat jamoadan tashkil top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gan</a:t>
            </a:r>
            <a:r>
              <a:rPr lang="uz-Cyrl-UZ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  <a:endParaRPr 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E11D40-09C6-4A7F-A3ED-FA890AD3EA52}"/>
              </a:ext>
            </a:extLst>
          </p:cNvPr>
          <p:cNvSpPr/>
          <p:nvPr/>
        </p:nvSpPr>
        <p:spPr>
          <a:xfrm>
            <a:off x="911424" y="2996952"/>
            <a:ext cx="10081119" cy="1991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958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Transport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pog‘onasida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xavfsiz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aloqani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o‘rnatish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uchun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kalitlarni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generatsiya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qilish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algoritmini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yaratish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loyihasi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2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yilga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mo‘ljallangan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bo‘lib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2026-2028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yillar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oralig‘ida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bajarilishi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rejalashtirilgan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6E32FE8-2EB8-410A-9389-DE594435D3F9}"/>
              </a:ext>
            </a:extLst>
          </p:cNvPr>
          <p:cNvSpPr/>
          <p:nvPr/>
        </p:nvSpPr>
        <p:spPr>
          <a:xfrm>
            <a:off x="911423" y="5428324"/>
            <a:ext cx="10081119" cy="11575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9580" algn="just">
              <a:lnSpc>
                <a:spcPct val="150000"/>
              </a:lnSpc>
            </a:pP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Loyihani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amalga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oshirish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uchun</a:t>
            </a:r>
            <a:r>
              <a:rPr lang="en-US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de-DE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1.500.000000 (</a:t>
            </a:r>
            <a:r>
              <a:rPr lang="de-DE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Bir</a:t>
            </a:r>
            <a:r>
              <a:rPr lang="de-DE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de-DE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milliard</a:t>
            </a:r>
            <a:r>
              <a:rPr lang="de-DE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de-DE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besh</a:t>
            </a:r>
            <a:r>
              <a:rPr lang="de-DE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de-DE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yuz</a:t>
            </a:r>
            <a:r>
              <a:rPr lang="de-DE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de-DE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million</a:t>
            </a:r>
            <a:r>
              <a:rPr lang="de-DE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de-DE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so‘m</a:t>
            </a:r>
            <a:r>
              <a:rPr lang="de-DE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) talab </a:t>
            </a:r>
            <a:r>
              <a:rPr lang="de-DE" sz="24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qilinadi</a:t>
            </a:r>
            <a:r>
              <a:rPr lang="de-DE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  <a:endParaRPr 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768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13674" y="1051783"/>
          <a:ext cx="11964652" cy="5743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8233">
                  <a:extLst>
                    <a:ext uri="{9D8B030D-6E8A-4147-A177-3AD203B41FA5}">
                      <a16:colId xmlns:a16="http://schemas.microsoft.com/office/drawing/2014/main" val="906468400"/>
                    </a:ext>
                  </a:extLst>
                </a:gridCol>
                <a:gridCol w="2991163">
                  <a:extLst>
                    <a:ext uri="{9D8B030D-6E8A-4147-A177-3AD203B41FA5}">
                      <a16:colId xmlns:a16="http://schemas.microsoft.com/office/drawing/2014/main" val="2976843636"/>
                    </a:ext>
                  </a:extLst>
                </a:gridCol>
                <a:gridCol w="1145083">
                  <a:extLst>
                    <a:ext uri="{9D8B030D-6E8A-4147-A177-3AD203B41FA5}">
                      <a16:colId xmlns:a16="http://schemas.microsoft.com/office/drawing/2014/main" val="3431731965"/>
                    </a:ext>
                  </a:extLst>
                </a:gridCol>
                <a:gridCol w="7230173">
                  <a:extLst>
                    <a:ext uri="{9D8B030D-6E8A-4147-A177-3AD203B41FA5}">
                      <a16:colId xmlns:a16="http://schemas.microsoft.com/office/drawing/2014/main" val="3831885711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Bosqich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Muddati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995937"/>
                  </a:ext>
                </a:extLst>
              </a:tr>
              <a:tr h="15074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Ilmiy-texnik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talablarni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</a:t>
                      </a:r>
                      <a:r>
                        <a:rPr lang="en-US" sz="1800" b="0" i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oy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Transport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pog‘onasida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kalit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jarayonlariga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qo‘yiladigan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xalqaro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milliy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talablarni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o‘rganish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TLS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milliy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protokollarda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mavjud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kalit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almashinuv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mexanizmlarini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Resurslari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cheklangan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qurilmalar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(32-bit MCU)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cheklovlarni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Transport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pog‘onasi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kalitlarni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qo‘yiladigan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funksional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apparat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kriptografik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talablarni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Loyiha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davomida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kriptografik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talablar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algoritmning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dastlabki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konseptual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ilmiy-texnik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hisobot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kabi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oraliq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natijalar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tayyorlanadi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6629974"/>
                  </a:ext>
                </a:extLst>
              </a:tr>
              <a:tr h="12059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Algoritmning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nazariy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matematik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asoslarini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ru-RU" sz="1800" b="0" i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oy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Transport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pog‘onasi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kalitlarni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boshlang‘ich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yopiq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parametrlar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qo‘shimcha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ma’lumotlar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asosida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kalitlar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generatsiyasining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matematik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Transport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pog‘onasi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kalitlarni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tomonlama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funksiyalar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е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ngil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kriptografik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yondashuvlar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tanlanadi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Transport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pog‘onasi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kalitlarni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kriptobardoshlik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dastlabki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baholash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mezonlari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1851600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-14560"/>
            <a:ext cx="12192000" cy="76470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</a:t>
            </a: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AMALGA OSHIRISH BOSQICHLARI</a:t>
            </a: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114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7782"/>
              </p:ext>
            </p:extLst>
          </p:nvPr>
        </p:nvGraphicFramePr>
        <p:xfrm>
          <a:off x="191344" y="908720"/>
          <a:ext cx="11521280" cy="554885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9064684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97684363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431731965"/>
                    </a:ext>
                  </a:extLst>
                </a:gridCol>
                <a:gridCol w="6768752">
                  <a:extLst>
                    <a:ext uri="{9D8B030D-6E8A-4147-A177-3AD203B41FA5}">
                      <a16:colId xmlns:a16="http://schemas.microsoft.com/office/drawing/2014/main" val="3831885711"/>
                    </a:ext>
                  </a:extLst>
                </a:gridCol>
              </a:tblGrid>
              <a:tr h="11733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Bosqich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vert27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Muddati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995937"/>
                  </a:ext>
                </a:extLst>
              </a:tr>
              <a:tr h="13580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Dasturiy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apparat (FPGA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yoki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ASIC)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realizatsiyasi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ru-RU" sz="1800" b="0" i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oy</a:t>
                      </a:r>
                      <a:endParaRPr lang="ru-RU" sz="1800" b="0" i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Algoritmning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dasturiy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prototipi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C/C++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Python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dasturlash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tilida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Sinov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(test)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vektorlarini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tayyorlash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Apparat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realizatsiyasi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32-bit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mikrokontrollerlarda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(ARM Cortex-M, RISC-V)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FPGA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yoki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ASIC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mikrosxemalarida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amalga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oshiriladi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natijalar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sinov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vektorlari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solishtiriladi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6629974"/>
                  </a:ext>
                </a:extLst>
              </a:tr>
              <a:tr h="13580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Sinovdan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o‘tkazish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samaradorlikni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baholash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1800" b="0" i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oy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Energiya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resurs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(RAM, ROM,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vaqt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sarfi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kechikish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o‘tkazuvchanlik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xavfsizlik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darajasi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xususiyatlari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ko‘rsatkichlarni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o‘lchash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O‘lchash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natijalarga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ko‘ra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algoritmning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samaradorligi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baholanadi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Zarurat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tug‘ilsa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optimallashtirish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ishlari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amalga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oshiriladi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1851600"/>
                  </a:ext>
                </a:extLst>
              </a:tr>
              <a:tr h="13580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Yakuniy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ilmiy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hisobotlar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texnik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hujjatlarni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chiqish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oy</a:t>
                      </a:r>
                      <a:endParaRPr lang="ru-RU" sz="18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Yakuniy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ilmiy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hisobotlarni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tayyorlash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texnik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hujjatlarni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chiqish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270510" algn="l"/>
                          <a:tab pos="810260" algn="l"/>
                        </a:tabLst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Loyihaning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oxirgi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bosqichi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tugagandan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so‘ng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buyurtmachiga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transport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pog‘onasida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xavfsiz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aloqani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o‘rnatish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kalitlarni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generatsiya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algoritmini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qabul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qilishi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bayonnoma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taqdim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etish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07564978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-14560"/>
            <a:ext cx="12192000" cy="76470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LOYIHANI</a:t>
            </a: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AMALGA OSHIRISH BOSQICHLARI</a:t>
            </a: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989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-27384"/>
            <a:ext cx="12192000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 RAHBARI VA ASOSIY IJROCHILAR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8DF070-F253-415F-A1AB-BBA54392C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070310"/>
              </p:ext>
            </p:extLst>
          </p:nvPr>
        </p:nvGraphicFramePr>
        <p:xfrm>
          <a:off x="209345" y="883281"/>
          <a:ext cx="11773309" cy="509143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70993">
                  <a:extLst>
                    <a:ext uri="{9D8B030D-6E8A-4147-A177-3AD203B41FA5}">
                      <a16:colId xmlns:a16="http://schemas.microsoft.com/office/drawing/2014/main" val="3233751133"/>
                    </a:ext>
                  </a:extLst>
                </a:gridCol>
                <a:gridCol w="2446376">
                  <a:extLst>
                    <a:ext uri="{9D8B030D-6E8A-4147-A177-3AD203B41FA5}">
                      <a16:colId xmlns:a16="http://schemas.microsoft.com/office/drawing/2014/main" val="3190786083"/>
                    </a:ext>
                  </a:extLst>
                </a:gridCol>
                <a:gridCol w="1691805">
                  <a:extLst>
                    <a:ext uri="{9D8B030D-6E8A-4147-A177-3AD203B41FA5}">
                      <a16:colId xmlns:a16="http://schemas.microsoft.com/office/drawing/2014/main" val="2956555329"/>
                    </a:ext>
                  </a:extLst>
                </a:gridCol>
                <a:gridCol w="1361087">
                  <a:extLst>
                    <a:ext uri="{9D8B030D-6E8A-4147-A177-3AD203B41FA5}">
                      <a16:colId xmlns:a16="http://schemas.microsoft.com/office/drawing/2014/main" val="760878064"/>
                    </a:ext>
                  </a:extLst>
                </a:gridCol>
                <a:gridCol w="1184384">
                  <a:extLst>
                    <a:ext uri="{9D8B030D-6E8A-4147-A177-3AD203B41FA5}">
                      <a16:colId xmlns:a16="http://schemas.microsoft.com/office/drawing/2014/main" val="1041289336"/>
                    </a:ext>
                  </a:extLst>
                </a:gridCol>
                <a:gridCol w="1014846">
                  <a:extLst>
                    <a:ext uri="{9D8B030D-6E8A-4147-A177-3AD203B41FA5}">
                      <a16:colId xmlns:a16="http://schemas.microsoft.com/office/drawing/2014/main" val="339126974"/>
                    </a:ext>
                  </a:extLst>
                </a:gridCol>
                <a:gridCol w="3403818">
                  <a:extLst>
                    <a:ext uri="{9D8B030D-6E8A-4147-A177-3AD203B41FA5}">
                      <a16:colId xmlns:a16="http://schemas.microsoft.com/office/drawing/2014/main" val="2894617487"/>
                    </a:ext>
                  </a:extLst>
                </a:gridCol>
              </a:tblGrid>
              <a:tr h="1199306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Familiyasi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ismi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otasining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ismi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Tug‘ilgan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kuni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oyi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yili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Ilmiy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darajasi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olgan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yili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Ilmiy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unvon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olgan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yili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Ilmiy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maqo-lalari-ning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umumiy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soni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manzili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pochta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indeksi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viloyat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tuman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ko‘cha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raqami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qavs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ichida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kodi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birga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uy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telefon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raqamlari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elektron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pochta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372190"/>
                  </a:ext>
                </a:extLst>
              </a:tr>
              <a:tr h="1370635">
                <a:tc>
                  <a:txBody>
                    <a:bodyPr/>
                    <a:lstStyle/>
                    <a:p>
                      <a:pPr indent="-294005"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Yusupov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Bahodir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Karamatovich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loyiha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rahbari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13.07.1988 y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PhD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20-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yil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Professor, 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24-</a:t>
                      </a:r>
                      <a:r>
                        <a:rPr lang="ru-RU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yil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shahri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Chilonzor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3-mavze 4-uy, 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24-xonadon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(1001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b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+998 9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718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+998 9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889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bahodiryusupov1988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@gmail.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com)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029403"/>
                  </a:ext>
                </a:extLst>
              </a:tr>
              <a:tr h="1199306">
                <a:tc>
                  <a:txBody>
                    <a:bodyPr/>
                    <a:lstStyle/>
                    <a:p>
                      <a:pPr indent="-294005"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Raximov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Baxtiyorjon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Ne’matovich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31.12.1986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t.f.d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(DSc),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2016-yil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Professor,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2020-yil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Olmazor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Yuqori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Sebzor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MFY, 38-uy, 39-xonadon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(100123, </a:t>
                      </a:r>
                      <a:b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0 174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brah2008@rambler.ru)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847167"/>
                  </a:ext>
                </a:extLst>
              </a:tr>
              <a:tr h="1199306">
                <a:tc>
                  <a:txBody>
                    <a:bodyPr/>
                    <a:lstStyle/>
                    <a:p>
                      <a:pPr indent="-294005" algn="ctr"/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To‘rayev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Botir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Zokirovich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24.02.1983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t.f.d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(DSc),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2023-yil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Professor,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2022-yil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Yunusobod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9-daha, 20-uy, 19-xonadon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(100123, </a:t>
                      </a:r>
                      <a:b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+97 110 24 02, 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btz2402@gmail.com)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914" marR="1591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9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550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-27384"/>
            <a:ext cx="12192000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 RAHBARI VA ASOSIY IJROCHILAR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8CD983F-3DDE-4496-B024-206D43AF8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052461"/>
              </p:ext>
            </p:extLst>
          </p:nvPr>
        </p:nvGraphicFramePr>
        <p:xfrm>
          <a:off x="263352" y="1124744"/>
          <a:ext cx="11665296" cy="522631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40828">
                  <a:extLst>
                    <a:ext uri="{9D8B030D-6E8A-4147-A177-3AD203B41FA5}">
                      <a16:colId xmlns:a16="http://schemas.microsoft.com/office/drawing/2014/main" val="1119444648"/>
                    </a:ext>
                  </a:extLst>
                </a:gridCol>
                <a:gridCol w="1607216">
                  <a:extLst>
                    <a:ext uri="{9D8B030D-6E8A-4147-A177-3AD203B41FA5}">
                      <a16:colId xmlns:a16="http://schemas.microsoft.com/office/drawing/2014/main" val="3051146369"/>
                    </a:ext>
                  </a:extLst>
                </a:gridCol>
                <a:gridCol w="1111481">
                  <a:extLst>
                    <a:ext uri="{9D8B030D-6E8A-4147-A177-3AD203B41FA5}">
                      <a16:colId xmlns:a16="http://schemas.microsoft.com/office/drawing/2014/main" val="4268074205"/>
                    </a:ext>
                  </a:extLst>
                </a:gridCol>
                <a:gridCol w="894205">
                  <a:extLst>
                    <a:ext uri="{9D8B030D-6E8A-4147-A177-3AD203B41FA5}">
                      <a16:colId xmlns:a16="http://schemas.microsoft.com/office/drawing/2014/main" val="3251687032"/>
                    </a:ext>
                  </a:extLst>
                </a:gridCol>
                <a:gridCol w="778115">
                  <a:extLst>
                    <a:ext uri="{9D8B030D-6E8A-4147-A177-3AD203B41FA5}">
                      <a16:colId xmlns:a16="http://schemas.microsoft.com/office/drawing/2014/main" val="3695183138"/>
                    </a:ext>
                  </a:extLst>
                </a:gridCol>
                <a:gridCol w="666731">
                  <a:extLst>
                    <a:ext uri="{9D8B030D-6E8A-4147-A177-3AD203B41FA5}">
                      <a16:colId xmlns:a16="http://schemas.microsoft.com/office/drawing/2014/main" val="1316858582"/>
                    </a:ext>
                  </a:extLst>
                </a:gridCol>
                <a:gridCol w="6166720">
                  <a:extLst>
                    <a:ext uri="{9D8B030D-6E8A-4147-A177-3AD203B41FA5}">
                      <a16:colId xmlns:a16="http://schemas.microsoft.com/office/drawing/2014/main" val="3731920550"/>
                    </a:ext>
                  </a:extLst>
                </a:gridCol>
              </a:tblGrid>
              <a:tr h="959601">
                <a:tc>
                  <a:txBody>
                    <a:bodyPr/>
                    <a:lstStyle/>
                    <a:p>
                      <a:pPr indent="-294005"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Turapov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Sherzod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Nurmatovich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22.09.1989 y.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DSc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2024-yil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Professor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2025-yil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viloyati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Yuqorichirchiq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Qorasuv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M.F.Y., 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4/11-xonadon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(111913, </a:t>
                      </a:r>
                      <a:b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+998 99 313 91 89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85"/>
                  </a:ext>
                </a:extLst>
              </a:tr>
              <a:tr h="1353064">
                <a:tc>
                  <a:txBody>
                    <a:bodyPr/>
                    <a:lstStyle/>
                    <a:p>
                      <a:pPr indent="-294005"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Nishanov Islom Ibroximovich 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02.05.1988 y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PhD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shahar, Yashnobod tumani </a:t>
                      </a:r>
                      <a:br>
                        <a:rPr lang="uz-Cyrl-UZ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uz-Cyrl-UZ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17a-uy 14-xonadon.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uz-Cyrl-UZ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+998(97) 766-64-65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uz-Cyrl-UZ" sz="1400" u="sng" dirty="0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islom.ibragimov.</a:t>
                      </a:r>
                      <a:r>
                        <a:rPr lang="en-US" sz="1400" u="sng" dirty="0">
                          <a:solidFill>
                            <a:srgbClr val="0563C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4122</a:t>
                      </a:r>
                      <a:r>
                        <a:rPr lang="uz-Cyrl-UZ" sz="1400" u="sng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@gmail.com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037422"/>
                  </a:ext>
                </a:extLst>
              </a:tr>
              <a:tr h="966475">
                <a:tc>
                  <a:txBody>
                    <a:bodyPr/>
                    <a:lstStyle/>
                    <a:p>
                      <a:pPr indent="-294005"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Komilov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Alisher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Abdumannob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o‘g‘li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30.12.1995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PhD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24-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yil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Yanhihayot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8-qurilish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hududi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73-uy, </a:t>
                      </a:r>
                      <a:b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9-xonadon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(1001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b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+998 90 133 40 98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ru-RU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lisher.abdumannob@gmail</a:t>
                      </a:r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3715829"/>
                  </a:ext>
                </a:extLst>
              </a:tr>
              <a:tr h="1739654">
                <a:tc>
                  <a:txBody>
                    <a:bodyPr/>
                    <a:lstStyle/>
                    <a:p>
                      <a:pPr indent="-294005"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6482" marR="164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Mardiyev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Ulugbek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Rasulovich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30.08.1988 y.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Mirzo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Ulug‘bek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Milliy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bog‘ </a:t>
                      </a:r>
                      <a:r>
                        <a:rPr lang="en-US" sz="14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ko‘chasi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88-uy, 13-xonadon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(+99 890 942 92 58)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4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ulugbekmardiyev@gmail.com</a:t>
                      </a:r>
                      <a:endParaRPr lang="ru-RU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275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658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-27384"/>
            <a:ext cx="12192000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LOYIHA RAHBARI VA ASOSIY IJROCHILAR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F896689-F067-450C-B39A-0F1C470EF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986704"/>
              </p:ext>
            </p:extLst>
          </p:nvPr>
        </p:nvGraphicFramePr>
        <p:xfrm>
          <a:off x="401452" y="665593"/>
          <a:ext cx="11389097" cy="5526814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09972">
                  <a:extLst>
                    <a:ext uri="{9D8B030D-6E8A-4147-A177-3AD203B41FA5}">
                      <a16:colId xmlns:a16="http://schemas.microsoft.com/office/drawing/2014/main" val="191157253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423748495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567713954"/>
                    </a:ext>
                  </a:extLst>
                </a:gridCol>
                <a:gridCol w="841921">
                  <a:extLst>
                    <a:ext uri="{9D8B030D-6E8A-4147-A177-3AD203B41FA5}">
                      <a16:colId xmlns:a16="http://schemas.microsoft.com/office/drawing/2014/main" val="1558748292"/>
                    </a:ext>
                  </a:extLst>
                </a:gridCol>
                <a:gridCol w="598239">
                  <a:extLst>
                    <a:ext uri="{9D8B030D-6E8A-4147-A177-3AD203B41FA5}">
                      <a16:colId xmlns:a16="http://schemas.microsoft.com/office/drawing/2014/main" val="88776388"/>
                    </a:ext>
                  </a:extLst>
                </a:gridCol>
                <a:gridCol w="691124">
                  <a:extLst>
                    <a:ext uri="{9D8B030D-6E8A-4147-A177-3AD203B41FA5}">
                      <a16:colId xmlns:a16="http://schemas.microsoft.com/office/drawing/2014/main" val="3938113052"/>
                    </a:ext>
                  </a:extLst>
                </a:gridCol>
                <a:gridCol w="4571377">
                  <a:extLst>
                    <a:ext uri="{9D8B030D-6E8A-4147-A177-3AD203B41FA5}">
                      <a16:colId xmlns:a16="http://schemas.microsoft.com/office/drawing/2014/main" val="2477174827"/>
                    </a:ext>
                  </a:extLst>
                </a:gridCol>
              </a:tblGrid>
              <a:tr h="98352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8.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Boboyev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Nabi </a:t>
                      </a:r>
                      <a:b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Tohir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o‘g‘li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27.01.1997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PhD, </a:t>
                      </a:r>
                      <a:b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2023-yil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Yashnabod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58-harbiy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shaharcha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50/5</a:t>
                      </a:r>
                      <a:endParaRPr lang="ru-RU" sz="13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(100112, +998993851574)</a:t>
                      </a:r>
                      <a:endParaRPr lang="ru-RU" sz="13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811367"/>
                  </a:ext>
                </a:extLst>
              </a:tr>
              <a:tr h="81667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9.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Xayitov Davronbek Dilshodbek o‘g‘li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r>
                        <a:rPr lang="uz-Cyrl-UZ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  <a:r>
                        <a:rPr lang="uz-Cyrl-UZ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.19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M.Ulug‘bek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qorasuv-1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dahasi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chimyon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mahallasi</a:t>
                      </a:r>
                      <a:b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42-uy, 56-xonadon</a:t>
                      </a:r>
                      <a:endParaRPr lang="ru-RU" sz="13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uz-Cyrl-UZ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(100123, +9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9 899</a:t>
                      </a:r>
                      <a:r>
                        <a:rPr lang="uz-Cyrl-UZ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r>
                        <a:rPr lang="uz-Cyrl-UZ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23)</a:t>
                      </a:r>
                      <a:endParaRPr lang="ru-RU" sz="13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844089"/>
                  </a:ext>
                </a:extLst>
              </a:tr>
              <a:tr h="136264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10.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Isakov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Muxriddin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Marifjon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o‘g‘li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.19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9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Uchtepa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Xuroson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MFY, </a:t>
                      </a:r>
                      <a:b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12-daha, 19-uy, 34-xonadon</a:t>
                      </a:r>
                      <a:endParaRPr lang="ru-RU" sz="13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(100123, +9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5 040</a:t>
                      </a:r>
                      <a:r>
                        <a:rPr lang="ru-RU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r>
                        <a:rPr lang="ru-RU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03)</a:t>
                      </a:r>
                      <a:endParaRPr lang="ru-RU" sz="9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224001"/>
                  </a:ext>
                </a:extLst>
              </a:tr>
              <a:tr h="86936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11.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Fayzullayev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Arslonbek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Xayrulla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o‘g‘li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31.07.1998 </a:t>
                      </a:r>
                      <a:r>
                        <a:rPr lang="ru-RU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Chilonzor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17-daha, 30-uy, </a:t>
                      </a:r>
                      <a:b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17-xonadon</a:t>
                      </a:r>
                      <a:endParaRPr lang="ru-RU" sz="13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(1001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r>
                        <a:rPr lang="ru-RU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+998 99 078 07 31)</a:t>
                      </a:r>
                      <a:endParaRPr lang="ru-RU" sz="13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186154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12.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Qodomboyev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Rasulbek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O‘tkir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o‘g‘li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11.07.2000 </a:t>
                      </a:r>
                      <a:r>
                        <a:rPr lang="ru-RU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ru-RU" sz="9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Yangihayot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Yangidarxon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14-uy, 22-xonadon</a:t>
                      </a:r>
                      <a:endParaRPr lang="ru-RU" sz="13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+998 99 332 10 38)</a:t>
                      </a:r>
                      <a:endParaRPr lang="ru-RU" sz="9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6712195"/>
                  </a:ext>
                </a:extLst>
              </a:tr>
              <a:tr h="70251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13.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Ortiqboyev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Akbar 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Murodullayevich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12.11.1992 y.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Yo‘q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Toshkent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shahar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Mirzo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Ulug‘bek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tumani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Qorasuv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3, 10-uy, 3-xonadon</a:t>
                      </a:r>
                      <a:endParaRPr lang="ru-RU" sz="13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+99897 733 99 52 </a:t>
                      </a:r>
                      <a:endParaRPr lang="ru-RU" sz="13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256" marR="1125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258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63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56074D-B48B-470D-92BF-95FF6FD21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58" y="1029120"/>
            <a:ext cx="11528982" cy="5205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Transport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pog‘onasida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aloqani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ta’minlash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resursi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qurilmalarda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ishlaydigan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konseptual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samaradorlik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kechikish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xotira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sarfi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mezonlari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usullari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davlatlar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tajribasi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NIST (Statistical Test Suite), ISO/IEC 29192 (Lightweight cryptography)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ETSI (European Telecommunications Standards Institute)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standartlari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talablariga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muvofiq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Algoritmni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amaliyotga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standart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hujjat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loyihasi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tayyorlanadi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qurilmalarda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ishlatishga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kutubxona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yechimi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C1F5F8D-83A1-4956-99C5-7EA97F52A961}"/>
              </a:ext>
            </a:extLst>
          </p:cNvPr>
          <p:cNvSpPr/>
          <p:nvPr/>
        </p:nvSpPr>
        <p:spPr>
          <a:xfrm>
            <a:off x="0" y="-27384"/>
            <a:ext cx="12184298" cy="620873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TADQIQOTNING ILMIY YANGILIGI</a:t>
            </a:r>
            <a:endParaRPr lang="ru-RU" sz="2000" dirty="0">
              <a:ln w="11430">
                <a:solidFill>
                  <a:schemeClr val="tx2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594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377569"/>
              </p:ext>
            </p:extLst>
          </p:nvPr>
        </p:nvGraphicFramePr>
        <p:xfrm>
          <a:off x="1783905" y="980728"/>
          <a:ext cx="8632577" cy="57826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91572">
                  <a:extLst>
                    <a:ext uri="{9D8B030D-6E8A-4147-A177-3AD203B41FA5}">
                      <a16:colId xmlns:a16="http://schemas.microsoft.com/office/drawing/2014/main" val="2900988120"/>
                    </a:ext>
                  </a:extLst>
                </a:gridCol>
                <a:gridCol w="2642256">
                  <a:extLst>
                    <a:ext uri="{9D8B030D-6E8A-4147-A177-3AD203B41FA5}">
                      <a16:colId xmlns:a16="http://schemas.microsoft.com/office/drawing/2014/main" val="3555246516"/>
                    </a:ext>
                  </a:extLst>
                </a:gridCol>
                <a:gridCol w="5498749">
                  <a:extLst>
                    <a:ext uri="{9D8B030D-6E8A-4147-A177-3AD203B41FA5}">
                      <a16:colId xmlns:a16="http://schemas.microsoft.com/office/drawing/2014/main" val="2462287061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Т/р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Нашр ишлари, патентлар, гувоҳномалар номлари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00"/>
                        </a:spcBef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Журнал, тўплам (йил, номер, бетли), нашриёт ёки муаллификлик гувоҳномаси рақами</a:t>
                      </a:r>
                      <a:endParaRPr lang="ru-RU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extLst>
                  <a:ext uri="{0D108BD9-81ED-4DB2-BD59-A6C34878D82A}">
                    <a16:rowId xmlns:a16="http://schemas.microsoft.com/office/drawing/2014/main" val="3478546622"/>
                  </a:ext>
                </a:extLst>
              </a:tr>
              <a:tr h="55598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a method for generating substitution tables for binary and ternary number systems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AIP Publishing: AIP Conference Proceedings “International Uzbekistan-Malaysia Conference on “Computational models and technologies (CMT2020)”, Volume 2365. Melville, New York, 2021, 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040003-1 - 040003-11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(Scopus).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2284833609"/>
                  </a:ext>
                </a:extLst>
              </a:tr>
              <a:tr h="55598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Selection of the optimal type of the gamming function for symmetric encryption algorithms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AIP Publishing: AIP Conference Proceedings “International Uzbekistan-Malaysia Conference on “Computational models and technologies (CMT2020)”, Volume 2365. Melville, New York, 2021, 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 040004-1 - 040003-13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(Scopus).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1495308087"/>
                  </a:ext>
                </a:extLst>
              </a:tr>
              <a:tr h="333593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Latn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Verification of the pocket filtering based on method of verification on the model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ICISCT Uzbekistan 2019. International Conference on Information Science and Communications Technologies 4-6 November, TUIT Campus, Local Hotels, Tashkent Uzbekistan. Section II № 28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(Scopus).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extLst>
                  <a:ext uri="{0D108BD9-81ED-4DB2-BD59-A6C34878D82A}">
                    <a16:rowId xmlns:a16="http://schemas.microsoft.com/office/drawing/2014/main" val="347993181"/>
                  </a:ext>
                </a:extLst>
              </a:tr>
              <a:tr h="767083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368300" algn="l"/>
                        </a:tabLst>
                      </a:pPr>
                      <a:r>
                        <a:rPr lang="uz-Latn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 and algorithms for solving problems associated with large amounts of data in the military sphere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003425" algn="l"/>
                        </a:tabLst>
                        <a:defRPr/>
                      </a:pPr>
                      <a:r>
                        <a:rPr lang="uz-Latn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ICISCT 2020. International Conference on Information Science and Communications Technologies 4-6 November, TUIT Campus, Local Hotels, Tashkent Uzbekistan. Section II № 2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(Scopus).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2085451053"/>
                  </a:ext>
                </a:extLst>
              </a:tr>
              <a:tr h="804787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Тhe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comparative analysis of technologies relational databases and block chain</a:t>
                      </a:r>
                      <a:endParaRPr lang="ru-RU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Solid State Technology Volume: 63 Issue: 6, 2020, р. 131-140, http://solidstatetechnology.us/index.php/JSST/issue/view/49(Scopus). </a:t>
                      </a:r>
                      <a:endParaRPr lang="ru-RU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3288024773"/>
                  </a:ext>
                </a:extLst>
              </a:tr>
              <a:tr h="100077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of the application of the new cryptographic algorithms: applying the cipher algorithm O’zDSt1105:2009 for MS office document encryption.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90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Proceedings of the 5th International Conference on Engineering and MIS (ICEMIS ’19). ACM, New York, NY, USA. 10.1145/3330431.3330434 (Scopus)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2326" marR="32326" marT="0" marB="0" anchor="ctr"/>
                </a:tc>
                <a:extLst>
                  <a:ext uri="{0D108BD9-81ED-4DB2-BD59-A6C34878D82A}">
                    <a16:rowId xmlns:a16="http://schemas.microsoft.com/office/drawing/2014/main" val="1056022892"/>
                  </a:ext>
                </a:extLst>
              </a:tr>
              <a:tr h="100077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Cyrl-UZ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  <a:tabLst>
                          <a:tab pos="2003425" algn="l"/>
                        </a:tabLst>
                      </a:pPr>
                      <a:r>
                        <a:rPr lang="uz-Latn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of constucting packet filtering rules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003425" algn="l"/>
                        </a:tabLst>
                        <a:defRPr/>
                      </a:pPr>
                      <a:r>
                        <a:rPr lang="uz-Latn-UZ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ICISCT Uzbekistan 2019. International Conference on Information Science and Communications Technologies 4-6 November, TUIT Campus, Local Hotels, Tashkent Uzbekistan. Section IV № 40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(Scopus).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680" marR="45680" marT="0" marB="0" anchor="ctr"/>
                </a:tc>
                <a:extLst>
                  <a:ext uri="{0D108BD9-81ED-4DB2-BD59-A6C34878D82A}">
                    <a16:rowId xmlns:a16="http://schemas.microsoft.com/office/drawing/2014/main" val="617627041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1841367" y="71824"/>
            <a:ext cx="8633258" cy="76488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ИЖРОЧИЛАРИНИНГ СЎНГГИ УЧ ЙИЛ ДАВОМИДА ЭРИШГАН АСОСИЙ ИЛМИЙ НАТИЖАЛАРИ</a:t>
            </a:r>
          </a:p>
        </p:txBody>
      </p:sp>
    </p:spTree>
    <p:extLst>
      <p:ext uri="{BB962C8B-B14F-4D97-AF65-F5344CB8AC3E}">
        <p14:creationId xmlns:p14="http://schemas.microsoft.com/office/powerpoint/2010/main" val="2302229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775520" y="71824"/>
            <a:ext cx="8784976" cy="836897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ИШТИРОКЧИЛАРИ ТОМОНИДАН БАЖАРИЛГАН ВА БАЖАРИБ КЕЛИНАЁТГАН ЛОЙИҲАЛАР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775520" y="1124744"/>
            <a:ext cx="8784976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38163" algn="just">
              <a:spcAft>
                <a:spcPts val="1200"/>
              </a:spcAft>
              <a:buFont typeface="+mj-lt"/>
              <a:buAutoNum type="arabicPeriod"/>
            </a:pP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Лойиҳа ижрочилари томонидан жумладан, </a:t>
            </a: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Давлат илмий-техника дастурлари бажарилиши 2019-2021 йилларга мўлжалланган “Камуфляж” шифрли “Махсус операция кучлари ҳарбий хизматчиларини иссиқлик спектридан ҳимояловчи камуфляж” мавзусидаги инновацион лойиҳа.</a:t>
            </a:r>
          </a:p>
          <a:p>
            <a:pPr indent="538163" algn="just">
              <a:spcAft>
                <a:spcPts val="1200"/>
              </a:spcAft>
              <a:buFont typeface="+mj-lt"/>
              <a:buAutoNum type="arabicPeriod"/>
            </a:pP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Қўшма «Танкист» шифрли “Танк экипажини амалий билим ва кўникмаларини ошириш учун Т-72 танкининг инновацион симулятор тренажерини ишлаб чиқиш” мақсадли инновацион лойиҳа. </a:t>
            </a:r>
          </a:p>
          <a:p>
            <a:pPr indent="538163" algn="just">
              <a:spcAft>
                <a:spcPts val="1200"/>
              </a:spcAft>
              <a:buFont typeface="+mj-lt"/>
              <a:buAutoNum type="arabicPeriod"/>
            </a:pP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2020-2022 йилларга мўлжалланган қўшма «Ҳумоюн» шифрли «Зенит ракета дивизионининг қўмондонлик бошқарув машинасининг жанговар иш бўйича симуляцион тренажерини ишлаб чиқиш» мақсадли инновацион лойиҳа.</a:t>
            </a:r>
          </a:p>
        </p:txBody>
      </p:sp>
    </p:spTree>
    <p:extLst>
      <p:ext uri="{BB962C8B-B14F-4D97-AF65-F5344CB8AC3E}">
        <p14:creationId xmlns:p14="http://schemas.microsoft.com/office/powerpoint/2010/main" val="1825004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775520" y="144016"/>
            <a:ext cx="8784976" cy="98072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ЛОЙИҲА ИШТИРОКЧИЛАРИ ТОМОНИДАН БАЖАРИЛГАН ВА БАЖАРИБ КЕЛИНАЁТГАН ЛОЙИҲАЛАР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775520" y="1280368"/>
            <a:ext cx="8784976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Лойиҳа ижрочилари Ўзбекистон Республикаси Давлат хавфсизлик хизмати томонидан ташкиллаштирилган танловларда 4 та ёпиқ мавзудаги  илмий лойиҳаларни ютишга муваффақ бўлишган. Ушбу лойиҳалар ўз вақтида ва сифатли бажарилган. Бунинг натижасида ахборотни ҳимоялашни криптографик воситаларини лойиҳалаштириш ва ишлаб чиқиш фаолият турлари билан шуғулланиш ҳуқуқини берувчи 2 та лицензия Давлат хавфсизлик хизмати томонидан Ўзбекистон Миллий университетига берилган </a:t>
            </a:r>
            <a:r>
              <a:rPr lang="uz-Cyrl-UZ" sz="24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(илова қилинади)</a:t>
            </a: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2021 йил январь ойидан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UZB-Ind-2021-98 </a:t>
            </a:r>
            <a:r>
              <a:rPr lang="uz-Cyrl-UZ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шифрли Ўзбекистон-Ҳиндистон қўшма лойиҳалар бажарилмоқда.</a:t>
            </a:r>
          </a:p>
        </p:txBody>
      </p:sp>
    </p:spTree>
    <p:extLst>
      <p:ext uri="{BB962C8B-B14F-4D97-AF65-F5344CB8AC3E}">
        <p14:creationId xmlns:p14="http://schemas.microsoft.com/office/powerpoint/2010/main" val="1586666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86754" y="5219908"/>
            <a:ext cx="108538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z-Cyrl-UZ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1 500 000 000</a:t>
            </a:r>
            <a:r>
              <a:rPr lang="uz-Cyrl-UZ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milliard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besh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yuz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million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so‘m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12192000" cy="908719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44625" eaLnBrk="0" hangingPunct="0">
              <a:defRPr/>
            </a:pP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LOYIHANING</a:t>
            </a:r>
            <a:r>
              <a:rPr lang="uz-Cyrl-UZ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MOLIYAVIY</a:t>
            </a:r>
            <a:r>
              <a:rPr lang="uz-Cyrl-UZ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</a:t>
            </a:r>
            <a:r>
              <a:rPr lang="uz-Cyrl-UZ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KITOBLARI</a:t>
            </a:r>
            <a:br>
              <a:rPr lang="ru-RU" alt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XARAJATLAR</a:t>
            </a:r>
            <a:r>
              <a:rPr lang="uz-Cyrl-UZ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 sz="2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SMETASI</a:t>
            </a: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5D34271-F36B-4F7F-9288-AE27053F1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068552"/>
              </p:ext>
            </p:extLst>
          </p:nvPr>
        </p:nvGraphicFramePr>
        <p:xfrm>
          <a:off x="570730" y="1268760"/>
          <a:ext cx="11069886" cy="38581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63077">
                  <a:extLst>
                    <a:ext uri="{9D8B030D-6E8A-4147-A177-3AD203B41FA5}">
                      <a16:colId xmlns:a16="http://schemas.microsoft.com/office/drawing/2014/main" val="2742616807"/>
                    </a:ext>
                  </a:extLst>
                </a:gridCol>
                <a:gridCol w="1563077">
                  <a:extLst>
                    <a:ext uri="{9D8B030D-6E8A-4147-A177-3AD203B41FA5}">
                      <a16:colId xmlns:a16="http://schemas.microsoft.com/office/drawing/2014/main" val="1925504285"/>
                    </a:ext>
                  </a:extLst>
                </a:gridCol>
                <a:gridCol w="736158">
                  <a:extLst>
                    <a:ext uri="{9D8B030D-6E8A-4147-A177-3AD203B41FA5}">
                      <a16:colId xmlns:a16="http://schemas.microsoft.com/office/drawing/2014/main" val="2801518574"/>
                    </a:ext>
                  </a:extLst>
                </a:gridCol>
                <a:gridCol w="737076">
                  <a:extLst>
                    <a:ext uri="{9D8B030D-6E8A-4147-A177-3AD203B41FA5}">
                      <a16:colId xmlns:a16="http://schemas.microsoft.com/office/drawing/2014/main" val="982094107"/>
                    </a:ext>
                  </a:extLst>
                </a:gridCol>
                <a:gridCol w="853874">
                  <a:extLst>
                    <a:ext uri="{9D8B030D-6E8A-4147-A177-3AD203B41FA5}">
                      <a16:colId xmlns:a16="http://schemas.microsoft.com/office/drawing/2014/main" val="459921773"/>
                    </a:ext>
                  </a:extLst>
                </a:gridCol>
                <a:gridCol w="1977084">
                  <a:extLst>
                    <a:ext uri="{9D8B030D-6E8A-4147-A177-3AD203B41FA5}">
                      <a16:colId xmlns:a16="http://schemas.microsoft.com/office/drawing/2014/main" val="1917387077"/>
                    </a:ext>
                  </a:extLst>
                </a:gridCol>
                <a:gridCol w="1819770">
                  <a:extLst>
                    <a:ext uri="{9D8B030D-6E8A-4147-A177-3AD203B41FA5}">
                      <a16:colId xmlns:a16="http://schemas.microsoft.com/office/drawing/2014/main" val="289976843"/>
                    </a:ext>
                  </a:extLst>
                </a:gridCol>
                <a:gridCol w="1819770">
                  <a:extLst>
                    <a:ext uri="{9D8B030D-6E8A-4147-A177-3AD203B41FA5}">
                      <a16:colId xmlns:a16="http://schemas.microsoft.com/office/drawing/2014/main" val="732941067"/>
                    </a:ext>
                  </a:extLst>
                </a:gridCol>
              </a:tblGrid>
              <a:tr h="329783">
                <a:tc gridSpan="8"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Xarajatlar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smetasi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so‘m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341824"/>
                  </a:ext>
                </a:extLst>
              </a:tr>
              <a:tr h="329783"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Guruh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Xarajatlar turlari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JAMI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9582382"/>
                  </a:ext>
                </a:extLst>
              </a:tr>
              <a:tr h="209549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haqi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fondi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Qo‘shimcha xarajatlar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Safar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xarajatlari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Materiallar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Qurilmalar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Boshqa xarajatlar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tc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Jami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 anchor="ctr"/>
                </a:tc>
                <a:extLst>
                  <a:ext uri="{0D108BD9-81ED-4DB2-BD59-A6C34878D82A}">
                    <a16:rowId xmlns:a16="http://schemas.microsoft.com/office/drawing/2014/main" val="584797869"/>
                  </a:ext>
                </a:extLst>
              </a:tr>
              <a:tr h="773327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Ijrochi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1 200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mln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mln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mln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mln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mln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mln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1 500</a:t>
                      </a:r>
                    </a:p>
                    <a:p>
                      <a:pPr algn="ctr"/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mln</a:t>
                      </a:r>
                      <a:endParaRPr lang="en-US" sz="18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3759507"/>
                  </a:ext>
                </a:extLst>
              </a:tr>
              <a:tr h="329783"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Jami: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0001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81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87114" y="3075057"/>
            <a:ext cx="80177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E’TIBORINGIZ UCHUN RAHMAT!</a:t>
            </a:r>
            <a:endParaRPr lang="ru-RU" sz="4000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046252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3500</TotalTime>
  <Words>2295</Words>
  <Application>Microsoft Office PowerPoint</Application>
  <PresentationFormat>Широкоэкранный</PresentationFormat>
  <Paragraphs>269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492</cp:revision>
  <cp:lastPrinted>2021-06-29T10:00:13Z</cp:lastPrinted>
  <dcterms:created xsi:type="dcterms:W3CDTF">2017-07-13T05:40:18Z</dcterms:created>
  <dcterms:modified xsi:type="dcterms:W3CDTF">2026-01-06T06:58:30Z</dcterms:modified>
</cp:coreProperties>
</file>