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6256000" cy="9144000"/>
  <p:notesSz cx="9144000" cy="16256000"/>
  <p:embeddedFontLst>
    <p:embeddedFont>
      <p:font typeface="Calibri" panose="020F0502020204030204" pitchFamily="34" charset="0"/>
      <p:regular r:id="rId23"/>
      <p:bold r:id="rId24"/>
      <p:italic r:id="rId25"/>
      <p:boldItalic r:id="rId26"/>
    </p:embeddedFont>
    <p:embeddedFont>
      <p:font typeface="Liter" panose="020B0604020202020204" charset="0"/>
      <p:regular r:id="rId27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42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1546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w4g362juid4qq/mnt/agents/output/military-cyber-ai/images/4_Futuristic_Soldier_Images_Browse.png"/>
          <p:cNvPicPr>
            <a:picLocks noChangeAspect="1"/>
          </p:cNvPicPr>
          <p:nvPr/>
        </p:nvPicPr>
        <p:blipFill>
          <a:blip r:embed="rId3"/>
          <a:srcRect t="21875" b="2187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F1115">
                  <a:alpha val="0"/>
                </a:srgbClr>
              </a:gs>
              <a:gs pos="40000">
                <a:srgbClr val="0F1115">
                  <a:alpha val="80000"/>
                </a:srgbClr>
              </a:gs>
              <a:gs pos="100000">
                <a:srgbClr val="0F1115">
                  <a:alpha val="95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62000" y="635000"/>
            <a:ext cx="14732000" cy="0"/>
          </a:xfrm>
          <a:prstGeom prst="straightConnector1">
            <a:avLst/>
          </a:prstGeom>
          <a:noFill/>
          <a:ln w="12700">
            <a:solidFill>
              <a:srgbClr val="D4A017"/>
            </a:solidFill>
            <a:prstDash val="solid"/>
            <a:headEnd type="none"/>
            <a:tailEnd type="none"/>
          </a:ln>
        </p:spPr>
      </p:sp>
      <p:sp>
        <p:nvSpPr>
          <p:cNvPr id="5" name="Text 2"/>
          <p:cNvSpPr/>
          <p:nvPr/>
        </p:nvSpPr>
        <p:spPr>
          <a:xfrm>
            <a:off x="762000" y="3084333"/>
            <a:ext cx="14732000" cy="2362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00000"/>
              </a:lnSpc>
            </a:pPr>
            <a:r>
              <a:rPr lang="en-US" sz="4800" kern="0" spc="200" dirty="0">
                <a:solidFill>
                  <a:srgbClr val="D4A017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KIBERXAVFSIZLIK, SUN’IY INTELLEKT VA RAQAMLI DAVRDA HARBIY XIZMATCHINING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sz="4800" kern="0" spc="200" dirty="0">
                <a:solidFill>
                  <a:srgbClr val="D4A017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INTELLEKTUAL SALOHIYATI VA TAFAKKURI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817623" y="5584464"/>
            <a:ext cx="14620754" cy="50799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7" name="Shape 4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2A2E38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810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A8F9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RAQAMLI ASRDA HARBIY SOHA TRANSFORMATSIYASI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kern="0" spc="150" dirty="0">
                <a:solidFill>
                  <a:srgbClr val="D4A0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RAQAMLI ASRDA HARBIY SOHA TRANSFORMATSIYASI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371600"/>
            <a:ext cx="1016000" cy="381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778000"/>
            <a:ext cx="3556000" cy="952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D4A0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$13.1B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762000" y="2794000"/>
            <a:ext cx="355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Global kiberurush zararlari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826000" y="1778000"/>
            <a:ext cx="2540000" cy="952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D4A0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76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826000" y="2794000"/>
            <a:ext cx="254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Davlat davlatlararo kiberoperatsiyalar ta'sirida (2025, Q2)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128000" y="1778000"/>
            <a:ext cx="3048000" cy="952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D4A0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39%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8128000" y="2794000"/>
            <a:ext cx="3048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Barcha yirik kiberhujumlar davlat tomonidan moliyalashtirilgan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684000" y="1778000"/>
            <a:ext cx="3810000" cy="952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D4A0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61%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11684000" y="2794000"/>
            <a:ext cx="381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AQSh, Xitoy va Rossiya global kiberfaoliyatning ulushi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62000" y="4064000"/>
            <a:ext cx="14732000" cy="0"/>
          </a:xfrm>
          <a:prstGeom prst="straightConnector1">
            <a:avLst/>
          </a:prstGeom>
          <a:noFill/>
          <a:ln w="12700">
            <a:solidFill>
              <a:srgbClr val="2A2E38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762000" y="4000500"/>
            <a:ext cx="14732000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ASOSIY TRENDLAR: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• Zamonaviy urushlar fizikdan raqamli </a:t>
            </a:r>
            <a:r>
              <a:rPr lang="en-US" sz="18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maydonga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ko‘chmoqda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• Harbiy xizmatchining </a:t>
            </a:r>
            <a:r>
              <a:rPr lang="en-US" sz="18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vazifasi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o‘zgarib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bormoqda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: jismoniy jangdan intellektual jangga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• 2025-yilda 47% </a:t>
            </a:r>
            <a:r>
              <a:rPr lang="en-US" sz="18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mutaxassislar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kiberurushni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asosiy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geosiyosiy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to‘qnashuv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(</a:t>
            </a:r>
            <a:r>
              <a:rPr lang="en-US" sz="18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yoki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qarama-qarshilik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) </a:t>
            </a:r>
            <a:r>
              <a:rPr lang="en-US" sz="18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usuli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deb </a:t>
            </a:r>
            <a:r>
              <a:rPr lang="en-US" sz="18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hisoblashadi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• Kritik infratuzilma hujumlari 34% ga oshdi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• AI-</a:t>
            </a:r>
            <a:r>
              <a:rPr lang="en-US" sz="18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yo‘naltirilgan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hujumlar davlatlararo kiberhodisalarning 22% ini tashkil etdi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400"/>
              </a:spcBef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AMALIY MASLAHAT: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Har bir harbiy xizmatchi kiberxavfsizlik asoslarini bilishi va raqamli gigiyena odatlarini shakllantirishi shart.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A8F9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02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2000" y="8636000"/>
            <a:ext cx="508000" cy="25400"/>
          </a:xfrm>
          <a:prstGeom prst="rect">
            <a:avLst/>
          </a:prstGeom>
          <a:solidFill>
            <a:srgbClr val="D4A017"/>
          </a:solidFill>
          <a:ln/>
        </p:spPr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w4g362juid4qq/mnt/agents/output/military-cyber-ai/images/3_Cyber_Red_Hot_Padlock_on_Abstract.png"/>
          <p:cNvPicPr>
            <a:picLocks noChangeAspect="1"/>
          </p:cNvPicPr>
          <p:nvPr/>
        </p:nvPicPr>
        <p:blipFill>
          <a:blip r:embed="rId3"/>
          <a:srcRect l="111" r="111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F1115">
                  <a:alpha val="90000"/>
                </a:srgbClr>
              </a:gs>
              <a:gs pos="60000">
                <a:srgbClr val="0F1115">
                  <a:alpha val="80000"/>
                </a:srgbClr>
              </a:gs>
              <a:gs pos="100000">
                <a:srgbClr val="0F1115">
                  <a:alpha val="5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4" name="Text 1"/>
          <p:cNvSpPr/>
          <p:nvPr/>
        </p:nvSpPr>
        <p:spPr>
          <a:xfrm>
            <a:off x="762000" y="2540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000" kern="0" spc="400" dirty="0">
                <a:solidFill>
                  <a:srgbClr val="D4A0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2000" y="3937000"/>
            <a:ext cx="1270000" cy="508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4191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kern="0" spc="150" dirty="0">
                <a:solidFill>
                  <a:srgbClr val="D4A0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KIBERXAVFSIZLIK: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762000" y="5080000"/>
            <a:ext cx="889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kern="0" spc="1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Zamonaviy urushlarning "beshinchi fronti"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2A2E38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810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A8F9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01 — KIBERXAVFSIZLIK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397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kern="0" spc="150" dirty="0">
                <a:solidFill>
                  <a:srgbClr val="D4A0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KIBERXAVFSIZLIK: ZAMONAVIY URUSHNING "BESHINCHI FRONTI"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371600"/>
            <a:ext cx="1016000" cy="381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651000"/>
            <a:ext cx="7620000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STUXNET (2010):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• Birinchi ommaviy kiberqurol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• 1000+ sentrifuga zararlandi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• Inson halokati nolga yaqin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2025 FAKTLARI: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• 21 ta </a:t>
            </a:r>
            <a:r>
              <a:rPr lang="en-US" sz="18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davlatning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mudofaa tarmoqlariga </a:t>
            </a:r>
            <a:r>
              <a:rPr lang="en-US" sz="18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kirib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borilgan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• 27 ta yangi hujumkor kiberqurol aniqlangan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• Zero-day zaifliklar 46% ga oshdi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890000" y="1651000"/>
            <a:ext cx="6604000" cy="6477000"/>
          </a:xfrm>
          <a:prstGeom prst="rect">
            <a:avLst/>
          </a:prstGeom>
          <a:solidFill>
            <a:srgbClr val="1A1D24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71000" y="1841500"/>
            <a:ext cx="584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D4A0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$5.2 MLRD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9271000" y="2667000"/>
            <a:ext cx="584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Harbiy sektorning favqulodda kiberjavob operatsiyalariga xarajatlari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271000" y="3556000"/>
            <a:ext cx="5842000" cy="0"/>
          </a:xfrm>
          <a:prstGeom prst="straightConnector1">
            <a:avLst/>
          </a:prstGeom>
          <a:noFill/>
          <a:ln w="12700">
            <a:solidFill>
              <a:srgbClr val="2A2E38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9271000" y="3556000"/>
            <a:ext cx="584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D4A0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34%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9271000" y="4699000"/>
            <a:ext cx="584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Kritik</a:t>
            </a:r>
            <a:r>
              <a:rPr lang="en-US" sz="16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infratuzilmalarga</a:t>
            </a:r>
            <a:r>
              <a:rPr lang="en-US" sz="16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qaratilgan</a:t>
            </a:r>
            <a:r>
              <a:rPr lang="en-US" sz="16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hujumlar</a:t>
            </a:r>
            <a:r>
              <a:rPr lang="en-US" sz="16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34% ga </a:t>
            </a:r>
            <a:r>
              <a:rPr lang="en-US" sz="16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oshdi</a:t>
            </a:r>
            <a:r>
              <a:rPr lang="en-US" sz="16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(2025)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271000" y="5651500"/>
            <a:ext cx="5842000" cy="0"/>
          </a:xfrm>
          <a:prstGeom prst="straightConnector1">
            <a:avLst/>
          </a:prstGeom>
          <a:noFill/>
          <a:ln w="12700">
            <a:solidFill>
              <a:srgbClr val="2A2E38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9271000" y="5715000"/>
            <a:ext cx="584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D4A0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61%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9271000" y="6667500"/>
            <a:ext cx="584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Harbiy</a:t>
            </a:r>
            <a:r>
              <a:rPr lang="en-US" sz="16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kiberbuzilishlarning</a:t>
            </a:r>
            <a:r>
              <a:rPr lang="en-US" sz="16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61 </a:t>
            </a:r>
            <a:r>
              <a:rPr lang="en-US" sz="16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foizi</a:t>
            </a:r>
            <a:r>
              <a:rPr lang="en-US" sz="16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uchinchi</a:t>
            </a:r>
            <a:r>
              <a:rPr lang="en-US" sz="16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tomon</a:t>
            </a:r>
            <a:r>
              <a:rPr lang="en-US" sz="16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dasturlari</a:t>
            </a:r>
            <a:r>
              <a:rPr lang="en-US" sz="16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orqali</a:t>
            </a:r>
            <a:r>
              <a:rPr lang="en-US" sz="16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amalga</a:t>
            </a:r>
            <a:r>
              <a:rPr lang="en-US" sz="16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oshirildi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62000" y="8128000"/>
            <a:ext cx="1397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AMALIY MASLAHAT:</a:t>
            </a:r>
            <a:r>
              <a:rPr lang="en-US" sz="16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Har bir harbiy xizmatchi kiberzaifliklarni tanib </a:t>
            </a:r>
            <a:r>
              <a:rPr lang="en-US" sz="16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olishni</a:t>
            </a:r>
            <a:r>
              <a:rPr lang="en-US" sz="16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o‘rganishi</a:t>
            </a:r>
            <a:r>
              <a:rPr lang="en-US" sz="16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kerak. Uchinchi tomon dasturlaridan </a:t>
            </a:r>
            <a:r>
              <a:rPr lang="en-US" sz="16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ehtiyot</a:t>
            </a:r>
            <a:r>
              <a:rPr lang="en-US" sz="16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bo‘ling</a:t>
            </a:r>
            <a:r>
              <a:rPr lang="en-US" sz="16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. Maxfiy tarmoqlarga shaxsiy qurilmalarni ulamang.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A8F9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04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62000" y="8953500"/>
            <a:ext cx="508000" cy="25400"/>
          </a:xfrm>
          <a:prstGeom prst="rect">
            <a:avLst/>
          </a:prstGeom>
          <a:solidFill>
            <a:srgbClr val="D4A017"/>
          </a:solidFill>
          <a:ln/>
        </p:spPr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810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A8F9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01 — KIBERXAVFSIZLIK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397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kern="0" spc="150" dirty="0">
                <a:solidFill>
                  <a:srgbClr val="D4A0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SO'NGGI KIBERURUSH VA DAVLATLARARO OPERATSIYALAR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371600"/>
            <a:ext cx="1016000" cy="38100"/>
          </a:xfrm>
          <a:prstGeom prst="rect">
            <a:avLst/>
          </a:prstGeom>
          <a:solidFill>
            <a:srgbClr val="D4A017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651000"/>
          <a:ext cx="14732000" cy="4317998"/>
        </p:xfrm>
        <a:graphic>
          <a:graphicData uri="http://schemas.openxmlformats.org/drawingml/2006/table">
            <a:tbl>
              <a:tblPr/>
              <a:tblGrid>
                <a:gridCol w="3241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3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9173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D4A017"/>
                          </a:solidFill>
                          <a:latin typeface="Times New Roman" panose="02020603050405020304" pitchFamily="18" charset="0"/>
                          <a:ea typeface="QuattrocentoSans" pitchFamily="34" charset="-122"/>
                          <a:cs typeface="Times New Roman" panose="02020603050405020304" pitchFamily="18" charset="0"/>
                        </a:rPr>
                        <a:t>DAVLAT</a:t>
                      </a:r>
                      <a:endParaRPr lang="en-US" sz="1600" dirty="0">
                        <a:latin typeface="Times New Roman" panose="02020603050405020304" pitchFamily="18" charset="0"/>
                        <a:ea typeface="QuattrocentoSans" charset="0"/>
                        <a:cs typeface="Times New Roman" panose="020206030504050203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D4A017"/>
                          </a:solidFill>
                          <a:latin typeface="Times New Roman" panose="02020603050405020304" pitchFamily="18" charset="0"/>
                          <a:ea typeface="QuattrocentoSans" pitchFamily="34" charset="-122"/>
                          <a:cs typeface="Times New Roman" panose="02020603050405020304" pitchFamily="18" charset="0"/>
                        </a:rPr>
                        <a:t>HODISALAR</a:t>
                      </a:r>
                      <a:endParaRPr lang="en-US" sz="1600" dirty="0">
                        <a:latin typeface="Times New Roman" panose="02020603050405020304" pitchFamily="18" charset="0"/>
                        <a:ea typeface="QuattrocentoSans" charset="0"/>
                        <a:cs typeface="Times New Roman" panose="020206030504050203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D4A017"/>
                          </a:solidFill>
                          <a:latin typeface="Times New Roman" panose="02020603050405020304" pitchFamily="18" charset="0"/>
                          <a:ea typeface="QuattrocentoSans" pitchFamily="34" charset="-122"/>
                          <a:cs typeface="Times New Roman" panose="02020603050405020304" pitchFamily="18" charset="0"/>
                        </a:rPr>
                        <a:t>TAVSIF</a:t>
                      </a:r>
                      <a:endParaRPr lang="en-US" sz="1600" dirty="0">
                        <a:latin typeface="Times New Roman" panose="02020603050405020304" pitchFamily="18" charset="0"/>
                        <a:ea typeface="QuattrocentoSans" charset="0"/>
                        <a:cs typeface="Times New Roman" panose="020206030504050203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976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8E8"/>
                          </a:solidFill>
                          <a:latin typeface="Times New Roman" panose="02020603050405020304" pitchFamily="18" charset="0"/>
                          <a:ea typeface="QuattrocentoSans" pitchFamily="34" charset="-122"/>
                          <a:cs typeface="Times New Roman" panose="02020603050405020304" pitchFamily="18" charset="0"/>
                        </a:rPr>
                        <a:t>Ukraina</a:t>
                      </a:r>
                      <a:endParaRPr lang="en-US" sz="1600" dirty="0">
                        <a:latin typeface="Times New Roman" panose="02020603050405020304" pitchFamily="18" charset="0"/>
                        <a:ea typeface="QuattrocentoSans" charset="0"/>
                        <a:cs typeface="Times New Roman" panose="020206030504050203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F4D4D"/>
                          </a:solidFill>
                          <a:latin typeface="Times New Roman" panose="02020603050405020304" pitchFamily="18" charset="0"/>
                          <a:ea typeface="QuattrocentoSans" pitchFamily="34" charset="-122"/>
                          <a:cs typeface="Times New Roman" panose="02020603050405020304" pitchFamily="18" charset="0"/>
                        </a:rPr>
                        <a:t>118</a:t>
                      </a:r>
                      <a:endParaRPr lang="en-US" sz="1600" dirty="0">
                        <a:latin typeface="Times New Roman" panose="02020603050405020304" pitchFamily="18" charset="0"/>
                        <a:ea typeface="QuattrocentoSans" charset="0"/>
                        <a:cs typeface="Times New Roman" panose="020206030504050203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8E8"/>
                          </a:solidFill>
                          <a:latin typeface="Times New Roman" panose="02020603050405020304" pitchFamily="18" charset="0"/>
                          <a:ea typeface="QuattrocentoSans" pitchFamily="34" charset="-122"/>
                          <a:cs typeface="Times New Roman" panose="02020603050405020304" pitchFamily="18" charset="0"/>
                        </a:rPr>
                        <a:t>2025-yil birinchi 5 oyida Rossiya bilan bog'liq kiberhodisalar</a:t>
                      </a:r>
                      <a:endParaRPr lang="en-US" sz="1600" dirty="0">
                        <a:latin typeface="Times New Roman" panose="02020603050405020304" pitchFamily="18" charset="0"/>
                        <a:ea typeface="QuattrocentoSans" charset="0"/>
                        <a:cs typeface="Times New Roman" panose="020206030504050203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976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8E8"/>
                          </a:solidFill>
                          <a:latin typeface="Times New Roman" panose="02020603050405020304" pitchFamily="18" charset="0"/>
                          <a:ea typeface="QuattrocentoSans" pitchFamily="34" charset="-122"/>
                          <a:cs typeface="Times New Roman" panose="02020603050405020304" pitchFamily="18" charset="0"/>
                        </a:rPr>
                        <a:t>Fransiya</a:t>
                      </a:r>
                      <a:endParaRPr lang="en-US" sz="1600" dirty="0">
                        <a:latin typeface="Times New Roman" panose="02020603050405020304" pitchFamily="18" charset="0"/>
                        <a:ea typeface="QuattrocentoSans" charset="0"/>
                        <a:cs typeface="Times New Roman" panose="020206030504050203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F4D4D"/>
                          </a:solidFill>
                          <a:latin typeface="Times New Roman" panose="02020603050405020304" pitchFamily="18" charset="0"/>
                          <a:ea typeface="QuattrocentoSans" pitchFamily="34" charset="-122"/>
                          <a:cs typeface="Times New Roman" panose="02020603050405020304" pitchFamily="18" charset="0"/>
                        </a:rPr>
                        <a:t>220M+</a:t>
                      </a:r>
                      <a:endParaRPr lang="en-US" sz="1600" dirty="0">
                        <a:latin typeface="Times New Roman" panose="02020603050405020304" pitchFamily="18" charset="0"/>
                        <a:ea typeface="QuattrocentoSans" charset="0"/>
                        <a:cs typeface="Times New Roman" panose="020206030504050203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8E8"/>
                          </a:solidFill>
                          <a:latin typeface="Times New Roman" panose="02020603050405020304" pitchFamily="18" charset="0"/>
                          <a:ea typeface="QuattrocentoSans" pitchFamily="34" charset="-122"/>
                          <a:cs typeface="Times New Roman" panose="02020603050405020304" pitchFamily="18" charset="0"/>
                        </a:rPr>
                        <a:t>2025-yilda </a:t>
                      </a:r>
                      <a:r>
                        <a:rPr lang="en-US" sz="1600" u="none" dirty="0" err="1">
                          <a:solidFill>
                            <a:srgbClr val="E8E8E8"/>
                          </a:solidFill>
                          <a:latin typeface="Times New Roman" panose="02020603050405020304" pitchFamily="18" charset="0"/>
                          <a:ea typeface="QuattrocentoSans" pitchFamily="34" charset="-122"/>
                          <a:cs typeface="Times New Roman" panose="02020603050405020304" pitchFamily="18" charset="0"/>
                        </a:rPr>
                        <a:t>to‘silgan</a:t>
                      </a:r>
                      <a:r>
                        <a:rPr lang="en-US" sz="1600" u="none" dirty="0">
                          <a:solidFill>
                            <a:srgbClr val="E8E8E8"/>
                          </a:solidFill>
                          <a:latin typeface="Times New Roman" panose="02020603050405020304" pitchFamily="18" charset="0"/>
                          <a:ea typeface="QuattrocentoSans" pitchFamily="34" charset="-122"/>
                          <a:cs typeface="Times New Roman" panose="02020603050405020304" pitchFamily="18" charset="0"/>
                        </a:rPr>
                        <a:t> kirib kelish urunishlari (220 million dan ortiq)</a:t>
                      </a:r>
                      <a:endParaRPr lang="en-US" sz="1600" dirty="0">
                        <a:latin typeface="Times New Roman" panose="02020603050405020304" pitchFamily="18" charset="0"/>
                        <a:ea typeface="QuattrocentoSans" charset="0"/>
                        <a:cs typeface="Times New Roman" panose="020206030504050203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976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8E8"/>
                          </a:solidFill>
                          <a:latin typeface="Times New Roman" panose="02020603050405020304" pitchFamily="18" charset="0"/>
                          <a:ea typeface="QuattrocentoSans" pitchFamily="34" charset="-122"/>
                          <a:cs typeface="Times New Roman" panose="02020603050405020304" pitchFamily="18" charset="0"/>
                        </a:rPr>
                        <a:t>AQSh</a:t>
                      </a:r>
                      <a:endParaRPr lang="en-US" sz="1600" dirty="0">
                        <a:latin typeface="Times New Roman" panose="02020603050405020304" pitchFamily="18" charset="0"/>
                        <a:ea typeface="QuattrocentoSans" charset="0"/>
                        <a:cs typeface="Times New Roman" panose="020206030504050203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F4D4D"/>
                          </a:solidFill>
                          <a:latin typeface="Times New Roman" panose="02020603050405020304" pitchFamily="18" charset="0"/>
                          <a:ea typeface="QuattrocentoSans" pitchFamily="34" charset="-122"/>
                          <a:cs typeface="Times New Roman" panose="02020603050405020304" pitchFamily="18" charset="0"/>
                        </a:rPr>
                        <a:t>227</a:t>
                      </a:r>
                      <a:endParaRPr lang="en-US" sz="1600" dirty="0">
                        <a:latin typeface="Times New Roman" panose="02020603050405020304" pitchFamily="18" charset="0"/>
                        <a:ea typeface="QuattrocentoSans" charset="0"/>
                        <a:cs typeface="Times New Roman" panose="020206030504050203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8E8"/>
                          </a:solidFill>
                          <a:latin typeface="Times New Roman" panose="02020603050405020304" pitchFamily="18" charset="0"/>
                          <a:ea typeface="QuattrocentoSans" pitchFamily="34" charset="-122"/>
                          <a:cs typeface="Times New Roman" panose="02020603050405020304" pitchFamily="18" charset="0"/>
                        </a:rPr>
                        <a:t>2025-yilda davlat tomonidan moliyalashtirilgan kiberhodisalar</a:t>
                      </a:r>
                      <a:endParaRPr lang="en-US" sz="1600" dirty="0">
                        <a:latin typeface="Times New Roman" panose="02020603050405020304" pitchFamily="18" charset="0"/>
                        <a:ea typeface="QuattrocentoSans" charset="0"/>
                        <a:cs typeface="Times New Roman" panose="020206030504050203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976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8E8"/>
                          </a:solidFill>
                          <a:latin typeface="Times New Roman" panose="02020603050405020304" pitchFamily="18" charset="0"/>
                          <a:ea typeface="QuattrocentoSans" pitchFamily="34" charset="-122"/>
                          <a:cs typeface="Times New Roman" panose="02020603050405020304" pitchFamily="18" charset="0"/>
                        </a:rPr>
                        <a:t>Hindiston</a:t>
                      </a:r>
                      <a:endParaRPr lang="en-US" sz="1600" dirty="0">
                        <a:latin typeface="Times New Roman" panose="02020603050405020304" pitchFamily="18" charset="0"/>
                        <a:ea typeface="QuattrocentoSans" charset="0"/>
                        <a:cs typeface="Times New Roman" panose="020206030504050203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F4D4D"/>
                          </a:solidFill>
                          <a:latin typeface="Times New Roman" panose="02020603050405020304" pitchFamily="18" charset="0"/>
                          <a:ea typeface="QuattrocentoSans" pitchFamily="34" charset="-122"/>
                          <a:cs typeface="Times New Roman" panose="02020603050405020304" pitchFamily="18" charset="0"/>
                        </a:rPr>
                        <a:t>93</a:t>
                      </a:r>
                      <a:endParaRPr lang="en-US" sz="1600" dirty="0">
                        <a:latin typeface="Times New Roman" panose="02020603050405020304" pitchFamily="18" charset="0"/>
                        <a:ea typeface="QuattrocentoSans" charset="0"/>
                        <a:cs typeface="Times New Roman" panose="020206030504050203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8E8"/>
                          </a:solidFill>
                          <a:latin typeface="Times New Roman" panose="02020603050405020304" pitchFamily="18" charset="0"/>
                          <a:ea typeface="QuattrocentoSans" pitchFamily="34" charset="-122"/>
                          <a:cs typeface="Times New Roman" panose="02020603050405020304" pitchFamily="18" charset="0"/>
                        </a:rPr>
                        <a:t>Davlatlararo hujumga uchragan holatlar (2025)</a:t>
                      </a:r>
                      <a:endParaRPr lang="en-US" sz="1600" dirty="0">
                        <a:latin typeface="Times New Roman" panose="02020603050405020304" pitchFamily="18" charset="0"/>
                        <a:ea typeface="QuattrocentoSans" charset="0"/>
                        <a:cs typeface="Times New Roman" panose="020206030504050203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976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8E8"/>
                          </a:solidFill>
                          <a:latin typeface="Times New Roman" panose="02020603050405020304" pitchFamily="18" charset="0"/>
                          <a:ea typeface="QuattrocentoSans" pitchFamily="34" charset="-122"/>
                          <a:cs typeface="Times New Roman" panose="02020603050405020304" pitchFamily="18" charset="0"/>
                        </a:rPr>
                        <a:t>Janubiy Koreya</a:t>
                      </a:r>
                      <a:endParaRPr lang="en-US" sz="1600" dirty="0">
                        <a:latin typeface="Times New Roman" panose="02020603050405020304" pitchFamily="18" charset="0"/>
                        <a:ea typeface="QuattrocentoSans" charset="0"/>
                        <a:cs typeface="Times New Roman" panose="020206030504050203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F4D4D"/>
                          </a:solidFill>
                          <a:latin typeface="Times New Roman" panose="02020603050405020304" pitchFamily="18" charset="0"/>
                          <a:ea typeface="QuattrocentoSans" pitchFamily="34" charset="-122"/>
                          <a:cs typeface="Times New Roman" panose="02020603050405020304" pitchFamily="18" charset="0"/>
                        </a:rPr>
                        <a:t>61</a:t>
                      </a:r>
                      <a:endParaRPr lang="en-US" sz="1600" dirty="0">
                        <a:latin typeface="Times New Roman" panose="02020603050405020304" pitchFamily="18" charset="0"/>
                        <a:ea typeface="QuattrocentoSans" charset="0"/>
                        <a:cs typeface="Times New Roman" panose="020206030504050203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8E8"/>
                          </a:solidFill>
                          <a:latin typeface="Times New Roman" panose="02020603050405020304" pitchFamily="18" charset="0"/>
                          <a:ea typeface="QuattrocentoSans" pitchFamily="34" charset="-122"/>
                          <a:cs typeface="Times New Roman" panose="02020603050405020304" pitchFamily="18" charset="0"/>
                        </a:rPr>
                        <a:t>Davlatlararo kiberkirib kelish holatlari, mudofaa va aloqa sektorlari nishonda</a:t>
                      </a:r>
                      <a:endParaRPr lang="en-US" sz="1600" dirty="0">
                        <a:latin typeface="Times New Roman" panose="02020603050405020304" pitchFamily="18" charset="0"/>
                        <a:ea typeface="QuattrocentoSans" charset="0"/>
                        <a:cs typeface="Times New Roman" panose="020206030504050203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3"/>
          <p:cNvSpPr/>
          <p:nvPr/>
        </p:nvSpPr>
        <p:spPr>
          <a:xfrm>
            <a:off x="762000" y="6223000"/>
            <a:ext cx="14732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QO'SHIMCHA FAKTLAR: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2025-yilda 17 ta </a:t>
            </a:r>
            <a:r>
              <a:rPr lang="en-US" sz="18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ko‘p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millatli kiberhujum | 60% harbiy hamjamiyatlarida AI | 15% false-flag taktikasi | Spear-phishing 38% ga oshdi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62000" y="8826500"/>
            <a:ext cx="1016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A8F9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Manba: Cyber Warfare Statistics 2026, sqmagazine.co.uk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A8F9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05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62000" y="8636000"/>
            <a:ext cx="508000" cy="25400"/>
          </a:xfrm>
          <a:prstGeom prst="rect">
            <a:avLst/>
          </a:prstGeom>
          <a:solidFill>
            <a:srgbClr val="D4A017"/>
          </a:solidFill>
          <a:ln/>
        </p:spPr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w4g362juid4qq/mnt/agents/output/military-cyber-ai/images/1_Autonomous_military_drones_soon_equipped.png"/>
          <p:cNvPicPr>
            <a:picLocks noChangeAspect="1"/>
          </p:cNvPicPr>
          <p:nvPr/>
        </p:nvPicPr>
        <p:blipFill>
          <a:blip r:embed="rId3"/>
          <a:srcRect l="3333" r="3333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F1115">
                  <a:alpha val="90000"/>
                </a:srgbClr>
              </a:gs>
              <a:gs pos="60000">
                <a:srgbClr val="0F1115">
                  <a:alpha val="80000"/>
                </a:srgbClr>
              </a:gs>
              <a:gs pos="100000">
                <a:srgbClr val="0F1115">
                  <a:alpha val="5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540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000" kern="0" spc="400" dirty="0">
                <a:solidFill>
                  <a:srgbClr val="D4A0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2000" y="3937000"/>
            <a:ext cx="1270000" cy="508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4191000"/>
            <a:ext cx="1143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kern="0" spc="150" dirty="0">
                <a:solidFill>
                  <a:srgbClr val="D4A0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SUN'IY INTELLEKT HARBiy QUROL SIFATIDA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762000" y="5080000"/>
            <a:ext cx="889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kern="0" spc="1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Dronlar, avtonom tizimlar va qaror qabul qilish tezligi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2A2E38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810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A8F9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02 — SUN'IY INTELLEKT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397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kern="0" spc="150" dirty="0">
                <a:solidFill>
                  <a:srgbClr val="D4A0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SUN'IY INTELLEKT HARBiy QUROL SIFATIDA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371600"/>
            <a:ext cx="1016000" cy="381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714500"/>
            <a:ext cx="355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D4A0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$18.2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762000" y="2667000"/>
            <a:ext cx="355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Harbiy dron bozori 2025-yilda (mlrd $)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826000" y="1714500"/>
            <a:ext cx="3048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D4A0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70-80%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826000" y="2667000"/>
            <a:ext cx="3048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Dronlar </a:t>
            </a:r>
            <a:r>
              <a:rPr lang="en-US" sz="16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jangovar</a:t>
            </a:r>
            <a:r>
              <a:rPr lang="en-US" sz="16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yo‘qotilishlarning</a:t>
            </a:r>
            <a:r>
              <a:rPr lang="en-US" sz="16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ulushi (Ukraina)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36000" y="1714500"/>
            <a:ext cx="3048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D4A0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80%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8636000" y="2667000"/>
            <a:ext cx="304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AI dron nishonga tegish aniqligi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192000" y="1714500"/>
            <a:ext cx="3302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D4A0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 MLN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12192000" y="2667000"/>
            <a:ext cx="330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Ukraina 2024-yilda ishlab chiqargan dronlar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62000" y="3873500"/>
            <a:ext cx="14732000" cy="0"/>
          </a:xfrm>
          <a:prstGeom prst="straightConnector1">
            <a:avLst/>
          </a:prstGeom>
          <a:noFill/>
          <a:ln w="12700">
            <a:solidFill>
              <a:srgbClr val="2A2E38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762000" y="4000500"/>
            <a:ext cx="7112000" cy="476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AI HARBiy QO'LLANISHLARI: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• Avtonom parvoz va nishonni tanib olish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2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• Missiya rejalashtirish va optimallashtirish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2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• Real vaqt rejimida vaziyat tahlili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2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• Bashoratli texnik </a:t>
            </a:r>
            <a:r>
              <a:rPr lang="en-US" sz="18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xizmat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ko‘rsatish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2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• Virtual reallikda harbiy mashg'ulotlar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SARMOYA: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2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• 2023-yilda harbiy AI startaplariga $3.5 mlrd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2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• AQSh Gray Eagle dronlari uchun $389 mln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2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• Avtonom dron segmenti eng </a:t>
            </a:r>
            <a:r>
              <a:rPr lang="en-US" sz="18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tez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o‘suvchi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82000" y="4000500"/>
            <a:ext cx="7112000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UKRAINA-ROSSIYA URUSHIDA DRONLAR: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• Dronlar </a:t>
            </a:r>
            <a:r>
              <a:rPr lang="en-US" sz="18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jangovar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yo‘qotilishlarning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70-80% ini tashkil etadi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2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• AI nishonga tegish aniqligini 80% ga oshirdi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2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• Ukraina 2024-yilda ~2 million dron ishlab chiqardi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2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• 1.5 million jangovar dron, qolgani razvedka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AMALIY MASLAHAT: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2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• Avtonom tizimlarning chegaralarini tushuning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2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• AI tavsiyalarini inson tahlili bilan tekshiring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2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• "In the loop" tamoyilini esda tuting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A8F9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07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62000" y="8763000"/>
            <a:ext cx="508000" cy="25400"/>
          </a:xfrm>
          <a:prstGeom prst="rect">
            <a:avLst/>
          </a:prstGeom>
          <a:solidFill>
            <a:srgbClr val="D4A017"/>
          </a:solidFill>
          <a:ln/>
        </p:spPr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810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A8F9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02 — SUN'IY INTELLEKT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397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kern="0" spc="150" dirty="0">
                <a:solidFill>
                  <a:srgbClr val="D4A0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AVTONOM TIZIMLAR VA QAROR QABUL QILISH TEZLIGI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371600"/>
            <a:ext cx="1016000" cy="381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651000"/>
            <a:ext cx="7112000" cy="660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"CENTAUR WARFIGHTING"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Inson va mashina gibrid kognitiv arxitekturasi: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INSON: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Abduktiv fikrlash, etik qarorlar, noaniq vaziyatlarda moslashish, strategik tafakkur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MASHINA: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Aniqlik, tezlik, katta ma'lumotlarni qayta ishlash, naqshlarni aniqlash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AMALIY MASLAHAT: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AI tavsiyalarini doim inson tahlili bilan tekshiring. Avtonom tizimlarning chegaralarini tushuning.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382000" y="1651000"/>
            <a:ext cx="7112000" cy="6604000"/>
          </a:xfrm>
          <a:prstGeom prst="rect">
            <a:avLst/>
          </a:prstGeom>
          <a:solidFill>
            <a:srgbClr val="1A1D24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63000" y="19050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kern="0" spc="1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INSON ISHTIROKI DARAJALARI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763000" y="2476500"/>
            <a:ext cx="6350000" cy="0"/>
          </a:xfrm>
          <a:prstGeom prst="straightConnector1">
            <a:avLst/>
          </a:prstGeom>
          <a:noFill/>
          <a:ln w="12700">
            <a:solidFill>
              <a:srgbClr val="2A2E38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8763000" y="2667000"/>
            <a:ext cx="6350000" cy="533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"IN THE LOOP"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— Inson har bir bosqichda qaror qiladi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"ON THE LOOP"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— Tizim mustaqil ishlaydi, inson aralasha oladi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"OUT OF THE LOOP"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To‘liq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avtonom, hozirda taqiqlangan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FF4D4D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ETIK TAHdid: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Avstriya TIV: "Bu bizning avlodimizning Oppengeymer lahzasi"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AI yonaltirilgan urushlar nazoratsiz qurol poygasiga olib kelishi mumkin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400"/>
              </a:spcBef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AQSh DODD 3000.09: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Inson "in" yoki "on" loop da </a:t>
            </a:r>
            <a:r>
              <a:rPr lang="en-US" sz="18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bo‘lishi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shart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A8F9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08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62000" y="8636000"/>
            <a:ext cx="508000" cy="25400"/>
          </a:xfrm>
          <a:prstGeom prst="rect">
            <a:avLst/>
          </a:prstGeom>
          <a:solidFill>
            <a:srgbClr val="D4A017"/>
          </a:solidFill>
          <a:ln/>
        </p:spPr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w4g362juid4qq/mnt/agents/output/military-cyber-ai/images/3_The_Free_World_is_Losing_the_Information.png"/>
          <p:cNvPicPr>
            <a:picLocks noChangeAspect="1"/>
          </p:cNvPicPr>
          <p:nvPr/>
        </p:nvPicPr>
        <p:blipFill>
          <a:blip r:embed="rId3"/>
          <a:srcRect t="3125" b="312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F1115">
                  <a:alpha val="90000"/>
                </a:srgbClr>
              </a:gs>
              <a:gs pos="60000">
                <a:srgbClr val="0F1115">
                  <a:alpha val="80000"/>
                </a:srgbClr>
              </a:gs>
              <a:gs pos="100000">
                <a:srgbClr val="0F1115">
                  <a:alpha val="5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540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000" kern="0" spc="400" dirty="0">
                <a:solidFill>
                  <a:srgbClr val="D4A0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2000" y="3937000"/>
            <a:ext cx="1270000" cy="508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4191000"/>
            <a:ext cx="1143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kern="0" spc="150" dirty="0">
                <a:solidFill>
                  <a:srgbClr val="D4A0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AXBOROT-PSIXOLOGIK URUSH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762000" y="5080000"/>
            <a:ext cx="889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kern="0" spc="1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"Feyk" xabarlar sharoitida harbiy xizmatchining hushyorligi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2A2E38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810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A8F9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03 — AXBOROT-PSIXOLOGIK URUSH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397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kern="0" spc="150" dirty="0">
                <a:solidFill>
                  <a:srgbClr val="D4A0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AXBOROT-PSIXOLOGIK URUSH VA "FEYK" XABARLAR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371600"/>
            <a:ext cx="1016000" cy="381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714500"/>
            <a:ext cx="3302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D4A0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762000" y="2667000"/>
            <a:ext cx="330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Saylov aralashuvi operatsiyalarida AI-direfak (2025)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0" y="1714500"/>
            <a:ext cx="3302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D4A0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18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572000" y="2667000"/>
            <a:ext cx="330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Davlatda saylovga aralashish urinishlari (2025)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2000" y="1714500"/>
            <a:ext cx="3302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D4A0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29%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8382000" y="2667000"/>
            <a:ext cx="330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"Yolg'on bayroq" taktikalari oshishi (2025)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192000" y="1714500"/>
            <a:ext cx="3302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D4A0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43%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12192000" y="2667000"/>
            <a:ext cx="330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AI phishing xatlar bosish darajasi (2025)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62000" y="3429000"/>
            <a:ext cx="14732000" cy="0"/>
          </a:xfrm>
          <a:prstGeom prst="straightConnector1">
            <a:avLst/>
          </a:prstGeom>
          <a:noFill/>
          <a:ln w="12700">
            <a:solidFill>
              <a:srgbClr val="2A2E38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762000" y="3619500"/>
            <a:ext cx="7112000" cy="469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DEZINFORMATSION TAHdidLAR: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• Deepfake va NLP botlar 8 ta mintaqada dezinformatsiya tarqatdi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2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• 15% </a:t>
            </a:r>
            <a:r>
              <a:rPr lang="en-US" sz="18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kiberoperatsiyalarda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noto‘g'ri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iz qoldirish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2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• Ijtimoiy tarmoqlarda harbiy ma'lumotlarni oshkor qilish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2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• "Feyk" xabarlar ruhiy holatni buzadi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PSIXOLOGIK TA'SIR: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2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• Axborot urushi jangovar ruhni tushirish maqsadida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2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• </a:t>
            </a:r>
            <a:r>
              <a:rPr lang="en-US" sz="18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Noto‘g'ri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axborot jamoaviy ishga xalaqit beradi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2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• </a:t>
            </a:r>
            <a:r>
              <a:rPr lang="en-US" sz="18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Oilaga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yo‘naltirilgan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dezinformatsiya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382000" y="3619500"/>
            <a:ext cx="7112000" cy="4699000"/>
          </a:xfrm>
          <a:prstGeom prst="rect">
            <a:avLst/>
          </a:prstGeom>
          <a:solidFill>
            <a:srgbClr val="1A1D24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63000" y="38735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kern="0" spc="1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AMALIY MASLAHATLAR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763000" y="4445000"/>
            <a:ext cx="6350000" cy="0"/>
          </a:xfrm>
          <a:prstGeom prst="straightConnector1">
            <a:avLst/>
          </a:prstGeom>
          <a:noFill/>
          <a:ln w="12700">
            <a:solidFill>
              <a:srgbClr val="2A2E38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8763000" y="4635500"/>
            <a:ext cx="6350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1.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Har bir axborotni 3 ta mustaqil manbada tasdiqlang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2.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Ijtimoiy tarmoqlarda harbiy ma'lumotlarni tashlamang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3.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Shubhali xabarlarni darhol xavfsizlik xizmatiga xabar qiling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4.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Deepfake kontentni tanib </a:t>
            </a:r>
            <a:r>
              <a:rPr lang="en-US" sz="18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olish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ko‘nikmalarini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oshiring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5.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Emotsional reaksiyadan oldin tanqidiy tahlil qiling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6.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Rasmiy axborot kanallariga amal qiling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A8F9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10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62000" y="8636000"/>
            <a:ext cx="508000" cy="25400"/>
          </a:xfrm>
          <a:prstGeom prst="rect">
            <a:avLst/>
          </a:prstGeom>
          <a:solidFill>
            <a:srgbClr val="D4A017"/>
          </a:solidFill>
          <a:ln/>
        </p:spPr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w4g362juid4qq/mnt/agents/output/military-cyber-ai/images/5_253_653_Abstract_Background_Brain.png"/>
          <p:cNvPicPr>
            <a:picLocks noChangeAspect="1"/>
          </p:cNvPicPr>
          <p:nvPr/>
        </p:nvPicPr>
        <p:blipFill>
          <a:blip r:embed="rId3"/>
          <a:srcRect l="519" r="519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F1115">
                  <a:alpha val="90000"/>
                </a:srgbClr>
              </a:gs>
              <a:gs pos="60000">
                <a:srgbClr val="0F1115">
                  <a:alpha val="80000"/>
                </a:srgbClr>
              </a:gs>
              <a:gs pos="100000">
                <a:srgbClr val="0F1115">
                  <a:alpha val="5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540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000" kern="0" spc="400" dirty="0">
                <a:solidFill>
                  <a:srgbClr val="D4A0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2000" y="3937000"/>
            <a:ext cx="1270000" cy="508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4191000"/>
            <a:ext cx="1143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kern="0" spc="150" dirty="0">
                <a:solidFill>
                  <a:srgbClr val="D4A0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INTELLEKTUAL SALOHIYAT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762000" y="5080000"/>
            <a:ext cx="889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kern="0" spc="1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Harbiy xizmatchi nega "tahlilchi" </a:t>
            </a:r>
            <a:r>
              <a:rPr lang="en-US" sz="2200" kern="0" spc="100" dirty="0" err="1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bo‘lishi</a:t>
            </a:r>
            <a:r>
              <a:rPr lang="en-US" sz="2200" kern="0" spc="1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kerak?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2A2E38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810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A8F9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04 — INTELLEKTUAL SALOHIYAT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397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kern="0" spc="150" dirty="0">
                <a:solidFill>
                  <a:srgbClr val="D4A0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INTELLEKTUAL SALOHIYAT NMA?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371600"/>
            <a:ext cx="1016000" cy="381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651000"/>
            <a:ext cx="7112000" cy="660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YANGI ROL: "TAHLILCHI" ASKAR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Zamonaviy harbiy xizmatchi intellektual </a:t>
            </a:r>
            <a:r>
              <a:rPr lang="en-US" sz="18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jangchi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bo‘lishi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kerak: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1. KRITIK FIkRLASH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2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• Axborotni baholash va tekshirish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2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• Xulosalar chiqarish va dalillarga tayanish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2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• Mantiqiy xatolarni tanib olish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2. RAQAMLI GIGIYENA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2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• Kundalik axborot xavfsizligi odatlari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2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• Shaxsiy va xizmat ma'lumotlarini ajratish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2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• Zaxira nusxalar va shifrlash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3. ALGORITMIK TAFAKKUR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2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• Murakkab tizimlarni tushunish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2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• Algoritmlar bilan samarali ishlash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2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• Tizimli tahlil </a:t>
            </a:r>
            <a:r>
              <a:rPr lang="en-US" sz="18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qilish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ko‘nikmasi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382000" y="1651000"/>
            <a:ext cx="7112000" cy="6604000"/>
          </a:xfrm>
          <a:prstGeom prst="rect">
            <a:avLst/>
          </a:prstGeom>
          <a:solidFill>
            <a:srgbClr val="1A1D24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63000" y="19050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kern="0" spc="1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KOGNITIV CHIDAMLILIK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763000" y="2476500"/>
            <a:ext cx="6350000" cy="0"/>
          </a:xfrm>
          <a:prstGeom prst="straightConnector1">
            <a:avLst/>
          </a:prstGeom>
          <a:noFill/>
          <a:ln w="12700">
            <a:solidFill>
              <a:srgbClr val="2A2E38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8763000" y="2667000"/>
            <a:ext cx="6350000" cy="533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Katta hajmdagi ma'lumotlar bosimi ostida ruhiy barqarorlik: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TAHRIDLAR: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Sensor tizimlari uzluksiz ma'lumotlar ishlab chiqaradi. Tez qaror tsikllari bosimni oshiradi. Gibrid tahdidlar kognitiv yuklamani orttiradi. MDO murakkablikni eksponensial oshiradi.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OQIBATLAR: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Kechikgan qarorlar, </a:t>
            </a:r>
            <a:r>
              <a:rPr lang="en-US" sz="18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vaziyatni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noto‘g'ri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baholash, muhim </a:t>
            </a:r>
            <a:r>
              <a:rPr lang="en-US" sz="18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signallarni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o‘tkazib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yuborish.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• Muhim </a:t>
            </a:r>
            <a:r>
              <a:rPr lang="en-US" sz="18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signallarni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o‘tkazib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yuborish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600"/>
              </a:spcBef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AMALIY MASLAHAT: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Har 90 daqiqada 5 daqiqalik "kognitiv tanaffus" qiling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A8F9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12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62000" y="8636000"/>
            <a:ext cx="508000" cy="25400"/>
          </a:xfrm>
          <a:prstGeom prst="rect">
            <a:avLst/>
          </a:prstGeom>
          <a:solidFill>
            <a:srgbClr val="D4A017"/>
          </a:solidFill>
          <a:ln/>
        </p:spPr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810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A8F9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04 — INTELLEKTUAL SALOHIYAT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397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kern="0" spc="150" dirty="0">
                <a:solidFill>
                  <a:srgbClr val="D4A0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ALGORITMIK TAFAKKUR VA TIZIMLI TAHLIL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371600"/>
            <a:ext cx="1016000" cy="381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651000"/>
            <a:ext cx="7112000" cy="660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ALGORITMIK TAFAKKUR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Murakkab muammolarni kichik, boshqariladigan </a:t>
            </a:r>
            <a:r>
              <a:rPr lang="en-US" sz="18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qismlarga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bo‘lish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: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"KIRITISH → QAYTA ISHLASH → CHIQISH"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• Har bir avtomatlashtirilgan tizimda inson nazorat nuqtalarini aniqlang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• AI tizimlari "qanday" emas, balki "nima" va "nega" savollarini bering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• Algoritmning chegaralarini tushuning — u barcha javoblarni bilmaydi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600"/>
              </a:spcBef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OODA TSIKLI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Boydning OODA tsikli algoritmik tafakkur asosidir: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• </a:t>
            </a:r>
            <a:r>
              <a:rPr lang="en-US" sz="1800" b="1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Observe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(Kuzatish) → </a:t>
            </a:r>
            <a:r>
              <a:rPr lang="en-US" sz="1800" b="1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Orient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(Moslashish)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• </a:t>
            </a:r>
            <a:r>
              <a:rPr lang="en-US" sz="1800" b="1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Decide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(Qaror qabul qilish) → </a:t>
            </a:r>
            <a:r>
              <a:rPr lang="en-US" sz="1800" b="1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Act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(Harakat)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Tezroq OODA tsikliga ega tomon g'alaba qozonadi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382000" y="1651000"/>
            <a:ext cx="7112000" cy="6604000"/>
          </a:xfrm>
          <a:prstGeom prst="rect">
            <a:avLst/>
          </a:prstGeom>
          <a:solidFill>
            <a:srgbClr val="1A1D24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63000" y="19050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kern="0" spc="1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TIZIMLI TAHLIL QOIDALARI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763000" y="2476500"/>
            <a:ext cx="6350000" cy="0"/>
          </a:xfrm>
          <a:prstGeom prst="straightConnector1">
            <a:avLst/>
          </a:prstGeom>
          <a:noFill/>
          <a:ln w="12700">
            <a:solidFill>
              <a:srgbClr val="2A2E38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8763000" y="2667000"/>
            <a:ext cx="6350000" cy="533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TIZIMLI TAHLIL QOIDALARI: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1.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Tizimni komponentlarga ajrating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200"/>
              </a:spcBef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2.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Har bir komponentning vazifasini aniqlang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200"/>
              </a:spcBef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3.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Komponentlar aloqalarini tahlil qiling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200"/>
              </a:spcBef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4.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Kirish va chiqish ma'lumotlarini tekshiring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200"/>
              </a:spcBef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5.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Xatolik nuqtalarini oldindan bashorat qiling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AMALIY MASLAHAT: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Har bir avtomatlashtirilgan tizimda "inson nazorati" nuqtalarini aniqlang. Hech qachon tizim xatosini inson e'tiborsizligi bilan birlashtirmang.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QO'SHIMCHA: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"In the loop", "On the loop", "Out of the loop" — inson ishtirofi darajalari.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A8F9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13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62000" y="8636000"/>
            <a:ext cx="508000" cy="25400"/>
          </a:xfrm>
          <a:prstGeom prst="rect">
            <a:avLst/>
          </a:prstGeom>
          <a:solidFill>
            <a:srgbClr val="D4A017"/>
          </a:solidFill>
          <a:ln/>
        </p:spPr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810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A8F9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04 — INTELLEKTUAL SALOHIYAT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397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kern="0" spc="150" dirty="0">
                <a:solidFill>
                  <a:srgbClr val="D4A0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 TA OLTIN KIBER-GIGIYENA QOIDASI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371600"/>
            <a:ext cx="1016000" cy="381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651000"/>
            <a:ext cx="4572000" cy="1079500"/>
          </a:xfrm>
          <a:prstGeom prst="rect">
            <a:avLst/>
          </a:prstGeom>
          <a:solidFill>
            <a:srgbClr val="1A1D24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9000" y="1778000"/>
            <a:ext cx="698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D4A0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51000" y="1778000"/>
            <a:ext cx="3492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Parollarni har 90 kunda almashtiring va 2FA dan foydalaning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588000" y="1651000"/>
            <a:ext cx="4572000" cy="1079500"/>
          </a:xfrm>
          <a:prstGeom prst="rect">
            <a:avLst/>
          </a:prstGeom>
          <a:solidFill>
            <a:srgbClr val="1A1D24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15000" y="1778000"/>
            <a:ext cx="698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D4A0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77000" y="1778000"/>
            <a:ext cx="3492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Shaxsiy qurilmalarni harbiy tarmoqqa ulamang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414000" y="1651000"/>
            <a:ext cx="5080000" cy="1079500"/>
          </a:xfrm>
          <a:prstGeom prst="rect">
            <a:avLst/>
          </a:prstGeom>
          <a:solidFill>
            <a:srgbClr val="1A1D24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41000" y="1778000"/>
            <a:ext cx="698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D4A0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303000" y="1778000"/>
            <a:ext cx="4000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Noma'lum USB va tashqi qurilmalarni ishlatmang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3111500"/>
            <a:ext cx="4572000" cy="1079500"/>
          </a:xfrm>
          <a:prstGeom prst="rect">
            <a:avLst/>
          </a:prstGeom>
          <a:solidFill>
            <a:srgbClr val="1A1D24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9000" y="3238500"/>
            <a:ext cx="698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D4A0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51000" y="3238500"/>
            <a:ext cx="3492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Har bir dasturni ruxsatnomadan (licenziyadan) </a:t>
            </a:r>
            <a:r>
              <a:rPr lang="en-US" sz="16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o‘tkazing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588000" y="3111500"/>
            <a:ext cx="4572000" cy="1079500"/>
          </a:xfrm>
          <a:prstGeom prst="rect">
            <a:avLst/>
          </a:prstGeom>
          <a:solidFill>
            <a:srgbClr val="1A1D24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15000" y="3238500"/>
            <a:ext cx="698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D4A0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77000" y="3238500"/>
            <a:ext cx="3492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Phishing xatlarini tanib oling: ishonchsiz manbalar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0414000" y="3111500"/>
            <a:ext cx="5080000" cy="1079500"/>
          </a:xfrm>
          <a:prstGeom prst="rect">
            <a:avLst/>
          </a:prstGeom>
          <a:solidFill>
            <a:srgbClr val="1A1D24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41000" y="3238500"/>
            <a:ext cx="698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D4A0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303000" y="3238500"/>
            <a:ext cx="4000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Maxfiy axborotni shifrlang va zaxira nusxalarini yarating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62000" y="4572000"/>
            <a:ext cx="4572000" cy="1079500"/>
          </a:xfrm>
          <a:prstGeom prst="rect">
            <a:avLst/>
          </a:prstGeom>
          <a:solidFill>
            <a:srgbClr val="1A1D24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9000" y="4699000"/>
            <a:ext cx="698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D4A0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651000" y="4699000"/>
            <a:ext cx="3492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Ijtimoiy tarmoqlarda harbiy ma'lumotlarni tashlamang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588000" y="4572000"/>
            <a:ext cx="4572000" cy="1079500"/>
          </a:xfrm>
          <a:prstGeom prst="rect">
            <a:avLst/>
          </a:prstGeom>
          <a:solidFill>
            <a:srgbClr val="1A1D24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15000" y="4699000"/>
            <a:ext cx="698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D4A0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77000" y="4699000"/>
            <a:ext cx="3492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Wi-Fi tarmoqlarini tekshiring: ochiq tarmoqlardan foydalanmang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0414000" y="4572000"/>
            <a:ext cx="5080000" cy="1079500"/>
          </a:xfrm>
          <a:prstGeom prst="rect">
            <a:avLst/>
          </a:prstGeom>
          <a:solidFill>
            <a:srgbClr val="1A1D24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41000" y="4699000"/>
            <a:ext cx="698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D4A0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303000" y="4699000"/>
            <a:ext cx="4000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Dasturiy ta'minotni doimiy yangilab turish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762000" y="6032500"/>
            <a:ext cx="7112000" cy="1079500"/>
          </a:xfrm>
          <a:prstGeom prst="rect">
            <a:avLst/>
          </a:prstGeom>
          <a:solidFill>
            <a:srgbClr val="1A1D24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9000" y="6159500"/>
            <a:ext cx="698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D4A0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651000" y="6159500"/>
            <a:ext cx="6032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Shubhali faoliyatni darhol xavfsizlik xizmatiga xabar qiling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62000" y="7493000"/>
            <a:ext cx="1473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FF4D4D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DIQQAT: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2025-yilda 61% harbiy kiberbuzilishlar uchinchi tomon dasturlari orqali amalga oshirildi. Mudofaa pudratchilari spear-phishing urinishlari 38% ga oshganini xabar qildi.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A8F9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14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62000" y="8636000"/>
            <a:ext cx="508000" cy="25400"/>
          </a:xfrm>
          <a:prstGeom prst="rect">
            <a:avLst/>
          </a:prstGeom>
          <a:solidFill>
            <a:srgbClr val="D4A017"/>
          </a:solidFill>
          <a:ln/>
        </p:spPr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810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A8F9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05 — INSON VA MASHINA HAMKORLIGI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397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kern="0" spc="150" dirty="0">
                <a:solidFill>
                  <a:srgbClr val="D4A0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SUN'IY INTELLEKT BILAN "HAMKORLIK" QILISH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371600"/>
            <a:ext cx="1016000" cy="381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651000"/>
            <a:ext cx="7112000" cy="660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"CENTAUR WARFIGHTING"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Inson va mashina gibrid kognitiv arxitekturasi: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INSON: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Abduktiv fikrlash, etik qarorlar, noaniq vaziyatlarda moslashish, strategik tafakkur, metakognitsiya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MASHINA: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Aniqlik, tezlik, katta ma'lumotlarni qayta ishlash, naqshlarni aniqlash, uzluksiz monitoring, xatolarsiz takrorlanish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382000" y="1651000"/>
            <a:ext cx="7112000" cy="6604000"/>
          </a:xfrm>
          <a:prstGeom prst="rect">
            <a:avLst/>
          </a:prstGeom>
          <a:solidFill>
            <a:srgbClr val="1A1D24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63000" y="19050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kern="0" spc="1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"STRATEGIK KENTAVR"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763000" y="2476500"/>
            <a:ext cx="6350000" cy="0"/>
          </a:xfrm>
          <a:prstGeom prst="straightConnector1">
            <a:avLst/>
          </a:prstGeom>
          <a:noFill/>
          <a:ln w="12700">
            <a:solidFill>
              <a:srgbClr val="2A2E38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8763000" y="2667000"/>
            <a:ext cx="6350000" cy="533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Strategik darajada inson-abduktiv fikrlash va AI gibrid tizimlari: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2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• Inson noaniq vaziyatlarda yangi yechimlar topadi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2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• AI katta ma'lumotlardan naqshlarni aniqlaydi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2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• Birgalikda aniq va tez qarorlar qabul qiladi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AMALIY MASLAHAT: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AI tavsiyalarini inson tahlili bilan tekshiring. Avtonom tizimlarning chegaralarini tushuning. "Avtomatlashtirish xatolarini" oldini oling. Inson nazoratini har doim saqlang.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AMALIY NAMUNA: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Avstraliya armiyasi 2023-yilda BMI orqali robotni boshqarishni namoyish etdi.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A8F9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15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62000" y="8636000"/>
            <a:ext cx="508000" cy="25400"/>
          </a:xfrm>
          <a:prstGeom prst="rect">
            <a:avLst/>
          </a:prstGeom>
          <a:solidFill>
            <a:srgbClr val="D4A017"/>
          </a:solidFill>
          <a:ln/>
        </p:spPr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810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A8F9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05 — INSON VA MASHINA HAMKORLIGI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397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kern="0" spc="150" dirty="0">
                <a:solidFill>
                  <a:srgbClr val="D4A0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"CENTAUR" MODELI: INSON VA MASHINA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371600"/>
            <a:ext cx="1016000" cy="381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651000"/>
            <a:ext cx="7112000" cy="660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UCHTA DARAJA: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1. "IN THE LOOP"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— Inson har bir bosqichda qaror qiladi. Tizim faqat inson ruxsati bilan ishlaydi.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2. "ON THE LOOP"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— Tizim mustaqil ishlaydi, inson istalgan vaqtda aralasha oladi.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3. "OUT OF THE LOOP"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To‘liq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avtonom, hozirda taqiqlangan.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AMALIY MASLAHAT: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Har bir avtonom tizimda "inson nazorati" nuqtalarini aniqlang. Hech qachon tizim xatosini inson e'tiborsizligi bilan birlashtirmang.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382000" y="1651000"/>
            <a:ext cx="7112000" cy="6604000"/>
          </a:xfrm>
          <a:prstGeom prst="rect">
            <a:avLst/>
          </a:prstGeom>
          <a:solidFill>
            <a:srgbClr val="1A1D24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63000" y="19050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kern="0" spc="1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XAVFSIZLIK VA ETika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763000" y="2476500"/>
            <a:ext cx="6350000" cy="0"/>
          </a:xfrm>
          <a:prstGeom prst="straightConnector1">
            <a:avLst/>
          </a:prstGeom>
          <a:noFill/>
          <a:ln w="12700">
            <a:solidFill>
              <a:srgbClr val="2A2E38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8763000" y="2667000"/>
            <a:ext cx="6350000" cy="533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FF4D4D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TAHRIDLAR: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2025-yilda 7 ta davlatning UAS dronlari kod injektsiyasiga uchragan. AI tizimlari 38% xulq-atvor devorlarini </a:t>
            </a:r>
            <a:r>
              <a:rPr lang="en-US" sz="18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aylanib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o‘tdi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. Avtonom tizimlar tezlik, aniqlik va xavfsizlikni oshiradi.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ETIK PRINSIPLAR: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Inson har doir halokatli qarorlar uchun javobgar. AI tizimlari </a:t>
            </a:r>
            <a:r>
              <a:rPr lang="en-US" sz="18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shaffof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bo‘lishi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kerak. "Avtomatlashtirish xatolarini oldini olish". Harbiy xizmatchi AI chegaralarini tushunishi kerak.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AQSh DODD 3000.09: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Inson "in" yoki "on" loop da </a:t>
            </a:r>
            <a:r>
              <a:rPr lang="en-US" sz="18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bo‘lishi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shart.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A8F9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16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62000" y="8636000"/>
            <a:ext cx="508000" cy="25400"/>
          </a:xfrm>
          <a:prstGeom prst="rect">
            <a:avLst/>
          </a:prstGeom>
          <a:solidFill>
            <a:srgbClr val="D4A017"/>
          </a:solidFill>
          <a:ln/>
        </p:spPr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810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A8F9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06 — KOGNITIV CHIDAMLILIK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397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kern="0" spc="150" dirty="0">
                <a:solidFill>
                  <a:srgbClr val="D4A0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KOGNITIV CHIDAMLILIK: RUHIY BARQARORLIK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371600"/>
            <a:ext cx="1016000" cy="381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651000"/>
            <a:ext cx="7112000" cy="660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KOGNITIV YUKLAMA NMA?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Amerika Psixologiya Assotsiatsiyasi: kognitiv yuklama — inson aqliy qobiliyatlaridan oshib ketgan talablar holati.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DrayverLAR: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• </a:t>
            </a:r>
            <a:r>
              <a:rPr lang="en-US" sz="1800" b="1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Axborot</a:t>
            </a:r>
            <a:r>
              <a:rPr lang="en-US" sz="1800" b="1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to‘yinishi</a:t>
            </a:r>
            <a:r>
              <a:rPr lang="en-US" sz="1800" b="1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: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Sensor tizimlari uzluksiz ma'lumotlar ishlab chiqaradi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• </a:t>
            </a:r>
            <a:r>
              <a:rPr lang="en-US" sz="1800" b="1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MDO: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Bir </a:t>
            </a:r>
            <a:r>
              <a:rPr lang="en-US" sz="18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vaqtning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o‘zida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bir necha sohani tahlil qilish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• </a:t>
            </a:r>
            <a:r>
              <a:rPr lang="en-US" sz="1800" b="1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Tez qaror tsikllari: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Texnologik taraqqiyot reaksiya vaqtini qisqartiradi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• </a:t>
            </a:r>
            <a:r>
              <a:rPr lang="en-US" sz="1800" b="1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Geterogen tizimlar: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Turli platformalar birlik tasavvur yaratishni qiyinlashtiradi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• </a:t>
            </a:r>
            <a:r>
              <a:rPr lang="en-US" sz="1800" b="1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Noaniqlik va aldash: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Gibrid tahdidlar </a:t>
            </a:r>
            <a:r>
              <a:rPr lang="en-US" sz="18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va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noto‘g'ri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iz qoldirish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OQIBATLAR: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• Kechikgan qarorlar, xatoliklar, </a:t>
            </a:r>
            <a:r>
              <a:rPr lang="en-US" sz="18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signallarni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o‘tkazib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yuborish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382000" y="1651000"/>
            <a:ext cx="7112000" cy="6604000"/>
          </a:xfrm>
          <a:prstGeom prst="rect">
            <a:avLst/>
          </a:prstGeom>
          <a:solidFill>
            <a:srgbClr val="1A1D24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63000" y="19050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kern="0" spc="1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YECHIMLAR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763000" y="2476500"/>
            <a:ext cx="6350000" cy="0"/>
          </a:xfrm>
          <a:prstGeom prst="straightConnector1">
            <a:avLst/>
          </a:prstGeom>
          <a:noFill/>
          <a:ln w="12700">
            <a:solidFill>
              <a:srgbClr val="2A2E38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8763000" y="2667000"/>
            <a:ext cx="6350000" cy="533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1. AI QO'LLAB-QUVVATLASH: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2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HENSOLDT MDOcore sensorlarni boshqaruv tizimlari bilan bog'laydi. AI naqshlarni aniqlaydi.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2. MA'LUMOTLAR FILTRLASH: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2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Faqat vazifaga oid axborotni iste'mol qiling. "Ma'lumot dietasi".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3. KOGNITIV TANAFFUS: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2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Har 90 daqiqada 5 daqiqalik tanaffus.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4. JAMOAVIY QAROR: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2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Yuklamani taqsimlash, bir-birini tekshirish.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5. STRESS BOSHQARUVI: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2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Fizik mashqlar, nafas olish texnikalari.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A8F9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17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62000" y="8636000"/>
            <a:ext cx="508000" cy="25400"/>
          </a:xfrm>
          <a:prstGeom prst="rect">
            <a:avLst/>
          </a:prstGeom>
          <a:solidFill>
            <a:srgbClr val="D4A017"/>
          </a:solidFill>
          <a:ln/>
        </p:spPr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810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A8F9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06 — KOGNITIV CHIDAMLILIK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397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kern="0" spc="150" dirty="0">
                <a:solidFill>
                  <a:srgbClr val="D4A0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KATTA HAJMDAGI MA'LUMOTLARNI BOSHQARISH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371600"/>
            <a:ext cx="1016000" cy="381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651000"/>
            <a:ext cx="7112000" cy="660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STRATEGIYALAR: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1. MA'LUMOTLAR FILTRLASH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2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Muhim va muhim emas axborotni ajratish.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2. VAZIYAT TASAVVURI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2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Situational awareness ni doimiy yangilab turish.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3. KOGNITIV ZAXIRA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2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Mnemonika, vizualizatsiya, kategoriyalash.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4. STRESS BOSHQARUVI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2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Nafas olish, tanaffuslar, fizik mashqlar.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5. JAMOAVIY QAROR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2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Yuklamani taqsimlash, bir-birini tekshirish.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382000" y="1651000"/>
            <a:ext cx="7112000" cy="6604000"/>
          </a:xfrm>
          <a:prstGeom prst="rect">
            <a:avLst/>
          </a:prstGeom>
          <a:solidFill>
            <a:srgbClr val="1A1D24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63000" y="19050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kern="0" spc="1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AMALIY MASLAHATLAR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763000" y="2476500"/>
            <a:ext cx="6350000" cy="0"/>
          </a:xfrm>
          <a:prstGeom prst="straightConnector1">
            <a:avLst/>
          </a:prstGeom>
          <a:noFill/>
          <a:ln w="12700">
            <a:solidFill>
              <a:srgbClr val="2A2E38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8763000" y="2667000"/>
            <a:ext cx="6350000" cy="533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KUNDALIK AMALIYOTLAR: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200"/>
              </a:spcBef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1.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Har 90 daqiqada 5 daqiqalik tanaffus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200"/>
              </a:spcBef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2.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Ma'lumotlarni kategoriyalarga ajrating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200"/>
              </a:spcBef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3.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Vizual xarita yordamida strukturlashtiring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200"/>
              </a:spcBef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4.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Jamoa bilan ma'lumot almashish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200"/>
              </a:spcBef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5.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Fizik holat: uyqu, ovqat, mashq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TEXNOLOGIK YORDAM: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AI yordamida filtrlash, MDOcore orqali sensorlarni birlashtirish, bashoratli tahlil.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FF4D4D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DIQQAT: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Kognitiv yuklama jangovar samaradorlikning asosiy omili.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A8F9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18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62000" y="8636000"/>
            <a:ext cx="508000" cy="25400"/>
          </a:xfrm>
          <a:prstGeom prst="rect">
            <a:avLst/>
          </a:prstGeom>
          <a:solidFill>
            <a:srgbClr val="D4A017"/>
          </a:solidFill>
          <a:ln/>
        </p:spPr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810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A8F9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XULOSA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397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kern="0" spc="150" dirty="0">
                <a:solidFill>
                  <a:srgbClr val="D4A0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KELAJAK ASKARINING PORTRETI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371600"/>
            <a:ext cx="1016000" cy="381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714500"/>
            <a:ext cx="355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D4A0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$20.6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762000" y="2667000"/>
            <a:ext cx="355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Harbiy kiberxavfsizlik bozori 2029-yil prognozi (mlrd $)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826000" y="1714500"/>
            <a:ext cx="3048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D4A0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38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826000" y="2667000"/>
            <a:ext cx="3048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Davlat hujumkor kiberdasturlarni boshqaradi (2025)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36000" y="1714500"/>
            <a:ext cx="3048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D4A0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8636000" y="2667000"/>
            <a:ext cx="304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Asosiy ustun: Texnik, Kognitiv, Etik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62000" y="3873500"/>
            <a:ext cx="14732000" cy="0"/>
          </a:xfrm>
          <a:prstGeom prst="straightConnector1">
            <a:avLst/>
          </a:prstGeom>
          <a:noFill/>
          <a:ln w="12700">
            <a:solidFill>
              <a:srgbClr val="2A2E38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762000" y="4000500"/>
            <a:ext cx="7112000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KELAJAK ASKARI =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2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Jangovar mahorat + Kiberbilim + Kritik fikrlash + AI hamkorligi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UCHTA USTUN: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200"/>
              </a:spcBef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1. TEXNIK SAVODXONLIK: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Kiberxavfsizlik, raqamli gigiyena, avtonom tizimlar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200"/>
              </a:spcBef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2. KOGNITIV CHIDAMLILIK: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Katta ma'lumotlarni boshqarish, tez qaror, stressda barqarorlik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200"/>
              </a:spcBef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3. ETIK BARQARORLIK: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Inson nazorati, mas'uliyatli qarorlar, axborot xavfsizligi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382000" y="4000500"/>
            <a:ext cx="7112000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KELAJAK URUSH TRENDLARI: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• Kelajak urushlari axborot, tezlik va aniqlik urushlari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2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• AI bilan hamkorlik — insonni kuchaytirish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2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• "Raqamli gigiyena" kundalik odatga aylanishi kerak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2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• 38 ta davlat hujumkor kiberdasturlarni boshqaradi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2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• Harbiy kiberxavfsizlik bozori 2029-yilga $20.61 mlrd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D4A017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ASOSIY XULOSA: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Harbiy xizmatchi raqamli davrda intellektual </a:t>
            </a:r>
            <a:r>
              <a:rPr lang="en-US" sz="18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jangchi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bo‘lishi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kerak. Aqil — eng kuchli qurol.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A8F9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19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62000" y="8636000"/>
            <a:ext cx="508000" cy="25400"/>
          </a:xfrm>
          <a:prstGeom prst="rect">
            <a:avLst/>
          </a:prstGeom>
          <a:solidFill>
            <a:srgbClr val="D4A017"/>
          </a:solidFill>
          <a:ln/>
        </p:spPr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w4g362juid4qq/mnt/agents/output/military-cyber-ai/images/9_55_299_Soldier_Dark_Background_Royalty.png"/>
          <p:cNvPicPr>
            <a:picLocks noChangeAspect="1"/>
          </p:cNvPicPr>
          <p:nvPr/>
        </p:nvPicPr>
        <p:blipFill>
          <a:blip r:embed="rId3"/>
          <a:srcRect t="7913" b="7913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F1115">
                  <a:alpha val="0"/>
                </a:srgbClr>
              </a:gs>
              <a:gs pos="40000">
                <a:srgbClr val="0F1115">
                  <a:alpha val="80000"/>
                </a:srgbClr>
              </a:gs>
              <a:gs pos="100000">
                <a:srgbClr val="0F1115">
                  <a:alpha val="95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62000" y="635000"/>
            <a:ext cx="14732000" cy="0"/>
          </a:xfrm>
          <a:prstGeom prst="straightConnector1">
            <a:avLst/>
          </a:prstGeom>
          <a:noFill/>
          <a:ln w="12700">
            <a:solidFill>
              <a:srgbClr val="D4A017"/>
            </a:solidFill>
            <a:prstDash val="solid"/>
            <a:headEnd type="none"/>
            <a:tailEnd type="none"/>
          </a:ln>
        </p:spPr>
      </p:sp>
      <p:sp>
        <p:nvSpPr>
          <p:cNvPr id="5" name="Text 2"/>
          <p:cNvSpPr/>
          <p:nvPr/>
        </p:nvSpPr>
        <p:spPr>
          <a:xfrm>
            <a:off x="762000" y="762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A8F9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YAKUN // SAVOL-JAVOB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62000" y="3048000"/>
            <a:ext cx="1143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kern="0" spc="200" dirty="0">
                <a:solidFill>
                  <a:srgbClr val="D4A0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SAVOL VA MUNOZARALAR</a:t>
            </a:r>
            <a:endParaRPr lang="en-US" sz="4800" dirty="0"/>
          </a:p>
        </p:txBody>
      </p:sp>
      <p:sp>
        <p:nvSpPr>
          <p:cNvPr id="7" name="Shape 4"/>
          <p:cNvSpPr/>
          <p:nvPr/>
        </p:nvSpPr>
        <p:spPr>
          <a:xfrm>
            <a:off x="762000" y="4064000"/>
            <a:ext cx="1016000" cy="508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Text 5"/>
          <p:cNvSpPr/>
          <p:nvPr/>
        </p:nvSpPr>
        <p:spPr>
          <a:xfrm>
            <a:off x="762000" y="4445000"/>
            <a:ext cx="1016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200" kern="0" spc="1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"Biz qurol emas, balki qurolni boshqaradigan aqldan kuchliroq emasmiz. Aqil — eng kuchli qurol."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62000" y="6350000"/>
            <a:ext cx="889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Asosiy xulosa: Harbiy xizmatchi raqamli davrda nafaqat jismoniy, balki intellektual </a:t>
            </a:r>
            <a:r>
              <a:rPr lang="en-US" sz="18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jangchi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bo‘lishi</a:t>
            </a: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 kerak.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E8E8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Sizning savollaringizni tinglashga tayyorman.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2A2E38"/>
            </a:solidFill>
            <a:prstDash val="solid"/>
            <a:headEnd type="none"/>
            <a:tailEnd type="none"/>
          </a:ln>
        </p:spPr>
      </p:sp>
      <p:sp>
        <p:nvSpPr>
          <p:cNvPr id="11" name="Text 8"/>
          <p:cNvSpPr/>
          <p:nvPr/>
        </p:nvSpPr>
        <p:spPr>
          <a:xfrm>
            <a:off x="762000" y="8509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A8F9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2026 | O'ZBEKISTON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430000" y="8509000"/>
            <a:ext cx="406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A8F9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RAHMAT E'TIBORINGIZ UCHUN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2199</Words>
  <Application>Microsoft Office PowerPoint</Application>
  <PresentationFormat>Произвольный</PresentationFormat>
  <Paragraphs>340</Paragraphs>
  <Slides>20</Slides>
  <Notes>20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5" baseType="lpstr">
      <vt:lpstr>Times New Roman</vt:lpstr>
      <vt:lpstr>Calibri</vt:lpstr>
      <vt:lpstr>Arial</vt:lpstr>
      <vt:lpstr>Liter</vt:lpstr>
      <vt:lpstr>Custom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Kiberxavfsizlik, Sun'iy intellekt va raqamli davrda harbiy xizmatchining intellektual salohiyati va tafakkuri</dc:title>
  <dc:subject>Kiberxavfsizlik, Sun'iy intellekt va raqamli davrda harbiy xizmatchining intellektual salohiyati va tafakkuri</dc:subject>
  <dc:creator>Kimi</dc:creator>
  <cp:lastModifiedBy>Isakov Muxriddin</cp:lastModifiedBy>
  <cp:revision>12</cp:revision>
  <dcterms:created xsi:type="dcterms:W3CDTF">2026-05-07T15:24:53Z</dcterms:created>
  <dcterms:modified xsi:type="dcterms:W3CDTF">2026-05-07T16:30:32Z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{"Label":"Kiberxavfsizlik, Sun'iy intellekt va raqamli davrda harbiy xizmatchining intellektual salohiyati va tafakkuri","ContentProducer":"001191110108MACG2KBH8F10000","ProduceID":"19e01f05-4782-8ee7-8000-0000f0128703","ReservedCode1":"","ContentPropagator":"001191110108MACG2KBH8F20000","PropagateID":"19e01f05-4782-8ee7-8000-0000f0128703","ReservedCode2":""}</vt:lpwstr>
  </property>
</Properties>
</file>