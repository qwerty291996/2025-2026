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314" r:id="rId3"/>
    <p:sldId id="318" r:id="rId4"/>
    <p:sldId id="320" r:id="rId5"/>
    <p:sldId id="311" r:id="rId6"/>
    <p:sldId id="312" r:id="rId7"/>
    <p:sldId id="293" r:id="rId8"/>
    <p:sldId id="313" r:id="rId9"/>
    <p:sldId id="292" r:id="rId10"/>
    <p:sldId id="281" r:id="rId11"/>
    <p:sldId id="301" r:id="rId12"/>
    <p:sldId id="303" r:id="rId13"/>
    <p:sldId id="305" r:id="rId14"/>
    <p:sldId id="319" r:id="rId15"/>
    <p:sldId id="316" r:id="rId16"/>
    <p:sldId id="279" r:id="rId1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793A"/>
    <a:srgbClr val="16C60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126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5D6BE-FFC5-45C3-94D3-F18247FE8E44}" type="datetimeFigureOut">
              <a:rPr lang="ru-RU" smtClean="0"/>
              <a:t>03.09.2025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4B77C4-3FBC-4E95-AC04-E9856704040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4B77C4-3FBC-4E95-AC04-E9856704040F}" type="slidenum">
              <a:rPr lang="ru-RU" smtClean="0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35B9F-7789-48C5-89DA-7AA3AC399BB3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23733-DE61-4188-958A-DCE18E97D010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E65E1-7B50-48AF-BF04-3FE26C2AB8B3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7131-E203-4D57-A2D0-08DAF6690AAB}" type="datetime1">
              <a:rPr lang="ru-RU" smtClean="0"/>
              <a:t>03.09.2025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E58CB-2C1D-4C39-B1E6-ECDA8EF2BD76}" type="datetime1">
              <a:rPr lang="ru-RU" smtClean="0"/>
              <a:t>03.09.2025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63911-4F31-4D11-A0DE-7FBE8A9E895F}" type="datetime1">
              <a:rPr lang="ru-RU" smtClean="0"/>
              <a:t>03.09.2025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DB3A4-A045-4746-94E3-108392EACB13}" type="datetime1">
              <a:rPr lang="ru-RU" smtClean="0"/>
              <a:t>03.09.2025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EA94-EEB7-439C-BDC0-100D386DFC5C}" type="datetime1">
              <a:rPr lang="ru-RU" smtClean="0"/>
              <a:t>03.09.2025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0019-9D3A-45D8-ADA5-7247B28902D0}" type="datetime1">
              <a:rPr lang="ru-RU" smtClean="0"/>
              <a:t>03.09.2025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805C-F614-4259-A228-DB6D2F5BEE85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DA0F4-DC8B-4EEC-9F5E-92B9C3BFD938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16693-A4DA-4FF9-8107-C6B8B88C1D13}" type="datetime1">
              <a:rPr lang="ru-RU" smtClean="0"/>
              <a:t>03.09.2025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4F330-8D6F-4C43-B79F-9807A005D2DC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rogramming/index.ph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sql/default.asp" TargetMode="External"/><Relationship Id="rId4" Type="http://schemas.openxmlformats.org/officeDocument/2006/relationships/hyperlink" Target="https://www.geeksforgeeks.org/machine-learning/machine-learning-mathematics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ariq.dev/" TargetMode="External"/><Relationship Id="rId3" Type="http://schemas.openxmlformats.org/officeDocument/2006/relationships/hyperlink" Target="https://ocw.mit.edu/courses/electrical-engineering-and-computer-science/6-034-artificial-intelligence-fall-2020/" TargetMode="External"/><Relationship Id="rId7" Type="http://schemas.openxmlformats.org/officeDocument/2006/relationships/hyperlink" Target="https://course.fast.ai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i.google/education/" TargetMode="External"/><Relationship Id="rId5" Type="http://schemas.openxmlformats.org/officeDocument/2006/relationships/hyperlink" Target="https://www.kaggle.com/learn" TargetMode="External"/><Relationship Id="rId10" Type="http://schemas.openxmlformats.org/officeDocument/2006/relationships/hyperlink" Target="https://www.geeksforgeeks.org/artificial-intelligence/" TargetMode="External"/><Relationship Id="rId4" Type="http://schemas.openxmlformats.org/officeDocument/2006/relationships/hyperlink" Target="http://web.stanford.edu/class/cs221/" TargetMode="External"/><Relationship Id="rId9" Type="http://schemas.openxmlformats.org/officeDocument/2006/relationships/hyperlink" Target="https://mohir.dev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 flipV="1">
            <a:off x="1232386" y="3102095"/>
            <a:ext cx="6852951" cy="45719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Прямоугольник 10"/>
          <p:cNvSpPr/>
          <p:nvPr/>
        </p:nvSpPr>
        <p:spPr>
          <a:xfrm>
            <a:off x="3854847" y="4730585"/>
            <a:ext cx="1290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Toshkent 2025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87520" y="230172"/>
            <a:ext cx="87129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HARBIY XAVFSIZLIK VA MUDOFAA UNIVERSITETINING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AXBOROT-KOMMUNIKATSIYA TEXNOLOGIYALARI VA HARBIY ALOQA INSTITUTI</a:t>
            </a:r>
            <a:endParaRPr lang="ru-RU" sz="16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99588" y="1982220"/>
            <a:ext cx="7488832" cy="58477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MAVZU: SUN’IY INTELLEKT ASOSLARI KURSINI O‘QITISHNING</a:t>
            </a:r>
            <a:b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NAZARIY VA AMALIY METODIKASI</a:t>
            </a:r>
            <a:endParaRPr lang="ru-RU" sz="1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57E156E-2862-45AA-B671-E1C5EDE84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4008" y="3712393"/>
            <a:ext cx="449999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MA’RUZACHI</a:t>
            </a:r>
            <a:r>
              <a:rPr lang="uz-Cyrl-UZ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 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dasturiy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injiniring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kafedrasi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o‘qituvchisi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kapitan</a:t>
            </a:r>
            <a:r>
              <a:rPr lang="en-US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Isakov M.M.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2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4BF49E-8002-4C31-98C4-98BC5B1AC92B}"/>
              </a:ext>
            </a:extLst>
          </p:cNvPr>
          <p:cNvSpPr/>
          <p:nvPr/>
        </p:nvSpPr>
        <p:spPr>
          <a:xfrm>
            <a:off x="323527" y="1020585"/>
            <a:ext cx="849694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–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dasturlarga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aqliy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faoliyatiga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o‘xshash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imkoniyatlarni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berishga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aytganda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odam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o‘ylay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muammolarni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tizimdir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9B4BBF2-8DAF-4263-8409-20F2241C52A5}"/>
              </a:ext>
            </a:extLst>
          </p:cNvPr>
          <p:cNvCxnSpPr/>
          <p:nvPr/>
        </p:nvCxnSpPr>
        <p:spPr>
          <a:xfrm>
            <a:off x="323527" y="915567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80064A99-0F8A-464D-B5E9-457E4DBE9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5" y="71885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0453DE2-9F11-4995-9A78-ED4C2750BCE7}"/>
              </a:ext>
            </a:extLst>
          </p:cNvPr>
          <p:cNvSpPr/>
          <p:nvPr/>
        </p:nvSpPr>
        <p:spPr>
          <a:xfrm>
            <a:off x="323527" y="437929"/>
            <a:ext cx="30909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1026" name="Picture 2" descr="AI in Robotics: Use of Artificial Intelligence in Robotics ...">
            <a:extLst>
              <a:ext uri="{FF2B5EF4-FFF2-40B4-BE49-F238E27FC236}">
                <a16:creationId xmlns:a16="http://schemas.microsoft.com/office/drawing/2014/main" id="{6918B82F-BBC3-4D43-B89D-D4E67CA5E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1963576"/>
            <a:ext cx="5616624" cy="2607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910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3</a:t>
            </a:fld>
            <a:endParaRPr lang="ru-RU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0143585-904A-46D1-88A4-0F1B37A71512}"/>
              </a:ext>
            </a:extLst>
          </p:cNvPr>
          <p:cNvCxnSpPr/>
          <p:nvPr/>
        </p:nvCxnSpPr>
        <p:spPr>
          <a:xfrm>
            <a:off x="323527" y="627534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D240CFB8-A5B2-43A6-87E3-A3146E5E8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4455"/>
            <a:ext cx="720080" cy="5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39A8D79-C9B3-4649-BD76-5E030CFAD463}"/>
              </a:ext>
            </a:extLst>
          </p:cNvPr>
          <p:cNvSpPr/>
          <p:nvPr/>
        </p:nvSpPr>
        <p:spPr>
          <a:xfrm>
            <a:off x="323527" y="83305"/>
            <a:ext cx="6338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9">
            <a:extLst>
              <a:ext uri="{FF2B5EF4-FFF2-40B4-BE49-F238E27FC236}">
                <a16:creationId xmlns:a16="http://schemas.microsoft.com/office/drawing/2014/main" id="{B2EC19E1-2DB9-4C83-B385-1F348DACAE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940555"/>
              </p:ext>
            </p:extLst>
          </p:nvPr>
        </p:nvGraphicFramePr>
        <p:xfrm>
          <a:off x="323527" y="827786"/>
          <a:ext cx="8496944" cy="3760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7">
                  <a:extLst>
                    <a:ext uri="{9D8B030D-6E8A-4147-A177-3AD203B41FA5}">
                      <a16:colId xmlns:a16="http://schemas.microsoft.com/office/drawing/2014/main" val="40095806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1490146402"/>
                    </a:ext>
                  </a:extLst>
                </a:gridCol>
                <a:gridCol w="5400599">
                  <a:extLst>
                    <a:ext uri="{9D8B030D-6E8A-4147-A177-3AD203B41FA5}">
                      <a16:colId xmlns:a16="http://schemas.microsoft.com/office/drawing/2014/main" val="937481584"/>
                    </a:ext>
                  </a:extLst>
                </a:gridCol>
              </a:tblGrid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Maqsadi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3498763061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TIBBIYOT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tashxislash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dori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tibbiy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tasvirlarni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59572594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TA’LIM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repetitorlar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avtomatik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tekshirish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individual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o‘quv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dasturi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358749131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TRANSPORT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Avtopilotli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xavfsizligini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aqlli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svetoforlar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335816262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MOLIYAVIY TIZIM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Firibgarlikni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kredit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avtomatlashtirilgan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savdo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515316203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SANOAT VA ISHLAB CHIQARISH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yordamida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chiqarishni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texnik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nosozliklarni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oldindan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2946848282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QISHLOQ XO‘JALIGI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Hosilni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o‘simlik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kasalliklarini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avtomatlashtirilgan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sug‘orish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420964650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AXBOROT XAVFSIZLIGI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Kiberhujumlarni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aniqlash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parollarni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himoyalash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tahdidlarni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prognozlash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418656587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KUNDALIK HAYOT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Virtual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yordamchilar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(Siri, Alexa,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ChatGPT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smart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uydagi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2495745195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 VA BIZNES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Xaridor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xatti-harakatini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reklama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samaradorligini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oshirish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4154979020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SAN’AT VA IJOD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Musiqa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rasmlar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matn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yozishda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berish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1852237865"/>
                  </a:ext>
                </a:extLst>
              </a:tr>
              <a:tr h="313349">
                <a:tc>
                  <a:txBody>
                    <a:bodyPr/>
                    <a:lstStyle/>
                    <a:p>
                      <a:pPr algn="ctr"/>
                      <a:r>
                        <a:rPr lang="en-UM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MUDOFAA</a:t>
                      </a:r>
                      <a:endParaRPr lang="en-US" sz="105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tc>
                  <a:txBody>
                    <a:bodyPr/>
                    <a:lstStyle/>
                    <a:p>
                      <a:pPr marL="0" indent="180975"/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Dronlar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boshqaruvi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razvedka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ma’lumotlarini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qilish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kiberxavfsizlikni</a:t>
                      </a: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ta’minlash</a:t>
                      </a:r>
                      <a:endParaRPr lang="en-US"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141" marR="25141" marT="12571" marB="12571" anchor="ctr"/>
                </a:tc>
                <a:extLst>
                  <a:ext uri="{0D108BD9-81ED-4DB2-BD59-A6C34878D82A}">
                    <a16:rowId xmlns:a16="http://schemas.microsoft.com/office/drawing/2014/main" val="115426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212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4F7B51-3204-43B5-9FC4-1E21E28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4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8E865A3-1099-4B64-A42A-DAAF6DC876C0}"/>
              </a:ext>
            </a:extLst>
          </p:cNvPr>
          <p:cNvCxnSpPr/>
          <p:nvPr/>
        </p:nvCxnSpPr>
        <p:spPr>
          <a:xfrm>
            <a:off x="323527" y="627534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9CE6A8E6-0E64-4FAC-BFEB-DC98AFBF3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4455"/>
            <a:ext cx="720080" cy="5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7B9CFA-AA0C-4C2E-A3E1-84C06B603270}"/>
              </a:ext>
            </a:extLst>
          </p:cNvPr>
          <p:cNvSpPr/>
          <p:nvPr/>
        </p:nvSpPr>
        <p:spPr>
          <a:xfrm>
            <a:off x="323527" y="85217"/>
            <a:ext cx="6752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intellekning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7DFB0270-F26E-49C9-8BAA-46B040BCF8B9}"/>
              </a:ext>
            </a:extLst>
          </p:cNvPr>
          <p:cNvGrpSpPr/>
          <p:nvPr/>
        </p:nvGrpSpPr>
        <p:grpSpPr>
          <a:xfrm>
            <a:off x="51194" y="675255"/>
            <a:ext cx="2167567" cy="2616575"/>
            <a:chOff x="51194" y="675255"/>
            <a:chExt cx="2167567" cy="2616575"/>
          </a:xfrm>
        </p:grpSpPr>
        <p:pic>
          <p:nvPicPr>
            <p:cNvPr id="9" name="Рисунок 8" descr="Military command center with AI holographic map, futuristic strategy planning, officers using artificial intelligence sy...">
              <a:extLst>
                <a:ext uri="{FF2B5EF4-FFF2-40B4-BE49-F238E27FC236}">
                  <a16:creationId xmlns:a16="http://schemas.microsoft.com/office/drawing/2014/main" id="{6860D337-2719-402A-A8EA-0B54D6B5F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61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216C6E27-260A-4CDC-9968-FA68A1C0A55A}"/>
                </a:ext>
              </a:extLst>
            </p:cNvPr>
            <p:cNvSpPr/>
            <p:nvPr/>
          </p:nvSpPr>
          <p:spPr>
            <a:xfrm>
              <a:off x="51194" y="675255"/>
              <a:ext cx="215963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Harbiy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strategiya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b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qaror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qabul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qilish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tizimlari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sz="1200" dirty="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52E7DF10-B885-438F-B831-5EA9A4C25920}"/>
              </a:ext>
            </a:extLst>
          </p:cNvPr>
          <p:cNvGrpSpPr/>
          <p:nvPr/>
        </p:nvGrpSpPr>
        <p:grpSpPr>
          <a:xfrm>
            <a:off x="2264375" y="2453942"/>
            <a:ext cx="2163609" cy="2621665"/>
            <a:chOff x="2264375" y="2453942"/>
            <a:chExt cx="2163609" cy="2621665"/>
          </a:xfrm>
        </p:grpSpPr>
        <p:pic>
          <p:nvPicPr>
            <p:cNvPr id="10" name="Рисунок 9" descr="Futuristic autonomous military drones flying, AI-controlled robots on battlefield, modern defense technology">
              <a:extLst>
                <a:ext uri="{FF2B5EF4-FFF2-40B4-BE49-F238E27FC236}">
                  <a16:creationId xmlns:a16="http://schemas.microsoft.com/office/drawing/2014/main" id="{D549863B-81F6-446B-A4C3-CA4E5FCD06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4375" y="2915607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935A2DF6-F1A8-46F3-BA44-93BAAFA5661C}"/>
                </a:ext>
              </a:extLst>
            </p:cNvPr>
            <p:cNvSpPr/>
            <p:nvPr/>
          </p:nvSpPr>
          <p:spPr>
            <a:xfrm>
              <a:off x="2267984" y="2453942"/>
              <a:ext cx="21600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800"/>
                </a:spcAft>
              </a:pP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Avtonom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dronlar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robotlashtirilgan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texnikalar</a:t>
              </a:r>
              <a:endPara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B6524FD-1C5C-447F-BCF1-00902131FF4D}"/>
              </a:ext>
            </a:extLst>
          </p:cNvPr>
          <p:cNvGrpSpPr/>
          <p:nvPr/>
        </p:nvGrpSpPr>
        <p:grpSpPr>
          <a:xfrm>
            <a:off x="6804853" y="675255"/>
            <a:ext cx="2167202" cy="2616575"/>
            <a:chOff x="6804853" y="675255"/>
            <a:chExt cx="2167202" cy="2616575"/>
          </a:xfrm>
        </p:grpSpPr>
        <p:pic>
          <p:nvPicPr>
            <p:cNvPr id="12" name="Рисунок 11" descr="Digital cybersecurity shield, AI neural network protecting military systems, cyber warfare concept illustration in army ...">
              <a:extLst>
                <a:ext uri="{FF2B5EF4-FFF2-40B4-BE49-F238E27FC236}">
                  <a16:creationId xmlns:a16="http://schemas.microsoft.com/office/drawing/2014/main" id="{C1DF9DCE-A331-4833-9F8B-EF44C5411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2055" y="1131830"/>
              <a:ext cx="2160000" cy="21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3B3C71A-5F29-449C-BED0-95F8F71F134D}"/>
                </a:ext>
              </a:extLst>
            </p:cNvPr>
            <p:cNvSpPr/>
            <p:nvPr/>
          </p:nvSpPr>
          <p:spPr>
            <a:xfrm>
              <a:off x="6804853" y="675255"/>
              <a:ext cx="2159635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800"/>
                </a:spcAft>
              </a:pP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Kiberxavfsizlik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va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axborot</a:t>
              </a:r>
              <a:r>
                <a:rPr lang="en-US" sz="12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urushi</a:t>
              </a:r>
              <a:endPara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68388A05-F6A1-4931-B346-88185B91379A}"/>
              </a:ext>
            </a:extLst>
          </p:cNvPr>
          <p:cNvGrpSpPr/>
          <p:nvPr/>
        </p:nvGrpSpPr>
        <p:grpSpPr>
          <a:xfrm>
            <a:off x="4617922" y="2536266"/>
            <a:ext cx="2160000" cy="2543122"/>
            <a:chOff x="4617922" y="2536266"/>
            <a:chExt cx="2160000" cy="2543122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6CAC55F8-8B02-4977-BDE3-3DB098B9C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7922" y="2919388"/>
              <a:ext cx="2160000" cy="2160000"/>
            </a:xfrm>
            <a:prstGeom prst="rect">
              <a:avLst/>
            </a:prstGeom>
            <a:noFill/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188A7BB-78E5-406B-A642-834DC4814BF9}"/>
                </a:ext>
              </a:extLst>
            </p:cNvPr>
            <p:cNvSpPr/>
            <p:nvPr/>
          </p:nvSpPr>
          <p:spPr>
            <a:xfrm>
              <a:off x="5252126" y="2536266"/>
              <a:ext cx="89159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Razvedka</a:t>
              </a:r>
              <a:r>
                <a:rPr lang="en-US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endParaRPr lang="LID4096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DF67F0D-D41D-4AFA-94CD-280CC4E9D6E5}"/>
              </a:ext>
            </a:extLst>
          </p:cNvPr>
          <p:cNvSpPr txBox="1"/>
          <p:nvPr/>
        </p:nvSpPr>
        <p:spPr>
          <a:xfrm>
            <a:off x="2494717" y="1254561"/>
            <a:ext cx="4154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intellektni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mudofaa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sohasiga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tatbiq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maqsadida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intellekt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etildi</a:t>
            </a:r>
            <a:r>
              <a:rPr lang="en-US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87948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23527" y="915567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5" y="71885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199" y="4767264"/>
            <a:ext cx="2133600" cy="273844"/>
          </a:xfrm>
        </p:spPr>
        <p:txBody>
          <a:bodyPr/>
          <a:lstStyle/>
          <a:p>
            <a:fld id="{84F4F330-8D6F-4C43-B79F-9807A005D2DC}" type="slidenum">
              <a:rPr lang="ru-RU" smtClean="0"/>
              <a:t>5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FDA8B3-00E8-452D-AE2B-26F90D0E034D}"/>
              </a:ext>
            </a:extLst>
          </p:cNvPr>
          <p:cNvSpPr/>
          <p:nvPr/>
        </p:nvSpPr>
        <p:spPr>
          <a:xfrm>
            <a:off x="323527" y="372954"/>
            <a:ext cx="44534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o‘quv-moddiy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baza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05D61658-00AF-41D2-9026-E2B30FBF0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18839"/>
              </p:ext>
            </p:extLst>
          </p:nvPr>
        </p:nvGraphicFramePr>
        <p:xfrm>
          <a:off x="323526" y="1343585"/>
          <a:ext cx="8496945" cy="292027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6065">
                  <a:extLst>
                    <a:ext uri="{9D8B030D-6E8A-4147-A177-3AD203B41FA5}">
                      <a16:colId xmlns:a16="http://schemas.microsoft.com/office/drawing/2014/main" val="2919421450"/>
                    </a:ext>
                  </a:extLst>
                </a:gridCol>
                <a:gridCol w="2088233">
                  <a:extLst>
                    <a:ext uri="{9D8B030D-6E8A-4147-A177-3AD203B41FA5}">
                      <a16:colId xmlns:a16="http://schemas.microsoft.com/office/drawing/2014/main" val="3517929307"/>
                    </a:ext>
                  </a:extLst>
                </a:gridCol>
                <a:gridCol w="5832647">
                  <a:extLst>
                    <a:ext uri="{9D8B030D-6E8A-4147-A177-3AD203B41FA5}">
                      <a16:colId xmlns:a16="http://schemas.microsoft.com/office/drawing/2014/main" val="806066969"/>
                    </a:ext>
                  </a:extLst>
                </a:gridCol>
              </a:tblGrid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Kompyuterlar (noutbuk yoki sta</a:t>
                      </a:r>
                      <a:r>
                        <a:rPr kumimoji="0" lang="en-US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sionar)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kamida 8 GB RAM, i5/i7 yoki shunga teng protsessor, 64-bit 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308594"/>
                  </a:ext>
                </a:extLst>
              </a:tr>
              <a:tr h="401174">
                <a:tc rowSpan="3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Dasturiy ta’minot</a:t>
                      </a:r>
                      <a:r>
                        <a:rPr kumimoji="0" lang="en-US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</a:t>
                      </a: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(3.9 yoki yuqoriroq versiya),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242234"/>
                  </a:ext>
                </a:extLst>
              </a:tr>
              <a:tr h="401174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LID4096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LID4096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 </a:t>
                      </a: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VS Code</a:t>
                      </a:r>
                      <a:r>
                        <a:rPr lang="en-US" altLang="LID4096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Spyder / Google </a:t>
                      </a:r>
                      <a:r>
                        <a:rPr lang="en-US" altLang="LID4096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Colab</a:t>
                      </a:r>
                      <a:r>
                        <a:rPr lang="en-US" altLang="LID4096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Anaconda Navigator</a:t>
                      </a:r>
                      <a:endParaRPr kumimoji="0" lang="LID4096" altLang="LID4096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2337659"/>
                  </a:ext>
                </a:extLst>
              </a:tr>
              <a:tr h="401174">
                <a:tc vMerge="1"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endParaRPr lang="LID4096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Kutubxonalar: pandas, numpy, scikit-learn, matplotlib, seaborn.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985710"/>
                  </a:ext>
                </a:extLst>
              </a:tr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Proyektor yoki interaktiv doska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ma’ruzalar va kod tahlilini ko‘rsatish uchun</a:t>
                      </a:r>
                      <a:endParaRPr lang="LID4096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3165253"/>
                  </a:ext>
                </a:extLst>
              </a:tr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qo‘shimcha resurslar va kutubxonalarni yuklab olish uchun</a:t>
                      </a:r>
                      <a:endParaRPr lang="LID4096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9636"/>
                  </a:ext>
                </a:extLst>
              </a:tr>
              <a:tr h="40117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LID4096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LID4096" altLang="LID4096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 to‘plami</a:t>
                      </a:r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0" lang="LID4096" altLang="LID4096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jangovar texnika xususiyatlari bo‘yicha sun’iy yoki real datasetlar (Excel/CSV formatida).</a:t>
                      </a:r>
                      <a:endParaRPr lang="LID4096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6206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37790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23527" y="915567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5" y="71885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6553199" y="4767264"/>
            <a:ext cx="2133600" cy="273844"/>
          </a:xfrm>
        </p:spPr>
        <p:txBody>
          <a:bodyPr/>
          <a:lstStyle/>
          <a:p>
            <a:fld id="{84F4F330-8D6F-4C43-B79F-9807A005D2DC}" type="slidenum">
              <a:rPr lang="ru-RU" smtClean="0"/>
              <a:t>6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FDA8B3-00E8-452D-AE2B-26F90D0E034D}"/>
              </a:ext>
            </a:extLst>
          </p:cNvPr>
          <p:cNvSpPr/>
          <p:nvPr/>
        </p:nvSpPr>
        <p:spPr>
          <a:xfrm>
            <a:off x="179512" y="365975"/>
            <a:ext cx="79913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Tinglovchilar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bilimlariga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qo‘yiladigan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boshlang‘ich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talablar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FC9D83E-3AFB-47B4-A758-E343BC8EA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039218"/>
              </p:ext>
            </p:extLst>
          </p:nvPr>
        </p:nvGraphicFramePr>
        <p:xfrm>
          <a:off x="323527" y="1159275"/>
          <a:ext cx="8496944" cy="3027726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124236">
                  <a:extLst>
                    <a:ext uri="{9D8B030D-6E8A-4147-A177-3AD203B41FA5}">
                      <a16:colId xmlns:a16="http://schemas.microsoft.com/office/drawing/2014/main" val="3942039669"/>
                    </a:ext>
                  </a:extLst>
                </a:gridCol>
                <a:gridCol w="1188133">
                  <a:extLst>
                    <a:ext uri="{9D8B030D-6E8A-4147-A177-3AD203B41FA5}">
                      <a16:colId xmlns:a16="http://schemas.microsoft.com/office/drawing/2014/main" val="3017414635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724811952"/>
                    </a:ext>
                  </a:extLst>
                </a:gridCol>
                <a:gridCol w="2952327">
                  <a:extLst>
                    <a:ext uri="{9D8B030D-6E8A-4147-A177-3AD203B41FA5}">
                      <a16:colId xmlns:a16="http://schemas.microsoft.com/office/drawing/2014/main" val="1137653312"/>
                    </a:ext>
                  </a:extLst>
                </a:gridCol>
              </a:tblGrid>
              <a:tr h="242434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Nima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bilishi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darajada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bilishi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Nima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bilishi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kerak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pt-BR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Manbalar </a:t>
                      </a:r>
                      <a:endParaRPr lang="pt-BR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3921451807"/>
                  </a:ext>
                </a:extLst>
              </a:tr>
              <a:tr h="36365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o‘zgaruvchilar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sikl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funksiyalar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t-IT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 va dastur tuzishni bilmasa, AI modellarini yaratib bo‘lmaydi</a:t>
                      </a:r>
                      <a:endParaRPr lang="it-IT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w3schools.com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3"/>
                        </a:rPr>
                        <a:t>https://www.w3schools.com/programming/index.php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1569078768"/>
                  </a:ext>
                </a:extLst>
              </a:tr>
              <a:tr h="4848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ro‘yxat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lug‘at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fayl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ishlash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(NumPy, Pandas,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Python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ishlaydi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python.sariq.dev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o‘zbekcha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qo‘llanma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  <a:tabLst>
                          <a:tab pos="177800" algn="l"/>
                        </a:tabLs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YouTube: “Python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764384290"/>
                  </a:ext>
                </a:extLst>
              </a:tr>
              <a:tr h="36365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it-IT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Matematika va statistika (chiziqli algebra, regressiya, dispersiya)</a:t>
                      </a:r>
                      <a:endParaRPr lang="it-IT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matematik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asosga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tayanadi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geeksforgeeks.org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hlinkClick r:id="rId4"/>
                        </a:rPr>
                        <a:t>https://www.geeksforgeeks.org/machine-learning/machine-learning-mathematics/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496386827"/>
                  </a:ext>
                </a:extLst>
              </a:tr>
              <a:tr h="363651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Ingliz tili (texnik terminlar)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o‘rta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Kutubxonalar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hujjatlar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ko‘p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resurslar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ingliz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bo‘ladi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Cambridge, Oxford Dictionary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844879635"/>
                  </a:ext>
                </a:extLst>
              </a:tr>
              <a:tr h="4848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Robototexnika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dronatexnika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mikrokontroller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sensorlar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avtopilot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tushunchasi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qurilmalarda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tutorialspoint.com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YouTube: “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Robototexnika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darslari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”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207789838"/>
                  </a:ext>
                </a:extLst>
              </a:tr>
              <a:tr h="4848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 bazasi (SQL asoslari)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Boshlang‘ich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ishlaydi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DB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bilmasa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real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loyihalarda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qiyin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bo‘ladi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456" marR="45456" marT="0" marB="0" anchor="ctr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w3schools.com </a:t>
                      </a:r>
                      <a:r>
                        <a:rPr lang="en-US" sz="105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sayti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https://www.w3schools.com/sql/default.asp</a:t>
                      </a: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45456" marR="45456" marT="0" marB="0" anchor="ctr"/>
                </a:tc>
                <a:extLst>
                  <a:ext uri="{0D108BD9-81ED-4DB2-BD59-A6C34878D82A}">
                    <a16:rowId xmlns:a16="http://schemas.microsoft.com/office/drawing/2014/main" val="931465578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4F05899-8859-45D6-9B52-3B569E9CF81F}"/>
              </a:ext>
            </a:extLst>
          </p:cNvPr>
          <p:cNvSpPr/>
          <p:nvPr/>
        </p:nvSpPr>
        <p:spPr>
          <a:xfrm>
            <a:off x="250960" y="4276819"/>
            <a:ext cx="7344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talaba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mavzularini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o‘zlashtira</a:t>
            </a:r>
            <a:r>
              <a:rPr lang="en-US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1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Kursdan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ko‘zlangan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maqsadlar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69627"/>
            <a:ext cx="8229600" cy="3549973"/>
          </a:xfrm>
        </p:spPr>
        <p:txBody>
          <a:bodyPr>
            <a:normAutofit fontScale="25000" lnSpcReduction="20000"/>
          </a:bodyPr>
          <a:lstStyle/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Nazariy bilim berish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 tushunchasi, bilimlar bazasi, ekspert tizimlari, mashinani o‘qitish kabi fundamental tushunchalarni tinglovchilarga yetkazish.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Amaliy ko‘nikmalarni shakllantirish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Python kutubxonalari (Pandas, Scikit-learn) yordamida oddiy modellar qurish va ishlatishni o‘rgatish.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Tahliliy fikrlashni rivojlantirish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ma’lumotlardan foydali xulosalar chiqarish, modellashtirish va qaror qabul qilishni o‘rgatish.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Harbiy sohada qo‘llash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jangovar topshiriqlarni samarali rejalashtirishda bilimlar bazasi va ekspert tizimlaridan foydalanish bo‘yicha amaliy ko‘nikmalar berish.</a:t>
            </a:r>
          </a:p>
          <a:p>
            <a:pPr marL="361950" lvl="0" indent="-361950" algn="just" eaLnBrk="0" fontAlgn="base" hangingPunct="0">
              <a:lnSpc>
                <a:spcPct val="120000"/>
              </a:lnSpc>
              <a:spcBef>
                <a:spcPts val="600"/>
              </a:spcBef>
              <a:buFontTx/>
              <a:buChar char="•"/>
            </a:pPr>
            <a:r>
              <a:rPr lang="LID4096" altLang="LID4096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Texnologik moslashuvchanlik</a:t>
            </a:r>
            <a:r>
              <a:rPr lang="LID4096" altLang="LID4096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dronlar, robotlar va boshqa harbiy texnikalarda SI modellarini tatbiq etishning asosiy yo‘llarini ko‘rsatish.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kursning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maqsadi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tinglovchilarga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(SI)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asoslari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tushunchalari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metodlari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amaliy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qo‘llanilishini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o‘rgatish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shuningdek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kiberxavfsizlik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robototexnika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dronatexnika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texnika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sohalarida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intellektni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qo‘llash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mumkinligini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ko‘rsatishdir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46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Kursning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yakuniy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natijalari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69627"/>
            <a:ext cx="8229600" cy="354997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Bu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kurs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oxirida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tinglovchi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bilim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ko‘nikmalarga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i="1" u="sng" dirty="0" err="1"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sz="5600" b="1" i="1" u="sng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1800" i="1" u="sng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intellekt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tushunadi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uning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yo‘nalishlari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imkoniyatlari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tasavvurlarga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bo‘ladi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Bilimlar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bazasini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tuzishni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o‘rganadi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ma’lumotlarni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tartibli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saqlash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undan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kerakli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xulosalar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chiqarishni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bilib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Ekspert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tizimlari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ekanini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biladi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oddiy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yaratishni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o‘rganadi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jangovar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topshiriqni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rejalashtirishga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yordam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beradigan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dastur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Mashinali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o‘qitishning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oddiy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usullarini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qo‘llay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ya’ni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kompyuterni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asosida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o‘rgatib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keyin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orqali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natija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chiqarishni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bilib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dasturlash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tilidan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amaliy</a:t>
            </a:r>
            <a:r>
              <a:rPr lang="en-US" sz="5600" b="1" dirty="0">
                <a:latin typeface="Times New Roman" pitchFamily="18" charset="0"/>
                <a:cs typeface="Times New Roman" pitchFamily="18" charset="0"/>
              </a:rPr>
              <a:t> model </a:t>
            </a:r>
            <a:r>
              <a:rPr lang="en-US" sz="5600" b="1" dirty="0" err="1">
                <a:latin typeface="Times New Roman" pitchFamily="18" charset="0"/>
                <a:cs typeface="Times New Roman" pitchFamily="18" charset="0"/>
              </a:rPr>
              <a:t>tuzadi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texnikaning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imkoniyatini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hisoblab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beruvchi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dirty="0" err="1">
                <a:latin typeface="Times New Roman" pitchFamily="18" charset="0"/>
                <a:cs typeface="Times New Roman" pitchFamily="18" charset="0"/>
              </a:rPr>
              <a:t>dastur</a:t>
            </a:r>
            <a:r>
              <a:rPr lang="en-US" sz="5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Umuman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olganda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kursni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yakunlagan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u="sng" dirty="0" err="1">
                <a:latin typeface="Times New Roman" pitchFamily="18" charset="0"/>
                <a:cs typeface="Times New Roman" pitchFamily="18" charset="0"/>
              </a:rPr>
              <a:t>tinglovchi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intellektning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asosini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tushunadi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ishlay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oddiy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AI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dasturlarini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yaratib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amalda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qo‘llay</a:t>
            </a:r>
            <a:r>
              <a:rPr lang="en-US" sz="5600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600" b="1" u="sng" dirty="0" err="1">
                <a:latin typeface="Times New Roman" pitchFamily="18" charset="0"/>
                <a:cs typeface="Times New Roman" pitchFamily="18" charset="0"/>
              </a:rPr>
              <a:t>oladi</a:t>
            </a:r>
            <a:r>
              <a:rPr lang="en-US" sz="5600" u="sng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60838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9</a:t>
            </a:fld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FC1C334D-FC04-4B03-BEDD-71FA4DD90AF7}"/>
              </a:ext>
            </a:extLst>
          </p:cNvPr>
          <p:cNvGraphicFramePr>
            <a:graphicFrameLocks noGrp="1"/>
          </p:cNvGraphicFramePr>
          <p:nvPr/>
        </p:nvGraphicFramePr>
        <p:xfrm>
          <a:off x="328688" y="1433507"/>
          <a:ext cx="8491784" cy="333375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42914">
                  <a:extLst>
                    <a:ext uri="{9D8B030D-6E8A-4147-A177-3AD203B41FA5}">
                      <a16:colId xmlns:a16="http://schemas.microsoft.com/office/drawing/2014/main" val="208433095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92378349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3893847999"/>
                    </a:ext>
                  </a:extLst>
                </a:gridCol>
                <a:gridCol w="4608510">
                  <a:extLst>
                    <a:ext uri="{9D8B030D-6E8A-4147-A177-3AD203B41FA5}">
                      <a16:colId xmlns:a16="http://schemas.microsoft.com/office/drawing/2014/main" val="1079310405"/>
                    </a:ext>
                  </a:extLst>
                </a:gridCol>
              </a:tblGrid>
              <a:tr h="4032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Mavzu</a:t>
                      </a:r>
                      <a:b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</a:t>
                      </a:r>
                      <a:b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turi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mavzusi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116222"/>
                  </a:ext>
                </a:extLst>
              </a:tr>
              <a:tr h="39243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intellektning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sohalarda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259624"/>
                  </a:ext>
                </a:extLst>
              </a:tr>
              <a:tr h="3924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bazasi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ifodalash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961190"/>
                  </a:ext>
                </a:extLst>
              </a:tr>
              <a:tr h="392431">
                <a:tc vMerge="1">
                  <a:txBody>
                    <a:bodyPr/>
                    <a:lstStyle/>
                    <a:p>
                      <a:pPr algn="ctr"/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endParaRPr lang="LID4096" sz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Jangovor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samarali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rejalashtirishga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imkon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beruvchi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bazasini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584275"/>
                  </a:ext>
                </a:extLst>
              </a:tr>
              <a:tr h="3924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ularning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xususiyatlari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340082"/>
                  </a:ext>
                </a:extLst>
              </a:tr>
              <a:tr h="392431">
                <a:tc vMerge="1">
                  <a:txBody>
                    <a:bodyPr/>
                    <a:lstStyle/>
                    <a:p>
                      <a:pPr algn="ctr"/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endParaRPr lang="LID4096" sz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Jangovor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rejalashtiruvchi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ishlab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chiqish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549685"/>
                  </a:ext>
                </a:extLst>
              </a:tr>
              <a:tr h="392431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</a:t>
                      </a:r>
                      <a:endParaRPr lang="LID4096" sz="1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tushunchasi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3945559"/>
                  </a:ext>
                </a:extLst>
              </a:tr>
              <a:tr h="392431">
                <a:tc vMerge="1">
                  <a:txBody>
                    <a:bodyPr/>
                    <a:lstStyle/>
                    <a:p>
                      <a:pPr algn="ctr"/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endParaRPr lang="LID4096" sz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Harbiy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texnikaning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jangovar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salohiyatini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Pandas,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Chiziqli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Regressiya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yordamida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baholovchi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modelni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hamda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ishlatish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LID4096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9068103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FDA8B3-00E8-452D-AE2B-26F90D0E034D}"/>
              </a:ext>
            </a:extLst>
          </p:cNvPr>
          <p:cNvSpPr/>
          <p:nvPr/>
        </p:nvSpPr>
        <p:spPr>
          <a:xfrm>
            <a:off x="323528" y="372953"/>
            <a:ext cx="4571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Kursning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mavzular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ketma-ketligi</a:t>
            </a:r>
            <a:endParaRPr lang="LID4096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56433-8789-4CAF-A6C5-AEE44B57E1F2}"/>
              </a:ext>
            </a:extLst>
          </p:cNvPr>
          <p:cNvSpPr txBox="1"/>
          <p:nvPr/>
        </p:nvSpPr>
        <p:spPr>
          <a:xfrm>
            <a:off x="1957341" y="1020648"/>
            <a:ext cx="5355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O‘quv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ma’ruza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soat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endParaRPr lang="LID4096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045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7632848" cy="857250"/>
          </a:xfrm>
        </p:spPr>
        <p:txBody>
          <a:bodyPr>
            <a:normAutofit/>
          </a:bodyPr>
          <a:lstStyle/>
          <a:p>
            <a:pPr algn="just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u: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Sun’iy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intellektning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tushunchalari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sohalarda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qo‘llanilishi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10</a:t>
            </a:fld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FA7061-4B23-43DC-A79F-12A0180381A4}"/>
              </a:ext>
            </a:extLst>
          </p:cNvPr>
          <p:cNvSpPr/>
          <p:nvPr/>
        </p:nvSpPr>
        <p:spPr>
          <a:xfrm>
            <a:off x="270583" y="1779662"/>
            <a:ext cx="4747942" cy="137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Tinglovchi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tushunchasini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sohalarini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istiqboli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How Artificial Intelligence Can Support Delivery: A White Paper - Pledge">
            <a:extLst>
              <a:ext uri="{FF2B5EF4-FFF2-40B4-BE49-F238E27FC236}">
                <a16:creationId xmlns:a16="http://schemas.microsoft.com/office/drawing/2014/main" id="{69CE232C-A358-4607-9B9E-7AE356A2E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538" y="1547308"/>
            <a:ext cx="3246814" cy="18426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8229600" cy="85725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u: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bilimlar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bazasi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Bilimlarni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ifodalash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modellari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11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9B4F67-26F2-4089-88B7-C4FB0D2B5B2A}"/>
              </a:ext>
            </a:extLst>
          </p:cNvPr>
          <p:cNvSpPr/>
          <p:nvPr/>
        </p:nvSpPr>
        <p:spPr>
          <a:xfrm>
            <a:off x="323528" y="1437767"/>
            <a:ext cx="57606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bazasi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qoidalar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tarmoqlar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freymlar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ekspert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bilimlardan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anglaydi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Knowledge depiction in AI">
            <a:extLst>
              <a:ext uri="{FF2B5EF4-FFF2-40B4-BE49-F238E27FC236}">
                <a16:creationId xmlns:a16="http://schemas.microsoft.com/office/drawing/2014/main" id="{EE0C1923-628A-4BCE-81CD-DC35FAAC1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409" y="1366312"/>
            <a:ext cx="2606840" cy="146634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0C21AC-8E71-4437-91DB-4FA8D1C37B2C}"/>
              </a:ext>
            </a:extLst>
          </p:cNvPr>
          <p:cNvSpPr/>
          <p:nvPr/>
        </p:nvSpPr>
        <p:spPr>
          <a:xfrm>
            <a:off x="2648583" y="3590383"/>
            <a:ext cx="6170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hg‘ulot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Jangovor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topshiriqni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samarali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rejalashtirishga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imkon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beruvchi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bilimlar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bazasini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qurish</a:t>
            </a:r>
            <a:endParaRPr lang="LID4096" sz="1400" dirty="0"/>
          </a:p>
        </p:txBody>
      </p:sp>
      <p:pic>
        <p:nvPicPr>
          <p:cNvPr id="10" name="Picture 2" descr="AI in military decision-making: supporting humans, not replacing them">
            <a:extLst>
              <a:ext uri="{FF2B5EF4-FFF2-40B4-BE49-F238E27FC236}">
                <a16:creationId xmlns:a16="http://schemas.microsoft.com/office/drawing/2014/main" id="{9A8C61AA-BB1A-44D7-975D-6767B769D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50" y="3188020"/>
            <a:ext cx="2138218" cy="13279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16756493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6336704" cy="85725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3-ma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Ekspert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tizimlari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turlari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asosiy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xususiyatlari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12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9B4F67-26F2-4089-88B7-C4FB0D2B5B2A}"/>
              </a:ext>
            </a:extLst>
          </p:cNvPr>
          <p:cNvSpPr/>
          <p:nvPr/>
        </p:nvSpPr>
        <p:spPr>
          <a:xfrm>
            <a:off x="323528" y="1248891"/>
            <a:ext cx="5976664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Tinglovchilarga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ekspert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tushuntirish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tamoyillari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tanishtirish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ekspert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tizimlarning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komponentalari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qo‘llanilishini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tushunib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Expert Systems: Your Personal Genie for Solving Complex Problems">
            <a:extLst>
              <a:ext uri="{FF2B5EF4-FFF2-40B4-BE49-F238E27FC236}">
                <a16:creationId xmlns:a16="http://schemas.microsoft.com/office/drawing/2014/main" id="{FFC008D4-3B83-4683-A2B4-BC3454406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168" y="1319904"/>
            <a:ext cx="2483296" cy="139685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BADE483-3757-48D5-A4C3-A1F0739402CE}"/>
              </a:ext>
            </a:extLst>
          </p:cNvPr>
          <p:cNvSpPr/>
          <p:nvPr/>
        </p:nvSpPr>
        <p:spPr>
          <a:xfrm>
            <a:off x="3090551" y="3616851"/>
            <a:ext cx="58018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hg‘ulot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Jangovor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topshiriqni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rejalashtiruvchi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ekspert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tizimni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ishlab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chiqish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LID4096" sz="14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6488717-3758-44FB-A8A9-4F615BDB6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20" y="3168949"/>
            <a:ext cx="2483296" cy="14190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7327538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43541"/>
            <a:ext cx="8136904" cy="857250"/>
          </a:xfrm>
        </p:spPr>
        <p:txBody>
          <a:bodyPr>
            <a:normAutofit/>
          </a:bodyPr>
          <a:lstStyle/>
          <a:p>
            <a:pPr algn="l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4-ma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Mashinani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tushunchasi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Mashinali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algoritmlari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13</a:t>
            </a:fld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49B4F67-26F2-4089-88B7-C4FB0D2B5B2A}"/>
              </a:ext>
            </a:extLst>
          </p:cNvPr>
          <p:cNvSpPr/>
          <p:nvPr/>
        </p:nvSpPr>
        <p:spPr>
          <a:xfrm>
            <a:off x="323528" y="1392327"/>
            <a:ext cx="698477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sz="1400" b="1" dirty="0">
                <a:ln w="12700">
                  <a:solidFill>
                    <a:schemeClr val="tx1"/>
                  </a:solidFill>
                </a:ln>
                <a:solidFill>
                  <a:srgbClr val="FF0000"/>
                </a:solidFill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Tinglovchilarga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tushunchasi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algoritmlarini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jihatdan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tushuntirish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ln w="12700">
                  <a:solidFill>
                    <a:schemeClr val="tx1"/>
                  </a:solidFill>
                </a:ln>
                <a:solidFill>
                  <a:srgbClr val="16C60C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M" sz="1400" b="1" dirty="0">
                <a:ln w="12700">
                  <a:solidFill>
                    <a:schemeClr val="tx1"/>
                  </a:solidFill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</a:t>
            </a:r>
            <a:r>
              <a:rPr lang="en-US" sz="1400" b="1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Tinglovchilar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o‘qitish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mohiyatini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anglaydi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algoritmlar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chiziqli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regressiya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qaror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daraxtlari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klasterlash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misollarda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ko‘nikmasiga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sz="1400" dirty="0">
                <a:ln w="12700">
                  <a:noFill/>
                </a:ln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n w="12700"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Machine Learning Algorithms Demystified: A Simple Guide.">
            <a:extLst>
              <a:ext uri="{FF2B5EF4-FFF2-40B4-BE49-F238E27FC236}">
                <a16:creationId xmlns:a16="http://schemas.microsoft.com/office/drawing/2014/main" id="{36A65103-8A9E-4AB4-87BA-D48256EA4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455" y="1371234"/>
            <a:ext cx="1368152" cy="13656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15085BB-7220-4CCA-98BB-68C3E0EDE948}"/>
              </a:ext>
            </a:extLst>
          </p:cNvPr>
          <p:cNvSpPr/>
          <p:nvPr/>
        </p:nvSpPr>
        <p:spPr>
          <a:xfrm>
            <a:off x="2627784" y="3660880"/>
            <a:ext cx="6059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400" b="1" dirty="0" err="1">
                <a:latin typeface="Times New Roman" pitchFamily="18" charset="0"/>
                <a:cs typeface="Times New Roman" pitchFamily="18" charset="0"/>
              </a:rPr>
              <a:t>hg‘ulot</a:t>
            </a: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Harbiy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texnikaning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jangovar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salohiyatini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Pandas,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Sklearn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Chiziqli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Regressiya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baholovchi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modelni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o‘qitish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hamda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ishlatish</a:t>
            </a:r>
            <a:endParaRPr lang="LID4096" sz="1400" dirty="0"/>
          </a:p>
        </p:txBody>
      </p:sp>
      <p:pic>
        <p:nvPicPr>
          <p:cNvPr id="10" name="Picture 2" descr="Comparison of CNN-Based Architectures for Detection of Different ...">
            <a:extLst>
              <a:ext uri="{FF2B5EF4-FFF2-40B4-BE49-F238E27FC236}">
                <a16:creationId xmlns:a16="http://schemas.microsoft.com/office/drawing/2014/main" id="{9D3CE0DA-1E2D-4AEE-BD76-397FE1ED8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264534"/>
            <a:ext cx="2044640" cy="13234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5171536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3766C08-2077-4723-B123-3CEBBA86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14</a:t>
            </a:fld>
            <a:endParaRPr lang="ru-RU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29736F6-838C-4A98-9235-885AB4655DC3}"/>
              </a:ext>
            </a:extLst>
          </p:cNvPr>
          <p:cNvCxnSpPr/>
          <p:nvPr/>
        </p:nvCxnSpPr>
        <p:spPr>
          <a:xfrm>
            <a:off x="323527" y="627534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7966CC5A-9733-429A-B6CE-E6CCDCB24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24455"/>
            <a:ext cx="720080" cy="583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7500D4D-3511-45E7-B689-B9201F575886}"/>
              </a:ext>
            </a:extLst>
          </p:cNvPr>
          <p:cNvSpPr/>
          <p:nvPr/>
        </p:nvSpPr>
        <p:spPr>
          <a:xfrm>
            <a:off x="323526" y="157924"/>
            <a:ext cx="3847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Mustaqil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ta’lim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manbalar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53" name="Таблица 52">
            <a:extLst>
              <a:ext uri="{FF2B5EF4-FFF2-40B4-BE49-F238E27FC236}">
                <a16:creationId xmlns:a16="http://schemas.microsoft.com/office/drawing/2014/main" id="{F94228C9-E8BE-4444-9F94-EE24DAFF6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525996"/>
              </p:ext>
            </p:extLst>
          </p:nvPr>
        </p:nvGraphicFramePr>
        <p:xfrm>
          <a:off x="323526" y="690352"/>
          <a:ext cx="8496945" cy="411889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709647668"/>
                    </a:ext>
                  </a:extLst>
                </a:gridCol>
                <a:gridCol w="1647238">
                  <a:extLst>
                    <a:ext uri="{9D8B030D-6E8A-4147-A177-3AD203B41FA5}">
                      <a16:colId xmlns:a16="http://schemas.microsoft.com/office/drawing/2014/main" val="2009760417"/>
                    </a:ext>
                  </a:extLst>
                </a:gridCol>
                <a:gridCol w="2961276">
                  <a:extLst>
                    <a:ext uri="{9D8B030D-6E8A-4147-A177-3AD203B41FA5}">
                      <a16:colId xmlns:a16="http://schemas.microsoft.com/office/drawing/2014/main" val="346481308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672779912"/>
                    </a:ext>
                  </a:extLst>
                </a:gridCol>
                <a:gridCol w="1512167">
                  <a:extLst>
                    <a:ext uri="{9D8B030D-6E8A-4147-A177-3AD203B41FA5}">
                      <a16:colId xmlns:a16="http://schemas.microsoft.com/office/drawing/2014/main" val="4121124283"/>
                    </a:ext>
                  </a:extLst>
                </a:gridCol>
              </a:tblGrid>
              <a:tr h="162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M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Manba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Ta’rif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Qaysi mavzular uchun foydali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4246213915"/>
                  </a:ext>
                </a:extLst>
              </a:tr>
              <a:tr h="6601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OpenCourseWare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Artificial Intelligence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Dunyoning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kuchli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universitetlaridan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MIT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tomonidan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ochiq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Video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ma’ruzalar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konspektlar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ifodalash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MIT OCW – AI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1623297926"/>
                  </a:ext>
                </a:extLst>
              </a:tr>
              <a:tr h="4013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Stanford University – CS221 Artificial Intelligence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Stanford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universitetining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mashhur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Nazariy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mashqlar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boyitilgan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konspektlari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ochiq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bazalari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o‘qitishga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kirish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Stanford CS221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57053124"/>
                  </a:ext>
                </a:extLst>
              </a:tr>
              <a:tr h="4013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M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Kaggle Learn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qulay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interaktiv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bevosita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brauzerda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ishlatish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mumkin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Pandas,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Chiziqli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regressiya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Kaggle Learn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2181442360"/>
                  </a:ext>
                </a:extLst>
              </a:tr>
              <a:tr h="4013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M" sz="9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AI Education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tomonidan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yaratilgan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ochiq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resurslar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majmuasi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Qiziqarli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vizual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tushuntirishlar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mavjud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tushunchalari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Google AI Education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830640572"/>
                  </a:ext>
                </a:extLst>
              </a:tr>
              <a:tr h="3283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Fast.ai – Practical Deep Learning for Coders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Dasturchilar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uchun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chuqur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o‘rganish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Real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asosida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o‘rgatadi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o‘qitish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Pandas,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DL model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qurish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Fast.ai Course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/>
                </a:tc>
                <a:extLst>
                  <a:ext uri="{0D108BD9-81ED-4DB2-BD59-A6C34878D82A}">
                    <a16:rowId xmlns:a16="http://schemas.microsoft.com/office/drawing/2014/main" val="776585488"/>
                  </a:ext>
                </a:extLst>
              </a:tr>
              <a:tr h="49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Sariq.dev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yozilgan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blogi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Python, Pandas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Sklearn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mavzularini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sodda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qilib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tushuntiradi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Ma’lumotlar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tahlili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Sariq.dev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93676"/>
                  </a:ext>
                </a:extLst>
              </a:tr>
              <a:tr h="49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Mohir.dev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tilidagi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interaktiv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IT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kurslari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platformasi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Topshiriqlar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orqali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o‘rganish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imkonini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asoslari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Python,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amaliy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qo‘llanilishi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/>
                        </a:rPr>
                        <a:t>Mohir.dev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82724"/>
                  </a:ext>
                </a:extLst>
              </a:tr>
              <a:tr h="49426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M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M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GeeksforGeeks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Dasturlash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sun’iy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intellekt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bo‘yicha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dunyodagi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katta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ensiklopediyalardan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Kodli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misollar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bilan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tushuntiradi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Bilimlarni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ifodalash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Ekspert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tizimlari</a:t>
                      </a: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ML </a:t>
                      </a:r>
                      <a:r>
                        <a:rPr lang="en-US" sz="1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algoritmlari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u="sng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GeeksforGeeks</a:t>
                      </a:r>
                      <a:r>
                        <a:rPr lang="en-US" sz="1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10"/>
                        </a:rPr>
                        <a:t> AI/ML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03" marR="3803" marT="3803" marB="3803" anchor="ctr">
                    <a:solidFill>
                      <a:srgbClr val="C67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66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402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D370D9-9910-4E3C-A0C9-9CB3C0C1B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15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FA9E3E3-BA8A-4F3A-B2A6-6F7085312032}"/>
              </a:ext>
            </a:extLst>
          </p:cNvPr>
          <p:cNvSpPr txBox="1">
            <a:spLocks/>
          </p:cNvSpPr>
          <p:nvPr/>
        </p:nvSpPr>
        <p:spPr>
          <a:xfrm>
            <a:off x="4051270" y="175610"/>
            <a:ext cx="1041460" cy="439971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Xulosa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D0B6722A-AB57-4993-A876-52B96A08E833}"/>
              </a:ext>
            </a:extLst>
          </p:cNvPr>
          <p:cNvCxnSpPr/>
          <p:nvPr/>
        </p:nvCxnSpPr>
        <p:spPr>
          <a:xfrm>
            <a:off x="323528" y="915566"/>
            <a:ext cx="84969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C:\Users\R.M.F\Desktop\artificial-intelligence-icon-ai-isometric-cloud-1292864125-without-background.png">
            <a:extLst>
              <a:ext uri="{FF2B5EF4-FFF2-40B4-BE49-F238E27FC236}">
                <a16:creationId xmlns:a16="http://schemas.microsoft.com/office/drawing/2014/main" id="{6C32882A-A2FC-45D8-BA00-F95B4A3E0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2FB3A1A-C5F2-45E3-89D2-2841EC1988F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64987" y="1075566"/>
            <a:ext cx="6414026" cy="395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01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4F330-8D6F-4C43-B79F-9807A005D2DC}" type="slidenum">
              <a:rPr lang="ru-RU" smtClean="0"/>
              <a:t>16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131590"/>
            <a:ext cx="4032448" cy="3024336"/>
          </a:xfrm>
          <a:prstGeom prst="rect">
            <a:avLst/>
          </a:prstGeom>
        </p:spPr>
      </p:pic>
      <p:pic>
        <p:nvPicPr>
          <p:cNvPr id="6" name="Picture 2" descr="C:\Users\R.M.F\Desktop\artificial-intelligence-icon-ai-isometric-cloud-1292864125-without-background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71884"/>
            <a:ext cx="1041460" cy="843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1805</Words>
  <Application>Microsoft Office PowerPoint</Application>
  <PresentationFormat>Экран (16:9)</PresentationFormat>
  <Paragraphs>227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Segoe UI Emoji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Kursdan ko‘zlangan asosiy maqsadlar:</vt:lpstr>
      <vt:lpstr>Kursning yakuniy natijalari</vt:lpstr>
      <vt:lpstr>Презентация PowerPoint</vt:lpstr>
      <vt:lpstr>1-mavzu: Sun’iy intellektning asosiy tushunchalari va sohalarda qo‘llanilishi</vt:lpstr>
      <vt:lpstr>2-mavzu: Ma’lumotlar va bilimlar bazasi. Bilimlarni ifodalash modellari</vt:lpstr>
      <vt:lpstr>3-mavzu: Ekspert tizimlari va ularning turlari, asosiy xususiyatlari </vt:lpstr>
      <vt:lpstr>4-mavzu: Mashinani o‘qitish tushunchasi. Mashinali o‘qitish algoritmlari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user</cp:lastModifiedBy>
  <cp:revision>405</cp:revision>
  <dcterms:created xsi:type="dcterms:W3CDTF">2024-02-21T08:04:29Z</dcterms:created>
  <dcterms:modified xsi:type="dcterms:W3CDTF">2025-09-03T04:47:50Z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1033-11.1.0.11704</vt:lpwstr>
  </property>
</Properties>
</file>