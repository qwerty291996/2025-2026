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82"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Calibri" panose="020F0502020204030204" pitchFamily="34" charset="0"/>
      <p:regular r:id="rId13"/>
      <p:bold r:id="rId14"/>
      <p:italic r:id="rId15"/>
      <p:boldItalic r:id="rId16"/>
    </p:embeddedFont>
    <p:embeddedFont>
      <p:font typeface="Calibri Light" panose="020F0302020204030204" pitchFamily="34" charset="0"/>
      <p:regular r:id="rId17"/>
      <p:italic r:id="rId18"/>
    </p:embeddedFont>
    <p:embeddedFont>
      <p:font typeface="Instrument Sans Medium" panose="020B0604020202020204" charset="0"/>
      <p:regular r:id="rId19"/>
    </p:embeddedFont>
    <p:embeddedFont>
      <p:font typeface="Inter" panose="020B0604020202020204" charset="0"/>
      <p:regular r:id="rId20"/>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0" d="100"/>
          <a:sy n="50" d="100"/>
        </p:scale>
        <p:origin x="54" y="12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46108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1346836"/>
            <a:ext cx="10972800" cy="2865120"/>
          </a:xfrm>
        </p:spPr>
        <p:txBody>
          <a:bodyPr anchor="b"/>
          <a:lstStyle>
            <a:lvl1pPr algn="ctr">
              <a:defRPr sz="7200"/>
            </a:lvl1pPr>
          </a:lstStyle>
          <a:p>
            <a:r>
              <a:rPr lang="ru-RU"/>
              <a:t>Образец заголовка</a:t>
            </a:r>
            <a:endParaRPr lang="en-US" dirty="0"/>
          </a:p>
        </p:txBody>
      </p:sp>
      <p:sp>
        <p:nvSpPr>
          <p:cNvPr id="3" name="Subtitle 2"/>
          <p:cNvSpPr>
            <a:spLocks noGrp="1"/>
          </p:cNvSpPr>
          <p:nvPr>
            <p:ph type="subTitle" idx="1"/>
          </p:nvPr>
        </p:nvSpPr>
        <p:spPr>
          <a:xfrm>
            <a:off x="1828800" y="4322446"/>
            <a:ext cx="109728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3/3/2026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217184104"/>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3/3/2026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11181511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998220" y="2051686"/>
            <a:ext cx="12618720" cy="3423284"/>
          </a:xfrm>
        </p:spPr>
        <p:txBody>
          <a:bodyPr anchor="b"/>
          <a:lstStyle>
            <a:lvl1pPr>
              <a:defRPr sz="7200"/>
            </a:lvl1pPr>
          </a:lstStyle>
          <a:p>
            <a:r>
              <a:rPr lang="ru-RU"/>
              <a:t>Образец заголовка</a:t>
            </a:r>
            <a:endParaRPr lang="en-US" dirty="0"/>
          </a:p>
        </p:txBody>
      </p:sp>
      <p:sp>
        <p:nvSpPr>
          <p:cNvPr id="3" name="Text Placeholder 2"/>
          <p:cNvSpPr>
            <a:spLocks noGrp="1"/>
          </p:cNvSpPr>
          <p:nvPr>
            <p:ph type="body" idx="1"/>
          </p:nvPr>
        </p:nvSpPr>
        <p:spPr>
          <a:xfrm>
            <a:off x="998220" y="5507356"/>
            <a:ext cx="12618720" cy="1800224"/>
          </a:xfrm>
        </p:spPr>
        <p:txBody>
          <a:bodyPr/>
          <a:lstStyle>
            <a:lvl1pPr marL="0" indent="0">
              <a:buNone/>
              <a:defRPr sz="2880">
                <a:solidFill>
                  <a:schemeClr val="tx1">
                    <a:tint val="75000"/>
                  </a:schemeClr>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C764DE79-268F-4C1A-8933-263129D2AF90}" type="datetimeFigureOut">
              <a:rPr lang="en-US" smtClean="0"/>
              <a:t>3/3/2026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134278390"/>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1005840" y="2190750"/>
            <a:ext cx="6217920" cy="5221606"/>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7406640" y="2190750"/>
            <a:ext cx="6217920" cy="5221606"/>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3/3/2026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141918028"/>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1007746" y="438150"/>
            <a:ext cx="12618720" cy="1590676"/>
          </a:xfrm>
        </p:spPr>
        <p:txBody>
          <a:bodyPr/>
          <a:lstStyle/>
          <a:p>
            <a:r>
              <a:rPr lang="ru-RU"/>
              <a:t>Образец заголовка</a:t>
            </a:r>
            <a:endParaRPr lang="en-US" dirty="0"/>
          </a:p>
        </p:txBody>
      </p:sp>
      <p:sp>
        <p:nvSpPr>
          <p:cNvPr id="3" name="Text Placeholder 2"/>
          <p:cNvSpPr>
            <a:spLocks noGrp="1"/>
          </p:cNvSpPr>
          <p:nvPr>
            <p:ph type="body" idx="1"/>
          </p:nvPr>
        </p:nvSpPr>
        <p:spPr>
          <a:xfrm>
            <a:off x="1007746" y="2017396"/>
            <a:ext cx="6189344"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ru-RU"/>
              <a:t>Образец текста</a:t>
            </a:r>
          </a:p>
        </p:txBody>
      </p:sp>
      <p:sp>
        <p:nvSpPr>
          <p:cNvPr id="4" name="Content Placeholder 3"/>
          <p:cNvSpPr>
            <a:spLocks noGrp="1"/>
          </p:cNvSpPr>
          <p:nvPr>
            <p:ph sz="half" idx="2"/>
          </p:nvPr>
        </p:nvSpPr>
        <p:spPr>
          <a:xfrm>
            <a:off x="1007746" y="3006090"/>
            <a:ext cx="6189344" cy="4421506"/>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7406640" y="2017396"/>
            <a:ext cx="6219826"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ru-RU"/>
              <a:t>Образец текста</a:t>
            </a:r>
          </a:p>
        </p:txBody>
      </p:sp>
      <p:sp>
        <p:nvSpPr>
          <p:cNvPr id="6" name="Content Placeholder 5"/>
          <p:cNvSpPr>
            <a:spLocks noGrp="1"/>
          </p:cNvSpPr>
          <p:nvPr>
            <p:ph sz="quarter" idx="4"/>
          </p:nvPr>
        </p:nvSpPr>
        <p:spPr>
          <a:xfrm>
            <a:off x="7406640" y="3006090"/>
            <a:ext cx="6219826" cy="4421506"/>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3/3/2026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841710764"/>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3/3/2026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62792812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3/3/2026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510276745"/>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007746" y="548640"/>
            <a:ext cx="4718684" cy="1920240"/>
          </a:xfrm>
        </p:spPr>
        <p:txBody>
          <a:bodyPr anchor="b"/>
          <a:lstStyle>
            <a:lvl1pPr>
              <a:defRPr sz="3840"/>
            </a:lvl1pPr>
          </a:lstStyle>
          <a:p>
            <a:r>
              <a:rPr lang="ru-RU"/>
              <a:t>Образец заголовка</a:t>
            </a:r>
            <a:endParaRPr lang="en-US" dirty="0"/>
          </a:p>
        </p:txBody>
      </p:sp>
      <p:sp>
        <p:nvSpPr>
          <p:cNvPr id="3" name="Content Placeholder 2"/>
          <p:cNvSpPr>
            <a:spLocks noGrp="1"/>
          </p:cNvSpPr>
          <p:nvPr>
            <p:ph idx="1"/>
          </p:nvPr>
        </p:nvSpPr>
        <p:spPr>
          <a:xfrm>
            <a:off x="6219826" y="1184911"/>
            <a:ext cx="7406640" cy="5848350"/>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ru-RU"/>
              <a:t>Образец текста</a:t>
            </a:r>
          </a:p>
        </p:txBody>
      </p:sp>
      <p:sp>
        <p:nvSpPr>
          <p:cNvPr id="5" name="Date Placeholder 4"/>
          <p:cNvSpPr>
            <a:spLocks noGrp="1"/>
          </p:cNvSpPr>
          <p:nvPr>
            <p:ph type="dt" sz="half" idx="10"/>
          </p:nvPr>
        </p:nvSpPr>
        <p:spPr/>
        <p:txBody>
          <a:bodyPr/>
          <a:lstStyle/>
          <a:p>
            <a:fld id="{C764DE79-268F-4C1A-8933-263129D2AF90}" type="datetimeFigureOut">
              <a:rPr lang="en-US" smtClean="0"/>
              <a:t>3/3/2026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66989325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007746" y="548640"/>
            <a:ext cx="4718684" cy="1920240"/>
          </a:xfrm>
        </p:spPr>
        <p:txBody>
          <a:bodyPr anchor="b"/>
          <a:lstStyle>
            <a:lvl1pPr>
              <a:defRPr sz="3840"/>
            </a:lvl1pPr>
          </a:lstStyle>
          <a:p>
            <a:r>
              <a:rPr lang="ru-RU"/>
              <a:t>Образец заголовка</a:t>
            </a:r>
            <a:endParaRPr lang="en-US" dirty="0"/>
          </a:p>
        </p:txBody>
      </p:sp>
      <p:sp>
        <p:nvSpPr>
          <p:cNvPr id="3" name="Picture Placeholder 2"/>
          <p:cNvSpPr>
            <a:spLocks noGrp="1" noChangeAspect="1"/>
          </p:cNvSpPr>
          <p:nvPr>
            <p:ph type="pic" idx="1"/>
          </p:nvPr>
        </p:nvSpPr>
        <p:spPr>
          <a:xfrm>
            <a:off x="6219826" y="1184911"/>
            <a:ext cx="7406640" cy="5848350"/>
          </a:xfrm>
        </p:spPr>
        <p:txBody>
          <a:bodyPr anchor="t"/>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ru-RU"/>
              <a:t>Вставка рисунка</a:t>
            </a:r>
            <a:endParaRPr lang="en-US" dirty="0"/>
          </a:p>
        </p:txBody>
      </p:sp>
      <p:sp>
        <p:nvSpPr>
          <p:cNvPr id="4" name="Text Placeholder 3"/>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ru-RU"/>
              <a:t>Образец текста</a:t>
            </a:r>
          </a:p>
        </p:txBody>
      </p:sp>
      <p:sp>
        <p:nvSpPr>
          <p:cNvPr id="5" name="Date Placeholder 4"/>
          <p:cNvSpPr>
            <a:spLocks noGrp="1"/>
          </p:cNvSpPr>
          <p:nvPr>
            <p:ph type="dt" sz="half" idx="10"/>
          </p:nvPr>
        </p:nvSpPr>
        <p:spPr/>
        <p:txBody>
          <a:bodyPr/>
          <a:lstStyle/>
          <a:p>
            <a:fld id="{C764DE79-268F-4C1A-8933-263129D2AF90}" type="datetimeFigureOut">
              <a:rPr lang="en-US" smtClean="0"/>
              <a:t>3/3/2026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87507033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3/3/2026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93504595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469880" y="438150"/>
            <a:ext cx="3154680" cy="6974206"/>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1005840" y="438150"/>
            <a:ext cx="9281160" cy="6974206"/>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3/3/2026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787207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35280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89072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6618318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16414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29435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09680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54366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9741519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742353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83821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1"/>
            </a:gs>
            <a:gs pos="54020">
              <a:srgbClr val="00528C"/>
            </a:gs>
            <a:gs pos="65000">
              <a:srgbClr val="0070C0"/>
            </a:gs>
            <a:gs pos="79000">
              <a:schemeClr val="bg1">
                <a:lumMod val="85000"/>
                <a:lumOff val="15000"/>
              </a:schemeClr>
            </a:gs>
            <a:gs pos="94000">
              <a:srgbClr val="7030A0"/>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05840" y="438150"/>
            <a:ext cx="12618720" cy="1590676"/>
          </a:xfrm>
          <a:prstGeom prst="rect">
            <a:avLst/>
          </a:prstGeom>
        </p:spPr>
        <p:txBody>
          <a:bodyPr vert="horz" lIns="91440" tIns="45720" rIns="91440" bIns="45720" rtlCol="0" anchor="ctr">
            <a:normAutofit/>
          </a:bodyPr>
          <a:lstStyle/>
          <a:p>
            <a:r>
              <a:rPr lang="ru-RU"/>
              <a:t>Образец заголовка</a:t>
            </a:r>
            <a:endParaRPr lang="en-US" dirty="0"/>
          </a:p>
        </p:txBody>
      </p:sp>
      <p:sp>
        <p:nvSpPr>
          <p:cNvPr id="3" name="Text Placeholder 2"/>
          <p:cNvSpPr>
            <a:spLocks noGrp="1"/>
          </p:cNvSpPr>
          <p:nvPr>
            <p:ph type="body" idx="1"/>
          </p:nvPr>
        </p:nvSpPr>
        <p:spPr>
          <a:xfrm>
            <a:off x="1005840" y="2190750"/>
            <a:ext cx="12618720" cy="5221606"/>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1005840" y="7627621"/>
            <a:ext cx="3291840" cy="438150"/>
          </a:xfrm>
          <a:prstGeom prst="rect">
            <a:avLst/>
          </a:prstGeom>
        </p:spPr>
        <p:txBody>
          <a:bodyPr vert="horz" lIns="91440" tIns="45720" rIns="91440" bIns="45720" rtlCol="0" anchor="ctr"/>
          <a:lstStyle>
            <a:lvl1pPr algn="l">
              <a:defRPr sz="1440">
                <a:solidFill>
                  <a:schemeClr val="tx1">
                    <a:tint val="75000"/>
                  </a:schemeClr>
                </a:solidFill>
              </a:defRPr>
            </a:lvl1pPr>
          </a:lstStyle>
          <a:p>
            <a:fld id="{C764DE79-268F-4C1A-8933-263129D2AF90}" type="datetimeFigureOut">
              <a:rPr lang="en-US" smtClean="0"/>
              <a:t>3/3/2026</a:t>
            </a:fld>
            <a:endParaRPr lang="en-US" dirty="0"/>
          </a:p>
        </p:txBody>
      </p:sp>
      <p:sp>
        <p:nvSpPr>
          <p:cNvPr id="5" name="Footer Placeholder 4"/>
          <p:cNvSpPr>
            <a:spLocks noGrp="1"/>
          </p:cNvSpPr>
          <p:nvPr>
            <p:ph type="ftr" sz="quarter" idx="3"/>
          </p:nvPr>
        </p:nvSpPr>
        <p:spPr>
          <a:xfrm>
            <a:off x="4846320" y="7627621"/>
            <a:ext cx="4937760" cy="438150"/>
          </a:xfrm>
          <a:prstGeom prst="rect">
            <a:avLst/>
          </a:prstGeom>
        </p:spPr>
        <p:txBody>
          <a:bodyPr vert="horz" lIns="91440" tIns="45720" rIns="91440" bIns="45720" rtlCol="0" anchor="ctr"/>
          <a:lstStyle>
            <a:lvl1pPr algn="ctr">
              <a:defRPr sz="144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332720" y="7627621"/>
            <a:ext cx="3291840" cy="438150"/>
          </a:xfrm>
          <a:prstGeom prst="rect">
            <a:avLst/>
          </a:prstGeom>
        </p:spPr>
        <p:txBody>
          <a:bodyPr vert="horz" lIns="91440" tIns="45720" rIns="91440" bIns="45720" rtlCol="0" anchor="ctr"/>
          <a:lstStyle>
            <a:lvl1pPr algn="r">
              <a:defRPr sz="1440">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2764189730"/>
      </p:ext>
    </p:extLst>
  </p:cSld>
  <p:clrMap bg1="dk1" tx1="lt1" bg2="dk2" tx2="lt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 id="2147483696" r:id="rId14"/>
    <p:sldLayoutId id="2147483697" r:id="rId15"/>
    <p:sldLayoutId id="2147483698" r:id="rId16"/>
    <p:sldLayoutId id="2147483699" r:id="rId17"/>
    <p:sldLayoutId id="2147483700" r:id="rId18"/>
    <p:sldLayoutId id="2147483701" r:id="rId19"/>
    <p:sldLayoutId id="2147483702" r:id="rId20"/>
    <p:sldLayoutId id="2147483703" r:id="rId21"/>
  </p:sldLayoutIdLst>
  <p:hf sldNum="0" hdr="0" ftr="0" dt="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7.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9.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0.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877026"/>
            <a:ext cx="7556421" cy="1860233"/>
          </a:xfrm>
          <a:prstGeom prst="rect">
            <a:avLst/>
          </a:prstGeom>
          <a:noFill/>
          <a:ln/>
        </p:spPr>
        <p:txBody>
          <a:bodyPr wrap="square" lIns="0" tIns="0" rIns="0" bIns="0" rtlCol="0" anchor="t"/>
          <a:lstStyle/>
          <a:p>
            <a:pPr marL="0" indent="0" algn="l">
              <a:lnSpc>
                <a:spcPts val="4850"/>
              </a:lnSpc>
              <a:buNone/>
            </a:pPr>
            <a:r>
              <a:rPr lang="en-US" sz="3900" dirty="0">
                <a:solidFill>
                  <a:srgbClr val="EFD5FA"/>
                </a:solidFill>
                <a:latin typeface="Instrument Sans Medium" pitchFamily="34" charset="0"/>
                <a:ea typeface="Instrument Sans Medium" pitchFamily="34" charset="-122"/>
                <a:cs typeface="Instrument Sans Medium" pitchFamily="34" charset="-120"/>
              </a:rPr>
              <a:t>Ukrainadagi Qurolli Nizolarda Artileriyani Jangovar Qo'llash Tajribalari</a:t>
            </a:r>
            <a:endParaRPr lang="en-US" sz="3900" dirty="0"/>
          </a:p>
        </p:txBody>
      </p:sp>
      <p:sp>
        <p:nvSpPr>
          <p:cNvPr id="4" name="Text 1"/>
          <p:cNvSpPr/>
          <p:nvPr/>
        </p:nvSpPr>
        <p:spPr>
          <a:xfrm>
            <a:off x="793790" y="5034915"/>
            <a:ext cx="7556421" cy="317540"/>
          </a:xfrm>
          <a:prstGeom prst="rect">
            <a:avLst/>
          </a:prstGeom>
          <a:noFill/>
          <a:ln/>
        </p:spPr>
        <p:txBody>
          <a:bodyPr wrap="none" lIns="0" tIns="0" rIns="0" bIns="0" rtlCol="0" anchor="t"/>
          <a:lstStyle/>
          <a:p>
            <a:pPr marL="0" indent="0" algn="l">
              <a:lnSpc>
                <a:spcPts val="2500"/>
              </a:lnSpc>
              <a:buNone/>
            </a:pPr>
            <a:r>
              <a:rPr lang="en-US" sz="1550" dirty="0">
                <a:solidFill>
                  <a:srgbClr val="C7CDD6"/>
                </a:solidFill>
                <a:latin typeface="Inter" pitchFamily="34" charset="0"/>
                <a:ea typeface="Inter" pitchFamily="34" charset="-122"/>
                <a:cs typeface="Inter" pitchFamily="34" charset="-120"/>
              </a:rPr>
              <a:t>Ukraina urushidagi artileriya taktikasi va texnologik yutuqlari</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891070"/>
            <a:ext cx="8258175" cy="620078"/>
          </a:xfrm>
          <a:prstGeom prst="rect">
            <a:avLst/>
          </a:prstGeom>
          <a:noFill/>
          <a:ln/>
        </p:spPr>
        <p:txBody>
          <a:bodyPr wrap="none" lIns="0" tIns="0" rIns="0" bIns="0" rtlCol="0" anchor="t"/>
          <a:lstStyle/>
          <a:p>
            <a:pPr marL="0" indent="0" algn="l">
              <a:lnSpc>
                <a:spcPts val="4850"/>
              </a:lnSpc>
              <a:buNone/>
            </a:pPr>
            <a:r>
              <a:rPr lang="en-US" sz="3900" dirty="0">
                <a:solidFill>
                  <a:srgbClr val="EFD5FA"/>
                </a:solidFill>
                <a:latin typeface="Instrument Sans Medium" pitchFamily="34" charset="0"/>
                <a:ea typeface="Instrument Sans Medium" pitchFamily="34" charset="-122"/>
                <a:cs typeface="Instrument Sans Medium" pitchFamily="34" charset="-120"/>
              </a:rPr>
              <a:t>Artileriya: Urushning "Jang Xudolari"</a:t>
            </a:r>
            <a:endParaRPr lang="en-US" sz="3900" dirty="0"/>
          </a:p>
        </p:txBody>
      </p:sp>
      <p:sp>
        <p:nvSpPr>
          <p:cNvPr id="3" name="Shape 1"/>
          <p:cNvSpPr/>
          <p:nvPr/>
        </p:nvSpPr>
        <p:spPr>
          <a:xfrm>
            <a:off x="793790" y="2907983"/>
            <a:ext cx="4215289" cy="2572226"/>
          </a:xfrm>
          <a:prstGeom prst="roundRect">
            <a:avLst>
              <a:gd name="adj" fmla="val 1157"/>
            </a:avLst>
          </a:prstGeom>
          <a:solidFill>
            <a:srgbClr val="434348"/>
          </a:solidFill>
          <a:ln/>
        </p:spPr>
      </p:sp>
      <p:sp>
        <p:nvSpPr>
          <p:cNvPr id="4" name="Shape 2"/>
          <p:cNvSpPr/>
          <p:nvPr/>
        </p:nvSpPr>
        <p:spPr>
          <a:xfrm>
            <a:off x="992148" y="3106341"/>
            <a:ext cx="595313" cy="595313"/>
          </a:xfrm>
          <a:prstGeom prst="roundRect">
            <a:avLst>
              <a:gd name="adj" fmla="val 15358451"/>
            </a:avLst>
          </a:prstGeom>
          <a:solidFill>
            <a:srgbClr val="FDC4C4"/>
          </a:solidFill>
          <a:ln/>
        </p:spPr>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55859" y="3269933"/>
            <a:ext cx="267891" cy="267891"/>
          </a:xfrm>
          <a:prstGeom prst="rect">
            <a:avLst/>
          </a:prstGeom>
        </p:spPr>
      </p:pic>
      <p:sp>
        <p:nvSpPr>
          <p:cNvPr id="6" name="Text 3"/>
          <p:cNvSpPr/>
          <p:nvPr/>
        </p:nvSpPr>
        <p:spPr>
          <a:xfrm>
            <a:off x="992148" y="3900011"/>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C7CDD6"/>
                </a:solidFill>
                <a:latin typeface="Instrument Sans Medium" pitchFamily="34" charset="0"/>
                <a:ea typeface="Instrument Sans Medium" pitchFamily="34" charset="-122"/>
                <a:cs typeface="Instrument Sans Medium" pitchFamily="34" charset="-120"/>
              </a:rPr>
              <a:t>Asosiy Kuch</a:t>
            </a:r>
            <a:endParaRPr lang="en-US" sz="1950" dirty="0"/>
          </a:p>
        </p:txBody>
      </p:sp>
      <p:sp>
        <p:nvSpPr>
          <p:cNvPr id="7" name="Text 4"/>
          <p:cNvSpPr/>
          <p:nvPr/>
        </p:nvSpPr>
        <p:spPr>
          <a:xfrm>
            <a:off x="992148" y="4329232"/>
            <a:ext cx="3818573" cy="952619"/>
          </a:xfrm>
          <a:prstGeom prst="rect">
            <a:avLst/>
          </a:prstGeom>
          <a:noFill/>
          <a:ln/>
        </p:spPr>
        <p:txBody>
          <a:bodyPr wrap="square" lIns="0" tIns="0" rIns="0" bIns="0" rtlCol="0" anchor="t"/>
          <a:lstStyle/>
          <a:p>
            <a:pPr marL="0" indent="0" algn="l">
              <a:lnSpc>
                <a:spcPts val="2500"/>
              </a:lnSpc>
              <a:buNone/>
            </a:pPr>
            <a:r>
              <a:rPr lang="en-US" sz="1550" dirty="0">
                <a:solidFill>
                  <a:srgbClr val="C7CDD6"/>
                </a:solidFill>
                <a:latin typeface="Inter" pitchFamily="34" charset="0"/>
                <a:ea typeface="Inter" pitchFamily="34" charset="-122"/>
                <a:cs typeface="Inter" pitchFamily="34" charset="-120"/>
              </a:rPr>
              <a:t>Ukrainada artileriya jang maydonining asosiy kuchiga aylandi va urushning hal qiluvchi omilini ta'minlamoqda</a:t>
            </a:r>
            <a:endParaRPr lang="en-US" sz="1550" dirty="0"/>
          </a:p>
        </p:txBody>
      </p:sp>
      <p:sp>
        <p:nvSpPr>
          <p:cNvPr id="8" name="Shape 5"/>
          <p:cNvSpPr/>
          <p:nvPr/>
        </p:nvSpPr>
        <p:spPr>
          <a:xfrm>
            <a:off x="5207437" y="2907983"/>
            <a:ext cx="4215408" cy="2572226"/>
          </a:xfrm>
          <a:prstGeom prst="roundRect">
            <a:avLst>
              <a:gd name="adj" fmla="val 1157"/>
            </a:avLst>
          </a:prstGeom>
          <a:solidFill>
            <a:srgbClr val="434348"/>
          </a:solidFill>
          <a:ln/>
        </p:spPr>
      </p:sp>
      <p:sp>
        <p:nvSpPr>
          <p:cNvPr id="9" name="Shape 6"/>
          <p:cNvSpPr/>
          <p:nvPr/>
        </p:nvSpPr>
        <p:spPr>
          <a:xfrm>
            <a:off x="5405795" y="3106341"/>
            <a:ext cx="595313" cy="595313"/>
          </a:xfrm>
          <a:prstGeom prst="roundRect">
            <a:avLst>
              <a:gd name="adj" fmla="val 15358451"/>
            </a:avLst>
          </a:prstGeom>
          <a:solidFill>
            <a:srgbClr val="FDC4C4"/>
          </a:solidFill>
          <a:ln/>
        </p:spPr>
      </p:sp>
      <p:pic>
        <p:nvPicPr>
          <p:cNvPr id="10" name="Image 1" descr="preencoded.png"/>
          <p:cNvPicPr>
            <a:picLocks noChangeAspect="1"/>
          </p:cNvPicPr>
          <p:nvPr/>
        </p:nvPicPr>
        <p:blipFill>
          <a:blip r:embed="rId3">
            <a:extLst>
              <a:ext uri="{96DAC541-7B7A-43D3-8B79-37D633B846F1}">
                <asvg:svgBlip xmlns:asvg="http://schemas.microsoft.com/office/drawing/2016/SVG/main" r:embed="rId5"/>
              </a:ext>
            </a:extLst>
          </a:blip>
          <a:stretch>
            <a:fillRect/>
          </a:stretch>
        </p:blipFill>
        <p:spPr>
          <a:xfrm>
            <a:off x="5569506" y="3269933"/>
            <a:ext cx="267891" cy="267891"/>
          </a:xfrm>
          <a:prstGeom prst="rect">
            <a:avLst/>
          </a:prstGeom>
        </p:spPr>
      </p:pic>
      <p:sp>
        <p:nvSpPr>
          <p:cNvPr id="11" name="Text 7"/>
          <p:cNvSpPr/>
          <p:nvPr/>
        </p:nvSpPr>
        <p:spPr>
          <a:xfrm>
            <a:off x="5405795" y="3900011"/>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C7CDD6"/>
                </a:solidFill>
                <a:latin typeface="Instrument Sans Medium" pitchFamily="34" charset="0"/>
                <a:ea typeface="Instrument Sans Medium" pitchFamily="34" charset="-122"/>
                <a:cs typeface="Instrument Sans Medium" pitchFamily="34" charset="-120"/>
              </a:rPr>
              <a:t>Halokatli Ta'sir</a:t>
            </a:r>
            <a:endParaRPr lang="en-US" sz="1950" dirty="0"/>
          </a:p>
        </p:txBody>
      </p:sp>
      <p:sp>
        <p:nvSpPr>
          <p:cNvPr id="12" name="Text 8"/>
          <p:cNvSpPr/>
          <p:nvPr/>
        </p:nvSpPr>
        <p:spPr>
          <a:xfrm>
            <a:off x="5405795" y="4329232"/>
            <a:ext cx="3818692" cy="952619"/>
          </a:xfrm>
          <a:prstGeom prst="rect">
            <a:avLst/>
          </a:prstGeom>
          <a:noFill/>
          <a:ln/>
        </p:spPr>
        <p:txBody>
          <a:bodyPr wrap="square" lIns="0" tIns="0" rIns="0" bIns="0" rtlCol="0" anchor="t"/>
          <a:lstStyle/>
          <a:p>
            <a:pPr marL="0" indent="0" algn="l">
              <a:lnSpc>
                <a:spcPts val="2500"/>
              </a:lnSpc>
              <a:buNone/>
            </a:pPr>
            <a:r>
              <a:rPr lang="en-US" sz="1550" dirty="0">
                <a:solidFill>
                  <a:srgbClr val="C7CDD6"/>
                </a:solidFill>
                <a:latin typeface="Inter" pitchFamily="34" charset="0"/>
                <a:ea typeface="Inter" pitchFamily="34" charset="-122"/>
                <a:cs typeface="Inter" pitchFamily="34" charset="-120"/>
              </a:rPr>
              <a:t>Raketa va to'p artileriyasi urushdagi umumiy zararlarning 70-80% ni keltirib chiqardi</a:t>
            </a:r>
            <a:endParaRPr lang="en-US" sz="1550" dirty="0"/>
          </a:p>
        </p:txBody>
      </p:sp>
      <p:sp>
        <p:nvSpPr>
          <p:cNvPr id="13" name="Shape 9"/>
          <p:cNvSpPr/>
          <p:nvPr/>
        </p:nvSpPr>
        <p:spPr>
          <a:xfrm>
            <a:off x="9621203" y="2907983"/>
            <a:ext cx="4215289" cy="2572226"/>
          </a:xfrm>
          <a:prstGeom prst="roundRect">
            <a:avLst>
              <a:gd name="adj" fmla="val 1157"/>
            </a:avLst>
          </a:prstGeom>
          <a:solidFill>
            <a:srgbClr val="434348"/>
          </a:solidFill>
          <a:ln/>
        </p:spPr>
      </p:sp>
      <p:sp>
        <p:nvSpPr>
          <p:cNvPr id="14" name="Shape 10"/>
          <p:cNvSpPr/>
          <p:nvPr/>
        </p:nvSpPr>
        <p:spPr>
          <a:xfrm>
            <a:off x="9819561" y="3106341"/>
            <a:ext cx="595313" cy="595313"/>
          </a:xfrm>
          <a:prstGeom prst="roundRect">
            <a:avLst>
              <a:gd name="adj" fmla="val 15358451"/>
            </a:avLst>
          </a:prstGeom>
          <a:solidFill>
            <a:srgbClr val="FDC4C4"/>
          </a:solidFill>
          <a:ln/>
        </p:spPr>
      </p:sp>
      <p:pic>
        <p:nvPicPr>
          <p:cNvPr id="15" name="Image 2" descr="preencoded.png"/>
          <p:cNvPicPr>
            <a:picLocks noChangeAspect="1"/>
          </p:cNvPicPr>
          <p:nvPr/>
        </p:nvPicPr>
        <p:blipFill>
          <a:blip r:embed="rId3">
            <a:extLst>
              <a:ext uri="{96DAC541-7B7A-43D3-8B79-37D633B846F1}">
                <asvg:svgBlip xmlns:asvg="http://schemas.microsoft.com/office/drawing/2016/SVG/main" r:embed="rId6"/>
              </a:ext>
            </a:extLst>
          </a:blip>
          <a:stretch>
            <a:fillRect/>
          </a:stretch>
        </p:blipFill>
        <p:spPr>
          <a:xfrm>
            <a:off x="9983272" y="3269933"/>
            <a:ext cx="267891" cy="267891"/>
          </a:xfrm>
          <a:prstGeom prst="rect">
            <a:avLst/>
          </a:prstGeom>
        </p:spPr>
      </p:pic>
      <p:sp>
        <p:nvSpPr>
          <p:cNvPr id="16" name="Text 11"/>
          <p:cNvSpPr/>
          <p:nvPr/>
        </p:nvSpPr>
        <p:spPr>
          <a:xfrm>
            <a:off x="9819561" y="3900011"/>
            <a:ext cx="2666881" cy="310158"/>
          </a:xfrm>
          <a:prstGeom prst="rect">
            <a:avLst/>
          </a:prstGeom>
          <a:noFill/>
          <a:ln/>
        </p:spPr>
        <p:txBody>
          <a:bodyPr wrap="none" lIns="0" tIns="0" rIns="0" bIns="0" rtlCol="0" anchor="t"/>
          <a:lstStyle/>
          <a:p>
            <a:pPr marL="0" indent="0" algn="l">
              <a:lnSpc>
                <a:spcPts val="2400"/>
              </a:lnSpc>
              <a:buNone/>
            </a:pPr>
            <a:r>
              <a:rPr lang="en-US" sz="1950" dirty="0">
                <a:solidFill>
                  <a:srgbClr val="C7CDD6"/>
                </a:solidFill>
                <a:latin typeface="Instrument Sans Medium" pitchFamily="34" charset="0"/>
                <a:ea typeface="Instrument Sans Medium" pitchFamily="34" charset="-122"/>
                <a:cs typeface="Instrument Sans Medium" pitchFamily="34" charset="-120"/>
              </a:rPr>
              <a:t>Zamonaviy Integratsiya</a:t>
            </a:r>
            <a:endParaRPr lang="en-US" sz="1950" dirty="0"/>
          </a:p>
        </p:txBody>
      </p:sp>
      <p:sp>
        <p:nvSpPr>
          <p:cNvPr id="17" name="Text 12"/>
          <p:cNvSpPr/>
          <p:nvPr/>
        </p:nvSpPr>
        <p:spPr>
          <a:xfrm>
            <a:off x="9819561" y="4329232"/>
            <a:ext cx="3818573" cy="952619"/>
          </a:xfrm>
          <a:prstGeom prst="rect">
            <a:avLst/>
          </a:prstGeom>
          <a:noFill/>
          <a:ln/>
        </p:spPr>
        <p:txBody>
          <a:bodyPr wrap="square" lIns="0" tIns="0" rIns="0" bIns="0" rtlCol="0" anchor="t"/>
          <a:lstStyle/>
          <a:p>
            <a:pPr marL="0" indent="0" algn="l">
              <a:lnSpc>
                <a:spcPts val="2500"/>
              </a:lnSpc>
              <a:buNone/>
            </a:pPr>
            <a:r>
              <a:rPr lang="en-US" sz="1550" dirty="0">
                <a:solidFill>
                  <a:srgbClr val="C7CDD6"/>
                </a:solidFill>
                <a:latin typeface="Inter" pitchFamily="34" charset="0"/>
                <a:ea typeface="Inter" pitchFamily="34" charset="-122"/>
                <a:cs typeface="Inter" pitchFamily="34" charset="-120"/>
              </a:rPr>
              <a:t>Zamonaviy urushda artileriya va dronlar birgalikda ishlab, aniq zarbalar yetkazishga muvaffaq bo'lmoqda</a:t>
            </a:r>
            <a:endParaRPr lang="en-US" sz="1550" dirty="0"/>
          </a:p>
        </p:txBody>
      </p:sp>
      <p:sp>
        <p:nvSpPr>
          <p:cNvPr id="18" name="Text 13"/>
          <p:cNvSpPr/>
          <p:nvPr/>
        </p:nvSpPr>
        <p:spPr>
          <a:xfrm>
            <a:off x="793790" y="5703451"/>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C7CDD6"/>
                </a:solidFill>
                <a:latin typeface="Inter" pitchFamily="34" charset="0"/>
                <a:ea typeface="Inter" pitchFamily="34" charset="-122"/>
                <a:cs typeface="Inter" pitchFamily="34" charset="-120"/>
              </a:rPr>
              <a:t>Artileriya tizimlari jang maydonida strategik ahamiyatga ega. Ularning aniq zarbalar qobiliyati va masofaviyligi taktik manzarani to'liq o'zgartirdi. Modern texnologiyalar bilan artileriya samaradorligi yuzlab marta oshdi.</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097161"/>
            <a:ext cx="7556421" cy="1860233"/>
          </a:xfrm>
          <a:prstGeom prst="rect">
            <a:avLst/>
          </a:prstGeom>
          <a:noFill/>
          <a:ln/>
        </p:spPr>
        <p:txBody>
          <a:bodyPr wrap="square" lIns="0" tIns="0" rIns="0" bIns="0" rtlCol="0" anchor="t"/>
          <a:lstStyle/>
          <a:p>
            <a:pPr marL="0" indent="0" algn="l">
              <a:lnSpc>
                <a:spcPts val="4850"/>
              </a:lnSpc>
              <a:buNone/>
            </a:pPr>
            <a:r>
              <a:rPr lang="en-US" sz="3900" dirty="0">
                <a:solidFill>
                  <a:srgbClr val="EFD5FA"/>
                </a:solidFill>
                <a:latin typeface="Instrument Sans Medium" pitchFamily="34" charset="0"/>
                <a:ea typeface="Instrument Sans Medium" pitchFamily="34" charset="-122"/>
                <a:cs typeface="Instrument Sans Medium" pitchFamily="34" charset="-120"/>
              </a:rPr>
              <a:t>Ukrainalik "Bohdana" Howitzerlari: Frontdagi O'yin O'zgartiruvchi</a:t>
            </a:r>
            <a:endParaRPr lang="en-US" sz="3900" dirty="0"/>
          </a:p>
        </p:txBody>
      </p:sp>
      <p:sp>
        <p:nvSpPr>
          <p:cNvPr id="4" name="Text 1"/>
          <p:cNvSpPr/>
          <p:nvPr/>
        </p:nvSpPr>
        <p:spPr>
          <a:xfrm>
            <a:off x="6280190" y="3354229"/>
            <a:ext cx="2353389" cy="654963"/>
          </a:xfrm>
          <a:prstGeom prst="rect">
            <a:avLst/>
          </a:prstGeom>
          <a:noFill/>
          <a:ln/>
        </p:spPr>
        <p:txBody>
          <a:bodyPr wrap="none" lIns="0" tIns="0" rIns="0" bIns="0" rtlCol="0" anchor="t"/>
          <a:lstStyle/>
          <a:p>
            <a:pPr marL="0" indent="0" algn="ctr">
              <a:lnSpc>
                <a:spcPts val="5150"/>
              </a:lnSpc>
              <a:buNone/>
            </a:pPr>
            <a:r>
              <a:rPr lang="en-US" sz="5150" dirty="0">
                <a:solidFill>
                  <a:srgbClr val="C7CDD6"/>
                </a:solidFill>
                <a:latin typeface="Instrument Sans Medium" pitchFamily="34" charset="0"/>
                <a:ea typeface="Instrument Sans Medium" pitchFamily="34" charset="-122"/>
                <a:cs typeface="Instrument Sans Medium" pitchFamily="34" charset="-120"/>
              </a:rPr>
              <a:t>155</a:t>
            </a:r>
            <a:endParaRPr lang="en-US" sz="5150" dirty="0"/>
          </a:p>
        </p:txBody>
      </p:sp>
      <p:sp>
        <p:nvSpPr>
          <p:cNvPr id="5" name="Text 2"/>
          <p:cNvSpPr/>
          <p:nvPr/>
        </p:nvSpPr>
        <p:spPr>
          <a:xfrm>
            <a:off x="6280190" y="4257199"/>
            <a:ext cx="2353389" cy="310158"/>
          </a:xfrm>
          <a:prstGeom prst="rect">
            <a:avLst/>
          </a:prstGeom>
          <a:noFill/>
          <a:ln/>
        </p:spPr>
        <p:txBody>
          <a:bodyPr wrap="none" lIns="0" tIns="0" rIns="0" bIns="0" rtlCol="0" anchor="t"/>
          <a:lstStyle/>
          <a:p>
            <a:pPr marL="0" indent="0" algn="ctr">
              <a:lnSpc>
                <a:spcPts val="2400"/>
              </a:lnSpc>
              <a:buNone/>
            </a:pPr>
            <a:r>
              <a:rPr lang="en-US" sz="1950" dirty="0">
                <a:solidFill>
                  <a:srgbClr val="C7CDD6"/>
                </a:solidFill>
                <a:latin typeface="Instrument Sans Medium" pitchFamily="34" charset="0"/>
                <a:ea typeface="Instrument Sans Medium" pitchFamily="34" charset="-122"/>
                <a:cs typeface="Instrument Sans Medium" pitchFamily="34" charset="-120"/>
              </a:rPr>
              <a:t>Kalibr (mm)</a:t>
            </a:r>
            <a:endParaRPr lang="en-US" sz="1950" dirty="0"/>
          </a:p>
        </p:txBody>
      </p:sp>
      <p:sp>
        <p:nvSpPr>
          <p:cNvPr id="6" name="Text 3"/>
          <p:cNvSpPr/>
          <p:nvPr/>
        </p:nvSpPr>
        <p:spPr>
          <a:xfrm>
            <a:off x="6280190" y="4686419"/>
            <a:ext cx="2353389" cy="635079"/>
          </a:xfrm>
          <a:prstGeom prst="rect">
            <a:avLst/>
          </a:prstGeom>
          <a:noFill/>
          <a:ln/>
        </p:spPr>
        <p:txBody>
          <a:bodyPr wrap="square" lIns="0" tIns="0" rIns="0" bIns="0" rtlCol="0" anchor="t"/>
          <a:lstStyle/>
          <a:p>
            <a:pPr marL="0" indent="0" algn="ctr">
              <a:lnSpc>
                <a:spcPts val="2500"/>
              </a:lnSpc>
              <a:buNone/>
            </a:pPr>
            <a:r>
              <a:rPr lang="en-US" sz="1550" dirty="0">
                <a:solidFill>
                  <a:srgbClr val="C7CDD6"/>
                </a:solidFill>
                <a:latin typeface="Inter" pitchFamily="34" charset="0"/>
                <a:ea typeface="Inter" pitchFamily="34" charset="-122"/>
                <a:cs typeface="Inter" pitchFamily="34" charset="-120"/>
              </a:rPr>
              <a:t>Zamonaviy standart to'p artileriyasi</a:t>
            </a:r>
            <a:endParaRPr lang="en-US" sz="1550" dirty="0"/>
          </a:p>
        </p:txBody>
      </p:sp>
      <p:sp>
        <p:nvSpPr>
          <p:cNvPr id="7" name="Text 4"/>
          <p:cNvSpPr/>
          <p:nvPr/>
        </p:nvSpPr>
        <p:spPr>
          <a:xfrm>
            <a:off x="8881586" y="3354229"/>
            <a:ext cx="2353508" cy="654963"/>
          </a:xfrm>
          <a:prstGeom prst="rect">
            <a:avLst/>
          </a:prstGeom>
          <a:noFill/>
          <a:ln/>
        </p:spPr>
        <p:txBody>
          <a:bodyPr wrap="none" lIns="0" tIns="0" rIns="0" bIns="0" rtlCol="0" anchor="t"/>
          <a:lstStyle/>
          <a:p>
            <a:pPr marL="0" indent="0" algn="ctr">
              <a:lnSpc>
                <a:spcPts val="5150"/>
              </a:lnSpc>
              <a:buNone/>
            </a:pPr>
            <a:r>
              <a:rPr lang="en-US" sz="5150" dirty="0">
                <a:solidFill>
                  <a:srgbClr val="C7CDD6"/>
                </a:solidFill>
                <a:latin typeface="Instrument Sans Medium" pitchFamily="34" charset="0"/>
                <a:ea typeface="Instrument Sans Medium" pitchFamily="34" charset="-122"/>
                <a:cs typeface="Instrument Sans Medium" pitchFamily="34" charset="-120"/>
              </a:rPr>
              <a:t>40</a:t>
            </a:r>
            <a:endParaRPr lang="en-US" sz="5150" dirty="0"/>
          </a:p>
        </p:txBody>
      </p:sp>
      <p:sp>
        <p:nvSpPr>
          <p:cNvPr id="8" name="Text 5"/>
          <p:cNvSpPr/>
          <p:nvPr/>
        </p:nvSpPr>
        <p:spPr>
          <a:xfrm>
            <a:off x="8881586" y="4257199"/>
            <a:ext cx="2353508" cy="310158"/>
          </a:xfrm>
          <a:prstGeom prst="rect">
            <a:avLst/>
          </a:prstGeom>
          <a:noFill/>
          <a:ln/>
        </p:spPr>
        <p:txBody>
          <a:bodyPr wrap="none" lIns="0" tIns="0" rIns="0" bIns="0" rtlCol="0" anchor="t"/>
          <a:lstStyle/>
          <a:p>
            <a:pPr marL="0" indent="0" algn="ctr">
              <a:lnSpc>
                <a:spcPts val="2400"/>
              </a:lnSpc>
              <a:buNone/>
            </a:pPr>
            <a:r>
              <a:rPr lang="en-US" sz="1950" dirty="0">
                <a:solidFill>
                  <a:srgbClr val="C7CDD6"/>
                </a:solidFill>
                <a:latin typeface="Instrument Sans Medium" pitchFamily="34" charset="0"/>
                <a:ea typeface="Instrument Sans Medium" pitchFamily="34" charset="-122"/>
                <a:cs typeface="Instrument Sans Medium" pitchFamily="34" charset="-120"/>
              </a:rPr>
              <a:t>Masofa (km)</a:t>
            </a:r>
            <a:endParaRPr lang="en-US" sz="1950" dirty="0"/>
          </a:p>
        </p:txBody>
      </p:sp>
      <p:sp>
        <p:nvSpPr>
          <p:cNvPr id="9" name="Text 6"/>
          <p:cNvSpPr/>
          <p:nvPr/>
        </p:nvSpPr>
        <p:spPr>
          <a:xfrm>
            <a:off x="8881586" y="4686419"/>
            <a:ext cx="2353508" cy="635079"/>
          </a:xfrm>
          <a:prstGeom prst="rect">
            <a:avLst/>
          </a:prstGeom>
          <a:noFill/>
          <a:ln/>
        </p:spPr>
        <p:txBody>
          <a:bodyPr wrap="square" lIns="0" tIns="0" rIns="0" bIns="0" rtlCol="0" anchor="t"/>
          <a:lstStyle/>
          <a:p>
            <a:pPr marL="0" indent="0" algn="ctr">
              <a:lnSpc>
                <a:spcPts val="2500"/>
              </a:lnSpc>
              <a:buNone/>
            </a:pPr>
            <a:r>
              <a:rPr lang="en-US" sz="1550" dirty="0">
                <a:solidFill>
                  <a:srgbClr val="C7CDD6"/>
                </a:solidFill>
                <a:latin typeface="Inter" pitchFamily="34" charset="0"/>
                <a:ea typeface="Inter" pitchFamily="34" charset="-122"/>
                <a:cs typeface="Inter" pitchFamily="34" charset="-120"/>
              </a:rPr>
              <a:t>Aniq zarba yetkazish doirasi</a:t>
            </a:r>
            <a:endParaRPr lang="en-US" sz="1550" dirty="0"/>
          </a:p>
        </p:txBody>
      </p:sp>
      <p:sp>
        <p:nvSpPr>
          <p:cNvPr id="10" name="Text 7"/>
          <p:cNvSpPr/>
          <p:nvPr/>
        </p:nvSpPr>
        <p:spPr>
          <a:xfrm>
            <a:off x="11483102" y="3354229"/>
            <a:ext cx="2353389" cy="654963"/>
          </a:xfrm>
          <a:prstGeom prst="rect">
            <a:avLst/>
          </a:prstGeom>
          <a:noFill/>
          <a:ln/>
        </p:spPr>
        <p:txBody>
          <a:bodyPr wrap="none" lIns="0" tIns="0" rIns="0" bIns="0" rtlCol="0" anchor="t"/>
          <a:lstStyle/>
          <a:p>
            <a:pPr marL="0" indent="0" algn="ctr">
              <a:lnSpc>
                <a:spcPts val="5150"/>
              </a:lnSpc>
              <a:buNone/>
            </a:pPr>
            <a:r>
              <a:rPr lang="en-US" sz="5150" dirty="0">
                <a:solidFill>
                  <a:srgbClr val="C7CDD6"/>
                </a:solidFill>
                <a:latin typeface="Instrument Sans Medium" pitchFamily="34" charset="0"/>
                <a:ea typeface="Instrument Sans Medium" pitchFamily="34" charset="-122"/>
                <a:cs typeface="Instrument Sans Medium" pitchFamily="34" charset="-120"/>
              </a:rPr>
              <a:t>40%</a:t>
            </a:r>
            <a:endParaRPr lang="en-US" sz="5150" dirty="0"/>
          </a:p>
        </p:txBody>
      </p:sp>
      <p:sp>
        <p:nvSpPr>
          <p:cNvPr id="11" name="Text 8"/>
          <p:cNvSpPr/>
          <p:nvPr/>
        </p:nvSpPr>
        <p:spPr>
          <a:xfrm>
            <a:off x="11483102" y="4257199"/>
            <a:ext cx="2353389" cy="310158"/>
          </a:xfrm>
          <a:prstGeom prst="rect">
            <a:avLst/>
          </a:prstGeom>
          <a:noFill/>
          <a:ln/>
        </p:spPr>
        <p:txBody>
          <a:bodyPr wrap="none" lIns="0" tIns="0" rIns="0" bIns="0" rtlCol="0" anchor="t"/>
          <a:lstStyle/>
          <a:p>
            <a:pPr marL="0" indent="0" algn="ctr">
              <a:lnSpc>
                <a:spcPts val="2400"/>
              </a:lnSpc>
              <a:buNone/>
            </a:pPr>
            <a:r>
              <a:rPr lang="en-US" sz="1950" dirty="0">
                <a:solidFill>
                  <a:srgbClr val="C7CDD6"/>
                </a:solidFill>
                <a:latin typeface="Instrument Sans Medium" pitchFamily="34" charset="0"/>
                <a:ea typeface="Instrument Sans Medium" pitchFamily="34" charset="-122"/>
                <a:cs typeface="Instrument Sans Medium" pitchFamily="34" charset="-120"/>
              </a:rPr>
              <a:t>Ulash</a:t>
            </a:r>
            <a:endParaRPr lang="en-US" sz="1950" dirty="0"/>
          </a:p>
        </p:txBody>
      </p:sp>
      <p:sp>
        <p:nvSpPr>
          <p:cNvPr id="12" name="Text 9"/>
          <p:cNvSpPr/>
          <p:nvPr/>
        </p:nvSpPr>
        <p:spPr>
          <a:xfrm>
            <a:off x="11483102" y="4686419"/>
            <a:ext cx="2353389" cy="952619"/>
          </a:xfrm>
          <a:prstGeom prst="rect">
            <a:avLst/>
          </a:prstGeom>
          <a:noFill/>
          <a:ln/>
        </p:spPr>
        <p:txBody>
          <a:bodyPr wrap="square" lIns="0" tIns="0" rIns="0" bIns="0" rtlCol="0" anchor="t"/>
          <a:lstStyle/>
          <a:p>
            <a:pPr marL="0" indent="0" algn="ctr">
              <a:lnSpc>
                <a:spcPts val="2500"/>
              </a:lnSpc>
              <a:buNone/>
            </a:pPr>
            <a:r>
              <a:rPr lang="en-US" sz="1550" dirty="0">
                <a:solidFill>
                  <a:srgbClr val="C7CDD6"/>
                </a:solidFill>
                <a:latin typeface="Inter" pitchFamily="34" charset="0"/>
                <a:ea typeface="Inter" pitchFamily="34" charset="-122"/>
                <a:cs typeface="Inter" pitchFamily="34" charset="-120"/>
              </a:rPr>
              <a:t>Frontdagi barcha artileriya qurollarining ulushi</a:t>
            </a:r>
            <a:endParaRPr lang="en-US" sz="1550" dirty="0"/>
          </a:p>
        </p:txBody>
      </p:sp>
      <p:sp>
        <p:nvSpPr>
          <p:cNvPr id="13" name="Text 10"/>
          <p:cNvSpPr/>
          <p:nvPr/>
        </p:nvSpPr>
        <p:spPr>
          <a:xfrm>
            <a:off x="6280190" y="5862280"/>
            <a:ext cx="7556421" cy="1270159"/>
          </a:xfrm>
          <a:prstGeom prst="rect">
            <a:avLst/>
          </a:prstGeom>
          <a:noFill/>
          <a:ln/>
        </p:spPr>
        <p:txBody>
          <a:bodyPr wrap="square" lIns="0" tIns="0" rIns="0" bIns="0" rtlCol="0" anchor="t"/>
          <a:lstStyle/>
          <a:p>
            <a:pPr marL="0" indent="0" algn="l">
              <a:lnSpc>
                <a:spcPts val="2500"/>
              </a:lnSpc>
              <a:buNone/>
            </a:pPr>
            <a:r>
              <a:rPr lang="en-US" sz="1550" dirty="0">
                <a:solidFill>
                  <a:srgbClr val="C7CDD6"/>
                </a:solidFill>
                <a:latin typeface="Inter" pitchFamily="34" charset="0"/>
                <a:ea typeface="Inter" pitchFamily="34" charset="-122"/>
                <a:cs typeface="Inter" pitchFamily="34" charset="-120"/>
              </a:rPr>
              <a:t>"Bohdana" artileriya tizimi Ukrainaning milliy ishlab chiqarish mahsuloti bo'lib, 155 mm kalibrdagi zamonaviy howitzer hisoblanadi. 2022 yildan beri jang maydonida faol ishlatilmoqda va Toretsk sektorida ayniqsa muhim o'rin tutmoqda. Bu tizim aniq zarba qobiliyati va mobil xususiyatlari bilan ajralib turadi.</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3276362"/>
            <a:ext cx="7556421" cy="744141"/>
          </a:xfrm>
          <a:prstGeom prst="rect">
            <a:avLst/>
          </a:prstGeom>
          <a:noFill/>
          <a:ln/>
        </p:spPr>
        <p:txBody>
          <a:bodyPr wrap="square" lIns="0" tIns="0" rIns="0" bIns="0" rtlCol="0" anchor="t"/>
          <a:lstStyle/>
          <a:p>
            <a:pPr marL="0" indent="0" algn="l">
              <a:lnSpc>
                <a:spcPts val="2900"/>
              </a:lnSpc>
              <a:buNone/>
            </a:pPr>
            <a:r>
              <a:rPr lang="en-US" sz="2300" dirty="0">
                <a:solidFill>
                  <a:srgbClr val="EFD5FA"/>
                </a:solidFill>
                <a:latin typeface="Instrument Sans Medium" pitchFamily="34" charset="0"/>
                <a:ea typeface="Instrument Sans Medium" pitchFamily="34" charset="-122"/>
                <a:cs typeface="Instrument Sans Medium" pitchFamily="34" charset="-120"/>
              </a:rPr>
              <a:t>"Bohdana" Howitzeri jangovar pozitsiyada, 155 mm shell bilan yuklanmoqda</a:t>
            </a:r>
            <a:endParaRPr lang="en-US" sz="2300" dirty="0"/>
          </a:p>
        </p:txBody>
      </p:sp>
      <p:sp>
        <p:nvSpPr>
          <p:cNvPr id="4" name="Text 1"/>
          <p:cNvSpPr/>
          <p:nvPr/>
        </p:nvSpPr>
        <p:spPr>
          <a:xfrm>
            <a:off x="793790" y="4318159"/>
            <a:ext cx="7556421" cy="635079"/>
          </a:xfrm>
          <a:prstGeom prst="rect">
            <a:avLst/>
          </a:prstGeom>
          <a:noFill/>
          <a:ln/>
        </p:spPr>
        <p:txBody>
          <a:bodyPr wrap="square" lIns="0" tIns="0" rIns="0" bIns="0" rtlCol="0" anchor="t"/>
          <a:lstStyle/>
          <a:p>
            <a:pPr marL="0" indent="0" algn="l">
              <a:lnSpc>
                <a:spcPts val="2500"/>
              </a:lnSpc>
              <a:buNone/>
            </a:pPr>
            <a:r>
              <a:rPr lang="en-US" sz="1550" dirty="0">
                <a:solidFill>
                  <a:srgbClr val="C7CDD6"/>
                </a:solidFill>
                <a:latin typeface="Inter" pitchFamily="34" charset="0"/>
                <a:ea typeface="Inter" pitchFamily="34" charset="-122"/>
                <a:cs typeface="Inter" pitchFamily="34" charset="-120"/>
              </a:rPr>
              <a:t>Zamonaviy artileriya tizimining ishga tushirish jarayoni. Ukrainalik artileristlar tezkor va aniq harakatlar bajarishadi.</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521381"/>
            <a:ext cx="7556421" cy="1240155"/>
          </a:xfrm>
          <a:prstGeom prst="rect">
            <a:avLst/>
          </a:prstGeom>
          <a:noFill/>
          <a:ln/>
        </p:spPr>
        <p:txBody>
          <a:bodyPr wrap="square" lIns="0" tIns="0" rIns="0" bIns="0" rtlCol="0" anchor="t"/>
          <a:lstStyle/>
          <a:p>
            <a:pPr marL="0" indent="0" algn="l">
              <a:lnSpc>
                <a:spcPts val="4850"/>
              </a:lnSpc>
              <a:buNone/>
            </a:pPr>
            <a:r>
              <a:rPr lang="en-US" sz="3900" dirty="0">
                <a:solidFill>
                  <a:srgbClr val="EFD5FA"/>
                </a:solidFill>
                <a:latin typeface="Instrument Sans Medium" pitchFamily="34" charset="0"/>
                <a:ea typeface="Instrument Sans Medium" pitchFamily="34" charset="-122"/>
                <a:cs typeface="Instrument Sans Medium" pitchFamily="34" charset="-120"/>
              </a:rPr>
              <a:t>203 mm "Pion" Howitzerining Qahramonligi</a:t>
            </a:r>
            <a:endParaRPr lang="en-US" sz="3900" dirty="0"/>
          </a:p>
        </p:txBody>
      </p:sp>
      <p:sp>
        <p:nvSpPr>
          <p:cNvPr id="4" name="Text 1"/>
          <p:cNvSpPr/>
          <p:nvPr/>
        </p:nvSpPr>
        <p:spPr>
          <a:xfrm>
            <a:off x="793790" y="3257550"/>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EFD5FA"/>
                </a:solidFill>
                <a:latin typeface="Instrument Sans Medium" pitchFamily="34" charset="0"/>
                <a:ea typeface="Instrument Sans Medium" pitchFamily="34" charset="-122"/>
                <a:cs typeface="Instrument Sans Medium" pitchFamily="34" charset="-120"/>
              </a:rPr>
              <a:t>Texnik Xususiyatlar</a:t>
            </a:r>
            <a:endParaRPr lang="en-US" sz="1950" dirty="0"/>
          </a:p>
        </p:txBody>
      </p:sp>
      <p:sp>
        <p:nvSpPr>
          <p:cNvPr id="5" name="Text 2"/>
          <p:cNvSpPr/>
          <p:nvPr/>
        </p:nvSpPr>
        <p:spPr>
          <a:xfrm>
            <a:off x="793790" y="3766066"/>
            <a:ext cx="3536156" cy="147839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C7CDD6"/>
                </a:solidFill>
                <a:latin typeface="Inter" pitchFamily="34" charset="0"/>
                <a:ea typeface="Inter" pitchFamily="34" charset="-122"/>
                <a:cs typeface="Inter" pitchFamily="34" charset="-120"/>
              </a:rPr>
              <a:t>47 tonnalik og'ir howitzer</a:t>
            </a:r>
            <a:endParaRPr lang="en-US" sz="1550" dirty="0"/>
          </a:p>
          <a:p>
            <a:pPr marL="342900" indent="-342900" algn="l">
              <a:lnSpc>
                <a:spcPts val="2500"/>
              </a:lnSpc>
              <a:buSzPct val="100000"/>
              <a:buChar char="•"/>
            </a:pPr>
            <a:r>
              <a:rPr lang="en-US" sz="1550" dirty="0">
                <a:solidFill>
                  <a:srgbClr val="C7CDD6"/>
                </a:solidFill>
                <a:latin typeface="Inter" pitchFamily="34" charset="0"/>
                <a:ea typeface="Inter" pitchFamily="34" charset="-122"/>
                <a:cs typeface="Inter" pitchFamily="34" charset="-120"/>
              </a:rPr>
              <a:t>203 mm kalibr</a:t>
            </a:r>
            <a:endParaRPr lang="en-US" sz="1550" dirty="0"/>
          </a:p>
          <a:p>
            <a:pPr marL="342900" indent="-342900" algn="l">
              <a:lnSpc>
                <a:spcPts val="2500"/>
              </a:lnSpc>
              <a:buSzPct val="100000"/>
              <a:buChar char="•"/>
            </a:pPr>
            <a:r>
              <a:rPr lang="en-US" sz="1550" dirty="0">
                <a:solidFill>
                  <a:srgbClr val="C7CDD6"/>
                </a:solidFill>
                <a:latin typeface="Inter" pitchFamily="34" charset="0"/>
                <a:ea typeface="Inter" pitchFamily="34" charset="-122"/>
                <a:cs typeface="Inter" pitchFamily="34" charset="-120"/>
              </a:rPr>
              <a:t>37 km masofaga otish</a:t>
            </a:r>
            <a:endParaRPr lang="en-US" sz="1550" dirty="0"/>
          </a:p>
          <a:p>
            <a:pPr marL="342900" indent="-342900" algn="l">
              <a:lnSpc>
                <a:spcPts val="2500"/>
              </a:lnSpc>
              <a:buSzPct val="100000"/>
              <a:buChar char="•"/>
            </a:pPr>
            <a:r>
              <a:rPr lang="en-US" sz="1550" dirty="0">
                <a:solidFill>
                  <a:srgbClr val="C7CDD6"/>
                </a:solidFill>
                <a:latin typeface="Inter" pitchFamily="34" charset="0"/>
                <a:ea typeface="Inter" pitchFamily="34" charset="-122"/>
                <a:cs typeface="Inter" pitchFamily="34" charset="-120"/>
              </a:rPr>
              <a:t>110 kg og'irlikdagi shell</a:t>
            </a:r>
            <a:endParaRPr lang="en-US" sz="1550" dirty="0"/>
          </a:p>
        </p:txBody>
      </p:sp>
      <p:sp>
        <p:nvSpPr>
          <p:cNvPr id="6" name="Text 3"/>
          <p:cNvSpPr/>
          <p:nvPr/>
        </p:nvSpPr>
        <p:spPr>
          <a:xfrm>
            <a:off x="4821674" y="3257550"/>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EFD5FA"/>
                </a:solidFill>
                <a:latin typeface="Instrument Sans Medium" pitchFamily="34" charset="0"/>
                <a:ea typeface="Instrument Sans Medium" pitchFamily="34" charset="-122"/>
                <a:cs typeface="Instrument Sans Medium" pitchFamily="34" charset="-120"/>
              </a:rPr>
              <a:t>Tarixiy Jang</a:t>
            </a:r>
            <a:endParaRPr lang="en-US" sz="1950" dirty="0"/>
          </a:p>
        </p:txBody>
      </p:sp>
      <p:sp>
        <p:nvSpPr>
          <p:cNvPr id="7" name="Text 4"/>
          <p:cNvSpPr/>
          <p:nvPr/>
        </p:nvSpPr>
        <p:spPr>
          <a:xfrm>
            <a:off x="4821674" y="3766066"/>
            <a:ext cx="3536156" cy="1587698"/>
          </a:xfrm>
          <a:prstGeom prst="rect">
            <a:avLst/>
          </a:prstGeom>
          <a:noFill/>
          <a:ln/>
        </p:spPr>
        <p:txBody>
          <a:bodyPr wrap="square" lIns="0" tIns="0" rIns="0" bIns="0" rtlCol="0" anchor="t"/>
          <a:lstStyle/>
          <a:p>
            <a:pPr marL="0" indent="0" algn="l">
              <a:lnSpc>
                <a:spcPts val="2500"/>
              </a:lnSpc>
              <a:buNone/>
            </a:pPr>
            <a:r>
              <a:rPr lang="en-US" sz="1550" dirty="0">
                <a:solidFill>
                  <a:srgbClr val="C7CDD6"/>
                </a:solidFill>
                <a:latin typeface="Inter" pitchFamily="34" charset="0"/>
                <a:ea typeface="Inter" pitchFamily="34" charset="-122"/>
                <a:cs typeface="Inter" pitchFamily="34" charset="-120"/>
              </a:rPr>
              <a:t>2022 yil mart oyida Buchadagi rus konvoyini to'liq yo'q qilishga muvaffaq bo'ldi. Bu jangda "Pion" tizimining halokatli kuchi to'liq namoyon bo'ldi.</a:t>
            </a:r>
            <a:endParaRPr lang="en-US" sz="1550" dirty="0"/>
          </a:p>
        </p:txBody>
      </p:sp>
      <p:sp>
        <p:nvSpPr>
          <p:cNvPr id="8" name="Text 5"/>
          <p:cNvSpPr/>
          <p:nvPr/>
        </p:nvSpPr>
        <p:spPr>
          <a:xfrm>
            <a:off x="793790" y="5755600"/>
            <a:ext cx="7556421" cy="952619"/>
          </a:xfrm>
          <a:prstGeom prst="rect">
            <a:avLst/>
          </a:prstGeom>
          <a:noFill/>
          <a:ln/>
        </p:spPr>
        <p:txBody>
          <a:bodyPr wrap="square" lIns="0" tIns="0" rIns="0" bIns="0" rtlCol="0" anchor="t"/>
          <a:lstStyle/>
          <a:p>
            <a:pPr marL="0" indent="0" algn="l">
              <a:lnSpc>
                <a:spcPts val="2500"/>
              </a:lnSpc>
              <a:buNone/>
            </a:pPr>
            <a:r>
              <a:rPr lang="en-US" sz="1550" dirty="0">
                <a:solidFill>
                  <a:srgbClr val="C7CDD6"/>
                </a:solidFill>
                <a:latin typeface="Inter" pitchFamily="34" charset="0"/>
                <a:ea typeface="Inter" pitchFamily="34" charset="-122"/>
                <a:cs typeface="Inter" pitchFamily="34" charset="-120"/>
              </a:rPr>
              <a:t>Ukrainaning 43-brigadasi faqat bitta "Pion" howitzeriga ega, ammo u jang maydonining ko'plab sektorlarida faol ishlatilmoqda. Bu tizimning og'ir zarba qobiliyati va uzoq masofaviyligi strategik ahamiyatga ega.</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697825"/>
            <a:ext cx="10937796" cy="620078"/>
          </a:xfrm>
          <a:prstGeom prst="rect">
            <a:avLst/>
          </a:prstGeom>
          <a:noFill/>
          <a:ln/>
        </p:spPr>
        <p:txBody>
          <a:bodyPr wrap="none" lIns="0" tIns="0" rIns="0" bIns="0" rtlCol="0" anchor="t"/>
          <a:lstStyle/>
          <a:p>
            <a:pPr marL="0" indent="0" algn="l">
              <a:lnSpc>
                <a:spcPts val="4850"/>
              </a:lnSpc>
              <a:buNone/>
            </a:pPr>
            <a:r>
              <a:rPr lang="en-US" sz="3900" dirty="0">
                <a:solidFill>
                  <a:srgbClr val="EFD5FA"/>
                </a:solidFill>
                <a:latin typeface="Instrument Sans Medium" pitchFamily="34" charset="0"/>
                <a:ea typeface="Instrument Sans Medium" pitchFamily="34" charset="-122"/>
                <a:cs typeface="Instrument Sans Medium" pitchFamily="34" charset="-120"/>
              </a:rPr>
              <a:t>Artileriya Taktikasi va Zamonaviy Texnologiyalar</a:t>
            </a:r>
            <a:endParaRPr lang="en-US" sz="3900" dirty="0"/>
          </a:p>
        </p:txBody>
      </p:sp>
      <p:pic>
        <p:nvPicPr>
          <p:cNvPr id="3" name="Image 0" descr="preencoded.png"/>
          <p:cNvPicPr>
            <a:picLocks noChangeAspect="1"/>
          </p:cNvPicPr>
          <p:nvPr/>
        </p:nvPicPr>
        <p:blipFill>
          <a:blip r:embed="rId3"/>
          <a:stretch>
            <a:fillRect/>
          </a:stretch>
        </p:blipFill>
        <p:spPr>
          <a:xfrm>
            <a:off x="793790" y="1714738"/>
            <a:ext cx="3011091" cy="3011091"/>
          </a:xfrm>
          <a:prstGeom prst="rect">
            <a:avLst/>
          </a:prstGeom>
        </p:spPr>
      </p:pic>
      <p:sp>
        <p:nvSpPr>
          <p:cNvPr id="4" name="Text 1"/>
          <p:cNvSpPr/>
          <p:nvPr/>
        </p:nvSpPr>
        <p:spPr>
          <a:xfrm>
            <a:off x="793790" y="4973836"/>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C7CDD6"/>
                </a:solidFill>
                <a:latin typeface="Instrument Sans Medium" pitchFamily="34" charset="0"/>
                <a:ea typeface="Instrument Sans Medium" pitchFamily="34" charset="-122"/>
                <a:cs typeface="Instrument Sans Medium" pitchFamily="34" charset="-120"/>
              </a:rPr>
              <a:t>UAV Razvedka</a:t>
            </a:r>
            <a:endParaRPr lang="en-US" sz="1950" dirty="0"/>
          </a:p>
        </p:txBody>
      </p:sp>
      <p:sp>
        <p:nvSpPr>
          <p:cNvPr id="5" name="Text 2"/>
          <p:cNvSpPr/>
          <p:nvPr/>
        </p:nvSpPr>
        <p:spPr>
          <a:xfrm>
            <a:off x="793790" y="5403056"/>
            <a:ext cx="4182189" cy="1270159"/>
          </a:xfrm>
          <a:prstGeom prst="rect">
            <a:avLst/>
          </a:prstGeom>
          <a:noFill/>
          <a:ln/>
        </p:spPr>
        <p:txBody>
          <a:bodyPr wrap="square" lIns="0" tIns="0" rIns="0" bIns="0" rtlCol="0" anchor="t"/>
          <a:lstStyle/>
          <a:p>
            <a:pPr marL="0" indent="0" algn="l">
              <a:lnSpc>
                <a:spcPts val="2500"/>
              </a:lnSpc>
              <a:buNone/>
            </a:pPr>
            <a:r>
              <a:rPr lang="en-US" sz="1550" dirty="0">
                <a:solidFill>
                  <a:srgbClr val="C7CDD6"/>
                </a:solidFill>
                <a:latin typeface="Inter" pitchFamily="34" charset="0"/>
                <a:ea typeface="Inter" pitchFamily="34" charset="-122"/>
                <a:cs typeface="Inter" pitchFamily="34" charset="-120"/>
              </a:rPr>
              <a:t>Dronlar artileriya uchun razvedka va aniqlikni dramatik ravishda oshirdi. Haqiqiy vaqt rejimida ma'lumot olish imkoniyati aniq zarbalar qilishga imkon beradi</a:t>
            </a:r>
            <a:endParaRPr lang="en-US" sz="1550" dirty="0"/>
          </a:p>
        </p:txBody>
      </p:sp>
      <p:pic>
        <p:nvPicPr>
          <p:cNvPr id="6" name="Image 1" descr="preencoded.png"/>
          <p:cNvPicPr>
            <a:picLocks noChangeAspect="1"/>
          </p:cNvPicPr>
          <p:nvPr/>
        </p:nvPicPr>
        <p:blipFill>
          <a:blip r:embed="rId4"/>
          <a:stretch>
            <a:fillRect/>
          </a:stretch>
        </p:blipFill>
        <p:spPr>
          <a:xfrm>
            <a:off x="5223986" y="1714738"/>
            <a:ext cx="3011210" cy="3011210"/>
          </a:xfrm>
          <a:prstGeom prst="rect">
            <a:avLst/>
          </a:prstGeom>
        </p:spPr>
      </p:pic>
      <p:sp>
        <p:nvSpPr>
          <p:cNvPr id="7" name="Text 3"/>
          <p:cNvSpPr/>
          <p:nvPr/>
        </p:nvSpPr>
        <p:spPr>
          <a:xfrm>
            <a:off x="5223986" y="4973955"/>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C7CDD6"/>
                </a:solidFill>
                <a:latin typeface="Instrument Sans Medium" pitchFamily="34" charset="0"/>
                <a:ea typeface="Instrument Sans Medium" pitchFamily="34" charset="-122"/>
                <a:cs typeface="Instrument Sans Medium" pitchFamily="34" charset="-120"/>
              </a:rPr>
              <a:t>FPV Dronlar</a:t>
            </a:r>
            <a:endParaRPr lang="en-US" sz="1950" dirty="0"/>
          </a:p>
        </p:txBody>
      </p:sp>
      <p:sp>
        <p:nvSpPr>
          <p:cNvPr id="8" name="Text 4"/>
          <p:cNvSpPr/>
          <p:nvPr/>
        </p:nvSpPr>
        <p:spPr>
          <a:xfrm>
            <a:off x="5223986" y="5403175"/>
            <a:ext cx="4182308" cy="1270159"/>
          </a:xfrm>
          <a:prstGeom prst="rect">
            <a:avLst/>
          </a:prstGeom>
          <a:noFill/>
          <a:ln/>
        </p:spPr>
        <p:txBody>
          <a:bodyPr wrap="square" lIns="0" tIns="0" rIns="0" bIns="0" rtlCol="0" anchor="t"/>
          <a:lstStyle/>
          <a:p>
            <a:pPr marL="0" indent="0" algn="l">
              <a:lnSpc>
                <a:spcPts val="2500"/>
              </a:lnSpc>
              <a:buNone/>
            </a:pPr>
            <a:r>
              <a:rPr lang="en-US" sz="1550" dirty="0">
                <a:solidFill>
                  <a:srgbClr val="C7CDD6"/>
                </a:solidFill>
                <a:latin typeface="Inter" pitchFamily="34" charset="0"/>
                <a:ea typeface="Inter" pitchFamily="34" charset="-122"/>
                <a:cs typeface="Inter" pitchFamily="34" charset="-120"/>
              </a:rPr>
              <a:t>Shell yetishmovchiligi sababli FPV dronlar yordamida qo'shimcha zarbalar berilmoqda. Bu yangi jangovar taktika bo'lib, aniq zarbalar yetkazishga imkon beradi</a:t>
            </a:r>
            <a:endParaRPr lang="en-US" sz="1550" dirty="0"/>
          </a:p>
        </p:txBody>
      </p:sp>
      <p:pic>
        <p:nvPicPr>
          <p:cNvPr id="9" name="Image 2" descr="preencoded.png"/>
          <p:cNvPicPr>
            <a:picLocks noChangeAspect="1"/>
          </p:cNvPicPr>
          <p:nvPr/>
        </p:nvPicPr>
        <p:blipFill>
          <a:blip r:embed="rId5"/>
          <a:stretch>
            <a:fillRect/>
          </a:stretch>
        </p:blipFill>
        <p:spPr>
          <a:xfrm>
            <a:off x="9654302" y="1714738"/>
            <a:ext cx="3011210" cy="3011210"/>
          </a:xfrm>
          <a:prstGeom prst="rect">
            <a:avLst/>
          </a:prstGeom>
        </p:spPr>
      </p:pic>
      <p:sp>
        <p:nvSpPr>
          <p:cNvPr id="10" name="Text 5"/>
          <p:cNvSpPr/>
          <p:nvPr/>
        </p:nvSpPr>
        <p:spPr>
          <a:xfrm>
            <a:off x="9654302" y="4973955"/>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C7CDD6"/>
                </a:solidFill>
                <a:latin typeface="Instrument Sans Medium" pitchFamily="34" charset="0"/>
                <a:ea typeface="Instrument Sans Medium" pitchFamily="34" charset="-122"/>
                <a:cs typeface="Instrument Sans Medium" pitchFamily="34" charset="-120"/>
              </a:rPr>
              <a:t>Kamuflyaj va Harakat</a:t>
            </a:r>
            <a:endParaRPr lang="en-US" sz="1950" dirty="0"/>
          </a:p>
        </p:txBody>
      </p:sp>
      <p:sp>
        <p:nvSpPr>
          <p:cNvPr id="11" name="Text 6"/>
          <p:cNvSpPr/>
          <p:nvPr/>
        </p:nvSpPr>
        <p:spPr>
          <a:xfrm>
            <a:off x="9654302" y="5403175"/>
            <a:ext cx="4182308" cy="1270159"/>
          </a:xfrm>
          <a:prstGeom prst="rect">
            <a:avLst/>
          </a:prstGeom>
          <a:noFill/>
          <a:ln/>
        </p:spPr>
        <p:txBody>
          <a:bodyPr wrap="square" lIns="0" tIns="0" rIns="0" bIns="0" rtlCol="0" anchor="t"/>
          <a:lstStyle/>
          <a:p>
            <a:pPr marL="0" indent="0" algn="l">
              <a:lnSpc>
                <a:spcPts val="2500"/>
              </a:lnSpc>
              <a:buNone/>
            </a:pPr>
            <a:r>
              <a:rPr lang="en-US" sz="1550" dirty="0">
                <a:solidFill>
                  <a:srgbClr val="C7CDD6"/>
                </a:solidFill>
                <a:latin typeface="Inter" pitchFamily="34" charset="0"/>
                <a:ea typeface="Inter" pitchFamily="34" charset="-122"/>
                <a:cs typeface="Inter" pitchFamily="34" charset="-120"/>
              </a:rPr>
              <a:t>Kamuflyaj va tez harakat qilish jangovar muvaffaqiyatning kaliti. Artileriya pozitsiyalarini doimiy ravishda o'zgartirish va yashirish muhim ahamiyatga ega</a:t>
            </a:r>
            <a:endParaRPr lang="en-US" sz="1550" dirty="0"/>
          </a:p>
        </p:txBody>
      </p:sp>
      <p:sp>
        <p:nvSpPr>
          <p:cNvPr id="12" name="Text 7"/>
          <p:cNvSpPr/>
          <p:nvPr/>
        </p:nvSpPr>
        <p:spPr>
          <a:xfrm>
            <a:off x="793790" y="6896576"/>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C7CDD6"/>
                </a:solidFill>
                <a:latin typeface="Inter" pitchFamily="34" charset="0"/>
                <a:ea typeface="Inter" pitchFamily="34" charset="-122"/>
                <a:cs typeface="Inter" pitchFamily="34" charset="-120"/>
              </a:rPr>
              <a:t>Texnologik innovatsiyalar artileriya taktikasini to'liq o'zgartirdi. An'anaviy artileriya va zamonaviy dron texnologiyalari kombinatsiyasi yangi jangovar samaradorlikni ta'minlamoqda.</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697587"/>
            <a:ext cx="7556421" cy="1178243"/>
          </a:xfrm>
          <a:prstGeom prst="rect">
            <a:avLst/>
          </a:prstGeom>
          <a:noFill/>
          <a:ln/>
        </p:spPr>
        <p:txBody>
          <a:bodyPr wrap="square" lIns="0" tIns="0" rIns="0" bIns="0" rtlCol="0" anchor="t"/>
          <a:lstStyle/>
          <a:p>
            <a:pPr marL="0" indent="0" algn="l">
              <a:lnSpc>
                <a:spcPts val="4600"/>
              </a:lnSpc>
              <a:buNone/>
            </a:pPr>
            <a:r>
              <a:rPr lang="en-US" sz="3700" dirty="0">
                <a:solidFill>
                  <a:srgbClr val="EFD5FA"/>
                </a:solidFill>
                <a:latin typeface="Instrument Sans Medium" pitchFamily="34" charset="0"/>
                <a:ea typeface="Instrument Sans Medium" pitchFamily="34" charset="-122"/>
                <a:cs typeface="Instrument Sans Medium" pitchFamily="34" charset="-120"/>
              </a:rPr>
              <a:t>Pokrovskdagi Ukrainalik Artileristlarning Qahramonligi</a:t>
            </a:r>
            <a:endParaRPr lang="en-US" sz="3700" dirty="0"/>
          </a:p>
        </p:txBody>
      </p:sp>
      <p:sp>
        <p:nvSpPr>
          <p:cNvPr id="4" name="Shape 1"/>
          <p:cNvSpPr/>
          <p:nvPr/>
        </p:nvSpPr>
        <p:spPr>
          <a:xfrm>
            <a:off x="793790" y="2144435"/>
            <a:ext cx="7556421" cy="1413153"/>
          </a:xfrm>
          <a:prstGeom prst="roundRect">
            <a:avLst>
              <a:gd name="adj" fmla="val 7765"/>
            </a:avLst>
          </a:prstGeom>
          <a:solidFill>
            <a:srgbClr val="242429"/>
          </a:solidFill>
          <a:ln w="22860">
            <a:solidFill>
              <a:srgbClr val="FDC4C4"/>
            </a:solidFill>
            <a:prstDash val="solid"/>
          </a:ln>
        </p:spPr>
      </p:sp>
      <p:sp>
        <p:nvSpPr>
          <p:cNvPr id="5" name="Shape 2"/>
          <p:cNvSpPr/>
          <p:nvPr/>
        </p:nvSpPr>
        <p:spPr>
          <a:xfrm>
            <a:off x="770930" y="2144435"/>
            <a:ext cx="91440" cy="1413153"/>
          </a:xfrm>
          <a:prstGeom prst="roundRect">
            <a:avLst>
              <a:gd name="adj" fmla="val 30930"/>
            </a:avLst>
          </a:prstGeom>
          <a:solidFill>
            <a:srgbClr val="FDC4C4"/>
          </a:solidFill>
          <a:ln/>
        </p:spPr>
      </p:sp>
      <p:sp>
        <p:nvSpPr>
          <p:cNvPr id="6" name="Text 3"/>
          <p:cNvSpPr/>
          <p:nvPr/>
        </p:nvSpPr>
        <p:spPr>
          <a:xfrm>
            <a:off x="1073706" y="2355771"/>
            <a:ext cx="2356842" cy="294680"/>
          </a:xfrm>
          <a:prstGeom prst="rect">
            <a:avLst/>
          </a:prstGeom>
          <a:noFill/>
          <a:ln/>
        </p:spPr>
        <p:txBody>
          <a:bodyPr wrap="none" lIns="0" tIns="0" rIns="0" bIns="0" rtlCol="0" anchor="t"/>
          <a:lstStyle/>
          <a:p>
            <a:pPr marL="0" indent="0" algn="l">
              <a:lnSpc>
                <a:spcPts val="2300"/>
              </a:lnSpc>
              <a:buNone/>
            </a:pPr>
            <a:r>
              <a:rPr lang="en-US" sz="1850" dirty="0">
                <a:solidFill>
                  <a:srgbClr val="C7CDD6"/>
                </a:solidFill>
                <a:latin typeface="Instrument Sans Medium" pitchFamily="34" charset="0"/>
                <a:ea typeface="Instrument Sans Medium" pitchFamily="34" charset="-122"/>
                <a:cs typeface="Instrument Sans Medium" pitchFamily="34" charset="-120"/>
              </a:rPr>
              <a:t>Olingan Qurol</a:t>
            </a:r>
            <a:endParaRPr lang="en-US" sz="1850" dirty="0"/>
          </a:p>
        </p:txBody>
      </p:sp>
      <p:sp>
        <p:nvSpPr>
          <p:cNvPr id="7" name="Text 4"/>
          <p:cNvSpPr/>
          <p:nvPr/>
        </p:nvSpPr>
        <p:spPr>
          <a:xfrm>
            <a:off x="1073706" y="2757845"/>
            <a:ext cx="7065169" cy="588407"/>
          </a:xfrm>
          <a:prstGeom prst="rect">
            <a:avLst/>
          </a:prstGeom>
          <a:noFill/>
          <a:ln/>
        </p:spPr>
        <p:txBody>
          <a:bodyPr wrap="square" lIns="0" tIns="0" rIns="0" bIns="0" rtlCol="0" anchor="t"/>
          <a:lstStyle/>
          <a:p>
            <a:pPr marL="0" indent="0" algn="l">
              <a:lnSpc>
                <a:spcPts val="2300"/>
              </a:lnSpc>
              <a:buNone/>
            </a:pPr>
            <a:r>
              <a:rPr lang="en-US" sz="1450" dirty="0">
                <a:solidFill>
                  <a:srgbClr val="C7CDD6"/>
                </a:solidFill>
                <a:latin typeface="Inter" pitchFamily="34" charset="0"/>
                <a:ea typeface="Inter" pitchFamily="34" charset="-122"/>
                <a:cs typeface="Inter" pitchFamily="34" charset="-120"/>
              </a:rPr>
              <a:t>Rus armiyasidan olingan Msta-S to'pini ruslarga qarshi ishlatish. Bu harbiy g'animtning qayta ishlatilishi strategik ahamiyatga ega</a:t>
            </a:r>
            <a:endParaRPr lang="en-US" sz="1450" dirty="0"/>
          </a:p>
        </p:txBody>
      </p:sp>
      <p:sp>
        <p:nvSpPr>
          <p:cNvPr id="8" name="Shape 5"/>
          <p:cNvSpPr/>
          <p:nvPr/>
        </p:nvSpPr>
        <p:spPr>
          <a:xfrm>
            <a:off x="793790" y="3736658"/>
            <a:ext cx="7556421" cy="1413153"/>
          </a:xfrm>
          <a:prstGeom prst="roundRect">
            <a:avLst>
              <a:gd name="adj" fmla="val 7765"/>
            </a:avLst>
          </a:prstGeom>
          <a:solidFill>
            <a:srgbClr val="242429"/>
          </a:solidFill>
          <a:ln w="22860">
            <a:solidFill>
              <a:srgbClr val="FDC4C4"/>
            </a:solidFill>
            <a:prstDash val="solid"/>
          </a:ln>
        </p:spPr>
      </p:sp>
      <p:sp>
        <p:nvSpPr>
          <p:cNvPr id="9" name="Shape 6"/>
          <p:cNvSpPr/>
          <p:nvPr/>
        </p:nvSpPr>
        <p:spPr>
          <a:xfrm>
            <a:off x="770930" y="3736658"/>
            <a:ext cx="91440" cy="1413153"/>
          </a:xfrm>
          <a:prstGeom prst="roundRect">
            <a:avLst>
              <a:gd name="adj" fmla="val 30930"/>
            </a:avLst>
          </a:prstGeom>
          <a:solidFill>
            <a:srgbClr val="FDC4C4"/>
          </a:solidFill>
          <a:ln/>
        </p:spPr>
      </p:sp>
      <p:sp>
        <p:nvSpPr>
          <p:cNvPr id="10" name="Text 7"/>
          <p:cNvSpPr/>
          <p:nvPr/>
        </p:nvSpPr>
        <p:spPr>
          <a:xfrm>
            <a:off x="1073706" y="3947993"/>
            <a:ext cx="2356842" cy="294680"/>
          </a:xfrm>
          <a:prstGeom prst="rect">
            <a:avLst/>
          </a:prstGeom>
          <a:noFill/>
          <a:ln/>
        </p:spPr>
        <p:txBody>
          <a:bodyPr wrap="none" lIns="0" tIns="0" rIns="0" bIns="0" rtlCol="0" anchor="t"/>
          <a:lstStyle/>
          <a:p>
            <a:pPr marL="0" indent="0" algn="l">
              <a:lnSpc>
                <a:spcPts val="2300"/>
              </a:lnSpc>
              <a:buNone/>
            </a:pPr>
            <a:r>
              <a:rPr lang="en-US" sz="1850" dirty="0">
                <a:solidFill>
                  <a:srgbClr val="C7CDD6"/>
                </a:solidFill>
                <a:latin typeface="Instrument Sans Medium" pitchFamily="34" charset="0"/>
                <a:ea typeface="Instrument Sans Medium" pitchFamily="34" charset="-122"/>
                <a:cs typeface="Instrument Sans Medium" pitchFamily="34" charset="-120"/>
              </a:rPr>
              <a:t>Doimiy Janglar</a:t>
            </a:r>
            <a:endParaRPr lang="en-US" sz="1850" dirty="0"/>
          </a:p>
        </p:txBody>
      </p:sp>
      <p:sp>
        <p:nvSpPr>
          <p:cNvPr id="11" name="Text 8"/>
          <p:cNvSpPr/>
          <p:nvPr/>
        </p:nvSpPr>
        <p:spPr>
          <a:xfrm>
            <a:off x="1073706" y="4350068"/>
            <a:ext cx="7065169" cy="588407"/>
          </a:xfrm>
          <a:prstGeom prst="rect">
            <a:avLst/>
          </a:prstGeom>
          <a:noFill/>
          <a:ln/>
        </p:spPr>
        <p:txBody>
          <a:bodyPr wrap="square" lIns="0" tIns="0" rIns="0" bIns="0" rtlCol="0" anchor="t"/>
          <a:lstStyle/>
          <a:p>
            <a:pPr marL="0" indent="0" algn="l">
              <a:lnSpc>
                <a:spcPts val="2300"/>
              </a:lnSpc>
              <a:buNone/>
            </a:pPr>
            <a:r>
              <a:rPr lang="en-US" sz="1450" dirty="0">
                <a:solidFill>
                  <a:srgbClr val="C7CDD6"/>
                </a:solidFill>
                <a:latin typeface="Inter" pitchFamily="34" charset="0"/>
                <a:ea typeface="Inter" pitchFamily="34" charset="-122"/>
                <a:cs typeface="Inter" pitchFamily="34" charset="-120"/>
              </a:rPr>
              <a:t>Har kuni yuzlab janglar bo'lib o'tadi. Ruslarning uzoq masofadan shelli ustunligi bilan kurashish uchun muntazam jangovar tayyorgarlik talab etiladi</a:t>
            </a:r>
            <a:endParaRPr lang="en-US" sz="1450" dirty="0"/>
          </a:p>
        </p:txBody>
      </p:sp>
      <p:sp>
        <p:nvSpPr>
          <p:cNvPr id="12" name="Shape 9"/>
          <p:cNvSpPr/>
          <p:nvPr/>
        </p:nvSpPr>
        <p:spPr>
          <a:xfrm>
            <a:off x="793790" y="5328880"/>
            <a:ext cx="7556421" cy="1413153"/>
          </a:xfrm>
          <a:prstGeom prst="roundRect">
            <a:avLst>
              <a:gd name="adj" fmla="val 7765"/>
            </a:avLst>
          </a:prstGeom>
          <a:solidFill>
            <a:srgbClr val="242429"/>
          </a:solidFill>
          <a:ln w="22860">
            <a:solidFill>
              <a:srgbClr val="FDC4C4"/>
            </a:solidFill>
            <a:prstDash val="solid"/>
          </a:ln>
        </p:spPr>
      </p:sp>
      <p:sp>
        <p:nvSpPr>
          <p:cNvPr id="13" name="Shape 10"/>
          <p:cNvSpPr/>
          <p:nvPr/>
        </p:nvSpPr>
        <p:spPr>
          <a:xfrm>
            <a:off x="770930" y="5328880"/>
            <a:ext cx="91440" cy="1413153"/>
          </a:xfrm>
          <a:prstGeom prst="roundRect">
            <a:avLst>
              <a:gd name="adj" fmla="val 30930"/>
            </a:avLst>
          </a:prstGeom>
          <a:solidFill>
            <a:srgbClr val="FDC4C4"/>
          </a:solidFill>
          <a:ln/>
        </p:spPr>
      </p:sp>
      <p:sp>
        <p:nvSpPr>
          <p:cNvPr id="14" name="Text 11"/>
          <p:cNvSpPr/>
          <p:nvPr/>
        </p:nvSpPr>
        <p:spPr>
          <a:xfrm>
            <a:off x="1073706" y="5540216"/>
            <a:ext cx="2356842" cy="294680"/>
          </a:xfrm>
          <a:prstGeom prst="rect">
            <a:avLst/>
          </a:prstGeom>
          <a:noFill/>
          <a:ln/>
        </p:spPr>
        <p:txBody>
          <a:bodyPr wrap="none" lIns="0" tIns="0" rIns="0" bIns="0" rtlCol="0" anchor="t"/>
          <a:lstStyle/>
          <a:p>
            <a:pPr marL="0" indent="0" algn="l">
              <a:lnSpc>
                <a:spcPts val="2300"/>
              </a:lnSpc>
              <a:buNone/>
            </a:pPr>
            <a:r>
              <a:rPr lang="en-US" sz="1850" dirty="0">
                <a:solidFill>
                  <a:srgbClr val="C7CDD6"/>
                </a:solidFill>
                <a:latin typeface="Instrument Sans Medium" pitchFamily="34" charset="0"/>
                <a:ea typeface="Instrument Sans Medium" pitchFamily="34" charset="-122"/>
                <a:cs typeface="Instrument Sans Medium" pitchFamily="34" charset="-120"/>
              </a:rPr>
              <a:t>Kombinatsiya</a:t>
            </a:r>
            <a:endParaRPr lang="en-US" sz="1850" dirty="0"/>
          </a:p>
        </p:txBody>
      </p:sp>
      <p:sp>
        <p:nvSpPr>
          <p:cNvPr id="15" name="Text 12"/>
          <p:cNvSpPr/>
          <p:nvPr/>
        </p:nvSpPr>
        <p:spPr>
          <a:xfrm>
            <a:off x="1073706" y="5942290"/>
            <a:ext cx="7065169" cy="588407"/>
          </a:xfrm>
          <a:prstGeom prst="rect">
            <a:avLst/>
          </a:prstGeom>
          <a:noFill/>
          <a:ln/>
        </p:spPr>
        <p:txBody>
          <a:bodyPr wrap="square" lIns="0" tIns="0" rIns="0" bIns="0" rtlCol="0" anchor="t"/>
          <a:lstStyle/>
          <a:p>
            <a:pPr marL="0" indent="0" algn="l">
              <a:lnSpc>
                <a:spcPts val="2300"/>
              </a:lnSpc>
              <a:buNone/>
            </a:pPr>
            <a:r>
              <a:rPr lang="en-US" sz="1450" dirty="0">
                <a:solidFill>
                  <a:srgbClr val="C7CDD6"/>
                </a:solidFill>
                <a:latin typeface="Inter" pitchFamily="34" charset="0"/>
                <a:ea typeface="Inter" pitchFamily="34" charset="-122"/>
                <a:cs typeface="Inter" pitchFamily="34" charset="-120"/>
              </a:rPr>
              <a:t>Dronlar va artileriya kombinatsiyasi bilan rus hujumlarini muvaffaqiyatli to'xtatish. Koordinatsiyalangan harakatlar halokatli ta'sir qiladi</a:t>
            </a:r>
            <a:endParaRPr lang="en-US" sz="1450" dirty="0"/>
          </a:p>
        </p:txBody>
      </p:sp>
      <p:sp>
        <p:nvSpPr>
          <p:cNvPr id="16" name="Text 13"/>
          <p:cNvSpPr/>
          <p:nvPr/>
        </p:nvSpPr>
        <p:spPr>
          <a:xfrm>
            <a:off x="793790" y="6943487"/>
            <a:ext cx="7556421" cy="588407"/>
          </a:xfrm>
          <a:prstGeom prst="rect">
            <a:avLst/>
          </a:prstGeom>
          <a:noFill/>
          <a:ln/>
        </p:spPr>
        <p:txBody>
          <a:bodyPr wrap="square" lIns="0" tIns="0" rIns="0" bIns="0" rtlCol="0" anchor="t"/>
          <a:lstStyle/>
          <a:p>
            <a:pPr marL="0" indent="0" algn="l">
              <a:lnSpc>
                <a:spcPts val="2300"/>
              </a:lnSpc>
              <a:buNone/>
            </a:pPr>
            <a:r>
              <a:rPr lang="en-US" sz="1450" dirty="0">
                <a:solidFill>
                  <a:srgbClr val="C7CDD6"/>
                </a:solidFill>
                <a:latin typeface="Inter" pitchFamily="34" charset="0"/>
                <a:ea typeface="Inter" pitchFamily="34" charset="-122"/>
                <a:cs typeface="Inter" pitchFamily="34" charset="-120"/>
              </a:rPr>
              <a:t>Pokrovsk sektorida Ukrainalik artileristlar jangovar muvaffaqiyatlarga erishmoqda. Ularning jasorati va taktik ko'rki artileriya tizimlarining to'liq qudratini ochib beradi.</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793313"/>
            <a:ext cx="9118640" cy="589121"/>
          </a:xfrm>
          <a:prstGeom prst="rect">
            <a:avLst/>
          </a:prstGeom>
          <a:noFill/>
          <a:ln/>
        </p:spPr>
        <p:txBody>
          <a:bodyPr wrap="none" lIns="0" tIns="0" rIns="0" bIns="0" rtlCol="0" anchor="t"/>
          <a:lstStyle/>
          <a:p>
            <a:pPr marL="0" indent="0" algn="l">
              <a:lnSpc>
                <a:spcPts val="4600"/>
              </a:lnSpc>
              <a:buNone/>
            </a:pPr>
            <a:r>
              <a:rPr lang="en-US" sz="3700" dirty="0">
                <a:solidFill>
                  <a:srgbClr val="EFD5FA"/>
                </a:solidFill>
                <a:latin typeface="Instrument Sans Medium" pitchFamily="34" charset="0"/>
                <a:ea typeface="Instrument Sans Medium" pitchFamily="34" charset="-122"/>
                <a:cs typeface="Instrument Sans Medium" pitchFamily="34" charset="-120"/>
              </a:rPr>
              <a:t>Yevropa Ittifoqi va NATO Yordamining Roli</a:t>
            </a:r>
            <a:endParaRPr lang="en-US" sz="3700" dirty="0"/>
          </a:p>
        </p:txBody>
      </p:sp>
      <p:sp>
        <p:nvSpPr>
          <p:cNvPr id="3" name="Text 1"/>
          <p:cNvSpPr/>
          <p:nvPr/>
        </p:nvSpPr>
        <p:spPr>
          <a:xfrm>
            <a:off x="2838807" y="2965966"/>
            <a:ext cx="2319099" cy="471368"/>
          </a:xfrm>
          <a:prstGeom prst="rect">
            <a:avLst/>
          </a:prstGeom>
          <a:noFill/>
          <a:ln/>
        </p:spPr>
        <p:txBody>
          <a:bodyPr wrap="none" lIns="0" tIns="0" rIns="0" bIns="0" rtlCol="0" anchor="t"/>
          <a:lstStyle/>
          <a:p>
            <a:pPr marL="0" indent="0" algn="ctr">
              <a:lnSpc>
                <a:spcPts val="3700"/>
              </a:lnSpc>
              <a:buNone/>
            </a:pPr>
            <a:r>
              <a:rPr lang="en-US" sz="3700" dirty="0">
                <a:solidFill>
                  <a:srgbClr val="C7CDD6"/>
                </a:solidFill>
                <a:latin typeface="Instrument Sans Medium" pitchFamily="34" charset="0"/>
                <a:ea typeface="Instrument Sans Medium" pitchFamily="34" charset="-122"/>
                <a:cs typeface="Instrument Sans Medium" pitchFamily="34" charset="-120"/>
              </a:rPr>
              <a:t>2B</a:t>
            </a:r>
            <a:endParaRPr lang="en-US" sz="3700" dirty="0"/>
          </a:p>
        </p:txBody>
      </p:sp>
      <p:pic>
        <p:nvPicPr>
          <p:cNvPr id="4" name="Image 0" descr="preencoded.png"/>
          <p:cNvPicPr>
            <a:picLocks noChangeAspect="1"/>
          </p:cNvPicPr>
          <p:nvPr/>
        </p:nvPicPr>
        <p:blipFill>
          <a:blip r:embed="rId3"/>
          <a:stretch>
            <a:fillRect/>
          </a:stretch>
        </p:blipFill>
        <p:spPr>
          <a:xfrm>
            <a:off x="2584371" y="1787604"/>
            <a:ext cx="2828211" cy="2828211"/>
          </a:xfrm>
          <a:prstGeom prst="rect">
            <a:avLst/>
          </a:prstGeom>
        </p:spPr>
      </p:pic>
      <p:sp>
        <p:nvSpPr>
          <p:cNvPr id="5" name="Text 2"/>
          <p:cNvSpPr/>
          <p:nvPr/>
        </p:nvSpPr>
        <p:spPr>
          <a:xfrm>
            <a:off x="2820114" y="4841915"/>
            <a:ext cx="2356842" cy="294680"/>
          </a:xfrm>
          <a:prstGeom prst="rect">
            <a:avLst/>
          </a:prstGeom>
          <a:noFill/>
          <a:ln/>
        </p:spPr>
        <p:txBody>
          <a:bodyPr wrap="none" lIns="0" tIns="0" rIns="0" bIns="0" rtlCol="0" anchor="t"/>
          <a:lstStyle/>
          <a:p>
            <a:pPr marL="0" indent="0" algn="ctr">
              <a:lnSpc>
                <a:spcPts val="2300"/>
              </a:lnSpc>
              <a:buNone/>
            </a:pPr>
            <a:r>
              <a:rPr lang="en-US" sz="1850" dirty="0">
                <a:solidFill>
                  <a:srgbClr val="C7CDD6"/>
                </a:solidFill>
                <a:latin typeface="Instrument Sans Medium" pitchFamily="34" charset="0"/>
                <a:ea typeface="Instrument Sans Medium" pitchFamily="34" charset="-122"/>
                <a:cs typeface="Instrument Sans Medium" pitchFamily="34" charset="-120"/>
              </a:rPr>
              <a:t>Yevro</a:t>
            </a:r>
            <a:endParaRPr lang="en-US" sz="1850" dirty="0"/>
          </a:p>
        </p:txBody>
      </p:sp>
      <p:sp>
        <p:nvSpPr>
          <p:cNvPr id="6" name="Text 3"/>
          <p:cNvSpPr/>
          <p:nvPr/>
        </p:nvSpPr>
        <p:spPr>
          <a:xfrm>
            <a:off x="793790" y="5243989"/>
            <a:ext cx="6409492" cy="294203"/>
          </a:xfrm>
          <a:prstGeom prst="rect">
            <a:avLst/>
          </a:prstGeom>
          <a:noFill/>
          <a:ln/>
        </p:spPr>
        <p:txBody>
          <a:bodyPr wrap="none" lIns="0" tIns="0" rIns="0" bIns="0" rtlCol="0" anchor="t"/>
          <a:lstStyle/>
          <a:p>
            <a:pPr marL="0" indent="0" algn="ctr">
              <a:lnSpc>
                <a:spcPts val="2300"/>
              </a:lnSpc>
              <a:buNone/>
            </a:pPr>
            <a:r>
              <a:rPr lang="en-US" sz="1450" dirty="0">
                <a:solidFill>
                  <a:srgbClr val="C7CDD6"/>
                </a:solidFill>
                <a:latin typeface="Inter" pitchFamily="34" charset="0"/>
                <a:ea typeface="Inter" pitchFamily="34" charset="-122"/>
                <a:cs typeface="Inter" pitchFamily="34" charset="-120"/>
              </a:rPr>
              <a:t>1 milliondan ortiq shell yetkazib berish uchun ajratilgan mablag'</a:t>
            </a:r>
            <a:endParaRPr lang="en-US" sz="1450" dirty="0"/>
          </a:p>
        </p:txBody>
      </p:sp>
      <p:sp>
        <p:nvSpPr>
          <p:cNvPr id="7" name="Text 4"/>
          <p:cNvSpPr/>
          <p:nvPr/>
        </p:nvSpPr>
        <p:spPr>
          <a:xfrm>
            <a:off x="9472136" y="2965966"/>
            <a:ext cx="2319099" cy="471368"/>
          </a:xfrm>
          <a:prstGeom prst="rect">
            <a:avLst/>
          </a:prstGeom>
          <a:noFill/>
          <a:ln/>
        </p:spPr>
        <p:txBody>
          <a:bodyPr wrap="none" lIns="0" tIns="0" rIns="0" bIns="0" rtlCol="0" anchor="t"/>
          <a:lstStyle/>
          <a:p>
            <a:pPr marL="0" indent="0" algn="ctr">
              <a:lnSpc>
                <a:spcPts val="3700"/>
              </a:lnSpc>
              <a:buNone/>
            </a:pPr>
            <a:r>
              <a:rPr lang="en-US" sz="3700" dirty="0">
                <a:solidFill>
                  <a:srgbClr val="C7CDD6"/>
                </a:solidFill>
                <a:latin typeface="Instrument Sans Medium" pitchFamily="34" charset="0"/>
                <a:ea typeface="Instrument Sans Medium" pitchFamily="34" charset="-122"/>
                <a:cs typeface="Instrument Sans Medium" pitchFamily="34" charset="-120"/>
              </a:rPr>
              <a:t>620+</a:t>
            </a:r>
            <a:endParaRPr lang="en-US" sz="3700" dirty="0"/>
          </a:p>
        </p:txBody>
      </p:sp>
      <p:pic>
        <p:nvPicPr>
          <p:cNvPr id="8" name="Image 1" descr="preencoded.png"/>
          <p:cNvPicPr>
            <a:picLocks noChangeAspect="1"/>
          </p:cNvPicPr>
          <p:nvPr/>
        </p:nvPicPr>
        <p:blipFill>
          <a:blip r:embed="rId4"/>
          <a:stretch>
            <a:fillRect/>
          </a:stretch>
        </p:blipFill>
        <p:spPr>
          <a:xfrm>
            <a:off x="9217700" y="1787604"/>
            <a:ext cx="2828211" cy="2828211"/>
          </a:xfrm>
          <a:prstGeom prst="rect">
            <a:avLst/>
          </a:prstGeom>
        </p:spPr>
      </p:pic>
      <p:sp>
        <p:nvSpPr>
          <p:cNvPr id="9" name="Text 5"/>
          <p:cNvSpPr/>
          <p:nvPr/>
        </p:nvSpPr>
        <p:spPr>
          <a:xfrm>
            <a:off x="9453443" y="4841915"/>
            <a:ext cx="2356842" cy="294680"/>
          </a:xfrm>
          <a:prstGeom prst="rect">
            <a:avLst/>
          </a:prstGeom>
          <a:noFill/>
          <a:ln/>
        </p:spPr>
        <p:txBody>
          <a:bodyPr wrap="none" lIns="0" tIns="0" rIns="0" bIns="0" rtlCol="0" anchor="t"/>
          <a:lstStyle/>
          <a:p>
            <a:pPr marL="0" indent="0" algn="ctr">
              <a:lnSpc>
                <a:spcPts val="2300"/>
              </a:lnSpc>
              <a:buNone/>
            </a:pPr>
            <a:r>
              <a:rPr lang="en-US" sz="1850" dirty="0">
                <a:solidFill>
                  <a:srgbClr val="C7CDD6"/>
                </a:solidFill>
                <a:latin typeface="Instrument Sans Medium" pitchFamily="34" charset="0"/>
                <a:ea typeface="Instrument Sans Medium" pitchFamily="34" charset="-122"/>
                <a:cs typeface="Instrument Sans Medium" pitchFamily="34" charset="-120"/>
              </a:rPr>
              <a:t>Tizimlar</a:t>
            </a:r>
            <a:endParaRPr lang="en-US" sz="1850" dirty="0"/>
          </a:p>
        </p:txBody>
      </p:sp>
      <p:sp>
        <p:nvSpPr>
          <p:cNvPr id="10" name="Text 6"/>
          <p:cNvSpPr/>
          <p:nvPr/>
        </p:nvSpPr>
        <p:spPr>
          <a:xfrm>
            <a:off x="7427119" y="5243989"/>
            <a:ext cx="6409492" cy="294203"/>
          </a:xfrm>
          <a:prstGeom prst="rect">
            <a:avLst/>
          </a:prstGeom>
          <a:noFill/>
          <a:ln/>
        </p:spPr>
        <p:txBody>
          <a:bodyPr wrap="none" lIns="0" tIns="0" rIns="0" bIns="0" rtlCol="0" anchor="t"/>
          <a:lstStyle/>
          <a:p>
            <a:pPr marL="0" indent="0" algn="ctr">
              <a:lnSpc>
                <a:spcPts val="2300"/>
              </a:lnSpc>
              <a:buNone/>
            </a:pPr>
            <a:r>
              <a:rPr lang="en-US" sz="1450" dirty="0">
                <a:solidFill>
                  <a:srgbClr val="C7CDD6"/>
                </a:solidFill>
                <a:latin typeface="Inter" pitchFamily="34" charset="0"/>
                <a:ea typeface="Inter" pitchFamily="34" charset="-122"/>
                <a:cs typeface="Inter" pitchFamily="34" charset="-120"/>
              </a:rPr>
              <a:t>NATO va AQSh tomonidan Ukrainaga topshirilgan artileriya tizimlari soni</a:t>
            </a:r>
            <a:endParaRPr lang="en-US" sz="1450" dirty="0"/>
          </a:p>
        </p:txBody>
      </p:sp>
      <p:sp>
        <p:nvSpPr>
          <p:cNvPr id="11" name="Text 7"/>
          <p:cNvSpPr/>
          <p:nvPr/>
        </p:nvSpPr>
        <p:spPr>
          <a:xfrm>
            <a:off x="793790" y="5918716"/>
            <a:ext cx="2784634" cy="294680"/>
          </a:xfrm>
          <a:prstGeom prst="rect">
            <a:avLst/>
          </a:prstGeom>
          <a:noFill/>
          <a:ln/>
        </p:spPr>
        <p:txBody>
          <a:bodyPr wrap="none" lIns="0" tIns="0" rIns="0" bIns="0" rtlCol="0" anchor="t"/>
          <a:lstStyle/>
          <a:p>
            <a:pPr marL="0" indent="0" algn="l">
              <a:lnSpc>
                <a:spcPts val="2300"/>
              </a:lnSpc>
              <a:buNone/>
            </a:pPr>
            <a:r>
              <a:rPr lang="en-US" sz="1850" dirty="0">
                <a:solidFill>
                  <a:srgbClr val="EFD5FA"/>
                </a:solidFill>
                <a:latin typeface="Instrument Sans Medium" pitchFamily="34" charset="0"/>
                <a:ea typeface="Instrument Sans Medium" pitchFamily="34" charset="-122"/>
                <a:cs typeface="Instrument Sans Medium" pitchFamily="34" charset="-120"/>
              </a:rPr>
              <a:t>Yetkazib Berilgan Yordam</a:t>
            </a:r>
            <a:endParaRPr lang="en-US" sz="1850" dirty="0"/>
          </a:p>
        </p:txBody>
      </p:sp>
      <p:sp>
        <p:nvSpPr>
          <p:cNvPr id="12" name="Text 8"/>
          <p:cNvSpPr/>
          <p:nvPr/>
        </p:nvSpPr>
        <p:spPr>
          <a:xfrm>
            <a:off x="793790" y="6392466"/>
            <a:ext cx="6291382" cy="882610"/>
          </a:xfrm>
          <a:prstGeom prst="rect">
            <a:avLst/>
          </a:prstGeom>
          <a:noFill/>
          <a:ln/>
        </p:spPr>
        <p:txBody>
          <a:bodyPr wrap="square" lIns="0" tIns="0" rIns="0" bIns="0" rtlCol="0" anchor="t"/>
          <a:lstStyle/>
          <a:p>
            <a:pPr marL="0" indent="0" algn="l">
              <a:lnSpc>
                <a:spcPts val="2300"/>
              </a:lnSpc>
              <a:buNone/>
            </a:pPr>
            <a:r>
              <a:rPr lang="en-US" sz="1450" dirty="0">
                <a:solidFill>
                  <a:srgbClr val="C7CDD6"/>
                </a:solidFill>
                <a:latin typeface="Inter" pitchFamily="34" charset="0"/>
                <a:ea typeface="Inter" pitchFamily="34" charset="-122"/>
                <a:cs typeface="Inter" pitchFamily="34" charset="-120"/>
              </a:rPr>
              <a:t>Xalqaro hamjamiyat Ukrainaga 620 dan ortiq zamonaviy artileriya tizimlari va millionlab shell yetkazib berdi. Bu yordam Ukraina qurolli kuchlarining qudratini sezilarli darajada oshirdi.</a:t>
            </a:r>
            <a:endParaRPr lang="en-US" sz="1450" dirty="0"/>
          </a:p>
        </p:txBody>
      </p:sp>
      <p:sp>
        <p:nvSpPr>
          <p:cNvPr id="13" name="Text 9"/>
          <p:cNvSpPr/>
          <p:nvPr/>
        </p:nvSpPr>
        <p:spPr>
          <a:xfrm>
            <a:off x="7552849" y="5918716"/>
            <a:ext cx="2356842" cy="294680"/>
          </a:xfrm>
          <a:prstGeom prst="rect">
            <a:avLst/>
          </a:prstGeom>
          <a:noFill/>
          <a:ln/>
        </p:spPr>
        <p:txBody>
          <a:bodyPr wrap="none" lIns="0" tIns="0" rIns="0" bIns="0" rtlCol="0" anchor="t"/>
          <a:lstStyle/>
          <a:p>
            <a:pPr marL="0" indent="0" algn="l">
              <a:lnSpc>
                <a:spcPts val="2300"/>
              </a:lnSpc>
              <a:buNone/>
            </a:pPr>
            <a:r>
              <a:rPr lang="en-US" sz="1850" dirty="0">
                <a:solidFill>
                  <a:srgbClr val="EFD5FA"/>
                </a:solidFill>
                <a:latin typeface="Instrument Sans Medium" pitchFamily="34" charset="0"/>
                <a:ea typeface="Instrument Sans Medium" pitchFamily="34" charset="-122"/>
                <a:cs typeface="Instrument Sans Medium" pitchFamily="34" charset="-120"/>
              </a:rPr>
              <a:t>Qolgan Muammolar</a:t>
            </a:r>
            <a:endParaRPr lang="en-US" sz="1850" dirty="0"/>
          </a:p>
        </p:txBody>
      </p:sp>
      <p:sp>
        <p:nvSpPr>
          <p:cNvPr id="14" name="Text 10"/>
          <p:cNvSpPr/>
          <p:nvPr/>
        </p:nvSpPr>
        <p:spPr>
          <a:xfrm>
            <a:off x="7552849" y="6392466"/>
            <a:ext cx="6291382" cy="882610"/>
          </a:xfrm>
          <a:prstGeom prst="rect">
            <a:avLst/>
          </a:prstGeom>
          <a:noFill/>
          <a:ln/>
        </p:spPr>
        <p:txBody>
          <a:bodyPr wrap="square" lIns="0" tIns="0" rIns="0" bIns="0" rtlCol="0" anchor="t"/>
          <a:lstStyle/>
          <a:p>
            <a:pPr marL="0" indent="0" algn="l">
              <a:lnSpc>
                <a:spcPts val="2300"/>
              </a:lnSpc>
              <a:buNone/>
            </a:pPr>
            <a:r>
              <a:rPr lang="en-US" sz="1450" dirty="0">
                <a:solidFill>
                  <a:srgbClr val="C7CDD6"/>
                </a:solidFill>
                <a:latin typeface="Inter" pitchFamily="34" charset="0"/>
                <a:ea typeface="Inter" pitchFamily="34" charset="-122"/>
                <a:cs typeface="Inter" pitchFamily="34" charset="-120"/>
              </a:rPr>
              <a:t>Biroq, shell yetishmovchiligi va texnik muammolar hali ham mavjud. Ishlab chiqarish quvvati va zaxiralar yetarli bo'lmaganligi tufayli strategik rejalashtirish muhim ahamiyatga ega.</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063704"/>
            <a:ext cx="7144107" cy="589121"/>
          </a:xfrm>
          <a:prstGeom prst="rect">
            <a:avLst/>
          </a:prstGeom>
          <a:noFill/>
          <a:ln/>
        </p:spPr>
        <p:txBody>
          <a:bodyPr wrap="none" lIns="0" tIns="0" rIns="0" bIns="0" rtlCol="0" anchor="t"/>
          <a:lstStyle/>
          <a:p>
            <a:pPr marL="0" indent="0" algn="l">
              <a:lnSpc>
                <a:spcPts val="4600"/>
              </a:lnSpc>
              <a:buNone/>
            </a:pPr>
            <a:r>
              <a:rPr lang="en-US" sz="3700" dirty="0">
                <a:solidFill>
                  <a:srgbClr val="EFD5FA"/>
                </a:solidFill>
                <a:latin typeface="Instrument Sans Medium" pitchFamily="34" charset="0"/>
                <a:ea typeface="Instrument Sans Medium" pitchFamily="34" charset="-122"/>
                <a:cs typeface="Instrument Sans Medium" pitchFamily="34" charset="-120"/>
              </a:rPr>
              <a:t>Artileriyaning Urushdagi Kelajagi</a:t>
            </a:r>
            <a:endParaRPr lang="en-US" sz="3700" dirty="0"/>
          </a:p>
        </p:txBody>
      </p:sp>
      <p:pic>
        <p:nvPicPr>
          <p:cNvPr id="4" name="Image 1" descr="preencoded.png"/>
          <p:cNvPicPr>
            <a:picLocks noChangeAspect="1"/>
          </p:cNvPicPr>
          <p:nvPr/>
        </p:nvPicPr>
        <p:blipFill>
          <a:blip r:embed="rId4"/>
          <a:stretch>
            <a:fillRect/>
          </a:stretch>
        </p:blipFill>
        <p:spPr>
          <a:xfrm>
            <a:off x="793790" y="1921431"/>
            <a:ext cx="942737" cy="1367433"/>
          </a:xfrm>
          <a:prstGeom prst="rect">
            <a:avLst/>
          </a:prstGeom>
        </p:spPr>
      </p:pic>
      <p:sp>
        <p:nvSpPr>
          <p:cNvPr id="5" name="Text 1"/>
          <p:cNvSpPr/>
          <p:nvPr/>
        </p:nvSpPr>
        <p:spPr>
          <a:xfrm>
            <a:off x="1915597" y="2109907"/>
            <a:ext cx="2356842" cy="294680"/>
          </a:xfrm>
          <a:prstGeom prst="rect">
            <a:avLst/>
          </a:prstGeom>
          <a:noFill/>
          <a:ln/>
        </p:spPr>
        <p:txBody>
          <a:bodyPr wrap="none" lIns="0" tIns="0" rIns="0" bIns="0" rtlCol="0" anchor="t"/>
          <a:lstStyle/>
          <a:p>
            <a:pPr marL="0" indent="0" algn="l">
              <a:lnSpc>
                <a:spcPts val="2300"/>
              </a:lnSpc>
              <a:buNone/>
            </a:pPr>
            <a:r>
              <a:rPr lang="en-US" sz="1850" dirty="0">
                <a:solidFill>
                  <a:srgbClr val="C7CDD6"/>
                </a:solidFill>
                <a:latin typeface="Instrument Sans Medium" pitchFamily="34" charset="0"/>
                <a:ea typeface="Instrument Sans Medium" pitchFamily="34" charset="-122"/>
                <a:cs typeface="Instrument Sans Medium" pitchFamily="34" charset="-120"/>
              </a:rPr>
              <a:t>Ishlab Chiqarish</a:t>
            </a:r>
            <a:endParaRPr lang="en-US" sz="1850" dirty="0"/>
          </a:p>
        </p:txBody>
      </p:sp>
      <p:sp>
        <p:nvSpPr>
          <p:cNvPr id="6" name="Text 2"/>
          <p:cNvSpPr/>
          <p:nvPr/>
        </p:nvSpPr>
        <p:spPr>
          <a:xfrm>
            <a:off x="1915597" y="2511981"/>
            <a:ext cx="6434614" cy="588407"/>
          </a:xfrm>
          <a:prstGeom prst="rect">
            <a:avLst/>
          </a:prstGeom>
          <a:noFill/>
          <a:ln/>
        </p:spPr>
        <p:txBody>
          <a:bodyPr wrap="square" lIns="0" tIns="0" rIns="0" bIns="0" rtlCol="0" anchor="t"/>
          <a:lstStyle/>
          <a:p>
            <a:pPr marL="0" indent="0" algn="l">
              <a:lnSpc>
                <a:spcPts val="2300"/>
              </a:lnSpc>
              <a:buNone/>
            </a:pPr>
            <a:r>
              <a:rPr lang="en-US" sz="1450" dirty="0">
                <a:solidFill>
                  <a:srgbClr val="C7CDD6"/>
                </a:solidFill>
                <a:latin typeface="Inter" pitchFamily="34" charset="0"/>
                <a:ea typeface="Inter" pitchFamily="34" charset="-122"/>
                <a:cs typeface="Inter" pitchFamily="34" charset="-120"/>
              </a:rPr>
              <a:t>Yangi 155 mm shell ishlab chiqarish va uzoq masofali zarbalar uchun texnologiyalar rivojlanmoqda</a:t>
            </a:r>
            <a:endParaRPr lang="en-US" sz="1450" dirty="0"/>
          </a:p>
        </p:txBody>
      </p:sp>
      <p:pic>
        <p:nvPicPr>
          <p:cNvPr id="7" name="Image 2" descr="preencoded.png"/>
          <p:cNvPicPr>
            <a:picLocks noChangeAspect="1"/>
          </p:cNvPicPr>
          <p:nvPr/>
        </p:nvPicPr>
        <p:blipFill>
          <a:blip r:embed="rId5"/>
          <a:stretch>
            <a:fillRect/>
          </a:stretch>
        </p:blipFill>
        <p:spPr>
          <a:xfrm>
            <a:off x="793790" y="3288863"/>
            <a:ext cx="942737" cy="1367433"/>
          </a:xfrm>
          <a:prstGeom prst="rect">
            <a:avLst/>
          </a:prstGeom>
        </p:spPr>
      </p:pic>
      <p:sp>
        <p:nvSpPr>
          <p:cNvPr id="8" name="Text 3"/>
          <p:cNvSpPr/>
          <p:nvPr/>
        </p:nvSpPr>
        <p:spPr>
          <a:xfrm>
            <a:off x="1915597" y="3477339"/>
            <a:ext cx="2356842" cy="294680"/>
          </a:xfrm>
          <a:prstGeom prst="rect">
            <a:avLst/>
          </a:prstGeom>
          <a:noFill/>
          <a:ln/>
        </p:spPr>
        <p:txBody>
          <a:bodyPr wrap="none" lIns="0" tIns="0" rIns="0" bIns="0" rtlCol="0" anchor="t"/>
          <a:lstStyle/>
          <a:p>
            <a:pPr marL="0" indent="0" algn="l">
              <a:lnSpc>
                <a:spcPts val="2300"/>
              </a:lnSpc>
              <a:buNone/>
            </a:pPr>
            <a:r>
              <a:rPr lang="en-US" sz="1850" dirty="0">
                <a:solidFill>
                  <a:srgbClr val="C7CDD6"/>
                </a:solidFill>
                <a:latin typeface="Instrument Sans Medium" pitchFamily="34" charset="0"/>
                <a:ea typeface="Instrument Sans Medium" pitchFamily="34" charset="-122"/>
                <a:cs typeface="Instrument Sans Medium" pitchFamily="34" charset="-120"/>
              </a:rPr>
              <a:t>Modernizatsiya</a:t>
            </a:r>
            <a:endParaRPr lang="en-US" sz="1850" dirty="0"/>
          </a:p>
        </p:txBody>
      </p:sp>
      <p:sp>
        <p:nvSpPr>
          <p:cNvPr id="9" name="Text 4"/>
          <p:cNvSpPr/>
          <p:nvPr/>
        </p:nvSpPr>
        <p:spPr>
          <a:xfrm>
            <a:off x="1915597" y="3879413"/>
            <a:ext cx="6434614" cy="588407"/>
          </a:xfrm>
          <a:prstGeom prst="rect">
            <a:avLst/>
          </a:prstGeom>
          <a:noFill/>
          <a:ln/>
        </p:spPr>
        <p:txBody>
          <a:bodyPr wrap="square" lIns="0" tIns="0" rIns="0" bIns="0" rtlCol="0" anchor="t"/>
          <a:lstStyle/>
          <a:p>
            <a:pPr marL="0" indent="0" algn="l">
              <a:lnSpc>
                <a:spcPts val="2300"/>
              </a:lnSpc>
              <a:buNone/>
            </a:pPr>
            <a:r>
              <a:rPr lang="en-US" sz="1450" dirty="0">
                <a:solidFill>
                  <a:srgbClr val="C7CDD6"/>
                </a:solidFill>
                <a:latin typeface="Inter" pitchFamily="34" charset="0"/>
                <a:ea typeface="Inter" pitchFamily="34" charset="-122"/>
                <a:cs typeface="Inter" pitchFamily="34" charset="-120"/>
              </a:rPr>
              <a:t>203 mm kalibrli tizimlar (masalan, "Pion") qayta tiklanmoqda va yangilanmoqda</a:t>
            </a:r>
            <a:endParaRPr lang="en-US" sz="1450" dirty="0"/>
          </a:p>
        </p:txBody>
      </p:sp>
      <p:pic>
        <p:nvPicPr>
          <p:cNvPr id="10" name="Image 3" descr="preencoded.png"/>
          <p:cNvPicPr>
            <a:picLocks noChangeAspect="1"/>
          </p:cNvPicPr>
          <p:nvPr/>
        </p:nvPicPr>
        <p:blipFill>
          <a:blip r:embed="rId6"/>
          <a:stretch>
            <a:fillRect/>
          </a:stretch>
        </p:blipFill>
        <p:spPr>
          <a:xfrm>
            <a:off x="793790" y="4656296"/>
            <a:ext cx="942737" cy="1131213"/>
          </a:xfrm>
          <a:prstGeom prst="rect">
            <a:avLst/>
          </a:prstGeom>
        </p:spPr>
      </p:pic>
      <p:sp>
        <p:nvSpPr>
          <p:cNvPr id="11" name="Text 5"/>
          <p:cNvSpPr/>
          <p:nvPr/>
        </p:nvSpPr>
        <p:spPr>
          <a:xfrm>
            <a:off x="1915597" y="4844772"/>
            <a:ext cx="2356842" cy="294680"/>
          </a:xfrm>
          <a:prstGeom prst="rect">
            <a:avLst/>
          </a:prstGeom>
          <a:noFill/>
          <a:ln/>
        </p:spPr>
        <p:txBody>
          <a:bodyPr wrap="none" lIns="0" tIns="0" rIns="0" bIns="0" rtlCol="0" anchor="t"/>
          <a:lstStyle/>
          <a:p>
            <a:pPr marL="0" indent="0" algn="l">
              <a:lnSpc>
                <a:spcPts val="2300"/>
              </a:lnSpc>
              <a:buNone/>
            </a:pPr>
            <a:r>
              <a:rPr lang="en-US" sz="1850" dirty="0">
                <a:solidFill>
                  <a:srgbClr val="C7CDD6"/>
                </a:solidFill>
                <a:latin typeface="Instrument Sans Medium" pitchFamily="34" charset="0"/>
                <a:ea typeface="Instrument Sans Medium" pitchFamily="34" charset="-122"/>
                <a:cs typeface="Instrument Sans Medium" pitchFamily="34" charset="-120"/>
              </a:rPr>
              <a:t>Integratsiya</a:t>
            </a:r>
            <a:endParaRPr lang="en-US" sz="1850" dirty="0"/>
          </a:p>
        </p:txBody>
      </p:sp>
      <p:sp>
        <p:nvSpPr>
          <p:cNvPr id="12" name="Text 6"/>
          <p:cNvSpPr/>
          <p:nvPr/>
        </p:nvSpPr>
        <p:spPr>
          <a:xfrm>
            <a:off x="1915597" y="5246846"/>
            <a:ext cx="6434614" cy="294203"/>
          </a:xfrm>
          <a:prstGeom prst="rect">
            <a:avLst/>
          </a:prstGeom>
          <a:noFill/>
          <a:ln/>
        </p:spPr>
        <p:txBody>
          <a:bodyPr wrap="none" lIns="0" tIns="0" rIns="0" bIns="0" rtlCol="0" anchor="t"/>
          <a:lstStyle/>
          <a:p>
            <a:pPr marL="0" indent="0" algn="l">
              <a:lnSpc>
                <a:spcPts val="2300"/>
              </a:lnSpc>
              <a:buNone/>
            </a:pPr>
            <a:r>
              <a:rPr lang="en-US" sz="1450" dirty="0">
                <a:solidFill>
                  <a:srgbClr val="C7CDD6"/>
                </a:solidFill>
                <a:latin typeface="Inter" pitchFamily="34" charset="0"/>
                <a:ea typeface="Inter" pitchFamily="34" charset="-122"/>
                <a:cs typeface="Inter" pitchFamily="34" charset="-120"/>
              </a:rPr>
              <a:t>Artileriya va dronlar integratsiyasi jangovar samaradorlikni oshirmoqda</a:t>
            </a:r>
            <a:endParaRPr lang="en-US" sz="1450" dirty="0"/>
          </a:p>
        </p:txBody>
      </p:sp>
      <p:sp>
        <p:nvSpPr>
          <p:cNvPr id="13" name="Text 7"/>
          <p:cNvSpPr/>
          <p:nvPr/>
        </p:nvSpPr>
        <p:spPr>
          <a:xfrm>
            <a:off x="793790" y="5988963"/>
            <a:ext cx="7556421" cy="1176814"/>
          </a:xfrm>
          <a:prstGeom prst="rect">
            <a:avLst/>
          </a:prstGeom>
          <a:noFill/>
          <a:ln/>
        </p:spPr>
        <p:txBody>
          <a:bodyPr wrap="square" lIns="0" tIns="0" rIns="0" bIns="0" rtlCol="0" anchor="t"/>
          <a:lstStyle/>
          <a:p>
            <a:pPr marL="0" indent="0" algn="l">
              <a:lnSpc>
                <a:spcPts val="2300"/>
              </a:lnSpc>
              <a:buNone/>
            </a:pPr>
            <a:r>
              <a:rPr lang="en-US" sz="1450" dirty="0">
                <a:solidFill>
                  <a:srgbClr val="C7CDD6"/>
                </a:solidFill>
                <a:latin typeface="Inter" pitchFamily="34" charset="0"/>
                <a:ea typeface="Inter" pitchFamily="34" charset="-122"/>
                <a:cs typeface="Inter" pitchFamily="34" charset="-120"/>
              </a:rPr>
              <a:t>Kelajakda artileriya tizimlari yanada aniqroq, tezroq va mobil bo'lishi kutilmoqda. Avtomatlashtirilgan tizimlar va sun'iy intellekt texnologiyalari jangovar muvaffaqiyatni oshiradi. 155 mm kalibr standart bo'lib qoladi, biroq uzoq masofali zarbalar uchun yangi texnologiyalar ishlab chiqilmoqda.</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458158"/>
            <a:ext cx="10560725" cy="620078"/>
          </a:xfrm>
          <a:prstGeom prst="rect">
            <a:avLst/>
          </a:prstGeom>
          <a:noFill/>
          <a:ln/>
        </p:spPr>
        <p:txBody>
          <a:bodyPr wrap="none" lIns="0" tIns="0" rIns="0" bIns="0" rtlCol="0" anchor="t"/>
          <a:lstStyle/>
          <a:p>
            <a:pPr marL="0" indent="0" algn="l">
              <a:lnSpc>
                <a:spcPts val="4850"/>
              </a:lnSpc>
              <a:buNone/>
            </a:pPr>
            <a:r>
              <a:rPr lang="en-US" sz="3900" dirty="0">
                <a:solidFill>
                  <a:srgbClr val="EFD5FA"/>
                </a:solidFill>
                <a:latin typeface="Instrument Sans Medium" pitchFamily="34" charset="0"/>
                <a:ea typeface="Instrument Sans Medium" pitchFamily="34" charset="-122"/>
                <a:cs typeface="Instrument Sans Medium" pitchFamily="34" charset="-120"/>
              </a:rPr>
              <a:t>Xulosa: Artileriya Ukrainaning Qalbi va Qudrati</a:t>
            </a:r>
            <a:endParaRPr lang="en-US" sz="3900" dirty="0"/>
          </a:p>
        </p:txBody>
      </p:sp>
      <p:sp>
        <p:nvSpPr>
          <p:cNvPr id="3" name="Shape 1"/>
          <p:cNvSpPr/>
          <p:nvPr/>
        </p:nvSpPr>
        <p:spPr>
          <a:xfrm>
            <a:off x="793790" y="2475071"/>
            <a:ext cx="6422231" cy="1461016"/>
          </a:xfrm>
          <a:prstGeom prst="roundRect">
            <a:avLst>
              <a:gd name="adj" fmla="val 2038"/>
            </a:avLst>
          </a:prstGeom>
          <a:solidFill>
            <a:srgbClr val="FDC4C4"/>
          </a:solidFill>
          <a:ln/>
        </p:spPr>
      </p:sp>
      <p:sp>
        <p:nvSpPr>
          <p:cNvPr id="4" name="Text 2"/>
          <p:cNvSpPr/>
          <p:nvPr/>
        </p:nvSpPr>
        <p:spPr>
          <a:xfrm>
            <a:off x="992148" y="2673429"/>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000000"/>
                </a:solidFill>
                <a:latin typeface="Instrument Sans Medium" pitchFamily="34" charset="0"/>
                <a:ea typeface="Instrument Sans Medium" pitchFamily="34" charset="-122"/>
                <a:cs typeface="Instrument Sans Medium" pitchFamily="34" charset="-120"/>
              </a:rPr>
              <a:t>Hal Qiluvchi Omil</a:t>
            </a:r>
            <a:endParaRPr lang="en-US" sz="1950" dirty="0"/>
          </a:p>
        </p:txBody>
      </p:sp>
      <p:sp>
        <p:nvSpPr>
          <p:cNvPr id="5" name="Text 3"/>
          <p:cNvSpPr/>
          <p:nvPr/>
        </p:nvSpPr>
        <p:spPr>
          <a:xfrm>
            <a:off x="992148" y="3102650"/>
            <a:ext cx="6025515" cy="63507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Inter" pitchFamily="34" charset="0"/>
                <a:ea typeface="Inter" pitchFamily="34" charset="-122"/>
                <a:cs typeface="Inter" pitchFamily="34" charset="-120"/>
              </a:rPr>
              <a:t>Artileriya urushning hal qiluvchi omiliga aylandi va jang maydoni strategiyasini to'liq o'zgartirdi</a:t>
            </a:r>
            <a:endParaRPr lang="en-US" sz="1550" dirty="0"/>
          </a:p>
        </p:txBody>
      </p:sp>
      <p:sp>
        <p:nvSpPr>
          <p:cNvPr id="6" name="Shape 4"/>
          <p:cNvSpPr/>
          <p:nvPr/>
        </p:nvSpPr>
        <p:spPr>
          <a:xfrm>
            <a:off x="7414379" y="2475071"/>
            <a:ext cx="6422231" cy="1461016"/>
          </a:xfrm>
          <a:prstGeom prst="roundRect">
            <a:avLst>
              <a:gd name="adj" fmla="val 2038"/>
            </a:avLst>
          </a:prstGeom>
          <a:solidFill>
            <a:srgbClr val="FDC4C4"/>
          </a:solidFill>
          <a:ln/>
        </p:spPr>
      </p:sp>
      <p:sp>
        <p:nvSpPr>
          <p:cNvPr id="7" name="Text 5"/>
          <p:cNvSpPr/>
          <p:nvPr/>
        </p:nvSpPr>
        <p:spPr>
          <a:xfrm>
            <a:off x="7612737" y="2673429"/>
            <a:ext cx="2509361" cy="310158"/>
          </a:xfrm>
          <a:prstGeom prst="rect">
            <a:avLst/>
          </a:prstGeom>
          <a:noFill/>
          <a:ln/>
        </p:spPr>
        <p:txBody>
          <a:bodyPr wrap="none" lIns="0" tIns="0" rIns="0" bIns="0" rtlCol="0" anchor="t"/>
          <a:lstStyle/>
          <a:p>
            <a:pPr marL="0" indent="0" algn="l">
              <a:lnSpc>
                <a:spcPts val="2400"/>
              </a:lnSpc>
              <a:buNone/>
            </a:pPr>
            <a:r>
              <a:rPr lang="en-US" sz="1950" dirty="0">
                <a:solidFill>
                  <a:srgbClr val="000000"/>
                </a:solidFill>
                <a:latin typeface="Instrument Sans Medium" pitchFamily="34" charset="0"/>
                <a:ea typeface="Instrument Sans Medium" pitchFamily="34" charset="-122"/>
                <a:cs typeface="Instrument Sans Medium" pitchFamily="34" charset="-120"/>
              </a:rPr>
              <a:t>Texnologik Yangiliklar</a:t>
            </a:r>
            <a:endParaRPr lang="en-US" sz="1950" dirty="0"/>
          </a:p>
        </p:txBody>
      </p:sp>
      <p:sp>
        <p:nvSpPr>
          <p:cNvPr id="8" name="Text 6"/>
          <p:cNvSpPr/>
          <p:nvPr/>
        </p:nvSpPr>
        <p:spPr>
          <a:xfrm>
            <a:off x="7612737" y="3102650"/>
            <a:ext cx="6025515" cy="63507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Inter" pitchFamily="34" charset="0"/>
                <a:ea typeface="Inter" pitchFamily="34" charset="-122"/>
                <a:cs typeface="Inter" pitchFamily="34" charset="-120"/>
              </a:rPr>
              <a:t>Texnologik yangiliklar va xalqaro yordam muvaffaqiyat kalitlari hisoblanadi</a:t>
            </a:r>
            <a:endParaRPr lang="en-US" sz="1550" dirty="0"/>
          </a:p>
        </p:txBody>
      </p:sp>
      <p:sp>
        <p:nvSpPr>
          <p:cNvPr id="9" name="Shape 7"/>
          <p:cNvSpPr/>
          <p:nvPr/>
        </p:nvSpPr>
        <p:spPr>
          <a:xfrm>
            <a:off x="793790" y="4134445"/>
            <a:ext cx="6422231" cy="1461016"/>
          </a:xfrm>
          <a:prstGeom prst="roundRect">
            <a:avLst>
              <a:gd name="adj" fmla="val 2038"/>
            </a:avLst>
          </a:prstGeom>
          <a:solidFill>
            <a:srgbClr val="FDC4C4"/>
          </a:solidFill>
          <a:ln/>
        </p:spPr>
      </p:sp>
      <p:sp>
        <p:nvSpPr>
          <p:cNvPr id="10" name="Text 8"/>
          <p:cNvSpPr/>
          <p:nvPr/>
        </p:nvSpPr>
        <p:spPr>
          <a:xfrm>
            <a:off x="992148" y="4332803"/>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000000"/>
                </a:solidFill>
                <a:latin typeface="Instrument Sans Medium" pitchFamily="34" charset="0"/>
                <a:ea typeface="Instrument Sans Medium" pitchFamily="34" charset="-122"/>
                <a:cs typeface="Instrument Sans Medium" pitchFamily="34" charset="-120"/>
              </a:rPr>
              <a:t>Barqaror Ta'minot</a:t>
            </a:r>
            <a:endParaRPr lang="en-US" sz="1950" dirty="0"/>
          </a:p>
        </p:txBody>
      </p:sp>
      <p:sp>
        <p:nvSpPr>
          <p:cNvPr id="11" name="Text 9"/>
          <p:cNvSpPr/>
          <p:nvPr/>
        </p:nvSpPr>
        <p:spPr>
          <a:xfrm>
            <a:off x="992148" y="4762024"/>
            <a:ext cx="6025515" cy="63507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Inter" pitchFamily="34" charset="0"/>
                <a:ea typeface="Inter" pitchFamily="34" charset="-122"/>
                <a:cs typeface="Inter" pitchFamily="34" charset="-120"/>
              </a:rPr>
              <a:t>Barqaror qurol va o'q-dorilar ta'minoti kelajakdagi g'alabaning kafolati</a:t>
            </a:r>
            <a:endParaRPr lang="en-US" sz="1550" dirty="0"/>
          </a:p>
        </p:txBody>
      </p:sp>
      <p:sp>
        <p:nvSpPr>
          <p:cNvPr id="12" name="Shape 10"/>
          <p:cNvSpPr/>
          <p:nvPr/>
        </p:nvSpPr>
        <p:spPr>
          <a:xfrm>
            <a:off x="7414379" y="4134445"/>
            <a:ext cx="6422231" cy="1461016"/>
          </a:xfrm>
          <a:prstGeom prst="roundRect">
            <a:avLst>
              <a:gd name="adj" fmla="val 2038"/>
            </a:avLst>
          </a:prstGeom>
          <a:solidFill>
            <a:srgbClr val="FDC4C4"/>
          </a:solidFill>
          <a:ln/>
        </p:spPr>
      </p:sp>
      <p:sp>
        <p:nvSpPr>
          <p:cNvPr id="13" name="Text 11"/>
          <p:cNvSpPr/>
          <p:nvPr/>
        </p:nvSpPr>
        <p:spPr>
          <a:xfrm>
            <a:off x="7612737" y="4332803"/>
            <a:ext cx="2492573" cy="310158"/>
          </a:xfrm>
          <a:prstGeom prst="rect">
            <a:avLst/>
          </a:prstGeom>
          <a:noFill/>
          <a:ln/>
        </p:spPr>
        <p:txBody>
          <a:bodyPr wrap="none" lIns="0" tIns="0" rIns="0" bIns="0" rtlCol="0" anchor="t"/>
          <a:lstStyle/>
          <a:p>
            <a:pPr marL="0" indent="0" algn="l">
              <a:lnSpc>
                <a:spcPts val="2400"/>
              </a:lnSpc>
              <a:buNone/>
            </a:pPr>
            <a:r>
              <a:rPr lang="en-US" sz="1950" dirty="0">
                <a:solidFill>
                  <a:srgbClr val="000000"/>
                </a:solidFill>
                <a:latin typeface="Instrument Sans Medium" pitchFamily="34" charset="0"/>
                <a:ea typeface="Instrument Sans Medium" pitchFamily="34" charset="-122"/>
                <a:cs typeface="Instrument Sans Medium" pitchFamily="34" charset="-120"/>
              </a:rPr>
              <a:t>Jasorat va Innovatsiya</a:t>
            </a:r>
            <a:endParaRPr lang="en-US" sz="1950" dirty="0"/>
          </a:p>
        </p:txBody>
      </p:sp>
      <p:sp>
        <p:nvSpPr>
          <p:cNvPr id="14" name="Text 12"/>
          <p:cNvSpPr/>
          <p:nvPr/>
        </p:nvSpPr>
        <p:spPr>
          <a:xfrm>
            <a:off x="7612737" y="4762024"/>
            <a:ext cx="6025515" cy="63507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Inter" pitchFamily="34" charset="0"/>
                <a:ea typeface="Inter" pitchFamily="34" charset="-122"/>
                <a:cs typeface="Inter" pitchFamily="34" charset="-120"/>
              </a:rPr>
              <a:t>Ukrainalik artileristlarning jasorati va innovatsiyalari urush tarixida yangi sahifa ochmoqda</a:t>
            </a:r>
            <a:endParaRPr lang="en-US" sz="1550" dirty="0"/>
          </a:p>
        </p:txBody>
      </p:sp>
      <p:sp>
        <p:nvSpPr>
          <p:cNvPr id="15" name="Text 13"/>
          <p:cNvSpPr/>
          <p:nvPr/>
        </p:nvSpPr>
        <p:spPr>
          <a:xfrm>
            <a:off x="793790" y="5818703"/>
            <a:ext cx="13042821" cy="952619"/>
          </a:xfrm>
          <a:prstGeom prst="rect">
            <a:avLst/>
          </a:prstGeom>
          <a:noFill/>
          <a:ln/>
        </p:spPr>
        <p:txBody>
          <a:bodyPr wrap="square" lIns="0" tIns="0" rIns="0" bIns="0" rtlCol="0" anchor="t"/>
          <a:lstStyle/>
          <a:p>
            <a:pPr marL="0" indent="0" algn="l">
              <a:lnSpc>
                <a:spcPts val="2500"/>
              </a:lnSpc>
              <a:buNone/>
            </a:pPr>
            <a:r>
              <a:rPr lang="en-US" sz="1550" dirty="0">
                <a:solidFill>
                  <a:srgbClr val="C7CDD6"/>
                </a:solidFill>
                <a:latin typeface="Inter" pitchFamily="34" charset="0"/>
                <a:ea typeface="Inter" pitchFamily="34" charset="-122"/>
                <a:cs typeface="Inter" pitchFamily="34" charset="-120"/>
              </a:rPr>
              <a:t>Ukrainadagi qurolli nizolarda artileriya tizimlari nafaqat urushning hal qiluvchi omilini, balki zamonaviy urush san'atining namoyondorini ham ifodalamoqda. Texnologik innovatsiyalar, xalqaro hamjamiyatning yordami va Ukrainalik artileristlarning jasorati birgalikda g'alaba tomon yo'l ko'rsatadi.</a:t>
            </a:r>
            <a:endParaRPr lang="en-US" sz="1550" dirty="0"/>
          </a:p>
        </p:txBody>
      </p:sp>
    </p:spTree>
  </p:cSld>
  <p:clrMapOvr>
    <a:masterClrMapping/>
  </p:clrMapOvr>
</p:sld>
</file>

<file path=ppt/theme/theme1.xml><?xml version="1.0" encoding="utf-8"?>
<a:theme xmlns:a="http://schemas.openxmlformats.org/drawingml/2006/main" name="Office Theme">
  <a:themeElements>
    <a:clrScheme name="Зеленый и желтый">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Тема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Тема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TotalTime>
  <Words>721</Words>
  <Application>Microsoft Office PowerPoint</Application>
  <PresentationFormat>Произвольный</PresentationFormat>
  <Paragraphs>87</Paragraphs>
  <Slides>10</Slides>
  <Notes>10</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10</vt:i4>
      </vt:variant>
    </vt:vector>
  </HeadingPairs>
  <TitlesOfParts>
    <vt:vector size="16" baseType="lpstr">
      <vt:lpstr>Calibri</vt:lpstr>
      <vt:lpstr>Instrument Sans Medium</vt:lpstr>
      <vt:lpstr>Arial</vt:lpstr>
      <vt:lpstr>Calibri Light</vt:lpstr>
      <vt:lpstr>Inter</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subject/>
  <dc:creator/>
  <cp:lastModifiedBy>itclub</cp:lastModifiedBy>
  <cp:revision>4</cp:revision>
  <dcterms:created xsi:type="dcterms:W3CDTF">2026-03-02T19:00:06Z</dcterms:created>
  <dcterms:modified xsi:type="dcterms:W3CDTF">2026-03-02T19:04:16Z</dcterms:modified>
</cp:coreProperties>
</file>