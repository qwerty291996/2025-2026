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8" r:id="rId3"/>
    <p:sldId id="259" r:id="rId4"/>
    <p:sldId id="269" r:id="rId5"/>
    <p:sldId id="260" r:id="rId6"/>
    <p:sldId id="261" r:id="rId7"/>
    <p:sldId id="262" r:id="rId8"/>
    <p:sldId id="270" r:id="rId9"/>
    <p:sldId id="263" r:id="rId10"/>
    <p:sldId id="264" r:id="rId11"/>
    <p:sldId id="26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04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68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34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25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84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42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07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43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75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18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70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97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67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7591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575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38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40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8ECED-7678-40B6-8F79-84E7471E71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8DD65A-BE09-4459-9ADC-B283B989F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3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35A4-CDD8-5500-A132-79CA95A2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746" y="31302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sq-AL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Qo‘shinlar maxsus harakatlarida qo‘llab-quvvatlovchi aviatsiya bo‘linmalarini jangovar harakatlarini tashkillashtirish</a:t>
            </a:r>
            <a:br>
              <a:rPr lang="sq-AL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endParaRPr lang="ru-RU" dirty="0"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062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05000" r="-10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F5A3B-DAC1-2289-09D5-FE51A79BC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8B062-4034-5769-8BF4-F66CE2D4C868}"/>
              </a:ext>
            </a:extLst>
          </p:cNvPr>
          <p:cNvSpPr txBox="1"/>
          <p:nvPr/>
        </p:nvSpPr>
        <p:spPr>
          <a:xfrm>
            <a:off x="3578087" y="1570383"/>
            <a:ext cx="5665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3 – </a:t>
            </a:r>
            <a:r>
              <a:rPr lang="en-US" sz="4800" b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qismdan</a:t>
            </a:r>
            <a:r>
              <a:rPr lang="en-US" sz="48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iborat</a:t>
            </a:r>
            <a:endParaRPr lang="ru-RU" sz="4800" b="1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099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102CA-3920-A7CA-9FC6-3E2E6F1413A7}"/>
              </a:ext>
            </a:extLst>
          </p:cNvPr>
          <p:cNvSpPr txBox="1"/>
          <p:nvPr/>
        </p:nvSpPr>
        <p:spPr>
          <a:xfrm>
            <a:off x="377686" y="546652"/>
            <a:ext cx="99093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q-AL" sz="32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MAXSUS HARAKATLARDA AVIATSIYA QO‘LLAB-QUVVATLASHINING KONSEPTUAL ASOSLARI</a:t>
            </a:r>
          </a:p>
          <a:p>
            <a:pPr>
              <a:buNone/>
            </a:pPr>
            <a:r>
              <a:rPr lang="sq-AL" sz="32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1. Umumiy tushuncha</a:t>
            </a:r>
          </a:p>
          <a:p>
            <a:pPr>
              <a:buNone/>
            </a:pPr>
            <a:r>
              <a:rPr lang="sq-AL" sz="32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Maxsus harakatlarda aviatsiya qo‘llab-quvvatlashi – bu maxsus bo‘linmalar faoliyatini havo orqali razvedka, zarba berish, transport, evakuatsiya va aloqa bilan ta’minlash jarayonidir. U jangovar operatsiyaning samaradorligini oshiradi, xavfsizlikni ta’minlaydi hamda tezkorlikni kafolatlaydi.</a:t>
            </a:r>
          </a:p>
          <a:p>
            <a:pPr>
              <a:buNone/>
            </a:pPr>
            <a:r>
              <a:rPr lang="sq-AL" sz="32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Aviatsiya komponenti zamonaviy operatsiyalarda strategik va taktik ustunlikni ta’minlovchi asosiy omillardan biri hisoblanadi.</a:t>
            </a:r>
          </a:p>
        </p:txBody>
      </p:sp>
    </p:spTree>
    <p:extLst>
      <p:ext uri="{BB962C8B-B14F-4D97-AF65-F5344CB8AC3E}">
        <p14:creationId xmlns:p14="http://schemas.microsoft.com/office/powerpoint/2010/main" val="342210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40F3-5798-2C13-1814-00CEB59A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8755CA-003A-D428-C782-FC593B4E6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1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FE0B1A-627E-ADF2-F2B6-9F05BFF7F4BB}"/>
              </a:ext>
            </a:extLst>
          </p:cNvPr>
          <p:cNvSpPr txBox="1"/>
          <p:nvPr/>
        </p:nvSpPr>
        <p:spPr>
          <a:xfrm>
            <a:off x="993913" y="1228397"/>
            <a:ext cx="90147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q-AL" sz="28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2. Aviatsiya qo‘llab-quvvatlashining asosiy yo‘nalishlari</a:t>
            </a:r>
            <a:endParaRPr lang="en-US" sz="2800" b="1" dirty="0"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>
              <a:buNone/>
            </a:pPr>
            <a:endParaRPr lang="sq-AL" sz="2800" b="1" dirty="0"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>
              <a:buNone/>
            </a:pPr>
            <a:r>
              <a:rPr lang="sq-AL" sz="28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2.1. Razvedka (ISR – Intelligence, Surveillance, Reconnaissance)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sz="28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Dushman kuchlari va joylashuvini aniqlash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sz="28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Real vaqt rejimida kuzatuv olib borish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sz="28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Nishonlarni aniqlashtirish va koordinatalarni uzatish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sz="28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Operativ vaziyatni monitoring qilish</a:t>
            </a:r>
          </a:p>
          <a:p>
            <a:pPr>
              <a:buNone/>
            </a:pPr>
            <a:r>
              <a:rPr lang="sq-AL" sz="28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Razvedka ma’lumotlari maxsus guruhlarning aniq va xavfsiz harakatlanishini ta’minlaydi.</a:t>
            </a:r>
          </a:p>
        </p:txBody>
      </p:sp>
    </p:spTree>
    <p:extLst>
      <p:ext uri="{BB962C8B-B14F-4D97-AF65-F5344CB8AC3E}">
        <p14:creationId xmlns:p14="http://schemas.microsoft.com/office/powerpoint/2010/main" val="155580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5A33-DFEE-6481-31A4-4920E9BD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09092-CE5A-05D6-FFA8-075C4E95F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344293" cy="69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4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87B61-5303-B56B-AD33-DE9DB125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16EFD-99BC-9B4B-8B4F-0B7B9A7FBF87}"/>
              </a:ext>
            </a:extLst>
          </p:cNvPr>
          <p:cNvSpPr txBox="1"/>
          <p:nvPr/>
        </p:nvSpPr>
        <p:spPr>
          <a:xfrm>
            <a:off x="368943" y="324404"/>
            <a:ext cx="7514863" cy="2862322"/>
          </a:xfrm>
          <a:prstGeom prst="rect">
            <a:avLst/>
          </a:prstGeom>
          <a:solidFill>
            <a:srgbClr val="E6E6E6"/>
          </a:solidFill>
          <a:ln>
            <a:solidFill>
              <a:schemeClr val="tx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sq-AL" b="1" dirty="0"/>
              <a:t>1. Havo orqali razvedka (ISR - Intelligence, Surveillance, Reconnaissance)</a:t>
            </a:r>
          </a:p>
          <a:p>
            <a:pPr>
              <a:buNone/>
            </a:pPr>
            <a:r>
              <a:rPr lang="sq-AL" dirty="0"/>
              <a:t>Rasmning chap yuqori qismida dushmanni masofadan kuzatish jarayoni aks etgan.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/>
              <a:t>Mavzuga bog‘liqligi:</a:t>
            </a:r>
            <a:r>
              <a:rPr lang="sq-AL" dirty="0"/>
              <a:t> Maxsus bo‘linmalar harakatlanishidan oldin aviatsiya (ko‘pincha dushman ko‘ziga ko‘rinmaydigan balandlikdagi dronlar) hududni to‘liq o‘rganadi.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/>
              <a:t>Vazifasi:</a:t>
            </a:r>
            <a:r>
              <a:rPr lang="sq-AL" dirty="0"/>
              <a:t> Dushmanning o‘t ochish nuqtalarini, sonini va harakatlanish yo‘nalishini aniqlab, ma’lumotlarni real vaqt rejimida yerdagi qo‘mondonlik markaziga uzatish.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E92AE-5B76-189D-7E7A-CD46092FF8B8}"/>
              </a:ext>
            </a:extLst>
          </p:cNvPr>
          <p:cNvSpPr txBox="1"/>
          <p:nvPr/>
        </p:nvSpPr>
        <p:spPr>
          <a:xfrm>
            <a:off x="3854370" y="3789402"/>
            <a:ext cx="8058872" cy="2585323"/>
          </a:xfrm>
          <a:prstGeom prst="rect">
            <a:avLst/>
          </a:prstGeom>
          <a:solidFill>
            <a:srgbClr val="E6E6E6"/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sq-AL" b="1" dirty="0"/>
              <a:t>2. Yong‘in bilan qo‘llab-quvvatlash (CAS - Close Air Support)</a:t>
            </a:r>
          </a:p>
          <a:p>
            <a:pPr>
              <a:buNone/>
            </a:pPr>
            <a:r>
              <a:rPr lang="sq-AL" dirty="0"/>
              <a:t>O‘ng yuqori qismda hujumkor aviatsiyaning (masalan, A-10 Thunderbolt II yoki zarbdor vertolyotlar) bevosita nishonlarga zarba berishi ko‘rsatilgan.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/>
              <a:t>Mavzuga bog‘liqligi:</a:t>
            </a:r>
            <a:r>
              <a:rPr lang="sq-AL" dirty="0"/>
              <a:t> Agar maxsus bo‘linma dushman pistirmasiga tushib qolsa yoki istehkomni yorib o‘tishi kerak bo‘lsa, aviatsiya yuqori aniqlikdagi raketalar bilan dushmanni yo‘q qiladi.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/>
              <a:t>Taktik jihati:</a:t>
            </a:r>
            <a:r>
              <a:rPr lang="sq-AL" dirty="0"/>
              <a:t> Bu jarayonda rasm markazidagi </a:t>
            </a:r>
            <a:r>
              <a:rPr lang="sq-AL" b="1" dirty="0"/>
              <a:t>aloqa tizimi</a:t>
            </a:r>
            <a:r>
              <a:rPr lang="sq-AL" dirty="0"/>
              <a:t> muhim rol o‘ynaydi; askar lazer orqali nishonni ko‘rsatadi, uchuvchi esa aynan o‘sha nuqtaga zarba beradi.</a:t>
            </a:r>
          </a:p>
        </p:txBody>
      </p:sp>
    </p:spTree>
    <p:extLst>
      <p:ext uri="{BB962C8B-B14F-4D97-AF65-F5344CB8AC3E}">
        <p14:creationId xmlns:p14="http://schemas.microsoft.com/office/powerpoint/2010/main" val="378638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99731F-499F-884E-7855-19D705E49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0A53-D5FF-2034-7C4E-70E025D3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033C8-6077-8FCF-E58D-098AA231D18C}"/>
              </a:ext>
            </a:extLst>
          </p:cNvPr>
          <p:cNvSpPr txBox="1"/>
          <p:nvPr/>
        </p:nvSpPr>
        <p:spPr>
          <a:xfrm>
            <a:off x="4153864" y="562197"/>
            <a:ext cx="7514863" cy="2308324"/>
          </a:xfrm>
          <a:prstGeom prst="rect">
            <a:avLst/>
          </a:prstGeom>
          <a:solidFill>
            <a:srgbClr val="E6E6E6"/>
          </a:solidFill>
          <a:ln>
            <a:solidFill>
              <a:schemeClr val="tx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sq-AL" b="1" dirty="0"/>
              <a:t>3. Infiltratsiya va Ekzfiltratsiya (Infiltration &amp; Exfiltration)</a:t>
            </a:r>
          </a:p>
          <a:p>
            <a:r>
              <a:rPr lang="sq-AL" dirty="0"/>
              <a:t>Chap pastki qismda "Osprey" (V-22) tipidagi transport vositalaridan askarlarning tushishi yoki chiqishi tasvirlangan.</a:t>
            </a:r>
          </a:p>
          <a:p>
            <a:r>
              <a:rPr lang="sq-AL" b="1" dirty="0"/>
              <a:t>Mavzuga bog‘liqligi:</a:t>
            </a:r>
            <a:r>
              <a:rPr lang="sq-AL" dirty="0"/>
              <a:t> Maxsus harakatlarning eng qiyin bosqichi — dushman hududiga yashirin kirish va vazifa bajarilgach, u yerdan tezkor chiqib ketishdir.</a:t>
            </a:r>
          </a:p>
          <a:p>
            <a:r>
              <a:rPr lang="sq-AL" b="1" dirty="0"/>
              <a:t>Xususiyati:</a:t>
            </a:r>
            <a:r>
              <a:rPr lang="sq-AL" dirty="0"/>
              <a:t> Vertikal ko‘tarilish xususiyatiga ega aviatsiya har qanday murakkab relefda (tog‘lar, o‘rmonlar) qo‘nish imkonini beradi.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7AC21-9D4E-538D-F234-83C8630A9EA7}"/>
              </a:ext>
            </a:extLst>
          </p:cNvPr>
          <p:cNvSpPr txBox="1"/>
          <p:nvPr/>
        </p:nvSpPr>
        <p:spPr>
          <a:xfrm>
            <a:off x="821803" y="3987479"/>
            <a:ext cx="8058872" cy="2031325"/>
          </a:xfrm>
          <a:prstGeom prst="rect">
            <a:avLst/>
          </a:prstGeom>
          <a:solidFill>
            <a:srgbClr val="E6E6E6"/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sq-AL" b="1" dirty="0"/>
              <a:t>4. Logistika va Ta’minot (Logistics &amp; Resupply)</a:t>
            </a:r>
          </a:p>
          <a:p>
            <a:r>
              <a:rPr lang="sq-AL" dirty="0"/>
              <a:t>O‘ng pastki qismda yuk samolyotlaridan parashyut orqali o‘q-dorilar va oziq-ovqat tashlanishi aks etgan.</a:t>
            </a:r>
          </a:p>
          <a:p>
            <a:r>
              <a:rPr lang="sq-AL" b="1" dirty="0"/>
              <a:t>Mavzuga bog‘liqligi:</a:t>
            </a:r>
            <a:r>
              <a:rPr lang="sq-AL" dirty="0"/>
              <a:t> Maxsus bo‘linmalar dushman orqasida uzoq vaqt (bir necha kun yoki hafta) qolib ketganda, ularning resurslari tugaydi.</a:t>
            </a:r>
          </a:p>
          <a:p>
            <a:r>
              <a:rPr lang="sq-AL" b="1" dirty="0"/>
              <a:t>Ahamiyati:</a:t>
            </a:r>
            <a:r>
              <a:rPr lang="sq-AL" dirty="0"/>
              <a:t> Havo orqali ta’minot — bu bo‘linmaning jangovar qobiliyatini saqlab qolish va operatsiyani davom ettirishning yagona yo‘li.</a:t>
            </a:r>
          </a:p>
        </p:txBody>
      </p:sp>
    </p:spTree>
    <p:extLst>
      <p:ext uri="{BB962C8B-B14F-4D97-AF65-F5344CB8AC3E}">
        <p14:creationId xmlns:p14="http://schemas.microsoft.com/office/powerpoint/2010/main" val="244009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2C73E-4DB0-90F3-99BE-3B775AF6F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606ACF-CDC4-F209-925F-6D8534D7FB48}"/>
              </a:ext>
            </a:extLst>
          </p:cNvPr>
          <p:cNvSpPr txBox="1"/>
          <p:nvPr/>
        </p:nvSpPr>
        <p:spPr>
          <a:xfrm>
            <a:off x="315410" y="546920"/>
            <a:ext cx="6186668" cy="2031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Tezkorlik (Operativlik)</a:t>
            </a:r>
          </a:p>
          <a:p>
            <a:pPr>
              <a:buNone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Havo transportining eng muhim ustunligi – qisqa vaqt ichida katta masofani bosib o‘tish imkoniyati.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Kuchlarni tezkor joylashtirish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Favqulodda vaziyatlarga zudlik bilan javob berish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Operatsion hududni tez egallash</a:t>
            </a:r>
          </a:p>
          <a:p>
            <a:pPr>
              <a:buNone/>
            </a:pPr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Tezkorlik operatsiyaning muvaffaqiyat omilidir.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8A0CA-956B-A1C8-BB89-5978D2DF542A}"/>
              </a:ext>
            </a:extLst>
          </p:cNvPr>
          <p:cNvSpPr txBox="1"/>
          <p:nvPr/>
        </p:nvSpPr>
        <p:spPr>
          <a:xfrm>
            <a:off x="3408744" y="3809129"/>
            <a:ext cx="8516071" cy="175432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Harakatchanlik (Mobilitet)</a:t>
            </a:r>
          </a:p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Havo-desant kuchlari geografik to‘siqlardan mustaqil harakatlana oladi.</a:t>
            </a:r>
          </a:p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Tog‘li, cho‘l yoki infratuzilmasi rivojlanmagan hududlarga yetib borish</a:t>
            </a:r>
          </a:p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Dushman orqa qismiga kirib borish</a:t>
            </a:r>
          </a:p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Strategik obyektlarni tez egallash</a:t>
            </a:r>
          </a:p>
          <a:p>
            <a:r>
              <a:rPr lang="sq-A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Mobilitet kuchlarning kutilmagan joyda paydo bo‘lishini ta’minlaydi.</a:t>
            </a:r>
          </a:p>
        </p:txBody>
      </p:sp>
    </p:spTree>
    <p:extLst>
      <p:ext uri="{BB962C8B-B14F-4D97-AF65-F5344CB8AC3E}">
        <p14:creationId xmlns:p14="http://schemas.microsoft.com/office/powerpoint/2010/main" val="330811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8998-207E-7BD7-37E6-5381F9BC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DBC4C-2484-6713-F2D3-A10768C53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2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02837D-A750-1B7E-A17F-7B49F683EF5B}"/>
              </a:ext>
            </a:extLst>
          </p:cNvPr>
          <p:cNvSpPr txBox="1"/>
          <p:nvPr/>
        </p:nvSpPr>
        <p:spPr>
          <a:xfrm>
            <a:off x="1716426" y="408848"/>
            <a:ext cx="8759142" cy="2031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Yashirinlik va kutilmaganlik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Desant operatsiyalari ko‘pincha dushman uchun kutilmagan tarzda amalga oshiriladi.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Tungi operatsiyalar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Past balandlikda uchish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Radar va kuzatuv tizimlaridan chetlab o‘tish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Kutilmaganlik dushman qarshiligini susaytiradi.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EBF86-EF08-C6B8-6522-3FEC5BF11DFF}"/>
              </a:ext>
            </a:extLst>
          </p:cNvPr>
          <p:cNvSpPr txBox="1"/>
          <p:nvPr/>
        </p:nvSpPr>
        <p:spPr>
          <a:xfrm>
            <a:off x="1302634" y="3125165"/>
            <a:ext cx="9586729" cy="230832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Muvofiqlashtirilgan boshqaruv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Havo transporti va desant operatsiyalari yer usti, havo va razvedka kuchlari bilan uzviy bog‘liq bo‘ladi.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Yagona boshqaruv markazi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 vaqt rejimida aloqa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Koordinatalarning aniq uzatilishi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Aviatsiya va yer kuchlari o‘rtasida o‘zaro hamkorlik</a:t>
            </a:r>
          </a:p>
          <a:p>
            <a:r>
              <a:rPr lang="sq-AL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Muvofiqlashtirish xatolarni kamaytiradi va samaradorlikni oshiradi.</a:t>
            </a:r>
          </a:p>
        </p:txBody>
      </p:sp>
    </p:spTree>
    <p:extLst>
      <p:ext uri="{BB962C8B-B14F-4D97-AF65-F5344CB8AC3E}">
        <p14:creationId xmlns:p14="http://schemas.microsoft.com/office/powerpoint/2010/main" val="57872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BE9EE9-3EF9-0767-9590-E5B2965B3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7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372FFE-BF31-5A9E-3146-7CFA7B12D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69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6EF026-B9E1-2A9D-6634-3A03FC9D0865}"/>
              </a:ext>
            </a:extLst>
          </p:cNvPr>
          <p:cNvSpPr txBox="1"/>
          <p:nvPr/>
        </p:nvSpPr>
        <p:spPr>
          <a:xfrm>
            <a:off x="823731" y="833292"/>
            <a:ext cx="1054453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sq-AL" sz="36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Xulosa</a:t>
            </a:r>
            <a:endParaRPr lang="sq-AL" sz="2400" b="1" dirty="0"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>
              <a:buNone/>
            </a:pPr>
            <a:r>
              <a:rPr lang="sq-AL" sz="24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Maxsus harakatlarda aviatsiya qo‘llab-quvvatlashi zamonaviy operatsiyalarning samaradorligini oshiruvchi, strategik va taktik ahamiyatga ega bo‘lgan muhim komponentdir. U razvedka, zarba berish, transport va havo-desant orqali maxsus bo‘linmalarning tezkor, aniqlik bilan va xavfsiz harakatlanishini ta’minlaydi.</a:t>
            </a:r>
          </a:p>
          <a:p>
            <a:pPr>
              <a:buNone/>
            </a:pPr>
            <a:r>
              <a:rPr lang="sq-AL" sz="24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Aviatsiya qo‘llab-quvvatlashining konseptual asoslari quyidagi tamoyillarga tayanadi: tezkorlik, aniqlik, muvofiqlashtirish, moslashuvchanlik va xavfsizlik. Shu tamoyillar operatsiyaning muvaffaqiyatini belgilovchi asosiy omillar sifatida xizmat qiladi.</a:t>
            </a:r>
          </a:p>
          <a:p>
            <a:pPr>
              <a:buNone/>
            </a:pPr>
            <a:r>
              <a:rPr lang="sq-AL" sz="2400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Zamonaviy texnologiyalar — uchuvchisiz apparatlar, sun’iy yo‘ldosh navigatsiyasi, raqamli boshqaruv tizimlari va yuqori aniqlikdagi qurollar — aviatsiya qo‘llab-quvvatlashini yanada samarali qiladi. Shu bilan birga, yer usti va havo kuchlari o‘rtasidagi integratsiyalashgan boshqaruv tizimi operatsiyaning yagona va muvofiqlashtirilgan tarzda amalga oshishini kafolatlaydi.</a:t>
            </a:r>
          </a:p>
        </p:txBody>
      </p:sp>
    </p:spTree>
    <p:extLst>
      <p:ext uri="{BB962C8B-B14F-4D97-AF65-F5344CB8AC3E}">
        <p14:creationId xmlns:p14="http://schemas.microsoft.com/office/powerpoint/2010/main" val="39836279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801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Amiri</vt:lpstr>
      <vt:lpstr>Arial</vt:lpstr>
      <vt:lpstr>Trebuchet MS</vt:lpstr>
      <vt:lpstr>Wingdings 3</vt:lpstr>
      <vt:lpstr>Facet</vt:lpstr>
      <vt:lpstr>Qo‘shinlar maxsus harakatlarida qo‘llab-quvvatlovchi aviatsiya bo‘linmalarini jangovar harakatlarini tashkillashtirish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Nad1rxan</dc:creator>
  <cp:lastModifiedBy>Nad1rxan</cp:lastModifiedBy>
  <cp:revision>1</cp:revision>
  <dcterms:created xsi:type="dcterms:W3CDTF">2026-03-02T19:31:38Z</dcterms:created>
  <dcterms:modified xsi:type="dcterms:W3CDTF">2026-03-02T20:13:33Z</dcterms:modified>
</cp:coreProperties>
</file>