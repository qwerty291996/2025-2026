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2" r:id="rId2"/>
    <p:sldId id="321" r:id="rId3"/>
    <p:sldId id="258" r:id="rId4"/>
    <p:sldId id="261" r:id="rId5"/>
    <p:sldId id="262" r:id="rId6"/>
    <p:sldId id="320" r:id="rId7"/>
    <p:sldId id="257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16-PC" initials="2" lastIdx="1" clrIdx="0">
    <p:extLst>
      <p:ext uri="{19B8F6BF-5375-455C-9EA6-DF929625EA0E}">
        <p15:presenceInfo xmlns:p15="http://schemas.microsoft.com/office/powerpoint/2012/main" userId="216-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100" d="100"/>
          <a:sy n="100" d="100"/>
        </p:scale>
        <p:origin x="99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DA149-5A32-4C9B-A6AE-2F9470200196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8DC79-D8CC-4191-BF68-7BFF269E29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78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9DC4F-A5D6-7634-7C7B-AF444B5DC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F5F083-796B-73C1-FAC7-B7001DF76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4CD36-19DB-6281-FB76-764F55EC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8EBF6A-C4E2-2AFF-E596-C78E88A0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3618FB-4899-7481-50FD-6423D595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704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74527-9DBE-2CE2-FCA3-FBB0CDA6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CD1F4-6B75-8AB7-11D2-5702DA3E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FF39E7-3429-13D9-FA26-35356798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87D0FD-54CF-E191-B0E6-FA7DEF73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0FE94-9224-45C9-773A-8CE57599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1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D3BF5-C4D3-BA76-E6E9-E1E389A9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096A1D-A091-D454-B13B-10FB2B6AB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2336B0-D127-71B1-C6CE-1B293FEC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3B5289-818C-8B3B-E5FD-0C875FC3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B4611A-D4D3-262F-0EFF-3EAA7AE5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980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C064D-D9DB-BE60-096A-F351A793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3FCA8-01C0-9320-F53B-79358FED3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98F91A-20E1-AC96-3A41-3D6CFEF12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CE8EBB-582E-E7B8-1D21-7473E017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E20F3F-29F9-781A-FDA8-E38F5F91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FED2D4-DECB-70EA-DDA6-D452D690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621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20C00-72AF-1596-C6BC-21571646A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849334-8237-E1E1-85E9-867132A0C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5698FD-5459-94A8-8BEA-44976805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232E9B-5907-EC17-B9E8-8B51A811D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05B07D-18A2-6731-E22E-32E880695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84B8D2-8C76-CC2A-E7AE-3A115E27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89AE5A-658F-9790-BEA9-53F47C2E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6A21B9-EF56-8A7F-079B-2173D519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941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6D3CF-51A0-C74B-5B87-B024C07B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856686-A4CB-63AA-6B53-8D62CAC1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B98750-5685-010A-9AAC-1C04A26B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3A2785-571C-C7B9-3730-B414585B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708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D7478C-F980-4DC6-46C1-52C053E43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1B3BFDD-8978-B3CC-EE56-FF6DC77E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41E0EC-71F2-87F7-7331-CE15E1CC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95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09A03-5737-F9A5-E58F-D8D0918D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CE2626-BA99-F5BD-604A-2898D322D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DC3AF1-3681-C0DE-BCB9-692F2C181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FAF31E-E9B0-8B96-D6C3-4C371D1E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24C1B3-C2DD-ECE1-E4ED-521DFD8C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ABE6CB-018B-CF42-57AF-409406CB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3211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49A57-F28E-34B2-5151-DBC73ABE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3658FF-9130-DD4C-5D0D-638F57674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57B528-CCF6-19DF-FD7D-CCC26C36C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F1CF4E-7D53-B49A-52C9-0B173CEC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24CBC8-0371-9FD2-8F01-5255E1081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C1D2D8-97E3-28F4-3EA9-4DDAB12B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491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AA648F-6CF6-F4CF-E7A1-97844764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BD7870-6CF1-8499-4F08-9876DDFE2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D3978D-0698-216E-92F0-85517D30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115237-0485-58C4-15B5-C640A178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B1A3F2-EBE4-A076-5FE8-27CFA0D5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335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6A004B-77A6-C451-7CE1-5D290C020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D32153-0FDE-56A8-D892-BD0366955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3C31A-C608-8899-7228-88EC2B66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3F7EE-1E7C-4D15-2477-E179F75F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2D79E8-42A6-C80C-9A72-B823ADA0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5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D4FFF-7F0E-6EB5-67F6-453A1A0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18EFA6-4870-C6D0-5EDB-CFB8F0200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E6C0B7-35AD-B93F-007C-B757BC6DB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2071F-F932-455D-8C10-EF0E3A75620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826ACE-0164-B298-EF04-5C17AAFE0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C664B-EF89-85BA-5FB8-96D20FB27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9E35A-2872-4FA9-B155-F4BBF0790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92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2.png"/><Relationship Id="rId18" Type="http://schemas.microsoft.com/office/2007/relationships/hdphoto" Target="../media/hdphoto4.wdp"/><Relationship Id="rId3" Type="http://schemas.openxmlformats.org/officeDocument/2006/relationships/image" Target="../media/image5.jpg"/><Relationship Id="rId7" Type="http://schemas.openxmlformats.org/officeDocument/2006/relationships/image" Target="../media/image7.jpeg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6" Type="http://schemas.microsoft.com/office/2007/relationships/hdphoto" Target="../media/hdphoto3.wdp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microsoft.com/office/2007/relationships/hdphoto" Target="../media/hdphoto1.wdp"/><Relationship Id="rId5" Type="http://schemas.openxmlformats.org/officeDocument/2006/relationships/image" Target="../media/image4.emf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jpe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microsoft.com/office/2007/relationships/hdphoto" Target="../media/hdphoto8.wdp"/><Relationship Id="rId18" Type="http://schemas.microsoft.com/office/2007/relationships/hdphoto" Target="../media/hdphoto9.wdp"/><Relationship Id="rId3" Type="http://schemas.openxmlformats.org/officeDocument/2006/relationships/oleObject" Target="../embeddings/oleObject2.bin"/><Relationship Id="rId21" Type="http://schemas.openxmlformats.org/officeDocument/2006/relationships/image" Target="../media/image25.PNG"/><Relationship Id="rId7" Type="http://schemas.microsoft.com/office/2007/relationships/hdphoto" Target="../media/hdphoto5.wdp"/><Relationship Id="rId12" Type="http://schemas.openxmlformats.org/officeDocument/2006/relationships/image" Target="../media/image20.pn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png"/><Relationship Id="rId20" Type="http://schemas.openxmlformats.org/officeDocument/2006/relationships/image" Target="../media/image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png"/><Relationship Id="rId11" Type="http://schemas.microsoft.com/office/2007/relationships/hdphoto" Target="../media/hdphoto7.wdp"/><Relationship Id="rId5" Type="http://schemas.openxmlformats.org/officeDocument/2006/relationships/image" Target="../media/image16.png"/><Relationship Id="rId15" Type="http://schemas.openxmlformats.org/officeDocument/2006/relationships/image" Target="../media/image22.png"/><Relationship Id="rId10" Type="http://schemas.openxmlformats.org/officeDocument/2006/relationships/image" Target="../media/image19.png"/><Relationship Id="rId19" Type="http://schemas.openxmlformats.org/officeDocument/2006/relationships/oleObject" Target="../embeddings/oleObject3.bin"/><Relationship Id="rId4" Type="http://schemas.openxmlformats.org/officeDocument/2006/relationships/image" Target="../media/image15.emf"/><Relationship Id="rId9" Type="http://schemas.microsoft.com/office/2007/relationships/hdphoto" Target="../media/hdphoto6.wdp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emf"/><Relationship Id="rId18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microsoft.com/office/2007/relationships/hdphoto" Target="../media/hdphoto10.wdp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35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4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png"/><Relationship Id="rId11" Type="http://schemas.openxmlformats.org/officeDocument/2006/relationships/image" Target="../media/image31.jpeg"/><Relationship Id="rId5" Type="http://schemas.openxmlformats.org/officeDocument/2006/relationships/image" Target="../media/image4.emf"/><Relationship Id="rId15" Type="http://schemas.openxmlformats.org/officeDocument/2006/relationships/image" Target="../media/image33.png"/><Relationship Id="rId10" Type="http://schemas.microsoft.com/office/2007/relationships/hdphoto" Target="../media/hdphoto11.wdp"/><Relationship Id="rId4" Type="http://schemas.openxmlformats.org/officeDocument/2006/relationships/oleObject" Target="../embeddings/oleObject3.bin"/><Relationship Id="rId9" Type="http://schemas.openxmlformats.org/officeDocument/2006/relationships/image" Target="../media/image30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r="11188"/>
          <a:stretch/>
        </p:blipFill>
        <p:spPr>
          <a:xfrm>
            <a:off x="0" y="-17097"/>
            <a:ext cx="12195349" cy="6875097"/>
          </a:xfrm>
          <a:prstGeom prst="rect">
            <a:avLst/>
          </a:prstGeom>
        </p:spPr>
      </p:pic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1364046" y="193364"/>
            <a:ext cx="9463909" cy="1178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843" tIns="60923" rIns="121843" bIns="60923" numCol="1" anchor="ctr" anchorCtr="0" compatLnSpc="1">
            <a:prstTxWarp prst="textNoShape">
              <a:avLst/>
            </a:prstTxWarp>
            <a:noAutofit/>
          </a:bodyPr>
          <a:lstStyle>
            <a:lvl1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2pPr>
            <a:lvl3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3pPr>
            <a:lvl4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4pPr>
            <a:lvl5pPr algn="ctr" defTabSz="1279372" rtl="0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2"/>
                </a:solidFill>
                <a:latin typeface="Arial" charset="0"/>
              </a:defRPr>
            </a:lvl5pPr>
            <a:lvl6pPr marL="457145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6pPr>
            <a:lvl7pPr marL="914290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7pPr>
            <a:lvl8pPr marL="1371436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8pPr>
            <a:lvl9pPr marL="1828581" algn="ctr" defTabSz="1474612" rtl="0" fontAlgn="base">
              <a:spcBef>
                <a:spcPct val="0"/>
              </a:spcBef>
              <a:spcAft>
                <a:spcPct val="0"/>
              </a:spcAft>
              <a:defRPr sz="71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O‘ZBEKISTON RESPUBLIK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HARBIY XAVFSIZLIK VA MUDOFAA UNIVERSITETINING 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XBOROT-KOMMUNIK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TSIYA TEXNOLOGIYAL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 V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RBIY 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LOQ</a:t>
            </a:r>
            <a:r>
              <a:rPr lang="uz-Cyrl-UZ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</a:t>
            </a:r>
            <a:r>
              <a:rPr lang="en-US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</a:t>
            </a:r>
            <a:endParaRPr lang="ru-RU" sz="20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3" y="21974"/>
            <a:ext cx="1028571" cy="102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386" y="21973"/>
            <a:ext cx="1028571" cy="10113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46463E-D3F6-4DDD-9877-3B95F15EC262}"/>
              </a:ext>
            </a:extLst>
          </p:cNvPr>
          <p:cNvSpPr txBox="1"/>
          <p:nvPr/>
        </p:nvSpPr>
        <p:spPr>
          <a:xfrm>
            <a:off x="1364045" y="2329823"/>
            <a:ext cx="94639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8249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Ta’lim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jarayonini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transformatsiya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qilish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bo‘yicha</a:t>
            </a:r>
            <a:r>
              <a:rPr lang="en-US" sz="4400" b="1" dirty="0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n w="0"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takliflar</a:t>
            </a:r>
            <a:endParaRPr lang="ru-RU" sz="4400" b="1" dirty="0">
              <a:ln w="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CCF083-5889-423C-BEB0-1556FF5625F1}"/>
              </a:ext>
            </a:extLst>
          </p:cNvPr>
          <p:cNvSpPr/>
          <p:nvPr/>
        </p:nvSpPr>
        <p:spPr>
          <a:xfrm>
            <a:off x="4827323" y="6316462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38" y="4810083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defPPr>
              <a:defRPr lang="LID4096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O‘R HX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MU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Axborot-kommunik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tsiya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rbiy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loq</a:t>
            </a:r>
            <a:r>
              <a:rPr lang="ru-RU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instituti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67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DSc, professor,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podpolkovnik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Raximov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B.N.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211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E1C866-DCF2-43D4-8BB4-69C49E67A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0310"/>
            <a:ext cx="12192000" cy="5746750"/>
          </a:xfrm>
          <a:prstGeom prst="rect">
            <a:avLst/>
          </a:prstGeom>
        </p:spPr>
      </p:pic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731088C-8B5B-41EB-87F4-2F73D1EAEB03}"/>
              </a:ext>
            </a:extLst>
          </p:cNvPr>
          <p:cNvSpPr/>
          <p:nvPr/>
        </p:nvSpPr>
        <p:spPr>
          <a:xfrm>
            <a:off x="4176" y="-25052"/>
            <a:ext cx="11482191" cy="1265129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389588 w 11226321"/>
              <a:gd name="connsiteY2" fmla="*/ 920517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389588" y="920517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87F587D-528A-4CDE-BD5D-AE1801BD053C}"/>
              </a:ext>
            </a:extLst>
          </p:cNvPr>
          <p:cNvSpPr/>
          <p:nvPr/>
        </p:nvSpPr>
        <p:spPr>
          <a:xfrm>
            <a:off x="12526" y="-22052"/>
            <a:ext cx="11226321" cy="1052566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499811" y="911399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98389399-8F99-4427-A4A9-13EE1DED3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47197" y="102213"/>
          <a:ext cx="897243" cy="90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CorelDRAW" r:id="rId4" imgW="3514698" imgH="2904127" progId="CorelDraw.Graphic.23">
                  <p:embed/>
                </p:oleObj>
              </mc:Choice>
              <mc:Fallback>
                <p:oleObj name="CorelDRAW" r:id="rId4" imgW="3514698" imgH="2904127" progId="CorelDraw.Graphic.23">
                  <p:embed/>
                  <p:pic>
                    <p:nvPicPr>
                      <p:cNvPr id="30" name="Объект 29">
                        <a:extLst>
                          <a:ext uri="{FF2B5EF4-FFF2-40B4-BE49-F238E27FC236}">
                            <a16:creationId xmlns:a16="http://schemas.microsoft.com/office/drawing/2014/main" id="{98389399-8F99-4427-A4A9-13EE1DED3E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47197" y="102213"/>
                        <a:ext cx="897243" cy="907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D95855A7-E9FC-44F5-AB8C-66B6F2F9E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271" y="10881"/>
            <a:ext cx="9459893" cy="945465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 HARBIY XAVFSIZLIK VA MUDOFAA UNIVERSITETINING AXBOROT KOMMUNIKATSIYA TEXNOLOGIYALARI VA HARBIY ALOQA INSTITUTI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89F3CD5-B2EC-40F0-9C1C-8B144EFE39A1}"/>
              </a:ext>
            </a:extLst>
          </p:cNvPr>
          <p:cNvSpPr/>
          <p:nvPr/>
        </p:nvSpPr>
        <p:spPr>
          <a:xfrm>
            <a:off x="0" y="1260310"/>
            <a:ext cx="12192000" cy="574675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12" name="Picture 16" descr="Symbols of Inha University in Tashkent — Inha University in ...">
            <a:extLst>
              <a:ext uri="{FF2B5EF4-FFF2-40B4-BE49-F238E27FC236}">
                <a16:creationId xmlns:a16="http://schemas.microsoft.com/office/drawing/2014/main" id="{01EF1195-6DDF-42E2-92B2-9A8077247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96" y="1846612"/>
            <a:ext cx="1313914" cy="120588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1" name="Picture 25" descr="Flags, Symbols, &amp; Currencies of South Korea - World Atlas">
            <a:extLst>
              <a:ext uri="{FF2B5EF4-FFF2-40B4-BE49-F238E27FC236}">
                <a16:creationId xmlns:a16="http://schemas.microsoft.com/office/drawing/2014/main" id="{0D68649A-A851-423B-97B6-91B9F347C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307" y="1976951"/>
            <a:ext cx="1416279" cy="94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3" name="Picture 27" descr="Technopark - Turin Polytechnic University in Tashkent">
            <a:extLst>
              <a:ext uri="{FF2B5EF4-FFF2-40B4-BE49-F238E27FC236}">
                <a16:creationId xmlns:a16="http://schemas.microsoft.com/office/drawing/2014/main" id="{7504709D-20AC-4D67-BB34-E3D3F7B4A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278" y="1741431"/>
            <a:ext cx="1311068" cy="131106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5" name="Picture 29" descr="Flags, Symbols, &amp; Currencies of Italy - World Atlas">
            <a:extLst>
              <a:ext uri="{FF2B5EF4-FFF2-40B4-BE49-F238E27FC236}">
                <a16:creationId xmlns:a16="http://schemas.microsoft.com/office/drawing/2014/main" id="{142BE93E-5367-4113-BB5D-C48414F87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645" y="1924380"/>
            <a:ext cx="1529770" cy="101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Рисунок 4096">
            <a:extLst>
              <a:ext uri="{FF2B5EF4-FFF2-40B4-BE49-F238E27FC236}">
                <a16:creationId xmlns:a16="http://schemas.microsoft.com/office/drawing/2014/main" id="{C0156E65-DF37-48BB-950F-B95978D55B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379" b="96746" l="1500" r="96750">
                        <a14:foregroundMark x1="29750" y1="10638" x2="8375" y2="37547"/>
                        <a14:foregroundMark x1="8375" y1="37547" x2="10500" y2="70088"/>
                        <a14:foregroundMark x1="10500" y1="70088" x2="35750" y2="91364"/>
                        <a14:foregroundMark x1="35750" y1="91364" x2="74125" y2="91865"/>
                        <a14:foregroundMark x1="74125" y1="91865" x2="85500" y2="61452"/>
                        <a14:foregroundMark x1="85500" y1="61452" x2="83625" y2="26783"/>
                        <a14:foregroundMark x1="83625" y1="26783" x2="49125" y2="6758"/>
                        <a14:foregroundMark x1="64125" y1="8385" x2="30375" y2="8636"/>
                        <a14:foregroundMark x1="30375" y1="8636" x2="23250" y2="12390"/>
                        <a14:foregroundMark x1="53000" y1="4881" x2="19125" y2="11890"/>
                        <a14:foregroundMark x1="19125" y1="11890" x2="18750" y2="12390"/>
                        <a14:foregroundMark x1="30875" y1="8761" x2="9250" y2="27034"/>
                        <a14:foregroundMark x1="22250" y1="15019" x2="4625" y2="53066"/>
                        <a14:foregroundMark x1="10750" y1="28536" x2="4250" y2="52691"/>
                        <a14:foregroundMark x1="7750" y1="30914" x2="7750" y2="30914"/>
                        <a14:foregroundMark x1="5375" y1="38048" x2="5375" y2="38048"/>
                        <a14:foregroundMark x1="4875" y1="43429" x2="4875" y2="43429"/>
                        <a14:foregroundMark x1="7875" y1="33041" x2="7875" y2="33041"/>
                        <a14:foregroundMark x1="7375" y1="31289" x2="2250" y2="42553"/>
                        <a14:foregroundMark x1="5125" y1="39925" x2="1500" y2="52941"/>
                        <a14:foregroundMark x1="5500" y1="50188" x2="5625" y2="66458"/>
                        <a14:foregroundMark x1="7875" y1="59199" x2="13375" y2="71715"/>
                        <a14:foregroundMark x1="12250" y1="69212" x2="18000" y2="81477"/>
                        <a14:foregroundMark x1="15250" y1="76846" x2="20500" y2="83354"/>
                        <a14:foregroundMark x1="10125" y1="71715" x2="12625" y2="75970"/>
                        <a14:foregroundMark x1="10125" y1="73217" x2="15750" y2="79850"/>
                        <a14:foregroundMark x1="15625" y1="78348" x2="25875" y2="89111"/>
                        <a14:foregroundMark x1="22750" y1="86233" x2="35375" y2="92365"/>
                        <a14:foregroundMark x1="15625" y1="83980" x2="42875" y2="92240"/>
                        <a14:foregroundMark x1="37375" y1="92491" x2="52500" y2="96746"/>
                        <a14:foregroundMark x1="30250" y1="93367" x2="38500" y2="94743"/>
                        <a14:foregroundMark x1="53500" y1="95745" x2="68250" y2="93617"/>
                        <a14:foregroundMark x1="76500" y1="87484" x2="90000" y2="77597"/>
                        <a14:foregroundMark x1="91250" y1="68210" x2="87250" y2="73342"/>
                        <a14:foregroundMark x1="91625" y1="66083" x2="89750" y2="77096"/>
                        <a14:foregroundMark x1="91750" y1="48310" x2="92750" y2="64330"/>
                        <a14:foregroundMark x1="92625" y1="39549" x2="94250" y2="57196"/>
                        <a14:foregroundMark x1="96250" y1="44180" x2="96750" y2="53317"/>
                        <a14:foregroundMark x1="90875" y1="33041" x2="89000" y2="20651"/>
                        <a14:foregroundMark x1="94000" y1="35795" x2="77750" y2="18398"/>
                        <a14:foregroundMark x1="83375" y1="18273" x2="67375" y2="8385"/>
                        <a14:foregroundMark x1="66000" y1="8385" x2="40625" y2="3379"/>
                        <a14:foregroundMark x1="45875" y1="3880" x2="29375" y2="8886"/>
                        <a14:foregroundMark x1="32375" y1="10013" x2="15750" y2="19775"/>
                        <a14:foregroundMark x1="10375" y1="38673" x2="7250" y2="49687"/>
                        <a14:foregroundMark x1="7000" y1="51690" x2="7000" y2="54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443" y="1862764"/>
            <a:ext cx="1210601" cy="1209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9" name="Рисунок 4098">
            <a:extLst>
              <a:ext uri="{FF2B5EF4-FFF2-40B4-BE49-F238E27FC236}">
                <a16:creationId xmlns:a16="http://schemas.microsoft.com/office/drawing/2014/main" id="{0614D195-2D9A-439B-ABA3-44C692729ED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32518"/>
          <a:stretch/>
        </p:blipFill>
        <p:spPr>
          <a:xfrm>
            <a:off x="6107564" y="1910044"/>
            <a:ext cx="1496169" cy="1108565"/>
          </a:xfrm>
          <a:prstGeom prst="rect">
            <a:avLst/>
          </a:prstGeom>
        </p:spPr>
      </p:pic>
      <p:sp>
        <p:nvSpPr>
          <p:cNvPr id="112" name="Google Shape;514;p22">
            <a:extLst>
              <a:ext uri="{FF2B5EF4-FFF2-40B4-BE49-F238E27FC236}">
                <a16:creationId xmlns:a16="http://schemas.microsoft.com/office/drawing/2014/main" id="{207AB89D-06EB-44FA-8708-77C612ADF9DF}"/>
              </a:ext>
            </a:extLst>
          </p:cNvPr>
          <p:cNvSpPr txBox="1">
            <a:spLocks/>
          </p:cNvSpPr>
          <p:nvPr/>
        </p:nvSpPr>
        <p:spPr>
          <a:xfrm>
            <a:off x="417321" y="1295225"/>
            <a:ext cx="11482190" cy="49005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bg1"/>
                </a:solidFill>
              </a:rPr>
              <a:t>Chet el </a:t>
            </a:r>
            <a:r>
              <a:rPr lang="en-US" sz="3200" dirty="0" err="1">
                <a:solidFill>
                  <a:schemeClr val="bg1"/>
                </a:solidFill>
              </a:rPr>
              <a:t>OTMlari</a:t>
            </a:r>
            <a:r>
              <a:rPr lang="en-US" sz="3200" dirty="0">
                <a:solidFill>
                  <a:schemeClr val="bg1"/>
                </a:solidFill>
              </a:rPr>
              <a:t> AT </a:t>
            </a:r>
            <a:r>
              <a:rPr lang="en-US" sz="3200" dirty="0" err="1">
                <a:solidFill>
                  <a:schemeClr val="bg1"/>
                </a:solidFill>
              </a:rPr>
              <a:t>sohasida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o’qitiladigan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fanlar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131" name="Picture 35" descr="Logo Programming language png images | PNGEgg">
            <a:extLst>
              <a:ext uri="{FF2B5EF4-FFF2-40B4-BE49-F238E27FC236}">
                <a16:creationId xmlns:a16="http://schemas.microsoft.com/office/drawing/2014/main" id="{144BF86F-6D1E-4138-ACBD-29479C638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759" b="92241" l="9483" r="89943">
                        <a14:foregroundMark x1="45977" y1="14080" x2="22414" y2="31034"/>
                        <a14:foregroundMark x1="22414" y1="31034" x2="15517" y2="45690"/>
                        <a14:foregroundMark x1="15517" y1="45690" x2="15230" y2="61207"/>
                        <a14:foregroundMark x1="15230" y1="61207" x2="25287" y2="74138"/>
                        <a14:foregroundMark x1="25287" y1="74138" x2="55747" y2="80460"/>
                        <a14:foregroundMark x1="55747" y1="80460" x2="72126" y2="78161"/>
                        <a14:foregroundMark x1="72126" y1="78161" x2="83621" y2="65805"/>
                        <a14:foregroundMark x1="83621" y1="65805" x2="85920" y2="51437"/>
                        <a14:foregroundMark x1="85920" y1="51437" x2="83621" y2="37069"/>
                        <a14:foregroundMark x1="83621" y1="37069" x2="72989" y2="23851"/>
                        <a14:foregroundMark x1="72989" y1="23851" x2="57184" y2="19828"/>
                        <a14:foregroundMark x1="57184" y1="19828" x2="41954" y2="22126"/>
                        <a14:foregroundMark x1="41954" y1="22126" x2="40805" y2="48563"/>
                        <a14:foregroundMark x1="40805" y1="48563" x2="46264" y2="63793"/>
                        <a14:foregroundMark x1="46264" y1="63793" x2="64368" y2="56034"/>
                        <a14:foregroundMark x1="64368" y1="56034" x2="70402" y2="40805"/>
                        <a14:foregroundMark x1="70402" y1="40805" x2="55747" y2="27586"/>
                        <a14:foregroundMark x1="55747" y1="27586" x2="36207" y2="31034"/>
                        <a14:foregroundMark x1="36207" y1="31034" x2="31609" y2="46839"/>
                        <a14:foregroundMark x1="31609" y1="46839" x2="42816" y2="60057"/>
                        <a14:foregroundMark x1="42816" y1="60057" x2="58908" y2="53448"/>
                        <a14:foregroundMark x1="58908" y1="53448" x2="59770" y2="27586"/>
                        <a14:foregroundMark x1="25000" y1="38218" x2="25000" y2="38218"/>
                        <a14:foregroundMark x1="27011" y1="53161" x2="27011" y2="53161"/>
                        <a14:foregroundMark x1="35345" y1="21552" x2="28448" y2="58046"/>
                        <a14:foregroundMark x1="23851" y1="29598" x2="23563" y2="62356"/>
                        <a14:foregroundMark x1="30747" y1="29023" x2="22989" y2="58908"/>
                        <a14:foregroundMark x1="21839" y1="29310" x2="19828" y2="52874"/>
                        <a14:foregroundMark x1="19828" y1="52874" x2="25862" y2="64080"/>
                        <a14:foregroundMark x1="48563" y1="7759" x2="48563" y2="7759"/>
                        <a14:foregroundMark x1="59195" y1="25287" x2="59195" y2="25287"/>
                        <a14:foregroundMark x1="66954" y1="31034" x2="66954" y2="31034"/>
                        <a14:foregroundMark x1="70115" y1="31897" x2="58046" y2="27586"/>
                        <a14:foregroundMark x1="83046" y1="44253" x2="79310" y2="58908"/>
                        <a14:foregroundMark x1="26724" y1="56322" x2="51724" y2="75575"/>
                        <a14:foregroundMark x1="77586" y1="56609" x2="52011" y2="77874"/>
                        <a14:foregroundMark x1="58046" y1="54310" x2="53448" y2="78161"/>
                        <a14:foregroundMark x1="57471" y1="54885" x2="56034" y2="54885"/>
                        <a14:foregroundMark x1="47126" y1="58621" x2="47126" y2="58621"/>
                        <a14:foregroundMark x1="74425" y1="76437" x2="74425" y2="76437"/>
                        <a14:foregroundMark x1="71552" y1="68103" x2="52874" y2="80172"/>
                        <a14:foregroundMark x1="38218" y1="69828" x2="27299" y2="79598"/>
                        <a14:foregroundMark x1="27299" y1="79598" x2="27299" y2="79310"/>
                        <a14:foregroundMark x1="49425" y1="92241" x2="49425" y2="92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67727" y="-1929329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5" name="Picture 39" descr="104,700+ Telecom Logo Stock Illustrations, Royalty-Free Vector Graphics &amp;  Clip Art - iStock">
            <a:extLst>
              <a:ext uri="{FF2B5EF4-FFF2-40B4-BE49-F238E27FC236}">
                <a16:creationId xmlns:a16="http://schemas.microsoft.com/office/drawing/2014/main" id="{DC87E85A-F8B7-4ED8-9A82-77458B244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706" l="8497" r="90850">
                        <a14:foregroundMark x1="50000" y1="19935" x2="50000" y2="19935"/>
                        <a14:foregroundMark x1="48203" y1="19608" x2="46895" y2="19771"/>
                        <a14:foregroundMark x1="47386" y1="26144" x2="42810" y2="27614"/>
                        <a14:foregroundMark x1="47766" y1="31046" x2="45261" y2="31699"/>
                        <a14:foregroundMark x1="49020" y1="30719" x2="47766" y2="31046"/>
                        <a14:foregroundMark x1="49346" y1="42320" x2="48203" y2="47386"/>
                        <a14:foregroundMark x1="43627" y1="86601" x2="49510" y2="85458"/>
                        <a14:foregroundMark x1="64706" y1="86275" x2="65850" y2="86275"/>
                        <a14:foregroundMark x1="35621" y1="86601" x2="33497" y2="86601"/>
                        <a14:foregroundMark x1="12255" y1="82190" x2="11275" y2="82190"/>
                        <a14:foregroundMark x1="9150" y1="82516" x2="8660" y2="82680"/>
                        <a14:foregroundMark x1="86601" y1="83007" x2="88562" y2="82516"/>
                        <a14:foregroundMark x1="90850" y1="82190" x2="90850" y2="82190"/>
                        <a14:foregroundMark x1="87745" y1="31699" x2="87745" y2="30719"/>
                        <a14:foregroundMark x1="71732" y1="48693" x2="72386" y2="47712"/>
                        <a14:foregroundMark x1="42647" y1="10294" x2="42157" y2="11601"/>
                        <a14:foregroundMark x1="26961" y1="18627" x2="25980" y2="20915"/>
                        <a14:foregroundMark x1="22059" y1="37255" x2="22059" y2="37255"/>
                        <a14:backgroundMark x1="14379" y1="16503" x2="11275" y2="20098"/>
                        <a14:backgroundMark x1="10621" y1="15523" x2="12255" y2="20588"/>
                        <a14:backgroundMark x1="45588" y1="31536" x2="45588" y2="31536"/>
                        <a14:backgroundMark x1="44935" y1="31699" x2="44935" y2="31699"/>
                        <a14:backgroundMark x1="45588" y1="31046" x2="45588" y2="31046"/>
                        <a14:backgroundMark x1="45752" y1="31209" x2="45752" y2="312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41533" y="-2135076"/>
            <a:ext cx="1292432" cy="129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8" name="Picture 42" descr="Shell script Command-line interface Unix, linux, text, logo, computer  Wallpaper png | PNGWing">
            <a:extLst>
              <a:ext uri="{FF2B5EF4-FFF2-40B4-BE49-F238E27FC236}">
                <a16:creationId xmlns:a16="http://schemas.microsoft.com/office/drawing/2014/main" id="{81772356-7017-4134-A11F-AB5AE80EA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943" b="89675" l="6630" r="90000">
                        <a14:foregroundMark x1="33261" y1="38815" x2="33261" y2="49331"/>
                        <a14:foregroundMark x1="51304" y1="39197" x2="50870" y2="53346"/>
                        <a14:foregroundMark x1="69674" y1="39197" x2="69565" y2="52772"/>
                        <a14:foregroundMark x1="84457" y1="40918" x2="80652" y2="49140"/>
                        <a14:foregroundMark x1="9891" y1="60994" x2="9891" y2="60994"/>
                        <a14:foregroundMark x1="21196" y1="63098" x2="21196" y2="63098"/>
                        <a14:foregroundMark x1="14891" y1="34799" x2="19565" y2="65966"/>
                        <a14:foregroundMark x1="15435" y1="48184" x2="12065" y2="62524"/>
                        <a14:foregroundMark x1="6630" y1="62141" x2="6630" y2="62141"/>
                        <a14:foregroundMark x1="43913" y1="39771" x2="43587" y2="52772"/>
                        <a14:foregroundMark x1="33587" y1="54493" x2="34783" y2="59273"/>
                        <a14:foregroundMark x1="51630" y1="37476" x2="55000" y2="42256"/>
                        <a14:foregroundMark x1="62935" y1="42256" x2="62065" y2="55258"/>
                        <a14:foregroundMark x1="78370" y1="40918" x2="82174" y2="47228"/>
                        <a14:foregroundMark x1="17717" y1="33652" x2="19239" y2="45889"/>
                        <a14:foregroundMark x1="21196" y1="50478" x2="21957" y2="55258"/>
                        <a14:foregroundMark x1="10761" y1="51052" x2="10761" y2="51052"/>
                        <a14:foregroundMark x1="79457" y1="54493" x2="79457" y2="54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20587" y="-1120266"/>
            <a:ext cx="2558108" cy="145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Прямоугольник 4099">
            <a:extLst>
              <a:ext uri="{FF2B5EF4-FFF2-40B4-BE49-F238E27FC236}">
                <a16:creationId xmlns:a16="http://schemas.microsoft.com/office/drawing/2014/main" id="{E2B1D7C0-726E-4F2B-939F-0DA41F295896}"/>
              </a:ext>
            </a:extLst>
          </p:cNvPr>
          <p:cNvSpPr/>
          <p:nvPr/>
        </p:nvSpPr>
        <p:spPr>
          <a:xfrm>
            <a:off x="518921" y="3113826"/>
            <a:ext cx="30974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arxitekturasi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Internet </a:t>
            </a:r>
            <a:r>
              <a:rPr lang="en-US" dirty="0" err="1"/>
              <a:t>dasturlash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Signallar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tizimlar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xavfsizligi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Mobil </a:t>
            </a:r>
            <a:r>
              <a:rPr lang="en-US" dirty="0" err="1"/>
              <a:t>dasturlash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Sun’iy</a:t>
            </a:r>
            <a:r>
              <a:rPr lang="en-US" dirty="0"/>
              <a:t> </a:t>
            </a:r>
            <a:r>
              <a:rPr lang="en-US" dirty="0" err="1"/>
              <a:t>intellekt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grafikasi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Dasturiy</a:t>
            </a:r>
            <a:r>
              <a:rPr lang="en-US" dirty="0"/>
              <a:t> </a:t>
            </a:r>
            <a:r>
              <a:rPr lang="en-US" dirty="0" err="1"/>
              <a:t>injiniring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Axborot</a:t>
            </a:r>
            <a:r>
              <a:rPr lang="en-US" dirty="0"/>
              <a:t> </a:t>
            </a:r>
            <a:r>
              <a:rPr lang="en-US" dirty="0" err="1"/>
              <a:t>tizimlari</a:t>
            </a:r>
            <a:r>
              <a:rPr lang="en-US" dirty="0"/>
              <a:t> </a:t>
            </a:r>
            <a:r>
              <a:rPr lang="en-US" dirty="0" err="1"/>
              <a:t>xavfsizligi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Dasturlash</a:t>
            </a:r>
            <a:r>
              <a:rPr lang="en-US" dirty="0"/>
              <a:t> </a:t>
            </a:r>
            <a:r>
              <a:rPr lang="en-US" dirty="0" err="1"/>
              <a:t>tillari</a:t>
            </a:r>
            <a:r>
              <a:rPr lang="en-US" dirty="0"/>
              <a:t> </a:t>
            </a:r>
            <a:r>
              <a:rPr lang="en-US" dirty="0" err="1"/>
              <a:t>nazariyasi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Katta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tahlili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ko‘rishi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chuqur</a:t>
            </a:r>
            <a:r>
              <a:rPr lang="en-US" dirty="0"/>
              <a:t> </a:t>
            </a:r>
            <a:r>
              <a:rPr lang="en-US" dirty="0" err="1"/>
              <a:t>o‘rganish</a:t>
            </a:r>
            <a:endParaRPr lang="en-US" dirty="0"/>
          </a:p>
        </p:txBody>
      </p:sp>
      <p:sp>
        <p:nvSpPr>
          <p:cNvPr id="4101" name="Rectangle 43">
            <a:extLst>
              <a:ext uri="{FF2B5EF4-FFF2-40B4-BE49-F238E27FC236}">
                <a16:creationId xmlns:a16="http://schemas.microsoft.com/office/drawing/2014/main" id="{CFB641EA-35BB-48F2-818D-2ED99FAE2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7208" y="3153800"/>
            <a:ext cx="357149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Kompyuter</a:t>
            </a:r>
            <a:r>
              <a:rPr lang="en-US" altLang="en-US" dirty="0"/>
              <a:t> </a:t>
            </a:r>
            <a:r>
              <a:rPr lang="en-US" altLang="en-US" dirty="0" err="1"/>
              <a:t>fanlari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Algoritmlar</a:t>
            </a:r>
            <a:r>
              <a:rPr lang="en-US" altLang="en-US" dirty="0"/>
              <a:t> </a:t>
            </a:r>
            <a:r>
              <a:rPr lang="en-US" altLang="en-US" dirty="0" err="1"/>
              <a:t>va</a:t>
            </a:r>
            <a:r>
              <a:rPr lang="en-US" altLang="en-US" dirty="0"/>
              <a:t> </a:t>
            </a:r>
            <a:r>
              <a:rPr lang="en-US" altLang="en-US" dirty="0" err="1"/>
              <a:t>dasturlash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Kompyuter</a:t>
            </a:r>
            <a:r>
              <a:rPr lang="en-US" altLang="en-US" dirty="0"/>
              <a:t> </a:t>
            </a:r>
            <a:r>
              <a:rPr lang="en-US" altLang="en-US" dirty="0" err="1"/>
              <a:t>arxitekturasi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Obyektga</a:t>
            </a:r>
            <a:r>
              <a:rPr lang="en-US" altLang="en-US" dirty="0"/>
              <a:t> </a:t>
            </a:r>
            <a:r>
              <a:rPr lang="en-US" altLang="en-US" dirty="0" err="1"/>
              <a:t>yo‘naltirilgan</a:t>
            </a:r>
            <a:r>
              <a:rPr lang="en-US" altLang="en-US" dirty="0"/>
              <a:t> </a:t>
            </a:r>
            <a:r>
              <a:rPr lang="en-US" altLang="en-US" dirty="0" err="1"/>
              <a:t>dasturlash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Ma’lumotlar</a:t>
            </a:r>
            <a:r>
              <a:rPr lang="en-US" altLang="en-US" dirty="0"/>
              <a:t> </a:t>
            </a:r>
            <a:r>
              <a:rPr lang="en-US" altLang="en-US" dirty="0" err="1"/>
              <a:t>bazasi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Kompyuter</a:t>
            </a:r>
            <a:r>
              <a:rPr lang="en-US" altLang="en-US" dirty="0"/>
              <a:t> </a:t>
            </a:r>
            <a:r>
              <a:rPr lang="en-US" altLang="en-US" dirty="0" err="1"/>
              <a:t>tarmoqlari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Operatsion</a:t>
            </a:r>
            <a:r>
              <a:rPr lang="en-US" altLang="en-US" dirty="0"/>
              <a:t> </a:t>
            </a:r>
            <a:r>
              <a:rPr lang="en-US" altLang="en-US" dirty="0" err="1"/>
              <a:t>tizimlar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Avtomatik</a:t>
            </a:r>
            <a:r>
              <a:rPr lang="en-US" altLang="en-US" dirty="0"/>
              <a:t> </a:t>
            </a:r>
            <a:r>
              <a:rPr lang="en-US" altLang="en-US" dirty="0" err="1"/>
              <a:t>boshqaruvlar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Signallarni</a:t>
            </a:r>
            <a:r>
              <a:rPr lang="en-US" altLang="en-US" dirty="0"/>
              <a:t> </a:t>
            </a:r>
            <a:r>
              <a:rPr lang="en-US" altLang="en-US" dirty="0" err="1"/>
              <a:t>tahlil</a:t>
            </a:r>
            <a:r>
              <a:rPr lang="en-US" altLang="en-US" dirty="0"/>
              <a:t> </a:t>
            </a:r>
            <a:r>
              <a:rPr lang="en-US" altLang="en-US" dirty="0" err="1"/>
              <a:t>qilish</a:t>
            </a:r>
            <a:r>
              <a:rPr lang="en-US" altLang="en-US" dirty="0"/>
              <a:t> </a:t>
            </a:r>
            <a:r>
              <a:rPr lang="en-US" altLang="en-US" dirty="0" err="1"/>
              <a:t>va</a:t>
            </a:r>
            <a:r>
              <a:rPr lang="en-US" altLang="en-US" dirty="0"/>
              <a:t> </a:t>
            </a:r>
            <a:r>
              <a:rPr lang="en-US" altLang="en-US" dirty="0" err="1"/>
              <a:t>qayta</a:t>
            </a:r>
            <a:r>
              <a:rPr lang="en-US" altLang="en-US" dirty="0"/>
              <a:t> </a:t>
            </a:r>
            <a:r>
              <a:rPr lang="en-US" altLang="en-US" dirty="0" err="1"/>
              <a:t>ishlash</a:t>
            </a:r>
            <a:endParaRPr lang="en-US" altLang="en-US" dirty="0"/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 err="1"/>
              <a:t>Elektron</a:t>
            </a:r>
            <a:r>
              <a:rPr lang="en-US" altLang="en-US" dirty="0"/>
              <a:t> </a:t>
            </a:r>
            <a:r>
              <a:rPr lang="en-US" altLang="en-US" dirty="0" err="1"/>
              <a:t>tizimlar</a:t>
            </a:r>
            <a:r>
              <a:rPr lang="en-US" altLang="en-US" dirty="0"/>
              <a:t> </a:t>
            </a:r>
            <a:r>
              <a:rPr lang="en-US" altLang="en-US" dirty="0" err="1"/>
              <a:t>va</a:t>
            </a:r>
            <a:r>
              <a:rPr lang="en-US" altLang="en-US" dirty="0"/>
              <a:t> </a:t>
            </a:r>
            <a:r>
              <a:rPr lang="en-US" altLang="en-US" dirty="0" err="1"/>
              <a:t>texnologiyalar</a:t>
            </a:r>
            <a:endParaRPr lang="en-US" altLang="en-US" dirty="0"/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59B59886-B1A1-4034-B2E2-39909612BF14}"/>
              </a:ext>
            </a:extLst>
          </p:cNvPr>
          <p:cNvSpPr/>
          <p:nvPr/>
        </p:nvSpPr>
        <p:spPr>
          <a:xfrm>
            <a:off x="4703064" y="3313587"/>
            <a:ext cx="309740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O’rnatilgan</a:t>
            </a:r>
            <a:r>
              <a:rPr lang="en-US" dirty="0"/>
              <a:t> </a:t>
            </a:r>
            <a:r>
              <a:rPr lang="en-US" dirty="0" err="1"/>
              <a:t>tizimlar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</a:t>
            </a:r>
            <a:r>
              <a:rPr lang="en-US" dirty="0" err="1"/>
              <a:t>dasturlash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en-US" dirty="0" err="1"/>
              <a:t>dasturlash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Tarmoq</a:t>
            </a:r>
            <a:r>
              <a:rPr lang="en-US" dirty="0"/>
              <a:t> </a:t>
            </a:r>
            <a:r>
              <a:rPr lang="en-US" dirty="0" err="1"/>
              <a:t>texnologiyalari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Sun’iy</a:t>
            </a:r>
            <a:r>
              <a:rPr lang="en-US" dirty="0"/>
              <a:t> </a:t>
            </a:r>
            <a:r>
              <a:rPr lang="en-US" dirty="0" err="1"/>
              <a:t>intellekt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Obyektga</a:t>
            </a:r>
            <a:r>
              <a:rPr lang="en-US" dirty="0"/>
              <a:t> </a:t>
            </a:r>
            <a:r>
              <a:rPr lang="en-US" dirty="0" err="1"/>
              <a:t>yo’naltirilgan</a:t>
            </a:r>
            <a:r>
              <a:rPr lang="en-US" dirty="0"/>
              <a:t> </a:t>
            </a:r>
            <a:r>
              <a:rPr lang="en-US" dirty="0" err="1"/>
              <a:t>dasturlash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Robototexnika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Uchuvchisiz</a:t>
            </a:r>
            <a:r>
              <a:rPr lang="en-US" dirty="0"/>
              <a:t> </a:t>
            </a:r>
            <a:r>
              <a:rPr lang="en-US" dirty="0" err="1"/>
              <a:t>uchish</a:t>
            </a:r>
            <a:r>
              <a:rPr lang="en-US" dirty="0"/>
              <a:t> </a:t>
            </a:r>
            <a:r>
              <a:rPr lang="en-US" dirty="0" err="1"/>
              <a:t>apparatlari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Kompyuter</a:t>
            </a:r>
            <a:r>
              <a:rPr lang="en-US" dirty="0"/>
              <a:t> </a:t>
            </a:r>
            <a:r>
              <a:rPr lang="en-US" dirty="0" err="1"/>
              <a:t>grafikasi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946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6FDC5D4-A1A2-44B1-801C-9ADA8DB23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223535"/>
              </p:ext>
            </p:extLst>
          </p:nvPr>
        </p:nvGraphicFramePr>
        <p:xfrm>
          <a:off x="-8350" y="1030514"/>
          <a:ext cx="12228776" cy="5827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CorelDRAW" r:id="rId3" imgW="12978336" imgH="6556966" progId="CorelDraw.Graphic.23">
                  <p:embed/>
                </p:oleObj>
              </mc:Choice>
              <mc:Fallback>
                <p:oleObj name="CorelDRAW" r:id="rId3" imgW="12978336" imgH="6556966" progId="CorelDraw.Graphic.2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350" y="1030514"/>
                        <a:ext cx="12228776" cy="5827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85E995-D570-4BF8-98F2-893C5235EDA0}"/>
              </a:ext>
            </a:extLst>
          </p:cNvPr>
          <p:cNvSpPr/>
          <p:nvPr/>
        </p:nvSpPr>
        <p:spPr>
          <a:xfrm>
            <a:off x="12526" y="1030514"/>
            <a:ext cx="12192000" cy="582748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731088C-8B5B-41EB-87F4-2F73D1EAEB03}"/>
              </a:ext>
            </a:extLst>
          </p:cNvPr>
          <p:cNvSpPr/>
          <p:nvPr/>
        </p:nvSpPr>
        <p:spPr>
          <a:xfrm>
            <a:off x="4176" y="-25052"/>
            <a:ext cx="11482191" cy="1265129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389588 w 11226321"/>
              <a:gd name="connsiteY2" fmla="*/ 920517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389588" y="920517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87F587D-528A-4CDE-BD5D-AE1801BD053C}"/>
              </a:ext>
            </a:extLst>
          </p:cNvPr>
          <p:cNvSpPr/>
          <p:nvPr/>
        </p:nvSpPr>
        <p:spPr>
          <a:xfrm>
            <a:off x="12526" y="-22052"/>
            <a:ext cx="11226321" cy="1052566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499811" y="911399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9ED6D46-883D-4C70-8382-E597F24F405F}"/>
              </a:ext>
            </a:extLst>
          </p:cNvPr>
          <p:cNvSpPr/>
          <p:nvPr/>
        </p:nvSpPr>
        <p:spPr>
          <a:xfrm>
            <a:off x="28348" y="1633126"/>
            <a:ext cx="3754512" cy="117765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000066"/>
                </a:solidFill>
              </a:rPr>
              <a:t>TlG</a:t>
            </a:r>
            <a:r>
              <a:rPr lang="en-US" sz="2000" b="1" dirty="0">
                <a:solidFill>
                  <a:srgbClr val="000066"/>
                </a:solidFill>
              </a:rPr>
              <a:t>: Real </a:t>
            </a:r>
            <a:r>
              <a:rPr lang="en-US" sz="2000" b="1" dirty="0" err="1">
                <a:solidFill>
                  <a:srgbClr val="000066"/>
                </a:solidFill>
              </a:rPr>
              <a:t>jang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poligonida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trening</a:t>
            </a:r>
            <a:endParaRPr lang="ru-RU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F3EAD </a:t>
            </a:r>
            <a:r>
              <a:rPr lang="en-US" sz="2000" b="1" dirty="0" err="1">
                <a:solidFill>
                  <a:srgbClr val="000066"/>
                </a:solidFill>
              </a:rPr>
              <a:t>metodologiyasi</a:t>
            </a:r>
            <a:endParaRPr lang="ru-RU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Drone-on-drone intercept</a:t>
            </a:r>
            <a:endParaRPr lang="ru-RU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VR/AR </a:t>
            </a:r>
            <a:r>
              <a:rPr lang="en-US" sz="2000" b="1" dirty="0" err="1">
                <a:solidFill>
                  <a:srgbClr val="000066"/>
                </a:solidFill>
              </a:rPr>
              <a:t>simulyatorlar</a:t>
            </a:r>
            <a:endParaRPr lang="ru-RU" sz="2000" b="1" dirty="0">
              <a:solidFill>
                <a:srgbClr val="00006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88DA1-795B-48D5-A7EA-7E6B34C382DF}"/>
              </a:ext>
            </a:extLst>
          </p:cNvPr>
          <p:cNvSpPr txBox="1"/>
          <p:nvPr/>
        </p:nvSpPr>
        <p:spPr>
          <a:xfrm>
            <a:off x="-45928" y="1138745"/>
            <a:ext cx="3754512" cy="4959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500" b="1" dirty="0" err="1"/>
              <a:t>AQSh</a:t>
            </a:r>
            <a:endParaRPr lang="ru-RU" sz="2500" b="1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CE365F57-6F42-45EC-AF25-C3104C042090}"/>
              </a:ext>
            </a:extLst>
          </p:cNvPr>
          <p:cNvSpPr/>
          <p:nvPr/>
        </p:nvSpPr>
        <p:spPr>
          <a:xfrm>
            <a:off x="31228" y="2812354"/>
            <a:ext cx="4372975" cy="407009"/>
          </a:xfrm>
          <a:custGeom>
            <a:avLst/>
            <a:gdLst>
              <a:gd name="connsiteX0" fmla="*/ 0 w 4271375"/>
              <a:gd name="connsiteY0" fmla="*/ 0 h 413359"/>
              <a:gd name="connsiteX1" fmla="*/ 4271375 w 4271375"/>
              <a:gd name="connsiteY1" fmla="*/ 12526 h 413359"/>
              <a:gd name="connsiteX2" fmla="*/ 2505206 w 4271375"/>
              <a:gd name="connsiteY2" fmla="*/ 413359 h 413359"/>
              <a:gd name="connsiteX0" fmla="*/ 0 w 4265025"/>
              <a:gd name="connsiteY0" fmla="*/ 12874 h 400833"/>
              <a:gd name="connsiteX1" fmla="*/ 4265025 w 4265025"/>
              <a:gd name="connsiteY1" fmla="*/ 0 h 400833"/>
              <a:gd name="connsiteX2" fmla="*/ 2498856 w 4265025"/>
              <a:gd name="connsiteY2" fmla="*/ 400833 h 400833"/>
              <a:gd name="connsiteX0" fmla="*/ 0 w 4360275"/>
              <a:gd name="connsiteY0" fmla="*/ 174 h 388133"/>
              <a:gd name="connsiteX1" fmla="*/ 4360275 w 4360275"/>
              <a:gd name="connsiteY1" fmla="*/ 0 h 388133"/>
              <a:gd name="connsiteX2" fmla="*/ 2498856 w 4360275"/>
              <a:gd name="connsiteY2" fmla="*/ 388133 h 388133"/>
              <a:gd name="connsiteX0" fmla="*/ 0 w 4360275"/>
              <a:gd name="connsiteY0" fmla="*/ 174 h 400833"/>
              <a:gd name="connsiteX1" fmla="*/ 4360275 w 4360275"/>
              <a:gd name="connsiteY1" fmla="*/ 0 h 400833"/>
              <a:gd name="connsiteX2" fmla="*/ 2613156 w 4360275"/>
              <a:gd name="connsiteY2" fmla="*/ 400833 h 400833"/>
              <a:gd name="connsiteX0" fmla="*/ 0 w 4372975"/>
              <a:gd name="connsiteY0" fmla="*/ 0 h 407009"/>
              <a:gd name="connsiteX1" fmla="*/ 4372975 w 4372975"/>
              <a:gd name="connsiteY1" fmla="*/ 6176 h 407009"/>
              <a:gd name="connsiteX2" fmla="*/ 2625856 w 4372975"/>
              <a:gd name="connsiteY2" fmla="*/ 407009 h 407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72975" h="407009">
                <a:moveTo>
                  <a:pt x="0" y="0"/>
                </a:moveTo>
                <a:lnTo>
                  <a:pt x="4372975" y="6176"/>
                </a:lnTo>
                <a:lnTo>
                  <a:pt x="2625856" y="407009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5B6A8ED-0E16-48C3-8B3D-226339EBE12E}"/>
              </a:ext>
            </a:extLst>
          </p:cNvPr>
          <p:cNvGrpSpPr/>
          <p:nvPr/>
        </p:nvGrpSpPr>
        <p:grpSpPr>
          <a:xfrm>
            <a:off x="3881882" y="1299535"/>
            <a:ext cx="2856375" cy="2371481"/>
            <a:chOff x="2357362" y="765698"/>
            <a:chExt cx="6023021" cy="5533148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56275CCC-7326-4533-99D0-CC98B9263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6944" y="4631304"/>
              <a:ext cx="1735364" cy="1460998"/>
            </a:xfrm>
            <a:prstGeom prst="rect">
              <a:avLst/>
            </a:prstGeom>
          </p:spPr>
        </p:pic>
        <p:pic>
          <p:nvPicPr>
            <p:cNvPr id="19" name="Picture 4" descr="Concepto de ilustración vectorial de drones militares que vuelan sobre  tanques | Vector Premium">
              <a:extLst>
                <a:ext uri="{FF2B5EF4-FFF2-40B4-BE49-F238E27FC236}">
                  <a16:creationId xmlns:a16="http://schemas.microsoft.com/office/drawing/2014/main" id="{B61DF2BB-7E07-45D6-AB1C-B84C678B8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744" b="89776" l="4473" r="96006">
                          <a14:foregroundMark x1="9425" y1="29712" x2="4473" y2="30351"/>
                          <a14:foregroundMark x1="89936" y1="29872" x2="96006" y2="3099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5803" y="1240035"/>
              <a:ext cx="1500685" cy="1500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6" descr="military drone drops ammunition. flat vector illustration Stock Vector  Image &amp; Art - Alamy">
              <a:extLst>
                <a:ext uri="{FF2B5EF4-FFF2-40B4-BE49-F238E27FC236}">
                  <a16:creationId xmlns:a16="http://schemas.microsoft.com/office/drawing/2014/main" id="{2B68C0F2-0304-427E-96AB-8616D10DAD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8957" b="80610" l="10000" r="90000">
                          <a14:foregroundMark x1="49462" y1="55962" x2="51231" y2="72699"/>
                          <a14:foregroundMark x1="51231" y1="72699" x2="48308" y2="61715"/>
                          <a14:foregroundMark x1="48308" y1="61715" x2="50154" y2="54603"/>
                          <a14:foregroundMark x1="48462" y1="51464" x2="48462" y2="5156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433"/>
            <a:stretch>
              <a:fillRect/>
            </a:stretch>
          </p:blipFill>
          <p:spPr bwMode="auto">
            <a:xfrm>
              <a:off x="3912342" y="765698"/>
              <a:ext cx="2560438" cy="16865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659 Drones Battle Stock Vectors and Vector Art | Shutterstock">
              <a:extLst>
                <a:ext uri="{FF2B5EF4-FFF2-40B4-BE49-F238E27FC236}">
                  <a16:creationId xmlns:a16="http://schemas.microsoft.com/office/drawing/2014/main" id="{78D4D15A-40BE-4D29-BA90-9A25A0F872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15" t="30615" r="8531" b="16559"/>
            <a:stretch>
              <a:fillRect/>
            </a:stretch>
          </p:blipFill>
          <p:spPr bwMode="auto">
            <a:xfrm>
              <a:off x="5931739" y="905879"/>
              <a:ext cx="2349605" cy="1546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FPV Drone Operator with Remote Control in Hands Fur PNG Images &amp; PSDs for  Download | PixelSquid - S12248428F">
              <a:extLst>
                <a:ext uri="{FF2B5EF4-FFF2-40B4-BE49-F238E27FC236}">
                  <a16:creationId xmlns:a16="http://schemas.microsoft.com/office/drawing/2014/main" id="{09816BDB-EB6A-4A4B-84C0-DE395C7A43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40667" y1="80167" x2="45000" y2="80333"/>
                          <a14:backgroundMark x1="43167" y1="82500" x2="55500" y2="78667"/>
                          <a14:backgroundMark x1="55500" y1="78667" x2="55500" y2="78667"/>
                          <a14:backgroundMark x1="47833" y1="79500" x2="44749" y2="80717"/>
                          <a14:backgroundMark x1="57667" y1="86667" x2="60833" y2="84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26" t="12452" r="35356" b="10966"/>
            <a:stretch>
              <a:fillRect/>
            </a:stretch>
          </p:blipFill>
          <p:spPr bwMode="auto">
            <a:xfrm>
              <a:off x="4734367" y="2587948"/>
              <a:ext cx="857251" cy="2343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F03E0E14-A765-4149-8D9B-14A8288CE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25773" b="18278"/>
            <a:stretch>
              <a:fillRect/>
            </a:stretch>
          </p:blipFill>
          <p:spPr>
            <a:xfrm>
              <a:off x="2357362" y="3014247"/>
              <a:ext cx="1963498" cy="1098548"/>
            </a:xfrm>
            <a:prstGeom prst="rect">
              <a:avLst/>
            </a:prstGeom>
          </p:spPr>
        </p:pic>
        <p:pic>
          <p:nvPicPr>
            <p:cNvPr id="24" name="Picture 14" descr="Fpv дрон – Бесплатные иконки: технологии">
              <a:extLst>
                <a:ext uri="{FF2B5EF4-FFF2-40B4-BE49-F238E27FC236}">
                  <a16:creationId xmlns:a16="http://schemas.microsoft.com/office/drawing/2014/main" id="{171BE782-48B4-4C62-8BCD-DD3BE22D9E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27" t="25024" r="3272" b="18505"/>
            <a:stretch>
              <a:fillRect/>
            </a:stretch>
          </p:blipFill>
          <p:spPr bwMode="auto">
            <a:xfrm flipH="1">
              <a:off x="6345246" y="3609320"/>
              <a:ext cx="1982606" cy="1255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E96F127A-2D2A-4B59-981A-BC86CBBC8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953623" y="4394176"/>
              <a:ext cx="3047472" cy="1904670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92E9C040-2057-49BF-879B-A773F738C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9553" b="90041" l="2000" r="97875">
                          <a14:foregroundMark x1="88875" y1="29675" x2="90696" y2="29223"/>
                          <a14:foregroundMark x1="90656" y1="29123" x2="89125" y2="29472"/>
                          <a14:foregroundMark x1="89625" y1="29065" x2="75000" y2="33943"/>
                          <a14:foregroundMark x1="10875" y1="60976" x2="8000" y2="60976"/>
                          <a14:foregroundMark x1="8805" y1="62908" x2="9875" y2="63211"/>
                          <a14:foregroundMark x1="7750" y1="61179" x2="8000" y2="61789"/>
                          <a14:foregroundMark x1="8250" y1="61992" x2="2875" y2="63415"/>
                          <a14:foregroundMark x1="72250" y1="89431" x2="73625" y2="89431"/>
                          <a14:foregroundMark x1="69000" y1="31098" x2="68125" y2="31098"/>
                          <a14:foregroundMark x1="69375" y1="30894" x2="67375" y2="30691"/>
                          <a14:foregroundMark x1="96500" y1="26829" x2="97875" y2="26829"/>
                          <a14:foregroundMark x1="31750" y1="90041" x2="33875" y2="90041"/>
                          <a14:backgroundMark x1="2206" y1="61882" x2="1500" y2="61992"/>
                          <a14:backgroundMark x1="8000" y1="60976" x2="7819" y2="61004"/>
                          <a14:backgroundMark x1="1500" y1="61992" x2="1625" y2="61179"/>
                          <a14:backgroundMark x1="66713" y1="28934" x2="64125" y2="26829"/>
                          <a14:backgroundMark x1="95439" y1="29538" x2="90875" y2="29675"/>
                          <a14:backgroundMark x1="97625" y1="29472" x2="96831" y2="29496"/>
                        </a14:backgroundRemoval>
                      </a14:imgEffect>
                    </a14:imgLayer>
                  </a14:imgProps>
                </a:ext>
              </a:extLst>
            </a:blip>
            <a:srcRect l="2939" t="6146" b="9746"/>
            <a:stretch>
              <a:fillRect/>
            </a:stretch>
          </p:blipFill>
          <p:spPr>
            <a:xfrm>
              <a:off x="5931739" y="2258568"/>
              <a:ext cx="2448644" cy="1304953"/>
            </a:xfrm>
            <a:prstGeom prst="rect">
              <a:avLst/>
            </a:prstGeom>
          </p:spPr>
        </p:pic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64F2628-4D60-4F1D-ACFE-16E55591EE6B}"/>
              </a:ext>
            </a:extLst>
          </p:cNvPr>
          <p:cNvSpPr/>
          <p:nvPr/>
        </p:nvSpPr>
        <p:spPr>
          <a:xfrm>
            <a:off x="7066614" y="5880917"/>
            <a:ext cx="3659443" cy="82727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66"/>
                </a:solidFill>
              </a:rPr>
              <a:t>Iron Dome </a:t>
            </a:r>
            <a:r>
              <a:rPr lang="en-US" sz="2000" b="1" dirty="0" err="1">
                <a:solidFill>
                  <a:srgbClr val="000066"/>
                </a:solidFill>
              </a:rPr>
              <a:t>bilan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integratsiya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Radar </a:t>
            </a:r>
            <a:r>
              <a:rPr lang="en-US" sz="2000" b="1" dirty="0" err="1">
                <a:solidFill>
                  <a:srgbClr val="000066"/>
                </a:solidFill>
              </a:rPr>
              <a:t>va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lazerli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urib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tushirish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Real </a:t>
            </a:r>
            <a:r>
              <a:rPr lang="en-US" sz="2000" b="1" dirty="0" err="1">
                <a:solidFill>
                  <a:srgbClr val="000066"/>
                </a:solidFill>
              </a:rPr>
              <a:t>dron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poligon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mashg'ulotlari</a:t>
            </a:r>
            <a:endParaRPr lang="en-US" sz="2000" b="1" dirty="0">
              <a:solidFill>
                <a:srgbClr val="0000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1CB57F-56B7-4A99-9B2E-DFE769124841}"/>
              </a:ext>
            </a:extLst>
          </p:cNvPr>
          <p:cNvSpPr txBox="1"/>
          <p:nvPr/>
        </p:nvSpPr>
        <p:spPr>
          <a:xfrm>
            <a:off x="7066614" y="5488230"/>
            <a:ext cx="365944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ctr">
              <a:defRPr sz="2500" b="1"/>
            </a:lvl1pPr>
          </a:lstStyle>
          <a:p>
            <a:r>
              <a:rPr lang="en-US" dirty="0" err="1"/>
              <a:t>lsroil</a:t>
            </a:r>
            <a:endParaRPr lang="ru-RU" dirty="0"/>
          </a:p>
        </p:txBody>
      </p:sp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98389399-8F99-4427-A4A9-13EE1DED3E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349022"/>
              </p:ext>
            </p:extLst>
          </p:nvPr>
        </p:nvGraphicFramePr>
        <p:xfrm>
          <a:off x="11247197" y="102213"/>
          <a:ext cx="897243" cy="90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CorelDRAW" r:id="rId19" imgW="3514698" imgH="2904127" progId="CorelDraw.Graphic.23">
                  <p:embed/>
                </p:oleObj>
              </mc:Choice>
              <mc:Fallback>
                <p:oleObj name="CorelDRAW" r:id="rId19" imgW="3514698" imgH="2904127" progId="CorelDraw.Graphic.23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A579B606-0C78-45D9-88DC-B83CF7F37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247197" y="102213"/>
                        <a:ext cx="897243" cy="907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D95855A7-E9FC-44F5-AB8C-66B6F2F9E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271" y="10881"/>
            <a:ext cx="9459893" cy="945465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 HARBIY XAVFSIZLIK VA MUDOFAA UNIVERSITETINING AXBOROT KOMMUNIKATSIYA TEXNOLOGIYALARI VA HARBIY ALOQA INSTITUTI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Полилиния: фигура 32">
            <a:extLst>
              <a:ext uri="{FF2B5EF4-FFF2-40B4-BE49-F238E27FC236}">
                <a16:creationId xmlns:a16="http://schemas.microsoft.com/office/drawing/2014/main" id="{292D0769-D410-4D34-8B89-485A57213E54}"/>
              </a:ext>
            </a:extLst>
          </p:cNvPr>
          <p:cNvSpPr/>
          <p:nvPr/>
        </p:nvSpPr>
        <p:spPr>
          <a:xfrm>
            <a:off x="6821714" y="3701143"/>
            <a:ext cx="3904343" cy="3018971"/>
          </a:xfrm>
          <a:custGeom>
            <a:avLst/>
            <a:gdLst>
              <a:gd name="connsiteX0" fmla="*/ 3904343 w 3904343"/>
              <a:gd name="connsiteY0" fmla="*/ 3018971 h 3018971"/>
              <a:gd name="connsiteX1" fmla="*/ 246743 w 3904343"/>
              <a:gd name="connsiteY1" fmla="*/ 3018971 h 3018971"/>
              <a:gd name="connsiteX2" fmla="*/ 0 w 3904343"/>
              <a:gd name="connsiteY2" fmla="*/ 0 h 3018971"/>
              <a:gd name="connsiteX3" fmla="*/ 0 w 3904343"/>
              <a:gd name="connsiteY3" fmla="*/ 0 h 3018971"/>
              <a:gd name="connsiteX4" fmla="*/ 0 w 3904343"/>
              <a:gd name="connsiteY4" fmla="*/ 14514 h 3018971"/>
              <a:gd name="connsiteX5" fmla="*/ 0 w 3904343"/>
              <a:gd name="connsiteY5" fmla="*/ 14514 h 3018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4343" h="3018971">
                <a:moveTo>
                  <a:pt x="3904343" y="3018971"/>
                </a:moveTo>
                <a:lnTo>
                  <a:pt x="246743" y="3018971"/>
                </a:lnTo>
                <a:lnTo>
                  <a:pt x="0" y="0"/>
                </a:lnTo>
                <a:lnTo>
                  <a:pt x="0" y="0"/>
                </a:lnTo>
                <a:lnTo>
                  <a:pt x="0" y="14514"/>
                </a:lnTo>
                <a:lnTo>
                  <a:pt x="0" y="14514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69ED3E6-423C-44F9-A3A3-CB834581DE70}"/>
              </a:ext>
            </a:extLst>
          </p:cNvPr>
          <p:cNvSpPr/>
          <p:nvPr/>
        </p:nvSpPr>
        <p:spPr>
          <a:xfrm>
            <a:off x="8232418" y="4523074"/>
            <a:ext cx="3904344" cy="82727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66"/>
                </a:solidFill>
              </a:rPr>
              <a:t>IIT-Kanpur &amp; BSF </a:t>
            </a:r>
            <a:r>
              <a:rPr lang="en-US" sz="2000" b="1" dirty="0" err="1">
                <a:solidFill>
                  <a:srgbClr val="000066"/>
                </a:solidFill>
              </a:rPr>
              <a:t>treninglari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Anti-</a:t>
            </a:r>
            <a:r>
              <a:rPr lang="en-US" sz="2000" b="1" dirty="0" err="1">
                <a:solidFill>
                  <a:srgbClr val="000066"/>
                </a:solidFill>
              </a:rPr>
              <a:t>dron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simulatori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Al </a:t>
            </a:r>
            <a:r>
              <a:rPr lang="en-US" sz="2000" b="1" dirty="0" err="1">
                <a:solidFill>
                  <a:srgbClr val="000066"/>
                </a:solidFill>
              </a:rPr>
              <a:t>asosidagi</a:t>
            </a:r>
            <a:r>
              <a:rPr lang="en-US" sz="2000" b="1" dirty="0">
                <a:solidFill>
                  <a:srgbClr val="000066"/>
                </a:solidFill>
              </a:rPr>
              <a:t> radar/jammer </a:t>
            </a:r>
            <a:r>
              <a:rPr lang="en-US" sz="2000" b="1" dirty="0" err="1">
                <a:solidFill>
                  <a:srgbClr val="000066"/>
                </a:solidFill>
              </a:rPr>
              <a:t>tizimlari</a:t>
            </a:r>
            <a:endParaRPr lang="en-US" sz="2000" b="1" dirty="0">
              <a:solidFill>
                <a:srgbClr val="00006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E59964-D7BA-4756-99DC-DD7864A14F2C}"/>
              </a:ext>
            </a:extLst>
          </p:cNvPr>
          <p:cNvSpPr txBox="1"/>
          <p:nvPr/>
        </p:nvSpPr>
        <p:spPr>
          <a:xfrm>
            <a:off x="8280709" y="4111384"/>
            <a:ext cx="390434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/>
              <a:t>Osiyo (</a:t>
            </a:r>
            <a:r>
              <a:rPr lang="en-US" sz="2500" b="1" dirty="0" err="1"/>
              <a:t>Hindiston</a:t>
            </a:r>
            <a:r>
              <a:rPr lang="en-US" sz="2500" b="1" dirty="0"/>
              <a:t>, </a:t>
            </a:r>
            <a:r>
              <a:rPr lang="en-US" sz="2500" b="1" dirty="0" err="1"/>
              <a:t>Koreya</a:t>
            </a:r>
            <a:r>
              <a:rPr lang="en-US" sz="2500" b="1" dirty="0"/>
              <a:t>)</a:t>
            </a:r>
            <a:endParaRPr lang="ru-RU" sz="2500" b="1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C25B879-7299-4B8A-9F92-56D3EDAC41BB}"/>
              </a:ext>
            </a:extLst>
          </p:cNvPr>
          <p:cNvSpPr/>
          <p:nvPr/>
        </p:nvSpPr>
        <p:spPr>
          <a:xfrm>
            <a:off x="8280708" y="1680819"/>
            <a:ext cx="3876943" cy="827270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66"/>
                </a:solidFill>
              </a:rPr>
              <a:t>Jang </a:t>
            </a:r>
            <a:r>
              <a:rPr lang="en-US" sz="2000" b="1" dirty="0" err="1">
                <a:solidFill>
                  <a:srgbClr val="000066"/>
                </a:solidFill>
              </a:rPr>
              <a:t>tajribasi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asosida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treninglar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FPV </a:t>
            </a:r>
            <a:r>
              <a:rPr lang="en-US" sz="2000" b="1" dirty="0" err="1">
                <a:solidFill>
                  <a:srgbClr val="000066"/>
                </a:solidFill>
              </a:rPr>
              <a:t>dronlarga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qarshi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mashqlar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NATO </a:t>
            </a:r>
            <a:r>
              <a:rPr lang="en-US" sz="2000" b="1" dirty="0" err="1">
                <a:solidFill>
                  <a:srgbClr val="000066"/>
                </a:solidFill>
              </a:rPr>
              <a:t>bilan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qo'shma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mashg'ulotlar</a:t>
            </a:r>
            <a:endParaRPr lang="en-US" sz="2000" b="1" dirty="0">
              <a:solidFill>
                <a:srgbClr val="000066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AA09F0-CB93-4AD7-850A-DBF2E777EDA8}"/>
              </a:ext>
            </a:extLst>
          </p:cNvPr>
          <p:cNvSpPr txBox="1"/>
          <p:nvPr/>
        </p:nvSpPr>
        <p:spPr>
          <a:xfrm>
            <a:off x="8328999" y="1269129"/>
            <a:ext cx="387694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algn="ctr">
              <a:defRPr sz="2500" b="1"/>
            </a:lvl1pPr>
          </a:lstStyle>
          <a:p>
            <a:r>
              <a:rPr lang="en-US" dirty="0" err="1"/>
              <a:t>Ukraina</a:t>
            </a:r>
            <a:r>
              <a:rPr lang="en-US" dirty="0"/>
              <a:t> </a:t>
            </a:r>
            <a:r>
              <a:rPr lang="en-US" dirty="0" err="1"/>
              <a:t>tajribalari</a:t>
            </a:r>
            <a:endParaRPr lang="ru-RU" dirty="0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F6D9821-22AD-4890-8293-BFBF7299CE6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345" y="2527370"/>
            <a:ext cx="2894965" cy="1644215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3DD71BE-BB5A-4D96-9DB0-0DADCCD329E2}"/>
              </a:ext>
            </a:extLst>
          </p:cNvPr>
          <p:cNvSpPr/>
          <p:nvPr/>
        </p:nvSpPr>
        <p:spPr>
          <a:xfrm>
            <a:off x="304236" y="4695888"/>
            <a:ext cx="3754512" cy="827270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66"/>
                </a:solidFill>
              </a:rPr>
              <a:t>Saab C-UAS </a:t>
            </a:r>
            <a:r>
              <a:rPr lang="en-US" sz="2000" b="1" dirty="0" err="1">
                <a:solidFill>
                  <a:srgbClr val="000066"/>
                </a:solidFill>
              </a:rPr>
              <a:t>simulatori</a:t>
            </a:r>
            <a:endParaRPr lang="en-US" sz="2000" b="1" dirty="0">
              <a:solidFill>
                <a:srgbClr val="000066"/>
              </a:solidFill>
            </a:endParaRPr>
          </a:p>
          <a:p>
            <a:pPr algn="ctr"/>
            <a:r>
              <a:rPr lang="en-US" sz="2000" b="1" dirty="0">
                <a:solidFill>
                  <a:srgbClr val="000066"/>
                </a:solidFill>
              </a:rPr>
              <a:t>NATO </a:t>
            </a:r>
            <a:r>
              <a:rPr lang="en-US" sz="2000" b="1" dirty="0" err="1">
                <a:solidFill>
                  <a:srgbClr val="000066"/>
                </a:solidFill>
              </a:rPr>
              <a:t>mashqlari</a:t>
            </a:r>
            <a:r>
              <a:rPr lang="en-US" sz="2000" b="1" dirty="0">
                <a:solidFill>
                  <a:srgbClr val="000066"/>
                </a:solidFill>
              </a:rPr>
              <a:t> (JPOW)</a:t>
            </a:r>
          </a:p>
          <a:p>
            <a:pPr algn="ctr"/>
            <a:r>
              <a:rPr lang="en-US" sz="2000" b="1" dirty="0" err="1">
                <a:solidFill>
                  <a:srgbClr val="000066"/>
                </a:solidFill>
              </a:rPr>
              <a:t>lntegratsiya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havo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mudofaasi</a:t>
            </a:r>
            <a:r>
              <a:rPr lang="en-US" sz="2000" b="1" dirty="0">
                <a:solidFill>
                  <a:srgbClr val="000066"/>
                </a:solidFill>
              </a:rPr>
              <a:t> </a:t>
            </a:r>
            <a:r>
              <a:rPr lang="en-US" sz="2000" b="1" dirty="0" err="1">
                <a:solidFill>
                  <a:srgbClr val="000066"/>
                </a:solidFill>
              </a:rPr>
              <a:t>bilan</a:t>
            </a:r>
            <a:endParaRPr lang="en-US" sz="2000" b="1" dirty="0">
              <a:solidFill>
                <a:srgbClr val="000066"/>
              </a:solidFill>
            </a:endParaRP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0C48F5F0-A127-4A14-A102-72F773F43DEE}"/>
              </a:ext>
            </a:extLst>
          </p:cNvPr>
          <p:cNvSpPr/>
          <p:nvPr/>
        </p:nvSpPr>
        <p:spPr>
          <a:xfrm>
            <a:off x="304237" y="3070956"/>
            <a:ext cx="6167342" cy="2487509"/>
          </a:xfrm>
          <a:custGeom>
            <a:avLst/>
            <a:gdLst>
              <a:gd name="connsiteX0" fmla="*/ 0 w 4271375"/>
              <a:gd name="connsiteY0" fmla="*/ 0 h 413359"/>
              <a:gd name="connsiteX1" fmla="*/ 4271375 w 4271375"/>
              <a:gd name="connsiteY1" fmla="*/ 12526 h 413359"/>
              <a:gd name="connsiteX2" fmla="*/ 2505206 w 4271375"/>
              <a:gd name="connsiteY2" fmla="*/ 413359 h 413359"/>
              <a:gd name="connsiteX0" fmla="*/ 0 w 4265025"/>
              <a:gd name="connsiteY0" fmla="*/ 12874 h 400833"/>
              <a:gd name="connsiteX1" fmla="*/ 4265025 w 4265025"/>
              <a:gd name="connsiteY1" fmla="*/ 0 h 400833"/>
              <a:gd name="connsiteX2" fmla="*/ 2498856 w 4265025"/>
              <a:gd name="connsiteY2" fmla="*/ 400833 h 400833"/>
              <a:gd name="connsiteX0" fmla="*/ 0 w 4360275"/>
              <a:gd name="connsiteY0" fmla="*/ 174 h 388133"/>
              <a:gd name="connsiteX1" fmla="*/ 4360275 w 4360275"/>
              <a:gd name="connsiteY1" fmla="*/ 0 h 388133"/>
              <a:gd name="connsiteX2" fmla="*/ 2498856 w 4360275"/>
              <a:gd name="connsiteY2" fmla="*/ 388133 h 388133"/>
              <a:gd name="connsiteX0" fmla="*/ 0 w 4360275"/>
              <a:gd name="connsiteY0" fmla="*/ 174 h 400833"/>
              <a:gd name="connsiteX1" fmla="*/ 4360275 w 4360275"/>
              <a:gd name="connsiteY1" fmla="*/ 0 h 400833"/>
              <a:gd name="connsiteX2" fmla="*/ 2613156 w 4360275"/>
              <a:gd name="connsiteY2" fmla="*/ 400833 h 400833"/>
              <a:gd name="connsiteX0" fmla="*/ 0 w 4372975"/>
              <a:gd name="connsiteY0" fmla="*/ 0 h 407009"/>
              <a:gd name="connsiteX1" fmla="*/ 4372975 w 4372975"/>
              <a:gd name="connsiteY1" fmla="*/ 6176 h 407009"/>
              <a:gd name="connsiteX2" fmla="*/ 2625856 w 4372975"/>
              <a:gd name="connsiteY2" fmla="*/ 407009 h 407009"/>
              <a:gd name="connsiteX0" fmla="*/ 0 w 6370542"/>
              <a:gd name="connsiteY0" fmla="*/ 2713562 h 2719738"/>
              <a:gd name="connsiteX1" fmla="*/ 4372975 w 6370542"/>
              <a:gd name="connsiteY1" fmla="*/ 2719738 h 2719738"/>
              <a:gd name="connsiteX2" fmla="*/ 6370542 w 6370542"/>
              <a:gd name="connsiteY2" fmla="*/ 0 h 2719738"/>
              <a:gd name="connsiteX0" fmla="*/ 0 w 6167342"/>
              <a:gd name="connsiteY0" fmla="*/ 2481333 h 2487509"/>
              <a:gd name="connsiteX1" fmla="*/ 4372975 w 6167342"/>
              <a:gd name="connsiteY1" fmla="*/ 2487509 h 2487509"/>
              <a:gd name="connsiteX2" fmla="*/ 6167342 w 6167342"/>
              <a:gd name="connsiteY2" fmla="*/ 0 h 2487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67342" h="2487509">
                <a:moveTo>
                  <a:pt x="0" y="2481333"/>
                </a:moveTo>
                <a:lnTo>
                  <a:pt x="4372975" y="2487509"/>
                </a:lnTo>
                <a:lnTo>
                  <a:pt x="6167342" y="0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6E2393-739B-4F39-81CB-BC135E8AE8C2}"/>
              </a:ext>
            </a:extLst>
          </p:cNvPr>
          <p:cNvSpPr txBox="1"/>
          <p:nvPr/>
        </p:nvSpPr>
        <p:spPr>
          <a:xfrm>
            <a:off x="340843" y="4271929"/>
            <a:ext cx="37545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 err="1"/>
              <a:t>Yevropa</a:t>
            </a:r>
            <a:r>
              <a:rPr lang="en-US" sz="2500" b="1" dirty="0"/>
              <a:t> (NATO, </a:t>
            </a:r>
            <a:r>
              <a:rPr lang="en-US" sz="2500" b="1" dirty="0" err="1"/>
              <a:t>Shvetsiya</a:t>
            </a:r>
            <a:r>
              <a:rPr lang="en-US" sz="2500" b="1" dirty="0"/>
              <a:t>)</a:t>
            </a:r>
            <a:endParaRPr lang="ru-RU" sz="2500" b="1" dirty="0"/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264D5562-6340-4A9C-B7A6-4154DD65BAE8}"/>
              </a:ext>
            </a:extLst>
          </p:cNvPr>
          <p:cNvSpPr/>
          <p:nvPr/>
        </p:nvSpPr>
        <p:spPr>
          <a:xfrm>
            <a:off x="6934200" y="2514600"/>
            <a:ext cx="5219700" cy="596900"/>
          </a:xfrm>
          <a:custGeom>
            <a:avLst/>
            <a:gdLst>
              <a:gd name="connsiteX0" fmla="*/ 5219700 w 5219700"/>
              <a:gd name="connsiteY0" fmla="*/ 12700 h 596900"/>
              <a:gd name="connsiteX1" fmla="*/ 1333500 w 5219700"/>
              <a:gd name="connsiteY1" fmla="*/ 0 h 596900"/>
              <a:gd name="connsiteX2" fmla="*/ 0 w 5219700"/>
              <a:gd name="connsiteY2" fmla="*/ 596900 h 59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9700" h="596900">
                <a:moveTo>
                  <a:pt x="5219700" y="12700"/>
                </a:moveTo>
                <a:lnTo>
                  <a:pt x="1333500" y="0"/>
                </a:lnTo>
                <a:lnTo>
                  <a:pt x="0" y="596900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378674D8-DFA9-46A5-9C91-9F9CE9FE87B8}"/>
              </a:ext>
            </a:extLst>
          </p:cNvPr>
          <p:cNvSpPr/>
          <p:nvPr/>
        </p:nvSpPr>
        <p:spPr>
          <a:xfrm>
            <a:off x="8140700" y="3492500"/>
            <a:ext cx="1524000" cy="1028700"/>
          </a:xfrm>
          <a:custGeom>
            <a:avLst/>
            <a:gdLst>
              <a:gd name="connsiteX0" fmla="*/ 0 w 1524000"/>
              <a:gd name="connsiteY0" fmla="*/ 1028700 h 1028700"/>
              <a:gd name="connsiteX1" fmla="*/ 1524000 w 1524000"/>
              <a:gd name="connsiteY1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0" h="1028700">
                <a:moveTo>
                  <a:pt x="0" y="102870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: фигура 36">
            <a:extLst>
              <a:ext uri="{FF2B5EF4-FFF2-40B4-BE49-F238E27FC236}">
                <a16:creationId xmlns:a16="http://schemas.microsoft.com/office/drawing/2014/main" id="{D485F5C3-793B-40B2-B6B5-B7EE2AB74F4F}"/>
              </a:ext>
            </a:extLst>
          </p:cNvPr>
          <p:cNvSpPr/>
          <p:nvPr/>
        </p:nvSpPr>
        <p:spPr>
          <a:xfrm>
            <a:off x="8089900" y="4051300"/>
            <a:ext cx="4038600" cy="1308100"/>
          </a:xfrm>
          <a:custGeom>
            <a:avLst/>
            <a:gdLst>
              <a:gd name="connsiteX0" fmla="*/ 4038600 w 4038600"/>
              <a:gd name="connsiteY0" fmla="*/ 1308100 h 1308100"/>
              <a:gd name="connsiteX1" fmla="*/ 127000 w 4038600"/>
              <a:gd name="connsiteY1" fmla="*/ 1308100 h 1308100"/>
              <a:gd name="connsiteX2" fmla="*/ 0 w 4038600"/>
              <a:gd name="connsiteY2" fmla="*/ 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8600" h="1308100">
                <a:moveTo>
                  <a:pt x="4038600" y="1308100"/>
                </a:moveTo>
                <a:lnTo>
                  <a:pt x="127000" y="130810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3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5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19E81F6-6AD3-4D26-89A8-9DE32A3BFA52}"/>
              </a:ext>
            </a:extLst>
          </p:cNvPr>
          <p:cNvGrpSpPr/>
          <p:nvPr/>
        </p:nvGrpSpPr>
        <p:grpSpPr>
          <a:xfrm>
            <a:off x="-360100" y="707043"/>
            <a:ext cx="12658486" cy="6329339"/>
            <a:chOff x="-263286" y="815761"/>
            <a:chExt cx="12658486" cy="7096805"/>
          </a:xfrm>
        </p:grpSpPr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9C29A3B4-3C14-4369-AC3D-6D4763ED5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63286" y="815761"/>
              <a:ext cx="12658486" cy="7096805"/>
            </a:xfrm>
            <a:prstGeom prst="rect">
              <a:avLst/>
            </a:prstGeom>
            <a:effectLst>
              <a:softEdge rad="317500"/>
            </a:effectLst>
          </p:spPr>
        </p:pic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B85E995-D570-4BF8-98F2-893C5235EDA0}"/>
                </a:ext>
              </a:extLst>
            </p:cNvPr>
            <p:cNvSpPr/>
            <p:nvPr/>
          </p:nvSpPr>
          <p:spPr>
            <a:xfrm>
              <a:off x="-101774" y="1136640"/>
              <a:ext cx="12382674" cy="66230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731088C-8B5B-41EB-87F4-2F73D1EAEB03}"/>
              </a:ext>
            </a:extLst>
          </p:cNvPr>
          <p:cNvSpPr/>
          <p:nvPr/>
        </p:nvSpPr>
        <p:spPr>
          <a:xfrm>
            <a:off x="4176" y="-25052"/>
            <a:ext cx="11482191" cy="1265129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389588 w 11226321"/>
              <a:gd name="connsiteY2" fmla="*/ 920517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389588" y="920517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87F587D-528A-4CDE-BD5D-AE1801BD053C}"/>
              </a:ext>
            </a:extLst>
          </p:cNvPr>
          <p:cNvSpPr/>
          <p:nvPr/>
        </p:nvSpPr>
        <p:spPr>
          <a:xfrm>
            <a:off x="12526" y="-22052"/>
            <a:ext cx="11226321" cy="1052566"/>
          </a:xfrm>
          <a:custGeom>
            <a:avLst/>
            <a:gdLst>
              <a:gd name="connsiteX0" fmla="*/ 2505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25052 w 11235847"/>
              <a:gd name="connsiteY4" fmla="*/ 0 h 901874"/>
              <a:gd name="connsiteX0" fmla="*/ 6002 w 11235847"/>
              <a:gd name="connsiteY0" fmla="*/ 0 h 901874"/>
              <a:gd name="connsiteX1" fmla="*/ 11235847 w 11235847"/>
              <a:gd name="connsiteY1" fmla="*/ 12526 h 901874"/>
              <a:gd name="connsiteX2" fmla="*/ 10509337 w 11235847"/>
              <a:gd name="connsiteY2" fmla="*/ 901874 h 901874"/>
              <a:gd name="connsiteX3" fmla="*/ 0 w 11235847"/>
              <a:gd name="connsiteY3" fmla="*/ 901874 h 901874"/>
              <a:gd name="connsiteX4" fmla="*/ 6002 w 11235847"/>
              <a:gd name="connsiteY4" fmla="*/ 0 h 901874"/>
              <a:gd name="connsiteX0" fmla="*/ 164 w 11230009"/>
              <a:gd name="connsiteY0" fmla="*/ 0 h 906636"/>
              <a:gd name="connsiteX1" fmla="*/ 11230009 w 11230009"/>
              <a:gd name="connsiteY1" fmla="*/ 12526 h 906636"/>
              <a:gd name="connsiteX2" fmla="*/ 10503499 w 11230009"/>
              <a:gd name="connsiteY2" fmla="*/ 901874 h 906636"/>
              <a:gd name="connsiteX3" fmla="*/ 13213 w 11230009"/>
              <a:gd name="connsiteY3" fmla="*/ 906636 h 906636"/>
              <a:gd name="connsiteX4" fmla="*/ 164 w 11230009"/>
              <a:gd name="connsiteY4" fmla="*/ 0 h 906636"/>
              <a:gd name="connsiteX0" fmla="*/ 341 w 11230186"/>
              <a:gd name="connsiteY0" fmla="*/ 0 h 911398"/>
              <a:gd name="connsiteX1" fmla="*/ 11230186 w 11230186"/>
              <a:gd name="connsiteY1" fmla="*/ 12526 h 911398"/>
              <a:gd name="connsiteX2" fmla="*/ 10503676 w 11230186"/>
              <a:gd name="connsiteY2" fmla="*/ 901874 h 911398"/>
              <a:gd name="connsiteX3" fmla="*/ 3865 w 11230186"/>
              <a:gd name="connsiteY3" fmla="*/ 911398 h 911398"/>
              <a:gd name="connsiteX4" fmla="*/ 341 w 11230186"/>
              <a:gd name="connsiteY4" fmla="*/ 0 h 911398"/>
              <a:gd name="connsiteX0" fmla="*/ 15527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5527 w 11226321"/>
              <a:gd name="connsiteY4" fmla="*/ 0 h 920923"/>
              <a:gd name="connsiteX0" fmla="*/ 1239 w 11226321"/>
              <a:gd name="connsiteY0" fmla="*/ 0 h 920923"/>
              <a:gd name="connsiteX1" fmla="*/ 11226321 w 11226321"/>
              <a:gd name="connsiteY1" fmla="*/ 22051 h 920923"/>
              <a:gd name="connsiteX2" fmla="*/ 10499811 w 11226321"/>
              <a:gd name="connsiteY2" fmla="*/ 911399 h 920923"/>
              <a:gd name="connsiteX3" fmla="*/ 0 w 11226321"/>
              <a:gd name="connsiteY3" fmla="*/ 920923 h 920923"/>
              <a:gd name="connsiteX4" fmla="*/ 1239 w 11226321"/>
              <a:gd name="connsiteY4" fmla="*/ 0 h 92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321" h="920923">
                <a:moveTo>
                  <a:pt x="1239" y="0"/>
                </a:moveTo>
                <a:lnTo>
                  <a:pt x="11226321" y="22051"/>
                </a:lnTo>
                <a:lnTo>
                  <a:pt x="10499811" y="911399"/>
                </a:lnTo>
                <a:lnTo>
                  <a:pt x="0" y="920923"/>
                </a:lnTo>
                <a:cubicBezTo>
                  <a:pt x="2001" y="620298"/>
                  <a:pt x="-762" y="300625"/>
                  <a:pt x="1239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98389399-8F99-4427-A4A9-13EE1DED3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47197" y="102213"/>
          <a:ext cx="897243" cy="90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CorelDRAW" r:id="rId4" imgW="3514698" imgH="2904127" progId="CorelDraw.Graphic.23">
                  <p:embed/>
                </p:oleObj>
              </mc:Choice>
              <mc:Fallback>
                <p:oleObj name="CorelDRAW" r:id="rId4" imgW="3514698" imgH="2904127" progId="CorelDraw.Graphic.23">
                  <p:embed/>
                  <p:pic>
                    <p:nvPicPr>
                      <p:cNvPr id="30" name="Объект 29">
                        <a:extLst>
                          <a:ext uri="{FF2B5EF4-FFF2-40B4-BE49-F238E27FC236}">
                            <a16:creationId xmlns:a16="http://schemas.microsoft.com/office/drawing/2014/main" id="{98389399-8F99-4427-A4A9-13EE1DED3E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47197" y="102213"/>
                        <a:ext cx="897243" cy="907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D95855A7-E9FC-44F5-AB8C-66B6F2F9E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271" y="10881"/>
            <a:ext cx="9459893" cy="945465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 HARBIY XAVFSIZLIK VA MUDOFAA UNIVERSITETINING AXBOROT KOMMUNIKATSIYA TEXNOLOGIYALARI VA HARBIY ALOQA INSTITUTI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54AB17C-A4B3-43E3-B27F-10D3228527B4}"/>
              </a:ext>
            </a:extLst>
          </p:cNvPr>
          <p:cNvCxnSpPr>
            <a:cxnSpLocks/>
            <a:stCxn id="50" idx="0"/>
          </p:cNvCxnSpPr>
          <p:nvPr/>
        </p:nvCxnSpPr>
        <p:spPr>
          <a:xfrm>
            <a:off x="6110509" y="5242878"/>
            <a:ext cx="4" cy="1473612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B9974AC3-ADB6-46A2-AE79-69C08D9C0BA3}"/>
              </a:ext>
            </a:extLst>
          </p:cNvPr>
          <p:cNvCxnSpPr>
            <a:cxnSpLocks/>
          </p:cNvCxnSpPr>
          <p:nvPr/>
        </p:nvCxnSpPr>
        <p:spPr>
          <a:xfrm flipV="1">
            <a:off x="6986814" y="1109449"/>
            <a:ext cx="5219700" cy="2140574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7A3892E9-E32E-4133-9B37-6D271BE33B0D}"/>
              </a:ext>
            </a:extLst>
          </p:cNvPr>
          <p:cNvCxnSpPr>
            <a:cxnSpLocks/>
            <a:stCxn id="50" idx="4"/>
          </p:cNvCxnSpPr>
          <p:nvPr/>
        </p:nvCxnSpPr>
        <p:spPr>
          <a:xfrm flipH="1" flipV="1">
            <a:off x="-74556" y="1142383"/>
            <a:ext cx="5302387" cy="2107644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12BAD454-8E8E-4FBC-8FCA-E67E55890E4D}"/>
              </a:ext>
            </a:extLst>
          </p:cNvPr>
          <p:cNvCxnSpPr>
            <a:cxnSpLocks/>
            <a:stCxn id="50" idx="1"/>
          </p:cNvCxnSpPr>
          <p:nvPr/>
        </p:nvCxnSpPr>
        <p:spPr>
          <a:xfrm>
            <a:off x="7538713" y="4481677"/>
            <a:ext cx="4655101" cy="1771258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FF5E9EE1-D666-402F-BB50-3182BB0C6CE8}"/>
              </a:ext>
            </a:extLst>
          </p:cNvPr>
          <p:cNvCxnSpPr>
            <a:cxnSpLocks/>
            <a:stCxn id="50" idx="5"/>
          </p:cNvCxnSpPr>
          <p:nvPr/>
        </p:nvCxnSpPr>
        <p:spPr>
          <a:xfrm flipH="1">
            <a:off x="-201557" y="4481677"/>
            <a:ext cx="4883863" cy="1771258"/>
          </a:xfrm>
          <a:prstGeom prst="line">
            <a:avLst/>
          </a:prstGeom>
          <a:ln w="3810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ятиугольник 49">
            <a:extLst>
              <a:ext uri="{FF2B5EF4-FFF2-40B4-BE49-F238E27FC236}">
                <a16:creationId xmlns:a16="http://schemas.microsoft.com/office/drawing/2014/main" id="{F991CCBA-05A2-460C-B281-AD82C908C9D1}"/>
              </a:ext>
            </a:extLst>
          </p:cNvPr>
          <p:cNvSpPr/>
          <p:nvPr/>
        </p:nvSpPr>
        <p:spPr>
          <a:xfrm rot="10800000">
            <a:off x="4682303" y="3250022"/>
            <a:ext cx="2856413" cy="1992856"/>
          </a:xfrm>
          <a:prstGeom prst="pentagon">
            <a:avLst/>
          </a:prstGeom>
          <a:solidFill>
            <a:schemeClr val="bg1"/>
          </a:solidFill>
          <a:ln w="381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5DFB394E-70B8-4A8C-98F8-3B86F5140C56}"/>
              </a:ext>
            </a:extLst>
          </p:cNvPr>
          <p:cNvGrpSpPr/>
          <p:nvPr/>
        </p:nvGrpSpPr>
        <p:grpSpPr>
          <a:xfrm>
            <a:off x="4544038" y="1201586"/>
            <a:ext cx="3167475" cy="1919128"/>
            <a:chOff x="265509" y="425478"/>
            <a:chExt cx="6628890" cy="5934354"/>
          </a:xfrm>
        </p:grpSpPr>
        <p:pic>
          <p:nvPicPr>
            <p:cNvPr id="60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DE6853A5-4170-4B36-A0FF-7EF1F8BD71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78" t="3198" r="72084" b="75136"/>
            <a:stretch>
              <a:fillRect/>
            </a:stretch>
          </p:blipFill>
          <p:spPr bwMode="auto">
            <a:xfrm>
              <a:off x="1333497" y="623882"/>
              <a:ext cx="1381126" cy="1485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5E24DA0E-8997-450D-BE09-1A7760F3A3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889" t="8750" r="40972" b="74305"/>
            <a:stretch>
              <a:fillRect/>
            </a:stretch>
          </p:blipFill>
          <p:spPr bwMode="auto">
            <a:xfrm>
              <a:off x="2557459" y="425478"/>
              <a:ext cx="1381126" cy="1162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A5CAAE72-7262-4062-8F41-1A55C6DE82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861" t="4861" r="10000" b="72222"/>
            <a:stretch>
              <a:fillRect/>
            </a:stretch>
          </p:blipFill>
          <p:spPr bwMode="auto">
            <a:xfrm>
              <a:off x="5350392" y="1458536"/>
              <a:ext cx="1381125" cy="1571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133F144E-CABC-42EB-B559-87BAE8F188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9" t="25695" r="69722" b="48889"/>
            <a:stretch>
              <a:fillRect/>
            </a:stretch>
          </p:blipFill>
          <p:spPr bwMode="auto">
            <a:xfrm>
              <a:off x="573877" y="1526381"/>
              <a:ext cx="1381126" cy="174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7835CDF8-AAF6-4C44-8660-619F1F23E8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250" t="30694" r="33889" b="50000"/>
            <a:stretch>
              <a:fillRect/>
            </a:stretch>
          </p:blipFill>
          <p:spPr bwMode="auto">
            <a:xfrm>
              <a:off x="4137282" y="614401"/>
              <a:ext cx="1704976" cy="1323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000032D2-148A-4578-8CFF-72AE6ADE4C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11" t="28333" r="10694" b="49445"/>
            <a:stretch>
              <a:fillRect/>
            </a:stretch>
          </p:blipFill>
          <p:spPr bwMode="auto">
            <a:xfrm>
              <a:off x="5818073" y="2906646"/>
              <a:ext cx="1076326" cy="1524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7F334708-BD15-4298-A245-1378179649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66" t="53471" r="71944" b="24307"/>
            <a:stretch>
              <a:fillRect/>
            </a:stretch>
          </p:blipFill>
          <p:spPr bwMode="auto">
            <a:xfrm>
              <a:off x="265509" y="3376611"/>
              <a:ext cx="1295401" cy="1524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51538F5A-8122-4760-BA71-D61946EAAA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33" t="51944" r="41528" b="25834"/>
            <a:stretch>
              <a:fillRect/>
            </a:stretch>
          </p:blipFill>
          <p:spPr bwMode="auto">
            <a:xfrm>
              <a:off x="3815881" y="4806720"/>
              <a:ext cx="1381125" cy="1524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189D5A62-0ACC-468C-87C5-4C7F18DA3B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555" t="53055" r="9306" b="27639"/>
            <a:stretch>
              <a:fillRect/>
            </a:stretch>
          </p:blipFill>
          <p:spPr bwMode="auto">
            <a:xfrm>
              <a:off x="5197006" y="4373554"/>
              <a:ext cx="1381125" cy="1323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88B77BB1-3F7B-40CC-A4D8-AF63802A8E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56" t="76666" r="71805" b="4028"/>
            <a:stretch>
              <a:fillRect/>
            </a:stretch>
          </p:blipFill>
          <p:spPr bwMode="auto">
            <a:xfrm>
              <a:off x="721515" y="4345777"/>
              <a:ext cx="1381125" cy="1323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0E85365D-CFD5-47A7-8FB9-07242543F3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778" t="77777" r="38750" b="4583"/>
            <a:stretch>
              <a:fillRect/>
            </a:stretch>
          </p:blipFill>
          <p:spPr bwMode="auto">
            <a:xfrm>
              <a:off x="1919839" y="5150152"/>
              <a:ext cx="1609726" cy="1209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6" descr="Векторы на тему «Военная робототехника» — скачивайте бесплатные векторы  высокого качества на Freepik | Freepik">
              <a:extLst>
                <a:ext uri="{FF2B5EF4-FFF2-40B4-BE49-F238E27FC236}">
                  <a16:creationId xmlns:a16="http://schemas.microsoft.com/office/drawing/2014/main" id="{6C0873C4-0AB6-49FC-998C-8368874734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324" b="94054" l="10000" r="90000">
                          <a14:foregroundMark x1="15811" y1="13784" x2="15811" y2="14595"/>
                          <a14:foregroundMark x1="48919" y1="13243" x2="49459" y2="15541"/>
                          <a14:foregroundMark x1="77703" y1="8108" x2="77703" y2="8108"/>
                          <a14:foregroundMark x1="20405" y1="34324" x2="19865" y2="36486"/>
                          <a14:foregroundMark x1="49459" y1="41081" x2="49595" y2="36622"/>
                          <a14:foregroundMark x1="84054" y1="37162" x2="82027" y2="38514"/>
                          <a14:foregroundMark x1="80946" y1="58649" x2="79324" y2="57027"/>
                          <a14:foregroundMark x1="82297" y1="82703" x2="81757" y2="85405"/>
                          <a14:foregroundMark x1="46622" y1="61081" x2="50541" y2="65405"/>
                          <a14:foregroundMark x1="15405" y1="58784" x2="20270" y2="60135"/>
                          <a14:foregroundMark x1="19595" y1="87432" x2="17432" y2="88514"/>
                          <a14:foregroundMark x1="45000" y1="88784" x2="54054" y2="82568"/>
                          <a14:foregroundMark x1="54054" y1="82568" x2="49595" y2="89324"/>
                          <a14:foregroundMark x1="49595" y1="89324" x2="44595" y2="91351"/>
                          <a14:foregroundMark x1="17973" y1="94324" x2="20676" y2="94054"/>
                          <a14:foregroundMark x1="55176" y1="37694" x2="62838" y2="40000"/>
                          <a14:foregroundMark x1="50270" y1="36216" x2="51660" y2="36634"/>
                          <a14:foregroundMark x1="50811" y1="35541" x2="50946" y2="35946"/>
                          <a14:foregroundMark x1="46892" y1="31622" x2="47027" y2="31351"/>
                          <a14:foregroundMark x1="47162" y1="33108" x2="47568" y2="35000"/>
                          <a14:foregroundMark x1="47297" y1="32297" x2="47297" y2="33649"/>
                          <a14:foregroundMark x1="17027" y1="26757" x2="17297" y2="30541"/>
                          <a14:foregroundMark x1="13378" y1="28919" x2="13243" y2="32973"/>
                          <a14:foregroundMark x1="11892" y1="7162" x2="12568" y2="14189"/>
                          <a14:foregroundMark x1="16622" y1="4324" x2="16622" y2="10000"/>
                          <a14:foregroundMark x1="14730" y1="6216" x2="15811" y2="7838"/>
                          <a14:foregroundMark x1="16486" y1="4324" x2="11622" y2="9189"/>
                          <a14:foregroundMark x1="11622" y1="9189" x2="16216" y2="5405"/>
                          <a14:backgroundMark x1="55270" y1="37973" x2="54730" y2="38514"/>
                          <a14:backgroundMark x1="54595" y1="37973" x2="52838" y2="37297"/>
                          <a14:backgroundMark x1="55405" y1="38108" x2="52027" y2="3729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50" t="73888" r="7361" b="5139"/>
            <a:stretch>
              <a:fillRect/>
            </a:stretch>
          </p:blipFill>
          <p:spPr bwMode="auto">
            <a:xfrm>
              <a:off x="2784849" y="2550319"/>
              <a:ext cx="1466851" cy="1438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2" name="Picture 12" descr="Picture background">
            <a:extLst>
              <a:ext uri="{FF2B5EF4-FFF2-40B4-BE49-F238E27FC236}">
                <a16:creationId xmlns:a16="http://schemas.microsoft.com/office/drawing/2014/main" id="{B5CFF97F-860D-4305-B57F-DFF7D1659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162" y="2779167"/>
            <a:ext cx="1213504" cy="5848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41613F2-40AD-417C-AAC9-289BB998CDDA}"/>
              </a:ext>
            </a:extLst>
          </p:cNvPr>
          <p:cNvSpPr txBox="1"/>
          <p:nvPr/>
        </p:nvSpPr>
        <p:spPr>
          <a:xfrm>
            <a:off x="17631" y="3704946"/>
            <a:ext cx="385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AQSH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Qurolli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kuchlarini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o‘qitish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robot-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platformalardan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foydalanadi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4" name="Picture 10" descr="Generated image">
            <a:extLst>
              <a:ext uri="{FF2B5EF4-FFF2-40B4-BE49-F238E27FC236}">
                <a16:creationId xmlns:a16="http://schemas.microsoft.com/office/drawing/2014/main" id="{54C77544-7B7D-404A-AF54-98A13C7EE0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98828" l="9961" r="89844">
                        <a14:foregroundMark x1="85328" y1="94563" x2="87988" y2="96029"/>
                        <a14:foregroundMark x1="75586" y1="89193" x2="79920" y2="91582"/>
                        <a14:foregroundMark x1="82263" y1="91283" x2="80371" y2="89714"/>
                        <a14:foregroundMark x1="87988" y1="96029" x2="85966" y2="94353"/>
                        <a14:foregroundMark x1="80371" y1="89714" x2="72656" y2="88542"/>
                        <a14:foregroundMark x1="86426" y1="87956" x2="86426" y2="87565"/>
                        <a14:foregroundMark x1="86035" y1="89518" x2="89160" y2="90885"/>
                        <a14:foregroundMark x1="87012" y1="98372" x2="84961" y2="98828"/>
                        <a14:foregroundMark x1="83496" y1="90820" x2="80957" y2="91862"/>
                        <a14:foregroundMark x1="83105" y1="91471" x2="80957" y2="92057"/>
                        <a14:backgroundMark x1="81152" y1="20443" x2="81543" y2="30990"/>
                        <a14:backgroundMark x1="81543" y1="30990" x2="83008" y2="22982"/>
                        <a14:backgroundMark x1="83008" y1="22982" x2="67969" y2="20247"/>
                        <a14:backgroundMark x1="67969" y1="20247" x2="55957" y2="26302"/>
                        <a14:backgroundMark x1="55957" y1="26302" x2="65430" y2="33854"/>
                        <a14:backgroundMark x1="65430" y1="33854" x2="80176" y2="30664"/>
                        <a14:backgroundMark x1="80176" y1="30664" x2="60156" y2="29622"/>
                        <a14:backgroundMark x1="93945" y1="97266" x2="94531" y2="96875"/>
                        <a14:backgroundMark x1="85547" y1="88672" x2="85547" y2="89193"/>
                        <a14:backgroundMark x1="84082" y1="91146" x2="84570" y2="90299"/>
                        <a14:backgroundMark x1="86621" y1="91406" x2="87207" y2="91732"/>
                        <a14:backgroundMark x1="84562" y1="92620" x2="85547" y2="92839"/>
                        <a14:backgroundMark x1="84082" y1="93229" x2="84766" y2="93685"/>
                        <a14:backgroundMark x1="84961" y1="93945" x2="84766" y2="93490"/>
                        <a14:backgroundMark x1="84766" y1="93490" x2="82422" y2="93815"/>
                        <a14:backgroundMark x1="81888" y1="92791" x2="80957" y2="92708"/>
                        <a14:backgroundMark x1="81712" y1="92375" x2="79102" y2="927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366" t="84216" r="3384"/>
          <a:stretch>
            <a:fillRect/>
          </a:stretch>
        </p:blipFill>
        <p:spPr bwMode="auto">
          <a:xfrm>
            <a:off x="2866364" y="2846994"/>
            <a:ext cx="2016563" cy="136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18" descr="Picture background">
            <a:extLst>
              <a:ext uri="{FF2B5EF4-FFF2-40B4-BE49-F238E27FC236}">
                <a16:creationId xmlns:a16="http://schemas.microsoft.com/office/drawing/2014/main" id="{E5EB0D47-5B07-43C3-B9FF-C3F14E1D7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354" y="5317062"/>
            <a:ext cx="1213504" cy="565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D9103DDE-C9F9-4D27-A446-43EE03546E41}"/>
              </a:ext>
            </a:extLst>
          </p:cNvPr>
          <p:cNvSpPr txBox="1"/>
          <p:nvPr/>
        </p:nvSpPr>
        <p:spPr>
          <a:xfrm>
            <a:off x="1860413" y="5882405"/>
            <a:ext cx="4028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Buyuk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Britaniya</a:t>
            </a:r>
            <a:endParaRPr lang="en-US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Harbiy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uchuvchilarni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dronlar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o‘qitadi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7" name="Объект 76">
            <a:extLst>
              <a:ext uri="{FF2B5EF4-FFF2-40B4-BE49-F238E27FC236}">
                <a16:creationId xmlns:a16="http://schemas.microsoft.com/office/drawing/2014/main" id="{2D7A4656-3004-4837-BB47-97EB88DD3C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754046"/>
              </p:ext>
            </p:extLst>
          </p:nvPr>
        </p:nvGraphicFramePr>
        <p:xfrm>
          <a:off x="5163018" y="3952979"/>
          <a:ext cx="1915116" cy="608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CorelDRAW" r:id="rId12" imgW="2097694" imgH="747203" progId="CorelDraw.Graphic.23">
                  <p:embed/>
                </p:oleObj>
              </mc:Choice>
              <mc:Fallback>
                <p:oleObj name="CorelDRAW" r:id="rId12" imgW="2097694" imgH="747203" progId="CorelDraw.Graphic.2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63018" y="3952979"/>
                        <a:ext cx="1915116" cy="608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8" name="Picture 6" descr="Generated image">
            <a:extLst>
              <a:ext uri="{FF2B5EF4-FFF2-40B4-BE49-F238E27FC236}">
                <a16:creationId xmlns:a16="http://schemas.microsoft.com/office/drawing/2014/main" id="{F6E8AF41-DE3A-46A9-9741-9C980418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6250" y1="46549" x2="60742" y2="53255"/>
                        <a14:foregroundMark x1="60742" y1="53255" x2="55176" y2="48307"/>
                        <a14:foregroundMark x1="74609" y1="42253" x2="75586" y2="45247"/>
                        <a14:backgroundMark x1="71875" y1="18164" x2="53418" y2="26367"/>
                        <a14:backgroundMark x1="53418" y1="26367" x2="82129" y2="31380"/>
                        <a14:backgroundMark x1="82129" y1="31380" x2="78516" y2="17969"/>
                        <a14:backgroundMark x1="78516" y1="17969" x2="67285" y2="18424"/>
                        <a14:backgroundMark x1="67285" y1="18424" x2="66211" y2="19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833" t="40555" r="9583" b="39723"/>
          <a:stretch>
            <a:fillRect/>
          </a:stretch>
        </p:blipFill>
        <p:spPr bwMode="auto">
          <a:xfrm>
            <a:off x="3505100" y="4764611"/>
            <a:ext cx="2341707" cy="124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8" descr="Generated image">
            <a:extLst>
              <a:ext uri="{FF2B5EF4-FFF2-40B4-BE49-F238E27FC236}">
                <a16:creationId xmlns:a16="http://schemas.microsoft.com/office/drawing/2014/main" id="{8669147C-705A-4BB0-8E7E-C28D6CB917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65430" y1="71224" x2="61035" y2="78776"/>
                        <a14:foregroundMark x1="61035" y1="78776" x2="79590" y2="73763"/>
                        <a14:foregroundMark x1="79590" y1="73763" x2="72070" y2="75260"/>
                        <a14:foregroundMark x1="75586" y1="66276" x2="75195" y2="65169"/>
                        <a14:foregroundMark x1="75879" y1="67057" x2="75391" y2="67057"/>
                        <a14:backgroundMark x1="64551" y1="17057" x2="51270" y2="19857"/>
                        <a14:backgroundMark x1="51270" y1="19857" x2="42285" y2="28060"/>
                        <a14:backgroundMark x1="42285" y1="28060" x2="76074" y2="31576"/>
                        <a14:backgroundMark x1="76074" y1="31576" x2="95996" y2="29427"/>
                        <a14:backgroundMark x1="95996" y1="29427" x2="81641" y2="17773"/>
                        <a14:backgroundMark x1="81641" y1="17773" x2="66504" y2="19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542" t="63333" r="13542" b="19167"/>
          <a:stretch>
            <a:fillRect/>
          </a:stretch>
        </p:blipFill>
        <p:spPr bwMode="auto">
          <a:xfrm>
            <a:off x="7344210" y="3162258"/>
            <a:ext cx="2139010" cy="116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4" descr="Generated image">
            <a:extLst>
              <a:ext uri="{FF2B5EF4-FFF2-40B4-BE49-F238E27FC236}">
                <a16:creationId xmlns:a16="http://schemas.microsoft.com/office/drawing/2014/main" id="{A4E8DEB4-B0F8-4C0D-892B-16B92B83C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78320" y1="16797" x2="79199" y2="17773"/>
                        <a14:foregroundMark x1="79004" y1="19596" x2="81250" y2="19596"/>
                        <a14:foregroundMark x1="80664" y1="21224" x2="82324" y2="195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102" t="14996" r="9791" b="63364"/>
          <a:stretch>
            <a:fillRect/>
          </a:stretch>
        </p:blipFill>
        <p:spPr bwMode="auto">
          <a:xfrm>
            <a:off x="6345195" y="4827384"/>
            <a:ext cx="2016563" cy="132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6" descr="Picture background">
            <a:extLst>
              <a:ext uri="{FF2B5EF4-FFF2-40B4-BE49-F238E27FC236}">
                <a16:creationId xmlns:a16="http://schemas.microsoft.com/office/drawing/2014/main" id="{ED977A51-FA6D-4B1D-9FA7-412AA84EB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282" y="5261146"/>
            <a:ext cx="1213504" cy="5701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DE5BB8D-18F0-4A26-9A19-81DD6DD290E1}"/>
              </a:ext>
            </a:extLst>
          </p:cNvPr>
          <p:cNvSpPr txBox="1"/>
          <p:nvPr/>
        </p:nvSpPr>
        <p:spPr>
          <a:xfrm>
            <a:off x="7353476" y="5923789"/>
            <a:ext cx="3874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Xitoy</a:t>
            </a:r>
            <a:endParaRPr lang="en-US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Harbiy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robottlarni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kontsentratsiyalar</a:t>
            </a:r>
            <a:endParaRPr lang="en-US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ishlab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chiqadi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080498E9-DF6C-4DB9-9576-95C7CFC852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10924" y="3335188"/>
            <a:ext cx="1213504" cy="5848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B2524302-1CED-4D37-8B9C-E21343D273C0}"/>
              </a:ext>
            </a:extLst>
          </p:cNvPr>
          <p:cNvSpPr txBox="1"/>
          <p:nvPr/>
        </p:nvSpPr>
        <p:spPr>
          <a:xfrm>
            <a:off x="8593942" y="3982724"/>
            <a:ext cx="385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Rossiya</a:t>
            </a: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Harbiylar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o‘quv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markazlarida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buNone/>
            </a:pP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robototexnikani</a:t>
            </a:r>
            <a:r>
              <a:rPr lang="en-US" sz="1800" b="1" kern="100" dirty="0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6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o‘qitadi</a:t>
            </a:r>
            <a:endParaRPr lang="ru-RU" sz="1800" b="1" kern="100" dirty="0">
              <a:solidFill>
                <a:srgbClr val="00006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53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6" presetClass="emph" presetSubtype="0" repeatCount="300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34" dur="1250" fill="hold"/>
                                        <p:tgtEl>
                                          <p:spTgt spid="7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B89821-1D45-4559-85AC-47D64312D072}"/>
              </a:ext>
            </a:extLst>
          </p:cNvPr>
          <p:cNvSpPr txBox="1">
            <a:spLocks/>
          </p:cNvSpPr>
          <p:nvPr/>
        </p:nvSpPr>
        <p:spPr>
          <a:xfrm>
            <a:off x="282102" y="125678"/>
            <a:ext cx="11653736" cy="6592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Sun'iy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jahon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tajribasi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459B7-5E67-44C3-B432-C5B51789AEC7}"/>
              </a:ext>
            </a:extLst>
          </p:cNvPr>
          <p:cNvSpPr txBox="1"/>
          <p:nvPr/>
        </p:nvSpPr>
        <p:spPr>
          <a:xfrm>
            <a:off x="9199462" y="3293822"/>
            <a:ext cx="26556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ta’limini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hukumat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grantlari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sanoatida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markazlari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yaratilmoqda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4DBABE-5288-4808-99BE-39BFEEAC2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02" y="1379784"/>
            <a:ext cx="2655651" cy="177043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268C5D-60BF-424A-BF21-4362C0BE7C17}"/>
              </a:ext>
            </a:extLst>
          </p:cNvPr>
          <p:cNvSpPr/>
          <p:nvPr/>
        </p:nvSpPr>
        <p:spPr>
          <a:xfrm>
            <a:off x="282101" y="3241326"/>
            <a:ext cx="26556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maktab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universitetlarda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yo‘nalish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o‘qitiladi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DARPA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tadqiqotlari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boriladi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4E5CD1F-9FD2-4297-99A0-0116C225FF1D}"/>
              </a:ext>
            </a:extLst>
          </p:cNvPr>
          <p:cNvCxnSpPr>
            <a:cxnSpLocks/>
          </p:cNvCxnSpPr>
          <p:nvPr/>
        </p:nvCxnSpPr>
        <p:spPr>
          <a:xfrm flipV="1">
            <a:off x="282102" y="810385"/>
            <a:ext cx="11573011" cy="9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3569DBA4-130C-4195-B3F0-7D56CE59A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32608"/>
            <a:ext cx="960107" cy="7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CB165D-7AE6-4A94-B371-D7E53FDCA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80" y="1379783"/>
            <a:ext cx="2655651" cy="1770434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8A6A21A-E5D8-4417-8A17-37D0CCD5BD4A}"/>
              </a:ext>
            </a:extLst>
          </p:cNvPr>
          <p:cNvSpPr/>
          <p:nvPr/>
        </p:nvSpPr>
        <p:spPr>
          <a:xfrm>
            <a:off x="3291080" y="3231821"/>
            <a:ext cx="26556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ta’limi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strategiyasi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maktabdan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o‘qitiladi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armiya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laboratoriyalari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573CCDC-130E-47FB-9719-F8DFA8221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271" y="1375206"/>
            <a:ext cx="2655651" cy="1770434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F0BD2B-D4CD-479D-BB0D-5E88B22B790B}"/>
              </a:ext>
            </a:extLst>
          </p:cNvPr>
          <p:cNvSpPr/>
          <p:nvPr/>
        </p:nvSpPr>
        <p:spPr>
          <a:xfrm>
            <a:off x="6245271" y="3278434"/>
            <a:ext cx="26556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 sz="1800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Yevropa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ta’limi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ko‘proq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etikaga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xavfsizligiga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doirasida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AI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treninglar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700E099-D21B-435B-872E-1FDA518F80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9462" y="1386690"/>
            <a:ext cx="2655651" cy="17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15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6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8E865A3-1099-4B64-A42A-DAAF6DC876C0}"/>
              </a:ext>
            </a:extLst>
          </p:cNvPr>
          <p:cNvCxnSpPr/>
          <p:nvPr/>
        </p:nvCxnSpPr>
        <p:spPr>
          <a:xfrm>
            <a:off x="431369" y="836712"/>
            <a:ext cx="11329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9CE6A8E6-0E64-4FAC-BFEB-DC98AFBF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32608"/>
            <a:ext cx="960107" cy="7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7B9CFA-AA0C-4C2E-A3E1-84C06B603270}"/>
              </a:ext>
            </a:extLst>
          </p:cNvPr>
          <p:cNvSpPr/>
          <p:nvPr/>
        </p:nvSpPr>
        <p:spPr>
          <a:xfrm>
            <a:off x="431370" y="113623"/>
            <a:ext cx="89322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7DFB0270-F26E-49C9-8BAA-46B040BCF8B9}"/>
              </a:ext>
            </a:extLst>
          </p:cNvPr>
          <p:cNvGrpSpPr/>
          <p:nvPr/>
        </p:nvGrpSpPr>
        <p:grpSpPr>
          <a:xfrm>
            <a:off x="68260" y="900341"/>
            <a:ext cx="2890089" cy="3488767"/>
            <a:chOff x="51194" y="675255"/>
            <a:chExt cx="2167567" cy="2616575"/>
          </a:xfrm>
        </p:grpSpPr>
        <p:pic>
          <p:nvPicPr>
            <p:cNvPr id="9" name="Рисунок 8" descr="Military command center with AI holographic map, futuristic strategy planning, officers using artificial intelligence sy...">
              <a:extLst>
                <a:ext uri="{FF2B5EF4-FFF2-40B4-BE49-F238E27FC236}">
                  <a16:creationId xmlns:a16="http://schemas.microsoft.com/office/drawing/2014/main" id="{6860D337-2719-402A-A8EA-0B54D6B5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1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216C6E27-260A-4CDC-9968-FA68A1C0A55A}"/>
                </a:ext>
              </a:extLst>
            </p:cNvPr>
            <p:cNvSpPr/>
            <p:nvPr/>
          </p:nvSpPr>
          <p:spPr>
            <a:xfrm>
              <a:off x="51194" y="675255"/>
              <a:ext cx="2159634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Harbiy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strategiya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b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qaror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qabul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qilish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tizimlari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1600" dirty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2E7DF10-B885-438F-B831-5EA9A4C25920}"/>
              </a:ext>
            </a:extLst>
          </p:cNvPr>
          <p:cNvGrpSpPr/>
          <p:nvPr/>
        </p:nvGrpSpPr>
        <p:grpSpPr>
          <a:xfrm>
            <a:off x="3019167" y="3271924"/>
            <a:ext cx="2884812" cy="3495553"/>
            <a:chOff x="2264375" y="2453942"/>
            <a:chExt cx="2163609" cy="2621665"/>
          </a:xfrm>
        </p:grpSpPr>
        <p:pic>
          <p:nvPicPr>
            <p:cNvPr id="10" name="Рисунок 9" descr="Futuristic autonomous military drones flying, AI-controlled robots on battlefield, modern defense technology">
              <a:extLst>
                <a:ext uri="{FF2B5EF4-FFF2-40B4-BE49-F238E27FC236}">
                  <a16:creationId xmlns:a16="http://schemas.microsoft.com/office/drawing/2014/main" id="{D549863B-81F6-446B-A4C3-CA4E5FCD0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375" y="2915607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35A2DF6-F1A8-46F3-BA44-93BAAFA5661C}"/>
                </a:ext>
              </a:extLst>
            </p:cNvPr>
            <p:cNvSpPr/>
            <p:nvPr/>
          </p:nvSpPr>
          <p:spPr>
            <a:xfrm>
              <a:off x="2267984" y="2453942"/>
              <a:ext cx="2160000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067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Avtonom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dronlar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robotlashtirilgan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texnikalar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B6524FD-1C5C-447F-BCF1-00902131FF4D}"/>
              </a:ext>
            </a:extLst>
          </p:cNvPr>
          <p:cNvGrpSpPr/>
          <p:nvPr/>
        </p:nvGrpSpPr>
        <p:grpSpPr>
          <a:xfrm>
            <a:off x="9073137" y="900341"/>
            <a:ext cx="2889603" cy="3488767"/>
            <a:chOff x="6804853" y="675255"/>
            <a:chExt cx="2167202" cy="2616575"/>
          </a:xfrm>
        </p:grpSpPr>
        <p:pic>
          <p:nvPicPr>
            <p:cNvPr id="12" name="Рисунок 11" descr="Digital cybersecurity shield, AI neural network protecting military systems, cyber warfare concept illustration in army ...">
              <a:extLst>
                <a:ext uri="{FF2B5EF4-FFF2-40B4-BE49-F238E27FC236}">
                  <a16:creationId xmlns:a16="http://schemas.microsoft.com/office/drawing/2014/main" id="{C1DF9DCE-A331-4833-9F8B-EF44C541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2055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B3C71A-5F29-449C-BED0-95F8F71F134D}"/>
                </a:ext>
              </a:extLst>
            </p:cNvPr>
            <p:cNvSpPr/>
            <p:nvPr/>
          </p:nvSpPr>
          <p:spPr>
            <a:xfrm>
              <a:off x="6804853" y="675255"/>
              <a:ext cx="2159635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067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Kiberxavfsizlik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axborot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urushi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8388A05-F6A1-4931-B346-88185B91379A}"/>
              </a:ext>
            </a:extLst>
          </p:cNvPr>
          <p:cNvGrpSpPr/>
          <p:nvPr/>
        </p:nvGrpSpPr>
        <p:grpSpPr>
          <a:xfrm>
            <a:off x="6157229" y="3381688"/>
            <a:ext cx="2880000" cy="3390829"/>
            <a:chOff x="4617922" y="2536266"/>
            <a:chExt cx="2160000" cy="25431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CAC55F8-8B02-4977-BDE3-3DB098B9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7922" y="2919388"/>
              <a:ext cx="2160000" cy="2160000"/>
            </a:xfrm>
            <a:prstGeom prst="rect">
              <a:avLst/>
            </a:prstGeom>
            <a:noFill/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188A7BB-78E5-406B-A642-834DC4814BF9}"/>
                </a:ext>
              </a:extLst>
            </p:cNvPr>
            <p:cNvSpPr/>
            <p:nvPr/>
          </p:nvSpPr>
          <p:spPr>
            <a:xfrm>
              <a:off x="5252126" y="2536266"/>
              <a:ext cx="84542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Razvedka</a:t>
              </a:r>
              <a:r>
                <a:rPr lang="en-US" sz="2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24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F67F0D-D41D-4AFA-94CD-280CC4E9D6E5}"/>
              </a:ext>
            </a:extLst>
          </p:cNvPr>
          <p:cNvSpPr txBox="1"/>
          <p:nvPr/>
        </p:nvSpPr>
        <p:spPr>
          <a:xfrm>
            <a:off x="3250835" y="893859"/>
            <a:ext cx="5539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Jahonning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rivojlangan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davlatlari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yo‘nalishlarda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qo‘llanilmoqda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948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68" y="131662"/>
            <a:ext cx="9985111" cy="578458"/>
          </a:xfrm>
        </p:spPr>
        <p:txBody>
          <a:bodyPr>
            <a:normAutofit fontScale="90000"/>
          </a:bodyPr>
          <a:lstStyle/>
          <a:p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E94E60D-4F23-404E-8C59-A53D2739B449}"/>
              </a:ext>
            </a:extLst>
          </p:cNvPr>
          <p:cNvCxnSpPr/>
          <p:nvPr/>
        </p:nvCxnSpPr>
        <p:spPr>
          <a:xfrm>
            <a:off x="431369" y="836712"/>
            <a:ext cx="11329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C5B85A21-B2A8-4174-B512-75618B91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32608"/>
            <a:ext cx="960107" cy="7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486066-BF92-45FC-A6ED-C83956BFC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8" y="988190"/>
            <a:ext cx="1080000" cy="108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E0EA88-4824-4C58-BED6-409DBFB19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1368" y="2240046"/>
            <a:ext cx="1080000" cy="108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18228D2-280F-43C1-BDE5-95FAE37ABC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8" y="3784928"/>
            <a:ext cx="1080000" cy="108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1D9A71-B815-431E-B83C-7681C99E10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8" y="5329810"/>
            <a:ext cx="1080000" cy="10800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03C8A9-616F-4376-9F70-16CCE1680EA0}"/>
              </a:ext>
            </a:extLst>
          </p:cNvPr>
          <p:cNvSpPr/>
          <p:nvPr/>
        </p:nvSpPr>
        <p:spPr>
          <a:xfrm>
            <a:off x="1955367" y="1206017"/>
            <a:ext cx="102366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akademiyalar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o‘quv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yurtlarida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AI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kurslari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etish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831F563-984A-4B0A-BB01-590B14C91F47}"/>
              </a:ext>
            </a:extLst>
          </p:cNvPr>
          <p:cNvSpPr/>
          <p:nvPr/>
        </p:nvSpPr>
        <p:spPr>
          <a:xfrm>
            <a:off x="1955368" y="2306042"/>
            <a:ext cx="102366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Xalqaro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tajribani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moslashtirish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NATO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rivojlangan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mamlakatlarning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AI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dasturlarini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O‘zbekiston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sharoitiga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AD44970-8D39-441A-8B1A-D8946B94049C}"/>
              </a:ext>
            </a:extLst>
          </p:cNvPr>
          <p:cNvSpPr/>
          <p:nvPr/>
        </p:nvSpPr>
        <p:spPr>
          <a:xfrm>
            <a:off x="1955367" y="3910821"/>
            <a:ext cx="99608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Laboratoriyalar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dron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texnologiyasi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kiberxavfsizlik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AI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treninglari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6999157-5AA2-41F9-B956-581D6C67390D}"/>
              </a:ext>
            </a:extLst>
          </p:cNvPr>
          <p:cNvSpPr/>
          <p:nvPr/>
        </p:nvSpPr>
        <p:spPr>
          <a:xfrm>
            <a:off x="1955366" y="5546644"/>
            <a:ext cx="98052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Innovatsion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startaplarni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qo‘llab-quvvatlash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mudofaa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sohasida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AI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mutaxassislarini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ko‘paytirish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DABF6E-AA5E-4547-8714-0814ABCA6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899" y="-99587"/>
            <a:ext cx="12587797" cy="705717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17EC9B1-BF44-4BB9-BEB2-D9509F8E1B18}"/>
              </a:ext>
            </a:extLst>
          </p:cNvPr>
          <p:cNvSpPr/>
          <p:nvPr/>
        </p:nvSpPr>
        <p:spPr>
          <a:xfrm>
            <a:off x="2264229" y="4760685"/>
            <a:ext cx="8171542" cy="16691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Latn-UZ" sz="2800" b="1" i="0" u="none" strike="noStrike" kern="1200" cap="none" spc="0" normalizeH="0" baseline="0" noProof="0" dirty="0">
                <a:ln>
                  <a:noFill/>
                </a:ln>
                <a:solidFill>
                  <a:srgbClr val="052F6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E’TIBORINGIZ UCHUN RAHMAT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52F61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935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371</TotalTime>
  <Words>545</Words>
  <Application>Microsoft Office PowerPoint</Application>
  <PresentationFormat>Широкоэкранный</PresentationFormat>
  <Paragraphs>89</Paragraphs>
  <Slides>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CorelDRAW</vt:lpstr>
      <vt:lpstr>Презентация PowerPoint</vt:lpstr>
      <vt:lpstr>O‘ZBEKISTON RESPUBLIKASI HARBIY XAVFSIZLIK VA MUDOFAA UNIVERSITETINING AXBOROT KOMMUNIKATSIYA TEXNOLOGIYALARI VA HARBIY ALOQA INSTITUTI</vt:lpstr>
      <vt:lpstr>O‘ZBEKISTON RESPUBLIKASI HARBIY XAVFSIZLIK VA MUDOFAA UNIVERSITETINING AXBOROT KOMMUNIKATSIYA TEXNOLOGIYALARI VA HARBIY ALOQA INSTITUTI</vt:lpstr>
      <vt:lpstr>O‘ZBEKISTON RESPUBLIKASI HARBIY XAVFSIZLIK VA MUDOFAA UNIVERSITETINING AXBOROT KOMMUNIKATSIYA TEXNOLOGIYALARI VA HARBIY ALOQA INSTITUTI</vt:lpstr>
      <vt:lpstr>Презентация PowerPoint</vt:lpstr>
      <vt:lpstr>Презентация PowerPoint</vt:lpstr>
      <vt:lpstr>O‘zbekiston: Mudofaa sohasida AI o‘qitish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216-PC</cp:lastModifiedBy>
  <cp:revision>82</cp:revision>
  <dcterms:created xsi:type="dcterms:W3CDTF">2025-09-09T13:26:52Z</dcterms:created>
  <dcterms:modified xsi:type="dcterms:W3CDTF">2025-09-12T12:28:08Z</dcterms:modified>
</cp:coreProperties>
</file>