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8" r:id="rId2"/>
    <p:sldId id="256" r:id="rId3"/>
    <p:sldId id="267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279" r:id="rId3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 varScale="1">
        <p:scale>
          <a:sx n="109" d="100"/>
          <a:sy n="109" d="100"/>
        </p:scale>
        <p:origin x="55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373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0129C-235B-4D8C-AE18-1AFDACB9457F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FC4C5-CFD5-48D1-A9DC-B0137E8D85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059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FC4C5-CFD5-48D1-A9DC-B0137E8D855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42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88665-0A83-46F0-97FF-E36BBB913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D0F94B-6BB6-4211-A9DB-407EB24DC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F8CC7A-60CC-47A4-90F4-FC0F9656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CCA5DB-3D4A-4E61-B5B4-A93557E9E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13CCAF-B104-4EAF-B159-547700F84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79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EE793-4FED-421E-825A-9D8E25A9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DBFD74-B824-4047-BC20-22D072411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BE3F80-37D6-4CB3-B875-25CF018E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B149C3-164E-4E92-B3F7-757F67AF0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D73761-C248-47F6-A13C-0508B9B1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50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39E1A-5CD7-4F23-BBE1-1CFA7C5D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696B0E-2CAB-4325-867D-577B627F0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0C3522-5DE9-4D98-BBC8-9C80965F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5A4169-CCCA-4D7E-A767-3DC7683B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739DE9-C6C7-49DB-9CD1-70989CB54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97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C2488-748D-4CF7-8839-AE1DBBBBC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B3C09A-AC4D-44AC-BCB0-B9D90F901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9BE5EC-0198-48AB-B48B-1791D7CA0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196650-BB48-4560-90DA-F0D4F40C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9B360-2758-4548-AD73-688A6339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5EA974-22F9-4B8E-A82D-B0ABAE929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01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FFADA-5532-43CE-BF8C-B0D7C351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F7FBF6-7A2F-4738-8E94-7A471C0B9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72FD0E-7C3E-4256-9650-2D33BD24C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FE7B76-DA8F-405C-8D3F-A5DA1D500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3565F1A-ACCB-44F0-9FFA-AC25D99E3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85369A-740E-4D7F-8D3F-CD315DE9A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B2E57CB-ECC0-47C5-9FDE-D1D35DD2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B56CF8-E54A-4501-ADA9-90E3B5B97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78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6EEDD-E6E1-4E6A-A40B-E1723B86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9DD0869-B148-4CA6-8BF5-B6B296D0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B7A404-092B-4A40-B21B-CC80A6F0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35704C-25A9-4F78-8049-4885832F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55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45CBAB-BB86-43D9-8CF0-10B5207E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30994C-30CA-492A-8F45-322EAD7C6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55E2EA-E6E2-463F-8BC2-19A2F5D2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2168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BB5051-2D54-4843-8CAC-B0E9A072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BC2079-95F4-4172-83B7-7E0F61D3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E1B37F-539A-499A-A9AD-BD69492C71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71CEBF-5FD4-4EAD-A5A8-E551AAE72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A73AD1-4D19-46F8-978F-1ACE50F8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72C082-7BE7-4EF8-B6F2-0CECDC1F5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85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D46C4-0CCD-426A-85F8-8D592426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4306579-36CB-4684-9573-1E34743EC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A0C213-7214-4DED-A2B7-095B88E38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6ABF13-C09D-4B80-9894-209844E7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7E531E-536A-4903-B27B-ABFD11DD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F16472-4AAC-4C92-88BB-2EA22576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76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2900B-F1D0-466A-9248-61F1DC0E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9F31FD-F7F9-4C6E-9220-233145F5E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4DB741-F7D8-4CA0-A828-49B2DAFF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78C331-8AD7-48CD-9EC2-F95ADED2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13C16E-1D5B-4B0C-8D75-0DCEE7B2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18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6B0E14E-EEB0-4D3C-A677-EAAC90018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C2A206-9D88-49D4-B940-1EEACA294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082151-73D3-43AD-B594-C596C17D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E3DB82-BC19-4080-BCC2-81F2AC46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F8CC48-6544-475C-890B-9F09F613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14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1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F43FA4-044B-4291-AFCE-7D3CAB71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02FE2B-1137-442C-9E84-EF16838BD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00F212-3D99-4C47-88BD-2C8137E5E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624B31-853B-4106-9FC1-2735C8C9D721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625210-714E-468B-BF80-45024BD75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A014C8-6148-4304-84F0-2F592720E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6D754-4A46-4CB0-82AF-25825107C1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83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643182" y="4136127"/>
            <a:ext cx="9137268" cy="6095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Прямоугольник 10"/>
          <p:cNvSpPr/>
          <p:nvPr/>
        </p:nvSpPr>
        <p:spPr>
          <a:xfrm>
            <a:off x="5139796" y="6307447"/>
            <a:ext cx="1661480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67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867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3360" y="306896"/>
            <a:ext cx="11617291" cy="748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2133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2133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99451" y="2642960"/>
            <a:ext cx="9985109" cy="420564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4-MAVZU: Python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mashinali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o‘qitish</a:t>
            </a:r>
            <a:r>
              <a:rPr lang="en-US" sz="2133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33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asoslari</a:t>
            </a:r>
            <a:endParaRPr lang="ru-RU" sz="2133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011" y="4801068"/>
            <a:ext cx="5999989" cy="9952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</a:t>
            </a:r>
            <a:r>
              <a:rPr lang="uz-Cyrl-UZ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sikli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67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boshlig‘i</a:t>
            </a:r>
            <a: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1867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133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2133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  <a:endParaRPr lang="en-US" sz="1867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152400" y="1992709"/>
            <a:ext cx="11887200" cy="1376980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4-mavzu. 1-mashg‘ulot (</a:t>
            </a:r>
            <a:r>
              <a:rPr lang="en-US" sz="4450" dirty="0" err="1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ma’ruza</a:t>
            </a: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):</a:t>
            </a:r>
          </a:p>
          <a:p>
            <a:pPr algn="ctr">
              <a:lnSpc>
                <a:spcPts val="5550"/>
              </a:lnSpc>
            </a:pP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Mashinali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o‘qitishga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kirish</a:t>
            </a:r>
            <a:endParaRPr lang="en-US" sz="4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3" y="2670969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Mashinali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o‘qitishga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kirish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21E122D-499C-49BF-8171-610B3C599041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1">
            <a:extLst>
              <a:ext uri="{FF2B5EF4-FFF2-40B4-BE49-F238E27FC236}">
                <a16:creationId xmlns:a16="http://schemas.microsoft.com/office/drawing/2014/main" id="{7AABC1BB-28A2-417B-BDFA-3C28B11067A8}"/>
              </a:ext>
            </a:extLst>
          </p:cNvPr>
          <p:cNvSpPr/>
          <p:nvPr/>
        </p:nvSpPr>
        <p:spPr>
          <a:xfrm>
            <a:off x="1792753" y="3220589"/>
            <a:ext cx="8606489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Sun'iy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farqi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0CE0B-C2B3-4A5E-BCFB-77EB3FEBBFC6}"/>
              </a:ext>
            </a:extLst>
          </p:cNvPr>
          <p:cNvSpPr txBox="1"/>
          <p:nvPr/>
        </p:nvSpPr>
        <p:spPr>
          <a:xfrm>
            <a:off x="534865" y="740743"/>
            <a:ext cx="11122270" cy="1659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Hozirgi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raqamli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davrda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faoliyatining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ko‘plab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sohalarida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tibbiyotdan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tortib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moliyaviy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tizimlargacha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avtomatlashtirish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intellektual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jarayonlarini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zarurati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keskin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ortmoqda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markazida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(Machine Learning, ML)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texnologiyasi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(SI)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sohasining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tarmog‘i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kompyuterlarga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ma’lumotlardan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mustaqil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ravishda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tajriba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A09AA-160E-45BE-A8A4-2DED75E330E0}"/>
              </a:ext>
            </a:extLst>
          </p:cNvPr>
          <p:cNvSpPr txBox="1"/>
          <p:nvPr/>
        </p:nvSpPr>
        <p:spPr>
          <a:xfrm>
            <a:off x="537792" y="2990824"/>
            <a:ext cx="11120805" cy="2296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o‘qitishning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mohiyati</a:t>
            </a: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dasturlashtirilmagan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Ya’ni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dastur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topshiriq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qo‘lda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yozilgan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algoritmga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balki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o‘rganilgan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andazalar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(patterns)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qoidalar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tayanadi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aytganda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kompyuterlarga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o‘ylash”ni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balki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ma’lumotdan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xulosa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chiqarishni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o‘rgatadi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4FF28D-5CB1-431B-B516-D5D91B760DBA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1.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Mashinali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o‘qitish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haqida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umumiy</a:t>
            </a:r>
            <a:r>
              <a:rPr lang="en-US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</a:t>
            </a:r>
            <a:endParaRPr lang="en-US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E4BFDC3-9DE4-4109-A8B1-227FD0A13204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54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7066F8-F681-404D-BC27-A21C4602820B}"/>
              </a:ext>
            </a:extLst>
          </p:cNvPr>
          <p:cNvSpPr txBox="1"/>
          <p:nvPr/>
        </p:nvSpPr>
        <p:spPr>
          <a:xfrm>
            <a:off x="3047268" y="466174"/>
            <a:ext cx="6097464" cy="112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Faraz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berdingiz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75D706F-AB59-4201-A409-C5887CE79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44179"/>
              </p:ext>
            </p:extLst>
          </p:nvPr>
        </p:nvGraphicFramePr>
        <p:xfrm>
          <a:off x="3719707" y="1853960"/>
          <a:ext cx="4712115" cy="14332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0705">
                  <a:extLst>
                    <a:ext uri="{9D8B030D-6E8A-4147-A177-3AD203B41FA5}">
                      <a16:colId xmlns:a16="http://schemas.microsoft.com/office/drawing/2014/main" val="3687940825"/>
                    </a:ext>
                  </a:extLst>
                </a:gridCol>
                <a:gridCol w="1570705">
                  <a:extLst>
                    <a:ext uri="{9D8B030D-6E8A-4147-A177-3AD203B41FA5}">
                      <a16:colId xmlns:a16="http://schemas.microsoft.com/office/drawing/2014/main" val="2066057559"/>
                    </a:ext>
                  </a:extLst>
                </a:gridCol>
                <a:gridCol w="1570705">
                  <a:extLst>
                    <a:ext uri="{9D8B030D-6E8A-4147-A177-3AD203B41FA5}">
                      <a16:colId xmlns:a16="http://schemas.microsoft.com/office/drawing/2014/main" val="1628459519"/>
                    </a:ext>
                  </a:extLst>
                </a:gridCol>
              </a:tblGrid>
              <a:tr h="3583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maydoni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(m²)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Xonalar soni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Narxi (ming $)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4581121"/>
                  </a:ext>
                </a:extLst>
              </a:tr>
              <a:tr h="3583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3792711"/>
                  </a:ext>
                </a:extLst>
              </a:tr>
              <a:tr h="3583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6709333"/>
                  </a:ext>
                </a:extLst>
              </a:tr>
              <a:tr h="3583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50071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2AF3C4-42F5-4F6C-9731-FCB4480F5E59}"/>
              </a:ext>
            </a:extLst>
          </p:cNvPr>
          <p:cNvSpPr txBox="1"/>
          <p:nvPr/>
        </p:nvSpPr>
        <p:spPr>
          <a:xfrm>
            <a:off x="3047268" y="3746596"/>
            <a:ext cx="6097464" cy="196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shunday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savol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berasiz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“90 m²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xonali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taxminan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qancha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?”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jadvaldagi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bog‘liqlikni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taxminiy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Taxminan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70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dollar”.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280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39308D-9F18-43ED-9356-0E6464280CF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28700"/>
            <a:ext cx="9601200" cy="480060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AC2313-EEE8-494D-9998-FFD41A556D25}"/>
              </a:ext>
            </a:extLst>
          </p:cNvPr>
          <p:cNvSpPr txBox="1"/>
          <p:nvPr/>
        </p:nvSpPr>
        <p:spPr>
          <a:xfrm>
            <a:off x="2841380" y="360457"/>
            <a:ext cx="6509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o‘qitishning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bosqichlari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28055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793510-2B18-4671-81DC-DA4936BB35A5}"/>
              </a:ext>
            </a:extLst>
          </p:cNvPr>
          <p:cNvSpPr txBox="1"/>
          <p:nvPr/>
        </p:nvSpPr>
        <p:spPr>
          <a:xfrm>
            <a:off x="1349193" y="2445333"/>
            <a:ext cx="9493614" cy="1967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1️</a:t>
            </a:r>
            <a:r>
              <a:rPr lang="en-US" sz="18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 Preprocessing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oldindan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tayyorlash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— ML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jarayonining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birinchi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Ushbu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xom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tozalanmagan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tozalanadi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normallashtiriladi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yetishmayotgan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to‘ldiriladi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tayyor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holatga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keltiriladi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ma’lumotdagi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shovqin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xatolik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nomuvofiqliklarni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bartaraf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2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75415B-DEB4-407B-A864-BBEFC05716BB}"/>
              </a:ext>
            </a:extLst>
          </p:cNvPr>
          <p:cNvSpPr txBox="1"/>
          <p:nvPr/>
        </p:nvSpPr>
        <p:spPr>
          <a:xfrm>
            <a:off x="3048733" y="2286059"/>
            <a:ext cx="6097464" cy="228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2️</a:t>
            </a:r>
            <a:r>
              <a:rPr lang="en-US" sz="18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Feature Selection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Xususiyatlarni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muhim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xususiyatlar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(features)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tanlanadi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Ba’zan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ustunlar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ta’sir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qiluvchi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xususiyatlar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ajratib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soddalashtirish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aniqligini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41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9A374C-88A2-41D3-A8B0-37DB834E8310}"/>
              </a:ext>
            </a:extLst>
          </p:cNvPr>
          <p:cNvSpPr txBox="1"/>
          <p:nvPr/>
        </p:nvSpPr>
        <p:spPr>
          <a:xfrm>
            <a:off x="3048733" y="2126785"/>
            <a:ext cx="6097464" cy="260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3️</a:t>
            </a:r>
            <a:r>
              <a:rPr lang="en-US" sz="18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Training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tanlangan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Ya’ni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Linear Regression, Decision Tree, Neural Network)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orasidagi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munosabatlarni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andazalar”ni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olishni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869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773CFF-237A-4825-A694-81E08E2078AC}"/>
              </a:ext>
            </a:extLst>
          </p:cNvPr>
          <p:cNvSpPr txBox="1"/>
          <p:nvPr/>
        </p:nvSpPr>
        <p:spPr>
          <a:xfrm>
            <a:off x="3047268" y="1263599"/>
            <a:ext cx="6097464" cy="292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4️</a:t>
            </a:r>
            <a:r>
              <a:rPr lang="en-US" sz="18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.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Evaluation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bo‘lgach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sinov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tekshiriladi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aniqlik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(accuracy)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xatolik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(error rate)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F1-score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ROC-AUC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mezonlar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sifati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ishonchliligini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umumlashtirish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qobiliyatini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tekshirish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00081-9F4F-44F6-AAF4-D0EF5C069A6C}"/>
              </a:ext>
            </a:extLst>
          </p:cNvPr>
          <p:cNvSpPr txBox="1"/>
          <p:nvPr/>
        </p:nvSpPr>
        <p:spPr>
          <a:xfrm>
            <a:off x="3047268" y="4248652"/>
            <a:ext cx="6097464" cy="703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Keyinchalik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agar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natija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qoniqarli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bo‘lmasa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takrorlanadi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sikli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deyiladi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F1DC4CD-392F-426F-80AA-30C7F98FEF2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548" y="1169377"/>
            <a:ext cx="9050904" cy="451924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E54AF5-A61A-421E-90AC-EF42882E341D}"/>
              </a:ext>
            </a:extLst>
          </p:cNvPr>
          <p:cNvSpPr txBox="1"/>
          <p:nvPr/>
        </p:nvSpPr>
        <p:spPr>
          <a:xfrm>
            <a:off x="3267808" y="545096"/>
            <a:ext cx="5656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ishlaydi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10237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31436-5285-42D9-86A8-6D0DCAF5793A}"/>
              </a:ext>
            </a:extLst>
          </p:cNvPr>
          <p:cNvSpPr txBox="1"/>
          <p:nvPr/>
        </p:nvSpPr>
        <p:spPr>
          <a:xfrm>
            <a:off x="3048733" y="1813622"/>
            <a:ext cx="6097464" cy="323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Problem Statement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Muammoni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muammo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belgilanadi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qilinmoqda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turdagi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Kelgusi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oyda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savdo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hajmini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.”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loyihasining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poydevori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hisoblanadi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535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97C1F2-DFF5-4AE4-9F39-4C33C8FE3E19}"/>
              </a:ext>
            </a:extLst>
          </p:cNvPr>
          <p:cNvSpPr txBox="1"/>
          <p:nvPr/>
        </p:nvSpPr>
        <p:spPr>
          <a:xfrm>
            <a:off x="3048733" y="2286059"/>
            <a:ext cx="6097464" cy="228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Data Collection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yig‘ish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kerakli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turli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manbalardan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sensorlar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API,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bazalar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yig‘iladi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Yig‘ilgan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xom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(raw data)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shaklida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mijozlar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xaridi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ob-havo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narxlar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trafik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92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221B74-E9B1-46DA-9DB6-3B3A766A215D}"/>
              </a:ext>
            </a:extLst>
          </p:cNvPr>
          <p:cNvSpPr txBox="1"/>
          <p:nvPr/>
        </p:nvSpPr>
        <p:spPr>
          <a:xfrm>
            <a:off x="3048733" y="1654348"/>
            <a:ext cx="6097464" cy="3549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Data Cleaning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tozalash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Xom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ko‘pincha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xatolar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yo‘qolgan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ortiqcha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yozuvlar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Yetishmayotgan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to‘ldiriladi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Takrorlar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olib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tashlanadi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Formatlar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yagona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shaklga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keltiriladi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toza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sifatli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tayyorlash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89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D2E811-E734-48A0-8111-9BC3FD844ABE}"/>
              </a:ext>
            </a:extLst>
          </p:cNvPr>
          <p:cNvSpPr txBox="1"/>
          <p:nvPr/>
        </p:nvSpPr>
        <p:spPr>
          <a:xfrm>
            <a:off x="3048733" y="2126785"/>
            <a:ext cx="6097464" cy="260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Feature Engineering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Xususiyatlarni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mavjud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xususiyatlar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(features)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hosil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sana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ustunidan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“oy”,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hafta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”,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mavsum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belgilar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ajratiladi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muhim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belgilarni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530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ADBB1C-A748-4523-9A41-81C24CDB8208}"/>
              </a:ext>
            </a:extLst>
          </p:cNvPr>
          <p:cNvSpPr txBox="1"/>
          <p:nvPr/>
        </p:nvSpPr>
        <p:spPr>
          <a:xfrm>
            <a:off x="3048733" y="1487828"/>
            <a:ext cx="6097464" cy="388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Exploratory Data Analysis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EDA)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vizual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grafiklar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korrelyatsiyalar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taqsimotlar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biz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quyidagilarni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bilamiz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Qaysi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o‘zgaruvchilar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muhim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Ma’lumotda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qanday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naqshlar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G‘ayritabiiy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(outliers)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mavjudmi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Vositalar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Python’da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matplotlib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seaborn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pandas-profiling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300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F322A8-7CBE-4777-84FB-7BCC85840392}"/>
              </a:ext>
            </a:extLst>
          </p:cNvPr>
          <p:cNvSpPr txBox="1"/>
          <p:nvPr/>
        </p:nvSpPr>
        <p:spPr>
          <a:xfrm>
            <a:off x="3048733" y="2126785"/>
            <a:ext cx="6097464" cy="2604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 Data Modeling (Model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tanlangan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yordamida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o‘qitiladi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(training)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chiziqli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regressiya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daraxti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SVM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neyron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tarmoqlar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natijani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qiluvchi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295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2C061-2D75-48A9-BB5B-12BA2C8454B4}"/>
              </a:ext>
            </a:extLst>
          </p:cNvPr>
          <p:cNvSpPr txBox="1"/>
          <p:nvPr/>
        </p:nvSpPr>
        <p:spPr>
          <a:xfrm>
            <a:off x="3048733" y="2286059"/>
            <a:ext cx="6097464" cy="228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 Model Evaluation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sinov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tekshiriladi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xatolik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Precision, Recall, F1-score, ROC-AUC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mezonlar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qo‘llaniladi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samaradorligini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ishonchliligini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486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6D2A40-C072-4827-A8AD-EB138A6A2E98}"/>
              </a:ext>
            </a:extLst>
          </p:cNvPr>
          <p:cNvSpPr txBox="1"/>
          <p:nvPr/>
        </p:nvSpPr>
        <p:spPr>
          <a:xfrm>
            <a:off x="3048733" y="1158618"/>
            <a:ext cx="6097464" cy="292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 Optimization &amp; Deployment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Optimallashtirish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joylashtirish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Agar 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yetarlicha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yaxshi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ishlamasa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parametrlar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(hyperparameters)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optimallashtiriladi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So‘ng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yakuniy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model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tizimga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(API, web,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ilova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joylashtiriladi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hayotda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masalan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prognoz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94BBEF-DB59-488E-9DE7-C2853FFA7361}"/>
              </a:ext>
            </a:extLst>
          </p:cNvPr>
          <p:cNvSpPr txBox="1"/>
          <p:nvPr/>
        </p:nvSpPr>
        <p:spPr>
          <a:xfrm>
            <a:off x="3048733" y="4236617"/>
            <a:ext cx="6097464" cy="102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keyingisi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poydevor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natijaga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erishish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ularning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barchasi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ketma-ket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bajarilishi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zarur</a:t>
            </a:r>
            <a:r>
              <a:rPr lang="en-US" sz="180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355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B9DB13-3A56-4C69-9137-4B442D80416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462" y="879231"/>
            <a:ext cx="10199076" cy="5099538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D9EF7E-B88C-4227-8485-831024990CA2}"/>
              </a:ext>
            </a:extLst>
          </p:cNvPr>
          <p:cNvSpPr txBox="1"/>
          <p:nvPr/>
        </p:nvSpPr>
        <p:spPr>
          <a:xfrm>
            <a:off x="2625969" y="369250"/>
            <a:ext cx="69400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o‘qitishning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qo‘llanilish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sohalari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6087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FA2CFF-D4A6-4676-B2AE-0BE3F26D1122}"/>
              </a:ext>
            </a:extLst>
          </p:cNvPr>
          <p:cNvSpPr txBox="1"/>
          <p:nvPr/>
        </p:nvSpPr>
        <p:spPr>
          <a:xfrm>
            <a:off x="3048000" y="1335799"/>
            <a:ext cx="6096000" cy="418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Image Recognition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Tasvirni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yo‘nalishda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rasmlar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videolardagi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obyektlarni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yuzlarni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harakatlarni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avtomatik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Qo‘llanilishi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Yuzni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(Face ID,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kuzatuv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kameralari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Avtonom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avtomobillar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belgilarini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to‘siqlarni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aniqlaydi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Tibbiy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tasvirlarda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kasallikni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(MRI,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rentgen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Texnologiya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Konvolyutsion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neyron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tarmoqlar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(CNN, Vision Transformers).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6161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31753-8D03-4952-B46A-8335E11357B8}"/>
              </a:ext>
            </a:extLst>
          </p:cNvPr>
          <p:cNvSpPr txBox="1"/>
          <p:nvPr/>
        </p:nvSpPr>
        <p:spPr>
          <a:xfrm>
            <a:off x="3048733" y="1335799"/>
            <a:ext cx="6097464" cy="418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Natural Language Processing (NLP —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Tabiiy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tilni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qayta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tarmog‘i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inson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tilini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tushunish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shug‘ullanadi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Qo‘llanilishi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Chatbotlar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mijozlarga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xizmat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Matnni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avtomatik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tarjima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(Google Translate,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DeepL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Hissiyot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matnlardan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ijobiy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salbiy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kayfiyatni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Texnologiya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Transformer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(BERT, GPT, T5), LSTM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attention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mexanizmlari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8800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FFFE7-7E79-4468-81DE-166661B160B5}"/>
              </a:ext>
            </a:extLst>
          </p:cNvPr>
          <p:cNvSpPr txBox="1"/>
          <p:nvPr/>
        </p:nvSpPr>
        <p:spPr>
          <a:xfrm>
            <a:off x="3048733" y="1335799"/>
            <a:ext cx="6097464" cy="418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Recommendation Systems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oldingi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xatti-harakatlari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unga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kontent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mahsulot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Qo‘llanilishi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Netflix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filmlar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film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Amazon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xarid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tarixiga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qarab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mahsulot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Spotify / YouTube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tinglagan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qo‘shiqlarga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o‘xshashlarini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topadi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Texnologiya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Collaborative Filtering, Content-based Filtering, Deep Learning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tavsiya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tarmoqlari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869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261934-D7BA-4EDC-86D7-63A2B0342B3C}"/>
              </a:ext>
            </a:extLst>
          </p:cNvPr>
          <p:cNvSpPr txBox="1"/>
          <p:nvPr/>
        </p:nvSpPr>
        <p:spPr>
          <a:xfrm>
            <a:off x="3048733" y="1125229"/>
            <a:ext cx="6097464" cy="460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Predictive Maintenance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Bashoratli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texnik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xizmat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ko‘rsatish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yo‘nalish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asbob-uskunalarda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nosozlik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paydo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bo‘lishidan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oldin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potensial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muammo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oldindan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ru-RU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Qo‘llanilishi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Sanoatdagi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mexanik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uskunalar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Samolyot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poyezd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texnik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qurilmalar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sensor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tarmoqlari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50215" algn="just">
              <a:lnSpc>
                <a:spcPct val="115000"/>
              </a:lnSpc>
              <a:spcAft>
                <a:spcPts val="800"/>
              </a:spcAft>
            </a:pP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Texnologiya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asoslari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Time Series Analysis, Anomaly Detection, Regression Models.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956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A4D422-67A2-40BF-ABD6-76F3FE08F58A}"/>
              </a:ext>
            </a:extLst>
          </p:cNvPr>
          <p:cNvSpPr/>
          <p:nvPr/>
        </p:nvSpPr>
        <p:spPr>
          <a:xfrm>
            <a:off x="0" y="21479"/>
            <a:ext cx="121920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800" b="1" dirty="0"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2. Sun’iy intellekt va mashinali o‘qitish (AI va ML) farqi</a:t>
            </a:r>
            <a:endParaRPr lang="en-US" sz="2800" b="1" dirty="0">
              <a:latin typeface="Times New Roman" panose="02020603050405020304" pitchFamily="18" charset="0"/>
              <a:ea typeface="Corben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71DABBD-75FC-47B6-8793-CB7A9564B676}"/>
              </a:ext>
            </a:extLst>
          </p:cNvPr>
          <p:cNvCxnSpPr/>
          <p:nvPr/>
        </p:nvCxnSpPr>
        <p:spPr>
          <a:xfrm>
            <a:off x="0" y="54469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D9E487-C815-45DC-906F-2AB5ACF89B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091" y="717412"/>
            <a:ext cx="8135818" cy="5423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59906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1119AE-AA11-4EF7-B61A-61D41063CA10}"/>
              </a:ext>
            </a:extLst>
          </p:cNvPr>
          <p:cNvSpPr txBox="1"/>
          <p:nvPr/>
        </p:nvSpPr>
        <p:spPr>
          <a:xfrm>
            <a:off x="877765" y="1953468"/>
            <a:ext cx="10436470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Bugungi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kunda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(Artificial Intelligence – AI)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(Machine Learning – ML)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atamalari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tez-tez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bir-biriga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aralashtirib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Aslida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bir-biriga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yaqin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ammo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turlicha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ma’noga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tafakkuriga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o‘xshash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tarzda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oladigan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yaratish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konsepsiyasi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AI’ning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amaliy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sohasi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ma’lumotlardan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chiqarishni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o‘rgatadi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Shunday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→ ML → DL (Deep Learning)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tarzida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bosqichli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tushuncha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mavjud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doira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ML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qismi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Deep Learning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ML’ning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ichki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sohasi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5604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AA8AA0-DD26-4DBB-88E2-A69B389B021E}"/>
              </a:ext>
            </a:extLst>
          </p:cNvPr>
          <p:cNvSpPr txBox="1"/>
          <p:nvPr/>
        </p:nvSpPr>
        <p:spPr>
          <a:xfrm>
            <a:off x="1150327" y="1325026"/>
            <a:ext cx="9891346" cy="4207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15000"/>
              </a:lnSpc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(Artificial Intelligence)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Ta’rif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Sun’iy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intellekt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inson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tafakkuriga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o‘xshash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fikrlash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muammoni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etish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beruvchi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texnologiyalar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majmuasidir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AI’ning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maqsadi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aqlli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u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inson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ishtirokisiz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mustaqil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ravishda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harakat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olishiga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erishish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tizimlarining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misollari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 Assistant, Siri, Alexa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tabiiy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tilni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tushunib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ovozli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buyruqlarga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Shaxmat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o‘yinidagi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(Chess Engine)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harakatini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yaxshi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yurishni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tanlaydi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Tibbiyotdagi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diagnostika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(AI Diagnosis)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MRT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KT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tasvirlaridan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kasallikni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aniqlaydi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Autopilot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avtonom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avtomobillarni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810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C70702-13BC-4A56-9E4C-18DFC75835B4}"/>
              </a:ext>
            </a:extLst>
          </p:cNvPr>
          <p:cNvSpPr txBox="1"/>
          <p:nvPr/>
        </p:nvSpPr>
        <p:spPr>
          <a:xfrm>
            <a:off x="615461" y="1006478"/>
            <a:ext cx="10964008" cy="4845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15000"/>
              </a:lnSpc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(Machine Learning)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nima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?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Ta’rif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AI’ning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tarmog‘i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kompyuterlarga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asosida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chiqarish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dasturchi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tomonidan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ko‘rsatma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olmasdan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tajribasidan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jarayonining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mohiyati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215" algn="just">
              <a:lnSpc>
                <a:spcPct val="115000"/>
              </a:lnSpc>
            </a:pP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Ma’lumotlarni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yig‘ish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tayyorlash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215" algn="just">
              <a:lnSpc>
                <a:spcPct val="115000"/>
              </a:lnSpc>
            </a:pP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o‘qitish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(training)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215" algn="just">
              <a:lnSpc>
                <a:spcPct val="115000"/>
              </a:lnSpc>
            </a:pP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Modelni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baholash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(evaluation)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215" algn="just">
              <a:lnSpc>
                <a:spcPct val="115000"/>
              </a:lnSpc>
            </a:pP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ma’lumotlarga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asoslanib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b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(prediction)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tizimlariga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misollar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Spam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filtrlari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elektron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pochta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xabarlarini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“spam”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deb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ajratadi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Netflix / YouTube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tavsiyalari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odatlariga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qarab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kontent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taklif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Bank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tizimlarida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firibgarlikni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tranzaktsiyalarni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shubhali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harakatni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aniqlaydi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Google Photos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yuz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joy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bo‘yicha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rasmni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avtomatik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toifalarga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ajratadi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28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AB42F8-2426-4A1D-9771-0EBEC22E3B92}"/>
              </a:ext>
            </a:extLst>
          </p:cNvPr>
          <p:cNvSpPr txBox="1"/>
          <p:nvPr/>
        </p:nvSpPr>
        <p:spPr>
          <a:xfrm>
            <a:off x="4283319" y="396404"/>
            <a:ext cx="3625362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AI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ML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o‘rtasidagi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farqlar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BF95EC1-6676-4C57-8672-877C23CFE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039282"/>
              </p:ext>
            </p:extLst>
          </p:nvPr>
        </p:nvGraphicFramePr>
        <p:xfrm>
          <a:off x="838200" y="1091782"/>
          <a:ext cx="10515600" cy="41972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4323">
                  <a:extLst>
                    <a:ext uri="{9D8B030D-6E8A-4147-A177-3AD203B41FA5}">
                      <a16:colId xmlns:a16="http://schemas.microsoft.com/office/drawing/2014/main" val="3310767397"/>
                    </a:ext>
                  </a:extLst>
                </a:gridCol>
                <a:gridCol w="4440115">
                  <a:extLst>
                    <a:ext uri="{9D8B030D-6E8A-4147-A177-3AD203B41FA5}">
                      <a16:colId xmlns:a16="http://schemas.microsoft.com/office/drawing/2014/main" val="3343656564"/>
                    </a:ext>
                  </a:extLst>
                </a:gridCol>
                <a:gridCol w="4311162">
                  <a:extLst>
                    <a:ext uri="{9D8B030D-6E8A-4147-A177-3AD203B41FA5}">
                      <a16:colId xmlns:a16="http://schemas.microsoft.com/office/drawing/2014/main" val="4233203968"/>
                    </a:ext>
                  </a:extLst>
                </a:gridCol>
              </a:tblGrid>
              <a:tr h="3224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Taq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oslash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mezoni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(AI)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Mashinali o‘qitish (ML)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1710438"/>
                  </a:ext>
                </a:extLst>
              </a:tr>
              <a:tr h="672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Ta’rifi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Inson aqlini imitatsiya qiluvchi tizimlar yaratish fani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Ma’lumotlardan o‘rganib, natijani bashorat qiluvchi model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3200732"/>
                  </a:ext>
                </a:extLst>
              </a:tr>
              <a:tr h="672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Maqsad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Mustaqil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ravishda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fikrlovchi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qaror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qabul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qiluvchi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 asosida o‘zini o‘zi o‘qituvchi model yaratish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2521367"/>
                  </a:ext>
                </a:extLst>
              </a:tr>
              <a:tr h="3224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Yondashuv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Qoidalar, ekspert tizimlar, mantiqiy fikrlash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Statistik tahlil, algoritmik o‘rganish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4405068"/>
                  </a:ext>
                </a:extLst>
              </a:tr>
              <a:tr h="672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Natija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 xatti-harakat (decision making, reasoning)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Bashorat yoki tasniflash (prediction/classification)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1070102"/>
                  </a:ext>
                </a:extLst>
              </a:tr>
              <a:tr h="672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Masalan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Siri, ChatGPT, AlphaGo, robototexnika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Regression, SVM, Random Forest, KNN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9570153"/>
                  </a:ext>
                </a:extLst>
              </a:tr>
              <a:tr h="3224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Bog‘liqlik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—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keng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doira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— AI’ning bir qismi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85924492"/>
                  </a:ext>
                </a:extLst>
              </a:tr>
              <a:tr h="3224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O‘rganish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turi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Bilimga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asoslangan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knowledge-based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Ma’lumotga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asoslangan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data-driven</a:t>
                      </a:r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0893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676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4D7C6A-100C-4BC4-920E-7C4E3F14CEE0}"/>
              </a:ext>
            </a:extLst>
          </p:cNvPr>
          <p:cNvSpPr txBox="1"/>
          <p:nvPr/>
        </p:nvSpPr>
        <p:spPr>
          <a:xfrm>
            <a:off x="939311" y="1307329"/>
            <a:ext cx="10313378" cy="4243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15000"/>
              </a:lnSpc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Misollar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farqni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tushuntirish</a:t>
            </a:r>
            <a:endParaRPr lang="en-US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endParaRPr lang="ru-RU" sz="2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1: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Shaxmat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o‘yini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o‘yin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davomida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strategiyani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rejalashtiradi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tahlil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o‘yin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tarixlaridan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g‘alaba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keluvchi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yurishlarni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bashorat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15000"/>
              </a:lnSpc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2: Email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xabarlarini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filtrlash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tizim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foydalanuvchi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bilan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muloqot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xatti-harakatiga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qarab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ma’lumotlar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to‘plamidan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“spam”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“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xabarlarning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naqshini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15000"/>
              </a:lnSpc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3: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Avtonom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avtomobil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mashinaning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butun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harakatini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qaror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xavfsizlik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yo‘lni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boshqaradi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yo‘l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belgilari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piyodalar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to‘siqlarni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o‘rganadi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kompyuter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ko‘rish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19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31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659" y="1508787"/>
            <a:ext cx="5376597" cy="4032448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8502" y="95846"/>
            <a:ext cx="1388613" cy="1124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1993</Words>
  <Application>Microsoft Office PowerPoint</Application>
  <PresentationFormat>Широкоэкранный</PresentationFormat>
  <Paragraphs>201</Paragraphs>
  <Slides>31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Symbol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45</cp:revision>
  <dcterms:created xsi:type="dcterms:W3CDTF">2025-11-10T09:10:55Z</dcterms:created>
  <dcterms:modified xsi:type="dcterms:W3CDTF">2025-11-10T10:23:11Z</dcterms:modified>
</cp:coreProperties>
</file>