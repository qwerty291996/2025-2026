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8" r:id="rId2"/>
    <p:sldId id="290" r:id="rId3"/>
    <p:sldId id="256" r:id="rId4"/>
    <p:sldId id="267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79" r:id="rId15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627AC-4C54-4CB2-BD4C-DADE51631177}" type="datetimeFigureOut">
              <a:rPr lang="LID4096" smtClean="0"/>
              <a:t>09/18/2025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51781D-9473-4B28-BD5B-C786594CF76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47759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4B77C4-3FBC-4E95-AC04-E9856704040F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65B3A5-78BC-4D42-8934-3540E1B43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1F23E8-B18B-4C57-ACDC-698FD9E8B9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2AF0AF-72F5-4529-92C4-54F486125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4D6-7849-43A0-8B5C-E0A4D3B49E93}" type="datetimeFigureOut">
              <a:rPr lang="LID4096" smtClean="0"/>
              <a:t>09/18/2025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9EF62B-19D9-4ABD-B26A-8FF072826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54CC8E-40CF-4CA7-9109-52DCFFE97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54034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C60241-2BB6-47B4-BA61-6CD187A0C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9459FB-1484-4B50-B7F1-DF587D63F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6FB81F-81F4-44FB-AC60-ABD1244A0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4D6-7849-43A0-8B5C-E0A4D3B49E93}" type="datetimeFigureOut">
              <a:rPr lang="LID4096" smtClean="0"/>
              <a:t>09/18/2025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B77919-41BF-4E8D-9A60-6675240A9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FAA94C-4DF6-4687-A058-91B062E9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37330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B8F8C6-B64E-493F-9A3C-0389930F6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16C306-80BE-48E1-93D4-69944A5E3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A7550E-9598-4724-83EB-777A30440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4D6-7849-43A0-8B5C-E0A4D3B49E93}" type="datetimeFigureOut">
              <a:rPr lang="LID4096" smtClean="0"/>
              <a:t>09/18/2025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8BC1E9-6E03-44DE-A53F-B9318E820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CD5EE7-C081-4B95-A07A-350C1F951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59711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510DCA-367A-457A-B110-4413AE8AB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6970C0-2913-4850-AF23-C3139FEF75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19D8991-6E5A-4804-A06F-1AEB0298FC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8EF765B-B6BB-49D9-89F7-7D08A31ED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4D6-7849-43A0-8B5C-E0A4D3B49E93}" type="datetimeFigureOut">
              <a:rPr lang="LID4096" smtClean="0"/>
              <a:t>09/18/2025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C21199A-F134-4306-8791-8C0BA9EDC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9F8CD3B-8622-4BFD-A47B-E04AB7E4F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0021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97D8EF-5FC8-43FD-9C65-6A543B361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03EC4D-1BB8-4765-96A6-C037F3194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5B35C0-643A-41A2-81D6-6463DDB44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FDC4D71-669A-47A8-A2A7-A21B64E8FB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70ED4DA-0A15-48B7-BF2A-E10C122DC6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A6C30AD-FD46-4795-B0D1-4D6B4C0D1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4D6-7849-43A0-8B5C-E0A4D3B49E93}" type="datetimeFigureOut">
              <a:rPr lang="LID4096" smtClean="0"/>
              <a:t>09/18/2025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7379EE2-951E-4301-B710-74A472BA5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266733E-ED30-47F3-9DA6-B4A73B036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92233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08D075-37F2-4039-B101-777BCAC3C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CB7E628-3E1D-4DD8-B052-95C11704C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4D6-7849-43A0-8B5C-E0A4D3B49E93}" type="datetimeFigureOut">
              <a:rPr lang="LID4096" smtClean="0"/>
              <a:t>09/18/2025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F2A7A43-6CE6-4550-8EE3-3A0061488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DF6C5A8-C2B4-4642-AF83-DC1055218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0555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62B014F-0E27-474B-81F6-31B417CC4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4D6-7849-43A0-8B5C-E0A4D3B49E93}" type="datetimeFigureOut">
              <a:rPr lang="LID4096" smtClean="0"/>
              <a:t>09/18/2025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9DF6D5B-5625-4598-B715-B75A34EE5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6F4A558-0F5D-4C97-80A9-9BB19A5E7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19920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B5D379-95CD-40A7-8BF3-B120F8A2B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59F7A8-E4D8-4783-8438-323339BD1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5ED731C-1192-4750-AB69-4E84FEF1FB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C3AABB-47C0-46CF-9A90-E2B5ABB28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4D6-7849-43A0-8B5C-E0A4D3B49E93}" type="datetimeFigureOut">
              <a:rPr lang="LID4096" smtClean="0"/>
              <a:t>09/18/2025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D271C75-AA7A-4BE1-A561-9058DB844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6C51020-9CA4-4CD3-8F02-92A18CA6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55926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5CE6AD-8E3C-4B2A-9DF2-06876355A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71FF575-3A8A-492A-BFA6-4564362534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F834E5-E177-4A53-BB7A-D9D04C18B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2CF0D6C-2818-4EF4-8EBE-1559B930D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4D6-7849-43A0-8B5C-E0A4D3B49E93}" type="datetimeFigureOut">
              <a:rPr lang="LID4096" smtClean="0"/>
              <a:t>09/18/2025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35CECC6-BC97-4C31-A9E1-44239B6B2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754CED-3CA4-4BFF-8711-9687C7A4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20881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932D97-8637-4EAC-A528-1079D469F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BAD425E-A8A3-44C4-A925-67F6F8005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979649-060C-4830-B85D-0F19D8455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4D6-7849-43A0-8B5C-E0A4D3B49E93}" type="datetimeFigureOut">
              <a:rPr lang="LID4096" smtClean="0"/>
              <a:t>09/18/2025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196A3A-19CB-4D30-853F-4B526236A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123B20-8E3F-45FE-BD8E-D768FE666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09375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A37D2DE-9760-41DA-B885-B16B4157E5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FEF5873-965A-411C-BD6F-66543AB2E4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FC6ABE-45C7-4AE1-9A5A-614852FDD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4D6-7849-43A0-8B5C-E0A4D3B49E93}" type="datetimeFigureOut">
              <a:rPr lang="LID4096" smtClean="0"/>
              <a:t>09/18/2025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81C2DB-465A-4427-A3DB-61F94C3B4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13FB4A-3B38-42C9-AD90-A18082300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4597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40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437B7C-BC28-4F78-8DEB-D0613ED10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B727EB-5E23-4453-82E8-AFF617576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AB3EBF-AF1C-444D-89EA-8FC6960FAE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CC64D6-7849-43A0-8B5C-E0A4D3B49E93}" type="datetimeFigureOut">
              <a:rPr lang="LID4096" smtClean="0"/>
              <a:t>09/18/2025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45A8FE-C260-420F-B9AD-41780A2127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F601FC-70AC-4922-8907-9A9AFA6A3D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18909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uters.com/world/europe/russian-attack-ukraines-kirovohrad-region-cuts-power-governor-says-2025-09-17/?utm_source=chatgpt.com" TargetMode="External"/><Relationship Id="rId2" Type="http://schemas.openxmlformats.org/officeDocument/2006/relationships/hyperlink" Target="https://www.reuters.com/world/ukrainian-drone-attack-kills-one-injures-another-russian-border-region-says-2025-09-17/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euters.com/world/china/chinas-defence-minister-urges-greater-unity-avoid-law-jungle-2025-09-18/?utm_source=chatgpt.com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 flipV="1">
            <a:off x="1643182" y="4136127"/>
            <a:ext cx="9137268" cy="60959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Прямоугольник 10"/>
          <p:cNvSpPr/>
          <p:nvPr/>
        </p:nvSpPr>
        <p:spPr>
          <a:xfrm>
            <a:off x="5139796" y="6307447"/>
            <a:ext cx="1661480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67" b="1" dirty="0">
                <a:latin typeface="Times New Roman" pitchFamily="18" charset="0"/>
                <a:cs typeface="Times New Roman" pitchFamily="18" charset="0"/>
              </a:rPr>
              <a:t>Toshkent 2025</a:t>
            </a:r>
            <a:endParaRPr lang="ru-RU" sz="1867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83360" y="306896"/>
            <a:ext cx="11617291" cy="748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HARBIY XAVFSIZLIK VA MUDOFAA UNIVERSITETINING</a:t>
            </a:r>
          </a:p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AXBOROT-KOMMUNIKATSIYA TEXNOLOGIYALARI VA HARBIY ALOQA INSTITUTI</a:t>
            </a:r>
            <a:endParaRPr lang="ru-RU" sz="2133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99451" y="2642960"/>
            <a:ext cx="9985109" cy="74879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1-MAVZU: “SUN’IY INTELLEKT ASOSLARI” FANIGA KIRISH VA ASOSIY TUSHUNCHALARI</a:t>
            </a:r>
            <a:endParaRPr lang="ru-RU" sz="2133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57E156E-2862-45AA-B671-E1C5EDE84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011" y="4801068"/>
            <a:ext cx="5999989" cy="995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MA’RUZACHI</a:t>
            </a: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texnologiyalari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kafedrasi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sikli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boshlig‘i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133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kapitan</a:t>
            </a:r>
            <a:r>
              <a:rPr lang="en-US" sz="2133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Isakov M.M. </a:t>
            </a:r>
            <a:endParaRPr lang="en-US" sz="1867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DD63E0D-3705-4CCD-A1BE-B61E152D1116}"/>
              </a:ext>
            </a:extLst>
          </p:cNvPr>
          <p:cNvSpPr/>
          <p:nvPr/>
        </p:nvSpPr>
        <p:spPr>
          <a:xfrm>
            <a:off x="339213" y="685401"/>
            <a:ext cx="1151357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M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Ukraina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–Rossiya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chegarasida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Ukraina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droni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hujumi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September 18, 20254:40 AM GMT+5)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Belgorod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viloyati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Shebekino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shahrida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Ukraina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kishini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o‘ldirdi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birovni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jarohatladı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Reuters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hudud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chegara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bo‘lgani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vaziyat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taranglikda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qolmoqda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Reuters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1A7E39D-5614-4BAE-AF25-96707021EE34}"/>
              </a:ext>
            </a:extLst>
          </p:cNvPr>
          <p:cNvSpPr/>
          <p:nvPr/>
        </p:nvSpPr>
        <p:spPr>
          <a:xfrm>
            <a:off x="339213" y="2162729"/>
            <a:ext cx="1151357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M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Kirovohrad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viloyatidagi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rossiyaliklar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hujumi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September 17, 202510:36 AM GMT+5)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Rossiya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kechasi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dronlar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hujum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Kirovohrad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viloyatida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elektr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ta’minoti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qo‘yildi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temiryo‘l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aloqalari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buzildi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Reuters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A63266C-A777-414E-9985-1ED5CCDDA2BD}"/>
              </a:ext>
            </a:extLst>
          </p:cNvPr>
          <p:cNvSpPr/>
          <p:nvPr/>
        </p:nvSpPr>
        <p:spPr>
          <a:xfrm>
            <a:off x="339213" y="3968135"/>
            <a:ext cx="1151357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M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Xitoy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mudofaa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vaziri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Dong Jun (“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Xiangshan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forumida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September 18, 20257:38 AM GMT+5)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global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birdamlik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zaruriyatini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ta’kidladi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jungl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qonuni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kuch-asosida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dunyo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ruhida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bo‘linmalarni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tanqid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Reuters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shuningdek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Tayvanning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masalasida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ogohlantirish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har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tashqi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aralashuvga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kurashishini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aytdi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Reuters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4669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9BFC1A9-62DE-4C48-BB79-E5A5081D32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67E9">
              <a:alpha val="80000"/>
            </a:srgbClr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B83EC17-E5ED-489B-A896-839B6D9C4378}"/>
              </a:ext>
            </a:extLst>
          </p:cNvPr>
          <p:cNvSpPr/>
          <p:nvPr/>
        </p:nvSpPr>
        <p:spPr>
          <a:xfrm>
            <a:off x="152400" y="1992709"/>
            <a:ext cx="11887200" cy="1376980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1-mavzu. 2-mashg‘ulot:</a:t>
            </a:r>
          </a:p>
          <a:p>
            <a:pPr algn="ctr">
              <a:lnSpc>
                <a:spcPts val="5550"/>
              </a:lnSpc>
            </a:pP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Pythonda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arifmetik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operatorlar</a:t>
            </a:r>
            <a:endParaRPr lang="en-US" sz="4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075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C05110-FBAF-4E5C-8D69-806EC9F87D1F}"/>
              </a:ext>
            </a:extLst>
          </p:cNvPr>
          <p:cNvSpPr/>
          <p:nvPr/>
        </p:nvSpPr>
        <p:spPr>
          <a:xfrm>
            <a:off x="4210954" y="1027225"/>
            <a:ext cx="377009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O‘quv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savollari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D0AB8B-D69B-410C-97FC-AAAF3047ADBE}"/>
              </a:ext>
            </a:extLst>
          </p:cNvPr>
          <p:cNvSpPr/>
          <p:nvPr/>
        </p:nvSpPr>
        <p:spPr>
          <a:xfrm>
            <a:off x="1876422" y="1670751"/>
            <a:ext cx="8439154" cy="203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	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Arifmetik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operatorlar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	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Sonlar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O‘zgaruvchilar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	Bool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tipli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0" y="21479"/>
            <a:ext cx="12192002" cy="7391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Pythonda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arifmetik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operatorlar</a:t>
            </a:r>
            <a:endParaRPr lang="en-US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76059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589151D-2692-46A5-B3CF-A09A2DA22A2E}"/>
              </a:ext>
            </a:extLst>
          </p:cNvPr>
          <p:cNvSpPr/>
          <p:nvPr/>
        </p:nvSpPr>
        <p:spPr>
          <a:xfrm>
            <a:off x="2447107" y="4175688"/>
            <a:ext cx="729778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M" sz="2800" b="1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🎯</a:t>
            </a:r>
            <a:r>
              <a:rPr lang="en-UM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Dars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maqsadi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Kursantlar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tilida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arifmetik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tushunadilar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o‘zgaruvchilar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o‘rganadilar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tipidagi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ko‘nikmasiga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bo‘ladilar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230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EE66EAA-DF22-4275-B66F-FD96982DFCE9}"/>
              </a:ext>
            </a:extLst>
          </p:cNvPr>
          <p:cNvSpPr/>
          <p:nvPr/>
        </p:nvSpPr>
        <p:spPr>
          <a:xfrm>
            <a:off x="1515291" y="1058616"/>
            <a:ext cx="9161418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Arifmetik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(25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daqiqa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Nazariy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qism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Python’da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arifmetik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432594E9-EBF2-48BF-8B82-4F84F0C88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894309"/>
              </p:ext>
            </p:extLst>
          </p:nvPr>
        </p:nvGraphicFramePr>
        <p:xfrm>
          <a:off x="1515291" y="2693479"/>
          <a:ext cx="9161418" cy="29863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53806">
                  <a:extLst>
                    <a:ext uri="{9D8B030D-6E8A-4147-A177-3AD203B41FA5}">
                      <a16:colId xmlns:a16="http://schemas.microsoft.com/office/drawing/2014/main" val="1069288316"/>
                    </a:ext>
                  </a:extLst>
                </a:gridCol>
                <a:gridCol w="3053806">
                  <a:extLst>
                    <a:ext uri="{9D8B030D-6E8A-4147-A177-3AD203B41FA5}">
                      <a16:colId xmlns:a16="http://schemas.microsoft.com/office/drawing/2014/main" val="2045295113"/>
                    </a:ext>
                  </a:extLst>
                </a:gridCol>
                <a:gridCol w="3053806">
                  <a:extLst>
                    <a:ext uri="{9D8B030D-6E8A-4147-A177-3AD203B41FA5}">
                      <a16:colId xmlns:a16="http://schemas.microsoft.com/office/drawing/2014/main" val="1500284594"/>
                    </a:ext>
                  </a:extLst>
                </a:gridCol>
              </a:tblGrid>
              <a:tr h="37833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Ma’nosi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Misol (natija)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14824710"/>
                  </a:ext>
                </a:extLst>
              </a:tr>
              <a:tr h="36489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M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Qo‘shish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5 + 3 = 8</a:t>
                      </a:r>
                      <a:endParaRPr lang="en-UM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97060202"/>
                  </a:ext>
                </a:extLst>
              </a:tr>
              <a:tr h="37833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M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Ayirish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7 - 2 = 5</a:t>
                      </a:r>
                      <a:endParaRPr lang="en-UM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9654075"/>
                  </a:ext>
                </a:extLst>
              </a:tr>
              <a:tr h="36489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M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Ko‘paytirish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4 * 6 = 24</a:t>
                      </a:r>
                      <a:endParaRPr lang="en-UM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84102801"/>
                  </a:ext>
                </a:extLst>
              </a:tr>
              <a:tr h="37833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lang="en-UM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Bo‘lish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haqiqiy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8 / 3 = 2.666</a:t>
                      </a:r>
                      <a:endParaRPr lang="en-UM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72183249"/>
                  </a:ext>
                </a:extLst>
              </a:tr>
              <a:tr h="37833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//</a:t>
                      </a:r>
                      <a:endParaRPr lang="en-UM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Butun bo‘lish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8 // 3 = 2</a:t>
                      </a:r>
                      <a:endParaRPr lang="en-UM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97102119"/>
                  </a:ext>
                </a:extLst>
              </a:tr>
              <a:tr h="36489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%</a:t>
                      </a:r>
                      <a:endParaRPr lang="en-UM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Qoldiq olish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8 % 3 = 2</a:t>
                      </a:r>
                      <a:endParaRPr lang="en-UM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52133517"/>
                  </a:ext>
                </a:extLst>
              </a:tr>
              <a:tr h="37833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**</a:t>
                      </a:r>
                      <a:endParaRPr lang="en-UM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Darajaga oshirish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2 ** 3 = 8</a:t>
                      </a:r>
                      <a:endParaRPr lang="en-UM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75141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4768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3A58748-1607-4714-8741-C38AD52EAD50}"/>
              </a:ext>
            </a:extLst>
          </p:cNvPr>
          <p:cNvSpPr/>
          <p:nvPr/>
        </p:nvSpPr>
        <p:spPr>
          <a:xfrm>
            <a:off x="5522766" y="126665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Mashqlar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F4C97AD-0298-4D8D-8853-9AE71FD00E2B}"/>
              </a:ext>
            </a:extLst>
          </p:cNvPr>
          <p:cNvSpPr/>
          <p:nvPr/>
        </p:nvSpPr>
        <p:spPr>
          <a:xfrm>
            <a:off x="426720" y="841607"/>
            <a:ext cx="29957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1-mashq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</a:rPr>
              <a:t>15 + 7 * 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ifodasini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hisoblang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LID4096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0F529A7-95C2-46A0-BF3B-82A910AE8F80}"/>
              </a:ext>
            </a:extLst>
          </p:cNvPr>
          <p:cNvSpPr/>
          <p:nvPr/>
        </p:nvSpPr>
        <p:spPr>
          <a:xfrm>
            <a:off x="426720" y="1573722"/>
            <a:ext cx="34483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M" sz="280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M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15 + 14 = 29</a:t>
            </a:r>
            <a:endParaRPr lang="LID4096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6CC22FC-D193-4C34-8F74-6A510669535B}"/>
              </a:ext>
            </a:extLst>
          </p:cNvPr>
          <p:cNvSpPr/>
          <p:nvPr/>
        </p:nvSpPr>
        <p:spPr>
          <a:xfrm>
            <a:off x="426720" y="3837729"/>
            <a:ext cx="35618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2-mashq</a:t>
            </a:r>
            <a:b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it-IT" sz="1200" dirty="0">
                <a:latin typeface="Courier New" panose="02070309020205020404" pitchFamily="49" charset="0"/>
                <a:ea typeface="Times New Roman" panose="02020603050405020304" pitchFamily="18" charset="0"/>
              </a:rPr>
              <a:t>25 // 4</a:t>
            </a:r>
            <a: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  <a:t> va </a:t>
            </a:r>
            <a:r>
              <a:rPr lang="it-IT" sz="1200" dirty="0">
                <a:latin typeface="Courier New" panose="02070309020205020404" pitchFamily="49" charset="0"/>
                <a:ea typeface="Times New Roman" panose="02020603050405020304" pitchFamily="18" charset="0"/>
              </a:rPr>
              <a:t>25 % 4</a:t>
            </a:r>
            <a: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  <a:t> natijalarini toping.</a:t>
            </a:r>
            <a:endParaRPr lang="LID4096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3F7F92B-9A49-445B-8CAE-4566D1B02BEB}"/>
              </a:ext>
            </a:extLst>
          </p:cNvPr>
          <p:cNvSpPr/>
          <p:nvPr/>
        </p:nvSpPr>
        <p:spPr>
          <a:xfrm>
            <a:off x="426720" y="4665264"/>
            <a:ext cx="48686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Javob: </a:t>
            </a:r>
            <a:r>
              <a:rPr lang="fr-FR" dirty="0">
                <a:latin typeface="Courier New" panose="02070309020205020404" pitchFamily="49" charset="0"/>
                <a:ea typeface="Times New Roman" panose="02020603050405020304" pitchFamily="18" charset="0"/>
              </a:rPr>
              <a:t>25 // 4 = 6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fr-FR" dirty="0">
                <a:latin typeface="Courier New" panose="02070309020205020404" pitchFamily="49" charset="0"/>
                <a:ea typeface="Times New Roman" panose="02020603050405020304" pitchFamily="18" charset="0"/>
              </a:rPr>
              <a:t>25 % 4 = 1</a:t>
            </a:r>
            <a:endParaRPr lang="LID4096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807E8C2-5DF8-4652-8733-1F1DBD08AD4A}"/>
              </a:ext>
            </a:extLst>
          </p:cNvPr>
          <p:cNvSpPr/>
          <p:nvPr/>
        </p:nvSpPr>
        <p:spPr>
          <a:xfrm>
            <a:off x="6442671" y="927391"/>
            <a:ext cx="43891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3-mashq</a:t>
            </a:r>
            <a:b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fr-FR" sz="1200" dirty="0">
                <a:latin typeface="Courier New" panose="02070309020205020404" pitchFamily="49" charset="0"/>
                <a:ea typeface="Times New Roman" panose="02020603050405020304" pitchFamily="18" charset="0"/>
              </a:rPr>
              <a:t>2 ** 5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va </a:t>
            </a:r>
            <a:r>
              <a:rPr lang="fr-FR" sz="1200" dirty="0">
                <a:latin typeface="Courier New" panose="02070309020205020404" pitchFamily="49" charset="0"/>
                <a:ea typeface="Times New Roman" panose="02020603050405020304" pitchFamily="18" charset="0"/>
              </a:rPr>
              <a:t>9 ** 0.5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natijalarini hisoblang.</a:t>
            </a:r>
            <a:endParaRPr lang="LID4096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F47F348-7BB0-4D02-9233-99E97AB8C534}"/>
              </a:ext>
            </a:extLst>
          </p:cNvPr>
          <p:cNvSpPr/>
          <p:nvPr/>
        </p:nvSpPr>
        <p:spPr>
          <a:xfrm>
            <a:off x="6442671" y="1835332"/>
            <a:ext cx="54200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Javob: </a:t>
            </a:r>
            <a:r>
              <a:rPr lang="fr-FR" dirty="0">
                <a:latin typeface="Courier New" panose="02070309020205020404" pitchFamily="49" charset="0"/>
                <a:ea typeface="Times New Roman" panose="02020603050405020304" pitchFamily="18" charset="0"/>
              </a:rPr>
              <a:t>2 ** 5 = 32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fr-FR" dirty="0">
                <a:latin typeface="Courier New" panose="02070309020205020404" pitchFamily="49" charset="0"/>
                <a:ea typeface="Times New Roman" panose="02020603050405020304" pitchFamily="18" charset="0"/>
              </a:rPr>
              <a:t>9 ** 0.5 = 3.0</a:t>
            </a:r>
            <a:endParaRPr lang="LID4096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76674DA-7EFE-4DCF-9F96-B24B2B034E8E}"/>
              </a:ext>
            </a:extLst>
          </p:cNvPr>
          <p:cNvSpPr/>
          <p:nvPr/>
        </p:nvSpPr>
        <p:spPr>
          <a:xfrm>
            <a:off x="6442671" y="3514563"/>
            <a:ext cx="46781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4-mashq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</a:rPr>
              <a:t>(10 + 5) * 2 - 3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ifodaning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qiymatini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toping.</a:t>
            </a:r>
            <a:endParaRPr lang="LID4096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DD1292D-038F-4742-89A1-68F9A63CF1A2}"/>
              </a:ext>
            </a:extLst>
          </p:cNvPr>
          <p:cNvSpPr/>
          <p:nvPr/>
        </p:nvSpPr>
        <p:spPr>
          <a:xfrm>
            <a:off x="6254505" y="4665264"/>
            <a:ext cx="53783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FR" sz="280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Javob: </a:t>
            </a:r>
            <a:r>
              <a:rPr lang="fr-FR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(15) * 2 - 3 = 30 - 3 = 27</a:t>
            </a:r>
            <a:endParaRPr lang="fr-F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677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D3852AB-2330-4DAF-AFF1-E50DCF124679}"/>
              </a:ext>
            </a:extLst>
          </p:cNvPr>
          <p:cNvSpPr/>
          <p:nvPr/>
        </p:nvSpPr>
        <p:spPr>
          <a:xfrm>
            <a:off x="696686" y="367165"/>
            <a:ext cx="10763794" cy="4263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Sonlar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O‘zgaruvchilar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(25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daqiqa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Nazariy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qism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O‘zgaruvchilar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saqlash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Sonlarning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10, -3, 0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o‘nli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3.14, -0.5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O‘zgaruvchi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qiymati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belgisi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s-ES" sz="1200" dirty="0">
                <a:solidFill>
                  <a:srgbClr val="7A3E9D"/>
                </a:solidFill>
                <a:latin typeface="Consolas" panose="020B0609020204030204" pitchFamily="49" charset="0"/>
              </a:rPr>
              <a:t>x</a:t>
            </a:r>
            <a:r>
              <a:rPr 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s-ES" sz="12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s-ES" sz="1200" dirty="0">
                <a:solidFill>
                  <a:srgbClr val="9C5D27"/>
                </a:solidFill>
                <a:latin typeface="Consolas" panose="020B0609020204030204" pitchFamily="49" charset="0"/>
              </a:rPr>
              <a:t>10</a:t>
            </a:r>
            <a:endParaRPr lang="es-E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s-ES" sz="1200" dirty="0">
                <a:solidFill>
                  <a:srgbClr val="7A3E9D"/>
                </a:solidFill>
                <a:latin typeface="Consolas" panose="020B0609020204030204" pitchFamily="49" charset="0"/>
              </a:rPr>
              <a:t>y</a:t>
            </a:r>
            <a:r>
              <a:rPr 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s-ES" sz="12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s-ES" sz="1200" dirty="0">
                <a:solidFill>
                  <a:srgbClr val="9C5D27"/>
                </a:solidFill>
                <a:latin typeface="Consolas" panose="020B0609020204030204" pitchFamily="49" charset="0"/>
              </a:rPr>
              <a:t>3.5</a:t>
            </a:r>
            <a:endParaRPr lang="es-E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s-ES" sz="1200" dirty="0">
                <a:solidFill>
                  <a:srgbClr val="7A3E9D"/>
                </a:solidFill>
                <a:latin typeface="Consolas" panose="020B0609020204030204" pitchFamily="49" charset="0"/>
              </a:rPr>
              <a:t>natija</a:t>
            </a:r>
            <a:r>
              <a:rPr 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s-ES" sz="12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s-ES" sz="1200" dirty="0">
                <a:solidFill>
                  <a:srgbClr val="7A3E9D"/>
                </a:solidFill>
                <a:latin typeface="Consolas" panose="020B0609020204030204" pitchFamily="49" charset="0"/>
              </a:rPr>
              <a:t>x</a:t>
            </a:r>
            <a:r>
              <a:rPr 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s-ES" sz="1200" dirty="0">
                <a:solidFill>
                  <a:srgbClr val="777777"/>
                </a:solidFill>
                <a:latin typeface="Consolas" panose="020B0609020204030204" pitchFamily="49" charset="0"/>
              </a:rPr>
              <a:t>+</a:t>
            </a:r>
            <a:r>
              <a:rPr 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s-ES" sz="1200" dirty="0">
                <a:solidFill>
                  <a:srgbClr val="7A3E9D"/>
                </a:solidFill>
                <a:latin typeface="Consolas" panose="020B0609020204030204" pitchFamily="49" charset="0"/>
              </a:rPr>
              <a:t>y</a:t>
            </a:r>
            <a:endParaRPr lang="es-E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s-ES" sz="12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s-ES" sz="12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s-ES" sz="1200" dirty="0">
                <a:solidFill>
                  <a:srgbClr val="7A3E9D"/>
                </a:solidFill>
                <a:latin typeface="Consolas" panose="020B0609020204030204" pitchFamily="49" charset="0"/>
              </a:rPr>
              <a:t>natija</a:t>
            </a:r>
            <a:r>
              <a:rPr lang="es-ES" sz="12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r>
              <a:rPr 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 </a:t>
            </a:r>
            <a:r>
              <a:rPr lang="es-ES" sz="1200" i="1" dirty="0">
                <a:solidFill>
                  <a:srgbClr val="AAAAAA"/>
                </a:solidFill>
                <a:latin typeface="Consolas" panose="020B0609020204030204" pitchFamily="49" charset="0"/>
              </a:rPr>
              <a:t># 13.5</a:t>
            </a:r>
            <a:endParaRPr lang="es-E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871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63CDA5F-D679-4B43-BD88-25316CC41C17}"/>
              </a:ext>
            </a:extLst>
          </p:cNvPr>
          <p:cNvSpPr/>
          <p:nvPr/>
        </p:nvSpPr>
        <p:spPr>
          <a:xfrm>
            <a:off x="5522766" y="91831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Mashqlar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A7AA2F9-ED92-46A0-9BE1-B969947D3DF8}"/>
              </a:ext>
            </a:extLst>
          </p:cNvPr>
          <p:cNvSpPr/>
          <p:nvPr/>
        </p:nvSpPr>
        <p:spPr>
          <a:xfrm>
            <a:off x="573234" y="748217"/>
            <a:ext cx="6096000" cy="149496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1-mashq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Quyidagi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natijasini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toping: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4B78EBC-6B6B-458B-9F76-9EB9D14746EB}"/>
              </a:ext>
            </a:extLst>
          </p:cNvPr>
          <p:cNvSpPr/>
          <p:nvPr/>
        </p:nvSpPr>
        <p:spPr>
          <a:xfrm>
            <a:off x="573234" y="2417021"/>
            <a:ext cx="1499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M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M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Javob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3.5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E0F8A45-C49D-485A-AD29-61BC3EDBD230}"/>
              </a:ext>
            </a:extLst>
          </p:cNvPr>
          <p:cNvSpPr/>
          <p:nvPr/>
        </p:nvSpPr>
        <p:spPr>
          <a:xfrm>
            <a:off x="573234" y="369149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2-mashq</a:t>
            </a:r>
            <a:b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O‘zgaruvchi </a:t>
            </a:r>
            <a:r>
              <a:rPr lang="es-ES" sz="1200" dirty="0">
                <a:latin typeface="Courier New" panose="02070309020205020404" pitchFamily="49" charset="0"/>
                <a:ea typeface="Times New Roman" panose="02020603050405020304" pitchFamily="18" charset="0"/>
              </a:rPr>
              <a:t>x = 12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va </a:t>
            </a:r>
            <a:r>
              <a:rPr lang="es-ES" sz="1200" dirty="0">
                <a:latin typeface="Courier New" panose="02070309020205020404" pitchFamily="49" charset="0"/>
                <a:ea typeface="Times New Roman" panose="02020603050405020304" pitchFamily="18" charset="0"/>
              </a:rPr>
              <a:t>y = 5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berilgan. </a:t>
            </a:r>
            <a:r>
              <a:rPr lang="es-ES" sz="1200" dirty="0">
                <a:latin typeface="Courier New" panose="02070309020205020404" pitchFamily="49" charset="0"/>
                <a:ea typeface="Times New Roman" panose="02020603050405020304" pitchFamily="18" charset="0"/>
              </a:rPr>
              <a:t>(x * y) + (x // y)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qiymatini toping.</a:t>
            </a:r>
            <a:endParaRPr lang="LID4096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BB088C4-274F-4D85-AE65-FCD2D75C0BA1}"/>
              </a:ext>
            </a:extLst>
          </p:cNvPr>
          <p:cNvSpPr/>
          <p:nvPr/>
        </p:nvSpPr>
        <p:spPr>
          <a:xfrm>
            <a:off x="573234" y="4752350"/>
            <a:ext cx="59298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Javob: </a:t>
            </a:r>
            <a:r>
              <a:rPr lang="fr-FR" dirty="0">
                <a:latin typeface="Courier New" panose="02070309020205020404" pitchFamily="49" charset="0"/>
                <a:ea typeface="Times New Roman" panose="02020603050405020304" pitchFamily="18" charset="0"/>
              </a:rPr>
              <a:t>(12*5) + (12//5) = 60 + 2 = 62</a:t>
            </a:r>
            <a:endParaRPr lang="LID4096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95571EE-ACB9-4BD1-B762-3ECC276D7912}"/>
              </a:ext>
            </a:extLst>
          </p:cNvPr>
          <p:cNvSpPr/>
          <p:nvPr/>
        </p:nvSpPr>
        <p:spPr>
          <a:xfrm>
            <a:off x="6503062" y="598690"/>
            <a:ext cx="6096000" cy="204671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3-mashq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Quyidagi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3.14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qiymati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nima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LID4096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9D18A30-64D2-4710-82A5-43C0EE4E4FA5}"/>
              </a:ext>
            </a:extLst>
          </p:cNvPr>
          <p:cNvSpPr/>
          <p:nvPr/>
        </p:nvSpPr>
        <p:spPr>
          <a:xfrm>
            <a:off x="6503062" y="2563901"/>
            <a:ext cx="41376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M" sz="280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M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3.14 * 16 = 50.24</a:t>
            </a:r>
            <a:endParaRPr lang="LID4096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7F43FBD-9C32-46F5-B1D6-DDEDE95AB74A}"/>
              </a:ext>
            </a:extLst>
          </p:cNvPr>
          <p:cNvSpPr/>
          <p:nvPr/>
        </p:nvSpPr>
        <p:spPr>
          <a:xfrm>
            <a:off x="6503062" y="344811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4-mashq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</a:rPr>
              <a:t>n = 15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</a:rPr>
              <a:t>n % 4 * 3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ifodaning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qiymatini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hisoblang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LID4096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38C6E09-DD6E-4AEE-825F-D198993F4411}"/>
              </a:ext>
            </a:extLst>
          </p:cNvPr>
          <p:cNvSpPr/>
          <p:nvPr/>
        </p:nvSpPr>
        <p:spPr>
          <a:xfrm>
            <a:off x="6503062" y="4535436"/>
            <a:ext cx="51026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Javob: </a:t>
            </a:r>
            <a:r>
              <a:rPr lang="fr-FR" dirty="0">
                <a:latin typeface="Courier New" panose="02070309020205020404" pitchFamily="49" charset="0"/>
                <a:ea typeface="Times New Roman" panose="02020603050405020304" pitchFamily="18" charset="0"/>
              </a:rPr>
              <a:t>(15 % 4) * 3 = 3 * 3 = 9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296322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6062E5E-6F21-415E-B796-0588D97532FF}"/>
              </a:ext>
            </a:extLst>
          </p:cNvPr>
          <p:cNvSpPr/>
          <p:nvPr/>
        </p:nvSpPr>
        <p:spPr>
          <a:xfrm>
            <a:off x="1367246" y="165335"/>
            <a:ext cx="9457508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Bool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tipli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(20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daqiqa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Nazariy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qism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 (Boolean)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qiymatga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taqqoslash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olinadi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55B5147F-6307-454A-98CC-5F8147F95F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774374"/>
              </p:ext>
            </p:extLst>
          </p:nvPr>
        </p:nvGraphicFramePr>
        <p:xfrm>
          <a:off x="1367245" y="2263638"/>
          <a:ext cx="9457509" cy="27089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52503">
                  <a:extLst>
                    <a:ext uri="{9D8B030D-6E8A-4147-A177-3AD203B41FA5}">
                      <a16:colId xmlns:a16="http://schemas.microsoft.com/office/drawing/2014/main" val="1858646684"/>
                    </a:ext>
                  </a:extLst>
                </a:gridCol>
                <a:gridCol w="3152503">
                  <a:extLst>
                    <a:ext uri="{9D8B030D-6E8A-4147-A177-3AD203B41FA5}">
                      <a16:colId xmlns:a16="http://schemas.microsoft.com/office/drawing/2014/main" val="2824553306"/>
                    </a:ext>
                  </a:extLst>
                </a:gridCol>
                <a:gridCol w="3152503">
                  <a:extLst>
                    <a:ext uri="{9D8B030D-6E8A-4147-A177-3AD203B41FA5}">
                      <a16:colId xmlns:a16="http://schemas.microsoft.com/office/drawing/2014/main" val="434083035"/>
                    </a:ext>
                  </a:extLst>
                </a:gridCol>
              </a:tblGrid>
              <a:tr h="39091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Ma’nosi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Misol (</a:t>
                      </a:r>
                      <a:r>
                        <a:rPr lang="es-E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 = 5, y = 3</a:t>
                      </a:r>
                      <a:r>
                        <a:rPr lang="es-E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s-E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01401959"/>
                  </a:ext>
                </a:extLst>
              </a:tr>
              <a:tr h="39091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1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==</a:t>
                      </a:r>
                      <a:endParaRPr lang="en-UM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Tengmi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x == y → False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42653171"/>
                  </a:ext>
                </a:extLst>
              </a:tr>
              <a:tr h="39091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1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!=</a:t>
                      </a:r>
                      <a:endParaRPr lang="en-UM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Teng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emasmi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x != y → True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58333502"/>
                  </a:ext>
                </a:extLst>
              </a:tr>
              <a:tr h="37719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1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&gt;</a:t>
                      </a:r>
                      <a:r>
                        <a:rPr lang="en-UM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M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Kattami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x &gt; y → True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74689037"/>
                  </a:ext>
                </a:extLst>
              </a:tr>
              <a:tr h="39091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1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M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M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Kichikmi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x &lt; y → False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47775910"/>
                  </a:ext>
                </a:extLst>
              </a:tr>
              <a:tr h="37719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1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&gt;=</a:t>
                      </a:r>
                      <a:endParaRPr lang="en-UM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Katta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yoki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teng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x &gt;= y → True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55127777"/>
                  </a:ext>
                </a:extLst>
              </a:tr>
              <a:tr h="39091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1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&lt;=</a:t>
                      </a:r>
                      <a:endParaRPr lang="en-UM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Kichik yoki teng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x &lt;= y → False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86432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9466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070046C-1ED8-4220-A009-0CA9D0038F25}"/>
              </a:ext>
            </a:extLst>
          </p:cNvPr>
          <p:cNvSpPr/>
          <p:nvPr/>
        </p:nvSpPr>
        <p:spPr>
          <a:xfrm>
            <a:off x="5522766" y="0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Mashqlar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29824E9-C88C-447F-B66A-B178C792B894}"/>
              </a:ext>
            </a:extLst>
          </p:cNvPr>
          <p:cNvSpPr/>
          <p:nvPr/>
        </p:nvSpPr>
        <p:spPr>
          <a:xfrm>
            <a:off x="573234" y="582754"/>
            <a:ext cx="3998766" cy="14949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1-mashq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Quyidagi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natijasini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aniqlang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BE648A9-E21E-4238-91F4-9A9DE864D251}"/>
              </a:ext>
            </a:extLst>
          </p:cNvPr>
          <p:cNvSpPr/>
          <p:nvPr/>
        </p:nvSpPr>
        <p:spPr>
          <a:xfrm>
            <a:off x="573234" y="2408311"/>
            <a:ext cx="15921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M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M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Javob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A229547-6E3B-4F1C-9033-0453E7757EE7}"/>
              </a:ext>
            </a:extLst>
          </p:cNvPr>
          <p:cNvSpPr/>
          <p:nvPr/>
        </p:nvSpPr>
        <p:spPr>
          <a:xfrm>
            <a:off x="573234" y="3495349"/>
            <a:ext cx="6096000" cy="9820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2-mashq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 = 4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 = 9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quyidagi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ifodaning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qiymatini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toping: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3041D26-7407-4494-8416-F1EAAE59DD1E}"/>
              </a:ext>
            </a:extLst>
          </p:cNvPr>
          <p:cNvSpPr/>
          <p:nvPr/>
        </p:nvSpPr>
        <p:spPr>
          <a:xfrm>
            <a:off x="573234" y="4804601"/>
            <a:ext cx="57919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M" sz="280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M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Javob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(4 * 2) == 9 → 8 == 9 → False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1F17B7F-DB77-471D-AD48-79761B6E5BF8}"/>
              </a:ext>
            </a:extLst>
          </p:cNvPr>
          <p:cNvSpPr/>
          <p:nvPr/>
        </p:nvSpPr>
        <p:spPr>
          <a:xfrm>
            <a:off x="6669234" y="710993"/>
            <a:ext cx="6096000" cy="12384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3-mashq</a:t>
            </a:r>
            <a:b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Quyidagini baholang:</a:t>
            </a:r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pt-BR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pt-BR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pt-BR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pt-BR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pt-BR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26712C8-3E68-4C89-AF0F-F0CE3306EA7B}"/>
              </a:ext>
            </a:extLst>
          </p:cNvPr>
          <p:cNvSpPr/>
          <p:nvPr/>
        </p:nvSpPr>
        <p:spPr>
          <a:xfrm>
            <a:off x="6669234" y="2106469"/>
            <a:ext cx="30380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M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M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Javob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(15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juft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emas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964ECF4-9C56-43D5-8FF2-A75EF1E61ED2}"/>
              </a:ext>
            </a:extLst>
          </p:cNvPr>
          <p:cNvSpPr/>
          <p:nvPr/>
        </p:nvSpPr>
        <p:spPr>
          <a:xfrm>
            <a:off x="6659245" y="2796493"/>
            <a:ext cx="6096000" cy="9820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4-mashq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= 5, b = 5, c = 10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Quyidagini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aniqlang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4029C52-3BFA-457A-9C69-7E2ADEDCBCBD}"/>
              </a:ext>
            </a:extLst>
          </p:cNvPr>
          <p:cNvSpPr/>
          <p:nvPr/>
        </p:nvSpPr>
        <p:spPr>
          <a:xfrm>
            <a:off x="6669234" y="4288267"/>
            <a:ext cx="51026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Javob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(True) and (True) → True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473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4CB23C5-7134-4B41-A11A-728EAA9A2824}"/>
              </a:ext>
            </a:extLst>
          </p:cNvPr>
          <p:cNvSpPr/>
          <p:nvPr/>
        </p:nvSpPr>
        <p:spPr>
          <a:xfrm>
            <a:off x="4726073" y="109248"/>
            <a:ext cx="27398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M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🔍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Qo‘shimcha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mashqlar</a:t>
            </a: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A6A387E-23FD-448A-BAA4-4B4D4FDC9FE1}"/>
              </a:ext>
            </a:extLst>
          </p:cNvPr>
          <p:cNvSpPr/>
          <p:nvPr/>
        </p:nvSpPr>
        <p:spPr>
          <a:xfrm>
            <a:off x="261257" y="790192"/>
            <a:ext cx="53035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Foydalanuvchidan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son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kiritilsin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. Agar son 3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ga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ham, 5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ga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ham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bo‘linadigan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bo‘lsa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, True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chiqsin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aks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holda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False.</a:t>
            </a:r>
            <a:endParaRPr lang="LID4096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56B6121-A681-45F9-B3FE-60F1FE8DD9A3}"/>
              </a:ext>
            </a:extLst>
          </p:cNvPr>
          <p:cNvSpPr/>
          <p:nvPr/>
        </p:nvSpPr>
        <p:spPr>
          <a:xfrm>
            <a:off x="5834743" y="82630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✅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Javob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 = int(input()); print(n % 3 == 0 and n % 5 == 0)</a:t>
            </a:r>
            <a:endParaRPr lang="LID4096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71E5A58-1BF9-4181-AC1C-91E7D6FE3D04}"/>
              </a:ext>
            </a:extLst>
          </p:cNvPr>
          <p:cNvSpPr/>
          <p:nvPr/>
        </p:nvSpPr>
        <p:spPr>
          <a:xfrm>
            <a:off x="261257" y="2408312"/>
            <a:ext cx="53035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Uchta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o‘zgaruvchi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a=7, b=12, c=5.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Eng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katta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sonni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toping.</a:t>
            </a:r>
            <a:b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LID4096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5BE9975-949C-4F73-82C0-3A1E4E681563}"/>
              </a:ext>
            </a:extLst>
          </p:cNvPr>
          <p:cNvSpPr/>
          <p:nvPr/>
        </p:nvSpPr>
        <p:spPr>
          <a:xfrm>
            <a:off x="5834743" y="2439966"/>
            <a:ext cx="3499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M" dirty="0">
                <a:latin typeface="Times New Roman" panose="02020603050405020304" pitchFamily="18" charset="0"/>
                <a:ea typeface="Calibri" panose="020F0502020204030204" pitchFamily="34" charset="0"/>
              </a:rPr>
              <a:t>✅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Javob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max(7, 12, 5) → 12</a:t>
            </a:r>
            <a:endParaRPr lang="LID4096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EF06A80-9752-4665-9B2D-138CD2CC2BE4}"/>
              </a:ext>
            </a:extLst>
          </p:cNvPr>
          <p:cNvSpPr/>
          <p:nvPr/>
        </p:nvSpPr>
        <p:spPr>
          <a:xfrm>
            <a:off x="267284" y="3516308"/>
            <a:ext cx="52974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3.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Foydalanuvchidan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radius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berilsa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aylana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uzunligini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(L = 2 * pi * r)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hisoblab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chiqaring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LID4096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16C19E9-4C39-4DDE-8531-326CC90E5C20}"/>
              </a:ext>
            </a:extLst>
          </p:cNvPr>
          <p:cNvSpPr/>
          <p:nvPr/>
        </p:nvSpPr>
        <p:spPr>
          <a:xfrm>
            <a:off x="5834743" y="3618692"/>
            <a:ext cx="59218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✅ Javob: </a:t>
            </a:r>
            <a:r>
              <a:rPr lang="pt-BR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 = float(input()); L = 2 * 3.14 * r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3857B14-4B31-4AE8-AF71-72CC26CDB235}"/>
              </a:ext>
            </a:extLst>
          </p:cNvPr>
          <p:cNvSpPr/>
          <p:nvPr/>
        </p:nvSpPr>
        <p:spPr>
          <a:xfrm>
            <a:off x="261257" y="4971699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4. 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soni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berilgan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. Agar 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juft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bo‘lsa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uning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kvadratini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toq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bo‘lsa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uning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kubini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chiqaring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LID4096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3B74325-916F-4E57-9AC5-20FBDE5962B3}"/>
              </a:ext>
            </a:extLst>
          </p:cNvPr>
          <p:cNvSpPr/>
          <p:nvPr/>
        </p:nvSpPr>
        <p:spPr>
          <a:xfrm>
            <a:off x="5834743" y="498175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ea typeface="Calibri" panose="020F0502020204030204" pitchFamily="34" charset="0"/>
              </a:rPr>
              <a:t>✅ Javob: </a:t>
            </a:r>
            <a:r>
              <a:rPr lang="pt-BR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 n % 2 == 0: print(n**2) else: print(n**3)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541001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39C2E2-9F74-41BF-95BE-6C74F84E2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71" y="111671"/>
            <a:ext cx="5403668" cy="1160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5-mashq</a:t>
            </a:r>
            <a:b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Berilgan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sonning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raqamlari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yig‘indisini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hisoblang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b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Masalan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n = 987 → 9+8+7 = 24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F03C20C-D291-47D9-9ACC-3B8F6AA138D2}"/>
              </a:ext>
            </a:extLst>
          </p:cNvPr>
          <p:cNvSpPr/>
          <p:nvPr/>
        </p:nvSpPr>
        <p:spPr>
          <a:xfrm>
            <a:off x="174171" y="1364515"/>
            <a:ext cx="5412376" cy="14849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):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987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24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0A814CB-B925-4B62-8F16-CF1AEB76AB9D}"/>
              </a:ext>
            </a:extLst>
          </p:cNvPr>
          <p:cNvSpPr/>
          <p:nvPr/>
        </p:nvSpPr>
        <p:spPr>
          <a:xfrm>
            <a:off x="104503" y="3529167"/>
            <a:ext cx="53470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6-mashq</a:t>
            </a:r>
          </a:p>
          <a:p>
            <a:pPr algn="just"/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Berilgan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son tub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sonmi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yo‘qligini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aniqlovchi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tuzing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B4877D0-D1E3-4DF1-85C7-93A667312899}"/>
              </a:ext>
            </a:extLst>
          </p:cNvPr>
          <p:cNvSpPr/>
          <p:nvPr/>
        </p:nvSpPr>
        <p:spPr>
          <a:xfrm>
            <a:off x="104503" y="4548291"/>
            <a:ext cx="6096000" cy="178042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):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is_prime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!=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)+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is_prime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True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8730515-7E9C-46C3-9015-4C77E4160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00189"/>
            <a:ext cx="581732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7-mashq</a:t>
            </a:r>
            <a:b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sonini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kiritadi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dan n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gacha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juft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sonlarning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kvadratlari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yig‘indisini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hisoblang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n = 6 → 2**2 + 4**2 + 6**2 = 4 + 16 + 36 = 56.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09038B9-895D-409A-BACD-F92F511AD6AB}"/>
              </a:ext>
            </a:extLst>
          </p:cNvPr>
          <p:cNvSpPr/>
          <p:nvPr/>
        </p:nvSpPr>
        <p:spPr>
          <a:xfrm>
            <a:off x="6096000" y="1256048"/>
            <a:ext cx="6096000" cy="14849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M" sz="160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M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):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56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4FE86593-BB54-4D25-AF66-3DAC02577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1165" y="2950496"/>
            <a:ext cx="6026332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8-mashq</a:t>
            </a:r>
            <a:b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Berilgan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matndagi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so‘zlar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sonini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hisoblang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uzun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so‘zni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toping.</a:t>
            </a:r>
            <a:b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"Python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tilida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arifmetik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→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so‘zlar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5,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uzun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so‘z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9F45CA6-134A-4AB2-99C3-A2ACCA0FBFE5}"/>
              </a:ext>
            </a:extLst>
          </p:cNvPr>
          <p:cNvSpPr/>
          <p:nvPr/>
        </p:nvSpPr>
        <p:spPr>
          <a:xfrm>
            <a:off x="6096000" y="4040459"/>
            <a:ext cx="6096000" cy="27068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M" sz="160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M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):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tilida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arifmetik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sozlar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split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uzun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sozlar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So‘zlar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sozlar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uzun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so‘z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uzun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So‘zlar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5,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uzun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so‘z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738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9E99D70-2750-4E64-9E2D-8C68774DC966}"/>
              </a:ext>
            </a:extLst>
          </p:cNvPr>
          <p:cNvSpPr/>
          <p:nvPr/>
        </p:nvSpPr>
        <p:spPr>
          <a:xfrm>
            <a:off x="853440" y="1438109"/>
            <a:ext cx="1048512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M" sz="3200" b="1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📝</a:t>
            </a:r>
            <a:r>
              <a:rPr lang="en-UM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Xulosa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Python’da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arifmetik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hisoblashlarni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o‘rganildi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Sonlar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o‘zgaruvchilar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turlarini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farqlash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ko‘nikmasi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shakllantirildi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tipidagi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taqqoslash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operatorlaridan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mustahkamlandi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Oddiydan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murakkabgacha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mashqlar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algoritmik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tafakkur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rivojlantirildi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760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14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59" y="1508787"/>
            <a:ext cx="5376597" cy="4032448"/>
          </a:xfrm>
          <a:prstGeom prst="rect">
            <a:avLst/>
          </a:prstGeom>
        </p:spPr>
      </p:pic>
      <p:pic>
        <p:nvPicPr>
          <p:cNvPr id="6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502" y="95846"/>
            <a:ext cx="1388613" cy="112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1443</Words>
  <Application>Microsoft Office PowerPoint</Application>
  <PresentationFormat>Широкоэкранный</PresentationFormat>
  <Paragraphs>168</Paragraphs>
  <Slides>14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Consolas</vt:lpstr>
      <vt:lpstr>Courier New</vt:lpstr>
      <vt:lpstr>Segoe UI Emoji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127</cp:revision>
  <dcterms:created xsi:type="dcterms:W3CDTF">2025-09-09T03:21:43Z</dcterms:created>
  <dcterms:modified xsi:type="dcterms:W3CDTF">2025-09-18T03:51:51Z</dcterms:modified>
</cp:coreProperties>
</file>