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8" r:id="rId2"/>
    <p:sldId id="256" r:id="rId3"/>
    <p:sldId id="267" r:id="rId4"/>
    <p:sldId id="314" r:id="rId5"/>
    <p:sldId id="318" r:id="rId6"/>
    <p:sldId id="320" r:id="rId7"/>
    <p:sldId id="257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4" r:id="rId21"/>
    <p:sldId id="279" r:id="rId2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627AC-4C54-4CB2-BD4C-DADE51631177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1781D-9473-4B28-BD5B-C786594CF76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775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5B3A5-78BC-4D42-8934-3540E1B43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1F23E8-B18B-4C57-ACDC-698FD9E8B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2AF0AF-72F5-4529-92C4-54F486125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9EF62B-19D9-4ABD-B26A-8FF07282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54CC8E-40CF-4CA7-9109-52DCFFE9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4034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60241-2BB6-47B4-BA61-6CD187A0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9459FB-1484-4B50-B7F1-DF587D63F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6FB81F-81F4-44FB-AC60-ABD1244A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B77919-41BF-4E8D-9A60-6675240A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FAA94C-4DF6-4687-A058-91B062E9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733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8F8C6-B64E-493F-9A3C-0389930F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16C306-80BE-48E1-93D4-69944A5E3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A7550E-9598-4724-83EB-777A3044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8BC1E9-6E03-44DE-A53F-B9318E82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CD5EE7-C081-4B95-A07A-350C1F95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59711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10DCA-367A-457A-B110-4413AE8A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6970C0-2913-4850-AF23-C3139FEF7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9D8991-6E5A-4804-A06F-1AEB0298F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EF765B-B6BB-49D9-89F7-7D08A31E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21199A-F134-4306-8791-8C0BA9ED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F8CD3B-8622-4BFD-A47B-E04AB7E4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21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7D8EF-5FC8-43FD-9C65-6A543B36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03EC4D-1BB8-4765-96A6-C037F3194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5B35C0-643A-41A2-81D6-6463DDB44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FDC4D71-669A-47A8-A2A7-A21B64E8F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0ED4DA-0A15-48B7-BF2A-E10C122DC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6C30AD-FD46-4795-B0D1-4D6B4C0D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7379EE2-951E-4301-B710-74A472BA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266733E-ED30-47F3-9DA6-B4A73B03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2233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8D075-37F2-4039-B101-777BCAC3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CB7E628-3E1D-4DD8-B052-95C11704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F2A7A43-6CE6-4550-8EE3-3A0061488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F6C5A8-C2B4-4642-AF83-DC105521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0555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62B014F-0E27-474B-81F6-31B417CC4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9DF6D5B-5625-4598-B715-B75A34EE5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F4A558-0F5D-4C97-80A9-9BB19A5E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992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5D379-95CD-40A7-8BF3-B120F8A2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59F7A8-E4D8-4783-8438-323339BD1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ED731C-1192-4750-AB69-4E84FEF1F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C3AABB-47C0-46CF-9A90-E2B5ABB2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271C75-AA7A-4BE1-A561-9058DB84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C51020-9CA4-4CD3-8F02-92A18CA6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592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CE6AD-8E3C-4B2A-9DF2-06876355A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71FF575-3A8A-492A-BFA6-456436253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F834E5-E177-4A53-BB7A-D9D04C18B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CF0D6C-2818-4EF4-8EBE-1559B930D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5CECC6-BC97-4C31-A9E1-44239B6B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754CED-3CA4-4BFF-8711-9687C7A4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088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32D97-8637-4EAC-A528-1079D469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AD425E-A8A3-44C4-A925-67F6F8005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979649-060C-4830-B85D-0F19D8455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196A3A-19CB-4D30-853F-4B526236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123B20-8E3F-45FE-BD8E-D768FE66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937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A37D2DE-9760-41DA-B885-B16B4157E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EF5873-965A-411C-BD6F-66543AB2E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FC6ABE-45C7-4AE1-9A5A-614852FD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81C2DB-465A-4427-A3DB-61F94C3B4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3FB4A-3B38-42C9-AD90-A1808230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597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0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37B7C-BC28-4F78-8DEB-D0613ED1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B727EB-5E23-4453-82E8-AFF617576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AB3EBF-AF1C-444D-89EA-8FC6960FA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C64D6-7849-43A0-8B5C-E0A4D3B49E93}" type="datetimeFigureOut">
              <a:rPr lang="LID4096" smtClean="0"/>
              <a:t>09/09/2025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45A8FE-C260-420F-B9AD-41780A212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F601FC-70AC-4922-8907-9A9AFA6A3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890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Python%20va%20Pycharmni%20o'rnatish.pdf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MA’RUZACHI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2872581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1-mashg‘ulot:</a:t>
            </a:r>
          </a:p>
          <a:p>
            <a:pPr algn="ctr">
              <a:lnSpc>
                <a:spcPts val="5550"/>
              </a:lnSpc>
            </a:pP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dasturlash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tilining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klassifikatsiyasi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rivojlanish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tarixi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Python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dasturlash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tilining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asosiy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tushunchalari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868973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D0AB8B-D69B-410C-97FC-AAAF3047ADBE}"/>
              </a:ext>
            </a:extLst>
          </p:cNvPr>
          <p:cNvSpPr/>
          <p:nvPr/>
        </p:nvSpPr>
        <p:spPr>
          <a:xfrm>
            <a:off x="1876423" y="2480647"/>
            <a:ext cx="8439154" cy="262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Fanning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mazmuni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maqsadi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PyCharm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“Hello world!”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	Python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tanishish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1457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dasturlash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tilining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klassifikatsiyasi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rivojlanish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tarixi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Python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dasturlash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tilining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asosiy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tushunchalari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147873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4F7B51-3204-43B5-9FC4-1E21E288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4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4BF49E-8002-4C31-98C4-98BC5B1AC92B}"/>
              </a:ext>
            </a:extLst>
          </p:cNvPr>
          <p:cNvSpPr/>
          <p:nvPr/>
        </p:nvSpPr>
        <p:spPr>
          <a:xfrm>
            <a:off x="431369" y="1360780"/>
            <a:ext cx="11329259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96885" algn="just"/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(SI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– </a:t>
            </a:r>
            <a:r>
              <a:rPr lang="en-US" sz="186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kompyuter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dasturlarga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insonning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aqliy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faoliyatiga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o‘xshash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imkoniyatlarni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berishga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qaratilgan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aytganda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odam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o‘ylay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muammolarni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</a:t>
            </a:r>
            <a:r>
              <a:rPr lang="en-US" sz="18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sz="186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tizimdir</a:t>
            </a:r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9B4BBF2-8DAF-4263-8409-20F2241C52A5}"/>
              </a:ext>
            </a:extLst>
          </p:cNvPr>
          <p:cNvCxnSpPr/>
          <p:nvPr/>
        </p:nvCxnSpPr>
        <p:spPr>
          <a:xfrm>
            <a:off x="431369" y="1220756"/>
            <a:ext cx="11329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80064A99-0F8A-464D-B5E9-457E4DBE9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0" y="95847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453DE2-9F11-4995-9A78-ED4C2750BCE7}"/>
              </a:ext>
            </a:extLst>
          </p:cNvPr>
          <p:cNvSpPr/>
          <p:nvPr/>
        </p:nvSpPr>
        <p:spPr>
          <a:xfrm>
            <a:off x="431370" y="583906"/>
            <a:ext cx="40559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1026" name="Picture 2" descr="AI in Robotics: Use of Artificial Intelligence in Robotics ...">
            <a:extLst>
              <a:ext uri="{FF2B5EF4-FFF2-40B4-BE49-F238E27FC236}">
                <a16:creationId xmlns:a16="http://schemas.microsoft.com/office/drawing/2014/main" id="{6918B82F-BBC3-4D43-B89D-D4E67CA5E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3" y="2618101"/>
            <a:ext cx="7488832" cy="34765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91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4F7B51-3204-43B5-9FC4-1E21E288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5</a:t>
            </a:fld>
            <a:endParaRPr lang="ru-RU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0143585-904A-46D1-88A4-0F1B37A71512}"/>
              </a:ext>
            </a:extLst>
          </p:cNvPr>
          <p:cNvCxnSpPr/>
          <p:nvPr/>
        </p:nvCxnSpPr>
        <p:spPr>
          <a:xfrm>
            <a:off x="431369" y="836712"/>
            <a:ext cx="11329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D240CFB8-A5B2-43A6-87E3-A3146E5E8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32608"/>
            <a:ext cx="960107" cy="77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39A8D79-C9B3-4649-BD76-5E030CFAD463}"/>
              </a:ext>
            </a:extLst>
          </p:cNvPr>
          <p:cNvSpPr/>
          <p:nvPr/>
        </p:nvSpPr>
        <p:spPr>
          <a:xfrm>
            <a:off x="431370" y="111074"/>
            <a:ext cx="8385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intellekning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endParaRPr lang="LID4096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9">
            <a:extLst>
              <a:ext uri="{FF2B5EF4-FFF2-40B4-BE49-F238E27FC236}">
                <a16:creationId xmlns:a16="http://schemas.microsoft.com/office/drawing/2014/main" id="{B2EC19E1-2DB9-4C83-B385-1F348DACAEAD}"/>
              </a:ext>
            </a:extLst>
          </p:cNvPr>
          <p:cNvGraphicFramePr>
            <a:graphicFrameLocks noGrp="1"/>
          </p:cNvGraphicFramePr>
          <p:nvPr/>
        </p:nvGraphicFramePr>
        <p:xfrm>
          <a:off x="431369" y="1103715"/>
          <a:ext cx="11329259" cy="5013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76">
                  <a:extLst>
                    <a:ext uri="{9D8B030D-6E8A-4147-A177-3AD203B41FA5}">
                      <a16:colId xmlns:a16="http://schemas.microsoft.com/office/drawing/2014/main" val="4009580600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1490146402"/>
                    </a:ext>
                  </a:extLst>
                </a:gridCol>
                <a:gridCol w="7200799">
                  <a:extLst>
                    <a:ext uri="{9D8B030D-6E8A-4147-A177-3AD203B41FA5}">
                      <a16:colId xmlns:a16="http://schemas.microsoft.com/office/drawing/2014/main" val="937481584"/>
                    </a:ext>
                  </a:extLst>
                </a:gridCol>
              </a:tblGrid>
              <a:tr h="417799">
                <a:tc>
                  <a:txBody>
                    <a:bodyPr/>
                    <a:lstStyle/>
                    <a:p>
                      <a:pPr algn="ctr"/>
                      <a:r>
                        <a:rPr lang="en-UM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Soha</a:t>
                      </a:r>
                      <a:endParaRPr lang="en-US" sz="1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Maqsadi</a:t>
                      </a:r>
                      <a:endParaRPr lang="en-US" sz="19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extLst>
                  <a:ext uri="{0D108BD9-81ED-4DB2-BD59-A6C34878D82A}">
                    <a16:rowId xmlns:a16="http://schemas.microsoft.com/office/drawing/2014/main" val="3498763061"/>
                  </a:ext>
                </a:extLst>
              </a:tr>
              <a:tr h="417799">
                <a:tc>
                  <a:txBody>
                    <a:bodyPr/>
                    <a:lstStyle/>
                    <a:p>
                      <a:pPr algn="ctr"/>
                      <a:r>
                        <a:rPr lang="en-UM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TIBBIYOT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Kasalliklarni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tashxislash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dori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chiqish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tibbiy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tasvirlarni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extLst>
                  <a:ext uri="{0D108BD9-81ED-4DB2-BD59-A6C34878D82A}">
                    <a16:rowId xmlns:a16="http://schemas.microsoft.com/office/drawing/2014/main" val="595725947"/>
                  </a:ext>
                </a:extLst>
              </a:tr>
              <a:tr h="417799">
                <a:tc>
                  <a:txBody>
                    <a:bodyPr/>
                    <a:lstStyle/>
                    <a:p>
                      <a:pPr algn="ctr"/>
                      <a:r>
                        <a:rPr lang="en-UM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TA’LIM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Aqlli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repetitorlar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testlarni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avtomatik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tekshirish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individual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o‘quv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dasturi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extLst>
                  <a:ext uri="{0D108BD9-81ED-4DB2-BD59-A6C34878D82A}">
                    <a16:rowId xmlns:a16="http://schemas.microsoft.com/office/drawing/2014/main" val="3587491317"/>
                  </a:ext>
                </a:extLst>
              </a:tr>
              <a:tr h="417799">
                <a:tc>
                  <a:txBody>
                    <a:bodyPr/>
                    <a:lstStyle/>
                    <a:p>
                      <a:pPr algn="ctr"/>
                      <a:r>
                        <a:rPr lang="en-UM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Avtopilotli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mashinalar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xavfsizligini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oshirish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aqlli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svetoforlar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extLst>
                  <a:ext uri="{0D108BD9-81ED-4DB2-BD59-A6C34878D82A}">
                    <a16:rowId xmlns:a16="http://schemas.microsoft.com/office/drawing/2014/main" val="3358162627"/>
                  </a:ext>
                </a:extLst>
              </a:tr>
              <a:tr h="417799">
                <a:tc>
                  <a:txBody>
                    <a:bodyPr/>
                    <a:lstStyle/>
                    <a:p>
                      <a:pPr algn="ctr"/>
                      <a:r>
                        <a:rPr lang="en-UM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MOLIYAVIY TIZIM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Firibgarlikni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kredit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riskini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baholash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avtomatlashtirilgan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savdo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extLst>
                  <a:ext uri="{0D108BD9-81ED-4DB2-BD59-A6C34878D82A}">
                    <a16:rowId xmlns:a16="http://schemas.microsoft.com/office/drawing/2014/main" val="515316203"/>
                  </a:ext>
                </a:extLst>
              </a:tr>
              <a:tr h="417799">
                <a:tc>
                  <a:txBody>
                    <a:bodyPr/>
                    <a:lstStyle/>
                    <a:p>
                      <a:pPr algn="ctr"/>
                      <a:r>
                        <a:rPr lang="en-UM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SANOAT VA ISHLAB CHIQARISH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Robotlar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yordamida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chiqarishni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avtomatlashtirish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texnik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nosozliklarni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oldindan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extLst>
                  <a:ext uri="{0D108BD9-81ED-4DB2-BD59-A6C34878D82A}">
                    <a16:rowId xmlns:a16="http://schemas.microsoft.com/office/drawing/2014/main" val="2946848282"/>
                  </a:ext>
                </a:extLst>
              </a:tr>
              <a:tr h="417799">
                <a:tc>
                  <a:txBody>
                    <a:bodyPr/>
                    <a:lstStyle/>
                    <a:p>
                      <a:pPr algn="ctr"/>
                      <a:r>
                        <a:rPr lang="en-UM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QISHLOQ XO‘JALIGI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Hosilni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prognoz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o‘simlik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kasalliklarini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avtomatlashtirilgan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sug‘orish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extLst>
                  <a:ext uri="{0D108BD9-81ED-4DB2-BD59-A6C34878D82A}">
                    <a16:rowId xmlns:a16="http://schemas.microsoft.com/office/drawing/2014/main" val="420964650"/>
                  </a:ext>
                </a:extLst>
              </a:tr>
              <a:tr h="417799">
                <a:tc>
                  <a:txBody>
                    <a:bodyPr/>
                    <a:lstStyle/>
                    <a:p>
                      <a:pPr algn="ctr"/>
                      <a:r>
                        <a:rPr lang="en-UM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AXBOROT XAVFSIZLIGI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Kiberhujumlarni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parollarni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himoyalash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tahdidlarni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prognozlash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extLst>
                  <a:ext uri="{0D108BD9-81ED-4DB2-BD59-A6C34878D82A}">
                    <a16:rowId xmlns:a16="http://schemas.microsoft.com/office/drawing/2014/main" val="418656587"/>
                  </a:ext>
                </a:extLst>
              </a:tr>
              <a:tr h="417799">
                <a:tc>
                  <a:txBody>
                    <a:bodyPr/>
                    <a:lstStyle/>
                    <a:p>
                      <a:pPr algn="ctr"/>
                      <a:r>
                        <a:rPr lang="en-UM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KUNDALIK HAYOT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yordamchilar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(Siri, Alexa,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ChatGPT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smart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uydagi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qurilmalarni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boshqarish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extLst>
                  <a:ext uri="{0D108BD9-81ED-4DB2-BD59-A6C34878D82A}">
                    <a16:rowId xmlns:a16="http://schemas.microsoft.com/office/drawing/2014/main" val="2495745195"/>
                  </a:ext>
                </a:extLst>
              </a:tr>
              <a:tr h="417799">
                <a:tc>
                  <a:txBody>
                    <a:bodyPr/>
                    <a:lstStyle/>
                    <a:p>
                      <a:pPr algn="ctr"/>
                      <a:r>
                        <a:rPr lang="en-UM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MARKETING VA BIZNES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Xaridor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xatti-harakatini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reklama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samaradorligini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oshirish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extLst>
                  <a:ext uri="{0D108BD9-81ED-4DB2-BD59-A6C34878D82A}">
                    <a16:rowId xmlns:a16="http://schemas.microsoft.com/office/drawing/2014/main" val="4154979020"/>
                  </a:ext>
                </a:extLst>
              </a:tr>
              <a:tr h="417799">
                <a:tc>
                  <a:txBody>
                    <a:bodyPr/>
                    <a:lstStyle/>
                    <a:p>
                      <a:pPr algn="ctr"/>
                      <a:r>
                        <a:rPr lang="en-UM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SAN’AT VA IJOD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Musiqa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rasmlar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chizish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yozishda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yordam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berish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extLst>
                  <a:ext uri="{0D108BD9-81ED-4DB2-BD59-A6C34878D82A}">
                    <a16:rowId xmlns:a16="http://schemas.microsoft.com/office/drawing/2014/main" val="1852237865"/>
                  </a:ext>
                </a:extLst>
              </a:tr>
              <a:tr h="417799">
                <a:tc>
                  <a:txBody>
                    <a:bodyPr/>
                    <a:lstStyle/>
                    <a:p>
                      <a:pPr algn="ctr"/>
                      <a:r>
                        <a:rPr lang="en-UM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MUDOFAA</a:t>
                      </a:r>
                      <a:endParaRPr lang="en-US" sz="14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Dronlar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boshqaruvi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razvedka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ma’lumotlarini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kiberxavfsizlikni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ta’minlash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521" marR="33521" marT="16761" marB="16761" anchor="ctr"/>
                </a:tc>
                <a:extLst>
                  <a:ext uri="{0D108BD9-81ED-4DB2-BD59-A6C34878D82A}">
                    <a16:rowId xmlns:a16="http://schemas.microsoft.com/office/drawing/2014/main" val="115426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21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4F7B51-3204-43B5-9FC4-1E21E288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6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8E865A3-1099-4B64-A42A-DAAF6DC876C0}"/>
              </a:ext>
            </a:extLst>
          </p:cNvPr>
          <p:cNvCxnSpPr/>
          <p:nvPr/>
        </p:nvCxnSpPr>
        <p:spPr>
          <a:xfrm>
            <a:off x="431369" y="836712"/>
            <a:ext cx="11329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9CE6A8E6-0E64-4FAC-BFEB-DC98AFBF3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32608"/>
            <a:ext cx="960107" cy="77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97B9CFA-AA0C-4C2E-A3E1-84C06B603270}"/>
              </a:ext>
            </a:extLst>
          </p:cNvPr>
          <p:cNvSpPr/>
          <p:nvPr/>
        </p:nvSpPr>
        <p:spPr>
          <a:xfrm>
            <a:off x="431370" y="113623"/>
            <a:ext cx="89322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intellekning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endParaRPr lang="LID4096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7DFB0270-F26E-49C9-8BAA-46B040BCF8B9}"/>
              </a:ext>
            </a:extLst>
          </p:cNvPr>
          <p:cNvGrpSpPr/>
          <p:nvPr/>
        </p:nvGrpSpPr>
        <p:grpSpPr>
          <a:xfrm>
            <a:off x="68260" y="900341"/>
            <a:ext cx="2890089" cy="3488767"/>
            <a:chOff x="51194" y="675255"/>
            <a:chExt cx="2167567" cy="2616575"/>
          </a:xfrm>
        </p:grpSpPr>
        <p:pic>
          <p:nvPicPr>
            <p:cNvPr id="9" name="Рисунок 8" descr="Military command center with AI holographic map, futuristic strategy planning, officers using artificial intelligence sy...">
              <a:extLst>
                <a:ext uri="{FF2B5EF4-FFF2-40B4-BE49-F238E27FC236}">
                  <a16:creationId xmlns:a16="http://schemas.microsoft.com/office/drawing/2014/main" id="{6860D337-2719-402A-A8EA-0B54D6B5F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1" y="1131830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216C6E27-260A-4CDC-9968-FA68A1C0A55A}"/>
                </a:ext>
              </a:extLst>
            </p:cNvPr>
            <p:cNvSpPr/>
            <p:nvPr/>
          </p:nvSpPr>
          <p:spPr>
            <a:xfrm>
              <a:off x="51194" y="675255"/>
              <a:ext cx="2159634" cy="438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Harbiy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strategiya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va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b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</a:b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qaror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qabul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qilish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tizimlari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LID4096" sz="1600" dirty="0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52E7DF10-B885-438F-B831-5EA9A4C25920}"/>
              </a:ext>
            </a:extLst>
          </p:cNvPr>
          <p:cNvGrpSpPr/>
          <p:nvPr/>
        </p:nvGrpSpPr>
        <p:grpSpPr>
          <a:xfrm>
            <a:off x="3019167" y="3271924"/>
            <a:ext cx="2884812" cy="3495553"/>
            <a:chOff x="2264375" y="2453942"/>
            <a:chExt cx="2163609" cy="2621665"/>
          </a:xfrm>
        </p:grpSpPr>
        <p:pic>
          <p:nvPicPr>
            <p:cNvPr id="10" name="Рисунок 9" descr="Futuristic autonomous military drones flying, AI-controlled robots on battlefield, modern defense technology">
              <a:extLst>
                <a:ext uri="{FF2B5EF4-FFF2-40B4-BE49-F238E27FC236}">
                  <a16:creationId xmlns:a16="http://schemas.microsoft.com/office/drawing/2014/main" id="{D549863B-81F6-446B-A4C3-CA4E5FCD0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4375" y="2915607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935A2DF6-F1A8-46F3-BA44-93BAAFA5661C}"/>
                </a:ext>
              </a:extLst>
            </p:cNvPr>
            <p:cNvSpPr/>
            <p:nvPr/>
          </p:nvSpPr>
          <p:spPr>
            <a:xfrm>
              <a:off x="2267984" y="2453942"/>
              <a:ext cx="2160000" cy="438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1067"/>
                </a:spcAft>
              </a:pP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Avtonom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dronlar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robotlashtirilgan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texnikalar</a:t>
              </a:r>
              <a:endPara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B6524FD-1C5C-447F-BCF1-00902131FF4D}"/>
              </a:ext>
            </a:extLst>
          </p:cNvPr>
          <p:cNvGrpSpPr/>
          <p:nvPr/>
        </p:nvGrpSpPr>
        <p:grpSpPr>
          <a:xfrm>
            <a:off x="9073137" y="900341"/>
            <a:ext cx="2889603" cy="3488767"/>
            <a:chOff x="6804853" y="675255"/>
            <a:chExt cx="2167202" cy="2616575"/>
          </a:xfrm>
        </p:grpSpPr>
        <p:pic>
          <p:nvPicPr>
            <p:cNvPr id="12" name="Рисунок 11" descr="Digital cybersecurity shield, AI neural network protecting military systems, cyber warfare concept illustration in army ...">
              <a:extLst>
                <a:ext uri="{FF2B5EF4-FFF2-40B4-BE49-F238E27FC236}">
                  <a16:creationId xmlns:a16="http://schemas.microsoft.com/office/drawing/2014/main" id="{C1DF9DCE-A331-4833-9F8B-EF44C5411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2055" y="1131830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3B3C71A-5F29-449C-BED0-95F8F71F134D}"/>
                </a:ext>
              </a:extLst>
            </p:cNvPr>
            <p:cNvSpPr/>
            <p:nvPr/>
          </p:nvSpPr>
          <p:spPr>
            <a:xfrm>
              <a:off x="6804853" y="675255"/>
              <a:ext cx="2159635" cy="438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1067"/>
                </a:spcAft>
              </a:pP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Kiberxavfsizlik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axborot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urushi</a:t>
              </a:r>
              <a:endPara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8388A05-F6A1-4931-B346-88185B91379A}"/>
              </a:ext>
            </a:extLst>
          </p:cNvPr>
          <p:cNvGrpSpPr/>
          <p:nvPr/>
        </p:nvGrpSpPr>
        <p:grpSpPr>
          <a:xfrm>
            <a:off x="6157229" y="3381688"/>
            <a:ext cx="2880000" cy="3390829"/>
            <a:chOff x="4617922" y="2536266"/>
            <a:chExt cx="2160000" cy="2543122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6CAC55F8-8B02-4977-BDE3-3DB098B9C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7922" y="2919388"/>
              <a:ext cx="2160000" cy="2160000"/>
            </a:xfrm>
            <a:prstGeom prst="rect">
              <a:avLst/>
            </a:prstGeom>
            <a:noFill/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7188A7BB-78E5-406B-A642-834DC4814BF9}"/>
                </a:ext>
              </a:extLst>
            </p:cNvPr>
            <p:cNvSpPr/>
            <p:nvPr/>
          </p:nvSpPr>
          <p:spPr>
            <a:xfrm>
              <a:off x="5252126" y="2536266"/>
              <a:ext cx="845424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Razvedka</a:t>
              </a:r>
              <a:r>
                <a:rPr lang="en-US" sz="24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LID4096" sz="24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DF67F0D-D41D-4AFA-94CD-280CC4E9D6E5}"/>
              </a:ext>
            </a:extLst>
          </p:cNvPr>
          <p:cNvSpPr txBox="1"/>
          <p:nvPr/>
        </p:nvSpPr>
        <p:spPr>
          <a:xfrm>
            <a:off x="3326289" y="1672748"/>
            <a:ext cx="5539419" cy="10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33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33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intellektni</a:t>
            </a:r>
            <a:r>
              <a:rPr 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33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33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sohasiga</a:t>
            </a:r>
            <a:r>
              <a:rPr 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33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tatbiq</a:t>
            </a:r>
            <a:r>
              <a:rPr 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33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33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maqsadida</a:t>
            </a:r>
            <a:r>
              <a:rPr 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133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133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33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2133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33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133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fani</a:t>
            </a:r>
            <a:r>
              <a:rPr 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33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33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etildi</a:t>
            </a:r>
            <a:r>
              <a:rPr lang="en-US" sz="2133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sz="2133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79480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2BE474-6F1F-4105-B360-9624092E8C00}"/>
              </a:ext>
            </a:extLst>
          </p:cNvPr>
          <p:cNvSpPr/>
          <p:nvPr/>
        </p:nvSpPr>
        <p:spPr>
          <a:xfrm>
            <a:off x="457200" y="1381496"/>
            <a:ext cx="11277600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tasniflanadi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paradigmasi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yo‘naltirilgan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(OOP)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Imperativ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buyruqlar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ketma-ketligini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qo‘llab-quvvatlaydi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tezkor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darajali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sintaksisi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yaqin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Interpretatsiya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usuli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Interpretatsiya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qilinadigan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bevosita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kompilyatsiya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qilinmaydi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moslashuvchanligi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Kross-platforma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Windows, Linux, macOS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1829447" y="10477"/>
            <a:ext cx="85331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tilining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klassifikatsiyasi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24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2BE474-6F1F-4105-B360-9624092E8C00}"/>
              </a:ext>
            </a:extLst>
          </p:cNvPr>
          <p:cNvSpPr/>
          <p:nvPr/>
        </p:nvSpPr>
        <p:spPr>
          <a:xfrm>
            <a:off x="457200" y="1381496"/>
            <a:ext cx="112776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1980-yillar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oxiri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Gvido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van Rossum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Gollandiyalik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“ABC”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ilhomlanib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1991-yil: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Python’ning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(0.9.0)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istisnolar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(exceptions),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2000-yil: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2.0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 collection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chiqindilarni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Unicode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qo‘llab-quvvatlash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yangiliklar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2008-yil: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Sintaksisda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o‘zgarishlar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print()),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tushunarli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Hozirgi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Python’ning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oxirgi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barqaror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versiyalari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liniyasiga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mashinaviy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tahlili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desktop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ilovalar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1720443" y="0"/>
            <a:ext cx="87511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tilining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rivojlanish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tarixi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9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1720443" y="0"/>
            <a:ext cx="82509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Fanning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mazmuni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maqsadi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154B5C8-3604-4D14-B148-ECFF76CA14B2}"/>
              </a:ext>
            </a:extLst>
          </p:cNvPr>
          <p:cNvSpPr/>
          <p:nvPr/>
        </p:nvSpPr>
        <p:spPr>
          <a:xfrm>
            <a:off x="333375" y="1106627"/>
            <a:ext cx="11525250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📌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Fanning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mazmuni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 fan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sun’iy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intellekt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asoslari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bosqichma-bosqich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o‘rgatishga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qaratilgan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O‘quv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dasturi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quyidagilarni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qamrab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tarixiy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rivojlanishi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sintaksisi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sikllar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yo‘naltirilgan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Grafik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interfeys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(GUI)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QtDesigner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amaliy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Tarmoq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Python’da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socket moduli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klient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-server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NumPy, Pandas, Matplotlib, Seaborn,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Scikit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-learn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kutubxonalari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vizualizatsiya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algoritmlarni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tatbiq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Sun’iy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intellekt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klassifikatsiya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regressiya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klasterlash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neyron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tarmoqlar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haqida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boshlang‘ich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tushunchalar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Ya’ni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fanning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mazmuni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Python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dasturlashdan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boshlab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sun’iy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intellekt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o‘qitishgacha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bo‘lgan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yo‘lni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bosqichma-bosqich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o‘rgatishdir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9729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1F32BF2-3144-430B-86B2-4C16FFF65C5D}"/>
              </a:ext>
            </a:extLst>
          </p:cNvPr>
          <p:cNvSpPr/>
          <p:nvPr/>
        </p:nvSpPr>
        <p:spPr>
          <a:xfrm>
            <a:off x="266700" y="229821"/>
            <a:ext cx="11658600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Fanning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maqsadi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Kursantlarga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tilida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mustaqil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ko‘nikmasini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Algoritmik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mantiqiy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fikrlashni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rivojlantirish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Amaliy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nazariy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bilimlarni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amaliyotga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tatbiq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grafik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interfeys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tarmoq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bo‘yicha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boshlang‘ich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bilim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ko‘nikmalarni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shakllantirish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Talabalarni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zamonaviy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yo‘nalishlariga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xususan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sun’iy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intellekt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data science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sohalariga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tayyorlash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58589B7-0261-4084-8BFA-91B2332928F7}"/>
              </a:ext>
            </a:extLst>
          </p:cNvPr>
          <p:cNvSpPr/>
          <p:nvPr/>
        </p:nvSpPr>
        <p:spPr>
          <a:xfrm>
            <a:off x="266700" y="3079849"/>
            <a:ext cx="11658600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🛠️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Fanning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vazifalari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tilini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o‘rnatish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muhitlardan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foydalanishni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o‘rgatish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sintaksisi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sikllari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yo‘naltirilgan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dasturlashni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tushuntirish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PyQt5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grafik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interfeysli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amaliy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ko‘nikmasini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Socket moduli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klient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-server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dasturlarini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o‘rgatish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NumPy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Pandas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tahlil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ko‘nikmalarini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hosil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Matplotlib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Seaborn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vizualizatsiya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usullarini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algoritmlarini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(Linear Regression, Logistic Regression, K-means, Decision Trees, Random Forest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boshqalar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real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datasetlarda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qo‘llashni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o‘rgatish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Sun’iy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neyron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tarmoqlar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AI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haqida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boshlang‘ich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bilim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856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931766" y="10477"/>
            <a:ext cx="103284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Pythonni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PyCharm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6A4A037-8AE0-4400-B6AA-199B222AB7E1}"/>
              </a:ext>
            </a:extLst>
          </p:cNvPr>
          <p:cNvSpPr txBox="1"/>
          <p:nvPr/>
        </p:nvSpPr>
        <p:spPr>
          <a:xfrm>
            <a:off x="742611" y="2347198"/>
            <a:ext cx="10706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havolada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PyCharm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tushirish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batafsil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Python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PyCharm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dasturini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o‘rnatish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ishga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tushirish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488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1694794" y="10477"/>
            <a:ext cx="88024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Pythonda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“Hello world!”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dasturini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tuzish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6CFA6CF-2862-48D4-852F-FC396EF36BD7}"/>
              </a:ext>
            </a:extLst>
          </p:cNvPr>
          <p:cNvSpPr/>
          <p:nvPr/>
        </p:nvSpPr>
        <p:spPr>
          <a:xfrm>
            <a:off x="404811" y="1303139"/>
            <a:ext cx="11382375" cy="3724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o‘rganishda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yoziladigan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“Hello, World!”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dasturi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soda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M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Python’da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“Hello world!” dasturi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</a:rPr>
              <a:t>Hello, World!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🔎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Izoh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print()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Pythonning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ichki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ekranga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"Hello, World!"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(string)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qo‘shtirnoq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ichida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5644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039376-6757-4FB4-A789-A8AF03D4D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789984"/>
            <a:ext cx="10953750" cy="508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12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14400" algn="l"/>
              </a:tabLst>
            </a:pP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🖥 “Hello World”ni turli muhitlarda bajarish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IDLE (Python bilan birga o‘rnatiladi):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IDLE ni oching.</a:t>
            </a: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 fayl yarating: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 → New File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 yozing: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print("Hello, World!").</a:t>
            </a: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.py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kengaytmasi bilan saqlang va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 → Run Module (F5)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tugmasini bosing.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PyCharm: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 project yarating.</a:t>
            </a: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 Python fayl oching 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hello.py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 yozib,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tugmasini bosing.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Terminal (CMD, PowerShell yoki Linux terminal):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hello.py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faylini saqlang.</a:t>
            </a: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Terminalda fayl joylashgan papkaga o‘ting.</a:t>
            </a:r>
          </a:p>
          <a:p>
            <a:pPr marL="457200" marR="0" lvl="1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914400" algn="l"/>
              </a:tabLs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Buyruq yozing:</a:t>
            </a:r>
          </a:p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python hello.py </a:t>
            </a:r>
          </a:p>
        </p:txBody>
      </p:sp>
    </p:spTree>
    <p:extLst>
      <p:ext uri="{BB962C8B-B14F-4D97-AF65-F5344CB8AC3E}">
        <p14:creationId xmlns:p14="http://schemas.microsoft.com/office/powerpoint/2010/main" val="334475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893291" y="10477"/>
            <a:ext cx="104054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Python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tilining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tanishish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14BC5E0-33DF-469D-B598-494F8BBA4069}"/>
              </a:ext>
            </a:extLst>
          </p:cNvPr>
          <p:cNvSpPr/>
          <p:nvPr/>
        </p:nvSpPr>
        <p:spPr>
          <a:xfrm>
            <a:off x="619119" y="866686"/>
            <a:ext cx="10953756" cy="878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tilida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ustida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so‘zlardir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taqqoslash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boshqaruv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oshirishda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BEEAE18-6ABA-4517-93F9-5816CBB5022F}"/>
              </a:ext>
            </a:extLst>
          </p:cNvPr>
          <p:cNvSpPr/>
          <p:nvPr/>
        </p:nvSpPr>
        <p:spPr>
          <a:xfrm>
            <a:off x="619119" y="1963187"/>
            <a:ext cx="6096000" cy="8771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Matematik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hisob-kitoblarni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LID4096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D3D7FAE-AA41-4384-A25C-F3AD80256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100309"/>
              </p:ext>
            </p:extLst>
          </p:nvPr>
        </p:nvGraphicFramePr>
        <p:xfrm>
          <a:off x="619119" y="3057957"/>
          <a:ext cx="10953756" cy="33999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5906">
                  <a:extLst>
                    <a:ext uri="{9D8B030D-6E8A-4147-A177-3AD203B41FA5}">
                      <a16:colId xmlns:a16="http://schemas.microsoft.com/office/drawing/2014/main" val="2311359660"/>
                    </a:ext>
                  </a:extLst>
                </a:gridCol>
                <a:gridCol w="3990972">
                  <a:extLst>
                    <a:ext uri="{9D8B030D-6E8A-4147-A177-3AD203B41FA5}">
                      <a16:colId xmlns:a16="http://schemas.microsoft.com/office/drawing/2014/main" val="3988642836"/>
                    </a:ext>
                  </a:extLst>
                </a:gridCol>
                <a:gridCol w="2738439">
                  <a:extLst>
                    <a:ext uri="{9D8B030D-6E8A-4147-A177-3AD203B41FA5}">
                      <a16:colId xmlns:a16="http://schemas.microsoft.com/office/drawing/2014/main" val="343001346"/>
                    </a:ext>
                  </a:extLst>
                </a:gridCol>
                <a:gridCol w="2738439">
                  <a:extLst>
                    <a:ext uri="{9D8B030D-6E8A-4147-A177-3AD203B41FA5}">
                      <a16:colId xmlns:a16="http://schemas.microsoft.com/office/drawing/2014/main" val="1169537777"/>
                    </a:ext>
                  </a:extLst>
                </a:gridCol>
              </a:tblGrid>
              <a:tr h="37777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Tavsifi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 (a=10, b=3)</a:t>
                      </a:r>
                      <a:endParaRPr lang="es-E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4247445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+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Qo‘shish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 +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13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2666864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Ayirish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 -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5908832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*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Ko‘paytirish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 *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6323867"/>
                  </a:ext>
                </a:extLst>
              </a:tr>
              <a:tr h="75555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/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Bo‘lish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float)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 /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3.333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8329333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//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Butun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bo‘lish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 //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8188185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%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Qoldiqni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olish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 %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9851612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**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Darajaga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oshirish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 **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1000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875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138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7915784-13F6-42E5-BF1A-9647A3885FBC}"/>
              </a:ext>
            </a:extLst>
          </p:cNvPr>
          <p:cNvSpPr/>
          <p:nvPr/>
        </p:nvSpPr>
        <p:spPr>
          <a:xfrm>
            <a:off x="438150" y="793403"/>
            <a:ext cx="7315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Taqqoslash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solishtirish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solishtiradi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127B85E-998A-4E6D-895C-55129840F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927757"/>
              </p:ext>
            </p:extLst>
          </p:nvPr>
        </p:nvGraphicFramePr>
        <p:xfrm>
          <a:off x="438150" y="2428875"/>
          <a:ext cx="11258552" cy="31292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4638">
                  <a:extLst>
                    <a:ext uri="{9D8B030D-6E8A-4147-A177-3AD203B41FA5}">
                      <a16:colId xmlns:a16="http://schemas.microsoft.com/office/drawing/2014/main" val="227703804"/>
                    </a:ext>
                  </a:extLst>
                </a:gridCol>
                <a:gridCol w="2814638">
                  <a:extLst>
                    <a:ext uri="{9D8B030D-6E8A-4147-A177-3AD203B41FA5}">
                      <a16:colId xmlns:a16="http://schemas.microsoft.com/office/drawing/2014/main" val="2144018976"/>
                    </a:ext>
                  </a:extLst>
                </a:gridCol>
                <a:gridCol w="2814638">
                  <a:extLst>
                    <a:ext uri="{9D8B030D-6E8A-4147-A177-3AD203B41FA5}">
                      <a16:colId xmlns:a16="http://schemas.microsoft.com/office/drawing/2014/main" val="2219163005"/>
                    </a:ext>
                  </a:extLst>
                </a:gridCol>
                <a:gridCol w="2814638">
                  <a:extLst>
                    <a:ext uri="{9D8B030D-6E8A-4147-A177-3AD203B41FA5}">
                      <a16:colId xmlns:a16="http://schemas.microsoft.com/office/drawing/2014/main" val="389806607"/>
                    </a:ext>
                  </a:extLst>
                </a:gridCol>
              </a:tblGrid>
              <a:tr h="46911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Tavsifi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 (a=10, b=3)</a:t>
                      </a:r>
                      <a:endParaRPr lang="es-E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203936"/>
                  </a:ext>
                </a:extLst>
              </a:tr>
              <a:tr h="43143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==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Tengmi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==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7912957"/>
                  </a:ext>
                </a:extLst>
              </a:tr>
              <a:tr h="44932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!=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emasmi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!=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4139274"/>
                  </a:ext>
                </a:extLst>
              </a:tr>
              <a:tr h="44932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&gt; 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Kattami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&gt;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0782483"/>
                  </a:ext>
                </a:extLst>
              </a:tr>
              <a:tr h="44932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&lt; 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Kichikmi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&lt;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90744981"/>
                  </a:ext>
                </a:extLst>
              </a:tr>
              <a:tr h="44932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&gt;=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Katta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yoki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tengmi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&gt;=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0654486"/>
                  </a:ext>
                </a:extLst>
              </a:tr>
              <a:tr h="43143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&lt;=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Kichik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yoki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tengmi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&lt;=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5165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431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2F9E32-AE3F-43B6-9F2A-1AAA55AC06EE}"/>
              </a:ext>
            </a:extLst>
          </p:cNvPr>
          <p:cNvSpPr/>
          <p:nvPr/>
        </p:nvSpPr>
        <p:spPr>
          <a:xfrm>
            <a:off x="438150" y="732622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3.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Mantiqiy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birlashtirishda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9D74F80-8F33-4C39-83F6-FDBBE8F41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82149"/>
              </p:ext>
            </p:extLst>
          </p:nvPr>
        </p:nvGraphicFramePr>
        <p:xfrm>
          <a:off x="438149" y="2165508"/>
          <a:ext cx="11249024" cy="27493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2256">
                  <a:extLst>
                    <a:ext uri="{9D8B030D-6E8A-4147-A177-3AD203B41FA5}">
                      <a16:colId xmlns:a16="http://schemas.microsoft.com/office/drawing/2014/main" val="1386752638"/>
                    </a:ext>
                  </a:extLst>
                </a:gridCol>
                <a:gridCol w="2812256">
                  <a:extLst>
                    <a:ext uri="{9D8B030D-6E8A-4147-A177-3AD203B41FA5}">
                      <a16:colId xmlns:a16="http://schemas.microsoft.com/office/drawing/2014/main" val="3251011672"/>
                    </a:ext>
                  </a:extLst>
                </a:gridCol>
                <a:gridCol w="2812256">
                  <a:extLst>
                    <a:ext uri="{9D8B030D-6E8A-4147-A177-3AD203B41FA5}">
                      <a16:colId xmlns:a16="http://schemas.microsoft.com/office/drawing/2014/main" val="3099311667"/>
                    </a:ext>
                  </a:extLst>
                </a:gridCol>
                <a:gridCol w="2812256">
                  <a:extLst>
                    <a:ext uri="{9D8B030D-6E8A-4147-A177-3AD203B41FA5}">
                      <a16:colId xmlns:a16="http://schemas.microsoft.com/office/drawing/2014/main" val="4211075045"/>
                    </a:ext>
                  </a:extLst>
                </a:gridCol>
              </a:tblGrid>
              <a:tr h="56891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Tavsifi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9376628"/>
                  </a:ext>
                </a:extLst>
              </a:tr>
              <a:tr h="72682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endParaRPr lang="en-US" sz="12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sv-SE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Ikkala shart ham rost bo‘lsa</a:t>
                      </a:r>
                      <a:endParaRPr lang="sv-SE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&gt; 5 and b &lt; 5</a:t>
                      </a:r>
                      <a:endParaRPr lang="en-US" sz="12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12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0786020"/>
                  </a:ext>
                </a:extLst>
              </a:tr>
              <a:tr h="72682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endParaRPr lang="en-US" sz="12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Kamida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bittasi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rost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bo‘lsa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&lt; 5 or b &lt; 5</a:t>
                      </a:r>
                      <a:endParaRPr lang="en-US" sz="12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12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94343275"/>
                  </a:ext>
                </a:extLst>
              </a:tr>
              <a:tr h="72682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endParaRPr lang="en-US" sz="12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Natijani teskarilaydi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not(a &gt; b)</a:t>
                      </a:r>
                      <a:endParaRPr lang="en-US" sz="12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US" sz="12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5723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358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DAD4EA1-2539-4EAF-841E-AA4E5E9588C5}"/>
              </a:ext>
            </a:extLst>
          </p:cNvPr>
          <p:cNvSpPr/>
          <p:nvPr/>
        </p:nvSpPr>
        <p:spPr>
          <a:xfrm>
            <a:off x="485775" y="607279"/>
            <a:ext cx="73342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4.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O‘zlashtirish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(assignment)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E24D7BA-4A12-452B-BC8D-CCF20EBC1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841210"/>
              </p:ext>
            </p:extLst>
          </p:nvPr>
        </p:nvGraphicFramePr>
        <p:xfrm>
          <a:off x="485775" y="1825148"/>
          <a:ext cx="11258550" cy="37374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39204519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75933730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4174689293"/>
                    </a:ext>
                  </a:extLst>
                </a:gridCol>
              </a:tblGrid>
              <a:tr h="516925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(a=5)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5254880"/>
                  </a:ext>
                </a:extLst>
              </a:tr>
              <a:tr h="39282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= 5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a=5</a:t>
                      </a:r>
                      <a:endParaRPr lang="en-US" sz="1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2549169"/>
                  </a:ext>
                </a:extLst>
              </a:tr>
              <a:tr h="41230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+=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+= 3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a=8</a:t>
                      </a:r>
                      <a:endParaRPr lang="en-US" sz="1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4688332"/>
                  </a:ext>
                </a:extLst>
              </a:tr>
              <a:tr h="39282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-=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-= 2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a=6</a:t>
                      </a:r>
                      <a:endParaRPr lang="en-US" sz="1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8615649"/>
                  </a:ext>
                </a:extLst>
              </a:tr>
              <a:tr h="41230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*=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*= 4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a=24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2838686"/>
                  </a:ext>
                </a:extLst>
              </a:tr>
              <a:tr h="39282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/=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/= 2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a=12.0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8863679"/>
                  </a:ext>
                </a:extLst>
              </a:tr>
              <a:tr h="41230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//=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//= 5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a=2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3353298"/>
                  </a:ext>
                </a:extLst>
              </a:tr>
              <a:tr h="39282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%=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%= 2</a:t>
                      </a:r>
                      <a:endParaRPr lang="en-US" sz="1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a=0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1659702"/>
                  </a:ext>
                </a:extLst>
              </a:tr>
              <a:tr h="41230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**=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**= 3</a:t>
                      </a:r>
                      <a:endParaRPr lang="en-US" sz="1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a=0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363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934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CE490A7-5256-46C3-815E-8F59C3500488}"/>
              </a:ext>
            </a:extLst>
          </p:cNvPr>
          <p:cNvSpPr/>
          <p:nvPr/>
        </p:nvSpPr>
        <p:spPr>
          <a:xfrm>
            <a:off x="523875" y="269528"/>
            <a:ext cx="73723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5.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(binary operators)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ustida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darajasida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82B7F44-739C-4CBD-B118-902AC93FC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417185"/>
              </p:ext>
            </p:extLst>
          </p:nvPr>
        </p:nvGraphicFramePr>
        <p:xfrm>
          <a:off x="523875" y="1418114"/>
          <a:ext cx="11106152" cy="36682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76538">
                  <a:extLst>
                    <a:ext uri="{9D8B030D-6E8A-4147-A177-3AD203B41FA5}">
                      <a16:colId xmlns:a16="http://schemas.microsoft.com/office/drawing/2014/main" val="4213314914"/>
                    </a:ext>
                  </a:extLst>
                </a:gridCol>
                <a:gridCol w="2776538">
                  <a:extLst>
                    <a:ext uri="{9D8B030D-6E8A-4147-A177-3AD203B41FA5}">
                      <a16:colId xmlns:a16="http://schemas.microsoft.com/office/drawing/2014/main" val="2422327698"/>
                    </a:ext>
                  </a:extLst>
                </a:gridCol>
                <a:gridCol w="2776538">
                  <a:extLst>
                    <a:ext uri="{9D8B030D-6E8A-4147-A177-3AD203B41FA5}">
                      <a16:colId xmlns:a16="http://schemas.microsoft.com/office/drawing/2014/main" val="3708833415"/>
                    </a:ext>
                  </a:extLst>
                </a:gridCol>
                <a:gridCol w="2776538">
                  <a:extLst>
                    <a:ext uri="{9D8B030D-6E8A-4147-A177-3AD203B41FA5}">
                      <a16:colId xmlns:a16="http://schemas.microsoft.com/office/drawing/2014/main" val="2906287374"/>
                    </a:ext>
                  </a:extLst>
                </a:gridCol>
              </a:tblGrid>
              <a:tr h="54969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Tavsifi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s-E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 (a=6, b=3)</a:t>
                      </a:r>
                      <a:endParaRPr lang="es-E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0393132"/>
                  </a:ext>
                </a:extLst>
              </a:tr>
              <a:tr h="505455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VA (AND)</a:t>
                      </a:r>
                      <a:endParaRPr lang="en-US" sz="1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&amp;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09883879"/>
                  </a:ext>
                </a:extLst>
              </a:tr>
              <a:tr h="52690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/>
                        <a:t>|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YOKI (OR)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|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8556735"/>
                  </a:ext>
                </a:extLst>
              </a:tr>
              <a:tr h="52690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^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XOR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^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03460322"/>
                  </a:ext>
                </a:extLst>
              </a:tr>
              <a:tr h="52690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Teskari</a:t>
                      </a: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 (NOT)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~a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-7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0939050"/>
                  </a:ext>
                </a:extLst>
              </a:tr>
              <a:tr h="52690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&lt;&lt; 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chapga</a:t>
                      </a: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siljitish</a:t>
                      </a: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 (shift left)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&lt;&lt; 1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8245718"/>
                  </a:ext>
                </a:extLst>
              </a:tr>
              <a:tr h="505455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&gt;&gt; 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o‘ngga</a:t>
                      </a: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siljitish</a:t>
                      </a: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 (shift right)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&gt;&gt; 1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M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5704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0252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037C5A-75A4-44A5-9F36-84A53C8BF9B3}"/>
              </a:ext>
            </a:extLst>
          </p:cNvPr>
          <p:cNvSpPr/>
          <p:nvPr/>
        </p:nvSpPr>
        <p:spPr>
          <a:xfrm>
            <a:off x="552449" y="251222"/>
            <a:ext cx="70961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6.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A’zolik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(list, tuple, string)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mavjudligini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2187643-0D3F-40F1-9E82-67960E0E0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7605"/>
              </p:ext>
            </p:extLst>
          </p:nvPr>
        </p:nvGraphicFramePr>
        <p:xfrm>
          <a:off x="552449" y="1263492"/>
          <a:ext cx="11077575" cy="198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2726">
                  <a:extLst>
                    <a:ext uri="{9D8B030D-6E8A-4147-A177-3AD203B41FA5}">
                      <a16:colId xmlns:a16="http://schemas.microsoft.com/office/drawing/2014/main" val="683129097"/>
                    </a:ext>
                  </a:extLst>
                </a:gridCol>
                <a:gridCol w="4632324">
                  <a:extLst>
                    <a:ext uri="{9D8B030D-6E8A-4147-A177-3AD203B41FA5}">
                      <a16:colId xmlns:a16="http://schemas.microsoft.com/office/drawing/2014/main" val="1430221812"/>
                    </a:ext>
                  </a:extLst>
                </a:gridCol>
                <a:gridCol w="3692525">
                  <a:extLst>
                    <a:ext uri="{9D8B030D-6E8A-4147-A177-3AD203B41FA5}">
                      <a16:colId xmlns:a16="http://schemas.microsoft.com/office/drawing/2014/main" val="2312083584"/>
                    </a:ext>
                  </a:extLst>
                </a:gridCol>
              </a:tblGrid>
              <a:tr h="67078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2468497"/>
                  </a:ext>
                </a:extLst>
              </a:tr>
              <a:tr h="67078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"a" in "</a:t>
                      </a:r>
                      <a:r>
                        <a:rPr lang="en-US" sz="14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salom</a:t>
                      </a: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"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1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5885914"/>
                  </a:ext>
                </a:extLst>
              </a:tr>
              <a:tr h="64296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not in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"z" not in "</a:t>
                      </a:r>
                      <a:r>
                        <a:rPr lang="en-US" sz="14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salom</a:t>
                      </a: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"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4980060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51B764D-DB2D-46B4-9451-7189029C2FF8}"/>
              </a:ext>
            </a:extLst>
          </p:cNvPr>
          <p:cNvSpPr/>
          <p:nvPr/>
        </p:nvSpPr>
        <p:spPr>
          <a:xfrm>
            <a:off x="552448" y="3765947"/>
            <a:ext cx="67818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7.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Identity (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shaxsiy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manzilni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egallaganmi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yo‘qmi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90F6996-44A9-4CBD-B7E9-FFC25EE54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146360"/>
              </p:ext>
            </p:extLst>
          </p:nvPr>
        </p:nvGraphicFramePr>
        <p:xfrm>
          <a:off x="552448" y="4799826"/>
          <a:ext cx="11077575" cy="13914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92525">
                  <a:extLst>
                    <a:ext uri="{9D8B030D-6E8A-4147-A177-3AD203B41FA5}">
                      <a16:colId xmlns:a16="http://schemas.microsoft.com/office/drawing/2014/main" val="3270055007"/>
                    </a:ext>
                  </a:extLst>
                </a:gridCol>
                <a:gridCol w="3692525">
                  <a:extLst>
                    <a:ext uri="{9D8B030D-6E8A-4147-A177-3AD203B41FA5}">
                      <a16:colId xmlns:a16="http://schemas.microsoft.com/office/drawing/2014/main" val="2191368"/>
                    </a:ext>
                  </a:extLst>
                </a:gridCol>
                <a:gridCol w="3692525">
                  <a:extLst>
                    <a:ext uri="{9D8B030D-6E8A-4147-A177-3AD203B41FA5}">
                      <a16:colId xmlns:a16="http://schemas.microsoft.com/office/drawing/2014/main" val="883693998"/>
                    </a:ext>
                  </a:extLst>
                </a:gridCol>
              </a:tblGrid>
              <a:tr h="48334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(a=[1,2], b=a)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59059678"/>
                  </a:ext>
                </a:extLst>
              </a:tr>
              <a:tr h="44463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is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lang="en-US" sz="1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6250848"/>
                  </a:ext>
                </a:extLst>
              </a:tr>
              <a:tr h="46343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is not</a:t>
                      </a:r>
                      <a:endParaRPr lang="en-US" sz="1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 is not b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endParaRPr lang="en-US" sz="11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3234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179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5323994" y="10477"/>
            <a:ext cx="15440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6B0A637-6A0F-4489-B583-C0CFC231A2BB}"/>
              </a:ext>
            </a:extLst>
          </p:cNvPr>
          <p:cNvSpPr/>
          <p:nvPr/>
        </p:nvSpPr>
        <p:spPr>
          <a:xfrm>
            <a:off x="238125" y="1136064"/>
            <a:ext cx="1171575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interpretatsiya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qilinadigan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kross-platforma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1991-yilda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Gvido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van Rossum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afzalligi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tushunarli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sintaksis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imkoniyatlarga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kutubxonalar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paradigmalarda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(OOP,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funksional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skript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imkoniyatidir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📍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Tarixiy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rivojlanishda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2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3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versiyalari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tutadi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hozirgi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3.x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liniyasi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tahlili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ko‘plab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qo‘llaniladi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📍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interpretatsiya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moslashuvchan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platformadan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mustaqil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Shu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kompilyatsiyalangan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qaraganda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biroz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sekinroq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ammo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tezkor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imkoniyatlari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kamchilikni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qoplaydi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📍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taqqoslash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mantiqiy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a’zolik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identity)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shartlarni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mantiqiy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bog‘lash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ustida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aytganda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Python —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boshlang‘ich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dasturchilar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ammo professional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kuchli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vosita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o‘rganilishi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yo‘nalishlari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science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poydevor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902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21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2014</Words>
  <Application>Microsoft Office PowerPoint</Application>
  <PresentationFormat>Широкоэкранный</PresentationFormat>
  <Paragraphs>302</Paragraphs>
  <Slides>21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Consolas</vt:lpstr>
      <vt:lpstr>Segoe UI Emoji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74</cp:revision>
  <dcterms:created xsi:type="dcterms:W3CDTF">2025-09-09T03:21:43Z</dcterms:created>
  <dcterms:modified xsi:type="dcterms:W3CDTF">2025-09-09T05:19:37Z</dcterms:modified>
</cp:coreProperties>
</file>