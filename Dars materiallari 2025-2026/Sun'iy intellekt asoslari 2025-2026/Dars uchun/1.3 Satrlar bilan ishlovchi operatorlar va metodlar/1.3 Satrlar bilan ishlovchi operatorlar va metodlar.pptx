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8" r:id="rId2"/>
    <p:sldId id="289" r:id="rId3"/>
    <p:sldId id="256" r:id="rId4"/>
    <p:sldId id="267" r:id="rId5"/>
    <p:sldId id="291" r:id="rId6"/>
    <p:sldId id="290" r:id="rId7"/>
    <p:sldId id="292" r:id="rId8"/>
    <p:sldId id="293" r:id="rId9"/>
    <p:sldId id="294" r:id="rId10"/>
    <p:sldId id="295" r:id="rId11"/>
    <p:sldId id="296" r:id="rId12"/>
    <p:sldId id="297" r:id="rId13"/>
    <p:sldId id="299" r:id="rId14"/>
    <p:sldId id="300" r:id="rId15"/>
    <p:sldId id="301" r:id="rId16"/>
    <p:sldId id="279" r:id="rId17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4D4F4-7FF6-4E38-BD6C-E6102112A294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51585-57E3-45F0-9BB9-D65C2A40F92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187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3B385-99AD-430E-8A93-C725AE8AC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604EE9-8F52-4B34-BDF4-9E39C47D3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C5C637-FF65-418D-8FC8-18B7AA0F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A58D8A-0F75-4FE5-9618-7C5F4396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803312-A26B-410B-9C42-7E03B1D5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139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7A94D-12F9-4A4E-B399-75A33702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0EDAD0-EC1E-4260-B925-0BFAE99E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3CF070-2340-4402-BCB3-C342FAB5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40052E-1815-4097-A907-D1995ACF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C3986F-ED33-422F-BE21-A6504D55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325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4F310-EC49-4A1D-A1D8-563A48B9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D17BD4-1FA7-452D-B378-8101D32FE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385261-304B-44C2-ABBB-5021E228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E1D091-20A7-4F5A-A3F3-1E1DAFEB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07983D-AC59-47E0-A9A8-91705AB8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206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D8179-2E35-4625-B665-005C417E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C6C688-AD92-42D0-99F1-33716D60E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BEBB59-91C1-47F4-BBFE-6C14CFAD2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959F62-E411-47AB-B8D5-B63B76FF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E0D974-6C6A-41B2-AA7F-648EA22D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354367-0069-4CF5-90F9-484F9556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484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B18F1-E39A-4379-9DC0-BB16F769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A05982-5497-4022-B10F-9816A4475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9C517B-0BEF-4D41-BDBB-8EA7767C7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B9D6A2-F834-4167-A3F1-EF31E48C8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893974E-0E67-4153-BA2A-DF085D33C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29A9B6-9AA5-4EF8-AA5D-7BB7DDF7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F43A84-9035-4AF1-AB70-514E49D6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C5A18FB-3C13-43F3-A1D3-9D25ADA7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363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E3145-D7F6-412C-9986-BB73FDE0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0335AF-0DB9-44BC-A90C-0A2A25F8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8ED3E5-52F9-4624-AFE9-B6E855C79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9B39D1-A244-4593-8D0B-FAD43CBA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356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E49905-B050-4FD8-B919-7E69EC7D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808B72-D2B2-4102-8DA0-F2FA8E8D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DCFC11-0FCB-43C2-96EB-8CFB62760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92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7C113-8289-4886-81D5-33075273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D4A3C-D02F-4A59-BAC6-657430EA9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73991D-2154-4D9F-A1B7-DAE1CBFAF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C9B912-ED7A-4134-91C8-001A26069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D86FB1-6DEC-47D2-9701-F18B19BA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0617F9-346F-4507-98E0-7670F2C2E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300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C4783-E393-45CA-AF2E-6F45BB120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74A757-1937-4FE8-82A8-6E17DD07A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0AD9D8-F537-4390-A507-A3703BB33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22FA19-845E-4D2B-85FB-1D85CC3F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828760-C586-40F7-BA48-F3368E5C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CBE4DE-397D-4A5A-8D84-8DEF7D4FD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947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EC1CE-E87B-4DFC-B344-6EC7CB32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182CED-A6E4-4FFC-A705-5B08E93DE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A27F7E-0962-4B90-B811-B6848C41F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C8E27B-C5EE-480A-9508-CC2BB8A6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BA3171-49C8-42BD-BC74-F7191EB0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483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7BCAD9-190C-4AA8-B0AE-31AD66DA6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1AB4CF-ECD9-47BE-A2AB-D3E5A8768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8CE50E-ACCF-45EC-9B95-48C6214A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733623-7917-4BFF-A000-213CC5C2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CC2A1F-7FF7-4879-B40A-D9551A28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880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09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91FBC-630B-40AD-8C70-E9DFA2E01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05A136-2BA0-484F-A6C8-ADE8C0199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A16BB-4EB2-48C6-802C-D916C649D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E1D90-904F-4A42-AC18-30411ADADFBB}" type="datetimeFigureOut">
              <a:rPr lang="LID4096" smtClean="0"/>
              <a:t>09/12/2025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508A17-A05E-4501-8D5E-52555DAB5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BB540-93EB-4B75-B825-77CF7B984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66B8-3441-45EA-BD52-37660027011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550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74879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1-MAVZU: “SUN’IY INTELLEKT ASOSLARI” FANIGA KIRISH VA ASOSIY TUSHUNCHALARI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71FB24-ADAC-47A4-A09E-C86CD18925F1}"/>
              </a:ext>
            </a:extLst>
          </p:cNvPr>
          <p:cNvSpPr/>
          <p:nvPr/>
        </p:nvSpPr>
        <p:spPr>
          <a:xfrm>
            <a:off x="766354" y="619040"/>
            <a:ext cx="10659292" cy="4920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M" b="1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🌍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Jahon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harbiy-siyosiy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holati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(10–11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sentabr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2025)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Polsha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havo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maydoniga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19 ta Rossiya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droni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bostirib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sababli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NATOning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4-moddasi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bo‘yicha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maslahat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chaqirildi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nechta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dronlar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qilindi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Rossiya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Belarus “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Zapad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2025”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nomli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qo‘shma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havo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hujumlari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sabotaj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holatlarini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simulyatsiya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Belarusiya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hududida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taktika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yadroviy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qurollar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mavjudligi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haqidagi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xavotirlar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paydo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Isroil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Hamas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yetakchilariga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havodan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hujum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uyushtirdi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xalqaro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keskinliklarni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kuchaytirdi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Xitoyning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(“Victory Day”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haftasi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doirasida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Rossiya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Shimoliy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Koreya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liderlari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ishtirok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etdi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G‘arbiylar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yo‘qligi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g‘arb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global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tartibiga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qarshi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“axis of upheaval” deb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atalayotgan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simvolik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birlashmalar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kuchaymoqda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73938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3-mashg‘ulot: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bilan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ishlovchi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metodlar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027225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3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bilan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ishlovchi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metodlar</a:t>
            </a:r>
            <a:endParaRPr lang="en-US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452844" y="1670750"/>
            <a:ext cx="11286310" cy="2491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ishlovchi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str.format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satrlarni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	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Satrlarni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dekodlash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(encode()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decode())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baytlar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15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bilan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ishlovchi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operatorlar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metodlar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haqida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umumiy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ma’lumot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.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D162C3-E730-4754-8C42-FCA0754AFF52}"/>
              </a:ext>
            </a:extLst>
          </p:cNvPr>
          <p:cNvSpPr/>
          <p:nvPr/>
        </p:nvSpPr>
        <p:spPr>
          <a:xfrm>
            <a:off x="505097" y="885855"/>
            <a:ext cx="11181806" cy="3608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(string)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 (</a:t>
            </a:r>
            <a:r>
              <a:rPr lang="en-US" sz="1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immutable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tur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M" sz="1600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belgilaridan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Immutable (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joyida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o‘zgartirib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2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M" sz="1200" i="1" dirty="0">
                <a:solidFill>
                  <a:srgbClr val="AAAAAA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sz="12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US" sz="12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'str' object does not support item assignment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200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:]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12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2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2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Python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EF0238-1F65-41FC-A230-7A71C44BEDFC}"/>
              </a:ext>
            </a:extLst>
          </p:cNvPr>
          <p:cNvSpPr/>
          <p:nvPr/>
        </p:nvSpPr>
        <p:spPr>
          <a:xfrm>
            <a:off x="461554" y="4619477"/>
            <a:ext cx="11268891" cy="2100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t[0] = 99  </a:t>
            </a:r>
            <a:r>
              <a:rPr lang="en-UM" sz="1400" i="1" dirty="0">
                <a:solidFill>
                  <a:srgbClr val="AAAAAA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❌</a:t>
            </a:r>
            <a:r>
              <a:rPr lang="en-UM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M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 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xato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chunki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tuple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‘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zgarmas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Qarama-qarshi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mutable)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99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M" sz="1400" i="1" dirty="0">
                <a:solidFill>
                  <a:srgbClr val="AAAAAA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M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ichidagi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elementni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‘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zgartirish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[99, 2, 3]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86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6693E9-9D96-49DD-91BC-4E3557E15190}"/>
              </a:ext>
            </a:extLst>
          </p:cNvPr>
          <p:cNvSpPr/>
          <p:nvPr/>
        </p:nvSpPr>
        <p:spPr>
          <a:xfrm>
            <a:off x="627017" y="922064"/>
            <a:ext cx="10937966" cy="4736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Indekslash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(Indexing)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(string)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M" dirty="0"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👉</a:t>
            </a:r>
            <a:r>
              <a:rPr lang="en-U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 dan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abcdef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'a'  (0-indeks)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'b'  (1-indeks)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'f'  (5-indeks, </a:t>
            </a:r>
            <a:r>
              <a:rPr lang="en-US" sz="14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oxirgi</a:t>
            </a:r>
            <a:r>
              <a:rPr lang="en-US" sz="14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</a:t>
            </a:r>
            <a:r>
              <a:rPr lang="en-US" sz="14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Manfiy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s[-1]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'f'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s[-2]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'e'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[-</a:t>
            </a:r>
            <a:r>
              <a:rPr lang="en-US" sz="1400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'f'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[-</a:t>
            </a:r>
            <a:r>
              <a:rPr lang="en-US" sz="1400" dirty="0">
                <a:solidFill>
                  <a:srgbClr val="9C5D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'e'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78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BDF601D-A581-4A45-B7AF-5B4198DF787D}"/>
              </a:ext>
            </a:extLst>
          </p:cNvPr>
          <p:cNvSpPr/>
          <p:nvPr/>
        </p:nvSpPr>
        <p:spPr>
          <a:xfrm>
            <a:off x="896981" y="361696"/>
            <a:ext cx="6096000" cy="11493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Kesish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(Slicing)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yozilishi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6AB09ED-58AB-42A4-A188-9821D32FC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554296"/>
              </p:ext>
            </p:extLst>
          </p:nvPr>
        </p:nvGraphicFramePr>
        <p:xfrm>
          <a:off x="896981" y="1767271"/>
          <a:ext cx="10206447" cy="35014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02149">
                  <a:extLst>
                    <a:ext uri="{9D8B030D-6E8A-4147-A177-3AD203B41FA5}">
                      <a16:colId xmlns:a16="http://schemas.microsoft.com/office/drawing/2014/main" val="331374670"/>
                    </a:ext>
                  </a:extLst>
                </a:gridCol>
                <a:gridCol w="3402149">
                  <a:extLst>
                    <a:ext uri="{9D8B030D-6E8A-4147-A177-3AD203B41FA5}">
                      <a16:colId xmlns:a16="http://schemas.microsoft.com/office/drawing/2014/main" val="1049602559"/>
                    </a:ext>
                  </a:extLst>
                </a:gridCol>
                <a:gridCol w="3402149">
                  <a:extLst>
                    <a:ext uri="{9D8B030D-6E8A-4147-A177-3AD203B41FA5}">
                      <a16:colId xmlns:a16="http://schemas.microsoft.com/office/drawing/2014/main" val="1425269373"/>
                    </a:ext>
                  </a:extLst>
                </a:gridCol>
              </a:tblGrid>
              <a:tr h="44028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Yozilishi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 ("abcdef")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Izoh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4538644"/>
                  </a:ext>
                </a:extLst>
              </a:tr>
              <a:tr h="44028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s[0]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'a'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0-indeksdagi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belgi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11097824"/>
                  </a:ext>
                </a:extLst>
              </a:tr>
              <a:tr h="44028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s[-1]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'f'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oxirgi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belgi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849969"/>
                  </a:ext>
                </a:extLst>
              </a:tr>
              <a:tr h="42984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s[1:4]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bcd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1-indeksdan 3-gacha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6268223"/>
                  </a:ext>
                </a:extLst>
              </a:tr>
              <a:tr h="44028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s[:3]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abc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boshidan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2-indeksgacha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380564"/>
                  </a:ext>
                </a:extLst>
              </a:tr>
              <a:tr h="42984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s[3:]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'def'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3-indeksdan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oxirigacha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2117962"/>
                  </a:ext>
                </a:extLst>
              </a:tr>
              <a:tr h="44028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s[::2]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'ace'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ikkinchi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belgi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7411790"/>
                  </a:ext>
                </a:extLst>
              </a:tr>
              <a:tr h="44028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s[::-1]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en-US" sz="1600" dirty="0" err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fedcba</a:t>
                      </a:r>
                      <a:r>
                        <a:rPr lang="en-US" sz="1600" dirty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'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satrni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teskari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1752156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1F56808-9EE0-49C1-9C8F-43AAB87A38B8}"/>
              </a:ext>
            </a:extLst>
          </p:cNvPr>
          <p:cNvSpPr/>
          <p:nvPr/>
        </p:nvSpPr>
        <p:spPr>
          <a:xfrm>
            <a:off x="896982" y="5927412"/>
            <a:ext cx="102064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Eslatma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indekslash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belgi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kesish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(slicing)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(substring)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9237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7D50F6-9BC7-49A0-9ED6-9F60AF46D7C0}"/>
              </a:ext>
            </a:extLst>
          </p:cNvPr>
          <p:cNvSpPr/>
          <p:nvPr/>
        </p:nvSpPr>
        <p:spPr>
          <a:xfrm>
            <a:off x="5056773" y="357049"/>
            <a:ext cx="2078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operatorlar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LID4096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0D3D1F4-E550-49D2-898E-54C5142DE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76414"/>
              </p:ext>
            </p:extLst>
          </p:nvPr>
        </p:nvGraphicFramePr>
        <p:xfrm>
          <a:off x="844731" y="735090"/>
          <a:ext cx="10502538" cy="2391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65715">
                  <a:extLst>
                    <a:ext uri="{9D8B030D-6E8A-4147-A177-3AD203B41FA5}">
                      <a16:colId xmlns:a16="http://schemas.microsoft.com/office/drawing/2014/main" val="3155826363"/>
                    </a:ext>
                  </a:extLst>
                </a:gridCol>
                <a:gridCol w="7236823">
                  <a:extLst>
                    <a:ext uri="{9D8B030D-6E8A-4147-A177-3AD203B41FA5}">
                      <a16:colId xmlns:a16="http://schemas.microsoft.com/office/drawing/2014/main" val="3936788460"/>
                    </a:ext>
                  </a:extLst>
                </a:gridCol>
              </a:tblGrid>
              <a:tr h="341612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Metod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Vazifasi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0202823"/>
                  </a:ext>
                </a:extLst>
              </a:tr>
              <a:tr h="34161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lower()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Hammasini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harfga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o‘tkazadi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3723084"/>
                  </a:ext>
                </a:extLst>
              </a:tr>
              <a:tr h="34161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upper()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fi-FI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Hammasini katta harfga o‘tkazadi</a:t>
                      </a:r>
                      <a:endParaRPr lang="fi-FI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2207908"/>
                  </a:ext>
                </a:extLst>
              </a:tr>
              <a:tr h="34161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title()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so‘z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qiladi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9058713"/>
                  </a:ext>
                </a:extLst>
              </a:tr>
              <a:tr h="34161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capitalize()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Faqat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qolganini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qiladi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7069426"/>
                  </a:ext>
                </a:extLst>
              </a:tr>
              <a:tr h="34161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swapcase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 ↔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almashtiradi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2576446"/>
                  </a:ext>
                </a:extLst>
              </a:tr>
              <a:tr h="34161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casefold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lower()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 ham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kuchli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xalqaro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belgilarni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ham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kichik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qiladi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6937508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095451D-12B2-4EC2-A6D8-A23B0FBCB0DD}"/>
              </a:ext>
            </a:extLst>
          </p:cNvPr>
          <p:cNvSpPr/>
          <p:nvPr/>
        </p:nvSpPr>
        <p:spPr>
          <a:xfrm>
            <a:off x="4923243" y="3893357"/>
            <a:ext cx="2345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Bo‘shliqlarni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tozalash</a:t>
            </a:r>
            <a:endParaRPr lang="LID4096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B5AAAD0F-C8E4-41D1-BB1F-8F74A1AFC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32850"/>
              </p:ext>
            </p:extLst>
          </p:nvPr>
        </p:nvGraphicFramePr>
        <p:xfrm>
          <a:off x="844731" y="4262689"/>
          <a:ext cx="10502538" cy="19251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0846">
                  <a:extLst>
                    <a:ext uri="{9D8B030D-6E8A-4147-A177-3AD203B41FA5}">
                      <a16:colId xmlns:a16="http://schemas.microsoft.com/office/drawing/2014/main" val="3813158193"/>
                    </a:ext>
                  </a:extLst>
                </a:gridCol>
                <a:gridCol w="2978332">
                  <a:extLst>
                    <a:ext uri="{9D8B030D-6E8A-4147-A177-3AD203B41FA5}">
                      <a16:colId xmlns:a16="http://schemas.microsoft.com/office/drawing/2014/main" val="734624644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990654817"/>
                    </a:ext>
                  </a:extLst>
                </a:gridCol>
              </a:tblGrid>
              <a:tr h="485633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Metod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Qayerdan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o‘chiradi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1893176"/>
                  </a:ext>
                </a:extLst>
              </a:tr>
              <a:tr h="485633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strip()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Chap +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"***hi***".strip("*") → "hi"</a:t>
                      </a:r>
                      <a:endParaRPr lang="en-US" sz="20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140255"/>
                  </a:ext>
                </a:extLst>
              </a:tr>
              <a:tr h="485633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lstrip()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Faqat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chap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"***hi***".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lstrip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("*") → "hi***"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6335039"/>
                  </a:ext>
                </a:extLst>
              </a:tr>
              <a:tr h="46828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rstrip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()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Faqat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"***hi***".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rstrip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Times New Roman" panose="02020603050405020304" pitchFamily="18" charset="0"/>
                        </a:rPr>
                        <a:t>("*") → "***hi"</a:t>
                      </a:r>
                      <a:endParaRPr lang="en-US" sz="2000" dirty="0">
                        <a:effectLst/>
                        <a:latin typeface="Consolas" panose="020B0609020204030204" pitchFamily="49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1561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61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5E1010-B3F2-4A17-9B2E-0D8A1CB73C19}"/>
              </a:ext>
            </a:extLst>
          </p:cNvPr>
          <p:cNvSpPr/>
          <p:nvPr/>
        </p:nvSpPr>
        <p:spPr>
          <a:xfrm>
            <a:off x="4932861" y="0"/>
            <a:ext cx="2326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Qidirish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tekshirish</a:t>
            </a:r>
            <a:endParaRPr lang="LID4096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7104077-4F09-4BA1-9199-CF2E68B5A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641277"/>
              </p:ext>
            </p:extLst>
          </p:nvPr>
        </p:nvGraphicFramePr>
        <p:xfrm>
          <a:off x="838200" y="495550"/>
          <a:ext cx="10515600" cy="1333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631039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954781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5539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Metod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Vazifasi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Topilmasa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1468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find()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Birinchi uchragan joy (indeks)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000">
                          <a:effectLst/>
                        </a:rPr>
                        <a:t>-1</a:t>
                      </a:r>
                      <a:endParaRPr lang="en-U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0005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rfind()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Oxirgi uchragan joy (indeks)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000">
                          <a:effectLst/>
                        </a:rPr>
                        <a:t>-1</a:t>
                      </a:r>
                      <a:endParaRPr lang="en-U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5116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index()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Birinchi uchragan joy (indeks)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100">
                          <a:effectLst/>
                        </a:rPr>
                        <a:t>❌ </a:t>
                      </a:r>
                      <a:r>
                        <a:rPr lang="en-US" sz="1000">
                          <a:effectLst/>
                        </a:rPr>
                        <a:t>ValueError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438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count()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Necha marta uchraganini sanaydi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000">
                          <a:effectLst/>
                        </a:rPr>
                        <a:t>0</a:t>
                      </a:r>
                      <a:endParaRPr lang="en-U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28198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startswith()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Boshi qismga mosmi?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True</a:t>
                      </a:r>
                      <a:r>
                        <a:rPr lang="en-US" sz="1100">
                          <a:effectLst/>
                        </a:rPr>
                        <a:t>/</a:t>
                      </a:r>
                      <a:r>
                        <a:rPr lang="en-US" sz="1000">
                          <a:effectLst/>
                        </a:rPr>
                        <a:t>False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488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endswith()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Oxiri qismga mosmi?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 dirty="0">
                          <a:effectLst/>
                        </a:rPr>
                        <a:t>True</a:t>
                      </a:r>
                      <a:r>
                        <a:rPr lang="en-US" sz="1100" dirty="0">
                          <a:effectLst/>
                        </a:rPr>
                        <a:t>/</a:t>
                      </a:r>
                      <a:r>
                        <a:rPr lang="en-US" sz="1000" dirty="0">
                          <a:effectLst/>
                        </a:rPr>
                        <a:t>False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13011921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59C7AF-860F-4D53-943F-6D6083285DBE}"/>
              </a:ext>
            </a:extLst>
          </p:cNvPr>
          <p:cNvSpPr/>
          <p:nvPr/>
        </p:nvSpPr>
        <p:spPr>
          <a:xfrm>
            <a:off x="5214989" y="2129637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qo‘shish</a:t>
            </a:r>
            <a:endParaRPr lang="LID4096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E8CEFEE-4F69-4E2C-B2A7-FC702A2FC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41559"/>
              </p:ext>
            </p:extLst>
          </p:nvPr>
        </p:nvGraphicFramePr>
        <p:xfrm>
          <a:off x="838200" y="2799556"/>
          <a:ext cx="10515600" cy="10306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988420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29991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Vazifasi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5707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split()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Chapdan bo‘lib, ro‘yxat qaytaradi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4599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rsplit()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Oxirdan bo‘lib, ro‘yxat qaytaradi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164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splitlines()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sv-SE" sz="1200">
                          <a:effectLst/>
                        </a:rPr>
                        <a:t>Qatorlar bo‘yicha bo‘ladi</a:t>
                      </a:r>
                      <a:endParaRPr lang="sv-S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489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join()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Ro‘yxat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elementlarini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ajratgich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bilan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qo‘shadi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0680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99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1AD83F-16DA-46CB-A352-411761C257DB}"/>
              </a:ext>
            </a:extLst>
          </p:cNvPr>
          <p:cNvSpPr/>
          <p:nvPr/>
        </p:nvSpPr>
        <p:spPr>
          <a:xfrm>
            <a:off x="3733815" y="117957"/>
            <a:ext cx="4724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Almashtirish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bo‘lishning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maxsus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endParaRPr lang="LID4096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E79E481-07F7-450F-AF3D-8F2CD0704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561715"/>
              </p:ext>
            </p:extLst>
          </p:nvPr>
        </p:nvGraphicFramePr>
        <p:xfrm>
          <a:off x="838200" y="595207"/>
          <a:ext cx="10515600" cy="8244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534810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32839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Vazifasi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80450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replace()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Qism satrlarni boshqa satrga almashtirish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97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partition()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Chapdan birinchi uchrash bo‘yicha 3 qismga bo‘lish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3511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rpartition()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Oxirdan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birinchi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uchrash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bo‘yicha</a:t>
                      </a:r>
                      <a:r>
                        <a:rPr lang="en-US" sz="1200" dirty="0">
                          <a:effectLst/>
                        </a:rPr>
                        <a:t> 3 </a:t>
                      </a:r>
                      <a:r>
                        <a:rPr lang="en-US" sz="1200" dirty="0" err="1">
                          <a:effectLst/>
                        </a:rPr>
                        <a:t>qismga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bo‘lish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0366668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9EC34D-E95A-4750-A4BD-09A5845D5D22}"/>
              </a:ext>
            </a:extLst>
          </p:cNvPr>
          <p:cNvSpPr/>
          <p:nvPr/>
        </p:nvSpPr>
        <p:spPr>
          <a:xfrm>
            <a:off x="4740500" y="1850962"/>
            <a:ext cx="2710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Joylashtirish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to‘ldirish</a:t>
            </a:r>
            <a:endParaRPr lang="LID4096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D0F4D64-8E2B-4231-A721-0F643222639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88371"/>
          <a:ext cx="10515600" cy="10306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482780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901891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7282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Vazifasi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Misol natija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9668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center(…)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Markazga joylashtirish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"abc".center(7,"*") → "**abc**"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9405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ljust(…)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Chapga joylashtirish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"abc".ljust(7,"-") → "abc----"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389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rjust(…)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O‘ngga joylashtirish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"abc".rjust(7,".") → "....abc"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9564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zfill(…)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Nol bilan to‘ldirish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"42".zfill(5) → "00042"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3476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6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E6F62E-D44F-462E-AADD-F553EDE437B1}"/>
              </a:ext>
            </a:extLst>
          </p:cNvPr>
          <p:cNvSpPr/>
          <p:nvPr/>
        </p:nvSpPr>
        <p:spPr>
          <a:xfrm>
            <a:off x="4746912" y="300837"/>
            <a:ext cx="2698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“is*”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tekshiruv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endParaRPr lang="LID4096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A19922E-DBB2-4583-990E-0EF78BAA6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4107"/>
              </p:ext>
            </p:extLst>
          </p:nvPr>
        </p:nvGraphicFramePr>
        <p:xfrm>
          <a:off x="838199" y="746578"/>
          <a:ext cx="10515600" cy="1893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912251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36227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706929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0038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Metod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Tekshiradi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Misol (</a:t>
                      </a:r>
                      <a:r>
                        <a:rPr lang="en-US" sz="1000">
                          <a:effectLst/>
                        </a:rPr>
                        <a:t>True</a:t>
                      </a:r>
                      <a:r>
                        <a:rPr lang="en-US" sz="1100">
                          <a:effectLst/>
                        </a:rPr>
                        <a:t>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Misol (</a:t>
                      </a:r>
                      <a:r>
                        <a:rPr lang="en-US" sz="1000">
                          <a:effectLst/>
                        </a:rPr>
                        <a:t>False</a:t>
                      </a:r>
                      <a:r>
                        <a:rPr lang="en-US" sz="1100">
                          <a:effectLst/>
                        </a:rPr>
                        <a:t>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3442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isalpha()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Faqat harfmi?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"Salom123"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489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isdigit()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Faqat raqammi?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M" sz="1000">
                          <a:effectLst/>
                        </a:rPr>
                        <a:t>"12345"</a:t>
                      </a:r>
                      <a:endParaRPr lang="en-U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"12a45"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32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isalnum()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Faqat harf+raqammi?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"abc123"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"abc!"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014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isspace()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Faqat bo‘shliq belgilarimi?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 \t\n"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 a 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249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islower()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Hamma harflar kichikmi?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6279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isupper()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Hamma harflar kattami?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"SALOM123"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0472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istitle()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Har bir so‘z bosh harfi katta, qolganlari kichikmi?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 Dunyo"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"Salom dunyo"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574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isascii()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Hamma belgilar ASCII diapazonidami?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"Hello123!"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000" dirty="0">
                          <a:effectLst/>
                        </a:rPr>
                        <a:t>"Привет"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9665420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792281-6F6C-410B-A8F3-F5AB7F6CB523}"/>
              </a:ext>
            </a:extLst>
          </p:cNvPr>
          <p:cNvSpPr/>
          <p:nvPr/>
        </p:nvSpPr>
        <p:spPr>
          <a:xfrm>
            <a:off x="4330611" y="2991786"/>
            <a:ext cx="3530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Prefiks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suffiks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(3.9+)</a:t>
            </a:r>
            <a:endParaRPr lang="LID4096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08E5300-C808-4767-B252-B53C14F2510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15544"/>
          <a:ext cx="10515600" cy="571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484401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80440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Metod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Vazifasi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0518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removeprefix(x)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Satr boshidagi </a:t>
                      </a:r>
                      <a:r>
                        <a:rPr lang="en-US" sz="1000">
                          <a:effectLst/>
                        </a:rPr>
                        <a:t>x</a:t>
                      </a:r>
                      <a:r>
                        <a:rPr lang="en-US" sz="1100">
                          <a:effectLst/>
                        </a:rPr>
                        <a:t> ni olib tashlaydi (agar mavjud bo‘lsa)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734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000">
                          <a:effectLst/>
                        </a:rPr>
                        <a:t>removesuffix(x)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dirty="0" err="1">
                          <a:effectLst/>
                        </a:rPr>
                        <a:t>Satr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oxiridagi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x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ni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olib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tashlaydi</a:t>
                      </a:r>
                      <a:r>
                        <a:rPr lang="en-US" sz="1100" dirty="0">
                          <a:effectLst/>
                        </a:rPr>
                        <a:t> (agar </a:t>
                      </a:r>
                      <a:r>
                        <a:rPr lang="en-US" sz="1100" dirty="0" err="1">
                          <a:effectLst/>
                        </a:rPr>
                        <a:t>mavjud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bo‘lsa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8774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720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E9E4C1-36A6-463D-8E84-8EB8A6E57423}"/>
              </a:ext>
            </a:extLst>
          </p:cNvPr>
          <p:cNvSpPr/>
          <p:nvPr/>
        </p:nvSpPr>
        <p:spPr>
          <a:xfrm>
            <a:off x="5134839" y="0"/>
            <a:ext cx="1922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</a:t>
            </a:r>
            <a:endParaRPr lang="LID4096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A4FA58-B08E-4B11-BF7C-279C94454A34}"/>
              </a:ext>
            </a:extLst>
          </p:cNvPr>
          <p:cNvSpPr/>
          <p:nvPr/>
        </p:nvSpPr>
        <p:spPr>
          <a:xfrm>
            <a:off x="391886" y="58118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birlashtirish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uzunligini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Salom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bo‘shliq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uzunligini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toping.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8AAEA73-5261-4B0F-A00A-ED7CD0694E15}"/>
              </a:ext>
            </a:extLst>
          </p:cNvPr>
          <p:cNvSpPr/>
          <p:nvPr/>
        </p:nvSpPr>
        <p:spPr>
          <a:xfrm>
            <a:off x="391886" y="171637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Salom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dunyo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s2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11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1DEF54-91F2-4145-972A-500FA66CD0C4}"/>
              </a:ext>
            </a:extLst>
          </p:cNvPr>
          <p:cNvSpPr/>
          <p:nvPr/>
        </p:nvSpPr>
        <p:spPr>
          <a:xfrm>
            <a:off x="391886" y="323341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takrorlash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"ha"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marta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takrorlab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oxiriga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"!"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belgisi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47B114E-1405-498B-918C-35690E88A2B7}"/>
              </a:ext>
            </a:extLst>
          </p:cNvPr>
          <p:cNvSpPr/>
          <p:nvPr/>
        </p:nvSpPr>
        <p:spPr>
          <a:xfrm>
            <a:off x="391886" y="4176151"/>
            <a:ext cx="436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ha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hahaha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!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D49CB0A-2E30-4983-A858-40480C00F591}"/>
              </a:ext>
            </a:extLst>
          </p:cNvPr>
          <p:cNvSpPr/>
          <p:nvPr/>
        </p:nvSpPr>
        <p:spPr>
          <a:xfrm>
            <a:off x="6487886" y="581187"/>
            <a:ext cx="5486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Bo‘shliqlarni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normallashtirish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Python 3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Fundamentallari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ortiqcha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bo‘shliqlarni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tashlab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harflarga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o‘tkazing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1582BC8-8CB8-42DA-BEB1-38168387FA01}"/>
              </a:ext>
            </a:extLst>
          </p:cNvPr>
          <p:cNvSpPr/>
          <p:nvPr/>
        </p:nvSpPr>
        <p:spPr>
          <a:xfrm>
            <a:off x="6487886" y="1577872"/>
            <a:ext cx="5486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 Python 3  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Fundamentallari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        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python 3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fundamentallari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6EF269-A86A-42FC-A699-573DC728E25B}"/>
              </a:ext>
            </a:extLst>
          </p:cNvPr>
          <p:cNvSpPr/>
          <p:nvPr/>
        </p:nvSpPr>
        <p:spPr>
          <a:xfrm>
            <a:off x="6487886" y="3371913"/>
            <a:ext cx="53122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harflar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b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assalomu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alaykum"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harflar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a, e,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o, 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8F634D-18C0-4E03-BE34-8C4815317842}"/>
              </a:ext>
            </a:extLst>
          </p:cNvPr>
          <p:cNvSpPr/>
          <p:nvPr/>
        </p:nvSpPr>
        <p:spPr>
          <a:xfrm>
            <a:off x="6487886" y="4539790"/>
            <a:ext cx="53122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assalomu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 alaykum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 err="1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aeiou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7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83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715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2)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str.format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()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yordamida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satrlarni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formatlash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7605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2D294881-1F91-472B-AC46-32F5DD147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714" y="1173574"/>
            <a:ext cx="565571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str.format() </a:t>
            </a:r>
            <a:r>
              <a:rPr kumimoji="0" lang="en-US" altLang="LID4096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endParaRPr kumimoji="0" lang="LID4096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📝 Vazifasi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Satr ichidagi {} o‘rinbosarlarni berilgan qiymatlar bilan to‘ldiradi.</a:t>
            </a:r>
            <a:endParaRPr kumimoji="0" lang="LID4096" altLang="LID4096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31ED34C-2B18-4F84-881C-63154F0F7657}"/>
              </a:ext>
            </a:extLst>
          </p:cNvPr>
          <p:cNvSpPr/>
          <p:nvPr/>
        </p:nvSpPr>
        <p:spPr>
          <a:xfrm>
            <a:off x="3045571" y="239675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Salom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, {}!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Ali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Salom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, Ali!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Ism: {0}, 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 {1}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Dilnoza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Ism: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Dilnoza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: 20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X = {x}, Y = {y}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en-US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X = 5, Y = 10</a:t>
            </a:r>
            <a:endParaRPr lang="en-US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936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2B10EF-4967-4209-A85E-A51080F020B2}"/>
              </a:ext>
            </a:extLst>
          </p:cNvPr>
          <p:cNvSpPr/>
          <p:nvPr/>
        </p:nvSpPr>
        <p:spPr>
          <a:xfrm>
            <a:off x="2377440" y="2415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Kengroq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M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8C7357-A8DF-485D-9243-563302C12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7440" y="1084740"/>
            <a:ext cx="590738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Joylashtirish va kenglik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[{:&gt;10}]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format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abc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[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</a:rPr>
              <a:t>abc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] 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Kasr aniqligi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{:.2f}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format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3.14159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3.14 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Minglik ajratuvchi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{:,}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format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1234567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1,234,567 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Sanoq asoslari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{:b}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".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format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</a:rPr>
              <a:t># 1010 "{:#x}".format(255) # 0xff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CAFAC9-C690-4D5E-815C-DE3E459B4CD6}"/>
              </a:ext>
            </a:extLst>
          </p:cNvPr>
          <p:cNvSpPr/>
          <p:nvPr/>
        </p:nvSpPr>
        <p:spPr>
          <a:xfrm>
            <a:off x="949234" y="3418114"/>
            <a:ext cx="10293532" cy="2529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lang="en-US" sz="2400" b="1" i="0" dirty="0" err="1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Misollar</a:t>
            </a:r>
            <a:endParaRPr lang="en-US" sz="2000" b="1" i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{:.2f}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3.14159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3.14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{:+d}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+7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{:,}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1234567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1,234,567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{:_}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1234567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1_234_567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{:#x}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0xff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{:&gt;10}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'      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{:*^9}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'**Hi*****'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{:=+6d}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(-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 -0042  (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oldinda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nol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to‘ldirish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64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E9E4C1-36A6-463D-8E84-8EB8A6E57423}"/>
              </a:ext>
            </a:extLst>
          </p:cNvPr>
          <p:cNvSpPr/>
          <p:nvPr/>
        </p:nvSpPr>
        <p:spPr>
          <a:xfrm>
            <a:off x="5134839" y="339412"/>
            <a:ext cx="19223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kern="1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mashqlar</a:t>
            </a:r>
            <a:endParaRPr lang="LID4096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7213DA5-3939-4C2C-B012-D973EE4BE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6946" y="989951"/>
            <a:ext cx="57389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Pozitsion o‘rinbosar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"Salom, {}!" shablonidan foydalanib "Ali" ismini joylashtiring.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DD6DCA4-EAC8-4506-903A-221C64B95880}"/>
              </a:ext>
            </a:extLst>
          </p:cNvPr>
          <p:cNvSpPr/>
          <p:nvPr/>
        </p:nvSpPr>
        <p:spPr>
          <a:xfrm>
            <a:off x="3796947" y="1679229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pt-BR" sz="16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Salom, </a:t>
            </a:r>
            <a:r>
              <a:rPr lang="pt-BR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pt-BR" sz="16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pt-BR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pt-BR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pt-BR" sz="16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Ali</a:t>
            </a:r>
            <a:r>
              <a:rPr lang="pt-BR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"))</a:t>
            </a:r>
            <a:r>
              <a:rPr lang="pt-BR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pt-BR" sz="16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Salom, Ali!</a:t>
            </a:r>
            <a:endParaRPr lang="pt-BR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7335787-B48B-425A-8D6C-9976C4177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6946" y="2470407"/>
            <a:ext cx="67056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Nomli o‘rinbosar</a:t>
            </a:r>
            <a:b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"Ism: {ism}, Yosh: {y}" shabloniga ism="Dilnoza", y=20 qiymatlarini qo‘ying.</a:t>
            </a: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6AA5345-6FD9-4D01-A5DA-70073BC154AC}"/>
              </a:ext>
            </a:extLst>
          </p:cNvPr>
          <p:cNvSpPr/>
          <p:nvPr/>
        </p:nvSpPr>
        <p:spPr>
          <a:xfrm>
            <a:off x="3796947" y="3327680"/>
            <a:ext cx="6705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sz="16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Ism: </a:t>
            </a:r>
            <a:r>
              <a:rPr lang="en-US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{ism}</a:t>
            </a:r>
            <a:r>
              <a:rPr lang="en-US" sz="16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lang="en-US" sz="1600" b="0" dirty="0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{y}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".</a:t>
            </a:r>
            <a:r>
              <a:rPr lang="en-US" sz="1600" b="1" dirty="0">
                <a:solidFill>
                  <a:srgbClr val="AA3731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ism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600" b="0" dirty="0" err="1">
                <a:solidFill>
                  <a:srgbClr val="448C27"/>
                </a:solidFill>
                <a:effectLst/>
                <a:latin typeface="Consolas" panose="020B0609020204030204" pitchFamily="49" charset="0"/>
              </a:rPr>
              <a:t>Dilnoza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777777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# Ism: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Dilnoza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Yosh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onsolas" panose="020B0609020204030204" pitchFamily="49" charset="0"/>
              </a:rPr>
              <a:t>: 20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42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16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1748</Words>
  <Application>Microsoft Office PowerPoint</Application>
  <PresentationFormat>Широкоэкранный</PresentationFormat>
  <Paragraphs>259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7" baseType="lpstr">
      <vt:lpstr>Arial</vt:lpstr>
      <vt:lpstr>Arial Unicode MS</vt:lpstr>
      <vt:lpstr>Calibri</vt:lpstr>
      <vt:lpstr>Calibri Light</vt:lpstr>
      <vt:lpstr>Cambria Math</vt:lpstr>
      <vt:lpstr>Consolas</vt:lpstr>
      <vt:lpstr>Courier New</vt:lpstr>
      <vt:lpstr>Segoe UI Emoji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61</cp:revision>
  <dcterms:created xsi:type="dcterms:W3CDTF">2025-09-12T04:24:07Z</dcterms:created>
  <dcterms:modified xsi:type="dcterms:W3CDTF">2025-09-12T05:19:50Z</dcterms:modified>
</cp:coreProperties>
</file>