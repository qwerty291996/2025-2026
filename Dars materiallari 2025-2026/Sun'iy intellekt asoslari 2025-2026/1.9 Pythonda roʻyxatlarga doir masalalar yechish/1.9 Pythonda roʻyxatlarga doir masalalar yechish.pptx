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68" r:id="rId2"/>
    <p:sldId id="256" r:id="rId3"/>
    <p:sldId id="267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97" r:id="rId12"/>
    <p:sldId id="298" r:id="rId13"/>
    <p:sldId id="299" r:id="rId14"/>
    <p:sldId id="300" r:id="rId15"/>
    <p:sldId id="301" r:id="rId16"/>
    <p:sldId id="302" r:id="rId17"/>
    <p:sldId id="303" r:id="rId18"/>
    <p:sldId id="304" r:id="rId19"/>
    <p:sldId id="305" r:id="rId20"/>
    <p:sldId id="306" r:id="rId21"/>
    <p:sldId id="307" r:id="rId22"/>
    <p:sldId id="308" r:id="rId23"/>
    <p:sldId id="309" r:id="rId24"/>
    <p:sldId id="310" r:id="rId25"/>
    <p:sldId id="311" r:id="rId26"/>
    <p:sldId id="312" r:id="rId27"/>
    <p:sldId id="313" r:id="rId28"/>
    <p:sldId id="314" r:id="rId29"/>
    <p:sldId id="315" r:id="rId30"/>
    <p:sldId id="316" r:id="rId31"/>
    <p:sldId id="317" r:id="rId32"/>
    <p:sldId id="318" r:id="rId33"/>
    <p:sldId id="319" r:id="rId34"/>
    <p:sldId id="320" r:id="rId35"/>
    <p:sldId id="321" r:id="rId36"/>
    <p:sldId id="279" r:id="rId37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93781A-FF53-43B3-AF20-2C50101B6D41}" type="datetimeFigureOut">
              <a:rPr lang="LID4096" smtClean="0"/>
              <a:t>09/24/2025</a:t>
            </a:fld>
            <a:endParaRPr lang="LID4096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BC6E0A-1009-414D-8248-2F1E97ECF52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540381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4B77C4-3FBC-4E95-AC04-E9856704040F}" type="slidenum">
              <a:rPr lang="ru-RU" smtClean="0"/>
              <a:t>1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8357AF-171B-4E97-B707-106E3F2A03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7E348FA-E8DA-4766-899F-E89F96308A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B6A3781-83AB-4A5C-B9AA-5903678F4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EBA28-8E30-494D-B660-2C945FD200D2}" type="datetimeFigureOut">
              <a:rPr lang="LID4096" smtClean="0"/>
              <a:t>09/24/2025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8FAF370-B2F4-4F5A-B49F-7C0AEBD8C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A78DF7D-C5B2-45F0-8739-F9A84D6ED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ED801-F1D1-41AF-97B2-88FA8B6BDE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92858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535776-3616-4DC6-B33B-D45B42C1E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427F1E8-2A43-4FAC-AF28-97D14A660F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B946CF7-9723-4CBA-916F-55D1660D9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EBA28-8E30-494D-B660-2C945FD200D2}" type="datetimeFigureOut">
              <a:rPr lang="LID4096" smtClean="0"/>
              <a:t>09/24/2025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5418992-6312-4AD9-B7B1-E4588D57C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D054394-90AD-4F75-AB8C-EFED9DA0A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ED801-F1D1-41AF-97B2-88FA8B6BDE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52785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E2259D-4E62-41A5-9D95-1B06C4956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7684B6C-2E98-49B6-A2FF-A18D42557D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F4260AC-F694-430F-B460-4BE5CD886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EBA28-8E30-494D-B660-2C945FD200D2}" type="datetimeFigureOut">
              <a:rPr lang="LID4096" smtClean="0"/>
              <a:t>09/24/2025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CE1A4D0-2FC3-4A54-B573-8F0B11D67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974F39A-4393-4DF5-AE1B-87264A9BE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ED801-F1D1-41AF-97B2-88FA8B6BDE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643789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7383A8-B92E-4937-8F68-1C8D1DD3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8AC737F-EA93-4C94-81F0-D630AE9F9D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18CEC02-2C20-43EB-9999-D5811D932E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E3DF88B-C4F2-451D-925A-DF041EB85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EBA28-8E30-494D-B660-2C945FD200D2}" type="datetimeFigureOut">
              <a:rPr lang="LID4096" smtClean="0"/>
              <a:t>09/24/2025</a:t>
            </a:fld>
            <a:endParaRPr lang="LID4096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3A4C3A1-122D-4D43-AE86-B8BB39571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24748DB-0529-46EF-8285-0AA9FEA7A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ED801-F1D1-41AF-97B2-88FA8B6BDE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7388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E2AAF3-BF4A-47ED-BC84-4921668F7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209D50D-B666-4BA5-9B42-45E0C5DD74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C816021-D0DB-4127-8582-1FBDC721DC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1331E2A-7F10-42BF-BE49-5E774B3645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869F6D9-3C80-4A75-8436-EC30E8D508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D427ABB-1A98-4981-B18F-46F76E87A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EBA28-8E30-494D-B660-2C945FD200D2}" type="datetimeFigureOut">
              <a:rPr lang="LID4096" smtClean="0"/>
              <a:t>09/24/2025</a:t>
            </a:fld>
            <a:endParaRPr lang="LID4096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6118C04-1737-4C74-A059-4163F3DC0A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0391ECD-94B0-457D-A6A9-FFC91E40E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ED801-F1D1-41AF-97B2-88FA8B6BDE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5154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FBD881-3A17-4912-902E-9C7F3D896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4290013-A3D5-4BB4-A163-DCF7FCF47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EBA28-8E30-494D-B660-2C945FD200D2}" type="datetimeFigureOut">
              <a:rPr lang="LID4096" smtClean="0"/>
              <a:t>09/24/2025</a:t>
            </a:fld>
            <a:endParaRPr lang="LID4096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1D8D0A3-17A7-46B0-9BC3-DFA2B166B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5A816A0-BEDA-40FC-8CBF-86BB7FBD1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ED801-F1D1-41AF-97B2-88FA8B6BDE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94665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D91081F-CD2D-4DB1-8042-98B6041B4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EBA28-8E30-494D-B660-2C945FD200D2}" type="datetimeFigureOut">
              <a:rPr lang="LID4096" smtClean="0"/>
              <a:t>09/24/2025</a:t>
            </a:fld>
            <a:endParaRPr lang="LID4096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B1D813C-7785-40DF-98E4-C5D4EEF36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ECB2F79-6CF7-4F6E-B496-99DE1BA2F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ED801-F1D1-41AF-97B2-88FA8B6BDE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1639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D68143-E21A-4BE4-A89C-F82BDDE01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31D9A7-AE0C-4E0A-878E-77FF2B2868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4D051DB-214F-43E3-824E-F5F9A45D91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394718B-E6FD-48C9-B4C8-36AEDB386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EBA28-8E30-494D-B660-2C945FD200D2}" type="datetimeFigureOut">
              <a:rPr lang="LID4096" smtClean="0"/>
              <a:t>09/24/2025</a:t>
            </a:fld>
            <a:endParaRPr lang="LID4096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304C866-6F2D-4FC6-B987-06CB283D5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3083B44-4857-4110-AB40-726EFA0B6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ED801-F1D1-41AF-97B2-88FA8B6BDE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4215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143C4D-7273-40EE-8EE6-BADD740CE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55B9F90-9E88-452F-87E4-79003FF1CC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1839CEB-DC79-4553-81EA-547C835591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D06A2F8-C206-40AA-B48A-D215258EE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EBA28-8E30-494D-B660-2C945FD200D2}" type="datetimeFigureOut">
              <a:rPr lang="LID4096" smtClean="0"/>
              <a:t>09/24/2025</a:t>
            </a:fld>
            <a:endParaRPr lang="LID4096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D380B0F-D61D-4EDB-BF6D-3B0F28D14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CA96B65-FCEB-4B11-AAB7-F3F0C0BF3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ED801-F1D1-41AF-97B2-88FA8B6BDE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4449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4FC01C-5451-4D2F-B1FC-60564B054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2B47BD4-A3CF-41FC-B4C3-9DA7BA3419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17856A3-1BD2-4221-8F40-9024EC15D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EBA28-8E30-494D-B660-2C945FD200D2}" type="datetimeFigureOut">
              <a:rPr lang="LID4096" smtClean="0"/>
              <a:t>09/24/2025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CB69433-21AC-4493-8F5A-37171F298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BE0551C-5CF2-4CA4-A725-78BE3880C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ED801-F1D1-41AF-97B2-88FA8B6BDE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305812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856C413-C977-4C58-AA61-7FB47BD7F7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36D190B-89D9-4B62-8B17-CB2BDF0588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A67A9BD-99A4-4BED-B7D1-01DB0E174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EBA28-8E30-494D-B660-2C945FD200D2}" type="datetimeFigureOut">
              <a:rPr lang="LID4096" smtClean="0"/>
              <a:t>09/24/2025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E7760D7-CFF1-4431-A092-F7890D27E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3FD2FC-39F6-4C5B-9582-33530C00A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ED801-F1D1-41AF-97B2-88FA8B6BDE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957903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2000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AB152E-6D73-49BE-A76E-9FB6ED1BF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18581BE-6C50-42AD-8A7D-6C5E80F2B5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A43FCA0-C9A8-4E3F-AB74-DAF77A795A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2EBA28-8E30-494D-B660-2C945FD200D2}" type="datetimeFigureOut">
              <a:rPr lang="LID4096" smtClean="0"/>
              <a:t>09/24/2025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848BC3A-96DF-4FB1-B1B3-27F3DFB5C5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E1CAF58-68CF-41E9-9D91-1489198AAD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5ED801-F1D1-41AF-97B2-88FA8B6BDE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3853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 flipV="1">
            <a:off x="1643182" y="4136127"/>
            <a:ext cx="9137268" cy="60959"/>
          </a:xfrm>
          <a:custGeom>
            <a:avLst/>
            <a:gdLst/>
            <a:ahLst/>
            <a:cxnLst/>
            <a:rect l="l" t="t" r="r" b="b"/>
            <a:pathLst>
              <a:path w="9875520">
                <a:moveTo>
                  <a:pt x="0" y="0"/>
                </a:moveTo>
                <a:lnTo>
                  <a:pt x="9875520" y="0"/>
                </a:lnTo>
              </a:path>
            </a:pathLst>
          </a:custGeom>
          <a:ln w="6096">
            <a:solidFill>
              <a:srgbClr val="7E7E7E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11" name="Прямоугольник 10"/>
          <p:cNvSpPr/>
          <p:nvPr/>
        </p:nvSpPr>
        <p:spPr>
          <a:xfrm>
            <a:off x="5139796" y="6307447"/>
            <a:ext cx="1661480" cy="37965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867" b="1" dirty="0">
                <a:latin typeface="Times New Roman" pitchFamily="18" charset="0"/>
                <a:cs typeface="Times New Roman" pitchFamily="18" charset="0"/>
              </a:rPr>
              <a:t>Toshkent 2025</a:t>
            </a:r>
            <a:endParaRPr lang="ru-RU" sz="1867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383360" y="306896"/>
            <a:ext cx="11617291" cy="748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133" b="1" dirty="0">
                <a:latin typeface="Times New Roman" pitchFamily="18" charset="0"/>
                <a:cs typeface="Times New Roman" pitchFamily="18" charset="0"/>
              </a:rPr>
              <a:t>HARBIY XAVFSIZLIK VA MUDOFAA UNIVERSITETINING</a:t>
            </a:r>
          </a:p>
          <a:p>
            <a:pPr algn="ctr"/>
            <a:r>
              <a:rPr lang="en-US" sz="2133" b="1" dirty="0">
                <a:latin typeface="Times New Roman" pitchFamily="18" charset="0"/>
                <a:cs typeface="Times New Roman" pitchFamily="18" charset="0"/>
              </a:rPr>
              <a:t>AXBOROT-KOMMUNIKATSIYA TEXNOLOGIYALARI VA HARBIY ALOQA INSTITUTI</a:t>
            </a:r>
            <a:endParaRPr lang="ru-RU" sz="2133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1199451" y="2642960"/>
            <a:ext cx="9985109" cy="748795"/>
          </a:xfrm>
          <a:prstGeom prst="rect">
            <a:avLst/>
          </a:prstGeom>
          <a:solidFill>
            <a:schemeClr val="bg1">
              <a:lumMod val="85000"/>
              <a:alpha val="80000"/>
            </a:schemeClr>
          </a:solidFill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133" b="1" dirty="0">
                <a:solidFill>
                  <a:srgbClr val="00B050"/>
                </a:solidFill>
                <a:latin typeface="Times New Roman" pitchFamily="18" charset="0"/>
                <a:cs typeface="Times New Roman" pitchFamily="18" charset="0"/>
              </a:rPr>
              <a:t>1-MAVZU: “SUN’IY INTELLEKT ASOSLARI” FANIGA KIRISH VA ASOSIY TUSHUNCHALARI</a:t>
            </a:r>
            <a:endParaRPr lang="ru-RU" sz="2133" b="1" dirty="0">
              <a:solidFill>
                <a:srgbClr val="00B05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57E156E-2862-45AA-B671-E1C5EDE84F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2011" y="4801068"/>
            <a:ext cx="5999989" cy="995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1600" b="1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O‘qituvchi</a:t>
            </a:r>
            <a:r>
              <a:rPr lang="uz-Cyrl-UZ" sz="1600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:  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“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Axborot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texnologiyalari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va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sun’iy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intellekt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”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kafedrasi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“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Sun’iy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intellekt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”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sikli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boshlig‘i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b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</a:br>
            <a:r>
              <a:rPr lang="en-US" sz="2133" b="1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kapitan</a:t>
            </a:r>
            <a:r>
              <a:rPr lang="en-US" sz="2133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Isakov M.M. </a:t>
            </a:r>
            <a:endParaRPr lang="en-US" sz="1867" b="1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9BFC1A9-62DE-4C48-BB79-E5A5081D32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967E9">
              <a:alpha val="80000"/>
            </a:srgbClr>
          </a:solidFill>
          <a:ln/>
        </p:spPr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7B83EC17-E5ED-489B-A896-839B6D9C4378}"/>
              </a:ext>
            </a:extLst>
          </p:cNvPr>
          <p:cNvSpPr/>
          <p:nvPr/>
        </p:nvSpPr>
        <p:spPr>
          <a:xfrm>
            <a:off x="152400" y="1992709"/>
            <a:ext cx="11887200" cy="1376980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0"/>
              </a:lnSpc>
            </a:pPr>
            <a:r>
              <a:rPr lang="en-US" sz="4450" dirty="0">
                <a:solidFill>
                  <a:srgbClr val="FFFFFF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1-mavzu. 9-mashg‘ulot (</a:t>
            </a:r>
            <a:r>
              <a:rPr lang="en-US" sz="4450" dirty="0" err="1">
                <a:solidFill>
                  <a:srgbClr val="FFFFFF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guruhli</a:t>
            </a:r>
            <a:r>
              <a:rPr lang="en-US" sz="4450" dirty="0">
                <a:solidFill>
                  <a:srgbClr val="FFFFFF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):</a:t>
            </a:r>
          </a:p>
          <a:p>
            <a:pPr algn="ctr">
              <a:lnSpc>
                <a:spcPts val="5550"/>
              </a:lnSpc>
            </a:pPr>
            <a:r>
              <a:rPr lang="en-US" sz="40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Pythonda</a:t>
            </a:r>
            <a:r>
              <a:rPr lang="en-US" sz="40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roʻyxatlarga</a:t>
            </a:r>
            <a:r>
              <a:rPr lang="en-US" sz="40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doir</a:t>
            </a:r>
            <a:r>
              <a:rPr lang="en-US" sz="40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masalalar</a:t>
            </a:r>
            <a:r>
              <a:rPr lang="en-US" sz="40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yechish</a:t>
            </a:r>
            <a:endParaRPr lang="en-US" sz="4000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0757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C05110-FBAF-4E5C-8D69-806EC9F87D1F}"/>
              </a:ext>
            </a:extLst>
          </p:cNvPr>
          <p:cNvSpPr/>
          <p:nvPr/>
        </p:nvSpPr>
        <p:spPr>
          <a:xfrm>
            <a:off x="4210953" y="2670969"/>
            <a:ext cx="3770091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708"/>
              </a:lnSpc>
            </a:pPr>
            <a:r>
              <a:rPr lang="en-US" sz="4500" dirty="0" err="1">
                <a:solidFill>
                  <a:srgbClr val="1B1B27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O‘quv</a:t>
            </a:r>
            <a:r>
              <a:rPr lang="en-US" sz="4500" dirty="0">
                <a:solidFill>
                  <a:srgbClr val="1B1B27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4500" dirty="0" err="1">
                <a:solidFill>
                  <a:srgbClr val="1B1B27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savollari</a:t>
            </a:r>
            <a:r>
              <a:rPr lang="en-US" sz="4500" dirty="0">
                <a:solidFill>
                  <a:srgbClr val="1B1B27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7689E44-B307-4A76-9C2B-E716B3ACBFB8}"/>
              </a:ext>
            </a:extLst>
          </p:cNvPr>
          <p:cNvSpPr/>
          <p:nvPr/>
        </p:nvSpPr>
        <p:spPr>
          <a:xfrm>
            <a:off x="0" y="21479"/>
            <a:ext cx="1219200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Pythonda</a:t>
            </a:r>
            <a:r>
              <a:rPr lang="en-US" sz="28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roʻyxatlarga</a:t>
            </a:r>
            <a:r>
              <a:rPr lang="en-US" sz="28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doir</a:t>
            </a:r>
            <a:r>
              <a:rPr lang="en-US" sz="28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masalalar</a:t>
            </a:r>
            <a:r>
              <a:rPr lang="en-US" sz="28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yechish</a:t>
            </a:r>
            <a:endParaRPr lang="en-US" sz="2800" b="1" dirty="0">
              <a:solidFill>
                <a:srgbClr val="00B050"/>
              </a:solidFill>
              <a:latin typeface="Times New Roman" panose="02020603050405020304" pitchFamily="18" charset="0"/>
              <a:ea typeface="Corben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521E122D-499C-49BF-8171-610B3C599041}"/>
              </a:ext>
            </a:extLst>
          </p:cNvPr>
          <p:cNvCxnSpPr/>
          <p:nvPr/>
        </p:nvCxnSpPr>
        <p:spPr>
          <a:xfrm>
            <a:off x="0" y="544699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1">
            <a:extLst>
              <a:ext uri="{FF2B5EF4-FFF2-40B4-BE49-F238E27FC236}">
                <a16:creationId xmlns:a16="http://schemas.microsoft.com/office/drawing/2014/main" id="{7AABC1BB-28A2-417B-BDFA-3C28B11067A8}"/>
              </a:ext>
            </a:extLst>
          </p:cNvPr>
          <p:cNvSpPr/>
          <p:nvPr/>
        </p:nvSpPr>
        <p:spPr>
          <a:xfrm>
            <a:off x="452844" y="3429000"/>
            <a:ext cx="11286310" cy="1047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0"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	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Pythonda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ro‘yxatlarga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doir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oddiy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masalalar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yechish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lvl="0"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	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Ro‘yxatlarni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ishlovchi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metodlarga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doir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masalalar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yechish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192309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247DC78-CE6A-4C38-BD9D-EDF50C754519}"/>
              </a:ext>
            </a:extLst>
          </p:cNvPr>
          <p:cNvSpPr/>
          <p:nvPr/>
        </p:nvSpPr>
        <p:spPr>
          <a:xfrm>
            <a:off x="3048000" y="179454"/>
            <a:ext cx="6096000" cy="1335237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1-savol: </a:t>
            </a: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Talabalarning</a:t>
            </a: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baholari</a:t>
            </a:r>
            <a:endParaRPr lang="en-US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5 ta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talabaning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baholarini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kiriting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ularni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ro‘yxatga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joylashtiring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So‘ngra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o‘rtacha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bahoni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hisoblang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D033038-B0B0-43AF-9B34-FDEA0B29C038}"/>
              </a:ext>
            </a:extLst>
          </p:cNvPr>
          <p:cNvSpPr/>
          <p:nvPr/>
        </p:nvSpPr>
        <p:spPr>
          <a:xfrm>
            <a:off x="2403356" y="3009556"/>
            <a:ext cx="7933509" cy="30987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ts val="0"/>
              </a:spcAft>
            </a:pP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 err="1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baholar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[]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range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5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):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 err="1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baho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{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+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1}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-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talabaning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bahosini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kiriting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 "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 err="1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baholar</a:t>
            </a:r>
            <a:r>
              <a:rPr lang="en-US" sz="1600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.</a:t>
            </a:r>
            <a:r>
              <a:rPr lang="en-US" sz="1600" dirty="0" err="1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append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baho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avg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sum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baholar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/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len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baholar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"O‘rtacha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baho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{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avg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}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89C0855-5F92-4112-9000-BCA5A6B09B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9439" y="1677348"/>
            <a:ext cx="3961341" cy="1169551"/>
          </a:xfrm>
          <a:prstGeom prst="rect">
            <a:avLst/>
          </a:prstGeom>
          <a:solidFill>
            <a:srgbClr val="00282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Na’muna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Kiritilgan baholar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  <a:t>85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92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78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88</a:t>
            </a:r>
            <a:endParaRPr kumimoji="0" lang="en-US" altLang="LID4096" sz="1400" b="0" i="0" u="none" strike="noStrike" cap="none" normalizeH="0" baseline="0" dirty="0">
              <a:ln>
                <a:noFill/>
              </a:ln>
              <a:solidFill>
                <a:srgbClr val="F78C6C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Natija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O‘rtacha baho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  <a:t>86.6</a:t>
            </a:r>
            <a:endParaRPr kumimoji="0" lang="LID4096" altLang="LID4096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8214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85A1496-4DEF-4E34-A1BA-3676BB34BFA2}"/>
              </a:ext>
            </a:extLst>
          </p:cNvPr>
          <p:cNvSpPr/>
          <p:nvPr/>
        </p:nvSpPr>
        <p:spPr>
          <a:xfrm>
            <a:off x="165463" y="834824"/>
            <a:ext cx="5451566" cy="17507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2-savol: </a:t>
            </a: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Talabalar</a:t>
            </a: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va</a:t>
            </a: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ularning</a:t>
            </a: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yoshlarini</a:t>
            </a: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kiritish</a:t>
            </a:r>
            <a:endParaRPr lang="en-US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5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talabaning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ismi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yoshini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kiriting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ular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uchun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yangi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ro‘yxat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tuzing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Keyin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faqat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18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yoshdan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katta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bo‘lgan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talabalarni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ro‘yxatga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chiqarib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bering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AA601F6-2BC2-4ACF-A8FC-25DB001A1E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1258" y="2793317"/>
            <a:ext cx="4850674" cy="2462213"/>
          </a:xfrm>
          <a:prstGeom prst="rect">
            <a:avLst/>
          </a:prstGeom>
          <a:solidFill>
            <a:srgbClr val="00282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Na’muna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Kiritilgan talabalar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Ism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  <a:t>Ali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Yosh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  <a:t>20</a:t>
            </a: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Ism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  <a:t>Vali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Yosh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  <a:t>17</a:t>
            </a: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Ism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  <a:t>Jasur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Yosh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  <a:t>22</a:t>
            </a: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Ism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  <a:t>Sami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Yosh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  <a:t>16</a:t>
            </a: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Ism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  <a:t>Zaynab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Yosh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  <a:t>19</a:t>
            </a:r>
            <a:endParaRPr kumimoji="0" lang="en-US" altLang="LID4096" sz="1400" b="0" i="0" u="none" strike="noStrike" cap="none" normalizeH="0" baseline="0" dirty="0">
              <a:ln>
                <a:noFill/>
              </a:ln>
              <a:solidFill>
                <a:srgbClr val="FFCB6B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Natija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18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yoshdan katta talabalar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 </a:t>
            </a:r>
            <a:endParaRPr kumimoji="0" lang="en-US" altLang="LID4096" sz="1400" b="0" i="0" u="none" strike="noStrike" cap="none" normalizeH="0" baseline="0" dirty="0">
              <a:ln>
                <a:noFill/>
              </a:ln>
              <a:solidFill>
                <a:srgbClr val="89DDFF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  <a:t>[('Ali', 20), ('Jasur', 22), ('Zaynab', 19)]</a:t>
            </a:r>
            <a:endParaRPr kumimoji="0" lang="LID4096" altLang="LID4096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9A301D2-68A3-4F94-922C-FB8EF3A614B7}"/>
              </a:ext>
            </a:extLst>
          </p:cNvPr>
          <p:cNvSpPr/>
          <p:nvPr/>
        </p:nvSpPr>
        <p:spPr>
          <a:xfrm>
            <a:off x="5878285" y="1028475"/>
            <a:ext cx="6235337" cy="37451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r>
              <a:rPr lang="en-US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talabalar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[]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range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5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):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ism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{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+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1}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-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talabaning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ismini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kiriting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 "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yosh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{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ism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}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ning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yoshini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kiriting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 "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))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talabalar</a:t>
            </a:r>
            <a:r>
              <a:rPr lang="en-US" sz="1600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.</a:t>
            </a:r>
            <a:r>
              <a:rPr lang="en-US" sz="1600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append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ism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yosh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))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katta_yosh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[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talabalar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[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]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18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]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("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18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yoshdan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katta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talabalar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katta_yosh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580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D583B23-4329-49D5-91F2-5692218CA9AE}"/>
              </a:ext>
            </a:extLst>
          </p:cNvPr>
          <p:cNvSpPr/>
          <p:nvPr/>
        </p:nvSpPr>
        <p:spPr>
          <a:xfrm>
            <a:off x="174171" y="1280160"/>
            <a:ext cx="5608320" cy="1381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3-savol: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Sonlarni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kiritish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va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ularning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eng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kattasini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topish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7 ta son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kiriting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va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ulardan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eng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katta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sonni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toping.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47F09A5-2C3E-4123-AE98-D0AF95F241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171" y="2778913"/>
            <a:ext cx="4358886" cy="1169551"/>
          </a:xfrm>
          <a:prstGeom prst="rect">
            <a:avLst/>
          </a:prstGeom>
          <a:solidFill>
            <a:srgbClr val="00282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Na’muna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Kiritilgan sonlar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22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3</a:t>
            </a:r>
            <a:endParaRPr kumimoji="0" lang="en-US" altLang="LID4096" sz="1400" b="0" i="0" u="none" strike="noStrike" cap="none" normalizeH="0" baseline="0" dirty="0">
              <a:ln>
                <a:noFill/>
              </a:ln>
              <a:solidFill>
                <a:srgbClr val="F78C6C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Natija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Eng katta son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  <a:t>64</a:t>
            </a:r>
            <a:endParaRPr kumimoji="0" lang="LID4096" altLang="LID4096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517267D-570D-4856-A37B-CFED5EEA6C55}"/>
              </a:ext>
            </a:extLst>
          </p:cNvPr>
          <p:cNvSpPr/>
          <p:nvPr/>
        </p:nvSpPr>
        <p:spPr>
          <a:xfrm>
            <a:off x="5782491" y="1512345"/>
            <a:ext cx="6096000" cy="3098797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sonlar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[]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range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7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):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{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+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1}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-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sonni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kiriting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 "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sonlar</a:t>
            </a:r>
            <a:r>
              <a:rPr lang="en-US" sz="1600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.</a:t>
            </a:r>
            <a:r>
              <a:rPr lang="en-US" sz="1600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append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eng_katta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max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sonlar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"Eng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katta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son: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{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eng_katta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}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9921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02BA45C-4856-44C3-8AD3-BE7CBD1C3195}"/>
              </a:ext>
            </a:extLst>
          </p:cNvPr>
          <p:cNvSpPr/>
          <p:nvPr/>
        </p:nvSpPr>
        <p:spPr>
          <a:xfrm>
            <a:off x="365760" y="1216599"/>
            <a:ext cx="5556068" cy="22124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4-savol: </a:t>
            </a: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Ro‘yxatdagi</a:t>
            </a: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qiymatlarning</a:t>
            </a: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tartibini</a:t>
            </a: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tekshirish</a:t>
            </a:r>
            <a:endParaRPr lang="en-US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5 ta son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kiritib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ular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o‘sish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tartibida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berilganligini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tekshirib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chiqing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 Agar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berilgan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tartibda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sz="1200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True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chiqaring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aks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holda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200" dirty="0">
                <a:effectLst/>
                <a:latin typeface="Courier New" panose="02070309020205020404" pitchFamily="49" charset="0"/>
                <a:ea typeface="Times New Roman" panose="02020603050405020304" pitchFamily="18" charset="0"/>
              </a:rPr>
              <a:t>False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07C7C559-93F5-49A0-B63C-79DF1BE7CF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428" y="3507261"/>
            <a:ext cx="3663182" cy="1169551"/>
          </a:xfrm>
          <a:prstGeom prst="rect">
            <a:avLst/>
          </a:prstGeom>
          <a:solidFill>
            <a:srgbClr val="00282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Na’muna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Kiritilgan sonlar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22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64</a:t>
            </a:r>
            <a:endParaRPr kumimoji="0" lang="en-US" altLang="LID4096" sz="1400" b="0" i="0" u="none" strike="noStrike" cap="none" normalizeH="0" baseline="0" dirty="0">
              <a:ln>
                <a:noFill/>
              </a:ln>
              <a:solidFill>
                <a:srgbClr val="F78C6C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Natija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Tartib tekshiruvi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LID4096" altLang="LID4096" sz="1400" b="0" i="1" u="none" strike="noStrike" cap="none" normalizeH="0" baseline="0" dirty="0">
                <a:ln>
                  <a:noFill/>
                </a:ln>
                <a:solidFill>
                  <a:srgbClr val="C792EA"/>
                </a:solidFill>
                <a:effectLst/>
                <a:latin typeface="Consolas" panose="020B0609020204030204" pitchFamily="49" charset="0"/>
              </a:rPr>
              <a:t>True</a:t>
            </a:r>
            <a:endParaRPr kumimoji="0" lang="LID4096" altLang="LID4096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E3C46DD-C7EA-4EAC-A264-5F82C6B9B2A8}"/>
              </a:ext>
            </a:extLst>
          </p:cNvPr>
          <p:cNvSpPr/>
          <p:nvPr/>
        </p:nvSpPr>
        <p:spPr>
          <a:xfrm>
            <a:off x="6209211" y="1470293"/>
            <a:ext cx="6096000" cy="3098797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sonlar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[]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range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5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):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{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+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1}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-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sonni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kiriting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 "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sonlar</a:t>
            </a:r>
            <a:r>
              <a:rPr lang="en-US" sz="1600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.</a:t>
            </a:r>
            <a:r>
              <a:rPr lang="en-US" sz="1600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append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tartib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sonlar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sorted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sonlar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"Tartib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tekshiruvi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{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tartib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}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1401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4F09511-F92D-44E2-BC75-DE6A176C1C1B}"/>
              </a:ext>
            </a:extLst>
          </p:cNvPr>
          <p:cNvSpPr/>
          <p:nvPr/>
        </p:nvSpPr>
        <p:spPr>
          <a:xfrm>
            <a:off x="235132" y="1428541"/>
            <a:ext cx="5451565" cy="17969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5-savol: </a:t>
            </a: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Ro‘yxatdagi</a:t>
            </a: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sonlar</a:t>
            </a: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orasidagi</a:t>
            </a: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juft</a:t>
            </a: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sonlarni</a:t>
            </a: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filtrlash</a:t>
            </a:r>
            <a:endParaRPr lang="en-US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6 ta son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kiritilsin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Ro‘yxatda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faqat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juft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sonlarni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ajrating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ularni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yangi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ro‘yxatga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joylashtiring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86ACC88B-BD2D-4619-983D-FD22977FF3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8011" y="3321278"/>
            <a:ext cx="3861955" cy="1169551"/>
          </a:xfrm>
          <a:prstGeom prst="rect">
            <a:avLst/>
          </a:prstGeom>
          <a:solidFill>
            <a:srgbClr val="00282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Na’muna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Kiritilgan sonlar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3</a:t>
            </a:r>
            <a:endParaRPr kumimoji="0" lang="en-US" altLang="LID4096" sz="1400" b="0" i="0" u="none" strike="noStrike" cap="none" normalizeH="0" baseline="0" dirty="0">
              <a:ln>
                <a:noFill/>
              </a:ln>
              <a:solidFill>
                <a:srgbClr val="F78C6C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Natija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Juft sonlar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  <a:t>[12, 8, 16]</a:t>
            </a:r>
            <a:endParaRPr kumimoji="0" lang="LID4096" altLang="LID4096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6ED4E3D-8AF8-406E-9D92-8C78103E7F24}"/>
              </a:ext>
            </a:extLst>
          </p:cNvPr>
          <p:cNvSpPr/>
          <p:nvPr/>
        </p:nvSpPr>
        <p:spPr>
          <a:xfrm>
            <a:off x="5860868" y="1855261"/>
            <a:ext cx="6096000" cy="3098797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sonlar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[]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range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6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):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{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+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1}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-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sonni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kiriting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 "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sonlar</a:t>
            </a:r>
            <a:r>
              <a:rPr lang="en-US" sz="1600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.</a:t>
            </a:r>
            <a:r>
              <a:rPr lang="en-US" sz="1600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append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juft_sonlar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[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sonlar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%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2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0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]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Juft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sonlar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juft_sonlar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4388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A61323C-2587-4A99-B786-62BDDEEB40BD}"/>
              </a:ext>
            </a:extLst>
          </p:cNvPr>
          <p:cNvSpPr/>
          <p:nvPr/>
        </p:nvSpPr>
        <p:spPr>
          <a:xfrm>
            <a:off x="1027611" y="78118"/>
            <a:ext cx="10136778" cy="9197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6-savol: </a:t>
            </a: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Ro‘yxatdagi</a:t>
            </a: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takroriy</a:t>
            </a: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qiymatlarni</a:t>
            </a: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aniqlash</a:t>
            </a:r>
            <a:endParaRPr lang="en-US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7 ta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mahsulot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nomini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kiriting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Takrorlanayotgan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mahsulotlarni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aniqlab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ularni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ro‘yxatga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chiqarib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bering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E91AA8B-9D10-4C4A-961E-5B923D894F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626" y="1083014"/>
            <a:ext cx="5352747" cy="1600438"/>
          </a:xfrm>
          <a:prstGeom prst="rect">
            <a:avLst/>
          </a:prstGeom>
          <a:solidFill>
            <a:srgbClr val="00282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Na’muna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endParaRPr kumimoji="0" lang="en-US" altLang="LID4096" sz="1400" b="0" i="0" u="none" strike="noStrike" cap="none" normalizeH="0" baseline="0" dirty="0">
              <a:ln>
                <a:noFill/>
              </a:ln>
              <a:solidFill>
                <a:srgbClr val="89DDFF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Kiritilgan mahsulotlar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non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sut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olma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banan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sut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non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olma</a:t>
            </a:r>
            <a:endParaRPr kumimoji="0" lang="en-US" altLang="LID4096" sz="1400" b="0" i="0" u="none" strike="noStrike" cap="none" normalizeH="0" baseline="0" dirty="0">
              <a:ln>
                <a:noFill/>
              </a:ln>
              <a:solidFill>
                <a:srgbClr val="C3CEE3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Natija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</a:b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C3CEE3"/>
                </a:solidFill>
                <a:effectLst/>
                <a:latin typeface="Consolas" panose="020B0609020204030204" pitchFamily="49" charset="0"/>
              </a:rPr>
              <a:t>Takrorlanayotgan mahsulotlar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FFCB6B"/>
                </a:solidFill>
                <a:effectLst/>
                <a:latin typeface="Consolas" panose="020B0609020204030204" pitchFamily="49" charset="0"/>
              </a:rPr>
              <a:t>['non', 'sut', 'olma']</a:t>
            </a:r>
            <a:endParaRPr kumimoji="0" lang="LID4096" altLang="LID4096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5142D7-C370-44BE-AFE3-39F66841DCC5}"/>
              </a:ext>
            </a:extLst>
          </p:cNvPr>
          <p:cNvSpPr/>
          <p:nvPr/>
        </p:nvSpPr>
        <p:spPr>
          <a:xfrm>
            <a:off x="792478" y="2942781"/>
            <a:ext cx="10607042" cy="30987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20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r>
              <a:rPr lang="en-US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mahsulotlar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[]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range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7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):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mahsulot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{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+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1}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-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mahsulot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nomini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kiriting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 "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mahsulotlar</a:t>
            </a:r>
            <a:r>
              <a:rPr lang="en-US" sz="1600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.</a:t>
            </a:r>
            <a:r>
              <a:rPr lang="en-US" sz="1600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append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mahsulot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takrorlanmalar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[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set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mahsulotlar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mahsulotlar</a:t>
            </a:r>
            <a:r>
              <a:rPr lang="en-US" sz="1600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.</a:t>
            </a:r>
            <a:r>
              <a:rPr lang="en-US" sz="1600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count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]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Takrorlanayotgan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mahsulotlar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takrorlanmalar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196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671E0DE-08F1-4260-B40B-2CCABC849F93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95560" y="544286"/>
            <a:ext cx="11800880" cy="576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853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010274C-ABBC-410A-93C0-AE9B0236D4BE}"/>
              </a:ext>
            </a:extLst>
          </p:cNvPr>
          <p:cNvSpPr/>
          <p:nvPr/>
        </p:nvSpPr>
        <p:spPr>
          <a:xfrm>
            <a:off x="418011" y="1443841"/>
            <a:ext cx="11355978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Kiruvchi</a:t>
            </a:r>
            <a:r>
              <a:rPr lang="en-US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ma'lumotlarni</a:t>
            </a:r>
            <a:r>
              <a:rPr lang="en-US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o'qish</a:t>
            </a:r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1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1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AA3731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1" dirty="0">
                <a:solidFill>
                  <a:srgbClr val="AA3731"/>
                </a:solidFill>
                <a:effectLst/>
                <a:latin typeface="Consolas" panose="020B0609020204030204" pitchFamily="49" charset="0"/>
              </a:rPr>
              <a:t>split</a:t>
            </a:r>
            <a:r>
              <a:rPr lang="en-US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()))</a:t>
            </a:r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r>
              <a:rPr lang="en-US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Ro'yxatni</a:t>
            </a:r>
            <a:r>
              <a:rPr lang="en-US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tartiblash</a:t>
            </a:r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AA3731"/>
                </a:solidFill>
                <a:effectLst/>
                <a:latin typeface="Consolas" panose="020B0609020204030204" pitchFamily="49" charset="0"/>
              </a:rPr>
              <a:t>sort</a:t>
            </a:r>
            <a:r>
              <a:rPr lang="en-US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r>
              <a:rPr lang="en-US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 Minimal </a:t>
            </a:r>
            <a:r>
              <a:rPr lang="en-US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yig'indi</a:t>
            </a:r>
            <a:r>
              <a:rPr lang="en-US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eng</a:t>
            </a:r>
            <a:r>
              <a:rPr lang="en-US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kichik</a:t>
            </a:r>
            <a:r>
              <a:rPr lang="en-US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yig‘indini</a:t>
            </a:r>
            <a:r>
              <a:rPr lang="en-US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topish</a:t>
            </a:r>
            <a:r>
              <a:rPr lang="en-US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min_sum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AA3731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[:-</a:t>
            </a:r>
            <a:r>
              <a:rPr lang="en-US" b="0" dirty="0">
                <a:solidFill>
                  <a:srgbClr val="9C5D27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])</a:t>
            </a:r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r>
              <a:rPr lang="en-US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Maksimal</a:t>
            </a:r>
            <a:r>
              <a:rPr lang="en-US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yig'indi</a:t>
            </a:r>
            <a:r>
              <a:rPr lang="en-US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eng</a:t>
            </a:r>
            <a:r>
              <a:rPr lang="en-US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katta</a:t>
            </a:r>
            <a:r>
              <a:rPr lang="en-US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yig‘indini</a:t>
            </a:r>
            <a:r>
              <a:rPr lang="en-US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topish</a:t>
            </a:r>
            <a:r>
              <a:rPr lang="en-US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max_sum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AA3731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9C5D27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:])</a:t>
            </a:r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r>
              <a:rPr lang="en-US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Natijani</a:t>
            </a:r>
            <a:r>
              <a:rPr lang="en-US" b="0" i="1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chiqarish</a:t>
            </a:r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AA3731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min_sum</a:t>
            </a:r>
            <a:r>
              <a:rPr lang="en-US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A3E9D"/>
                </a:solidFill>
                <a:effectLst/>
                <a:latin typeface="Consolas" panose="020B0609020204030204" pitchFamily="49" charset="0"/>
              </a:rPr>
              <a:t>max_sum</a:t>
            </a:r>
            <a:r>
              <a:rPr lang="en-US" b="0" dirty="0">
                <a:solidFill>
                  <a:srgbClr val="777777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15521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D1781F7-8AD9-4D6E-89E3-EED79FBB973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463040" y="61235"/>
            <a:ext cx="9265920" cy="673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4131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94BAFE2-635F-49CC-9A31-6661AB2A2934}"/>
              </a:ext>
            </a:extLst>
          </p:cNvPr>
          <p:cNvSpPr/>
          <p:nvPr/>
        </p:nvSpPr>
        <p:spPr>
          <a:xfrm>
            <a:off x="1071154" y="704888"/>
            <a:ext cx="10049692" cy="4617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Kirish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faylidan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ma'lumotlarni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o'qish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N ta element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numbers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list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map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().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split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Sonlar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to'plami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Yolg'iz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sonni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topish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uchun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XOR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operatorini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ishlatamiz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result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0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num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numbers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result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^=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num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XOR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operatori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Natijani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chiqarish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result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70025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DD0A772-79DA-4BCF-82D3-3FB311A673E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487715" y="169816"/>
            <a:ext cx="11216570" cy="651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0247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9BA7AF3-07B2-4060-B0A6-965206ADC605}"/>
              </a:ext>
            </a:extLst>
          </p:cNvPr>
          <p:cNvSpPr/>
          <p:nvPr/>
        </p:nvSpPr>
        <p:spPr>
          <a:xfrm>
            <a:off x="653143" y="912638"/>
            <a:ext cx="10885714" cy="50327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Kiruvchi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ma'lumotlarni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o'qish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Sovg'aning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narxi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A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map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().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split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Opa-singillarning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ortiqcha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pullari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Ular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birgalikda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qancha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pulga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ega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bo'lishlarini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hisoblaymiz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total_money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A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+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+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Sovg‘ani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olish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mumkinmi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?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total_money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&gt;=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Yes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")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else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No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")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48337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43F4FFD-26AA-49D2-85CE-CD467F57982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14039" y="143691"/>
            <a:ext cx="10963922" cy="6570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3780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EA4E18F9-7E03-49A6-85F7-7847CB3B3E92}"/>
              </a:ext>
            </a:extLst>
          </p:cNvPr>
          <p:cNvSpPr/>
          <p:nvPr/>
        </p:nvSpPr>
        <p:spPr>
          <a:xfrm>
            <a:off x="1097280" y="1120387"/>
            <a:ext cx="9997440" cy="37862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Kiruvchi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ma'lumotlarni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o'qish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Massiv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elementlari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soni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arr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list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map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().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split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Massiv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elementlari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Massivni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tartiblash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arr</a:t>
            </a:r>
            <a:r>
              <a:rPr lang="en-US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.</a:t>
            </a:r>
            <a:r>
              <a:rPr lang="en-US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sort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Ikkinchi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eng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katta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element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arr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[-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2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])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Tartiblangan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massivning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ikkinchi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eng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katta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elementi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70223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1FC85B1-DDE3-4CD8-ABFC-B680910C794C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76770" y="509451"/>
            <a:ext cx="11438460" cy="5839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1966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7CEA39B-1104-44F9-85F2-23FD508FE281}"/>
              </a:ext>
            </a:extLst>
          </p:cNvPr>
          <p:cNvSpPr/>
          <p:nvPr/>
        </p:nvSpPr>
        <p:spPr>
          <a:xfrm>
            <a:off x="792480" y="1228654"/>
            <a:ext cx="10607040" cy="44006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Kiruvchi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ma'lumotlarni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o'qish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salaries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list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map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().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split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Xodimlarning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ish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haqini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ro'yxatga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olish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Eng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yuqori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va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eng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kam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ish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haqini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topish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max_salary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max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salaries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min_salary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min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salaries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Farqni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chiqarish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max_salary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-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min_salary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r>
              <a:rPr lang="en-US" sz="2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66651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1FB973F-B2B5-413A-B8E6-B78B61EAADA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528430" y="396240"/>
            <a:ext cx="11135140" cy="6065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3716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3F526AB-544D-40F2-99E2-6E5FF44DA0B3}"/>
              </a:ext>
            </a:extLst>
          </p:cNvPr>
          <p:cNvSpPr/>
          <p:nvPr/>
        </p:nvSpPr>
        <p:spPr>
          <a:xfrm>
            <a:off x="905691" y="912638"/>
            <a:ext cx="10380618" cy="50327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Testlar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sonini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o'qish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Har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bir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test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uchun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natijani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aniqlash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_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range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):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n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shaxmat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doskasi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o'lchami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Agar n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juft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bo'lsa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 Vali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yutadi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(1),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aks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holda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Ali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yutadi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(0)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%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2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Vali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yutadi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else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Ali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yutadi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28272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A71013BF-2C72-4EE4-8E20-B3D3F4CE709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227909" y="52449"/>
            <a:ext cx="9736182" cy="6753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0459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967C3C1-17A0-4C39-9CBA-82C18CA89EEB}"/>
              </a:ext>
            </a:extLst>
          </p:cNvPr>
          <p:cNvSpPr/>
          <p:nvPr/>
        </p:nvSpPr>
        <p:spPr>
          <a:xfrm>
            <a:off x="836023" y="912638"/>
            <a:ext cx="10519954" cy="50327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Kiruvchi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ma'lumotlarni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o'qish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gnom_tangalar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list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map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().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split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Gnomlar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tanga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miqdori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Sovg'aning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narxi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Gnomlar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yig‘gan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tangalar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miqdori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total_tangalar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sum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gnom_tangalar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Sovg'ani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sotib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olish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uchun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kerak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bo‘lgan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qo‘shimcha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tanga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miqdori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total_tangalar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&gt;=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Gnomlar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to‘plagan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tangalar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yetarli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else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-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total_tangalar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Yetarli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bo‘lmagan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miqdor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50992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9DEE376-2DAE-48F2-85C0-C4460D45CFA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288869" y="204461"/>
            <a:ext cx="9614262" cy="6449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8986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7C48CB8-A9C2-4F0F-8304-D783C281E045}"/>
              </a:ext>
            </a:extLst>
          </p:cNvPr>
          <p:cNvSpPr/>
          <p:nvPr/>
        </p:nvSpPr>
        <p:spPr>
          <a:xfrm>
            <a:off x="801189" y="1120387"/>
            <a:ext cx="10589622" cy="37862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Kiruvchi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ma'lumotlarni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o'qish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Talabalar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soni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daftar_raqamlari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list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map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().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split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Daftar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raqamlari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Daftar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raqamlari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ketma-ket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bo'lsa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ular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1 dan N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gacha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bo'lishi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kerak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daftar_raqamlari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list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range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+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)):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YES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")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else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NO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")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66766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E7EB70D-0CD4-4E6F-9B42-074FFFF527E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11515" y="239485"/>
            <a:ext cx="10968970" cy="6379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1792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48FC52C-3AB7-456B-8E02-5AD6873A4618}"/>
              </a:ext>
            </a:extLst>
          </p:cNvPr>
          <p:cNvSpPr/>
          <p:nvPr/>
        </p:nvSpPr>
        <p:spPr>
          <a:xfrm>
            <a:off x="487680" y="75510"/>
            <a:ext cx="11216640" cy="67510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Kiruvchi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ma'lumotlarni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o'qish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map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4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().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split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M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toshlar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soni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 N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bolalar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soni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4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toshlar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list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4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map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4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().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split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()))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Har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bir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bolaning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olib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kelgan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toshlari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8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Toshlar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ro'yxatini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kamayish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tartibida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saralash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4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toshlar</a:t>
            </a:r>
            <a:r>
              <a:rPr lang="en-US" sz="1400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.</a:t>
            </a:r>
            <a:r>
              <a:rPr lang="en-US" sz="1400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sort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reverse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4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True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8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Sumalakka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kerakli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toshlar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sonini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yig'ish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4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current_sum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0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count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0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8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4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tosh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toshlar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4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current_sum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+=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tosh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count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+=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4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if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current_sum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&gt;=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    </a:t>
            </a:r>
            <a:r>
              <a:rPr lang="en-US" sz="14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break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8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Agar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kerakli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toshlar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yig'ilsa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javobni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chiqaramiz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4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if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current_sum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&gt;=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count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4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else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(-</a:t>
            </a:r>
            <a:r>
              <a:rPr lang="en-US" sz="14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79967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156D6A6-240D-4FD9-AF96-2ADF8A25067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527793" y="561702"/>
            <a:ext cx="11136414" cy="5734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2963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96AFF49-8839-49A6-AD43-0841896EEF88}"/>
              </a:ext>
            </a:extLst>
          </p:cNvPr>
          <p:cNvSpPr/>
          <p:nvPr/>
        </p:nvSpPr>
        <p:spPr>
          <a:xfrm>
            <a:off x="748937" y="0"/>
            <a:ext cx="10694126" cy="67893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Kiruvchi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ma'lumotlarni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o'qish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N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soni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arr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list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map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().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split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()))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Massiv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elementlari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Elementlarning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chastotasini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hisoblash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uchun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lug'at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count_dict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{}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Massivdagi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har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bir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element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uchun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uning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chastotasini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hisoblash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num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arr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num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count_dict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   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count_dict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[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num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]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+=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   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count_dict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[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num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]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Eng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ko'p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uchraydigan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elementni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topish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max_count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max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count_dict</a:t>
            </a:r>
            <a:r>
              <a:rPr lang="en-US" sz="1600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.</a:t>
            </a:r>
            <a:r>
              <a:rPr lang="en-US" sz="1600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values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O'chirish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kerak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bo'lgan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elementlar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sonini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hisoblash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result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-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max_count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Natijani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chiqarish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result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19428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04BA10D-AC70-40D3-92C9-38C9FA3DD27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654629" y="194974"/>
            <a:ext cx="8882742" cy="64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4839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15B4201-DF47-4DFA-8B4D-A95EBC3DA140}"/>
              </a:ext>
            </a:extLst>
          </p:cNvPr>
          <p:cNvSpPr/>
          <p:nvPr/>
        </p:nvSpPr>
        <p:spPr>
          <a:xfrm>
            <a:off x="853440" y="1187104"/>
            <a:ext cx="10485120" cy="44837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Kiruvchi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ma'lumotlarni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o'qish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map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().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split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n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ishtirokchilar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 k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o'rin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balls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list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map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().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split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()))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Ishtirokchilarning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ballari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k-chi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o'rindagi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ballni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topamiz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threshold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sorted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balls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reverse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True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)[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-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]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k-chi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o'rindagi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ballni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topamiz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(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qisqacha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Keying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bosqichga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o'tgan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ishtirokchilar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sonini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hisoblash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qualified_count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sum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ball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balls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ball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&gt;=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threshold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and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ball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0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Natijani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chiqarish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qualified_count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38178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2AD42D9-649B-4041-9E74-F16ABCA0DF4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893380" y="283029"/>
            <a:ext cx="10405240" cy="6291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1788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BF7BE0D-6C67-4460-B113-86AE3581E433}"/>
              </a:ext>
            </a:extLst>
          </p:cNvPr>
          <p:cNvSpPr/>
          <p:nvPr/>
        </p:nvSpPr>
        <p:spPr>
          <a:xfrm>
            <a:off x="574766" y="68641"/>
            <a:ext cx="11042468" cy="67893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Kiruvchi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ma'lumotlarni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o'qish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Testlar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soni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Har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bir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test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uchun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ishlaymiz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_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range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):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map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().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split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N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va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M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sonlari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numbers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list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map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().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split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()))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N ta son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Sonlarni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tartiblaymiz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numbers</a:t>
            </a:r>
            <a:r>
              <a:rPr lang="en-US" sz="1600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.</a:t>
            </a:r>
            <a:r>
              <a:rPr lang="en-US" sz="1600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sort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Eng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kichik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yig'indi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 N-M ta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eng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kichik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tanlaymiz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min_sum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sum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numbers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[: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-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])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Eng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katta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yig'indi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 N-M ta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eng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katta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tanlaymiz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max_sum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sum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numbers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[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:])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Farqni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hisoblaymiz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result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max_sum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-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min_sum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Natijani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chiqarish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result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75083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8936416F-8309-46CE-AB05-AA0149FA4342}"/>
              </a:ext>
            </a:extLst>
          </p:cNvPr>
          <p:cNvGrpSpPr/>
          <p:nvPr/>
        </p:nvGrpSpPr>
        <p:grpSpPr>
          <a:xfrm>
            <a:off x="2743200" y="61845"/>
            <a:ext cx="6705600" cy="6802906"/>
            <a:chOff x="3035935" y="-284207"/>
            <a:chExt cx="6120130" cy="6208940"/>
          </a:xfrm>
        </p:grpSpPr>
        <p:pic>
          <p:nvPicPr>
            <p:cNvPr id="2" name="Рисунок 1">
              <a:extLst>
                <a:ext uri="{FF2B5EF4-FFF2-40B4-BE49-F238E27FC236}">
                  <a16:creationId xmlns:a16="http://schemas.microsoft.com/office/drawing/2014/main" id="{32CC65AA-4A50-476E-BD8E-A2EEDCE4F6B7}"/>
                </a:ext>
              </a:extLst>
            </p:cNvPr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3035935" y="-284207"/>
              <a:ext cx="6120130" cy="2706370"/>
            </a:xfrm>
            <a:prstGeom prst="rect">
              <a:avLst/>
            </a:prstGeom>
          </p:spPr>
        </p:pic>
        <p:pic>
          <p:nvPicPr>
            <p:cNvPr id="3" name="Рисунок 2">
              <a:extLst>
                <a:ext uri="{FF2B5EF4-FFF2-40B4-BE49-F238E27FC236}">
                  <a16:creationId xmlns:a16="http://schemas.microsoft.com/office/drawing/2014/main" id="{BE739E3A-7E54-4B8F-AA05-D3F7E3BBA642}"/>
                </a:ext>
              </a:extLst>
            </p:cNvPr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3035935" y="2423343"/>
              <a:ext cx="6120130" cy="350139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643713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4B8C60D-10FB-42F4-8633-913274C3C0D9}"/>
              </a:ext>
            </a:extLst>
          </p:cNvPr>
          <p:cNvSpPr/>
          <p:nvPr/>
        </p:nvSpPr>
        <p:spPr>
          <a:xfrm>
            <a:off x="357051" y="296092"/>
            <a:ext cx="11477898" cy="59795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Kiruvchi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ma'lumotlarni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o'qish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map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().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split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N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kitoblar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 S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pul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miqdori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book_prices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list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map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input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().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split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()))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Kitob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narxlari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Kitob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narxlarini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o'sish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tartibida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saralash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book_prices</a:t>
            </a:r>
            <a:r>
              <a:rPr lang="en-US" sz="1600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.</a:t>
            </a:r>
            <a:r>
              <a:rPr lang="en-US" sz="1600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sort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Kitoblar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sotib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olishni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hisoblash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total_cost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0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count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0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for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price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book_prices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total_cost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+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price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&lt;=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S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Agar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kitobni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olish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mumkin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bo'lsa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   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total_cost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+=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price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   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count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+=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1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: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   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break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 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Pul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tugadi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,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yana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kitob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olish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mumkin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emas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Natijani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chiqarish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count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42020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36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3659" y="1508787"/>
            <a:ext cx="5376597" cy="4032448"/>
          </a:xfrm>
          <a:prstGeom prst="rect">
            <a:avLst/>
          </a:prstGeom>
        </p:spPr>
      </p:pic>
      <p:pic>
        <p:nvPicPr>
          <p:cNvPr id="6" name="Picture 2" descr="C:\Users\R.M.F\Desktop\artificial-intelligence-icon-ai-isometric-cloud-1292864125-without-background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08502" y="95846"/>
            <a:ext cx="1388613" cy="1124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2281</Words>
  <Application>Microsoft Office PowerPoint</Application>
  <PresentationFormat>Широкоэкранный</PresentationFormat>
  <Paragraphs>275</Paragraphs>
  <Slides>36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36</vt:i4>
      </vt:variant>
    </vt:vector>
  </HeadingPairs>
  <TitlesOfParts>
    <vt:vector size="43" baseType="lpstr">
      <vt:lpstr>Arial</vt:lpstr>
      <vt:lpstr>Calibri</vt:lpstr>
      <vt:lpstr>Calibri Light</vt:lpstr>
      <vt:lpstr>Consolas</vt:lpstr>
      <vt:lpstr>Courier New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</dc:creator>
  <cp:lastModifiedBy>user</cp:lastModifiedBy>
  <cp:revision>80</cp:revision>
  <dcterms:created xsi:type="dcterms:W3CDTF">2025-09-23T02:40:19Z</dcterms:created>
  <dcterms:modified xsi:type="dcterms:W3CDTF">2025-09-24T03:23:52Z</dcterms:modified>
</cp:coreProperties>
</file>