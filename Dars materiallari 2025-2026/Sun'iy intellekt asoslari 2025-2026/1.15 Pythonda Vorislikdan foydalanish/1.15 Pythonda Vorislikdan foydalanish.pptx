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6" r:id="rId2"/>
    <p:sldId id="256" r:id="rId3"/>
    <p:sldId id="267" r:id="rId4"/>
    <p:sldId id="257" r:id="rId5"/>
    <p:sldId id="258" r:id="rId6"/>
    <p:sldId id="259" r:id="rId7"/>
    <p:sldId id="268" r:id="rId8"/>
    <p:sldId id="269" r:id="rId9"/>
    <p:sldId id="270" r:id="rId10"/>
    <p:sldId id="271" r:id="rId11"/>
    <p:sldId id="272" r:id="rId12"/>
    <p:sldId id="274" r:id="rId13"/>
    <p:sldId id="275" r:id="rId14"/>
    <p:sldId id="277" r:id="rId15"/>
    <p:sldId id="278" r:id="rId16"/>
    <p:sldId id="279" r:id="rId17"/>
    <p:sldId id="280" r:id="rId18"/>
    <p:sldId id="284" r:id="rId19"/>
    <p:sldId id="285" r:id="rId2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A3BEE-2CD0-4A1C-A858-33AF2D4061C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6945D-3AA9-4CCC-A353-9172D3DDC7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205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51414-02F9-4D40-8728-B576B1D27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F3D80A-CE42-472E-A4B9-8D5D4F828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4" indent="0" algn="ctr">
              <a:buNone/>
              <a:defRPr sz="2000"/>
            </a:lvl2pPr>
            <a:lvl3pPr marL="914428" indent="0" algn="ctr">
              <a:buNone/>
              <a:defRPr sz="1800"/>
            </a:lvl3pPr>
            <a:lvl4pPr marL="1371643" indent="0" algn="ctr">
              <a:buNone/>
              <a:defRPr sz="1600"/>
            </a:lvl4pPr>
            <a:lvl5pPr marL="1828857" indent="0" algn="ctr">
              <a:buNone/>
              <a:defRPr sz="1600"/>
            </a:lvl5pPr>
            <a:lvl6pPr marL="2286071" indent="0" algn="ctr">
              <a:buNone/>
              <a:defRPr sz="1600"/>
            </a:lvl6pPr>
            <a:lvl7pPr marL="2743285" indent="0" algn="ctr">
              <a:buNone/>
              <a:defRPr sz="1600"/>
            </a:lvl7pPr>
            <a:lvl8pPr marL="3200500" indent="0" algn="ctr">
              <a:buNone/>
              <a:defRPr sz="1600"/>
            </a:lvl8pPr>
            <a:lvl9pPr marL="3657714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9C5AFF-BAD8-4C66-841F-CDB99F17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75B096-1555-45FB-85F3-0EAEBBA9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072628-CC4C-48E5-937C-77B812D6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895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D6F6C-4424-4D78-B87D-31A660B6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194CF8-C7AF-4C64-92AF-EC57757EA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D1E25B-E5E6-48E2-9F7A-9606DA1C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E3C50D-E570-4A11-9923-70AA3AA7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A5DA9-4950-41B8-9065-FF2B3C508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147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CBF7C-5FB0-4B44-9A06-58F75FEC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3B5F6D-6ACC-414A-9A8E-241BA025E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107BAD-D4BC-4989-8601-5DA867F4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68F98A-9C47-4FD4-AA59-7733D088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31C092-F299-41D6-BCB7-BB8FBAAB2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02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1FE05-BDAB-4B12-92D6-FC2CCCAD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655CD-B291-4FFC-B9E1-96166AF90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DE3F6C-4EAB-4B82-8BDC-861D9EA36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7D8C33-C286-4B81-9C77-265D647C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F2C444-E4BA-4B50-87EC-9D6D0C4E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F0EE1D-ADDF-4BB2-97C8-819FA18A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048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D51D4-3652-4CEF-982C-B27E328A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B8C160-46C8-44FD-BD53-017D2FC05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3" indent="0">
              <a:buNone/>
              <a:defRPr sz="1600" b="1"/>
            </a:lvl4pPr>
            <a:lvl5pPr marL="1828857" indent="0">
              <a:buNone/>
              <a:defRPr sz="1600" b="1"/>
            </a:lvl5pPr>
            <a:lvl6pPr marL="2286071" indent="0">
              <a:buNone/>
              <a:defRPr sz="1600" b="1"/>
            </a:lvl6pPr>
            <a:lvl7pPr marL="2743285" indent="0">
              <a:buNone/>
              <a:defRPr sz="1600" b="1"/>
            </a:lvl7pPr>
            <a:lvl8pPr marL="3200500" indent="0">
              <a:buNone/>
              <a:defRPr sz="1600" b="1"/>
            </a:lvl8pPr>
            <a:lvl9pPr marL="3657714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90A926-97A4-4F20-BC51-8799DE972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020FD9-796B-4AA9-A7A8-1B5ED173F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3" indent="0">
              <a:buNone/>
              <a:defRPr sz="1600" b="1"/>
            </a:lvl4pPr>
            <a:lvl5pPr marL="1828857" indent="0">
              <a:buNone/>
              <a:defRPr sz="1600" b="1"/>
            </a:lvl5pPr>
            <a:lvl6pPr marL="2286071" indent="0">
              <a:buNone/>
              <a:defRPr sz="1600" b="1"/>
            </a:lvl6pPr>
            <a:lvl7pPr marL="2743285" indent="0">
              <a:buNone/>
              <a:defRPr sz="1600" b="1"/>
            </a:lvl7pPr>
            <a:lvl8pPr marL="3200500" indent="0">
              <a:buNone/>
              <a:defRPr sz="1600" b="1"/>
            </a:lvl8pPr>
            <a:lvl9pPr marL="3657714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5CA2D9E-0967-41CF-96F6-FE180D79E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D1EE05C-5CD8-43EA-9007-15D6F055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2A1B440-BCA9-4BDD-889D-8A36CEDF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3AD5C55-4454-49FF-911B-6E22022C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214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12406-3486-41F2-98A0-4D6145A4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3ECE294-C614-473F-A4AE-D67414AF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878299F-E94D-4B77-9050-B320C2EB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13245B-FA96-4C57-A500-0E3E38CF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01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606636-3909-45CC-B023-44CB17C2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1C2D08-FDE9-410C-A1EE-B55D9F60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5CC35C-111C-40A3-8E7E-AE2E257E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464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3C70D-F12C-4856-90EF-CDB41E5B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D1E47F-20ED-4E4C-A2F4-364001ACF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1B7889-66C5-4FBE-A598-03F415940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4" indent="0">
              <a:buNone/>
              <a:defRPr sz="1400"/>
            </a:lvl2pPr>
            <a:lvl3pPr marL="914428" indent="0">
              <a:buNone/>
              <a:defRPr sz="1200"/>
            </a:lvl3pPr>
            <a:lvl4pPr marL="1371643" indent="0">
              <a:buNone/>
              <a:defRPr sz="1000"/>
            </a:lvl4pPr>
            <a:lvl5pPr marL="1828857" indent="0">
              <a:buNone/>
              <a:defRPr sz="1000"/>
            </a:lvl5pPr>
            <a:lvl6pPr marL="2286071" indent="0">
              <a:buNone/>
              <a:defRPr sz="1000"/>
            </a:lvl6pPr>
            <a:lvl7pPr marL="2743285" indent="0">
              <a:buNone/>
              <a:defRPr sz="1000"/>
            </a:lvl7pPr>
            <a:lvl8pPr marL="3200500" indent="0">
              <a:buNone/>
              <a:defRPr sz="1000"/>
            </a:lvl8pPr>
            <a:lvl9pPr marL="3657714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B0398D-106F-47F4-9B98-6346595D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09E405-8370-440E-BCF8-B7DFDEFD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D117E0-F27A-4A27-9308-EC5A8E4A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458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178C1-6409-4D8A-B767-B2F4EA3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89828A-F1B6-4F32-8A80-6A27090FF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4" indent="0">
              <a:buNone/>
              <a:defRPr sz="2800"/>
            </a:lvl2pPr>
            <a:lvl3pPr marL="914428" indent="0">
              <a:buNone/>
              <a:defRPr sz="2400"/>
            </a:lvl3pPr>
            <a:lvl4pPr marL="1371643" indent="0">
              <a:buNone/>
              <a:defRPr sz="2000"/>
            </a:lvl4pPr>
            <a:lvl5pPr marL="1828857" indent="0">
              <a:buNone/>
              <a:defRPr sz="2000"/>
            </a:lvl5pPr>
            <a:lvl6pPr marL="2286071" indent="0">
              <a:buNone/>
              <a:defRPr sz="2000"/>
            </a:lvl6pPr>
            <a:lvl7pPr marL="2743285" indent="0">
              <a:buNone/>
              <a:defRPr sz="2000"/>
            </a:lvl7pPr>
            <a:lvl8pPr marL="3200500" indent="0">
              <a:buNone/>
              <a:defRPr sz="2000"/>
            </a:lvl8pPr>
            <a:lvl9pPr marL="3657714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94203E-D348-4956-8D77-C4E5E5075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4" indent="0">
              <a:buNone/>
              <a:defRPr sz="1400"/>
            </a:lvl2pPr>
            <a:lvl3pPr marL="914428" indent="0">
              <a:buNone/>
              <a:defRPr sz="1200"/>
            </a:lvl3pPr>
            <a:lvl4pPr marL="1371643" indent="0">
              <a:buNone/>
              <a:defRPr sz="1000"/>
            </a:lvl4pPr>
            <a:lvl5pPr marL="1828857" indent="0">
              <a:buNone/>
              <a:defRPr sz="1000"/>
            </a:lvl5pPr>
            <a:lvl6pPr marL="2286071" indent="0">
              <a:buNone/>
              <a:defRPr sz="1000"/>
            </a:lvl6pPr>
            <a:lvl7pPr marL="2743285" indent="0">
              <a:buNone/>
              <a:defRPr sz="1000"/>
            </a:lvl7pPr>
            <a:lvl8pPr marL="3200500" indent="0">
              <a:buNone/>
              <a:defRPr sz="1000"/>
            </a:lvl8pPr>
            <a:lvl9pPr marL="3657714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C6335C-F245-4DBF-AB87-CF52425B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8E10BA-FC32-41A7-9FF3-063C6D92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BC50EA-C08B-4A5A-9F35-80C2615B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597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795BF-CC46-4475-A45C-7CB491DB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15863D-4BF9-42A2-8BFF-BB85D458A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1F1E8F-264F-4CE4-A688-EECF1338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39968-2D48-4270-971C-FF6F01A2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B174BD-7ED2-4B56-BCAF-691B62F1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690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B5B286-4626-4BE2-9201-F68526A05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8E7DEF-557D-4E6E-B883-2CB9A5379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05ED10-6D48-4B8B-AD0A-9A052253A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1639A6-A8EA-40F7-9D8B-70AC9489D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FCC51A-DCAD-44BA-ACF2-B7AC3886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2983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86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43A0D-AE51-48B8-942C-5F67A5267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07E06E-920B-48CB-8DB4-84794A307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29D85-A1BA-451C-A408-20F105A66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D5EA0-F549-449E-88B2-E0505F5A634C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0179D6-1475-4BAE-BAF1-1751EB7D5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79240-C05E-43D6-976C-9ED409A01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281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2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8" indent="-228608" algn="l" defTabSz="91442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2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6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50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65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9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93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07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22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8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3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7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1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85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0" y="2628113"/>
            <a:ext cx="12192000" cy="1601774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15-mashg‘ulot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Amaliy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vorislikdan</a:t>
            </a:r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foydalanish</a:t>
            </a:r>
            <a:endParaRPr lang="en-US" sz="4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610856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4210954" y="2632672"/>
            <a:ext cx="3770091" cy="214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1940855" y="-61310"/>
            <a:ext cx="8310287" cy="763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vorislikdan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foydalanish</a:t>
            </a:r>
            <a:endParaRPr lang="en-US" sz="4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3B73B8F-F4E1-4444-94F1-884870BC4540}"/>
              </a:ext>
            </a:extLst>
          </p:cNvPr>
          <p:cNvCxnSpPr/>
          <p:nvPr/>
        </p:nvCxnSpPr>
        <p:spPr>
          <a:xfrm>
            <a:off x="0" y="5826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2BE474-6F1F-4105-B360-9624092E8C00}"/>
              </a:ext>
            </a:extLst>
          </p:cNvPr>
          <p:cNvSpPr/>
          <p:nvPr/>
        </p:nvSpPr>
        <p:spPr>
          <a:xfrm>
            <a:off x="457200" y="905246"/>
            <a:ext cx="11277600" cy="5677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Ta’rif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imkoniyatini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mexanizm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(subclass, child)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ota-klass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(superclass, parent)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meros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Sintaksis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ota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bola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Afzalliklari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hayotdagi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ierarxiyalarni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 -&gt; Employee)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(overriding)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Polimorfizm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3600765" y="-56985"/>
            <a:ext cx="49904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lang="en-US" sz="36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(Inheritance)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091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24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5891AA-6D91-4A66-8FD5-4A9F5AEF9F31}"/>
              </a:ext>
            </a:extLst>
          </p:cNvPr>
          <p:cNvSpPr/>
          <p:nvPr/>
        </p:nvSpPr>
        <p:spPr>
          <a:xfrm>
            <a:off x="523875" y="592275"/>
            <a:ext cx="11144250" cy="5206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"Name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works"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Name: Tom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Tom works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11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35574"/>
            <a:ext cx="568642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sound()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ovoz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chiqaradigan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sound()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(override)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"Woof!"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6701" y="3150182"/>
            <a:ext cx="5467350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generic animal 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Woof!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Woof!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040254"/>
            <a:ext cx="58388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odamlarni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ifodalashtirsin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LID4096" dirty="0">
                <a:solidFill>
                  <a:srgbClr val="C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 am studying"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xabarini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obyektidan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6" y="3150182"/>
            <a:ext cx="5838824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studying"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 is studying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3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0"/>
            <a:ext cx="568642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odamning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7" y="0"/>
            <a:ext cx="583882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ierarxiyasini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So‘ngra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3555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Dilshod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Dilshod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5000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48343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Zafar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Zafar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8000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IT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02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2239816" y="10477"/>
            <a:ext cx="771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351" y="721399"/>
            <a:ext cx="11635674" cy="60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600"/>
              </a:spcBef>
            </a:pP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Python’dagi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methods — double underscore methods) —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klasslarga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xatti-harakatlarni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beradigan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metodlardir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doim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chiziq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boshlanib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tugaydi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__init__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konstruktor, obyekt yaratilganda ishga tushadi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__str__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matn ko‘rinishida qaytaradi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print()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chaqirilganda)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__repr__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obyektning texnik ko‘rinishi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debug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uchun)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__len__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len(obj)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chaqirilganda ishlaydi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__getitem__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indeks bo‘yicha obyekt elementini olish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obj[0]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__setitem__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indeks bo‘yicha qiymatni o‘zgartirish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obj[1] = x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__delitem__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elementni o‘chirish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del obj[2]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__iter__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__next__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iterator qilish (for siklda ishlatish)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__contains__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operatorini ishlatish uchun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__eq__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__lt__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__gt__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taqqoslash operatorlari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==, &lt;, &gt;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__add__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__sub__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__mul__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__truediv__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arifmetik operatorlar uchun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__call__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funksiya kabi chaqirish imkoniyati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__enter__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__exit__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konteks menejer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with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operatori)</a:t>
            </a:r>
          </a:p>
        </p:txBody>
      </p:sp>
    </p:spTree>
    <p:extLst>
      <p:ext uri="{BB962C8B-B14F-4D97-AF65-F5344CB8AC3E}">
        <p14:creationId xmlns:p14="http://schemas.microsoft.com/office/powerpoint/2010/main" val="1546250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1D52F5A-7F4D-4878-9D18-627C2AC5EC33}"/>
              </a:ext>
            </a:extLst>
          </p:cNvPr>
          <p:cNvSpPr/>
          <p:nvPr/>
        </p:nvSpPr>
        <p:spPr>
          <a:xfrm>
            <a:off x="561975" y="843766"/>
            <a:ext cx="1106805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Vazifasi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biz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operatorlarning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obyektlariga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ta’minlaymiz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print(obj)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obj1 + obj2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obj1 == obj2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__eq__()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8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DE2403B-9AFA-43CE-9EC8-3A750C543860}"/>
              </a:ext>
            </a:extLst>
          </p:cNvPr>
          <p:cNvSpPr/>
          <p:nvPr/>
        </p:nvSpPr>
        <p:spPr>
          <a:xfrm>
            <a:off x="885824" y="151179"/>
            <a:ext cx="10420352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M" sz="24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__(self, ...)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__del__(self)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o‘chirayotganda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__str__(self)</a:t>
            </a:r>
            <a:r>
              <a:rPr lang="en-US" sz="12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– print(obj)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repr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aniqroq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qaytaradi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(debug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O‘lcham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elementlarga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murojaat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len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obj[index]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setitem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index, value)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obj[index] = value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delitem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obj[index]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Operatorlarni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__add__(self,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__sub__(self,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mul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truediv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__eq__(self,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lt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Chaqiriladigan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__call__(self, ...)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606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194A83-9112-4E9F-AFDE-F26BD302DE51}"/>
              </a:ext>
            </a:extLst>
          </p:cNvPr>
          <p:cNvSpPr/>
          <p:nvPr/>
        </p:nvSpPr>
        <p:spPr>
          <a:xfrm>
            <a:off x="742950" y="0"/>
            <a:ext cx="10706100" cy="5925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"Vector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)"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Vector(2, 3)  -&gt; __str__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5             -&gt; __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Vector(6, 8)  -&gt; __add__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05E2FD-8D0D-4DE0-823B-9EDEE8311601}"/>
              </a:ext>
            </a:extLst>
          </p:cNvPr>
          <p:cNvSpPr/>
          <p:nvPr/>
        </p:nvSpPr>
        <p:spPr>
          <a:xfrm>
            <a:off x="285750" y="6286970"/>
            <a:ext cx="1162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👉</a:t>
            </a:r>
            <a:r>
              <a:rPr lang="en-UM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Xullas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ta’minlaydi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710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12573"/>
            <a:ext cx="56864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saqlansin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6701" y="3150182"/>
            <a:ext cx="5467350" cy="330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"Book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Book: Python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178754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jamoa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a’zolari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6" y="3150182"/>
            <a:ext cx="5838824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3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49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123110"/>
            <a:ext cx="56864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vektorda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koordinatalar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 + v2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bajarilganda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vektor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koordinatalari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ikkalasi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3110"/>
            <a:ext cx="583882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obj[0]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setitem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obj[1] = 95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4398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"Vector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Vector(7, 10)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42069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setitem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80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95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7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2239816" y="10477"/>
            <a:ext cx="79690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(Class Attributes)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99" y="882233"/>
            <a:ext cx="116356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600"/>
              </a:spcBef>
            </a:pPr>
            <a:r>
              <a:rPr lang="en-US" altLang="LID4096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Ta’rif</a:t>
            </a:r>
            <a:r>
              <a:rPr lang="en-US" altLang="LID4096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klassning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o‘ziga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atributlardir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yaratilmasin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hammasi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xususiyatidan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🔑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__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metodida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self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CBD7E3-0F55-4025-834C-1E9299A7A340}"/>
              </a:ext>
            </a:extLst>
          </p:cNvPr>
          <p:cNvSpPr/>
          <p:nvPr/>
        </p:nvSpPr>
        <p:spPr>
          <a:xfrm>
            <a:off x="478972" y="3211933"/>
            <a:ext cx="6078582" cy="3360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7E0E76-E074-49A3-886A-7483A64E3F6A}"/>
              </a:ext>
            </a:extLst>
          </p:cNvPr>
          <p:cNvSpPr/>
          <p:nvPr/>
        </p:nvSpPr>
        <p:spPr>
          <a:xfrm>
            <a:off x="6818811" y="4412121"/>
            <a:ext cx="51380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543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A58C0B-D4F2-4C79-BCAA-D2211C5CB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17" y="1262548"/>
            <a:ext cx="11303726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 xususiyatini o‘zgartirish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DeepMind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 xususiyatini </a:t>
            </a: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 nomi orqali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o‘zgartirsak, barcha obyektlarga ta’sir qiladi.</a:t>
            </a:r>
            <a:endParaRPr kumimoji="0" lang="en-US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 orqali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o‘zgart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irsak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e1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shiladi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Test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o‘zgarmaydi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LID4096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193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12573"/>
            <a:ext cx="56864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 = 4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mashinalarda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g‘ildirak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Bir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g‘ildiraklar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1937" y="2803932"/>
            <a:ext cx="5467350" cy="3493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BMW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Mercedes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BMW 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Mercedes 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178754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"National Bank"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Bir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462715" y="2585923"/>
            <a:ext cx="5838824" cy="4170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National Bank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 1000 National Bank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Vali 500 National Bank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85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123111"/>
            <a:ext cx="56864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"</a:t>
            </a:r>
            <a:r>
              <a:rPr lang="en-US" altLang="LID4096" sz="1600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kuzating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3111"/>
            <a:ext cx="583882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4141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e1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Tom Test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Alice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38853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Har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Jami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studentlar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3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25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5323994" y="-23275"/>
            <a:ext cx="15440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14" y="1658230"/>
            <a:ext cx="1160417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LID4096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orasida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ierarxik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munosabatlarni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LID4096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24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24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LID4096" sz="24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4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4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24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sz="24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ishlashga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moslashtiradi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LID4096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ma’lumotni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boshqarishga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altLang="LID4096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1736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5323994" y="-23275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Vazifa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D231A2E5-A835-40EC-906F-28F6F0B84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12" y="1452593"/>
            <a:ext cx="1170083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endParaRPr kumimoji="0" lang="en-US" altLang="LID4096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Transport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nomli ota klass va undan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Car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Bike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kabi voris klasslar yarating. Har birida umumiy metod 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move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va voris klasslarga xos metodlar 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honk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pedal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bo‘lsin. Ularni obyektlar orqali chaqirib, vorislik qanday ishlashini ko‘rsating.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Maxsus metodlar</a:t>
            </a:r>
            <a:endParaRPr kumimoji="0" lang="en-US" altLang="LID4096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 nomli klass yarating. Unda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__init__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__str__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__add__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metodlarini yozing. Ikki vektor obyektini qo‘shib natijani ekranga chiqarishni sinab ko‘ring.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Klass xususiyatlari</a:t>
            </a:r>
            <a:endParaRPr kumimoji="0" lang="en-US" altLang="LID4096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nomli klass yarating. Umumiy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count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klass atributi orqali nechta obyekt yaratilganini hisoblang. Har safar yangi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yaratilganda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count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birga oshib borishini ta’minlang.</a:t>
            </a:r>
          </a:p>
        </p:txBody>
      </p:sp>
    </p:spTree>
    <p:extLst>
      <p:ext uri="{BB962C8B-B14F-4D97-AF65-F5344CB8AC3E}">
        <p14:creationId xmlns:p14="http://schemas.microsoft.com/office/powerpoint/2010/main" val="358954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476</TotalTime>
  <Words>3315</Words>
  <Application>Microsoft Office PowerPoint</Application>
  <PresentationFormat>Широкоэкранный</PresentationFormat>
  <Paragraphs>338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0" baseType="lpstr">
      <vt:lpstr>Arial</vt:lpstr>
      <vt:lpstr>Arial Unicode MS</vt:lpstr>
      <vt:lpstr>Calibri</vt:lpstr>
      <vt:lpstr>Calibri Light</vt:lpstr>
      <vt:lpstr>Consolas</vt:lpstr>
      <vt:lpstr>Courier New</vt:lpstr>
      <vt:lpstr>Segoe UI Emoji</vt:lpstr>
      <vt:lpstr>Symbol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129</cp:revision>
  <dcterms:created xsi:type="dcterms:W3CDTF">2025-09-05T05:49:43Z</dcterms:created>
  <dcterms:modified xsi:type="dcterms:W3CDTF">2025-10-08T06:35:18Z</dcterms:modified>
</cp:coreProperties>
</file>