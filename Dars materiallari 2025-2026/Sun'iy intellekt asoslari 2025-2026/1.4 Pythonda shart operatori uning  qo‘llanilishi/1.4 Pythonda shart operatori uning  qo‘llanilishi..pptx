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8" r:id="rId2"/>
    <p:sldId id="289" r:id="rId3"/>
    <p:sldId id="256" r:id="rId4"/>
    <p:sldId id="267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9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279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FDBA31-EFBE-46A7-A26B-AB54B46410B2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25C61E-F37B-4EB6-AAD9-1F9D5F927E0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1037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B77C4-3FBC-4E95-AC04-E9856704040F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6F64B-5070-4FEF-8727-9CA63F1FCA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ADBBE1-FEC5-4BD0-BB6A-BD5B71365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7B650B-87A2-4A19-B95F-6A70B4A36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8D4C5E-8226-4C7E-81BA-67DC674C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026E90-4C81-4462-8FEF-601D532E8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4129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C82370-23D8-4007-9FFF-3E193066A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8FBC1C-1163-4F2A-98F8-8593F41A04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CB415-9F28-46E9-ABCE-2EC27EE53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DE5028-7992-4B01-AF33-BE57E87CF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A07E95-6D79-4FA5-8F7F-8A9E17A60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35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B59A3C-4122-4805-8208-6E7DC4005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6CB4227-F23B-44BC-85E7-123F1F0F3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256487-5DFD-4D02-9E56-7C2B04D0B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AC56E5-21C7-4E5B-A6F3-EE44760B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58AC02-3D64-4A49-92FA-4F7EB15E8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127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0362E-85BA-42CE-857F-3C5AE85CB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956400-416A-4930-B62C-0A0DF9606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E91A69D-6A3F-4325-8178-C99B3678A1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AC6171-CB68-4BE7-83F3-A609B8540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8B553E-1D79-4F65-B2D0-537B0BD5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839820-2ABD-4CE8-A6F8-21F7BEE97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344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E5F188-A03A-40BF-A609-C5BA5C17D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67483F-07DE-457C-A294-EF09B0710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0C9E88F-396E-45CE-A84A-CA8A64764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D39518B-4723-436A-9D33-31317D53C8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245B5F7-B40A-49AA-8411-559928664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B640E1D-6D81-4544-A05B-01FA0F628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1D74B3-3831-4155-BD61-AB3FF6CE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3888E3F-697F-42E4-8E8E-206E067A5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9572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50891-2B7B-49FA-9338-DE737ECAB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A8B512C-4089-4266-8528-4332F9B10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A021DC-392B-4681-9F80-78B7E6779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9CAD60A-745F-44F7-8931-F0A5154B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65643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4CAE210-860B-41AB-B8F7-1616363C8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BB344DD-42E5-420D-86DB-35FB48E10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1D02B6-9699-402F-A043-45B0356B6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2930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05F5C-44D5-402B-87EC-ABF35F931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17A975-2BC6-4E20-97E4-0D3E4BDEC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DE4A92-68AA-4BEB-96F0-CFEAE9701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465BF4-EBDA-42E4-8B24-92657E680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A0EA0CC-A27E-4326-8BE8-A0C1F648B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83D0590-5C52-49FE-AADE-368C4D69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756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32B4C0-A199-4110-BF2A-2B6CBD03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E012EB1-B061-4A33-8706-2D5D4BF99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CA4D4A-388B-4C77-A416-ECA59273E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FC0E61-255D-482E-870D-4C041F71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784C5A-AA03-4729-B637-B7EC4D983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547EDC-7EC6-4079-A73F-6E407EF2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9430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D68DC4-F156-4376-8AAB-50AF7A97C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135025-FEEE-408F-AD44-517704B14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D2D774-8A2B-4CE6-BDA7-0D9C24AA9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B1DCB0-8B23-4C64-AFA7-A5F4D8C7F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4A7194-66BF-4F03-92F3-621D5246D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2264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B66C1EB-C809-472A-B4D6-7AD0374C9C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5CCA3B-3550-42A1-9352-CED4511FCD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32A5C3-6B0C-44D9-84E4-3A425241C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0052B0-7090-4451-924E-36894D3D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A3E752-514B-43B3-8CAB-53163C56D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25099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436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062AE3-BDA2-417D-B7BA-69C8A3AB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18DB66-8FF1-4418-B89E-BBD5CF2B1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CB5B86-2333-460C-BC47-66108D01BB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041C-2690-4083-809D-2EECBE4E588E}" type="datetimeFigureOut">
              <a:rPr lang="LID4096" smtClean="0"/>
              <a:t>09/16/2025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2EBDFB-1CC8-45B3-93C1-C5CC2D9DC3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09F07F-EFEC-4CF9-BDCE-CBA743133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5066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 flipV="1">
            <a:off x="1643182" y="4136127"/>
            <a:ext cx="9137268" cy="60959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Прямоугольник 10"/>
          <p:cNvSpPr/>
          <p:nvPr/>
        </p:nvSpPr>
        <p:spPr>
          <a:xfrm>
            <a:off x="5139796" y="6307447"/>
            <a:ext cx="1661480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67" b="1" dirty="0">
                <a:latin typeface="Times New Roman" pitchFamily="18" charset="0"/>
                <a:cs typeface="Times New Roman" pitchFamily="18" charset="0"/>
              </a:rPr>
              <a:t>Toshkent 2025</a:t>
            </a:r>
            <a:endParaRPr lang="ru-RU" sz="1867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83360" y="306896"/>
            <a:ext cx="11617291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HARBIY XAVFSIZLIK VA MUDOFAA UNIVERSITETINING</a:t>
            </a:r>
          </a:p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AXBOROT-KOMMUNIKATSIYA TEXNOLOGIYALARI VA HARBIY ALOQA INSTITUTI</a:t>
            </a:r>
            <a:endParaRPr lang="ru-RU" sz="2133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99451" y="2642960"/>
            <a:ext cx="9985109" cy="74879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133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1-MAVZU: “SUN’IY INTELLEKT ASOSLARI” FANIGA KIRISH VA ASOSIY TUSHUNCHALARI</a:t>
            </a:r>
            <a:endParaRPr lang="ru-RU" sz="2133" b="1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57E156E-2862-45AA-B671-E1C5EDE84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011" y="4801068"/>
            <a:ext cx="5999989" cy="995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O‘qituvchi</a:t>
            </a:r>
            <a:r>
              <a:rPr lang="uz-Cyrl-UZ" sz="1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:  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Axborot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texnologiyalari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kafedrasi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sikli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boshlig‘i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b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133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kapitan</a:t>
            </a:r>
            <a:r>
              <a:rPr lang="en-US" sz="2133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Isakov M.M. </a:t>
            </a:r>
            <a:endParaRPr lang="en-US" sz="1867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92E08AD-28C1-45D0-8240-CDB331085D6D}"/>
              </a:ext>
            </a:extLst>
          </p:cNvPr>
          <p:cNvSpPr/>
          <p:nvPr/>
        </p:nvSpPr>
        <p:spPr>
          <a:xfrm>
            <a:off x="505097" y="205548"/>
            <a:ext cx="11242766" cy="22621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NATO “Eastern Sentry”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Sharqiy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Qo‘riqchi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operatsiyasini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boshladi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Vaziyat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12-sentabr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NATO,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Polsha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hududiga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kirgan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Rossiya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dronlariga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javoban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“Eastern Sentry”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nomli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operatsiyani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tushirdi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Operatsiya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sharqiy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flangini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mustahkamlashga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qaratilgan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bo‘lib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Fransiya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Buyuk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Britaniya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Germaniya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davlatlarning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kuchlari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jalb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qilindi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spcBef>
                <a:spcPts val="60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Ta’siri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Ushbu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voqea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Markaziy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Osiyo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davlatlarining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xavfsizlik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siyosatiga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ta’sir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qilishi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sharqiy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flangini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mustahkamlashga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qaratilgan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harakatlari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mintaqadagi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geosiyosiy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muvozanatni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o‘zgartirishi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spcBef>
                <a:spcPts val="60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Manba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Reuters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86F3940-A8EF-463D-B20C-ECDFF0831271}"/>
              </a:ext>
            </a:extLst>
          </p:cNvPr>
          <p:cNvSpPr/>
          <p:nvPr/>
        </p:nvSpPr>
        <p:spPr>
          <a:xfrm>
            <a:off x="505097" y="4390295"/>
            <a:ext cx="805542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Yanukovichga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Yevroittifoq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sanksiyalarini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bekor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qilishda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javobi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berdi</a:t>
            </a:r>
            <a:endParaRPr lang="en-US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104C84-BD95-425E-8FA8-F9C474190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2654" y="3429000"/>
            <a:ext cx="3104878" cy="2076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3938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9BFC1A9-62DE-4C48-BB79-E5A5081D32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967E9">
              <a:alpha val="80000"/>
            </a:srgbClr>
          </a:solidFill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B83EC17-E5ED-489B-A896-839B6D9C4378}"/>
              </a:ext>
            </a:extLst>
          </p:cNvPr>
          <p:cNvSpPr/>
          <p:nvPr/>
        </p:nvSpPr>
        <p:spPr>
          <a:xfrm>
            <a:off x="152400" y="1992709"/>
            <a:ext cx="11887200" cy="137698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1-mavzu. 4-mashg‘ulot:</a:t>
            </a:r>
          </a:p>
          <a:p>
            <a:pPr algn="ctr">
              <a:lnSpc>
                <a:spcPts val="5550"/>
              </a:lnSpc>
            </a:pP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shart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operatori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uning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qo‘llanilishi</a:t>
            </a:r>
            <a:endParaRPr lang="en-US" sz="4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75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C05110-FBAF-4E5C-8D69-806EC9F87D1F}"/>
              </a:ext>
            </a:extLst>
          </p:cNvPr>
          <p:cNvSpPr/>
          <p:nvPr/>
        </p:nvSpPr>
        <p:spPr>
          <a:xfrm>
            <a:off x="4210954" y="1511760"/>
            <a:ext cx="3770091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708"/>
              </a:lnSpc>
            </a:pP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O‘quv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savollari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51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shart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operatori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uning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qo‘llanilishi</a:t>
            </a:r>
            <a:endParaRPr lang="en-US" sz="36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1">
            <a:extLst>
              <a:ext uri="{FF2B5EF4-FFF2-40B4-BE49-F238E27FC236}">
                <a16:creationId xmlns:a16="http://schemas.microsoft.com/office/drawing/2014/main" id="{7AABC1BB-28A2-417B-BDFA-3C28B11067A8}"/>
              </a:ext>
            </a:extLst>
          </p:cNvPr>
          <p:cNvSpPr/>
          <p:nvPr/>
        </p:nvSpPr>
        <p:spPr>
          <a:xfrm>
            <a:off x="452845" y="2143231"/>
            <a:ext cx="11286310" cy="164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	IF, IF-ELSE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IF-ELIF-ELSE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	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mantiqiy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ifodalar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(and, or, not)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qo‘llanilishi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	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Ichma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-ich (nested) IF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operatorlaridan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foydalanish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ularning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afzallik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kamchiliklari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9230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150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28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1.	IF, IF-ELSE </a:t>
            </a:r>
            <a:r>
              <a:rPr lang="en-US" sz="28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va</a:t>
            </a:r>
            <a:r>
              <a:rPr lang="en-US" sz="28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IF-ELIF-ELSE </a:t>
            </a:r>
            <a:r>
              <a:rPr lang="en-US" sz="28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operatorlari</a:t>
            </a:r>
            <a:r>
              <a:rPr lang="en-US" sz="28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.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31B9E08-B150-477B-8C5D-0265F769559C}"/>
              </a:ext>
            </a:extLst>
          </p:cNvPr>
          <p:cNvSpPr/>
          <p:nvPr/>
        </p:nvSpPr>
        <p:spPr>
          <a:xfrm>
            <a:off x="1249680" y="1422845"/>
            <a:ext cx="9692640" cy="38985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IF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“Agar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quyidagi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20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True </a:t>
            </a:r>
            <a:r>
              <a:rPr lang="en-US" sz="20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bajariladi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20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20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 son </a:t>
            </a:r>
            <a:r>
              <a:rPr lang="en-US" sz="20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&gt; 0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“Bu son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Agar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yolg‘on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hech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chiqmaydi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4865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D09C7DE-609A-4841-A8CF-909FFF911446}"/>
              </a:ext>
            </a:extLst>
          </p:cNvPr>
          <p:cNvSpPr/>
          <p:nvPr/>
        </p:nvSpPr>
        <p:spPr>
          <a:xfrm>
            <a:off x="896983" y="552833"/>
            <a:ext cx="10398034" cy="52937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8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IF-ELSE </a:t>
            </a:r>
            <a:r>
              <a:rPr lang="en-US" sz="28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“Agar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biror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bo‘lmasa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bajarilsin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True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False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yoshli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Voyaga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yetmagan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18 dan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bo‘lgani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Voyaga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yetmagan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446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D36A87C-FE3B-44F1-99DE-5B9FEDF32C70}"/>
              </a:ext>
            </a:extLst>
          </p:cNvPr>
          <p:cNvSpPr/>
          <p:nvPr/>
        </p:nvSpPr>
        <p:spPr>
          <a:xfrm>
            <a:off x="566057" y="997692"/>
            <a:ext cx="6096000" cy="4716356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IF-ELIF-ELSE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nechta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ketma-ket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so‘zi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agar”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degani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Qoidasi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birinchi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topilgach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qolganlari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tekshirilmaydi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shart2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shart3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350FDF2-72CD-45C7-A92A-F5762E63D9C0}"/>
              </a:ext>
            </a:extLst>
          </p:cNvPr>
          <p:cNvSpPr/>
          <p:nvPr/>
        </p:nvSpPr>
        <p:spPr>
          <a:xfrm>
            <a:off x="6775269" y="997692"/>
            <a:ext cx="5024845" cy="3806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83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90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 = 83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bo‘lgani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“B”.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097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957144F-8EEA-4023-B0C9-420828CDA360}"/>
              </a:ext>
            </a:extLst>
          </p:cNvPr>
          <p:cNvSpPr/>
          <p:nvPr/>
        </p:nvSpPr>
        <p:spPr>
          <a:xfrm>
            <a:off x="1132114" y="606880"/>
            <a:ext cx="9927772" cy="4644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Muhim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jihatlar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Indentatsiya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chekinish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majburiy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Python’da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bloklarni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ajratish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4 ta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bo‘shliq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ishlatiladi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Faqat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tarmoq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if-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shartlardan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bittasi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ixtiyoriy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lekin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hamma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holatlar”ni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qamrab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qulay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qaytaruvchi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Masalan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% 2 == 0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&gt;= 18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algn="just">
              <a:spcBef>
                <a:spcPts val="600"/>
              </a:spcBef>
              <a:spcAft>
                <a:spcPts val="600"/>
              </a:spcAft>
              <a:tabLst>
                <a:tab pos="457200" algn="l"/>
              </a:tabLst>
            </a:pP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yozuv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(ternary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bitta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qator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status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x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305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097DB7-CAB6-4937-9A46-F53B82CFC335}"/>
              </a:ext>
            </a:extLst>
          </p:cNvPr>
          <p:cNvSpPr/>
          <p:nvPr/>
        </p:nvSpPr>
        <p:spPr>
          <a:xfrm>
            <a:off x="5108069" y="0"/>
            <a:ext cx="1975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b="1" kern="18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Amaliy</a:t>
            </a:r>
            <a:r>
              <a:rPr lang="en-US" b="1" kern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kern="18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Mashqlar</a:t>
            </a:r>
            <a:r>
              <a:rPr lang="en-US" b="1" kern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7523467-9816-4699-B456-E84699338A41}"/>
              </a:ext>
            </a:extLst>
          </p:cNvPr>
          <p:cNvSpPr/>
          <p:nvPr/>
        </p:nvSpPr>
        <p:spPr>
          <a:xfrm>
            <a:off x="165463" y="573313"/>
            <a:ext cx="565186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haqiqiy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manfiy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Manfiy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(0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30EEA1B-2588-4B5E-AFBB-CF90F07D3DEB}"/>
              </a:ext>
            </a:extLst>
          </p:cNvPr>
          <p:cNvSpPr/>
          <p:nvPr/>
        </p:nvSpPr>
        <p:spPr>
          <a:xfrm>
            <a:off x="165463" y="2038586"/>
            <a:ext cx="5651863" cy="1621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Manfiy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8A18FB7-503A-4820-8620-DFD9DE51995D}"/>
              </a:ext>
            </a:extLst>
          </p:cNvPr>
          <p:cNvSpPr/>
          <p:nvPr/>
        </p:nvSpPr>
        <p:spPr>
          <a:xfrm>
            <a:off x="165463" y="3768518"/>
            <a:ext cx="565186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butun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F7CC63E-CE0F-4AF1-8DA5-30EFCFEAA149}"/>
              </a:ext>
            </a:extLst>
          </p:cNvPr>
          <p:cNvSpPr/>
          <p:nvPr/>
        </p:nvSpPr>
        <p:spPr>
          <a:xfrm>
            <a:off x="165463" y="5036476"/>
            <a:ext cx="5651863" cy="1621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Toq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7AF346F-C8D1-4BAA-87FA-9A205F9EBA8E}"/>
              </a:ext>
            </a:extLst>
          </p:cNvPr>
          <p:cNvSpPr/>
          <p:nvPr/>
        </p:nvSpPr>
        <p:spPr>
          <a:xfrm>
            <a:off x="6374674" y="573313"/>
            <a:ext cx="565186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satrining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uzunligi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kamida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8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belgi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ravishda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Juda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DDD5DF6-83E5-4831-9681-417966A12C84}"/>
              </a:ext>
            </a:extLst>
          </p:cNvPr>
          <p:cNvSpPr/>
          <p:nvPr/>
        </p:nvSpPr>
        <p:spPr>
          <a:xfrm>
            <a:off x="6374674" y="1759149"/>
            <a:ext cx="6096000" cy="162127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qwerty123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qilindi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Juda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545241C-0C14-4D8F-B3A0-E5BB9550FAB9}"/>
              </a:ext>
            </a:extLst>
          </p:cNvPr>
          <p:cNvSpPr/>
          <p:nvPr/>
        </p:nvSpPr>
        <p:spPr>
          <a:xfrm>
            <a:off x="6374674" y="3768518"/>
            <a:ext cx="565186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sonlaridan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kattasini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89488DC-F140-49D6-AD15-B5C0133072D5}"/>
              </a:ext>
            </a:extLst>
          </p:cNvPr>
          <p:cNvSpPr/>
          <p:nvPr/>
        </p:nvSpPr>
        <p:spPr>
          <a:xfrm>
            <a:off x="6374673" y="4475812"/>
            <a:ext cx="5651863" cy="22881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898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8B46C13-18D6-4A32-B2A1-CBCCD9A5679B}"/>
              </a:ext>
            </a:extLst>
          </p:cNvPr>
          <p:cNvSpPr/>
          <p:nvPr/>
        </p:nvSpPr>
        <p:spPr>
          <a:xfrm>
            <a:off x="191589" y="678656"/>
            <a:ext cx="561702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5.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yil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yilimi-yo‘qligini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natija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sifatida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emas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—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bu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366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davom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etadi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fevral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oyida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29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;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4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bo‘linib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100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bo‘linmasa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400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bo‘linsa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u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hisoblanadi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ED77E63-8B28-43B7-8822-49FA97B2AB43}"/>
              </a:ext>
            </a:extLst>
          </p:cNvPr>
          <p:cNvSpPr/>
          <p:nvPr/>
        </p:nvSpPr>
        <p:spPr>
          <a:xfrm>
            <a:off x="191589" y="2642467"/>
            <a:ext cx="5617028" cy="29549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72BD6CA-DA52-4119-A737-3B2BBB9E40B2}"/>
              </a:ext>
            </a:extLst>
          </p:cNvPr>
          <p:cNvSpPr/>
          <p:nvPr/>
        </p:nvSpPr>
        <p:spPr>
          <a:xfrm>
            <a:off x="6383383" y="678656"/>
            <a:ext cx="561702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elektr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energiyasi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iste’moli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tariflar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0–100 kWh → 400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/kWh; 101–300 kWh → 500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/kWh; 301+ kWh → 650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/kWh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asosida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umumiy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to‘lovni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hisoblab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FD5CC5F-0894-4D2E-BB04-3836377E1A19}"/>
              </a:ext>
            </a:extLst>
          </p:cNvPr>
          <p:cNvSpPr/>
          <p:nvPr/>
        </p:nvSpPr>
        <p:spPr>
          <a:xfrm>
            <a:off x="6383383" y="2642467"/>
            <a:ext cx="5617028" cy="2801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250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Umumiy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02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D6275C2-4826-4374-A971-D227807152AB}"/>
              </a:ext>
            </a:extLst>
          </p:cNvPr>
          <p:cNvSpPr/>
          <p:nvPr/>
        </p:nvSpPr>
        <p:spPr>
          <a:xfrm>
            <a:off x="182880" y="477522"/>
            <a:ext cx="555606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7.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a, b, c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tomonlarga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uchburchak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hosil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bo‘lishini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tomonli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”, 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yonli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Turli-tomonli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”),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bo‘lmasa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Uchburchak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E25B767-3F57-423C-995B-AB299BE12700}"/>
              </a:ext>
            </a:extLst>
          </p:cNvPr>
          <p:cNvSpPr/>
          <p:nvPr/>
        </p:nvSpPr>
        <p:spPr>
          <a:xfrm>
            <a:off x="182880" y="2714523"/>
            <a:ext cx="5556069" cy="3281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tomonli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Turli-tomonli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Uchburchak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D4559C5-832E-4AC6-8A4B-910B3AB77C45}"/>
              </a:ext>
            </a:extLst>
          </p:cNvPr>
          <p:cNvSpPr/>
          <p:nvPr/>
        </p:nvSpPr>
        <p:spPr>
          <a:xfrm>
            <a:off x="6453050" y="477522"/>
            <a:ext cx="55560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8.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orasidan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kattasi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ham,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ham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54AA720-CDCD-4F92-B965-BEBEA11D7679}"/>
              </a:ext>
            </a:extLst>
          </p:cNvPr>
          <p:cNvSpPr/>
          <p:nvPr/>
        </p:nvSpPr>
        <p:spPr>
          <a:xfrm>
            <a:off x="6453050" y="1346057"/>
            <a:ext cx="5556069" cy="2614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uchta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2F4EA18-3808-42C0-B5B1-74E762404F67}"/>
              </a:ext>
            </a:extLst>
          </p:cNvPr>
          <p:cNvSpPr/>
          <p:nvPr/>
        </p:nvSpPr>
        <p:spPr>
          <a:xfrm>
            <a:off x="6453050" y="4781915"/>
            <a:ext cx="5556069" cy="12810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</a:t>
            </a:r>
            <a:r>
              <a:rPr lang="es-E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misol uchun uchta son</a:t>
            </a: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orta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min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s-E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 son: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orta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s-E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09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030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2-o‘quv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savoli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Shart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operatorlarida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mantiqiy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ifodalar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(and, or, not)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ning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qo‘llanilishi</a:t>
            </a:r>
            <a:endParaRPr lang="en-US" sz="2400" b="1" dirty="0">
              <a:latin typeface="Times New Roman" panose="02020603050405020304" pitchFamily="18" charset="0"/>
              <a:ea typeface="Corben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7FE75BBA-A7E4-4C05-B538-AABF4E52E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161" y="1088972"/>
            <a:ext cx="1146637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Python’da shart operatorlari faqat bitta shartni emas, balki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 nechta shartlarni birlashtirib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tekshirishga ham imkon beradi. Bunda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 operatorlar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—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kumimoji="0" lang="LID4096" altLang="LID4096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ishlatiladi. Ular shartlar orasida bog‘lovchi vazifasini bajaradi.</a:t>
            </a:r>
            <a:endParaRPr kumimoji="0" lang="LID4096" altLang="LID4096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38158D69-91CD-4965-A174-6A54DB36A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161" y="2312659"/>
            <a:ext cx="5492290" cy="4088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ikkala shart ham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bo‘lsa, natija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 holda —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Ishga qabul qilinadi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Talabga javob bermaydi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Ishga qabul qilinadi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(ikkala shart ham rost bo‘lgani uchun).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CDA6121E-DB74-4C41-B586-54C06BBEE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312659"/>
            <a:ext cx="5956791" cy="3411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shartlardan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kamida bittasi rost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bo‘lsa, natija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Faqat hammasi yolg‘on bo‘lsa —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 o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 olmadi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 o‘tdi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(chunki ikkinchi shart rost).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17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10411-1809-49DD-9F2F-F5B7CCDAE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6" y="164996"/>
            <a:ext cx="5364481" cy="4303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not operatori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shartni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teskari qiymatga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o‘zgartiradi.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 True → False, not False → True.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""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 kiritilmadi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 qabul qilindi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Natija: "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Parol kiritilmadi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" (bo‘sh satr False,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not False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→ True).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072AC6-99F7-4087-B6F1-BE4DA538A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6034" y="164996"/>
            <a:ext cx="6181500" cy="368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4. Bir nechta operatorlarni birlashtirish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 operatorlar yordamida murakkabroq shartlarni yozish mumkin.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85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75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Grant asosida o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qishga qabul qilindi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 qilinmadi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Natija: "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Grant asosida o‘qishga qabul qilindi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DBCCFB-2EE5-48ED-BEA6-5D60F37DAC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0971" y="4600123"/>
            <a:ext cx="9710057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Muhim eslatmalar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ikkala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shartni tekshiradi, ikkinchisi faqat birinchisi rost bo‘lsa qaraladi.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bittasi rost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 yetarli, qolganlari tekshirilmaydi.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 shartni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inkor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qiladi, ya’ni natijani teskari qiladi.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Murakkab shartlarda qavslar (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orqali ifodani aniq ko‘rsatish tavsiya etiladi.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495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77C35BE-CEFB-4EBE-8252-84F9E8474E9F}"/>
              </a:ext>
            </a:extLst>
          </p:cNvPr>
          <p:cNvSpPr/>
          <p:nvPr/>
        </p:nvSpPr>
        <p:spPr>
          <a:xfrm>
            <a:off x="5053887" y="0"/>
            <a:ext cx="208422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Amaliy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mashqlar</a:t>
            </a:r>
            <a:endParaRPr lang="en-US" sz="2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EE49607-D77C-4B2F-B230-0369BFB3D2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8" y="403716"/>
            <a:ext cx="4511039" cy="764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1-savol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deb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33D060-C4A6-40D4-A4BF-6D557CE1B445}"/>
              </a:ext>
            </a:extLst>
          </p:cNvPr>
          <p:cNvSpPr/>
          <p:nvPr/>
        </p:nvSpPr>
        <p:spPr>
          <a:xfrm>
            <a:off x="365760" y="1304109"/>
            <a:ext cx="5381897" cy="1636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DEBA9F9-7E03-4BF5-BB1C-0EEF6AE4E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8" y="3076864"/>
            <a:ext cx="4511039" cy="764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2-savol: Foydalanuvchining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 18 dan katta yoki u talaba bo‘lsa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</a:t>
            </a:r>
            <a:r>
              <a:rPr kumimoji="0" lang="LID4096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Kirishga ruxsat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chiqaring, aks holda "</a:t>
            </a:r>
            <a:r>
              <a:rPr kumimoji="0" lang="LID4096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 taqiqlanadi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BC5DEEC-D133-427D-A755-8D4A66FD9783}"/>
              </a:ext>
            </a:extLst>
          </p:cNvPr>
          <p:cNvSpPr/>
          <p:nvPr/>
        </p:nvSpPr>
        <p:spPr>
          <a:xfrm>
            <a:off x="261258" y="3944312"/>
            <a:ext cx="6096000" cy="227107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taqiqlanadi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DAD7D09-13C6-43A9-A614-C593A9AA0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7663" y="403716"/>
            <a:ext cx="6515675" cy="764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3-savol: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Foydalanuvchi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o‘tishi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60 dan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hujjati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topshirilgan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bo‘lishi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kerak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O‘ta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B3F723D-FB5A-44E2-ABFB-4E5ED20AF514}"/>
              </a:ext>
            </a:extLst>
          </p:cNvPr>
          <p:cNvSpPr/>
          <p:nvPr/>
        </p:nvSpPr>
        <p:spPr>
          <a:xfrm>
            <a:off x="5147663" y="1198290"/>
            <a:ext cx="6096000" cy="19171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75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hujjat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hujjat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</a:t>
            </a:r>
            <a:r>
              <a:rPr lang="en-US" sz="14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o‘tdi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O‘ta</a:t>
            </a:r>
            <a:r>
              <a:rPr lang="en-US" sz="14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olmadi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9CC64A7B-940F-4A79-A74A-24673F5430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7823" y="3091469"/>
            <a:ext cx="6750018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4-Savol: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Onlayn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do‘kondan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Xarid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yuqori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foydalanuvchi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“Premium”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obunachisi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xarid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500 000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yuqori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ham —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hollarda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DFBB73E-FDA0-4E92-9ECD-7D19FCE5B0C8}"/>
              </a:ext>
            </a:extLst>
          </p:cNvPr>
          <p:cNvSpPr/>
          <p:nvPr/>
        </p:nvSpPr>
        <p:spPr>
          <a:xfrm>
            <a:off x="5017823" y="4833954"/>
            <a:ext cx="6096000" cy="188635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180000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200000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500000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4932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030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3-o‘quv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savoli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Ichma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-ich (nested) IF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operatorlari</a:t>
            </a:r>
            <a:endParaRPr lang="en-US" sz="2400" b="1" dirty="0">
              <a:latin typeface="Times New Roman" panose="02020603050405020304" pitchFamily="18" charset="0"/>
              <a:ea typeface="Corben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A8EBAB2A-5E02-4430-945F-604F588C1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966" y="1593080"/>
            <a:ext cx="5164184" cy="14106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Ichma-ich IF nima?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Ichma-ich IF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bu bir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bloki ichida yana boshqa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ishlatilishi.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Ya’ni bir shart bajarilgandan keyin ichkarida yana boshqa shart tekshiriladi.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E7295DA-59DC-4DD0-BDED-3F4AC57BAC83}"/>
              </a:ext>
            </a:extLst>
          </p:cNvPr>
          <p:cNvSpPr/>
          <p:nvPr/>
        </p:nvSpPr>
        <p:spPr>
          <a:xfrm>
            <a:off x="287383" y="4079659"/>
            <a:ext cx="5181601" cy="11852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Oddiy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sintaksis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shart2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bajariladi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35A2EF6-E445-4755-8680-0804045904ED}"/>
              </a:ext>
            </a:extLst>
          </p:cNvPr>
          <p:cNvSpPr/>
          <p:nvPr/>
        </p:nvSpPr>
        <p:spPr>
          <a:xfrm>
            <a:off x="6723018" y="1472054"/>
            <a:ext cx="5146766" cy="39138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lang="en-US" sz="1600" b="1" dirty="0" err="1">
                <a:solidFill>
                  <a:srgbClr val="1F3763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endParaRPr lang="en-US" sz="1600" b="1" dirty="0">
              <a:solidFill>
                <a:srgbClr val="1F3763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 lang="en-US" sz="1600" b="1" dirty="0">
              <a:solidFill>
                <a:srgbClr val="1F3763"/>
              </a:solidFill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Tajribasi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/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Avval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yosh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Agar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rost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ichkarida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tajriba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ham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697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CCD7A4D-9FAA-4DDE-8179-D7D0283E1DDC}"/>
              </a:ext>
            </a:extLst>
          </p:cNvPr>
          <p:cNvSpPr/>
          <p:nvPr/>
        </p:nvSpPr>
        <p:spPr>
          <a:xfrm>
            <a:off x="3048000" y="314572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Afzalliklari</a:t>
            </a:r>
            <a:endParaRPr lang="en-US" sz="1600" b="1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Murakkab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shartlarni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bosqichma-bosqich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jarayon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ko‘rsatadi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avval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ichida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boshqasi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yozishdan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ba’zi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hollarda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tushunarliroq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bo‘lishi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378EDA-A558-48AB-BBBC-8FC24F115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6336" y="4031191"/>
            <a:ext cx="6339328" cy="12567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Kamchiliklari</a:t>
            </a:r>
            <a:endParaRPr kumimoji="0" lang="LID4096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Ko‘p qavatli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bo‘lsa, kodni o‘qish qiyinlashadi.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 bilan yozish mumkin bo‘lgan joylarda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ichma-ich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kodni ortiqcha murakkablashtiradi.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 loyihalarda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xatolik ehtimoli oshadi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8198B5-268C-4AA7-B8EF-82DAF8AEF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6336" y="2330573"/>
            <a:ext cx="6339328" cy="12567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Qachon ishlatish kerak?</a:t>
            </a:r>
            <a:endParaRPr kumimoji="0" lang="LID4096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bir-biriga bog‘liq bo‘lsa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masalan: avval foydalanuvchi kirganini tekshirish, keyin parolini tekshirish.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shartlar mustaqil bo‘lsa, ichma-ich emas, balki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yoki mantiqiy operatorlar (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)dan foydalanish qulayroq.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117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D32F104-CD2F-4085-A8C6-C32D0558B576}"/>
              </a:ext>
            </a:extLst>
          </p:cNvPr>
          <p:cNvSpPr/>
          <p:nvPr/>
        </p:nvSpPr>
        <p:spPr>
          <a:xfrm>
            <a:off x="5053887" y="0"/>
            <a:ext cx="208422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Amaliy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mashqlar</a:t>
            </a:r>
            <a:endParaRPr lang="en-US" sz="2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75343D1-A48C-4B97-81E4-AC8AF100C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015" y="784513"/>
            <a:ext cx="5900985" cy="1749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to‘lovini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o‘qish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86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yuqori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berilmaydi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to‘lanmagan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huquqi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803D976-984F-47C1-95B3-03BB2FFB4922}"/>
              </a:ext>
            </a:extLst>
          </p:cNvPr>
          <p:cNvSpPr/>
          <p:nvPr/>
        </p:nvSpPr>
        <p:spPr>
          <a:xfrm>
            <a:off x="322216" y="3214196"/>
            <a:ext cx="5773783" cy="291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kontrakt_tolandi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90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kontrakt_tolandi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86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berilmaydi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huquqi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461B708-43BB-4C71-B6C6-C0D74F6E1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887" y="580020"/>
            <a:ext cx="5599610" cy="22929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76176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Onlayn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mijoz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premium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obunachisi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"Minimal summa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to‘planmadi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4D9EB6F-E22D-4F5E-A084-99C645D62268}"/>
              </a:ext>
            </a:extLst>
          </p:cNvPr>
          <p:cNvSpPr/>
          <p:nvPr/>
        </p:nvSpPr>
        <p:spPr>
          <a:xfrm>
            <a:off x="6400800" y="3214196"/>
            <a:ext cx="5352345" cy="291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120000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100000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Minimal summa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to‘planmadi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733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0E6DB1-40F5-418D-949F-ABFC9EEC8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589" y="462113"/>
            <a:ext cx="5599612" cy="20466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76176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Kredit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mijozning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21 dan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3 000 000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ko‘p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Kredit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tasdiqlandi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21 dan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"Yoshi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FAF891-F8E3-4341-AEEE-1B4CA2812F7D}"/>
              </a:ext>
            </a:extLst>
          </p:cNvPr>
          <p:cNvSpPr/>
          <p:nvPr/>
        </p:nvSpPr>
        <p:spPr>
          <a:xfrm>
            <a:off x="191588" y="3031317"/>
            <a:ext cx="5599612" cy="30421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2500000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3000000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Kredit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tasdiqlandi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3015C99-279A-449E-9CCD-8070D73F0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462113"/>
            <a:ext cx="5852160" cy="1800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76176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Sport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musobaqasiga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qo‘yish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ishtirokchi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shifokor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bor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Musobaqaga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qo‘yildi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o‘tmagan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Ro‘yxatga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olinmagan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5C03EC5-C12C-47B3-920D-AA8DD272A635}"/>
              </a:ext>
            </a:extLst>
          </p:cNvPr>
          <p:cNvSpPr/>
          <p:nvPr/>
        </p:nvSpPr>
        <p:spPr>
          <a:xfrm>
            <a:off x="6096000" y="3031316"/>
            <a:ext cx="5852160" cy="30421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royxatdan_otgan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tibbiy_ruxsat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royxatdan_otgan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tibbiy_ruxsat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Musobaqaga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qo‘yildi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olinmagan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BDB147-B4D6-4AA8-8BF8-B851531F85C0}"/>
              </a:ext>
            </a:extLst>
          </p:cNvPr>
          <p:cNvSpPr/>
          <p:nvPr/>
        </p:nvSpPr>
        <p:spPr>
          <a:xfrm>
            <a:off x="574766" y="286461"/>
            <a:ext cx="11042468" cy="56169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Xulosa</a:t>
            </a:r>
            <a:endParaRPr lang="en-US" b="1" dirty="0"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1. IF, IF-ELSE,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IF-ELIF-ELSE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IF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IF-ELSE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birinchi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qism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;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aks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ikkinchi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qism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IF-ELIF-ELSE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Bir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nechta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birinchi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aks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keyingi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Mantiqiy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Ifodalar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(AND, OR, NOT)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AND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Ikki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undan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ortiq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vaqtning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o‘zida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kerak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OR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Kamida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bitta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kerak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NOT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inkorini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noto‘g‘ri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true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qiymat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qaytaradi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</a:p>
          <a:p>
            <a:pPr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3.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Ichma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-ich IF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(Nested IF)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Foydalanish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IF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ichma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-ich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joylashtirish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orqali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murakkab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Afzalliklari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Murakkab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ko‘proq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qatlamlarga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ajratish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imkonini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Kamchiliklari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Kodingizni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qiyinlashtirishi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mumkin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tushunish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xatoliklarni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tuzatish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qiyinlashadi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spcBef>
                <a:spcPts val="600"/>
              </a:spcBef>
            </a:pP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Python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dasturlashda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asosiy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qism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qo‘llash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samarali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ishlashini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ta'minlaydi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16775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20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659" y="1508787"/>
            <a:ext cx="5376597" cy="4032448"/>
          </a:xfrm>
          <a:prstGeom prst="rect">
            <a:avLst/>
          </a:prstGeom>
        </p:spPr>
      </p:pic>
      <p:pic>
        <p:nvPicPr>
          <p:cNvPr id="6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8502" y="95846"/>
            <a:ext cx="1388613" cy="1124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3220</Words>
  <Application>Microsoft Office PowerPoint</Application>
  <PresentationFormat>Широкоэкранный</PresentationFormat>
  <Paragraphs>349</Paragraphs>
  <Slides>20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Courier New</vt:lpstr>
      <vt:lpstr>Segoe UI Emoji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98</cp:revision>
  <dcterms:created xsi:type="dcterms:W3CDTF">2025-09-12T13:04:48Z</dcterms:created>
  <dcterms:modified xsi:type="dcterms:W3CDTF">2025-09-16T03:04:34Z</dcterms:modified>
</cp:coreProperties>
</file>