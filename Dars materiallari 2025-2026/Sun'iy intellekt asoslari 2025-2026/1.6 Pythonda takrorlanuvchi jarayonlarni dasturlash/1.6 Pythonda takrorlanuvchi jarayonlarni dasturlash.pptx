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8" r:id="rId2"/>
    <p:sldId id="289" r:id="rId3"/>
    <p:sldId id="301" r:id="rId4"/>
    <p:sldId id="302" r:id="rId5"/>
    <p:sldId id="303" r:id="rId6"/>
    <p:sldId id="256" r:id="rId7"/>
    <p:sldId id="267" r:id="rId8"/>
    <p:sldId id="290" r:id="rId9"/>
    <p:sldId id="291" r:id="rId10"/>
    <p:sldId id="292" r:id="rId11"/>
    <p:sldId id="293" r:id="rId12"/>
    <p:sldId id="294" r:id="rId13"/>
    <p:sldId id="295" r:id="rId14"/>
    <p:sldId id="297" r:id="rId15"/>
    <p:sldId id="298" r:id="rId16"/>
    <p:sldId id="299" r:id="rId17"/>
    <p:sldId id="300" r:id="rId18"/>
    <p:sldId id="279" r:id="rId1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DBA31-EFBE-46A7-A26B-AB54B46410B2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5C61E-F37B-4EB6-AAD9-1F9D5F927E0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103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6F64B-5070-4FEF-8727-9CA63F1FC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ADBBE1-FEC5-4BD0-BB6A-BD5B71365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B650B-87A2-4A19-B95F-6A70B4A3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8D4C5E-8226-4C7E-81BA-67DC674C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026E90-4C81-4462-8FEF-601D532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412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82370-23D8-4007-9FFF-3E193066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8FBC1C-1163-4F2A-98F8-8593F41A0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DCB415-9F28-46E9-ABCE-2EC27EE5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DE5028-7992-4B01-AF33-BE57E87C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07E95-6D79-4FA5-8F7F-8A9E17A6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355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B59A3C-4122-4805-8208-6E7DC400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CB4227-F23B-44BC-85E7-123F1F0F3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56487-5DFD-4D02-9E56-7C2B04D0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AC56E5-21C7-4E5B-A6F3-EE44760B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8AC02-3D64-4A49-92FA-4F7EB15E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12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0362E-85BA-42CE-857F-3C5AE85CB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956400-416A-4930-B62C-0A0DF9606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91A69D-6A3F-4325-8178-C99B3678A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AC6171-CB68-4BE7-83F3-A609B854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8B553E-1D79-4F65-B2D0-537B0BD5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839820-2ABD-4CE8-A6F8-21F7BEE9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434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5F188-A03A-40BF-A609-C5BA5C17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67483F-07DE-457C-A294-EF09B0710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C9E88F-396E-45CE-A84A-CA8A64764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39518B-4723-436A-9D33-31317D53C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45B5F7-B40A-49AA-8411-559928664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640E1D-6D81-4544-A05B-01FA0F62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1D74B3-3831-4155-BD61-AB3FF6CE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888E3F-697F-42E4-8E8E-206E067A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957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50891-2B7B-49FA-9338-DE737ECA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8B512C-4089-4266-8528-4332F9B10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A021DC-392B-4681-9F80-78B7E677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CAD60A-745F-44F7-8931-F0A5154B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564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CAE210-860B-41AB-B8F7-1616363C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B344DD-42E5-420D-86DB-35FB48E1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1D02B6-9699-402F-A043-45B0356B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293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05F5C-44D5-402B-87EC-ABF35F931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17A975-2BC6-4E20-97E4-0D3E4BDEC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DE4A92-68AA-4BEB-96F0-CFEAE9701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465BF4-EBDA-42E4-8B24-92657E68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0EA0CC-A27E-4326-8BE8-A0C1F648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3D0590-5C52-49FE-AADE-368C4D69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75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32B4C0-A199-4110-BF2A-2B6CBD03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E012EB1-B061-4A33-8706-2D5D4BF99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CA4D4A-388B-4C77-A416-ECA59273E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FC0E61-255D-482E-870D-4C041F71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784C5A-AA03-4729-B637-B7EC4D98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547EDC-7EC6-4079-A73F-6E407EF2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943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D68DC4-F156-4376-8AAB-50AF7A97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135025-FEEE-408F-AD44-517704B14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D2D774-8A2B-4CE6-BDA7-0D9C24AA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B1DCB0-8B23-4C64-AFA7-A5F4D8C7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4A7194-66BF-4F03-92F3-621D5246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226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B66C1EB-C809-472A-B4D6-7AD0374C9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5CCA3B-3550-42A1-9352-CED4511FC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32A5C3-6B0C-44D9-84E4-3A425241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0052B0-7090-4451-924E-36894D3D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A3E752-514B-43B3-8CAB-53163C56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2509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43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62AE3-BDA2-417D-B7BA-69C8A3AB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18DB66-8FF1-4418-B89E-BBD5CF2B1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B5B86-2333-460C-BC47-66108D01B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9041C-2690-4083-809D-2EECBE4E588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2EBDFB-1CC8-45B3-93C1-C5CC2D9DC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9F07F-EFEC-4CF9-BDCE-CBA743133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489BC-8D88-42DE-AA85-5418270A871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506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4D5B65-0489-4C9F-96DA-46D1371490AC}"/>
              </a:ext>
            </a:extLst>
          </p:cNvPr>
          <p:cNvSpPr/>
          <p:nvPr/>
        </p:nvSpPr>
        <p:spPr>
          <a:xfrm>
            <a:off x="409303" y="243511"/>
            <a:ext cx="6096000" cy="609397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dirty="0" err="1">
                <a:latin typeface="Times" panose="02020603050405020304" pitchFamily="18" charset="0"/>
              </a:rPr>
              <a:t>Xitoy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mudofaa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vaziri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b="1" dirty="0">
                <a:latin typeface="Times" panose="02020603050405020304" pitchFamily="18" charset="0"/>
              </a:rPr>
              <a:t>Dong Jun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Pekinda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o‘tkazilgan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b="1" dirty="0" err="1">
                <a:latin typeface="Times" panose="02020603050405020304" pitchFamily="18" charset="0"/>
              </a:rPr>
              <a:t>Xiangshan</a:t>
            </a:r>
            <a:r>
              <a:rPr lang="en-US" b="1" dirty="0">
                <a:latin typeface="Times" panose="02020603050405020304" pitchFamily="18" charset="0"/>
              </a:rPr>
              <a:t> </a:t>
            </a:r>
            <a:r>
              <a:rPr lang="en-US" b="1" dirty="0" err="1">
                <a:latin typeface="Times" panose="02020603050405020304" pitchFamily="18" charset="0"/>
              </a:rPr>
              <a:t>xavfsizlik</a:t>
            </a:r>
            <a:r>
              <a:rPr lang="en-US" b="1" dirty="0">
                <a:latin typeface="Times" panose="02020603050405020304" pitchFamily="18" charset="0"/>
              </a:rPr>
              <a:t> </a:t>
            </a:r>
            <a:r>
              <a:rPr lang="en-US" b="1" dirty="0" err="1">
                <a:latin typeface="Times" panose="02020603050405020304" pitchFamily="18" charset="0"/>
              </a:rPr>
              <a:t>forumida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nutq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so‘zlab</a:t>
            </a:r>
            <a:r>
              <a:rPr lang="en-US" dirty="0">
                <a:latin typeface="Times" panose="02020603050405020304" pitchFamily="18" charset="0"/>
              </a:rPr>
              <a:t>, </a:t>
            </a:r>
            <a:r>
              <a:rPr lang="en-US" dirty="0" err="1">
                <a:latin typeface="Times" panose="02020603050405020304" pitchFamily="18" charset="0"/>
              </a:rPr>
              <a:t>Tayvanni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Xitoyga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qo‘shib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olish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borasidagi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tahdidlarni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yana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takrorladi</a:t>
            </a:r>
            <a:r>
              <a:rPr lang="en-US" dirty="0">
                <a:latin typeface="Times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</a:rPr>
              <a:t>U </a:t>
            </a:r>
            <a:r>
              <a:rPr lang="en-US" dirty="0" err="1">
                <a:latin typeface="Times" panose="02020603050405020304" pitchFamily="18" charset="0"/>
              </a:rPr>
              <a:t>Tayvanni</a:t>
            </a:r>
            <a:r>
              <a:rPr lang="en-US" dirty="0">
                <a:latin typeface="Times" panose="02020603050405020304" pitchFamily="18" charset="0"/>
              </a:rPr>
              <a:t> “</a:t>
            </a:r>
            <a:r>
              <a:rPr lang="en-US" dirty="0" err="1">
                <a:latin typeface="Times" panose="02020603050405020304" pitchFamily="18" charset="0"/>
              </a:rPr>
              <a:t>urushdan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keyingi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xalqaro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tartibning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ajralmas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qismi</a:t>
            </a:r>
            <a:r>
              <a:rPr lang="en-US" dirty="0">
                <a:latin typeface="Times" panose="02020603050405020304" pitchFamily="18" charset="0"/>
              </a:rPr>
              <a:t>” deb </a:t>
            </a:r>
            <a:r>
              <a:rPr lang="en-US" dirty="0" err="1">
                <a:latin typeface="Times" panose="02020603050405020304" pitchFamily="18" charset="0"/>
              </a:rPr>
              <a:t>atadi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va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mustaqillik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harakatlari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yoki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tashqi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kuchlarning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aralashuviga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b="1" dirty="0" err="1">
                <a:latin typeface="Times" panose="02020603050405020304" pitchFamily="18" charset="0"/>
              </a:rPr>
              <a:t>hech</a:t>
            </a:r>
            <a:r>
              <a:rPr lang="en-US" b="1" dirty="0">
                <a:latin typeface="Times" panose="02020603050405020304" pitchFamily="18" charset="0"/>
              </a:rPr>
              <a:t> </a:t>
            </a:r>
            <a:r>
              <a:rPr lang="en-US" b="1" dirty="0" err="1">
                <a:latin typeface="Times" panose="02020603050405020304" pitchFamily="18" charset="0"/>
              </a:rPr>
              <a:t>qachon</a:t>
            </a:r>
            <a:r>
              <a:rPr lang="en-US" b="1" dirty="0">
                <a:latin typeface="Times" panose="02020603050405020304" pitchFamily="18" charset="0"/>
              </a:rPr>
              <a:t> </a:t>
            </a:r>
            <a:r>
              <a:rPr lang="en-US" b="1" dirty="0" err="1">
                <a:latin typeface="Times" panose="02020603050405020304" pitchFamily="18" charset="0"/>
              </a:rPr>
              <a:t>yo‘l</a:t>
            </a:r>
            <a:r>
              <a:rPr lang="en-US" b="1" dirty="0">
                <a:latin typeface="Times" panose="02020603050405020304" pitchFamily="18" charset="0"/>
              </a:rPr>
              <a:t> </a:t>
            </a:r>
            <a:r>
              <a:rPr lang="en-US" b="1" dirty="0" err="1">
                <a:latin typeface="Times" panose="02020603050405020304" pitchFamily="18" charset="0"/>
              </a:rPr>
              <a:t>qo‘yilmasligini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ta’kidladi</a:t>
            </a:r>
            <a:r>
              <a:rPr lang="en-US" dirty="0">
                <a:latin typeface="Times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Times" panose="02020603050405020304" pitchFamily="18" charset="0"/>
              </a:rPr>
              <a:t>Xitoy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deyarli</a:t>
            </a:r>
            <a:r>
              <a:rPr lang="en-US" dirty="0">
                <a:latin typeface="Times" panose="02020603050405020304" pitchFamily="18" charset="0"/>
              </a:rPr>
              <a:t> har </a:t>
            </a:r>
            <a:r>
              <a:rPr lang="en-US" dirty="0" err="1">
                <a:latin typeface="Times" panose="02020603050405020304" pitchFamily="18" charset="0"/>
              </a:rPr>
              <a:t>kuni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Tayvan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yaqiniga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harbiy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kemalar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va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samolyotlar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yuborib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bosim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o‘tkazmoqda</a:t>
            </a:r>
            <a:r>
              <a:rPr lang="en-US" dirty="0">
                <a:latin typeface="Times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Times" panose="02020603050405020304" pitchFamily="18" charset="0"/>
              </a:rPr>
              <a:t>Tayvan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Prezidenti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b="1" dirty="0">
                <a:latin typeface="Times" panose="02020603050405020304" pitchFamily="18" charset="0"/>
              </a:rPr>
              <a:t>Lai Ching-</a:t>
            </a:r>
            <a:r>
              <a:rPr lang="en-US" b="1" dirty="0" err="1">
                <a:latin typeface="Times" panose="02020603050405020304" pitchFamily="18" charset="0"/>
              </a:rPr>
              <a:t>te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esa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Pekinning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da’volarini</a:t>
            </a:r>
            <a:r>
              <a:rPr lang="en-US" dirty="0">
                <a:latin typeface="Times" panose="02020603050405020304" pitchFamily="18" charset="0"/>
              </a:rPr>
              <a:t> rad </a:t>
            </a:r>
            <a:r>
              <a:rPr lang="en-US" dirty="0" err="1">
                <a:latin typeface="Times" panose="02020603050405020304" pitchFamily="18" charset="0"/>
              </a:rPr>
              <a:t>etib</a:t>
            </a:r>
            <a:r>
              <a:rPr lang="en-US" dirty="0">
                <a:latin typeface="Times" panose="02020603050405020304" pitchFamily="18" charset="0"/>
              </a:rPr>
              <a:t>, </a:t>
            </a:r>
            <a:r>
              <a:rPr lang="en-US" dirty="0" err="1">
                <a:latin typeface="Times" panose="02020603050405020304" pitchFamily="18" charset="0"/>
              </a:rPr>
              <a:t>orol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kelajagi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faqat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xalqning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o‘ziga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tegishli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ekanini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aytmoqda</a:t>
            </a:r>
            <a:r>
              <a:rPr lang="en-US" dirty="0">
                <a:latin typeface="Times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</a:rPr>
              <a:t>Dong </a:t>
            </a:r>
            <a:r>
              <a:rPr lang="en-US" dirty="0" err="1">
                <a:latin typeface="Times" panose="02020603050405020304" pitchFamily="18" charset="0"/>
              </a:rPr>
              <a:t>tashqi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davlatlarni</a:t>
            </a:r>
            <a:r>
              <a:rPr lang="en-US" dirty="0">
                <a:latin typeface="Times" panose="02020603050405020304" pitchFamily="18" charset="0"/>
              </a:rPr>
              <a:t> (</a:t>
            </a:r>
            <a:r>
              <a:rPr lang="en-US" dirty="0" err="1">
                <a:latin typeface="Times" panose="02020603050405020304" pitchFamily="18" charset="0"/>
              </a:rPr>
              <a:t>aytib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o‘tmagan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bo‘lsa</a:t>
            </a:r>
            <a:r>
              <a:rPr lang="en-US" dirty="0">
                <a:latin typeface="Times" panose="02020603050405020304" pitchFamily="18" charset="0"/>
              </a:rPr>
              <a:t>-da, </a:t>
            </a:r>
            <a:r>
              <a:rPr lang="en-US" dirty="0" err="1">
                <a:latin typeface="Times" panose="02020603050405020304" pitchFamily="18" charset="0"/>
              </a:rPr>
              <a:t>asosan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AQShni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nazarda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tutib</a:t>
            </a:r>
            <a:r>
              <a:rPr lang="en-US" dirty="0">
                <a:latin typeface="Times" panose="02020603050405020304" pitchFamily="18" charset="0"/>
              </a:rPr>
              <a:t>) “</a:t>
            </a:r>
            <a:r>
              <a:rPr lang="en-US" dirty="0" err="1">
                <a:latin typeface="Times" panose="02020603050405020304" pitchFamily="18" charset="0"/>
              </a:rPr>
              <a:t>harbiy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aralashuv</a:t>
            </a:r>
            <a:r>
              <a:rPr lang="en-US" dirty="0">
                <a:latin typeface="Times" panose="02020603050405020304" pitchFamily="18" charset="0"/>
              </a:rPr>
              <a:t>, </a:t>
            </a:r>
            <a:r>
              <a:rPr lang="en-US" dirty="0" err="1">
                <a:latin typeface="Times" panose="02020603050405020304" pitchFamily="18" charset="0"/>
              </a:rPr>
              <a:t>ta’sir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doirasi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izlash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va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majburiy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ittifoqlarga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undash”da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aybladi</a:t>
            </a:r>
            <a:r>
              <a:rPr lang="en-US" dirty="0">
                <a:latin typeface="Times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</a:rPr>
              <a:t>Forum </a:t>
            </a:r>
            <a:r>
              <a:rPr lang="en-US" dirty="0" err="1">
                <a:latin typeface="Times" panose="02020603050405020304" pitchFamily="18" charset="0"/>
              </a:rPr>
              <a:t>Xitoyning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mintaqaviy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yetakchilikni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ko‘rsatishi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va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harbiy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hamkorlikni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mustahkamlashiga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qaratilgan</a:t>
            </a:r>
            <a:r>
              <a:rPr lang="en-US" dirty="0">
                <a:latin typeface="Times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b="1" dirty="0" err="1">
                <a:latin typeface="Times" panose="02020603050405020304" pitchFamily="18" charset="0"/>
              </a:rPr>
              <a:t>Xulosa</a:t>
            </a:r>
            <a:r>
              <a:rPr lang="en-US" b="1" dirty="0">
                <a:latin typeface="Times" panose="02020603050405020304" pitchFamily="18" charset="0"/>
              </a:rPr>
              <a:t>: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Xitoy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Tayvanni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o‘z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hududi</a:t>
            </a:r>
            <a:r>
              <a:rPr lang="en-US" dirty="0">
                <a:latin typeface="Times" panose="02020603050405020304" pitchFamily="18" charset="0"/>
              </a:rPr>
              <a:t> deb </a:t>
            </a:r>
            <a:r>
              <a:rPr lang="en-US" dirty="0" err="1">
                <a:latin typeface="Times" panose="02020603050405020304" pitchFamily="18" charset="0"/>
              </a:rPr>
              <a:t>bilishini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yana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bir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bor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qat’iy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bayon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qildi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va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tashqi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aralashuvlarga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qarshi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chiqishini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ta’kidladi</a:t>
            </a:r>
            <a:r>
              <a:rPr lang="en-US" dirty="0">
                <a:latin typeface="Times" panose="02020603050405020304" pitchFamily="18" charset="0"/>
              </a:rPr>
              <a:t>, </a:t>
            </a:r>
            <a:r>
              <a:rPr lang="en-US" dirty="0" err="1">
                <a:latin typeface="Times" panose="02020603050405020304" pitchFamily="18" charset="0"/>
              </a:rPr>
              <a:t>bu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esa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mintaqadagi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keskinlikni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 err="1">
                <a:latin typeface="Times" panose="02020603050405020304" pitchFamily="18" charset="0"/>
              </a:rPr>
              <a:t>oshirmoqda</a:t>
            </a:r>
            <a:r>
              <a:rPr lang="en-US" dirty="0">
                <a:latin typeface="Times" panose="02020603050405020304" pitchFamily="18" charset="0"/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A91B2D-C202-479E-BF93-47F98371A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556" y="916575"/>
            <a:ext cx="5133249" cy="502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3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0E9EDA2-C7BC-4242-8CE2-0AF4F700D002}"/>
              </a:ext>
            </a:extLst>
          </p:cNvPr>
          <p:cNvSpPr/>
          <p:nvPr/>
        </p:nvSpPr>
        <p:spPr>
          <a:xfrm>
            <a:off x="531222" y="1166842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Polshada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so‘nggi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Belarus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yaqinida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faolligi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kuchaygani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kuzatildi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Hukumat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Rossiya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Belarusning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Zapad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G‘arb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qo‘shma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mashqlari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9–10-sentabr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kechasi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Polsha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hududiga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 ta Rossiya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kirgani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a’zosi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Polsha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xavfsizligiga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jiddiy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tahdid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baholanmoqda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Polsha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Belarus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vaqtincha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yopdi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Kierwinski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kafolatlanmaguncha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ochmasligini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Polsha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Rossiya-Belarus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mashqlaridan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xavotirda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hududiga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tufayli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yopib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qo‘ydi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vaziyat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tiklanganda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E105D6-514E-4FCD-A3E7-F0B76926B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95" y="1421620"/>
            <a:ext cx="4683883" cy="401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8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STO Military Exercise “Rubezh-2025”: Intel Briefing_SpecialEurasia">
            <a:extLst>
              <a:ext uri="{FF2B5EF4-FFF2-40B4-BE49-F238E27FC236}">
                <a16:creationId xmlns:a16="http://schemas.microsoft.com/office/drawing/2014/main" id="{05498C67-4160-4CC0-AE2B-5E3586DBF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2157412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E640403-42D7-43F9-8B23-208D3383C4B9}"/>
              </a:ext>
            </a:extLst>
          </p:cNvPr>
          <p:cNvSpPr/>
          <p:nvPr/>
        </p:nvSpPr>
        <p:spPr>
          <a:xfrm>
            <a:off x="696685" y="1859338"/>
            <a:ext cx="6096000" cy="33701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CSTO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mashg‘ulotlari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“Rubezh-2025”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Qirg‘izistonda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17-20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sentabrda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“Rubezh-2025”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mashg‘ulotlar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Mashg‘ulotlarda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Qozog‘iston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Qirg‘iziston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Rossiya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Tojikiston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ishtirok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diqqat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(UAV – unmanned aerial systems)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ekstremistik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tahdidlar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tezkor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reaksiya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elektron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urush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mashg‘ulotlar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Rossiyadan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tajriba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mintaqaviy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kuchaytirish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32190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A5A6B1-11BB-4629-A973-E0E0014D89FE}"/>
              </a:ext>
            </a:extLst>
          </p:cNvPr>
          <p:cNvSpPr/>
          <p:nvPr/>
        </p:nvSpPr>
        <p:spPr>
          <a:xfrm>
            <a:off x="461555" y="172084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Tolibon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mojarosi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yilda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Tolibon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hokimiyatga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kelganida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hukumati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uchirgan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 ta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vertolyot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samolyot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Hawk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Tucano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Tolibon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qaytarishni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talab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“agar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qaytarilsa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davlat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munosabatlari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yaxshilanadi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deb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deb rad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berilmasligi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kerakligini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bildirgan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masala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qilinmagan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diplomatik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31369C-0A12-4656-BBBB-CF54841C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81" y="1983377"/>
            <a:ext cx="4336868" cy="289124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4C7B776-32F4-493A-90BC-C1C4AAD7CF94}"/>
              </a:ext>
            </a:extLst>
          </p:cNvPr>
          <p:cNvSpPr/>
          <p:nvPr/>
        </p:nvSpPr>
        <p:spPr>
          <a:xfrm>
            <a:off x="8506630" y="1614045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08080"/>
                </a:solidFill>
                <a:latin typeface="Avenir Next"/>
              </a:rPr>
              <a:t>18 Sep, 18:00</a:t>
            </a:r>
            <a:endParaRPr lang="en-US" b="0" i="0" dirty="0">
              <a:solidFill>
                <a:srgbClr val="808080"/>
              </a:solidFill>
              <a:effectLst/>
              <a:latin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69308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137698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6-mashg‘ulot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guruhli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takrorlanuvchi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jarayonlarni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dasturlash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2670969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takrorlanuvchi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jarayonlarni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dasturlash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</a:t>
            </a:r>
            <a:endParaRPr lang="en-US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4" y="3429000"/>
            <a:ext cx="11286310" cy="16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Break, continue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operatorlarining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180699-CBB9-4812-AF70-A948C22EEA9A}"/>
              </a:ext>
            </a:extLst>
          </p:cNvPr>
          <p:cNvSpPr/>
          <p:nvPr/>
        </p:nvSpPr>
        <p:spPr>
          <a:xfrm>
            <a:off x="2081150" y="75357"/>
            <a:ext cx="8238153" cy="5305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Sikl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operatorlari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2800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ishlash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7920EC-8216-4E23-96A7-312FD5BE4A1D}"/>
              </a:ext>
            </a:extLst>
          </p:cNvPr>
          <p:cNvSpPr/>
          <p:nvPr/>
        </p:nvSpPr>
        <p:spPr>
          <a:xfrm>
            <a:off x="836023" y="1057047"/>
            <a:ext cx="10519954" cy="4201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Nega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Takrorlanuvchi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avtomatlashtirish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elementlarini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yig‘indi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filtr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satrlarini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hokazo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for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sikli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Sintaksis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element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ketma_ketlik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takrorlanuvchi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ishlar</a:t>
            </a:r>
            <a:endParaRPr lang="en-US" sz="1600" i="1" dirty="0">
              <a:solidFill>
                <a:srgbClr val="AAAAAA"/>
              </a:solidFill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ketma_ketlik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list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str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to‘plam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set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lug‘at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4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dict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en-US" sz="1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range()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hokazo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bo‘lishi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14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54A362-4A41-4DF4-9D23-B7BB859DB0E2}"/>
              </a:ext>
            </a:extLst>
          </p:cNvPr>
          <p:cNvSpPr/>
          <p:nvPr/>
        </p:nvSpPr>
        <p:spPr>
          <a:xfrm>
            <a:off x="792480" y="620390"/>
            <a:ext cx="10607040" cy="4863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range()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sanash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range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ketma-ketligini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hosil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oxirgi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chegara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kirmaydi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0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     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0,1,2,3,4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20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0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7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  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2,3,4,5,6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20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0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20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10,8,6,4,2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20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071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FCB92C6-491F-424C-A4A7-B119115F77BA}"/>
              </a:ext>
            </a:extLst>
          </p:cNvPr>
          <p:cNvSpPr/>
          <p:nvPr/>
        </p:nvSpPr>
        <p:spPr>
          <a:xfrm>
            <a:off x="269965" y="1149532"/>
            <a:ext cx="5826036" cy="3847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Lug‘atlar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kurs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":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12600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EUR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":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13800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kalit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kurs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         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kalitlar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qiymat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kurs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values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qiymatlar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qiymat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qiymat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kurs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items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juftlik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qiymat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95767AE-A9EB-4E04-89A2-696D8C72B1CD}"/>
              </a:ext>
            </a:extLst>
          </p:cNvPr>
          <p:cNvSpPr/>
          <p:nvPr/>
        </p:nvSpPr>
        <p:spPr>
          <a:xfrm>
            <a:off x="7802880" y="1149532"/>
            <a:ext cx="3457303" cy="2739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(string)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bo‘ylab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Toshkent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unli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belgi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lower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belgi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aeiouo‘uʼ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unli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unli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30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CB7D3F4-AF7B-4659-8F54-5DF6823DB4EA}"/>
              </a:ext>
            </a:extLst>
          </p:cNvPr>
          <p:cNvSpPr/>
          <p:nvPr/>
        </p:nvSpPr>
        <p:spPr>
          <a:xfrm>
            <a:off x="687977" y="726992"/>
            <a:ext cx="10816046" cy="4555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while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sikli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Sintaksis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while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shart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shart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True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bo'lsa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ishlaydi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takrorlar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oldindan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noma’lum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bo‘lganda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holat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o‘zgarishiga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bog‘liq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vazifalarda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qulay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hisoblagich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1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while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&lt;=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yangilashni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unutmang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Calibri" panose="020F0502020204030204" pitchFamily="34" charset="0"/>
              </a:rPr>
              <a:t>!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23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225601E-9428-48FC-82BA-F08F4894F006}"/>
              </a:ext>
            </a:extLst>
          </p:cNvPr>
          <p:cNvSpPr/>
          <p:nvPr/>
        </p:nvSpPr>
        <p:spPr>
          <a:xfrm>
            <a:off x="1994263" y="277414"/>
            <a:ext cx="8203474" cy="3288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“Sentinel” (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to‘xtatuvchi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jami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kiritma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Narx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'stop'):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while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kiritma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stop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":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jami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kiritma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kiritma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Narx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'stop'):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Jami: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jami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314ABA9-B6CE-4E5B-A9C1-61DBF6798F1B}"/>
              </a:ext>
            </a:extLst>
          </p:cNvPr>
          <p:cNvSpPr/>
          <p:nvPr/>
        </p:nvSpPr>
        <p:spPr>
          <a:xfrm>
            <a:off x="1854926" y="4020916"/>
            <a:ext cx="8482148" cy="1463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Qachon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qaysi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elementlar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to‘plami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ma’lum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range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satrlari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oson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takrorlash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holatga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bog‘liq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sensor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holati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tarmoqli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kutilishi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455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B9E1AF-5EB6-420F-A043-A39992AEA933}"/>
              </a:ext>
            </a:extLst>
          </p:cNvPr>
          <p:cNvSpPr/>
          <p:nvPr/>
        </p:nvSpPr>
        <p:spPr>
          <a:xfrm>
            <a:off x="870857" y="1050928"/>
            <a:ext cx="10450286" cy="4596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Tez-tez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uchraydigan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xatolar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Off-by-one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</a:rPr>
              <a:t>range(1, n)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kirmasligini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yodda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tuting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1..n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</a:rPr>
              <a:t>range(1, n+1)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Ro‘yxatni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aylanish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chog‘ida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o‘zgartirish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element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o‘chirish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qo‘shishda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nusxa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yuring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while da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o‘zgaruvchini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yangilamaslik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cheksiz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Ketma-ketlik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400" dirty="0">
                <a:latin typeface="Courier New" panose="02070309020205020404" pitchFamily="49" charset="0"/>
                <a:ea typeface="Times New Roman" panose="02020603050405020304" pitchFamily="18" charset="0"/>
              </a:rPr>
              <a:t>set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saqlamaydi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o‘zgarishi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Qo‘shimcha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ixcham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yozuv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comprehension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kvadratlar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6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)]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   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[1,4,9,16,25]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juftlar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[0,2,4,6,8]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352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180699-CBB9-4812-AF70-A948C22EEA9A}"/>
              </a:ext>
            </a:extLst>
          </p:cNvPr>
          <p:cNvSpPr/>
          <p:nvPr/>
        </p:nvSpPr>
        <p:spPr>
          <a:xfrm>
            <a:off x="4440739" y="75357"/>
            <a:ext cx="3310522" cy="5305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Amaliy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mashqlar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F3451A3-53AC-4930-9EF5-A9947D2F581A}"/>
              </a:ext>
            </a:extLst>
          </p:cNvPr>
          <p:cNvSpPr/>
          <p:nvPr/>
        </p:nvSpPr>
        <p:spPr>
          <a:xfrm>
            <a:off x="487680" y="866054"/>
            <a:ext cx="5303520" cy="1860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1-savol.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 dan n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gacha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bo‘lgan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sonlarning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yig‘indisini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butun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son (n ≥ 1)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sifatida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lug‘atlardan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hamda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sum()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funksiyasidan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foydalanmang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Kirish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bitta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butun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son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n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Chiqish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Yigindi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: &lt;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natija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&gt;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Namuna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D81776D-716D-41B0-84D4-4CE51D39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" y="2967335"/>
            <a:ext cx="1883849" cy="461665"/>
          </a:xfrm>
          <a:prstGeom prst="rect">
            <a:avLst/>
          </a:prstGeom>
          <a:solidFill>
            <a:srgbClr val="00282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Kirish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</a:b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C3CEE3"/>
                </a:solidFill>
                <a:effectLst/>
                <a:latin typeface="Consolas" panose="020B0609020204030204" pitchFamily="49" charset="0"/>
              </a:rPr>
              <a:t>Chiqish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FCB6B"/>
                </a:solidFill>
                <a:effectLst/>
                <a:latin typeface="Consolas" panose="020B0609020204030204" pitchFamily="49" charset="0"/>
              </a:rPr>
              <a:t>Yigindi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LID4096" altLang="LID4096" sz="12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15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88F97C-3F24-4AD4-90BA-F9BD17F358EC}"/>
              </a:ext>
            </a:extLst>
          </p:cNvPr>
          <p:cNvSpPr/>
          <p:nvPr/>
        </p:nvSpPr>
        <p:spPr>
          <a:xfrm>
            <a:off x="487680" y="3621554"/>
            <a:ext cx="3579223" cy="2370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yigindi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yigindi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Yigindi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yigindi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2BEAE45-8C98-4FCA-AF69-FCA848A5832C}"/>
              </a:ext>
            </a:extLst>
          </p:cNvPr>
          <p:cNvGrpSpPr/>
          <p:nvPr/>
        </p:nvGrpSpPr>
        <p:grpSpPr>
          <a:xfrm>
            <a:off x="6400802" y="729624"/>
            <a:ext cx="5390604" cy="3258434"/>
            <a:chOff x="6400802" y="729624"/>
            <a:chExt cx="5390604" cy="3258434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384A444-E5B1-4468-9EBE-31601D3AEC46}"/>
                </a:ext>
              </a:extLst>
            </p:cNvPr>
            <p:cNvSpPr/>
            <p:nvPr/>
          </p:nvSpPr>
          <p:spPr>
            <a:xfrm>
              <a:off x="6400802" y="729624"/>
              <a:ext cx="5390604" cy="2490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2-savol</a:t>
              </a:r>
              <a:endParaRPr lang="en-US" sz="1600" dirty="0"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1 dan n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gacha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bo‘lgan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faqat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juft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sonlarni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ekranga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chiqaring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 </a:t>
              </a:r>
              <a:r>
                <a:rPr lang="en-US" sz="1600" dirty="0">
                  <a:latin typeface="Courier New" panose="02070309020205020404" pitchFamily="49" charset="0"/>
                  <a:ea typeface="Times New Roman" panose="02020603050405020304" pitchFamily="18" charset="0"/>
                </a:rPr>
                <a:t>n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butun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son (n ≥ 1)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sifatida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kiritiladi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Ro‘yxat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va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lug‘atlardan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foydalanmang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endParaRPr lang="en-US" sz="1600" dirty="0"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Kirish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bitta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butun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son </a:t>
              </a:r>
              <a:r>
                <a:rPr lang="en-US" sz="1600" dirty="0">
                  <a:latin typeface="Courier New" panose="02070309020205020404" pitchFamily="49" charset="0"/>
                  <a:ea typeface="Times New Roman" panose="02020603050405020304" pitchFamily="18" charset="0"/>
                </a:rPr>
                <a:t>n</a:t>
              </a:r>
              <a:b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</a:b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Chiqish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1 dan </a:t>
              </a:r>
              <a:r>
                <a:rPr lang="en-US" sz="1600" dirty="0">
                  <a:latin typeface="Courier New" panose="02070309020205020404" pitchFamily="49" charset="0"/>
                  <a:ea typeface="Times New Roman" panose="02020603050405020304" pitchFamily="18" charset="0"/>
                </a:rPr>
                <a:t>n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gacha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bo‘lgan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juft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sonlar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har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biri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alohida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qatorda</a:t>
              </a:r>
              <a:r>
                <a:rPr lang="en-US" sz="16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endParaRPr lang="en-US" sz="1600" dirty="0"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Namuna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72190027-7397-42B8-B170-DEEE7E7FD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1526" y="2972395"/>
              <a:ext cx="1583434" cy="1015663"/>
            </a:xfrm>
            <a:prstGeom prst="rect">
              <a:avLst/>
            </a:prstGeom>
            <a:solidFill>
              <a:srgbClr val="0028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C3CEE3"/>
                  </a:solidFill>
                  <a:effectLst/>
                  <a:latin typeface="Consolas" panose="020B0609020204030204" pitchFamily="49" charset="0"/>
                </a:rPr>
                <a:t>Kirish</a:t>
              </a:r>
              <a: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89DDF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FFCB6B"/>
                  </a:solidFill>
                  <a:effectLst/>
                  <a:latin typeface="Consolas" panose="020B0609020204030204" pitchFamily="49" charset="0"/>
                </a:rPr>
                <a:t>6</a:t>
              </a:r>
              <a:b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FFCB6B"/>
                  </a:solidFill>
                  <a:effectLst/>
                  <a:latin typeface="Consolas" panose="020B0609020204030204" pitchFamily="49" charset="0"/>
                </a:rPr>
              </a:br>
              <a: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C3CEE3"/>
                  </a:solidFill>
                  <a:effectLst/>
                  <a:latin typeface="Consolas" panose="020B0609020204030204" pitchFamily="49" charset="0"/>
                </a:rPr>
                <a:t>Chiqish</a:t>
              </a:r>
              <a: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89DDFF"/>
                  </a:solidFill>
                  <a:effectLst/>
                  <a:latin typeface="Consolas" panose="020B0609020204030204" pitchFamily="49" charset="0"/>
                </a:rPr>
                <a:t>:</a:t>
              </a:r>
              <a:b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89DDFF"/>
                  </a:solidFill>
                  <a:effectLst/>
                  <a:latin typeface="Consolas" panose="020B0609020204030204" pitchFamily="49" charset="0"/>
                </a:rPr>
              </a:br>
              <a: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F78C6C"/>
                  </a:solidFill>
                  <a:effectLst/>
                  <a:latin typeface="Consolas" panose="020B0609020204030204" pitchFamily="49" charset="0"/>
                </a:rPr>
                <a:t>2</a:t>
              </a:r>
              <a:b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F78C6C"/>
                  </a:solidFill>
                  <a:effectLst/>
                  <a:latin typeface="Consolas" panose="020B0609020204030204" pitchFamily="49" charset="0"/>
                </a:rPr>
              </a:br>
              <a: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F78C6C"/>
                  </a:solidFill>
                  <a:effectLst/>
                  <a:latin typeface="Consolas" panose="020B0609020204030204" pitchFamily="49" charset="0"/>
                </a:rPr>
                <a:t>4</a:t>
              </a:r>
              <a:b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F78C6C"/>
                  </a:solidFill>
                  <a:effectLst/>
                  <a:latin typeface="Consolas" panose="020B0609020204030204" pitchFamily="49" charset="0"/>
                </a:rPr>
              </a:br>
              <a:r>
                <a:rPr kumimoji="0" lang="LID4096" altLang="LID4096" sz="1200" b="0" i="0" u="none" strike="noStrike" cap="none" normalizeH="0" baseline="0" dirty="0">
                  <a:ln>
                    <a:noFill/>
                  </a:ln>
                  <a:solidFill>
                    <a:srgbClr val="F78C6C"/>
                  </a:solidFill>
                  <a:effectLst/>
                  <a:latin typeface="Consolas" panose="020B0609020204030204" pitchFamily="49" charset="0"/>
                </a:rPr>
                <a:t>6</a:t>
              </a:r>
              <a:endParaRPr kumimoji="0" lang="LID4096" altLang="LID4096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62077B7-20B3-40EF-BB92-BF76592ACEC5}"/>
              </a:ext>
            </a:extLst>
          </p:cNvPr>
          <p:cNvSpPr/>
          <p:nvPr/>
        </p:nvSpPr>
        <p:spPr>
          <a:xfrm>
            <a:off x="6574972" y="4468258"/>
            <a:ext cx="4885508" cy="2001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4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180699-CBB9-4812-AF70-A948C22EEA9A}"/>
              </a:ext>
            </a:extLst>
          </p:cNvPr>
          <p:cNvSpPr/>
          <p:nvPr/>
        </p:nvSpPr>
        <p:spPr>
          <a:xfrm>
            <a:off x="1875966" y="50161"/>
            <a:ext cx="8440067" cy="5305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it-IT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Break va Continue operatorlarining qo‘llanilishi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03528DC-703F-4C5D-882C-9886157BF07D}"/>
              </a:ext>
            </a:extLst>
          </p:cNvPr>
          <p:cNvSpPr/>
          <p:nvPr/>
        </p:nvSpPr>
        <p:spPr>
          <a:xfrm>
            <a:off x="1018902" y="1024921"/>
            <a:ext cx="10154194" cy="3782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break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operatori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break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while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ichida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darhol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to‘xtatadi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Ko‘pincha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izlanayotgan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topilganda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bajarilganda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ortiqcha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ishlatmaslik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qo‘llaniladi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FD1B6A8-F9CD-4D74-AF48-888F30995734}"/>
              </a:ext>
            </a:extLst>
          </p:cNvPr>
          <p:cNvSpPr/>
          <p:nvPr/>
        </p:nvSpPr>
        <p:spPr>
          <a:xfrm>
            <a:off x="1018902" y="5833079"/>
            <a:ext cx="4314001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nn-NO" dirty="0">
                <a:latin typeface="Times New Roman" panose="02020603050405020304" pitchFamily="18" charset="0"/>
                <a:ea typeface="Times New Roman" panose="02020603050405020304" pitchFamily="18" charset="0"/>
              </a:rPr>
              <a:t>Bu yerda </a:t>
            </a:r>
            <a:r>
              <a:rPr lang="nn-NO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i == 5</a:t>
            </a:r>
            <a:r>
              <a:rPr lang="nn-NO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bo‘lganda sikl to‘xtab qoldi.</a:t>
            </a:r>
            <a:endParaRPr lang="nn-NO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CCD47B7-E2F4-41DC-B9CD-998AF0639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02" y="4797651"/>
            <a:ext cx="3210373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65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DBA8B6-AE51-4289-9B5F-8E37FD90C998}"/>
              </a:ext>
            </a:extLst>
          </p:cNvPr>
          <p:cNvSpPr/>
          <p:nvPr/>
        </p:nvSpPr>
        <p:spPr>
          <a:xfrm>
            <a:off x="470263" y="136783"/>
            <a:ext cx="6096000" cy="41517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continue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operatori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continue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to‘xtatmaydi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balki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joriy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iteratsiyani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tashlab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keyingi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iteratsiyaga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o‘tadi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Ko‘pincha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kerakmas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qiymatlarni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tashlab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ketishda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continue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208765-ABF1-4D1E-B095-FAF53C90C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3" y="4388637"/>
            <a:ext cx="3191320" cy="1076475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361076A-010A-4D01-8B0F-AF345B882C1A}"/>
              </a:ext>
            </a:extLst>
          </p:cNvPr>
          <p:cNvSpPr/>
          <p:nvPr/>
        </p:nvSpPr>
        <p:spPr>
          <a:xfrm>
            <a:off x="470263" y="5565188"/>
            <a:ext cx="4730782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Juft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tashlab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o‘tildi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423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180699-CBB9-4812-AF70-A948C22EEA9A}"/>
              </a:ext>
            </a:extLst>
          </p:cNvPr>
          <p:cNvSpPr/>
          <p:nvPr/>
        </p:nvSpPr>
        <p:spPr>
          <a:xfrm>
            <a:off x="4440739" y="75357"/>
            <a:ext cx="3310522" cy="5305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Amaliy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mashqlar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337EE32-167F-4E7C-93C7-A4EDA837A931}"/>
              </a:ext>
            </a:extLst>
          </p:cNvPr>
          <p:cNvSpPr/>
          <p:nvPr/>
        </p:nvSpPr>
        <p:spPr>
          <a:xfrm>
            <a:off x="226423" y="762410"/>
            <a:ext cx="6096000" cy="35819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1-savol (break)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Savol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Quyidagi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bajarganda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natija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nechta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iteratsiya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names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STOP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Hasan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Husan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"]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enumerate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names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STOP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To'xtash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nuqtasi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topildi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Qabul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qilindi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042FBBB8-AA05-4EEA-8D55-BD8A11B54D85}"/>
              </a:ext>
            </a:extLst>
          </p:cNvPr>
          <p:cNvGrpSpPr/>
          <p:nvPr/>
        </p:nvGrpSpPr>
        <p:grpSpPr>
          <a:xfrm>
            <a:off x="226423" y="4589791"/>
            <a:ext cx="4144083" cy="1505799"/>
            <a:chOff x="307816" y="4380516"/>
            <a:chExt cx="4144083" cy="1505799"/>
          </a:xfrm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687B034F-9251-47A8-ACE5-83EFFCA65CF0}"/>
                </a:ext>
              </a:extLst>
            </p:cNvPr>
            <p:cNvGrpSpPr/>
            <p:nvPr/>
          </p:nvGrpSpPr>
          <p:grpSpPr>
            <a:xfrm>
              <a:off x="307816" y="4380516"/>
              <a:ext cx="3581900" cy="1026072"/>
              <a:chOff x="307816" y="4380516"/>
              <a:chExt cx="3581900" cy="1026072"/>
            </a:xfrm>
          </p:grpSpPr>
          <p:pic>
            <p:nvPicPr>
              <p:cNvPr id="9" name="Рисунок 8">
                <a:extLst>
                  <a:ext uri="{FF2B5EF4-FFF2-40B4-BE49-F238E27FC236}">
                    <a16:creationId xmlns:a16="http://schemas.microsoft.com/office/drawing/2014/main" id="{26BA0DB6-88E6-4661-AADB-92759E46F4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7816" y="4749271"/>
                <a:ext cx="3581900" cy="657317"/>
              </a:xfrm>
              <a:prstGeom prst="rect">
                <a:avLst/>
              </a:prstGeom>
            </p:spPr>
          </p:pic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9797CA3A-2F08-49EE-9211-411ECE53FB65}"/>
                  </a:ext>
                </a:extLst>
              </p:cNvPr>
              <p:cNvSpPr/>
              <p:nvPr/>
            </p:nvSpPr>
            <p:spPr>
              <a:xfrm>
                <a:off x="307816" y="4380516"/>
                <a:ext cx="851515" cy="3687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b="1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Javob</a:t>
                </a: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endParaRPr lang="en-US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p:grp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D9FE09C-558F-4006-8000-BD8ADDB691A2}"/>
                </a:ext>
              </a:extLst>
            </p:cNvPr>
            <p:cNvSpPr/>
            <p:nvPr/>
          </p:nvSpPr>
          <p:spPr>
            <a:xfrm>
              <a:off x="307816" y="5517560"/>
              <a:ext cx="4144083" cy="3687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Jami 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3 ta </a:t>
              </a:r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iteratsiya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bajarildi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(</a:t>
              </a:r>
              <a:r>
                <a:rPr lang="en-US" sz="1200" dirty="0" err="1">
                  <a:latin typeface="Courier New" panose="02070309020205020404" pitchFamily="49" charset="0"/>
                  <a:ea typeface="Times New Roman" panose="02020603050405020304" pitchFamily="18" charset="0"/>
                </a:rPr>
                <a:t>i</a:t>
              </a:r>
              <a:r>
                <a:rPr lang="en-US" sz="1200" dirty="0">
                  <a:latin typeface="Courier New" panose="02070309020205020404" pitchFamily="49" charset="0"/>
                  <a:ea typeface="Times New Roman" panose="02020603050405020304" pitchFamily="18" charset="0"/>
                </a:rPr>
                <a:t> = 0, 1, 2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).</a:t>
              </a:r>
              <a:endPara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F2AA033-95C6-446C-88DF-EAAA3EF8119D}"/>
              </a:ext>
            </a:extLst>
          </p:cNvPr>
          <p:cNvSpPr/>
          <p:nvPr/>
        </p:nvSpPr>
        <p:spPr>
          <a:xfrm>
            <a:off x="6409508" y="762410"/>
            <a:ext cx="5651863" cy="2842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2-savol (continue)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Savol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Quyidagi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bajarganda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konsolda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qaysi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tashlab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o‘tiladi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3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continue</a:t>
            </a: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—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kvadrati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2922F09B-9AEF-488C-A750-E236D4456E68}"/>
              </a:ext>
            </a:extLst>
          </p:cNvPr>
          <p:cNvGrpSpPr/>
          <p:nvPr/>
        </p:nvGrpSpPr>
        <p:grpSpPr>
          <a:xfrm>
            <a:off x="6353143" y="3820427"/>
            <a:ext cx="5612434" cy="2408768"/>
            <a:chOff x="6353143" y="3820427"/>
            <a:chExt cx="5612434" cy="240876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B0642478-A5ED-423E-87C3-742ACDA9F8CA}"/>
                </a:ext>
              </a:extLst>
            </p:cNvPr>
            <p:cNvSpPr/>
            <p:nvPr/>
          </p:nvSpPr>
          <p:spPr>
            <a:xfrm>
              <a:off x="6409508" y="3820427"/>
              <a:ext cx="1053738" cy="3380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Javob</a:t>
              </a:r>
              <a:r>
                <a:rPr lang="en-US" sz="16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sz="1600" dirty="0"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CC383E10-2C13-42FF-9E65-E9A902EC7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9508" y="4253537"/>
              <a:ext cx="3600953" cy="1467055"/>
            </a:xfrm>
            <a:prstGeom prst="rect">
              <a:avLst/>
            </a:prstGeom>
          </p:spPr>
        </p:pic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E038DDD-7738-4E98-821F-D5EF74B36E31}"/>
                </a:ext>
              </a:extLst>
            </p:cNvPr>
            <p:cNvSpPr/>
            <p:nvPr/>
          </p:nvSpPr>
          <p:spPr>
            <a:xfrm>
              <a:off x="6353143" y="5860440"/>
              <a:ext cx="5612434" cy="3687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dirty="0">
                  <a:latin typeface="Courier New" panose="02070309020205020404" pitchFamily="49" charset="0"/>
                  <a:ea typeface="Times New Roman" panose="02020603050405020304" pitchFamily="18" charset="0"/>
                </a:rPr>
                <a:t>3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sz="1200" dirty="0">
                  <a:latin typeface="Courier New" panose="02070309020205020404" pitchFamily="49" charset="0"/>
                  <a:ea typeface="Times New Roman" panose="02020603050405020304" pitchFamily="18" charset="0"/>
                </a:rPr>
                <a:t>6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sz="1200" dirty="0">
                  <a:latin typeface="Courier New" panose="02070309020205020404" pitchFamily="49" charset="0"/>
                  <a:ea typeface="Times New Roman" panose="02020603050405020304" pitchFamily="18" charset="0"/>
                </a:rPr>
                <a:t>9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qiymatlari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tashlab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o‘tildi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chunki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ular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dirty="0">
                  <a:latin typeface="Courier New" panose="02070309020205020404" pitchFamily="49" charset="0"/>
                  <a:ea typeface="Times New Roman" panose="02020603050405020304" pitchFamily="18" charset="0"/>
                </a:rPr>
                <a:t>3 </a:t>
              </a:r>
              <a:r>
                <a:rPr lang="en-US" sz="1200" dirty="0" err="1">
                  <a:latin typeface="Courier New" panose="02070309020205020404" pitchFamily="49" charset="0"/>
                  <a:ea typeface="Times New Roman" panose="02020603050405020304" pitchFamily="18" charset="0"/>
                </a:rPr>
                <a:t>ga</a:t>
              </a:r>
              <a:r>
                <a:rPr lang="en-US" sz="1200" dirty="0">
                  <a:latin typeface="Courier New" panose="02070309020205020404" pitchFamily="49" charset="0"/>
                  <a:ea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Courier New" panose="02070309020205020404" pitchFamily="49" charset="0"/>
                  <a:ea typeface="Times New Roman" panose="02020603050405020304" pitchFamily="18" charset="0"/>
                </a:rPr>
                <a:t>bo‘linadi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endPara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26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18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1786</Words>
  <Application>Microsoft Office PowerPoint</Application>
  <PresentationFormat>Широкоэкранный</PresentationFormat>
  <Paragraphs>163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8" baseType="lpstr">
      <vt:lpstr>Arial</vt:lpstr>
      <vt:lpstr>Avenir Next</vt:lpstr>
      <vt:lpstr>Calibri</vt:lpstr>
      <vt:lpstr>Calibri Light</vt:lpstr>
      <vt:lpstr>Consolas</vt:lpstr>
      <vt:lpstr>Courier New</vt:lpstr>
      <vt:lpstr>Symbol</vt:lpstr>
      <vt:lpstr>Times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248</cp:revision>
  <dcterms:created xsi:type="dcterms:W3CDTF">2025-09-12T13:04:48Z</dcterms:created>
  <dcterms:modified xsi:type="dcterms:W3CDTF">2025-09-19T06:08:33Z</dcterms:modified>
</cp:coreProperties>
</file>