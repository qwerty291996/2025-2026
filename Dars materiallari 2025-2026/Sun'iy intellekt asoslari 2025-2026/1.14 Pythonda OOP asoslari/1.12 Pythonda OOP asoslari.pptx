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7" r:id="rId3"/>
    <p:sldId id="268" r:id="rId4"/>
    <p:sldId id="270" r:id="rId5"/>
    <p:sldId id="269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84" r:id="rId14"/>
    <p:sldId id="278" r:id="rId15"/>
    <p:sldId id="285" r:id="rId16"/>
    <p:sldId id="286" r:id="rId17"/>
    <p:sldId id="279" r:id="rId18"/>
    <p:sldId id="288" r:id="rId19"/>
  </p:sldIdLst>
  <p:sldSz cx="14630400" cy="8229600"/>
  <p:notesSz cx="8229600" cy="146304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Corben" panose="020B0604020202020204" charset="0"/>
      <p:regular r:id="rId31"/>
    </p:embeddedFont>
    <p:embeddedFont>
      <p:font typeface="Nobile" panose="020B0604020202020204" charset="0"/>
      <p:regular r:id="rId32"/>
    </p:embeddedFont>
    <p:embeddedFont>
      <p:font typeface="Segoe UI Emoji" panose="020B0502040204020203" pitchFamily="34" charset="0"/>
      <p:regular r:id="rId33"/>
    </p:embeddedFont>
  </p:embeddedFontLst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2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893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967E9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967E9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967E9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72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21111" y="3363516"/>
            <a:ext cx="13588180" cy="1601774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1-mavzu. 12-mashg‘ulot:</a:t>
            </a:r>
          </a:p>
          <a:p>
            <a:pPr algn="ctr">
              <a:lnSpc>
                <a:spcPts val="5550"/>
              </a:lnSpc>
            </a:pPr>
            <a:r>
              <a:rPr lang="en-US" sz="4800" b="1" dirty="0" err="1">
                <a:solidFill>
                  <a:srgbClr val="00B05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Pythonda</a:t>
            </a:r>
            <a:r>
              <a:rPr lang="en-US" sz="4800" b="1" dirty="0">
                <a:solidFill>
                  <a:srgbClr val="00B05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OOP </a:t>
            </a:r>
            <a:r>
              <a:rPr lang="en-US" sz="4800" b="1" dirty="0" err="1">
                <a:solidFill>
                  <a:srgbClr val="00B05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asoslari</a:t>
            </a:r>
            <a:endParaRPr lang="en-US" sz="4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745620" y="1933027"/>
            <a:ext cx="513916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5400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O‘quv</a:t>
            </a:r>
            <a:r>
              <a:rPr lang="en-US" sz="5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sz="5400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savollari</a:t>
            </a:r>
            <a:r>
              <a:rPr lang="en-US" sz="5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D0AB8B-D69B-410C-97FC-AAAF3047ADBE}"/>
              </a:ext>
            </a:extLst>
          </p:cNvPr>
          <p:cNvSpPr/>
          <p:nvPr/>
        </p:nvSpPr>
        <p:spPr>
          <a:xfrm>
            <a:off x="2060294" y="3090624"/>
            <a:ext cx="10509812" cy="28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sv-SE" sz="3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1.	OOP asoslari. Klasslarni e’lon qilish va nusxasini yaratish. 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sv-SE" sz="3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2.	Sinf va obyekt. Sinf konstruktori. 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sv-SE" sz="3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	__init__() va __del__() metodlari.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3849109" y="0"/>
            <a:ext cx="5867312" cy="7827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000" b="1" dirty="0" err="1">
                <a:solidFill>
                  <a:srgbClr val="00B05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Pythonda</a:t>
            </a:r>
            <a:r>
              <a:rPr lang="en-US" sz="4000" b="1" dirty="0">
                <a:solidFill>
                  <a:srgbClr val="00B05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OOP </a:t>
            </a:r>
            <a:r>
              <a:rPr lang="en-US" sz="4000" b="1" dirty="0" err="1">
                <a:solidFill>
                  <a:srgbClr val="00B05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asoslari</a:t>
            </a:r>
            <a:endParaRPr lang="en-US" sz="4000" b="1" dirty="0">
              <a:solidFill>
                <a:srgbClr val="00B050"/>
              </a:solidFill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3B73B8F-F4E1-4444-94F1-884870BC4540}"/>
              </a:ext>
            </a:extLst>
          </p:cNvPr>
          <p:cNvCxnSpPr/>
          <p:nvPr/>
        </p:nvCxnSpPr>
        <p:spPr>
          <a:xfrm>
            <a:off x="0" y="699230"/>
            <a:ext cx="1463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583EC35-986C-4930-91DA-9103D70B8FDA}"/>
              </a:ext>
            </a:extLst>
          </p:cNvPr>
          <p:cNvSpPr/>
          <p:nvPr/>
        </p:nvSpPr>
        <p:spPr>
          <a:xfrm>
            <a:off x="412954" y="304647"/>
            <a:ext cx="13765161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sz="2000" b="1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OOP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OOP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obyektga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yo‘naltirilgan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ta’minotni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ishlov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Talaba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ism,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kurs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dam_olish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Oop Images – Browse 70,572 Stock Photos, Vectors, and Video ...">
            <a:extLst>
              <a:ext uri="{FF2B5EF4-FFF2-40B4-BE49-F238E27FC236}">
                <a16:creationId xmlns:a16="http://schemas.microsoft.com/office/drawing/2014/main" id="{6C39C6CC-DEC8-450D-8EB9-D66D38A32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44429"/>
            <a:ext cx="587692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op Software development company in Vietnam | Rabiloo Co.,Ltd">
            <a:extLst>
              <a:ext uri="{FF2B5EF4-FFF2-40B4-BE49-F238E27FC236}">
                <a16:creationId xmlns:a16="http://schemas.microsoft.com/office/drawing/2014/main" id="{79641666-ADFE-4D3E-8F88-F457E182B1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64"/>
          <a:stretch/>
        </p:blipFill>
        <p:spPr bwMode="auto">
          <a:xfrm>
            <a:off x="7059558" y="2189792"/>
            <a:ext cx="6909185" cy="452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6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3A3737F-BA12-43C0-ABC5-602928A8AF94}"/>
              </a:ext>
            </a:extLst>
          </p:cNvPr>
          <p:cNvSpPr/>
          <p:nvPr/>
        </p:nvSpPr>
        <p:spPr>
          <a:xfrm>
            <a:off x="432619" y="594669"/>
            <a:ext cx="13765162" cy="7040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Protsedurali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Obyektga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yo‘naltirilgan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o‘rtasidagi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farqlar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Protsedurali</a:t>
            </a:r>
            <a:r>
              <a:rPr lang="en-US" b="1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b="1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(PP)</a:t>
            </a:r>
            <a:endParaRPr lang="en-US" sz="2000" b="1" dirty="0">
              <a:solidFill>
                <a:srgbClr val="2F5496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Protsedurali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qadimgi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paradigmalardan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u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protsedura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chaqirish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g‘oyasiga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asoslangan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Dastur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yuqoridan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pastga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(top-down)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ketma-ket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barcha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bo‘lingan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xususiyatlari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Ketma-ket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bosqichma-bosqich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markazida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tashkil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ajratilgan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alohida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ustida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ishlovchi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alohida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Global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ko‘pincha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global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o‘zgaruvchilarga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tayangan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Afzalliklari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Oson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o‘rganiladi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Kichik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loyihalar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samarali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Kamroq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xotira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resurs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talab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Kamchiliklari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Katta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loyihalarda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chalkashib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ketadi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imkoniyati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cheklangan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xavfsizligi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past (global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o‘zgaruvchilar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ochiq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Real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dunyo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modellashtirish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4952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B2F032-8BF5-41BB-B32B-1E202FF92680}"/>
              </a:ext>
            </a:extLst>
          </p:cNvPr>
          <p:cNvSpPr/>
          <p:nvPr/>
        </p:nvSpPr>
        <p:spPr>
          <a:xfrm>
            <a:off x="501445" y="347293"/>
            <a:ext cx="13627510" cy="6727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Global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ro'yxat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add_student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":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":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":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append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print_students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"Name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Age: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Grade: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add_student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add_student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print_students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961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C54F35F-C5D4-4B52-8B9F-67245851D8E8}"/>
              </a:ext>
            </a:extLst>
          </p:cNvPr>
          <p:cNvSpPr/>
          <p:nvPr/>
        </p:nvSpPr>
        <p:spPr>
          <a:xfrm>
            <a:off x="570271" y="406056"/>
            <a:ext cx="13489858" cy="6926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Obyektga</a:t>
            </a:r>
            <a:r>
              <a:rPr lang="en-US" b="1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yo‘naltirilgan</a:t>
            </a:r>
            <a:r>
              <a:rPr lang="en-US" b="1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b="1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(OOP)</a:t>
            </a:r>
            <a:endParaRPr lang="en-US" sz="2000" b="1" dirty="0">
              <a:solidFill>
                <a:srgbClr val="2F5496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OOP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g‘oyasiga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asoslangan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paradigmadir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ichida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ustida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ishlovchi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birlashtiriladi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xususiyatlari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Inkapsulyatsiya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ichida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Meros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(inheritance)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klasslardan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xususiyatlarni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meros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Polimorfizm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turlicha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qaytara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2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Abstraksiya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keraksiz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tafsilotlar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yashiriladi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muhimlari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ochiq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Afzalliklari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Katta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loyihalarni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boshqarish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oson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(reusability)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imkoniyati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yuqori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xavfsizligi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yuqori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Real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dunyo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modellashtirish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qulay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Kengaytirish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texnik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xizmat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oson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Kamchiliklari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boshlovchilar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tushunish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qiyinroq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Kichik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ortiqcha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(overkill)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Ko‘proq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resurs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talab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3856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5852EB0-806C-4AED-9D14-B5C1DD395BA5}"/>
              </a:ext>
            </a:extLst>
          </p:cNvPr>
          <p:cNvSpPr/>
          <p:nvPr/>
        </p:nvSpPr>
        <p:spPr>
          <a:xfrm>
            <a:off x="452284" y="549561"/>
            <a:ext cx="13725832" cy="7448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"Name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Age: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Grade: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StudentManagementSystem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add_student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append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print_students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StudentManagementSystem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add_student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add_student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print_students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928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3EF904D-CEE7-46A8-A000-380D673CA390}"/>
              </a:ext>
            </a:extLst>
          </p:cNvPr>
          <p:cNvSpPr/>
          <p:nvPr/>
        </p:nvSpPr>
        <p:spPr>
          <a:xfrm>
            <a:off x="4022151" y="134882"/>
            <a:ext cx="6586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Protsedurali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Obyektga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yo‘naltirilgan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taqqoslanishi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51F1E82-BB94-4DFB-842D-986C74A2D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098232"/>
              </p:ext>
            </p:extLst>
          </p:nvPr>
        </p:nvGraphicFramePr>
        <p:xfrm>
          <a:off x="580103" y="768202"/>
          <a:ext cx="13470194" cy="653716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6735097">
                  <a:extLst>
                    <a:ext uri="{9D8B030D-6E8A-4147-A177-3AD203B41FA5}">
                      <a16:colId xmlns:a16="http://schemas.microsoft.com/office/drawing/2014/main" val="851174028"/>
                    </a:ext>
                  </a:extLst>
                </a:gridCol>
                <a:gridCol w="6735097">
                  <a:extLst>
                    <a:ext uri="{9D8B030D-6E8A-4147-A177-3AD203B41FA5}">
                      <a16:colId xmlns:a16="http://schemas.microsoft.com/office/drawing/2014/main" val="2834463618"/>
                    </a:ext>
                  </a:extLst>
                </a:gridCol>
              </a:tblGrid>
              <a:tr h="4669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Protsedurali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dasturlash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Obyektga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yo‘naltirilgan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dasturlash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7732732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funksiyalar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deb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ataluvchi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kichik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qismlarga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bo‘linadi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 obyektlar deb ataluvchi kichik qismlarga bo‘linadi.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4621661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Yuqoridan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pastga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(top-down)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yondashuvni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qo‘llaydi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Pastdan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yuqoriga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(bottom-up)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yondashuvni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qo‘llaydi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1286932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Maxsus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kirish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cheklovchilari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private, public, protected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kabi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kirish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cheklovchilari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mavjud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8701892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funksiyalarni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qo‘shish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qiyin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funksiyalarni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qo‘shish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oson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667083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Ma’lumotni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yashirish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usuli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shuning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xavfsizlik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past.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Ma’lumotni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yashirish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(data hiding)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mavjud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xavfsizlik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yuqori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3753221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Overloading (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ortiqcha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yuklash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qo‘llanilmaydi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Overloading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mumkin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3340275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Meros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olish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(inheritance)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ma’lumotni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yashirish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tushunchalari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Meros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olish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ma’lumotni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yashirish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tushunchalari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mavjud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6366523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Funksiya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ma’lumotdan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muhimroq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hisoblanadi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funksiya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metod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)dan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muhimroq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hisoblanadi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2906549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dunyo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asosida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emas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dunyo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asosida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5001949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O‘rta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hajmdagi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dasturlarni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yaratishda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qo‘llanadi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Katta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murakkab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dasturlarni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yaratishda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qo‘llanadi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94107155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Protsedura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abstraksiyasidan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foydalanadi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abstraksiyasidan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foydalanadi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4705749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Kodni qayta ishlatish (reusability) mavjud emas.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Kodni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qayta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ishlatish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(reusability)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mavjud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8993808"/>
                  </a:ext>
                </a:extLst>
              </a:tr>
              <a:tr h="4669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Misollar: C, FORTRAN, Pascal, BASIC va boshqalar.</a:t>
                      </a:r>
                      <a:endParaRPr lang="en-US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Misollar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C++, Java, Python, C#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boshqalar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742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221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F2781AD-7BFF-4757-926C-4E797C5E046A}"/>
              </a:ext>
            </a:extLst>
          </p:cNvPr>
          <p:cNvSpPr/>
          <p:nvPr/>
        </p:nvSpPr>
        <p:spPr>
          <a:xfrm>
            <a:off x="196645" y="5137"/>
            <a:ext cx="7118555" cy="7617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M" b="1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OOP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tushunchalari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(Class)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Obyektlarni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shablon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belgilanadi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e’lon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(Object / Instance)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nusxa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obyektning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o‘ziga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xos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qiymatlari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 =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(Attributes)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obyektning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o‘zgaruvchilari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ism,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rang,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narx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hokazo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(Methods)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ichida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yoziladigan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Obyektning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xatti-harakatlarini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belgilaydi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yurish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gapirish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ishlaydigan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atributlarini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boshlang‘ich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qiymatlar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to‘ldiradi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0215"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buFont typeface="+mj-lt"/>
              <a:buAutoNum type="arabicPeriod" startAt="6"/>
              <a:tabLst>
                <a:tab pos="4572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Obyektning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o‘ziga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murojaat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metodlarga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darajasida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murojaat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080B56-CC53-4036-90D2-5B90C69781B9}"/>
              </a:ext>
            </a:extLst>
          </p:cNvPr>
          <p:cNvSpPr/>
          <p:nvPr/>
        </p:nvSpPr>
        <p:spPr>
          <a:xfrm>
            <a:off x="7315200" y="0"/>
            <a:ext cx="7315200" cy="523220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M" b="1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OOPning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tamoyillari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(4 ta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poydevor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Inkapsulyatsiya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(Encapsulation)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funksiyalarni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joyga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jamlash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dunyodan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himoya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Abstraksiya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(Abstraction)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Keraksiz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tafsilotlarni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yashirish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jihatlarni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car.start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bizga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mashina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yurishi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dvigatel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Merosxo‘rlik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(Inheritance)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klassning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metodlarini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meros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Polimorfizm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(Polymorphism)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metodlarning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klasslarda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draw()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aylana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chizsa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to‘rtburchak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chizadi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EFC486-5763-4791-8B87-ABCDE69D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587" y="5224002"/>
            <a:ext cx="5250426" cy="295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63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C5CEE89-4136-4646-80C8-2577D70F43DA}"/>
              </a:ext>
            </a:extLst>
          </p:cNvPr>
          <p:cNvSpPr/>
          <p:nvPr/>
        </p:nvSpPr>
        <p:spPr>
          <a:xfrm>
            <a:off x="448997" y="957075"/>
            <a:ext cx="13706168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Class (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Sinf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shablon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reja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Class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tavsiflaydi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saqlamaydi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889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tilida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kalit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so‘zi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yordamida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aniqlanadi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klass_nomi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2438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klass_atributlari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2438"/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	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klass_metodlari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greet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"Salom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mening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ismim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men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yoshdaman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self.name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self.age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greet()</a:t>
            </a:r>
            <a:r>
              <a:rPr lang="en-US" sz="24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52257EA-181C-48A8-BC92-AC1FD7D4DE65}"/>
              </a:ext>
            </a:extLst>
          </p:cNvPr>
          <p:cNvSpPr/>
          <p:nvPr/>
        </p:nvSpPr>
        <p:spPr>
          <a:xfrm>
            <a:off x="5345462" y="262701"/>
            <a:ext cx="39394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Klasslar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obyektlar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148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4">
            <a:extLst>
              <a:ext uri="{FF2B5EF4-FFF2-40B4-BE49-F238E27FC236}">
                <a16:creationId xmlns:a16="http://schemas.microsoft.com/office/drawing/2014/main" id="{47F87A38-5743-4855-AAF6-7E44439E2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74" y="143396"/>
            <a:ext cx="9108584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54292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Object (Obyekt) nima?</a:t>
            </a:r>
          </a:p>
          <a:p>
            <a:pPr marR="0" lvl="0" indent="54292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bu 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klassning nusxasi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bir obyekt o‘z atributlari va metodlariga ega.</a:t>
            </a:r>
            <a:endParaRPr kumimoji="0" lang="LID4096" altLang="LID4096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54292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Misol:</a:t>
            </a:r>
          </a:p>
          <a:p>
            <a:pPr marR="0" lvl="0" indent="54292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Klassdan nusxa (obyekt) yaratish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R="0" lvl="0" indent="54292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Person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R="0" lvl="0" indent="54292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bob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Person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Bob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R="0" lvl="0" indent="54292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greet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Salom, mening ismim Tom va men 23 yoshdaman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R="0" lvl="0" indent="54292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bob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greet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Salom, mening ismim Bob va men 30 yoshdaman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R="0" lvl="0" indent="54292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tom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bob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–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Person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klassining 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obyektlari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R="0" lvl="0" indent="54292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 atributlari mustaqil, biri boshqasiga ta’sir qilmaydi.</a:t>
            </a:r>
            <a:endParaRPr kumimoji="0" lang="LID4096" altLang="LID4096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38" name="Picture 18" descr="What is a Python Class and How Do You Use It?">
            <a:extLst>
              <a:ext uri="{FF2B5EF4-FFF2-40B4-BE49-F238E27FC236}">
                <a16:creationId xmlns:a16="http://schemas.microsoft.com/office/drawing/2014/main" id="{FF88B75F-A7B0-4679-BA1B-DC3955F1C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436" y="1509712"/>
            <a:ext cx="6915150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134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0B856F4-736C-4A39-9652-19DBCBA7DB86}"/>
              </a:ext>
            </a:extLst>
          </p:cNvPr>
          <p:cNvSpPr/>
          <p:nvPr/>
        </p:nvSpPr>
        <p:spPr>
          <a:xfrm>
            <a:off x="4866452" y="172050"/>
            <a:ext cx="48974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Mustaqil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topshiriqlar</a:t>
            </a:r>
            <a:endParaRPr lang="LID4096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427A26F-7CF1-41E0-A877-55571E979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36" y="1085812"/>
            <a:ext cx="690321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Car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klassini yarating. U quyidagi atributlarga ega bo‘lsin: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brand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model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year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Shuningdek,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info()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nomli metod qo‘shing, u mashina haqida ma’lumot chiqaradi.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5FCDE6-F7E0-4AFF-87BE-56026AAED82B}"/>
              </a:ext>
            </a:extLst>
          </p:cNvPr>
          <p:cNvSpPr/>
          <p:nvPr/>
        </p:nvSpPr>
        <p:spPr>
          <a:xfrm>
            <a:off x="241160" y="2522794"/>
            <a:ext cx="7074040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brand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model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year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brand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brand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model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model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year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year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info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"Car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brand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model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, Year: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year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Test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car1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Toyota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Corolla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2020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car1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info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Car: Toyota Corolla, Year: 2020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2F585D-3EED-48DD-80F5-E03D5571D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635" y="1085812"/>
            <a:ext cx="72247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atributlarga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name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grade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introduce()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tanishtiring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.</a:t>
            </a:r>
            <a:endParaRPr kumimoji="0" lang="LID4096" altLang="LID4096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F8CE19-E1AA-47ED-80A9-CD98C2344392}"/>
              </a:ext>
            </a:extLst>
          </p:cNvPr>
          <p:cNvSpPr/>
          <p:nvPr/>
        </p:nvSpPr>
        <p:spPr>
          <a:xfrm>
            <a:off x="7405635" y="2522794"/>
            <a:ext cx="6983605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Student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grade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grade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grade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introduce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"Salom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mening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ismim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va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men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grade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sinfdaman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Test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student1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Student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student1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introduce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Salom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,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mening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ismim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 Ali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va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 men 7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sinfdaman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66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427A26F-7CF1-41E0-A877-55571E979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36" y="1085812"/>
            <a:ext cx="690321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Book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atributlarga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title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author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pages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details()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kitob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chiqaradi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LID4096" altLang="LID4096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5FCDE6-F7E0-4AFF-87BE-56026AAED82B}"/>
              </a:ext>
            </a:extLst>
          </p:cNvPr>
          <p:cNvSpPr/>
          <p:nvPr/>
        </p:nvSpPr>
        <p:spPr>
          <a:xfrm>
            <a:off x="241160" y="2522794"/>
            <a:ext cx="7074040" cy="423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author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pages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author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author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pages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pages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details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"Kitob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Muallif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author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Sahifalar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pages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Test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book1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Python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Dasturlash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Muxriddin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Isakov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250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book1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details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Kitob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: Python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Dasturlash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,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Muallif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: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Muxriddin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 Isakov,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Sahifalar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: 250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2F585D-3EED-48DD-80F5-E03D5571D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635" y="1085812"/>
            <a:ext cx="72247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Rectangle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atributlari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: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width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height</a:t>
            </a:r>
            <a:r>
              <a:rPr lang="en-US" altLang="LID4096" dirty="0">
                <a:latin typeface="Consolas" panose="020B0609020204030204" pitchFamily="49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area()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to‘rtburchakning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yuzasini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hisoblasin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LID4096" altLang="LID4096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F8CE19-E1AA-47ED-80A9-CD98C2344392}"/>
              </a:ext>
            </a:extLst>
          </p:cNvPr>
          <p:cNvSpPr/>
          <p:nvPr/>
        </p:nvSpPr>
        <p:spPr>
          <a:xfrm>
            <a:off x="7405635" y="2522794"/>
            <a:ext cx="6983605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Rectangle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width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height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width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width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height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height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area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width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height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Test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rect1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Rectangle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To'rtburchak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yuzasi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rect1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area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To'rtburchak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yuzasi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: 50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59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92E009-8908-4428-BBE6-C7EE5C6608F0}"/>
              </a:ext>
            </a:extLst>
          </p:cNvPr>
          <p:cNvSpPr/>
          <p:nvPr/>
        </p:nvSpPr>
        <p:spPr>
          <a:xfrm>
            <a:off x="442452" y="937736"/>
            <a:ext cx="6518787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__init__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chaqiriladigan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boshlang‘ich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qiymatlarini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65AF1DC-7546-4492-A55B-D5C7606ADB7B}"/>
              </a:ext>
            </a:extLst>
          </p:cNvPr>
          <p:cNvSpPr/>
          <p:nvPr/>
        </p:nvSpPr>
        <p:spPr>
          <a:xfrm>
            <a:off x="442452" y="2766177"/>
            <a:ext cx="73152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pt-B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__init__</a:t>
            </a:r>
            <a:r>
              <a:rPr lang="pt-BR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pt-BR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pt-B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A3E9D"/>
                </a:solidFill>
                <a:latin typeface="Consolas" panose="020B0609020204030204" pitchFamily="49" charset="0"/>
              </a:rPr>
              <a:t>param1</a:t>
            </a:r>
            <a:r>
              <a:rPr lang="pt-BR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pt-B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A3E9D"/>
                </a:solidFill>
                <a:latin typeface="Consolas" panose="020B0609020204030204" pitchFamily="49" charset="0"/>
              </a:rPr>
              <a:t>param2</a:t>
            </a:r>
            <a:r>
              <a:rPr lang="pt-BR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pt-BR" sz="1600" dirty="0">
                <a:solidFill>
                  <a:srgbClr val="333333"/>
                </a:solidFill>
                <a:latin typeface="Consolas" panose="020B0609020204030204" pitchFamily="49" charset="0"/>
              </a:rPr>
              <a:t>...</a:t>
            </a:r>
            <a:r>
              <a:rPr lang="pt-BR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pt-B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pt-BR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pt-BR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333333"/>
                </a:solidFill>
                <a:latin typeface="Consolas" panose="020B0609020204030204" pitchFamily="49" charset="0"/>
              </a:rPr>
              <a:t>param1 </a:t>
            </a:r>
            <a:r>
              <a:rPr lang="pt-BR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pt-B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A3E9D"/>
                </a:solidFill>
                <a:latin typeface="Consolas" panose="020B0609020204030204" pitchFamily="49" charset="0"/>
              </a:rPr>
              <a:t>param1</a:t>
            </a:r>
            <a:endParaRPr lang="pt-B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pt-BR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pt-BR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>
                <a:solidFill>
                  <a:srgbClr val="333333"/>
                </a:solidFill>
                <a:latin typeface="Consolas" panose="020B0609020204030204" pitchFamily="49" charset="0"/>
              </a:rPr>
              <a:t>param2 </a:t>
            </a:r>
            <a:r>
              <a:rPr lang="pt-BR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pt-B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A3E9D"/>
                </a:solidFill>
                <a:latin typeface="Consolas" panose="020B0609020204030204" pitchFamily="49" charset="0"/>
              </a:rPr>
              <a:t>param2</a:t>
            </a:r>
            <a:endParaRPr lang="pt-BR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43CE8D-78DF-48E5-A348-BD4382A6F216}"/>
              </a:ext>
            </a:extLst>
          </p:cNvPr>
          <p:cNvSpPr/>
          <p:nvPr/>
        </p:nvSpPr>
        <p:spPr>
          <a:xfrm>
            <a:off x="373625" y="4245886"/>
            <a:ext cx="73152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age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age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info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"Ism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Yosh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age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Obyekt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yaratish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person1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person1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info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Ism: Ali,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Yosh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: 25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54E50F0-1895-4114-91B8-6CCCE537E112}"/>
              </a:ext>
            </a:extLst>
          </p:cNvPr>
          <p:cNvSpPr/>
          <p:nvPr/>
        </p:nvSpPr>
        <p:spPr>
          <a:xfrm>
            <a:off x="373625" y="3876554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LID409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E25820-F15B-4051-8883-DA296A3A067A}"/>
              </a:ext>
            </a:extLst>
          </p:cNvPr>
          <p:cNvSpPr/>
          <p:nvPr/>
        </p:nvSpPr>
        <p:spPr>
          <a:xfrm>
            <a:off x="442452" y="23842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Sintaksis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LID409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21D544F-FD27-40CB-8B77-DED29D2F4C16}"/>
              </a:ext>
            </a:extLst>
          </p:cNvPr>
          <p:cNvSpPr/>
          <p:nvPr/>
        </p:nvSpPr>
        <p:spPr>
          <a:xfrm>
            <a:off x="7688825" y="937736"/>
            <a:ext cx="6607278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(del)</a:t>
            </a:r>
          </a:p>
          <a:p>
            <a:pPr algn="just">
              <a:spcBef>
                <a:spcPts val="600"/>
              </a:spcBef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qilinayotganda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chaqiriladigan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tozalash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xotirani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bo‘shatish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6083C4-9AEE-4873-A1DA-B3B83C9EABC1}"/>
              </a:ext>
            </a:extLst>
          </p:cNvPr>
          <p:cNvSpPr/>
          <p:nvPr/>
        </p:nvSpPr>
        <p:spPr>
          <a:xfrm>
            <a:off x="7757652" y="238424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Sintaksis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LID409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7AFE312-E117-4054-B4E3-F7B02283C5D2}"/>
              </a:ext>
            </a:extLst>
          </p:cNvPr>
          <p:cNvSpPr/>
          <p:nvPr/>
        </p:nvSpPr>
        <p:spPr>
          <a:xfrm>
            <a:off x="7757652" y="3876554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LID409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46ED67A-9075-4F88-AF1A-3DED52F83298}"/>
              </a:ext>
            </a:extLst>
          </p:cNvPr>
          <p:cNvSpPr/>
          <p:nvPr/>
        </p:nvSpPr>
        <p:spPr>
          <a:xfrm>
            <a:off x="7757652" y="2782756"/>
            <a:ext cx="65384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__del__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Obyekt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yo‘q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qilindi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829788-FCF1-4B3C-9684-0BB093D5F8B6}"/>
              </a:ext>
            </a:extLst>
          </p:cNvPr>
          <p:cNvSpPr/>
          <p:nvPr/>
        </p:nvSpPr>
        <p:spPr>
          <a:xfrm>
            <a:off x="7757652" y="4272642"/>
            <a:ext cx="643029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yaratildi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__del__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yo‘q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qilindi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Obyekt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yaratish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person1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del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person1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Ali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yo‘q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qilindi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55DB4FE-6D2B-4A2C-9447-C6DE9581AE3C}"/>
              </a:ext>
            </a:extLst>
          </p:cNvPr>
          <p:cNvSpPr/>
          <p:nvPr/>
        </p:nvSpPr>
        <p:spPr>
          <a:xfrm>
            <a:off x="4895371" y="188808"/>
            <a:ext cx="48396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da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LID4096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616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0B856F4-736C-4A39-9652-19DBCBA7DB86}"/>
              </a:ext>
            </a:extLst>
          </p:cNvPr>
          <p:cNvSpPr/>
          <p:nvPr/>
        </p:nvSpPr>
        <p:spPr>
          <a:xfrm>
            <a:off x="4866452" y="172050"/>
            <a:ext cx="48974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Mustaqil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topshiriqlar</a:t>
            </a:r>
            <a:endParaRPr lang="LID4096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427A26F-7CF1-41E0-A877-55571E979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36" y="947312"/>
            <a:ext cx="690321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konstruktorida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name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age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atributlarini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o‘rnating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Destruktorida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Talaba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&lt;name&gt;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xotiradan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o‘chirildi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degan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obyektdan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ta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nusxa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LID4096" altLang="LID4096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5FCDE6-F7E0-4AFF-87BE-56026AAED82B}"/>
              </a:ext>
            </a:extLst>
          </p:cNvPr>
          <p:cNvSpPr/>
          <p:nvPr/>
        </p:nvSpPr>
        <p:spPr>
          <a:xfrm>
            <a:off x="241160" y="2522794"/>
            <a:ext cx="707404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Student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age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age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"Talaba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yaratildi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__del__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"Talaba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xotiradan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o‘chirildi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Student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Student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Vali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del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s1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del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s2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2F585D-3EED-48DD-80F5-E03D5571D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635" y="808814"/>
            <a:ext cx="72247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Car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konstruktorida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brand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year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atributlarini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o‘rnating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Destruktorida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Avtomobil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&lt;brand&gt; (&lt;year&gt;)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xotiradan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o‘chirildi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deb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3 ta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avtomobil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ketma-ket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LID4096" altLang="LID4096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F8CE19-E1AA-47ED-80A9-CD98C2344392}"/>
              </a:ext>
            </a:extLst>
          </p:cNvPr>
          <p:cNvSpPr/>
          <p:nvPr/>
        </p:nvSpPr>
        <p:spPr>
          <a:xfrm>
            <a:off x="7405635" y="2522794"/>
            <a:ext cx="6983605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brand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year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brand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brand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year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year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brand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year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avtomobil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yaratildi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__del__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"Avtomobil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brand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year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xotiradan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o‘chirildi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Toyota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2020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BMW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2018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c3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Honda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2022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del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c1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del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c2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del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c3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14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427A26F-7CF1-41E0-A877-55571E979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36" y="1085812"/>
            <a:ext cx="690321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BankAccount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konstruktorida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owner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balance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atributlarini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o‘rnating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Destruktorida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Hisob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&lt;owner&gt;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xotiradan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o‘chirildi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deb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del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o‘chiring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LID4096" altLang="LID4096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5FCDE6-F7E0-4AFF-87BE-56026AAED82B}"/>
              </a:ext>
            </a:extLst>
          </p:cNvPr>
          <p:cNvSpPr/>
          <p:nvPr/>
        </p:nvSpPr>
        <p:spPr>
          <a:xfrm>
            <a:off x="241160" y="2522794"/>
            <a:ext cx="7074040" cy="423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author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pages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author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author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pages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pages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details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"Kitob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Muallif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author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Sahifalar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pages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Test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book1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Python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Dasturlash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Muxriddin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Isakov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250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book1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details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Kitob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: Python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Dasturlash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,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Muallif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: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Muxriddin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 Isakov,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Sahifalar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: 250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2F585D-3EED-48DD-80F5-E03D5571D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635" y="1085812"/>
            <a:ext cx="722476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Book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konstruktorida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title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o‘rnating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Destruktorida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Kitob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'&lt;title&gt;'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xotiradan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o‘chirildi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deb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 ta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kitob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yo‘q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lang="en-US" altLang="LID40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LID4096" altLang="LID4096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F8CE19-E1AA-47ED-80A9-CD98C2344392}"/>
              </a:ext>
            </a:extLst>
          </p:cNvPr>
          <p:cNvSpPr/>
          <p:nvPr/>
        </p:nvSpPr>
        <p:spPr>
          <a:xfrm>
            <a:off x="7405635" y="2522794"/>
            <a:ext cx="6983605" cy="373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"Kitob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'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'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yaratildi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__del__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"Kitob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'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'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xotiradan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o‘chirildi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b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Python 101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Book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Java 101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del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b1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del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b2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5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2F753-2013-4D44-8EDE-5ABECF3FF611}"/>
              </a:ext>
            </a:extLst>
          </p:cNvPr>
          <p:cNvSpPr txBox="1"/>
          <p:nvPr/>
        </p:nvSpPr>
        <p:spPr>
          <a:xfrm>
            <a:off x="6740812" y="147483"/>
            <a:ext cx="1148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endParaRPr lang="LID4096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A24BE-C924-4A14-AD7C-930C6658FFF0}"/>
              </a:ext>
            </a:extLst>
          </p:cNvPr>
          <p:cNvSpPr txBox="1"/>
          <p:nvPr/>
        </p:nvSpPr>
        <p:spPr>
          <a:xfrm>
            <a:off x="616839" y="994357"/>
            <a:ext cx="7411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tamoyili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konsepsiyasi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to’liq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o’rganish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konspekt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F2F5614-1A6D-40AD-A39B-A64FC0BF7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39" y="1640688"/>
            <a:ext cx="5779146" cy="284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 mashq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Library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 yarating: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 atributlari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books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),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library_name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add_book(book_name)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–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 qo‘shish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remove_book(book_name)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–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 o‘chirish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display_books()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–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 kitoblarni chiqarish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Qo‘shimcha: agar kitob allaqachon bo‘lsa, uni qo‘shmaslik.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8DB0CCC-9377-4114-B61A-0B267E886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409" y="1637527"/>
            <a:ext cx="6672106" cy="312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Amaliy mashq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Student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klassini yaratib, unda quyidagilar bo‘lsin: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 atributlari: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name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grades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(ro‘yxat)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Metodlar: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add_grade(grade)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baho qo‘shish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average()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o‘rtacha bahoni hisoblash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__str__()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talabaning ism va o‘rtacha bahosini qaytaradi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Obyektni print qilganda foydalanuvchi ism va o‘rtacha bahoni ko‘rsin.</a:t>
            </a:r>
          </a:p>
        </p:txBody>
      </p:sp>
    </p:spTree>
    <p:extLst>
      <p:ext uri="{BB962C8B-B14F-4D97-AF65-F5344CB8AC3E}">
        <p14:creationId xmlns:p14="http://schemas.microsoft.com/office/powerpoint/2010/main" val="442125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390" y="1810544"/>
            <a:ext cx="6451917" cy="4838938"/>
          </a:xfrm>
          <a:prstGeom prst="rect">
            <a:avLst/>
          </a:prstGeo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0E19030-F19A-442D-919A-C77C65A8E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3407</Words>
  <Application>Microsoft Office PowerPoint</Application>
  <PresentationFormat>Произвольный</PresentationFormat>
  <Paragraphs>315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9" baseType="lpstr">
      <vt:lpstr>Arial</vt:lpstr>
      <vt:lpstr>Calibri Light</vt:lpstr>
      <vt:lpstr>Segoe UI Emoji</vt:lpstr>
      <vt:lpstr>Times New Roman</vt:lpstr>
      <vt:lpstr>Corben</vt:lpstr>
      <vt:lpstr>Nobile</vt:lpstr>
      <vt:lpstr>Courier New</vt:lpstr>
      <vt:lpstr>Calibri</vt:lpstr>
      <vt:lpstr>Consolas</vt:lpstr>
      <vt:lpstr>Symbol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user</cp:lastModifiedBy>
  <cp:revision>181</cp:revision>
  <dcterms:created xsi:type="dcterms:W3CDTF">2025-08-22T04:37:55Z</dcterms:created>
  <dcterms:modified xsi:type="dcterms:W3CDTF">2025-08-31T12:26:41Z</dcterms:modified>
</cp:coreProperties>
</file>