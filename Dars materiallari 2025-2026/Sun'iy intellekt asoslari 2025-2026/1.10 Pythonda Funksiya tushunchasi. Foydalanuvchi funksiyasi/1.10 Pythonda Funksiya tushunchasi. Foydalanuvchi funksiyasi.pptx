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68" r:id="rId2"/>
    <p:sldId id="256" r:id="rId3"/>
    <p:sldId id="267" r:id="rId4"/>
    <p:sldId id="280" r:id="rId5"/>
    <p:sldId id="281" r:id="rId6"/>
    <p:sldId id="282" r:id="rId7"/>
    <p:sldId id="285" r:id="rId8"/>
    <p:sldId id="283" r:id="rId9"/>
    <p:sldId id="286" r:id="rId10"/>
    <p:sldId id="284" r:id="rId11"/>
    <p:sldId id="288" r:id="rId12"/>
    <p:sldId id="289" r:id="rId13"/>
    <p:sldId id="287" r:id="rId14"/>
    <p:sldId id="290" r:id="rId15"/>
    <p:sldId id="291" r:id="rId16"/>
    <p:sldId id="292" r:id="rId17"/>
    <p:sldId id="293" r:id="rId18"/>
    <p:sldId id="294" r:id="rId19"/>
    <p:sldId id="295" r:id="rId20"/>
    <p:sldId id="296" r:id="rId21"/>
    <p:sldId id="297" r:id="rId22"/>
    <p:sldId id="298" r:id="rId23"/>
    <p:sldId id="299" r:id="rId24"/>
    <p:sldId id="300" r:id="rId25"/>
    <p:sldId id="301" r:id="rId26"/>
    <p:sldId id="302" r:id="rId27"/>
    <p:sldId id="303" r:id="rId28"/>
    <p:sldId id="304" r:id="rId29"/>
    <p:sldId id="305" r:id="rId30"/>
    <p:sldId id="306" r:id="rId31"/>
    <p:sldId id="307" r:id="rId32"/>
    <p:sldId id="308" r:id="rId33"/>
    <p:sldId id="309" r:id="rId34"/>
    <p:sldId id="310" r:id="rId35"/>
    <p:sldId id="311" r:id="rId36"/>
    <p:sldId id="312" r:id="rId37"/>
    <p:sldId id="313" r:id="rId38"/>
    <p:sldId id="314" r:id="rId39"/>
    <p:sldId id="279" r:id="rId40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2FF344-7F8F-459D-9398-4B1A304DECB0}" type="datetimeFigureOut">
              <a:rPr lang="LID4096" smtClean="0"/>
              <a:t>09/26/2025</a:t>
            </a:fld>
            <a:endParaRPr lang="LID4096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74DAB2-8D22-434D-B258-27269F6599A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13608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4B77C4-3FBC-4E95-AC04-E9856704040F}" type="slidenum">
              <a:rPr lang="ru-RU" smtClean="0"/>
              <a:t>1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577BD4-EA29-411E-8801-D9AF7D56E5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06E506C-F16A-4A32-A203-B3D789E727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CC982A-F36B-4CB3-A73B-505A7515A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5830C-B521-4478-8589-D146F3C527ED}" type="datetimeFigureOut">
              <a:rPr lang="LID4096" smtClean="0"/>
              <a:t>09/26/2025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5658EC-A736-48BD-A80B-E5EFE924D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41C3AA-F464-4372-BC30-462E35DA5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3E5F0-0D02-46C3-ADBA-F3CBEBAB23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77286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47877E-9AA2-4EB0-B674-D0BB41477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CBA527-CFDB-4826-ACF7-FAC7400F5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765AE6-D73D-4F36-B124-260752FAF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5830C-B521-4478-8589-D146F3C527ED}" type="datetimeFigureOut">
              <a:rPr lang="LID4096" smtClean="0"/>
              <a:t>09/26/2025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E533E8-2411-4CBB-910C-EA2C85F4E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E4D89E-43BA-442D-870B-EC1E8C5E6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3E5F0-0D02-46C3-ADBA-F3CBEBAB23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48788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9F8558-6119-436C-99E0-BF83C8DF8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0F81327-6381-4C7A-A821-DE753D2897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F816B2-4A5D-477B-B90D-98010E2DE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5830C-B521-4478-8589-D146F3C527ED}" type="datetimeFigureOut">
              <a:rPr lang="LID4096" smtClean="0"/>
              <a:t>09/26/2025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21EA4C-A583-47F4-9898-0717BD450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C13701B-E804-49D5-BA7D-49F8879DF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3E5F0-0D02-46C3-ADBA-F3CBEBAB23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08486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90B64A-4514-450A-AD58-B21C23AB9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8F1E03-F2FA-4CF8-9D69-E7A791D096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51BBFC1-8B64-4D41-AFA7-5F2694F224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1A2D8FA-9B8A-44CE-876E-CA2AEF41F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5830C-B521-4478-8589-D146F3C527ED}" type="datetimeFigureOut">
              <a:rPr lang="LID4096" smtClean="0"/>
              <a:t>09/26/2025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D69BAFD-DE0F-4383-875D-A06EDA1E7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07B6733-8815-40F2-8BA0-BF7B651F4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3E5F0-0D02-46C3-ADBA-F3CBEBAB23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20877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2D8F8D-7DA7-4786-A278-7C1D5D2EF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DB9328A-FC85-4818-9048-A82809FA9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9014DF3-0A21-4D1D-AF31-B885309B4F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1AEBCB2-3DE1-47A2-8A98-5AFE33577A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4690195-A04E-451A-B6ED-734C08E5CE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C642A62-BB30-45F2-8DDF-A0CEB9D37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5830C-B521-4478-8589-D146F3C527ED}" type="datetimeFigureOut">
              <a:rPr lang="LID4096" smtClean="0"/>
              <a:t>09/26/2025</a:t>
            </a:fld>
            <a:endParaRPr lang="LID4096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9DB3AE6-CB3B-430D-8E38-D38B3470F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61E95F2-A63A-47A2-94C1-E506D5126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3E5F0-0D02-46C3-ADBA-F3CBEBAB23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63723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1AE369-3DA1-4B40-A8C6-35E89D0BA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5AA53BF-537C-47E7-9D5A-F6AC7227A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5830C-B521-4478-8589-D146F3C527ED}" type="datetimeFigureOut">
              <a:rPr lang="LID4096" smtClean="0"/>
              <a:t>09/26/2025</a:t>
            </a:fld>
            <a:endParaRPr lang="LID4096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F65FC1B-FC2A-490C-82E7-C16AC6348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40682B9-FBBA-48E1-958C-08441D63D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3E5F0-0D02-46C3-ADBA-F3CBEBAB23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37420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8E2FD95-8F92-4D0C-9026-B1F0A6B0E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5830C-B521-4478-8589-D146F3C527ED}" type="datetimeFigureOut">
              <a:rPr lang="LID4096" smtClean="0"/>
              <a:t>09/26/2025</a:t>
            </a:fld>
            <a:endParaRPr lang="LID4096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27DEF71-5F31-4728-892E-EC3B4698A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9D3BB29-EFC4-433A-82EF-4C9500B3E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3E5F0-0D02-46C3-ADBA-F3CBEBAB23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94413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390376-F89D-4E10-899E-776081D8F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61FD8E-E75F-4615-AC63-BC3656D5E4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28CDE1-05BE-4C8F-8AF4-6480DF5A70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DB5A995-6022-40E8-9FC0-7B235D97F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5830C-B521-4478-8589-D146F3C527ED}" type="datetimeFigureOut">
              <a:rPr lang="LID4096" smtClean="0"/>
              <a:t>09/26/2025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D45A215-F1C5-40EE-8979-24A9BA802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6EA0C4A-F027-43D4-AEAC-6DCFB1CB6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3E5F0-0D02-46C3-ADBA-F3CBEBAB23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76569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669065-9296-4354-A070-1633612BD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564EF62-216B-4B0F-81CB-81E19E2732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AD7898F-C398-49B9-B5E0-9FF74A2B6A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6E00EF7-A64A-4186-88F5-B90105E75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5830C-B521-4478-8589-D146F3C527ED}" type="datetimeFigureOut">
              <a:rPr lang="LID4096" smtClean="0"/>
              <a:t>09/26/2025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93536A4-DB10-4761-A880-4FAE39A2A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70BB522-A00F-490A-9F77-9E7D010C3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3E5F0-0D02-46C3-ADBA-F3CBEBAB23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69562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59CB45-E7FC-46A5-9878-50E8A7358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BA49F4A-E295-40A9-99AF-B196862086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F5AFB9-0ECB-40EF-A34F-EE14481F4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5830C-B521-4478-8589-D146F3C527ED}" type="datetimeFigureOut">
              <a:rPr lang="LID4096" smtClean="0"/>
              <a:t>09/26/2025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295D5A-5E2C-46A0-81BA-74B139058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B51D19-8D29-43C8-BC89-805EBC97C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3E5F0-0D02-46C3-ADBA-F3CBEBAB23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50372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CA50D51-4416-4CC8-9938-9CC396E14B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426C399-C435-4A86-93EF-75AE52E470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2CF70E-7C67-4192-85A2-EB0385FD2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5830C-B521-4478-8589-D146F3C527ED}" type="datetimeFigureOut">
              <a:rPr lang="LID4096" smtClean="0"/>
              <a:t>09/26/2025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70E2A1-5642-4228-9BEB-FB6872DD4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74A215-AF36-4E4B-AB96-23B0253F1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3E5F0-0D02-46C3-ADBA-F3CBEBAB23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385660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3899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B25D05-72FD-4EEA-AAFB-CA9F97AE6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EB43662-0543-4C97-AD7F-77C82D351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DC12387-9DDC-4F06-B39E-A25F0C2F9D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15830C-B521-4478-8589-D146F3C527ED}" type="datetimeFigureOut">
              <a:rPr lang="LID4096" smtClean="0"/>
              <a:t>09/26/2025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260976-8C8F-4267-BCC6-474D9AFB71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13F112-B5CD-4B5E-809E-909E639AA9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F3E5F0-0D02-46C3-ADBA-F3CBEBAB23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07615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 flipV="1">
            <a:off x="1643182" y="4136127"/>
            <a:ext cx="9137268" cy="60959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Прямоугольник 10"/>
          <p:cNvSpPr/>
          <p:nvPr/>
        </p:nvSpPr>
        <p:spPr>
          <a:xfrm>
            <a:off x="5139796" y="6307447"/>
            <a:ext cx="1661480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67" b="1" dirty="0">
                <a:latin typeface="Times New Roman" pitchFamily="18" charset="0"/>
                <a:cs typeface="Times New Roman" pitchFamily="18" charset="0"/>
              </a:rPr>
              <a:t>Toshkent 2025</a:t>
            </a:r>
            <a:endParaRPr lang="ru-RU" sz="1867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83360" y="306896"/>
            <a:ext cx="11617291" cy="748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33" b="1" dirty="0">
                <a:latin typeface="Times New Roman" pitchFamily="18" charset="0"/>
                <a:cs typeface="Times New Roman" pitchFamily="18" charset="0"/>
              </a:rPr>
              <a:t>HARBIY XAVFSIZLIK VA MUDOFAA UNIVERSITETINING</a:t>
            </a:r>
          </a:p>
          <a:p>
            <a:pPr algn="ctr"/>
            <a:r>
              <a:rPr lang="en-US" sz="2133" b="1" dirty="0">
                <a:latin typeface="Times New Roman" pitchFamily="18" charset="0"/>
                <a:cs typeface="Times New Roman" pitchFamily="18" charset="0"/>
              </a:rPr>
              <a:t>AXBOROT-KOMMUNIKATSIYA TEXNOLOGIYALARI VA HARBIY ALOQA INSTITUTI</a:t>
            </a:r>
            <a:endParaRPr lang="ru-RU" sz="2133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199451" y="2642960"/>
            <a:ext cx="9985109" cy="74879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133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1-MAVZU: “SUN’IY INTELLEKT ASOSLARI” FANIGA KIRISH VA ASOSIY TUSHUNCHALARI</a:t>
            </a:r>
            <a:endParaRPr lang="ru-RU" sz="2133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57E156E-2862-45AA-B671-E1C5EDE84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011" y="4801068"/>
            <a:ext cx="5999989" cy="995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>
              <a:defRPr/>
            </a:pPr>
            <a:r>
              <a:rPr lang="en-US" sz="16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O‘qituvchi</a:t>
            </a:r>
            <a:r>
              <a:rPr lang="uz-Cyrl-UZ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 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Axborot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texnologiyalari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intellekt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kafedrasi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intellekt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sikli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boshlig‘i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133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kapitan</a:t>
            </a:r>
            <a:r>
              <a:rPr lang="en-US" sz="2133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Isakov M.M. </a:t>
            </a:r>
            <a:endParaRPr lang="en-US" sz="1867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59BFC1A9-62DE-4C48-BB79-E5A5081D32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967E9">
              <a:alpha val="80000"/>
            </a:srgbClr>
          </a:solidFill>
          <a:ln/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B83EC17-E5ED-489B-A896-839B6D9C4378}"/>
              </a:ext>
            </a:extLst>
          </p:cNvPr>
          <p:cNvSpPr/>
          <p:nvPr/>
        </p:nvSpPr>
        <p:spPr>
          <a:xfrm>
            <a:off x="152400" y="1992709"/>
            <a:ext cx="11887200" cy="1364925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50"/>
              </a:lnSpc>
            </a:pPr>
            <a:r>
              <a:rPr lang="en-US" sz="4450" dirty="0">
                <a:solidFill>
                  <a:srgbClr val="FFFFFF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1-mavzu. 10-mashg‘ulot (</a:t>
            </a:r>
            <a:r>
              <a:rPr lang="en-US" sz="4450" dirty="0" err="1">
                <a:solidFill>
                  <a:srgbClr val="FFFFFF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guruhli</a:t>
            </a:r>
            <a:r>
              <a:rPr lang="en-US" sz="4450" dirty="0">
                <a:solidFill>
                  <a:srgbClr val="FFFFFF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):</a:t>
            </a:r>
          </a:p>
          <a:p>
            <a:pPr algn="ctr">
              <a:lnSpc>
                <a:spcPts val="5550"/>
              </a:lnSpc>
            </a:pP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Pythonda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Funksiya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tushunchasi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.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Foydalanuvchi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funksiyasi</a:t>
            </a:r>
            <a:endParaRPr lang="en-US" sz="36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075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C05110-FBAF-4E5C-8D69-806EC9F87D1F}"/>
              </a:ext>
            </a:extLst>
          </p:cNvPr>
          <p:cNvSpPr/>
          <p:nvPr/>
        </p:nvSpPr>
        <p:spPr>
          <a:xfrm>
            <a:off x="4210953" y="2670969"/>
            <a:ext cx="3770091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708"/>
              </a:lnSpc>
            </a:pPr>
            <a:r>
              <a:rPr lang="en-US" sz="4500" dirty="0" err="1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O‘quv</a:t>
            </a:r>
            <a:r>
              <a:rPr lang="en-US" sz="4500" dirty="0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savollari</a:t>
            </a:r>
            <a:r>
              <a:rPr lang="en-US" sz="4500" dirty="0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7689E44-B307-4A76-9C2B-E716B3ACBFB8}"/>
              </a:ext>
            </a:extLst>
          </p:cNvPr>
          <p:cNvSpPr/>
          <p:nvPr/>
        </p:nvSpPr>
        <p:spPr>
          <a:xfrm>
            <a:off x="0" y="21479"/>
            <a:ext cx="121920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Pythonda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Funksiya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tushunchasi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.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Foydalanuvchi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funksiyasi</a:t>
            </a:r>
            <a:endParaRPr lang="en-US" sz="2800" b="1" dirty="0">
              <a:solidFill>
                <a:srgbClr val="00B050"/>
              </a:solidFill>
              <a:latin typeface="Times New Roman" panose="02020603050405020304" pitchFamily="18" charset="0"/>
              <a:ea typeface="Corben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521E122D-499C-49BF-8171-610B3C599041}"/>
              </a:ext>
            </a:extLst>
          </p:cNvPr>
          <p:cNvCxnSpPr/>
          <p:nvPr/>
        </p:nvCxnSpPr>
        <p:spPr>
          <a:xfrm>
            <a:off x="0" y="544699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1">
            <a:extLst>
              <a:ext uri="{FF2B5EF4-FFF2-40B4-BE49-F238E27FC236}">
                <a16:creationId xmlns:a16="http://schemas.microsoft.com/office/drawing/2014/main" id="{7AABC1BB-28A2-417B-BDFA-3C28B11067A8}"/>
              </a:ext>
            </a:extLst>
          </p:cNvPr>
          <p:cNvSpPr/>
          <p:nvPr/>
        </p:nvSpPr>
        <p:spPr>
          <a:xfrm>
            <a:off x="2590797" y="3429000"/>
            <a:ext cx="7010402" cy="1047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Funksiyalarni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aniqlash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chaqirish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Parametrli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parametrsiz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funksiya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019230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36808D4-CCC3-4710-A6BF-DC08A4C0E8B4}"/>
              </a:ext>
            </a:extLst>
          </p:cNvPr>
          <p:cNvSpPr/>
          <p:nvPr/>
        </p:nvSpPr>
        <p:spPr>
          <a:xfrm>
            <a:off x="1428206" y="1849793"/>
            <a:ext cx="9335588" cy="2722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1)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Funksiya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nima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?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Funksiya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marta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yozib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ko‘p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marta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ishlatadigan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blokidir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Asosiy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foydasi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 marL="342900" lvl="0" indent="-342900">
              <a:lnSpc>
                <a:spcPct val="120000"/>
              </a:lnSpc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kodni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tartibli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qayta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foydalanish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mumkin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</a:p>
          <a:p>
            <a:pPr marL="342900" lvl="0" indent="-342900">
              <a:lnSpc>
                <a:spcPct val="120000"/>
              </a:lnSpc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murakkab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masalani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kichik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bo‘laklarga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</a:p>
          <a:p>
            <a:pPr marL="342900" lvl="0" indent="-342900">
              <a:lnSpc>
                <a:spcPct val="120000"/>
              </a:lnSpc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xatoni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topish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test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qilishni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osonlashtiradi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Pythonda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print()</a:t>
            </a:r>
            <a:r>
              <a:rPr lang="en-US" b="1" dirty="0"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len</a:t>
            </a:r>
            <a:r>
              <a:rPr lang="en-US" b="1" dirty="0"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kabi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tayyor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standart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funksiyalardan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foydalaniladi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Foydalanuvchi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funksiyasi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esa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foydalanuvchi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tomonidan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yoziladigan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funksiya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80B644D-21F8-41D1-B4E7-38C78B9ADB20}"/>
              </a:ext>
            </a:extLst>
          </p:cNvPr>
          <p:cNvSpPr/>
          <p:nvPr/>
        </p:nvSpPr>
        <p:spPr>
          <a:xfrm>
            <a:off x="0" y="21479"/>
            <a:ext cx="121920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1. </a:t>
            </a:r>
            <a:r>
              <a:rPr lang="en-US" sz="28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Funksiyalarni</a:t>
            </a:r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aniqlash</a:t>
            </a:r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va</a:t>
            </a:r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uni</a:t>
            </a:r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chaqirish</a:t>
            </a:r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. 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AE34A400-CCCD-49C1-8067-5685FD264D1C}"/>
              </a:ext>
            </a:extLst>
          </p:cNvPr>
          <p:cNvCxnSpPr/>
          <p:nvPr/>
        </p:nvCxnSpPr>
        <p:spPr>
          <a:xfrm>
            <a:off x="0" y="544699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4721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1FE23EC-24BB-4A94-A8DB-9B8553985975}"/>
              </a:ext>
            </a:extLst>
          </p:cNvPr>
          <p:cNvSpPr/>
          <p:nvPr/>
        </p:nvSpPr>
        <p:spPr>
          <a:xfrm>
            <a:off x="165463" y="186975"/>
            <a:ext cx="5930537" cy="1661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2) </a:t>
            </a:r>
            <a:r>
              <a:rPr lang="en-US" sz="1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Funksiyani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aniqlash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1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e’lon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qilish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— 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def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sintaksisi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funksiya_nomi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():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bu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yerda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funksiyaning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tanasi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(body)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kerakli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buyruqlar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yoziladi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ixtiyoriy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natija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qaytarish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uchun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return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ishlatiladi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...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571AF29-891D-45A9-8C4B-5D8F14CBA5B3}"/>
              </a:ext>
            </a:extLst>
          </p:cNvPr>
          <p:cNvSpPr/>
          <p:nvPr/>
        </p:nvSpPr>
        <p:spPr>
          <a:xfrm>
            <a:off x="240803" y="3429000"/>
            <a:ext cx="633984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def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aniqlash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kalit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so‘zi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funksiya_nomi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—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odatda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snake_case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16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hisobla_summa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6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print_holat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parametrlar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joyi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bo‘sh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bo‘lsa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parametrsiz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funksiya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  <a:p>
            <a:pPr marL="342900" lvl="0" indent="-342900" algn="just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: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yangi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blok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boshlanishi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Ichidagi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to‘g‘ri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indentatsiya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odatda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4 ta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probel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bilan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yoziladi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return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funksiyadan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natija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qaytaradi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ixtiyoriy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). </a:t>
            </a:r>
            <a:r>
              <a:rPr lang="en-US" sz="16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return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bo‘lmasa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funksiya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None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qaytaradi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  <p:pic>
        <p:nvPicPr>
          <p:cNvPr id="4" name="Рисунок 3" descr="Python Functions">
            <a:extLst>
              <a:ext uri="{FF2B5EF4-FFF2-40B4-BE49-F238E27FC236}">
                <a16:creationId xmlns:a16="http://schemas.microsoft.com/office/drawing/2014/main" id="{FB24C0D0-C9D4-48AE-ADFA-D0CF95CF9677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25" b="5193"/>
          <a:stretch/>
        </p:blipFill>
        <p:spPr bwMode="auto">
          <a:xfrm>
            <a:off x="6505303" y="409182"/>
            <a:ext cx="5253900" cy="213819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EF309C7-B438-498F-A27C-0DCB43421CAC}"/>
              </a:ext>
            </a:extLst>
          </p:cNvPr>
          <p:cNvSpPr/>
          <p:nvPr/>
        </p:nvSpPr>
        <p:spPr>
          <a:xfrm>
            <a:off x="7512459" y="3429000"/>
            <a:ext cx="3239588" cy="9908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Eng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oddiy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misol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1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parametrsiz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salom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():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Salom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dunyo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!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5546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D420FFE-DEB7-43EB-9EFD-50A99F134E2A}"/>
              </a:ext>
            </a:extLst>
          </p:cNvPr>
          <p:cNvSpPr/>
          <p:nvPr/>
        </p:nvSpPr>
        <p:spPr>
          <a:xfrm>
            <a:off x="1358537" y="864592"/>
            <a:ext cx="9474926" cy="40563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3)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Funksiyani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chaqirish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Funksiyani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tushirish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chaqirish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deyiladi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Sintaksis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 err="1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funksiya_nomi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agar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parametrlar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bo‘lsa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funksiya_nomi</a:t>
            </a:r>
            <a:r>
              <a:rPr lang="en-US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(arg1, arg2, ...)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 err="1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salom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       </a:t>
            </a:r>
            <a:r>
              <a:rPr lang="en-US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Salom</a:t>
            </a:r>
            <a:r>
              <a:rPr lang="en-US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lang="en-US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dunyo</a:t>
            </a:r>
            <a:r>
              <a:rPr lang="en-US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!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 err="1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salom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       </a:t>
            </a:r>
            <a:r>
              <a:rPr lang="en-US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Salom</a:t>
            </a:r>
            <a:r>
              <a:rPr lang="en-US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lang="en-US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dunyo</a:t>
            </a:r>
            <a:r>
              <a:rPr lang="en-US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!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Muhim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salom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qavssiz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—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funksiya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obyektiga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ishora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salom</a:t>
            </a:r>
            <a:r>
              <a:rPr lang="en-US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—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chaqirish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tushirish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Qavsni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unutish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keng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tarqalgan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xato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51700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E4D87B1-190B-4F22-BE76-1B33AF95E11D}"/>
              </a:ext>
            </a:extLst>
          </p:cNvPr>
          <p:cNvSpPr/>
          <p:nvPr/>
        </p:nvSpPr>
        <p:spPr>
          <a:xfrm>
            <a:off x="1558834" y="886098"/>
            <a:ext cx="9074332" cy="4721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4) </a:t>
            </a:r>
            <a:r>
              <a:rPr lang="en-US" b="1" dirty="0"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print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return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farqi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20000"/>
              </a:lnSpc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print(...)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natijani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ekranga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chiqaradi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lekin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qiymat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qaytarmaydi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20000"/>
              </a:lnSpc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return </a:t>
            </a:r>
            <a:r>
              <a:rPr lang="en-US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qiymat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qiymat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qaytaradi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keyin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undan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o‘zgaruvchiga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saqlab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foydalanish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mumkin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).</a:t>
            </a:r>
          </a:p>
          <a:p>
            <a:pPr lvl="0">
              <a:lnSpc>
                <a:spcPct val="120000"/>
              </a:lnSpc>
              <a:spcAft>
                <a:spcPts val="0"/>
              </a:spcAft>
              <a:buSzPts val="1000"/>
              <a:tabLst>
                <a:tab pos="457200" algn="l"/>
              </a:tabLst>
            </a:pP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kvadrat_print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n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n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*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n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      </a:t>
            </a:r>
            <a:r>
              <a:rPr lang="en-US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faqat</a:t>
            </a:r>
            <a:r>
              <a:rPr lang="en-US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chiqaradi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kvadrat_return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n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return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n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*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n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      </a:t>
            </a:r>
            <a:r>
              <a:rPr lang="en-US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qiymat</a:t>
            </a:r>
            <a:r>
              <a:rPr lang="en-US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qaytaradi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>
              <a:lnSpc>
                <a:spcPct val="120000"/>
              </a:lnSpc>
              <a:spcAft>
                <a:spcPts val="0"/>
              </a:spcAft>
            </a:pPr>
            <a:r>
              <a:rPr lang="en-US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kvadrat_print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5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      </a:t>
            </a:r>
            <a:r>
              <a:rPr lang="en-US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ekranga</a:t>
            </a:r>
            <a:r>
              <a:rPr lang="en-US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25 </a:t>
            </a:r>
            <a:r>
              <a:rPr lang="en-US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yozadi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x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kvadrat_return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5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 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>
              <a:lnSpc>
                <a:spcPct val="120000"/>
              </a:lnSpc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x =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x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       </a:t>
            </a:r>
            <a:r>
              <a:rPr lang="en-US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x = 25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6898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51AEA4E-0AED-4124-8DB7-961169310E4A}"/>
              </a:ext>
            </a:extLst>
          </p:cNvPr>
          <p:cNvSpPr/>
          <p:nvPr/>
        </p:nvSpPr>
        <p:spPr>
          <a:xfrm>
            <a:off x="1323703" y="1063118"/>
            <a:ext cx="9544594" cy="37239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5)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Qachon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return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kerak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bo‘ladi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?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20000"/>
              </a:lnSpc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Natijani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keyinroq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hisob-kitoblarda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ishlatmoqchi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bo‘lsangiz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20000"/>
              </a:lnSpc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Funksiya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qiymat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hisoblab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berishi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kerak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bo‘lsa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masalan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matematik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funksiya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).</a:t>
            </a:r>
          </a:p>
          <a:p>
            <a:pPr lvl="0">
              <a:lnSpc>
                <a:spcPct val="120000"/>
              </a:lnSpc>
              <a:spcAft>
                <a:spcPts val="0"/>
              </a:spcAft>
              <a:buSzPts val="1000"/>
              <a:tabLst>
                <a:tab pos="457200" algn="l"/>
              </a:tabLst>
            </a:pP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uchburchak_yuzi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h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return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*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h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/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2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uchburchak_yuzi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10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6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>
              <a:lnSpc>
                <a:spcPct val="120000"/>
              </a:lnSpc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 </a:t>
            </a:r>
            <a:r>
              <a:rPr lang="en-US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30.0</a:t>
            </a:r>
          </a:p>
          <a:p>
            <a:pPr marL="228600">
              <a:lnSpc>
                <a:spcPct val="120000"/>
              </a:lnSpc>
              <a:spcAft>
                <a:spcPts val="0"/>
              </a:spcAft>
            </a:pP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return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bajarilgach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funksiya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shu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zahoti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tugaydi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undan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keyingi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satrlar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ishlamaydi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65851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E3764CB-62DC-45BE-AEC8-05A7BE437FDA}"/>
              </a:ext>
            </a:extLst>
          </p:cNvPr>
          <p:cNvSpPr/>
          <p:nvPr/>
        </p:nvSpPr>
        <p:spPr>
          <a:xfrm>
            <a:off x="1750423" y="1173480"/>
            <a:ext cx="8813074" cy="33915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6)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Ko‘p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qiymat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qaytarish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Python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bitta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return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bilan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bir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nechta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qiymat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qaytara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(tuple):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min_max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sonlar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dirty="0" err="1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mn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min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sonlar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mx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max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sonlar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return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mn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mx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min_max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([</a:t>
            </a:r>
            <a:r>
              <a:rPr lang="en-US" dirty="0"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3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9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1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7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])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 </a:t>
            </a:r>
            <a:r>
              <a:rPr lang="en-US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ajratib</a:t>
            </a:r>
            <a:r>
              <a:rPr lang="en-US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olish</a:t>
            </a:r>
            <a:r>
              <a:rPr lang="en-US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(unpacking)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                  </a:t>
            </a:r>
            <a:r>
              <a:rPr lang="en-US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1 9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8423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30421F3-6BC5-4C03-B510-9A6ABD22DE5D}"/>
              </a:ext>
            </a:extLst>
          </p:cNvPr>
          <p:cNvSpPr/>
          <p:nvPr/>
        </p:nvSpPr>
        <p:spPr>
          <a:xfrm>
            <a:off x="1332411" y="1084989"/>
            <a:ext cx="9527178" cy="33873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7) Docstring (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ixtiyoriy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lekin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foydali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Docstring —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funksiya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boshida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yoziladigan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matnli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izoh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U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funksiya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nima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qilishini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qisqa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tushuntiradi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help()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orqali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ko‘rsatib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beradi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algn="just">
              <a:lnSpc>
                <a:spcPct val="120000"/>
              </a:lnSpc>
              <a:spcAft>
                <a:spcPts val="0"/>
              </a:spcAft>
            </a:pP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salom_ber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ism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"""</a:t>
            </a:r>
            <a:r>
              <a:rPr lang="en-US" dirty="0" err="1"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Foydalanuvchi</a:t>
            </a:r>
            <a:r>
              <a:rPr lang="en-US" dirty="0"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bilan</a:t>
            </a:r>
            <a:r>
              <a:rPr lang="en-US" dirty="0"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salomlashadi</a:t>
            </a:r>
            <a:r>
              <a:rPr lang="en-US" dirty="0"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"""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lang="en-US" dirty="0" err="1"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"Salom</a:t>
            </a:r>
            <a:r>
              <a:rPr lang="en-US" dirty="0"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lang="en-US" dirty="0"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{</a:t>
            </a:r>
            <a:r>
              <a:rPr lang="en-US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ism</a:t>
            </a:r>
            <a:r>
              <a:rPr lang="en-US" dirty="0"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r>
              <a:rPr lang="en-US" dirty="0"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!"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b="1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help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salom_ber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 </a:t>
            </a:r>
            <a:r>
              <a:rPr lang="en-US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docstring </a:t>
            </a:r>
            <a:r>
              <a:rPr lang="en-US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chiqadi</a:t>
            </a:r>
            <a:endParaRPr lang="en-US" i="1" dirty="0">
              <a:solidFill>
                <a:srgbClr val="AAAAAA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Ya’ni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docstring —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funksiya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maqsadini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qisqacha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yozib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qo‘yish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ishlatiladi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F6E19AA-BC91-42A6-AA17-0132AB995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2411" y="4765415"/>
            <a:ext cx="9527178" cy="523220"/>
          </a:xfrm>
          <a:prstGeom prst="rect">
            <a:avLst/>
          </a:prstGeom>
          <a:solidFill>
            <a:srgbClr val="00282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2AAFF"/>
                </a:solidFill>
                <a:effectLst/>
                <a:latin typeface="Consolas" panose="020B0609020204030204" pitchFamily="49" charset="0"/>
              </a:rPr>
              <a:t>salom_ber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ism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Foydalanuvchi bilan salomlashadi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.</a:t>
            </a:r>
            <a:endParaRPr kumimoji="0" lang="LID4096" altLang="LID4096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9440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D089E68-0FAF-4A39-BF05-8F9964711A79}"/>
              </a:ext>
            </a:extLst>
          </p:cNvPr>
          <p:cNvSpPr/>
          <p:nvPr/>
        </p:nvSpPr>
        <p:spPr>
          <a:xfrm>
            <a:off x="2107474" y="1079912"/>
            <a:ext cx="7977052" cy="340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8) Type hint (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o‘qishni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osonlashtiradi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Type hint —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parametr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natijaning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turini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ko‘rsatish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Kodni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tushunish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o‘qishni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osonlashtiradi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Misol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kuch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n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-&gt;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"""</a:t>
            </a:r>
            <a:r>
              <a:rPr lang="en-US" dirty="0"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 </a:t>
            </a:r>
            <a:r>
              <a:rPr lang="en-US" dirty="0" err="1"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ning</a:t>
            </a:r>
            <a:r>
              <a:rPr lang="en-US" dirty="0"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n-</a:t>
            </a:r>
            <a:r>
              <a:rPr lang="en-US" dirty="0" err="1"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darajasi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"""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return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**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n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Bu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yerda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butun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son (</a:t>
            </a:r>
            <a:r>
              <a:rPr lang="en-US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natija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ham </a:t>
            </a:r>
            <a:r>
              <a:rPr lang="en-US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76134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>
            <a:extLst>
              <a:ext uri="{FF2B5EF4-FFF2-40B4-BE49-F238E27FC236}">
                <a16:creationId xmlns:a16="http://schemas.microsoft.com/office/drawing/2014/main" id="{86FCB4C6-CF2A-47AF-B16E-8749432EB8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1510" y="559160"/>
            <a:ext cx="8688980" cy="4720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9)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Kod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bajarilish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tartibi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(Execution order)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 har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doim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kodni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yuqoridan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pastga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qarab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ketma-ket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bajaradi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ru-RU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Shuning</a:t>
            </a:r>
            <a:r>
              <a:rPr kumimoji="0" lang="ru-RU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kumimoji="0" lang="ru-RU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Funksiya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avval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aniqlanib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keyin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chaqirilishi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kerak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Agar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aniqlashdan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oldin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chaqirilsa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NameError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chiqadi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57200" algn="l"/>
              </a:tabLst>
            </a:pP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</a:rPr>
              <a:t>Misol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</a:rPr>
              <a:t>: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():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OK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 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ishlaydi</a:t>
            </a:r>
            <a:endParaRPr kumimoji="0" lang="en-US" altLang="LID4096" b="0" i="1" u="none" strike="noStrike" cap="none" normalizeH="0" baseline="0" dirty="0">
              <a:ln>
                <a:noFill/>
              </a:ln>
              <a:solidFill>
                <a:srgbClr val="AAAAAA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 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xato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: 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funksiya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hali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aniqlanmagan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():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Hello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endParaRPr kumimoji="0" lang="en-US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5901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D034A6D-8DCE-45AA-869D-D70B73A65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2755" y="0"/>
            <a:ext cx="10126490" cy="22793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mashqlar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ru-RU" altLang="LID4096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Savol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1. (print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return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farqi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0" lang="ru-RU" altLang="LID4096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Do‘kon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savdo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dasturida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hisobla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funksiyasini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yozing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u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berilgan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mahsulot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narxi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sonini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qabul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qiladi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Birinchi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variant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faqat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ekranga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chiqarishi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kerak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Ikkinchi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variant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qiymat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qaytarishi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kerak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Farqini</a:t>
            </a:r>
            <a:r>
              <a:rPr kumimoji="0" lang="ru-RU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tushuntiring</a:t>
            </a:r>
            <a:r>
              <a:rPr kumimoji="0" lang="ru-RU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E05B7DA-6ECA-4D10-8B4E-8407295D8608}"/>
              </a:ext>
            </a:extLst>
          </p:cNvPr>
          <p:cNvSpPr/>
          <p:nvPr/>
        </p:nvSpPr>
        <p:spPr>
          <a:xfrm>
            <a:off x="1032755" y="2342044"/>
            <a:ext cx="10126490" cy="44246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Javob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>
              <a:lnSpc>
                <a:spcPct val="120000"/>
              </a:lnSpc>
            </a:pP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faqat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chiqaradigan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funksiya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hisobla_print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narx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son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Umumiy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summa: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narx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*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son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0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qiymat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qaytaradigan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funksiya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hisobla_return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narx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son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return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narx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*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son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hisobla_print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5000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3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 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"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Umumiy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summa: 15000"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8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umumiy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hisobla_return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5000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3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Chekda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ko‘rsatilgan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summa: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umumiy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15000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Birinchisi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faqat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chiqaradi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keyin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boshqa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joyda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ishlatib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bo‘lmaydi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Ikkinchisi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esa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qiymatni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saqlab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boshqa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hisob-kitobda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ham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ishlatish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mumkin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77734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B086CCE-D569-49BF-92C8-43540CEC2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8633" y="932547"/>
            <a:ext cx="839473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Savol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2. </a:t>
            </a:r>
            <a:endParaRPr kumimoji="0" lang="ru-RU" altLang="LID4096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Sportchilar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ro‘yxatidan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tez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sekin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yugurganni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topadigan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rekord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funksiyasini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A46F551-F626-4F60-8AB0-EB2A2B218D66}"/>
              </a:ext>
            </a:extLst>
          </p:cNvPr>
          <p:cNvSpPr/>
          <p:nvPr/>
        </p:nvSpPr>
        <p:spPr>
          <a:xfrm>
            <a:off x="1898633" y="2020922"/>
            <a:ext cx="8394734" cy="36121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Javob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>
              <a:lnSpc>
                <a:spcPct val="120000"/>
              </a:lnSpc>
            </a:pP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rekord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vaqtlar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min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vaqtlar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mx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max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vaqtlar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return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mn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mx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min_vaqt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max_vaqt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rekord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([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12.5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11.8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13.0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10.9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])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Eng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tezkor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min_vaqt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Eng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sekin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max_vaqt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Funksiya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tuple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qaytaradi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biz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esa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natijani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alohida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o‘zgaruvchilarga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ajratib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olamiz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13453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8231E5F-842B-408A-9575-56BDC350F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80" y="441310"/>
            <a:ext cx="109536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Savol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3. (Docstring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help)</a:t>
            </a:r>
            <a:endParaRPr kumimoji="0" lang="ru-RU" altLang="LID4096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Bank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hisobidan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pul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yechadigan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pul_yech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funksiyasini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unga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docstring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qo‘shing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Keyin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help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natijani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ko‘rsating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4E6DD2D-22FE-45B4-9F26-13ACB4F6228E}"/>
              </a:ext>
            </a:extLst>
          </p:cNvPr>
          <p:cNvSpPr/>
          <p:nvPr/>
        </p:nvSpPr>
        <p:spPr>
          <a:xfrm>
            <a:off x="2255520" y="2276368"/>
            <a:ext cx="7680960" cy="33203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Javob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>
              <a:lnSpc>
                <a:spcPct val="120000"/>
              </a:lnSpc>
            </a:pP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pul_yech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balans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summa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"""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Balansdan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summa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yechib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qolganini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qaytaradi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"""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summa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&gt;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balans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return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Xatolik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balans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yetarli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emas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return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balans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-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summa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help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pul_yech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pul_yech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1000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300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 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700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878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12065E7-5FAB-405A-832E-AFE549BCE7B2}"/>
              </a:ext>
            </a:extLst>
          </p:cNvPr>
          <p:cNvSpPr/>
          <p:nvPr/>
        </p:nvSpPr>
        <p:spPr>
          <a:xfrm>
            <a:off x="3048000" y="751531"/>
            <a:ext cx="6096000" cy="21385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sz="1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Savol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4. (Execution order)</a:t>
            </a:r>
          </a:p>
          <a:p>
            <a:pPr>
              <a:lnSpc>
                <a:spcPct val="120000"/>
              </a:lnSpc>
            </a:pP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Quyidagi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nima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xato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beradi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?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To‘g‘ri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variantini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yozing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hisob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 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Xato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aniqlashdan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oldin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chaqirilgan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hisob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():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Hisoblash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boshlandi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20A1762-B155-42E7-956D-98A1700F6F6C}"/>
              </a:ext>
            </a:extLst>
          </p:cNvPr>
          <p:cNvSpPr/>
          <p:nvPr/>
        </p:nvSpPr>
        <p:spPr>
          <a:xfrm>
            <a:off x="3048000" y="3370791"/>
            <a:ext cx="6096000" cy="213481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To‘g‘ri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variant: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hisob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():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Hisoblash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boshlandi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hisob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 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endi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ishlaydi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Python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kodni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yuqoridan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pastga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bajaradi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shuning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funksiya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oldin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e’lon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qilinishi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kerak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15719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2B59CFA-8393-40EA-95C1-BDE75D097410}"/>
              </a:ext>
            </a:extLst>
          </p:cNvPr>
          <p:cNvSpPr/>
          <p:nvPr/>
        </p:nvSpPr>
        <p:spPr>
          <a:xfrm>
            <a:off x="0" y="21479"/>
            <a:ext cx="121920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2. </a:t>
            </a:r>
            <a:r>
              <a:rPr lang="en-US" sz="28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Parametrli</a:t>
            </a:r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va</a:t>
            </a:r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parametrsiz</a:t>
            </a:r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funksiya</a:t>
            </a:r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.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30580BE0-2D41-4D39-9181-E05951F15961}"/>
              </a:ext>
            </a:extLst>
          </p:cNvPr>
          <p:cNvCxnSpPr/>
          <p:nvPr/>
        </p:nvCxnSpPr>
        <p:spPr>
          <a:xfrm>
            <a:off x="0" y="544699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B105B3F-CFFF-4F69-B62A-2E9C00ADB809}"/>
              </a:ext>
            </a:extLst>
          </p:cNvPr>
          <p:cNvSpPr/>
          <p:nvPr/>
        </p:nvSpPr>
        <p:spPr>
          <a:xfrm>
            <a:off x="1776549" y="1400848"/>
            <a:ext cx="8638902" cy="40563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Parametrsiz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funksiya</a:t>
            </a:r>
            <a:endParaRPr lang="en-US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Ta’rif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Parametrsiz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funksiya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chaqirilganda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tashqaridan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qiymat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olmaydigan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o‘z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ichki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ma’lumotlari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global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ma’lumotlar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bilan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ishlaydigan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funksiya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Sintaksis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>
              <a:lnSpc>
                <a:spcPct val="120000"/>
              </a:lnSpc>
            </a:pP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salom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"""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Oddiy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salomlashish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"""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Salom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dunyo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!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Chaqirish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>
              <a:lnSpc>
                <a:spcPct val="120000"/>
              </a:lnSpc>
            </a:pP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salom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"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Salom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dunyo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!"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chiqadi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69792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A027584-E7BC-484B-AFD8-8FC4711B01EA}"/>
              </a:ext>
            </a:extLst>
          </p:cNvPr>
          <p:cNvSpPr/>
          <p:nvPr/>
        </p:nvSpPr>
        <p:spPr>
          <a:xfrm>
            <a:off x="1593669" y="84993"/>
            <a:ext cx="9004662" cy="5381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Parametrsiz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funksiya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qachon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kerak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?</a:t>
            </a:r>
          </a:p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1. Bir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xil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ishni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takror-takror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bajarish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Masalan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konsolda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chiziq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chizish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menyu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chiqarish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har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safar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xil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xabarni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ko‘rsatish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ajratkich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-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*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30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menyu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1) 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Boshlash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2) 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Sozlamalar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3) 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Chiqish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Har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safar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kerak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bo‘lganda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chaqiramiz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ajratkich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menyu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ajratkich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Bu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yerda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hech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qanday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parametr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kiritish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shart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emas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chunki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funksiya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doim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bir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xil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narsani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C03C701-6811-4DD8-955F-F8809963B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2874" y="5466723"/>
            <a:ext cx="3166251" cy="1169551"/>
          </a:xfrm>
          <a:prstGeom prst="rect">
            <a:avLst/>
          </a:prstGeom>
          <a:solidFill>
            <a:srgbClr val="00282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------------------------------</a:t>
            </a:r>
            <a:b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Boshlash</a:t>
            </a:r>
            <a:b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Sozlamalar</a:t>
            </a:r>
            <a:b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b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------------------------------</a:t>
            </a:r>
            <a:endParaRPr kumimoji="0" lang="LID4096" altLang="LID4096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67657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7117BC6-E25B-4E3C-BD9F-3C365218A21C}"/>
              </a:ext>
            </a:extLst>
          </p:cNvPr>
          <p:cNvSpPr/>
          <p:nvPr/>
        </p:nvSpPr>
        <p:spPr>
          <a:xfrm>
            <a:off x="1733006" y="1011743"/>
            <a:ext cx="8725988" cy="47169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2. Test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demo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maqsadlarida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Yangi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dastur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yozayotganda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kodni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sinash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misol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ko‘rsatish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oddiy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funksiyalar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kerak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salom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Salom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dunyo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!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Test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qilamiz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salom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"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Salom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dunyo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!"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salom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yana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chiqaradi</a:t>
            </a:r>
            <a:endParaRPr lang="en-US" i="1" dirty="0">
              <a:solidFill>
                <a:srgbClr val="AAAAAA"/>
              </a:solidFill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Bu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funksiyaning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foydasi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dastur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ishlayotganini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ko‘rsatish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algn="just">
              <a:lnSpc>
                <a:spcPct val="120000"/>
              </a:lnSpc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Xulosa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Parametrsiz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funksiya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— har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safar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bir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xil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natija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kerak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bo‘lganda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oddiy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misol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/test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qulay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27286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5C38593-7925-42A2-BEE7-BAB2C1DE6172}"/>
              </a:ext>
            </a:extLst>
          </p:cNvPr>
          <p:cNvSpPr/>
          <p:nvPr/>
        </p:nvSpPr>
        <p:spPr>
          <a:xfrm>
            <a:off x="1994263" y="1281048"/>
            <a:ext cx="8203474" cy="33665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Argumentlarni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berish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usullari</a:t>
            </a:r>
            <a:endParaRPr lang="en-US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1.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Pozitsion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tartib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bo‘yicha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>
              <a:lnSpc>
                <a:spcPct val="150000"/>
              </a:lnSpc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pow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2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5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2**5: 32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2.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Kalit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so‘z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(keyword)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orqali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>
              <a:lnSpc>
                <a:spcPct val="150000"/>
              </a:lnSpc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pow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x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2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5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o'qish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aniqroq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3.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Aralash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>
              <a:lnSpc>
                <a:spcPct val="150000"/>
              </a:lnSpc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pow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2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5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OK: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avval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pozitsion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keyin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keyword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!!!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Kalit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so‘zdan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keyin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yana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pozitsion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argument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berib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bo‘lmaydi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295821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6EF34ED-3B4E-4E71-BF48-5C51EA27207C}"/>
              </a:ext>
            </a:extLst>
          </p:cNvPr>
          <p:cNvSpPr/>
          <p:nvPr/>
        </p:nvSpPr>
        <p:spPr>
          <a:xfrm>
            <a:off x="2046514" y="545622"/>
            <a:ext cx="8098972" cy="50327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Standart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qiymatlar</a:t>
            </a:r>
            <a:endParaRPr lang="en-US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Parametrlarni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ixtiyoriy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qilish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standart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qiymat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berish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salom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ism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="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dunyo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"):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"Salom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{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ism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!"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salom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        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"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Salom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dunyo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!"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salom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Ali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"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Salom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 Ali!“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Tavsiya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Majburiy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parametrlar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chapda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ixtiyoriylari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o‘ngda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tursin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connect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host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port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5432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timeout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5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...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71174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617E251-29FF-4601-9410-E60F8469E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5601" y="1951544"/>
            <a:ext cx="6660798" cy="29549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None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ixtiyoriy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parametrlar</a:t>
            </a:r>
            <a:endParaRPr kumimoji="0" lang="ru-RU" altLang="LID4096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Ba’zan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berilsa-berilsin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berilmasa-berilmasin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mantiqi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kerak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bo‘ladi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greet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name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None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if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name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is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None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Salom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!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else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"Salom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{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name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!"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kumimoji="0" lang="en-US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5899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A6535A-C94A-44F2-9C37-146996225B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9379" y="705049"/>
            <a:ext cx="9313242" cy="54479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Ko‘p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sonli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argumentlar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*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args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**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kwargs</a:t>
            </a:r>
            <a:endParaRPr kumimoji="0" lang="ru-RU" altLang="LID4096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*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args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—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cheklanmagan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pozitsion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argumentlar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tuple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ko‘rinishida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keladi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**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kwargs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—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cheklanmagan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keyword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argumentlar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dict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ko‘rinishida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keladi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57200" algn="l"/>
              </a:tabLst>
            </a:pP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summa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(*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args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return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sum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args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info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(**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kwargs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masalan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: ism="Ali", 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yosh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=20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for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kalit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qiymat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kwargs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items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():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kalit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→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qiymat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summa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1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2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3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4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))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10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info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ism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="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Ali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yosh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20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kumimoji="0" lang="en-US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19213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06308C2-71AC-453C-A630-6D713B3AFF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960" y="690910"/>
            <a:ext cx="10323660" cy="4196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Python’da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funksiya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parametrlarni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belgilash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tartibida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aniq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qoida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bor. U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quyidagicha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Parametrlarni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belgilash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tartibi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pozitsion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standart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*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keyword-only → **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kwargs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LID4096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0" lang="ru-RU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️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Pozitsion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parametrlar</a:t>
            </a:r>
            <a:endParaRPr kumimoji="0" lang="ru-RU" altLang="LID4096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Bular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majburiy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bo‘lgan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oddiy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parametrlar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Chaqirilganda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tartib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bo‘yicha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beriladi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b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b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1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2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 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a=1, b=2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70434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C5496B2-C2AC-48EF-A2DB-03B9865D4D17}"/>
              </a:ext>
            </a:extLst>
          </p:cNvPr>
          <p:cNvSpPr/>
          <p:nvPr/>
        </p:nvSpPr>
        <p:spPr>
          <a:xfrm>
            <a:off x="2307771" y="1535885"/>
            <a:ext cx="7576458" cy="37862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2️</a:t>
            </a:r>
            <a:r>
              <a:rPr lang="en-US" b="1" dirty="0">
                <a:latin typeface="Tahoma" panose="020B0604030504040204" pitchFamily="34" charset="0"/>
                <a:ea typeface="Times New Roman" panose="02020603050405020304" pitchFamily="18" charset="0"/>
              </a:rPr>
              <a:t>.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Standart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(default)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parametrlar</a:t>
            </a:r>
            <a:endParaRPr lang="en-US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Agar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qiymat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berilmasa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oldindan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belgilangan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qiymat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ishlatiladi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Majburiy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pozitsion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parametrlar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har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doim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oldinda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turadi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10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5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      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a=5, b=10 (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standart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5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7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a=5, b=7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652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7B5C249-6713-4BA2-BBEB-DECD03C5C3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1726" y="1742480"/>
            <a:ext cx="7808548" cy="33730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0" lang="ru-RU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️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*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cheklanmagan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pozitsion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argumentlar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0" lang="ru-RU" altLang="LID4096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Qancha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pozitsion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qiymat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berilsa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hammasi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tuple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ko‘rinishida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*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ichiga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tushadi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*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args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 =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args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=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args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1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2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3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4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a=1, 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args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=(2, 3, 4)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91702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D1BBD5-B0DF-4A0A-81BF-934093307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9083" y="1951576"/>
            <a:ext cx="7213834" cy="29548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0" lang="ru-RU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️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Keyword-only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parametrlar</a:t>
            </a:r>
            <a:endParaRPr kumimoji="0" lang="ru-RU" altLang="LID4096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Agar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parametr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keyin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yozilsa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faqat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nomi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berish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kerak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*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b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c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0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b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c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1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b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2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      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OK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f(1, 2)        # 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ea typeface="Times New Roman" panose="02020603050405020304" pitchFamily="18" charset="0"/>
                <a:cs typeface="Segoe UI Emoji" panose="020B0502040204020203" pitchFamily="34" charset="0"/>
              </a:rPr>
              <a:t>❌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Xato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: b 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ni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nom 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bilan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yozish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shart</a:t>
            </a:r>
            <a:endParaRPr kumimoji="0" lang="en-US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68151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B10CC0-96FD-4A7D-A277-61CAE61925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1074" y="1951545"/>
            <a:ext cx="7685117" cy="29549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kumimoji="0" lang="ru-RU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️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**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kwargs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cheklanmagan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keyword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argumentlar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0" lang="ru-RU" altLang="LID4096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Qo‘shimcha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kalit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qiymat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ko‘rinishidagi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argumentlar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dict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sifatida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yig‘iladi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(**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kwargs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kwargs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ism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="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Ali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yosh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20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{'ism': 'Ali', '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yosh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': 20}</a:t>
            </a:r>
            <a:endParaRPr kumimoji="0" lang="en-US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65087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8867CD3-555D-46CF-B20F-3E140F0B087A}"/>
              </a:ext>
            </a:extLst>
          </p:cNvPr>
          <p:cNvSpPr/>
          <p:nvPr/>
        </p:nvSpPr>
        <p:spPr>
          <a:xfrm>
            <a:off x="2664823" y="177348"/>
            <a:ext cx="6862354" cy="37862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6️</a:t>
            </a:r>
            <a:r>
              <a:rPr lang="en-US" b="1" dirty="0">
                <a:latin typeface="Tahoma" panose="020B0604030504040204" pitchFamily="34" charset="0"/>
                <a:ea typeface="Times New Roman" panose="02020603050405020304" pitchFamily="18" charset="0"/>
              </a:rPr>
              <a:t>.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Parametr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turlarining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to‘liq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kombinatsiyasi</a:t>
            </a:r>
            <a:endParaRPr lang="en-US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demo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0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*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args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**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kwargs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 =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 =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args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=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args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 =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kwargs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=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kwargs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demo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2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3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4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5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6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x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7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8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4B3B5B1-EBA9-4D4D-A63F-0DC74E3D7876}"/>
              </a:ext>
            </a:extLst>
          </p:cNvPr>
          <p:cNvSpPr/>
          <p:nvPr/>
        </p:nvSpPr>
        <p:spPr>
          <a:xfrm>
            <a:off x="2664823" y="4176151"/>
            <a:ext cx="8130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Natija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B5BBD33-4E83-425F-8B89-03A54EF8AD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4823" y="4583170"/>
            <a:ext cx="4458272" cy="1365438"/>
          </a:xfrm>
          <a:prstGeom prst="rect">
            <a:avLst/>
          </a:prstGeom>
          <a:solidFill>
            <a:srgbClr val="00282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a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1                 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005454"/>
                </a:solidFill>
                <a:effectLst/>
                <a:latin typeface="Consolas" panose="020B0609020204030204" pitchFamily="49" charset="0"/>
              </a:rPr>
              <a:t># pozitsion</a:t>
            </a:r>
            <a:b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005454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b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2                 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005454"/>
                </a:solidFill>
                <a:effectLst/>
                <a:latin typeface="Consolas" panose="020B0609020204030204" pitchFamily="49" charset="0"/>
              </a:rPr>
              <a:t># standart (default)</a:t>
            </a:r>
            <a:b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005454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args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= (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)      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005454"/>
                </a:solidFill>
                <a:effectLst/>
                <a:latin typeface="Consolas" panose="020B0609020204030204" pitchFamily="49" charset="0"/>
              </a:rPr>
              <a:t># *args</a:t>
            </a:r>
            <a:b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005454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6                 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005454"/>
                </a:solidFill>
                <a:effectLst/>
                <a:latin typeface="Consolas" panose="020B0609020204030204" pitchFamily="49" charset="0"/>
              </a:rPr>
              <a:t># keyword-only</a:t>
            </a:r>
            <a:b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005454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kwargs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= {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C3E88D"/>
                </a:solidFill>
                <a:effectLst/>
                <a:latin typeface="Consolas" panose="020B0609020204030204" pitchFamily="49" charset="0"/>
              </a:rPr>
              <a:t>'x'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C3E88D"/>
                </a:solidFill>
                <a:effectLst/>
                <a:latin typeface="Consolas" panose="020B0609020204030204" pitchFamily="49" charset="0"/>
              </a:rPr>
              <a:t>'y'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}  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005454"/>
                </a:solidFill>
                <a:effectLst/>
                <a:latin typeface="Consolas" panose="020B0609020204030204" pitchFamily="49" charset="0"/>
              </a:rPr>
              <a:t># **kwargs</a:t>
            </a:r>
            <a:endParaRPr kumimoji="0" lang="LID4096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6545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9B32BBB-AD7E-4A46-8242-D1E0CB989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8780" y="0"/>
            <a:ext cx="4974439" cy="2951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Xulosa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Funksiya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parametrlarini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e’lon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qilishda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tartib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qattiq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ru-RU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Oddiy</a:t>
            </a:r>
            <a:r>
              <a:rPr kumimoji="0" lang="ru-RU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pozitsionlar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ru-RU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Standart</a:t>
            </a:r>
            <a:r>
              <a:rPr kumimoji="0" lang="ru-RU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ru-RU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default</a:t>
            </a:r>
            <a:r>
              <a:rPr kumimoji="0" lang="ru-RU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0" lang="ru-RU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parametrlar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ru-RU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kumimoji="0" lang="ru-RU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Keyword-only (agar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ru-RU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**</a:t>
            </a:r>
            <a:r>
              <a:rPr kumimoji="0" lang="ru-RU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kwargs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AF8812C-DAAE-4BAB-9435-D4A6E261859D}"/>
              </a:ext>
            </a:extLst>
          </p:cNvPr>
          <p:cNvSpPr/>
          <p:nvPr/>
        </p:nvSpPr>
        <p:spPr>
          <a:xfrm>
            <a:off x="4008409" y="3244334"/>
            <a:ext cx="41751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b="1" kern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Python </a:t>
            </a:r>
            <a:r>
              <a:rPr lang="en-US" b="1" kern="1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funksiyadagi</a:t>
            </a:r>
            <a:r>
              <a:rPr lang="en-US" b="1" kern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kern="1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parametrlar</a:t>
            </a:r>
            <a:r>
              <a:rPr lang="en-US" b="1" kern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kern="1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tartibi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763AF2AF-1265-4349-B1AE-AB48975BAA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6447997"/>
              </p:ext>
            </p:extLst>
          </p:nvPr>
        </p:nvGraphicFramePr>
        <p:xfrm>
          <a:off x="853438" y="3659883"/>
          <a:ext cx="10485121" cy="283143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96391">
                  <a:extLst>
                    <a:ext uri="{9D8B030D-6E8A-4147-A177-3AD203B41FA5}">
                      <a16:colId xmlns:a16="http://schemas.microsoft.com/office/drawing/2014/main" val="2331218504"/>
                    </a:ext>
                  </a:extLst>
                </a:gridCol>
                <a:gridCol w="2586445">
                  <a:extLst>
                    <a:ext uri="{9D8B030D-6E8A-4147-A177-3AD203B41FA5}">
                      <a16:colId xmlns:a16="http://schemas.microsoft.com/office/drawing/2014/main" val="666602266"/>
                    </a:ext>
                  </a:extLst>
                </a:gridCol>
                <a:gridCol w="1776549">
                  <a:extLst>
                    <a:ext uri="{9D8B030D-6E8A-4147-A177-3AD203B41FA5}">
                      <a16:colId xmlns:a16="http://schemas.microsoft.com/office/drawing/2014/main" val="4198495072"/>
                    </a:ext>
                  </a:extLst>
                </a:gridCol>
                <a:gridCol w="5625736">
                  <a:extLst>
                    <a:ext uri="{9D8B030D-6E8A-4147-A177-3AD203B41FA5}">
                      <a16:colId xmlns:a16="http://schemas.microsoft.com/office/drawing/2014/main" val="1996668246"/>
                    </a:ext>
                  </a:extLst>
                </a:gridCol>
              </a:tblGrid>
              <a:tr h="45559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T/r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Parametr turi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Sintaksis ko‘rinishi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Xususiyati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95126256"/>
                  </a:ext>
                </a:extLst>
              </a:tr>
              <a:tr h="22779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1️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Pozitsion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majburiy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a, b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sv-SE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Argumentlar ketma-ketlik bo‘yicha beriladi.</a:t>
                      </a:r>
                      <a:endParaRPr lang="sv-SE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1123146"/>
                  </a:ext>
                </a:extLst>
              </a:tr>
              <a:tr h="45559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2️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Standart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(default)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b=0, c="hi"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Agar qiymat berilmasa, sukut (default) qiymat ishlatiladi.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44897753"/>
                  </a:ext>
                </a:extLst>
              </a:tr>
              <a:tr h="45559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3️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Cheklanmagan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pozitsion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*</a:t>
                      </a:r>
                      <a:r>
                        <a:rPr lang="en-US" sz="1800" dirty="0" err="1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args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Bir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nechta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qo‘shimcha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pozitsion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argumentlarni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tuple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sifatida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yig‘adi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64366220"/>
                  </a:ext>
                </a:extLst>
              </a:tr>
              <a:tr h="45559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4️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Keyword-only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*, d, e=1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sv-SE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 dan keyin kelgan parametrlar faqat nomi bilan berilishi kerak.</a:t>
                      </a:r>
                      <a:endParaRPr lang="sv-SE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92705486"/>
                  </a:ext>
                </a:extLst>
              </a:tr>
              <a:tr h="45559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5️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Cheklanmagan keyword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**</a:t>
                      </a:r>
                      <a:r>
                        <a:rPr lang="en-US" sz="1800" dirty="0" err="1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kwargs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Qo‘shimcha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kalit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qiymat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juftliklarini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dict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sifatida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yig‘adi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4029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7162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83CAD6-EF31-4B77-8D7E-CA44FF38C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223" y="129111"/>
            <a:ext cx="10964091" cy="5859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Keyword-only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positional-only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parametrlar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(advanced)</a:t>
            </a:r>
            <a:endParaRPr kumimoji="0" lang="ru-RU" altLang="LID4096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Python’da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parametrlarni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qanday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berish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mumkinligi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yanada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aniq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belgilash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 ta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maxsus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belgidan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foydalaniladi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ru-RU" altLang="LID4096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ru-RU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1️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ru-RU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kumimoji="0" lang="ru-RU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kumimoji="0" lang="ru-RU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Keyword-only</a:t>
            </a:r>
            <a:r>
              <a:rPr kumimoji="0" lang="ru-RU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parametrlar</a:t>
            </a:r>
            <a:endParaRPr kumimoji="0" lang="ru-RU" altLang="LID4096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keyin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yozilgan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parametrlar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faqat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nomi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berilishi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shart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Ularni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tartib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pozitsiya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bo‘yicha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yozib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bo‘lmaydi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ru-RU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Misol</a:t>
            </a:r>
            <a:r>
              <a:rPr kumimoji="0" lang="ru-RU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salom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ism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*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xabar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="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Salom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"):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{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xabar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{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ism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!"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salom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Ali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xabar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="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Assalomu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alaykum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OK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salom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("Ali", "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Assalomu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alaykum")      # 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ea typeface="Times New Roman" panose="02020603050405020304" pitchFamily="18" charset="0"/>
                <a:cs typeface="Segoe UI Emoji" panose="020B0502040204020203" pitchFamily="34" charset="0"/>
              </a:rPr>
              <a:t>❌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Xato</a:t>
            </a:r>
            <a:endParaRPr kumimoji="0" lang="en-US" altLang="LID4096" b="0" i="1" u="none" strike="noStrike" cap="none" normalizeH="0" baseline="0" dirty="0">
              <a:ln>
                <a:noFill/>
              </a:ln>
              <a:solidFill>
                <a:srgbClr val="AAAAAA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xabar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parametri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keyword-only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shuning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xabar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="..."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tarzida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yozish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kerak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4520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4836E0-6825-45E8-8617-E4CB504C04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4525" y="1120387"/>
            <a:ext cx="8662949" cy="4617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ru-RU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2️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ru-RU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kumimoji="0" lang="ru-RU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kumimoji="0" lang="ru-RU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Positional-only</a:t>
            </a:r>
            <a:r>
              <a:rPr kumimoji="0" lang="ru-RU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parametrlar</a:t>
            </a:r>
            <a:r>
              <a:rPr kumimoji="0" lang="ru-RU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ru-RU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kumimoji="0" lang="ru-RU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3.8+)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dan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oldin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yozilgan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parametrlar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faqat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pozitsion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tarzda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beriladi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Ularni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yozib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bo‘lmaydi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57200" algn="l"/>
              </a:tabLst>
            </a:pP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Misol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kvadrat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son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/):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return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son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*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son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kvadrat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5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))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    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OK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print(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kvadrat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(son=5)) # 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ea typeface="Times New Roman" panose="02020603050405020304" pitchFamily="18" charset="0"/>
                <a:cs typeface="Segoe UI Emoji" panose="020B0502040204020203" pitchFamily="34" charset="0"/>
              </a:rPr>
              <a:t>❌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Xato</a:t>
            </a:r>
            <a:endParaRPr kumimoji="0" lang="en-US" altLang="LID4096" b="0" i="1" u="none" strike="noStrike" cap="none" normalizeH="0" baseline="0" dirty="0">
              <a:ln>
                <a:noFill/>
              </a:ln>
              <a:solidFill>
                <a:srgbClr val="AAAAAA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parametri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positional-only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shuning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faqat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tartib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bo‘yicha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berish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0430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F3B21C-1ED2-40D9-9920-747C9D3B0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2972" y="207749"/>
            <a:ext cx="8986756" cy="6278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0" lang="ru-RU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️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Birlashtirish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birga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ishlatish</a:t>
            </a:r>
            <a:endParaRPr kumimoji="0" lang="en-US" altLang="LID4096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ru-RU" altLang="LID4096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b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/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c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*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d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a, b → 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faqat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pozitsion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c → 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pozitsion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ham, keyword ham 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bo'lishi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mumkin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d → 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faqat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keyword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return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+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b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+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c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+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d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ru-RU" altLang="LID4096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ru-RU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Tahlil</a:t>
            </a:r>
            <a:r>
              <a:rPr kumimoji="0" lang="ru-RU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a, b — /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oldida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shuning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faqat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pozitsion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o‘rtada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shuning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ikkala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usulda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ham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berish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keyin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shuning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faqat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keyword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kumimoji="0" lang="ru-RU" altLang="LID4096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ru-RU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Misol</a:t>
            </a:r>
            <a:r>
              <a:rPr kumimoji="0" lang="ru-RU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1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2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3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d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4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))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      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OK (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to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ea typeface="Times New Roman" panose="02020603050405020304" pitchFamily="18" charset="0"/>
                <a:cs typeface="Consolas" panose="020B0609020204030204" pitchFamily="49" charset="0"/>
              </a:rPr>
              <a:t>‘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g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ea typeface="Times New Roman" panose="02020603050405020304" pitchFamily="18" charset="0"/>
                <a:cs typeface="Consolas" panose="020B0609020204030204" pitchFamily="49" charset="0"/>
              </a:rPr>
              <a:t>‘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ri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print(f(a=1, b=2, c=3, d=4)) # 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ea typeface="Times New Roman" panose="02020603050405020304" pitchFamily="18" charset="0"/>
                <a:cs typeface="Segoe UI Emoji" panose="020B0502040204020203" pitchFamily="34" charset="0"/>
              </a:rPr>
              <a:t>❌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Xato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(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a,b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ni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nom 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bilan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bermaymiz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kumimoji="0" lang="en-US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30781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0609E7-04E1-4684-94E1-B5E698061C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635" y="2576715"/>
            <a:ext cx="6410729" cy="1704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ru-RU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Xulosa</a:t>
            </a:r>
            <a:endParaRPr kumimoji="0" lang="ru-RU" altLang="LID4096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ru-RU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kumimoji="0" lang="ru-RU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kumimoji="0" lang="ru-RU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undan</a:t>
            </a:r>
            <a:r>
              <a:rPr kumimoji="0" lang="ru-RU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oldingi</a:t>
            </a:r>
            <a:r>
              <a:rPr kumimoji="0" lang="ru-RU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parametrlar</a:t>
            </a:r>
            <a:r>
              <a:rPr kumimoji="0" lang="ru-RU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pozitsion-only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ru-RU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kumimoji="0" lang="ru-RU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kumimoji="0" lang="ru-RU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undan</a:t>
            </a:r>
            <a:r>
              <a:rPr kumimoji="0" lang="ru-RU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keyingi</a:t>
            </a:r>
            <a:r>
              <a:rPr kumimoji="0" lang="ru-RU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parametrlar</a:t>
            </a:r>
            <a:r>
              <a:rPr kumimoji="0" lang="ru-RU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keyword-only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O‘rtadagi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parametrlar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ikkala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usulda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ham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berilishi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59263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C6546C1-6EF6-4237-BE85-E0B35EF711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8165" y="221048"/>
            <a:ext cx="9735670" cy="1704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mashqlar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ru-RU" altLang="LID4096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Savol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1. (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Parametrsiz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funksiya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0" lang="ru-RU" altLang="LID4096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Har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safar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chiziq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chiqaradigan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ajratkich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funksiyasini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yozing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So‘ng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parametrli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ko‘rinishga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o‘tkazing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ya’ni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uzunlik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belgini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foydalanuvchi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belgilasin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7E222AA-4005-4393-8329-8AA85B013B39}"/>
              </a:ext>
            </a:extLst>
          </p:cNvPr>
          <p:cNvSpPr/>
          <p:nvPr/>
        </p:nvSpPr>
        <p:spPr>
          <a:xfrm>
            <a:off x="2551611" y="2114249"/>
            <a:ext cx="7088778" cy="4388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Javob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Parametrsiz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ajratkich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-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*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20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ajratkich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Parametrli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ajratkich2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uzunlik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20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belgi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-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"):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belgi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*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uzunlik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ajratkich2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    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--------------------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ajratkich2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10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*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**********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9285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F4EC17-D7BE-4927-B102-35D52A67F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001" y="184957"/>
            <a:ext cx="10777998" cy="1289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Savol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2. (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Pozitsion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keyword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argumentlar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0" lang="ru-RU" altLang="LID4096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uchburchak_yuzi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funksiyasini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yozing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Uni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pozitsion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argumentlar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keyword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argumentlar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aralash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usulda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chaqiring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F6C617D-7C3E-4DEE-B7F3-A00DB79B3F12}"/>
              </a:ext>
            </a:extLst>
          </p:cNvPr>
          <p:cNvSpPr/>
          <p:nvPr/>
        </p:nvSpPr>
        <p:spPr>
          <a:xfrm>
            <a:off x="2133600" y="1900748"/>
            <a:ext cx="7924800" cy="40563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Javob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uchburchak_yuzi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return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*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/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2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pozitsion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uchburchak_yuzi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10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5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   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keyword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uchburchak_yuzi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10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5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aralash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uchburchak_yuzi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10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5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0945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7ED73E2-178F-4484-9469-BD03D5262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4894" y="288631"/>
            <a:ext cx="7842211" cy="1708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Savol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3. 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(*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**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kwargs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0" lang="ru-RU" altLang="LID4096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hisobot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funksiyasini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yozing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Qancha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son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berilsa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hammasini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yig‘ib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chiqsin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(*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Foydalanuvchi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haqida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qo‘shimcha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ma’lumotlarni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(**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kwargs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ham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chiqarsin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B59ED1D-33EA-40B9-B613-1FDB52434CEF}"/>
              </a:ext>
            </a:extLst>
          </p:cNvPr>
          <p:cNvSpPr/>
          <p:nvPr/>
        </p:nvSpPr>
        <p:spPr>
          <a:xfrm>
            <a:off x="3047999" y="2644149"/>
            <a:ext cx="6096000" cy="295523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Javob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hisobot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(*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args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**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kwargs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Yig‘indi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sum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args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))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for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v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kwargs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items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{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{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v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hisobot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10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20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30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ism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Ali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yosh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25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2142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F3E9E5-8CD4-4617-84B0-6E533F7020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1225" y="194921"/>
            <a:ext cx="5817942" cy="1704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Savol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4. (Keyword-only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positional-only)</a:t>
            </a:r>
            <a:endParaRPr kumimoji="0" lang="ru-RU" altLang="LID4096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ru-RU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foiz_hisobla</a:t>
            </a:r>
            <a:r>
              <a:rPr kumimoji="0" lang="ru-RU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kumimoji="0" lang="ru-RU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funksiyasini</a:t>
            </a:r>
            <a:r>
              <a:rPr kumimoji="0" lang="ru-RU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yozing</a:t>
            </a:r>
            <a:r>
              <a:rPr kumimoji="0" lang="ru-RU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summa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faqat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pozitsion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berilsin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Foiz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stavkasi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faqat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keyword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berilsin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88D3AE5-33FD-4720-8406-9ED8A9FE5FEA}"/>
              </a:ext>
            </a:extLst>
          </p:cNvPr>
          <p:cNvSpPr/>
          <p:nvPr/>
        </p:nvSpPr>
        <p:spPr>
          <a:xfrm>
            <a:off x="1636598" y="2644149"/>
            <a:ext cx="9127196" cy="2539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Javob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foiz_hisobla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/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*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stavka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return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*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stavka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/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100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foiz_hisobla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1000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stavka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12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ru-RU" i="1" dirty="0">
                <a:solidFill>
                  <a:srgbClr val="AAAAAA"/>
                </a:solidFill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ru-RU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120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ru-RU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print(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foiz_hisobla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(s=1000,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stavka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=12))  # </a:t>
            </a:r>
            <a:r>
              <a:rPr lang="ru-RU" i="1" dirty="0">
                <a:solidFill>
                  <a:srgbClr val="AAAAAA"/>
                </a:solidFill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❌</a:t>
            </a:r>
            <a:r>
              <a:rPr lang="ru-RU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Xato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s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pozitsion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-only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9678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39</a:t>
            </a:fld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659" y="1508787"/>
            <a:ext cx="5376597" cy="4032448"/>
          </a:xfrm>
          <a:prstGeom prst="rect">
            <a:avLst/>
          </a:prstGeom>
        </p:spPr>
      </p:pic>
      <p:pic>
        <p:nvPicPr>
          <p:cNvPr id="6" name="Picture 2" descr="C:\Users\R.M.F\Desktop\artificial-intelligence-icon-ai-isometric-cloud-1292864125-without-background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502" y="95846"/>
            <a:ext cx="1388613" cy="1124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3425</Words>
  <Application>Microsoft Office PowerPoint</Application>
  <PresentationFormat>Широкоэкранный</PresentationFormat>
  <Paragraphs>435</Paragraphs>
  <Slides>39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39</vt:i4>
      </vt:variant>
    </vt:vector>
  </HeadingPairs>
  <TitlesOfParts>
    <vt:vector size="50" baseType="lpstr">
      <vt:lpstr>Arial</vt:lpstr>
      <vt:lpstr>Calibri</vt:lpstr>
      <vt:lpstr>Calibri Light</vt:lpstr>
      <vt:lpstr>Consolas</vt:lpstr>
      <vt:lpstr>Courier New</vt:lpstr>
      <vt:lpstr>Segoe UI Emoji</vt:lpstr>
      <vt:lpstr>Symbol</vt:lpstr>
      <vt:lpstr>Tahoma</vt:lpstr>
      <vt:lpstr>Times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124</cp:revision>
  <dcterms:created xsi:type="dcterms:W3CDTF">2025-09-25T15:33:21Z</dcterms:created>
  <dcterms:modified xsi:type="dcterms:W3CDTF">2025-09-26T05:09:18Z</dcterms:modified>
</cp:coreProperties>
</file>