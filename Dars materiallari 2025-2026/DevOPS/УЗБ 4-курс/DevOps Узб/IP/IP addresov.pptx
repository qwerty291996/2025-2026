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EC1F71B7-1A51-4F68-80F5-71F324D59F3C}"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3054397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C1F71B7-1A51-4F68-80F5-71F324D59F3C}"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4269222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EC1F71B7-1A51-4F68-80F5-71F324D59F3C}"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301162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EC1F71B7-1A51-4F68-80F5-71F324D59F3C}" type="datetimeFigureOut">
              <a:rPr lang="ru-RU" smtClean="0"/>
              <a:t>24.09.2024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3423899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EC1F71B7-1A51-4F68-80F5-71F324D59F3C}" type="datetimeFigureOut">
              <a:rPr lang="ru-RU" smtClean="0"/>
              <a:t>24.09.2024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1615230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EC1F71B7-1A51-4F68-80F5-71F324D59F3C}" type="datetimeFigureOut">
              <a:rPr lang="ru-RU" smtClean="0"/>
              <a:t>24.09.2024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4982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C1F71B7-1A51-4F68-80F5-71F324D59F3C}" type="datetimeFigureOut">
              <a:rPr lang="ru-RU" smtClean="0"/>
              <a:t>24.09.2024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1174096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EC1F71B7-1A51-4F68-80F5-71F324D59F3C}" type="datetimeFigureOut">
              <a:rPr lang="ru-RU" smtClean="0"/>
              <a:t>24.09.2024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2304136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EC1F71B7-1A51-4F68-80F5-71F324D59F3C}" type="datetimeFigureOut">
              <a:rPr lang="ru-RU" smtClean="0"/>
              <a:t>24.09.2024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3875545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C1F71B7-1A51-4F68-80F5-71F324D59F3C}"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156484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C1F71B7-1A51-4F68-80F5-71F324D59F3C}"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BFA7BB8-FE79-44B7-AB0A-17AE588D09ED}" type="slidenum">
              <a:rPr lang="ru-RU" smtClean="0"/>
              <a:t>‹#›</a:t>
            </a:fld>
            <a:endParaRPr lang="ru-RU"/>
          </a:p>
        </p:txBody>
      </p:sp>
    </p:spTree>
    <p:extLst>
      <p:ext uri="{BB962C8B-B14F-4D97-AF65-F5344CB8AC3E}">
        <p14:creationId xmlns:p14="http://schemas.microsoft.com/office/powerpoint/2010/main" val="1122598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1F71B7-1A51-4F68-80F5-71F324D59F3C}" type="datetimeFigureOut">
              <a:rPr lang="ru-RU" smtClean="0"/>
              <a:t>24.09.2024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FA7BB8-FE79-44B7-AB0A-17AE588D09ED}" type="slidenum">
              <a:rPr lang="ru-RU" smtClean="0"/>
              <a:t>‹#›</a:t>
            </a:fld>
            <a:endParaRPr lang="ru-RU"/>
          </a:p>
        </p:txBody>
      </p:sp>
    </p:spTree>
    <p:extLst>
      <p:ext uri="{BB962C8B-B14F-4D97-AF65-F5344CB8AC3E}">
        <p14:creationId xmlns:p14="http://schemas.microsoft.com/office/powerpoint/2010/main" val="2269013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95536" y="2130425"/>
            <a:ext cx="8496944" cy="1470025"/>
          </a:xfrm>
        </p:spPr>
        <p:txBody>
          <a:bodyPr>
            <a:normAutofit/>
          </a:bodyPr>
          <a:lstStyle/>
          <a:p>
            <a:pPr marR="32385" indent="450215">
              <a:spcAft>
                <a:spcPts val="0"/>
              </a:spcAft>
            </a:pPr>
            <a:r>
              <a:rPr lang="ru-RU" b="1" dirty="0">
                <a:solidFill>
                  <a:srgbClr val="000000"/>
                </a:solidFill>
                <a:effectLst/>
                <a:latin typeface="Times New Roman"/>
                <a:ea typeface="Times New Roman"/>
              </a:rPr>
              <a:t>Протокол </a:t>
            </a:r>
            <a:r>
              <a:rPr lang="en-US" b="1" dirty="0">
                <a:solidFill>
                  <a:srgbClr val="000000"/>
                </a:solidFill>
                <a:effectLst/>
                <a:latin typeface="Times New Roman"/>
                <a:ea typeface="Times New Roman"/>
              </a:rPr>
              <a:t>IPv4</a:t>
            </a:r>
            <a:endParaRPr lang="ru-RU" dirty="0"/>
          </a:p>
        </p:txBody>
      </p:sp>
    </p:spTree>
    <p:extLst>
      <p:ext uri="{BB962C8B-B14F-4D97-AF65-F5344CB8AC3E}">
        <p14:creationId xmlns:p14="http://schemas.microsoft.com/office/powerpoint/2010/main" val="1283780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67544" y="474345"/>
            <a:ext cx="7992888" cy="6355586"/>
          </a:xfrm>
          <a:prstGeom prst="rect">
            <a:avLst/>
          </a:prstGeom>
        </p:spPr>
        <p:txBody>
          <a:bodyPr wrap="square">
            <a:spAutoFit/>
          </a:bodyPr>
          <a:lstStyle/>
          <a:p>
            <a:pPr marR="32385" indent="429895" algn="just">
              <a:spcAft>
                <a:spcPts val="0"/>
              </a:spcAft>
            </a:pPr>
            <a:r>
              <a:rPr lang="ru-RU" spc="-20" dirty="0">
                <a:solidFill>
                  <a:srgbClr val="000000"/>
                </a:solidFill>
                <a:effectLst/>
                <a:latin typeface="Times New Roman"/>
                <a:ea typeface="Times New Roman"/>
              </a:rPr>
              <a:t>Для передачи информации между двумя хостами в сети необходимо знать четыре </a:t>
            </a:r>
            <a:r>
              <a:rPr lang="ru-RU" spc="-45" dirty="0">
                <a:solidFill>
                  <a:srgbClr val="000000"/>
                </a:solidFill>
                <a:effectLst/>
                <a:latin typeface="Times New Roman"/>
                <a:ea typeface="Times New Roman"/>
              </a:rPr>
              <a:t>адреса:</a:t>
            </a:r>
            <a:endParaRPr lang="ru-RU" sz="1100" dirty="0">
              <a:effectLst/>
              <a:latin typeface="Times New Roman"/>
              <a:ea typeface="Times New Roman"/>
            </a:endParaRPr>
          </a:p>
          <a:p>
            <a:pPr marL="342900" lvl="0" indent="-342900" algn="just">
              <a:spcAft>
                <a:spcPts val="0"/>
              </a:spcAft>
              <a:buFont typeface="Symbol"/>
              <a:buChar char=""/>
              <a:tabLst>
                <a:tab pos="540385" algn="l"/>
                <a:tab pos="685800" algn="l"/>
              </a:tabLst>
            </a:pPr>
            <a:r>
              <a:rPr lang="en-US" dirty="0">
                <a:solidFill>
                  <a:srgbClr val="000000"/>
                </a:solidFill>
                <a:effectLst/>
                <a:latin typeface="Times New Roman"/>
                <a:ea typeface="Times New Roman"/>
              </a:rPr>
              <a:t>Destination MAC address</a:t>
            </a:r>
            <a:endParaRPr lang="ru-RU" sz="1100" dirty="0">
              <a:effectLst/>
              <a:latin typeface="Times New Roman"/>
              <a:ea typeface="Times New Roman"/>
            </a:endParaRPr>
          </a:p>
          <a:p>
            <a:pPr marL="342900" lvl="0" indent="-342900" algn="just">
              <a:spcAft>
                <a:spcPts val="0"/>
              </a:spcAft>
              <a:buFont typeface="Symbol"/>
              <a:buChar char=""/>
              <a:tabLst>
                <a:tab pos="540385" algn="l"/>
                <a:tab pos="685800" algn="l"/>
              </a:tabLst>
            </a:pPr>
            <a:r>
              <a:rPr lang="en-US" dirty="0">
                <a:solidFill>
                  <a:srgbClr val="000000"/>
                </a:solidFill>
                <a:effectLst/>
                <a:latin typeface="Times New Roman"/>
                <a:ea typeface="Times New Roman"/>
              </a:rPr>
              <a:t>Source MAC address</a:t>
            </a:r>
            <a:endParaRPr lang="ru-RU" sz="1100" dirty="0">
              <a:effectLst/>
              <a:latin typeface="Times New Roman"/>
              <a:ea typeface="Times New Roman"/>
            </a:endParaRPr>
          </a:p>
          <a:p>
            <a:pPr marL="342900" lvl="0" indent="-342900" algn="just">
              <a:spcAft>
                <a:spcPts val="0"/>
              </a:spcAft>
              <a:buFont typeface="Symbol"/>
              <a:buChar char=""/>
              <a:tabLst>
                <a:tab pos="540385" algn="l"/>
                <a:tab pos="685800" algn="l"/>
              </a:tabLst>
            </a:pPr>
            <a:r>
              <a:rPr lang="en-US" dirty="0">
                <a:solidFill>
                  <a:srgbClr val="000000"/>
                </a:solidFill>
                <a:effectLst/>
                <a:latin typeface="Times New Roman"/>
                <a:ea typeface="Times New Roman"/>
              </a:rPr>
              <a:t>Destination IP address</a:t>
            </a:r>
            <a:endParaRPr lang="ru-RU" sz="1100" dirty="0">
              <a:effectLst/>
              <a:latin typeface="Times New Roman"/>
              <a:ea typeface="Times New Roman"/>
            </a:endParaRPr>
          </a:p>
          <a:p>
            <a:pPr marL="342900" lvl="0" indent="-342900" algn="just">
              <a:spcAft>
                <a:spcPts val="0"/>
              </a:spcAft>
              <a:buFont typeface="Symbol"/>
              <a:buChar char=""/>
              <a:tabLst>
                <a:tab pos="540385" algn="l"/>
                <a:tab pos="685800" algn="l"/>
              </a:tabLst>
            </a:pPr>
            <a:r>
              <a:rPr lang="en-US" dirty="0">
                <a:solidFill>
                  <a:srgbClr val="000000"/>
                </a:solidFill>
                <a:effectLst/>
                <a:latin typeface="Times New Roman"/>
                <a:ea typeface="Times New Roman"/>
              </a:rPr>
              <a:t>Source IP address</a:t>
            </a:r>
            <a:endParaRPr lang="ru-RU" sz="1100" dirty="0">
              <a:effectLst/>
              <a:latin typeface="Times New Roman"/>
              <a:ea typeface="Times New Roman"/>
            </a:endParaRPr>
          </a:p>
          <a:p>
            <a:pPr indent="450215" algn="just">
              <a:spcAft>
                <a:spcPts val="0"/>
              </a:spcAft>
            </a:pPr>
            <a:r>
              <a:rPr lang="en-US" dirty="0">
                <a:solidFill>
                  <a:srgbClr val="000000"/>
                </a:solidFill>
                <a:effectLst/>
                <a:latin typeface="Times New Roman"/>
                <a:ea typeface="Times New Roman"/>
              </a:rPr>
              <a:t>He</a:t>
            </a:r>
            <a:r>
              <a:rPr lang="ru-RU" dirty="0">
                <a:solidFill>
                  <a:srgbClr val="000000"/>
                </a:solidFill>
                <a:effectLst/>
                <a:latin typeface="Times New Roman"/>
                <a:ea typeface="Times New Roman"/>
              </a:rPr>
              <a:t> зная хотя бы один из этих адресов, информацию передать будет невозможно.</a:t>
            </a:r>
            <a:endParaRPr lang="ru-RU" sz="1100" dirty="0">
              <a:effectLst/>
              <a:latin typeface="Times New Roman"/>
              <a:ea typeface="Times New Roman"/>
            </a:endParaRPr>
          </a:p>
          <a:p>
            <a:pPr marR="31750" indent="434340" algn="just">
              <a:spcAft>
                <a:spcPts val="0"/>
              </a:spcAft>
            </a:pPr>
            <a:r>
              <a:rPr lang="ru-RU" dirty="0">
                <a:solidFill>
                  <a:srgbClr val="000000"/>
                </a:solidFill>
                <a:effectLst/>
                <a:latin typeface="Times New Roman"/>
                <a:ea typeface="Times New Roman"/>
              </a:rPr>
              <a:t>На канальном уровне сетевая карта всегда знает свой адрес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 источника), если сетевая карта не знает своего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адреса, значит, она имеет явные </a:t>
            </a:r>
            <a:r>
              <a:rPr lang="ru-RU" spc="-15" dirty="0">
                <a:solidFill>
                  <a:srgbClr val="000000"/>
                </a:solidFill>
                <a:effectLst/>
                <a:latin typeface="Times New Roman"/>
                <a:ea typeface="Times New Roman"/>
              </a:rPr>
              <a:t>неисправности и работа такой сетевой карты в сети не будет нормальной.</a:t>
            </a:r>
            <a:endParaRPr lang="ru-RU" sz="1100" dirty="0">
              <a:effectLst/>
              <a:latin typeface="Times New Roman"/>
              <a:ea typeface="Times New Roman"/>
            </a:endParaRPr>
          </a:p>
          <a:p>
            <a:pPr marR="31750" indent="429895" algn="just">
              <a:spcAft>
                <a:spcPts val="0"/>
              </a:spcAft>
            </a:pPr>
            <a:r>
              <a:rPr lang="ru-RU" dirty="0">
                <a:solidFill>
                  <a:srgbClr val="000000"/>
                </a:solidFill>
                <a:effectLst/>
                <a:latin typeface="Times New Roman"/>
                <a:ea typeface="Times New Roman"/>
              </a:rPr>
              <a:t>Свой </a:t>
            </a:r>
            <a:r>
              <a:rPr lang="en-US" dirty="0">
                <a:solidFill>
                  <a:srgbClr val="000000"/>
                </a:solidFill>
                <a:effectLst/>
                <a:latin typeface="Times New Roman"/>
                <a:ea typeface="Times New Roman"/>
              </a:rPr>
              <a:t>IP</a:t>
            </a:r>
            <a:r>
              <a:rPr lang="ru-RU" dirty="0">
                <a:solidFill>
                  <a:srgbClr val="000000"/>
                </a:solidFill>
                <a:effectLst/>
                <a:latin typeface="Times New Roman"/>
                <a:ea typeface="Times New Roman"/>
              </a:rPr>
              <a:t> адрес (адрес источника) задаётся в настройках операционной системы, его можно менять и он не «прикреплён» к сетевой карте как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 Этот параметр </a:t>
            </a:r>
            <a:r>
              <a:rPr lang="ru-RU" spc="-15" dirty="0">
                <a:solidFill>
                  <a:srgbClr val="000000"/>
                </a:solidFill>
                <a:effectLst/>
                <a:latin typeface="Times New Roman"/>
                <a:ea typeface="Times New Roman"/>
              </a:rPr>
              <a:t>устанавливается пользователем и поэтому также доступен.</a:t>
            </a:r>
            <a:endParaRPr lang="en-US" spc="-15" dirty="0">
              <a:solidFill>
                <a:srgbClr val="000000"/>
              </a:solidFill>
              <a:effectLst/>
              <a:latin typeface="Times New Roman"/>
              <a:ea typeface="Times New Roman"/>
            </a:endParaRPr>
          </a:p>
          <a:p>
            <a:pPr marR="31750" indent="429895" algn="just"/>
            <a:r>
              <a:rPr lang="en-US" dirty="0">
                <a:solidFill>
                  <a:srgbClr val="000000"/>
                </a:solidFill>
                <a:latin typeface="Times New Roman"/>
                <a:ea typeface="Times New Roman"/>
              </a:rPr>
              <a:t>IP</a:t>
            </a:r>
            <a:r>
              <a:rPr lang="ru-RU" dirty="0">
                <a:solidFill>
                  <a:srgbClr val="000000"/>
                </a:solidFill>
                <a:latin typeface="Times New Roman"/>
                <a:ea typeface="Times New Roman"/>
              </a:rPr>
              <a:t> адрес удалённого устройства либо задаётся в явном виде (указывается в команде на формирование пакетов, к этому узлу, например, </a:t>
            </a:r>
            <a:r>
              <a:rPr lang="en-US" dirty="0">
                <a:solidFill>
                  <a:srgbClr val="000000"/>
                </a:solidFill>
                <a:latin typeface="Times New Roman"/>
                <a:ea typeface="Times New Roman"/>
              </a:rPr>
              <a:t>ping </a:t>
            </a:r>
            <a:r>
              <a:rPr lang="ru-RU" dirty="0">
                <a:solidFill>
                  <a:srgbClr val="000000"/>
                </a:solidFill>
                <a:latin typeface="Times New Roman"/>
                <a:ea typeface="Times New Roman"/>
              </a:rPr>
              <a:t>192.168.0.1), либо в неявном, например посредством службы доменных имён или таблицы хостов. Адрес, который задан неявно всё равно будет транслирован в стандартный </a:t>
            </a:r>
            <a:r>
              <a:rPr lang="en-US" dirty="0">
                <a:solidFill>
                  <a:srgbClr val="000000"/>
                </a:solidFill>
                <a:latin typeface="Times New Roman"/>
                <a:ea typeface="Times New Roman"/>
              </a:rPr>
              <a:t>IP</a:t>
            </a:r>
            <a:r>
              <a:rPr lang="ru-RU" dirty="0">
                <a:solidFill>
                  <a:srgbClr val="000000"/>
                </a:solidFill>
                <a:latin typeface="Times New Roman"/>
                <a:ea typeface="Times New Roman"/>
              </a:rPr>
              <a:t> адрес и передан обратно станции отправителю для формирования пакетов. Итак, </a:t>
            </a:r>
            <a:r>
              <a:rPr lang="en-US" dirty="0">
                <a:solidFill>
                  <a:srgbClr val="000000"/>
                </a:solidFill>
                <a:latin typeface="Times New Roman"/>
                <a:ea typeface="Times New Roman"/>
              </a:rPr>
              <a:t>IP</a:t>
            </a:r>
            <a:r>
              <a:rPr lang="ru-RU" dirty="0">
                <a:solidFill>
                  <a:srgbClr val="000000"/>
                </a:solidFill>
                <a:latin typeface="Times New Roman"/>
                <a:ea typeface="Times New Roman"/>
              </a:rPr>
              <a:t> адрес назначения также задаётся пользователем.</a:t>
            </a:r>
            <a:endParaRPr lang="ru-RU" sz="1100" dirty="0">
              <a:effectLst/>
              <a:latin typeface="Times New Roman"/>
              <a:ea typeface="Times New Roman"/>
            </a:endParaRPr>
          </a:p>
        </p:txBody>
      </p:sp>
    </p:spTree>
    <p:extLst>
      <p:ext uri="{BB962C8B-B14F-4D97-AF65-F5344CB8AC3E}">
        <p14:creationId xmlns:p14="http://schemas.microsoft.com/office/powerpoint/2010/main" val="1928591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5536" y="260648"/>
            <a:ext cx="8352928" cy="369332"/>
          </a:xfrm>
          <a:prstGeom prst="rect">
            <a:avLst/>
          </a:prstGeom>
        </p:spPr>
        <p:txBody>
          <a:bodyPr wrap="square">
            <a:spAutoFit/>
          </a:bodyPr>
          <a:lstStyle/>
          <a:p>
            <a:r>
              <a:rPr lang="ru-RU" dirty="0">
                <a:solidFill>
                  <a:srgbClr val="000000"/>
                </a:solidFill>
                <a:effectLst/>
                <a:latin typeface="Times New Roman"/>
                <a:ea typeface="Times New Roman"/>
              </a:rPr>
              <a:t>Рассмотрим такую топологию, где центральным звеном является концентратор. </a:t>
            </a:r>
            <a:endParaRPr lang="ru-RU" dirty="0"/>
          </a:p>
        </p:txBody>
      </p:sp>
      <p:sp>
        <p:nvSpPr>
          <p:cNvPr id="5" name="Прямоугольник 4"/>
          <p:cNvSpPr/>
          <p:nvPr/>
        </p:nvSpPr>
        <p:spPr>
          <a:xfrm>
            <a:off x="395536" y="4437112"/>
            <a:ext cx="7992888" cy="2031325"/>
          </a:xfrm>
          <a:prstGeom prst="rect">
            <a:avLst/>
          </a:prstGeom>
        </p:spPr>
        <p:txBody>
          <a:bodyPr wrap="square">
            <a:spAutoFit/>
          </a:bodyPr>
          <a:lstStyle/>
          <a:p>
            <a:pPr indent="429895" algn="just">
              <a:spcAft>
                <a:spcPts val="0"/>
              </a:spcAft>
            </a:pPr>
            <a:r>
              <a:rPr lang="ru-RU" dirty="0">
                <a:solidFill>
                  <a:srgbClr val="000000"/>
                </a:solidFill>
                <a:effectLst/>
                <a:latin typeface="Times New Roman"/>
                <a:ea typeface="Times New Roman"/>
              </a:rPr>
              <a:t>А как узнать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 назначения? Ведь без него не получится сформировать из пакета фрейм и отправить в сеть. Для этого был создан протокол </a:t>
            </a:r>
            <a:r>
              <a:rPr lang="en-US" dirty="0">
                <a:solidFill>
                  <a:srgbClr val="000000"/>
                </a:solidFill>
                <a:effectLst/>
                <a:latin typeface="Times New Roman"/>
                <a:ea typeface="Times New Roman"/>
              </a:rPr>
              <a:t>Address Resolution Protocol</a:t>
            </a:r>
            <a:r>
              <a:rPr lang="ru-RU" dirty="0">
                <a:solidFill>
                  <a:srgbClr val="000000"/>
                </a:solidFill>
                <a:effectLst/>
                <a:latin typeface="Times New Roman"/>
                <a:ea typeface="Times New Roman"/>
              </a:rPr>
              <a:t> (</a:t>
            </a:r>
            <a:r>
              <a:rPr lang="en-US" dirty="0">
                <a:solidFill>
                  <a:srgbClr val="000000"/>
                </a:solidFill>
                <a:effectLst/>
                <a:latin typeface="Times New Roman"/>
                <a:ea typeface="Times New Roman"/>
              </a:rPr>
              <a:t>ARP</a:t>
            </a:r>
            <a:r>
              <a:rPr lang="ru-RU" dirty="0">
                <a:solidFill>
                  <a:srgbClr val="000000"/>
                </a:solidFill>
                <a:effectLst/>
                <a:latin typeface="Times New Roman"/>
                <a:ea typeface="Times New Roman"/>
              </a:rPr>
              <a:t>), целью которого является раскрытия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адреса определённого устройства по </a:t>
            </a:r>
            <a:r>
              <a:rPr lang="en-US" dirty="0">
                <a:solidFill>
                  <a:srgbClr val="000000"/>
                </a:solidFill>
                <a:effectLst/>
                <a:latin typeface="Times New Roman"/>
                <a:ea typeface="Times New Roman"/>
              </a:rPr>
              <a:t>IP</a:t>
            </a:r>
            <a:r>
              <a:rPr lang="ru-RU" dirty="0">
                <a:solidFill>
                  <a:srgbClr val="000000"/>
                </a:solidFill>
                <a:effectLst/>
                <a:latin typeface="Times New Roman"/>
                <a:ea typeface="Times New Roman"/>
              </a:rPr>
              <a:t> адресу этого устройства. Каждое «разумное» устройство в сети составляет так называемые </a:t>
            </a:r>
            <a:r>
              <a:rPr lang="en-US" dirty="0">
                <a:solidFill>
                  <a:srgbClr val="000000"/>
                </a:solidFill>
                <a:effectLst/>
                <a:latin typeface="Times New Roman"/>
                <a:ea typeface="Times New Roman"/>
              </a:rPr>
              <a:t>ARP</a:t>
            </a:r>
            <a:r>
              <a:rPr lang="ru-RU" dirty="0">
                <a:solidFill>
                  <a:srgbClr val="000000"/>
                </a:solidFill>
                <a:effectLst/>
                <a:latin typeface="Times New Roman"/>
                <a:ea typeface="Times New Roman"/>
              </a:rPr>
              <a:t> таблицы, в которых указаны пары </a:t>
            </a:r>
            <a:r>
              <a:rPr lang="en-US" dirty="0">
                <a:solidFill>
                  <a:srgbClr val="000000"/>
                </a:solidFill>
                <a:effectLst/>
                <a:latin typeface="Times New Roman"/>
                <a:ea typeface="Times New Roman"/>
              </a:rPr>
              <a:t>IP</a:t>
            </a:r>
            <a:r>
              <a:rPr lang="ru-RU" dirty="0">
                <a:solidFill>
                  <a:srgbClr val="000000"/>
                </a:solidFill>
                <a:effectLst/>
                <a:latin typeface="Times New Roman"/>
                <a:ea typeface="Times New Roman"/>
              </a:rPr>
              <a:t> и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адресов для создания фреймов, зная сетевой адрес </a:t>
            </a:r>
            <a:r>
              <a:rPr lang="ru-RU" spc="-40" dirty="0">
                <a:solidFill>
                  <a:srgbClr val="000000"/>
                </a:solidFill>
                <a:effectLst/>
                <a:latin typeface="Times New Roman"/>
                <a:ea typeface="Times New Roman"/>
              </a:rPr>
              <a:t>назначения.</a:t>
            </a:r>
            <a:endParaRPr lang="ru-RU" sz="1100" dirty="0">
              <a:effectLst/>
              <a:latin typeface="Times New Roman"/>
              <a:ea typeface="Times New Roman"/>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692696"/>
            <a:ext cx="7105650"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5587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51520" y="188640"/>
            <a:ext cx="8568952" cy="646331"/>
          </a:xfrm>
          <a:prstGeom prst="rect">
            <a:avLst/>
          </a:prstGeom>
        </p:spPr>
        <p:txBody>
          <a:bodyPr wrap="square">
            <a:spAutoFit/>
          </a:bodyPr>
          <a:lstStyle/>
          <a:p>
            <a:pPr indent="434340" algn="just">
              <a:spcAft>
                <a:spcPts val="0"/>
              </a:spcAft>
            </a:pPr>
            <a:r>
              <a:rPr lang="ru-RU" spc="20" dirty="0">
                <a:solidFill>
                  <a:srgbClr val="000000"/>
                </a:solidFill>
                <a:effectLst/>
                <a:latin typeface="Times New Roman"/>
                <a:ea typeface="Times New Roman"/>
              </a:rPr>
              <a:t>Теперь рассмотрим случай, когда в сегменте находится несколько доменов </a:t>
            </a:r>
            <a:r>
              <a:rPr lang="ru-RU" spc="-45" dirty="0">
                <a:solidFill>
                  <a:srgbClr val="000000"/>
                </a:solidFill>
                <a:effectLst/>
                <a:latin typeface="Times New Roman"/>
                <a:ea typeface="Times New Roman"/>
              </a:rPr>
              <a:t>коллизии.</a:t>
            </a:r>
            <a:endParaRPr lang="ru-RU" sz="1100" dirty="0">
              <a:effectLst/>
              <a:latin typeface="Times New Roman"/>
              <a:ea typeface="Times New Roman"/>
            </a:endParaRPr>
          </a:p>
        </p:txBody>
      </p:sp>
      <p:sp>
        <p:nvSpPr>
          <p:cNvPr id="3" name="Прямоугольник 2"/>
          <p:cNvSpPr/>
          <p:nvPr/>
        </p:nvSpPr>
        <p:spPr>
          <a:xfrm>
            <a:off x="192314" y="4509120"/>
            <a:ext cx="8640960" cy="1754326"/>
          </a:xfrm>
          <a:prstGeom prst="rect">
            <a:avLst/>
          </a:prstGeom>
        </p:spPr>
        <p:txBody>
          <a:bodyPr wrap="square">
            <a:spAutoFit/>
          </a:bodyPr>
          <a:lstStyle/>
          <a:p>
            <a:pPr indent="457200" algn="just"/>
            <a:r>
              <a:rPr lang="ru-RU" spc="-20" dirty="0">
                <a:solidFill>
                  <a:srgbClr val="000000"/>
                </a:solidFill>
                <a:effectLst/>
                <a:latin typeface="Times New Roman"/>
                <a:ea typeface="Times New Roman"/>
              </a:rPr>
              <a:t>Из-за того, что центром топологии является коммутатор, а не концентратор, как в </a:t>
            </a:r>
            <a:r>
              <a:rPr lang="ru-RU" spc="-15" dirty="0">
                <a:solidFill>
                  <a:srgbClr val="000000"/>
                </a:solidFill>
                <a:effectLst/>
                <a:latin typeface="Times New Roman"/>
                <a:ea typeface="Times New Roman"/>
              </a:rPr>
              <a:t>предыдущем случае, каждая станция находится в своём домене коллизии. Коммутатор не </a:t>
            </a:r>
            <a:r>
              <a:rPr lang="ru-RU" dirty="0">
                <a:solidFill>
                  <a:srgbClr val="000000"/>
                </a:solidFill>
                <a:effectLst/>
                <a:latin typeface="Times New Roman"/>
                <a:ea typeface="Times New Roman"/>
              </a:rPr>
              <a:t>передаёт фреймы, которые адресованы одной станции на все порты, вместо этого он </a:t>
            </a:r>
            <a:r>
              <a:rPr lang="ru-RU" spc="-20" dirty="0">
                <a:solidFill>
                  <a:srgbClr val="000000"/>
                </a:solidFill>
                <a:effectLst/>
                <a:latin typeface="Times New Roman"/>
                <a:ea typeface="Times New Roman"/>
              </a:rPr>
              <a:t>смотрит в таблицу коммутации и точно определяет на какой порт необходимо отправить </a:t>
            </a:r>
            <a:r>
              <a:rPr lang="ru-RU" dirty="0">
                <a:solidFill>
                  <a:srgbClr val="000000"/>
                </a:solidFill>
                <a:effectLst/>
                <a:latin typeface="Times New Roman"/>
                <a:ea typeface="Times New Roman"/>
              </a:rPr>
              <a:t>фрейм, чтобы он дошёл до нужной станции. В связи с этим, заполнение </a:t>
            </a:r>
            <a:r>
              <a:rPr lang="en-US" dirty="0">
                <a:solidFill>
                  <a:srgbClr val="000000"/>
                </a:solidFill>
                <a:effectLst/>
                <a:latin typeface="Times New Roman"/>
                <a:ea typeface="Times New Roman"/>
              </a:rPr>
              <a:t>ARP</a:t>
            </a:r>
            <a:r>
              <a:rPr lang="ru-RU" dirty="0">
                <a:solidFill>
                  <a:srgbClr val="000000"/>
                </a:solidFill>
                <a:effectLst/>
                <a:latin typeface="Times New Roman"/>
                <a:ea typeface="Times New Roman"/>
              </a:rPr>
              <a:t> таблиц, как </a:t>
            </a:r>
            <a:r>
              <a:rPr lang="ru-RU" spc="5" dirty="0">
                <a:solidFill>
                  <a:srgbClr val="000000"/>
                </a:solidFill>
                <a:effectLst/>
                <a:latin typeface="Times New Roman"/>
                <a:ea typeface="Times New Roman"/>
              </a:rPr>
              <a:t>было описано в предыдущем случае невозможно. </a:t>
            </a:r>
            <a:endParaRPr lang="ru-RU"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3696"/>
          <a:stretch/>
        </p:blipFill>
        <p:spPr bwMode="auto">
          <a:xfrm>
            <a:off x="309564" y="893812"/>
            <a:ext cx="8209748"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2124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9512" y="260648"/>
            <a:ext cx="8640960" cy="923330"/>
          </a:xfrm>
          <a:prstGeom prst="rect">
            <a:avLst/>
          </a:prstGeom>
        </p:spPr>
        <p:txBody>
          <a:bodyPr wrap="square">
            <a:spAutoFit/>
          </a:bodyPr>
          <a:lstStyle/>
          <a:p>
            <a:pPr marR="32385" indent="435610" algn="just">
              <a:spcAft>
                <a:spcPts val="0"/>
              </a:spcAft>
            </a:pPr>
            <a:r>
              <a:rPr lang="ru-RU" spc="5" dirty="0">
                <a:solidFill>
                  <a:srgbClr val="000000"/>
                </a:solidFill>
                <a:effectLst/>
                <a:latin typeface="Times New Roman"/>
                <a:ea typeface="Times New Roman"/>
              </a:rPr>
              <a:t>В том случае, если станция хочет </a:t>
            </a:r>
            <a:r>
              <a:rPr lang="ru-RU" dirty="0">
                <a:solidFill>
                  <a:srgbClr val="000000"/>
                </a:solidFill>
                <a:effectLst/>
                <a:latin typeface="Times New Roman"/>
                <a:ea typeface="Times New Roman"/>
              </a:rPr>
              <a:t>отправить фрейм другой станции, но она не знает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 назначения, ей необходимо отправить специальный фрейм, который называется </a:t>
            </a:r>
            <a:r>
              <a:rPr lang="en-US" dirty="0">
                <a:solidFill>
                  <a:srgbClr val="000000"/>
                </a:solidFill>
                <a:effectLst/>
                <a:latin typeface="Times New Roman"/>
                <a:ea typeface="Times New Roman"/>
              </a:rPr>
              <a:t>ARP Request</a:t>
            </a:r>
            <a:r>
              <a:rPr lang="ru-RU" dirty="0">
                <a:solidFill>
                  <a:srgbClr val="000000"/>
                </a:solidFill>
                <a:effectLst/>
                <a:latin typeface="Times New Roman"/>
                <a:ea typeface="Times New Roman"/>
              </a:rPr>
              <a:t> (</a:t>
            </a:r>
            <a:r>
              <a:rPr lang="en-US" dirty="0">
                <a:solidFill>
                  <a:srgbClr val="000000"/>
                </a:solidFill>
                <a:effectLst/>
                <a:latin typeface="Times New Roman"/>
                <a:ea typeface="Times New Roman"/>
              </a:rPr>
              <a:t>ARP</a:t>
            </a:r>
            <a:r>
              <a:rPr lang="ru-RU" dirty="0">
                <a:solidFill>
                  <a:srgbClr val="000000"/>
                </a:solidFill>
                <a:effectLst/>
                <a:latin typeface="Times New Roman"/>
                <a:ea typeface="Times New Roman"/>
              </a:rPr>
              <a:t> запрос).</a:t>
            </a:r>
            <a:endParaRPr lang="ru-RU" sz="1100" dirty="0">
              <a:effectLst/>
              <a:latin typeface="Times New Roman"/>
              <a:ea typeface="Times New Roman"/>
            </a:endParaRPr>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268760"/>
            <a:ext cx="6799263" cy="327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608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14105" y="404664"/>
            <a:ext cx="8640960" cy="1754326"/>
          </a:xfrm>
          <a:prstGeom prst="rect">
            <a:avLst/>
          </a:prstGeom>
        </p:spPr>
        <p:txBody>
          <a:bodyPr wrap="square">
            <a:spAutoFit/>
          </a:bodyPr>
          <a:lstStyle/>
          <a:p>
            <a:pPr marR="31750" indent="429895" algn="just">
              <a:spcAft>
                <a:spcPts val="0"/>
              </a:spcAft>
            </a:pPr>
            <a:r>
              <a:rPr lang="ru-RU" spc="-5" dirty="0">
                <a:solidFill>
                  <a:srgbClr val="000000"/>
                </a:solidFill>
                <a:effectLst/>
                <a:latin typeface="Times New Roman"/>
                <a:ea typeface="Times New Roman"/>
              </a:rPr>
              <a:t>После отправки фрейма станцией, его получит коммутатор, он посмотрит в поле </a:t>
            </a:r>
            <a:r>
              <a:rPr lang="en-US" dirty="0">
                <a:solidFill>
                  <a:srgbClr val="000000"/>
                </a:solidFill>
                <a:effectLst/>
                <a:latin typeface="Times New Roman"/>
                <a:ea typeface="Times New Roman"/>
              </a:rPr>
              <a:t>MAC</a:t>
            </a:r>
            <a:r>
              <a:rPr lang="ru-RU" dirty="0">
                <a:solidFill>
                  <a:srgbClr val="000000"/>
                </a:solidFill>
                <a:effectLst/>
                <a:latin typeface="Times New Roman"/>
                <a:ea typeface="Times New Roman"/>
              </a:rPr>
              <a:t> адреса назначения и увидев там широковещательный адрес разошлёт этот фрейм на </a:t>
            </a:r>
            <a:r>
              <a:rPr lang="ru-RU" spc="-5" dirty="0">
                <a:solidFill>
                  <a:srgbClr val="000000"/>
                </a:solidFill>
                <a:effectLst/>
                <a:latin typeface="Times New Roman"/>
                <a:ea typeface="Times New Roman"/>
              </a:rPr>
              <a:t>все порты кроме порта источника. Обе станции в топологии получат этот фрейм, обе </a:t>
            </a:r>
            <a:r>
              <a:rPr lang="ru-RU" spc="-25" dirty="0">
                <a:solidFill>
                  <a:srgbClr val="000000"/>
                </a:solidFill>
                <a:effectLst/>
                <a:latin typeface="Times New Roman"/>
                <a:ea typeface="Times New Roman"/>
              </a:rPr>
              <a:t>раскроют фрейм, так как он адресован всем, а вот на сетевом уровне на этот пакет ответит </a:t>
            </a:r>
            <a:r>
              <a:rPr lang="ru-RU" dirty="0">
                <a:solidFill>
                  <a:srgbClr val="000000"/>
                </a:solidFill>
                <a:effectLst/>
                <a:latin typeface="Times New Roman"/>
                <a:ea typeface="Times New Roman"/>
              </a:rPr>
              <a:t>только та станция, </a:t>
            </a:r>
            <a:r>
              <a:rPr lang="en-US" dirty="0">
                <a:solidFill>
                  <a:srgbClr val="000000"/>
                </a:solidFill>
                <a:effectLst/>
                <a:latin typeface="Times New Roman"/>
                <a:ea typeface="Times New Roman"/>
              </a:rPr>
              <a:t>IP</a:t>
            </a:r>
            <a:r>
              <a:rPr lang="ru-RU" dirty="0">
                <a:solidFill>
                  <a:srgbClr val="000000"/>
                </a:solidFill>
                <a:effectLst/>
                <a:latin typeface="Times New Roman"/>
                <a:ea typeface="Times New Roman"/>
              </a:rPr>
              <a:t> адрес которой совпадает с </a:t>
            </a:r>
            <a:r>
              <a:rPr lang="en-US" dirty="0">
                <a:solidFill>
                  <a:srgbClr val="000000"/>
                </a:solidFill>
                <a:effectLst/>
                <a:latin typeface="Times New Roman"/>
                <a:ea typeface="Times New Roman"/>
              </a:rPr>
              <a:t>IP</a:t>
            </a:r>
            <a:r>
              <a:rPr lang="ru-RU" dirty="0">
                <a:solidFill>
                  <a:srgbClr val="000000"/>
                </a:solidFill>
                <a:effectLst/>
                <a:latin typeface="Times New Roman"/>
                <a:ea typeface="Times New Roman"/>
              </a:rPr>
              <a:t> адресом, который указан в пакете в</a:t>
            </a:r>
            <a:r>
              <a:rPr lang="en-US" dirty="0">
                <a:solidFill>
                  <a:srgbClr val="000000"/>
                </a:solidFill>
                <a:effectLst/>
                <a:latin typeface="Times New Roman"/>
                <a:ea typeface="Times New Roman"/>
              </a:rPr>
              <a:t> </a:t>
            </a:r>
            <a:r>
              <a:rPr lang="ru-RU" spc="-20" dirty="0">
                <a:solidFill>
                  <a:srgbClr val="000000"/>
                </a:solidFill>
                <a:effectLst/>
                <a:latin typeface="Times New Roman"/>
                <a:ea typeface="Times New Roman"/>
              </a:rPr>
              <a:t>поле назначения.</a:t>
            </a:r>
            <a:endParaRPr lang="ru-RU" sz="1100" dirty="0">
              <a:effectLst/>
              <a:latin typeface="Times New Roman"/>
              <a:ea typeface="Times New Roman"/>
            </a:endParaRPr>
          </a:p>
        </p:txBody>
      </p:sp>
      <p:sp>
        <p:nvSpPr>
          <p:cNvPr id="3" name="Прямоугольник 2"/>
          <p:cNvSpPr/>
          <p:nvPr/>
        </p:nvSpPr>
        <p:spPr>
          <a:xfrm>
            <a:off x="5907774" y="2158990"/>
            <a:ext cx="2914913" cy="1200329"/>
          </a:xfrm>
          <a:prstGeom prst="rect">
            <a:avLst/>
          </a:prstGeom>
        </p:spPr>
        <p:txBody>
          <a:bodyPr wrap="square">
            <a:spAutoFit/>
          </a:bodyPr>
          <a:lstStyle/>
          <a:p>
            <a:pPr indent="457200" algn="just"/>
            <a:r>
              <a:rPr lang="ru-RU" dirty="0">
                <a:solidFill>
                  <a:srgbClr val="000000"/>
                </a:solidFill>
                <a:effectLst/>
                <a:latin typeface="Times New Roman"/>
                <a:ea typeface="Times New Roman"/>
              </a:rPr>
              <a:t>Когда станция получит </a:t>
            </a:r>
            <a:r>
              <a:rPr lang="en-US" dirty="0">
                <a:solidFill>
                  <a:srgbClr val="000000"/>
                </a:solidFill>
                <a:effectLst/>
                <a:latin typeface="Times New Roman"/>
                <a:ea typeface="Times New Roman"/>
              </a:rPr>
              <a:t>ARP</a:t>
            </a:r>
            <a:r>
              <a:rPr lang="ru-RU" dirty="0">
                <a:solidFill>
                  <a:srgbClr val="000000"/>
                </a:solidFill>
                <a:effectLst/>
                <a:latin typeface="Times New Roman"/>
                <a:ea typeface="Times New Roman"/>
              </a:rPr>
              <a:t> ответ, она дополнит свою </a:t>
            </a:r>
            <a:r>
              <a:rPr lang="en-US" dirty="0">
                <a:solidFill>
                  <a:srgbClr val="000000"/>
                </a:solidFill>
                <a:effectLst/>
                <a:latin typeface="Times New Roman"/>
                <a:ea typeface="Times New Roman"/>
              </a:rPr>
              <a:t>ARP</a:t>
            </a:r>
            <a:r>
              <a:rPr lang="ru-RU" dirty="0">
                <a:solidFill>
                  <a:srgbClr val="000000"/>
                </a:solidFill>
                <a:effectLst/>
                <a:latin typeface="Times New Roman"/>
                <a:ea typeface="Times New Roman"/>
              </a:rPr>
              <a:t> таблицу и может </a:t>
            </a:r>
            <a:r>
              <a:rPr lang="ru-RU" spc="-35" dirty="0">
                <a:solidFill>
                  <a:srgbClr val="000000"/>
                </a:solidFill>
                <a:effectLst/>
                <a:latin typeface="Times New Roman"/>
                <a:ea typeface="Times New Roman"/>
              </a:rPr>
              <a:t>теперь </a:t>
            </a:r>
            <a:r>
              <a:rPr lang="ru-RU" spc="-35" dirty="0">
                <a:solidFill>
                  <a:srgbClr val="000000"/>
                </a:solidFill>
                <a:latin typeface="Times New Roman"/>
                <a:ea typeface="Times New Roman"/>
              </a:rPr>
              <a:t>отправлять фреймы.</a:t>
            </a:r>
            <a:endParaRPr lang="ru-RU" dirty="0"/>
          </a:p>
        </p:txBody>
      </p:sp>
      <p:graphicFrame>
        <p:nvGraphicFramePr>
          <p:cNvPr id="4" name="Таблица 3"/>
          <p:cNvGraphicFramePr>
            <a:graphicFrameLocks noGrp="1"/>
          </p:cNvGraphicFramePr>
          <p:nvPr>
            <p:extLst>
              <p:ext uri="{D42A27DB-BD31-4B8C-83A1-F6EECF244321}">
                <p14:modId xmlns:p14="http://schemas.microsoft.com/office/powerpoint/2010/main" val="2373950174"/>
              </p:ext>
            </p:extLst>
          </p:nvPr>
        </p:nvGraphicFramePr>
        <p:xfrm>
          <a:off x="6156176" y="3673479"/>
          <a:ext cx="2291979" cy="1105535"/>
        </p:xfrm>
        <a:graphic>
          <a:graphicData uri="http://schemas.openxmlformats.org/drawingml/2006/table">
            <a:tbl>
              <a:tblPr>
                <a:tableStyleId>{073A0DAA-6AF3-43AB-8588-CEC1D06C72B9}</a:tableStyleId>
              </a:tblPr>
              <a:tblGrid>
                <a:gridCol w="995835">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252095">
                <a:tc gridSpan="2">
                  <a:txBody>
                    <a:bodyPr/>
                    <a:lstStyle/>
                    <a:p>
                      <a:pPr indent="0" algn="ctr">
                        <a:lnSpc>
                          <a:spcPct val="100000"/>
                        </a:lnSpc>
                        <a:spcAft>
                          <a:spcPts val="0"/>
                        </a:spcAft>
                      </a:pPr>
                      <a:r>
                        <a:rPr lang="en-US" sz="1400" b="1" dirty="0">
                          <a:effectLst/>
                          <a:latin typeface="Times New Roman" pitchFamily="18" charset="0"/>
                          <a:cs typeface="Times New Roman" pitchFamily="18" charset="0"/>
                        </a:rPr>
                        <a:t>ARP     Table</a:t>
                      </a:r>
                      <a:endParaRPr lang="ru-RU" sz="1000" b="1" dirty="0">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indent="0" algn="ctr">
                        <a:lnSpc>
                          <a:spcPct val="100000"/>
                        </a:lnSpc>
                        <a:spcAft>
                          <a:spcPts val="0"/>
                        </a:spcAft>
                      </a:pPr>
                      <a:endParaRPr lang="ru-RU" sz="1000" b="1" dirty="0">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80340">
                <a:tc>
                  <a:txBody>
                    <a:bodyPr/>
                    <a:lstStyle/>
                    <a:p>
                      <a:pPr indent="0" algn="just">
                        <a:lnSpc>
                          <a:spcPct val="100000"/>
                        </a:lnSpc>
                        <a:spcAft>
                          <a:spcPts val="0"/>
                        </a:spcAft>
                      </a:pPr>
                      <a:r>
                        <a:rPr lang="en-US" sz="1400" b="1" dirty="0">
                          <a:effectLst/>
                          <a:latin typeface="Times New Roman" pitchFamily="18" charset="0"/>
                          <a:cs typeface="Times New Roman" pitchFamily="18" charset="0"/>
                        </a:rPr>
                        <a:t>IP Address</a:t>
                      </a:r>
                      <a:endParaRPr lang="ru-RU" sz="1000" b="1" dirty="0">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lnSpc>
                          <a:spcPct val="100000"/>
                        </a:lnSpc>
                        <a:spcAft>
                          <a:spcPts val="0"/>
                        </a:spcAft>
                      </a:pPr>
                      <a:r>
                        <a:rPr lang="en-US" sz="1400" b="1" dirty="0">
                          <a:effectLst/>
                          <a:latin typeface="Times New Roman" pitchFamily="18" charset="0"/>
                          <a:cs typeface="Times New Roman" pitchFamily="18" charset="0"/>
                        </a:rPr>
                        <a:t>MAC Address</a:t>
                      </a:r>
                      <a:endParaRPr lang="ru-RU" sz="1000" b="1" dirty="0">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70180">
                <a:tc>
                  <a:txBody>
                    <a:bodyPr/>
                    <a:lstStyle/>
                    <a:p>
                      <a:pPr indent="0" algn="just">
                        <a:lnSpc>
                          <a:spcPct val="100000"/>
                        </a:lnSpc>
                        <a:spcAft>
                          <a:spcPts val="0"/>
                        </a:spcAft>
                      </a:pPr>
                      <a:r>
                        <a:rPr lang="en-US" sz="1400" b="1">
                          <a:effectLst/>
                          <a:latin typeface="Times New Roman" pitchFamily="18" charset="0"/>
                          <a:cs typeface="Times New Roman" pitchFamily="18" charset="0"/>
                        </a:rPr>
                        <a:t>10.0.0.2</a:t>
                      </a:r>
                      <a:endParaRPr lang="ru-RU" sz="1000" b="1">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lnSpc>
                          <a:spcPct val="100000"/>
                        </a:lnSpc>
                        <a:spcAft>
                          <a:spcPts val="0"/>
                        </a:spcAft>
                      </a:pPr>
                      <a:r>
                        <a:rPr lang="en-US" sz="1400" b="1" dirty="0">
                          <a:effectLst/>
                          <a:latin typeface="Times New Roman" pitchFamily="18" charset="0"/>
                          <a:cs typeface="Times New Roman" pitchFamily="18" charset="0"/>
                        </a:rPr>
                        <a:t>2222.2222.2222</a:t>
                      </a:r>
                      <a:endParaRPr lang="ru-RU" sz="1000" b="1" dirty="0">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74625">
                <a:tc>
                  <a:txBody>
                    <a:bodyPr/>
                    <a:lstStyle/>
                    <a:p>
                      <a:pPr indent="0" algn="just">
                        <a:lnSpc>
                          <a:spcPct val="100000"/>
                        </a:lnSpc>
                        <a:spcAft>
                          <a:spcPts val="0"/>
                        </a:spcAft>
                      </a:pPr>
                      <a:r>
                        <a:rPr lang="ru-RU" sz="1400" b="1">
                          <a:effectLst/>
                          <a:latin typeface="Times New Roman" pitchFamily="18" charset="0"/>
                          <a:cs typeface="Times New Roman" pitchFamily="18" charset="0"/>
                        </a:rPr>
                        <a:t> </a:t>
                      </a:r>
                      <a:endParaRPr lang="ru-RU" sz="1000" b="1">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lnSpc>
                          <a:spcPct val="100000"/>
                        </a:lnSpc>
                        <a:spcAft>
                          <a:spcPts val="0"/>
                        </a:spcAft>
                      </a:pPr>
                      <a:r>
                        <a:rPr lang="ru-RU" sz="1400" b="1">
                          <a:effectLst/>
                          <a:latin typeface="Times New Roman" pitchFamily="18" charset="0"/>
                          <a:cs typeface="Times New Roman" pitchFamily="18" charset="0"/>
                        </a:rPr>
                        <a:t> </a:t>
                      </a:r>
                      <a:endParaRPr lang="ru-RU" sz="1000" b="1">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74625">
                <a:tc>
                  <a:txBody>
                    <a:bodyPr/>
                    <a:lstStyle/>
                    <a:p>
                      <a:pPr indent="0" algn="just">
                        <a:lnSpc>
                          <a:spcPct val="100000"/>
                        </a:lnSpc>
                        <a:spcAft>
                          <a:spcPts val="0"/>
                        </a:spcAft>
                      </a:pPr>
                      <a:r>
                        <a:rPr lang="ru-RU" sz="1400" b="1">
                          <a:effectLst/>
                          <a:latin typeface="Times New Roman" pitchFamily="18" charset="0"/>
                          <a:cs typeface="Times New Roman" pitchFamily="18" charset="0"/>
                        </a:rPr>
                        <a:t> </a:t>
                      </a:r>
                      <a:endParaRPr lang="ru-RU" sz="1000" b="1">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lnSpc>
                          <a:spcPct val="100000"/>
                        </a:lnSpc>
                        <a:spcAft>
                          <a:spcPts val="0"/>
                        </a:spcAft>
                      </a:pPr>
                      <a:r>
                        <a:rPr lang="ru-RU" sz="1400" b="1" dirty="0">
                          <a:effectLst/>
                          <a:latin typeface="Times New Roman" pitchFamily="18" charset="0"/>
                          <a:cs typeface="Times New Roman" pitchFamily="18" charset="0"/>
                        </a:rPr>
                        <a:t> </a:t>
                      </a:r>
                      <a:endParaRPr lang="ru-RU" sz="1000" b="1" dirty="0">
                        <a:effectLst/>
                        <a:latin typeface="Times New Roman" pitchFamily="18" charset="0"/>
                        <a:ea typeface="Times New Roman"/>
                        <a:cs typeface="Times New Roman" pitchFamily="18" charset="0"/>
                      </a:endParaRPr>
                    </a:p>
                  </a:txBody>
                  <a:tcPr marL="25400" marR="25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90" y="2158990"/>
            <a:ext cx="5688154" cy="34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2657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616" y="233689"/>
            <a:ext cx="6696744" cy="369332"/>
          </a:xfrm>
          <a:prstGeom prst="rect">
            <a:avLst/>
          </a:prstGeom>
          <a:noFill/>
        </p:spPr>
        <p:txBody>
          <a:bodyPr wrap="square" rtlCol="0">
            <a:spAutoFit/>
          </a:bodyPr>
          <a:lstStyle/>
          <a:p>
            <a:r>
              <a:rPr lang="ru-RU" dirty="0">
                <a:latin typeface="Times New Roman" pitchFamily="18" charset="0"/>
                <a:cs typeface="Times New Roman" pitchFamily="18" charset="0"/>
              </a:rPr>
              <a:t>Алгоритм отправки фреймов сетевых устройств</a:t>
            </a:r>
          </a:p>
        </p:txBody>
      </p:sp>
      <p:sp>
        <p:nvSpPr>
          <p:cNvPr id="3" name="Прямоугольник 2"/>
          <p:cNvSpPr/>
          <p:nvPr/>
        </p:nvSpPr>
        <p:spPr>
          <a:xfrm>
            <a:off x="467544" y="764704"/>
            <a:ext cx="2376264" cy="792088"/>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itchFamily="18" charset="0"/>
                <a:cs typeface="Times New Roman" pitchFamily="18" charset="0"/>
              </a:rPr>
              <a:t>Необходимо послать</a:t>
            </a:r>
          </a:p>
          <a:p>
            <a:pPr algn="ctr"/>
            <a:r>
              <a:rPr lang="ru-RU" dirty="0">
                <a:solidFill>
                  <a:schemeClr val="tx1"/>
                </a:solidFill>
                <a:latin typeface="Times New Roman" pitchFamily="18" charset="0"/>
                <a:cs typeface="Times New Roman" pitchFamily="18" charset="0"/>
              </a:rPr>
              <a:t>устройству данные</a:t>
            </a:r>
          </a:p>
        </p:txBody>
      </p:sp>
      <p:sp>
        <p:nvSpPr>
          <p:cNvPr id="4" name="Прямоугольник 3"/>
          <p:cNvSpPr/>
          <p:nvPr/>
        </p:nvSpPr>
        <p:spPr>
          <a:xfrm>
            <a:off x="3671900" y="2666668"/>
            <a:ext cx="2376264" cy="396044"/>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itchFamily="18" charset="0"/>
                <a:cs typeface="Times New Roman" pitchFamily="18" charset="0"/>
              </a:rPr>
              <a:t>Отослать </a:t>
            </a:r>
            <a:r>
              <a:rPr lang="en-US" dirty="0">
                <a:solidFill>
                  <a:schemeClr val="tx1"/>
                </a:solidFill>
                <a:latin typeface="Times New Roman" pitchFamily="18" charset="0"/>
                <a:cs typeface="Times New Roman" pitchFamily="18" charset="0"/>
              </a:rPr>
              <a:t>ARP </a:t>
            </a:r>
            <a:r>
              <a:rPr lang="ru-RU" dirty="0">
                <a:solidFill>
                  <a:schemeClr val="tx1"/>
                </a:solidFill>
                <a:latin typeface="Times New Roman" pitchFamily="18" charset="0"/>
                <a:cs typeface="Times New Roman" pitchFamily="18" charset="0"/>
              </a:rPr>
              <a:t>запрос</a:t>
            </a:r>
          </a:p>
        </p:txBody>
      </p:sp>
      <p:sp>
        <p:nvSpPr>
          <p:cNvPr id="5" name="Ромб 4"/>
          <p:cNvSpPr/>
          <p:nvPr/>
        </p:nvSpPr>
        <p:spPr>
          <a:xfrm>
            <a:off x="179512" y="2060848"/>
            <a:ext cx="2952328" cy="1607684"/>
          </a:xfrm>
          <a:prstGeom prst="diamon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itchFamily="18" charset="0"/>
                <a:cs typeface="Times New Roman" pitchFamily="18" charset="0"/>
              </a:rPr>
              <a:t>Есть ли </a:t>
            </a:r>
            <a:r>
              <a:rPr lang="en-US" dirty="0">
                <a:solidFill>
                  <a:schemeClr val="tx1"/>
                </a:solidFill>
                <a:latin typeface="Times New Roman" pitchFamily="18" charset="0"/>
                <a:cs typeface="Times New Roman" pitchFamily="18" charset="0"/>
              </a:rPr>
              <a:t>MAC</a:t>
            </a:r>
            <a:r>
              <a:rPr lang="ru-RU" dirty="0">
                <a:solidFill>
                  <a:schemeClr val="tx1"/>
                </a:solidFill>
                <a:latin typeface="Times New Roman" pitchFamily="18" charset="0"/>
                <a:cs typeface="Times New Roman" pitchFamily="18" charset="0"/>
              </a:rPr>
              <a:t> адрес устройство </a:t>
            </a:r>
          </a:p>
          <a:p>
            <a:pPr algn="ctr"/>
            <a:r>
              <a:rPr lang="ru-RU" dirty="0">
                <a:solidFill>
                  <a:schemeClr val="tx1"/>
                </a:solidFill>
                <a:latin typeface="Times New Roman" pitchFamily="18" charset="0"/>
                <a:cs typeface="Times New Roman" pitchFamily="18" charset="0"/>
              </a:rPr>
              <a:t>в  </a:t>
            </a:r>
            <a:r>
              <a:rPr lang="en-US" dirty="0">
                <a:solidFill>
                  <a:schemeClr val="tx1"/>
                </a:solidFill>
                <a:latin typeface="Times New Roman" pitchFamily="18" charset="0"/>
                <a:cs typeface="Times New Roman" pitchFamily="18" charset="0"/>
              </a:rPr>
              <a:t>ARP</a:t>
            </a:r>
            <a:r>
              <a:rPr lang="ru-RU" dirty="0"/>
              <a:t> </a:t>
            </a:r>
            <a:r>
              <a:rPr lang="ru-RU" dirty="0">
                <a:solidFill>
                  <a:schemeClr val="tx1"/>
                </a:solidFill>
                <a:latin typeface="Times New Roman" pitchFamily="18" charset="0"/>
                <a:cs typeface="Times New Roman" pitchFamily="18" charset="0"/>
              </a:rPr>
              <a:t>таблице</a:t>
            </a:r>
            <a:endParaRPr lang="ru-RU" dirty="0"/>
          </a:p>
        </p:txBody>
      </p:sp>
      <p:sp>
        <p:nvSpPr>
          <p:cNvPr id="6" name="Ромб 5"/>
          <p:cNvSpPr/>
          <p:nvPr/>
        </p:nvSpPr>
        <p:spPr>
          <a:xfrm>
            <a:off x="3362208" y="3668532"/>
            <a:ext cx="2361920" cy="1200628"/>
          </a:xfrm>
          <a:prstGeom prst="diamon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itchFamily="18" charset="0"/>
                <a:cs typeface="Times New Roman" pitchFamily="18" charset="0"/>
              </a:rPr>
              <a:t>Приняли </a:t>
            </a:r>
            <a:r>
              <a:rPr lang="en-US" dirty="0">
                <a:solidFill>
                  <a:schemeClr val="tx1"/>
                </a:solidFill>
                <a:latin typeface="Times New Roman" pitchFamily="18" charset="0"/>
                <a:cs typeface="Times New Roman" pitchFamily="18" charset="0"/>
              </a:rPr>
              <a:t>ARP </a:t>
            </a:r>
            <a:r>
              <a:rPr lang="ru-RU" dirty="0">
                <a:solidFill>
                  <a:schemeClr val="tx1"/>
                </a:solidFill>
                <a:latin typeface="Times New Roman" pitchFamily="18" charset="0"/>
                <a:cs typeface="Times New Roman" pitchFamily="18" charset="0"/>
              </a:rPr>
              <a:t>ответ</a:t>
            </a:r>
            <a:endParaRPr lang="en-US" dirty="0">
              <a:solidFill>
                <a:schemeClr val="tx1"/>
              </a:solidFill>
              <a:latin typeface="Times New Roman" pitchFamily="18" charset="0"/>
              <a:cs typeface="Times New Roman" pitchFamily="18" charset="0"/>
            </a:endParaRPr>
          </a:p>
        </p:txBody>
      </p:sp>
      <p:cxnSp>
        <p:nvCxnSpPr>
          <p:cNvPr id="8" name="Прямая со стрелкой 7"/>
          <p:cNvCxnSpPr>
            <a:stCxn id="3" idx="2"/>
            <a:endCxn id="5" idx="0"/>
          </p:cNvCxnSpPr>
          <p:nvPr/>
        </p:nvCxnSpPr>
        <p:spPr>
          <a:xfrm>
            <a:off x="1655676" y="1556792"/>
            <a:ext cx="0" cy="5040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Прямоугольник 16"/>
          <p:cNvSpPr/>
          <p:nvPr/>
        </p:nvSpPr>
        <p:spPr>
          <a:xfrm>
            <a:off x="6336196" y="3933056"/>
            <a:ext cx="2376264" cy="65432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itchFamily="18" charset="0"/>
                <a:cs typeface="Times New Roman" pitchFamily="18" charset="0"/>
              </a:rPr>
              <a:t>Вывести сообщение об ошибке</a:t>
            </a:r>
          </a:p>
        </p:txBody>
      </p:sp>
      <p:sp>
        <p:nvSpPr>
          <p:cNvPr id="19" name="Прямоугольник 18"/>
          <p:cNvSpPr/>
          <p:nvPr/>
        </p:nvSpPr>
        <p:spPr>
          <a:xfrm>
            <a:off x="467544" y="5337212"/>
            <a:ext cx="2376264" cy="396044"/>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latin typeface="Times New Roman" pitchFamily="18" charset="0"/>
                <a:cs typeface="Times New Roman" pitchFamily="18" charset="0"/>
              </a:rPr>
              <a:t>Отослать данные</a:t>
            </a:r>
          </a:p>
        </p:txBody>
      </p:sp>
      <p:cxnSp>
        <p:nvCxnSpPr>
          <p:cNvPr id="20" name="Прямая со стрелкой 19"/>
          <p:cNvCxnSpPr/>
          <p:nvPr/>
        </p:nvCxnSpPr>
        <p:spPr>
          <a:xfrm>
            <a:off x="4543168" y="3062712"/>
            <a:ext cx="0" cy="6058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a:stCxn id="5" idx="3"/>
            <a:endCxn id="4" idx="1"/>
          </p:cNvCxnSpPr>
          <p:nvPr/>
        </p:nvCxnSpPr>
        <p:spPr>
          <a:xfrm>
            <a:off x="3131840" y="2864690"/>
            <a:ext cx="5400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a:stCxn id="5" idx="2"/>
            <a:endCxn id="19" idx="0"/>
          </p:cNvCxnSpPr>
          <p:nvPr/>
        </p:nvCxnSpPr>
        <p:spPr>
          <a:xfrm>
            <a:off x="1655676" y="3668532"/>
            <a:ext cx="0" cy="166868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a:endCxn id="17" idx="1"/>
          </p:cNvCxnSpPr>
          <p:nvPr/>
        </p:nvCxnSpPr>
        <p:spPr>
          <a:xfrm flipV="1">
            <a:off x="5724128" y="4260216"/>
            <a:ext cx="612068" cy="86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948162" y="2363513"/>
            <a:ext cx="828092" cy="369332"/>
          </a:xfrm>
          <a:prstGeom prst="rect">
            <a:avLst/>
          </a:prstGeom>
          <a:noFill/>
        </p:spPr>
        <p:txBody>
          <a:bodyPr wrap="square" rtlCol="0">
            <a:spAutoFit/>
          </a:bodyPr>
          <a:lstStyle/>
          <a:p>
            <a:r>
              <a:rPr lang="ru-RU" b="1" dirty="0">
                <a:latin typeface="Times New Roman" pitchFamily="18" charset="0"/>
                <a:cs typeface="Times New Roman" pitchFamily="18" charset="0"/>
              </a:rPr>
              <a:t>нет</a:t>
            </a:r>
          </a:p>
        </p:txBody>
      </p:sp>
      <p:sp>
        <p:nvSpPr>
          <p:cNvPr id="31" name="TextBox 30"/>
          <p:cNvSpPr txBox="1"/>
          <p:nvPr/>
        </p:nvSpPr>
        <p:spPr>
          <a:xfrm>
            <a:off x="5508104" y="3929299"/>
            <a:ext cx="828092" cy="369332"/>
          </a:xfrm>
          <a:prstGeom prst="rect">
            <a:avLst/>
          </a:prstGeom>
          <a:noFill/>
        </p:spPr>
        <p:txBody>
          <a:bodyPr wrap="square" rtlCol="0">
            <a:spAutoFit/>
          </a:bodyPr>
          <a:lstStyle/>
          <a:p>
            <a:r>
              <a:rPr lang="ru-RU" b="1" dirty="0">
                <a:latin typeface="Times New Roman" pitchFamily="18" charset="0"/>
                <a:cs typeface="Times New Roman" pitchFamily="18" charset="0"/>
              </a:rPr>
              <a:t>нет</a:t>
            </a:r>
          </a:p>
        </p:txBody>
      </p:sp>
      <p:sp>
        <p:nvSpPr>
          <p:cNvPr id="32" name="TextBox 31"/>
          <p:cNvSpPr txBox="1"/>
          <p:nvPr/>
        </p:nvSpPr>
        <p:spPr>
          <a:xfrm>
            <a:off x="1115616" y="3700037"/>
            <a:ext cx="828092" cy="369332"/>
          </a:xfrm>
          <a:prstGeom prst="rect">
            <a:avLst/>
          </a:prstGeom>
          <a:noFill/>
        </p:spPr>
        <p:txBody>
          <a:bodyPr wrap="square" rtlCol="0">
            <a:spAutoFit/>
          </a:bodyPr>
          <a:lstStyle/>
          <a:p>
            <a:r>
              <a:rPr lang="ru-RU" b="1" dirty="0">
                <a:latin typeface="Times New Roman" pitchFamily="18" charset="0"/>
                <a:cs typeface="Times New Roman" pitchFamily="18" charset="0"/>
              </a:rPr>
              <a:t>да</a:t>
            </a:r>
          </a:p>
        </p:txBody>
      </p:sp>
      <p:sp>
        <p:nvSpPr>
          <p:cNvPr id="33" name="TextBox 32"/>
          <p:cNvSpPr txBox="1"/>
          <p:nvPr/>
        </p:nvSpPr>
        <p:spPr>
          <a:xfrm>
            <a:off x="3926307" y="4688356"/>
            <a:ext cx="828092" cy="369332"/>
          </a:xfrm>
          <a:prstGeom prst="rect">
            <a:avLst/>
          </a:prstGeom>
          <a:noFill/>
        </p:spPr>
        <p:txBody>
          <a:bodyPr wrap="square" rtlCol="0">
            <a:spAutoFit/>
          </a:bodyPr>
          <a:lstStyle/>
          <a:p>
            <a:r>
              <a:rPr lang="ru-RU" b="1" dirty="0">
                <a:latin typeface="Times New Roman" pitchFamily="18" charset="0"/>
                <a:cs typeface="Times New Roman" pitchFamily="18" charset="0"/>
              </a:rPr>
              <a:t>да</a:t>
            </a:r>
          </a:p>
        </p:txBody>
      </p:sp>
      <p:cxnSp>
        <p:nvCxnSpPr>
          <p:cNvPr id="37" name="Прямая соединительная линия 36"/>
          <p:cNvCxnSpPr>
            <a:stCxn id="6" idx="2"/>
          </p:cNvCxnSpPr>
          <p:nvPr/>
        </p:nvCxnSpPr>
        <p:spPr>
          <a:xfrm>
            <a:off x="4543168" y="4869160"/>
            <a:ext cx="0" cy="6660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a:endCxn id="19" idx="3"/>
          </p:cNvCxnSpPr>
          <p:nvPr/>
        </p:nvCxnSpPr>
        <p:spPr>
          <a:xfrm flipH="1">
            <a:off x="2843808" y="5535234"/>
            <a:ext cx="16993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051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51520" y="260648"/>
            <a:ext cx="8568952" cy="3970318"/>
          </a:xfrm>
          <a:prstGeom prst="rect">
            <a:avLst/>
          </a:prstGeom>
        </p:spPr>
        <p:txBody>
          <a:bodyPr wrap="square">
            <a:spAutoFit/>
          </a:bodyPr>
          <a:lstStyle/>
          <a:p>
            <a:pPr indent="431800" algn="just">
              <a:spcAft>
                <a:spcPts val="0"/>
              </a:spcAft>
            </a:pPr>
            <a:r>
              <a:rPr lang="ru-RU" i="1" spc="-20" dirty="0">
                <a:solidFill>
                  <a:srgbClr val="000000"/>
                </a:solidFill>
                <a:effectLst/>
                <a:latin typeface="Times New Roman"/>
                <a:ea typeface="Times New Roman"/>
              </a:rPr>
              <a:t>Формы записи </a:t>
            </a:r>
            <a:r>
              <a:rPr lang="en-US" i="1" spc="-20" dirty="0">
                <a:solidFill>
                  <a:srgbClr val="000000"/>
                </a:solidFill>
                <a:effectLst/>
                <a:latin typeface="Times New Roman"/>
                <a:ea typeface="Times New Roman"/>
              </a:rPr>
              <a:t>IP</a:t>
            </a:r>
            <a:r>
              <a:rPr lang="ru-RU" i="1" spc="-20" dirty="0">
                <a:solidFill>
                  <a:srgbClr val="000000"/>
                </a:solidFill>
                <a:effectLst/>
                <a:latin typeface="Times New Roman"/>
                <a:ea typeface="Times New Roman"/>
              </a:rPr>
              <a:t>-адреса. </a:t>
            </a:r>
            <a:r>
              <a:rPr lang="en-US" spc="-10" dirty="0">
                <a:solidFill>
                  <a:srgbClr val="000000"/>
                </a:solidFill>
                <a:effectLst/>
                <a:latin typeface="Times New Roman"/>
                <a:ea typeface="Times New Roman"/>
              </a:rPr>
              <a:t>IP</a:t>
            </a:r>
            <a:r>
              <a:rPr lang="ru-RU" spc="-10" dirty="0">
                <a:solidFill>
                  <a:srgbClr val="000000"/>
                </a:solidFill>
                <a:effectLst/>
                <a:latin typeface="Times New Roman"/>
                <a:ea typeface="Times New Roman"/>
              </a:rPr>
              <a:t>-адрес имеет длину 4 байта (32 бита) и состоит из двух логических частей – номера сети и номера узла в сети.</a:t>
            </a:r>
            <a:r>
              <a:rPr lang="ru-RU" dirty="0">
                <a:effectLst/>
                <a:latin typeface="Times New Roman"/>
                <a:ea typeface="Times New Roman"/>
              </a:rPr>
              <a:t> </a:t>
            </a:r>
            <a:r>
              <a:rPr lang="ru-RU" spc="-5" dirty="0">
                <a:solidFill>
                  <a:srgbClr val="000000"/>
                </a:solidFill>
                <a:effectLst/>
                <a:latin typeface="Times New Roman"/>
                <a:ea typeface="Times New Roman"/>
              </a:rPr>
              <a:t>Наиболее употребляемой формой представления </a:t>
            </a:r>
            <a:r>
              <a:rPr lang="en-US" spc="-5" dirty="0">
                <a:solidFill>
                  <a:srgbClr val="000000"/>
                </a:solidFill>
                <a:effectLst/>
                <a:latin typeface="Times New Roman"/>
                <a:ea typeface="Times New Roman"/>
              </a:rPr>
              <a:t>IP</a:t>
            </a:r>
            <a:r>
              <a:rPr lang="ru-RU" spc="-5" dirty="0">
                <a:solidFill>
                  <a:srgbClr val="000000"/>
                </a:solidFill>
                <a:effectLst/>
                <a:latin typeface="Times New Roman"/>
                <a:ea typeface="Times New Roman"/>
              </a:rPr>
              <a:t>-адреса является запись в </a:t>
            </a:r>
            <a:r>
              <a:rPr lang="ru-RU" spc="-30" dirty="0">
                <a:solidFill>
                  <a:srgbClr val="000000"/>
                </a:solidFill>
                <a:effectLst/>
                <a:latin typeface="Times New Roman"/>
                <a:ea typeface="Times New Roman"/>
              </a:rPr>
              <a:t>виде четырех чисел, представляющих значения каждого байта в десятичной фор­</a:t>
            </a:r>
            <a:r>
              <a:rPr lang="ru-RU" spc="-15" dirty="0">
                <a:solidFill>
                  <a:srgbClr val="000000"/>
                </a:solidFill>
                <a:effectLst/>
                <a:latin typeface="Times New Roman"/>
                <a:ea typeface="Times New Roman"/>
              </a:rPr>
              <a:t>ме и разделенных точками, например:</a:t>
            </a:r>
            <a:r>
              <a:rPr lang="ru-RU" dirty="0">
                <a:effectLst/>
                <a:latin typeface="Times New Roman"/>
                <a:ea typeface="Times New Roman"/>
              </a:rPr>
              <a:t> </a:t>
            </a:r>
            <a:r>
              <a:rPr lang="ru-RU" spc="45" dirty="0">
                <a:solidFill>
                  <a:srgbClr val="000000"/>
                </a:solidFill>
                <a:effectLst/>
                <a:latin typeface="Times New Roman"/>
                <a:ea typeface="Times New Roman"/>
              </a:rPr>
              <a:t>126.10.2.30.</a:t>
            </a:r>
            <a:r>
              <a:rPr lang="ru-RU" dirty="0">
                <a:solidFill>
                  <a:srgbClr val="000000"/>
                </a:solidFill>
                <a:effectLst/>
                <a:latin typeface="Times New Roman"/>
                <a:ea typeface="Times New Roman"/>
              </a:rPr>
              <a:t> </a:t>
            </a:r>
            <a:r>
              <a:rPr lang="ru-RU" spc="-20" dirty="0">
                <a:solidFill>
                  <a:srgbClr val="000000"/>
                </a:solidFill>
                <a:effectLst/>
                <a:latin typeface="Times New Roman"/>
                <a:ea typeface="Times New Roman"/>
              </a:rPr>
              <a:t>Этот же адрес может быть представлен в двоичном формате: </a:t>
            </a:r>
            <a:r>
              <a:rPr lang="ru-RU" dirty="0">
                <a:effectLst/>
                <a:latin typeface="Times New Roman"/>
                <a:ea typeface="Times New Roman"/>
              </a:rPr>
              <a:t> </a:t>
            </a:r>
            <a:r>
              <a:rPr lang="ru-RU" dirty="0">
                <a:solidFill>
                  <a:srgbClr val="000000"/>
                </a:solidFill>
                <a:effectLst/>
                <a:latin typeface="Times New Roman"/>
                <a:ea typeface="Times New Roman"/>
              </a:rPr>
              <a:t>01111110 00001010 00000010 00011110.</a:t>
            </a:r>
            <a:endParaRPr lang="ru-RU" sz="1100" dirty="0">
              <a:effectLst/>
              <a:latin typeface="Times New Roman"/>
              <a:ea typeface="Times New Roman"/>
            </a:endParaRPr>
          </a:p>
          <a:p>
            <a:pPr indent="431800" algn="just">
              <a:spcAft>
                <a:spcPts val="0"/>
              </a:spcAft>
            </a:pPr>
            <a:r>
              <a:rPr lang="ru-RU" spc="-20" dirty="0">
                <a:solidFill>
                  <a:srgbClr val="000000"/>
                </a:solidFill>
                <a:effectLst/>
                <a:latin typeface="Times New Roman"/>
                <a:ea typeface="Times New Roman"/>
              </a:rPr>
              <a:t>А также в шестнадцатеричном формате:7</a:t>
            </a:r>
            <a:r>
              <a:rPr lang="en-US" spc="-20" dirty="0">
                <a:solidFill>
                  <a:srgbClr val="000000"/>
                </a:solidFill>
                <a:effectLst/>
                <a:latin typeface="Times New Roman"/>
                <a:ea typeface="Times New Roman"/>
              </a:rPr>
              <a:t>F</a:t>
            </a:r>
            <a:r>
              <a:rPr lang="ru-RU" spc="-20" dirty="0">
                <a:solidFill>
                  <a:srgbClr val="000000"/>
                </a:solidFill>
                <a:effectLst/>
                <a:latin typeface="Times New Roman"/>
                <a:ea typeface="Times New Roman"/>
              </a:rPr>
              <a:t>.0</a:t>
            </a:r>
            <a:r>
              <a:rPr lang="en-US" spc="-20" dirty="0">
                <a:solidFill>
                  <a:srgbClr val="000000"/>
                </a:solidFill>
                <a:effectLst/>
                <a:latin typeface="Times New Roman"/>
                <a:ea typeface="Times New Roman"/>
              </a:rPr>
              <a:t>A</a:t>
            </a:r>
            <a:r>
              <a:rPr lang="ru-RU" spc="-20" dirty="0">
                <a:solidFill>
                  <a:srgbClr val="000000"/>
                </a:solidFill>
                <a:effectLst/>
                <a:latin typeface="Times New Roman"/>
                <a:ea typeface="Times New Roman"/>
              </a:rPr>
              <a:t>.02.1</a:t>
            </a:r>
            <a:r>
              <a:rPr lang="en-US" spc="-20" dirty="0">
                <a:solidFill>
                  <a:srgbClr val="000000"/>
                </a:solidFill>
                <a:effectLst/>
                <a:latin typeface="Times New Roman"/>
                <a:ea typeface="Times New Roman"/>
              </a:rPr>
              <a:t>D</a:t>
            </a:r>
            <a:r>
              <a:rPr lang="ru-RU" spc="-20" dirty="0">
                <a:solidFill>
                  <a:srgbClr val="000000"/>
                </a:solidFill>
                <a:effectLst/>
                <a:latin typeface="Times New Roman"/>
                <a:ea typeface="Times New Roman"/>
              </a:rPr>
              <a:t>.</a:t>
            </a:r>
            <a:endParaRPr lang="ru-RU" sz="1100" dirty="0">
              <a:effectLst/>
              <a:latin typeface="Times New Roman"/>
              <a:ea typeface="Times New Roman"/>
            </a:endParaRPr>
          </a:p>
          <a:p>
            <a:pPr indent="431800" algn="just">
              <a:spcAft>
                <a:spcPts val="0"/>
              </a:spcAft>
            </a:pPr>
            <a:r>
              <a:rPr lang="ru-RU" i="1" spc="-5" dirty="0">
                <a:solidFill>
                  <a:srgbClr val="000000"/>
                </a:solidFill>
                <a:effectLst/>
                <a:latin typeface="Times New Roman"/>
                <a:ea typeface="Times New Roman"/>
              </a:rPr>
              <a:t>Классы </a:t>
            </a:r>
            <a:r>
              <a:rPr lang="en-US" i="1" spc="-5" dirty="0">
                <a:solidFill>
                  <a:srgbClr val="000000"/>
                </a:solidFill>
                <a:effectLst/>
                <a:latin typeface="Times New Roman"/>
                <a:ea typeface="Times New Roman"/>
              </a:rPr>
              <a:t>IP</a:t>
            </a:r>
            <a:r>
              <a:rPr lang="ru-RU" i="1" spc="-5" dirty="0">
                <a:solidFill>
                  <a:srgbClr val="000000"/>
                </a:solidFill>
                <a:effectLst/>
                <a:latin typeface="Times New Roman"/>
                <a:ea typeface="Times New Roman"/>
              </a:rPr>
              <a:t>-адресов.</a:t>
            </a:r>
            <a:r>
              <a:rPr lang="ru-RU" dirty="0">
                <a:effectLst/>
                <a:latin typeface="Times New Roman"/>
                <a:ea typeface="Times New Roman"/>
              </a:rPr>
              <a:t> </a:t>
            </a:r>
            <a:r>
              <a:rPr lang="ru-RU" spc="-15" dirty="0">
                <a:solidFill>
                  <a:srgbClr val="000000"/>
                </a:solidFill>
                <a:effectLst/>
                <a:latin typeface="Times New Roman"/>
                <a:ea typeface="Times New Roman"/>
              </a:rPr>
              <a:t>Традиционная схема деления </a:t>
            </a:r>
            <a:r>
              <a:rPr lang="en-US" spc="-15" dirty="0">
                <a:solidFill>
                  <a:srgbClr val="000000"/>
                </a:solidFill>
                <a:effectLst/>
                <a:latin typeface="Times New Roman"/>
                <a:ea typeface="Times New Roman"/>
              </a:rPr>
              <a:t>IP</a:t>
            </a:r>
            <a:r>
              <a:rPr lang="ru-RU" spc="-15" dirty="0">
                <a:solidFill>
                  <a:srgbClr val="000000"/>
                </a:solidFill>
                <a:effectLst/>
                <a:latin typeface="Times New Roman"/>
                <a:ea typeface="Times New Roman"/>
              </a:rPr>
              <a:t>-адреса на номер сети и номер узла основана на </a:t>
            </a:r>
            <a:r>
              <a:rPr lang="ru-RU" spc="-25" dirty="0">
                <a:solidFill>
                  <a:srgbClr val="000000"/>
                </a:solidFill>
                <a:effectLst/>
                <a:latin typeface="Times New Roman"/>
                <a:ea typeface="Times New Roman"/>
              </a:rPr>
              <a:t>понятии класса, который определяется значениями нескольких первых битов ад</a:t>
            </a:r>
            <a:r>
              <a:rPr lang="ru-RU" spc="-20" dirty="0">
                <a:solidFill>
                  <a:srgbClr val="000000"/>
                </a:solidFill>
                <a:effectLst/>
                <a:latin typeface="Times New Roman"/>
                <a:ea typeface="Times New Roman"/>
              </a:rPr>
              <a:t>реса. Именно потому, что первый байт адреса 185.23.44.206 попадает в диапазон 128-191, мы можем сказать, что этот адрес относится к классу </a:t>
            </a:r>
            <a:r>
              <a:rPr lang="en-US" spc="-20" dirty="0">
                <a:solidFill>
                  <a:srgbClr val="000000"/>
                </a:solidFill>
                <a:effectLst/>
                <a:latin typeface="Times New Roman"/>
                <a:ea typeface="Times New Roman"/>
              </a:rPr>
              <a:t>B</a:t>
            </a:r>
            <a:r>
              <a:rPr lang="ru-RU" spc="-20" dirty="0">
                <a:solidFill>
                  <a:srgbClr val="000000"/>
                </a:solidFill>
                <a:effectLst/>
                <a:latin typeface="Times New Roman"/>
                <a:ea typeface="Times New Roman"/>
              </a:rPr>
              <a:t>, а значит, номе</a:t>
            </a:r>
            <a:r>
              <a:rPr lang="ru-RU" spc="-10" dirty="0">
                <a:solidFill>
                  <a:srgbClr val="000000"/>
                </a:solidFill>
                <a:effectLst/>
                <a:latin typeface="Times New Roman"/>
                <a:ea typeface="Times New Roman"/>
              </a:rPr>
              <a:t>ром сети являются первые два байта </a:t>
            </a:r>
            <a:r>
              <a:rPr lang="en-US" spc="-10" dirty="0">
                <a:solidFill>
                  <a:srgbClr val="000000"/>
                </a:solidFill>
                <a:effectLst/>
                <a:latin typeface="Times New Roman"/>
                <a:ea typeface="Times New Roman"/>
              </a:rPr>
              <a:t>IP</a:t>
            </a:r>
            <a:r>
              <a:rPr lang="ru-RU" spc="-10" dirty="0">
                <a:solidFill>
                  <a:srgbClr val="000000"/>
                </a:solidFill>
                <a:effectLst/>
                <a:latin typeface="Times New Roman"/>
                <a:ea typeface="Times New Roman"/>
              </a:rPr>
              <a:t>-адреса, дополненные двумя нулевыми </a:t>
            </a:r>
            <a:r>
              <a:rPr lang="ru-RU" spc="-30" dirty="0">
                <a:solidFill>
                  <a:srgbClr val="000000"/>
                </a:solidFill>
                <a:effectLst/>
                <a:latin typeface="Times New Roman"/>
                <a:ea typeface="Times New Roman"/>
              </a:rPr>
              <a:t>байтами – 185.23,0.0, а номером узла – два младшие байта, дополненные с нача</a:t>
            </a:r>
            <a:r>
              <a:rPr lang="ru-RU" spc="-20" dirty="0">
                <a:solidFill>
                  <a:srgbClr val="000000"/>
                </a:solidFill>
                <a:effectLst/>
                <a:latin typeface="Times New Roman"/>
                <a:ea typeface="Times New Roman"/>
              </a:rPr>
              <a:t>ла двумя нулевыми байтами – 0.0.44.206.</a:t>
            </a:r>
            <a:endParaRPr lang="ru-RU" sz="1100" dirty="0">
              <a:effectLst/>
              <a:latin typeface="Times New Roman"/>
              <a:ea typeface="Times New Roman"/>
            </a:endParaRPr>
          </a:p>
        </p:txBody>
      </p:sp>
      <p:graphicFrame>
        <p:nvGraphicFramePr>
          <p:cNvPr id="3" name="Таблица 2"/>
          <p:cNvGraphicFramePr>
            <a:graphicFrameLocks noGrp="1"/>
          </p:cNvGraphicFramePr>
          <p:nvPr>
            <p:extLst>
              <p:ext uri="{D42A27DB-BD31-4B8C-83A1-F6EECF244321}">
                <p14:modId xmlns:p14="http://schemas.microsoft.com/office/powerpoint/2010/main" val="774272516"/>
              </p:ext>
            </p:extLst>
          </p:nvPr>
        </p:nvGraphicFramePr>
        <p:xfrm>
          <a:off x="1043608" y="4365104"/>
          <a:ext cx="7128790" cy="1800200"/>
        </p:xfrm>
        <a:graphic>
          <a:graphicData uri="http://schemas.openxmlformats.org/drawingml/2006/table">
            <a:tbl>
              <a:tblPr/>
              <a:tblGrid>
                <a:gridCol w="727606">
                  <a:extLst>
                    <a:ext uri="{9D8B030D-6E8A-4147-A177-3AD203B41FA5}">
                      <a16:colId xmlns:a16="http://schemas.microsoft.com/office/drawing/2014/main" val="20000"/>
                    </a:ext>
                  </a:extLst>
                </a:gridCol>
                <a:gridCol w="1014987">
                  <a:extLst>
                    <a:ext uri="{9D8B030D-6E8A-4147-A177-3AD203B41FA5}">
                      <a16:colId xmlns:a16="http://schemas.microsoft.com/office/drawing/2014/main" val="20001"/>
                    </a:ext>
                  </a:extLst>
                </a:gridCol>
                <a:gridCol w="1519694">
                  <a:extLst>
                    <a:ext uri="{9D8B030D-6E8A-4147-A177-3AD203B41FA5}">
                      <a16:colId xmlns:a16="http://schemas.microsoft.com/office/drawing/2014/main" val="20002"/>
                    </a:ext>
                  </a:extLst>
                </a:gridCol>
                <a:gridCol w="1752942">
                  <a:extLst>
                    <a:ext uri="{9D8B030D-6E8A-4147-A177-3AD203B41FA5}">
                      <a16:colId xmlns:a16="http://schemas.microsoft.com/office/drawing/2014/main" val="20003"/>
                    </a:ext>
                  </a:extLst>
                </a:gridCol>
                <a:gridCol w="2113561">
                  <a:extLst>
                    <a:ext uri="{9D8B030D-6E8A-4147-A177-3AD203B41FA5}">
                      <a16:colId xmlns:a16="http://schemas.microsoft.com/office/drawing/2014/main" val="20004"/>
                    </a:ext>
                  </a:extLst>
                </a:gridCol>
              </a:tblGrid>
              <a:tr h="495996">
                <a:tc>
                  <a:txBody>
                    <a:bodyPr/>
                    <a:lstStyle/>
                    <a:p>
                      <a:pPr indent="0" algn="just">
                        <a:lnSpc>
                          <a:spcPct val="100000"/>
                        </a:lnSpc>
                        <a:spcAft>
                          <a:spcPts val="0"/>
                        </a:spcAft>
                      </a:pPr>
                      <a:r>
                        <a:rPr lang="ru-RU" sz="1400" b="1">
                          <a:effectLst/>
                          <a:latin typeface="Times New Roman"/>
                          <a:ea typeface="Times New Roman"/>
                        </a:rPr>
                        <a:t>К</a:t>
                      </a:r>
                      <a:r>
                        <a:rPr lang="en-US" sz="1400" b="1">
                          <a:effectLst/>
                          <a:latin typeface="Times New Roman"/>
                          <a:ea typeface="Times New Roman"/>
                        </a:rPr>
                        <a:t>ласс</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effectLst/>
                          <a:latin typeface="Times New Roman"/>
                          <a:ea typeface="Times New Roman"/>
                        </a:rPr>
                        <a:t>Первые биты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effectLst/>
                          <a:latin typeface="Times New Roman"/>
                          <a:ea typeface="Times New Roman"/>
                        </a:rPr>
                        <a:t>Наименьший</a:t>
                      </a:r>
                      <a:endParaRPr lang="ru-RU" sz="1000" b="1">
                        <a:effectLst/>
                        <a:latin typeface="Times New Roman"/>
                        <a:ea typeface="Times New Roman"/>
                      </a:endParaRPr>
                    </a:p>
                    <a:p>
                      <a:pPr indent="0" algn="just">
                        <a:lnSpc>
                          <a:spcPct val="100000"/>
                        </a:lnSpc>
                        <a:spcAft>
                          <a:spcPts val="0"/>
                        </a:spcAft>
                      </a:pPr>
                      <a:r>
                        <a:rPr lang="en-US" sz="1400" b="1">
                          <a:effectLst/>
                          <a:latin typeface="Times New Roman"/>
                          <a:ea typeface="Times New Roman"/>
                        </a:rPr>
                        <a:t>номер сети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effectLst/>
                          <a:latin typeface="Times New Roman"/>
                          <a:ea typeface="Times New Roman"/>
                        </a:rPr>
                        <a:t>Наибольший номер сети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ru-RU" sz="1400" b="1">
                          <a:effectLst/>
                          <a:latin typeface="Times New Roman"/>
                          <a:ea typeface="Times New Roman"/>
                        </a:rPr>
                        <a:t>Максимальное число узлов в сети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5379">
                <a:tc>
                  <a:txBody>
                    <a:bodyPr/>
                    <a:lstStyle/>
                    <a:p>
                      <a:pPr indent="0" algn="just">
                        <a:lnSpc>
                          <a:spcPct val="100000"/>
                        </a:lnSpc>
                        <a:spcAft>
                          <a:spcPts val="0"/>
                        </a:spcAft>
                      </a:pPr>
                      <a:r>
                        <a:rPr lang="en-US" sz="1400" b="1">
                          <a:solidFill>
                            <a:srgbClr val="000000"/>
                          </a:solidFill>
                          <a:effectLst/>
                          <a:latin typeface="Times New Roman"/>
                          <a:ea typeface="Times New Roman"/>
                        </a:rPr>
                        <a:t>А</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solidFill>
                            <a:srgbClr val="000000"/>
                          </a:solidFill>
                          <a:effectLst/>
                          <a:latin typeface="Times New Roman"/>
                          <a:ea typeface="Times New Roman"/>
                        </a:rPr>
                        <a:t>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30">
                          <a:solidFill>
                            <a:srgbClr val="000000"/>
                          </a:solidFill>
                          <a:effectLst/>
                          <a:latin typeface="Times New Roman"/>
                          <a:ea typeface="Times New Roman"/>
                        </a:rPr>
                        <a:t>1.0.0.0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5">
                          <a:solidFill>
                            <a:srgbClr val="000000"/>
                          </a:solidFill>
                          <a:effectLst/>
                          <a:latin typeface="Times New Roman"/>
                          <a:ea typeface="Times New Roman"/>
                        </a:rPr>
                        <a:t>126.0.0.0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solidFill>
                            <a:srgbClr val="000000"/>
                          </a:solidFill>
                          <a:effectLst/>
                          <a:latin typeface="Times New Roman"/>
                          <a:ea typeface="Times New Roman"/>
                        </a:rPr>
                        <a:t>2</a:t>
                      </a:r>
                      <a:r>
                        <a:rPr lang="en-US" sz="1400" b="1" baseline="30000">
                          <a:solidFill>
                            <a:srgbClr val="000000"/>
                          </a:solidFill>
                          <a:effectLst/>
                          <a:latin typeface="Times New Roman"/>
                          <a:ea typeface="Times New Roman"/>
                        </a:rPr>
                        <a:t>24</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2022">
                <a:tc>
                  <a:txBody>
                    <a:bodyPr/>
                    <a:lstStyle/>
                    <a:p>
                      <a:pPr indent="0" algn="just">
                        <a:lnSpc>
                          <a:spcPct val="100000"/>
                        </a:lnSpc>
                        <a:spcAft>
                          <a:spcPts val="0"/>
                        </a:spcAft>
                      </a:pPr>
                      <a:r>
                        <a:rPr lang="en-US" sz="1400" b="1">
                          <a:solidFill>
                            <a:srgbClr val="000000"/>
                          </a:solidFill>
                          <a:effectLst/>
                          <a:latin typeface="Times New Roman"/>
                          <a:ea typeface="Times New Roman"/>
                        </a:rPr>
                        <a:t>В</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solidFill>
                            <a:srgbClr val="000000"/>
                          </a:solidFill>
                          <a:effectLst/>
                          <a:latin typeface="Times New Roman"/>
                          <a:ea typeface="Times New Roman"/>
                        </a:rPr>
                        <a:t>10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5">
                          <a:solidFill>
                            <a:srgbClr val="000000"/>
                          </a:solidFill>
                          <a:effectLst/>
                          <a:latin typeface="Times New Roman"/>
                          <a:ea typeface="Times New Roman"/>
                        </a:rPr>
                        <a:t>128.0.0.0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5">
                          <a:solidFill>
                            <a:srgbClr val="000000"/>
                          </a:solidFill>
                          <a:effectLst/>
                          <a:latin typeface="Times New Roman"/>
                          <a:ea typeface="Times New Roman"/>
                        </a:rPr>
                        <a:t>191.255.0.0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solidFill>
                            <a:srgbClr val="000000"/>
                          </a:solidFill>
                          <a:effectLst/>
                          <a:latin typeface="Times New Roman"/>
                          <a:ea typeface="Times New Roman"/>
                        </a:rPr>
                        <a:t>2</a:t>
                      </a:r>
                      <a:r>
                        <a:rPr lang="en-US" sz="1400" b="1" baseline="30000">
                          <a:solidFill>
                            <a:srgbClr val="000000"/>
                          </a:solidFill>
                          <a:effectLst/>
                          <a:latin typeface="Times New Roman"/>
                          <a:ea typeface="Times New Roman"/>
                        </a:rPr>
                        <a:t>16</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5379">
                <a:tc>
                  <a:txBody>
                    <a:bodyPr/>
                    <a:lstStyle/>
                    <a:p>
                      <a:pPr indent="0" algn="just">
                        <a:lnSpc>
                          <a:spcPct val="100000"/>
                        </a:lnSpc>
                        <a:spcAft>
                          <a:spcPts val="0"/>
                        </a:spcAft>
                      </a:pPr>
                      <a:r>
                        <a:rPr lang="en-US" sz="1400" b="1">
                          <a:solidFill>
                            <a:srgbClr val="000000"/>
                          </a:solidFill>
                          <a:effectLst/>
                          <a:latin typeface="Times New Roman"/>
                          <a:ea typeface="Times New Roman"/>
                        </a:rPr>
                        <a:t>С</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solidFill>
                            <a:srgbClr val="000000"/>
                          </a:solidFill>
                          <a:effectLst/>
                          <a:latin typeface="Times New Roman"/>
                          <a:ea typeface="Times New Roman"/>
                        </a:rPr>
                        <a:t>110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0">
                          <a:solidFill>
                            <a:srgbClr val="000000"/>
                          </a:solidFill>
                          <a:effectLst/>
                          <a:latin typeface="Times New Roman"/>
                          <a:ea typeface="Times New Roman"/>
                        </a:rPr>
                        <a:t>192.0.1.0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0">
                          <a:solidFill>
                            <a:srgbClr val="000000"/>
                          </a:solidFill>
                          <a:effectLst/>
                          <a:latin typeface="Times New Roman"/>
                          <a:ea typeface="Times New Roman"/>
                        </a:rPr>
                        <a:t>223.255.255.0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a:solidFill>
                            <a:srgbClr val="000000"/>
                          </a:solidFill>
                          <a:effectLst/>
                          <a:latin typeface="Times New Roman"/>
                          <a:ea typeface="Times New Roman"/>
                        </a:rPr>
                        <a:t>2</a:t>
                      </a:r>
                      <a:r>
                        <a:rPr lang="en-US" sz="1400" b="1" baseline="30000">
                          <a:solidFill>
                            <a:srgbClr val="000000"/>
                          </a:solidFill>
                          <a:effectLst/>
                          <a:latin typeface="Times New Roman"/>
                          <a:ea typeface="Times New Roman"/>
                        </a:rPr>
                        <a:t>8</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5379">
                <a:tc>
                  <a:txBody>
                    <a:bodyPr/>
                    <a:lstStyle/>
                    <a:p>
                      <a:pPr indent="0" algn="just">
                        <a:lnSpc>
                          <a:spcPct val="100000"/>
                        </a:lnSpc>
                        <a:spcAft>
                          <a:spcPts val="0"/>
                        </a:spcAft>
                      </a:pPr>
                      <a:r>
                        <a:rPr lang="en-US" sz="1400" b="1">
                          <a:solidFill>
                            <a:srgbClr val="000000"/>
                          </a:solidFill>
                          <a:effectLst/>
                          <a:latin typeface="Times New Roman"/>
                          <a:ea typeface="Times New Roman"/>
                        </a:rPr>
                        <a:t>D</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5">
                          <a:solidFill>
                            <a:srgbClr val="000000"/>
                          </a:solidFill>
                          <a:effectLst/>
                          <a:latin typeface="Times New Roman"/>
                          <a:ea typeface="Times New Roman"/>
                        </a:rPr>
                        <a:t>1110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15">
                          <a:solidFill>
                            <a:srgbClr val="000000"/>
                          </a:solidFill>
                          <a:effectLst/>
                          <a:latin typeface="Times New Roman"/>
                          <a:ea typeface="Times New Roman"/>
                        </a:rPr>
                        <a:t>224.0.0.0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15">
                          <a:solidFill>
                            <a:srgbClr val="000000"/>
                          </a:solidFill>
                          <a:effectLst/>
                          <a:latin typeface="Times New Roman"/>
                          <a:ea typeface="Times New Roman"/>
                        </a:rPr>
                        <a:t>239.255.255.255</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10">
                          <a:solidFill>
                            <a:srgbClr val="000000"/>
                          </a:solidFill>
                          <a:effectLst/>
                          <a:latin typeface="Times New Roman"/>
                          <a:ea typeface="Times New Roman"/>
                        </a:rPr>
                        <a:t>Multicast</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6045">
                <a:tc>
                  <a:txBody>
                    <a:bodyPr/>
                    <a:lstStyle/>
                    <a:p>
                      <a:pPr indent="0" algn="just">
                        <a:lnSpc>
                          <a:spcPct val="100000"/>
                        </a:lnSpc>
                        <a:spcAft>
                          <a:spcPts val="0"/>
                        </a:spcAft>
                      </a:pPr>
                      <a:r>
                        <a:rPr lang="en-US" sz="1400" b="1">
                          <a:solidFill>
                            <a:srgbClr val="000000"/>
                          </a:solidFill>
                          <a:effectLst/>
                          <a:latin typeface="Times New Roman"/>
                          <a:ea typeface="Times New Roman"/>
                        </a:rPr>
                        <a:t>Е</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20">
                          <a:solidFill>
                            <a:srgbClr val="000000"/>
                          </a:solidFill>
                          <a:effectLst/>
                          <a:latin typeface="Times New Roman"/>
                          <a:ea typeface="Times New Roman"/>
                        </a:rPr>
                        <a:t>11110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15">
                          <a:solidFill>
                            <a:srgbClr val="000000"/>
                          </a:solidFill>
                          <a:effectLst/>
                          <a:latin typeface="Times New Roman"/>
                          <a:ea typeface="Times New Roman"/>
                        </a:rPr>
                        <a:t>240.0.0.0</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15">
                          <a:solidFill>
                            <a:srgbClr val="000000"/>
                          </a:solidFill>
                          <a:effectLst/>
                          <a:latin typeface="Times New Roman"/>
                          <a:ea typeface="Times New Roman"/>
                        </a:rPr>
                        <a:t>247.255.255.255</a:t>
                      </a:r>
                      <a:r>
                        <a:rPr lang="en-US" sz="1400" b="1">
                          <a:effectLst/>
                          <a:latin typeface="Times New Roman"/>
                          <a:ea typeface="Times New Roman"/>
                        </a:rPr>
                        <a:t> </a:t>
                      </a:r>
                      <a:endParaRPr lang="ru-RU" sz="1000" b="1">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0" algn="just">
                        <a:lnSpc>
                          <a:spcPct val="100000"/>
                        </a:lnSpc>
                        <a:spcAft>
                          <a:spcPts val="0"/>
                        </a:spcAft>
                      </a:pPr>
                      <a:r>
                        <a:rPr lang="en-US" sz="1400" b="1" spc="5" dirty="0" err="1">
                          <a:solidFill>
                            <a:srgbClr val="000000"/>
                          </a:solidFill>
                          <a:effectLst/>
                          <a:latin typeface="Times New Roman"/>
                          <a:ea typeface="Times New Roman"/>
                        </a:rPr>
                        <a:t>Зарезервирован</a:t>
                      </a:r>
                      <a:r>
                        <a:rPr lang="en-US" sz="1400" b="1" dirty="0">
                          <a:effectLst/>
                          <a:latin typeface="Times New Roman"/>
                          <a:ea typeface="Times New Roman"/>
                        </a:rPr>
                        <a:t> </a:t>
                      </a:r>
                      <a:endParaRPr lang="ru-RU" sz="1000" b="1" dirty="0">
                        <a:effectLst/>
                        <a:latin typeface="Times New Roman"/>
                        <a:ea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6877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59" y="655538"/>
            <a:ext cx="8208912"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23528" y="116632"/>
            <a:ext cx="8208912" cy="369332"/>
          </a:xfrm>
          <a:prstGeom prst="rect">
            <a:avLst/>
          </a:prstGeom>
          <a:noFill/>
        </p:spPr>
        <p:txBody>
          <a:bodyPr wrap="square" rtlCol="0">
            <a:spAutoFit/>
          </a:bodyPr>
          <a:lstStyle/>
          <a:p>
            <a:pPr algn="ctr"/>
            <a:r>
              <a:rPr lang="en-US" dirty="0">
                <a:latin typeface="Times New Roman" pitchFamily="18" charset="0"/>
                <a:cs typeface="Times New Roman" pitchFamily="18" charset="0"/>
              </a:rPr>
              <a:t>IP </a:t>
            </a:r>
            <a:r>
              <a:rPr lang="ru-RU" dirty="0">
                <a:latin typeface="Times New Roman" pitchFamily="18" charset="0"/>
                <a:cs typeface="Times New Roman" pitchFamily="18" charset="0"/>
              </a:rPr>
              <a:t>– адресация 6 версии</a:t>
            </a:r>
          </a:p>
        </p:txBody>
      </p:sp>
      <p:sp>
        <p:nvSpPr>
          <p:cNvPr id="3" name="Прямоугольник 2"/>
          <p:cNvSpPr/>
          <p:nvPr/>
        </p:nvSpPr>
        <p:spPr>
          <a:xfrm>
            <a:off x="530259" y="1438756"/>
            <a:ext cx="8496944" cy="4870564"/>
          </a:xfrm>
          <a:prstGeom prst="rect">
            <a:avLst/>
          </a:prstGeom>
        </p:spPr>
        <p:txBody>
          <a:bodyPr wrap="square">
            <a:spAutoFit/>
          </a:bodyPr>
          <a:lstStyle/>
          <a:p>
            <a:pPr indent="450215" algn="just">
              <a:lnSpc>
                <a:spcPct val="115000"/>
              </a:lnSpc>
              <a:spcAft>
                <a:spcPts val="0"/>
              </a:spcAft>
            </a:pPr>
            <a:r>
              <a:rPr lang="ru-RU" b="1" dirty="0">
                <a:solidFill>
                  <a:srgbClr val="000000"/>
                </a:solidFill>
                <a:latin typeface="Times New Roman"/>
                <a:ea typeface="Times New Roman"/>
                <a:cs typeface="Times New Roman"/>
              </a:rPr>
              <a:t>Префикс формата</a:t>
            </a:r>
            <a:r>
              <a:rPr lang="ru-RU" dirty="0">
                <a:solidFill>
                  <a:srgbClr val="000000"/>
                </a:solidFill>
                <a:latin typeface="Times New Roman"/>
                <a:ea typeface="Times New Roman"/>
                <a:cs typeface="Times New Roman"/>
              </a:rPr>
              <a:t> (</a:t>
            </a:r>
            <a:r>
              <a:rPr lang="ru-RU" dirty="0" err="1">
                <a:solidFill>
                  <a:srgbClr val="000000"/>
                </a:solidFill>
                <a:latin typeface="Times New Roman"/>
                <a:ea typeface="Times New Roman"/>
                <a:cs typeface="Times New Roman"/>
              </a:rPr>
              <a:t>Format</a:t>
            </a:r>
            <a:r>
              <a:rPr lang="ru-RU" dirty="0">
                <a:solidFill>
                  <a:srgbClr val="000000"/>
                </a:solidFill>
                <a:latin typeface="Times New Roman"/>
                <a:ea typeface="Times New Roman"/>
                <a:cs typeface="Times New Roman"/>
              </a:rPr>
              <a:t> </a:t>
            </a:r>
            <a:r>
              <a:rPr lang="ru-RU" dirty="0" err="1">
                <a:solidFill>
                  <a:srgbClr val="000000"/>
                </a:solidFill>
                <a:latin typeface="Times New Roman"/>
                <a:ea typeface="Times New Roman"/>
                <a:cs typeface="Times New Roman"/>
              </a:rPr>
              <a:t>Prefix</a:t>
            </a:r>
            <a:r>
              <a:rPr lang="ru-RU" dirty="0">
                <a:solidFill>
                  <a:srgbClr val="000000"/>
                </a:solidFill>
                <a:latin typeface="Times New Roman"/>
                <a:ea typeface="Times New Roman"/>
                <a:cs typeface="Times New Roman"/>
              </a:rPr>
              <a:t>, FP) для этого типа адресов имеет размер три бита и значение 001.</a:t>
            </a:r>
            <a:endParaRPr lang="ru-RU" dirty="0">
              <a:latin typeface="Times New Roman"/>
              <a:ea typeface="Courier New"/>
              <a:cs typeface="Courier New"/>
            </a:endParaRPr>
          </a:p>
          <a:p>
            <a:pPr indent="450215" algn="just">
              <a:lnSpc>
                <a:spcPct val="115000"/>
              </a:lnSpc>
              <a:spcAft>
                <a:spcPts val="0"/>
              </a:spcAft>
            </a:pPr>
            <a:r>
              <a:rPr lang="ru-RU" dirty="0">
                <a:solidFill>
                  <a:srgbClr val="000000"/>
                </a:solidFill>
                <a:latin typeface="Times New Roman"/>
                <a:ea typeface="Times New Roman"/>
                <a:cs typeface="Times New Roman"/>
              </a:rPr>
              <a:t>Следующие три поля — агрегирования верхнего (</a:t>
            </a:r>
            <a:r>
              <a:rPr lang="en-US" dirty="0">
                <a:solidFill>
                  <a:srgbClr val="000000"/>
                </a:solidFill>
                <a:latin typeface="Times New Roman"/>
                <a:ea typeface="Times New Roman"/>
                <a:cs typeface="Times New Roman"/>
              </a:rPr>
              <a:t>Top</a:t>
            </a:r>
            <a:r>
              <a:rPr lang="ru-RU" dirty="0">
                <a:solidFill>
                  <a:srgbClr val="000000"/>
                </a:solidFill>
                <a:latin typeface="Times New Roman"/>
                <a:ea typeface="Times New Roman"/>
                <a:cs typeface="Times New Roman"/>
              </a:rPr>
              <a:t>-</a:t>
            </a:r>
            <a:r>
              <a:rPr lang="en-US" dirty="0">
                <a:solidFill>
                  <a:srgbClr val="000000"/>
                </a:solidFill>
                <a:latin typeface="Times New Roman"/>
                <a:ea typeface="Times New Roman"/>
                <a:cs typeface="Times New Roman"/>
              </a:rPr>
              <a:t>Level Aggregation</a:t>
            </a:r>
            <a:r>
              <a:rPr lang="ru-RU" dirty="0">
                <a:solidFill>
                  <a:srgbClr val="000000"/>
                </a:solidFill>
                <a:latin typeface="Times New Roman"/>
                <a:ea typeface="Times New Roman"/>
                <a:cs typeface="Times New Roman"/>
              </a:rPr>
              <a:t>, </a:t>
            </a:r>
            <a:r>
              <a:rPr lang="en-US" dirty="0">
                <a:solidFill>
                  <a:srgbClr val="000000"/>
                </a:solidFill>
                <a:latin typeface="Times New Roman"/>
                <a:ea typeface="Times New Roman"/>
                <a:cs typeface="Times New Roman"/>
              </a:rPr>
              <a:t>TLA</a:t>
            </a:r>
            <a:r>
              <a:rPr lang="ru-RU" dirty="0">
                <a:solidFill>
                  <a:srgbClr val="000000"/>
                </a:solidFill>
                <a:latin typeface="Times New Roman"/>
                <a:ea typeface="Times New Roman"/>
                <a:cs typeface="Times New Roman"/>
              </a:rPr>
              <a:t>), следующего (</a:t>
            </a:r>
            <a:r>
              <a:rPr lang="en-US" dirty="0">
                <a:solidFill>
                  <a:srgbClr val="000000"/>
                </a:solidFill>
                <a:latin typeface="Times New Roman"/>
                <a:ea typeface="Times New Roman"/>
                <a:cs typeface="Times New Roman"/>
              </a:rPr>
              <a:t>Next</a:t>
            </a:r>
            <a:r>
              <a:rPr lang="ru-RU" dirty="0">
                <a:solidFill>
                  <a:srgbClr val="000000"/>
                </a:solidFill>
                <a:latin typeface="Times New Roman"/>
                <a:ea typeface="Times New Roman"/>
                <a:cs typeface="Times New Roman"/>
              </a:rPr>
              <a:t>-</a:t>
            </a:r>
            <a:r>
              <a:rPr lang="en-US" dirty="0">
                <a:solidFill>
                  <a:srgbClr val="000000"/>
                </a:solidFill>
                <a:latin typeface="Times New Roman"/>
                <a:ea typeface="Times New Roman"/>
                <a:cs typeface="Times New Roman"/>
              </a:rPr>
              <a:t>Level Aggregation</a:t>
            </a:r>
            <a:r>
              <a:rPr lang="ru-RU" dirty="0">
                <a:solidFill>
                  <a:srgbClr val="000000"/>
                </a:solidFill>
                <a:latin typeface="Times New Roman"/>
                <a:ea typeface="Times New Roman"/>
                <a:cs typeface="Times New Roman"/>
              </a:rPr>
              <a:t>, </a:t>
            </a:r>
            <a:r>
              <a:rPr lang="en-US" dirty="0">
                <a:solidFill>
                  <a:srgbClr val="000000"/>
                </a:solidFill>
                <a:latin typeface="Times New Roman"/>
                <a:ea typeface="Times New Roman"/>
                <a:cs typeface="Times New Roman"/>
              </a:rPr>
              <a:t>NLA</a:t>
            </a:r>
            <a:r>
              <a:rPr lang="ru-RU" dirty="0">
                <a:solidFill>
                  <a:srgbClr val="000000"/>
                </a:solidFill>
                <a:latin typeface="Times New Roman"/>
                <a:ea typeface="Times New Roman"/>
                <a:cs typeface="Times New Roman"/>
              </a:rPr>
              <a:t>) и местного (</a:t>
            </a:r>
            <a:r>
              <a:rPr lang="en-US" dirty="0">
                <a:solidFill>
                  <a:srgbClr val="000000"/>
                </a:solidFill>
                <a:latin typeface="Times New Roman"/>
                <a:ea typeface="Times New Roman"/>
                <a:cs typeface="Times New Roman"/>
              </a:rPr>
              <a:t>Site</a:t>
            </a:r>
            <a:r>
              <a:rPr lang="ru-RU" dirty="0">
                <a:solidFill>
                  <a:srgbClr val="000000"/>
                </a:solidFill>
                <a:latin typeface="Times New Roman"/>
                <a:ea typeface="Times New Roman"/>
                <a:cs typeface="Times New Roman"/>
              </a:rPr>
              <a:t>-</a:t>
            </a:r>
            <a:r>
              <a:rPr lang="en-US" dirty="0">
                <a:solidFill>
                  <a:srgbClr val="000000"/>
                </a:solidFill>
                <a:latin typeface="Times New Roman"/>
                <a:ea typeface="Times New Roman"/>
                <a:cs typeface="Times New Roman"/>
              </a:rPr>
              <a:t>Level Aggregation</a:t>
            </a:r>
            <a:r>
              <a:rPr lang="ru-RU" dirty="0">
                <a:solidFill>
                  <a:srgbClr val="000000"/>
                </a:solidFill>
                <a:latin typeface="Times New Roman"/>
                <a:ea typeface="Times New Roman"/>
                <a:cs typeface="Times New Roman"/>
              </a:rPr>
              <a:t>, </a:t>
            </a:r>
            <a:r>
              <a:rPr lang="en-US" dirty="0">
                <a:solidFill>
                  <a:srgbClr val="000000"/>
                </a:solidFill>
                <a:latin typeface="Times New Roman"/>
                <a:ea typeface="Times New Roman"/>
                <a:cs typeface="Times New Roman"/>
              </a:rPr>
              <a:t>SLA</a:t>
            </a:r>
            <a:r>
              <a:rPr lang="ru-RU" dirty="0">
                <a:solidFill>
                  <a:srgbClr val="000000"/>
                </a:solidFill>
                <a:latin typeface="Times New Roman"/>
                <a:ea typeface="Times New Roman"/>
                <a:cs typeface="Times New Roman"/>
              </a:rPr>
              <a:t>) уровней — описывают три уровня идентификации сетей.</a:t>
            </a:r>
            <a:endParaRPr lang="ru-RU" dirty="0">
              <a:latin typeface="Times New Roman"/>
              <a:ea typeface="Courier New"/>
              <a:cs typeface="Courier New"/>
            </a:endParaRPr>
          </a:p>
          <a:p>
            <a:pPr indent="450215" algn="just">
              <a:lnSpc>
                <a:spcPct val="115000"/>
              </a:lnSpc>
              <a:spcAft>
                <a:spcPts val="0"/>
              </a:spcAft>
            </a:pPr>
            <a:r>
              <a:rPr lang="ru-RU" b="1" dirty="0">
                <a:solidFill>
                  <a:srgbClr val="000000"/>
                </a:solidFill>
                <a:latin typeface="Times New Roman"/>
                <a:ea typeface="Times New Roman"/>
                <a:cs typeface="Times New Roman"/>
              </a:rPr>
              <a:t>Поле </a:t>
            </a:r>
            <a:r>
              <a:rPr lang="en-US" b="1" dirty="0">
                <a:solidFill>
                  <a:srgbClr val="000000"/>
                </a:solidFill>
                <a:latin typeface="Times New Roman"/>
                <a:ea typeface="Times New Roman"/>
                <a:cs typeface="Times New Roman"/>
              </a:rPr>
              <a:t>TLA </a:t>
            </a:r>
            <a:r>
              <a:rPr lang="ru-RU" dirty="0">
                <a:solidFill>
                  <a:srgbClr val="000000"/>
                </a:solidFill>
                <a:latin typeface="Times New Roman"/>
                <a:ea typeface="Times New Roman"/>
                <a:cs typeface="Times New Roman"/>
              </a:rPr>
              <a:t>предназначено для идентификации сетей самых крупных поставщиков услуг. Конкретное значение этого поля представляет собой общую часть адресов, которыми располагает данный поставщик услуг. Сравнительно небольшое количество разрядов, отведенных под это поле (13), выбрано спе­циально для ограничения размера таблиц маршрутизации в магистральных маршрутизаторах самого верхнего уровня Интернета. Это поле позволяет перенумеровать 8196 сетей поставщиков услуг верхнего уровня, а значит, число записей, описывающих маршруты между этими сетями, также будет ограничено значением 8196, что ускорит работу магистральных маршрутизаторов. Следующие 8 разрядов зарезервированы на будущее для расширения при необходимости поля </a:t>
            </a:r>
            <a:r>
              <a:rPr lang="en-US" dirty="0">
                <a:solidFill>
                  <a:srgbClr val="000000"/>
                </a:solidFill>
                <a:latin typeface="Times New Roman"/>
                <a:ea typeface="Times New Roman"/>
                <a:cs typeface="Times New Roman"/>
              </a:rPr>
              <a:t>TLA</a:t>
            </a:r>
            <a:r>
              <a:rPr lang="ru-RU" dirty="0">
                <a:solidFill>
                  <a:srgbClr val="000000"/>
                </a:solidFill>
                <a:latin typeface="Times New Roman"/>
                <a:ea typeface="Times New Roman"/>
                <a:cs typeface="Times New Roman"/>
              </a:rPr>
              <a:t>.</a:t>
            </a:r>
            <a:endParaRPr lang="ru-RU" dirty="0">
              <a:effectLst/>
              <a:latin typeface="Times New Roman"/>
              <a:ea typeface="Courier New"/>
              <a:cs typeface="Courier New"/>
            </a:endParaRPr>
          </a:p>
        </p:txBody>
      </p:sp>
    </p:spTree>
    <p:extLst>
      <p:ext uri="{BB962C8B-B14F-4D97-AF65-F5344CB8AC3E}">
        <p14:creationId xmlns:p14="http://schemas.microsoft.com/office/powerpoint/2010/main" val="2121743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3528" y="116632"/>
            <a:ext cx="8568952" cy="6532558"/>
          </a:xfrm>
          <a:prstGeom prst="rect">
            <a:avLst/>
          </a:prstGeom>
        </p:spPr>
        <p:txBody>
          <a:bodyPr wrap="square">
            <a:spAutoFit/>
          </a:bodyPr>
          <a:lstStyle/>
          <a:p>
            <a:pPr indent="450215" algn="just">
              <a:lnSpc>
                <a:spcPct val="115000"/>
              </a:lnSpc>
              <a:spcAft>
                <a:spcPts val="0"/>
              </a:spcAft>
            </a:pPr>
            <a:r>
              <a:rPr lang="ru-RU" b="1" dirty="0">
                <a:solidFill>
                  <a:srgbClr val="000000"/>
                </a:solidFill>
                <a:latin typeface="Times New Roman"/>
                <a:ea typeface="Times New Roman"/>
                <a:cs typeface="Times New Roman"/>
              </a:rPr>
              <a:t>Поле </a:t>
            </a:r>
            <a:r>
              <a:rPr lang="en-US" b="1" dirty="0">
                <a:solidFill>
                  <a:srgbClr val="000000"/>
                </a:solidFill>
                <a:latin typeface="Times New Roman"/>
                <a:ea typeface="Times New Roman"/>
                <a:cs typeface="Times New Roman"/>
              </a:rPr>
              <a:t>NLA </a:t>
            </a:r>
            <a:r>
              <a:rPr lang="ru-RU" dirty="0">
                <a:solidFill>
                  <a:srgbClr val="000000"/>
                </a:solidFill>
                <a:latin typeface="Times New Roman"/>
                <a:ea typeface="Times New Roman"/>
                <a:cs typeface="Times New Roman"/>
              </a:rPr>
              <a:t>предназначено для нумерации сетей средних и мелких поставщиков услуг. Значительный размер поля </a:t>
            </a:r>
            <a:r>
              <a:rPr lang="en-US" dirty="0">
                <a:solidFill>
                  <a:srgbClr val="000000"/>
                </a:solidFill>
                <a:latin typeface="Times New Roman"/>
                <a:ea typeface="Times New Roman"/>
                <a:cs typeface="Times New Roman"/>
              </a:rPr>
              <a:t>NLA </a:t>
            </a:r>
            <a:r>
              <a:rPr lang="ru-RU" dirty="0">
                <a:solidFill>
                  <a:srgbClr val="000000"/>
                </a:solidFill>
                <a:latin typeface="Times New Roman"/>
                <a:ea typeface="Times New Roman"/>
                <a:cs typeface="Times New Roman"/>
              </a:rPr>
              <a:t>позволяет путем агрегирования адресов отразить многоуровневую иерархию поставщиков услуг.</a:t>
            </a:r>
            <a:endParaRPr lang="ru-RU" dirty="0">
              <a:latin typeface="Times New Roman"/>
              <a:ea typeface="Courier New"/>
              <a:cs typeface="Courier New"/>
            </a:endParaRPr>
          </a:p>
          <a:p>
            <a:pPr indent="450215" algn="just">
              <a:lnSpc>
                <a:spcPct val="115000"/>
              </a:lnSpc>
              <a:spcAft>
                <a:spcPts val="0"/>
              </a:spcAft>
            </a:pPr>
            <a:r>
              <a:rPr lang="ru-RU" b="1" dirty="0">
                <a:solidFill>
                  <a:srgbClr val="000000"/>
                </a:solidFill>
                <a:latin typeface="Times New Roman"/>
                <a:ea typeface="Times New Roman"/>
                <a:cs typeface="Times New Roman"/>
              </a:rPr>
              <a:t>Поле </a:t>
            </a:r>
            <a:r>
              <a:rPr lang="en-US" b="1" dirty="0">
                <a:solidFill>
                  <a:srgbClr val="000000"/>
                </a:solidFill>
                <a:latin typeface="Times New Roman"/>
                <a:ea typeface="Times New Roman"/>
                <a:cs typeface="Times New Roman"/>
              </a:rPr>
              <a:t>SLA </a:t>
            </a:r>
            <a:r>
              <a:rPr lang="ru-RU" dirty="0">
                <a:solidFill>
                  <a:srgbClr val="000000"/>
                </a:solidFill>
                <a:latin typeface="Times New Roman"/>
                <a:ea typeface="Times New Roman"/>
                <a:cs typeface="Times New Roman"/>
              </a:rPr>
              <a:t>предназначено для адресации подсетей отдельного абонента, например подсетей одной корпоративной сети. Предполагается, что поставщик услуг назначает некоторому предприятию номер его сети, состоящий из фик­сированного значения полей </a:t>
            </a:r>
            <a:r>
              <a:rPr lang="en-US" dirty="0">
                <a:solidFill>
                  <a:srgbClr val="000000"/>
                </a:solidFill>
                <a:latin typeface="Times New Roman"/>
                <a:ea typeface="Times New Roman"/>
                <a:cs typeface="Times New Roman"/>
              </a:rPr>
              <a:t>TLA </a:t>
            </a:r>
            <a:r>
              <a:rPr lang="ru-RU" dirty="0">
                <a:solidFill>
                  <a:srgbClr val="000000"/>
                </a:solidFill>
                <a:latin typeface="Times New Roman"/>
                <a:ea typeface="Times New Roman"/>
                <a:cs typeface="Times New Roman"/>
              </a:rPr>
              <a:t>и </a:t>
            </a:r>
            <a:r>
              <a:rPr lang="en-US" dirty="0">
                <a:solidFill>
                  <a:srgbClr val="000000"/>
                </a:solidFill>
                <a:latin typeface="Times New Roman"/>
                <a:ea typeface="Times New Roman"/>
                <a:cs typeface="Times New Roman"/>
              </a:rPr>
              <a:t>NLA</a:t>
            </a:r>
            <a:r>
              <a:rPr lang="ru-RU" dirty="0">
                <a:solidFill>
                  <a:srgbClr val="000000"/>
                </a:solidFill>
                <a:latin typeface="Times New Roman"/>
                <a:ea typeface="Times New Roman"/>
                <a:cs typeface="Times New Roman"/>
              </a:rPr>
              <a:t>, которые в совокупности являются аналогом номера сети версии </a:t>
            </a:r>
            <a:r>
              <a:rPr lang="en-US" dirty="0" err="1">
                <a:solidFill>
                  <a:srgbClr val="000000"/>
                </a:solidFill>
                <a:latin typeface="Times New Roman"/>
                <a:ea typeface="Times New Roman"/>
                <a:cs typeface="Times New Roman"/>
              </a:rPr>
              <a:t>IPv</a:t>
            </a:r>
            <a:r>
              <a:rPr lang="ru-RU" dirty="0">
                <a:solidFill>
                  <a:srgbClr val="000000"/>
                </a:solidFill>
                <a:latin typeface="Times New Roman"/>
                <a:ea typeface="Times New Roman"/>
                <a:cs typeface="Times New Roman"/>
              </a:rPr>
              <a:t>4. Остальная часть адреса — поля </a:t>
            </a:r>
            <a:r>
              <a:rPr lang="en-US" dirty="0">
                <a:solidFill>
                  <a:srgbClr val="000000"/>
                </a:solidFill>
                <a:latin typeface="Times New Roman"/>
                <a:ea typeface="Times New Roman"/>
                <a:cs typeface="Times New Roman"/>
              </a:rPr>
              <a:t>SLA </a:t>
            </a:r>
            <a:r>
              <a:rPr lang="ru-RU" dirty="0">
                <a:solidFill>
                  <a:srgbClr val="000000"/>
                </a:solidFill>
                <a:latin typeface="Times New Roman"/>
                <a:ea typeface="Times New Roman"/>
                <a:cs typeface="Times New Roman"/>
              </a:rPr>
              <a:t>и идентификатор интерфейса — поступает в распоряжение администратора корпо­ративной сети, который полностью берет на себя формирование адреса и не должен согласовывать этот процесс с поставщиком услуг. Причем поле идентификатора интерфейса имеет вполне определенное назначение — оно должно хранить физический адрес узла. На этом уровне также можно агрегировать адреса небольших подсетей в более крупные подсети, и размер поля </a:t>
            </a:r>
            <a:r>
              <a:rPr lang="en-US" dirty="0">
                <a:solidFill>
                  <a:srgbClr val="000000"/>
                </a:solidFill>
                <a:latin typeface="Times New Roman"/>
                <a:ea typeface="Times New Roman"/>
                <a:cs typeface="Times New Roman"/>
              </a:rPr>
              <a:t>SLA </a:t>
            </a:r>
            <a:r>
              <a:rPr lang="ru-RU" dirty="0">
                <a:solidFill>
                  <a:srgbClr val="000000"/>
                </a:solidFill>
                <a:latin typeface="Times New Roman"/>
                <a:ea typeface="Times New Roman"/>
                <a:cs typeface="Times New Roman"/>
              </a:rPr>
              <a:t>в 16 бит обеспечивает достаточную свободу и гибкость построения внутрикорпоративной иерархии адресов.</a:t>
            </a:r>
            <a:endParaRPr lang="ru-RU" dirty="0">
              <a:latin typeface="Times New Roman"/>
              <a:ea typeface="Courier New"/>
              <a:cs typeface="Courier New"/>
            </a:endParaRPr>
          </a:p>
          <a:p>
            <a:pPr algn="just"/>
            <a:r>
              <a:rPr lang="ru-RU" b="1" dirty="0">
                <a:solidFill>
                  <a:srgbClr val="000000"/>
                </a:solidFill>
                <a:latin typeface="Times New Roman"/>
                <a:ea typeface="Times New Roman"/>
              </a:rPr>
              <a:t>Идентификатор интерфейса </a:t>
            </a:r>
            <a:r>
              <a:rPr lang="ru-RU" dirty="0">
                <a:solidFill>
                  <a:srgbClr val="000000"/>
                </a:solidFill>
                <a:latin typeface="Times New Roman"/>
                <a:ea typeface="Times New Roman"/>
              </a:rPr>
              <a:t>является аналогом номера узла в </a:t>
            </a:r>
            <a:r>
              <a:rPr lang="en-US" dirty="0" err="1">
                <a:solidFill>
                  <a:srgbClr val="000000"/>
                </a:solidFill>
                <a:latin typeface="Times New Roman"/>
                <a:ea typeface="Times New Roman"/>
              </a:rPr>
              <a:t>IPv</a:t>
            </a:r>
            <a:r>
              <a:rPr lang="ru-RU" dirty="0">
                <a:solidFill>
                  <a:srgbClr val="000000"/>
                </a:solidFill>
                <a:latin typeface="Times New Roman"/>
                <a:ea typeface="Times New Roman"/>
              </a:rPr>
              <a:t>4. Отличием версии IPv6 является то, что в общем случае идентификатор интерфейса просто </a:t>
            </a:r>
            <a:r>
              <a:rPr lang="ru-RU" i="1" dirty="0">
                <a:solidFill>
                  <a:srgbClr val="000000"/>
                </a:solidFill>
                <a:latin typeface="Times New Roman"/>
                <a:ea typeface="Times New Roman"/>
              </a:rPr>
              <a:t>совпадает с его локальным (аппаратным) адресом</a:t>
            </a:r>
            <a:r>
              <a:rPr lang="ru-RU" dirty="0">
                <a:solidFill>
                  <a:srgbClr val="000000"/>
                </a:solidFill>
                <a:latin typeface="Times New Roman"/>
                <a:ea typeface="Times New Roman"/>
              </a:rPr>
              <a:t>, а не представляет собой произвольно назначенный администратором номер узла. Идентификатор интерфейса имеет длину 64 бита, что позволяет поместить туда МАС-адрес (48 бит), адрес Х.25 (до 60 бит), адрес конечного узла </a:t>
            </a:r>
            <a:r>
              <a:rPr lang="en-US" dirty="0">
                <a:solidFill>
                  <a:srgbClr val="000000"/>
                </a:solidFill>
                <a:latin typeface="Times New Roman"/>
                <a:ea typeface="Times New Roman"/>
              </a:rPr>
              <a:t>ATM </a:t>
            </a:r>
            <a:r>
              <a:rPr lang="ru-RU" dirty="0">
                <a:solidFill>
                  <a:srgbClr val="000000"/>
                </a:solidFill>
                <a:latin typeface="Times New Roman"/>
                <a:ea typeface="Times New Roman"/>
              </a:rPr>
              <a:t>(48 бит</a:t>
            </a:r>
            <a:endParaRPr lang="ru-RU" dirty="0"/>
          </a:p>
        </p:txBody>
      </p:sp>
    </p:spTree>
    <p:extLst>
      <p:ext uri="{BB962C8B-B14F-4D97-AF65-F5344CB8AC3E}">
        <p14:creationId xmlns:p14="http://schemas.microsoft.com/office/powerpoint/2010/main" val="124238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563"/>
          <a:stretch/>
        </p:blipFill>
        <p:spPr bwMode="auto">
          <a:xfrm>
            <a:off x="0" y="72008"/>
            <a:ext cx="9144000"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271526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1162</Words>
  <Application>Microsoft Office PowerPoint</Application>
  <PresentationFormat>Экран (4:3)</PresentationFormat>
  <Paragraphs>80</Paragraphs>
  <Slides>11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11</vt:i4>
      </vt:variant>
    </vt:vector>
  </HeadingPairs>
  <TitlesOfParts>
    <vt:vector size="16" baseType="lpstr">
      <vt:lpstr>Arial</vt:lpstr>
      <vt:lpstr>Calibri</vt:lpstr>
      <vt:lpstr>Symbol</vt:lpstr>
      <vt:lpstr>Times New Roman</vt:lpstr>
      <vt:lpstr>Тема Office</vt:lpstr>
      <vt:lpstr>Протокол IPv4</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Torrents.by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Лекция6.Протокол ARP, класс и маска IP адресов</dc:title>
  <dc:creator>kamal</dc:creator>
  <cp:lastModifiedBy>Админ</cp:lastModifiedBy>
  <cp:revision>13</cp:revision>
  <dcterms:created xsi:type="dcterms:W3CDTF">2015-10-18T09:17:23Z</dcterms:created>
  <dcterms:modified xsi:type="dcterms:W3CDTF">2024-09-24T03:51:57Z</dcterms:modified>
</cp:coreProperties>
</file>