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64" r:id="rId2"/>
    <p:sldId id="265" r:id="rId3"/>
    <p:sldId id="266" r:id="rId4"/>
    <p:sldId id="267" r:id="rId5"/>
    <p:sldId id="268" r:id="rId6"/>
    <p:sldId id="269" r:id="rId7"/>
    <p:sldId id="274" r:id="rId8"/>
    <p:sldId id="275" r:id="rId9"/>
    <p:sldId id="276" r:id="rId10"/>
    <p:sldId id="277" r:id="rId11"/>
    <p:sldId id="278" r:id="rId12"/>
    <p:sldId id="279" r:id="rId13"/>
    <p:sldId id="280" r:id="rId14"/>
    <p:sldId id="281" r:id="rId15"/>
    <p:sldId id="270" r:id="rId16"/>
    <p:sldId id="271" r:id="rId17"/>
    <p:sldId id="272" r:id="rId18"/>
    <p:sldId id="282" r:id="rId19"/>
    <p:sldId id="273" r:id="rId20"/>
    <p:sldId id="283" r:id="rId21"/>
    <p:sldId id="284" r:id="rId22"/>
    <p:sldId id="292" r:id="rId23"/>
    <p:sldId id="293" r:id="rId24"/>
    <p:sldId id="294" r:id="rId25"/>
    <p:sldId id="295" r:id="rId26"/>
    <p:sldId id="296" r:id="rId27"/>
    <p:sldId id="297" r:id="rId28"/>
    <p:sldId id="298" r:id="rId29"/>
    <p:sldId id="299" r:id="rId30"/>
    <p:sldId id="301" r:id="rId31"/>
    <p:sldId id="300" r:id="rId32"/>
    <p:sldId id="286" r:id="rId33"/>
    <p:sldId id="302" r:id="rId34"/>
    <p:sldId id="287" r:id="rId35"/>
    <p:sldId id="288" r:id="rId36"/>
    <p:sldId id="289" r:id="rId37"/>
    <p:sldId id="290"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315" r:id="rId51"/>
    <p:sldId id="317" r:id="rId52"/>
    <p:sldId id="318" r:id="rId53"/>
    <p:sldId id="319" r:id="rId54"/>
    <p:sldId id="320" r:id="rId55"/>
    <p:sldId id="321" r:id="rId56"/>
    <p:sldId id="322" r:id="rId57"/>
    <p:sldId id="323" r:id="rId58"/>
    <p:sldId id="324" r:id="rId59"/>
    <p:sldId id="325" r:id="rId60"/>
    <p:sldId id="326" r:id="rId61"/>
    <p:sldId id="327" r:id="rId62"/>
    <p:sldId id="328" r:id="rId63"/>
    <p:sldId id="329" r:id="rId64"/>
    <p:sldId id="330" r:id="rId65"/>
    <p:sldId id="331" r:id="rId66"/>
    <p:sldId id="332" r:id="rId67"/>
    <p:sldId id="333" r:id="rId68"/>
    <p:sldId id="334" r:id="rId69"/>
    <p:sldId id="335" r:id="rId70"/>
    <p:sldId id="336" r:id="rId71"/>
    <p:sldId id="337" r:id="rId72"/>
    <p:sldId id="338" r:id="rId73"/>
    <p:sldId id="339" r:id="rId74"/>
    <p:sldId id="340" r:id="rId75"/>
    <p:sldId id="341" r:id="rId76"/>
    <p:sldId id="342" r:id="rId77"/>
    <p:sldId id="343" r:id="rId78"/>
    <p:sldId id="344" r:id="rId79"/>
  </p:sldIdLst>
  <p:sldSz cx="9144000" cy="6858000" type="screen4x3"/>
  <p:notesSz cx="6858000" cy="9144000"/>
  <p:defaultTextStyle>
    <a:defPPr>
      <a:defRPr lang="uz"/>
    </a:defPPr>
    <a:lvl1pPr algn="l" rtl="0" fontAlgn="base">
      <a:spcBef>
        <a:spcPct val="0"/>
      </a:spcBef>
      <a:spcAft>
        <a:spcPct val="0"/>
      </a:spcAft>
      <a:defRPr kern="1200">
        <a:solidFill>
          <a:schemeClr val="tx1"/>
        </a:solidFill>
        <a:latin typeface="Garamond" pitchFamily="18" charset="0"/>
        <a:ea typeface="+mn-ea"/>
        <a:cs typeface="+mn-cs"/>
      </a:defRPr>
    </a:lvl1pPr>
    <a:lvl2pPr marL="457200" algn="l" rtl="0" fontAlgn="base">
      <a:spcBef>
        <a:spcPct val="0"/>
      </a:spcBef>
      <a:spcAft>
        <a:spcPct val="0"/>
      </a:spcAft>
      <a:defRPr kern="1200">
        <a:solidFill>
          <a:schemeClr val="tx1"/>
        </a:solidFill>
        <a:latin typeface="Garamond" pitchFamily="18" charset="0"/>
        <a:ea typeface="+mn-ea"/>
        <a:cs typeface="+mn-cs"/>
      </a:defRPr>
    </a:lvl2pPr>
    <a:lvl3pPr marL="914400" algn="l" rtl="0" fontAlgn="base">
      <a:spcBef>
        <a:spcPct val="0"/>
      </a:spcBef>
      <a:spcAft>
        <a:spcPct val="0"/>
      </a:spcAft>
      <a:defRPr kern="1200">
        <a:solidFill>
          <a:schemeClr val="tx1"/>
        </a:solidFill>
        <a:latin typeface="Garamond" pitchFamily="18" charset="0"/>
        <a:ea typeface="+mn-ea"/>
        <a:cs typeface="+mn-cs"/>
      </a:defRPr>
    </a:lvl3pPr>
    <a:lvl4pPr marL="1371600" algn="l" rtl="0" fontAlgn="base">
      <a:spcBef>
        <a:spcPct val="0"/>
      </a:spcBef>
      <a:spcAft>
        <a:spcPct val="0"/>
      </a:spcAft>
      <a:defRPr kern="1200">
        <a:solidFill>
          <a:schemeClr val="tx1"/>
        </a:solidFill>
        <a:latin typeface="Garamond" pitchFamily="18" charset="0"/>
        <a:ea typeface="+mn-ea"/>
        <a:cs typeface="+mn-cs"/>
      </a:defRPr>
    </a:lvl4pPr>
    <a:lvl5pPr marL="1828800" algn="l" rtl="0" fontAlgn="base">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98306" name="Group 2"/>
          <p:cNvGrpSpPr>
            <a:grpSpLocks/>
          </p:cNvGrpSpPr>
          <p:nvPr/>
        </p:nvGrpSpPr>
        <p:grpSpPr bwMode="auto">
          <a:xfrm>
            <a:off x="0" y="0"/>
            <a:ext cx="9140825" cy="6850063"/>
            <a:chOff x="0" y="0"/>
            <a:chExt cx="5758" cy="4315"/>
          </a:xfrm>
        </p:grpSpPr>
        <p:grpSp>
          <p:nvGrpSpPr>
            <p:cNvPr id="98307" name="Group 3"/>
            <p:cNvGrpSpPr>
              <a:grpSpLocks/>
            </p:cNvGrpSpPr>
            <p:nvPr userDrawn="1"/>
          </p:nvGrpSpPr>
          <p:grpSpPr bwMode="auto">
            <a:xfrm>
              <a:off x="1728" y="2230"/>
              <a:ext cx="4027" cy="2085"/>
              <a:chOff x="1728" y="2230"/>
              <a:chExt cx="4027" cy="2085"/>
            </a:xfrm>
          </p:grpSpPr>
          <p:sp>
            <p:nvSpPr>
              <p:cNvPr id="98308" name="Freeform 4"/>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endParaRPr lang="ru-RU"/>
              </a:p>
            </p:txBody>
          </p:sp>
          <p:sp>
            <p:nvSpPr>
              <p:cNvPr id="98309" name="Freeform 5"/>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endParaRPr lang="ru-RU"/>
              </a:p>
            </p:txBody>
          </p:sp>
          <p:sp>
            <p:nvSpPr>
              <p:cNvPr id="98310" name="Freeform 6"/>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endParaRPr lang="ru-RU"/>
              </a:p>
            </p:txBody>
          </p:sp>
          <p:sp>
            <p:nvSpPr>
              <p:cNvPr id="98311" name="Freeform 7"/>
              <p:cNvSpPr>
                <a:spLocks/>
              </p:cNvSpPr>
              <p:nvPr/>
            </p:nvSpPr>
            <p:spPr bwMode="hidden">
              <a:xfrm>
                <a:off x="2748" y="223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round/>
                <a:headEnd/>
                <a:tailEnd/>
              </a:ln>
            </p:spPr>
            <p:txBody>
              <a:bodyPr/>
              <a:lstStyle/>
              <a:p>
                <a:endParaRPr lang="ru-RU"/>
              </a:p>
            </p:txBody>
          </p:sp>
          <p:sp>
            <p:nvSpPr>
              <p:cNvPr id="98312" name="Freeform 8"/>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endParaRPr lang="ru-RU"/>
              </a:p>
            </p:txBody>
          </p:sp>
        </p:grpSp>
        <p:sp>
          <p:nvSpPr>
            <p:cNvPr id="98313" name="Freeform 9"/>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endParaRPr lang="ru-RU"/>
            </a:p>
          </p:txBody>
        </p:sp>
        <p:sp>
          <p:nvSpPr>
            <p:cNvPr id="98314" name="Freeform 10"/>
            <p:cNvSpPr>
              <a:spLocks/>
            </p:cNvSpPr>
            <p:nvPr/>
          </p:nvSpPr>
          <p:spPr bwMode="hidden">
            <a:xfrm>
              <a:off x="0" y="0"/>
              <a:ext cx="5758" cy="1776"/>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w="9525">
              <a:noFill/>
              <a:round/>
              <a:headEnd/>
              <a:tailEnd/>
            </a:ln>
          </p:spPr>
          <p:txBody>
            <a:bodyPr/>
            <a:lstStyle/>
            <a:p>
              <a:endParaRPr lang="ru-RU"/>
            </a:p>
          </p:txBody>
        </p:sp>
      </p:grpSp>
      <p:sp>
        <p:nvSpPr>
          <p:cNvPr id="98315" name="Rectangle 11"/>
          <p:cNvSpPr>
            <a:spLocks noGrp="1" noChangeArrowheads="1"/>
          </p:cNvSpPr>
          <p:nvPr>
            <p:ph type="ctrTitle" sz="quarter"/>
          </p:nvPr>
        </p:nvSpPr>
        <p:spPr>
          <a:xfrm>
            <a:off x="685800" y="1736725"/>
            <a:ext cx="7772400" cy="1920875"/>
          </a:xfrm>
        </p:spPr>
        <p:txBody>
          <a:bodyPr/>
          <a:lstStyle>
            <a:lvl1pPr>
              <a:defRPr sz="6000"/>
            </a:lvl1pPr>
          </a:lstStyle>
          <a:p>
            <a:r>
              <a:rPr lang="ru-RU"/>
              <a:t>Образец заголовка</a:t>
            </a:r>
          </a:p>
        </p:txBody>
      </p:sp>
      <p:sp>
        <p:nvSpPr>
          <p:cNvPr id="98316" name="Rectangle 12"/>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ru-RU"/>
              <a:t>Образец подзаголовка</a:t>
            </a:r>
          </a:p>
        </p:txBody>
      </p:sp>
      <p:sp>
        <p:nvSpPr>
          <p:cNvPr id="98317" name="Rectangle 13"/>
          <p:cNvSpPr>
            <a:spLocks noGrp="1" noChangeArrowheads="1"/>
          </p:cNvSpPr>
          <p:nvPr>
            <p:ph type="dt" sz="quarter" idx="2"/>
          </p:nvPr>
        </p:nvSpPr>
        <p:spPr>
          <a:xfrm>
            <a:off x="457200" y="6248400"/>
            <a:ext cx="2133600" cy="476250"/>
          </a:xfrm>
        </p:spPr>
        <p:txBody>
          <a:bodyPr/>
          <a:lstStyle>
            <a:lvl1pPr>
              <a:defRPr/>
            </a:lvl1pPr>
          </a:lstStyle>
          <a:p>
            <a:endParaRPr lang="ru-RU"/>
          </a:p>
        </p:txBody>
      </p:sp>
      <p:sp>
        <p:nvSpPr>
          <p:cNvPr id="98318" name="Rectangle 14"/>
          <p:cNvSpPr>
            <a:spLocks noGrp="1" noChangeArrowheads="1"/>
          </p:cNvSpPr>
          <p:nvPr>
            <p:ph type="ftr" sz="quarter" idx="3"/>
          </p:nvPr>
        </p:nvSpPr>
        <p:spPr>
          <a:xfrm>
            <a:off x="3124200" y="6251575"/>
            <a:ext cx="2895600" cy="476250"/>
          </a:xfrm>
        </p:spPr>
        <p:txBody>
          <a:bodyPr/>
          <a:lstStyle>
            <a:lvl1pPr>
              <a:defRPr/>
            </a:lvl1pPr>
          </a:lstStyle>
          <a:p>
            <a:endParaRPr lang="ru-RU"/>
          </a:p>
        </p:txBody>
      </p:sp>
      <p:sp>
        <p:nvSpPr>
          <p:cNvPr id="98319" name="Rectangle 15"/>
          <p:cNvSpPr>
            <a:spLocks noGrp="1" noChangeArrowheads="1"/>
          </p:cNvSpPr>
          <p:nvPr>
            <p:ph type="sldNum" sz="quarter" idx="4"/>
          </p:nvPr>
        </p:nvSpPr>
        <p:spPr>
          <a:xfrm>
            <a:off x="6553200" y="6254750"/>
            <a:ext cx="2133600" cy="476250"/>
          </a:xfrm>
        </p:spPr>
        <p:txBody>
          <a:bodyPr/>
          <a:lstStyle>
            <a:lvl1pPr>
              <a:defRPr/>
            </a:lvl1pPr>
          </a:lstStyle>
          <a:p>
            <a:fld id="{4E067CA8-FB1E-4739-8A80-6CF656E015EC}" type="slidenum">
              <a:rPr lang="ru-RU"/>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lvl1pPr>
              <a:defRPr/>
            </a:lvl1pPr>
          </a:lstStyle>
          <a:p>
            <a:endParaRPr lang="ru-RU"/>
          </a:p>
        </p:txBody>
      </p:sp>
      <p:sp>
        <p:nvSpPr>
          <p:cNvPr id="5" name="Slide Number Placeholder 4"/>
          <p:cNvSpPr>
            <a:spLocks noGrp="1"/>
          </p:cNvSpPr>
          <p:nvPr>
            <p:ph type="sldNum" sz="quarter" idx="11"/>
          </p:nvPr>
        </p:nvSpPr>
        <p:spPr/>
        <p:txBody>
          <a:bodyPr/>
          <a:lstStyle>
            <a:lvl1pPr>
              <a:defRPr/>
            </a:lvl1pPr>
          </a:lstStyle>
          <a:p>
            <a:fld id="{18281E71-BB8E-4BCF-90C0-73B26B306296}" type="slidenum">
              <a:rPr lang="ru-RU"/>
              <a:pPr/>
              <a:t>‹#›</a:t>
            </a:fld>
            <a:endParaRPr lang="ru-RU"/>
          </a:p>
        </p:txBody>
      </p:sp>
      <p:sp>
        <p:nvSpPr>
          <p:cNvPr id="6" name="Footer Placeholder 5"/>
          <p:cNvSpPr>
            <a:spLocks noGrp="1"/>
          </p:cNvSpPr>
          <p:nvPr>
            <p:ph type="ftr" sz="quarter" idx="12"/>
          </p:nvPr>
        </p:nvSpPr>
        <p:spPr/>
        <p:txBody>
          <a:bodyPr/>
          <a:lstStyle>
            <a:lvl1pPr>
              <a:defRPr/>
            </a:lvl1pPr>
          </a:lstStyle>
          <a:p>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ru-R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ru-RU"/>
          </a:p>
        </p:txBody>
      </p:sp>
      <p:sp>
        <p:nvSpPr>
          <p:cNvPr id="5" name="Slide Number Placeholder 4"/>
          <p:cNvSpPr>
            <a:spLocks noGrp="1"/>
          </p:cNvSpPr>
          <p:nvPr>
            <p:ph type="sldNum" sz="quarter" idx="11"/>
          </p:nvPr>
        </p:nvSpPr>
        <p:spPr/>
        <p:txBody>
          <a:bodyPr/>
          <a:lstStyle>
            <a:lvl1pPr>
              <a:defRPr/>
            </a:lvl1pPr>
          </a:lstStyle>
          <a:p>
            <a:fld id="{17622CB9-B8E5-4D1B-91DB-01A049AEFA6D}" type="slidenum">
              <a:rPr lang="ru-RU"/>
              <a:pPr/>
              <a:t>‹#›</a:t>
            </a:fld>
            <a:endParaRPr lang="ru-RU"/>
          </a:p>
        </p:txBody>
      </p:sp>
      <p:sp>
        <p:nvSpPr>
          <p:cNvPr id="6" name="Footer Placeholder 5"/>
          <p:cNvSpPr>
            <a:spLocks noGrp="1"/>
          </p:cNvSpPr>
          <p:nvPr>
            <p:ph type="ftr" sz="quarter" idx="12"/>
          </p:nvPr>
        </p:nvSpPr>
        <p:spPr/>
        <p:txBody>
          <a:bodyPr/>
          <a:lstStyle>
            <a:lvl1pPr>
              <a:defRPr/>
            </a:lvl1pPr>
          </a:lstStyle>
          <a:p>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p:cNvSpPr>
            <a:spLocks noGrp="1"/>
          </p:cNvSpPr>
          <p:nvPr>
            <p:ph type="dt" sz="half" idx="10"/>
          </p:nvPr>
        </p:nvSpPr>
        <p:spPr/>
        <p:txBody>
          <a:bodyPr/>
          <a:lstStyle>
            <a:lvl1pPr>
              <a:defRPr/>
            </a:lvl1pPr>
          </a:lstStyle>
          <a:p>
            <a:endParaRPr lang="ru-RU"/>
          </a:p>
        </p:txBody>
      </p:sp>
      <p:sp>
        <p:nvSpPr>
          <p:cNvPr id="6" name="Slide Number Placeholder 5"/>
          <p:cNvSpPr>
            <a:spLocks noGrp="1"/>
          </p:cNvSpPr>
          <p:nvPr>
            <p:ph type="sldNum" sz="quarter" idx="11"/>
          </p:nvPr>
        </p:nvSpPr>
        <p:spPr/>
        <p:txBody>
          <a:bodyPr/>
          <a:lstStyle>
            <a:lvl1pPr>
              <a:defRPr/>
            </a:lvl1pPr>
          </a:lstStyle>
          <a:p>
            <a:fld id="{9654F810-D833-4892-8EB6-80521A63280F}" type="slidenum">
              <a:rPr lang="ru-RU"/>
              <a:pPr/>
              <a:t>‹#›</a:t>
            </a:fld>
            <a:endParaRPr lang="ru-RU"/>
          </a:p>
        </p:txBody>
      </p:sp>
      <p:sp>
        <p:nvSpPr>
          <p:cNvPr id="7" name="Footer Placeholder 6"/>
          <p:cNvSpPr>
            <a:spLocks noGrp="1"/>
          </p:cNvSpPr>
          <p:nvPr>
            <p:ph type="ftr" sz="quarter" idx="12"/>
          </p:nvPr>
        </p:nvSpPr>
        <p:spPr/>
        <p:txBody>
          <a:bodyPr/>
          <a:lstStyle>
            <a:lvl1pPr>
              <a:defRPr/>
            </a:lvl1pPr>
          </a:lstStyle>
          <a:p>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ru-R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p:cNvSpPr>
            <a:spLocks noGrp="1"/>
          </p:cNvSpPr>
          <p:nvPr>
            <p:ph type="dt" sz="half" idx="10"/>
          </p:nvPr>
        </p:nvSpPr>
        <p:spPr/>
        <p:txBody>
          <a:bodyPr/>
          <a:lstStyle>
            <a:lvl1pPr>
              <a:defRPr/>
            </a:lvl1pPr>
          </a:lstStyle>
          <a:p>
            <a:endParaRPr lang="ru-RU"/>
          </a:p>
        </p:txBody>
      </p:sp>
      <p:sp>
        <p:nvSpPr>
          <p:cNvPr id="8" name="Slide Number Placeholder 7"/>
          <p:cNvSpPr>
            <a:spLocks noGrp="1"/>
          </p:cNvSpPr>
          <p:nvPr>
            <p:ph type="sldNum" sz="quarter" idx="11"/>
          </p:nvPr>
        </p:nvSpPr>
        <p:spPr/>
        <p:txBody>
          <a:bodyPr/>
          <a:lstStyle>
            <a:lvl1pPr>
              <a:defRPr/>
            </a:lvl1pPr>
          </a:lstStyle>
          <a:p>
            <a:fld id="{779D4561-8638-4340-B314-67EA684A68F2}" type="slidenum">
              <a:rPr lang="ru-RU"/>
              <a:pPr/>
              <a:t>‹#›</a:t>
            </a:fld>
            <a:endParaRPr lang="ru-RU"/>
          </a:p>
        </p:txBody>
      </p:sp>
      <p:sp>
        <p:nvSpPr>
          <p:cNvPr id="9" name="Footer Placeholder 8"/>
          <p:cNvSpPr>
            <a:spLocks noGrp="1"/>
          </p:cNvSpPr>
          <p:nvPr>
            <p:ph type="ftr" sz="quarter" idx="12"/>
          </p:nvPr>
        </p:nvSpPr>
        <p:spPr/>
        <p:txBody>
          <a:bodyPr/>
          <a:lstStyle>
            <a:lvl1pPr>
              <a:defRPr/>
            </a:lvl1pPr>
          </a:lstStyle>
          <a:p>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Date Placeholder 2"/>
          <p:cNvSpPr>
            <a:spLocks noGrp="1"/>
          </p:cNvSpPr>
          <p:nvPr>
            <p:ph type="dt" sz="half" idx="10"/>
          </p:nvPr>
        </p:nvSpPr>
        <p:spPr/>
        <p:txBody>
          <a:bodyPr/>
          <a:lstStyle>
            <a:lvl1pPr>
              <a:defRPr/>
            </a:lvl1pPr>
          </a:lstStyle>
          <a:p>
            <a:endParaRPr lang="ru-RU"/>
          </a:p>
        </p:txBody>
      </p:sp>
      <p:sp>
        <p:nvSpPr>
          <p:cNvPr id="4" name="Slide Number Placeholder 3"/>
          <p:cNvSpPr>
            <a:spLocks noGrp="1"/>
          </p:cNvSpPr>
          <p:nvPr>
            <p:ph type="sldNum" sz="quarter" idx="11"/>
          </p:nvPr>
        </p:nvSpPr>
        <p:spPr/>
        <p:txBody>
          <a:bodyPr/>
          <a:lstStyle>
            <a:lvl1pPr>
              <a:defRPr/>
            </a:lvl1pPr>
          </a:lstStyle>
          <a:p>
            <a:fld id="{198C3C2E-3AD2-47DE-A254-21D23FAD369A}" type="slidenum">
              <a:rPr lang="ru-RU"/>
              <a:pPr/>
              <a:t>‹#›</a:t>
            </a:fld>
            <a:endParaRPr lang="ru-RU"/>
          </a:p>
        </p:txBody>
      </p:sp>
      <p:sp>
        <p:nvSpPr>
          <p:cNvPr id="5" name="Footer Placeholder 4"/>
          <p:cNvSpPr>
            <a:spLocks noGrp="1"/>
          </p:cNvSpPr>
          <p:nvPr>
            <p:ph type="ftr" sz="quarter" idx="12"/>
          </p:nvPr>
        </p:nvSpPr>
        <p:spPr/>
        <p:txBody>
          <a:bodyPr/>
          <a:lstStyle>
            <a:lvl1pPr>
              <a:defRPr/>
            </a:lvl1pPr>
          </a:lstStyle>
          <a:p>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ru-RU"/>
          </a:p>
        </p:txBody>
      </p:sp>
      <p:sp>
        <p:nvSpPr>
          <p:cNvPr id="3" name="Slide Number Placeholder 2"/>
          <p:cNvSpPr>
            <a:spLocks noGrp="1"/>
          </p:cNvSpPr>
          <p:nvPr>
            <p:ph type="sldNum" sz="quarter" idx="11"/>
          </p:nvPr>
        </p:nvSpPr>
        <p:spPr/>
        <p:txBody>
          <a:bodyPr/>
          <a:lstStyle>
            <a:lvl1pPr>
              <a:defRPr/>
            </a:lvl1pPr>
          </a:lstStyle>
          <a:p>
            <a:fld id="{A11B80D2-0511-48C1-B9F4-49F445DB6516}" type="slidenum">
              <a:rPr lang="ru-RU"/>
              <a:pPr/>
              <a:t>‹#›</a:t>
            </a:fld>
            <a:endParaRPr lang="ru-RU"/>
          </a:p>
        </p:txBody>
      </p:sp>
      <p:sp>
        <p:nvSpPr>
          <p:cNvPr id="4" name="Footer Placeholder 3"/>
          <p:cNvSpPr>
            <a:spLocks noGrp="1"/>
          </p:cNvSpPr>
          <p:nvPr>
            <p:ph type="ftr" sz="quarter" idx="12"/>
          </p:nvPr>
        </p:nvSpPr>
        <p:spPr/>
        <p:txBody>
          <a:bodyPr/>
          <a:lstStyle>
            <a:lvl1pPr>
              <a:defRPr/>
            </a:lvl1pPr>
          </a:lstStyle>
          <a:p>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ru-R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ru-RU"/>
          </a:p>
        </p:txBody>
      </p:sp>
      <p:sp>
        <p:nvSpPr>
          <p:cNvPr id="6" name="Slide Number Placeholder 5"/>
          <p:cNvSpPr>
            <a:spLocks noGrp="1"/>
          </p:cNvSpPr>
          <p:nvPr>
            <p:ph type="sldNum" sz="quarter" idx="11"/>
          </p:nvPr>
        </p:nvSpPr>
        <p:spPr/>
        <p:txBody>
          <a:bodyPr/>
          <a:lstStyle>
            <a:lvl1pPr>
              <a:defRPr/>
            </a:lvl1pPr>
          </a:lstStyle>
          <a:p>
            <a:fld id="{F6F476E5-5542-45B1-9FE9-28ECC348615C}" type="slidenum">
              <a:rPr lang="ru-RU"/>
              <a:pPr/>
              <a:t>‹#›</a:t>
            </a:fld>
            <a:endParaRPr lang="ru-RU"/>
          </a:p>
        </p:txBody>
      </p:sp>
      <p:sp>
        <p:nvSpPr>
          <p:cNvPr id="7" name="Footer Placeholder 6"/>
          <p:cNvSpPr>
            <a:spLocks noGrp="1"/>
          </p:cNvSpPr>
          <p:nvPr>
            <p:ph type="ftr" sz="quarter" idx="12"/>
          </p:nvPr>
        </p:nvSpPr>
        <p:spPr/>
        <p:txBody>
          <a:bodyPr/>
          <a:lstStyle>
            <a:lvl1pPr>
              <a:defRPr/>
            </a:lvl1pPr>
          </a:lstStyle>
          <a:p>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ru-R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ru-RU"/>
          </a:p>
        </p:txBody>
      </p:sp>
      <p:sp>
        <p:nvSpPr>
          <p:cNvPr id="6" name="Slide Number Placeholder 5"/>
          <p:cNvSpPr>
            <a:spLocks noGrp="1"/>
          </p:cNvSpPr>
          <p:nvPr>
            <p:ph type="sldNum" sz="quarter" idx="11"/>
          </p:nvPr>
        </p:nvSpPr>
        <p:spPr/>
        <p:txBody>
          <a:bodyPr/>
          <a:lstStyle>
            <a:lvl1pPr>
              <a:defRPr/>
            </a:lvl1pPr>
          </a:lstStyle>
          <a:p>
            <a:fld id="{2C6750B1-CCEC-4CEC-BCC2-178DEB32E571}" type="slidenum">
              <a:rPr lang="ru-RU"/>
              <a:pPr/>
              <a:t>‹#›</a:t>
            </a:fld>
            <a:endParaRPr lang="ru-RU"/>
          </a:p>
        </p:txBody>
      </p:sp>
      <p:sp>
        <p:nvSpPr>
          <p:cNvPr id="7" name="Footer Placeholder 6"/>
          <p:cNvSpPr>
            <a:spLocks noGrp="1"/>
          </p:cNvSpPr>
          <p:nvPr>
            <p:ph type="ftr" sz="quarter" idx="12"/>
          </p:nvPr>
        </p:nvSpPr>
        <p:spPr/>
        <p:txBody>
          <a:bodyPr/>
          <a:lstStyle>
            <a:lvl1pPr>
              <a:defRPr/>
            </a:lvl1pPr>
          </a:lstStyle>
          <a:p>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lvl1pPr>
              <a:defRPr/>
            </a:lvl1pPr>
          </a:lstStyle>
          <a:p>
            <a:endParaRPr lang="ru-RU"/>
          </a:p>
        </p:txBody>
      </p:sp>
      <p:sp>
        <p:nvSpPr>
          <p:cNvPr id="5" name="Slide Number Placeholder 4"/>
          <p:cNvSpPr>
            <a:spLocks noGrp="1"/>
          </p:cNvSpPr>
          <p:nvPr>
            <p:ph type="sldNum" sz="quarter" idx="11"/>
          </p:nvPr>
        </p:nvSpPr>
        <p:spPr/>
        <p:txBody>
          <a:bodyPr/>
          <a:lstStyle>
            <a:lvl1pPr>
              <a:defRPr/>
            </a:lvl1pPr>
          </a:lstStyle>
          <a:p>
            <a:fld id="{2E329F5D-0B05-462F-86AA-9EE2293D7EAF}" type="slidenum">
              <a:rPr lang="ru-RU"/>
              <a:pPr/>
              <a:t>‹#›</a:t>
            </a:fld>
            <a:endParaRPr lang="ru-RU"/>
          </a:p>
        </p:txBody>
      </p:sp>
      <p:sp>
        <p:nvSpPr>
          <p:cNvPr id="6" name="Footer Placeholder 5"/>
          <p:cNvSpPr>
            <a:spLocks noGrp="1"/>
          </p:cNvSpPr>
          <p:nvPr>
            <p:ph type="ftr" sz="quarter" idx="12"/>
          </p:nvPr>
        </p:nvSpPr>
        <p:spPr/>
        <p:txBody>
          <a:bodyPr/>
          <a:lstStyle>
            <a:lvl1pPr>
              <a:defRPr/>
            </a:lvl1pPr>
          </a:lstStyle>
          <a:p>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lvl1pPr>
              <a:defRPr/>
            </a:lvl1pPr>
          </a:lstStyle>
          <a:p>
            <a:endParaRPr lang="ru-RU"/>
          </a:p>
        </p:txBody>
      </p:sp>
      <p:sp>
        <p:nvSpPr>
          <p:cNvPr id="5" name="Slide Number Placeholder 4"/>
          <p:cNvSpPr>
            <a:spLocks noGrp="1"/>
          </p:cNvSpPr>
          <p:nvPr>
            <p:ph type="sldNum" sz="quarter" idx="11"/>
          </p:nvPr>
        </p:nvSpPr>
        <p:spPr/>
        <p:txBody>
          <a:bodyPr/>
          <a:lstStyle>
            <a:lvl1pPr>
              <a:defRPr/>
            </a:lvl1pPr>
          </a:lstStyle>
          <a:p>
            <a:fld id="{17372A95-3CF1-4EEB-AEC8-689F8409EF5D}" type="slidenum">
              <a:rPr lang="ru-RU"/>
              <a:pPr/>
              <a:t>‹#›</a:t>
            </a:fld>
            <a:endParaRPr lang="ru-RU"/>
          </a:p>
        </p:txBody>
      </p:sp>
      <p:sp>
        <p:nvSpPr>
          <p:cNvPr id="6" name="Footer Placeholder 5"/>
          <p:cNvSpPr>
            <a:spLocks noGrp="1"/>
          </p:cNvSpPr>
          <p:nvPr>
            <p:ph type="ftr" sz="quarter" idx="12"/>
          </p:nvPr>
        </p:nvSpPr>
        <p:spPr/>
        <p:txBody>
          <a:bodyPr/>
          <a:lstStyle>
            <a:lvl1pPr>
              <a:defRPr/>
            </a:lvl1pPr>
          </a:lstStyle>
          <a:p>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ru-RU"/>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p:cNvSpPr>
            <a:spLocks noGrp="1"/>
          </p:cNvSpPr>
          <p:nvPr>
            <p:ph type="dt" sz="half" idx="10"/>
          </p:nvPr>
        </p:nvSpPr>
        <p:spPr>
          <a:xfrm>
            <a:off x="457200" y="6251575"/>
            <a:ext cx="2133600" cy="476250"/>
          </a:xfrm>
        </p:spPr>
        <p:txBody>
          <a:bodyPr/>
          <a:lstStyle>
            <a:lvl1pPr>
              <a:defRPr/>
            </a:lvl1pPr>
          </a:lstStyle>
          <a:p>
            <a:endParaRPr lang="ru-RU"/>
          </a:p>
        </p:txBody>
      </p:sp>
      <p:sp>
        <p:nvSpPr>
          <p:cNvPr id="6" name="Slide Number Placeholder 5"/>
          <p:cNvSpPr>
            <a:spLocks noGrp="1"/>
          </p:cNvSpPr>
          <p:nvPr>
            <p:ph type="sldNum" sz="quarter" idx="11"/>
          </p:nvPr>
        </p:nvSpPr>
        <p:spPr>
          <a:xfrm>
            <a:off x="6553200" y="6248400"/>
            <a:ext cx="2133600" cy="476250"/>
          </a:xfrm>
        </p:spPr>
        <p:txBody>
          <a:bodyPr/>
          <a:lstStyle>
            <a:lvl1pPr>
              <a:defRPr/>
            </a:lvl1pPr>
          </a:lstStyle>
          <a:p>
            <a:fld id="{2056ACB7-211C-4389-B29C-53DC3376D140}" type="slidenum">
              <a:rPr lang="ru-RU"/>
              <a:pPr/>
              <a:t>‹#›</a:t>
            </a:fld>
            <a:endParaRPr lang="ru-RU"/>
          </a:p>
        </p:txBody>
      </p:sp>
      <p:sp>
        <p:nvSpPr>
          <p:cNvPr id="7" name="Footer Placeholder 6"/>
          <p:cNvSpPr>
            <a:spLocks noGrp="1"/>
          </p:cNvSpPr>
          <p:nvPr>
            <p:ph type="ftr" sz="quarter" idx="12"/>
          </p:nvPr>
        </p:nvSpPr>
        <p:spPr>
          <a:xfrm>
            <a:off x="3124200" y="6248400"/>
            <a:ext cx="2895600" cy="476250"/>
          </a:xfrm>
        </p:spPr>
        <p:txBody>
          <a:bodyPr/>
          <a:lstStyle>
            <a:lvl1pPr>
              <a:defRPr/>
            </a:lvl1pPr>
          </a:lstStyle>
          <a:p>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dt" sz="half" idx="2"/>
          </p:nvPr>
        </p:nvSpPr>
        <p:spPr bwMode="auto">
          <a:xfrm>
            <a:off x="457200" y="625157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ru-RU"/>
          </a:p>
        </p:txBody>
      </p:sp>
      <p:sp>
        <p:nvSpPr>
          <p:cNvPr id="97283" name="Rectangle 3"/>
          <p:cNvSpPr>
            <a:spLocks noGrp="1" noChangeArrowheads="1"/>
          </p:cNvSpPr>
          <p:nvPr>
            <p:ph type="sldNum" sz="quarter" idx="4"/>
          </p:nvPr>
        </p:nvSpPr>
        <p:spPr bwMode="auto">
          <a:xfrm>
            <a:off x="6553200" y="6248400"/>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521AD8AC-405A-4B10-916C-376AFC639C7B}" type="slidenum">
              <a:rPr lang="ru-RU"/>
              <a:pPr/>
              <a:t>‹#›</a:t>
            </a:fld>
            <a:endParaRPr lang="ru-RU"/>
          </a:p>
        </p:txBody>
      </p:sp>
      <p:grpSp>
        <p:nvGrpSpPr>
          <p:cNvPr id="97284" name="Group 4"/>
          <p:cNvGrpSpPr>
            <a:grpSpLocks/>
          </p:cNvGrpSpPr>
          <p:nvPr/>
        </p:nvGrpSpPr>
        <p:grpSpPr bwMode="auto">
          <a:xfrm>
            <a:off x="0" y="0"/>
            <a:ext cx="9140825" cy="6850063"/>
            <a:chOff x="0" y="0"/>
            <a:chExt cx="5758" cy="4315"/>
          </a:xfrm>
        </p:grpSpPr>
        <p:grpSp>
          <p:nvGrpSpPr>
            <p:cNvPr id="97285" name="Group 5"/>
            <p:cNvGrpSpPr>
              <a:grpSpLocks/>
            </p:cNvGrpSpPr>
            <p:nvPr userDrawn="1"/>
          </p:nvGrpSpPr>
          <p:grpSpPr bwMode="auto">
            <a:xfrm>
              <a:off x="1728" y="2230"/>
              <a:ext cx="4027" cy="2085"/>
              <a:chOff x="1728" y="2230"/>
              <a:chExt cx="4027" cy="2085"/>
            </a:xfrm>
          </p:grpSpPr>
          <p:sp>
            <p:nvSpPr>
              <p:cNvPr id="97286" name="Freeform 6"/>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endParaRPr lang="ru-RU"/>
              </a:p>
            </p:txBody>
          </p:sp>
          <p:sp>
            <p:nvSpPr>
              <p:cNvPr id="97287" name="Freeform 7"/>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endParaRPr lang="ru-RU"/>
              </a:p>
            </p:txBody>
          </p:sp>
          <p:sp>
            <p:nvSpPr>
              <p:cNvPr id="97288" name="Freeform 8"/>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endParaRPr lang="ru-RU"/>
              </a:p>
            </p:txBody>
          </p:sp>
          <p:sp>
            <p:nvSpPr>
              <p:cNvPr id="97289" name="Freeform 9"/>
              <p:cNvSpPr>
                <a:spLocks/>
              </p:cNvSpPr>
              <p:nvPr/>
            </p:nvSpPr>
            <p:spPr bwMode="hidden">
              <a:xfrm>
                <a:off x="2748" y="223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round/>
                <a:headEnd/>
                <a:tailEnd/>
              </a:ln>
            </p:spPr>
            <p:txBody>
              <a:bodyPr/>
              <a:lstStyle/>
              <a:p>
                <a:endParaRPr lang="ru-RU"/>
              </a:p>
            </p:txBody>
          </p:sp>
          <p:sp>
            <p:nvSpPr>
              <p:cNvPr id="97290" name="Freeform 10"/>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endParaRPr lang="ru-RU"/>
              </a:p>
            </p:txBody>
          </p:sp>
        </p:grpSp>
        <p:sp>
          <p:nvSpPr>
            <p:cNvPr id="97291" name="Freeform 11"/>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endParaRPr lang="ru-RU"/>
            </a:p>
          </p:txBody>
        </p:sp>
        <p:sp>
          <p:nvSpPr>
            <p:cNvPr id="97292" name="Freeform 12"/>
            <p:cNvSpPr>
              <a:spLocks/>
            </p:cNvSpPr>
            <p:nvPr/>
          </p:nvSpPr>
          <p:spPr bwMode="hidden">
            <a:xfrm>
              <a:off x="0" y="0"/>
              <a:ext cx="5758" cy="1776"/>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w="9525">
              <a:noFill/>
              <a:round/>
              <a:headEnd/>
              <a:tailEnd/>
            </a:ln>
          </p:spPr>
          <p:txBody>
            <a:bodyPr/>
            <a:lstStyle/>
            <a:p>
              <a:endParaRPr lang="ru-RU"/>
            </a:p>
          </p:txBody>
        </p:sp>
      </p:grpSp>
      <p:sp>
        <p:nvSpPr>
          <p:cNvPr id="97293" name="Rectangle 13"/>
          <p:cNvSpPr>
            <a:spLocks noGrp="1" noRot="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97294" name="Rectangle 14"/>
          <p:cNvSpPr>
            <a:spLocks noGrp="1" noChangeArrowheads="1"/>
          </p:cNvSpPr>
          <p:nvPr>
            <p:ph type="ftr" sz="quarter" idx="3"/>
          </p:nvPr>
        </p:nvSpPr>
        <p:spPr bwMode="auto">
          <a:xfrm>
            <a:off x="3124200" y="6248400"/>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Arial" charset="0"/>
              </a:defRPr>
            </a:lvl1pPr>
          </a:lstStyle>
          <a:p>
            <a:endParaRPr lang="ru-RU"/>
          </a:p>
        </p:txBody>
      </p:sp>
      <p:sp>
        <p:nvSpPr>
          <p:cNvPr id="97295" name="Rectangle 15"/>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fontAlgn="base">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2pPr>
      <a:lvl3pPr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3pPr>
      <a:lvl4pPr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4pPr>
      <a:lvl5pPr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itchFamily="18" charset="0"/>
        </a:defRPr>
      </a:lvl9pPr>
    </p:titleStyle>
    <p:bodyStyle>
      <a:lvl1pPr marL="342900" indent="-342900" algn="l" rtl="0" fontAlgn="base">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 Target="slide7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 Target="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p:txBody>
          <a:bodyPr/>
          <a:lstStyle/>
          <a:p>
            <a:r>
              <a:rPr lang="uz" sz="4000" dirty="0"/>
              <a:t>"Kompyuter tarmog'i"</a:t>
            </a:r>
          </a:p>
        </p:txBody>
      </p:sp>
      <p:sp>
        <p:nvSpPr>
          <p:cNvPr id="10243" name="Rectangle 3"/>
          <p:cNvSpPr>
            <a:spLocks noGrp="1" noChangeArrowheads="1"/>
          </p:cNvSpPr>
          <p:nvPr>
            <p:ph type="body" sz="half" idx="1"/>
          </p:nvPr>
        </p:nvSpPr>
        <p:spPr>
          <a:xfrm>
            <a:off x="457200" y="1600200"/>
            <a:ext cx="8002588" cy="4525963"/>
          </a:xfrm>
        </p:spPr>
        <p:txBody>
          <a:bodyPr/>
          <a:lstStyle/>
          <a:p>
            <a:pPr algn="just">
              <a:lnSpc>
                <a:spcPct val="90000"/>
              </a:lnSpc>
              <a:buFont typeface="Wingdings" pitchFamily="2" charset="2"/>
              <a:buNone/>
            </a:pPr>
            <a:r>
              <a:rPr lang="uz" sz="3400" u="sng"/>
              <a:t>Kompyuter tarmog'i </a:t>
            </a:r>
            <a:r>
              <a:rPr lang="uz" sz="3400"/>
              <a:t>- bu tarmoqdagi kompyuterlar o'rtasida hech qanday oraliq saqlash vositalaridan foydalanmasdan axborot almashinuvini ta'minlaydigan kompyuterlar va turli xil qurilmalar yig'indisidir.</a:t>
            </a:r>
            <a:endParaRPr lang="en-US" sz="3400"/>
          </a:p>
          <a:p>
            <a:pPr algn="just">
              <a:lnSpc>
                <a:spcPct val="90000"/>
              </a:lnSpc>
            </a:pPr>
            <a:endParaRPr lang="en-US" sz="1200"/>
          </a:p>
          <a:p>
            <a:pPr algn="just">
              <a:lnSpc>
                <a:spcPct val="90000"/>
              </a:lnSpc>
              <a:buFont typeface="Wingdings" pitchFamily="2" charset="2"/>
              <a:buNone/>
            </a:pPr>
            <a:r>
              <a:rPr lang="uz" sz="2400"/>
              <a:t>Tarmoqlar foydalanuvchilarga nafaqat tezkor ma'lumot almashish, balki printerlar va boshqa periferik qurilmalarda hamkorlik qilish, hatto bir vaqtning o'zida hujjatlarni qayta ishlash imkoniyatini ham beradi.</a:t>
            </a:r>
          </a:p>
        </p:txBody>
      </p:sp>
      <p:graphicFrame>
        <p:nvGraphicFramePr>
          <p:cNvPr id="10244" name="Object 4"/>
          <p:cNvGraphicFramePr>
            <a:graphicFrameLocks noGrp="1" noChangeAspect="1"/>
          </p:cNvGraphicFramePr>
          <p:nvPr>
            <p:ph sz="half" idx="2"/>
          </p:nvPr>
        </p:nvGraphicFramePr>
        <p:xfrm>
          <a:off x="7596188" y="620713"/>
          <a:ext cx="936625" cy="936625"/>
        </p:xfrm>
        <a:graphic>
          <a:graphicData uri="http://schemas.openxmlformats.org/presentationml/2006/ole">
            <mc:AlternateContent xmlns:mc="http://schemas.openxmlformats.org/markup-compatibility/2006">
              <mc:Choice xmlns:v="urn:schemas-microsoft-com:vml" Requires="v">
                <p:oleObj spid="_x0000_s10246" name="Image" r:id="rId3" imgW="469841" imgH="469841" progId="Photoshop.Image.8">
                  <p:embed/>
                </p:oleObj>
              </mc:Choice>
              <mc:Fallback>
                <p:oleObj name="Image" r:id="rId3" imgW="469841" imgH="469841" progId="Photoshop.Image.8">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6188" y="620713"/>
                        <a:ext cx="936625"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rrowheads="1"/>
          </p:cNvSpPr>
          <p:nvPr>
            <p:ph type="title"/>
          </p:nvPr>
        </p:nvSpPr>
        <p:spPr/>
        <p:txBody>
          <a:bodyPr/>
          <a:lstStyle/>
          <a:p>
            <a:r>
              <a:rPr lang="uz" sz="4000"/>
              <a:t>Kompyuter tarmoqlarining tasnifi</a:t>
            </a:r>
          </a:p>
        </p:txBody>
      </p:sp>
      <p:sp>
        <p:nvSpPr>
          <p:cNvPr id="11267" name="Rectangle 3"/>
          <p:cNvSpPr>
            <a:spLocks noGrp="1" noChangeArrowheads="1"/>
          </p:cNvSpPr>
          <p:nvPr>
            <p:ph type="body" idx="1"/>
          </p:nvPr>
        </p:nvSpPr>
        <p:spPr/>
        <p:txBody>
          <a:bodyPr/>
          <a:lstStyle/>
          <a:p>
            <a:pPr>
              <a:buFont typeface="Wingdings" pitchFamily="2" charset="2"/>
              <a:buNone/>
            </a:pPr>
            <a:r>
              <a:rPr lang="uz"/>
              <a:t>Kompyuter tarmoqlarining barcha turlarini xarakteristikalar guruhiga ko'ra tasniflash mumkin:</a:t>
            </a:r>
          </a:p>
          <a:p>
            <a:r>
              <a:rPr lang="uz"/>
              <a:t>Hududiy taqsimot;</a:t>
            </a:r>
          </a:p>
          <a:p>
            <a:r>
              <a:rPr lang="uz"/>
              <a:t>Departamentga mansubligi;</a:t>
            </a:r>
          </a:p>
          <a:p>
            <a:r>
              <a:rPr lang="uz"/>
              <a:t>Ma'lumot uzatish tezligi;</a:t>
            </a:r>
          </a:p>
          <a:p>
            <a:r>
              <a:rPr lang="uz"/>
              <a:t>Etkazish vositasi turi;</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p:txBody>
          <a:bodyPr/>
          <a:lstStyle/>
          <a:p>
            <a:r>
              <a:rPr lang="uz" sz="4000"/>
              <a:t>Kompyuter tarmoqlarining tasnifi</a:t>
            </a:r>
          </a:p>
        </p:txBody>
      </p:sp>
      <p:grpSp>
        <p:nvGrpSpPr>
          <p:cNvPr id="12291" name="Group 3"/>
          <p:cNvGrpSpPr>
            <a:grpSpLocks/>
          </p:cNvGrpSpPr>
          <p:nvPr/>
        </p:nvGrpSpPr>
        <p:grpSpPr bwMode="auto">
          <a:xfrm>
            <a:off x="252413" y="3355975"/>
            <a:ext cx="8640762" cy="2952750"/>
            <a:chOff x="159" y="1298"/>
            <a:chExt cx="5443" cy="1860"/>
          </a:xfrm>
        </p:grpSpPr>
        <p:sp>
          <p:nvSpPr>
            <p:cNvPr id="12292" name="Rectangle 4"/>
            <p:cNvSpPr>
              <a:spLocks noChangeArrowheads="1"/>
            </p:cNvSpPr>
            <p:nvPr/>
          </p:nvSpPr>
          <p:spPr bwMode="auto">
            <a:xfrm>
              <a:off x="1610" y="1298"/>
              <a:ext cx="2449" cy="681"/>
            </a:xfrm>
            <a:prstGeom prst="rect">
              <a:avLst/>
            </a:prstGeom>
            <a:solidFill>
              <a:schemeClr val="accent1"/>
            </a:solidFill>
            <a:ln w="9525">
              <a:solidFill>
                <a:schemeClr val="tx1"/>
              </a:solidFill>
              <a:miter lim="800000"/>
              <a:headEnd/>
              <a:tailEnd/>
            </a:ln>
            <a:effectLst/>
          </p:spPr>
          <p:txBody>
            <a:bodyPr wrap="none" anchor="ctr"/>
            <a:lstStyle/>
            <a:p>
              <a:pPr algn="ctr"/>
              <a:r>
                <a:rPr lang="uz" sz="2400">
                  <a:latin typeface="Times New Roman" pitchFamily="18" charset="0"/>
                </a:rPr>
                <a:t>KOMPYUTER TARMOQLARI</a:t>
              </a:r>
            </a:p>
          </p:txBody>
        </p:sp>
        <p:sp>
          <p:nvSpPr>
            <p:cNvPr id="12293" name="Rectangle 5"/>
            <p:cNvSpPr>
              <a:spLocks noChangeArrowheads="1"/>
            </p:cNvSpPr>
            <p:nvPr/>
          </p:nvSpPr>
          <p:spPr bwMode="auto">
            <a:xfrm>
              <a:off x="159" y="2523"/>
              <a:ext cx="1633" cy="635"/>
            </a:xfrm>
            <a:prstGeom prst="rect">
              <a:avLst/>
            </a:prstGeom>
            <a:solidFill>
              <a:srgbClr val="E2F3FE"/>
            </a:solidFill>
            <a:ln w="9525">
              <a:solidFill>
                <a:schemeClr val="tx1"/>
              </a:solidFill>
              <a:miter lim="800000"/>
              <a:headEnd/>
              <a:tailEnd/>
            </a:ln>
            <a:effectLst/>
          </p:spPr>
          <p:txBody>
            <a:bodyPr wrap="none" anchor="ctr"/>
            <a:lstStyle/>
            <a:p>
              <a:pPr algn="ctr"/>
              <a:r>
                <a:rPr lang="uz" sz="3600">
                  <a:solidFill>
                    <a:schemeClr val="bg2"/>
                  </a:solidFill>
                  <a:latin typeface="Times New Roman" pitchFamily="18" charset="0"/>
                </a:rPr>
                <a:t>mahalliy</a:t>
              </a:r>
            </a:p>
          </p:txBody>
        </p:sp>
        <p:sp>
          <p:nvSpPr>
            <p:cNvPr id="12294" name="Rectangle 6"/>
            <p:cNvSpPr>
              <a:spLocks noChangeArrowheads="1"/>
            </p:cNvSpPr>
            <p:nvPr/>
          </p:nvSpPr>
          <p:spPr bwMode="auto">
            <a:xfrm>
              <a:off x="1928" y="2523"/>
              <a:ext cx="1860" cy="635"/>
            </a:xfrm>
            <a:prstGeom prst="rect">
              <a:avLst/>
            </a:prstGeom>
            <a:solidFill>
              <a:srgbClr val="E2F3FE"/>
            </a:solidFill>
            <a:ln w="9525">
              <a:solidFill>
                <a:schemeClr val="tx1"/>
              </a:solidFill>
              <a:miter lim="800000"/>
              <a:headEnd/>
              <a:tailEnd/>
            </a:ln>
            <a:effectLst/>
          </p:spPr>
          <p:txBody>
            <a:bodyPr wrap="none" anchor="ctr"/>
            <a:lstStyle/>
            <a:p>
              <a:pPr algn="ctr"/>
              <a:r>
                <a:rPr lang="uz" sz="3600">
                  <a:solidFill>
                    <a:schemeClr val="bg2"/>
                  </a:solidFill>
                  <a:latin typeface="Times New Roman" pitchFamily="18" charset="0"/>
                </a:rPr>
                <a:t>mintaqaviy</a:t>
              </a:r>
              <a:r>
                <a:rPr lang="uz">
                  <a:latin typeface="Times New Roman" pitchFamily="18" charset="0"/>
                </a:rPr>
                <a:t> </a:t>
              </a:r>
            </a:p>
          </p:txBody>
        </p:sp>
        <p:sp>
          <p:nvSpPr>
            <p:cNvPr id="12295" name="Rectangle 7"/>
            <p:cNvSpPr>
              <a:spLocks noChangeArrowheads="1"/>
            </p:cNvSpPr>
            <p:nvPr/>
          </p:nvSpPr>
          <p:spPr bwMode="auto">
            <a:xfrm>
              <a:off x="3924" y="2523"/>
              <a:ext cx="1678" cy="635"/>
            </a:xfrm>
            <a:prstGeom prst="rect">
              <a:avLst/>
            </a:prstGeom>
            <a:solidFill>
              <a:srgbClr val="E2F3FE"/>
            </a:solidFill>
            <a:ln w="9525">
              <a:solidFill>
                <a:schemeClr val="tx1"/>
              </a:solidFill>
              <a:miter lim="800000"/>
              <a:headEnd/>
              <a:tailEnd/>
            </a:ln>
            <a:effectLst/>
          </p:spPr>
          <p:txBody>
            <a:bodyPr wrap="none" anchor="ctr"/>
            <a:lstStyle/>
            <a:p>
              <a:pPr algn="ctr"/>
              <a:r>
                <a:rPr lang="uz" sz="3600">
                  <a:solidFill>
                    <a:schemeClr val="bg2"/>
                  </a:solidFill>
                  <a:latin typeface="Times New Roman" pitchFamily="18" charset="0"/>
                </a:rPr>
                <a:t>global</a:t>
              </a:r>
            </a:p>
          </p:txBody>
        </p:sp>
        <p:sp>
          <p:nvSpPr>
            <p:cNvPr id="12296" name="Line 8"/>
            <p:cNvSpPr>
              <a:spLocks noChangeShapeType="1"/>
            </p:cNvSpPr>
            <p:nvPr/>
          </p:nvSpPr>
          <p:spPr bwMode="auto">
            <a:xfrm flipH="1">
              <a:off x="1247" y="1979"/>
              <a:ext cx="1588" cy="499"/>
            </a:xfrm>
            <a:prstGeom prst="line">
              <a:avLst/>
            </a:prstGeom>
            <a:noFill/>
            <a:ln w="9525">
              <a:solidFill>
                <a:schemeClr val="accent2"/>
              </a:solidFill>
              <a:round/>
              <a:headEnd/>
              <a:tailEnd type="triangle" w="med" len="med"/>
            </a:ln>
            <a:effectLst/>
          </p:spPr>
          <p:txBody>
            <a:bodyPr/>
            <a:lstStyle/>
            <a:p>
              <a:endParaRPr lang="ru-RU"/>
            </a:p>
          </p:txBody>
        </p:sp>
        <p:sp>
          <p:nvSpPr>
            <p:cNvPr id="12297" name="Line 9"/>
            <p:cNvSpPr>
              <a:spLocks noChangeShapeType="1"/>
            </p:cNvSpPr>
            <p:nvPr/>
          </p:nvSpPr>
          <p:spPr bwMode="auto">
            <a:xfrm>
              <a:off x="2835" y="1979"/>
              <a:ext cx="0" cy="499"/>
            </a:xfrm>
            <a:prstGeom prst="line">
              <a:avLst/>
            </a:prstGeom>
            <a:noFill/>
            <a:ln w="9525">
              <a:solidFill>
                <a:schemeClr val="accent2"/>
              </a:solidFill>
              <a:round/>
              <a:headEnd/>
              <a:tailEnd type="triangle" w="med" len="med"/>
            </a:ln>
            <a:effectLst/>
          </p:spPr>
          <p:txBody>
            <a:bodyPr/>
            <a:lstStyle/>
            <a:p>
              <a:endParaRPr lang="ru-RU"/>
            </a:p>
          </p:txBody>
        </p:sp>
        <p:sp>
          <p:nvSpPr>
            <p:cNvPr id="12298" name="Line 10"/>
            <p:cNvSpPr>
              <a:spLocks noChangeShapeType="1"/>
            </p:cNvSpPr>
            <p:nvPr/>
          </p:nvSpPr>
          <p:spPr bwMode="auto">
            <a:xfrm>
              <a:off x="2835" y="1979"/>
              <a:ext cx="1769" cy="499"/>
            </a:xfrm>
            <a:prstGeom prst="line">
              <a:avLst/>
            </a:prstGeom>
            <a:noFill/>
            <a:ln w="9525">
              <a:solidFill>
                <a:schemeClr val="accent2"/>
              </a:solidFill>
              <a:round/>
              <a:headEnd/>
              <a:tailEnd type="triangle" w="med" len="med"/>
            </a:ln>
            <a:effectLst/>
          </p:spPr>
          <p:txBody>
            <a:bodyPr/>
            <a:lstStyle/>
            <a:p>
              <a:endParaRPr lang="ru-RU"/>
            </a:p>
          </p:txBody>
        </p:sp>
      </p:grpSp>
      <p:sp>
        <p:nvSpPr>
          <p:cNvPr id="12299" name="Text Box 11"/>
          <p:cNvSpPr txBox="1">
            <a:spLocks noChangeArrowheads="1"/>
          </p:cNvSpPr>
          <p:nvPr/>
        </p:nvSpPr>
        <p:spPr bwMode="auto">
          <a:xfrm>
            <a:off x="539750" y="1989138"/>
            <a:ext cx="8208963" cy="579437"/>
          </a:xfrm>
          <a:prstGeom prst="rect">
            <a:avLst/>
          </a:prstGeom>
          <a:noFill/>
          <a:ln w="9525">
            <a:noFill/>
            <a:miter lim="800000"/>
            <a:headEnd/>
            <a:tailEnd/>
          </a:ln>
          <a:effectLst/>
        </p:spPr>
        <p:txBody>
          <a:bodyPr>
            <a:spAutoFit/>
          </a:bodyPr>
          <a:lstStyle/>
          <a:p>
            <a:pPr algn="ctr">
              <a:spcBef>
                <a:spcPct val="50000"/>
              </a:spcBef>
            </a:pPr>
            <a:r>
              <a:rPr lang="uz" sz="3200">
                <a:solidFill>
                  <a:schemeClr val="bg2"/>
                </a:solidFill>
                <a:latin typeface="Times New Roman" pitchFamily="18" charset="0"/>
              </a:rPr>
              <a:t>Hududiy taqsimot bo'yicha</a:t>
            </a:r>
            <a:r>
              <a:rPr lang="uz" sz="3200">
                <a:latin typeface="Times New Roman" pitchFamily="18" charset="0"/>
              </a:rPr>
              <a:t>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rrowheads="1"/>
          </p:cNvSpPr>
          <p:nvPr>
            <p:ph type="title"/>
          </p:nvPr>
        </p:nvSpPr>
        <p:spPr/>
        <p:txBody>
          <a:bodyPr/>
          <a:lstStyle/>
          <a:p>
            <a:r>
              <a:rPr lang="uz" sz="4000"/>
              <a:t>Kompyuter tarmoqlarining tasnifi</a:t>
            </a:r>
          </a:p>
        </p:txBody>
      </p:sp>
      <p:grpSp>
        <p:nvGrpSpPr>
          <p:cNvPr id="13315" name="Group 3"/>
          <p:cNvGrpSpPr>
            <a:grpSpLocks/>
          </p:cNvGrpSpPr>
          <p:nvPr/>
        </p:nvGrpSpPr>
        <p:grpSpPr bwMode="auto">
          <a:xfrm>
            <a:off x="252413" y="3355975"/>
            <a:ext cx="8640762" cy="2952750"/>
            <a:chOff x="159" y="2114"/>
            <a:chExt cx="5443" cy="1860"/>
          </a:xfrm>
        </p:grpSpPr>
        <p:sp>
          <p:nvSpPr>
            <p:cNvPr id="13316" name="Rectangle 4"/>
            <p:cNvSpPr>
              <a:spLocks noChangeArrowheads="1"/>
            </p:cNvSpPr>
            <p:nvPr/>
          </p:nvSpPr>
          <p:spPr bwMode="auto">
            <a:xfrm>
              <a:off x="1610" y="2114"/>
              <a:ext cx="2449" cy="681"/>
            </a:xfrm>
            <a:prstGeom prst="rect">
              <a:avLst/>
            </a:prstGeom>
            <a:solidFill>
              <a:schemeClr val="accent1"/>
            </a:solidFill>
            <a:ln w="9525">
              <a:solidFill>
                <a:schemeClr val="tx1"/>
              </a:solidFill>
              <a:miter lim="800000"/>
              <a:headEnd/>
              <a:tailEnd/>
            </a:ln>
            <a:effectLst/>
          </p:spPr>
          <p:txBody>
            <a:bodyPr wrap="none" anchor="ctr"/>
            <a:lstStyle/>
            <a:p>
              <a:pPr algn="ctr"/>
              <a:r>
                <a:rPr lang="uz" sz="2400">
                  <a:latin typeface="Times New Roman" pitchFamily="18" charset="0"/>
                </a:rPr>
                <a:t>KOMPYUTER TARMOQLARI</a:t>
              </a:r>
            </a:p>
          </p:txBody>
        </p:sp>
        <p:sp>
          <p:nvSpPr>
            <p:cNvPr id="13317" name="Rectangle 5"/>
            <p:cNvSpPr>
              <a:spLocks noChangeArrowheads="1"/>
            </p:cNvSpPr>
            <p:nvPr/>
          </p:nvSpPr>
          <p:spPr bwMode="auto">
            <a:xfrm>
              <a:off x="159" y="3339"/>
              <a:ext cx="2177" cy="635"/>
            </a:xfrm>
            <a:prstGeom prst="rect">
              <a:avLst/>
            </a:prstGeom>
            <a:solidFill>
              <a:srgbClr val="E2F3FE"/>
            </a:solidFill>
            <a:ln w="9525">
              <a:solidFill>
                <a:schemeClr val="tx1"/>
              </a:solidFill>
              <a:miter lim="800000"/>
              <a:headEnd/>
              <a:tailEnd/>
            </a:ln>
            <a:effectLst/>
          </p:spPr>
          <p:txBody>
            <a:bodyPr wrap="none" anchor="ctr"/>
            <a:lstStyle/>
            <a:p>
              <a:pPr algn="ctr"/>
              <a:r>
                <a:rPr lang="uz" sz="3600">
                  <a:solidFill>
                    <a:schemeClr val="bg2"/>
                  </a:solidFill>
                  <a:latin typeface="Times New Roman" pitchFamily="18" charset="0"/>
                </a:rPr>
                <a:t>idoraviy</a:t>
              </a:r>
              <a:r>
                <a:rPr lang="uz">
                  <a:latin typeface="Times New Roman" pitchFamily="18" charset="0"/>
                </a:rPr>
                <a:t> </a:t>
              </a:r>
            </a:p>
          </p:txBody>
        </p:sp>
        <p:sp>
          <p:nvSpPr>
            <p:cNvPr id="13318" name="Rectangle 6"/>
            <p:cNvSpPr>
              <a:spLocks noChangeArrowheads="1"/>
            </p:cNvSpPr>
            <p:nvPr/>
          </p:nvSpPr>
          <p:spPr bwMode="auto">
            <a:xfrm>
              <a:off x="3288" y="3339"/>
              <a:ext cx="2314" cy="635"/>
            </a:xfrm>
            <a:prstGeom prst="rect">
              <a:avLst/>
            </a:prstGeom>
            <a:solidFill>
              <a:srgbClr val="E2F3FE"/>
            </a:solidFill>
            <a:ln w="9525">
              <a:solidFill>
                <a:schemeClr val="tx1"/>
              </a:solidFill>
              <a:miter lim="800000"/>
              <a:headEnd/>
              <a:tailEnd/>
            </a:ln>
            <a:effectLst/>
          </p:spPr>
          <p:txBody>
            <a:bodyPr wrap="none" anchor="ctr"/>
            <a:lstStyle/>
            <a:p>
              <a:pPr algn="ctr"/>
              <a:r>
                <a:rPr lang="uz" sz="3600">
                  <a:solidFill>
                    <a:schemeClr val="bg2"/>
                  </a:solidFill>
                  <a:latin typeface="Times New Roman" pitchFamily="18" charset="0"/>
                </a:rPr>
                <a:t>davlat</a:t>
              </a:r>
              <a:r>
                <a:rPr lang="uz">
                  <a:latin typeface="Times New Roman" pitchFamily="18" charset="0"/>
                </a:rPr>
                <a:t> </a:t>
              </a:r>
            </a:p>
          </p:txBody>
        </p:sp>
        <p:sp>
          <p:nvSpPr>
            <p:cNvPr id="13319" name="Line 7"/>
            <p:cNvSpPr>
              <a:spLocks noChangeShapeType="1"/>
            </p:cNvSpPr>
            <p:nvPr/>
          </p:nvSpPr>
          <p:spPr bwMode="auto">
            <a:xfrm flipH="1">
              <a:off x="1247" y="2795"/>
              <a:ext cx="1588" cy="499"/>
            </a:xfrm>
            <a:prstGeom prst="line">
              <a:avLst/>
            </a:prstGeom>
            <a:noFill/>
            <a:ln w="9525">
              <a:solidFill>
                <a:schemeClr val="accent2"/>
              </a:solidFill>
              <a:round/>
              <a:headEnd/>
              <a:tailEnd type="triangle" w="med" len="med"/>
            </a:ln>
            <a:effectLst/>
          </p:spPr>
          <p:txBody>
            <a:bodyPr/>
            <a:lstStyle/>
            <a:p>
              <a:endParaRPr lang="ru-RU"/>
            </a:p>
          </p:txBody>
        </p:sp>
        <p:sp>
          <p:nvSpPr>
            <p:cNvPr id="13320" name="Line 8"/>
            <p:cNvSpPr>
              <a:spLocks noChangeShapeType="1"/>
            </p:cNvSpPr>
            <p:nvPr/>
          </p:nvSpPr>
          <p:spPr bwMode="auto">
            <a:xfrm>
              <a:off x="2835" y="2795"/>
              <a:ext cx="1769" cy="499"/>
            </a:xfrm>
            <a:prstGeom prst="line">
              <a:avLst/>
            </a:prstGeom>
            <a:noFill/>
            <a:ln w="9525">
              <a:solidFill>
                <a:schemeClr val="accent2"/>
              </a:solidFill>
              <a:round/>
              <a:headEnd/>
              <a:tailEnd type="triangle" w="med" len="med"/>
            </a:ln>
            <a:effectLst/>
          </p:spPr>
          <p:txBody>
            <a:bodyPr/>
            <a:lstStyle/>
            <a:p>
              <a:endParaRPr lang="ru-RU"/>
            </a:p>
          </p:txBody>
        </p:sp>
      </p:grpSp>
      <p:sp>
        <p:nvSpPr>
          <p:cNvPr id="13321" name="Text Box 9"/>
          <p:cNvSpPr txBox="1">
            <a:spLocks noChangeArrowheads="1"/>
          </p:cNvSpPr>
          <p:nvPr/>
        </p:nvSpPr>
        <p:spPr bwMode="auto">
          <a:xfrm>
            <a:off x="539750" y="1989138"/>
            <a:ext cx="8208963" cy="579437"/>
          </a:xfrm>
          <a:prstGeom prst="rect">
            <a:avLst/>
          </a:prstGeom>
          <a:noFill/>
          <a:ln w="9525">
            <a:noFill/>
            <a:miter lim="800000"/>
            <a:headEnd/>
            <a:tailEnd/>
          </a:ln>
          <a:effectLst/>
        </p:spPr>
        <p:txBody>
          <a:bodyPr>
            <a:spAutoFit/>
          </a:bodyPr>
          <a:lstStyle/>
          <a:p>
            <a:pPr algn="ctr">
              <a:spcBef>
                <a:spcPct val="50000"/>
              </a:spcBef>
            </a:pPr>
            <a:r>
              <a:rPr lang="uz" sz="3200">
                <a:solidFill>
                  <a:schemeClr val="bg2"/>
                </a:solidFill>
                <a:latin typeface="Times New Roman" pitchFamily="18" charset="0"/>
              </a:rPr>
              <a:t>Aʼzolik boʻyicha</a:t>
            </a:r>
            <a:r>
              <a:rPr lang="uz">
                <a:latin typeface="Times New Roman" pitchFamily="18" charset="0"/>
              </a:rPr>
              <a:t> </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p:txBody>
          <a:bodyPr/>
          <a:lstStyle/>
          <a:p>
            <a:r>
              <a:rPr lang="uz" sz="4000"/>
              <a:t>Kompyuter tarmoqlarining tasnifi</a:t>
            </a:r>
          </a:p>
        </p:txBody>
      </p:sp>
      <p:grpSp>
        <p:nvGrpSpPr>
          <p:cNvPr id="14339" name="Group 3"/>
          <p:cNvGrpSpPr>
            <a:grpSpLocks/>
          </p:cNvGrpSpPr>
          <p:nvPr/>
        </p:nvGrpSpPr>
        <p:grpSpPr bwMode="auto">
          <a:xfrm>
            <a:off x="71438" y="3355975"/>
            <a:ext cx="8999537" cy="2952750"/>
            <a:chOff x="45" y="2114"/>
            <a:chExt cx="5669" cy="1860"/>
          </a:xfrm>
        </p:grpSpPr>
        <p:sp>
          <p:nvSpPr>
            <p:cNvPr id="14340" name="Rectangle 4"/>
            <p:cNvSpPr>
              <a:spLocks noChangeArrowheads="1"/>
            </p:cNvSpPr>
            <p:nvPr/>
          </p:nvSpPr>
          <p:spPr bwMode="auto">
            <a:xfrm>
              <a:off x="1610" y="2114"/>
              <a:ext cx="2449" cy="681"/>
            </a:xfrm>
            <a:prstGeom prst="rect">
              <a:avLst/>
            </a:prstGeom>
            <a:solidFill>
              <a:schemeClr val="accent1"/>
            </a:solidFill>
            <a:ln w="9525">
              <a:solidFill>
                <a:schemeClr val="tx1"/>
              </a:solidFill>
              <a:miter lim="800000"/>
              <a:headEnd/>
              <a:tailEnd/>
            </a:ln>
            <a:effectLst/>
          </p:spPr>
          <p:txBody>
            <a:bodyPr wrap="none" anchor="ctr"/>
            <a:lstStyle/>
            <a:p>
              <a:pPr algn="ctr"/>
              <a:r>
                <a:rPr lang="uz" sz="2400">
                  <a:latin typeface="Times New Roman" pitchFamily="18" charset="0"/>
                </a:rPr>
                <a:t>KOMPYUTER TARMOQLARI</a:t>
              </a:r>
            </a:p>
          </p:txBody>
        </p:sp>
        <p:sp>
          <p:nvSpPr>
            <p:cNvPr id="14341" name="Rectangle 5"/>
            <p:cNvSpPr>
              <a:spLocks noChangeArrowheads="1"/>
            </p:cNvSpPr>
            <p:nvPr/>
          </p:nvSpPr>
          <p:spPr bwMode="auto">
            <a:xfrm>
              <a:off x="45" y="3339"/>
              <a:ext cx="1792" cy="635"/>
            </a:xfrm>
            <a:prstGeom prst="rect">
              <a:avLst/>
            </a:prstGeom>
            <a:solidFill>
              <a:srgbClr val="E2F3FE"/>
            </a:solidFill>
            <a:ln w="9525">
              <a:solidFill>
                <a:schemeClr val="tx1"/>
              </a:solidFill>
              <a:miter lim="800000"/>
              <a:headEnd/>
              <a:tailEnd/>
            </a:ln>
            <a:effectLst/>
          </p:spPr>
          <p:txBody>
            <a:bodyPr wrap="none" anchor="ctr"/>
            <a:lstStyle/>
            <a:p>
              <a:pPr algn="ctr"/>
              <a:r>
                <a:rPr lang="uz" sz="2800">
                  <a:solidFill>
                    <a:schemeClr val="bg2"/>
                  </a:solidFill>
                  <a:latin typeface="Times New Roman" pitchFamily="18" charset="0"/>
                </a:rPr>
                <a:t>past tezlik</a:t>
              </a:r>
              <a:r>
                <a:rPr lang="uz">
                  <a:latin typeface="Times New Roman" pitchFamily="18" charset="0"/>
                </a:rPr>
                <a:t> </a:t>
              </a:r>
            </a:p>
          </p:txBody>
        </p:sp>
        <p:sp>
          <p:nvSpPr>
            <p:cNvPr id="14342" name="Rectangle 6"/>
            <p:cNvSpPr>
              <a:spLocks noChangeArrowheads="1"/>
            </p:cNvSpPr>
            <p:nvPr/>
          </p:nvSpPr>
          <p:spPr bwMode="auto">
            <a:xfrm>
              <a:off x="1928" y="3339"/>
              <a:ext cx="1860" cy="635"/>
            </a:xfrm>
            <a:prstGeom prst="rect">
              <a:avLst/>
            </a:prstGeom>
            <a:solidFill>
              <a:srgbClr val="E2F3FE"/>
            </a:solidFill>
            <a:ln w="9525">
              <a:solidFill>
                <a:schemeClr val="tx1"/>
              </a:solidFill>
              <a:miter lim="800000"/>
              <a:headEnd/>
              <a:tailEnd/>
            </a:ln>
            <a:effectLst/>
          </p:spPr>
          <p:txBody>
            <a:bodyPr wrap="none" anchor="ctr"/>
            <a:lstStyle/>
            <a:p>
              <a:pPr algn="ctr"/>
              <a:r>
                <a:rPr lang="uz" sz="2800">
                  <a:solidFill>
                    <a:schemeClr val="bg2"/>
                  </a:solidFill>
                  <a:latin typeface="Times New Roman" pitchFamily="18" charset="0"/>
                </a:rPr>
                <a:t>o'rtacha tezlik</a:t>
              </a:r>
              <a:r>
                <a:rPr lang="uz">
                  <a:latin typeface="Times New Roman" pitchFamily="18" charset="0"/>
                </a:rPr>
                <a:t> </a:t>
              </a:r>
            </a:p>
          </p:txBody>
        </p:sp>
        <p:sp>
          <p:nvSpPr>
            <p:cNvPr id="14343" name="Rectangle 7"/>
            <p:cNvSpPr>
              <a:spLocks noChangeArrowheads="1"/>
            </p:cNvSpPr>
            <p:nvPr/>
          </p:nvSpPr>
          <p:spPr bwMode="auto">
            <a:xfrm>
              <a:off x="3878" y="3339"/>
              <a:ext cx="1836" cy="635"/>
            </a:xfrm>
            <a:prstGeom prst="rect">
              <a:avLst/>
            </a:prstGeom>
            <a:solidFill>
              <a:srgbClr val="E2F3FE"/>
            </a:solidFill>
            <a:ln w="9525">
              <a:solidFill>
                <a:schemeClr val="tx1"/>
              </a:solidFill>
              <a:miter lim="800000"/>
              <a:headEnd/>
              <a:tailEnd/>
            </a:ln>
            <a:effectLst/>
          </p:spPr>
          <p:txBody>
            <a:bodyPr wrap="none" anchor="ctr"/>
            <a:lstStyle/>
            <a:p>
              <a:pPr algn="ctr"/>
              <a:r>
                <a:rPr lang="uz" sz="2800">
                  <a:solidFill>
                    <a:schemeClr val="bg2"/>
                  </a:solidFill>
                  <a:latin typeface="Times New Roman" pitchFamily="18" charset="0"/>
                </a:rPr>
                <a:t>yuqori tezlik</a:t>
              </a:r>
              <a:r>
                <a:rPr lang="uz">
                  <a:latin typeface="Times New Roman" pitchFamily="18" charset="0"/>
                </a:rPr>
                <a:t> </a:t>
              </a:r>
            </a:p>
          </p:txBody>
        </p:sp>
        <p:sp>
          <p:nvSpPr>
            <p:cNvPr id="14344" name="Line 8"/>
            <p:cNvSpPr>
              <a:spLocks noChangeShapeType="1"/>
            </p:cNvSpPr>
            <p:nvPr/>
          </p:nvSpPr>
          <p:spPr bwMode="auto">
            <a:xfrm flipH="1">
              <a:off x="1247" y="2795"/>
              <a:ext cx="1588" cy="499"/>
            </a:xfrm>
            <a:prstGeom prst="line">
              <a:avLst/>
            </a:prstGeom>
            <a:noFill/>
            <a:ln w="9525">
              <a:solidFill>
                <a:schemeClr val="accent2"/>
              </a:solidFill>
              <a:round/>
              <a:headEnd/>
              <a:tailEnd type="triangle" w="med" len="med"/>
            </a:ln>
            <a:effectLst/>
          </p:spPr>
          <p:txBody>
            <a:bodyPr/>
            <a:lstStyle/>
            <a:p>
              <a:endParaRPr lang="ru-RU"/>
            </a:p>
          </p:txBody>
        </p:sp>
        <p:sp>
          <p:nvSpPr>
            <p:cNvPr id="14345" name="Line 9"/>
            <p:cNvSpPr>
              <a:spLocks noChangeShapeType="1"/>
            </p:cNvSpPr>
            <p:nvPr/>
          </p:nvSpPr>
          <p:spPr bwMode="auto">
            <a:xfrm>
              <a:off x="2835" y="2795"/>
              <a:ext cx="0" cy="499"/>
            </a:xfrm>
            <a:prstGeom prst="line">
              <a:avLst/>
            </a:prstGeom>
            <a:noFill/>
            <a:ln w="9525">
              <a:solidFill>
                <a:schemeClr val="accent2"/>
              </a:solidFill>
              <a:round/>
              <a:headEnd/>
              <a:tailEnd type="triangle" w="med" len="med"/>
            </a:ln>
            <a:effectLst/>
          </p:spPr>
          <p:txBody>
            <a:bodyPr/>
            <a:lstStyle/>
            <a:p>
              <a:endParaRPr lang="ru-RU"/>
            </a:p>
          </p:txBody>
        </p:sp>
        <p:sp>
          <p:nvSpPr>
            <p:cNvPr id="14346" name="Line 10"/>
            <p:cNvSpPr>
              <a:spLocks noChangeShapeType="1"/>
            </p:cNvSpPr>
            <p:nvPr/>
          </p:nvSpPr>
          <p:spPr bwMode="auto">
            <a:xfrm>
              <a:off x="2835" y="2795"/>
              <a:ext cx="1769" cy="499"/>
            </a:xfrm>
            <a:prstGeom prst="line">
              <a:avLst/>
            </a:prstGeom>
            <a:noFill/>
            <a:ln w="9525">
              <a:solidFill>
                <a:schemeClr val="accent2"/>
              </a:solidFill>
              <a:round/>
              <a:headEnd/>
              <a:tailEnd type="triangle" w="med" len="med"/>
            </a:ln>
            <a:effectLst/>
          </p:spPr>
          <p:txBody>
            <a:bodyPr/>
            <a:lstStyle/>
            <a:p>
              <a:endParaRPr lang="ru-RU"/>
            </a:p>
          </p:txBody>
        </p:sp>
      </p:grpSp>
      <p:sp>
        <p:nvSpPr>
          <p:cNvPr id="14347" name="Text Box 11"/>
          <p:cNvSpPr txBox="1">
            <a:spLocks noChangeArrowheads="1"/>
          </p:cNvSpPr>
          <p:nvPr/>
        </p:nvSpPr>
        <p:spPr bwMode="auto">
          <a:xfrm>
            <a:off x="539750" y="1989138"/>
            <a:ext cx="8208963" cy="579437"/>
          </a:xfrm>
          <a:prstGeom prst="rect">
            <a:avLst/>
          </a:prstGeom>
          <a:noFill/>
          <a:ln w="9525">
            <a:noFill/>
            <a:miter lim="800000"/>
            <a:headEnd/>
            <a:tailEnd/>
          </a:ln>
          <a:effectLst/>
        </p:spPr>
        <p:txBody>
          <a:bodyPr>
            <a:spAutoFit/>
          </a:bodyPr>
          <a:lstStyle/>
          <a:p>
            <a:pPr algn="ctr">
              <a:spcBef>
                <a:spcPct val="50000"/>
              </a:spcBef>
            </a:pPr>
            <a:r>
              <a:rPr lang="uz" sz="3200">
                <a:solidFill>
                  <a:schemeClr val="bg2"/>
                </a:solidFill>
                <a:latin typeface="Times New Roman" pitchFamily="18" charset="0"/>
              </a:rPr>
              <a:t>Ma'lumot uzatish tezligi bo'yicha</a:t>
            </a:r>
            <a:endParaRPr lang="ru-RU" sz="3200">
              <a:latin typeface="Times New Roman"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p:txBody>
          <a:bodyPr/>
          <a:lstStyle/>
          <a:p>
            <a:r>
              <a:rPr lang="uz" sz="4000"/>
              <a:t>Kompyuter tarmoqlarining tasnifi</a:t>
            </a:r>
          </a:p>
        </p:txBody>
      </p:sp>
      <p:sp>
        <p:nvSpPr>
          <p:cNvPr id="15363" name="Text Box 3"/>
          <p:cNvSpPr txBox="1">
            <a:spLocks noChangeArrowheads="1"/>
          </p:cNvSpPr>
          <p:nvPr/>
        </p:nvSpPr>
        <p:spPr bwMode="auto">
          <a:xfrm>
            <a:off x="539750" y="1989138"/>
            <a:ext cx="8208963" cy="579437"/>
          </a:xfrm>
          <a:prstGeom prst="rect">
            <a:avLst/>
          </a:prstGeom>
          <a:noFill/>
          <a:ln w="9525">
            <a:noFill/>
            <a:miter lim="800000"/>
            <a:headEnd/>
            <a:tailEnd/>
          </a:ln>
          <a:effectLst/>
        </p:spPr>
        <p:txBody>
          <a:bodyPr>
            <a:spAutoFit/>
          </a:bodyPr>
          <a:lstStyle/>
          <a:p>
            <a:pPr algn="ctr">
              <a:spcBef>
                <a:spcPct val="50000"/>
              </a:spcBef>
            </a:pPr>
            <a:r>
              <a:rPr lang="uz" sz="3200">
                <a:solidFill>
                  <a:schemeClr val="bg2"/>
                </a:solidFill>
                <a:latin typeface="Times New Roman" pitchFamily="18" charset="0"/>
              </a:rPr>
              <a:t>Etkazish vositasi turi bo'yicha</a:t>
            </a:r>
          </a:p>
        </p:txBody>
      </p:sp>
      <p:grpSp>
        <p:nvGrpSpPr>
          <p:cNvPr id="15364" name="Group 4"/>
          <p:cNvGrpSpPr>
            <a:grpSpLocks/>
          </p:cNvGrpSpPr>
          <p:nvPr/>
        </p:nvGrpSpPr>
        <p:grpSpPr bwMode="auto">
          <a:xfrm>
            <a:off x="163513" y="2708275"/>
            <a:ext cx="8945562" cy="3457575"/>
            <a:chOff x="103" y="1706"/>
            <a:chExt cx="5635" cy="2178"/>
          </a:xfrm>
        </p:grpSpPr>
        <p:sp>
          <p:nvSpPr>
            <p:cNvPr id="15365" name="Rectangle 5"/>
            <p:cNvSpPr>
              <a:spLocks noChangeArrowheads="1"/>
            </p:cNvSpPr>
            <p:nvPr/>
          </p:nvSpPr>
          <p:spPr bwMode="auto">
            <a:xfrm>
              <a:off x="1701" y="1706"/>
              <a:ext cx="2449" cy="681"/>
            </a:xfrm>
            <a:prstGeom prst="rect">
              <a:avLst/>
            </a:prstGeom>
            <a:solidFill>
              <a:schemeClr val="accent1"/>
            </a:solidFill>
            <a:ln w="9525">
              <a:solidFill>
                <a:schemeClr val="tx1"/>
              </a:solidFill>
              <a:miter lim="800000"/>
              <a:headEnd/>
              <a:tailEnd/>
            </a:ln>
            <a:effectLst/>
          </p:spPr>
          <p:txBody>
            <a:bodyPr wrap="none" anchor="ctr"/>
            <a:lstStyle/>
            <a:p>
              <a:pPr algn="ctr"/>
              <a:r>
                <a:rPr lang="uz" sz="2400">
                  <a:latin typeface="Times New Roman" pitchFamily="18" charset="0"/>
                </a:rPr>
                <a:t>KOMPYUTER TARMOQLARI</a:t>
              </a:r>
            </a:p>
          </p:txBody>
        </p:sp>
        <p:sp>
          <p:nvSpPr>
            <p:cNvPr id="15366" name="Rectangle 6"/>
            <p:cNvSpPr>
              <a:spLocks noChangeArrowheads="1"/>
            </p:cNvSpPr>
            <p:nvPr/>
          </p:nvSpPr>
          <p:spPr bwMode="auto">
            <a:xfrm>
              <a:off x="103" y="2523"/>
              <a:ext cx="1792" cy="635"/>
            </a:xfrm>
            <a:prstGeom prst="rect">
              <a:avLst/>
            </a:prstGeom>
            <a:solidFill>
              <a:srgbClr val="E2F3FE"/>
            </a:solidFill>
            <a:ln w="9525">
              <a:solidFill>
                <a:schemeClr val="tx1"/>
              </a:solidFill>
              <a:miter lim="800000"/>
              <a:headEnd/>
              <a:tailEnd/>
            </a:ln>
            <a:effectLst/>
          </p:spPr>
          <p:txBody>
            <a:bodyPr wrap="none" anchor="ctr"/>
            <a:lstStyle/>
            <a:p>
              <a:pPr algn="ctr"/>
              <a:r>
                <a:rPr lang="uz" sz="2800">
                  <a:solidFill>
                    <a:schemeClr val="bg2"/>
                  </a:solidFill>
                  <a:latin typeface="Times New Roman" pitchFamily="18" charset="0"/>
                </a:rPr>
                <a:t>koaksiyal</a:t>
              </a:r>
              <a:r>
                <a:rPr lang="uz">
                  <a:latin typeface="Times New Roman" pitchFamily="18" charset="0"/>
                </a:rPr>
                <a:t> </a:t>
              </a:r>
            </a:p>
          </p:txBody>
        </p:sp>
        <p:sp>
          <p:nvSpPr>
            <p:cNvPr id="15367" name="Rectangle 7"/>
            <p:cNvSpPr>
              <a:spLocks noChangeArrowheads="1"/>
            </p:cNvSpPr>
            <p:nvPr/>
          </p:nvSpPr>
          <p:spPr bwMode="auto">
            <a:xfrm>
              <a:off x="1973" y="3249"/>
              <a:ext cx="1860" cy="635"/>
            </a:xfrm>
            <a:prstGeom prst="rect">
              <a:avLst/>
            </a:prstGeom>
            <a:solidFill>
              <a:srgbClr val="E2F3FE"/>
            </a:solidFill>
            <a:ln w="9525">
              <a:solidFill>
                <a:schemeClr val="tx1"/>
              </a:solidFill>
              <a:miter lim="800000"/>
              <a:headEnd/>
              <a:tailEnd/>
            </a:ln>
            <a:effectLst/>
          </p:spPr>
          <p:txBody>
            <a:bodyPr wrap="none" anchor="ctr"/>
            <a:lstStyle/>
            <a:p>
              <a:pPr algn="ctr"/>
              <a:r>
                <a:rPr lang="uz" sz="2800">
                  <a:solidFill>
                    <a:schemeClr val="bg2"/>
                  </a:solidFill>
                  <a:latin typeface="Times New Roman" pitchFamily="18" charset="0"/>
                </a:rPr>
                <a:t>o'ralgan juftlikda</a:t>
              </a:r>
              <a:r>
                <a:rPr lang="uz">
                  <a:latin typeface="Times New Roman" pitchFamily="18" charset="0"/>
                </a:rPr>
                <a:t> </a:t>
              </a:r>
            </a:p>
          </p:txBody>
        </p:sp>
        <p:sp>
          <p:nvSpPr>
            <p:cNvPr id="15368" name="Rectangle 8"/>
            <p:cNvSpPr>
              <a:spLocks noChangeArrowheads="1"/>
            </p:cNvSpPr>
            <p:nvPr/>
          </p:nvSpPr>
          <p:spPr bwMode="auto">
            <a:xfrm>
              <a:off x="3878" y="2523"/>
              <a:ext cx="1836" cy="635"/>
            </a:xfrm>
            <a:prstGeom prst="rect">
              <a:avLst/>
            </a:prstGeom>
            <a:solidFill>
              <a:srgbClr val="E2F3FE"/>
            </a:solidFill>
            <a:ln w="9525">
              <a:solidFill>
                <a:schemeClr val="tx1"/>
              </a:solidFill>
              <a:miter lim="800000"/>
              <a:headEnd/>
              <a:tailEnd/>
            </a:ln>
            <a:effectLst/>
          </p:spPr>
          <p:txBody>
            <a:bodyPr wrap="none" anchor="ctr"/>
            <a:lstStyle/>
            <a:p>
              <a:pPr algn="ctr"/>
              <a:r>
                <a:rPr lang="uz" sz="2800">
                  <a:solidFill>
                    <a:schemeClr val="bg2"/>
                  </a:solidFill>
                  <a:latin typeface="Times New Roman" pitchFamily="18" charset="0"/>
                </a:rPr>
                <a:t>optik tolali</a:t>
              </a:r>
              <a:r>
                <a:rPr lang="uz">
                  <a:latin typeface="Times New Roman" pitchFamily="18" charset="0"/>
                </a:rPr>
                <a:t> </a:t>
              </a:r>
            </a:p>
          </p:txBody>
        </p:sp>
        <p:sp>
          <p:nvSpPr>
            <p:cNvPr id="15369" name="Rectangle 9"/>
            <p:cNvSpPr>
              <a:spLocks noChangeArrowheads="1"/>
            </p:cNvSpPr>
            <p:nvPr/>
          </p:nvSpPr>
          <p:spPr bwMode="auto">
            <a:xfrm>
              <a:off x="113" y="3249"/>
              <a:ext cx="1792" cy="635"/>
            </a:xfrm>
            <a:prstGeom prst="rect">
              <a:avLst/>
            </a:prstGeom>
            <a:solidFill>
              <a:srgbClr val="E2F3FE"/>
            </a:solidFill>
            <a:ln w="9525">
              <a:solidFill>
                <a:schemeClr val="tx1"/>
              </a:solidFill>
              <a:miter lim="800000"/>
              <a:headEnd/>
              <a:tailEnd/>
            </a:ln>
            <a:effectLst/>
          </p:spPr>
          <p:txBody>
            <a:bodyPr wrap="none" anchor="ctr"/>
            <a:lstStyle/>
            <a:p>
              <a:pPr algn="ctr"/>
              <a:r>
                <a:rPr lang="uz" sz="2800">
                  <a:solidFill>
                    <a:schemeClr val="bg2"/>
                  </a:solidFill>
                  <a:latin typeface="Times New Roman" pitchFamily="18" charset="0"/>
                </a:rPr>
                <a:t>radiokanallar </a:t>
              </a:r>
              <a:r>
                <a:rPr lang="uz" sz="2800">
                  <a:latin typeface="Times New Roman" pitchFamily="18" charset="0"/>
                </a:rPr>
                <a:t>orqali</a:t>
              </a:r>
              <a:r>
                <a:rPr lang="uz">
                  <a:latin typeface="Times New Roman" pitchFamily="18" charset="0"/>
                </a:rPr>
                <a:t> </a:t>
              </a:r>
            </a:p>
          </p:txBody>
        </p:sp>
        <p:sp>
          <p:nvSpPr>
            <p:cNvPr id="15370" name="Rectangle 10"/>
            <p:cNvSpPr>
              <a:spLocks noChangeArrowheads="1"/>
            </p:cNvSpPr>
            <p:nvPr/>
          </p:nvSpPr>
          <p:spPr bwMode="auto">
            <a:xfrm>
              <a:off x="3878" y="3249"/>
              <a:ext cx="1860" cy="635"/>
            </a:xfrm>
            <a:prstGeom prst="rect">
              <a:avLst/>
            </a:prstGeom>
            <a:solidFill>
              <a:srgbClr val="E2F3FE"/>
            </a:solidFill>
            <a:ln w="9525">
              <a:solidFill>
                <a:schemeClr val="tx1"/>
              </a:solidFill>
              <a:miter lim="800000"/>
              <a:headEnd/>
              <a:tailEnd/>
            </a:ln>
            <a:effectLst/>
          </p:spPr>
          <p:txBody>
            <a:bodyPr wrap="none" anchor="ctr"/>
            <a:lstStyle/>
            <a:p>
              <a:pPr algn="ctr"/>
              <a:r>
                <a:rPr lang="uz" sz="2800">
                  <a:solidFill>
                    <a:schemeClr val="bg2"/>
                  </a:solidFill>
                  <a:latin typeface="Times New Roman" pitchFamily="18" charset="0"/>
                </a:rPr>
                <a:t>infraqizil </a:t>
              </a:r>
              <a:br>
                <a:rPr lang="ru-RU" sz="2800">
                  <a:solidFill>
                    <a:schemeClr val="bg2"/>
                  </a:solidFill>
                  <a:latin typeface="Times New Roman" pitchFamily="18" charset="0"/>
                </a:rPr>
              </a:br>
              <a:r>
                <a:rPr lang="uz" sz="2800">
                  <a:solidFill>
                    <a:schemeClr val="bg2"/>
                  </a:solidFill>
                  <a:latin typeface="Times New Roman" pitchFamily="18" charset="0"/>
                </a:rPr>
                <a:t>diapazonda</a:t>
              </a:r>
              <a:r>
                <a:rPr lang="uz">
                  <a:latin typeface="Times New Roman" pitchFamily="18" charset="0"/>
                </a:rPr>
                <a:t> </a:t>
              </a:r>
            </a:p>
          </p:txBody>
        </p:sp>
        <p:sp>
          <p:nvSpPr>
            <p:cNvPr id="15371" name="Line 11"/>
            <p:cNvSpPr>
              <a:spLocks noChangeShapeType="1"/>
            </p:cNvSpPr>
            <p:nvPr/>
          </p:nvSpPr>
          <p:spPr bwMode="auto">
            <a:xfrm>
              <a:off x="2971" y="2387"/>
              <a:ext cx="0" cy="817"/>
            </a:xfrm>
            <a:prstGeom prst="line">
              <a:avLst/>
            </a:prstGeom>
            <a:noFill/>
            <a:ln w="9525">
              <a:solidFill>
                <a:schemeClr val="accent2"/>
              </a:solidFill>
              <a:round/>
              <a:headEnd/>
              <a:tailEnd type="triangle" w="med" len="med"/>
            </a:ln>
            <a:effectLst/>
          </p:spPr>
          <p:txBody>
            <a:bodyPr/>
            <a:lstStyle/>
            <a:p>
              <a:endParaRPr lang="ru-RU"/>
            </a:p>
          </p:txBody>
        </p:sp>
        <p:sp>
          <p:nvSpPr>
            <p:cNvPr id="15372" name="Line 12"/>
            <p:cNvSpPr>
              <a:spLocks noChangeShapeType="1"/>
            </p:cNvSpPr>
            <p:nvPr/>
          </p:nvSpPr>
          <p:spPr bwMode="auto">
            <a:xfrm>
              <a:off x="2971" y="2387"/>
              <a:ext cx="907" cy="817"/>
            </a:xfrm>
            <a:prstGeom prst="line">
              <a:avLst/>
            </a:prstGeom>
            <a:noFill/>
            <a:ln w="9525">
              <a:solidFill>
                <a:schemeClr val="accent2"/>
              </a:solidFill>
              <a:round/>
              <a:headEnd/>
              <a:tailEnd type="triangle" w="med" len="med"/>
            </a:ln>
            <a:effectLst/>
          </p:spPr>
          <p:txBody>
            <a:bodyPr/>
            <a:lstStyle/>
            <a:p>
              <a:endParaRPr lang="ru-RU"/>
            </a:p>
          </p:txBody>
        </p:sp>
        <p:sp>
          <p:nvSpPr>
            <p:cNvPr id="15373" name="Line 13"/>
            <p:cNvSpPr>
              <a:spLocks noChangeShapeType="1"/>
            </p:cNvSpPr>
            <p:nvPr/>
          </p:nvSpPr>
          <p:spPr bwMode="auto">
            <a:xfrm>
              <a:off x="2971" y="2387"/>
              <a:ext cx="907" cy="272"/>
            </a:xfrm>
            <a:prstGeom prst="line">
              <a:avLst/>
            </a:prstGeom>
            <a:noFill/>
            <a:ln w="9525">
              <a:solidFill>
                <a:schemeClr val="accent2"/>
              </a:solidFill>
              <a:round/>
              <a:headEnd/>
              <a:tailEnd type="triangle" w="med" len="med"/>
            </a:ln>
            <a:effectLst/>
          </p:spPr>
          <p:txBody>
            <a:bodyPr/>
            <a:lstStyle/>
            <a:p>
              <a:endParaRPr lang="ru-RU"/>
            </a:p>
          </p:txBody>
        </p:sp>
        <p:sp>
          <p:nvSpPr>
            <p:cNvPr id="15374" name="Line 14"/>
            <p:cNvSpPr>
              <a:spLocks noChangeShapeType="1"/>
            </p:cNvSpPr>
            <p:nvPr/>
          </p:nvSpPr>
          <p:spPr bwMode="auto">
            <a:xfrm flipH="1">
              <a:off x="1882" y="2387"/>
              <a:ext cx="1089" cy="817"/>
            </a:xfrm>
            <a:prstGeom prst="line">
              <a:avLst/>
            </a:prstGeom>
            <a:noFill/>
            <a:ln w="9525">
              <a:solidFill>
                <a:schemeClr val="accent2"/>
              </a:solidFill>
              <a:round/>
              <a:headEnd/>
              <a:tailEnd type="triangle" w="med" len="med"/>
            </a:ln>
            <a:effectLst/>
          </p:spPr>
          <p:txBody>
            <a:bodyPr/>
            <a:lstStyle/>
            <a:p>
              <a:endParaRPr lang="ru-RU"/>
            </a:p>
          </p:txBody>
        </p:sp>
        <p:sp>
          <p:nvSpPr>
            <p:cNvPr id="15375" name="Line 15"/>
            <p:cNvSpPr>
              <a:spLocks noChangeShapeType="1"/>
            </p:cNvSpPr>
            <p:nvPr/>
          </p:nvSpPr>
          <p:spPr bwMode="auto">
            <a:xfrm flipH="1">
              <a:off x="1927" y="2387"/>
              <a:ext cx="1044" cy="318"/>
            </a:xfrm>
            <a:prstGeom prst="line">
              <a:avLst/>
            </a:prstGeom>
            <a:noFill/>
            <a:ln w="9525">
              <a:solidFill>
                <a:schemeClr val="accent2"/>
              </a:solidFill>
              <a:round/>
              <a:headEnd/>
              <a:tailEnd type="triangle" w="med" len="med"/>
            </a:ln>
            <a:effectLst/>
          </p:spPr>
          <p:txBody>
            <a:bodyPr/>
            <a:lstStyle/>
            <a:p>
              <a:endParaRPr lang="ru-RU"/>
            </a:p>
          </p:txBody>
        </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p:txBody>
          <a:bodyPr/>
          <a:lstStyle/>
          <a:p>
            <a:pPr>
              <a:buFont typeface="Wingdings" pitchFamily="2" charset="2"/>
              <a:buNone/>
            </a:pPr>
            <a:endParaRPr lang="ru-RU"/>
          </a:p>
          <a:p>
            <a:pPr>
              <a:buFont typeface="Wingdings" pitchFamily="2" charset="2"/>
              <a:buNone/>
            </a:pPr>
            <a:endParaRPr lang="ru-RU"/>
          </a:p>
        </p:txBody>
      </p:sp>
      <p:sp>
        <p:nvSpPr>
          <p:cNvPr id="21508" name="Rectangle 4"/>
          <p:cNvSpPr>
            <a:spLocks noChangeArrowheads="1"/>
          </p:cNvSpPr>
          <p:nvPr/>
        </p:nvSpPr>
        <p:spPr bwMode="auto">
          <a:xfrm>
            <a:off x="2843213" y="1268413"/>
            <a:ext cx="6096000" cy="4114800"/>
          </a:xfrm>
          <a:prstGeom prst="rect">
            <a:avLst/>
          </a:prstGeom>
          <a:noFill/>
          <a:ln w="9525">
            <a:noFill/>
            <a:miter lim="800000"/>
            <a:headEnd/>
            <a:tailEnd/>
          </a:ln>
          <a:effectLst/>
        </p:spPr>
        <p:txBody>
          <a:bodyPr lIns="92075" tIns="46038" rIns="92075" bIns="46038"/>
          <a:lstStyle/>
          <a:p>
            <a:pPr marL="342900" indent="-342900">
              <a:spcBef>
                <a:spcPct val="20000"/>
              </a:spcBef>
              <a:buClr>
                <a:schemeClr val="hlink"/>
              </a:buClr>
              <a:buSzPct val="70000"/>
              <a:buFont typeface="Wingdings" pitchFamily="2" charset="2"/>
              <a:buChar char="n"/>
            </a:pPr>
            <a:r>
              <a:rPr lang="uz" sz="2800" b="1" i="1">
                <a:effectLst>
                  <a:outerShdw blurRad="38100" dist="38100" dir="2700000" algn="tl">
                    <a:srgbClr val="000000"/>
                  </a:outerShdw>
                </a:effectLst>
              </a:rPr>
              <a:t>Server </a:t>
            </a:r>
            <a:r>
              <a:rPr lang="uz" sz="2800" b="1">
                <a:effectLst>
                  <a:outerShdw blurRad="38100" dist="38100" dir="2700000" algn="tl">
                    <a:srgbClr val="000000"/>
                  </a:outerShdw>
                </a:effectLst>
              </a:rPr>
              <a:t>- bu boshqa kompyuterlar yoki dasturlarga ba'zi xizmatlarni taqdim etadigan kompyuter yoki dastur. Turli xil xizmatlarni taqdim etuvchi bir nechta serverlar bir kompyuterda bir vaqtning o'zida ishlashi mumkin.</a:t>
            </a:r>
          </a:p>
          <a:p>
            <a:pPr marL="342900" indent="-342900">
              <a:spcBef>
                <a:spcPct val="20000"/>
              </a:spcBef>
              <a:buClr>
                <a:schemeClr val="hlink"/>
              </a:buClr>
              <a:buSzPct val="70000"/>
              <a:buFont typeface="Wingdings" pitchFamily="2" charset="2"/>
              <a:buNone/>
            </a:pPr>
            <a:endParaRPr lang="ru-RU" sz="3200">
              <a:solidFill>
                <a:srgbClr val="FF9966"/>
              </a:solidFill>
              <a:effectLst>
                <a:outerShdw blurRad="38100" dist="38100" dir="2700000" algn="tl">
                  <a:srgbClr val="000000"/>
                </a:outerShdw>
              </a:effectLst>
            </a:endParaRPr>
          </a:p>
        </p:txBody>
      </p:sp>
      <p:pic>
        <p:nvPicPr>
          <p:cNvPr id="21509" name="Picture 5" descr="j0249811"/>
          <p:cNvPicPr>
            <a:picLocks noChangeAspect="1" noChangeArrowheads="1"/>
          </p:cNvPicPr>
          <p:nvPr/>
        </p:nvPicPr>
        <p:blipFill>
          <a:blip r:embed="rId2"/>
          <a:srcRect/>
          <a:stretch>
            <a:fillRect/>
          </a:stretch>
        </p:blipFill>
        <p:spPr bwMode="auto">
          <a:xfrm>
            <a:off x="395288" y="2133600"/>
            <a:ext cx="2452687" cy="2843213"/>
          </a:xfrm>
          <a:prstGeom prst="rect">
            <a:avLst/>
          </a:prstGeom>
          <a:noFill/>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rrowheads="1"/>
          </p:cNvSpPr>
          <p:nvPr>
            <p:ph type="title"/>
          </p:nvPr>
        </p:nvSpPr>
        <p:spPr>
          <a:xfrm>
            <a:off x="457200" y="835025"/>
            <a:ext cx="8229600" cy="1143000"/>
          </a:xfrm>
        </p:spPr>
        <p:txBody>
          <a:bodyPr/>
          <a:lstStyle/>
          <a:p>
            <a:r>
              <a:rPr lang="uz" dirty="0"/>
              <a:t>Mahalliy va global kompyuter tarmoqlari</a:t>
            </a:r>
            <a:br>
              <a:rPr lang="ru-RU" dirty="0"/>
            </a:br>
            <a:endParaRPr lang="ru-RU" dirty="0"/>
          </a:p>
        </p:txBody>
      </p:sp>
      <p:sp>
        <p:nvSpPr>
          <p:cNvPr id="22531" name="Rectangle 3"/>
          <p:cNvSpPr>
            <a:spLocks noGrp="1" noChangeArrowheads="1"/>
          </p:cNvSpPr>
          <p:nvPr>
            <p:ph type="body" idx="1"/>
          </p:nvPr>
        </p:nvSpPr>
        <p:spPr/>
        <p:txBody>
          <a:bodyPr/>
          <a:lstStyle/>
          <a:p>
            <a:pPr>
              <a:buFont typeface="Wingdings" pitchFamily="2" charset="2"/>
              <a:buNone/>
            </a:pPr>
            <a:endParaRPr lang="ru-RU"/>
          </a:p>
          <a:p>
            <a:pPr>
              <a:buFont typeface="Wingdings" pitchFamily="2" charset="2"/>
              <a:buNone/>
            </a:pPr>
            <a:endParaRPr lang="ru-RU"/>
          </a:p>
        </p:txBody>
      </p:sp>
      <p:sp>
        <p:nvSpPr>
          <p:cNvPr id="22532" name="Rectangle 4"/>
          <p:cNvSpPr>
            <a:spLocks noChangeArrowheads="1"/>
          </p:cNvSpPr>
          <p:nvPr/>
        </p:nvSpPr>
        <p:spPr bwMode="auto">
          <a:xfrm>
            <a:off x="2667000" y="2057400"/>
            <a:ext cx="6096000" cy="4114800"/>
          </a:xfrm>
          <a:prstGeom prst="rect">
            <a:avLst/>
          </a:prstGeom>
          <a:noFill/>
          <a:ln w="9525">
            <a:noFill/>
            <a:miter lim="800000"/>
            <a:headEnd/>
            <a:tailEnd/>
          </a:ln>
          <a:effectLst/>
        </p:spPr>
        <p:txBody>
          <a:bodyPr lIns="92075" tIns="46038" rIns="92075" bIns="46038"/>
          <a:lstStyle/>
          <a:p>
            <a:pPr marL="342900" indent="-342900">
              <a:spcBef>
                <a:spcPct val="20000"/>
              </a:spcBef>
              <a:buClr>
                <a:schemeClr val="hlink"/>
              </a:buClr>
              <a:buSzPct val="70000"/>
              <a:buFont typeface="Wingdings" pitchFamily="2" charset="2"/>
              <a:buNone/>
            </a:pPr>
            <a:endParaRPr lang="ru-RU" sz="3200">
              <a:effectLst>
                <a:outerShdw blurRad="38100" dist="38100" dir="2700000" algn="tl">
                  <a:srgbClr val="000000"/>
                </a:outerShdw>
              </a:effectLst>
            </a:endParaRPr>
          </a:p>
          <a:p>
            <a:pPr marL="342900" indent="-342900">
              <a:spcBef>
                <a:spcPct val="20000"/>
              </a:spcBef>
              <a:buClr>
                <a:schemeClr val="hlink"/>
              </a:buClr>
              <a:buSzPct val="70000"/>
              <a:buFont typeface="Wingdings" pitchFamily="2" charset="2"/>
              <a:buNone/>
            </a:pPr>
            <a:r>
              <a:rPr lang="uz" sz="3200">
                <a:effectLst>
                  <a:outerShdw blurRad="38100" dist="38100" dir="2700000" algn="tl">
                    <a:srgbClr val="000000"/>
                  </a:outerShdw>
                </a:effectLst>
              </a:rPr>
              <a:t>Internetning asosiy kompyuterlari xostlar yoki tarmoq tugunlari deb ataladi . Bular kuniga 24 soat muloqot qiladigan kompyuterlar.</a:t>
            </a:r>
          </a:p>
        </p:txBody>
      </p:sp>
      <p:pic>
        <p:nvPicPr>
          <p:cNvPr id="22533" name="Picture 5" descr="BS01640_"/>
          <p:cNvPicPr>
            <a:picLocks noChangeAspect="1" noChangeArrowheads="1"/>
          </p:cNvPicPr>
          <p:nvPr/>
        </p:nvPicPr>
        <p:blipFill>
          <a:blip r:embed="rId2"/>
          <a:srcRect/>
          <a:stretch>
            <a:fillRect/>
          </a:stretch>
        </p:blipFill>
        <p:spPr bwMode="auto">
          <a:xfrm>
            <a:off x="533400" y="4267200"/>
            <a:ext cx="2028825" cy="2052638"/>
          </a:xfrm>
          <a:prstGeom prst="rect">
            <a:avLst/>
          </a:prstGeom>
          <a:noFill/>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BS01979_"/>
          <p:cNvPicPr>
            <a:picLocks noChangeAspect="1" noChangeArrowheads="1"/>
          </p:cNvPicPr>
          <p:nvPr/>
        </p:nvPicPr>
        <p:blipFill>
          <a:blip r:embed="rId2"/>
          <a:srcRect/>
          <a:stretch>
            <a:fillRect/>
          </a:stretch>
        </p:blipFill>
        <p:spPr bwMode="auto">
          <a:xfrm>
            <a:off x="228600" y="3124200"/>
            <a:ext cx="2668588" cy="3316288"/>
          </a:xfrm>
          <a:prstGeom prst="rect">
            <a:avLst/>
          </a:prstGeom>
          <a:noFill/>
        </p:spPr>
      </p:pic>
      <p:sp>
        <p:nvSpPr>
          <p:cNvPr id="23556" name="Rectangle 4"/>
          <p:cNvSpPr>
            <a:spLocks noGrp="1" noChangeArrowheads="1"/>
          </p:cNvSpPr>
          <p:nvPr>
            <p:ph type="body" idx="1"/>
          </p:nvPr>
        </p:nvSpPr>
        <p:spPr/>
        <p:txBody>
          <a:bodyPr/>
          <a:lstStyle/>
          <a:p>
            <a:pPr>
              <a:buFont typeface="Wingdings" pitchFamily="2" charset="2"/>
              <a:buNone/>
            </a:pPr>
            <a:endParaRPr lang="ru-RU"/>
          </a:p>
          <a:p>
            <a:pPr>
              <a:buFont typeface="Wingdings" pitchFamily="2" charset="2"/>
              <a:buNone/>
            </a:pPr>
            <a:endParaRPr lang="ru-RU"/>
          </a:p>
        </p:txBody>
      </p:sp>
      <p:sp>
        <p:nvSpPr>
          <p:cNvPr id="23557" name="Rectangle 5"/>
          <p:cNvSpPr>
            <a:spLocks noChangeArrowheads="1"/>
          </p:cNvSpPr>
          <p:nvPr/>
        </p:nvSpPr>
        <p:spPr bwMode="auto">
          <a:xfrm>
            <a:off x="2667000" y="2057400"/>
            <a:ext cx="6096000" cy="4114800"/>
          </a:xfrm>
          <a:prstGeom prst="rect">
            <a:avLst/>
          </a:prstGeom>
          <a:noFill/>
          <a:ln w="9525">
            <a:noFill/>
            <a:miter lim="800000"/>
            <a:headEnd/>
            <a:tailEnd/>
          </a:ln>
          <a:effectLst/>
        </p:spPr>
        <p:txBody>
          <a:bodyPr lIns="92075" tIns="46038" rIns="92075" bIns="46038"/>
          <a:lstStyle/>
          <a:p>
            <a:pPr marL="342900" indent="-342900">
              <a:spcBef>
                <a:spcPct val="20000"/>
              </a:spcBef>
              <a:buClr>
                <a:schemeClr val="hlink"/>
              </a:buClr>
              <a:buSzPct val="70000"/>
              <a:buFont typeface="Wingdings" pitchFamily="2" charset="2"/>
              <a:buNone/>
            </a:pPr>
            <a:endParaRPr lang="ru-RU" sz="3200">
              <a:effectLst>
                <a:outerShdw blurRad="38100" dist="38100" dir="2700000" algn="tl">
                  <a:srgbClr val="000000"/>
                </a:outerShdw>
              </a:effectLst>
            </a:endParaRPr>
          </a:p>
          <a:p>
            <a:pPr marL="342900" indent="-342900">
              <a:spcBef>
                <a:spcPct val="20000"/>
              </a:spcBef>
              <a:buClr>
                <a:schemeClr val="hlink"/>
              </a:buClr>
              <a:buSzPct val="70000"/>
              <a:buFont typeface="Wingdings" pitchFamily="2" charset="2"/>
              <a:buNone/>
            </a:pPr>
            <a:r>
              <a:rPr lang="uz" sz="3200" b="1" i="1">
                <a:effectLst>
                  <a:outerShdw blurRad="38100" dist="38100" dir="2700000" algn="tl">
                    <a:srgbClr val="000000"/>
                  </a:outerShdw>
                </a:effectLst>
              </a:rPr>
              <a:t>Protokol </a:t>
            </a:r>
            <a:r>
              <a:rPr lang="uz" sz="3200">
                <a:effectLst>
                  <a:outerShdw blurRad="38100" dist="38100" dir="2700000" algn="tl">
                    <a:srgbClr val="000000"/>
                  </a:outerShdw>
                </a:effectLst>
              </a:rPr>
              <a:t>- bu kompyuterlar ma'lumot almashish standartidir. (masalan , HTTP, FTP va boshqalar)</a:t>
            </a:r>
          </a:p>
          <a:p>
            <a:pPr marL="342900" indent="-342900">
              <a:spcBef>
                <a:spcPct val="20000"/>
              </a:spcBef>
              <a:buClr>
                <a:schemeClr val="hlink"/>
              </a:buClr>
              <a:buSzPct val="70000"/>
              <a:buFont typeface="Wingdings" pitchFamily="2" charset="2"/>
              <a:buChar char="n"/>
            </a:pPr>
            <a:endParaRPr lang="ru-RU" sz="3200">
              <a:effectLst>
                <a:outerShdw blurRad="38100" dist="38100" dir="2700000" algn="tl">
                  <a:srgbClr val="000000"/>
                </a:outerShdw>
              </a:effectLst>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rrowheads="1"/>
          </p:cNvSpPr>
          <p:nvPr>
            <p:ph type="title"/>
          </p:nvPr>
        </p:nvSpPr>
        <p:spPr/>
        <p:txBody>
          <a:bodyPr/>
          <a:lstStyle/>
          <a:p>
            <a:br>
              <a:rPr lang="ru-RU"/>
            </a:br>
            <a:endParaRPr lang="ru-RU"/>
          </a:p>
        </p:txBody>
      </p:sp>
      <p:sp>
        <p:nvSpPr>
          <p:cNvPr id="24579" name="Rectangle 3"/>
          <p:cNvSpPr>
            <a:spLocks noGrp="1" noChangeArrowheads="1"/>
          </p:cNvSpPr>
          <p:nvPr>
            <p:ph type="body" idx="1"/>
          </p:nvPr>
        </p:nvSpPr>
        <p:spPr/>
        <p:txBody>
          <a:bodyPr/>
          <a:lstStyle/>
          <a:p>
            <a:pPr>
              <a:buFont typeface="Wingdings" pitchFamily="2" charset="2"/>
              <a:buNone/>
            </a:pPr>
            <a:endParaRPr lang="ru-RU"/>
          </a:p>
          <a:p>
            <a:pPr>
              <a:buFont typeface="Wingdings" pitchFamily="2" charset="2"/>
              <a:buNone/>
            </a:pPr>
            <a:endParaRPr lang="ru-RU"/>
          </a:p>
        </p:txBody>
      </p:sp>
      <p:sp>
        <p:nvSpPr>
          <p:cNvPr id="24580" name="Rectangle 4"/>
          <p:cNvSpPr>
            <a:spLocks noChangeArrowheads="1"/>
          </p:cNvSpPr>
          <p:nvPr/>
        </p:nvSpPr>
        <p:spPr bwMode="auto">
          <a:xfrm>
            <a:off x="2700338" y="1196975"/>
            <a:ext cx="6096000" cy="4114800"/>
          </a:xfrm>
          <a:prstGeom prst="rect">
            <a:avLst/>
          </a:prstGeom>
          <a:noFill/>
          <a:ln w="9525">
            <a:noFill/>
            <a:miter lim="800000"/>
            <a:headEnd/>
            <a:tailEnd/>
          </a:ln>
          <a:effectLst/>
        </p:spPr>
        <p:txBody>
          <a:bodyPr lIns="92075" tIns="46038" rIns="92075" bIns="46038"/>
          <a:lstStyle/>
          <a:p>
            <a:pPr marL="342900" indent="-342900">
              <a:spcBef>
                <a:spcPct val="20000"/>
              </a:spcBef>
              <a:buClr>
                <a:schemeClr val="hlink"/>
              </a:buClr>
              <a:buSzPct val="70000"/>
              <a:buFont typeface="Wingdings" pitchFamily="2" charset="2"/>
              <a:buNone/>
            </a:pPr>
            <a:r>
              <a:rPr lang="uz" sz="3200" b="1" i="1">
                <a:effectLst>
                  <a:outerShdw blurRad="38100" dist="38100" dir="2700000" algn="tl">
                    <a:srgbClr val="000000"/>
                  </a:outerShdw>
                </a:effectLst>
              </a:rPr>
              <a:t>Mijoz </a:t>
            </a:r>
            <a:r>
              <a:rPr lang="uz" sz="3200">
                <a:effectLst>
                  <a:outerShdw blurRad="38100" dist="38100" dir="2700000" algn="tl">
                    <a:srgbClr val="000000"/>
                  </a:outerShdw>
                </a:effectLst>
              </a:rPr>
              <a:t>- bu server resurslaridan foydalanadigan kompyuter yoki dastur. Serverda bo'lgani kabi, bir nechta mijozlar bir vaqtning o'zida bitta kompyuterda ishlashi mumkin (va odatda ishlaydi).</a:t>
            </a:r>
          </a:p>
          <a:p>
            <a:pPr marL="342900" indent="-342900">
              <a:spcBef>
                <a:spcPct val="20000"/>
              </a:spcBef>
              <a:buClr>
                <a:schemeClr val="hlink"/>
              </a:buClr>
              <a:buSzPct val="70000"/>
              <a:buFont typeface="Wingdings" pitchFamily="2" charset="2"/>
              <a:buChar char="n"/>
            </a:pPr>
            <a:endParaRPr lang="ru-RU" sz="3200">
              <a:effectLst>
                <a:outerShdw blurRad="38100" dist="38100" dir="2700000" algn="tl">
                  <a:srgbClr val="000000"/>
                </a:outerShdw>
              </a:effectLst>
            </a:endParaRPr>
          </a:p>
        </p:txBody>
      </p:sp>
      <p:pic>
        <p:nvPicPr>
          <p:cNvPr id="24581" name="Picture 5" descr="j0128339"/>
          <p:cNvPicPr>
            <a:picLocks noChangeAspect="1" noChangeArrowheads="1"/>
          </p:cNvPicPr>
          <p:nvPr/>
        </p:nvPicPr>
        <p:blipFill>
          <a:blip r:embed="rId2"/>
          <a:srcRect/>
          <a:stretch>
            <a:fillRect/>
          </a:stretch>
        </p:blipFill>
        <p:spPr bwMode="auto">
          <a:xfrm>
            <a:off x="0" y="1916113"/>
            <a:ext cx="2667000" cy="2630487"/>
          </a:xfrm>
          <a:prstGeom prst="rect">
            <a:avLst/>
          </a:prstGeom>
          <a:noFill/>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a:xfrm>
            <a:off x="2771775" y="765175"/>
            <a:ext cx="6096000" cy="4114800"/>
          </a:xfrm>
        </p:spPr>
        <p:txBody>
          <a:bodyPr/>
          <a:lstStyle/>
          <a:p>
            <a:pPr>
              <a:buFont typeface="Wingdings" pitchFamily="2" charset="2"/>
              <a:buNone/>
            </a:pPr>
            <a:r>
              <a:rPr lang="uz" sz="2800" b="1"/>
              <a:t>Kompyuterlarni ulash uchun foydalanish mumkin</a:t>
            </a:r>
          </a:p>
          <a:p>
            <a:r>
              <a:rPr lang="uz" sz="2800" b="1"/>
              <a:t>Oddiy telefon (dial-up) liniyalari</a:t>
            </a:r>
          </a:p>
          <a:p>
            <a:r>
              <a:rPr lang="uz" sz="2800" b="1"/>
              <a:t>Abonentlarni to'g'ridan-to'g'ri bog'laydigan, ATSni chetlab o'tgan ijaraga olingan (kommutatsiya qilinmagan) liniyalar.</a:t>
            </a:r>
          </a:p>
          <a:p>
            <a:r>
              <a:rPr lang="uz" sz="2800" b="1"/>
              <a:t>Sun'iy yo'ldosh aloqa liniyalari.</a:t>
            </a:r>
          </a:p>
          <a:p>
            <a:r>
              <a:rPr lang="uz" sz="2800" b="1"/>
              <a:t>Optik tolali aloqa liniyalari.</a:t>
            </a:r>
          </a:p>
          <a:p>
            <a:r>
              <a:rPr lang="uz" sz="2800" b="1"/>
              <a:t>Radiorele aloqa liniyalari</a:t>
            </a:r>
            <a:endParaRPr lang="ru-RU"/>
          </a:p>
          <a:p>
            <a:pPr>
              <a:buFont typeface="Wingdings" pitchFamily="2" charset="2"/>
              <a:buNone/>
            </a:pPr>
            <a:endParaRPr lang="ru-RU"/>
          </a:p>
        </p:txBody>
      </p:sp>
      <p:pic>
        <p:nvPicPr>
          <p:cNvPr id="25604" name="Picture 4" descr="j0287013"/>
          <p:cNvPicPr>
            <a:picLocks noChangeAspect="1" noChangeArrowheads="1"/>
          </p:cNvPicPr>
          <p:nvPr/>
        </p:nvPicPr>
        <p:blipFill>
          <a:blip r:embed="rId2"/>
          <a:srcRect/>
          <a:stretch>
            <a:fillRect/>
          </a:stretch>
        </p:blipFill>
        <p:spPr bwMode="auto">
          <a:xfrm>
            <a:off x="381000" y="1371600"/>
            <a:ext cx="1870075" cy="3200400"/>
          </a:xfrm>
          <a:prstGeom prst="rect">
            <a:avLst/>
          </a:prstGeom>
          <a:noFill/>
        </p:spPr>
      </p:pic>
      <p:pic>
        <p:nvPicPr>
          <p:cNvPr id="25605" name="Picture 5" descr="j0082399"/>
          <p:cNvPicPr>
            <a:picLocks noChangeAspect="1" noChangeArrowheads="1"/>
          </p:cNvPicPr>
          <p:nvPr/>
        </p:nvPicPr>
        <p:blipFill>
          <a:blip r:embed="rId3"/>
          <a:srcRect/>
          <a:stretch>
            <a:fillRect/>
          </a:stretch>
        </p:blipFill>
        <p:spPr bwMode="auto">
          <a:xfrm>
            <a:off x="457200" y="5029200"/>
            <a:ext cx="1789113" cy="1108075"/>
          </a:xfrm>
          <a:prstGeom prst="rect">
            <a:avLst/>
          </a:prstGeom>
          <a:noFill/>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323850" y="549275"/>
            <a:ext cx="8229600" cy="4525963"/>
          </a:xfrm>
        </p:spPr>
        <p:txBody>
          <a:bodyPr/>
          <a:lstStyle/>
          <a:p>
            <a:pPr>
              <a:buFont typeface="Wingdings" pitchFamily="2" charset="2"/>
              <a:buNone/>
            </a:pPr>
            <a:r>
              <a:rPr lang="uz" b="1"/>
              <a:t>Ular foydalanadigan kompyuterlarni birlashtirganda</a:t>
            </a:r>
            <a:endParaRPr lang="ru-RU" b="1">
              <a:solidFill>
                <a:srgbClr val="FF9966"/>
              </a:solidFill>
            </a:endParaRPr>
          </a:p>
          <a:p>
            <a:pPr>
              <a:buFont typeface="Wingdings" pitchFamily="2" charset="2"/>
              <a:buNone/>
            </a:pPr>
            <a:r>
              <a:rPr lang="uz" b="1"/>
              <a:t>Modem - ma'lumotlarni aylantirish uchun mo'ljallangan qurilma</a:t>
            </a:r>
            <a:endParaRPr lang="en-US" b="1"/>
          </a:p>
          <a:p>
            <a:pPr>
              <a:buFont typeface="Wingdings" pitchFamily="2" charset="2"/>
              <a:buNone/>
            </a:pPr>
            <a:r>
              <a:rPr lang="uz" sz="2800" b="1"/>
              <a:t>Modemning asosiy xarakteristikasi - maksimal ma'lumotlarni uzatish tezligi (bit / s).</a:t>
            </a:r>
            <a:endParaRPr lang="ru-RU"/>
          </a:p>
          <a:p>
            <a:pPr>
              <a:buFont typeface="Wingdings" pitchFamily="2" charset="2"/>
              <a:buNone/>
            </a:pPr>
            <a:endParaRPr lang="ru-RU"/>
          </a:p>
          <a:p>
            <a:pPr>
              <a:buFont typeface="Wingdings" pitchFamily="2" charset="2"/>
              <a:buNone/>
            </a:pPr>
            <a:endParaRPr lang="ru-RU"/>
          </a:p>
        </p:txBody>
      </p:sp>
      <p:pic>
        <p:nvPicPr>
          <p:cNvPr id="26628" name="Picture 4" descr="Modem2"/>
          <p:cNvPicPr>
            <a:picLocks noChangeAspect="1" noChangeArrowheads="1"/>
          </p:cNvPicPr>
          <p:nvPr/>
        </p:nvPicPr>
        <p:blipFill>
          <a:blip r:embed="rId2"/>
          <a:srcRect/>
          <a:stretch>
            <a:fillRect/>
          </a:stretch>
        </p:blipFill>
        <p:spPr bwMode="auto">
          <a:xfrm>
            <a:off x="5651500" y="5300663"/>
            <a:ext cx="1828800" cy="1014412"/>
          </a:xfrm>
          <a:prstGeom prst="rect">
            <a:avLst/>
          </a:prstGeom>
          <a:noFill/>
        </p:spPr>
      </p:pic>
      <p:pic>
        <p:nvPicPr>
          <p:cNvPr id="26629" name="Picture 5" descr="1_3"/>
          <p:cNvPicPr>
            <a:picLocks noChangeAspect="1" noChangeArrowheads="1"/>
          </p:cNvPicPr>
          <p:nvPr/>
        </p:nvPicPr>
        <p:blipFill>
          <a:blip r:embed="rId3"/>
          <a:srcRect/>
          <a:stretch>
            <a:fillRect/>
          </a:stretch>
        </p:blipFill>
        <p:spPr bwMode="auto">
          <a:xfrm>
            <a:off x="468313" y="5084763"/>
            <a:ext cx="2286000" cy="1228725"/>
          </a:xfrm>
          <a:prstGeom prst="rect">
            <a:avLst/>
          </a:prstGeom>
          <a:noFill/>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3563938" y="620713"/>
            <a:ext cx="5448300" cy="4114800"/>
          </a:xfrm>
        </p:spPr>
        <p:txBody>
          <a:bodyPr/>
          <a:lstStyle/>
          <a:p>
            <a:pPr>
              <a:lnSpc>
                <a:spcPct val="90000"/>
              </a:lnSpc>
              <a:buFont typeface="Wingdings" pitchFamily="2" charset="2"/>
              <a:buNone/>
            </a:pPr>
            <a:r>
              <a:rPr lang="uz" sz="2800" b="1"/>
              <a:t>Dastlab, modem kompyuterlarni dial-up liniyalari orqali ulash uchun ishlatilgan. Bunday ulanish axborotni raqamli shakldan (kompyuterdan) analog shaklga (telefon liniyalari) va aksincha aylantirishni talab qiladi.</a:t>
            </a:r>
            <a:endParaRPr lang="en-US" sz="2800" b="1"/>
          </a:p>
          <a:p>
            <a:pPr>
              <a:lnSpc>
                <a:spcPct val="90000"/>
              </a:lnSpc>
              <a:buFont typeface="Wingdings" pitchFamily="2" charset="2"/>
              <a:buNone/>
            </a:pPr>
            <a:r>
              <a:rPr lang="uz" sz="2800" b="1"/>
              <a:t>    Hozirgi vaqtda maxsus raqamli liniyalar uchun modemlar mavjud.</a:t>
            </a:r>
          </a:p>
          <a:p>
            <a:pPr>
              <a:lnSpc>
                <a:spcPct val="90000"/>
              </a:lnSpc>
              <a:buFont typeface="Wingdings" pitchFamily="2" charset="2"/>
              <a:buNone/>
            </a:pPr>
            <a:endParaRPr lang="ru-RU" sz="2800" b="1"/>
          </a:p>
          <a:p>
            <a:pPr>
              <a:lnSpc>
                <a:spcPct val="90000"/>
              </a:lnSpc>
              <a:buFont typeface="Wingdings" pitchFamily="2" charset="2"/>
              <a:buNone/>
            </a:pPr>
            <a:r>
              <a:rPr lang="uz" sz="2800" b="1"/>
              <a:t> </a:t>
            </a:r>
          </a:p>
        </p:txBody>
      </p:sp>
      <p:pic>
        <p:nvPicPr>
          <p:cNvPr id="27652" name="Picture 4" descr="j0249620"/>
          <p:cNvPicPr>
            <a:picLocks noChangeAspect="1" noChangeArrowheads="1"/>
          </p:cNvPicPr>
          <p:nvPr/>
        </p:nvPicPr>
        <p:blipFill>
          <a:blip r:embed="rId2"/>
          <a:srcRect/>
          <a:stretch>
            <a:fillRect/>
          </a:stretch>
        </p:blipFill>
        <p:spPr bwMode="auto">
          <a:xfrm>
            <a:off x="323850" y="1484313"/>
            <a:ext cx="3062288" cy="2449512"/>
          </a:xfrm>
          <a:prstGeom prst="rect">
            <a:avLst/>
          </a:prstGeom>
          <a:noFill/>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city"/>
          <p:cNvPicPr>
            <a:picLocks noChangeAspect="1" noChangeArrowheads="1"/>
          </p:cNvPicPr>
          <p:nvPr/>
        </p:nvPicPr>
        <p:blipFill>
          <a:blip r:embed="rId2"/>
          <a:srcRect/>
          <a:stretch>
            <a:fillRect/>
          </a:stretch>
        </p:blipFill>
        <p:spPr bwMode="auto">
          <a:xfrm>
            <a:off x="1905000" y="3429000"/>
            <a:ext cx="5495925" cy="3233738"/>
          </a:xfrm>
          <a:prstGeom prst="rect">
            <a:avLst/>
          </a:prstGeom>
          <a:noFill/>
        </p:spPr>
      </p:pic>
      <p:sp>
        <p:nvSpPr>
          <p:cNvPr id="28676" name="Rectangle 4"/>
          <p:cNvSpPr>
            <a:spLocks noGrp="1" noChangeArrowheads="1"/>
          </p:cNvSpPr>
          <p:nvPr>
            <p:ph type="body" idx="1"/>
          </p:nvPr>
        </p:nvSpPr>
        <p:spPr>
          <a:xfrm>
            <a:off x="395288" y="549275"/>
            <a:ext cx="8534400" cy="1676400"/>
          </a:xfrm>
        </p:spPr>
        <p:txBody>
          <a:bodyPr/>
          <a:lstStyle/>
          <a:p>
            <a:pPr>
              <a:lnSpc>
                <a:spcPct val="90000"/>
              </a:lnSpc>
              <a:buFont typeface="Wingdings" pitchFamily="2" charset="2"/>
              <a:buNone/>
            </a:pPr>
            <a:r>
              <a:rPr lang="uz" sz="2800"/>
              <a:t>Mahalliy va global kompyuter tarmoqlari mavjud. Asosiy xususiyat - qoplangan hududning kattaligi. Mahalliy tarmoqlar, qoida tariqasida, bitta korxona yoki bitta tashkilot hududida ishlaydi. Ularning kattaligi ~ 100 m </a:t>
            </a:r>
            <a:r>
              <a:rPr lang="uz" sz="2800" baseline="30000"/>
              <a:t>2 </a:t>
            </a:r>
            <a:r>
              <a:rPr lang="uz" sz="2800"/>
              <a:t>-10 km </a:t>
            </a:r>
            <a:r>
              <a:rPr lang="uz" sz="2800" baseline="30000"/>
              <a:t>2 ni tashkil qiladi </a:t>
            </a:r>
            <a:r>
              <a:rPr lang="uz" sz="2800"/>
              <a:t>.</a:t>
            </a:r>
          </a:p>
          <a:p>
            <a:pPr>
              <a:lnSpc>
                <a:spcPct val="90000"/>
              </a:lnSpc>
              <a:buFont typeface="Wingdings" pitchFamily="2" charset="2"/>
              <a:buNone/>
            </a:pPr>
            <a:endParaRPr lang="ru-RU" sz="280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rrowheads="1"/>
          </p:cNvSpPr>
          <p:nvPr>
            <p:ph type="title"/>
          </p:nvPr>
        </p:nvSpPr>
        <p:spPr/>
        <p:txBody>
          <a:bodyPr/>
          <a:lstStyle/>
          <a:p>
            <a:r>
              <a:rPr lang="uz"/>
              <a:t>Mahalliy tarmoq</a:t>
            </a:r>
          </a:p>
        </p:txBody>
      </p:sp>
      <p:sp>
        <p:nvSpPr>
          <p:cNvPr id="16387" name="Rectangle 3"/>
          <p:cNvSpPr>
            <a:spLocks noGrp="1" noChangeArrowheads="1"/>
          </p:cNvSpPr>
          <p:nvPr>
            <p:ph type="body" idx="1"/>
          </p:nvPr>
        </p:nvSpPr>
        <p:spPr>
          <a:xfrm>
            <a:off x="457200" y="1828800"/>
            <a:ext cx="8229600" cy="4624388"/>
          </a:xfrm>
        </p:spPr>
        <p:txBody>
          <a:bodyPr/>
          <a:lstStyle/>
          <a:p>
            <a:pPr algn="just">
              <a:lnSpc>
                <a:spcPct val="80000"/>
              </a:lnSpc>
              <a:buFont typeface="Wingdings" pitchFamily="2" charset="2"/>
              <a:buNone/>
            </a:pPr>
            <a:r>
              <a:rPr lang="uz" sz="2800"/>
              <a:t>Lokal tarmoq bir xonada (masalan, 8-12 kompyuterdan iborat maktab kompyuter laboratoriyasi) yoki bitta binoda (masalan, maktab binosida turli fan xonalarida o‘rnatilgan bir necha o‘nlab kompyuterlarni mahalliy kompyuterga birlashtirish mumkin) o‘rnatilgan kompyuterlarni birlashtiradi. tarmoq).</a:t>
            </a:r>
          </a:p>
          <a:p>
            <a:pPr>
              <a:lnSpc>
                <a:spcPct val="80000"/>
              </a:lnSpc>
              <a:buFont typeface="Wingdings" pitchFamily="2" charset="2"/>
              <a:buNone/>
            </a:pPr>
            <a:endParaRPr lang="ru-RU" sz="2400"/>
          </a:p>
          <a:p>
            <a:pPr algn="just">
              <a:lnSpc>
                <a:spcPct val="80000"/>
              </a:lnSpc>
              <a:buFont typeface="Wingdings" pitchFamily="2" charset="2"/>
              <a:buNone/>
            </a:pPr>
            <a:r>
              <a:rPr lang="uz" sz="2400"/>
              <a:t>Mahalliy tarmoqqa ulangan har bir kompyuterda maxsus karta (tarmoq adapteri) bo'lishi kerak. Kompyuterlar (tarmoq adapterlari) yordamida bir-biriga ulanadi</a:t>
            </a:r>
            <a:r>
              <a:rPr lang="uz" sz="2800"/>
              <a:t> </a:t>
            </a:r>
            <a:r>
              <a:rPr lang="uz" sz="2400"/>
              <a:t>kabellar</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p:txBody>
          <a:bodyPr/>
          <a:lstStyle/>
          <a:p>
            <a:r>
              <a:rPr lang="uz"/>
              <a:t>Tarmoq topologiyasi</a:t>
            </a:r>
          </a:p>
        </p:txBody>
      </p:sp>
      <p:sp>
        <p:nvSpPr>
          <p:cNvPr id="17411" name="Rectangle 3"/>
          <p:cNvSpPr>
            <a:spLocks noGrp="1" noChangeArrowheads="1"/>
          </p:cNvSpPr>
          <p:nvPr>
            <p:ph type="body" idx="1"/>
          </p:nvPr>
        </p:nvSpPr>
        <p:spPr/>
        <p:txBody>
          <a:bodyPr/>
          <a:lstStyle/>
          <a:p>
            <a:pPr>
              <a:buFont typeface="Wingdings" pitchFamily="2" charset="2"/>
              <a:buNone/>
            </a:pPr>
            <a:r>
              <a:rPr lang="uz"/>
              <a:t>Kompyuterlarni mahalliy tarmoqlarga ulashning umumiy sxemasi deyiladi </a:t>
            </a:r>
            <a:r>
              <a:rPr lang="uz" u="sng"/>
              <a:t>tarmoq topologiyasi </a:t>
            </a:r>
            <a:r>
              <a:rPr lang="uz"/>
              <a:t>.</a:t>
            </a:r>
          </a:p>
        </p:txBody>
      </p:sp>
      <p:pic>
        <p:nvPicPr>
          <p:cNvPr id="17412" name="Picture 4" descr="a22_1"/>
          <p:cNvPicPr>
            <a:picLocks noChangeAspect="1" noChangeArrowheads="1"/>
          </p:cNvPicPr>
          <p:nvPr/>
        </p:nvPicPr>
        <p:blipFill>
          <a:blip r:embed="rId2"/>
          <a:srcRect/>
          <a:stretch>
            <a:fillRect/>
          </a:stretch>
        </p:blipFill>
        <p:spPr bwMode="auto">
          <a:xfrm>
            <a:off x="395288" y="4941888"/>
            <a:ext cx="2808287" cy="1511300"/>
          </a:xfrm>
          <a:prstGeom prst="rect">
            <a:avLst/>
          </a:prstGeom>
          <a:noFill/>
          <a:ln w="9525">
            <a:noFill/>
            <a:miter lim="800000"/>
            <a:headEnd/>
            <a:tailEnd/>
          </a:ln>
        </p:spPr>
      </p:pic>
      <p:pic>
        <p:nvPicPr>
          <p:cNvPr id="17413" name="Picture 5" descr="a22_3"/>
          <p:cNvPicPr>
            <a:picLocks noChangeAspect="1" noChangeArrowheads="1"/>
          </p:cNvPicPr>
          <p:nvPr/>
        </p:nvPicPr>
        <p:blipFill>
          <a:blip r:embed="rId3"/>
          <a:srcRect/>
          <a:stretch>
            <a:fillRect/>
          </a:stretch>
        </p:blipFill>
        <p:spPr bwMode="auto">
          <a:xfrm>
            <a:off x="3563938" y="3068638"/>
            <a:ext cx="2520950" cy="2157412"/>
          </a:xfrm>
          <a:prstGeom prst="rect">
            <a:avLst/>
          </a:prstGeom>
          <a:noFill/>
          <a:ln w="9525">
            <a:noFill/>
            <a:miter lim="800000"/>
            <a:headEnd/>
            <a:tailEnd/>
          </a:ln>
        </p:spPr>
      </p:pic>
      <p:pic>
        <p:nvPicPr>
          <p:cNvPr id="17414" name="Picture 6" descr="a22_2"/>
          <p:cNvPicPr>
            <a:picLocks noChangeAspect="1" noChangeArrowheads="1"/>
          </p:cNvPicPr>
          <p:nvPr/>
        </p:nvPicPr>
        <p:blipFill>
          <a:blip r:embed="rId4"/>
          <a:srcRect/>
          <a:stretch>
            <a:fillRect/>
          </a:stretch>
        </p:blipFill>
        <p:spPr bwMode="auto">
          <a:xfrm>
            <a:off x="6300788" y="4868863"/>
            <a:ext cx="2519362" cy="1793875"/>
          </a:xfrm>
          <a:prstGeom prst="rect">
            <a:avLst/>
          </a:prstGeom>
          <a:noFill/>
          <a:ln w="9525">
            <a:noFill/>
            <a:miter lim="800000"/>
            <a:headEnd/>
            <a:tailEnd/>
          </a:ln>
        </p:spPr>
      </p:pic>
      <p:sp>
        <p:nvSpPr>
          <p:cNvPr id="17415" name="Rectangle 7"/>
          <p:cNvSpPr>
            <a:spLocks noChangeArrowheads="1"/>
          </p:cNvSpPr>
          <p:nvPr/>
        </p:nvSpPr>
        <p:spPr bwMode="auto">
          <a:xfrm>
            <a:off x="250825" y="4365625"/>
            <a:ext cx="1368425" cy="574675"/>
          </a:xfrm>
          <a:prstGeom prst="rect">
            <a:avLst/>
          </a:prstGeom>
          <a:noFill/>
          <a:ln w="9525">
            <a:noFill/>
            <a:miter lim="800000"/>
            <a:headEnd/>
            <a:tailEnd/>
          </a:ln>
          <a:effectLst/>
        </p:spPr>
        <p:txBody>
          <a:bodyPr wrap="none" anchor="ctr"/>
          <a:lstStyle/>
          <a:p>
            <a:pPr algn="ctr"/>
            <a:r>
              <a:rPr lang="uz" sz="2000" b="1">
                <a:solidFill>
                  <a:schemeClr val="folHlink"/>
                </a:solidFill>
                <a:latin typeface="Times New Roman" pitchFamily="18" charset="0"/>
              </a:rPr>
              <a:t>shina</a:t>
            </a:r>
            <a:r>
              <a:rPr lang="uz">
                <a:latin typeface="Times New Roman" pitchFamily="18" charset="0"/>
              </a:rPr>
              <a:t> </a:t>
            </a:r>
          </a:p>
        </p:txBody>
      </p:sp>
      <p:sp>
        <p:nvSpPr>
          <p:cNvPr id="17416" name="Rectangle 8"/>
          <p:cNvSpPr>
            <a:spLocks noChangeArrowheads="1"/>
          </p:cNvSpPr>
          <p:nvPr/>
        </p:nvSpPr>
        <p:spPr bwMode="auto">
          <a:xfrm>
            <a:off x="2916238" y="3284538"/>
            <a:ext cx="1368425" cy="574675"/>
          </a:xfrm>
          <a:prstGeom prst="rect">
            <a:avLst/>
          </a:prstGeom>
          <a:noFill/>
          <a:ln w="9525">
            <a:noFill/>
            <a:miter lim="800000"/>
            <a:headEnd/>
            <a:tailEnd/>
          </a:ln>
          <a:effectLst/>
        </p:spPr>
        <p:txBody>
          <a:bodyPr wrap="none" anchor="ctr"/>
          <a:lstStyle/>
          <a:p>
            <a:pPr algn="ctr"/>
            <a:r>
              <a:rPr lang="uz" sz="2000" b="1">
                <a:solidFill>
                  <a:schemeClr val="folHlink"/>
                </a:solidFill>
                <a:latin typeface="Times New Roman" pitchFamily="18" charset="0"/>
              </a:rPr>
              <a:t>Yulduz</a:t>
            </a:r>
            <a:r>
              <a:rPr lang="uz">
                <a:latin typeface="Times New Roman" pitchFamily="18" charset="0"/>
              </a:rPr>
              <a:t> </a:t>
            </a:r>
          </a:p>
        </p:txBody>
      </p:sp>
      <p:sp>
        <p:nvSpPr>
          <p:cNvPr id="17417" name="Rectangle 9"/>
          <p:cNvSpPr>
            <a:spLocks noChangeArrowheads="1"/>
          </p:cNvSpPr>
          <p:nvPr/>
        </p:nvSpPr>
        <p:spPr bwMode="auto">
          <a:xfrm>
            <a:off x="7235825" y="4076700"/>
            <a:ext cx="1368425" cy="574675"/>
          </a:xfrm>
          <a:prstGeom prst="rect">
            <a:avLst/>
          </a:prstGeom>
          <a:noFill/>
          <a:ln w="9525">
            <a:noFill/>
            <a:miter lim="800000"/>
            <a:headEnd/>
            <a:tailEnd/>
          </a:ln>
          <a:effectLst/>
        </p:spPr>
        <p:txBody>
          <a:bodyPr wrap="none" anchor="ctr"/>
          <a:lstStyle/>
          <a:p>
            <a:pPr algn="ctr"/>
            <a:r>
              <a:rPr lang="uz" sz="2000" b="1">
                <a:solidFill>
                  <a:schemeClr val="folHlink"/>
                </a:solidFill>
                <a:latin typeface="Times New Roman" pitchFamily="18" charset="0"/>
              </a:rPr>
              <a:t>uzuk</a:t>
            </a:r>
            <a:r>
              <a:rPr lang="uz">
                <a:latin typeface="Times New Roman" pitchFamily="18" charset="0"/>
              </a:rPr>
              <a:t> </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p:txBody>
          <a:bodyPr/>
          <a:lstStyle/>
          <a:p>
            <a:r>
              <a:rPr lang="uz" sz="4000"/>
              <a:t>Mintaqaviy kompyuter tarmoqlari</a:t>
            </a:r>
          </a:p>
        </p:txBody>
      </p:sp>
      <p:sp>
        <p:nvSpPr>
          <p:cNvPr id="18435" name="Rectangle 3"/>
          <p:cNvSpPr>
            <a:spLocks noGrp="1" noChangeArrowheads="1"/>
          </p:cNvSpPr>
          <p:nvPr>
            <p:ph type="body" idx="1"/>
          </p:nvPr>
        </p:nvSpPr>
        <p:spPr/>
        <p:txBody>
          <a:bodyPr/>
          <a:lstStyle/>
          <a:p>
            <a:pPr>
              <a:buFont typeface="Wingdings" pitchFamily="2" charset="2"/>
              <a:buNone/>
            </a:pPr>
            <a:r>
              <a:rPr lang="uz"/>
              <a:t>Mahalliy tarmoqlar, masalan, shaharning turli qismlarida joylashgan foydalanuvchilar o'rtasida ma'lumotlarga umumiy foydalanishga ruxsat bermaydi. Mintaqaviy tarmoqlar yordamga keladi, kompyuterlarni bir mintaqa (shahar, mamlakat, qit'a) ichida bog'laydi.</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everything_you_want"/>
          <p:cNvPicPr>
            <a:picLocks noChangeAspect="1" noChangeArrowheads="1"/>
          </p:cNvPicPr>
          <p:nvPr/>
        </p:nvPicPr>
        <p:blipFill>
          <a:blip r:embed="rId2"/>
          <a:srcRect/>
          <a:stretch>
            <a:fillRect/>
          </a:stretch>
        </p:blipFill>
        <p:spPr bwMode="auto">
          <a:xfrm>
            <a:off x="3851275" y="3427413"/>
            <a:ext cx="3581400" cy="3430587"/>
          </a:xfrm>
          <a:prstGeom prst="rect">
            <a:avLst/>
          </a:prstGeom>
          <a:noFill/>
        </p:spPr>
      </p:pic>
      <p:sp>
        <p:nvSpPr>
          <p:cNvPr id="29700" name="Rectangle 4"/>
          <p:cNvSpPr>
            <a:spLocks noGrp="1" noChangeArrowheads="1"/>
          </p:cNvSpPr>
          <p:nvPr>
            <p:ph type="body" idx="1"/>
          </p:nvPr>
        </p:nvSpPr>
        <p:spPr>
          <a:xfrm>
            <a:off x="381000" y="765175"/>
            <a:ext cx="8763000" cy="2133600"/>
          </a:xfrm>
        </p:spPr>
        <p:txBody>
          <a:bodyPr/>
          <a:lstStyle/>
          <a:p>
            <a:pPr>
              <a:lnSpc>
                <a:spcPct val="90000"/>
              </a:lnSpc>
              <a:buFont typeface="Wingdings" pitchFamily="2" charset="2"/>
              <a:buNone/>
            </a:pPr>
            <a:r>
              <a:rPr lang="uz" sz="2800"/>
              <a:t>Lokal kompyuter tarmoqlarini birlashtirish natijasida mintaqaviy, milliy va global kompyuter tarmoqlari shakllanadi. Birlashish korporativ asosda ham amalga oshirilishi mumkin. Global kompyuter tarmoqlarining eng mashhuri Internetdir.</a:t>
            </a:r>
            <a:endParaRPr lang="ru-RU" sz="2800">
              <a:solidFill>
                <a:srgbClr val="FF9966"/>
              </a:solidFil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p:txBody>
          <a:bodyPr/>
          <a:lstStyle/>
          <a:p>
            <a:r>
              <a:rPr lang="uz" sz="4000"/>
              <a:t>Korporativ kompyuter tarmoqlari</a:t>
            </a:r>
          </a:p>
        </p:txBody>
      </p:sp>
      <p:sp>
        <p:nvSpPr>
          <p:cNvPr id="19459" name="Rectangle 3"/>
          <p:cNvSpPr>
            <a:spLocks noGrp="1" noChangeArrowheads="1"/>
          </p:cNvSpPr>
          <p:nvPr>
            <p:ph type="body" idx="1"/>
          </p:nvPr>
        </p:nvSpPr>
        <p:spPr/>
        <p:txBody>
          <a:bodyPr/>
          <a:lstStyle/>
          <a:p>
            <a:pPr>
              <a:buFont typeface="Wingdings" pitchFamily="2" charset="2"/>
              <a:buNone/>
            </a:pPr>
            <a:r>
              <a:rPr lang="uz" sz="2800"/>
              <a:t>Axborotni ruxsatsiz kirishdan himoya qilishdan manfaatdor ko'plab tashkilotlar (masalan, harbiy, bank va boshqalar) o'zlarining korporativ tarmoqlarini yaratadilar. Korporativ tarmoq turli mamlakatlar va shaharlarda joylashgan minglab va o'n minglab kompyuterlarni birlashtirishi mumkin (misol Microsoft korporatsiyasi tarmog'i, MSN).</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rrowheads="1"/>
          </p:cNvSpPr>
          <p:nvPr>
            <p:ph type="title"/>
          </p:nvPr>
        </p:nvSpPr>
        <p:spPr/>
        <p:txBody>
          <a:bodyPr/>
          <a:lstStyle/>
          <a:p>
            <a:r>
              <a:rPr lang="uz" sz="4000"/>
              <a:t>Global kompyuter tarmog'i Internet</a:t>
            </a:r>
          </a:p>
        </p:txBody>
      </p:sp>
      <p:sp>
        <p:nvSpPr>
          <p:cNvPr id="30723" name="Rectangle 3"/>
          <p:cNvSpPr>
            <a:spLocks noGrp="1" noChangeArrowheads="1"/>
          </p:cNvSpPr>
          <p:nvPr>
            <p:ph type="body" idx="1"/>
          </p:nvPr>
        </p:nvSpPr>
        <p:spPr/>
        <p:txBody>
          <a:bodyPr/>
          <a:lstStyle/>
          <a:p>
            <a:pPr algn="just">
              <a:lnSpc>
                <a:spcPct val="80000"/>
              </a:lnSpc>
              <a:buFont typeface="Wingdings" pitchFamily="2" charset="2"/>
              <a:buNone/>
            </a:pPr>
            <a:r>
              <a:rPr lang="uz" sz="2000"/>
              <a:t>1969 yilda AQShda Mudofaa vazirligining kompyuter markazlari va bir qator ilmiy tashkilotlarni birlashtirgan ARPAnet kompyuter tarmog'i yaratildi. Ushbu tarmoq tor maqsad uchun mo'ljallangan edi: asosan yadroviy hujum sodir bo'lgan taqdirda aloqani qanday saqlashni o'rganish va tadqiqotchilarga ma'lumot almashishda yordam berish. Ushbu tarmoq o'sishi bilan boshqa ko'plab tarmoqlar yaratildi va rivojlandi. Shaxsiy kompyuterlar davri kelishidan oldin ham ARPAnet yaratuvchilari Internetting Project dasturini ishlab chiqishni boshladilar. Ushbu loyihaning muvaffaqiyati quyidagi natijalarga olib keldi. Birinchidan, AQShda eng katta Internet tarmog'i (kichik i harfi bilan) yaratilgan. Ikkinchidan, ushbu tarmoqning AQShning bir qator boshqa tarmoqlari bilan o'zaro ta'sirining turli xil variantlari sinovdan o'tkazildi. Bu ko'plab tarmoqlarning yagona global tarmoqqa muvaffaqiyatli integratsiyalashuvi uchun old shartlarni yaratdi. Bunday "tarmoqlar tarmog'i" endi hamma joyda Internet deb ataladi (ruscha imlo Internet ham mahalliy nashrlarda keng qo'llaniladi).</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rrowheads="1"/>
          </p:cNvSpPr>
          <p:nvPr>
            <p:ph type="title"/>
          </p:nvPr>
        </p:nvSpPr>
        <p:spPr/>
        <p:txBody>
          <a:bodyPr/>
          <a:lstStyle/>
          <a:p>
            <a:r>
              <a:rPr lang="uz"/>
              <a:t>Internet</a:t>
            </a:r>
          </a:p>
        </p:txBody>
      </p:sp>
      <p:sp>
        <p:nvSpPr>
          <p:cNvPr id="31747" name="Rectangle 3"/>
          <p:cNvSpPr>
            <a:spLocks noGrp="1" noChangeArrowheads="1"/>
          </p:cNvSpPr>
          <p:nvPr>
            <p:ph type="body" sz="half" idx="1"/>
          </p:nvPr>
        </p:nvSpPr>
        <p:spPr>
          <a:xfrm>
            <a:off x="457200" y="1600200"/>
            <a:ext cx="8218488" cy="4525963"/>
          </a:xfrm>
        </p:spPr>
        <p:txBody>
          <a:bodyPr/>
          <a:lstStyle/>
          <a:p>
            <a:pPr algn="just">
              <a:buFont typeface="Wingdings" pitchFamily="2" charset="2"/>
              <a:buNone/>
            </a:pPr>
            <a:r>
              <a:rPr lang="uz" sz="2400" u="sng"/>
              <a:t>Internet </a:t>
            </a:r>
            <a:r>
              <a:rPr lang="uz" sz="2400"/>
              <a:t>ko'plab mahalliy, mintaqaviy va korporativ tarmoqlarni birlashtirgan va o'n millionlab kompyuterlarni o'z ichiga olgan global kompyuter tarmog'idir.</a:t>
            </a:r>
            <a:endParaRPr lang="en-US" sz="2400"/>
          </a:p>
          <a:p>
            <a:pPr>
              <a:buFont typeface="Wingdings" pitchFamily="2" charset="2"/>
              <a:buNone/>
            </a:pPr>
            <a:endParaRPr lang="en-US" sz="2400"/>
          </a:p>
          <a:p>
            <a:pPr algn="just">
              <a:buFont typeface="Wingdings" pitchFamily="2" charset="2"/>
              <a:buNone/>
            </a:pPr>
            <a:r>
              <a:rPr lang="uz" sz="2400"/>
              <a:t>Internetning asosi bo'lgan "ramka" tarmoqqa doimiy ulangan yuz milliondan ortiq serverlardan iborat.</a:t>
            </a:r>
          </a:p>
          <a:p>
            <a:pPr>
              <a:buFont typeface="Wingdings" pitchFamily="2" charset="2"/>
              <a:buNone/>
            </a:pPr>
            <a:r>
              <a:rPr lang="uz" sz="2400"/>
              <a:t>Yuz millionlab tarmoq foydalanuvchilari mahalliy tarmoqlar yoki dial-up telefon liniyalari yordamida Internet-serverlarga ulanishlari mumkin.</a:t>
            </a:r>
          </a:p>
        </p:txBody>
      </p:sp>
      <p:graphicFrame>
        <p:nvGraphicFramePr>
          <p:cNvPr id="31748" name="Object 4"/>
          <p:cNvGraphicFramePr>
            <a:graphicFrameLocks noGrp="1" noChangeAspect="1"/>
          </p:cNvGraphicFramePr>
          <p:nvPr>
            <p:ph sz="half" idx="2"/>
          </p:nvPr>
        </p:nvGraphicFramePr>
        <p:xfrm>
          <a:off x="7740650" y="549275"/>
          <a:ext cx="1235075" cy="1300163"/>
        </p:xfrm>
        <a:graphic>
          <a:graphicData uri="http://schemas.openxmlformats.org/presentationml/2006/ole">
            <mc:AlternateContent xmlns:mc="http://schemas.openxmlformats.org/markup-compatibility/2006">
              <mc:Choice xmlns:v="urn:schemas-microsoft-com:vml" Requires="v">
                <p:oleObj spid="_x0000_s31750" name="Image" r:id="rId3" imgW="482370" imgH="507578" progId="Photoshop.Image.8">
                  <p:embed/>
                </p:oleObj>
              </mc:Choice>
              <mc:Fallback>
                <p:oleObj name="Image" r:id="rId3" imgW="482370" imgH="507578" progId="Photoshop.Image.8">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0650" y="549275"/>
                        <a:ext cx="1235075" cy="130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rrowheads="1"/>
          </p:cNvSpPr>
          <p:nvPr>
            <p:ph type="title"/>
          </p:nvPr>
        </p:nvSpPr>
        <p:spPr/>
        <p:txBody>
          <a:bodyPr/>
          <a:lstStyle/>
          <a:p>
            <a:r>
              <a:rPr lang="uz"/>
              <a:t>TCP/IP </a:t>
            </a:r>
            <a:endParaRPr lang="ru-RU"/>
          </a:p>
        </p:txBody>
      </p:sp>
      <p:sp>
        <p:nvSpPr>
          <p:cNvPr id="39939" name="Rectangle 3"/>
          <p:cNvSpPr>
            <a:spLocks noGrp="1" noChangeArrowheads="1"/>
          </p:cNvSpPr>
          <p:nvPr>
            <p:ph type="body" idx="1"/>
          </p:nvPr>
        </p:nvSpPr>
        <p:spPr/>
        <p:txBody>
          <a:bodyPr/>
          <a:lstStyle/>
          <a:p>
            <a:pPr>
              <a:buFont typeface="Wingdings" pitchFamily="2" charset="2"/>
              <a:buNone/>
            </a:pPr>
            <a:r>
              <a:rPr lang="uz"/>
              <a:t>TCP/ IP protokoli 2 qismdan iborat:</a:t>
            </a:r>
          </a:p>
          <a:p>
            <a:r>
              <a:rPr lang="uz"/>
              <a:t>Transmissiyani boshqarish protokoli (TCP)</a:t>
            </a:r>
          </a:p>
          <a:p>
            <a:r>
              <a:rPr lang="uz"/>
              <a:t>Internet protokoli (IP)</a:t>
            </a:r>
          </a:p>
          <a:p>
            <a:pPr>
              <a:buFont typeface="Wingdings" pitchFamily="2" charset="2"/>
              <a:buNone/>
            </a:pPr>
            <a:r>
              <a:rPr lang="uz"/>
              <a:t>Aslida, bu turli darajadagi 100 ga yaqin protokollar to'plamidir .</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rrowheads="1"/>
          </p:cNvSpPr>
          <p:nvPr>
            <p:ph type="title"/>
          </p:nvPr>
        </p:nvSpPr>
        <p:spPr/>
        <p:txBody>
          <a:bodyPr/>
          <a:lstStyle/>
          <a:p>
            <a:r>
              <a:rPr lang="uz"/>
              <a:t>TCP/IP </a:t>
            </a:r>
            <a:endParaRPr lang="ru-RU"/>
          </a:p>
        </p:txBody>
      </p:sp>
      <p:sp>
        <p:nvSpPr>
          <p:cNvPr id="40963" name="Rectangle 3"/>
          <p:cNvSpPr>
            <a:spLocks noGrp="1" noChangeArrowheads="1"/>
          </p:cNvSpPr>
          <p:nvPr>
            <p:ph type="body" idx="1"/>
          </p:nvPr>
        </p:nvSpPr>
        <p:spPr/>
        <p:txBody>
          <a:bodyPr/>
          <a:lstStyle/>
          <a:p>
            <a:pPr>
              <a:buFont typeface="Wingdings" pitchFamily="2" charset="2"/>
              <a:buNone/>
            </a:pPr>
            <a:r>
              <a:rPr lang="uz"/>
              <a:t>TCP uzatilgan ma'lumotlarni bloklarga bo'lish uchun javobgardir. Har bir blokga 20 baytlik sarlavha qo'shiladi, natijada paket paydo bo'ladi.</a:t>
            </a:r>
          </a:p>
        </p:txBody>
      </p:sp>
      <p:pic>
        <p:nvPicPr>
          <p:cNvPr id="40964" name="Picture 4" descr="j0149569"/>
          <p:cNvPicPr>
            <a:picLocks noChangeAspect="1" noChangeArrowheads="1"/>
          </p:cNvPicPr>
          <p:nvPr/>
        </p:nvPicPr>
        <p:blipFill>
          <a:blip r:embed="rId2"/>
          <a:srcRect/>
          <a:stretch>
            <a:fillRect/>
          </a:stretch>
        </p:blipFill>
        <p:spPr bwMode="auto">
          <a:xfrm>
            <a:off x="152400" y="4572000"/>
            <a:ext cx="2692400" cy="1981200"/>
          </a:xfrm>
          <a:prstGeom prst="rect">
            <a:avLst/>
          </a:prstGeom>
          <a:noFill/>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rrowheads="1"/>
          </p:cNvSpPr>
          <p:nvPr>
            <p:ph type="title"/>
          </p:nvPr>
        </p:nvSpPr>
        <p:spPr/>
        <p:txBody>
          <a:bodyPr/>
          <a:lstStyle/>
          <a:p>
            <a:r>
              <a:rPr lang="uz"/>
              <a:t>TCP/IP </a:t>
            </a:r>
            <a:endParaRPr lang="ru-RU"/>
          </a:p>
        </p:txBody>
      </p:sp>
      <p:sp>
        <p:nvSpPr>
          <p:cNvPr id="41987" name="Rectangle 3"/>
          <p:cNvSpPr>
            <a:spLocks noGrp="1" noChangeArrowheads="1"/>
          </p:cNvSpPr>
          <p:nvPr>
            <p:ph type="body" idx="1"/>
          </p:nvPr>
        </p:nvSpPr>
        <p:spPr/>
        <p:txBody>
          <a:bodyPr/>
          <a:lstStyle/>
          <a:p>
            <a:pPr>
              <a:buFont typeface="Wingdings" pitchFamily="2" charset="2"/>
              <a:buNone/>
            </a:pPr>
            <a:r>
              <a:rPr lang="uz"/>
              <a:t>Sarlavha quyidagi ma'lumotlarni o'z ichiga oladi:</a:t>
            </a:r>
          </a:p>
          <a:p>
            <a:r>
              <a:rPr lang="uz"/>
              <a:t>jo'natuvchining manzili;</a:t>
            </a:r>
          </a:p>
          <a:p>
            <a:r>
              <a:rPr lang="uz"/>
              <a:t>qabul qiluvchining manzili;</a:t>
            </a:r>
          </a:p>
          <a:p>
            <a:r>
              <a:rPr lang="uz"/>
              <a:t>paket raqami;</a:t>
            </a:r>
          </a:p>
          <a:p>
            <a:r>
              <a:rPr lang="uz"/>
              <a:t>keyingi paket raqami.</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rrowheads="1"/>
          </p:cNvSpPr>
          <p:nvPr>
            <p:ph type="title"/>
          </p:nvPr>
        </p:nvSpPr>
        <p:spPr/>
        <p:txBody>
          <a:bodyPr/>
          <a:lstStyle/>
          <a:p>
            <a:r>
              <a:rPr lang="uz"/>
              <a:t>TCP/IP </a:t>
            </a:r>
            <a:endParaRPr lang="ru-RU"/>
          </a:p>
        </p:txBody>
      </p:sp>
      <p:sp>
        <p:nvSpPr>
          <p:cNvPr id="43011" name="Rectangle 3"/>
          <p:cNvSpPr>
            <a:spLocks noGrp="1" noChangeArrowheads="1"/>
          </p:cNvSpPr>
          <p:nvPr>
            <p:ph type="body" idx="1"/>
          </p:nvPr>
        </p:nvSpPr>
        <p:spPr/>
        <p:txBody>
          <a:bodyPr/>
          <a:lstStyle/>
          <a:p>
            <a:pPr>
              <a:buFont typeface="Wingdings" pitchFamily="2" charset="2"/>
              <a:buNone/>
            </a:pPr>
            <a:r>
              <a:rPr lang="uz"/>
              <a:t>TCP shuningdek, paketlarni ularning soniga ko'ra oxirgi nuqtada yig'ish uchun javobgardir. Agar paketlardan birortasi yo'qolsa yoki shikastlangan bo'lsa (xatolar bilan uzatilgan bo'lsa), u holda uning uzatilishi takrorlanadi.</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p:nvPr>
        </p:nvSpPr>
        <p:spPr/>
        <p:txBody>
          <a:bodyPr/>
          <a:lstStyle/>
          <a:p>
            <a:r>
              <a:rPr lang="uz"/>
              <a:t>Manzil usullari</a:t>
            </a:r>
          </a:p>
        </p:txBody>
      </p:sp>
      <p:sp>
        <p:nvSpPr>
          <p:cNvPr id="44035" name="Rectangle 3"/>
          <p:cNvSpPr>
            <a:spLocks noGrp="1" noChangeArrowheads="1"/>
          </p:cNvSpPr>
          <p:nvPr>
            <p:ph type="body" idx="1"/>
          </p:nvPr>
        </p:nvSpPr>
        <p:spPr>
          <a:xfrm>
            <a:off x="827088" y="1268413"/>
            <a:ext cx="8137525" cy="4572000"/>
          </a:xfrm>
        </p:spPr>
        <p:txBody>
          <a:bodyPr/>
          <a:lstStyle/>
          <a:p>
            <a:pPr algn="ctr">
              <a:buFont typeface="Wingdings" pitchFamily="2" charset="2"/>
              <a:buNone/>
            </a:pPr>
            <a:r>
              <a:rPr lang="uz"/>
              <a:t>IP manzillash</a:t>
            </a:r>
          </a:p>
          <a:p>
            <a:pPr>
              <a:buFont typeface="Wingdings" pitchFamily="2" charset="2"/>
              <a:buNone/>
            </a:pPr>
            <a:r>
              <a:rPr lang="uz"/>
              <a:t>Internetning bir qismi bo'lgan kompyuter nuqta bilan ajratilgan 0 dan 255 gacha bo'lgan to'rtta raqamdan iborat noyob manzilni oladi.</a:t>
            </a:r>
          </a:p>
          <a:p>
            <a:pPr>
              <a:buFont typeface="Wingdings" pitchFamily="2" charset="2"/>
              <a:buNone/>
            </a:pPr>
            <a:r>
              <a:rPr lang="uz"/>
              <a:t>Masalan:</a:t>
            </a:r>
          </a:p>
          <a:p>
            <a:pPr>
              <a:buFont typeface="Wingdings" pitchFamily="2" charset="2"/>
              <a:buNone/>
            </a:pPr>
            <a:r>
              <a:rPr lang="uz"/>
              <a:t>192.168.1.14</a:t>
            </a:r>
          </a:p>
          <a:p>
            <a:pPr>
              <a:buFont typeface="Wingdings" pitchFamily="2" charset="2"/>
              <a:buNone/>
            </a:pPr>
            <a:r>
              <a:rPr lang="uz"/>
              <a:t>Biroq, bunday manzilni eslab qolish qiyin.</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rrowheads="1"/>
          </p:cNvSpPr>
          <p:nvPr>
            <p:ph type="title"/>
          </p:nvPr>
        </p:nvSpPr>
        <p:spPr>
          <a:xfrm>
            <a:off x="468313" y="188913"/>
            <a:ext cx="8229600" cy="1143000"/>
          </a:xfrm>
        </p:spPr>
        <p:txBody>
          <a:bodyPr/>
          <a:lstStyle/>
          <a:p>
            <a:r>
              <a:rPr lang="uz"/>
              <a:t>Manzil usullari</a:t>
            </a:r>
          </a:p>
        </p:txBody>
      </p:sp>
      <p:sp>
        <p:nvSpPr>
          <p:cNvPr id="45059" name="Rectangle 3"/>
          <p:cNvSpPr>
            <a:spLocks noGrp="1" noChangeArrowheads="1"/>
          </p:cNvSpPr>
          <p:nvPr>
            <p:ph type="body" idx="1"/>
          </p:nvPr>
        </p:nvSpPr>
        <p:spPr>
          <a:xfrm>
            <a:off x="0" y="1341438"/>
            <a:ext cx="8686800" cy="2438400"/>
          </a:xfrm>
        </p:spPr>
        <p:txBody>
          <a:bodyPr/>
          <a:lstStyle/>
          <a:p>
            <a:pPr>
              <a:lnSpc>
                <a:spcPct val="90000"/>
              </a:lnSpc>
              <a:buFont typeface="Wingdings" pitchFamily="2" charset="2"/>
              <a:buNone/>
            </a:pPr>
            <a:r>
              <a:rPr lang="uz" sz="2800" b="1"/>
              <a:t>Internetdagi kompyuterlar soni nisbatan kichik bo'lsa-da, har bir yangi ulangan kompyuter Tarmoq ma'lumot markazida ( NIC) ro'yxatga olingan. Ushbu markaz muntazam ravishda Internetdagi kompyuterlarning mnemonik nomlari va IP manzillari ro'yxatini yuboradi .</a:t>
            </a:r>
          </a:p>
        </p:txBody>
      </p:sp>
      <p:graphicFrame>
        <p:nvGraphicFramePr>
          <p:cNvPr id="45060" name="Object 4"/>
          <p:cNvGraphicFramePr>
            <a:graphicFrameLocks noChangeAspect="1"/>
          </p:cNvGraphicFramePr>
          <p:nvPr/>
        </p:nvGraphicFramePr>
        <p:xfrm>
          <a:off x="5724525" y="4554538"/>
          <a:ext cx="3124200" cy="2303462"/>
        </p:xfrm>
        <a:graphic>
          <a:graphicData uri="http://schemas.openxmlformats.org/presentationml/2006/ole">
            <mc:AlternateContent xmlns:mc="http://schemas.openxmlformats.org/markup-compatibility/2006">
              <mc:Choice xmlns:v="urn:schemas-microsoft-com:vml" Requires="v">
                <p:oleObj spid="_x0000_s45062" name="Фотография Photo Editor" r:id="rId3" imgW="3476190" imgH="2561905" progId="MSPhotoEd.3">
                  <p:embed/>
                </p:oleObj>
              </mc:Choice>
              <mc:Fallback>
                <p:oleObj name="Фотография Photo Editor" r:id="rId3" imgW="3476190" imgH="2561905" progId="MSPhotoEd.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4554538"/>
                        <a:ext cx="3124200" cy="2303462"/>
                      </a:xfrm>
                      <a:prstGeom prst="rect">
                        <a:avLst/>
                      </a:prstGeom>
                      <a:noFill/>
                      <a:ln w="9525">
                        <a:solidFill>
                          <a:srgbClr val="000066"/>
                        </a:solidFill>
                        <a:miter lim="800000"/>
                        <a:headEnd/>
                        <a:tailEnd/>
                      </a:ln>
                      <a:effectLst/>
                      <a:extLst>
                        <a:ext uri="{909E8E84-426E-40DD-AFC4-6F175D3DCCD1}">
                          <a14:hiddenFill xmlns:a14="http://schemas.microsoft.com/office/drawing/2010/main">
                            <a:solidFill>
                              <a:srgbClr val="339933"/>
                            </a:solidFill>
                          </a14:hiddenFill>
                        </a:ext>
                        <a:ext uri="{AF507438-7753-43E0-B8FC-AC1667EBCBE1}">
                          <a14:hiddenEffects xmlns:a14="http://schemas.microsoft.com/office/drawing/2010/main">
                            <a:effectLst>
                              <a:outerShdw dist="35921" dir="2700000" algn="ctr" rotWithShape="0">
                                <a:srgbClr val="666633"/>
                              </a:outerShdw>
                            </a:effectLst>
                          </a14:hiddenEffects>
                        </a:ext>
                      </a:extLst>
                    </p:spPr>
                  </p:pic>
                </p:oleObj>
              </mc:Fallback>
            </mc:AlternateContent>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p:cNvSpPr>
          <p:nvPr>
            <p:ph type="title"/>
          </p:nvPr>
        </p:nvSpPr>
        <p:spPr/>
        <p:txBody>
          <a:bodyPr/>
          <a:lstStyle/>
          <a:p>
            <a:r>
              <a:rPr lang="uz"/>
              <a:t>Manzil usullari</a:t>
            </a:r>
          </a:p>
        </p:txBody>
      </p:sp>
      <p:sp>
        <p:nvSpPr>
          <p:cNvPr id="46083" name="Rectangle 3"/>
          <p:cNvSpPr>
            <a:spLocks noGrp="1" noChangeArrowheads="1"/>
          </p:cNvSpPr>
          <p:nvPr>
            <p:ph type="body" idx="1"/>
          </p:nvPr>
        </p:nvSpPr>
        <p:spPr/>
        <p:txBody>
          <a:bodyPr/>
          <a:lstStyle/>
          <a:p>
            <a:pPr>
              <a:buFont typeface="Wingdings" pitchFamily="2" charset="2"/>
              <a:buNone/>
            </a:pPr>
            <a:endParaRPr lang="ru-RU" b="1"/>
          </a:p>
          <a:p>
            <a:pPr>
              <a:buFont typeface="Wingdings" pitchFamily="2" charset="2"/>
              <a:buNone/>
            </a:pPr>
            <a:r>
              <a:rPr lang="uz" b="1"/>
              <a:t>Vaholanki, hozirda 240 mamlakatda 80 million kompyuter internetga ulangan. Ushbu ro'yxatni tezda yangilash va tarqatish imkonsiz bo'lib qoldi.</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p:cNvSpPr>
          <p:nvPr>
            <p:ph type="title"/>
          </p:nvPr>
        </p:nvSpPr>
        <p:spPr/>
        <p:txBody>
          <a:bodyPr/>
          <a:lstStyle/>
          <a:p>
            <a:r>
              <a:rPr lang="uz"/>
              <a:t>Manzil usullari</a:t>
            </a:r>
          </a:p>
        </p:txBody>
      </p:sp>
      <p:sp>
        <p:nvSpPr>
          <p:cNvPr id="47107" name="Rectangle 3"/>
          <p:cNvSpPr>
            <a:spLocks noGrp="1" noChangeArrowheads="1"/>
          </p:cNvSpPr>
          <p:nvPr>
            <p:ph type="body" idx="1"/>
          </p:nvPr>
        </p:nvSpPr>
        <p:spPr/>
        <p:txBody>
          <a:bodyPr/>
          <a:lstStyle/>
          <a:p>
            <a:pPr>
              <a:buFont typeface="Wingdings" pitchFamily="2" charset="2"/>
              <a:buNone/>
            </a:pPr>
            <a:r>
              <a:rPr lang="uz"/>
              <a:t>Ushbu muammoni hal qilish uchun domen nomlari tizimi ( DNS) joriy etildi.</a:t>
            </a:r>
            <a:endParaRPr lang="ru-RU"/>
          </a:p>
          <a:p>
            <a:pPr>
              <a:buFont typeface="Wingdings" pitchFamily="2" charset="2"/>
              <a:buNone/>
            </a:pPr>
            <a:r>
              <a:rPr lang="uz"/>
              <a:t>Nomlarni belgilash uchun mas'uliyat tarmoqning ma'lum bir sohasi - domen uchun mas'ul bo'lgan foydalanuvchilar guruhlariga yuklangan.</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rrowheads="1"/>
          </p:cNvSpPr>
          <p:nvPr>
            <p:ph type="title"/>
          </p:nvPr>
        </p:nvSpPr>
        <p:spPr/>
        <p:txBody>
          <a:bodyPr/>
          <a:lstStyle/>
          <a:p>
            <a:r>
              <a:rPr lang="uz"/>
              <a:t>Internet manzilini aniqlash</a:t>
            </a:r>
          </a:p>
        </p:txBody>
      </p:sp>
      <p:sp>
        <p:nvSpPr>
          <p:cNvPr id="50179" name="Rectangle 3"/>
          <p:cNvSpPr>
            <a:spLocks noGrp="1" noChangeArrowheads="1"/>
          </p:cNvSpPr>
          <p:nvPr>
            <p:ph type="body" idx="1"/>
          </p:nvPr>
        </p:nvSpPr>
        <p:spPr>
          <a:xfrm>
            <a:off x="457200" y="1828800"/>
            <a:ext cx="8229600" cy="4552950"/>
          </a:xfrm>
        </p:spPr>
        <p:txBody>
          <a:bodyPr/>
          <a:lstStyle/>
          <a:p>
            <a:pPr>
              <a:lnSpc>
                <a:spcPct val="90000"/>
              </a:lnSpc>
              <a:buFont typeface="Wingdings" pitchFamily="2" charset="2"/>
              <a:buNone/>
            </a:pPr>
            <a:r>
              <a:rPr lang="uz" sz="2400"/>
              <a:t>Ikkita ekvivalent manzil formatlari mavjud bo'lib, ular faqat o'z shaklida farqlanadi:</a:t>
            </a:r>
            <a:endParaRPr lang="en-US" sz="2400"/>
          </a:p>
          <a:p>
            <a:pPr>
              <a:lnSpc>
                <a:spcPct val="90000"/>
              </a:lnSpc>
              <a:buFont typeface="Wingdings" pitchFamily="2" charset="2"/>
              <a:buNone/>
            </a:pPr>
            <a:r>
              <a:rPr lang="uz" sz="2400"/>
              <a:t>    </a:t>
            </a:r>
            <a:r>
              <a:rPr lang="uz" sz="2400" b="1"/>
              <a:t>IP manzili </a:t>
            </a:r>
            <a:r>
              <a:rPr lang="uz" sz="2400"/>
              <a:t>va </a:t>
            </a:r>
            <a:r>
              <a:rPr lang="uz" sz="2400" b="1"/>
              <a:t>DNS manzili </a:t>
            </a:r>
            <a:r>
              <a:rPr lang="uz" sz="2400"/>
              <a:t>.</a:t>
            </a:r>
            <a:endParaRPr lang="en-US" sz="2400"/>
          </a:p>
          <a:p>
            <a:pPr>
              <a:lnSpc>
                <a:spcPct val="90000"/>
              </a:lnSpc>
              <a:buFont typeface="Wingdings" pitchFamily="2" charset="2"/>
              <a:buNone/>
            </a:pPr>
            <a:r>
              <a:rPr lang="uz" sz="2400" b="1"/>
              <a:t>IP</a:t>
            </a:r>
            <a:r>
              <a:rPr lang="uz" sz="2400"/>
              <a:t> </a:t>
            </a:r>
            <a:r>
              <a:rPr lang="uz" sz="2400" b="1"/>
              <a:t>- manzil </a:t>
            </a:r>
            <a:r>
              <a:rPr lang="uz" sz="2400"/>
              <a:t>nuqta bilan ajratilgan to'rtta blokdan iborat. Bu shunday ko'rinishi mumkin:</a:t>
            </a:r>
          </a:p>
          <a:p>
            <a:pPr lvl="2">
              <a:lnSpc>
                <a:spcPct val="90000"/>
              </a:lnSpc>
              <a:buFont typeface="Wingdings" pitchFamily="2" charset="2"/>
              <a:buNone/>
            </a:pPr>
            <a:r>
              <a:rPr lang="uz">
                <a:solidFill>
                  <a:schemeClr val="hlink"/>
                </a:solidFill>
              </a:rPr>
              <a:t>84.42.63.1</a:t>
            </a:r>
            <a:endParaRPr lang="en-US">
              <a:solidFill>
                <a:schemeClr val="hlink"/>
              </a:solidFill>
            </a:endParaRPr>
          </a:p>
          <a:p>
            <a:pPr lvl="2">
              <a:lnSpc>
                <a:spcPct val="90000"/>
              </a:lnSpc>
              <a:buFont typeface="Wingdings" pitchFamily="2" charset="2"/>
              <a:buNone/>
            </a:pPr>
            <a:r>
              <a:rPr lang="uz">
                <a:solidFill>
                  <a:schemeClr val="hlink"/>
                </a:solidFill>
              </a:rPr>
              <a:t>192.168.3.11</a:t>
            </a:r>
          </a:p>
          <a:p>
            <a:pPr>
              <a:lnSpc>
                <a:spcPct val="90000"/>
              </a:lnSpc>
              <a:buFont typeface="Wingdings" pitchFamily="2" charset="2"/>
              <a:buNone/>
            </a:pPr>
            <a:r>
              <a:rPr lang="uz" sz="2400" b="1"/>
              <a:t>DNS </a:t>
            </a:r>
            <a:r>
              <a:rPr lang="uz" sz="2400"/>
              <a:t>manzili foydalanuvchilarga qulayroq harf qisqartmalarini o'z ichiga oladi, ular ham alohida axborot bloklariga (domenlarga) nuqtalar bilan ajratiladi. Masalan:</a:t>
            </a:r>
          </a:p>
          <a:p>
            <a:pPr lvl="2">
              <a:lnSpc>
                <a:spcPct val="90000"/>
              </a:lnSpc>
              <a:buFont typeface="Wingdings" pitchFamily="2" charset="2"/>
              <a:buNone/>
            </a:pPr>
            <a:r>
              <a:rPr lang="uz">
                <a:solidFill>
                  <a:schemeClr val="hlink"/>
                </a:solidFill>
              </a:rPr>
              <a:t>www. rambler.ru</a:t>
            </a:r>
          </a:p>
          <a:p>
            <a:pPr lvl="2">
              <a:lnSpc>
                <a:spcPct val="90000"/>
              </a:lnSpc>
              <a:buFont typeface="Wingdings" pitchFamily="2" charset="2"/>
              <a:buNone/>
            </a:pPr>
            <a:r>
              <a:rPr lang="uz">
                <a:solidFill>
                  <a:schemeClr val="hlink"/>
                </a:solidFill>
              </a:rPr>
              <a:t>www.yandex.ru</a:t>
            </a:r>
            <a:endParaRPr lang="ru-RU">
              <a:solidFill>
                <a:schemeClr val="hlink"/>
              </a:solidFill>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rrowheads="1"/>
          </p:cNvSpPr>
          <p:nvPr>
            <p:ph type="title"/>
          </p:nvPr>
        </p:nvSpPr>
        <p:spPr/>
        <p:txBody>
          <a:bodyPr/>
          <a:lstStyle/>
          <a:p>
            <a:r>
              <a:rPr lang="uz"/>
              <a:t>Manzil usullari</a:t>
            </a:r>
          </a:p>
        </p:txBody>
      </p:sp>
      <p:sp>
        <p:nvSpPr>
          <p:cNvPr id="48131" name="Rectangle 3"/>
          <p:cNvSpPr>
            <a:spLocks noGrp="1" noChangeArrowheads="1"/>
          </p:cNvSpPr>
          <p:nvPr>
            <p:ph type="body" idx="1"/>
          </p:nvPr>
        </p:nvSpPr>
        <p:spPr/>
        <p:txBody>
          <a:bodyPr/>
          <a:lstStyle/>
          <a:p>
            <a:pPr>
              <a:buFont typeface="Wingdings" pitchFamily="2" charset="2"/>
              <a:buNone/>
            </a:pPr>
            <a:r>
              <a:rPr lang="uz" sz="2800" b="1"/>
              <a:t>DNS manzillariga misollar :</a:t>
            </a:r>
          </a:p>
          <a:p>
            <a:pPr>
              <a:buFont typeface="Wingdings" pitchFamily="2" charset="2"/>
              <a:buNone/>
            </a:pPr>
            <a:r>
              <a:rPr lang="uz" sz="2800" b="1"/>
              <a:t>fio.ru</a:t>
            </a:r>
          </a:p>
          <a:p>
            <a:pPr>
              <a:buFont typeface="Wingdings" pitchFamily="2" charset="2"/>
              <a:buNone/>
            </a:pPr>
            <a:r>
              <a:rPr lang="uz" sz="2800" b="1"/>
              <a:t>vspu.ac.ru</a:t>
            </a:r>
          </a:p>
          <a:p>
            <a:pPr>
              <a:buFont typeface="Wingdings" pitchFamily="2" charset="2"/>
              <a:buNone/>
            </a:pPr>
            <a:r>
              <a:rPr lang="uz" sz="2800" b="1"/>
              <a:t>vspu.ru</a:t>
            </a:r>
          </a:p>
          <a:p>
            <a:pPr>
              <a:buFont typeface="Wingdings" pitchFamily="2" charset="2"/>
              <a:buNone/>
            </a:pPr>
            <a:r>
              <a:rPr lang="uz" sz="2800" b="1"/>
              <a:t>To'g'ri tanlangan, eslab qolish oson manzil mashhurlik kalitidir. Eng mashhur ismlar ba'zan hatto lotereyada ham o'ynaladi (masalan, internet.ru).</a:t>
            </a:r>
          </a:p>
          <a:p>
            <a:pPr>
              <a:buFont typeface="Wingdings" pitchFamily="2" charset="2"/>
              <a:buNone/>
            </a:pPr>
            <a:endParaRPr lang="ru-RU"/>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rrowheads="1"/>
          </p:cNvSpPr>
          <p:nvPr>
            <p:ph type="title"/>
          </p:nvPr>
        </p:nvSpPr>
        <p:spPr/>
        <p:txBody>
          <a:bodyPr/>
          <a:lstStyle/>
          <a:p>
            <a:r>
              <a:rPr lang="uz"/>
              <a:t>Domenlar</a:t>
            </a:r>
          </a:p>
        </p:txBody>
      </p:sp>
      <p:sp>
        <p:nvSpPr>
          <p:cNvPr id="33795" name="Rectangle 3"/>
          <p:cNvSpPr>
            <a:spLocks noGrp="1" noChangeArrowheads="1"/>
          </p:cNvSpPr>
          <p:nvPr>
            <p:ph type="body" idx="1"/>
          </p:nvPr>
        </p:nvSpPr>
        <p:spPr/>
        <p:txBody>
          <a:bodyPr/>
          <a:lstStyle/>
          <a:p>
            <a:pPr>
              <a:buFont typeface="Wingdings" pitchFamily="2" charset="2"/>
              <a:buNone/>
            </a:pPr>
            <a:r>
              <a:rPr lang="uz" b="1"/>
              <a:t>gov </a:t>
            </a:r>
            <a:r>
              <a:rPr lang="uz"/>
              <a:t>- davlat organi yoki tashkiloti</a:t>
            </a:r>
          </a:p>
          <a:p>
            <a:pPr>
              <a:buFont typeface="Wingdings" pitchFamily="2" charset="2"/>
              <a:buNone/>
            </a:pPr>
            <a:r>
              <a:rPr lang="uz" b="1"/>
              <a:t>mil </a:t>
            </a:r>
            <a:r>
              <a:rPr lang="uz"/>
              <a:t>- harbiy muassasa</a:t>
            </a:r>
          </a:p>
          <a:p>
            <a:pPr>
              <a:buFont typeface="Wingdings" pitchFamily="2" charset="2"/>
              <a:buNone/>
            </a:pPr>
            <a:r>
              <a:rPr lang="uz" b="1"/>
              <a:t>com </a:t>
            </a:r>
            <a:r>
              <a:rPr lang="uz"/>
              <a:t>- tijorat tashkiloti</a:t>
            </a:r>
          </a:p>
          <a:p>
            <a:pPr>
              <a:buFont typeface="Wingdings" pitchFamily="2" charset="2"/>
              <a:buNone/>
            </a:pPr>
            <a:r>
              <a:rPr lang="uz" b="1"/>
              <a:t>net </a:t>
            </a:r>
            <a:r>
              <a:rPr lang="uz"/>
              <a:t>- tarmoq tashkiloti</a:t>
            </a:r>
          </a:p>
          <a:p>
            <a:pPr>
              <a:buFont typeface="Wingdings" pitchFamily="2" charset="2"/>
              <a:buNone/>
            </a:pPr>
            <a:r>
              <a:rPr lang="uz" b="1"/>
              <a:t>org </a:t>
            </a:r>
            <a:r>
              <a:rPr lang="uz"/>
              <a:t>- yuqoridagilardan biriga tegishli bo'lmagan tashkilot</a:t>
            </a:r>
          </a:p>
          <a:p>
            <a:endParaRPr lang="ru-RU"/>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rrowheads="1"/>
          </p:cNvSpPr>
          <p:nvPr>
            <p:ph type="title"/>
          </p:nvPr>
        </p:nvSpPr>
        <p:spPr>
          <a:xfrm>
            <a:off x="468313" y="476250"/>
            <a:ext cx="8229600" cy="457200"/>
          </a:xfrm>
        </p:spPr>
        <p:txBody>
          <a:bodyPr/>
          <a:lstStyle/>
          <a:p>
            <a:r>
              <a:rPr lang="uz"/>
              <a:t>Manzil usullari</a:t>
            </a:r>
            <a:br>
              <a:rPr lang="ru-RU"/>
            </a:br>
            <a:endParaRPr lang="ru-RU"/>
          </a:p>
        </p:txBody>
      </p:sp>
      <p:sp>
        <p:nvSpPr>
          <p:cNvPr id="51203" name="Rectangle 3"/>
          <p:cNvSpPr>
            <a:spLocks noGrp="1" noChangeArrowheads="1"/>
          </p:cNvSpPr>
          <p:nvPr>
            <p:ph type="body" sz="half" idx="1"/>
          </p:nvPr>
        </p:nvSpPr>
        <p:spPr>
          <a:xfrm>
            <a:off x="395288" y="1125538"/>
            <a:ext cx="3886200" cy="4114800"/>
          </a:xfrm>
        </p:spPr>
        <p:txBody>
          <a:bodyPr/>
          <a:lstStyle/>
          <a:p>
            <a:r>
              <a:rPr lang="uz" b="1"/>
              <a:t>ru - Rossiya</a:t>
            </a:r>
          </a:p>
          <a:p>
            <a:r>
              <a:rPr lang="uz" b="1"/>
              <a:t>tomonidan - Belarusiya</a:t>
            </a:r>
          </a:p>
          <a:p>
            <a:r>
              <a:rPr lang="uz" b="1"/>
              <a:t>ua - Ukraina</a:t>
            </a:r>
          </a:p>
          <a:p>
            <a:r>
              <a:rPr lang="uz" b="1"/>
              <a:t>kz - Qozog'iston</a:t>
            </a:r>
          </a:p>
          <a:p>
            <a:r>
              <a:rPr lang="uz" b="1"/>
              <a:t>uk - Buyuk Britaniya</a:t>
            </a:r>
          </a:p>
          <a:p>
            <a:r>
              <a:rPr lang="uz" b="1"/>
              <a:t>de - Germaniya</a:t>
            </a:r>
          </a:p>
          <a:p>
            <a:r>
              <a:rPr lang="uz" b="1"/>
              <a:t>fr - Frantsiya</a:t>
            </a:r>
          </a:p>
          <a:p>
            <a:r>
              <a:rPr lang="uz" b="1"/>
              <a:t>bu - Italiya</a:t>
            </a:r>
          </a:p>
          <a:p>
            <a:r>
              <a:rPr lang="uz" b="1"/>
              <a:t>biz - AQSh (kamdan-kam)</a:t>
            </a:r>
          </a:p>
          <a:p>
            <a:endParaRPr lang="ru-RU"/>
          </a:p>
        </p:txBody>
      </p:sp>
      <p:sp>
        <p:nvSpPr>
          <p:cNvPr id="51204" name="Rectangle 4"/>
          <p:cNvSpPr>
            <a:spLocks noGrp="1" noChangeArrowheads="1"/>
          </p:cNvSpPr>
          <p:nvPr>
            <p:ph type="body" sz="half" idx="2"/>
          </p:nvPr>
        </p:nvSpPr>
        <p:spPr>
          <a:xfrm>
            <a:off x="4675188" y="1600200"/>
            <a:ext cx="4011612" cy="4525963"/>
          </a:xfrm>
        </p:spPr>
        <p:txBody>
          <a:bodyPr/>
          <a:lstStyle/>
          <a:p>
            <a:r>
              <a:rPr lang="uz" b="1"/>
              <a:t>g ov - gov.</a:t>
            </a:r>
          </a:p>
          <a:p>
            <a:r>
              <a:rPr lang="uz" b="1"/>
              <a:t>m il - harbiy</a:t>
            </a:r>
          </a:p>
          <a:p>
            <a:r>
              <a:rPr lang="uz" b="1"/>
              <a:t>tijorat</a:t>
            </a:r>
          </a:p>
          <a:p>
            <a:r>
              <a:rPr lang="uz" b="1"/>
              <a:t>edu - tasvirlar.</a:t>
            </a:r>
          </a:p>
          <a:p>
            <a:r>
              <a:rPr lang="uz" b="1"/>
              <a:t>net - tarmoq</a:t>
            </a:r>
          </a:p>
          <a:p>
            <a:r>
              <a:rPr lang="uz" b="1"/>
              <a:t>org - boshqa</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rrowheads="1"/>
          </p:cNvSpPr>
          <p:nvPr>
            <p:ph type="title"/>
          </p:nvPr>
        </p:nvSpPr>
        <p:spPr/>
        <p:txBody>
          <a:bodyPr/>
          <a:lstStyle/>
          <a:p>
            <a:r>
              <a:rPr lang="uz"/>
              <a:t>Domenlar</a:t>
            </a:r>
          </a:p>
        </p:txBody>
      </p:sp>
      <p:sp>
        <p:nvSpPr>
          <p:cNvPr id="34819" name="Rectangle 3"/>
          <p:cNvSpPr>
            <a:spLocks noGrp="1" noChangeArrowheads="1"/>
          </p:cNvSpPr>
          <p:nvPr>
            <p:ph type="body" idx="1"/>
          </p:nvPr>
        </p:nvSpPr>
        <p:spPr>
          <a:xfrm>
            <a:off x="539750" y="1412875"/>
            <a:ext cx="8229600" cy="5111750"/>
          </a:xfrm>
        </p:spPr>
        <p:txBody>
          <a:bodyPr/>
          <a:lstStyle/>
          <a:p>
            <a:pPr>
              <a:lnSpc>
                <a:spcPct val="80000"/>
              </a:lnSpc>
              <a:buFont typeface="Wingdings" pitchFamily="2" charset="2"/>
              <a:buNone/>
            </a:pPr>
            <a:r>
              <a:rPr lang="uz" sz="1800" b="1"/>
              <a:t>at - Avstriya</a:t>
            </a:r>
          </a:p>
          <a:p>
            <a:pPr>
              <a:lnSpc>
                <a:spcPct val="80000"/>
              </a:lnSpc>
              <a:buFont typeface="Wingdings" pitchFamily="2" charset="2"/>
              <a:buNone/>
            </a:pPr>
            <a:r>
              <a:rPr lang="uz" sz="1800" b="1"/>
              <a:t>au - Avstraliya</a:t>
            </a:r>
          </a:p>
          <a:p>
            <a:pPr>
              <a:lnSpc>
                <a:spcPct val="80000"/>
              </a:lnSpc>
              <a:buFont typeface="Wingdings" pitchFamily="2" charset="2"/>
              <a:buNone/>
            </a:pPr>
            <a:r>
              <a:rPr lang="uz" sz="1800" b="1"/>
              <a:t>ca - Kanada</a:t>
            </a:r>
          </a:p>
          <a:p>
            <a:pPr>
              <a:lnSpc>
                <a:spcPct val="80000"/>
              </a:lnSpc>
              <a:buFont typeface="Wingdings" pitchFamily="2" charset="2"/>
              <a:buNone/>
            </a:pPr>
            <a:r>
              <a:rPr lang="uz" sz="1800" b="1"/>
              <a:t>ch - Shveytsariya</a:t>
            </a:r>
          </a:p>
          <a:p>
            <a:pPr>
              <a:lnSpc>
                <a:spcPct val="80000"/>
              </a:lnSpc>
              <a:buFont typeface="Wingdings" pitchFamily="2" charset="2"/>
              <a:buNone/>
            </a:pPr>
            <a:r>
              <a:rPr lang="uz" sz="1800" b="1"/>
              <a:t>de - Germaniya</a:t>
            </a:r>
          </a:p>
          <a:p>
            <a:pPr>
              <a:lnSpc>
                <a:spcPct val="80000"/>
              </a:lnSpc>
              <a:buFont typeface="Wingdings" pitchFamily="2" charset="2"/>
              <a:buNone/>
            </a:pPr>
            <a:r>
              <a:rPr lang="uz" sz="1800" b="1"/>
              <a:t>dk - Daniya</a:t>
            </a:r>
          </a:p>
          <a:p>
            <a:pPr>
              <a:lnSpc>
                <a:spcPct val="80000"/>
              </a:lnSpc>
              <a:buFont typeface="Wingdings" pitchFamily="2" charset="2"/>
              <a:buNone/>
            </a:pPr>
            <a:r>
              <a:rPr lang="uz" sz="1800" b="1"/>
              <a:t>es - Ispaniya</a:t>
            </a:r>
          </a:p>
          <a:p>
            <a:pPr>
              <a:lnSpc>
                <a:spcPct val="80000"/>
              </a:lnSpc>
              <a:buFont typeface="Wingdings" pitchFamily="2" charset="2"/>
              <a:buNone/>
            </a:pPr>
            <a:r>
              <a:rPr lang="uz" sz="1800" b="1"/>
              <a:t>fi - Finlyandiya</a:t>
            </a:r>
          </a:p>
          <a:p>
            <a:pPr>
              <a:lnSpc>
                <a:spcPct val="80000"/>
              </a:lnSpc>
              <a:buFont typeface="Wingdings" pitchFamily="2" charset="2"/>
              <a:buNone/>
            </a:pPr>
            <a:r>
              <a:rPr lang="uz" sz="1800" b="1"/>
              <a:t>fr - Frantsiya</a:t>
            </a:r>
          </a:p>
          <a:p>
            <a:pPr>
              <a:lnSpc>
                <a:spcPct val="80000"/>
              </a:lnSpc>
              <a:buFont typeface="Wingdings" pitchFamily="2" charset="2"/>
              <a:buNone/>
            </a:pPr>
            <a:r>
              <a:rPr lang="uz" sz="1800" b="1"/>
              <a:t>bu - Italiya</a:t>
            </a:r>
          </a:p>
          <a:p>
            <a:pPr>
              <a:lnSpc>
                <a:spcPct val="80000"/>
              </a:lnSpc>
              <a:buFont typeface="Wingdings" pitchFamily="2" charset="2"/>
              <a:buNone/>
            </a:pPr>
            <a:r>
              <a:rPr lang="uz" sz="1800" b="1"/>
              <a:t>jp - Yaponiya</a:t>
            </a:r>
          </a:p>
          <a:p>
            <a:pPr>
              <a:lnSpc>
                <a:spcPct val="80000"/>
              </a:lnSpc>
              <a:buFont typeface="Wingdings" pitchFamily="2" charset="2"/>
              <a:buNone/>
            </a:pPr>
            <a:r>
              <a:rPr lang="uz" sz="1800" b="1"/>
              <a:t>nl - Niderlandiya</a:t>
            </a:r>
          </a:p>
          <a:p>
            <a:pPr>
              <a:lnSpc>
                <a:spcPct val="80000"/>
              </a:lnSpc>
              <a:buFont typeface="Wingdings" pitchFamily="2" charset="2"/>
              <a:buNone/>
            </a:pPr>
            <a:r>
              <a:rPr lang="uz" sz="1800" b="1"/>
              <a:t>yo'q - Norvegiya</a:t>
            </a:r>
          </a:p>
          <a:p>
            <a:pPr>
              <a:lnSpc>
                <a:spcPct val="80000"/>
              </a:lnSpc>
              <a:buFont typeface="Wingdings" pitchFamily="2" charset="2"/>
              <a:buNone/>
            </a:pPr>
            <a:r>
              <a:rPr lang="uz" sz="1800" b="1"/>
              <a:t>nz - Yangi Zelandiya</a:t>
            </a:r>
          </a:p>
          <a:p>
            <a:pPr>
              <a:lnSpc>
                <a:spcPct val="80000"/>
              </a:lnSpc>
              <a:buFont typeface="Wingdings" pitchFamily="2" charset="2"/>
              <a:buNone/>
            </a:pPr>
            <a:r>
              <a:rPr lang="uz" sz="1800" b="1"/>
              <a:t>ru - Rossiya</a:t>
            </a:r>
          </a:p>
          <a:p>
            <a:pPr>
              <a:lnSpc>
                <a:spcPct val="80000"/>
              </a:lnSpc>
              <a:buFont typeface="Wingdings" pitchFamily="2" charset="2"/>
              <a:buNone/>
            </a:pPr>
            <a:r>
              <a:rPr lang="uz" sz="1800" b="1"/>
              <a:t>se - Shvetsiya</a:t>
            </a:r>
          </a:p>
          <a:p>
            <a:pPr>
              <a:lnSpc>
                <a:spcPct val="80000"/>
              </a:lnSpc>
              <a:buFont typeface="Wingdings" pitchFamily="2" charset="2"/>
              <a:buNone/>
            </a:pPr>
            <a:r>
              <a:rPr lang="uz" sz="1800" b="1"/>
              <a:t>Buyuk Britaniya - Ukraina</a:t>
            </a:r>
          </a:p>
          <a:p>
            <a:pPr>
              <a:lnSpc>
                <a:spcPct val="80000"/>
              </a:lnSpc>
              <a:buFont typeface="Wingdings" pitchFamily="2" charset="2"/>
              <a:buNone/>
            </a:pPr>
            <a:r>
              <a:rPr lang="uz" sz="1800" b="1"/>
              <a:t>za - Janubiy Afrika</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rrowheads="1"/>
          </p:cNvSpPr>
          <p:nvPr>
            <p:ph type="title"/>
          </p:nvPr>
        </p:nvSpPr>
        <p:spPr/>
        <p:txBody>
          <a:bodyPr/>
          <a:lstStyle/>
          <a:p>
            <a:r>
              <a:rPr lang="uz"/>
              <a:t>Internet</a:t>
            </a:r>
            <a:endParaRPr lang="ru-RU"/>
          </a:p>
        </p:txBody>
      </p:sp>
      <p:sp>
        <p:nvSpPr>
          <p:cNvPr id="35843" name="Rectangle 3"/>
          <p:cNvSpPr>
            <a:spLocks noGrp="1" noChangeArrowheads="1"/>
          </p:cNvSpPr>
          <p:nvPr>
            <p:ph type="body" idx="1"/>
          </p:nvPr>
        </p:nvSpPr>
        <p:spPr/>
        <p:txBody>
          <a:bodyPr/>
          <a:lstStyle/>
          <a:p>
            <a:pPr algn="just">
              <a:lnSpc>
                <a:spcPct val="90000"/>
              </a:lnSpc>
              <a:buFont typeface="Wingdings" pitchFamily="2" charset="2"/>
              <a:buNone/>
            </a:pPr>
            <a:r>
              <a:rPr lang="uz" sz="2400"/>
              <a:t>Eng mashhur Internet xizmati </a:t>
            </a:r>
            <a:r>
              <a:rPr lang="uz" sz="2400" b="1"/>
              <a:t>World Wide Web </a:t>
            </a:r>
            <a:r>
              <a:rPr lang="uz" sz="2400"/>
              <a:t>(qisqartirilgan </a:t>
            </a:r>
            <a:r>
              <a:rPr lang="uz" sz="2400" b="1"/>
              <a:t>WWW </a:t>
            </a:r>
            <a:r>
              <a:rPr lang="uz" sz="2400"/>
              <a:t>yoki Web ), shuningdek, </a:t>
            </a:r>
            <a:r>
              <a:rPr lang="uz" sz="2400" i="1"/>
              <a:t>World Wide Web deb ham ataladi </a:t>
            </a:r>
            <a:r>
              <a:rPr lang="uz" sz="2400"/>
              <a:t>. WWW bo'yicha ma'lumotlarning taqdimoti gipermatnli havolalar imkoniyatlariga asoslanadi.</a:t>
            </a:r>
          </a:p>
          <a:p>
            <a:pPr algn="just">
              <a:lnSpc>
                <a:spcPct val="90000"/>
              </a:lnSpc>
              <a:buFont typeface="Wingdings" pitchFamily="2" charset="2"/>
              <a:buNone/>
            </a:pPr>
            <a:r>
              <a:rPr lang="uz" sz="2400" u="sng"/>
              <a:t>Gipermatn </a:t>
            </a:r>
            <a:r>
              <a:rPr lang="uz" sz="2400"/>
              <a:t>boshqa hujjatlarga havolalarni o'z ichiga olgan matndir. Bu hujjatni ko'rishda matn, rasm, audio fayl yoki WWW da qabul qilingan boshqa har qanday shakl bo'lishi mumkin bo'lgan unga tegishli boshqa ma'lumotlarga osongina va tez o'tish imkonini beradi . Shu bilan birga, bog'langan hujjatlar butun dunyo bo'ylab tarqalishi mumkin.</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rrowheads="1"/>
          </p:cNvSpPr>
          <p:nvPr>
            <p:ph type="title"/>
          </p:nvPr>
        </p:nvSpPr>
        <p:spPr/>
        <p:txBody>
          <a:bodyPr/>
          <a:lstStyle/>
          <a:p>
            <a:r>
              <a:rPr lang="uz"/>
              <a:t>Internet</a:t>
            </a:r>
            <a:endParaRPr lang="ru-RU"/>
          </a:p>
        </p:txBody>
      </p:sp>
      <p:sp>
        <p:nvSpPr>
          <p:cNvPr id="36867" name="Rectangle 3"/>
          <p:cNvSpPr>
            <a:spLocks noGrp="1" noChangeArrowheads="1"/>
          </p:cNvSpPr>
          <p:nvPr>
            <p:ph type="body" idx="1"/>
          </p:nvPr>
        </p:nvSpPr>
        <p:spPr>
          <a:xfrm>
            <a:off x="457200" y="1828800"/>
            <a:ext cx="8229600" cy="4695825"/>
          </a:xfrm>
        </p:spPr>
        <p:txBody>
          <a:bodyPr/>
          <a:lstStyle/>
          <a:p>
            <a:pPr algn="just">
              <a:lnSpc>
                <a:spcPct val="80000"/>
              </a:lnSpc>
              <a:buFont typeface="Wingdings" pitchFamily="2" charset="2"/>
              <a:buNone/>
            </a:pPr>
            <a:r>
              <a:rPr lang="uz" sz="2400" b="1" i="1"/>
              <a:t>veb-hujjatlar </a:t>
            </a:r>
            <a:r>
              <a:rPr lang="uz" sz="2400"/>
              <a:t>yoki oddiyroq aytganda, </a:t>
            </a:r>
            <a:r>
              <a:rPr lang="uz" sz="2400" b="1"/>
              <a:t>veb-sahifalar </a:t>
            </a:r>
            <a:r>
              <a:rPr lang="uz" sz="2400"/>
              <a:t>deb ataladigan maxsus turdagi elektron hujjatlarga kirishni ta'minlash uchun mo'ljallangan . </a:t>
            </a:r>
            <a:r>
              <a:rPr lang="uz" sz="2400" u="sng"/>
              <a:t>Web-sahifa </a:t>
            </a:r>
            <a:r>
              <a:rPr lang="uz" sz="2400"/>
              <a:t>elektron hujjat bo'lib, unda matndan tashqari maxsus formatlash buyruqlari, shuningdek, o'rnatilgan ob'ektlar (chizmalar, audio va videokliplar va boshqalar) mavjud.</a:t>
            </a:r>
          </a:p>
          <a:p>
            <a:pPr algn="just">
              <a:lnSpc>
                <a:spcPct val="80000"/>
              </a:lnSpc>
              <a:buFont typeface="Wingdings" pitchFamily="2" charset="2"/>
              <a:buNone/>
            </a:pPr>
            <a:r>
              <a:rPr lang="uz" sz="2400" b="1" i="1"/>
              <a:t>brauzerlar </a:t>
            </a:r>
            <a:r>
              <a:rPr lang="uz" sz="2400"/>
              <a:t>deb ataladigan maxsus dasturlar yordamida ko'rishadi , shuning uchun brauzer nafaqat masofaviy veb- serverlar bilan o'zaro aloqa qilish uchun foydalaniladigan veb-mijoz emas, balki veb- hujjatlarni ko'rish vositasidir .</a:t>
            </a:r>
          </a:p>
          <a:p>
            <a:pPr algn="just">
              <a:lnSpc>
                <a:spcPct val="80000"/>
              </a:lnSpc>
              <a:buFont typeface="Wingdings" pitchFamily="2" charset="2"/>
              <a:buNone/>
            </a:pPr>
            <a:r>
              <a:rPr lang="uz" sz="2400"/>
              <a:t>Veb-sahifalar mutlaq formatlashdan ko'ra nisbiy formatga ega.</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rrowheads="1"/>
          </p:cNvSpPr>
          <p:nvPr>
            <p:ph type="title"/>
          </p:nvPr>
        </p:nvSpPr>
        <p:spPr/>
        <p:txBody>
          <a:bodyPr/>
          <a:lstStyle/>
          <a:p>
            <a:r>
              <a:rPr lang="uz" sz="4000"/>
              <a:t>Yagona Resurs Locator </a:t>
            </a:r>
            <a:r>
              <a:rPr lang="uz" sz="4000" b="0"/>
              <a:t>URL </a:t>
            </a:r>
          </a:p>
        </p:txBody>
      </p:sp>
      <p:sp>
        <p:nvSpPr>
          <p:cNvPr id="37891" name="Rectangle 3"/>
          <p:cNvSpPr>
            <a:spLocks noGrp="1" noChangeArrowheads="1"/>
          </p:cNvSpPr>
          <p:nvPr>
            <p:ph type="body" idx="1"/>
          </p:nvPr>
        </p:nvSpPr>
        <p:spPr/>
        <p:txBody>
          <a:bodyPr/>
          <a:lstStyle/>
          <a:p>
            <a:pPr>
              <a:lnSpc>
                <a:spcPct val="90000"/>
              </a:lnSpc>
              <a:buFont typeface="Wingdings" pitchFamily="2" charset="2"/>
              <a:buNone/>
            </a:pPr>
            <a:r>
              <a:rPr lang="uz" sz="2400"/>
              <a:t>Internetdagi har bir veb- hujjat (va hatto hujjat ichiga kiritilgan har bir ob'ekt) Yagona Resurs Locator yoki </a:t>
            </a:r>
            <a:r>
              <a:rPr lang="uz" sz="2400" b="1"/>
              <a:t>qisqacha URL </a:t>
            </a:r>
            <a:r>
              <a:rPr lang="uz" sz="2400"/>
              <a:t>deb nomlangan </a:t>
            </a:r>
            <a:r>
              <a:rPr lang="uz" sz="2400" i="1"/>
              <a:t>noyob manzilga ega </a:t>
            </a:r>
            <a:r>
              <a:rPr lang="uz" sz="2400"/>
              <a:t>. Ushbu manzilga murojaat qilib, u erda saqlangan hujjatni olishingiz mumkin.</a:t>
            </a:r>
          </a:p>
          <a:p>
            <a:pPr>
              <a:lnSpc>
                <a:spcPct val="90000"/>
              </a:lnSpc>
              <a:buFont typeface="Wingdings" pitchFamily="2" charset="2"/>
              <a:buNone/>
            </a:pPr>
            <a:endParaRPr lang="ru-RU" sz="2400"/>
          </a:p>
          <a:p>
            <a:pPr>
              <a:lnSpc>
                <a:spcPct val="90000"/>
              </a:lnSpc>
              <a:buFont typeface="Wingdings" pitchFamily="2" charset="2"/>
              <a:buNone/>
            </a:pPr>
            <a:endParaRPr lang="ru-RU" sz="2400" b="1">
              <a:solidFill>
                <a:schemeClr val="folHlink"/>
              </a:solidFill>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rrowheads="1"/>
          </p:cNvSpPr>
          <p:nvPr>
            <p:ph type="title"/>
          </p:nvPr>
        </p:nvSpPr>
        <p:spPr/>
        <p:txBody>
          <a:bodyPr/>
          <a:lstStyle/>
          <a:p>
            <a:r>
              <a:rPr lang="uz"/>
              <a:t>Internetga kirish turlari</a:t>
            </a:r>
          </a:p>
        </p:txBody>
      </p:sp>
      <p:sp>
        <p:nvSpPr>
          <p:cNvPr id="52227" name="Rectangle 3"/>
          <p:cNvSpPr>
            <a:spLocks noGrp="1" noChangeArrowheads="1"/>
          </p:cNvSpPr>
          <p:nvPr>
            <p:ph type="body" idx="1"/>
          </p:nvPr>
        </p:nvSpPr>
        <p:spPr>
          <a:xfrm>
            <a:off x="1981200" y="1524000"/>
            <a:ext cx="6096000" cy="4114800"/>
          </a:xfrm>
        </p:spPr>
        <p:txBody>
          <a:bodyPr/>
          <a:lstStyle/>
          <a:p>
            <a:pPr>
              <a:lnSpc>
                <a:spcPct val="90000"/>
              </a:lnSpc>
              <a:spcBef>
                <a:spcPts val="500"/>
              </a:spcBef>
              <a:spcAft>
                <a:spcPts val="500"/>
              </a:spcAft>
              <a:buFont typeface="Wingdings" pitchFamily="2" charset="2"/>
              <a:buNone/>
            </a:pPr>
            <a:r>
              <a:rPr lang="uz" sz="2800" b="1">
                <a:solidFill>
                  <a:srgbClr val="FF9966"/>
                </a:solidFill>
              </a:rPr>
              <a:t>To'g'ridan-to'g'ri kirish </a:t>
            </a:r>
            <a:r>
              <a:rPr lang="uz" sz="2800" b="1"/>
              <a:t>barcha tarmoq imkoniyatlaridan foydalanish imkonini beradi.</a:t>
            </a:r>
          </a:p>
          <a:p>
            <a:pPr>
              <a:lnSpc>
                <a:spcPct val="90000"/>
              </a:lnSpc>
              <a:spcBef>
                <a:spcPts val="500"/>
              </a:spcBef>
              <a:spcAft>
                <a:spcPts val="500"/>
              </a:spcAft>
              <a:buFont typeface="Wingdings" pitchFamily="2" charset="2"/>
              <a:buNone/>
            </a:pPr>
            <a:r>
              <a:rPr lang="uz" sz="2800" b="1"/>
              <a:t>Aloqa xizmatlarini ko'rsatuvchi provayder kompaniya siz tanlagan tarmoqli kengligi bilan maxsus telefon liniyasini ijaraga oladi </a:t>
            </a:r>
            <a:r>
              <a:rPr lang="uz" sz="2800" b="1" i="1"/>
              <a:t>va </a:t>
            </a:r>
            <a:r>
              <a:rPr lang="uz" sz="2800" b="1"/>
              <a:t>serverni </a:t>
            </a:r>
            <a:r>
              <a:rPr lang="uz" sz="2800" b="1">
                <a:solidFill>
                  <a:srgbClr val="FF9966"/>
                </a:solidFill>
              </a:rPr>
              <a:t>bevosita </a:t>
            </a:r>
            <a:r>
              <a:rPr lang="uz" sz="2800" b="1"/>
              <a:t>sizning </a:t>
            </a:r>
            <a:r>
              <a:rPr lang="uz" sz="2800" b="1">
                <a:solidFill>
                  <a:srgbClr val="FF9966"/>
                </a:solidFill>
              </a:rPr>
              <a:t>joylashuvingizga joylashtiradi </a:t>
            </a:r>
            <a:r>
              <a:rPr lang="uz" sz="2800" b="1"/>
              <a:t>. Bu Internetga kirishning qimmat usuli.</a:t>
            </a:r>
          </a:p>
          <a:p>
            <a:pPr>
              <a:lnSpc>
                <a:spcPct val="90000"/>
              </a:lnSpc>
              <a:buFont typeface="Wingdings" pitchFamily="2" charset="2"/>
              <a:buNone/>
            </a:pPr>
            <a:endParaRPr lang="ru-RU"/>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rrowheads="1"/>
          </p:cNvSpPr>
          <p:nvPr>
            <p:ph type="title"/>
          </p:nvPr>
        </p:nvSpPr>
        <p:spPr/>
        <p:txBody>
          <a:bodyPr/>
          <a:lstStyle/>
          <a:p>
            <a:r>
              <a:rPr lang="uz"/>
              <a:t>Internetga kirish turlari</a:t>
            </a:r>
          </a:p>
        </p:txBody>
      </p:sp>
      <p:sp>
        <p:nvSpPr>
          <p:cNvPr id="53251" name="Rectangle 3"/>
          <p:cNvSpPr>
            <a:spLocks noGrp="1" noChangeArrowheads="1"/>
          </p:cNvSpPr>
          <p:nvPr>
            <p:ph type="body" idx="1"/>
          </p:nvPr>
        </p:nvSpPr>
        <p:spPr>
          <a:xfrm>
            <a:off x="1981200" y="1524000"/>
            <a:ext cx="6096000" cy="4114800"/>
          </a:xfrm>
        </p:spPr>
        <p:txBody>
          <a:bodyPr/>
          <a:lstStyle/>
          <a:p>
            <a:pPr>
              <a:spcBef>
                <a:spcPts val="500"/>
              </a:spcBef>
              <a:spcAft>
                <a:spcPts val="500"/>
              </a:spcAft>
              <a:buFont typeface="Wingdings" pitchFamily="2" charset="2"/>
              <a:buNone/>
            </a:pPr>
            <a:r>
              <a:rPr lang="uz" sz="2800" b="1"/>
              <a:t> </a:t>
            </a:r>
          </a:p>
          <a:p>
            <a:pPr>
              <a:spcBef>
                <a:spcPts val="500"/>
              </a:spcBef>
              <a:spcAft>
                <a:spcPts val="500"/>
              </a:spcAft>
              <a:buFont typeface="Wingdings" pitchFamily="2" charset="2"/>
              <a:buNone/>
            </a:pPr>
            <a:r>
              <a:rPr lang="uz" sz="2800" b="1"/>
              <a:t>Mahalliy tarmoq kompyuterlarini serverga ulashingiz mumkin.</a:t>
            </a:r>
          </a:p>
          <a:p>
            <a:pPr>
              <a:spcBef>
                <a:spcPts val="500"/>
              </a:spcBef>
              <a:spcAft>
                <a:spcPts val="500"/>
              </a:spcAft>
              <a:buFont typeface="Wingdings" pitchFamily="2" charset="2"/>
              <a:buNone/>
            </a:pPr>
            <a:r>
              <a:rPr lang="uz" sz="2800" b="1"/>
              <a:t>Mahalliy tarmoqdagi kompyuterlarning har biri Internetning to'liq a'zosi bo'ladi va uning istalgan xizmatlaridan foydalanish imkoniyatiga ega bo'ladi.</a:t>
            </a:r>
          </a:p>
          <a:p>
            <a:pPr>
              <a:spcBef>
                <a:spcPts val="500"/>
              </a:spcBef>
              <a:spcAft>
                <a:spcPts val="500"/>
              </a:spcAft>
              <a:buFont typeface="Wingdings" pitchFamily="2" charset="2"/>
              <a:buNone/>
            </a:pPr>
            <a:endParaRPr lang="ru-RU" sz="2800" b="1"/>
          </a:p>
          <a:p>
            <a:pPr>
              <a:buFont typeface="Wingdings" pitchFamily="2" charset="2"/>
              <a:buNone/>
            </a:pPr>
            <a:endParaRPr lang="ru-RU"/>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rrowheads="1"/>
          </p:cNvSpPr>
          <p:nvPr>
            <p:ph type="title"/>
          </p:nvPr>
        </p:nvSpPr>
        <p:spPr/>
        <p:txBody>
          <a:bodyPr/>
          <a:lstStyle/>
          <a:p>
            <a:r>
              <a:rPr lang="uz"/>
              <a:t>Internetga kirish turlari</a:t>
            </a:r>
          </a:p>
        </p:txBody>
      </p:sp>
      <p:sp>
        <p:nvSpPr>
          <p:cNvPr id="54275" name="Rectangle 3"/>
          <p:cNvSpPr>
            <a:spLocks noGrp="1" noChangeArrowheads="1"/>
          </p:cNvSpPr>
          <p:nvPr>
            <p:ph type="body" idx="1"/>
          </p:nvPr>
        </p:nvSpPr>
        <p:spPr>
          <a:xfrm>
            <a:off x="1981200" y="1524000"/>
            <a:ext cx="6096000" cy="4114800"/>
          </a:xfrm>
        </p:spPr>
        <p:txBody>
          <a:bodyPr/>
          <a:lstStyle/>
          <a:p>
            <a:pPr>
              <a:spcBef>
                <a:spcPct val="50000"/>
              </a:spcBef>
              <a:buFontTx/>
              <a:buNone/>
            </a:pPr>
            <a:r>
              <a:rPr lang="uz" sz="2800" b="1">
                <a:solidFill>
                  <a:srgbClr val="FF9966"/>
                </a:solidFill>
              </a:rPr>
              <a:t>kirish </a:t>
            </a:r>
            <a:br>
              <a:rPr lang="ru-RU" sz="2800" b="1">
                <a:solidFill>
                  <a:srgbClr val="FF9966"/>
                </a:solidFill>
              </a:rPr>
            </a:br>
            <a:r>
              <a:rPr lang="uz" sz="2800" b="1">
                <a:solidFill>
                  <a:srgbClr val="FF9966"/>
                </a:solidFill>
              </a:rPr>
              <a:t>(dial-up)</a:t>
            </a:r>
          </a:p>
          <a:p>
            <a:pPr>
              <a:spcBef>
                <a:spcPts val="500"/>
              </a:spcBef>
              <a:spcAft>
                <a:spcPts val="500"/>
              </a:spcAft>
              <a:buFont typeface="Wingdings" pitchFamily="2" charset="2"/>
              <a:buNone/>
            </a:pPr>
            <a:r>
              <a:rPr lang="uz" sz="2800" b="1"/>
              <a:t>Qo'ng'iroq bo'yicha kirishni tashkil qilishda foydalanuvchi mantiqiy nom (login) va parol oladi.</a:t>
            </a:r>
          </a:p>
          <a:p>
            <a:pPr>
              <a:spcBef>
                <a:spcPts val="500"/>
              </a:spcBef>
              <a:spcAft>
                <a:spcPts val="500"/>
              </a:spcAft>
              <a:buFont typeface="Wingdings" pitchFamily="2" charset="2"/>
              <a:buNone/>
            </a:pPr>
            <a:r>
              <a:rPr lang="uz" sz="2800" b="1"/>
              <a:t>Bunday holda, kompyuter aslida tarmoqning bir qismiga aylanmaydi, u shunchaki tarmoqqa doimiy ulangan boshqa kompyuterning xizmatlaridan foydalanish imkoniyatiga ega.</a:t>
            </a:r>
          </a:p>
          <a:p>
            <a:pPr>
              <a:spcBef>
                <a:spcPts val="500"/>
              </a:spcBef>
              <a:spcAft>
                <a:spcPts val="500"/>
              </a:spcAft>
            </a:pPr>
            <a:endParaRPr lang="ru-RU" sz="2800" b="1"/>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rrowheads="1"/>
          </p:cNvSpPr>
          <p:nvPr>
            <p:ph type="title"/>
          </p:nvPr>
        </p:nvSpPr>
        <p:spPr/>
        <p:txBody>
          <a:bodyPr/>
          <a:lstStyle/>
          <a:p>
            <a:r>
              <a:rPr lang="uz"/>
              <a:t>Internetga kirish turlari</a:t>
            </a:r>
          </a:p>
        </p:txBody>
      </p:sp>
      <p:sp>
        <p:nvSpPr>
          <p:cNvPr id="55299" name="Rectangle 3"/>
          <p:cNvSpPr>
            <a:spLocks noGrp="1" noChangeArrowheads="1"/>
          </p:cNvSpPr>
          <p:nvPr>
            <p:ph type="body" idx="1"/>
          </p:nvPr>
        </p:nvSpPr>
        <p:spPr>
          <a:xfrm>
            <a:off x="1981200" y="1524000"/>
            <a:ext cx="6096000" cy="4114800"/>
          </a:xfrm>
        </p:spPr>
        <p:txBody>
          <a:bodyPr/>
          <a:lstStyle/>
          <a:p>
            <a:pPr>
              <a:lnSpc>
                <a:spcPct val="90000"/>
              </a:lnSpc>
              <a:spcBef>
                <a:spcPct val="50000"/>
              </a:spcBef>
              <a:buFontTx/>
              <a:buNone/>
            </a:pPr>
            <a:r>
              <a:rPr lang="uz" sz="2800" b="1">
                <a:solidFill>
                  <a:srgbClr val="FF9966"/>
                </a:solidFill>
              </a:rPr>
              <a:t>UUCP kirish ( of-layn )</a:t>
            </a:r>
          </a:p>
          <a:p>
            <a:pPr>
              <a:lnSpc>
                <a:spcPct val="90000"/>
              </a:lnSpc>
              <a:spcBef>
                <a:spcPts val="500"/>
              </a:spcBef>
              <a:spcAft>
                <a:spcPts val="500"/>
              </a:spcAft>
              <a:buFont typeface="Wingdings" pitchFamily="2" charset="2"/>
              <a:buNone/>
            </a:pPr>
            <a:r>
              <a:rPr lang="uz" sz="2800" b="1" i="1"/>
              <a:t>UNIX </a:t>
            </a:r>
            <a:r>
              <a:rPr lang="uz" sz="2800" b="1"/>
              <a:t>tizimlari standart telefon liniyalari orqali ma'lumotlarni yuborish imkonini beruvchi UUCP deb nomlangan xizmatni qo'llab-quvvatlaydi. UUCP faqat fayllarni bir tizimdan boshqasiga o'tkazish imkonini beradi. Ushbu turdagi kirish Internet pochtasi va </a:t>
            </a:r>
            <a:r>
              <a:rPr lang="uz" sz="2800" b="1" i="1"/>
              <a:t>USENET yangiliklari bilan ishlash imkonini beradi.</a:t>
            </a:r>
            <a:endParaRPr lang="ru-RU" sz="2800" b="1"/>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rrowheads="1"/>
          </p:cNvSpPr>
          <p:nvPr>
            <p:ph type="title"/>
          </p:nvPr>
        </p:nvSpPr>
        <p:spPr/>
        <p:txBody>
          <a:bodyPr/>
          <a:lstStyle/>
          <a:p>
            <a:r>
              <a:rPr lang="uz"/>
              <a:t>Internetga kirish turlari</a:t>
            </a:r>
          </a:p>
        </p:txBody>
      </p:sp>
      <p:sp>
        <p:nvSpPr>
          <p:cNvPr id="56323" name="Rectangle 3"/>
          <p:cNvSpPr>
            <a:spLocks noGrp="1" noChangeArrowheads="1"/>
          </p:cNvSpPr>
          <p:nvPr>
            <p:ph type="body" idx="1"/>
          </p:nvPr>
        </p:nvSpPr>
        <p:spPr>
          <a:xfrm>
            <a:off x="1981200" y="1524000"/>
            <a:ext cx="6096000" cy="4114800"/>
          </a:xfrm>
        </p:spPr>
        <p:txBody>
          <a:bodyPr/>
          <a:lstStyle/>
          <a:p>
            <a:pPr>
              <a:spcBef>
                <a:spcPts val="500"/>
              </a:spcBef>
              <a:spcAft>
                <a:spcPts val="500"/>
              </a:spcAft>
              <a:buFont typeface="Wingdings" pitchFamily="2" charset="2"/>
              <a:buNone/>
            </a:pPr>
            <a:r>
              <a:rPr lang="uz" sz="2800" b="1"/>
              <a:t>Bunday holda, foydalanuvchining kompyuteri Internetga ulangan boshqasi bilan oddiygina muloqot qiladi va u bilan fayl almashadi.</a:t>
            </a:r>
          </a:p>
          <a:p>
            <a:pPr>
              <a:spcBef>
                <a:spcPct val="50000"/>
              </a:spcBef>
              <a:buFontTx/>
              <a:buNone/>
            </a:pPr>
            <a:endParaRPr lang="ru-RU" sz="2800" b="1"/>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p:cNvSpPr>
          <p:nvPr>
            <p:ph type="title"/>
          </p:nvPr>
        </p:nvSpPr>
        <p:spPr/>
        <p:txBody>
          <a:bodyPr/>
          <a:lstStyle/>
          <a:p>
            <a:r>
              <a:rPr lang="uz"/>
              <a:t>Internetga kirish turlari</a:t>
            </a:r>
          </a:p>
        </p:txBody>
      </p:sp>
      <p:sp>
        <p:nvSpPr>
          <p:cNvPr id="57347" name="Rectangle 3"/>
          <p:cNvSpPr>
            <a:spLocks noGrp="1" noChangeArrowheads="1"/>
          </p:cNvSpPr>
          <p:nvPr>
            <p:ph type="body" idx="1"/>
          </p:nvPr>
        </p:nvSpPr>
        <p:spPr>
          <a:xfrm>
            <a:off x="1981200" y="1524000"/>
            <a:ext cx="6096000" cy="4114800"/>
          </a:xfrm>
        </p:spPr>
        <p:txBody>
          <a:bodyPr/>
          <a:lstStyle/>
          <a:p>
            <a:pPr>
              <a:spcBef>
                <a:spcPct val="50000"/>
              </a:spcBef>
              <a:buFontTx/>
              <a:buNone/>
            </a:pPr>
            <a:r>
              <a:rPr lang="uz" sz="2800" b="1">
                <a:solidFill>
                  <a:srgbClr val="FF9966"/>
                </a:solidFill>
              </a:rPr>
              <a:t>Boshqa tarmoqlar orqali kirish</a:t>
            </a:r>
          </a:p>
          <a:p>
            <a:pPr>
              <a:spcBef>
                <a:spcPts val="100"/>
              </a:spcBef>
              <a:spcAft>
                <a:spcPts val="100"/>
              </a:spcAft>
              <a:buFont typeface="Wingdings" pitchFamily="2" charset="2"/>
              <a:buNone/>
            </a:pPr>
            <a:r>
              <a:rPr lang="uz" sz="2800" b="1"/>
              <a:t>Internetga ulangan turli tarmoqlar unga turli darajada birlashtirilgan. </a:t>
            </a:r>
            <a:r>
              <a:rPr lang="uz" sz="2800" b="1" i="1"/>
              <a:t>Bitnet </a:t>
            </a:r>
            <a:r>
              <a:rPr lang="uz" sz="2800" b="1"/>
              <a:t>yoki </a:t>
            </a:r>
            <a:r>
              <a:rPr lang="uz" sz="2800" b="1" i="1"/>
              <a:t>CompuServe </a:t>
            </a:r>
            <a:r>
              <a:rPr lang="uz" sz="2800" b="1"/>
              <a:t>kabi ko'pgina tarmoq xizmatlari ushbu tizimlar va Internet o'rtasida elektron pochta almashinuviga ruxsat berish uchun tarmoq moslamalarini ( </a:t>
            </a:r>
            <a:r>
              <a:rPr lang="uz" sz="2800" b="1" i="1"/>
              <a:t>shlyuzlarni ) </a:t>
            </a:r>
            <a:r>
              <a:rPr lang="uz" sz="2800" b="1"/>
              <a:t>o'rnatadi </a:t>
            </a:r>
            <a:r>
              <a:rPr lang="uz" sz="3600"/>
              <a:t>.</a:t>
            </a:r>
          </a:p>
          <a:p>
            <a:pPr algn="ctr">
              <a:spcBef>
                <a:spcPct val="50000"/>
              </a:spcBef>
              <a:buFontTx/>
              <a:buNone/>
            </a:pPr>
            <a:endParaRPr lang="ru-RU" sz="2800" b="1">
              <a:solidFill>
                <a:schemeClr val="hlink"/>
              </a:solidFill>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rrowheads="1"/>
          </p:cNvSpPr>
          <p:nvPr>
            <p:ph type="title"/>
          </p:nvPr>
        </p:nvSpPr>
        <p:spPr/>
        <p:txBody>
          <a:bodyPr/>
          <a:lstStyle/>
          <a:p>
            <a:r>
              <a:rPr lang="uz"/>
              <a:t>Internet xizmatlari</a:t>
            </a:r>
          </a:p>
        </p:txBody>
      </p:sp>
      <p:sp>
        <p:nvSpPr>
          <p:cNvPr id="58371" name="Rectangle 3"/>
          <p:cNvSpPr>
            <a:spLocks noGrp="1" noChangeArrowheads="1"/>
          </p:cNvSpPr>
          <p:nvPr>
            <p:ph type="body" idx="1"/>
          </p:nvPr>
        </p:nvSpPr>
        <p:spPr/>
        <p:txBody>
          <a:bodyPr/>
          <a:lstStyle/>
          <a:p>
            <a:pPr>
              <a:buFont typeface="Wingdings" pitchFamily="2" charset="2"/>
              <a:buNone/>
            </a:pPr>
            <a:r>
              <a:rPr lang="uz"/>
              <a:t>Internet xizmatlari odatda tarmoqning bir qismi bo'lgan serverlar tomonidan taqdim etiladigan xizmatlar turlarini anglatadi. Keling, eng mashhur Internet xizmatlarini ko'rib chiqaylik</a:t>
            </a:r>
          </a:p>
        </p:txBody>
      </p:sp>
      <p:pic>
        <p:nvPicPr>
          <p:cNvPr id="58372" name="Picture 4" descr="j0259926"/>
          <p:cNvPicPr>
            <a:picLocks noChangeAspect="1" noChangeArrowheads="1"/>
          </p:cNvPicPr>
          <p:nvPr/>
        </p:nvPicPr>
        <p:blipFill>
          <a:blip r:embed="rId2"/>
          <a:srcRect/>
          <a:stretch>
            <a:fillRect/>
          </a:stretch>
        </p:blipFill>
        <p:spPr bwMode="auto">
          <a:xfrm>
            <a:off x="457200" y="5334000"/>
            <a:ext cx="1905000" cy="1149350"/>
          </a:xfrm>
          <a:prstGeom prst="rect">
            <a:avLst/>
          </a:prstGeom>
          <a:noFill/>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rrowheads="1"/>
          </p:cNvSpPr>
          <p:nvPr>
            <p:ph type="title"/>
          </p:nvPr>
        </p:nvSpPr>
        <p:spPr>
          <a:xfrm>
            <a:off x="468313" y="0"/>
            <a:ext cx="8229600" cy="1143000"/>
          </a:xfrm>
        </p:spPr>
        <p:txBody>
          <a:bodyPr/>
          <a:lstStyle/>
          <a:p>
            <a:r>
              <a:rPr lang="uz"/>
              <a:t>Internet xizmatlari</a:t>
            </a:r>
          </a:p>
        </p:txBody>
      </p:sp>
      <p:sp>
        <p:nvSpPr>
          <p:cNvPr id="59395" name="Rectangle 3"/>
          <p:cNvSpPr>
            <a:spLocks noGrp="1" noChangeArrowheads="1"/>
          </p:cNvSpPr>
          <p:nvPr>
            <p:ph type="body" idx="1"/>
          </p:nvPr>
        </p:nvSpPr>
        <p:spPr>
          <a:xfrm>
            <a:off x="827088" y="1052513"/>
            <a:ext cx="7993062" cy="4114800"/>
          </a:xfrm>
        </p:spPr>
        <p:txBody>
          <a:bodyPr/>
          <a:lstStyle/>
          <a:p>
            <a:r>
              <a:rPr lang="uz" sz="2800" b="1"/>
              <a:t>Elektron pochta ( elektron pochta) - bu xabarlarni uzatish xizmati.</a:t>
            </a:r>
          </a:p>
          <a:p>
            <a:r>
              <a:rPr lang="uz" sz="2800" b="1"/>
              <a:t>Usenet (yangilik guruhlari, yangiliklar guruhlari).</a:t>
            </a:r>
          </a:p>
          <a:p>
            <a:r>
              <a:rPr lang="uz" sz="2800" b="1"/>
              <a:t>FTP - bu fayllarni uzatish xizmati.</a:t>
            </a:r>
          </a:p>
          <a:p>
            <a:r>
              <a:rPr lang="uz" sz="2800" b="1"/>
              <a:t>Telnet - bu kompyuterlarga masofadan kirish xizmati.</a:t>
            </a:r>
          </a:p>
          <a:p>
            <a:r>
              <a:rPr lang="uz" sz="2800" b="1"/>
              <a:t>World-Wide Web (WWW, Web, "World Wide Web") - bu gipermatnli hujjatlarni, jumladan grafik, ovoz va videolarni qidirish va ko'rish xizmati </a:t>
            </a:r>
            <a:r>
              <a:rPr lang="uz" sz="2800"/>
              <a:t>.</a:t>
            </a:r>
          </a:p>
          <a:p>
            <a:pPr>
              <a:buFont typeface="Wingdings" pitchFamily="2" charset="2"/>
              <a:buNone/>
            </a:pPr>
            <a:endParaRPr lang="ru-RU" sz="280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rrowheads="1"/>
          </p:cNvSpPr>
          <p:nvPr>
            <p:ph type="title"/>
          </p:nvPr>
        </p:nvSpPr>
        <p:spPr/>
        <p:txBody>
          <a:bodyPr/>
          <a:lstStyle/>
          <a:p>
            <a:r>
              <a:rPr lang="uz"/>
              <a:t>Internet xizmatlari</a:t>
            </a:r>
          </a:p>
        </p:txBody>
      </p:sp>
      <p:sp>
        <p:nvSpPr>
          <p:cNvPr id="60419"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Elektron pochta ( elektron pochta)</a:t>
            </a:r>
          </a:p>
          <a:p>
            <a:pPr>
              <a:buFont typeface="Wingdings" pitchFamily="2" charset="2"/>
              <a:buNone/>
            </a:pPr>
            <a:r>
              <a:rPr lang="uz"/>
              <a:t>eng qadimgi Internet xizmatlaridan biri (1970 yilda paydo bo'lgan) . Oflayn rejimda ishlaydi ( "kechiktirilgan o'qish").</a:t>
            </a:r>
          </a:p>
          <a:p>
            <a:pPr>
              <a:buFont typeface="Wingdings" pitchFamily="2" charset="2"/>
              <a:buNone/>
            </a:pPr>
            <a:endParaRPr lang="en-US" sz="2800" b="1"/>
          </a:p>
        </p:txBody>
      </p:sp>
      <p:pic>
        <p:nvPicPr>
          <p:cNvPr id="60420" name="Picture 4" descr="computer_with_a_letter"/>
          <p:cNvPicPr>
            <a:picLocks noChangeAspect="1" noChangeArrowheads="1" noCrop="1"/>
          </p:cNvPicPr>
          <p:nvPr/>
        </p:nvPicPr>
        <p:blipFill>
          <a:blip r:embed="rId2"/>
          <a:srcRect/>
          <a:stretch>
            <a:fillRect/>
          </a:stretch>
        </p:blipFill>
        <p:spPr bwMode="auto">
          <a:xfrm>
            <a:off x="468313" y="4292600"/>
            <a:ext cx="1692275" cy="1360488"/>
          </a:xfrm>
          <a:prstGeom prst="rect">
            <a:avLst/>
          </a:prstGeom>
          <a:noFill/>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rrowheads="1"/>
          </p:cNvSpPr>
          <p:nvPr>
            <p:ph type="title"/>
          </p:nvPr>
        </p:nvSpPr>
        <p:spPr/>
        <p:txBody>
          <a:bodyPr/>
          <a:lstStyle/>
          <a:p>
            <a:r>
              <a:rPr lang="uz"/>
              <a:t>Internet xizmatlari</a:t>
            </a:r>
          </a:p>
        </p:txBody>
      </p:sp>
      <p:sp>
        <p:nvSpPr>
          <p:cNvPr id="61443" name="Rectangle 3"/>
          <p:cNvSpPr>
            <a:spLocks noGrp="1" noChangeArrowheads="1"/>
          </p:cNvSpPr>
          <p:nvPr>
            <p:ph type="body" idx="1"/>
          </p:nvPr>
        </p:nvSpPr>
        <p:spPr>
          <a:xfrm>
            <a:off x="1979613" y="1524000"/>
            <a:ext cx="6935787" cy="4572000"/>
          </a:xfrm>
        </p:spPr>
        <p:txBody>
          <a:bodyPr/>
          <a:lstStyle/>
          <a:p>
            <a:pPr>
              <a:buFont typeface="Wingdings" pitchFamily="2" charset="2"/>
              <a:buNone/>
            </a:pPr>
            <a:r>
              <a:rPr lang="uz" sz="2800" b="1"/>
              <a:t>Elektron pochta ( elektron pochta)</a:t>
            </a:r>
          </a:p>
          <a:p>
            <a:pPr>
              <a:buFont typeface="Wingdings" pitchFamily="2" charset="2"/>
              <a:buNone/>
            </a:pPr>
            <a:r>
              <a:rPr lang="uz" sz="2800" b="1"/>
              <a:t>Elektron pochta orqali xabar yuborayotganda siz oddiy xatdagi kabi maydonlarni to'ldirishingiz kerak - xat qayerda va kimga mo'ljallanganligi, qaytish manzili (faqat barcha ismlar va manzillar, albatta, elektron). Siz xatni bir nechta oluvchilarga "uglerod nusxasi sifatida" yuborishingiz mumkin, siz xatga faylni "birikishingiz" mumkin va hokazo.</a:t>
            </a:r>
          </a:p>
          <a:p>
            <a:pPr>
              <a:buFont typeface="Wingdings" pitchFamily="2" charset="2"/>
              <a:buNone/>
            </a:pPr>
            <a:endParaRPr lang="ru-RU" sz="2800"/>
          </a:p>
        </p:txBody>
      </p:sp>
      <p:pic>
        <p:nvPicPr>
          <p:cNvPr id="61444" name="Picture 4" descr="e_mail1"/>
          <p:cNvPicPr>
            <a:picLocks noChangeAspect="1" noChangeArrowheads="1" noCrop="1"/>
          </p:cNvPicPr>
          <p:nvPr/>
        </p:nvPicPr>
        <p:blipFill>
          <a:blip r:embed="rId2"/>
          <a:srcRect/>
          <a:stretch>
            <a:fillRect/>
          </a:stretch>
        </p:blipFill>
        <p:spPr bwMode="auto">
          <a:xfrm>
            <a:off x="250825" y="1989138"/>
            <a:ext cx="1676400" cy="1604962"/>
          </a:xfrm>
          <a:prstGeom prst="rect">
            <a:avLst/>
          </a:prstGeom>
          <a:noFill/>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rrowheads="1"/>
          </p:cNvSpPr>
          <p:nvPr>
            <p:ph type="title"/>
          </p:nvPr>
        </p:nvSpPr>
        <p:spPr>
          <a:xfrm>
            <a:off x="468313" y="0"/>
            <a:ext cx="8229600" cy="1143000"/>
          </a:xfrm>
        </p:spPr>
        <p:txBody>
          <a:bodyPr/>
          <a:lstStyle/>
          <a:p>
            <a:r>
              <a:rPr lang="uz"/>
              <a:t>Internet xizmatlari</a:t>
            </a:r>
          </a:p>
        </p:txBody>
      </p:sp>
      <p:sp>
        <p:nvSpPr>
          <p:cNvPr id="62467" name="Rectangle 3"/>
          <p:cNvSpPr>
            <a:spLocks noGrp="1" noChangeArrowheads="1"/>
          </p:cNvSpPr>
          <p:nvPr>
            <p:ph type="body" idx="1"/>
          </p:nvPr>
        </p:nvSpPr>
        <p:spPr>
          <a:xfrm>
            <a:off x="1403350" y="981075"/>
            <a:ext cx="7740650" cy="3887788"/>
          </a:xfrm>
        </p:spPr>
        <p:txBody>
          <a:bodyPr/>
          <a:lstStyle/>
          <a:p>
            <a:pPr>
              <a:buFont typeface="Wingdings" pitchFamily="2" charset="2"/>
              <a:buNone/>
            </a:pPr>
            <a:r>
              <a:rPr lang="uz" sz="2800" b="1"/>
              <a:t>Elektron pochta ( elektron pochta)</a:t>
            </a:r>
          </a:p>
          <a:p>
            <a:pPr>
              <a:buFont typeface="Wingdings" pitchFamily="2" charset="2"/>
              <a:buNone/>
            </a:pPr>
            <a:r>
              <a:rPr lang="uz" sz="2800" b="1"/>
              <a:t>Elektron pochta bilan keyingi ishlash oddiy xat yuborishga juda o'xshaydi. Siz pochta serveriga ulanasiz (odatda POP3 - Post Office Protocol orqali) va ushbu serverga xat yuborasiz ("pochta bo'limiga olib boring"). Keyinchalik, pochta serveri xatni oluvchining pochta serveriga etkazib berishni tashkil qiladi, u (oluvchi) xatni olishi mumkin.</a:t>
            </a:r>
            <a:endParaRPr lang="en-US" sz="2800" b="1"/>
          </a:p>
        </p:txBody>
      </p:sp>
      <p:pic>
        <p:nvPicPr>
          <p:cNvPr id="62468" name="Picture 4" descr="e-mail"/>
          <p:cNvPicPr>
            <a:picLocks noChangeAspect="1" noChangeArrowheads="1"/>
          </p:cNvPicPr>
          <p:nvPr/>
        </p:nvPicPr>
        <p:blipFill>
          <a:blip r:embed="rId2"/>
          <a:srcRect/>
          <a:stretch>
            <a:fillRect/>
          </a:stretch>
        </p:blipFill>
        <p:spPr bwMode="auto">
          <a:xfrm>
            <a:off x="250825" y="4797425"/>
            <a:ext cx="1497013" cy="1546225"/>
          </a:xfrm>
          <a:prstGeom prst="rect">
            <a:avLst/>
          </a:prstGeom>
          <a:noFill/>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rrowheads="1"/>
          </p:cNvSpPr>
          <p:nvPr>
            <p:ph type="title"/>
          </p:nvPr>
        </p:nvSpPr>
        <p:spPr/>
        <p:txBody>
          <a:bodyPr/>
          <a:lstStyle/>
          <a:p>
            <a:r>
              <a:rPr lang="uz"/>
              <a:t>Internet xizmatlari</a:t>
            </a:r>
          </a:p>
        </p:txBody>
      </p:sp>
      <p:sp>
        <p:nvSpPr>
          <p:cNvPr id="63491" name="Rectangle 3"/>
          <p:cNvSpPr>
            <a:spLocks noGrp="1" noChangeArrowheads="1"/>
          </p:cNvSpPr>
          <p:nvPr>
            <p:ph type="body" idx="1"/>
          </p:nvPr>
        </p:nvSpPr>
        <p:spPr>
          <a:xfrm>
            <a:off x="2771775" y="1268413"/>
            <a:ext cx="6096000" cy="4572000"/>
          </a:xfrm>
        </p:spPr>
        <p:txBody>
          <a:bodyPr/>
          <a:lstStyle/>
          <a:p>
            <a:pPr>
              <a:lnSpc>
                <a:spcPct val="90000"/>
              </a:lnSpc>
              <a:buFont typeface="Wingdings" pitchFamily="2" charset="2"/>
              <a:buNone/>
            </a:pPr>
            <a:r>
              <a:rPr lang="uz" sz="2800" b="1"/>
              <a:t>Elektron pochta ( elektron pochta)</a:t>
            </a:r>
          </a:p>
          <a:p>
            <a:pPr>
              <a:lnSpc>
                <a:spcPct val="90000"/>
              </a:lnSpc>
              <a:buFont typeface="Wingdings" pitchFamily="2" charset="2"/>
              <a:buNone/>
            </a:pPr>
            <a:r>
              <a:rPr lang="uz" sz="2800" b="1"/>
              <a:t>Outlook Express yordamida elektron pochta bilan ishlashingiz mumkin (keyingi slaydga qarang).</a:t>
            </a:r>
          </a:p>
          <a:p>
            <a:pPr>
              <a:lnSpc>
                <a:spcPct val="90000"/>
              </a:lnSpc>
              <a:buFont typeface="Wingdings" pitchFamily="2" charset="2"/>
              <a:buNone/>
            </a:pPr>
            <a:r>
              <a:rPr lang="uz" sz="2800" b="1"/>
              <a:t>Bundan tashqari, ko'plab veb-saytlar bepul pochta qutisini yaratishga imkon beradi, masalan:</a:t>
            </a:r>
          </a:p>
          <a:p>
            <a:pPr>
              <a:lnSpc>
                <a:spcPct val="90000"/>
              </a:lnSpc>
              <a:buFont typeface="Wingdings" pitchFamily="2" charset="2"/>
              <a:buNone/>
            </a:pPr>
            <a:r>
              <a:rPr lang="uz" sz="2800" b="1">
                <a:solidFill>
                  <a:srgbClr val="FF9966"/>
                </a:solidFill>
              </a:rPr>
              <a:t>www.mail.ru</a:t>
            </a:r>
          </a:p>
          <a:p>
            <a:pPr>
              <a:lnSpc>
                <a:spcPct val="90000"/>
              </a:lnSpc>
              <a:buFont typeface="Wingdings" pitchFamily="2" charset="2"/>
              <a:buNone/>
            </a:pPr>
            <a:r>
              <a:rPr lang="uz" sz="2800" b="1">
                <a:solidFill>
                  <a:srgbClr val="FF9966"/>
                </a:solidFill>
              </a:rPr>
              <a:t>www.rambler.ru</a:t>
            </a:r>
          </a:p>
          <a:p>
            <a:pPr>
              <a:lnSpc>
                <a:spcPct val="90000"/>
              </a:lnSpc>
              <a:buFont typeface="Wingdings" pitchFamily="2" charset="2"/>
              <a:buNone/>
            </a:pPr>
            <a:r>
              <a:rPr lang="uz" sz="2800" b="1">
                <a:solidFill>
                  <a:srgbClr val="FF9966"/>
                </a:solidFill>
              </a:rPr>
              <a:t>www.aport.ru</a:t>
            </a:r>
          </a:p>
          <a:p>
            <a:pPr>
              <a:lnSpc>
                <a:spcPct val="90000"/>
              </a:lnSpc>
              <a:buFont typeface="Wingdings" pitchFamily="2" charset="2"/>
              <a:buNone/>
            </a:pPr>
            <a:r>
              <a:rPr lang="uz" sz="2800" b="1">
                <a:solidFill>
                  <a:srgbClr val="FF9966"/>
                </a:solidFill>
              </a:rPr>
              <a:t>www.yahoo.com</a:t>
            </a:r>
            <a:endParaRPr lang="ru-RU" sz="2800" b="1">
              <a:solidFill>
                <a:srgbClr val="FF9966"/>
              </a:solidFill>
            </a:endParaRPr>
          </a:p>
        </p:txBody>
      </p:sp>
      <p:pic>
        <p:nvPicPr>
          <p:cNvPr id="63492" name="Picture 4" descr="mail_box"/>
          <p:cNvPicPr>
            <a:picLocks noChangeAspect="1" noChangeArrowheads="1" noCrop="1"/>
          </p:cNvPicPr>
          <p:nvPr/>
        </p:nvPicPr>
        <p:blipFill>
          <a:blip r:embed="rId2"/>
          <a:srcRect/>
          <a:stretch>
            <a:fillRect/>
          </a:stretch>
        </p:blipFill>
        <p:spPr bwMode="auto">
          <a:xfrm>
            <a:off x="304800" y="4800600"/>
            <a:ext cx="1703388" cy="1622425"/>
          </a:xfrm>
          <a:prstGeom prst="rect">
            <a:avLst/>
          </a:prstGeom>
          <a:noFill/>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rrowheads="1"/>
          </p:cNvSpPr>
          <p:nvPr>
            <p:ph type="title"/>
          </p:nvPr>
        </p:nvSpPr>
        <p:spPr>
          <a:xfrm>
            <a:off x="2268538" y="0"/>
            <a:ext cx="6096000" cy="1143000"/>
          </a:xfrm>
        </p:spPr>
        <p:txBody>
          <a:bodyPr/>
          <a:lstStyle/>
          <a:p>
            <a:r>
              <a:rPr lang="uz"/>
              <a:t>Internet xizmatlari</a:t>
            </a:r>
          </a:p>
        </p:txBody>
      </p:sp>
      <p:sp>
        <p:nvSpPr>
          <p:cNvPr id="64515" name="Rectangle 3"/>
          <p:cNvSpPr>
            <a:spLocks noGrp="1" noChangeArrowheads="1"/>
          </p:cNvSpPr>
          <p:nvPr>
            <p:ph type="body" idx="1"/>
          </p:nvPr>
        </p:nvSpPr>
        <p:spPr>
          <a:xfrm>
            <a:off x="2819400" y="1066800"/>
            <a:ext cx="6096000" cy="5029200"/>
          </a:xfrm>
        </p:spPr>
        <p:txBody>
          <a:bodyPr/>
          <a:lstStyle/>
          <a:p>
            <a:pPr>
              <a:buFont typeface="Wingdings" pitchFamily="2" charset="2"/>
              <a:buNone/>
            </a:pPr>
            <a:r>
              <a:rPr lang="uz" sz="2800" b="1"/>
              <a:t>OutlookExpress </a:t>
            </a:r>
            <a:endParaRPr lang="ru-RU" sz="2800" b="1">
              <a:solidFill>
                <a:schemeClr val="hlink"/>
              </a:solidFill>
            </a:endParaRPr>
          </a:p>
        </p:txBody>
      </p:sp>
      <p:graphicFrame>
        <p:nvGraphicFramePr>
          <p:cNvPr id="64516" name="Object 4"/>
          <p:cNvGraphicFramePr>
            <a:graphicFrameLocks noChangeAspect="1"/>
          </p:cNvGraphicFramePr>
          <p:nvPr/>
        </p:nvGraphicFramePr>
        <p:xfrm>
          <a:off x="1676400" y="1905000"/>
          <a:ext cx="5410200" cy="4575175"/>
        </p:xfrm>
        <a:graphic>
          <a:graphicData uri="http://schemas.openxmlformats.org/presentationml/2006/ole">
            <mc:AlternateContent xmlns:mc="http://schemas.openxmlformats.org/markup-compatibility/2006">
              <mc:Choice xmlns:v="urn:schemas-microsoft-com:vml" Requires="v">
                <p:oleObj spid="_x0000_s64518" name="Image" r:id="rId3" imgW="6353689" imgH="4828803" progId="Photoshop.Image.5">
                  <p:embed/>
                </p:oleObj>
              </mc:Choice>
              <mc:Fallback>
                <p:oleObj name="Image" r:id="rId3" imgW="6353689" imgH="4828803" progId="Photoshop.Image.5">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905000"/>
                        <a:ext cx="5410200" cy="457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rrowheads="1"/>
          </p:cNvSpPr>
          <p:nvPr>
            <p:ph type="title"/>
          </p:nvPr>
        </p:nvSpPr>
        <p:spPr/>
        <p:txBody>
          <a:bodyPr/>
          <a:lstStyle/>
          <a:p>
            <a:r>
              <a:rPr lang="uz"/>
              <a:t>Internet xizmatlari</a:t>
            </a:r>
          </a:p>
        </p:txBody>
      </p:sp>
      <p:sp>
        <p:nvSpPr>
          <p:cNvPr id="67587"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sz="2800" b="1"/>
              <a:t>Elektron pochta ( elektron pochta)</a:t>
            </a:r>
          </a:p>
          <a:p>
            <a:pPr>
              <a:buFont typeface="Wingdings" pitchFamily="2" charset="2"/>
              <a:buNone/>
            </a:pPr>
            <a:r>
              <a:rPr lang="uz" sz="2800" b="1"/>
              <a:t>   </a:t>
            </a:r>
            <a:r>
              <a:rPr lang="uz" sz="2800" b="1">
                <a:solidFill>
                  <a:srgbClr val="FF9966"/>
                </a:solidFill>
              </a:rPr>
              <a:t>Afzalliklar</a:t>
            </a:r>
          </a:p>
          <a:p>
            <a:r>
              <a:rPr lang="uz" sz="2800" b="1"/>
              <a:t>Yuqori etkazib berish tezligi</a:t>
            </a:r>
          </a:p>
          <a:p>
            <a:r>
              <a:rPr lang="uz" sz="2800" b="1"/>
              <a:t>Arzonlik</a:t>
            </a:r>
          </a:p>
          <a:p>
            <a:r>
              <a:rPr lang="uz" sz="2800" b="1"/>
              <a:t>Ishonchlilik</a:t>
            </a:r>
          </a:p>
          <a:p>
            <a:r>
              <a:rPr lang="uz" sz="2800" b="1"/>
              <a:t>Matnli va matnsiz fayllarni yuborish imkoniyati</a:t>
            </a:r>
          </a:p>
          <a:p>
            <a:r>
              <a:rPr lang="uz" sz="2800" b="1"/>
              <a:t>Har qanday qulay vaqtda xat olish va unga javob berish imkoniyati</a:t>
            </a:r>
          </a:p>
        </p:txBody>
      </p:sp>
      <p:pic>
        <p:nvPicPr>
          <p:cNvPr id="67588" name="Picture 4" descr="dog_in_the_box"/>
          <p:cNvPicPr>
            <a:picLocks noChangeAspect="1" noChangeArrowheads="1"/>
          </p:cNvPicPr>
          <p:nvPr/>
        </p:nvPicPr>
        <p:blipFill>
          <a:blip r:embed="rId2"/>
          <a:srcRect/>
          <a:stretch>
            <a:fillRect/>
          </a:stretch>
        </p:blipFill>
        <p:spPr bwMode="auto">
          <a:xfrm>
            <a:off x="381000" y="3581400"/>
            <a:ext cx="2297113" cy="2846388"/>
          </a:xfrm>
          <a:prstGeom prst="rect">
            <a:avLst/>
          </a:prstGeom>
          <a:noFill/>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rrowheads="1"/>
          </p:cNvSpPr>
          <p:nvPr>
            <p:ph type="title"/>
          </p:nvPr>
        </p:nvSpPr>
        <p:spPr/>
        <p:txBody>
          <a:bodyPr/>
          <a:lstStyle/>
          <a:p>
            <a:r>
              <a:rPr lang="uz"/>
              <a:t>Internet xizmatlari</a:t>
            </a:r>
          </a:p>
        </p:txBody>
      </p:sp>
      <p:sp>
        <p:nvSpPr>
          <p:cNvPr id="68611"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Elektron pochta ( elektron pochta)</a:t>
            </a:r>
          </a:p>
          <a:p>
            <a:pPr>
              <a:buFont typeface="Wingdings" pitchFamily="2" charset="2"/>
              <a:buNone/>
            </a:pPr>
            <a:r>
              <a:rPr lang="uz"/>
              <a:t>   </a:t>
            </a:r>
            <a:r>
              <a:rPr lang="uz" sz="2800" b="1">
                <a:solidFill>
                  <a:srgbClr val="FF9966"/>
                </a:solidFill>
              </a:rPr>
              <a:t>Kamchiliklar</a:t>
            </a:r>
            <a:endParaRPr lang="ru-RU" sz="2800" b="1">
              <a:solidFill>
                <a:srgbClr val="FF9966"/>
              </a:solidFill>
            </a:endParaRPr>
          </a:p>
          <a:p>
            <a:r>
              <a:rPr lang="uz" sz="2800" b="1"/>
              <a:t>Ilova fayllarida viruslar mavjudligi.</a:t>
            </a:r>
          </a:p>
          <a:p>
            <a:r>
              <a:rPr lang="uz" sz="2800" b="1"/>
              <a:t>Og'zaki bo'lmagan jihatlarning etishmasligi</a:t>
            </a:r>
          </a:p>
          <a:p>
            <a:pPr>
              <a:buFont typeface="Wingdings" pitchFamily="2" charset="2"/>
              <a:buNone/>
            </a:pPr>
            <a:r>
              <a:rPr lang="uz"/>
              <a:t> </a:t>
            </a:r>
          </a:p>
        </p:txBody>
      </p:sp>
      <p:pic>
        <p:nvPicPr>
          <p:cNvPr id="68612" name="Picture 4" descr="image002"/>
          <p:cNvPicPr>
            <a:picLocks noChangeAspect="1" noChangeArrowheads="1"/>
          </p:cNvPicPr>
          <p:nvPr/>
        </p:nvPicPr>
        <p:blipFill>
          <a:blip r:embed="rId2"/>
          <a:srcRect/>
          <a:stretch>
            <a:fillRect/>
          </a:stretch>
        </p:blipFill>
        <p:spPr bwMode="auto">
          <a:xfrm>
            <a:off x="838200" y="4495800"/>
            <a:ext cx="1412875" cy="1543050"/>
          </a:xfrm>
          <a:prstGeom prst="rect">
            <a:avLst/>
          </a:prstGeom>
          <a:noFill/>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rrowheads="1"/>
          </p:cNvSpPr>
          <p:nvPr>
            <p:ph type="title"/>
          </p:nvPr>
        </p:nvSpPr>
        <p:spPr/>
        <p:txBody>
          <a:bodyPr/>
          <a:lstStyle/>
          <a:p>
            <a:r>
              <a:rPr lang="uz"/>
              <a:t>Internet xizmatlari</a:t>
            </a:r>
          </a:p>
        </p:txBody>
      </p:sp>
      <p:sp>
        <p:nvSpPr>
          <p:cNvPr id="69635" name="Rectangle 3"/>
          <p:cNvSpPr>
            <a:spLocks noGrp="1" noChangeArrowheads="1"/>
          </p:cNvSpPr>
          <p:nvPr>
            <p:ph type="body" idx="1"/>
          </p:nvPr>
        </p:nvSpPr>
        <p:spPr>
          <a:xfrm>
            <a:off x="457200" y="1524000"/>
            <a:ext cx="7696200" cy="2895600"/>
          </a:xfrm>
        </p:spPr>
        <p:txBody>
          <a:bodyPr/>
          <a:lstStyle/>
          <a:p>
            <a:pPr>
              <a:lnSpc>
                <a:spcPct val="90000"/>
              </a:lnSpc>
              <a:buFont typeface="Wingdings" pitchFamily="2" charset="2"/>
              <a:buNone/>
            </a:pPr>
            <a:r>
              <a:rPr lang="uz"/>
              <a:t>Elektron pochta ( elektron pochta)</a:t>
            </a:r>
          </a:p>
          <a:p>
            <a:pPr>
              <a:lnSpc>
                <a:spcPct val="90000"/>
              </a:lnSpc>
              <a:buFont typeface="Wingdings" pitchFamily="2" charset="2"/>
              <a:buNone/>
            </a:pPr>
            <a:r>
              <a:rPr lang="uz"/>
              <a:t>   </a:t>
            </a:r>
            <a:r>
              <a:rPr lang="uz" sz="2800" b="1"/>
              <a:t>Oxirgi kamchilikni kulgichlar (ko'ngilochar belgilar) yordamida qisman qoplash mumkin.</a:t>
            </a:r>
          </a:p>
          <a:p>
            <a:pPr>
              <a:lnSpc>
                <a:spcPct val="90000"/>
              </a:lnSpc>
              <a:buFont typeface="Wingdings" pitchFamily="2" charset="2"/>
              <a:buNone/>
            </a:pPr>
            <a:r>
              <a:rPr lang="uz" sz="2800" b="1"/>
              <a:t>:-) - "tabassum"</a:t>
            </a:r>
          </a:p>
          <a:p>
            <a:pPr>
              <a:lnSpc>
                <a:spcPct val="90000"/>
              </a:lnSpc>
              <a:buFont typeface="Wingdings" pitchFamily="2" charset="2"/>
              <a:buNone/>
            </a:pPr>
            <a:r>
              <a:rPr lang="uz" sz="2800" b="1"/>
              <a:t>:-( - norozilik</a:t>
            </a:r>
          </a:p>
          <a:p>
            <a:pPr>
              <a:lnSpc>
                <a:spcPct val="90000"/>
              </a:lnSpc>
              <a:buFont typeface="Wingdings" pitchFamily="2" charset="2"/>
              <a:buNone/>
            </a:pPr>
            <a:r>
              <a:rPr lang="uz" sz="2800" b="1"/>
              <a:t>;-) - ko'z qisish</a:t>
            </a:r>
          </a:p>
          <a:p>
            <a:pPr>
              <a:lnSpc>
                <a:spcPct val="90000"/>
              </a:lnSpc>
              <a:buFont typeface="Wingdings" pitchFamily="2" charset="2"/>
              <a:buNone/>
            </a:pPr>
            <a:r>
              <a:rPr lang="uz" sz="2800" b="1"/>
              <a:t>8-) - haddan tashqari ajablanish darajasi (yoki ko'zoynak taqqanligingiz).</a:t>
            </a:r>
            <a:r>
              <a:rPr lang="uz"/>
              <a:t> </a:t>
            </a:r>
          </a:p>
        </p:txBody>
      </p:sp>
      <p:pic>
        <p:nvPicPr>
          <p:cNvPr id="69636" name="Picture 4" descr="love_on_the_web"/>
          <p:cNvPicPr>
            <a:picLocks noChangeAspect="1" noChangeArrowheads="1"/>
          </p:cNvPicPr>
          <p:nvPr/>
        </p:nvPicPr>
        <p:blipFill>
          <a:blip r:embed="rId2"/>
          <a:srcRect/>
          <a:stretch>
            <a:fillRect/>
          </a:stretch>
        </p:blipFill>
        <p:spPr bwMode="auto">
          <a:xfrm>
            <a:off x="2590800" y="5040313"/>
            <a:ext cx="3429000" cy="1817687"/>
          </a:xfrm>
          <a:prstGeom prst="rect">
            <a:avLst/>
          </a:prstGeom>
          <a:noFill/>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rrowheads="1"/>
          </p:cNvSpPr>
          <p:nvPr>
            <p:ph type="title"/>
          </p:nvPr>
        </p:nvSpPr>
        <p:spPr/>
        <p:txBody>
          <a:bodyPr/>
          <a:lstStyle/>
          <a:p>
            <a:r>
              <a:rPr lang="uz"/>
              <a:t>Internet xizmatlari</a:t>
            </a:r>
          </a:p>
        </p:txBody>
      </p:sp>
      <p:sp>
        <p:nvSpPr>
          <p:cNvPr id="70659"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Telekonferentsiya (Usenet)</a:t>
            </a:r>
          </a:p>
          <a:p>
            <a:pPr>
              <a:buFont typeface="Wingdings" pitchFamily="2" charset="2"/>
              <a:buNone/>
            </a:pPr>
            <a:r>
              <a:rPr lang="uz" sz="2800" b="1"/>
              <a:t>Ba'zan siz shunchaki xabar almashishingiz kerak emas, balki ma'lum bir mavzu bo'yicha muhokamaning bir qismi sifatida buni yanada tartibli tarzda qilishingiz kerak. Bunday muhokamalarni tashkil qilish imkonini beruvchi xizmat Usenet deb ataladi.</a:t>
            </a:r>
            <a:endParaRPr lang="en-US"/>
          </a:p>
          <a:p>
            <a:pPr>
              <a:buFont typeface="Wingdings" pitchFamily="2" charset="2"/>
              <a:buNone/>
            </a:pPr>
            <a:endParaRPr lang="en-US" sz="2800" b="1"/>
          </a:p>
          <a:p>
            <a:pPr>
              <a:buFont typeface="Wingdings" pitchFamily="2" charset="2"/>
              <a:buNone/>
            </a:pPr>
            <a:endParaRPr lang="en-US" sz="2800" b="1"/>
          </a:p>
        </p:txBody>
      </p:sp>
      <p:pic>
        <p:nvPicPr>
          <p:cNvPr id="70660" name="Picture 4" descr="conference"/>
          <p:cNvPicPr>
            <a:picLocks noChangeAspect="1" noChangeArrowheads="1" noCrop="1"/>
          </p:cNvPicPr>
          <p:nvPr/>
        </p:nvPicPr>
        <p:blipFill>
          <a:blip r:embed="rId2"/>
          <a:srcRect/>
          <a:stretch>
            <a:fillRect/>
          </a:stretch>
        </p:blipFill>
        <p:spPr bwMode="auto">
          <a:xfrm>
            <a:off x="304800" y="4724400"/>
            <a:ext cx="2286000" cy="1530350"/>
          </a:xfrm>
          <a:prstGeom prst="rect">
            <a:avLst/>
          </a:prstGeom>
          <a:noFill/>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rrowheads="1"/>
          </p:cNvSpPr>
          <p:nvPr>
            <p:ph type="title"/>
          </p:nvPr>
        </p:nvSpPr>
        <p:spPr/>
        <p:txBody>
          <a:bodyPr/>
          <a:lstStyle/>
          <a:p>
            <a:r>
              <a:rPr lang="uz"/>
              <a:t>Internet xizmatlari</a:t>
            </a:r>
          </a:p>
        </p:txBody>
      </p:sp>
      <p:sp>
        <p:nvSpPr>
          <p:cNvPr id="71683"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Telekonferentsiya (Usenet)</a:t>
            </a:r>
          </a:p>
          <a:p>
            <a:pPr>
              <a:buFont typeface="Wingdings" pitchFamily="2" charset="2"/>
              <a:buNone/>
            </a:pPr>
            <a:r>
              <a:rPr lang="uz" sz="2800" b="1"/>
              <a:t>Ushbu xizmat quyidagicha ishlaydi. Usenet serverlari (yoki yangiliklar serverlari) Internetda tashkil etilgan bo'lib, ular haqiqatda foydalanuvchilardan xabarlarni qabul qiladi va yuboradi va barcha yangiliklar serverlari o'zaro bog'langan.</a:t>
            </a:r>
            <a:r>
              <a:rPr lang="uz" sz="2400"/>
              <a:t> </a:t>
            </a:r>
          </a:p>
          <a:p>
            <a:pPr>
              <a:buFont typeface="Wingdings" pitchFamily="2" charset="2"/>
              <a:buNone/>
            </a:pPr>
            <a:endParaRPr lang="en-US" sz="2800" b="1"/>
          </a:p>
        </p:txBody>
      </p:sp>
      <p:pic>
        <p:nvPicPr>
          <p:cNvPr id="71684" name="Picture 4" descr="conference_in_the_box"/>
          <p:cNvPicPr>
            <a:picLocks noChangeAspect="1" noChangeArrowheads="1"/>
          </p:cNvPicPr>
          <p:nvPr/>
        </p:nvPicPr>
        <p:blipFill>
          <a:blip r:embed="rId2"/>
          <a:srcRect r="60928"/>
          <a:stretch>
            <a:fillRect/>
          </a:stretch>
        </p:blipFill>
        <p:spPr bwMode="auto">
          <a:xfrm>
            <a:off x="228600" y="3429000"/>
            <a:ext cx="2862263" cy="3028950"/>
          </a:xfrm>
          <a:prstGeom prst="rect">
            <a:avLst/>
          </a:prstGeom>
          <a:noFill/>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rrowheads="1"/>
          </p:cNvSpPr>
          <p:nvPr>
            <p:ph type="title"/>
          </p:nvPr>
        </p:nvSpPr>
        <p:spPr/>
        <p:txBody>
          <a:bodyPr/>
          <a:lstStyle/>
          <a:p>
            <a:r>
              <a:rPr lang="uz"/>
              <a:t>Internet xizmatlari</a:t>
            </a:r>
          </a:p>
        </p:txBody>
      </p:sp>
      <p:sp>
        <p:nvSpPr>
          <p:cNvPr id="72707"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Telekonferentsiya (Usenet)</a:t>
            </a:r>
          </a:p>
          <a:p>
            <a:pPr>
              <a:buFont typeface="Wingdings" pitchFamily="2" charset="2"/>
              <a:buNone/>
            </a:pPr>
            <a:r>
              <a:rPr lang="uz" sz="2800" b="1"/>
              <a:t>ularning manzillarini (nomlarini) tuzish uchun </a:t>
            </a:r>
            <a:endParaRPr lang="en-US" sz="2800" b="1"/>
          </a:p>
        </p:txBody>
      </p:sp>
      <p:pic>
        <p:nvPicPr>
          <p:cNvPr id="72708" name="Picture 4" descr="teleconference"/>
          <p:cNvPicPr>
            <a:picLocks noChangeAspect="1" noChangeArrowheads="1"/>
          </p:cNvPicPr>
          <p:nvPr/>
        </p:nvPicPr>
        <p:blipFill>
          <a:blip r:embed="rId2"/>
          <a:srcRect/>
          <a:stretch>
            <a:fillRect/>
          </a:stretch>
        </p:blipFill>
        <p:spPr bwMode="auto">
          <a:xfrm>
            <a:off x="457200" y="4191000"/>
            <a:ext cx="2193925" cy="2193925"/>
          </a:xfrm>
          <a:prstGeom prst="rect">
            <a:avLst/>
          </a:prstGeom>
          <a:noFill/>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rrowheads="1"/>
          </p:cNvSpPr>
          <p:nvPr>
            <p:ph type="title"/>
          </p:nvPr>
        </p:nvSpPr>
        <p:spPr/>
        <p:txBody>
          <a:bodyPr/>
          <a:lstStyle/>
          <a:p>
            <a:r>
              <a:rPr lang="uz"/>
              <a:t>Internet xizmatlari</a:t>
            </a:r>
          </a:p>
        </p:txBody>
      </p:sp>
      <p:sp>
        <p:nvSpPr>
          <p:cNvPr id="73731"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Telekonferentsiya (Usenet)</a:t>
            </a:r>
          </a:p>
          <a:p>
            <a:pPr>
              <a:buFont typeface="Wingdings" pitchFamily="2" charset="2"/>
              <a:buNone/>
            </a:pPr>
            <a:r>
              <a:rPr lang="uz" sz="2800" b="1"/>
              <a:t>Telekonferentsiya nomi ierarxiya nomidan boshlanadi</a:t>
            </a:r>
          </a:p>
          <a:p>
            <a:r>
              <a:rPr lang="uz" sz="2800" b="1"/>
              <a:t>komp - kompyuterlar va dasturlash</a:t>
            </a:r>
            <a:endParaRPr lang="en-US" sz="2800" b="1"/>
          </a:p>
          <a:p>
            <a:r>
              <a:rPr lang="uz" sz="2800" b="1"/>
              <a:t>yangiliklar - TKF bilan bog'liq masalalar</a:t>
            </a:r>
            <a:endParaRPr lang="en-US" sz="2800" b="1"/>
          </a:p>
          <a:p>
            <a:r>
              <a:rPr lang="uz" sz="2800" b="1"/>
              <a:t>rec - dam olish, sevimli mashg'ulot</a:t>
            </a:r>
          </a:p>
          <a:p>
            <a:r>
              <a:rPr lang="uz" sz="2800" b="1"/>
              <a:t>ilmiy fanlar</a:t>
            </a:r>
            <a:endParaRPr lang="en-US" sz="2800" b="1"/>
          </a:p>
          <a:p>
            <a:r>
              <a:rPr lang="uz" sz="2800" b="1"/>
              <a:t>ijtimoiy - ijtimoiy masalalar</a:t>
            </a:r>
          </a:p>
          <a:p>
            <a:r>
              <a:rPr lang="uz" sz="2800" b="1"/>
              <a:t>suhbat - suhbatlar</a:t>
            </a:r>
          </a:p>
          <a:p>
            <a:r>
              <a:rPr lang="uz" sz="2800" b="1"/>
              <a:t>misc - qolgan hamma narsa</a:t>
            </a:r>
            <a:endParaRPr lang="ru-RU" sz="2800" b="1"/>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rrowheads="1"/>
          </p:cNvSpPr>
          <p:nvPr>
            <p:ph type="title"/>
          </p:nvPr>
        </p:nvSpPr>
        <p:spPr/>
        <p:txBody>
          <a:bodyPr/>
          <a:lstStyle/>
          <a:p>
            <a:r>
              <a:rPr lang="uz"/>
              <a:t>Internet xizmatlari</a:t>
            </a:r>
          </a:p>
        </p:txBody>
      </p:sp>
      <p:sp>
        <p:nvSpPr>
          <p:cNvPr id="74755"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Telekonferentsiya (Usenet)</a:t>
            </a:r>
          </a:p>
          <a:p>
            <a:pPr>
              <a:buFont typeface="Wingdings" pitchFamily="2" charset="2"/>
              <a:buNone/>
            </a:pPr>
            <a:r>
              <a:rPr lang="uz" sz="2800" b="1"/>
              <a:t>Masalan, TKF mavzusini manzillar bilan tushunish qiyin emas</a:t>
            </a:r>
          </a:p>
          <a:p>
            <a:pPr>
              <a:buFont typeface="Wingdings" pitchFamily="2" charset="2"/>
              <a:buNone/>
            </a:pPr>
            <a:r>
              <a:rPr lang="uz" sz="2800" b="1"/>
              <a:t>comp.sys.sun.admin</a:t>
            </a:r>
          </a:p>
          <a:p>
            <a:pPr>
              <a:buFont typeface="Wingdings" pitchFamily="2" charset="2"/>
              <a:buNone/>
            </a:pPr>
            <a:r>
              <a:rPr lang="uz" sz="2800" b="1"/>
              <a:t>relcom.comp.os.os2 ( Ko'pgina rus TKFlarining nomlari relcom ierarxiyasidan boshlanadi, chunki ular dastlab "Relcom" OAJ tomonidan ishlab chiqilgan).</a:t>
            </a:r>
          </a:p>
          <a:p>
            <a:pPr>
              <a:buFont typeface="Wingdings" pitchFamily="2" charset="2"/>
              <a:buNone/>
            </a:pPr>
            <a:r>
              <a:rPr lang="uz" sz="2800" b="1"/>
              <a:t>Qiziqarli yangiliklar guruhlari ierarxiyalarda joylashgan</a:t>
            </a:r>
          </a:p>
          <a:p>
            <a:pPr>
              <a:buFont typeface="Wingdings" pitchFamily="2" charset="2"/>
              <a:buNone/>
            </a:pPr>
            <a:r>
              <a:rPr lang="uz" sz="2800" b="1"/>
              <a:t>relcom.education va relcom.kids.</a:t>
            </a:r>
            <a:endParaRPr lang="ru-RU" sz="2800" b="1"/>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rrowheads="1"/>
          </p:cNvSpPr>
          <p:nvPr>
            <p:ph type="title"/>
          </p:nvPr>
        </p:nvSpPr>
        <p:spPr/>
        <p:txBody>
          <a:bodyPr/>
          <a:lstStyle/>
          <a:p>
            <a:r>
              <a:rPr lang="uz"/>
              <a:t>Internet xizmatlari</a:t>
            </a:r>
          </a:p>
        </p:txBody>
      </p:sp>
      <p:sp>
        <p:nvSpPr>
          <p:cNvPr id="75779"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Telekonferentsiyalar</a:t>
            </a:r>
          </a:p>
          <a:p>
            <a:pPr>
              <a:buFont typeface="Wingdings" pitchFamily="2" charset="2"/>
              <a:buNone/>
            </a:pPr>
            <a:r>
              <a:rPr lang="uz" sz="2800" b="1"/>
              <a:t>Ish real vaqt rejimida ham ( on-layn rejimda) va elektron pochta orqali kechiktirilgan o'qish rejimida ( of-layn) amalga oshirilishi mumkin.</a:t>
            </a:r>
          </a:p>
          <a:p>
            <a:pPr>
              <a:buFont typeface="Wingdings" pitchFamily="2" charset="2"/>
              <a:buNone/>
            </a:pPr>
            <a:r>
              <a:rPr lang="uz" sz="2800" b="1"/>
              <a:t>TKF bilan ishlash uchun Outlook Express va Netscape Navigator dasturlari foydalanish mumkin . Netscape Navigator ekran ko'rinishi - keyingi. slayd.</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rrowheads="1"/>
          </p:cNvSpPr>
          <p:nvPr>
            <p:ph type="title"/>
          </p:nvPr>
        </p:nvSpPr>
        <p:spPr/>
        <p:txBody>
          <a:bodyPr/>
          <a:lstStyle/>
          <a:p>
            <a:r>
              <a:rPr lang="uz"/>
              <a:t>Internet xizmatlari</a:t>
            </a:r>
            <a:br>
              <a:rPr lang="ru-RU"/>
            </a:br>
            <a:endParaRPr lang="ru-RU"/>
          </a:p>
        </p:txBody>
      </p:sp>
      <p:sp>
        <p:nvSpPr>
          <p:cNvPr id="76803"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   </a:t>
            </a:r>
          </a:p>
          <a:p>
            <a:pPr>
              <a:buFont typeface="Wingdings" pitchFamily="2" charset="2"/>
              <a:buNone/>
            </a:pPr>
            <a:endParaRPr lang="en-US"/>
          </a:p>
        </p:txBody>
      </p:sp>
      <p:pic>
        <p:nvPicPr>
          <p:cNvPr id="76804" name="Picture 4"/>
          <p:cNvPicPr>
            <a:picLocks noChangeArrowheads="1"/>
          </p:cNvPicPr>
          <p:nvPr/>
        </p:nvPicPr>
        <p:blipFill>
          <a:blip r:embed="rId2"/>
          <a:srcRect/>
          <a:stretch>
            <a:fillRect/>
          </a:stretch>
        </p:blipFill>
        <p:spPr bwMode="auto">
          <a:xfrm>
            <a:off x="2133600" y="1981200"/>
            <a:ext cx="5370513" cy="4502150"/>
          </a:xfrm>
          <a:prstGeom prst="rect">
            <a:avLst/>
          </a:prstGeom>
          <a:noFill/>
          <a:ln w="9525">
            <a:noFill/>
            <a:miter lim="800000"/>
            <a:headEnd/>
            <a:tailEnd/>
          </a:ln>
          <a:effectLst/>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rrowheads="1"/>
          </p:cNvSpPr>
          <p:nvPr>
            <p:ph type="title"/>
          </p:nvPr>
        </p:nvSpPr>
        <p:spPr/>
        <p:txBody>
          <a:bodyPr/>
          <a:lstStyle/>
          <a:p>
            <a:r>
              <a:rPr lang="uz"/>
              <a:t>Internet xizmatlari</a:t>
            </a:r>
          </a:p>
        </p:txBody>
      </p:sp>
      <p:sp>
        <p:nvSpPr>
          <p:cNvPr id="77827"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FTP xizmati</a:t>
            </a:r>
          </a:p>
          <a:p>
            <a:pPr>
              <a:buFont typeface="Wingdings" pitchFamily="2" charset="2"/>
              <a:buNone/>
            </a:pPr>
            <a:r>
              <a:rPr lang="uz" sz="2800" b="1"/>
              <a:t>FTP - bu File Transfer Protocolning qisqartmasi. FTP Internetga ulangan kompyuterlardan fayllarni yuborish va qabul qilish imkonini beradi. Bundan tashqari, bu fayllar har qanday bo'lishi mumkin - matn, tasvirlar, raqamli ovoz, arxivlar va boshqalar. Ushbu xizmat ancha eski bo'lib, u TCP/IP ni joriy qilish bilan birga paydo bo'lgan.</a:t>
            </a:r>
            <a:r>
              <a:rPr lang="uz" sz="2800"/>
              <a:t> </a:t>
            </a:r>
            <a:endParaRPr lang="ru-RU"/>
          </a:p>
          <a:p>
            <a:pPr>
              <a:buFont typeface="Wingdings" pitchFamily="2" charset="2"/>
              <a:buNone/>
            </a:pPr>
            <a:endParaRPr lang="ru-RU" sz="2800" b="1"/>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p:nvPr>
        </p:nvSpPr>
        <p:spPr/>
        <p:txBody>
          <a:bodyPr/>
          <a:lstStyle/>
          <a:p>
            <a:r>
              <a:rPr lang="uz"/>
              <a:t>Internet xizmatlari</a:t>
            </a:r>
          </a:p>
        </p:txBody>
      </p:sp>
      <p:sp>
        <p:nvSpPr>
          <p:cNvPr id="78851" name="Rectangle 3"/>
          <p:cNvSpPr>
            <a:spLocks noGrp="1" noChangeArrowheads="1"/>
          </p:cNvSpPr>
          <p:nvPr>
            <p:ph type="body" idx="1"/>
          </p:nvPr>
        </p:nvSpPr>
        <p:spPr>
          <a:xfrm>
            <a:off x="971550" y="1524000"/>
            <a:ext cx="7943850" cy="4572000"/>
          </a:xfrm>
        </p:spPr>
        <p:txBody>
          <a:bodyPr/>
          <a:lstStyle/>
          <a:p>
            <a:pPr>
              <a:lnSpc>
                <a:spcPct val="90000"/>
              </a:lnSpc>
              <a:buFont typeface="Wingdings" pitchFamily="2" charset="2"/>
              <a:buNone/>
            </a:pPr>
            <a:r>
              <a:rPr lang="uz"/>
              <a:t>FTP xizmati</a:t>
            </a:r>
          </a:p>
          <a:p>
            <a:pPr>
              <a:lnSpc>
                <a:spcPct val="90000"/>
              </a:lnSpc>
              <a:buFont typeface="Wingdings" pitchFamily="2" charset="2"/>
              <a:buNone/>
            </a:pPr>
            <a:r>
              <a:rPr lang="uz" sz="2800" b="1"/>
              <a:t>FTP uchun mavjud fayllar FTP arxivlari deb ataladigan guruhga bo'lingan </a:t>
            </a:r>
            <a:r>
              <a:rPr lang="uz" sz="2800" b="1">
                <a:solidFill>
                  <a:srgbClr val="FF9966"/>
                </a:solidFill>
              </a:rPr>
              <a:t>- odatda umumiy mavzuga ega bo'lgan katta fayllar to'plami </a:t>
            </a:r>
            <a:r>
              <a:rPr lang="uz" sz="2800" b="1"/>
              <a:t>, masalan, ommaviy dasturlarning arxivlari yoki hujjatlar arxivlari. Arxiv ichida fayllar odatda mavzular bo'yicha kataloglarga tuziladi, masalan, grafik dasturlar yoki yordamchi dasturlar </a:t>
            </a:r>
            <a:r>
              <a:rPr lang="uz" sz="2800"/>
              <a:t>.</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rrowheads="1"/>
          </p:cNvSpPr>
          <p:nvPr>
            <p:ph type="title"/>
          </p:nvPr>
        </p:nvSpPr>
        <p:spPr/>
        <p:txBody>
          <a:bodyPr/>
          <a:lstStyle/>
          <a:p>
            <a:r>
              <a:rPr lang="uz"/>
              <a:t>Internet xizmatlari</a:t>
            </a:r>
          </a:p>
        </p:txBody>
      </p:sp>
      <p:sp>
        <p:nvSpPr>
          <p:cNvPr id="79875" name="Rectangle 3"/>
          <p:cNvSpPr>
            <a:spLocks noGrp="1" noChangeArrowheads="1"/>
          </p:cNvSpPr>
          <p:nvPr>
            <p:ph type="body" idx="1"/>
          </p:nvPr>
        </p:nvSpPr>
        <p:spPr>
          <a:xfrm>
            <a:off x="1042988" y="1268413"/>
            <a:ext cx="7608887" cy="4572000"/>
          </a:xfrm>
        </p:spPr>
        <p:txBody>
          <a:bodyPr/>
          <a:lstStyle/>
          <a:p>
            <a:pPr>
              <a:lnSpc>
                <a:spcPct val="90000"/>
              </a:lnSpc>
              <a:buFont typeface="Wingdings" pitchFamily="2" charset="2"/>
              <a:buNone/>
            </a:pPr>
            <a:r>
              <a:rPr lang="uz"/>
              <a:t>FTP xizmati </a:t>
            </a:r>
          </a:p>
          <a:p>
            <a:pPr>
              <a:lnSpc>
                <a:spcPct val="90000"/>
              </a:lnSpc>
              <a:buFont typeface="Wingdings" pitchFamily="2" charset="2"/>
              <a:buNone/>
            </a:pPr>
            <a:r>
              <a:rPr lang="uz" sz="2800" b="1"/>
              <a:t>Deyarli barcha katta va yaxshi tuzilgan FTP arxivlari foydalanuvchiga </a:t>
            </a:r>
            <a:r>
              <a:rPr lang="uz" sz="2800" b="1">
                <a:solidFill>
                  <a:srgbClr val="FF9966"/>
                </a:solidFill>
              </a:rPr>
              <a:t>indeksni taqdim etadi - arxivdagi barcha fayllar ro'yxati </a:t>
            </a:r>
            <a:r>
              <a:rPr lang="uz" sz="2800" b="1"/>
              <a:t>, odatda ushbu fayllar joylashgan kataloglarning tavsiflari va nomlari bilan. Ushbu indeks an'anaviy ravishda FTP arxivining ildiz katalogidagi indeks deb nomlangan faylda saqlanadi.</a:t>
            </a:r>
          </a:p>
          <a:p>
            <a:pPr>
              <a:lnSpc>
                <a:spcPct val="90000"/>
              </a:lnSpc>
              <a:buFont typeface="Wingdings" pitchFamily="2" charset="2"/>
              <a:buNone/>
            </a:pPr>
            <a:endParaRPr lang="ru-RU" sz="2800" b="1"/>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rrowheads="1"/>
          </p:cNvSpPr>
          <p:nvPr>
            <p:ph type="title"/>
          </p:nvPr>
        </p:nvSpPr>
        <p:spPr/>
        <p:txBody>
          <a:bodyPr/>
          <a:lstStyle/>
          <a:p>
            <a:r>
              <a:rPr lang="uz"/>
              <a:t>Internet xizmatlari</a:t>
            </a:r>
          </a:p>
        </p:txBody>
      </p:sp>
      <p:sp>
        <p:nvSpPr>
          <p:cNvPr id="80899" name="Rectangle 3"/>
          <p:cNvSpPr>
            <a:spLocks noGrp="1" noChangeArrowheads="1"/>
          </p:cNvSpPr>
          <p:nvPr>
            <p:ph type="body" idx="1"/>
          </p:nvPr>
        </p:nvSpPr>
        <p:spPr>
          <a:xfrm>
            <a:off x="1042988" y="1524000"/>
            <a:ext cx="7872412" cy="4572000"/>
          </a:xfrm>
        </p:spPr>
        <p:txBody>
          <a:bodyPr/>
          <a:lstStyle/>
          <a:p>
            <a:pPr>
              <a:buFont typeface="Wingdings" pitchFamily="2" charset="2"/>
              <a:buNone/>
            </a:pPr>
            <a:r>
              <a:rPr lang="uz"/>
              <a:t>Telnet</a:t>
            </a:r>
          </a:p>
          <a:p>
            <a:pPr>
              <a:buFont typeface="Wingdings" pitchFamily="2" charset="2"/>
              <a:buNone/>
            </a:pPr>
            <a:r>
              <a:rPr lang="uz" sz="2800" b="1"/>
              <a:t>Ushbu xizmat yordamida siz to'g'ridan-to'g'ri uning oldida o'tirganingizda bo'lgani kabi, masofaviy UNIX mashinasini boshqarishingiz mumkin. Keyingi slaydda siz telnet tarmog'idan foydalangan holda UNIX serverlaridan biri bilan sessiya qanday ko'rinishini ko'rasiz.</a:t>
            </a:r>
            <a:endParaRPr lang="ru-RU" sz="2800" b="1">
              <a:solidFill>
                <a:schemeClr val="hlink"/>
              </a:solidFill>
            </a:endParaRPr>
          </a:p>
          <a:p>
            <a:pPr>
              <a:buFont typeface="Wingdings" pitchFamily="2" charset="2"/>
              <a:buNone/>
            </a:pPr>
            <a:r>
              <a:rPr lang="uz" sz="2800" b="1"/>
              <a:t>Telnet orqali ishlash mumkin bo'lgan ko'p foydalanuvchili tizimlar UNIX va Windows NT ning barcha turlarini o'z ichiga oladi.</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rrowheads="1"/>
          </p:cNvSpPr>
          <p:nvPr>
            <p:ph type="title"/>
          </p:nvPr>
        </p:nvSpPr>
        <p:spPr>
          <a:xfrm>
            <a:off x="457200" y="274638"/>
            <a:ext cx="8229600" cy="838200"/>
          </a:xfrm>
        </p:spPr>
        <p:txBody>
          <a:bodyPr/>
          <a:lstStyle/>
          <a:p>
            <a:r>
              <a:rPr lang="uz"/>
              <a:t>Internet xizmatlari</a:t>
            </a:r>
          </a:p>
        </p:txBody>
      </p:sp>
      <p:sp>
        <p:nvSpPr>
          <p:cNvPr id="81923" name="Rectangle 3"/>
          <p:cNvSpPr>
            <a:spLocks noGrp="1" noChangeArrowheads="1"/>
          </p:cNvSpPr>
          <p:nvPr>
            <p:ph type="body" idx="1"/>
          </p:nvPr>
        </p:nvSpPr>
        <p:spPr>
          <a:xfrm>
            <a:off x="2819400" y="1219200"/>
            <a:ext cx="6096000" cy="228600"/>
          </a:xfrm>
        </p:spPr>
        <p:txBody>
          <a:bodyPr/>
          <a:lstStyle/>
          <a:p>
            <a:pPr>
              <a:buFont typeface="Wingdings" pitchFamily="2" charset="2"/>
              <a:buNone/>
            </a:pPr>
            <a:r>
              <a:rPr lang="uz"/>
              <a:t>Telnet</a:t>
            </a:r>
          </a:p>
          <a:p>
            <a:pPr>
              <a:buFont typeface="Wingdings" pitchFamily="2" charset="2"/>
              <a:buNone/>
            </a:pPr>
            <a:endParaRPr lang="en-US"/>
          </a:p>
        </p:txBody>
      </p:sp>
      <p:pic>
        <p:nvPicPr>
          <p:cNvPr id="81924" name="Picture 4"/>
          <p:cNvPicPr>
            <a:picLocks noChangeArrowheads="1"/>
          </p:cNvPicPr>
          <p:nvPr/>
        </p:nvPicPr>
        <p:blipFill>
          <a:blip r:embed="rId2"/>
          <a:srcRect/>
          <a:stretch>
            <a:fillRect/>
          </a:stretch>
        </p:blipFill>
        <p:spPr bwMode="auto">
          <a:xfrm>
            <a:off x="3200400" y="2133600"/>
            <a:ext cx="5105400" cy="4267200"/>
          </a:xfrm>
          <a:prstGeom prst="rect">
            <a:avLst/>
          </a:prstGeom>
          <a:noFill/>
          <a:ln w="9525">
            <a:noFill/>
            <a:miter lim="800000"/>
            <a:headEnd/>
            <a:tailEnd/>
          </a:ln>
          <a:effectLst/>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rrowheads="1"/>
          </p:cNvSpPr>
          <p:nvPr>
            <p:ph type="title"/>
          </p:nvPr>
        </p:nvSpPr>
        <p:spPr/>
        <p:txBody>
          <a:bodyPr/>
          <a:lstStyle/>
          <a:p>
            <a:r>
              <a:rPr lang="uz"/>
              <a:t>Internet xizmatlari</a:t>
            </a:r>
          </a:p>
        </p:txBody>
      </p:sp>
      <p:sp>
        <p:nvSpPr>
          <p:cNvPr id="82947" name="Rectangle 3"/>
          <p:cNvSpPr>
            <a:spLocks noGrp="1" noChangeArrowheads="1"/>
          </p:cNvSpPr>
          <p:nvPr>
            <p:ph type="body" idx="1"/>
          </p:nvPr>
        </p:nvSpPr>
        <p:spPr>
          <a:xfrm>
            <a:off x="2819400" y="1524000"/>
            <a:ext cx="6096000" cy="4572000"/>
          </a:xfrm>
        </p:spPr>
        <p:txBody>
          <a:bodyPr/>
          <a:lstStyle/>
          <a:p>
            <a:pPr>
              <a:lnSpc>
                <a:spcPct val="90000"/>
              </a:lnSpc>
              <a:buFont typeface="Wingdings" pitchFamily="2" charset="2"/>
              <a:buNone/>
            </a:pPr>
            <a:r>
              <a:rPr lang="uz"/>
              <a:t>Internet</a:t>
            </a:r>
          </a:p>
          <a:p>
            <a:pPr>
              <a:lnSpc>
                <a:spcPct val="90000"/>
              </a:lnSpc>
              <a:buFont typeface="Wingdings" pitchFamily="2" charset="2"/>
              <a:buNone/>
            </a:pPr>
            <a:r>
              <a:rPr lang="uz"/>
              <a:t>Eng qiziqarli va dinamik rivojlanayotgan Internet xizmati</a:t>
            </a:r>
          </a:p>
          <a:p>
            <a:pPr>
              <a:lnSpc>
                <a:spcPct val="90000"/>
              </a:lnSpc>
              <a:buFont typeface="Wingdings" pitchFamily="2" charset="2"/>
              <a:buNone/>
            </a:pPr>
            <a:r>
              <a:rPr lang="uz"/>
              <a:t>Ushbu loyihani ishlab chiqish 1989 yilda Yevropa yadroviy tadqiqotlar markazida (CERN , Bern, Shveytsariya) boshlangan . WWW asoschisi Tim Berners-Li hisoblanadi.</a:t>
            </a:r>
          </a:p>
        </p:txBody>
      </p:sp>
      <p:pic>
        <p:nvPicPr>
          <p:cNvPr id="82948" name="Picture 4" descr="everything_you_want"/>
          <p:cNvPicPr>
            <a:picLocks noChangeAspect="1" noChangeArrowheads="1"/>
          </p:cNvPicPr>
          <p:nvPr/>
        </p:nvPicPr>
        <p:blipFill>
          <a:blip r:embed="rId2"/>
          <a:srcRect/>
          <a:stretch>
            <a:fillRect/>
          </a:stretch>
        </p:blipFill>
        <p:spPr bwMode="auto">
          <a:xfrm>
            <a:off x="152400" y="3829050"/>
            <a:ext cx="2971800" cy="2846388"/>
          </a:xfrm>
          <a:prstGeom prst="rect">
            <a:avLst/>
          </a:prstGeom>
          <a:noFill/>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rrowheads="1"/>
          </p:cNvSpPr>
          <p:nvPr>
            <p:ph type="title"/>
          </p:nvPr>
        </p:nvSpPr>
        <p:spPr/>
        <p:txBody>
          <a:bodyPr/>
          <a:lstStyle/>
          <a:p>
            <a:r>
              <a:rPr lang="uz"/>
              <a:t>Internet xizmatlari</a:t>
            </a:r>
          </a:p>
        </p:txBody>
      </p:sp>
      <p:sp>
        <p:nvSpPr>
          <p:cNvPr id="83971" name="Rectangle 3"/>
          <p:cNvSpPr>
            <a:spLocks noGrp="1" noChangeArrowheads="1"/>
          </p:cNvSpPr>
          <p:nvPr>
            <p:ph type="body" idx="1"/>
          </p:nvPr>
        </p:nvSpPr>
        <p:spPr>
          <a:xfrm>
            <a:off x="2819400" y="1524000"/>
            <a:ext cx="6096000" cy="4572000"/>
          </a:xfrm>
        </p:spPr>
        <p:txBody>
          <a:bodyPr/>
          <a:lstStyle/>
          <a:p>
            <a:pPr>
              <a:buFont typeface="Wingdings" pitchFamily="2" charset="2"/>
              <a:buNone/>
            </a:pPr>
            <a:r>
              <a:rPr lang="uz"/>
              <a:t>   </a:t>
            </a:r>
            <a:r>
              <a:rPr lang="uz">
                <a:solidFill>
                  <a:srgbClr val="FF9966"/>
                </a:solidFill>
              </a:rPr>
              <a:t>World-Wide Web </a:t>
            </a:r>
            <a:r>
              <a:rPr lang="uz" sz="3600">
                <a:solidFill>
                  <a:srgbClr val="FF9966"/>
                </a:solidFill>
              </a:rPr>
              <a:t>- bu gipermatnga asoslangan taqsimlangan multimedia axborot tizimi.</a:t>
            </a:r>
          </a:p>
          <a:p>
            <a:pPr>
              <a:buFont typeface="Wingdings" pitchFamily="2" charset="2"/>
              <a:buNone/>
            </a:pPr>
            <a:endParaRPr lang="en-US">
              <a:solidFill>
                <a:srgbClr val="FF9966"/>
              </a:solidFill>
            </a:endParaRPr>
          </a:p>
        </p:txBody>
      </p:sp>
      <p:pic>
        <p:nvPicPr>
          <p:cNvPr id="83972" name="Picture 4" descr="web1_anim"/>
          <p:cNvPicPr>
            <a:picLocks noChangeAspect="1" noChangeArrowheads="1" noCrop="1"/>
          </p:cNvPicPr>
          <p:nvPr/>
        </p:nvPicPr>
        <p:blipFill>
          <a:blip r:embed="rId2"/>
          <a:srcRect/>
          <a:stretch>
            <a:fillRect/>
          </a:stretch>
        </p:blipFill>
        <p:spPr bwMode="auto">
          <a:xfrm>
            <a:off x="685800" y="4175125"/>
            <a:ext cx="1752600" cy="1673225"/>
          </a:xfrm>
          <a:prstGeom prst="rect">
            <a:avLst/>
          </a:prstGeom>
          <a:noFill/>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rrowheads="1"/>
          </p:cNvSpPr>
          <p:nvPr>
            <p:ph type="title"/>
          </p:nvPr>
        </p:nvSpPr>
        <p:spPr/>
        <p:txBody>
          <a:bodyPr/>
          <a:lstStyle/>
          <a:p>
            <a:r>
              <a:rPr lang="uz"/>
              <a:t>Internet xizmatlari</a:t>
            </a:r>
          </a:p>
        </p:txBody>
      </p:sp>
      <p:sp>
        <p:nvSpPr>
          <p:cNvPr id="84995" name="Rectangle 3"/>
          <p:cNvSpPr>
            <a:spLocks noGrp="1" noChangeArrowheads="1"/>
          </p:cNvSpPr>
          <p:nvPr>
            <p:ph type="body" idx="1"/>
          </p:nvPr>
        </p:nvSpPr>
        <p:spPr>
          <a:xfrm>
            <a:off x="2819400" y="1524000"/>
            <a:ext cx="6096000" cy="4572000"/>
          </a:xfrm>
        </p:spPr>
        <p:txBody>
          <a:bodyPr/>
          <a:lstStyle/>
          <a:p>
            <a:pPr>
              <a:lnSpc>
                <a:spcPct val="90000"/>
              </a:lnSpc>
              <a:spcBef>
                <a:spcPts val="600"/>
              </a:spcBef>
              <a:spcAft>
                <a:spcPts val="600"/>
              </a:spcAft>
              <a:buFont typeface="Wingdings" pitchFamily="2" charset="2"/>
              <a:buNone/>
            </a:pPr>
            <a:r>
              <a:rPr lang="uz" sz="3600"/>
              <a:t>Keling, WWW tizimining uchta asosiy komponentini ko'rib chiqaylik :</a:t>
            </a:r>
          </a:p>
          <a:p>
            <a:pPr>
              <a:lnSpc>
                <a:spcPct val="90000"/>
              </a:lnSpc>
              <a:spcBef>
                <a:spcPts val="600"/>
              </a:spcBef>
              <a:spcAft>
                <a:spcPts val="600"/>
              </a:spcAft>
            </a:pPr>
            <a:r>
              <a:rPr lang="uz" sz="3600">
                <a:solidFill>
                  <a:srgbClr val="FF9966"/>
                </a:solidFill>
              </a:rPr>
              <a:t>taqsimlangan axborot tizimi;</a:t>
            </a:r>
          </a:p>
          <a:p>
            <a:pPr>
              <a:lnSpc>
                <a:spcPct val="90000"/>
              </a:lnSpc>
              <a:spcBef>
                <a:spcPts val="600"/>
              </a:spcBef>
              <a:spcAft>
                <a:spcPts val="600"/>
              </a:spcAft>
            </a:pPr>
            <a:r>
              <a:rPr lang="uz" sz="3600">
                <a:solidFill>
                  <a:srgbClr val="FF9966"/>
                </a:solidFill>
              </a:rPr>
              <a:t>multimedia;</a:t>
            </a:r>
          </a:p>
          <a:p>
            <a:pPr>
              <a:lnSpc>
                <a:spcPct val="90000"/>
              </a:lnSpc>
              <a:spcBef>
                <a:spcPts val="600"/>
              </a:spcBef>
              <a:spcAft>
                <a:spcPts val="600"/>
              </a:spcAft>
            </a:pPr>
            <a:r>
              <a:rPr lang="uz" sz="3600">
                <a:solidFill>
                  <a:srgbClr val="FF9966"/>
                </a:solidFill>
              </a:rPr>
              <a:t>gipermatn;</a:t>
            </a:r>
          </a:p>
          <a:p>
            <a:pPr>
              <a:lnSpc>
                <a:spcPct val="90000"/>
              </a:lnSpc>
              <a:buFont typeface="Wingdings" pitchFamily="2" charset="2"/>
              <a:buNone/>
            </a:pPr>
            <a:r>
              <a:rPr lang="uz" sz="3600">
                <a:solidFill>
                  <a:schemeClr val="hlink"/>
                </a:solidFill>
              </a:rPr>
              <a:t> </a:t>
            </a:r>
          </a:p>
          <a:p>
            <a:pPr>
              <a:lnSpc>
                <a:spcPct val="90000"/>
              </a:lnSpc>
              <a:buFont typeface="Wingdings" pitchFamily="2" charset="2"/>
              <a:buNone/>
            </a:pPr>
            <a:endParaRPr lang="en-US"/>
          </a:p>
        </p:txBody>
      </p:sp>
      <p:pic>
        <p:nvPicPr>
          <p:cNvPr id="84996" name="Picture 4" descr="web"/>
          <p:cNvPicPr>
            <a:picLocks noChangeAspect="1" noChangeArrowheads="1" noCrop="1"/>
          </p:cNvPicPr>
          <p:nvPr/>
        </p:nvPicPr>
        <p:blipFill>
          <a:blip r:embed="rId2"/>
          <a:srcRect/>
          <a:stretch>
            <a:fillRect/>
          </a:stretch>
        </p:blipFill>
        <p:spPr bwMode="auto">
          <a:xfrm>
            <a:off x="533400" y="5486400"/>
            <a:ext cx="1600200" cy="593725"/>
          </a:xfrm>
          <a:prstGeom prst="rect">
            <a:avLst/>
          </a:prstGeom>
          <a:noFill/>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rrowheads="1"/>
          </p:cNvSpPr>
          <p:nvPr>
            <p:ph type="title"/>
          </p:nvPr>
        </p:nvSpPr>
        <p:spPr/>
        <p:txBody>
          <a:bodyPr/>
          <a:lstStyle/>
          <a:p>
            <a:r>
              <a:rPr lang="uz"/>
              <a:t>Internet xizmatlari</a:t>
            </a:r>
          </a:p>
        </p:txBody>
      </p:sp>
      <p:sp>
        <p:nvSpPr>
          <p:cNvPr id="86019" name="Rectangle 3"/>
          <p:cNvSpPr>
            <a:spLocks noGrp="1" noChangeArrowheads="1"/>
          </p:cNvSpPr>
          <p:nvPr>
            <p:ph type="body" idx="1"/>
          </p:nvPr>
        </p:nvSpPr>
        <p:spPr>
          <a:xfrm>
            <a:off x="2819400" y="1524000"/>
            <a:ext cx="6096000" cy="4572000"/>
          </a:xfrm>
        </p:spPr>
        <p:txBody>
          <a:bodyPr/>
          <a:lstStyle/>
          <a:p>
            <a:pPr algn="ctr">
              <a:lnSpc>
                <a:spcPct val="90000"/>
              </a:lnSpc>
              <a:spcBef>
                <a:spcPct val="50000"/>
              </a:spcBef>
              <a:buFontTx/>
              <a:buNone/>
            </a:pPr>
            <a:r>
              <a:rPr lang="uz" sz="2800" b="1"/>
              <a:t>Tarqalgan axborot tizimi</a:t>
            </a:r>
            <a:endParaRPr lang="ru-RU" sz="2800" b="1">
              <a:solidFill>
                <a:schemeClr val="hlink"/>
              </a:solidFill>
            </a:endParaRPr>
          </a:p>
          <a:p>
            <a:pPr>
              <a:lnSpc>
                <a:spcPct val="90000"/>
              </a:lnSpc>
              <a:buFont typeface="Wingdings" pitchFamily="2" charset="2"/>
              <a:buNone/>
            </a:pPr>
            <a:r>
              <a:rPr lang="uz" sz="2800" b="1">
                <a:solidFill>
                  <a:srgbClr val="FF9966"/>
                </a:solidFill>
              </a:rPr>
              <a:t>WWW serverlarida </a:t>
            </a:r>
            <a:r>
              <a:rPr lang="uz" sz="2800" b="1" i="1"/>
              <a:t>, </a:t>
            </a:r>
            <a:r>
              <a:rPr lang="uz" sz="2800" b="1"/>
              <a:t>ya'ni maxsus dasturiy ta'minot o'rnatilgan va Internetga ulangan kompyuterlarda saqlanadi . Tarmoqqa kirish huquqiga ega foydalanuvchilar ushbu ma'lumotni </a:t>
            </a:r>
            <a:r>
              <a:rPr lang="uz" sz="2800" b="1">
                <a:solidFill>
                  <a:srgbClr val="FF9966"/>
                </a:solidFill>
              </a:rPr>
              <a:t>WWW-hujjatlarni ko'rish dasturlari </a:t>
            </a:r>
            <a:r>
              <a:rPr lang="uz" sz="2800" b="1" i="1"/>
              <a:t>(WWW-brauzerlar) yordamida oladilar </a:t>
            </a:r>
            <a:r>
              <a:rPr lang="uz" sz="2800" b="1"/>
              <a:t>.</a:t>
            </a:r>
            <a:endParaRPr lang="en-US" b="1"/>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rrowheads="1"/>
          </p:cNvSpPr>
          <p:nvPr>
            <p:ph type="title"/>
          </p:nvPr>
        </p:nvSpPr>
        <p:spPr/>
        <p:txBody>
          <a:bodyPr/>
          <a:lstStyle/>
          <a:p>
            <a:r>
              <a:rPr lang="uz"/>
              <a:t>Internet xizmatlari</a:t>
            </a:r>
          </a:p>
        </p:txBody>
      </p:sp>
      <p:sp>
        <p:nvSpPr>
          <p:cNvPr id="87043" name="Rectangle 3"/>
          <p:cNvSpPr>
            <a:spLocks noGrp="1" noChangeArrowheads="1"/>
          </p:cNvSpPr>
          <p:nvPr>
            <p:ph type="body" idx="1"/>
          </p:nvPr>
        </p:nvSpPr>
        <p:spPr>
          <a:xfrm>
            <a:off x="2819400" y="1524000"/>
            <a:ext cx="6096000" cy="4572000"/>
          </a:xfrm>
        </p:spPr>
        <p:txBody>
          <a:bodyPr/>
          <a:lstStyle/>
          <a:p>
            <a:pPr algn="ctr">
              <a:spcBef>
                <a:spcPct val="50000"/>
              </a:spcBef>
              <a:buFontTx/>
              <a:buNone/>
            </a:pPr>
            <a:r>
              <a:rPr lang="uz" sz="2800" b="1"/>
              <a:t>Tarqalgan axborot tizimi</a:t>
            </a:r>
            <a:endParaRPr lang="ru-RU" sz="2800" b="1">
              <a:solidFill>
                <a:schemeClr val="hlink"/>
              </a:solidFill>
            </a:endParaRPr>
          </a:p>
          <a:p>
            <a:pPr>
              <a:buFont typeface="Wingdings" pitchFamily="2" charset="2"/>
              <a:buNone/>
            </a:pPr>
            <a:r>
              <a:rPr lang="uz" sz="2800" b="1"/>
              <a:t>Bunday holda, tomoshabin dasturi kompyuter tarmog'i orqali faylni kerakli hujjat bilan saqlaydigan serverga so'rov yuboradi. So'rovga javoban server tomoshabinga kerakli faylni yoki biror sababga ko'ra fayl mavjud bo'lmasa, rad etish xabarini yuboradi.</a:t>
            </a:r>
            <a:endParaRPr lang="ru-RU" sz="2800" b="1">
              <a:solidFill>
                <a:schemeClr val="hlink"/>
              </a:solidFill>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rrowheads="1"/>
          </p:cNvSpPr>
          <p:nvPr>
            <p:ph type="title"/>
          </p:nvPr>
        </p:nvSpPr>
        <p:spPr/>
        <p:txBody>
          <a:bodyPr/>
          <a:lstStyle/>
          <a:p>
            <a:r>
              <a:rPr lang="uz"/>
              <a:t>Internet xizmatlari</a:t>
            </a:r>
          </a:p>
        </p:txBody>
      </p:sp>
      <p:sp>
        <p:nvSpPr>
          <p:cNvPr id="88067" name="Rectangle 3"/>
          <p:cNvSpPr>
            <a:spLocks noGrp="1" noChangeArrowheads="1"/>
          </p:cNvSpPr>
          <p:nvPr>
            <p:ph type="body" idx="1"/>
          </p:nvPr>
        </p:nvSpPr>
        <p:spPr>
          <a:xfrm>
            <a:off x="2819400" y="1524000"/>
            <a:ext cx="6096000" cy="4572000"/>
          </a:xfrm>
        </p:spPr>
        <p:txBody>
          <a:bodyPr/>
          <a:lstStyle/>
          <a:p>
            <a:pPr algn="ctr">
              <a:spcBef>
                <a:spcPct val="50000"/>
              </a:spcBef>
              <a:buFontTx/>
              <a:buNone/>
            </a:pPr>
            <a:r>
              <a:rPr lang="uz" sz="2800" b="1"/>
              <a:t>Tarqalgan axborot tizimi</a:t>
            </a:r>
            <a:endParaRPr lang="ru-RU" sz="2800" b="1">
              <a:solidFill>
                <a:schemeClr val="hlink"/>
              </a:solidFill>
            </a:endParaRPr>
          </a:p>
          <a:p>
            <a:pPr>
              <a:buFont typeface="Wingdings" pitchFamily="2" charset="2"/>
              <a:buNone/>
            </a:pPr>
            <a:r>
              <a:rPr lang="uz" sz="2800" b="1"/>
              <a:t>Mijoz-serverning o'zaro ta'siri ma'lum qoidalarga muvofiq amalga oshiriladi yoki ular boshqacha aytganda, </a:t>
            </a:r>
            <a:r>
              <a:rPr lang="uz" sz="2800" b="1" i="1"/>
              <a:t>protokol </a:t>
            </a:r>
            <a:r>
              <a:rPr lang="uz" sz="2800" b="1"/>
              <a:t>. WWW tomonidan qabul qilingan protokol </a:t>
            </a:r>
            <a:r>
              <a:rPr lang="uz" sz="2800" b="1" i="1"/>
              <a:t>HTTP </a:t>
            </a:r>
            <a:r>
              <a:rPr lang="uz" sz="2800" b="1"/>
              <a:t>deb qisqartirilgan HyperText Transfer </a:t>
            </a:r>
            <a:r>
              <a:rPr lang="uz" sz="2800" b="1" i="1"/>
              <a:t>Protocol deb ataladi </a:t>
            </a:r>
            <a:r>
              <a:rPr lang="uz"/>
              <a:t>.</a:t>
            </a:r>
            <a:endParaRPr lang="en-US"/>
          </a:p>
          <a:p>
            <a:pPr>
              <a:buFont typeface="Wingdings" pitchFamily="2" charset="2"/>
              <a:buNone/>
            </a:pPr>
            <a:endParaRPr lang="ru-RU" sz="2800" b="1">
              <a:solidFill>
                <a:schemeClr val="hlink"/>
              </a:solidFill>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rrowheads="1"/>
          </p:cNvSpPr>
          <p:nvPr>
            <p:ph type="title"/>
          </p:nvPr>
        </p:nvSpPr>
        <p:spPr/>
        <p:txBody>
          <a:bodyPr/>
          <a:lstStyle/>
          <a:p>
            <a:r>
              <a:rPr lang="uz"/>
              <a:t>Internet xizmatlari</a:t>
            </a:r>
          </a:p>
        </p:txBody>
      </p:sp>
      <p:sp>
        <p:nvSpPr>
          <p:cNvPr id="89091" name="Rectangle 3"/>
          <p:cNvSpPr>
            <a:spLocks noGrp="1" noChangeArrowheads="1"/>
          </p:cNvSpPr>
          <p:nvPr>
            <p:ph type="body" idx="1"/>
          </p:nvPr>
        </p:nvSpPr>
        <p:spPr>
          <a:xfrm>
            <a:off x="2819400" y="1524000"/>
            <a:ext cx="6096000" cy="2057400"/>
          </a:xfrm>
        </p:spPr>
        <p:txBody>
          <a:bodyPr/>
          <a:lstStyle/>
          <a:p>
            <a:pPr>
              <a:spcBef>
                <a:spcPts val="500"/>
              </a:spcBef>
              <a:spcAft>
                <a:spcPts val="500"/>
              </a:spcAft>
              <a:buFont typeface="Wingdings" pitchFamily="2" charset="2"/>
              <a:buNone/>
            </a:pPr>
            <a:r>
              <a:rPr lang="uz" sz="2800"/>
              <a:t>Multimedia:</a:t>
            </a:r>
            <a:endParaRPr lang="ru-RU" sz="2800">
              <a:solidFill>
                <a:schemeClr val="tx2"/>
              </a:solidFill>
            </a:endParaRPr>
          </a:p>
          <a:p>
            <a:pPr>
              <a:spcBef>
                <a:spcPts val="500"/>
              </a:spcBef>
              <a:spcAft>
                <a:spcPts val="500"/>
              </a:spcAft>
              <a:buFont typeface="Wingdings" pitchFamily="2" charset="2"/>
              <a:buNone/>
            </a:pPr>
            <a:r>
              <a:rPr lang="uz" sz="2800"/>
              <a:t>ma'lumotlarga nafaqat matn, balki ikki va uch o'lchovli grafika, video va ovoz ham kiradi.</a:t>
            </a:r>
            <a:endParaRPr lang="ru-RU" sz="2400" b="1">
              <a:solidFill>
                <a:schemeClr val="hlink"/>
              </a:solidFill>
            </a:endParaRPr>
          </a:p>
        </p:txBody>
      </p:sp>
      <p:pic>
        <p:nvPicPr>
          <p:cNvPr id="89092" name="Picture 4" descr="computer_graphics"/>
          <p:cNvPicPr>
            <a:picLocks noChangeAspect="1" noChangeArrowheads="1"/>
          </p:cNvPicPr>
          <p:nvPr/>
        </p:nvPicPr>
        <p:blipFill>
          <a:blip r:embed="rId2"/>
          <a:srcRect/>
          <a:stretch>
            <a:fillRect/>
          </a:stretch>
        </p:blipFill>
        <p:spPr bwMode="auto">
          <a:xfrm>
            <a:off x="1828800" y="3581400"/>
            <a:ext cx="5497513" cy="2960688"/>
          </a:xfrm>
          <a:prstGeom prst="rect">
            <a:avLst/>
          </a:prstGeom>
          <a:noFill/>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rrowheads="1"/>
          </p:cNvSpPr>
          <p:nvPr>
            <p:ph type="title"/>
          </p:nvPr>
        </p:nvSpPr>
        <p:spPr/>
        <p:txBody>
          <a:bodyPr/>
          <a:lstStyle/>
          <a:p>
            <a:r>
              <a:rPr lang="uz"/>
              <a:t>Internet xizmatlari</a:t>
            </a:r>
          </a:p>
        </p:txBody>
      </p:sp>
      <p:sp>
        <p:nvSpPr>
          <p:cNvPr id="90115" name="Rectangle 3"/>
          <p:cNvSpPr>
            <a:spLocks noGrp="1" noChangeArrowheads="1"/>
          </p:cNvSpPr>
          <p:nvPr>
            <p:ph type="body" idx="1"/>
          </p:nvPr>
        </p:nvSpPr>
        <p:spPr>
          <a:xfrm>
            <a:off x="2819400" y="1524000"/>
            <a:ext cx="6096000" cy="4572000"/>
          </a:xfrm>
        </p:spPr>
        <p:txBody>
          <a:bodyPr/>
          <a:lstStyle/>
          <a:p>
            <a:pPr>
              <a:spcBef>
                <a:spcPts val="500"/>
              </a:spcBef>
              <a:spcAft>
                <a:spcPts val="500"/>
              </a:spcAft>
              <a:buFont typeface="Wingdings" pitchFamily="2" charset="2"/>
              <a:buNone/>
            </a:pPr>
            <a:r>
              <a:rPr lang="uz" sz="2800" b="1"/>
              <a:t>Gipermatn:</a:t>
            </a:r>
            <a:endParaRPr lang="ru-RU" sz="2800" b="1">
              <a:solidFill>
                <a:schemeClr val="hlink"/>
              </a:solidFill>
            </a:endParaRPr>
          </a:p>
          <a:p>
            <a:pPr>
              <a:buFont typeface="Wingdings" pitchFamily="2" charset="2"/>
              <a:buNone/>
            </a:pPr>
            <a:r>
              <a:rPr lang="uz" sz="2800" b="1"/>
              <a:t>WWW haqidagi ma'lumotlar hujjatlar ko'rinishida taqdim etiladi, ularning har birida ichki o'zaro havolalar va bir xil yoki boshqa serverda saqlanadigan boshqa hujjatlarga havolalar bo'lishi mumkin. Bunday havolalar </a:t>
            </a:r>
            <a:r>
              <a:rPr lang="uz" sz="2800" b="1" i="1">
                <a:solidFill>
                  <a:srgbClr val="FF9966"/>
                </a:solidFill>
              </a:rPr>
              <a:t>gipermurojaatlar </a:t>
            </a:r>
            <a:r>
              <a:rPr lang="uz" sz="2800" b="1" i="1"/>
              <a:t>yoki </a:t>
            </a:r>
            <a:r>
              <a:rPr lang="uz" sz="2800" b="1" i="1">
                <a:solidFill>
                  <a:srgbClr val="FF9966"/>
                </a:solidFill>
              </a:rPr>
              <a:t>giperhavolalar </a:t>
            </a:r>
            <a:r>
              <a:rPr lang="uz" sz="2800" b="1"/>
              <a:t>deb </a:t>
            </a:r>
            <a:endParaRPr lang="ru-RU"/>
          </a:p>
        </p:txBody>
      </p:sp>
      <p:pic>
        <p:nvPicPr>
          <p:cNvPr id="90116" name="Picture 4" descr="hyperlink"/>
          <p:cNvPicPr>
            <a:picLocks noChangeAspect="1" noChangeArrowheads="1" noCrop="1"/>
          </p:cNvPicPr>
          <p:nvPr/>
        </p:nvPicPr>
        <p:blipFill>
          <a:blip r:embed="rId2"/>
          <a:srcRect/>
          <a:stretch>
            <a:fillRect/>
          </a:stretch>
        </p:blipFill>
        <p:spPr bwMode="auto">
          <a:xfrm>
            <a:off x="609600" y="4843463"/>
            <a:ext cx="1371600" cy="1309687"/>
          </a:xfrm>
          <a:prstGeom prst="rect">
            <a:avLst/>
          </a:prstGeom>
          <a:noFill/>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p:txBody>
          <a:bodyPr/>
          <a:lstStyle/>
          <a:p>
            <a:r>
              <a:rPr lang="uz"/>
              <a:t>Internet xizmatlari</a:t>
            </a:r>
          </a:p>
        </p:txBody>
      </p:sp>
      <p:sp>
        <p:nvSpPr>
          <p:cNvPr id="91139" name="Rectangle 3"/>
          <p:cNvSpPr>
            <a:spLocks noGrp="1" noChangeArrowheads="1"/>
          </p:cNvSpPr>
          <p:nvPr>
            <p:ph type="body" idx="1"/>
          </p:nvPr>
        </p:nvSpPr>
        <p:spPr>
          <a:xfrm>
            <a:off x="2819400" y="1524000"/>
            <a:ext cx="6096000" cy="4572000"/>
          </a:xfrm>
        </p:spPr>
        <p:txBody>
          <a:bodyPr/>
          <a:lstStyle/>
          <a:p>
            <a:pPr>
              <a:spcBef>
                <a:spcPts val="500"/>
              </a:spcBef>
              <a:spcAft>
                <a:spcPts val="500"/>
              </a:spcAft>
              <a:buFont typeface="Wingdings" pitchFamily="2" charset="2"/>
              <a:buNone/>
            </a:pPr>
            <a:r>
              <a:rPr lang="uz" sz="2800" b="1"/>
              <a:t>Gipermatn:</a:t>
            </a:r>
            <a:endParaRPr lang="ru-RU" sz="2800" b="1">
              <a:solidFill>
                <a:schemeClr val="hlink"/>
              </a:solidFill>
            </a:endParaRPr>
          </a:p>
          <a:p>
            <a:pPr>
              <a:buFont typeface="Wingdings" pitchFamily="2" charset="2"/>
              <a:buNone/>
            </a:pPr>
            <a:r>
              <a:rPr lang="uz" sz="2800" b="1"/>
              <a:t>Ko'rish oynasidagi kompyuter ekranida havolalar qandaydir tarzda ta'kidlangan (masalan, boshqa rang va/yoki tagiga chizilgan) matn yoki grafik sohalari sifatida ko'rinadi.</a:t>
            </a:r>
            <a:endParaRPr lang="en-US"/>
          </a:p>
          <a:p>
            <a:pPr>
              <a:spcBef>
                <a:spcPts val="500"/>
              </a:spcBef>
              <a:spcAft>
                <a:spcPts val="500"/>
              </a:spcAft>
              <a:buFont typeface="Wingdings" pitchFamily="2" charset="2"/>
              <a:buNone/>
            </a:pPr>
            <a:r>
              <a:rPr lang="uz">
                <a:hlinkClick r:id="rId2" action="ppaction://hlinksldjump"/>
              </a:rPr>
              <a:t>Giperhavolaga misol</a:t>
            </a:r>
            <a:endParaRPr lang="ru-RU" sz="2800" b="1">
              <a:solidFill>
                <a:schemeClr val="hlink"/>
              </a:solidFill>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rrowheads="1"/>
          </p:cNvSpPr>
          <p:nvPr>
            <p:ph type="title"/>
          </p:nvPr>
        </p:nvSpPr>
        <p:spPr/>
        <p:txBody>
          <a:bodyPr/>
          <a:lstStyle/>
          <a:p>
            <a:r>
              <a:rPr lang="uz"/>
              <a:t>Internet xizmatlari</a:t>
            </a:r>
          </a:p>
        </p:txBody>
      </p:sp>
      <p:sp>
        <p:nvSpPr>
          <p:cNvPr id="92163" name="Rectangle 3"/>
          <p:cNvSpPr>
            <a:spLocks noGrp="1" noChangeArrowheads="1"/>
          </p:cNvSpPr>
          <p:nvPr>
            <p:ph type="body" idx="1"/>
          </p:nvPr>
        </p:nvSpPr>
        <p:spPr>
          <a:xfrm>
            <a:off x="2819400" y="1524000"/>
            <a:ext cx="6096000" cy="4572000"/>
          </a:xfrm>
        </p:spPr>
        <p:txBody>
          <a:bodyPr/>
          <a:lstStyle/>
          <a:p>
            <a:pPr>
              <a:spcBef>
                <a:spcPts val="500"/>
              </a:spcBef>
              <a:spcAft>
                <a:spcPts val="500"/>
              </a:spcAft>
              <a:buFont typeface="Wingdings" pitchFamily="2" charset="2"/>
              <a:buNone/>
            </a:pPr>
            <a:r>
              <a:rPr lang="uz" sz="2800" b="1">
                <a:solidFill>
                  <a:schemeClr val="hlink"/>
                </a:solidFill>
              </a:rPr>
              <a:t>      </a:t>
            </a:r>
            <a:r>
              <a:rPr lang="uz" sz="2800" b="1"/>
              <a:t>Gipermatn:</a:t>
            </a:r>
          </a:p>
          <a:p>
            <a:pPr>
              <a:spcBef>
                <a:spcPct val="50000"/>
              </a:spcBef>
              <a:buFontTx/>
              <a:buChar char="•"/>
            </a:pPr>
            <a:r>
              <a:rPr lang="uz" sz="2800" b="1"/>
              <a:t>Giperhavolalarni tanlash orqali tomoshabin foydalanuvchi tezda hujjatning bir qismidan ikkinchisiga yoki bir hujjatdan ikkinchisiga o'tishi mumkin. Agar kerak bo'lsa, tomoshabin avtomatik ravishda tarmoqdagi tegishli server bilan bog'lanadi va havola qilinayotgan hujjatni so'raydi.</a:t>
            </a:r>
          </a:p>
          <a:p>
            <a:pPr>
              <a:spcBef>
                <a:spcPts val="500"/>
              </a:spcBef>
              <a:spcAft>
                <a:spcPts val="500"/>
              </a:spcAft>
              <a:buFont typeface="Wingdings" pitchFamily="2" charset="2"/>
              <a:buNone/>
            </a:pPr>
            <a:endParaRPr lang="ru-RU" sz="2800" b="1">
              <a:solidFill>
                <a:schemeClr val="hlink"/>
              </a:solidFill>
            </a:endParaRPr>
          </a:p>
        </p:txBody>
      </p:sp>
      <p:pic>
        <p:nvPicPr>
          <p:cNvPr id="92164" name="Picture 4">
            <a:hlinkClick r:id="rId2" action="ppaction://hlinksldjump"/>
          </p:cNvPr>
          <p:cNvPicPr>
            <a:picLocks noChangeAspect="1" noChangeArrowheads="1"/>
          </p:cNvPicPr>
          <p:nvPr/>
        </p:nvPicPr>
        <p:blipFill>
          <a:blip r:embed="rId3"/>
          <a:srcRect/>
          <a:stretch>
            <a:fillRect/>
          </a:stretch>
        </p:blipFill>
        <p:spPr bwMode="auto">
          <a:xfrm>
            <a:off x="228600" y="1219200"/>
            <a:ext cx="2667000" cy="3124200"/>
          </a:xfrm>
          <a:prstGeom prst="rect">
            <a:avLst/>
          </a:prstGeom>
          <a:noFill/>
          <a:ln w="9525">
            <a:solidFill>
              <a:schemeClr val="tx1"/>
            </a:solidFill>
            <a:miter lim="800000"/>
            <a:headEnd/>
            <a:tailEnd/>
          </a:ln>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rrowheads="1"/>
          </p:cNvSpPr>
          <p:nvPr>
            <p:ph type="title"/>
          </p:nvPr>
        </p:nvSpPr>
        <p:spPr/>
        <p:txBody>
          <a:bodyPr/>
          <a:lstStyle/>
          <a:p>
            <a:r>
              <a:rPr lang="uz"/>
              <a:t>Internet xizmatlari</a:t>
            </a:r>
          </a:p>
        </p:txBody>
      </p:sp>
      <p:sp>
        <p:nvSpPr>
          <p:cNvPr id="93187" name="Rectangle 3"/>
          <p:cNvSpPr>
            <a:spLocks noGrp="1" noChangeArrowheads="1"/>
          </p:cNvSpPr>
          <p:nvPr>
            <p:ph type="body" idx="1"/>
          </p:nvPr>
        </p:nvSpPr>
        <p:spPr>
          <a:xfrm>
            <a:off x="1042988" y="1524000"/>
            <a:ext cx="7872412" cy="4572000"/>
          </a:xfrm>
        </p:spPr>
        <p:txBody>
          <a:bodyPr/>
          <a:lstStyle/>
          <a:p>
            <a:pPr>
              <a:spcBef>
                <a:spcPts val="500"/>
              </a:spcBef>
              <a:spcAft>
                <a:spcPts val="500"/>
              </a:spcAft>
              <a:buFont typeface="Wingdings" pitchFamily="2" charset="2"/>
              <a:buNone/>
            </a:pPr>
            <a:r>
              <a:rPr lang="uz" sz="2800" b="1">
                <a:solidFill>
                  <a:schemeClr val="hlink"/>
                </a:solidFill>
              </a:rPr>
              <a:t>      </a:t>
            </a:r>
            <a:r>
              <a:rPr lang="uz" sz="2800" b="1"/>
              <a:t>Gipermatn:</a:t>
            </a:r>
          </a:p>
          <a:p>
            <a:pPr>
              <a:spcBef>
                <a:spcPts val="500"/>
              </a:spcBef>
              <a:spcAft>
                <a:spcPts val="500"/>
              </a:spcAft>
              <a:buFont typeface="Wingdings" pitchFamily="2" charset="2"/>
              <a:buNone/>
            </a:pPr>
            <a:r>
              <a:rPr lang="uz" sz="2800" b="1"/>
              <a:t>Veb- resurslarni yaratish uchun </a:t>
            </a:r>
            <a:r>
              <a:rPr lang="uz" sz="2800" b="1" i="1">
                <a:solidFill>
                  <a:srgbClr val="FF9966"/>
                </a:solidFill>
              </a:rPr>
              <a:t>HyperText Markup Language (HTML ) </a:t>
            </a:r>
            <a:r>
              <a:rPr lang="uz" sz="2800" b="1"/>
              <a:t>deb nomlangan maxsus til ishlab chiqilgan </a:t>
            </a:r>
            <a:r>
              <a:rPr lang="uz" sz="2800" b="1">
                <a:solidFill>
                  <a:srgbClr val="FF9966"/>
                </a:solidFill>
              </a:rPr>
              <a:t>, </a:t>
            </a:r>
            <a:r>
              <a:rPr lang="uz" sz="2800" b="1"/>
              <a:t>ya'ni "gipermatn belgilash tili </a:t>
            </a:r>
            <a:r>
              <a:rPr lang="uz" sz="2800" b="1" i="1"/>
              <a:t>" </a:t>
            </a:r>
            <a:r>
              <a:rPr lang="uz" sz="2800" b="1"/>
              <a:t>.</a:t>
            </a:r>
            <a:r>
              <a:rPr lang="uz"/>
              <a:t> </a:t>
            </a:r>
            <a:r>
              <a:rPr lang="uz" sz="2800" b="1"/>
              <a:t>HTML-da yozilgan hujjat - bu o'quvchiga ma'lumot uzatadigan </a:t>
            </a:r>
            <a:r>
              <a:rPr lang="uz" sz="2800" b="1" i="1"/>
              <a:t>haqiqiy matnni va belgilash teglarini o'z ichiga olgan matnli fayl </a:t>
            </a:r>
            <a:r>
              <a:rPr lang="uz" sz="2800" b="1"/>
              <a:t>.</a:t>
            </a:r>
            <a:r>
              <a:rPr lang="uz"/>
              <a:t> </a:t>
            </a:r>
            <a:endParaRPr lang="ru-RU" sz="2800" b="1">
              <a:solidFill>
                <a:schemeClr val="hlink"/>
              </a:solidFill>
            </a:endParaRPr>
          </a:p>
          <a:p>
            <a:pPr>
              <a:spcBef>
                <a:spcPts val="500"/>
              </a:spcBef>
              <a:spcAft>
                <a:spcPts val="500"/>
              </a:spcAft>
              <a:buFont typeface="Wingdings" pitchFamily="2" charset="2"/>
              <a:buNone/>
            </a:pPr>
            <a:endParaRPr lang="ru-RU" sz="2800" b="1">
              <a:solidFill>
                <a:schemeClr val="hlink"/>
              </a:solidFill>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rrowheads="1"/>
          </p:cNvSpPr>
          <p:nvPr>
            <p:ph type="title"/>
          </p:nvPr>
        </p:nvSpPr>
        <p:spPr/>
        <p:txBody>
          <a:bodyPr/>
          <a:lstStyle/>
          <a:p>
            <a:r>
              <a:rPr lang="uz"/>
              <a:t>Internet xizmatlari</a:t>
            </a:r>
          </a:p>
        </p:txBody>
      </p:sp>
      <p:sp>
        <p:nvSpPr>
          <p:cNvPr id="94211" name="Rectangle 3"/>
          <p:cNvSpPr>
            <a:spLocks noGrp="1" noChangeArrowheads="1"/>
          </p:cNvSpPr>
          <p:nvPr>
            <p:ph type="body" idx="1"/>
          </p:nvPr>
        </p:nvSpPr>
        <p:spPr>
          <a:xfrm>
            <a:off x="2819400" y="1524000"/>
            <a:ext cx="6096000" cy="4572000"/>
          </a:xfrm>
        </p:spPr>
        <p:txBody>
          <a:bodyPr/>
          <a:lstStyle/>
          <a:p>
            <a:pPr>
              <a:spcBef>
                <a:spcPts val="500"/>
              </a:spcBef>
              <a:spcAft>
                <a:spcPts val="500"/>
              </a:spcAft>
              <a:buFont typeface="Wingdings" pitchFamily="2" charset="2"/>
              <a:buNone/>
            </a:pPr>
            <a:r>
              <a:rPr lang="uz" sz="2800" b="1">
                <a:solidFill>
                  <a:schemeClr val="hlink"/>
                </a:solidFill>
              </a:rPr>
              <a:t>     </a:t>
            </a:r>
            <a:r>
              <a:rPr lang="uz" sz="2800" b="1"/>
              <a:t>Gipermatn:</a:t>
            </a:r>
            <a:endParaRPr lang="ru-RU" sz="2800" b="1">
              <a:solidFill>
                <a:schemeClr val="hlink"/>
              </a:solidFill>
            </a:endParaRPr>
          </a:p>
          <a:p>
            <a:pPr>
              <a:spcBef>
                <a:spcPts val="500"/>
              </a:spcBef>
              <a:spcAft>
                <a:spcPts val="500"/>
              </a:spcAft>
              <a:buFont typeface="Wingdings" pitchFamily="2" charset="2"/>
              <a:buNone/>
            </a:pPr>
            <a:r>
              <a:rPr lang="uz">
                <a:solidFill>
                  <a:srgbClr val="FF9966"/>
                </a:solidFill>
              </a:rPr>
              <a:t>Teg - bu tomoshabinga ekrandagi matnni qanday tartibga solish, alohida grafik fayllarda saqlangan rasmlarni qo'shish va boshqa hujjatlar yoki Internet resurslariga giperhavolalar yaratish bo'yicha ko'rsatma.</a:t>
            </a:r>
            <a:endParaRPr lang="ru-RU" sz="2800" b="1">
              <a:solidFill>
                <a:srgbClr val="FF9966"/>
              </a:solidFill>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rrowheads="1"/>
          </p:cNvSpPr>
          <p:nvPr>
            <p:ph type="title"/>
          </p:nvPr>
        </p:nvSpPr>
        <p:spPr/>
        <p:txBody>
          <a:bodyPr/>
          <a:lstStyle/>
          <a:p>
            <a:r>
              <a:rPr lang="uz"/>
              <a:t>Internet xizmatlari</a:t>
            </a:r>
          </a:p>
        </p:txBody>
      </p:sp>
      <p:sp>
        <p:nvSpPr>
          <p:cNvPr id="95235" name="Rectangle 3"/>
          <p:cNvSpPr>
            <a:spLocks noGrp="1" noChangeArrowheads="1"/>
          </p:cNvSpPr>
          <p:nvPr>
            <p:ph type="body" idx="1"/>
          </p:nvPr>
        </p:nvSpPr>
        <p:spPr>
          <a:xfrm>
            <a:off x="228600" y="1524000"/>
            <a:ext cx="8686800" cy="2057400"/>
          </a:xfrm>
        </p:spPr>
        <p:txBody>
          <a:bodyPr/>
          <a:lstStyle/>
          <a:p>
            <a:pPr>
              <a:spcBef>
                <a:spcPts val="500"/>
              </a:spcBef>
              <a:spcAft>
                <a:spcPts val="500"/>
              </a:spcAft>
              <a:buFont typeface="Wingdings" pitchFamily="2" charset="2"/>
              <a:buNone/>
            </a:pPr>
            <a:r>
              <a:rPr lang="uz" b="1">
                <a:solidFill>
                  <a:schemeClr val="hlink"/>
                </a:solidFill>
              </a:rPr>
              <a:t>      </a:t>
            </a:r>
            <a:r>
              <a:rPr lang="uz" b="1"/>
              <a:t>Microsoft Internet Explorer va _</a:t>
            </a:r>
            <a:r>
              <a:rPr lang="uz" b="1">
                <a:solidFill>
                  <a:schemeClr val="hlink"/>
                </a:solidFill>
              </a:rPr>
              <a:t> </a:t>
            </a:r>
            <a:r>
              <a:rPr lang="uz" b="1"/>
              <a:t>Netscape Navigator.</a:t>
            </a:r>
            <a:endParaRPr lang="ru-RU" b="1">
              <a:solidFill>
                <a:schemeClr val="hlink"/>
              </a:solidFill>
            </a:endParaRPr>
          </a:p>
        </p:txBody>
      </p:sp>
    </p:spTree>
  </p:cSld>
  <p:clrMapOvr>
    <a:masterClrMapping/>
  </p:clrMapOvr>
  <p:transition/>
</p:sld>
</file>

<file path=ppt/theme/theme1.xml><?xml version="1.0" encoding="utf-8"?>
<a:theme xmlns:a="http://schemas.openxmlformats.org/drawingml/2006/main" name="Течение">
  <a:themeElements>
    <a:clrScheme name="Течение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Течение">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Течение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Течение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Течение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Течение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Течение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Течение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Течение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Течение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Течение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Stream</Template>
  <TotalTime>50</TotalTime>
  <Words>2985</Words>
  <Application>Microsoft Office PowerPoint</Application>
  <PresentationFormat>Экран (4:3)</PresentationFormat>
  <Paragraphs>328</Paragraphs>
  <Slides>78</Slides>
  <Notes>0</Notes>
  <HiddenSlides>0</HiddenSlides>
  <MMClips>0</MMClips>
  <ScaleCrop>false</ScaleCrop>
  <HeadingPairs>
    <vt:vector size="8" baseType="variant">
      <vt:variant>
        <vt:lpstr>Использованные шрифты</vt:lpstr>
      </vt:variant>
      <vt:variant>
        <vt:i4>4</vt:i4>
      </vt:variant>
      <vt:variant>
        <vt:lpstr>Тема</vt:lpstr>
      </vt:variant>
      <vt:variant>
        <vt:i4>1</vt:i4>
      </vt:variant>
      <vt:variant>
        <vt:lpstr>Внедренные серверы OLE</vt:lpstr>
      </vt:variant>
      <vt:variant>
        <vt:i4>2</vt:i4>
      </vt:variant>
      <vt:variant>
        <vt:lpstr>Заголовки слайдов</vt:lpstr>
      </vt:variant>
      <vt:variant>
        <vt:i4>78</vt:i4>
      </vt:variant>
    </vt:vector>
  </HeadingPairs>
  <TitlesOfParts>
    <vt:vector size="85" baseType="lpstr">
      <vt:lpstr>Arial</vt:lpstr>
      <vt:lpstr>Garamond</vt:lpstr>
      <vt:lpstr>Times New Roman</vt:lpstr>
      <vt:lpstr>Wingdings</vt:lpstr>
      <vt:lpstr>Течение</vt:lpstr>
      <vt:lpstr>Image</vt:lpstr>
      <vt:lpstr>Фотография Photo Editor</vt:lpstr>
      <vt:lpstr>"Kompyuter tarmog'i"</vt:lpstr>
      <vt:lpstr>Kompyuter tarmoqlarining tasnifi</vt:lpstr>
      <vt:lpstr>Kompyuter tarmoqlarining tasnifi</vt:lpstr>
      <vt:lpstr>Kompyuter tarmoqlarining tasnifi</vt:lpstr>
      <vt:lpstr>Kompyuter tarmoqlarining tasnifi</vt:lpstr>
      <vt:lpstr>Kompyuter tarmoqlarining tasnifi</vt:lpstr>
      <vt:lpstr>Презентация PowerPoint</vt:lpstr>
      <vt:lpstr>Mahalliy va global kompyuter tarmoqlari </vt:lpstr>
      <vt:lpstr>Презентация PowerPoint</vt:lpstr>
      <vt:lpstr> </vt:lpstr>
      <vt:lpstr>Презентация PowerPoint</vt:lpstr>
      <vt:lpstr>Презентация PowerPoint</vt:lpstr>
      <vt:lpstr>Презентация PowerPoint</vt:lpstr>
      <vt:lpstr>Презентация PowerPoint</vt:lpstr>
      <vt:lpstr>Mahalliy tarmoq</vt:lpstr>
      <vt:lpstr>Tarmoq topologiyasi</vt:lpstr>
      <vt:lpstr>Mintaqaviy kompyuter tarmoqlari</vt:lpstr>
      <vt:lpstr>Презентация PowerPoint</vt:lpstr>
      <vt:lpstr>Korporativ kompyuter tarmoqlari</vt:lpstr>
      <vt:lpstr>Global kompyuter tarmog'i Internet</vt:lpstr>
      <vt:lpstr>Internet</vt:lpstr>
      <vt:lpstr>TCP/IP </vt:lpstr>
      <vt:lpstr>TCP/IP </vt:lpstr>
      <vt:lpstr>TCP/IP </vt:lpstr>
      <vt:lpstr>TCP/IP </vt:lpstr>
      <vt:lpstr>Manzil usullari</vt:lpstr>
      <vt:lpstr>Manzil usullari</vt:lpstr>
      <vt:lpstr>Manzil usullari</vt:lpstr>
      <vt:lpstr>Manzil usullari</vt:lpstr>
      <vt:lpstr>Internet manzilini aniqlash</vt:lpstr>
      <vt:lpstr>Manzil usullari</vt:lpstr>
      <vt:lpstr>Domenlar</vt:lpstr>
      <vt:lpstr>Manzil usullari </vt:lpstr>
      <vt:lpstr>Domenlar</vt:lpstr>
      <vt:lpstr>Internet</vt:lpstr>
      <vt:lpstr>Internet</vt:lpstr>
      <vt:lpstr>Yagona Resurs Locator URL </vt:lpstr>
      <vt:lpstr>Internetga kirish turlari</vt:lpstr>
      <vt:lpstr>Internetga kirish turlari</vt:lpstr>
      <vt:lpstr>Internetga kirish turlari</vt:lpstr>
      <vt:lpstr>Internetga kirish turlari</vt:lpstr>
      <vt:lpstr>Internetga kirish turlari</vt:lpstr>
      <vt:lpstr>Internetga kirish turlari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 </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lpstr>Internet xizmatlari</vt:lpstr>
    </vt:vector>
  </TitlesOfParts>
  <Company>MoBIL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Admin</dc:creator>
  <cp:lastModifiedBy>Админ</cp:lastModifiedBy>
  <cp:revision>7</cp:revision>
  <dcterms:created xsi:type="dcterms:W3CDTF">2010-03-21T09:36:30Z</dcterms:created>
  <dcterms:modified xsi:type="dcterms:W3CDTF">2024-01-29T13:54:59Z</dcterms:modified>
</cp:coreProperties>
</file>