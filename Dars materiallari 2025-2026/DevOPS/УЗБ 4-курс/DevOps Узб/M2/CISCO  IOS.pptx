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68" r:id="rId5"/>
    <p:sldId id="269" r:id="rId6"/>
    <p:sldId id="270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custDataLst>
    <p:tags r:id="rId17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77D72-3300-4F62-83CC-A4798A145413}" type="datetimeFigureOut">
              <a:rPr lang="ru-RU" smtClean="0"/>
              <a:t>25.11.2013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1EF79-84DC-420B-82F3-3A511E365E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06387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77D72-3300-4F62-83CC-A4798A145413}" type="datetimeFigureOut">
              <a:rPr lang="ru-RU" smtClean="0"/>
              <a:t>25.11.2013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1EF79-84DC-420B-82F3-3A511E365E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9687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77D72-3300-4F62-83CC-A4798A145413}" type="datetimeFigureOut">
              <a:rPr lang="ru-RU" smtClean="0"/>
              <a:t>25.11.2013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1EF79-84DC-420B-82F3-3A511E365E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138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77D72-3300-4F62-83CC-A4798A145413}" type="datetimeFigureOut">
              <a:rPr lang="ru-RU" smtClean="0"/>
              <a:t>25.11.2013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1EF79-84DC-420B-82F3-3A511E365E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4668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77D72-3300-4F62-83CC-A4798A145413}" type="datetimeFigureOut">
              <a:rPr lang="ru-RU" smtClean="0"/>
              <a:t>25.11.2013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1EF79-84DC-420B-82F3-3A511E365E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3198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77D72-3300-4F62-83CC-A4798A145413}" type="datetimeFigureOut">
              <a:rPr lang="ru-RU" smtClean="0"/>
              <a:t>25.11.2013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1EF79-84DC-420B-82F3-3A511E365E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68565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77D72-3300-4F62-83CC-A4798A145413}" type="datetimeFigureOut">
              <a:rPr lang="ru-RU" smtClean="0"/>
              <a:t>25.11.2013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1EF79-84DC-420B-82F3-3A511E365E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86567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77D72-3300-4F62-83CC-A4798A145413}" type="datetimeFigureOut">
              <a:rPr lang="ru-RU" smtClean="0"/>
              <a:t>25.11.2013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1EF79-84DC-420B-82F3-3A511E365E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7162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77D72-3300-4F62-83CC-A4798A145413}" type="datetimeFigureOut">
              <a:rPr lang="ru-RU" smtClean="0"/>
              <a:t>25.11.2013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1EF79-84DC-420B-82F3-3A511E365E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577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77D72-3300-4F62-83CC-A4798A145413}" type="datetimeFigureOut">
              <a:rPr lang="ru-RU" smtClean="0"/>
              <a:t>25.11.2013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1EF79-84DC-420B-82F3-3A511E365E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2007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77D72-3300-4F62-83CC-A4798A145413}" type="datetimeFigureOut">
              <a:rPr lang="ru-RU" smtClean="0"/>
              <a:t>25.11.2013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1EF79-84DC-420B-82F3-3A511E365E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600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977D72-3300-4F62-83CC-A4798A145413}" type="datetimeFigureOut">
              <a:rPr lang="ru-RU" smtClean="0"/>
              <a:t>25.11.2013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1EF79-84DC-420B-82F3-3A511E365E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4338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5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7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8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9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0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1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2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3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14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1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07142" y="981635"/>
            <a:ext cx="9144000" cy="1466010"/>
          </a:xfrm>
        </p:spPr>
        <p:txBody>
          <a:bodyPr>
            <a:normAutofit/>
          </a:bodyPr>
          <a:lstStyle/>
          <a:p>
            <a:r>
              <a:rPr lang="en-US" sz="9600" b="1" dirty="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CISCO  IOS</a:t>
            </a:r>
            <a:endParaRPr lang="ru-RU" sz="9600" b="1" dirty="0"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02977" y="2687638"/>
            <a:ext cx="9144000" cy="1655762"/>
          </a:xfrm>
        </p:spPr>
        <p:txBody>
          <a:bodyPr>
            <a:noAutofit/>
          </a:bodyPr>
          <a:lstStyle/>
          <a:p>
            <a:r>
              <a:rPr lang="en-US" sz="6000" dirty="0"/>
              <a:t> Internetwork Operating System</a:t>
            </a:r>
            <a:endParaRPr lang="ru-RU" sz="6000" dirty="0"/>
          </a:p>
        </p:txBody>
      </p:sp>
    </p:spTree>
    <p:extLst>
      <p:ext uri="{BB962C8B-B14F-4D97-AF65-F5344CB8AC3E}">
        <p14:creationId xmlns:p14="http://schemas.microsoft.com/office/powerpoint/2010/main" val="1397536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3764719"/>
              </p:ext>
            </p:extLst>
          </p:nvPr>
        </p:nvGraphicFramePr>
        <p:xfrm>
          <a:off x="1677306" y="182142"/>
          <a:ext cx="8340752" cy="6501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9" r:id="rId3" imgW="5866560" imgH="4571280" progId="">
                  <p:embed/>
                </p:oleObj>
              </mc:Choice>
              <mc:Fallback>
                <p:oleObj r:id="rId3" imgW="5866560" imgH="457128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77306" y="182142"/>
                        <a:ext cx="8340752" cy="65010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2347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3271433"/>
              </p:ext>
            </p:extLst>
          </p:nvPr>
        </p:nvGraphicFramePr>
        <p:xfrm>
          <a:off x="1896035" y="203063"/>
          <a:ext cx="8350623" cy="64857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3" r:id="rId3" imgW="6590160" imgH="5117400" progId="">
                  <p:embed/>
                </p:oleObj>
              </mc:Choice>
              <mc:Fallback>
                <p:oleObj r:id="rId3" imgW="6590160" imgH="511740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96035" y="203063"/>
                        <a:ext cx="8350623" cy="64857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445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040539"/>
              </p:ext>
            </p:extLst>
          </p:nvPr>
        </p:nvGraphicFramePr>
        <p:xfrm>
          <a:off x="2446244" y="981635"/>
          <a:ext cx="6522759" cy="52621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4" r:id="rId3" imgW="5980680" imgH="4825080" progId="">
                  <p:embed/>
                </p:oleObj>
              </mc:Choice>
              <mc:Fallback>
                <p:oleObj r:id="rId3" imgW="5980680" imgH="482508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46244" y="981635"/>
                        <a:ext cx="6522759" cy="52621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9083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4433687"/>
              </p:ext>
            </p:extLst>
          </p:nvPr>
        </p:nvGraphicFramePr>
        <p:xfrm>
          <a:off x="4194027" y="0"/>
          <a:ext cx="7746962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8" r:id="rId3" imgW="5866560" imgH="5193360" progId="">
                  <p:embed/>
                </p:oleObj>
              </mc:Choice>
              <mc:Fallback>
                <p:oleObj r:id="rId3" imgW="5866560" imgH="519336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94027" y="0"/>
                        <a:ext cx="7746962" cy="685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18563" y="914401"/>
            <a:ext cx="419402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There are several ways to access the CLI environment. The most common methods are: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Console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Telnet or SSH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AUX port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657520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3039588"/>
              </p:ext>
            </p:extLst>
          </p:nvPr>
        </p:nvGraphicFramePr>
        <p:xfrm>
          <a:off x="117605" y="430306"/>
          <a:ext cx="6942100" cy="60646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0" r:id="rId3" imgW="5815800" imgH="5079240" progId="">
                  <p:embed/>
                </p:oleObj>
              </mc:Choice>
              <mc:Fallback>
                <p:oleObj r:id="rId3" imgW="5815800" imgH="507924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7605" y="430306"/>
                        <a:ext cx="6942100" cy="60646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9517519"/>
              </p:ext>
            </p:extLst>
          </p:nvPr>
        </p:nvGraphicFramePr>
        <p:xfrm>
          <a:off x="7191935" y="524435"/>
          <a:ext cx="4800600" cy="502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1" r:id="rId5" imgW="4799880" imgH="5028480" progId="">
                  <p:embed/>
                </p:oleObj>
              </mc:Choice>
              <mc:Fallback>
                <p:oleObj r:id="rId5" imgW="4799880" imgH="502848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91935" y="524435"/>
                        <a:ext cx="4800600" cy="5029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89940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367552" y="268894"/>
            <a:ext cx="10515600" cy="457248"/>
          </a:xfrm>
        </p:spPr>
        <p:txBody>
          <a:bodyPr>
            <a:noAutofit/>
          </a:bodyPr>
          <a:lstStyle/>
          <a:p>
            <a:r>
              <a:rPr lang="en-US" sz="3600" b="1" dirty="0" smtClean="0"/>
              <a:t>IOS </a:t>
            </a:r>
            <a:r>
              <a:rPr lang="ru-RU" sz="3600" b="1" dirty="0" smtClean="0"/>
              <a:t>Иерархическая структура режимов</a:t>
            </a:r>
            <a:endParaRPr lang="ru-RU" sz="3600" b="1" dirty="0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7732510"/>
              </p:ext>
            </p:extLst>
          </p:nvPr>
        </p:nvGraphicFramePr>
        <p:xfrm>
          <a:off x="578643" y="726142"/>
          <a:ext cx="7834313" cy="598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" r:id="rId3" imgW="7834680" imgH="5980680" progId="">
                  <p:embed/>
                </p:oleObj>
              </mc:Choice>
              <mc:Fallback>
                <p:oleObj r:id="rId3" imgW="7834680" imgH="598068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8643" y="726142"/>
                        <a:ext cx="7834313" cy="5980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84413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9250" y="257548"/>
            <a:ext cx="10515600" cy="724087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Пользовательский и привилегированный режим</a:t>
            </a:r>
            <a:endParaRPr lang="ru-RU" sz="3600" b="1" dirty="0"/>
          </a:p>
        </p:txBody>
      </p:sp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5153262"/>
              </p:ext>
            </p:extLst>
          </p:nvPr>
        </p:nvGraphicFramePr>
        <p:xfrm>
          <a:off x="349250" y="856970"/>
          <a:ext cx="10450512" cy="587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" r:id="rId3" imgW="10450440" imgH="5879160" progId="">
                  <p:embed/>
                </p:oleObj>
              </mc:Choice>
              <mc:Fallback>
                <p:oleObj r:id="rId3" imgW="10450440" imgH="587916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9250" y="856970"/>
                        <a:ext cx="10450512" cy="5878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45689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905437" y="257550"/>
            <a:ext cx="4555939" cy="522381"/>
          </a:xfrm>
        </p:spPr>
        <p:txBody>
          <a:bodyPr>
            <a:noAutofit/>
          </a:bodyPr>
          <a:lstStyle/>
          <a:p>
            <a:pPr algn="r"/>
            <a:r>
              <a:rPr lang="ru-RU" sz="3600" b="1" dirty="0" smtClean="0"/>
              <a:t>Режимы конфигурации</a:t>
            </a:r>
            <a:endParaRPr lang="ru-RU" sz="3600" b="1" dirty="0"/>
          </a:p>
        </p:txBody>
      </p:sp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6352968"/>
              </p:ext>
            </p:extLst>
          </p:nvPr>
        </p:nvGraphicFramePr>
        <p:xfrm>
          <a:off x="340659" y="257550"/>
          <a:ext cx="5959661" cy="6441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r:id="rId3" imgW="5168160" imgH="5587200" progId="">
                  <p:embed/>
                </p:oleObj>
              </mc:Choice>
              <mc:Fallback>
                <p:oleObj r:id="rId3" imgW="5168160" imgH="558720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0659" y="257550"/>
                        <a:ext cx="5959661" cy="64410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02323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9976" y="136526"/>
            <a:ext cx="10515600" cy="562721"/>
          </a:xfrm>
        </p:spPr>
        <p:txBody>
          <a:bodyPr>
            <a:noAutofit/>
          </a:bodyPr>
          <a:lstStyle/>
          <a:p>
            <a:r>
              <a:rPr lang="ru-RU" sz="3600" b="1" dirty="0" smtClean="0"/>
              <a:t>Режимы глобальной и частной конфигурации</a:t>
            </a:r>
            <a:endParaRPr lang="ru-RU" sz="3600" b="1" dirty="0"/>
          </a:p>
        </p:txBody>
      </p:sp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8190038"/>
              </p:ext>
            </p:extLst>
          </p:nvPr>
        </p:nvGraphicFramePr>
        <p:xfrm>
          <a:off x="2382417" y="699247"/>
          <a:ext cx="7742337" cy="6010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4" r:id="rId3" imgW="7212600" imgH="5599800" progId="">
                  <p:embed/>
                </p:oleObj>
              </mc:Choice>
              <mc:Fallback>
                <p:oleObj r:id="rId3" imgW="7212600" imgH="559980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417" y="699247"/>
                        <a:ext cx="7742337" cy="60108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9065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4447" y="284443"/>
            <a:ext cx="10515600" cy="495487"/>
          </a:xfrm>
        </p:spPr>
        <p:txBody>
          <a:bodyPr>
            <a:noAutofit/>
          </a:bodyPr>
          <a:lstStyle/>
          <a:p>
            <a:r>
              <a:rPr lang="ru-RU" sz="3600" b="1" dirty="0" smtClean="0"/>
              <a:t>Переключение между режимами (</a:t>
            </a:r>
            <a:r>
              <a:rPr lang="en-US" sz="3600" b="1" dirty="0" smtClean="0"/>
              <a:t>Switch)</a:t>
            </a:r>
            <a:endParaRPr lang="ru-RU" sz="3600" b="1" dirty="0"/>
          </a:p>
        </p:txBody>
      </p:sp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5905159"/>
              </p:ext>
            </p:extLst>
          </p:nvPr>
        </p:nvGraphicFramePr>
        <p:xfrm>
          <a:off x="192741" y="1169895"/>
          <a:ext cx="10605522" cy="54635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5" r:id="rId3" imgW="7174440" imgH="3695040" progId="">
                  <p:embed/>
                </p:oleObj>
              </mc:Choice>
              <mc:Fallback>
                <p:oleObj r:id="rId3" imgW="7174440" imgH="369504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2741" y="1169895"/>
                        <a:ext cx="10605522" cy="54635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86298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4447" y="284443"/>
            <a:ext cx="10515600" cy="495487"/>
          </a:xfrm>
        </p:spPr>
        <p:txBody>
          <a:bodyPr>
            <a:noAutofit/>
          </a:bodyPr>
          <a:lstStyle/>
          <a:p>
            <a:r>
              <a:rPr lang="ru-RU" sz="3600" b="1" dirty="0" smtClean="0"/>
              <a:t>Переключение между режимами (</a:t>
            </a:r>
            <a:r>
              <a:rPr lang="en-US" sz="3600" b="1" dirty="0" smtClean="0"/>
              <a:t>Router)</a:t>
            </a:r>
            <a:endParaRPr lang="ru-RU" sz="3600" b="1" dirty="0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2371313"/>
              </p:ext>
            </p:extLst>
          </p:nvPr>
        </p:nvGraphicFramePr>
        <p:xfrm>
          <a:off x="286869" y="1182500"/>
          <a:ext cx="10511101" cy="5473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9" r:id="rId3" imgW="7072920" imgH="3682440" progId="">
                  <p:embed/>
                </p:oleObj>
              </mc:Choice>
              <mc:Fallback>
                <p:oleObj r:id="rId3" imgW="7072920" imgH="368244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6869" y="1182500"/>
                        <a:ext cx="10511101" cy="5473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1244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0659" y="297890"/>
            <a:ext cx="10515600" cy="576169"/>
          </a:xfrm>
        </p:spPr>
        <p:txBody>
          <a:bodyPr>
            <a:noAutofit/>
          </a:bodyPr>
          <a:lstStyle/>
          <a:p>
            <a:r>
              <a:rPr lang="ru-RU" sz="3600" b="1" dirty="0" smtClean="0"/>
              <a:t>Структура команды </a:t>
            </a:r>
            <a:r>
              <a:rPr lang="en-US" sz="3600" b="1" dirty="0" smtClean="0"/>
              <a:t>IOS</a:t>
            </a:r>
            <a:endParaRPr lang="ru-RU" sz="3600" b="1" dirty="0"/>
          </a:p>
        </p:txBody>
      </p:sp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0364694"/>
              </p:ext>
            </p:extLst>
          </p:nvPr>
        </p:nvGraphicFramePr>
        <p:xfrm>
          <a:off x="33388" y="1308847"/>
          <a:ext cx="12158612" cy="4836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0" r:id="rId3" imgW="11872800" imgH="4723560" progId="">
                  <p:embed/>
                </p:oleObj>
              </mc:Choice>
              <mc:Fallback>
                <p:oleObj r:id="rId3" imgW="11872800" imgH="472356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388" y="1308847"/>
                        <a:ext cx="12158612" cy="48364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01825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6870" y="257548"/>
            <a:ext cx="10515600" cy="468593"/>
          </a:xfrm>
        </p:spPr>
        <p:txBody>
          <a:bodyPr>
            <a:noAutofit/>
          </a:bodyPr>
          <a:lstStyle/>
          <a:p>
            <a:r>
              <a:rPr lang="ru-RU" sz="3600" b="1" dirty="0" smtClean="0"/>
              <a:t>Контекстная </a:t>
            </a:r>
            <a:br>
              <a:rPr lang="ru-RU" sz="3600" b="1" dirty="0" smtClean="0"/>
            </a:br>
            <a:r>
              <a:rPr lang="ru-RU" sz="3600" b="1" dirty="0" smtClean="0"/>
              <a:t>помощь</a:t>
            </a:r>
            <a:endParaRPr lang="ru-RU" sz="3600" b="1" dirty="0"/>
          </a:p>
        </p:txBody>
      </p:sp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4271652"/>
              </p:ext>
            </p:extLst>
          </p:nvPr>
        </p:nvGraphicFramePr>
        <p:xfrm>
          <a:off x="2753230" y="0"/>
          <a:ext cx="9129487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1" r:id="rId3" imgW="7656840" imgH="5752080" progId="">
                  <p:embed/>
                </p:oleObj>
              </mc:Choice>
              <mc:Fallback>
                <p:oleObj r:id="rId3" imgW="7656840" imgH="575208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53230" y="0"/>
                        <a:ext cx="9129487" cy="685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20467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6948" y="244101"/>
            <a:ext cx="2994211" cy="1826746"/>
          </a:xfrm>
        </p:spPr>
        <p:txBody>
          <a:bodyPr>
            <a:noAutofit/>
          </a:bodyPr>
          <a:lstStyle/>
          <a:p>
            <a:r>
              <a:rPr lang="ru-RU" sz="3600" b="1" dirty="0" smtClean="0"/>
              <a:t>Команды </a:t>
            </a:r>
            <a:br>
              <a:rPr lang="ru-RU" sz="3600" b="1" dirty="0" smtClean="0"/>
            </a:br>
            <a:r>
              <a:rPr lang="ru-RU" sz="3600" b="1" dirty="0" smtClean="0"/>
              <a:t>проверки </a:t>
            </a:r>
            <a:br>
              <a:rPr lang="ru-RU" sz="3600" b="1" dirty="0" smtClean="0"/>
            </a:br>
            <a:r>
              <a:rPr lang="ru-RU" sz="3600" b="1" dirty="0" smtClean="0"/>
              <a:t>конфигурации </a:t>
            </a:r>
            <a:endParaRPr lang="ru-RU" sz="3600" b="1" dirty="0"/>
          </a:p>
        </p:txBody>
      </p:sp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8948449"/>
              </p:ext>
            </p:extLst>
          </p:nvPr>
        </p:nvGraphicFramePr>
        <p:xfrm>
          <a:off x="2662519" y="0"/>
          <a:ext cx="9529482" cy="68061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2" r:id="rId3" imgW="6755400" imgH="4825080" progId="">
                  <p:embed/>
                </p:oleObj>
              </mc:Choice>
              <mc:Fallback>
                <p:oleObj r:id="rId3" imgW="6755400" imgH="482508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62519" y="0"/>
                        <a:ext cx="9529482" cy="68061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56978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2b778b9ad7825b3696f36a5b92d99ba215ec7d6b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56</Words>
  <Application>Microsoft Office PowerPoint</Application>
  <PresentationFormat>Широкоэкранный</PresentationFormat>
  <Paragraphs>15</Paragraphs>
  <Slides>15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0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Adobe Gothic Std B</vt:lpstr>
      <vt:lpstr>Arial</vt:lpstr>
      <vt:lpstr>Calibri</vt:lpstr>
      <vt:lpstr>Calibri Light</vt:lpstr>
      <vt:lpstr>Тема Office</vt:lpstr>
      <vt:lpstr>CISCO  IOS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IOS Иерархическая структура режимов</vt:lpstr>
      <vt:lpstr>Пользовательский и привилегированный режим</vt:lpstr>
      <vt:lpstr>Режимы конфигурации</vt:lpstr>
      <vt:lpstr>Режимы глобальной и частной конфигурации</vt:lpstr>
      <vt:lpstr>Переключение между режимами (Switch)</vt:lpstr>
      <vt:lpstr>Переключение между режимами (Router)</vt:lpstr>
      <vt:lpstr>Структура команды IOS</vt:lpstr>
      <vt:lpstr>Контекстная  помощь</vt:lpstr>
      <vt:lpstr>Команды  проверки  конфигурации 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IOS</dc:title>
  <dc:creator>ngp</dc:creator>
  <cp:lastModifiedBy>ngp</cp:lastModifiedBy>
  <cp:revision>43</cp:revision>
  <dcterms:created xsi:type="dcterms:W3CDTF">2013-11-23T19:55:13Z</dcterms:created>
  <dcterms:modified xsi:type="dcterms:W3CDTF">2013-11-25T19:26:18Z</dcterms:modified>
</cp:coreProperties>
</file>