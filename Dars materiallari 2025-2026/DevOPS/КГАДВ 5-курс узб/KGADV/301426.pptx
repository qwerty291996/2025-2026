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6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310" r:id="rId10"/>
    <p:sldId id="265" r:id="rId11"/>
    <p:sldId id="266" r:id="rId12"/>
    <p:sldId id="315" r:id="rId13"/>
    <p:sldId id="318" r:id="rId14"/>
    <p:sldId id="317" r:id="rId15"/>
    <p:sldId id="316" r:id="rId16"/>
    <p:sldId id="267" r:id="rId17"/>
    <p:sldId id="321" r:id="rId18"/>
    <p:sldId id="271" r:id="rId19"/>
    <p:sldId id="279" r:id="rId20"/>
    <p:sldId id="275" r:id="rId21"/>
    <p:sldId id="270" r:id="rId22"/>
    <p:sldId id="276" r:id="rId23"/>
    <p:sldId id="277" r:id="rId24"/>
    <p:sldId id="319" r:id="rId25"/>
    <p:sldId id="320" r:id="rId26"/>
    <p:sldId id="322" r:id="rId27"/>
    <p:sldId id="273" r:id="rId28"/>
    <p:sldId id="323" r:id="rId29"/>
    <p:sldId id="324" r:id="rId30"/>
    <p:sldId id="325" r:id="rId31"/>
    <p:sldId id="268" r:id="rId32"/>
    <p:sldId id="274" r:id="rId33"/>
    <p:sldId id="311" r:id="rId34"/>
    <p:sldId id="280" r:id="rId35"/>
    <p:sldId id="281" r:id="rId36"/>
    <p:sldId id="312" r:id="rId37"/>
    <p:sldId id="313" r:id="rId38"/>
    <p:sldId id="314" r:id="rId39"/>
    <p:sldId id="326" r:id="rId40"/>
    <p:sldId id="282" r:id="rId41"/>
    <p:sldId id="283" r:id="rId42"/>
    <p:sldId id="284" r:id="rId43"/>
    <p:sldId id="285" r:id="rId44"/>
    <p:sldId id="286" r:id="rId45"/>
    <p:sldId id="287" r:id="rId46"/>
    <p:sldId id="288" r:id="rId47"/>
    <p:sldId id="289" r:id="rId48"/>
    <p:sldId id="290" r:id="rId49"/>
    <p:sldId id="291" r:id="rId50"/>
    <p:sldId id="292" r:id="rId51"/>
    <p:sldId id="293" r:id="rId52"/>
    <p:sldId id="294" r:id="rId53"/>
    <p:sldId id="295" r:id="rId54"/>
    <p:sldId id="296" r:id="rId55"/>
    <p:sldId id="297" r:id="rId56"/>
    <p:sldId id="298" r:id="rId57"/>
    <p:sldId id="299" r:id="rId58"/>
    <p:sldId id="300" r:id="rId59"/>
    <p:sldId id="301" r:id="rId60"/>
    <p:sldId id="302" r:id="rId61"/>
    <p:sldId id="303" r:id="rId62"/>
    <p:sldId id="304" r:id="rId63"/>
    <p:sldId id="305" r:id="rId64"/>
    <p:sldId id="306" r:id="rId65"/>
    <p:sldId id="307" r:id="rId66"/>
    <p:sldId id="308" r:id="rId67"/>
    <p:sldId id="309" r:id="rId6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80" autoAdjust="0"/>
    <p:restoredTop sz="94660"/>
  </p:normalViewPr>
  <p:slideViewPr>
    <p:cSldViewPr>
      <p:cViewPr varScale="1">
        <p:scale>
          <a:sx n="100" d="100"/>
          <a:sy n="100" d="100"/>
        </p:scale>
        <p:origin x="-28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AD12D-116E-434B-B289-11859AC87395}" type="datetimeFigureOut">
              <a:rPr lang="ru-RU" smtClean="0"/>
              <a:pPr/>
              <a:t>26.03.2015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437EC1-D2F6-40B4-B748-7D61940FC3B5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A9FEB3F-8F6C-450A-A2DF-EBBE3750BB87}" type="slidenum">
              <a:rPr lang="ru-RU"/>
              <a:pPr/>
              <a:t>20</a:t>
            </a:fld>
            <a:endParaRPr lang="ru-RU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ru-RU" smtClean="0"/>
              <a:t>Главное то, что глаз распознает эти длины волн рецепторами-колбочками, чувствительным к трем цветам: красному, зеленому и синему. </a:t>
            </a:r>
          </a:p>
          <a:p>
            <a:pPr eaLnBrk="1" hangingPunct="1"/>
            <a:r>
              <a:rPr lang="ru-RU" smtClean="0"/>
              <a:t>При этом максимальная чувствительность наблюдается к зеленому цвету (550 нм). </a:t>
            </a:r>
          </a:p>
          <a:p>
            <a:pPr eaLnBrk="1" hangingPunct="1"/>
            <a:r>
              <a:rPr lang="ru-RU" smtClean="0"/>
              <a:t>На этой избирательной чувствительности глаза к цвету основано так называемое явление</a:t>
            </a:r>
            <a:r>
              <a:rPr lang="ru-RU" i="1" smtClean="0"/>
              <a:t> смешения цветов</a:t>
            </a:r>
            <a:r>
              <a:rPr lang="ru-RU" smtClean="0"/>
              <a:t>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437EC1-D2F6-40B4-B748-7D61940FC3B5}" type="slidenum">
              <a:rPr lang="ru-RU" smtClean="0"/>
              <a:pPr/>
              <a:t>57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blipFill dpi="0"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lum/>
          </a:blip>
          <a:srcRect/>
          <a:stretch>
            <a:fillRect r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7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 smtClean="0">
                <a:solidFill>
                  <a:srgbClr val="FFFFFF"/>
                </a:solidFill>
              </a:defRPr>
            </a:lvl1pPr>
          </a:lstStyle>
          <a:p>
            <a:fld id="{6D1AE433-2D5E-41CB-869A-A6E0AB316B7E}" type="datetimeFigureOut">
              <a:rPr lang="ru-RU" smtClean="0"/>
              <a:pPr/>
              <a:t>26.03.2015</a:t>
            </a:fld>
            <a:endParaRPr lang="ru-RU"/>
          </a:p>
        </p:txBody>
      </p:sp>
      <p:sp>
        <p:nvSpPr>
          <p:cNvPr id="10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 dirty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 sz="1400" smtClean="0">
                <a:solidFill>
                  <a:schemeClr val="tx2"/>
                </a:solidFill>
              </a:defRPr>
            </a:lvl1pPr>
          </a:lstStyle>
          <a:p>
            <a:fld id="{E5400A52-E20E-444A-83AE-5D4AFA6FE99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77851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D1AE433-2D5E-41CB-869A-A6E0AB316B7E}" type="datetimeFigureOut">
              <a:rPr lang="ru-RU" smtClean="0"/>
              <a:pPr/>
              <a:t>26.03.2015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smtClean="0">
                <a:solidFill>
                  <a:srgbClr val="FFFFFF"/>
                </a:solidFill>
              </a:defRPr>
            </a:lvl1pPr>
          </a:lstStyle>
          <a:p>
            <a:fld id="{E5400A52-E20E-444A-83AE-5D4AFA6FE99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96680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D1AE433-2D5E-41CB-869A-A6E0AB316B7E}" type="datetimeFigureOut">
              <a:rPr lang="ru-RU" smtClean="0"/>
              <a:pPr/>
              <a:t>26.03.2015</a:t>
            </a:fld>
            <a:endParaRPr lang="ru-RU"/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 smtClean="0">
                <a:solidFill>
                  <a:srgbClr val="FFFFFF"/>
                </a:solidFill>
              </a:defRPr>
            </a:lvl1pPr>
          </a:lstStyle>
          <a:p>
            <a:fld id="{E5400A52-E20E-444A-83AE-5D4AFA6FE99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091077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6D1AE433-2D5E-41CB-869A-A6E0AB316B7E}" type="datetimeFigureOut">
              <a:rPr lang="ru-RU" smtClean="0"/>
              <a:pPr/>
              <a:t>26.03.2015</a:t>
            </a:fld>
            <a:endParaRPr lang="ru-RU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E5400A52-E20E-444A-83AE-5D4AFA6FE99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32354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6D1AE433-2D5E-41CB-869A-A6E0AB316B7E}" type="datetimeFigureOut">
              <a:rPr lang="ru-RU" smtClean="0"/>
              <a:pPr/>
              <a:t>26.03.2015</a:t>
            </a:fld>
            <a:endParaRPr lang="ru-RU"/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E5400A52-E20E-444A-83AE-5D4AFA6FE99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198715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D1AE433-2D5E-41CB-869A-A6E0AB316B7E}" type="datetimeFigureOut">
              <a:rPr lang="ru-RU" smtClean="0"/>
              <a:pPr/>
              <a:t>26.03.2015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smtClean="0">
                <a:solidFill>
                  <a:srgbClr val="FFFFFF"/>
                </a:solidFill>
              </a:defRPr>
            </a:lvl1pPr>
          </a:lstStyle>
          <a:p>
            <a:fld id="{E5400A52-E20E-444A-83AE-5D4AFA6FE99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009844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D1AE433-2D5E-41CB-869A-A6E0AB316B7E}" type="datetimeFigureOut">
              <a:rPr lang="ru-RU" smtClean="0"/>
              <a:pPr/>
              <a:t>26.03.2015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 sz="1400" smtClean="0">
                <a:solidFill>
                  <a:schemeClr val="tx2"/>
                </a:solidFill>
              </a:defRPr>
            </a:lvl1pPr>
          </a:lstStyle>
          <a:p>
            <a:fld id="{E5400A52-E20E-444A-83AE-5D4AFA6FE99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62255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sm_book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12775" y="1755775"/>
            <a:ext cx="1614488" cy="1689100"/>
          </a:xfrm>
          <a:prstGeom prst="rect">
            <a:avLst/>
          </a:prstGeom>
          <a:noFill/>
          <a:ln w="50800" cap="sq" cmpd="dbl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D1AE433-2D5E-41CB-869A-A6E0AB316B7E}" type="datetimeFigureOut">
              <a:rPr lang="ru-RU" smtClean="0"/>
              <a:pPr/>
              <a:t>26.03.2015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smtClean="0">
                <a:solidFill>
                  <a:srgbClr val="FFFFFF"/>
                </a:solidFill>
              </a:defRPr>
            </a:lvl1pPr>
          </a:lstStyle>
          <a:p>
            <a:fld id="{E5400A52-E20E-444A-83AE-5D4AFA6FE99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18246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ru-RU" noProof="0" smtClean="0"/>
              <a:t>Вставка рисунка</a:t>
            </a:r>
            <a:endParaRPr lang="en-US" noProof="0" dirty="0"/>
          </a:p>
        </p:txBody>
      </p:sp>
      <p:sp>
        <p:nvSpPr>
          <p:cNvPr id="9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fld id="{6D1AE433-2D5E-41CB-869A-A6E0AB316B7E}" type="datetimeFigureOut">
              <a:rPr lang="ru-RU" smtClean="0"/>
              <a:pPr/>
              <a:t>26.03.2015</a:t>
            </a:fld>
            <a:endParaRPr lang="ru-RU"/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 rtlCol="0"/>
          <a:lstStyle>
            <a:lvl1pPr>
              <a:defRPr sz="2800" smtClean="0">
                <a:solidFill>
                  <a:srgbClr val="FFFFFF"/>
                </a:solidFill>
              </a:defRPr>
            </a:lvl1pPr>
          </a:lstStyle>
          <a:p>
            <a:fld id="{E5400A52-E20E-444A-83AE-5D4AFA6FE99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811970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D1AE433-2D5E-41CB-869A-A6E0AB316B7E}" type="datetimeFigureOut">
              <a:rPr lang="ru-RU" smtClean="0"/>
              <a:pPr/>
              <a:t>26.03.2015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400A52-E20E-444A-83AE-5D4AFA6FE99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54027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fld id="{6D1AE433-2D5E-41CB-869A-A6E0AB316B7E}" type="datetimeFigureOut">
              <a:rPr lang="ru-RU" smtClean="0"/>
              <a:pPr/>
              <a:t>26.03.2015</a:t>
            </a:fld>
            <a:endParaRPr lang="ru-RU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fld id="{E5400A52-E20E-444A-83AE-5D4AFA6FE99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296593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  <a:endParaRPr lang="en-US" smtClean="0"/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612775" y="1600200"/>
            <a:ext cx="8153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smtClean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400" smtClean="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fld id="{6D1AE433-2D5E-41CB-869A-A6E0AB316B7E}" type="datetimeFigureOut">
              <a:rPr lang="ru-RU" smtClean="0"/>
              <a:pPr/>
              <a:t>26.03.2015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400" dirty="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endParaRPr lang="ru-RU"/>
          </a:p>
        </p:txBody>
      </p:sp>
      <p:sp>
        <p:nvSpPr>
          <p:cNvPr id="7" name="Rectangle 6"/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fld id="{E5400A52-E20E-444A-83AE-5D4AFA6FE99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9pPr>
    </p:titleStyle>
    <p:bodyStyle>
      <a:lvl1pPr marL="319088" indent="-319088" algn="l" rtl="0" eaLnBrk="1" fontAlgn="base" hangingPunct="1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1" fontAlgn="base" hangingPunct="1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fontAlgn="base" hangingPunct="1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fontAlgn="base" hangingPunct="1">
        <a:spcBef>
          <a:spcPts val="400"/>
        </a:spcBef>
        <a:spcAft>
          <a:spcPct val="0"/>
        </a:spcAft>
        <a:buClr>
          <a:srgbClr val="E7BC29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fontAlgn="base" hangingPunct="1">
        <a:spcBef>
          <a:spcPts val="400"/>
        </a:spcBef>
        <a:spcAft>
          <a:spcPct val="0"/>
        </a:spcAft>
        <a:buClr>
          <a:srgbClr val="D092A7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3568" y="3068960"/>
            <a:ext cx="7875188" cy="2287726"/>
          </a:xfrm>
        </p:spPr>
        <p:txBody>
          <a:bodyPr>
            <a:prstTxWarp prst="textFadeUp">
              <a:avLst>
                <a:gd name="adj" fmla="val 1537"/>
              </a:avLst>
            </a:prstTxWarp>
            <a:normAutofit/>
          </a:bodyPr>
          <a:lstStyle/>
          <a:p>
            <a:r>
              <a:rPr lang="ru-RU" dirty="0" smtClean="0">
                <a:solidFill>
                  <a:schemeClr val="accent6">
                    <a:lumMod val="75000"/>
                  </a:schemeClr>
                </a:solidFill>
                <a:latin typeface="+mn-lt"/>
                <a:ea typeface="Adobe Ming Std L" pitchFamily="18" charset="-128"/>
                <a:cs typeface="Adobe Arabic" pitchFamily="18" charset="-78"/>
              </a:rPr>
              <a:t>компьютерная графика</a:t>
            </a:r>
            <a:r>
              <a:rPr lang="ru-RU" dirty="0" smtClean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ru-RU" dirty="0" smtClean="0">
                <a:solidFill>
                  <a:schemeClr val="accent6">
                    <a:lumMod val="75000"/>
                  </a:schemeClr>
                </a:solidFill>
              </a:rPr>
            </a:br>
            <a:endParaRPr lang="ru-RU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solidFill>
                  <a:schemeClr val="accent6">
                    <a:lumMod val="75000"/>
                  </a:schemeClr>
                </a:solidFill>
              </a:rPr>
              <a:t>Виды компьютерной графики</a:t>
            </a:r>
            <a:endParaRPr lang="ru-RU" sz="32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Содержимое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368300" algn="just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Представление данных на мониторе компьютера в графическом виде впервые было  реализовано в середине 50-х годов для больших ЭВМ, применявшихся в научных и военных исследованиях</a:t>
            </a:r>
            <a:r>
              <a:rPr lang="ru-RU" dirty="0" smtClean="0"/>
              <a:t>.</a:t>
            </a:r>
          </a:p>
          <a:p>
            <a:pPr marL="0" indent="36830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 тех пор графический способ отображения данных стал  неотъемлемой принадлежностью подавляющего числа компьютерных систем, в  особенности персональных</a:t>
            </a:r>
            <a:r>
              <a:rPr lang="ru-RU" dirty="0" smtClean="0"/>
              <a:t>. 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368300" algn="just">
              <a:buNone/>
            </a:pP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Графический интерфейс пользователя сегодня является стандартом «де-факто» для программного обеспечения разных классов, начиная с операционных систем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5400" b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Компьютерная </a:t>
            </a:r>
            <a:r>
              <a:rPr lang="ru-RU" sz="5400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графика</a:t>
            </a:r>
            <a:endParaRPr lang="ru-RU" sz="5400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571472" y="1428736"/>
            <a:ext cx="8229600" cy="4525963"/>
          </a:xfrm>
        </p:spPr>
        <p:txBody>
          <a:bodyPr>
            <a:normAutofit/>
          </a:bodyPr>
          <a:lstStyle/>
          <a:p>
            <a:pPr marL="82550" indent="469900" algn="just">
              <a:buFontTx/>
              <a:buChar char="-"/>
              <a:tabLst>
                <a:tab pos="174625" algn="l"/>
              </a:tabLst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специальная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область информатики, изучающая методы и средства создания и обработки изображений с помощью программно-аппаратных вычислительных комплексов</a:t>
            </a:r>
            <a:r>
              <a:rPr lang="ru-RU" dirty="0" smtClean="0"/>
              <a:t>.</a:t>
            </a:r>
          </a:p>
          <a:p>
            <a:pPr marL="82550" indent="469900" algn="just">
              <a:buNone/>
              <a:tabLst>
                <a:tab pos="174625" algn="l"/>
              </a:tabLst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Она охватывает все виды и формы представления изображений, доступных для восприятия человеком либо на экране монитора, либо в виде копии на внешнем носителе (бумага, кинопленка, ткань и прочее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800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Применение компьютерной графики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214282" y="1600200"/>
            <a:ext cx="8643998" cy="4525963"/>
          </a:xfrm>
        </p:spPr>
        <p:txBody>
          <a:bodyPr/>
          <a:lstStyle/>
          <a:p>
            <a:pPr marL="82550" indent="469900">
              <a:lnSpc>
                <a:spcPct val="90000"/>
              </a:lnSpc>
              <a:buFont typeface="Wingdings" pitchFamily="2" charset="2"/>
              <a:buChar char="Ø"/>
              <a:tabLst>
                <a:tab pos="174625" algn="l"/>
              </a:tabLst>
            </a:pPr>
            <a:r>
              <a:rPr lang="ru-RU" dirty="0" smtClean="0"/>
              <a:t> 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медицина (компьютерная томография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), </a:t>
            </a:r>
          </a:p>
          <a:p>
            <a:pPr marL="82550" indent="469900">
              <a:lnSpc>
                <a:spcPct val="90000"/>
              </a:lnSpc>
              <a:buFont typeface="Wingdings" pitchFamily="2" charset="2"/>
              <a:buChar char="Ø"/>
              <a:tabLst>
                <a:tab pos="174625" algn="l"/>
              </a:tabLst>
            </a:pP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научные исследования (визуализация строения вещества, векторных полей и других данных),</a:t>
            </a:r>
          </a:p>
          <a:p>
            <a:pPr marL="82550" indent="469900">
              <a:lnSpc>
                <a:spcPct val="90000"/>
              </a:lnSpc>
              <a:buFont typeface="Wingdings" pitchFamily="2" charset="2"/>
              <a:buChar char="Ø"/>
              <a:tabLst>
                <a:tab pos="174625" algn="l"/>
              </a:tabLst>
            </a:pP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    моделирование тканей и одежды, </a:t>
            </a:r>
          </a:p>
          <a:p>
            <a:pPr marL="82550" indent="469900">
              <a:lnSpc>
                <a:spcPct val="90000"/>
              </a:lnSpc>
              <a:buFont typeface="Wingdings" pitchFamily="2" charset="2"/>
              <a:buChar char="Ø"/>
              <a:tabLst>
                <a:tab pos="174625" algn="l"/>
              </a:tabLst>
            </a:pP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    опытно-конструкторские разработки.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5400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Графика делится на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531352" cy="44958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растровую,</a:t>
            </a:r>
          </a:p>
          <a:p>
            <a:pPr>
              <a:buFont typeface="Wingdings" pitchFamily="2" charset="2"/>
              <a:buChar char="Ø"/>
            </a:pP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 векторную, </a:t>
            </a:r>
          </a:p>
          <a:p>
            <a:pPr>
              <a:buFont typeface="Wingdings" pitchFamily="2" charset="2"/>
              <a:buChar char="Ø"/>
            </a:pP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фрактальную</a:t>
            </a:r>
          </a:p>
          <a:p>
            <a:pPr>
              <a:buNone/>
            </a:pP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 (в зависимости от способа формирования изображений 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5400" b="1" i="1" dirty="0">
                <a:solidFill>
                  <a:schemeClr val="accent6">
                    <a:lumMod val="50000"/>
                  </a:schemeClr>
                </a:solidFill>
              </a:rPr>
              <a:t>З</a:t>
            </a:r>
            <a:r>
              <a:rPr lang="en-US" sz="5400" b="1" i="1" dirty="0">
                <a:solidFill>
                  <a:schemeClr val="accent6">
                    <a:lumMod val="50000"/>
                  </a:schemeClr>
                </a:solidFill>
              </a:rPr>
              <a:t>D</a:t>
            </a:r>
            <a:r>
              <a:rPr lang="ru-RU" sz="5400" b="1" i="1" dirty="0">
                <a:solidFill>
                  <a:schemeClr val="accent6">
                    <a:lumMod val="50000"/>
                  </a:schemeClr>
                </a:solidFill>
              </a:rPr>
              <a:t>- графика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82550" indent="469900" algn="just">
              <a:lnSpc>
                <a:spcPct val="90000"/>
              </a:lnSpc>
              <a:buFontTx/>
              <a:buChar char="-"/>
              <a:tabLst>
                <a:tab pos="174625" algn="l"/>
              </a:tabLst>
            </a:pP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трехмерная (З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) графика изучает приемы и методы построения объемных моделей объектов в виртуальном пространстве. Как правило, в ней сочетаются векторный и растровый способы формирования изображений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8532440" cy="886544"/>
          </a:xfrm>
        </p:spPr>
        <p:txBody>
          <a:bodyPr>
            <a:noAutofit/>
          </a:bodyPr>
          <a:lstStyle/>
          <a:p>
            <a:r>
              <a:rPr lang="ru-RU" sz="4800" b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Некоторые </a:t>
            </a:r>
            <a:r>
              <a:rPr lang="ru-RU" sz="4800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разделы графики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323528" y="1600200"/>
            <a:ext cx="8442520" cy="4781128"/>
          </a:xfrm>
        </p:spPr>
        <p:txBody>
          <a:bodyPr>
            <a:normAutofit fontScale="92500"/>
          </a:bodyPr>
          <a:lstStyle/>
          <a:p>
            <a:pPr algn="just">
              <a:buFont typeface="Wingdings" pitchFamily="2" charset="2"/>
              <a:buChar char="Ø"/>
            </a:pP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инженерная графика, </a:t>
            </a:r>
            <a:endParaRPr lang="ru-RU" sz="36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научная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графика, </a:t>
            </a:r>
            <a:endParaRPr lang="ru-RU" sz="36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ru-RU" sz="3600" dirty="0" err="1">
                <a:latin typeface="Times New Roman" pitchFamily="18" charset="0"/>
                <a:cs typeface="Times New Roman" pitchFamily="18" charset="0"/>
              </a:rPr>
              <a:t>еЬ-графика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, </a:t>
            </a:r>
            <a:endParaRPr lang="ru-RU" sz="36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компьютерная полиграфия.</a:t>
            </a:r>
          </a:p>
          <a:p>
            <a:pPr marL="0" indent="396875" algn="just">
              <a:buNone/>
            </a:pP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На стыке компьютерных, телевизионных и </a:t>
            </a:r>
            <a:r>
              <a:rPr lang="ru-RU" sz="3600" dirty="0" err="1" smtClean="0">
                <a:latin typeface="Times New Roman" pitchFamily="18" charset="0"/>
                <a:cs typeface="Times New Roman" pitchFamily="18" charset="0"/>
              </a:rPr>
              <a:t>кинотехнологий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 зародилась и стремительно развивается область </a:t>
            </a:r>
            <a:r>
              <a:rPr lang="ru-RU" sz="3600" i="1" u="sng" dirty="0" smtClean="0">
                <a:latin typeface="Times New Roman" pitchFamily="18" charset="0"/>
                <a:cs typeface="Times New Roman" pitchFamily="18" charset="0"/>
              </a:rPr>
              <a:t>компьютерной графики и анимации</a:t>
            </a:r>
            <a:r>
              <a:rPr lang="ru-RU" sz="3600" i="1" u="sng" dirty="0" smtClean="0"/>
              <a:t>.</a:t>
            </a:r>
            <a:endParaRPr lang="ru-RU" sz="3600" dirty="0" smtClean="0"/>
          </a:p>
          <a:p>
            <a:pPr algn="just">
              <a:buFont typeface="Wingdings" pitchFamily="2" charset="2"/>
              <a:buChar char="Ø"/>
            </a:pP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251520" y="1412776"/>
            <a:ext cx="8640960" cy="5257800"/>
          </a:xfrm>
        </p:spPr>
        <p:txBody>
          <a:bodyPr/>
          <a:lstStyle/>
          <a:p>
            <a:pPr marL="0" indent="396875" algn="just">
              <a:buNone/>
            </a:pP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Заметное место в компьютерной графике отведено развлечениям.</a:t>
            </a:r>
          </a:p>
          <a:p>
            <a:pPr marL="0" indent="396875" algn="just">
              <a:buNone/>
            </a:pP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 Появилось даже такое понятие, как механизм графического представления данных в играх. Рынок игровых программ имеет оборот в десятки миллиардов долларов и часто инициализирует очередной этап совершенствования графики и анимации.</a:t>
            </a:r>
          </a:p>
          <a:p>
            <a:pPr algn="just"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228600"/>
            <a:ext cx="8586536" cy="990600"/>
          </a:xfrm>
        </p:spPr>
        <p:txBody>
          <a:bodyPr>
            <a:noAutofit/>
          </a:bodyPr>
          <a:lstStyle/>
          <a:p>
            <a:r>
              <a:rPr lang="ru-RU" sz="4800" b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Цвет и методы его описания</a:t>
            </a:r>
            <a:endParaRPr lang="ru-RU" sz="4800" b="1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0" y="1484784"/>
            <a:ext cx="8586536" cy="5069160"/>
          </a:xfrm>
        </p:spPr>
        <p:txBody>
          <a:bodyPr>
            <a:noAutofit/>
          </a:bodyPr>
          <a:lstStyle/>
          <a:p>
            <a:pPr marL="82550" indent="469900" algn="just">
              <a:buNone/>
              <a:tabLst>
                <a:tab pos="174625" algn="l"/>
              </a:tabLst>
            </a:pP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Цвет в компьютерной графике – это средство усиления зрительного впечатления и повышения информационной насыщенности изображения</a:t>
            </a:r>
          </a:p>
          <a:p>
            <a:pPr marL="82550" indent="469900" algn="just">
              <a:buNone/>
              <a:tabLst>
                <a:tab pos="174625" algn="l"/>
              </a:tabLst>
            </a:pP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Так как цвет может получаться и в процессе излучения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 и в процессе отражения, то существуют разные методы описания цвета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b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Цвет и методы его описания</a:t>
            </a:r>
            <a:endParaRPr lang="ru-RU" b="1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53136"/>
          </a:xfrm>
        </p:spPr>
        <p:txBody>
          <a:bodyPr/>
          <a:lstStyle/>
          <a:p>
            <a:pPr marL="82550" indent="469900" algn="just">
              <a:buNone/>
              <a:tabLst>
                <a:tab pos="174625" algn="l"/>
              </a:tabLst>
            </a:pP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Мы видим предметы потому, что они отражают или излучают свет. </a:t>
            </a:r>
          </a:p>
          <a:p>
            <a:pPr marL="82550" indent="469900" algn="just">
              <a:buNone/>
              <a:tabLst>
                <a:tab pos="174625" algn="l"/>
              </a:tabLst>
            </a:pP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Свет – электромагнитное излучение. Лучи света, попадая на сетчатку глаза, производят ощущение цвета.</a:t>
            </a:r>
          </a:p>
          <a:p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579438" algn="just">
              <a:buNone/>
            </a:pP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Ощущение цвета формируется мозгом в результате анализа светового потока, попадающего на сетчатку глаза от излучающих  и отражающих объектов</a:t>
            </a:r>
            <a:endParaRPr lang="ru-RU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396875" algn="just">
              <a:buNone/>
            </a:pP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Излучаемый свет – это свет, выходящий из источника(например, солнца, лампочки, экрана монитора). Излучаемый свет сохраняет все цвета, из которых он создан.</a:t>
            </a:r>
          </a:p>
          <a:p>
            <a:pPr marL="0" indent="396875" algn="just">
              <a:buNone/>
            </a:pP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При отражении от  объекта свет может измениться.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539552" y="1556792"/>
            <a:ext cx="8153400" cy="4495800"/>
          </a:xfrm>
        </p:spPr>
        <p:txBody>
          <a:bodyPr/>
          <a:lstStyle/>
          <a:p>
            <a:pPr marL="0" indent="396875" algn="just">
              <a:buNone/>
            </a:pP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Любой предмет, не являющийся источником света, частично отражает и частично поглощает  падающий на него свет.</a:t>
            </a:r>
          </a:p>
          <a:p>
            <a:pPr marL="0" indent="396875" algn="just">
              <a:buNone/>
            </a:pP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Монитор излучает свет (подобно солнцу), а бумага, на которой печатается изображение, отражает свет.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403225" algn="just">
              <a:buNone/>
            </a:pP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Так как свет получается  в процессе излучения и в процессе отражения, то существуют два противоположных метода его описания: аддитивная  и </a:t>
            </a:r>
            <a:r>
              <a:rPr lang="ru-RU" sz="3600" dirty="0" err="1" smtClean="0">
                <a:latin typeface="Times New Roman" pitchFamily="18" charset="0"/>
                <a:cs typeface="Times New Roman" pitchFamily="18" charset="0"/>
              </a:rPr>
              <a:t>субтрактивная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 цветовые модели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b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Цвет и методы его описания</a:t>
            </a:r>
            <a:endParaRPr lang="ru-RU" b="1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251520" y="1412776"/>
            <a:ext cx="8640960" cy="5184576"/>
          </a:xfrm>
        </p:spPr>
        <p:txBody>
          <a:bodyPr>
            <a:noAutofit/>
          </a:bodyPr>
          <a:lstStyle/>
          <a:p>
            <a:pPr marL="82550" indent="469900" algn="just">
              <a:lnSpc>
                <a:spcPct val="90000"/>
              </a:lnSpc>
              <a:buNone/>
              <a:tabLst>
                <a:tab pos="174625" algn="l"/>
              </a:tabLst>
            </a:pPr>
            <a:endParaRPr lang="ru-RU" sz="3200" i="1" dirty="0" smtClean="0">
              <a:latin typeface="Times New Roman" pitchFamily="18" charset="0"/>
              <a:cs typeface="Times New Roman" pitchFamily="18" charset="0"/>
            </a:endParaRPr>
          </a:p>
          <a:p>
            <a:pPr marL="82550" indent="469900" algn="just">
              <a:lnSpc>
                <a:spcPct val="90000"/>
              </a:lnSpc>
              <a:buNone/>
              <a:tabLst>
                <a:tab pos="174625" algn="l"/>
              </a:tabLst>
            </a:pPr>
            <a:r>
              <a:rPr lang="ru-RU" sz="3200" i="1" dirty="0" smtClean="0">
                <a:latin typeface="Times New Roman" pitchFamily="18" charset="0"/>
                <a:cs typeface="Times New Roman" pitchFamily="18" charset="0"/>
              </a:rPr>
              <a:t>Для излучающих объектов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характерно аддитивное цветовоспроизведение (ЭЛТ монитора-  суммируются световые излучения), </a:t>
            </a:r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pPr marL="82550" indent="469900" algn="just">
              <a:lnSpc>
                <a:spcPct val="90000"/>
              </a:lnSpc>
              <a:buNone/>
              <a:tabLst>
                <a:tab pos="174625" algn="l"/>
              </a:tabLst>
            </a:pPr>
            <a:r>
              <a:rPr lang="ru-RU" sz="3200" i="1" dirty="0" smtClean="0">
                <a:latin typeface="Times New Roman" pitchFamily="18" charset="0"/>
                <a:cs typeface="Times New Roman" pitchFamily="18" charset="0"/>
              </a:rPr>
              <a:t>для  отражающих объектов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-  </a:t>
            </a:r>
            <a:r>
              <a:rPr lang="ru-RU" sz="3200" dirty="0" err="1" smtClean="0">
                <a:latin typeface="Times New Roman" pitchFamily="18" charset="0"/>
                <a:cs typeface="Times New Roman" pitchFamily="18" charset="0"/>
              </a:rPr>
              <a:t>субтрактивное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 цветовоспроизведение (полиграфический отпечаток).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Аддитивная цветовая модель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179512" y="1412776"/>
            <a:ext cx="8712968" cy="5445224"/>
          </a:xfrm>
        </p:spPr>
        <p:txBody>
          <a:bodyPr/>
          <a:lstStyle/>
          <a:p>
            <a:pPr marL="0" indent="546100" algn="just">
              <a:buNone/>
            </a:pPr>
            <a:r>
              <a:rPr lang="ru-RU" sz="3400" dirty="0" smtClean="0">
                <a:latin typeface="Times New Roman" pitchFamily="18" charset="0"/>
                <a:cs typeface="Times New Roman" pitchFamily="18" charset="0"/>
              </a:rPr>
              <a:t>Излучаемый свет описывается с помощью аддитивной цветовой модели.</a:t>
            </a:r>
          </a:p>
          <a:p>
            <a:pPr marL="0" indent="546100" algn="just">
              <a:buNone/>
            </a:pPr>
            <a:r>
              <a:rPr lang="ru-RU" sz="3400" dirty="0" smtClean="0">
                <a:latin typeface="Times New Roman" pitchFamily="18" charset="0"/>
                <a:cs typeface="Times New Roman" pitchFamily="18" charset="0"/>
              </a:rPr>
              <a:t> Если с близкого расстояния посмотреть на экран работающего телевизора, то можно увидеть множество мельчайших точек красного, синего и зелёного цвета. Каждый </a:t>
            </a:r>
            <a:r>
              <a:rPr lang="ru-RU" sz="3400" dirty="0" err="1" smtClean="0">
                <a:latin typeface="Times New Roman" pitchFamily="18" charset="0"/>
                <a:cs typeface="Times New Roman" pitchFamily="18" charset="0"/>
              </a:rPr>
              <a:t>видеопиксель</a:t>
            </a:r>
            <a:r>
              <a:rPr lang="ru-RU" sz="3400" dirty="0" smtClean="0">
                <a:latin typeface="Times New Roman" pitchFamily="18" charset="0"/>
                <a:cs typeface="Times New Roman" pitchFamily="18" charset="0"/>
              </a:rPr>
              <a:t> на экране  - это совокупность трёх точек разного цвета, а из-за их очень малых размеров  наши глаза смешивают три цвета  в один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82550" indent="469900" algn="just">
              <a:buNone/>
              <a:tabLst>
                <a:tab pos="174625" algn="l"/>
              </a:tabLst>
            </a:pP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Все многообразие красок на экране получается путем смешивания трех базовых цветов: </a:t>
            </a:r>
            <a:r>
              <a:rPr lang="ru-RU" sz="3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красного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36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зеленого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36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синего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. Каждый пиксель на экране состоит из трех близко расположенных элементов, светящихся этими цветами.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4" descr="3_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95536" y="1628800"/>
            <a:ext cx="8146014" cy="4857784"/>
          </a:xfrm>
          <a:noFill/>
        </p:spPr>
      </p:pic>
      <p:sp>
        <p:nvSpPr>
          <p:cNvPr id="13316" name="Rectangle 6"/>
          <p:cNvSpPr>
            <a:spLocks noChangeArrowheads="1"/>
          </p:cNvSpPr>
          <p:nvPr/>
        </p:nvSpPr>
        <p:spPr bwMode="auto">
          <a:xfrm>
            <a:off x="762000" y="533400"/>
            <a:ext cx="7696200" cy="6810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>
              <a:spcBef>
                <a:spcPct val="0"/>
              </a:spcBef>
            </a:pPr>
            <a:r>
              <a:rPr lang="ru-RU" sz="4000" b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Аддитивное смешение цветов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0"/>
            <a:ext cx="7920880" cy="129669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4000" b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Смешение цветов</a:t>
            </a:r>
            <a:br>
              <a:rPr lang="ru-RU" sz="4000" b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4000" b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Как образуются цветовые модели</a:t>
            </a:r>
          </a:p>
        </p:txBody>
      </p:sp>
      <p:sp>
        <p:nvSpPr>
          <p:cNvPr id="6147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3428992" y="1571612"/>
            <a:ext cx="5508657" cy="4929222"/>
          </a:xfrm>
          <a:noFill/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Из школьного курса физики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известно что, белый цвет –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это смесь из семи основных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цветов: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ru-RU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красного (</a:t>
            </a:r>
            <a:r>
              <a:rPr lang="ru-RU" sz="2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red</a:t>
            </a:r>
            <a:r>
              <a:rPr lang="ru-RU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ru-RU" sz="2400" dirty="0" smtClean="0">
                <a:solidFill>
                  <a:srgbClr val="FF6600"/>
                </a:solidFill>
                <a:latin typeface="Times New Roman" pitchFamily="18" charset="0"/>
                <a:cs typeface="Times New Roman" pitchFamily="18" charset="0"/>
              </a:rPr>
              <a:t>оранжевого (</a:t>
            </a:r>
            <a:r>
              <a:rPr lang="ru-RU" sz="2400" dirty="0" err="1" smtClean="0">
                <a:solidFill>
                  <a:srgbClr val="FF6600"/>
                </a:solidFill>
                <a:latin typeface="Times New Roman" pitchFamily="18" charset="0"/>
                <a:cs typeface="Times New Roman" pitchFamily="18" charset="0"/>
              </a:rPr>
              <a:t>orange</a:t>
            </a:r>
            <a:r>
              <a:rPr lang="ru-RU" sz="2400" dirty="0" smtClean="0">
                <a:solidFill>
                  <a:srgbClr val="FF66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ru-RU" sz="2400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желтого (</a:t>
            </a:r>
            <a:r>
              <a:rPr lang="ru-RU" sz="2400" dirty="0" err="1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yellow</a:t>
            </a:r>
            <a:r>
              <a:rPr lang="ru-RU" sz="2400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ru-RU" sz="2400" dirty="0" smtClean="0">
                <a:solidFill>
                  <a:srgbClr val="33CC33"/>
                </a:solidFill>
                <a:latin typeface="Times New Roman" pitchFamily="18" charset="0"/>
                <a:cs typeface="Times New Roman" pitchFamily="18" charset="0"/>
              </a:rPr>
              <a:t>зеленого (</a:t>
            </a:r>
            <a:r>
              <a:rPr lang="ru-RU" sz="2400" dirty="0" err="1" smtClean="0">
                <a:solidFill>
                  <a:srgbClr val="33CC33"/>
                </a:solidFill>
                <a:latin typeface="Times New Roman" pitchFamily="18" charset="0"/>
                <a:cs typeface="Times New Roman" pitchFamily="18" charset="0"/>
              </a:rPr>
              <a:t>green</a:t>
            </a:r>
            <a:r>
              <a:rPr lang="ru-RU" sz="2400" dirty="0" smtClean="0">
                <a:solidFill>
                  <a:srgbClr val="33CC33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ru-RU" sz="2400" dirty="0" err="1" smtClean="0">
                <a:solidFill>
                  <a:srgbClr val="00CCFF"/>
                </a:solidFill>
                <a:latin typeface="Times New Roman" pitchFamily="18" charset="0"/>
                <a:cs typeface="Times New Roman" pitchFamily="18" charset="0"/>
              </a:rPr>
              <a:t>голубого</a:t>
            </a:r>
            <a:r>
              <a:rPr lang="ru-RU" sz="2400" dirty="0" smtClean="0">
                <a:solidFill>
                  <a:srgbClr val="00CCFF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400" dirty="0" err="1" smtClean="0">
                <a:solidFill>
                  <a:srgbClr val="00CCFF"/>
                </a:solidFill>
                <a:latin typeface="Times New Roman" pitchFamily="18" charset="0"/>
                <a:cs typeface="Times New Roman" pitchFamily="18" charset="0"/>
              </a:rPr>
              <a:t>cyan</a:t>
            </a:r>
            <a:r>
              <a:rPr lang="ru-RU" sz="2400" dirty="0" smtClean="0">
                <a:solidFill>
                  <a:srgbClr val="00CCFF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ru-RU" sz="2400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синего (</a:t>
            </a:r>
            <a:r>
              <a:rPr lang="ru-RU" sz="2400" dirty="0" err="1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blue</a:t>
            </a:r>
            <a:r>
              <a:rPr lang="ru-RU" sz="2400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ru-RU" sz="2400" dirty="0" smtClean="0">
                <a:solidFill>
                  <a:srgbClr val="990099"/>
                </a:solidFill>
                <a:latin typeface="Times New Roman" pitchFamily="18" charset="0"/>
                <a:cs typeface="Times New Roman" pitchFamily="18" charset="0"/>
              </a:rPr>
              <a:t>фиолетового (</a:t>
            </a:r>
            <a:r>
              <a:rPr lang="ru-RU" sz="2400" dirty="0" err="1" smtClean="0">
                <a:solidFill>
                  <a:srgbClr val="990099"/>
                </a:solidFill>
                <a:latin typeface="Times New Roman" pitchFamily="18" charset="0"/>
                <a:cs typeface="Times New Roman" pitchFamily="18" charset="0"/>
              </a:rPr>
              <a:t>violet</a:t>
            </a:r>
            <a:r>
              <a:rPr lang="ru-RU" sz="2400" dirty="0" smtClean="0">
                <a:solidFill>
                  <a:srgbClr val="990099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Соответственно черный цвет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– это отсутствие любого из цветов.</a:t>
            </a:r>
          </a:p>
        </p:txBody>
      </p:sp>
      <p:sp>
        <p:nvSpPr>
          <p:cNvPr id="6149" name="Rectangle 7"/>
          <p:cNvSpPr>
            <a:spLocks noChangeArrowheads="1"/>
          </p:cNvSpPr>
          <p:nvPr/>
        </p:nvSpPr>
        <p:spPr bwMode="auto">
          <a:xfrm>
            <a:off x="755650" y="1989138"/>
            <a:ext cx="37719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</a:pPr>
            <a:endParaRPr lang="ru-RU" sz="2000"/>
          </a:p>
        </p:txBody>
      </p:sp>
      <p:pic>
        <p:nvPicPr>
          <p:cNvPr id="6150" name="Picture 9" descr="Цвета радуги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188" y="1989138"/>
            <a:ext cx="2592387" cy="1481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51" name="Rectangle 12"/>
          <p:cNvSpPr>
            <a:spLocks noChangeArrowheads="1"/>
          </p:cNvSpPr>
          <p:nvPr/>
        </p:nvSpPr>
        <p:spPr bwMode="auto">
          <a:xfrm>
            <a:off x="395288" y="4005263"/>
            <a:ext cx="3024187" cy="2093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None/>
            </a:pPr>
            <a:endParaRPr lang="ru-RU" sz="2000"/>
          </a:p>
        </p:txBody>
      </p:sp>
      <p:sp>
        <p:nvSpPr>
          <p:cNvPr id="6152" name="Rectangle 14"/>
          <p:cNvSpPr>
            <a:spLocks noChangeArrowheads="1"/>
          </p:cNvSpPr>
          <p:nvPr/>
        </p:nvSpPr>
        <p:spPr bwMode="auto">
          <a:xfrm>
            <a:off x="285720" y="3644900"/>
            <a:ext cx="3133755" cy="2570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None/>
            </a:pPr>
            <a:r>
              <a:rPr lang="ru-RU" sz="2000" dirty="0"/>
              <a:t>	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Каждый из этих цветов имеет определенную частоту электромагнитных колебаний и длину волны.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428736"/>
            <a:ext cx="8229600" cy="5214974"/>
          </a:xfrm>
        </p:spPr>
        <p:txBody>
          <a:bodyPr>
            <a:normAutofit fontScale="62500" lnSpcReduction="20000"/>
          </a:bodyPr>
          <a:lstStyle/>
          <a:p>
            <a:pPr marL="88900" indent="469900" algn="just">
              <a:buNone/>
            </a:pPr>
            <a:r>
              <a:rPr lang="ru-RU" sz="4600" dirty="0" smtClean="0">
                <a:latin typeface="Times New Roman" pitchFamily="18" charset="0"/>
                <a:cs typeface="Times New Roman" pitchFamily="18" charset="0"/>
              </a:rPr>
              <a:t>Для определения</a:t>
            </a:r>
            <a:r>
              <a:rPr lang="ru-RU" sz="4600" i="1" dirty="0" smtClean="0">
                <a:latin typeface="Times New Roman" pitchFamily="18" charset="0"/>
                <a:cs typeface="Times New Roman" pitchFamily="18" charset="0"/>
              </a:rPr>
              <a:t> любого</a:t>
            </a:r>
            <a:r>
              <a:rPr lang="ru-RU" sz="4600" dirty="0" smtClean="0">
                <a:latin typeface="Times New Roman" pitchFamily="18" charset="0"/>
                <a:cs typeface="Times New Roman" pitchFamily="18" charset="0"/>
              </a:rPr>
              <a:t> цвета достаточно использования только</a:t>
            </a:r>
            <a:r>
              <a:rPr lang="ru-RU" sz="46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600" i="1" dirty="0" smtClean="0">
                <a:solidFill>
                  <a:srgbClr val="FF6600"/>
                </a:solidFill>
                <a:latin typeface="Times New Roman" pitchFamily="18" charset="0"/>
                <a:cs typeface="Times New Roman" pitchFamily="18" charset="0"/>
              </a:rPr>
              <a:t>трех базовых</a:t>
            </a:r>
            <a:r>
              <a:rPr lang="ru-RU" sz="4600" dirty="0" smtClean="0">
                <a:solidFill>
                  <a:srgbClr val="FF6600"/>
                </a:solidFill>
                <a:latin typeface="Times New Roman" pitchFamily="18" charset="0"/>
                <a:cs typeface="Times New Roman" pitchFamily="18" charset="0"/>
              </a:rPr>
              <a:t> цветов</a:t>
            </a:r>
            <a:r>
              <a:rPr lang="ru-RU" sz="4600" dirty="0" smtClean="0">
                <a:latin typeface="Times New Roman" pitchFamily="18" charset="0"/>
                <a:cs typeface="Times New Roman" pitchFamily="18" charset="0"/>
              </a:rPr>
              <a:t>, расположенных в трех противоположных концах цветового круга. </a:t>
            </a:r>
          </a:p>
          <a:p>
            <a:pPr marL="88900" indent="469900" algn="just">
              <a:buNone/>
            </a:pPr>
            <a:r>
              <a:rPr lang="ru-RU" sz="4600" dirty="0" smtClean="0">
                <a:latin typeface="Times New Roman" pitchFamily="18" charset="0"/>
                <a:cs typeface="Times New Roman" pitchFamily="18" charset="0"/>
              </a:rPr>
              <a:t>На выборе этих трех базовых цветов основан выбор цветовой модели.</a:t>
            </a:r>
          </a:p>
          <a:p>
            <a:pPr marL="88900" indent="469900" algn="just">
              <a:buNone/>
            </a:pPr>
            <a:r>
              <a:rPr lang="ru-RU" sz="4600" dirty="0" smtClean="0">
                <a:latin typeface="Times New Roman" pitchFamily="18" charset="0"/>
                <a:cs typeface="Times New Roman" pitchFamily="18" charset="0"/>
              </a:rPr>
              <a:t>Кроме этих трех базовых цветов важна их </a:t>
            </a:r>
            <a:r>
              <a:rPr lang="ru-RU" sz="4600" dirty="0" smtClean="0">
                <a:solidFill>
                  <a:srgbClr val="FF6600"/>
                </a:solidFill>
                <a:latin typeface="Times New Roman" pitchFamily="18" charset="0"/>
                <a:cs typeface="Times New Roman" pitchFamily="18" charset="0"/>
              </a:rPr>
              <a:t>интенсивность</a:t>
            </a:r>
            <a:r>
              <a:rPr lang="ru-RU" sz="46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88900" indent="469900" algn="just">
              <a:buNone/>
            </a:pPr>
            <a:r>
              <a:rPr lang="ru-RU" sz="4600" dirty="0" smtClean="0">
                <a:latin typeface="Times New Roman" pitchFamily="18" charset="0"/>
                <a:cs typeface="Times New Roman" pitchFamily="18" charset="0"/>
              </a:rPr>
              <a:t>Так, даже чисто зеленый цвет может иметь оттенки от темно-зеленого до ярко-зеленого (</a:t>
            </a:r>
            <a:r>
              <a:rPr lang="ru-RU" sz="4600" dirty="0" err="1" smtClean="0">
                <a:latin typeface="Times New Roman" pitchFamily="18" charset="0"/>
                <a:cs typeface="Times New Roman" pitchFamily="18" charset="0"/>
              </a:rPr>
              <a:t>lime</a:t>
            </a:r>
            <a:r>
              <a:rPr lang="ru-RU" sz="4600" dirty="0" smtClean="0">
                <a:latin typeface="Times New Roman" pitchFamily="18" charset="0"/>
                <a:cs typeface="Times New Roman" pitchFamily="18" charset="0"/>
              </a:rPr>
              <a:t>). </a:t>
            </a:r>
          </a:p>
          <a:p>
            <a:pPr marL="88900" indent="469900" algn="just">
              <a:buNone/>
            </a:pPr>
            <a:r>
              <a:rPr lang="ru-RU" sz="4600" dirty="0" smtClean="0">
                <a:latin typeface="Times New Roman" pitchFamily="18" charset="0"/>
                <a:cs typeface="Times New Roman" pitchFamily="18" charset="0"/>
              </a:rPr>
              <a:t>Яркость цвета также должна учитываться при составлении палитры.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042988" y="1844675"/>
            <a:ext cx="6981825" cy="3684588"/>
          </a:xfrm>
        </p:spPr>
        <p:txBody>
          <a:bodyPr/>
          <a:lstStyle/>
          <a:p>
            <a:pPr algn="just" eaLnBrk="1" hangingPunct="1">
              <a:buFont typeface="Wingdings" pitchFamily="2" charset="2"/>
              <a:buNone/>
            </a:pP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               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Цветные дисплеи, использующие такой принцип, называются </a:t>
            </a:r>
            <a:r>
              <a:rPr lang="ru-RU" sz="4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ru-RU" sz="4000" b="1" dirty="0" smtClean="0">
                <a:solidFill>
                  <a:srgbClr val="33CC33"/>
                </a:solidFill>
                <a:latin typeface="Times New Roman" pitchFamily="18" charset="0"/>
                <a:cs typeface="Times New Roman" pitchFamily="18" charset="0"/>
              </a:rPr>
              <a:t>G</a:t>
            </a:r>
            <a:r>
              <a:rPr lang="ru-RU" sz="4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4000" dirty="0" err="1" smtClean="0">
                <a:latin typeface="Times New Roman" pitchFamily="18" charset="0"/>
                <a:cs typeface="Times New Roman" pitchFamily="18" charset="0"/>
              </a:rPr>
              <a:t>Red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ru-RU" sz="4000" dirty="0" err="1" smtClean="0">
                <a:latin typeface="Times New Roman" pitchFamily="18" charset="0"/>
                <a:cs typeface="Times New Roman" pitchFamily="18" charset="0"/>
              </a:rPr>
              <a:t>Green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ru-RU" sz="4000" dirty="0" err="1" smtClean="0">
                <a:latin typeface="Times New Roman" pitchFamily="18" charset="0"/>
                <a:cs typeface="Times New Roman" pitchFamily="18" charset="0"/>
              </a:rPr>
              <a:t>Blue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) - мониторами. </a:t>
            </a:r>
          </a:p>
          <a:p>
            <a:pPr eaLnBrk="1" hangingPunct="1"/>
            <a:endParaRPr lang="ru-R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8" name="Picture 8" descr="RGB-триада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428596" y="1500174"/>
            <a:ext cx="3981650" cy="3505213"/>
          </a:xfrm>
          <a:noFill/>
        </p:spPr>
      </p:pic>
      <p:sp>
        <p:nvSpPr>
          <p:cNvPr id="11266" name="Rectangle 7"/>
          <p:cNvSpPr>
            <a:spLocks noGrp="1" noChangeArrowheads="1"/>
          </p:cNvSpPr>
          <p:nvPr>
            <p:ph sz="quarter" idx="2"/>
          </p:nvPr>
        </p:nvSpPr>
        <p:spPr>
          <a:xfrm>
            <a:off x="3929058" y="1556792"/>
            <a:ext cx="4929222" cy="4372538"/>
          </a:xfrm>
        </p:spPr>
        <p:txBody>
          <a:bodyPr>
            <a:noAutofit/>
          </a:bodyPr>
          <a:lstStyle/>
          <a:p>
            <a:pPr marL="0" indent="306388" algn="just" eaLnBrk="1" hangingPunct="1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ЭЛТ-трубках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ЖК- и плазменных панелях при образовании цвета используется RGB-модель. </a:t>
            </a:r>
          </a:p>
          <a:p>
            <a:pPr marL="0" indent="306388" algn="just" eaLnBrk="1" hangingPunct="1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Каждая точка изображения (или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пиксель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pixel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содержит в себе три точки, светящихся красным, зеленым и синим цветом </a:t>
            </a:r>
          </a:p>
        </p:txBody>
      </p:sp>
      <p:sp>
        <p:nvSpPr>
          <p:cNvPr id="11267" name="Rectangle 5"/>
          <p:cNvSpPr>
            <a:spLocks noChangeArrowheads="1"/>
          </p:cNvSpPr>
          <p:nvPr/>
        </p:nvSpPr>
        <p:spPr bwMode="auto">
          <a:xfrm>
            <a:off x="714348" y="5857892"/>
            <a:ext cx="769620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endParaRPr lang="ru-RU" sz="2900">
              <a:solidFill>
                <a:schemeClr val="tx2"/>
              </a:solidFill>
              <a:latin typeface="Arial Black" pitchFamily="34" charset="0"/>
            </a:endParaRPr>
          </a:p>
        </p:txBody>
      </p:sp>
      <p:sp>
        <p:nvSpPr>
          <p:cNvPr id="11269" name="Rectangle 9"/>
          <p:cNvSpPr>
            <a:spLocks noChangeArrowheads="1"/>
          </p:cNvSpPr>
          <p:nvPr/>
        </p:nvSpPr>
        <p:spPr bwMode="auto">
          <a:xfrm>
            <a:off x="571472" y="260648"/>
            <a:ext cx="7696200" cy="756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r>
              <a:rPr lang="ru-RU" sz="5400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RGB-модель</a:t>
            </a:r>
            <a:endParaRPr lang="ru-RU" sz="5400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270" name="Rectangle 10"/>
          <p:cNvSpPr>
            <a:spLocks noChangeArrowheads="1"/>
          </p:cNvSpPr>
          <p:nvPr/>
        </p:nvSpPr>
        <p:spPr bwMode="auto">
          <a:xfrm>
            <a:off x="500034" y="5445125"/>
            <a:ext cx="301151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Триада RGB-модели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Субтрактивная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цветовая модель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323528" y="1600200"/>
            <a:ext cx="8640960" cy="4925144"/>
          </a:xfrm>
        </p:spPr>
        <p:txBody>
          <a:bodyPr/>
          <a:lstStyle/>
          <a:p>
            <a:pPr marL="0" indent="403225" algn="just">
              <a:buNone/>
            </a:pP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Отраженный свет описывается с помощью </a:t>
            </a:r>
            <a:r>
              <a:rPr lang="ru-RU" sz="3600" dirty="0" err="1" smtClean="0">
                <a:latin typeface="Times New Roman" pitchFamily="18" charset="0"/>
                <a:cs typeface="Times New Roman" pitchFamily="18" charset="0"/>
              </a:rPr>
              <a:t>субтрактивной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  цветовой модели. Бумага не излучает свет, а отражает и поглощает. Глаз человека воспринимает свет, отраженный от листа бумаги. Поэтому для печати графических изображений используется </a:t>
            </a:r>
            <a:r>
              <a:rPr lang="ru-RU" sz="3600" dirty="0" err="1" smtClean="0">
                <a:latin typeface="Times New Roman" pitchFamily="18" charset="0"/>
                <a:cs typeface="Times New Roman" pitchFamily="18" charset="0"/>
              </a:rPr>
              <a:t>субтрактивная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 модель.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251520" y="1600200"/>
            <a:ext cx="8514528" cy="4997152"/>
          </a:xfrm>
        </p:spPr>
        <p:txBody>
          <a:bodyPr/>
          <a:lstStyle/>
          <a:p>
            <a:pPr marL="0" indent="306388" algn="just">
              <a:buNone/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Белый цвет – это смесь из семи основных цветов, если пропустить луч белого цвета через простую призму- он разложится в цветной спектр. Белая бумага при освещении её белым светом , отражает все цвета, окрашенная бумага поглощает часть цветов, а остальные отражает.</a:t>
            </a:r>
          </a:p>
          <a:p>
            <a:pPr marL="0" indent="306388" algn="just">
              <a:buNone/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Красная бумага, освещенная белым светом, выглядит красной потому, что она поглощает все цвета, кроме красного.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482600" algn="just">
              <a:buNone/>
              <a:tabLst>
                <a:tab pos="0" algn="l"/>
              </a:tabLst>
            </a:pP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4000" dirty="0" err="1" smtClean="0">
                <a:latin typeface="Times New Roman" pitchFamily="18" charset="0"/>
                <a:cs typeface="Times New Roman" pitchFamily="18" charset="0"/>
              </a:rPr>
              <a:t>субтрактивной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 цветовой модели основными цветами являются </a:t>
            </a:r>
            <a:r>
              <a:rPr lang="ru-RU" sz="4000" b="1" i="1" dirty="0" smtClean="0">
                <a:latin typeface="Times New Roman" pitchFamily="18" charset="0"/>
                <a:cs typeface="Times New Roman" pitchFamily="18" charset="0"/>
              </a:rPr>
              <a:t>голубой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4000" b="1" i="1" dirty="0" smtClean="0">
                <a:latin typeface="Times New Roman" pitchFamily="18" charset="0"/>
                <a:cs typeface="Times New Roman" pitchFamily="18" charset="0"/>
              </a:rPr>
              <a:t>пурпурный</a:t>
            </a:r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4000" b="1" i="1" dirty="0" smtClean="0">
                <a:latin typeface="Times New Roman" pitchFamily="18" charset="0"/>
                <a:cs typeface="Times New Roman" pitchFamily="18" charset="0"/>
              </a:rPr>
              <a:t>желтый.</a:t>
            </a:r>
            <a:endParaRPr lang="ru-RU" sz="4000" b="1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Цветовая модель </a:t>
            </a:r>
            <a:r>
              <a:rPr lang="en-US" b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CMYK</a:t>
            </a:r>
            <a:endParaRPr lang="ru-RU" b="1" dirty="0" smtClean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214282" y="1600200"/>
            <a:ext cx="8472518" cy="4525963"/>
          </a:xfrm>
        </p:spPr>
        <p:txBody>
          <a:bodyPr/>
          <a:lstStyle/>
          <a:p>
            <a:pPr marL="4763" indent="284163" algn="just">
              <a:buNone/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Цветовая модель 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CMYK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 используется  при подготовке публикаций к печати. </a:t>
            </a:r>
          </a:p>
          <a:p>
            <a:pPr marL="4763" indent="284163" algn="just">
              <a:buNone/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Цветовыми компонентами  служат цвета,  полученные вычитанием  основных из белого:</a:t>
            </a:r>
          </a:p>
          <a:p>
            <a:pPr>
              <a:buNone/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b="1" i="1" dirty="0" err="1" smtClean="0">
                <a:latin typeface="Times New Roman" pitchFamily="18" charset="0"/>
                <a:cs typeface="Times New Roman" pitchFamily="18" charset="0"/>
              </a:rPr>
              <a:t>голубой</a:t>
            </a:r>
            <a:r>
              <a:rPr lang="ru-RU" sz="3200" dirty="0" err="1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 белый – </a:t>
            </a:r>
            <a:r>
              <a:rPr lang="ru-RU" sz="3200" dirty="0" err="1" smtClean="0">
                <a:latin typeface="Times New Roman" pitchFamily="18" charset="0"/>
                <a:cs typeface="Times New Roman" pitchFamily="18" charset="0"/>
              </a:rPr>
              <a:t>красный=зеленый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 + синий</a:t>
            </a:r>
          </a:p>
          <a:p>
            <a:pPr>
              <a:buNone/>
            </a:pPr>
            <a:r>
              <a:rPr lang="ru-RU" sz="3200" b="1" i="1" dirty="0" err="1" smtClean="0">
                <a:latin typeface="Times New Roman" pitchFamily="18" charset="0"/>
                <a:cs typeface="Times New Roman" pitchFamily="18" charset="0"/>
              </a:rPr>
              <a:t>пурпурный</a:t>
            </a:r>
            <a:r>
              <a:rPr lang="ru-RU" sz="3200" dirty="0" err="1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 белый – </a:t>
            </a:r>
            <a:r>
              <a:rPr lang="ru-RU" sz="3200" dirty="0" err="1" smtClean="0">
                <a:latin typeface="Times New Roman" pitchFamily="18" charset="0"/>
                <a:cs typeface="Times New Roman" pitchFamily="18" charset="0"/>
              </a:rPr>
              <a:t>зеленый=красный+синий</a:t>
            </a:r>
            <a:endParaRPr lang="ru-RU" sz="3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sz="3200" b="1" i="1" dirty="0" err="1" smtClean="0">
                <a:latin typeface="Times New Roman" pitchFamily="18" charset="0"/>
                <a:cs typeface="Times New Roman" pitchFamily="18" charset="0"/>
              </a:rPr>
              <a:t>желтый</a:t>
            </a:r>
            <a:r>
              <a:rPr lang="ru-RU" sz="3200" dirty="0" err="1" smtClean="0">
                <a:latin typeface="Times New Roman" pitchFamily="18" charset="0"/>
                <a:cs typeface="Times New Roman" pitchFamily="18" charset="0"/>
              </a:rPr>
              <a:t>=белый-синий=красный+зеленый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306388" algn="just">
              <a:buNone/>
            </a:pPr>
            <a:r>
              <a:rPr lang="ru-RU" sz="3600" dirty="0" err="1" smtClean="0">
                <a:latin typeface="Times New Roman" pitchFamily="18" charset="0"/>
                <a:cs typeface="Times New Roman" pitchFamily="18" charset="0"/>
              </a:rPr>
              <a:t>Субтрактивную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 цветовую модель обозначают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CMYK</a:t>
            </a:r>
            <a:endParaRPr lang="ru-RU" sz="36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306388" algn="just">
              <a:buNone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(Cyan -  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голубой, </a:t>
            </a:r>
          </a:p>
          <a:p>
            <a:pPr marL="0" indent="306388" algn="just">
              <a:buNone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Magenta – 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пурпурный, </a:t>
            </a:r>
          </a:p>
          <a:p>
            <a:pPr marL="0" indent="306388" algn="just">
              <a:buNone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Yellow – 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желтый,</a:t>
            </a:r>
          </a:p>
          <a:p>
            <a:pPr marL="0" indent="306388" algn="just">
              <a:buNone/>
            </a:pP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blacK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черный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403225" algn="just">
              <a:buNone/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Модель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RGB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работает с излучаемым  светом, а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CMYK -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 с отраженным.</a:t>
            </a:r>
          </a:p>
          <a:p>
            <a:pPr marL="0" indent="403225" algn="just">
              <a:buNone/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 Если  необходимо распечатать на принтере изображение, полученное на мониторе, специальная программа выполняет преобразование одной цветовой модели в другую.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251520" y="1600200"/>
            <a:ext cx="8514528" cy="5069160"/>
          </a:xfrm>
        </p:spPr>
        <p:txBody>
          <a:bodyPr/>
          <a:lstStyle/>
          <a:p>
            <a:pPr marL="0" indent="625475" algn="just">
              <a:buNone/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В моделях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RGB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CMYK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различна природа получения цветов,  поэтому цвет, который видим на экране, сложно точно повторить при печати (обычно на экране ярче).</a:t>
            </a:r>
          </a:p>
          <a:p>
            <a:pPr marL="0" indent="625475" algn="just">
              <a:buNone/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Количество воспроизводимых при печати цветов намного меньше того, что создано на экране.</a:t>
            </a:r>
          </a:p>
          <a:p>
            <a:pPr marL="0" indent="625475" algn="just">
              <a:buNone/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В графических редакторах есть специальные предупреждающие  указатели.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153400" cy="9906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925144"/>
          </a:xfrm>
        </p:spPr>
        <p:txBody>
          <a:bodyPr>
            <a:noAutofit/>
          </a:bodyPr>
          <a:lstStyle/>
          <a:p>
            <a:pPr marL="82550" indent="469900" algn="just">
              <a:buNone/>
              <a:tabLst>
                <a:tab pos="174625" algn="l"/>
              </a:tabLst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В компьютерной графике используется понятие </a:t>
            </a:r>
            <a:r>
              <a:rPr lang="ru-RU" sz="3200" i="1" dirty="0" smtClean="0">
                <a:latin typeface="Times New Roman" pitchFamily="18" charset="0"/>
                <a:cs typeface="Times New Roman" pitchFamily="18" charset="0"/>
              </a:rPr>
              <a:t>цветового разрешения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(глубины цвета). </a:t>
            </a:r>
          </a:p>
          <a:p>
            <a:pPr marL="82550" indent="469900" algn="just">
              <a:buNone/>
              <a:tabLst>
                <a:tab pos="174625" algn="l"/>
              </a:tabLst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Оно определяет метод кодирования цветовой информации для её воспроизведения на экране.</a:t>
            </a:r>
          </a:p>
          <a:p>
            <a:pPr marL="82550" indent="469900" algn="just">
              <a:buNone/>
              <a:tabLst>
                <a:tab pos="174625" algn="l"/>
              </a:tabLst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 (Для ч/б изображения достаточно 2 бит, при 24 – разрядном  способе кодирования возможно определить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16,5 </a:t>
            </a:r>
            <a:r>
              <a:rPr lang="ru-RU" sz="3200" dirty="0" err="1" smtClean="0">
                <a:latin typeface="Times New Roman" pitchFamily="18" charset="0"/>
                <a:cs typeface="Times New Roman" pitchFamily="18" charset="0"/>
              </a:rPr>
              <a:t>млн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 цветов  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428604"/>
            <a:ext cx="8229600" cy="857256"/>
          </a:xfrm>
        </p:spPr>
        <p:txBody>
          <a:bodyPr>
            <a:noAutofit/>
          </a:bodyPr>
          <a:lstStyle/>
          <a:p>
            <a:r>
              <a:rPr lang="ru-RU" b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Растровая графика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67544" y="1484784"/>
            <a:ext cx="8229600" cy="4840303"/>
          </a:xfrm>
        </p:spPr>
        <p:txBody>
          <a:bodyPr>
            <a:noAutofit/>
          </a:bodyPr>
          <a:lstStyle/>
          <a:p>
            <a:pPr marL="4763" indent="284163" algn="just"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Растровое изображение представляет собой сетку, или растр, ячейки которой называются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пикселами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4763" indent="284163" algn="just"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В этом случае программа интерпретирует любой объект как набор окрашенных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пикселов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4763" indent="284163" algn="just"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При обработке растровых изображений редактируются не конкретные объекты и контуры, а составляющие их группы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пикселов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763" indent="284163" algn="just"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Растровый тип является наилучшим для работы с тоновыми изображениями, например,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фотографиями.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Растровая графика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214313" algn="just">
              <a:buNone/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Качество растровых изображений напрямую зависит от разрешающей способности оборудования, поэтому если при сканировании или создании изображения вы зададите низкое разрешение (например, 72 </a:t>
            </a:r>
            <a:r>
              <a:rPr lang="ru-RU" sz="3200" dirty="0" err="1" smtClean="0">
                <a:latin typeface="Times New Roman" pitchFamily="18" charset="0"/>
                <a:cs typeface="Times New Roman" pitchFamily="18" charset="0"/>
              </a:rPr>
              <a:t>пиксела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 на дюйм), а при печати высокое, то на оттиске мелкие детали будут потеряны, а границы объектов получатся неровными.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Растровая графика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4763" indent="554038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растровых изображений, состоящих из точек, особую важность имеет понятие </a:t>
            </a:r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разрешения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выражающее количество точек, приходящихся на единицу длины</a:t>
            </a:r>
            <a:r>
              <a:rPr lang="ru-RU" dirty="0" smtClean="0"/>
              <a:t>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Различают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>
              <a:buClr>
                <a:schemeClr val="tx2">
                  <a:lumMod val="75000"/>
                </a:schemeClr>
              </a:buClr>
              <a:buFont typeface="Wingdings" pitchFamily="2" charset="2"/>
              <a:buChar char="Ø"/>
            </a:pP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разрешение оригинала;</a:t>
            </a:r>
          </a:p>
          <a:p>
            <a:pPr lvl="0">
              <a:buClr>
                <a:schemeClr val="tx2">
                  <a:lumMod val="75000"/>
                </a:schemeClr>
              </a:buClr>
              <a:buFont typeface="Wingdings" pitchFamily="2" charset="2"/>
              <a:buChar char="Ø"/>
            </a:pP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разрешение экранного изображения;</a:t>
            </a:r>
          </a:p>
          <a:p>
            <a:pPr>
              <a:buClr>
                <a:schemeClr val="tx2">
                  <a:lumMod val="75000"/>
                </a:schemeClr>
              </a:buClr>
              <a:buFont typeface="Wingdings" pitchFamily="2" charset="2"/>
              <a:buChar char="Ø"/>
            </a:pP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разрешение печатного изображения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Разрешение оригинала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251520" y="1600200"/>
            <a:ext cx="8514528" cy="4495800"/>
          </a:xfrm>
        </p:spPr>
        <p:txBody>
          <a:bodyPr/>
          <a:lstStyle/>
          <a:p>
            <a:pPr marL="0" indent="533400" algn="just">
              <a:buNone/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Разрешение оригинала измеряется в точках на дюйм (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dpi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 –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dots per inch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) и зависит от требований: </a:t>
            </a:r>
          </a:p>
          <a:p>
            <a:pPr marL="0" indent="533400" algn="just">
              <a:buClrTx/>
              <a:buFont typeface="Wingdings" pitchFamily="2" charset="2"/>
              <a:buChar char="Ø"/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к качеству изображения и размеру файла, </a:t>
            </a:r>
          </a:p>
          <a:p>
            <a:pPr marL="0" indent="533400" algn="just">
              <a:buClrTx/>
              <a:buFont typeface="Wingdings" pitchFamily="2" charset="2"/>
              <a:buChar char="Ø"/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к способу оцифровки или методу создания исходной иллюстрации,</a:t>
            </a:r>
          </a:p>
          <a:p>
            <a:pPr marL="0" indent="533400" algn="just">
              <a:buClrTx/>
              <a:buFont typeface="Wingdings" pitchFamily="2" charset="2"/>
              <a:buChar char="Ø"/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 избранному формату файла </a:t>
            </a:r>
          </a:p>
          <a:p>
            <a:pPr marL="0" indent="533400" algn="just">
              <a:buClrTx/>
              <a:buFont typeface="Wingdings" pitchFamily="2" charset="2"/>
              <a:buChar char="Ø"/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и другим параметрам. 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306388" algn="just">
              <a:buNone/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В общем случае действует правило: чем выше требования к качеству, тем выше должно быть разрешение оригинала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228600"/>
            <a:ext cx="8964488" cy="990600"/>
          </a:xfrm>
        </p:spPr>
        <p:txBody>
          <a:bodyPr/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Разрешение экранного изображения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306388" algn="just">
              <a:buNone/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Для экранных копий изображения элементарную точку растра принято называть </a:t>
            </a:r>
            <a:r>
              <a:rPr lang="ru-RU" sz="3200" dirty="0" err="1" smtClean="0">
                <a:latin typeface="Times New Roman" pitchFamily="18" charset="0"/>
                <a:cs typeface="Times New Roman" pitchFamily="18" charset="0"/>
              </a:rPr>
              <a:t>пикселом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. Размер </a:t>
            </a:r>
            <a:r>
              <a:rPr lang="ru-RU" sz="3200" dirty="0" err="1" smtClean="0">
                <a:latin typeface="Times New Roman" pitchFamily="18" charset="0"/>
                <a:cs typeface="Times New Roman" pitchFamily="18" charset="0"/>
              </a:rPr>
              <a:t>пиксела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 варьируется в зависимости от выбранного экранного разрешения (из диапазона стандартных значений), разрешения оригинала и масштаба отображения.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Разрешение печатного изображения</a:t>
            </a:r>
            <a:endParaRPr lang="ru-RU" sz="4000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1500198"/>
          </a:xfrm>
        </p:spPr>
        <p:txBody>
          <a:bodyPr>
            <a:noAutofit/>
          </a:bodyPr>
          <a:lstStyle/>
          <a:p>
            <a:r>
              <a:rPr lang="ru-RU" sz="4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Связь между параметрами изображения и размером файла</a:t>
            </a:r>
            <a:br>
              <a:rPr lang="ru-RU" sz="4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endParaRPr lang="ru-RU" sz="4000" dirty="0" smtClean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88900" indent="368300" algn="just">
              <a:buNone/>
            </a:pP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Средствами растровой графики принято иллюстрировать работы, требующие высокой точности в передаче цветов и полутонов. </a:t>
            </a:r>
          </a:p>
          <a:p>
            <a:pPr marL="0" indent="541338" algn="just">
              <a:buNone/>
            </a:pP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Однако размеры файлов растровых иллюстраций стремительно растут с увеличением разрешения.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Разрешение и объем файла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4763" indent="554038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Объем файла, содержащего оцифрованное изображение, пропорционален его графическому разрешению. </a:t>
            </a:r>
          </a:p>
          <a:p>
            <a:pPr marL="4763" indent="554038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Более тесное расположение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пикселов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(то есть более высокое разрешение) позволяет воспроизводить более мелкие детали изображений; в то же время, это ведет к увеличению объема файла.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Аппаратные средства получения растровых изображений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500174"/>
            <a:ext cx="8229600" cy="4525963"/>
          </a:xfrm>
        </p:spPr>
        <p:txBody>
          <a:bodyPr>
            <a:normAutofit/>
          </a:bodyPr>
          <a:lstStyle/>
          <a:p>
            <a:pPr marL="92075" indent="541338">
              <a:buFont typeface="Wingdings" pitchFamily="2" charset="2"/>
              <a:buChar char="Ø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Сканеры</a:t>
            </a:r>
          </a:p>
          <a:p>
            <a:pPr marL="92075" indent="468313">
              <a:buFont typeface="Wingdings" pitchFamily="2" charset="2"/>
              <a:buChar char="Ø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Цифровые фотокамеры</a:t>
            </a:r>
          </a:p>
          <a:p>
            <a:pPr marL="88900" indent="633413" algn="just">
              <a:buFont typeface="Wingdings" pitchFamily="2" charset="2"/>
              <a:buChar char="Ø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Цифровые видеокамеры , адаптеры захвата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телекадров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играют вспомогательную роль.</a:t>
            </a:r>
          </a:p>
          <a:p>
            <a:pPr marL="176213" indent="457200" algn="just">
              <a:buFont typeface="Wingdings" pitchFamily="2" charset="2"/>
              <a:buChar char="Ø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Для создания изображений «от руки» используются  графические планшеты, на которых рисуют специальным электронным пером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Масштабирование растровых </a:t>
            </a:r>
            <a:r>
              <a:rPr lang="ru-RU" sz="4000" b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изображений</a:t>
            </a:r>
            <a:endParaRPr lang="ru-RU" sz="4000" b="1" dirty="0" smtClean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28596" y="1500174"/>
            <a:ext cx="8229600" cy="4525963"/>
          </a:xfrm>
        </p:spPr>
        <p:txBody>
          <a:bodyPr>
            <a:normAutofit/>
          </a:bodyPr>
          <a:lstStyle/>
          <a:p>
            <a:pPr marL="4763" indent="36830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Одним из недостатков растровой графики является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пикселизация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изображений при их увеличении (если не приняты специальные меры). </a:t>
            </a:r>
          </a:p>
          <a:p>
            <a:pPr marL="4763" indent="36830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 противодействия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пикселизации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принято заранее оцифровывать оригинал с разрешением, достаточным для качественной визуализации при масштабировании..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4763" indent="36830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Другой прием состоит в применении стохастического растра, позволяющего уменьшить эффект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пикселизации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 определенных пределах. </a:t>
            </a:r>
          </a:p>
          <a:p>
            <a:pPr marL="4763" indent="36830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Наконец, при масштабировании используют метод интерполяции, когда увеличение размера иллюстрации происходит не за счет масштабирования точек, а путем добавления необходимого числа промежуточных точек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i="1" dirty="0" smtClean="0">
                <a:solidFill>
                  <a:schemeClr val="accent6">
                    <a:lumMod val="50000"/>
                  </a:schemeClr>
                </a:solidFill>
              </a:rPr>
              <a:t>Adobe Photoshop</a:t>
            </a:r>
            <a:endParaRPr lang="ru-RU" sz="4000" b="1" i="1" dirty="0" smtClean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84138" indent="627063"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Adobe Photoshop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– это редактор растровой графики, он работает с набором пикселей.</a:t>
            </a:r>
          </a:p>
          <a:p>
            <a:pPr>
              <a:buNone/>
            </a:pP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829196"/>
          </a:xfrm>
        </p:spPr>
        <p:txBody>
          <a:bodyPr>
            <a:normAutofit/>
          </a:bodyPr>
          <a:lstStyle/>
          <a:p>
            <a:pPr marL="4763" indent="284163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Интерфейс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Photoshop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подобен интерфейсу большинства графических редакторов, содержит:</a:t>
            </a:r>
          </a:p>
          <a:p>
            <a:pPr marL="4763" indent="284163" algn="just">
              <a:spcBef>
                <a:spcPts val="0"/>
              </a:spcBef>
            </a:pPr>
            <a:r>
              <a:rPr lang="ru-RU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панель инструментов, </a:t>
            </a:r>
          </a:p>
          <a:p>
            <a:pPr marL="4763" indent="284163" algn="just">
              <a:spcBef>
                <a:spcPts val="0"/>
              </a:spcBef>
            </a:pPr>
            <a:r>
              <a:rPr lang="ru-RU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строка меню, </a:t>
            </a:r>
          </a:p>
          <a:p>
            <a:pPr marL="4763" indent="284163" algn="just">
              <a:spcBef>
                <a:spcPts val="0"/>
              </a:spcBef>
            </a:pPr>
            <a:r>
              <a:rPr lang="ru-RU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панель свойств,</a:t>
            </a:r>
          </a:p>
          <a:p>
            <a:pPr marL="4763" indent="284163" algn="just">
              <a:spcBef>
                <a:spcPts val="0"/>
              </a:spcBef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рабочую область, </a:t>
            </a:r>
          </a:p>
          <a:p>
            <a:pPr>
              <a:spcBef>
                <a:spcPts val="0"/>
              </a:spcBef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палитру информации,</a:t>
            </a:r>
          </a:p>
          <a:p>
            <a:pPr>
              <a:spcBef>
                <a:spcPts val="0"/>
              </a:spcBef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палитру цвет,</a:t>
            </a:r>
          </a:p>
          <a:p>
            <a:pPr>
              <a:spcBef>
                <a:spcPts val="0"/>
              </a:spcBef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палитру слои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4763" indent="469900" algn="just"/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Панель инструментов  разделена на </a:t>
            </a:r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области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, в которых  сгруппированы средства для редактирования  определенных свойств изображения и элементы управления некоторыми параметрами программы.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ru-RU" sz="4000" b="1" i="1" dirty="0" smtClean="0">
                <a:solidFill>
                  <a:schemeClr val="accent6">
                    <a:lumMod val="50000"/>
                  </a:schemeClr>
                </a:solidFill>
              </a:rPr>
              <a:t>области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071546"/>
            <a:ext cx="8229600" cy="5429288"/>
          </a:xfrm>
        </p:spPr>
        <p:txBody>
          <a:bodyPr>
            <a:normAutofit/>
          </a:bodyPr>
          <a:lstStyle/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Инструменты для работы с объектами,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Инструменты для рисования и ретуши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Инструменты для создания новых объектов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Вспомогательные инструменты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Средства выбора цветов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Средства  управления представлением маски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Средства  управления интерфейсом программы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Кнопка  перехода в программу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Adobe Image Ready.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b="1" i="1" dirty="0" smtClean="0">
                <a:solidFill>
                  <a:schemeClr val="accent6">
                    <a:lumMod val="50000"/>
                  </a:schemeClr>
                </a:solidFill>
              </a:rPr>
              <a:t>Инструменты 1 –ой группы: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285720" y="1500174"/>
            <a:ext cx="4643470" cy="459740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dirty="0" smtClean="0"/>
              <a:t> 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Область,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Лассо,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Перемещение, 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Волшебная палочка,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Обрезка,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Разделение на фрагменты</a:t>
            </a:r>
          </a:p>
        </p:txBody>
      </p:sp>
      <p:sp>
        <p:nvSpPr>
          <p:cNvPr id="4" name="Содержимое 2"/>
          <p:cNvSpPr txBox="1">
            <a:spLocks/>
          </p:cNvSpPr>
          <p:nvPr/>
        </p:nvSpPr>
        <p:spPr>
          <a:xfrm>
            <a:off x="4500562" y="1571612"/>
            <a:ext cx="4143404" cy="4740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ru-RU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ru-RU" sz="24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Инструменты 1,2 выделяют области, ограниченные геометрической</a:t>
            </a:r>
            <a:r>
              <a:rPr kumimoji="0" lang="ru-RU" sz="24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фигурой</a:t>
            </a:r>
          </a:p>
          <a:p>
            <a:pPr marL="342900" lvl="0" indent="-342900">
              <a:spcBef>
                <a:spcPct val="20000"/>
              </a:spcBef>
            </a:pPr>
            <a:endParaRPr lang="ru-RU" sz="2400" baseline="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</a:pPr>
            <a:r>
              <a:rPr lang="ru-RU" sz="2300" i="1" dirty="0" smtClean="0">
                <a:latin typeface="Times New Roman" pitchFamily="18" charset="0"/>
                <a:cs typeface="Times New Roman" pitchFamily="18" charset="0"/>
              </a:rPr>
              <a:t>Инструмент 3  передвигает выделенные области и копирует их</a:t>
            </a:r>
            <a:endParaRPr lang="ru-RU" sz="2300" i="1" baseline="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</a:pPr>
            <a:r>
              <a:rPr lang="ru-RU" sz="2300" i="1" baseline="0" dirty="0" smtClean="0">
                <a:latin typeface="Times New Roman" pitchFamily="18" charset="0"/>
                <a:cs typeface="Times New Roman" pitchFamily="18" charset="0"/>
              </a:rPr>
              <a:t>Инструмент 4(</a:t>
            </a:r>
            <a:r>
              <a:rPr lang="ru-RU" sz="2300" i="1" dirty="0" smtClean="0">
                <a:latin typeface="Times New Roman" pitchFamily="18" charset="0"/>
                <a:cs typeface="Times New Roman" pitchFamily="18" charset="0"/>
              </a:rPr>
              <a:t>Волшебная палочка )выбирает области по принципу цветового совпадения</a:t>
            </a:r>
            <a:endParaRPr kumimoji="0" lang="ru-RU" sz="2300" b="0" i="1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1" dirty="0" smtClean="0">
                <a:solidFill>
                  <a:schemeClr val="accent6">
                    <a:lumMod val="50000"/>
                  </a:schemeClr>
                </a:solidFill>
              </a:rPr>
              <a:t>Инструменты 2 –ой группы: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757610" cy="452596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ru-RU" dirty="0" smtClean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Кисть,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Карандаш, заплатка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Штампы,  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Ластик ,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Заливки,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Размытие, резкость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Осветлитель,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затемнитель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, губка</a:t>
            </a:r>
            <a:endParaRPr lang="ru-RU" sz="2800" dirty="0"/>
          </a:p>
        </p:txBody>
      </p:sp>
      <p:sp>
        <p:nvSpPr>
          <p:cNvPr id="4" name="Содержимое 2"/>
          <p:cNvSpPr txBox="1">
            <a:spLocks/>
          </p:cNvSpPr>
          <p:nvPr/>
        </p:nvSpPr>
        <p:spPr>
          <a:xfrm>
            <a:off x="4786314" y="1571612"/>
            <a:ext cx="4000528" cy="4597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5" name="Содержимое 2"/>
          <p:cNvSpPr txBox="1">
            <a:spLocks/>
          </p:cNvSpPr>
          <p:nvPr/>
        </p:nvSpPr>
        <p:spPr>
          <a:xfrm>
            <a:off x="4714876" y="1571612"/>
            <a:ext cx="375761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4942" y="2071678"/>
            <a:ext cx="32147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Инструменты для рисования  и ретуши</a:t>
            </a:r>
            <a:endParaRPr lang="ru-RU" sz="2400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1" dirty="0" smtClean="0">
                <a:solidFill>
                  <a:schemeClr val="accent6">
                    <a:lumMod val="50000"/>
                  </a:schemeClr>
                </a:solidFill>
              </a:rPr>
              <a:t>Инструменты 3 –ой группы: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357298"/>
            <a:ext cx="3543296" cy="476886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Перо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Текст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Выборка контура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Выборка узл</a:t>
            </a:r>
            <a:r>
              <a:rPr lang="ru-RU" dirty="0" smtClean="0"/>
              <a:t>ов</a:t>
            </a:r>
          </a:p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4357686" y="1428736"/>
            <a:ext cx="342902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Перо – рисует плавные криволинейные фигуры,</a:t>
            </a:r>
          </a:p>
          <a:p>
            <a:endParaRPr lang="ru-RU" sz="2000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Текст – выполняет надписи</a:t>
            </a:r>
          </a:p>
          <a:p>
            <a:endParaRPr lang="ru-RU" sz="2000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Для выборки объекта целиком</a:t>
            </a:r>
          </a:p>
          <a:p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Для выборки узлов</a:t>
            </a:r>
            <a:endParaRPr lang="ru-RU" sz="2000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1" dirty="0" smtClean="0">
                <a:solidFill>
                  <a:schemeClr val="accent6">
                    <a:lumMod val="50000"/>
                  </a:schemeClr>
                </a:solidFill>
              </a:rPr>
              <a:t>Инструменты 4 –ой группы: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614866" cy="4525963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Рука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Масштаб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Пипетка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Измерительная линейка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Заметки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Звуковые аннотации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43438" y="1571612"/>
            <a:ext cx="421484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Перемещает видимую область</a:t>
            </a:r>
          </a:p>
          <a:p>
            <a:endParaRPr lang="ru-RU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Увеличивает ( уменьшает) изображение в видимой области</a:t>
            </a:r>
          </a:p>
          <a:p>
            <a:endParaRPr lang="ru-RU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Точно определяет цвет</a:t>
            </a:r>
          </a:p>
          <a:p>
            <a:endParaRPr lang="ru-RU" i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i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i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Позволяет  привязать к рисунку текстовые замечания </a:t>
            </a:r>
          </a:p>
          <a:p>
            <a:endParaRPr lang="ru-RU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Создаёт звуковые комментарии</a:t>
            </a:r>
            <a:endParaRPr lang="ru-RU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i="1" dirty="0" smtClean="0">
                <a:solidFill>
                  <a:schemeClr val="accent6">
                    <a:lumMod val="50000"/>
                  </a:schemeClr>
                </a:solidFill>
              </a:rPr>
              <a:t>Панель свойств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4763" indent="36830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Является средством управления параметрами инструментов – при выборе любого инструмента автоматически появляется соответствующая палитра с необходимыми элементами управления.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4763" indent="36830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Помимо панели задач многими параметрами инструментов «заведуют» инструментальные палитры, представляющие диалоговые окна особого вида (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&gt;10).</a:t>
            </a:r>
          </a:p>
          <a:p>
            <a:pPr marL="4763" indent="36830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Палитры можно перемещать  по экрану перетаскиванием.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4763" indent="368300" algn="just">
              <a:buNone/>
            </a:pPr>
            <a:endParaRPr lang="ru-RU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i="1" dirty="0" smtClean="0">
                <a:solidFill>
                  <a:schemeClr val="accent6">
                    <a:lumMod val="50000"/>
                  </a:schemeClr>
                </a:solidFill>
              </a:rPr>
              <a:t>Фильтры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84138" indent="542925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Это подключаемые к программе модули, позволяющие обрабатывать изображение по заданному алгоритму. </a:t>
            </a:r>
          </a:p>
          <a:p>
            <a:pPr marL="190500" indent="36830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Иногда такие алгоритмы бывают очень сложные , а окно фильтра имеет много настраиваемых параметров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357166"/>
            <a:ext cx="8229600" cy="1071570"/>
          </a:xfrm>
        </p:spPr>
        <p:txBody>
          <a:bodyPr>
            <a:noAutofit/>
          </a:bodyPr>
          <a:lstStyle/>
          <a:p>
            <a:r>
              <a:rPr lang="ru-RU" b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Векторная </a:t>
            </a:r>
            <a:r>
              <a:rPr lang="ru-RU" b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графика</a:t>
            </a:r>
            <a:endParaRPr lang="ru-RU" b="1" i="1" dirty="0" smtClean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67544" y="1412776"/>
            <a:ext cx="8229600" cy="5126055"/>
          </a:xfrm>
        </p:spPr>
        <p:txBody>
          <a:bodyPr>
            <a:normAutofit/>
          </a:bodyPr>
          <a:lstStyle/>
          <a:p>
            <a:pPr marL="88900" indent="284163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Базовым элементом изображения в векторной графике 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является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линия. </a:t>
            </a:r>
          </a:p>
          <a:p>
            <a:pPr marL="88900" indent="284163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Векторные программы являются наилучшим средством для создания шрифтовых и высокоточных графических объектов, например, логотипов, для которых принципиально важное значение имеет сохранение четких, ясных контуров независимо от размера изображения.</a:t>
            </a:r>
          </a:p>
          <a:p>
            <a:pPr marL="88900" indent="284163" algn="just">
              <a:buNone/>
            </a:pP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84138" indent="542925" algn="just">
              <a:buNone/>
            </a:pP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Линия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элементарный объект векторной графики, обладает свойствами: формой (прямая, кривая), толщиной, цветом, начертанием (сплошная, пунктирная). Замкнутые линии приобретают свойство </a:t>
            </a:r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заполнения.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Охватываемое ими пространство может быть заполнено другими объектами (текстуры, карты) или выбранным цветом.</a:t>
            </a:r>
          </a:p>
          <a:p>
            <a:endParaRPr lang="ru-RU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84138" indent="627063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Простейшая незамкнутая линия ограничена двумя точками, именуемыми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узлами.</a:t>
            </a:r>
          </a:p>
          <a:p>
            <a:pPr marL="84138" indent="627063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Узлы также имеют свойства, параметры которых влияют на форму конца линии,  характер сопряжения с другими объектами</a:t>
            </a:r>
            <a:r>
              <a:rPr lang="ru-RU" dirty="0" smtClean="0"/>
              <a:t>.</a:t>
            </a:r>
          </a:p>
          <a:p>
            <a:pPr marL="84138" indent="627063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Все прочие объекты векторной графики составляются из линий. </a:t>
            </a:r>
          </a:p>
          <a:p>
            <a:endParaRPr lang="ru-RU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611560" y="1628800"/>
            <a:ext cx="8153400" cy="4495800"/>
          </a:xfrm>
        </p:spPr>
        <p:txBody>
          <a:bodyPr>
            <a:normAutofit/>
          </a:bodyPr>
          <a:lstStyle/>
          <a:p>
            <a:pPr marL="0" indent="71120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Иногда вместо понятия линии используют понятие контура, это полнее отражает суть, поскольку контур может иметь любую форму(прямой, кривой, ломаной, фигуры).</a:t>
            </a:r>
          </a:p>
          <a:p>
            <a:pPr marL="0" indent="71120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Каждый контур имеет 2 или более опорных точки (узла), форму контура меняют перемещением опорных точек, изменением их свойств, добавлением новых узлов,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удалением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имеющихся.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4763" indent="284163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Контур является элементарным графическим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объектом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из контуров создают новые объекты или их группы.</a:t>
            </a:r>
          </a:p>
          <a:p>
            <a:pPr marL="4763" indent="284163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 несколькими контурами выполняют операции группировки, комбинирования, объединения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</a:rPr>
              <a:t>Corel Draw</a:t>
            </a:r>
            <a:endParaRPr lang="ru-RU" b="1" i="1" dirty="0" smtClean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4763" indent="639763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Векторный графический редактор обладает широкими возможностями, имеет в наличии огромные библиотеки готовых изображений, мощную систему обучения и подсказок 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i="1" dirty="0" smtClean="0">
                <a:solidFill>
                  <a:schemeClr val="accent6">
                    <a:lumMod val="50000"/>
                  </a:schemeClr>
                </a:solidFill>
              </a:rPr>
              <a:t>Интерфейс С</a:t>
            </a:r>
            <a:r>
              <a:rPr lang="en-US" b="1" i="1" dirty="0" err="1" smtClean="0">
                <a:solidFill>
                  <a:schemeClr val="accent6">
                    <a:lumMod val="50000"/>
                  </a:schemeClr>
                </a:solidFill>
              </a:rPr>
              <a:t>orel</a:t>
            </a:r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</a:rPr>
              <a:t> Draw </a:t>
            </a:r>
            <a:endParaRPr lang="ru-RU" b="1" i="1" dirty="0" smtClean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4763" indent="284163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Окно программы содержит:</a:t>
            </a:r>
          </a:p>
          <a:p>
            <a:pPr marL="4763" indent="284163" algn="just">
              <a:spcBef>
                <a:spcPts val="0"/>
              </a:spcBef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строку заголовка,</a:t>
            </a:r>
          </a:p>
          <a:p>
            <a:pPr marL="4763" indent="284163" algn="just">
              <a:spcBef>
                <a:spcPts val="0"/>
              </a:spcBef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рабочее поле,</a:t>
            </a:r>
          </a:p>
          <a:p>
            <a:pPr marL="4763" indent="284163" algn="just">
              <a:spcBef>
                <a:spcPts val="0"/>
              </a:spcBef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строку меню,</a:t>
            </a:r>
          </a:p>
          <a:p>
            <a:pPr marL="4763" indent="284163" algn="just">
              <a:spcBef>
                <a:spcPts val="0"/>
              </a:spcBef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строку состояния,</a:t>
            </a:r>
          </a:p>
          <a:p>
            <a:pPr marL="4763" indent="284163" algn="just">
              <a:spcBef>
                <a:spcPts val="0"/>
              </a:spcBef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панель инструментов, </a:t>
            </a:r>
          </a:p>
          <a:p>
            <a:pPr marL="4763" indent="284163" algn="just">
              <a:spcBef>
                <a:spcPts val="0"/>
              </a:spcBef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другие панели, состав которых определяет сам пользователь,</a:t>
            </a:r>
          </a:p>
          <a:p>
            <a:pPr marL="4763" indent="284163" algn="just">
              <a:spcBef>
                <a:spcPts val="0"/>
              </a:spcBef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стыкуемые палитры (докеры)</a:t>
            </a:r>
          </a:p>
          <a:p>
            <a:pPr marL="4763" indent="284163" algn="just">
              <a:spcBef>
                <a:spcPts val="0"/>
              </a:spcBef>
            </a:pPr>
            <a:endParaRPr lang="ru-RU" dirty="0" smtClean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orel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Draw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работает с многостраничными документами, каждая страница является отдельным объектом.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Форматы </a:t>
            </a:r>
            <a:r>
              <a:rPr lang="ru-RU" b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графических данных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67544" y="1556792"/>
            <a:ext cx="8229600" cy="4896544"/>
          </a:xfrm>
        </p:spPr>
        <p:txBody>
          <a:bodyPr>
            <a:normAutofit/>
          </a:bodyPr>
          <a:lstStyle/>
          <a:p>
            <a:pPr>
              <a:buClrTx/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PSD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(Р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hotoshop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Document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),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JPEG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EPS,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GIF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IFF (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Та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gged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Image File Format)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ВМР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(Windows Bitmap)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hotoCD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WMF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ru-RU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Форматы </a:t>
            </a:r>
            <a:r>
              <a:rPr lang="ru-RU" b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графических данных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PSD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Adobe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Photoshop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Document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– позволяет записывать изображение со многими слоями, их масками, дополнительными каналами, контурами и другой информацией. 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JPG (Joint Photographic Experts Group)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 метод сжатия с потерей данных, который жертвует качеством изображения для сохранения пространства на диске.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PNG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Portable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Network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Grafics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чрезвычайно сжатый формат, в котором используется схема сжатия без потерь. 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EPS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Encapsulated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PostScript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записывают конечный вариант работы, используется для передачи векторов и растра в издательские системы 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PDF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Portable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Document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Format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могут быть сохранены иллюстрации (векторные и растровые) и текст (причем со множеством шрифтов и гипертекстовых ссылок). 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GIF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Graphics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Interchange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Format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применяет те же алгоритмы сжатия, что и обычные программы-архиваторы 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TIFF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Tagged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Image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File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Format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не поддерживает JPEG-сжатие, но в остальном не имеет ограничений. Он поддерживает до 24 каналов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ВМР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Device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Independent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Bitmap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Применяется для хранения растровых изображений, предназначенных для использования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i="1" dirty="0" err="1" smtClean="0">
                <a:latin typeface="Times New Roman" pitchFamily="18" charset="0"/>
                <a:cs typeface="Times New Roman" pitchFamily="18" charset="0"/>
              </a:rPr>
              <a:t>Scitex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 CT (расширение на РС - .</a:t>
            </a:r>
            <a:r>
              <a:rPr lang="ru-RU" i="1" dirty="0" err="1" smtClean="0">
                <a:latin typeface="Times New Roman" pitchFamily="18" charset="0"/>
                <a:cs typeface="Times New Roman" pitchFamily="18" charset="0"/>
              </a:rPr>
              <a:t>sct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применяется при высококачественной обработке цветных изображений (RGB, CMYK ) 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ема1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Обычная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Обычная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848</TotalTime>
  <Words>2451</Words>
  <Application>Microsoft Office PowerPoint</Application>
  <PresentationFormat>Экран (4:3)</PresentationFormat>
  <Paragraphs>272</Paragraphs>
  <Slides>67</Slides>
  <Notes>2</Notes>
  <HiddenSlides>17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67</vt:i4>
      </vt:variant>
    </vt:vector>
  </HeadingPairs>
  <TitlesOfParts>
    <vt:vector size="68" baseType="lpstr">
      <vt:lpstr>Тема1</vt:lpstr>
      <vt:lpstr>компьютерная графика </vt:lpstr>
      <vt:lpstr>Слайд 2</vt:lpstr>
      <vt:lpstr>Слайд 3</vt:lpstr>
      <vt:lpstr>Компьютерная графика</vt:lpstr>
      <vt:lpstr>Применение компьютерной графики</vt:lpstr>
      <vt:lpstr>Графика делится на </vt:lpstr>
      <vt:lpstr>ЗD- графика</vt:lpstr>
      <vt:lpstr>Некоторые разделы графики</vt:lpstr>
      <vt:lpstr>Слайд 9</vt:lpstr>
      <vt:lpstr>Цвет и методы его описания</vt:lpstr>
      <vt:lpstr>Цвет и методы его описания</vt:lpstr>
      <vt:lpstr>Слайд 12</vt:lpstr>
      <vt:lpstr>Слайд 13</vt:lpstr>
      <vt:lpstr>Слайд 14</vt:lpstr>
      <vt:lpstr>Слайд 15</vt:lpstr>
      <vt:lpstr>Цвет и методы его описания</vt:lpstr>
      <vt:lpstr>Аддитивная цветовая модель</vt:lpstr>
      <vt:lpstr>Слайд 18</vt:lpstr>
      <vt:lpstr>Слайд 19</vt:lpstr>
      <vt:lpstr>Смешение цветов Как образуются цветовые модели</vt:lpstr>
      <vt:lpstr>Слайд 21</vt:lpstr>
      <vt:lpstr>Слайд 22</vt:lpstr>
      <vt:lpstr>Слайд 23</vt:lpstr>
      <vt:lpstr>Субтрактивная  цветовая модель</vt:lpstr>
      <vt:lpstr>Слайд 25</vt:lpstr>
      <vt:lpstr>Слайд 26</vt:lpstr>
      <vt:lpstr>Цветовая модель CMYK</vt:lpstr>
      <vt:lpstr>Слайд 28</vt:lpstr>
      <vt:lpstr>Слайд 29</vt:lpstr>
      <vt:lpstr>Слайд 30</vt:lpstr>
      <vt:lpstr>Слайд 31</vt:lpstr>
      <vt:lpstr>Растровая графика</vt:lpstr>
      <vt:lpstr>Растровая графика</vt:lpstr>
      <vt:lpstr>Растровая графика</vt:lpstr>
      <vt:lpstr>Различают</vt:lpstr>
      <vt:lpstr>Разрешение оригинала</vt:lpstr>
      <vt:lpstr>Слайд 37</vt:lpstr>
      <vt:lpstr>Разрешение экранного изображения</vt:lpstr>
      <vt:lpstr>Разрешение печатного изображения</vt:lpstr>
      <vt:lpstr>Связь между параметрами изображения и размером файла </vt:lpstr>
      <vt:lpstr>Разрешение и объем файла</vt:lpstr>
      <vt:lpstr>Аппаратные средства получения растровых изображений</vt:lpstr>
      <vt:lpstr>Масштабирование растровых изображений</vt:lpstr>
      <vt:lpstr>Слайд 44</vt:lpstr>
      <vt:lpstr>Adobe Photoshop</vt:lpstr>
      <vt:lpstr>Слайд 46</vt:lpstr>
      <vt:lpstr>Слайд 47</vt:lpstr>
      <vt:lpstr>области</vt:lpstr>
      <vt:lpstr>Инструменты 1 –ой группы:</vt:lpstr>
      <vt:lpstr>Инструменты 2 –ой группы:</vt:lpstr>
      <vt:lpstr>Инструменты 3 –ой группы:</vt:lpstr>
      <vt:lpstr>Инструменты 4 –ой группы:</vt:lpstr>
      <vt:lpstr>Панель свойств</vt:lpstr>
      <vt:lpstr>Слайд 54</vt:lpstr>
      <vt:lpstr>Фильтры</vt:lpstr>
      <vt:lpstr>Векторная графика</vt:lpstr>
      <vt:lpstr>Слайд 57</vt:lpstr>
      <vt:lpstr>Слайд 58</vt:lpstr>
      <vt:lpstr>Слайд 59</vt:lpstr>
      <vt:lpstr>Слайд 60</vt:lpstr>
      <vt:lpstr>Corel Draw</vt:lpstr>
      <vt:lpstr>Интерфейс Сorel Draw </vt:lpstr>
      <vt:lpstr>Слайд 63</vt:lpstr>
      <vt:lpstr>Форматы графических данных</vt:lpstr>
      <vt:lpstr>Форматы графических данных</vt:lpstr>
      <vt:lpstr>Слайд 66</vt:lpstr>
      <vt:lpstr>Слайд 67</vt:lpstr>
    </vt:vector>
  </TitlesOfParts>
  <Company>Reanimator Extreme Edition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Технология создания и обработки графической информации</dc:title>
  <dc:creator>Евгения</dc:creator>
  <cp:lastModifiedBy>Студент</cp:lastModifiedBy>
  <cp:revision>128</cp:revision>
  <dcterms:created xsi:type="dcterms:W3CDTF">2011-03-29T15:52:44Z</dcterms:created>
  <dcterms:modified xsi:type="dcterms:W3CDTF">2015-03-26T03:49:57Z</dcterms:modified>
</cp:coreProperties>
</file>