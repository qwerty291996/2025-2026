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0083800" cy="7562850"/>
  <p:notesSz cx="10083800" cy="7562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168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88464" y="924389"/>
            <a:ext cx="630687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399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5196"/>
            <a:ext cx="705866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399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399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9455"/>
            <a:ext cx="4386453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3399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80470"/>
            <a:ext cx="10073157" cy="8850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88464" y="924389"/>
            <a:ext cx="6306870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3399F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1025" y="1609097"/>
            <a:ext cx="4213225" cy="2879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8492" y="7033450"/>
            <a:ext cx="3226816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33450"/>
            <a:ext cx="2319274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top50.supercomputers.ru/list" TargetMode="External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7" Type="http://schemas.openxmlformats.org/officeDocument/2006/relationships/image" Target="../media/image30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01977" y="2334152"/>
            <a:ext cx="6671945" cy="1793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000000"/>
                </a:solidFill>
              </a:rPr>
              <a:t>Программа</a:t>
            </a:r>
            <a:r>
              <a:rPr sz="3600" spc="-40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профессиональной переподготовки</a:t>
            </a:r>
            <a:endParaRPr sz="3600" dirty="0"/>
          </a:p>
          <a:p>
            <a:pPr algn="ctr">
              <a:lnSpc>
                <a:spcPct val="100000"/>
              </a:lnSpc>
            </a:pPr>
            <a:r>
              <a:rPr sz="4400" spc="-30" dirty="0">
                <a:solidFill>
                  <a:srgbClr val="000000"/>
                </a:solidFill>
              </a:rPr>
              <a:t>«Технологии</a:t>
            </a:r>
            <a:r>
              <a:rPr sz="4400" spc="-204" dirty="0">
                <a:solidFill>
                  <a:srgbClr val="000000"/>
                </a:solidFill>
              </a:rPr>
              <a:t> </a:t>
            </a:r>
            <a:r>
              <a:rPr sz="4400" spc="-10" dirty="0">
                <a:solidFill>
                  <a:srgbClr val="000000"/>
                </a:solidFill>
              </a:rPr>
              <a:t>DevOps»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79904" y="2753544"/>
            <a:ext cx="6111875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000000"/>
                </a:solidFill>
              </a:rPr>
              <a:t>Основы</a:t>
            </a:r>
            <a:r>
              <a:rPr sz="4400" spc="-90" dirty="0">
                <a:solidFill>
                  <a:srgbClr val="000000"/>
                </a:solidFill>
              </a:rPr>
              <a:t> </a:t>
            </a:r>
            <a:r>
              <a:rPr sz="4400" spc="-10" dirty="0">
                <a:solidFill>
                  <a:srgbClr val="000000"/>
                </a:solidFill>
              </a:rPr>
              <a:t>виртуализации</a:t>
            </a:r>
            <a:endParaRPr sz="4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14942" y="2554104"/>
            <a:ext cx="47536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000000"/>
                </a:solidFill>
              </a:rPr>
              <a:t>Список</a:t>
            </a:r>
            <a:r>
              <a:rPr sz="2200" spc="-55" dirty="0">
                <a:solidFill>
                  <a:srgbClr val="000000"/>
                </a:solidFill>
              </a:rPr>
              <a:t> </a:t>
            </a:r>
            <a:r>
              <a:rPr sz="2200" spc="-10" dirty="0">
                <a:solidFill>
                  <a:srgbClr val="000000"/>
                </a:solidFill>
              </a:rPr>
              <a:t>рассматриваемых</a:t>
            </a:r>
            <a:r>
              <a:rPr sz="2200" spc="-40" dirty="0">
                <a:solidFill>
                  <a:srgbClr val="000000"/>
                </a:solidFill>
              </a:rPr>
              <a:t> </a:t>
            </a:r>
            <a:r>
              <a:rPr sz="2200" spc="-10" dirty="0">
                <a:solidFill>
                  <a:srgbClr val="000000"/>
                </a:solidFill>
              </a:rPr>
              <a:t>вопросов: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444500" y="3586588"/>
            <a:ext cx="125730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spc="155" dirty="0">
                <a:latin typeface="Calibri"/>
                <a:cs typeface="Calibri"/>
              </a:rPr>
              <a:t>●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03783" y="3357702"/>
            <a:ext cx="6936105" cy="2369185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2200" spc="-10" dirty="0">
                <a:latin typeface="Arial"/>
                <a:cs typeface="Arial"/>
              </a:rPr>
              <a:t>Виртуализация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39800"/>
              </a:lnSpc>
            </a:pPr>
            <a:r>
              <a:rPr sz="2200" spc="-20" dirty="0">
                <a:latin typeface="Arial"/>
                <a:cs typeface="Arial"/>
              </a:rPr>
              <a:t>Подходы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к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виртуализации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вычислительных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ресурсов Виртуализация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ресурсов</a:t>
            </a:r>
            <a:endParaRPr sz="2200">
              <a:latin typeface="Arial"/>
              <a:cs typeface="Arial"/>
            </a:endParaRPr>
          </a:p>
          <a:p>
            <a:pPr marL="12700" marR="1691005">
              <a:lnSpc>
                <a:spcPct val="139700"/>
              </a:lnSpc>
            </a:pPr>
            <a:r>
              <a:rPr sz="2200" spc="-10" dirty="0">
                <a:latin typeface="Arial"/>
                <a:cs typeface="Arial"/>
              </a:rPr>
              <a:t>Виртуализация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вычислительных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систем Виртуализация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сетевых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функций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(NFV)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4500" y="4055307"/>
            <a:ext cx="125730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spc="155" dirty="0">
                <a:latin typeface="Calibri"/>
                <a:cs typeface="Calibri"/>
              </a:rPr>
              <a:t>●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4523671"/>
            <a:ext cx="125730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spc="155" dirty="0">
                <a:latin typeface="Calibri"/>
                <a:cs typeface="Calibri"/>
              </a:rPr>
              <a:t>●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4992389"/>
            <a:ext cx="125730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spc="155" dirty="0">
                <a:latin typeface="Calibri"/>
                <a:cs typeface="Calibri"/>
              </a:rPr>
              <a:t>●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500" y="5461108"/>
            <a:ext cx="125730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spc="155" dirty="0">
                <a:latin typeface="Calibri"/>
                <a:cs typeface="Calibri"/>
              </a:rPr>
              <a:t>●</a:t>
            </a:r>
            <a:endParaRPr sz="9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5895" y="3573634"/>
            <a:ext cx="27120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000000"/>
                </a:solidFill>
              </a:rPr>
              <a:t>Терминология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530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Терминология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37" y="1521264"/>
            <a:ext cx="9617075" cy="545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8435">
              <a:lnSpc>
                <a:spcPct val="100000"/>
              </a:lnSpc>
              <a:spcBef>
                <a:spcPts val="100"/>
              </a:spcBef>
              <a:tabLst>
                <a:tab pos="474345" algn="l"/>
                <a:tab pos="1179195" algn="l"/>
                <a:tab pos="1460500" algn="l"/>
                <a:tab pos="2752725" algn="l"/>
                <a:tab pos="3775710" algn="l"/>
                <a:tab pos="5264150" algn="l"/>
                <a:tab pos="6167755" algn="l"/>
                <a:tab pos="7596505" algn="l"/>
                <a:tab pos="8091805" algn="l"/>
              </a:tabLst>
            </a:pPr>
            <a:r>
              <a:rPr sz="1700" spc="-50" dirty="0">
                <a:latin typeface="Arial"/>
                <a:cs typeface="Arial"/>
              </a:rPr>
              <a:t>В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0" dirty="0">
                <a:latin typeface="Arial"/>
                <a:cs typeface="Arial"/>
              </a:rPr>
              <a:t>ГОСТ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50" dirty="0">
                <a:latin typeface="Arial"/>
                <a:cs typeface="Arial"/>
              </a:rPr>
              <a:t>Р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0" dirty="0">
                <a:latin typeface="Arial"/>
                <a:cs typeface="Arial"/>
              </a:rPr>
              <a:t>56938-2016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" dirty="0">
                <a:latin typeface="Arial"/>
                <a:cs typeface="Arial"/>
              </a:rPr>
              <a:t>«Защита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" dirty="0">
                <a:latin typeface="Arial"/>
                <a:cs typeface="Arial"/>
              </a:rPr>
              <a:t>информации.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" dirty="0">
                <a:latin typeface="Arial"/>
                <a:cs typeface="Arial"/>
              </a:rPr>
              <a:t>Защита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" dirty="0">
                <a:latin typeface="Arial"/>
                <a:cs typeface="Arial"/>
              </a:rPr>
              <a:t>информации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5" dirty="0">
                <a:latin typeface="Arial"/>
                <a:cs typeface="Arial"/>
              </a:rPr>
              <a:t>при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" dirty="0">
                <a:latin typeface="Arial"/>
                <a:cs typeface="Arial"/>
              </a:rPr>
              <a:t>использовании технологий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виртуализации.</a:t>
            </a:r>
            <a:r>
              <a:rPr sz="1700" spc="-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Общие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положения»используются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следующие</a:t>
            </a:r>
            <a:r>
              <a:rPr sz="1700" spc="-7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определения:</a:t>
            </a:r>
            <a:endParaRPr sz="17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7855" y="2299951"/>
            <a:ext cx="422846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14195" algn="l"/>
                <a:tab pos="2201545" algn="l"/>
                <a:tab pos="3032125" algn="l"/>
              </a:tabLst>
            </a:pPr>
            <a:r>
              <a:rPr sz="1700" b="1" spc="-10" dirty="0">
                <a:latin typeface="Arial"/>
                <a:cs typeface="Arial"/>
              </a:rPr>
              <a:t>виртуализация</a:t>
            </a:r>
            <a:r>
              <a:rPr sz="1700" b="1" dirty="0">
                <a:latin typeface="Arial"/>
                <a:cs typeface="Arial"/>
              </a:rPr>
              <a:t>	</a:t>
            </a:r>
            <a:r>
              <a:rPr sz="1700" spc="-50" dirty="0">
                <a:latin typeface="Arial"/>
                <a:cs typeface="Arial"/>
              </a:rPr>
              <a:t>—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" dirty="0">
                <a:latin typeface="Arial"/>
                <a:cs typeface="Arial"/>
              </a:rPr>
              <a:t>группа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" dirty="0">
                <a:latin typeface="Arial"/>
                <a:cs typeface="Arial"/>
              </a:rPr>
              <a:t>технологий,</a:t>
            </a:r>
            <a:endParaRPr sz="17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90116" y="2299951"/>
            <a:ext cx="506793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6205" algn="l"/>
                <a:tab pos="1795780" algn="l"/>
                <a:tab pos="3616960" algn="l"/>
                <a:tab pos="4686935" algn="l"/>
              </a:tabLst>
            </a:pPr>
            <a:r>
              <a:rPr sz="1700" spc="-10" dirty="0">
                <a:latin typeface="Arial"/>
                <a:cs typeface="Arial"/>
              </a:rPr>
              <a:t>основанных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5" dirty="0">
                <a:latin typeface="Arial"/>
                <a:cs typeface="Arial"/>
              </a:rPr>
              <a:t>на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" dirty="0">
                <a:latin typeface="Arial"/>
                <a:cs typeface="Arial"/>
              </a:rPr>
              <a:t>преобразовании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" dirty="0">
                <a:latin typeface="Arial"/>
                <a:cs typeface="Arial"/>
              </a:rPr>
              <a:t>формата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5" dirty="0">
                <a:latin typeface="Arial"/>
                <a:cs typeface="Arial"/>
              </a:rPr>
              <a:t>или</a:t>
            </a:r>
            <a:endParaRPr sz="17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937" y="2558790"/>
            <a:ext cx="430403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7475" algn="l"/>
                <a:tab pos="2927350" algn="l"/>
                <a:tab pos="3475354" algn="l"/>
              </a:tabLst>
            </a:pPr>
            <a:r>
              <a:rPr sz="1700" spc="-10" dirty="0">
                <a:latin typeface="Arial"/>
                <a:cs typeface="Arial"/>
              </a:rPr>
              <a:t>параметров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" dirty="0">
                <a:latin typeface="Arial"/>
                <a:cs typeface="Arial"/>
              </a:rPr>
              <a:t>программных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5" dirty="0">
                <a:latin typeface="Arial"/>
                <a:cs typeface="Arial"/>
              </a:rPr>
              <a:t>или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" dirty="0">
                <a:latin typeface="Arial"/>
                <a:cs typeface="Arial"/>
              </a:rPr>
              <a:t>сетевых</a:t>
            </a:r>
            <a:endParaRPr sz="17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8937" y="2817984"/>
            <a:ext cx="4309110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515110" algn="l"/>
                <a:tab pos="3241675" algn="l"/>
              </a:tabLst>
            </a:pPr>
            <a:r>
              <a:rPr sz="1700" spc="-10" dirty="0">
                <a:latin typeface="Arial"/>
                <a:cs typeface="Arial"/>
              </a:rPr>
              <a:t>обеспечения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" dirty="0">
                <a:latin typeface="Arial"/>
                <a:cs typeface="Arial"/>
              </a:rPr>
              <a:t>независимости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" dirty="0">
                <a:latin typeface="Arial"/>
                <a:cs typeface="Arial"/>
              </a:rPr>
              <a:t>процессов</a:t>
            </a:r>
            <a:endParaRPr sz="17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8851" y="2558790"/>
            <a:ext cx="5158105" cy="54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895" marR="5080" indent="-36830">
              <a:lnSpc>
                <a:spcPct val="100000"/>
              </a:lnSpc>
              <a:spcBef>
                <a:spcPts val="100"/>
              </a:spcBef>
              <a:tabLst>
                <a:tab pos="1115060" algn="l"/>
                <a:tab pos="1299210" algn="l"/>
                <a:tab pos="1390650" algn="l"/>
                <a:tab pos="2801620" algn="l"/>
                <a:tab pos="3086100" algn="l"/>
                <a:tab pos="3228975" algn="l"/>
                <a:tab pos="4218305" algn="l"/>
                <a:tab pos="4507865" algn="l"/>
                <a:tab pos="4777740" algn="l"/>
              </a:tabLst>
            </a:pPr>
            <a:r>
              <a:rPr sz="1700" spc="-10" dirty="0">
                <a:latin typeface="Arial"/>
                <a:cs typeface="Arial"/>
              </a:rPr>
              <a:t>запросов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50" dirty="0">
                <a:latin typeface="Arial"/>
                <a:cs typeface="Arial"/>
              </a:rPr>
              <a:t>к</a:t>
            </a:r>
            <a:r>
              <a:rPr sz="1700" dirty="0">
                <a:latin typeface="Arial"/>
                <a:cs typeface="Arial"/>
              </a:rPr>
              <a:t>		</a:t>
            </a:r>
            <a:r>
              <a:rPr sz="1700" spc="-10" dirty="0">
                <a:latin typeface="Arial"/>
                <a:cs typeface="Arial"/>
              </a:rPr>
              <a:t>компьютерным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10" dirty="0">
                <a:latin typeface="Arial"/>
                <a:cs typeface="Arial"/>
              </a:rPr>
              <a:t>ресурсам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50" dirty="0">
                <a:latin typeface="Arial"/>
                <a:cs typeface="Arial"/>
              </a:rPr>
              <a:t>с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5" dirty="0">
                <a:latin typeface="Arial"/>
                <a:cs typeface="Arial"/>
              </a:rPr>
              <a:t>целью </a:t>
            </a:r>
            <a:r>
              <a:rPr sz="1700" spc="-10" dirty="0">
                <a:latin typeface="Arial"/>
                <a:cs typeface="Arial"/>
              </a:rPr>
              <a:t>обработки</a:t>
            </a:r>
            <a:r>
              <a:rPr sz="1700" dirty="0">
                <a:latin typeface="Arial"/>
                <a:cs typeface="Arial"/>
              </a:rPr>
              <a:t>		</a:t>
            </a:r>
            <a:r>
              <a:rPr sz="1700" spc="-10" dirty="0">
                <a:latin typeface="Arial"/>
                <a:cs typeface="Arial"/>
              </a:rPr>
              <a:t>информации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5" dirty="0">
                <a:latin typeface="Arial"/>
                <a:cs typeface="Arial"/>
              </a:rPr>
              <a:t>от</a:t>
            </a:r>
            <a:r>
              <a:rPr sz="1700" dirty="0">
                <a:latin typeface="Arial"/>
                <a:cs typeface="Arial"/>
              </a:rPr>
              <a:t>		</a:t>
            </a:r>
            <a:r>
              <a:rPr sz="1700" spc="-10" dirty="0">
                <a:latin typeface="Arial"/>
                <a:cs typeface="Arial"/>
              </a:rPr>
              <a:t>программной</a:t>
            </a:r>
            <a:r>
              <a:rPr sz="1700" dirty="0">
                <a:latin typeface="Arial"/>
                <a:cs typeface="Arial"/>
              </a:rPr>
              <a:t>	</a:t>
            </a:r>
            <a:r>
              <a:rPr sz="1700" spc="-25" dirty="0">
                <a:latin typeface="Arial"/>
                <a:cs typeface="Arial"/>
              </a:rPr>
              <a:t>или</a:t>
            </a:r>
            <a:endParaRPr sz="1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8937" y="3077192"/>
            <a:ext cx="9621520" cy="417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2039"/>
              </a:lnSpc>
              <a:spcBef>
                <a:spcPts val="100"/>
              </a:spcBef>
            </a:pPr>
            <a:r>
              <a:rPr sz="1700" spc="-10" dirty="0">
                <a:latin typeface="Arial"/>
                <a:cs typeface="Arial"/>
              </a:rPr>
              <a:t>аппаратной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платформы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информационной</a:t>
            </a:r>
            <a:r>
              <a:rPr sz="1700" spc="-7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системы;</a:t>
            </a:r>
            <a:endParaRPr sz="1700">
              <a:latin typeface="Arial"/>
              <a:cs typeface="Arial"/>
            </a:endParaRPr>
          </a:p>
          <a:p>
            <a:pPr marL="12700" marR="5080" indent="178435" algn="just">
              <a:lnSpc>
                <a:spcPct val="100000"/>
              </a:lnSpc>
            </a:pPr>
            <a:r>
              <a:rPr sz="1700" b="1" dirty="0">
                <a:latin typeface="Arial"/>
                <a:cs typeface="Arial"/>
              </a:rPr>
              <a:t>виртуализация</a:t>
            </a:r>
            <a:r>
              <a:rPr sz="1700" b="1" spc="35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программного</a:t>
            </a:r>
            <a:r>
              <a:rPr sz="1700" b="1" spc="35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обеспечения</a:t>
            </a:r>
            <a:r>
              <a:rPr sz="1700" b="1" spc="35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(виртуализация</a:t>
            </a:r>
            <a:r>
              <a:rPr sz="1700" b="1" spc="34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программ)</a:t>
            </a:r>
            <a:r>
              <a:rPr sz="1700" b="1" spc="38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—</a:t>
            </a:r>
            <a:r>
              <a:rPr sz="1700" spc="3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технология </a:t>
            </a:r>
            <a:r>
              <a:rPr sz="1700" dirty="0">
                <a:latin typeface="Arial"/>
                <a:cs typeface="Arial"/>
              </a:rPr>
              <a:t>создания</a:t>
            </a:r>
            <a:r>
              <a:rPr sz="1700" spc="135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изолированной</a:t>
            </a:r>
            <a:r>
              <a:rPr sz="1700" spc="140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программной</a:t>
            </a:r>
            <a:r>
              <a:rPr sz="1700" spc="140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среды</a:t>
            </a:r>
            <a:r>
              <a:rPr sz="1700" spc="135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(контейнера)</a:t>
            </a:r>
            <a:r>
              <a:rPr sz="1700" spc="140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со</a:t>
            </a:r>
            <a:r>
              <a:rPr sz="1700" spc="135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специфическим</a:t>
            </a:r>
            <a:r>
              <a:rPr sz="1700" spc="140" dirty="0">
                <a:latin typeface="Arial"/>
                <a:cs typeface="Arial"/>
              </a:rPr>
              <a:t>  </a:t>
            </a:r>
            <a:r>
              <a:rPr sz="1700" spc="-10" dirty="0">
                <a:latin typeface="Arial"/>
                <a:cs typeface="Arial"/>
              </a:rPr>
              <a:t>набором </a:t>
            </a:r>
            <a:r>
              <a:rPr sz="1700" dirty="0">
                <a:latin typeface="Arial"/>
                <a:cs typeface="Arial"/>
              </a:rPr>
              <a:t>компонентов</a:t>
            </a:r>
            <a:r>
              <a:rPr sz="1700" spc="155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имитируемой</a:t>
            </a:r>
            <a:r>
              <a:rPr sz="1700" spc="165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операционной</a:t>
            </a:r>
            <a:r>
              <a:rPr sz="1700" spc="160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системы,</a:t>
            </a:r>
            <a:r>
              <a:rPr sz="1700" spc="155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обеспечивающим</a:t>
            </a:r>
            <a:r>
              <a:rPr sz="1700" spc="170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работу</a:t>
            </a:r>
            <a:r>
              <a:rPr sz="1700" spc="155" dirty="0">
                <a:latin typeface="Arial"/>
                <a:cs typeface="Arial"/>
              </a:rPr>
              <a:t>  </a:t>
            </a:r>
            <a:r>
              <a:rPr sz="1700" spc="-10" dirty="0">
                <a:latin typeface="Arial"/>
                <a:cs typeface="Arial"/>
              </a:rPr>
              <a:t>отдельных программ;</a:t>
            </a:r>
            <a:endParaRPr sz="1700">
              <a:latin typeface="Arial"/>
              <a:cs typeface="Arial"/>
            </a:endParaRPr>
          </a:p>
          <a:p>
            <a:pPr marL="12700" marR="5080" indent="178435" algn="just">
              <a:lnSpc>
                <a:spcPct val="100000"/>
              </a:lnSpc>
              <a:spcBef>
                <a:spcPts val="10"/>
              </a:spcBef>
            </a:pPr>
            <a:r>
              <a:rPr sz="1700" b="1" dirty="0">
                <a:latin typeface="Arial"/>
                <a:cs typeface="Arial"/>
              </a:rPr>
              <a:t>виртуализация</a:t>
            </a:r>
            <a:r>
              <a:rPr sz="1700" b="1" spc="6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аппаратного</a:t>
            </a:r>
            <a:r>
              <a:rPr sz="1700" b="1" spc="7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обеспечения,</a:t>
            </a:r>
            <a:r>
              <a:rPr sz="1700" b="1" spc="5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виртуализация</a:t>
            </a:r>
            <a:r>
              <a:rPr sz="1700" b="1" spc="6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вычислительных</a:t>
            </a:r>
            <a:r>
              <a:rPr sz="1700" b="1" spc="7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систем</a:t>
            </a:r>
            <a:r>
              <a:rPr sz="1700" b="1" spc="9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— </a:t>
            </a:r>
            <a:r>
              <a:rPr sz="1700" dirty="0">
                <a:latin typeface="Arial"/>
                <a:cs typeface="Arial"/>
              </a:rPr>
              <a:t>технология</a:t>
            </a:r>
            <a:r>
              <a:rPr sz="1700" spc="47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создания</a:t>
            </a:r>
            <a:r>
              <a:rPr sz="1700" spc="47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изолированной</a:t>
            </a:r>
            <a:r>
              <a:rPr sz="1700" spc="47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программной</a:t>
            </a:r>
            <a:r>
              <a:rPr sz="1700" spc="4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среды</a:t>
            </a:r>
            <a:r>
              <a:rPr sz="1700" spc="47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(контейнера)</a:t>
            </a:r>
            <a:r>
              <a:rPr sz="1700" spc="47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со</a:t>
            </a:r>
            <a:r>
              <a:rPr sz="1700" spc="47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специфическим </a:t>
            </a:r>
            <a:r>
              <a:rPr sz="1700" dirty="0">
                <a:latin typeface="Arial"/>
                <a:cs typeface="Arial"/>
              </a:rPr>
              <a:t>набором</a:t>
            </a:r>
            <a:r>
              <a:rPr sz="1700" spc="300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компонентов</a:t>
            </a:r>
            <a:r>
              <a:rPr sz="1700" spc="305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имитируемого</a:t>
            </a:r>
            <a:r>
              <a:rPr sz="1700" spc="300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микропрограммного</a:t>
            </a:r>
            <a:r>
              <a:rPr sz="1700" spc="305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и</a:t>
            </a:r>
            <a:r>
              <a:rPr sz="1700" spc="305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аппаратного</a:t>
            </a:r>
            <a:r>
              <a:rPr sz="1700" spc="300" dirty="0">
                <a:latin typeface="Arial"/>
                <a:cs typeface="Arial"/>
              </a:rPr>
              <a:t>  </a:t>
            </a:r>
            <a:r>
              <a:rPr sz="1700" spc="-10" dirty="0">
                <a:latin typeface="Arial"/>
                <a:cs typeface="Arial"/>
              </a:rPr>
              <a:t>обеспечения, обеспечивающим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работу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отдельных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операционных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систем;</a:t>
            </a:r>
            <a:endParaRPr sz="1700">
              <a:latin typeface="Arial"/>
              <a:cs typeface="Arial"/>
            </a:endParaRPr>
          </a:p>
          <a:p>
            <a:pPr marL="12700" marR="6350" indent="178435" algn="just">
              <a:lnSpc>
                <a:spcPts val="2039"/>
              </a:lnSpc>
              <a:spcBef>
                <a:spcPts val="65"/>
              </a:spcBef>
            </a:pPr>
            <a:r>
              <a:rPr sz="1700" b="1" dirty="0">
                <a:latin typeface="Arial"/>
                <a:cs typeface="Arial"/>
              </a:rPr>
              <a:t>виртуальная</a:t>
            </a:r>
            <a:r>
              <a:rPr sz="1700" b="1" spc="23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машина</a:t>
            </a:r>
            <a:r>
              <a:rPr sz="1700" b="1" spc="23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(ВМ)</a:t>
            </a:r>
            <a:r>
              <a:rPr sz="1700" b="1" spc="2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—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виртуальная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вычислительная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система,</a:t>
            </a:r>
            <a:r>
              <a:rPr sz="1700" spc="22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которая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состоит</a:t>
            </a:r>
            <a:r>
              <a:rPr sz="1700" spc="229" dirty="0">
                <a:latin typeface="Arial"/>
                <a:cs typeface="Arial"/>
              </a:rPr>
              <a:t> </a:t>
            </a:r>
            <a:r>
              <a:rPr sz="1700" spc="-25" dirty="0">
                <a:latin typeface="Arial"/>
                <a:cs typeface="Arial"/>
              </a:rPr>
              <a:t>из </a:t>
            </a:r>
            <a:r>
              <a:rPr sz="1700" dirty="0">
                <a:latin typeface="Arial"/>
                <a:cs typeface="Arial"/>
              </a:rPr>
              <a:t>виртуальных</a:t>
            </a:r>
            <a:r>
              <a:rPr sz="1700" spc="3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устройств</a:t>
            </a:r>
            <a:r>
              <a:rPr sz="1700" spc="3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обработки,</a:t>
            </a:r>
            <a:r>
              <a:rPr sz="1700" spc="3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хранения</a:t>
            </a:r>
            <a:r>
              <a:rPr sz="1700" spc="3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и</a:t>
            </a:r>
            <a:r>
              <a:rPr sz="1700" spc="3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передачи</a:t>
            </a:r>
            <a:r>
              <a:rPr sz="1700" spc="3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данных</a:t>
            </a:r>
            <a:r>
              <a:rPr sz="1700" spc="31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и</a:t>
            </a:r>
            <a:r>
              <a:rPr sz="1700" spc="31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которая</a:t>
            </a:r>
            <a:r>
              <a:rPr sz="1700" spc="30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дополнительно может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содержать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программное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обеспечение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и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пользовательские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данные;</a:t>
            </a:r>
            <a:endParaRPr sz="1700">
              <a:latin typeface="Arial"/>
              <a:cs typeface="Arial"/>
            </a:endParaRPr>
          </a:p>
          <a:p>
            <a:pPr marL="12700" marR="5080" indent="178435" algn="just">
              <a:lnSpc>
                <a:spcPts val="2039"/>
              </a:lnSpc>
            </a:pPr>
            <a:r>
              <a:rPr sz="1700" b="1" dirty="0">
                <a:latin typeface="Arial"/>
                <a:cs typeface="Arial"/>
              </a:rPr>
              <a:t>виртуализация</a:t>
            </a:r>
            <a:r>
              <a:rPr sz="1700" b="1" spc="8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вычислительных</a:t>
            </a:r>
            <a:r>
              <a:rPr sz="1700" b="1" spc="8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сетей</a:t>
            </a:r>
            <a:r>
              <a:rPr sz="1700" b="1" spc="8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(виртуализация</a:t>
            </a:r>
            <a:r>
              <a:rPr sz="1700" b="1" spc="8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каналов</a:t>
            </a:r>
            <a:r>
              <a:rPr sz="1700" b="1" spc="8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передачи</a:t>
            </a:r>
            <a:r>
              <a:rPr sz="1700" b="1" spc="80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данных)</a:t>
            </a:r>
            <a:r>
              <a:rPr sz="1700" b="1" spc="105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— </a:t>
            </a:r>
            <a:r>
              <a:rPr sz="1700" dirty="0">
                <a:latin typeface="Arial"/>
                <a:cs typeface="Arial"/>
              </a:rPr>
              <a:t>технология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объединения</a:t>
            </a:r>
            <a:r>
              <a:rPr sz="1700" spc="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аппаратных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и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программных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сетевых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ресурсов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и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сетевых</a:t>
            </a:r>
            <a:r>
              <a:rPr sz="1700" spc="7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функций</a:t>
            </a:r>
            <a:r>
              <a:rPr sz="1700" spc="70" dirty="0">
                <a:latin typeface="Arial"/>
                <a:cs typeface="Arial"/>
              </a:rPr>
              <a:t> </a:t>
            </a:r>
            <a:r>
              <a:rPr sz="1700" spc="-50" dirty="0">
                <a:latin typeface="Arial"/>
                <a:cs typeface="Arial"/>
              </a:rPr>
              <a:t>в</a:t>
            </a:r>
            <a:endParaRPr sz="1700">
              <a:latin typeface="Arial"/>
              <a:cs typeface="Arial"/>
            </a:endParaRPr>
          </a:p>
          <a:p>
            <a:pPr marL="12700" marR="10160" algn="just">
              <a:lnSpc>
                <a:spcPts val="2039"/>
              </a:lnSpc>
              <a:spcBef>
                <a:spcPts val="5"/>
              </a:spcBef>
            </a:pPr>
            <a:r>
              <a:rPr sz="1700" dirty="0">
                <a:latin typeface="Arial"/>
                <a:cs typeface="Arial"/>
              </a:rPr>
              <a:t>едином</a:t>
            </a:r>
            <a:r>
              <a:rPr sz="1700" spc="190" dirty="0">
                <a:latin typeface="Arial"/>
                <a:cs typeface="Arial"/>
              </a:rPr>
              <a:t>   </a:t>
            </a:r>
            <a:r>
              <a:rPr sz="1700" dirty="0">
                <a:latin typeface="Arial"/>
                <a:cs typeface="Arial"/>
              </a:rPr>
              <a:t>программно</a:t>
            </a:r>
            <a:r>
              <a:rPr sz="1700" spc="195" dirty="0">
                <a:latin typeface="Arial"/>
                <a:cs typeface="Arial"/>
              </a:rPr>
              <a:t>   </a:t>
            </a:r>
            <a:r>
              <a:rPr sz="1700" dirty="0">
                <a:latin typeface="Arial"/>
                <a:cs typeface="Arial"/>
              </a:rPr>
              <a:t>администрируемом</a:t>
            </a:r>
            <a:r>
              <a:rPr sz="1700" spc="195" dirty="0">
                <a:latin typeface="Arial"/>
                <a:cs typeface="Arial"/>
              </a:rPr>
              <a:t>   </a:t>
            </a:r>
            <a:r>
              <a:rPr sz="1700" dirty="0">
                <a:latin typeface="Arial"/>
                <a:cs typeface="Arial"/>
              </a:rPr>
              <a:t>объекте</a:t>
            </a:r>
            <a:r>
              <a:rPr sz="1700" spc="195" dirty="0">
                <a:latin typeface="Arial"/>
                <a:cs typeface="Arial"/>
              </a:rPr>
              <a:t>   </a:t>
            </a:r>
            <a:r>
              <a:rPr sz="1700" dirty="0">
                <a:latin typeface="Arial"/>
                <a:cs typeface="Arial"/>
              </a:rPr>
              <a:t>для</a:t>
            </a:r>
            <a:r>
              <a:rPr sz="1700" spc="190" dirty="0">
                <a:latin typeface="Arial"/>
                <a:cs typeface="Arial"/>
              </a:rPr>
              <a:t>   </a:t>
            </a:r>
            <a:r>
              <a:rPr sz="1700" dirty="0">
                <a:latin typeface="Arial"/>
                <a:cs typeface="Arial"/>
              </a:rPr>
              <a:t>реализации</a:t>
            </a:r>
            <a:r>
              <a:rPr sz="1700" spc="190" dirty="0">
                <a:latin typeface="Arial"/>
                <a:cs typeface="Arial"/>
              </a:rPr>
              <a:t>   </a:t>
            </a:r>
            <a:r>
              <a:rPr sz="1700" dirty="0">
                <a:latin typeface="Arial"/>
                <a:cs typeface="Arial"/>
              </a:rPr>
              <a:t>их</a:t>
            </a:r>
            <a:r>
              <a:rPr sz="1700" spc="195" dirty="0">
                <a:latin typeface="Arial"/>
                <a:cs typeface="Arial"/>
              </a:rPr>
              <a:t>   </a:t>
            </a:r>
            <a:r>
              <a:rPr sz="1700" spc="-10" dirty="0">
                <a:latin typeface="Arial"/>
                <a:cs typeface="Arial"/>
              </a:rPr>
              <a:t>логического взаимодействия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через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дополнительные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виртуальные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сетевые</a:t>
            </a:r>
            <a:r>
              <a:rPr sz="1700" spc="-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ресурсы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и</a:t>
            </a:r>
            <a:r>
              <a:rPr sz="1700" spc="-6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функции.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530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Терминология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4865" y="1819701"/>
            <a:ext cx="56819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0365" algn="l"/>
                <a:tab pos="2145665" algn="l"/>
                <a:tab pos="2472055" algn="l"/>
                <a:tab pos="3323590" algn="l"/>
                <a:tab pos="3691890" algn="l"/>
                <a:tab pos="4450080" algn="l"/>
              </a:tabLst>
            </a:pPr>
            <a:r>
              <a:rPr sz="2000" spc="-50" dirty="0">
                <a:latin typeface="Arial"/>
                <a:cs typeface="Arial"/>
              </a:rPr>
              <a:t>В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10" dirty="0">
                <a:latin typeface="Arial"/>
                <a:cs typeface="Arial"/>
              </a:rPr>
              <a:t>соответствии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50" dirty="0">
                <a:latin typeface="Arial"/>
                <a:cs typeface="Arial"/>
              </a:rPr>
              <a:t>с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0" dirty="0">
                <a:latin typeface="Arial"/>
                <a:cs typeface="Arial"/>
              </a:rPr>
              <a:t>ГОСТ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60" dirty="0">
                <a:latin typeface="Arial"/>
                <a:cs typeface="Arial"/>
              </a:rPr>
              <a:t>Р</a:t>
            </a:r>
            <a:r>
              <a:rPr sz="2000" dirty="0">
                <a:latin typeface="Arial"/>
                <a:cs typeface="Arial"/>
              </a:rPr>
              <a:t>	</a:t>
            </a:r>
            <a:r>
              <a:rPr sz="2000" spc="-25" dirty="0">
                <a:latin typeface="Arial"/>
                <a:cs typeface="Arial"/>
              </a:rPr>
              <a:t>ИСО</a:t>
            </a:r>
            <a:r>
              <a:rPr sz="2000" dirty="0">
                <a:latin typeface="Arial"/>
                <a:cs typeface="Arial"/>
              </a:rPr>
              <a:t>	9001-</a:t>
            </a:r>
            <a:r>
              <a:rPr sz="2000" spc="-20" dirty="0">
                <a:latin typeface="Arial"/>
                <a:cs typeface="Arial"/>
              </a:rPr>
              <a:t>2015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80064" y="1819701"/>
            <a:ext cx="12376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«Системы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91579" y="1819701"/>
            <a:ext cx="1650364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менеджмента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4500" y="2103025"/>
            <a:ext cx="9095740" cy="288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15"/>
              </a:lnSpc>
              <a:spcBef>
                <a:spcPts val="100"/>
              </a:spcBef>
            </a:pPr>
            <a:r>
              <a:rPr sz="2000" spc="-10" dirty="0">
                <a:latin typeface="Arial"/>
                <a:cs typeface="Arial"/>
              </a:rPr>
              <a:t>качества»:</a:t>
            </a:r>
            <a:endParaRPr sz="2000">
              <a:latin typeface="Arial"/>
              <a:cs typeface="Arial"/>
            </a:endParaRPr>
          </a:p>
          <a:p>
            <a:pPr marL="12700" marR="5080" indent="180340" algn="just">
              <a:lnSpc>
                <a:spcPct val="92900"/>
              </a:lnSpc>
              <a:spcBef>
                <a:spcPts val="85"/>
              </a:spcBef>
            </a:pPr>
            <a:r>
              <a:rPr sz="2000" i="1" dirty="0">
                <a:latin typeface="Arial"/>
                <a:cs typeface="Arial"/>
              </a:rPr>
              <a:t>…</a:t>
            </a:r>
            <a:r>
              <a:rPr sz="2000" i="1" spc="185" dirty="0">
                <a:latin typeface="Arial"/>
                <a:cs typeface="Arial"/>
              </a:rPr>
              <a:t>   </a:t>
            </a:r>
            <a:r>
              <a:rPr sz="2000" i="1" dirty="0">
                <a:latin typeface="Arial"/>
                <a:cs typeface="Arial"/>
              </a:rPr>
              <a:t>Организация</a:t>
            </a:r>
            <a:r>
              <a:rPr sz="2000" i="1" spc="185" dirty="0">
                <a:latin typeface="Arial"/>
                <a:cs typeface="Arial"/>
              </a:rPr>
              <a:t>   </a:t>
            </a:r>
            <a:r>
              <a:rPr sz="2000" i="1" dirty="0">
                <a:latin typeface="Arial"/>
                <a:cs typeface="Arial"/>
              </a:rPr>
              <a:t>должна</a:t>
            </a:r>
            <a:r>
              <a:rPr sz="2000" i="1" spc="185" dirty="0">
                <a:latin typeface="Arial"/>
                <a:cs typeface="Arial"/>
              </a:rPr>
              <a:t>   </a:t>
            </a:r>
            <a:r>
              <a:rPr sz="2000" i="1" dirty="0">
                <a:latin typeface="Arial"/>
                <a:cs typeface="Arial"/>
              </a:rPr>
              <a:t>определить,</a:t>
            </a:r>
            <a:r>
              <a:rPr sz="2000" i="1" spc="180" dirty="0">
                <a:latin typeface="Arial"/>
                <a:cs typeface="Arial"/>
              </a:rPr>
              <a:t>   </a:t>
            </a:r>
            <a:r>
              <a:rPr sz="2000" i="1" dirty="0">
                <a:latin typeface="Arial"/>
                <a:cs typeface="Arial"/>
              </a:rPr>
              <a:t>создать</a:t>
            </a:r>
            <a:r>
              <a:rPr sz="2000" i="1" spc="190" dirty="0">
                <a:latin typeface="Arial"/>
                <a:cs typeface="Arial"/>
              </a:rPr>
              <a:t>   </a:t>
            </a:r>
            <a:r>
              <a:rPr sz="2000" i="1" dirty="0">
                <a:latin typeface="Arial"/>
                <a:cs typeface="Arial"/>
              </a:rPr>
              <a:t>и</a:t>
            </a:r>
            <a:r>
              <a:rPr sz="2000" i="1" spc="185" dirty="0">
                <a:latin typeface="Arial"/>
                <a:cs typeface="Arial"/>
              </a:rPr>
              <a:t>   </a:t>
            </a:r>
            <a:r>
              <a:rPr sz="2000" i="1" spc="-10" dirty="0">
                <a:latin typeface="Arial"/>
                <a:cs typeface="Arial"/>
              </a:rPr>
              <a:t>поддерживать </a:t>
            </a:r>
            <a:r>
              <a:rPr sz="2000" b="1" i="1" dirty="0">
                <a:latin typeface="Arial"/>
                <a:cs typeface="Arial"/>
              </a:rPr>
              <a:t>инфраструктуру</a:t>
            </a:r>
            <a:r>
              <a:rPr sz="2000" i="1" dirty="0">
                <a:latin typeface="Arial"/>
                <a:cs typeface="Arial"/>
              </a:rPr>
              <a:t>,</a:t>
            </a:r>
            <a:r>
              <a:rPr sz="2000" i="1" spc="37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необходимую</a:t>
            </a:r>
            <a:r>
              <a:rPr sz="2000" i="1" spc="39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для</a:t>
            </a:r>
            <a:r>
              <a:rPr sz="2000" i="1" spc="38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функционирования</a:t>
            </a:r>
            <a:r>
              <a:rPr sz="2000" i="1" spc="38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ее</a:t>
            </a:r>
            <a:r>
              <a:rPr sz="2000" i="1" spc="38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процессов</a:t>
            </a:r>
            <a:r>
              <a:rPr sz="2000" i="1" spc="385" dirty="0">
                <a:latin typeface="Arial"/>
                <a:cs typeface="Arial"/>
              </a:rPr>
              <a:t> </a:t>
            </a:r>
            <a:r>
              <a:rPr sz="2000" i="1" spc="-50" dirty="0">
                <a:latin typeface="Arial"/>
                <a:cs typeface="Arial"/>
              </a:rPr>
              <a:t>с </a:t>
            </a:r>
            <a:r>
              <a:rPr sz="2000" i="1" dirty="0">
                <a:latin typeface="Arial"/>
                <a:cs typeface="Arial"/>
              </a:rPr>
              <a:t>целью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достижения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соответствия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продукции</a:t>
            </a:r>
            <a:r>
              <a:rPr sz="2000" i="1" spc="-5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и</a:t>
            </a:r>
            <a:r>
              <a:rPr sz="2000" i="1" spc="-4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услуг.</a:t>
            </a:r>
            <a:endParaRPr sz="2000">
              <a:latin typeface="Arial"/>
              <a:cs typeface="Arial"/>
            </a:endParaRPr>
          </a:p>
          <a:p>
            <a:pPr marL="193040">
              <a:lnSpc>
                <a:spcPts val="2315"/>
              </a:lnSpc>
              <a:spcBef>
                <a:spcPts val="2060"/>
              </a:spcBef>
            </a:pPr>
            <a:r>
              <a:rPr sz="2000" i="1" spc="-10" dirty="0">
                <a:latin typeface="Arial"/>
                <a:cs typeface="Arial"/>
              </a:rPr>
              <a:t>Примечание</a:t>
            </a:r>
            <a:r>
              <a:rPr sz="2000" i="1" spc="-8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-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Инфраструктура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может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включать:</a:t>
            </a:r>
            <a:endParaRPr sz="2000">
              <a:latin typeface="Arial"/>
              <a:cs typeface="Arial"/>
            </a:endParaRPr>
          </a:p>
          <a:p>
            <a:pPr marL="488315" indent="-295275">
              <a:lnSpc>
                <a:spcPts val="2230"/>
              </a:lnSpc>
              <a:buAutoNum type="alphaLcParenR"/>
              <a:tabLst>
                <a:tab pos="488315" algn="l"/>
              </a:tabLst>
            </a:pPr>
            <a:r>
              <a:rPr sz="2000" i="1" dirty="0">
                <a:latin typeface="Arial"/>
                <a:cs typeface="Arial"/>
              </a:rPr>
              <a:t>здания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и</a:t>
            </a:r>
            <a:r>
              <a:rPr sz="2000" i="1" spc="-3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связанные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с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ними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инженерные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сети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и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системы;</a:t>
            </a:r>
            <a:endParaRPr sz="2000">
              <a:latin typeface="Arial"/>
              <a:cs typeface="Arial"/>
            </a:endParaRPr>
          </a:p>
          <a:p>
            <a:pPr marL="488315" indent="-295275">
              <a:lnSpc>
                <a:spcPts val="2230"/>
              </a:lnSpc>
              <a:buFont typeface="Arial"/>
              <a:buAutoNum type="alphaLcParenR"/>
              <a:tabLst>
                <a:tab pos="488315" algn="l"/>
              </a:tabLst>
            </a:pPr>
            <a:r>
              <a:rPr sz="2000" b="1" i="1" spc="-10" dirty="0">
                <a:latin typeface="Arial"/>
                <a:cs typeface="Arial"/>
              </a:rPr>
              <a:t>оборудование</a:t>
            </a:r>
            <a:r>
              <a:rPr sz="2000" i="1" spc="-10" dirty="0">
                <a:latin typeface="Arial"/>
                <a:cs typeface="Arial"/>
              </a:rPr>
              <a:t>,</a:t>
            </a:r>
            <a:r>
              <a:rPr sz="2000" i="1" spc="-8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включая</a:t>
            </a:r>
            <a:r>
              <a:rPr sz="2000" i="1" spc="-8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технические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и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программные</a:t>
            </a:r>
            <a:r>
              <a:rPr sz="2000" i="1" spc="-75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средства;</a:t>
            </a:r>
            <a:endParaRPr sz="2000">
              <a:latin typeface="Arial"/>
              <a:cs typeface="Arial"/>
            </a:endParaRPr>
          </a:p>
          <a:p>
            <a:pPr marL="474345" indent="-281305">
              <a:lnSpc>
                <a:spcPts val="2235"/>
              </a:lnSpc>
              <a:buAutoNum type="alphaLcParenR"/>
              <a:tabLst>
                <a:tab pos="474345" algn="l"/>
              </a:tabLst>
            </a:pPr>
            <a:r>
              <a:rPr sz="2000" i="1" dirty="0">
                <a:latin typeface="Arial"/>
                <a:cs typeface="Arial"/>
              </a:rPr>
              <a:t>транспортные</a:t>
            </a:r>
            <a:r>
              <a:rPr sz="2000" i="1" spc="-50" dirty="0">
                <a:latin typeface="Arial"/>
                <a:cs typeface="Arial"/>
              </a:rPr>
              <a:t> </a:t>
            </a:r>
            <a:r>
              <a:rPr sz="2000" i="1" spc="-10" dirty="0">
                <a:latin typeface="Arial"/>
                <a:cs typeface="Arial"/>
              </a:rPr>
              <a:t>ресурсы;</a:t>
            </a:r>
            <a:endParaRPr sz="2000">
              <a:latin typeface="Arial"/>
              <a:cs typeface="Arial"/>
            </a:endParaRPr>
          </a:p>
          <a:p>
            <a:pPr marL="488315" indent="-295275">
              <a:lnSpc>
                <a:spcPts val="2320"/>
              </a:lnSpc>
              <a:buFont typeface="Arial"/>
              <a:buAutoNum type="alphaLcParenR"/>
              <a:tabLst>
                <a:tab pos="488315" algn="l"/>
              </a:tabLst>
            </a:pPr>
            <a:r>
              <a:rPr sz="2000" b="1" i="1" spc="-10" dirty="0">
                <a:latin typeface="Arial"/>
                <a:cs typeface="Arial"/>
              </a:rPr>
              <a:t>информационные</a:t>
            </a:r>
            <a:r>
              <a:rPr sz="2000" b="1" i="1" spc="-6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и</a:t>
            </a:r>
            <a:r>
              <a:rPr sz="2000" b="1" i="1" spc="-55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коммуникационные</a:t>
            </a:r>
            <a:r>
              <a:rPr sz="2000" b="1" i="1" spc="-60" dirty="0">
                <a:latin typeface="Arial"/>
                <a:cs typeface="Arial"/>
              </a:rPr>
              <a:t> </a:t>
            </a:r>
            <a:r>
              <a:rPr sz="2000" b="1" i="1" dirty="0">
                <a:latin typeface="Arial"/>
                <a:cs typeface="Arial"/>
              </a:rPr>
              <a:t>технологии</a:t>
            </a:r>
            <a:r>
              <a:rPr sz="2000" i="1" dirty="0">
                <a:latin typeface="Arial"/>
                <a:cs typeface="Arial"/>
              </a:rPr>
              <a:t>.</a:t>
            </a:r>
            <a:r>
              <a:rPr sz="2000" i="1" spc="-70" dirty="0">
                <a:latin typeface="Arial"/>
                <a:cs typeface="Arial"/>
              </a:rPr>
              <a:t> </a:t>
            </a:r>
            <a:r>
              <a:rPr sz="2000" i="1" spc="-25" dirty="0">
                <a:latin typeface="Arial"/>
                <a:cs typeface="Arial"/>
              </a:rPr>
              <a:t>...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753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Технология</a:t>
            </a:r>
            <a:r>
              <a:rPr spc="-150" dirty="0"/>
              <a:t> </a:t>
            </a:r>
            <a:r>
              <a:rPr spc="-10" dirty="0"/>
              <a:t>виртуализации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333" y="2448751"/>
            <a:ext cx="4296250" cy="362290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5691246" y="3705849"/>
            <a:ext cx="708025" cy="1165225"/>
            <a:chOff x="5691246" y="3705849"/>
            <a:chExt cx="708025" cy="1165225"/>
          </a:xfrm>
        </p:grpSpPr>
        <p:sp>
          <p:nvSpPr>
            <p:cNvPr id="5" name="object 5"/>
            <p:cNvSpPr/>
            <p:nvPr/>
          </p:nvSpPr>
          <p:spPr>
            <a:xfrm>
              <a:off x="5702045" y="3716649"/>
              <a:ext cx="686435" cy="1143635"/>
            </a:xfrm>
            <a:custGeom>
              <a:avLst/>
              <a:gdLst/>
              <a:ahLst/>
              <a:cxnLst/>
              <a:rect l="l" t="t" r="r" b="b"/>
              <a:pathLst>
                <a:path w="686435" h="1143635">
                  <a:moveTo>
                    <a:pt x="413270" y="0"/>
                  </a:moveTo>
                  <a:lnTo>
                    <a:pt x="413270" y="319671"/>
                  </a:lnTo>
                  <a:lnTo>
                    <a:pt x="0" y="319671"/>
                  </a:lnTo>
                  <a:lnTo>
                    <a:pt x="0" y="823315"/>
                  </a:lnTo>
                  <a:lnTo>
                    <a:pt x="413270" y="823315"/>
                  </a:lnTo>
                  <a:lnTo>
                    <a:pt x="413270" y="1143355"/>
                  </a:lnTo>
                  <a:lnTo>
                    <a:pt x="686155" y="571677"/>
                  </a:lnTo>
                  <a:lnTo>
                    <a:pt x="41327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02045" y="3716649"/>
              <a:ext cx="686435" cy="1143635"/>
            </a:xfrm>
            <a:custGeom>
              <a:avLst/>
              <a:gdLst/>
              <a:ahLst/>
              <a:cxnLst/>
              <a:rect l="l" t="t" r="r" b="b"/>
              <a:pathLst>
                <a:path w="686435" h="1143635">
                  <a:moveTo>
                    <a:pt x="0" y="319671"/>
                  </a:moveTo>
                  <a:lnTo>
                    <a:pt x="413270" y="319671"/>
                  </a:lnTo>
                  <a:lnTo>
                    <a:pt x="413270" y="0"/>
                  </a:lnTo>
                  <a:lnTo>
                    <a:pt x="686155" y="571677"/>
                  </a:lnTo>
                  <a:lnTo>
                    <a:pt x="413270" y="1143355"/>
                  </a:lnTo>
                  <a:lnTo>
                    <a:pt x="413270" y="823315"/>
                  </a:lnTo>
                  <a:lnTo>
                    <a:pt x="0" y="823315"/>
                  </a:lnTo>
                  <a:lnTo>
                    <a:pt x="0" y="319671"/>
                  </a:lnTo>
                  <a:close/>
                </a:path>
              </a:pathLst>
            </a:custGeom>
            <a:ln w="215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33640" y="3657251"/>
            <a:ext cx="1710359" cy="13716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17855" y="6056891"/>
            <a:ext cx="5753735" cy="128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5199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Названия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технологии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виртуализации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на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процессорах: </a:t>
            </a:r>
            <a:r>
              <a:rPr sz="1800" dirty="0">
                <a:latin typeface="Arial"/>
                <a:cs typeface="Arial"/>
              </a:rPr>
              <a:t>AMD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—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AMD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Virtualization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(AMD-V);</a:t>
            </a:r>
            <a:endParaRPr sz="1800">
              <a:latin typeface="Arial"/>
              <a:cs typeface="Arial"/>
            </a:endParaRPr>
          </a:p>
          <a:p>
            <a:pPr marL="12700" marR="1367790">
              <a:lnSpc>
                <a:spcPct val="114799"/>
              </a:lnSpc>
            </a:pPr>
            <a:r>
              <a:rPr sz="1800" dirty="0">
                <a:latin typeface="Arial"/>
                <a:cs typeface="Arial"/>
              </a:rPr>
              <a:t>Intel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—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Intel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Virtualization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Technology</a:t>
            </a:r>
            <a:r>
              <a:rPr sz="1800" spc="-10" dirty="0">
                <a:latin typeface="Arial"/>
                <a:cs typeface="Arial"/>
              </a:rPr>
              <a:t> (VT); </a:t>
            </a:r>
            <a:r>
              <a:rPr sz="1800" dirty="0">
                <a:latin typeface="Arial"/>
                <a:cs typeface="Arial"/>
              </a:rPr>
              <a:t>Arm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—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AArch64.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73820" y="3589103"/>
            <a:ext cx="512635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>
                <a:solidFill>
                  <a:srgbClr val="000000"/>
                </a:solidFill>
              </a:rPr>
              <a:t>Технология</a:t>
            </a:r>
            <a:r>
              <a:rPr spc="-15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виртуализации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753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Технология</a:t>
            </a:r>
            <a:r>
              <a:rPr spc="-150" dirty="0"/>
              <a:t> </a:t>
            </a:r>
            <a:r>
              <a:rPr spc="-10" dirty="0"/>
              <a:t>виртуализации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37" y="1487225"/>
            <a:ext cx="9617710" cy="211582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indent="178435" algn="just">
              <a:lnSpc>
                <a:spcPct val="117300"/>
              </a:lnSpc>
              <a:spcBef>
                <a:spcPts val="85"/>
              </a:spcBef>
            </a:pPr>
            <a:r>
              <a:rPr sz="1950" dirty="0">
                <a:latin typeface="Arial"/>
                <a:cs typeface="Arial"/>
              </a:rPr>
              <a:t>Технология</a:t>
            </a:r>
            <a:r>
              <a:rPr sz="1950" spc="150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виртуализации</a:t>
            </a:r>
            <a:r>
              <a:rPr sz="1950" spc="155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-</a:t>
            </a:r>
            <a:r>
              <a:rPr sz="1950" spc="145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это</a:t>
            </a:r>
            <a:r>
              <a:rPr sz="1950" spc="150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разделение</a:t>
            </a:r>
            <a:r>
              <a:rPr sz="1950" spc="155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аппаратных</a:t>
            </a:r>
            <a:r>
              <a:rPr sz="1950" spc="150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ресурсов</a:t>
            </a:r>
            <a:r>
              <a:rPr sz="1950" spc="150" dirty="0">
                <a:latin typeface="Arial"/>
                <a:cs typeface="Arial"/>
              </a:rPr>
              <a:t>  </a:t>
            </a:r>
            <a:r>
              <a:rPr sz="1950" spc="-10" dirty="0">
                <a:latin typeface="Arial"/>
                <a:cs typeface="Arial"/>
              </a:rPr>
              <a:t>одного </a:t>
            </a:r>
            <a:r>
              <a:rPr sz="1950" dirty="0">
                <a:latin typeface="Arial"/>
                <a:cs typeface="Arial"/>
              </a:rPr>
              <a:t>сервера</a:t>
            </a:r>
            <a:r>
              <a:rPr sz="1950" spc="235" dirty="0">
                <a:latin typeface="Arial"/>
                <a:cs typeface="Arial"/>
              </a:rPr>
              <a:t>   </a:t>
            </a:r>
            <a:r>
              <a:rPr sz="1950" dirty="0">
                <a:latin typeface="Arial"/>
                <a:cs typeface="Arial"/>
              </a:rPr>
              <a:t>между</a:t>
            </a:r>
            <a:r>
              <a:rPr sz="1950" spc="235" dirty="0">
                <a:latin typeface="Arial"/>
                <a:cs typeface="Arial"/>
              </a:rPr>
              <a:t>   </a:t>
            </a:r>
            <a:r>
              <a:rPr sz="1950" dirty="0">
                <a:latin typeface="Arial"/>
                <a:cs typeface="Arial"/>
              </a:rPr>
              <a:t>большим</a:t>
            </a:r>
            <a:r>
              <a:rPr sz="1950" spc="235" dirty="0">
                <a:latin typeface="Arial"/>
                <a:cs typeface="Arial"/>
              </a:rPr>
              <a:t>   </a:t>
            </a:r>
            <a:r>
              <a:rPr sz="1950" dirty="0">
                <a:latin typeface="Arial"/>
                <a:cs typeface="Arial"/>
              </a:rPr>
              <a:t>числом</a:t>
            </a:r>
            <a:r>
              <a:rPr sz="1950" spc="235" dirty="0">
                <a:latin typeface="Arial"/>
                <a:cs typeface="Arial"/>
              </a:rPr>
              <a:t>   </a:t>
            </a:r>
            <a:r>
              <a:rPr sz="1950" dirty="0">
                <a:latin typeface="Arial"/>
                <a:cs typeface="Arial"/>
              </a:rPr>
              <a:t>виртуальных</a:t>
            </a:r>
            <a:r>
              <a:rPr sz="1950" spc="240" dirty="0">
                <a:latin typeface="Arial"/>
                <a:cs typeface="Arial"/>
              </a:rPr>
              <a:t>   </a:t>
            </a:r>
            <a:r>
              <a:rPr sz="1950" dirty="0">
                <a:latin typeface="Arial"/>
                <a:cs typeface="Arial"/>
              </a:rPr>
              <a:t>машин</a:t>
            </a:r>
            <a:r>
              <a:rPr sz="1950" spc="240" dirty="0">
                <a:latin typeface="Arial"/>
                <a:cs typeface="Arial"/>
              </a:rPr>
              <a:t>   </a:t>
            </a:r>
            <a:r>
              <a:rPr sz="1950" dirty="0">
                <a:latin typeface="Arial"/>
                <a:cs typeface="Arial"/>
              </a:rPr>
              <a:t>(VPS-</a:t>
            </a:r>
            <a:r>
              <a:rPr sz="1950" spc="-10" dirty="0">
                <a:latin typeface="Arial"/>
                <a:cs typeface="Arial"/>
              </a:rPr>
              <a:t>серверов). </a:t>
            </a:r>
            <a:r>
              <a:rPr sz="1950" dirty="0">
                <a:latin typeface="Arial"/>
                <a:cs typeface="Arial"/>
              </a:rPr>
              <a:t>Используя</a:t>
            </a:r>
            <a:r>
              <a:rPr sz="1950" spc="210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виртуализацию,</a:t>
            </a:r>
            <a:r>
              <a:rPr sz="1950" spc="210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можно</a:t>
            </a:r>
            <a:r>
              <a:rPr sz="1950" spc="204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“разделить”</a:t>
            </a:r>
            <a:r>
              <a:rPr sz="1950" spc="215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один</a:t>
            </a:r>
            <a:r>
              <a:rPr sz="1950" spc="215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физический</a:t>
            </a:r>
            <a:r>
              <a:rPr sz="1950" spc="215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сервер</a:t>
            </a:r>
            <a:r>
              <a:rPr sz="1950" spc="210" dirty="0">
                <a:latin typeface="Arial"/>
                <a:cs typeface="Arial"/>
              </a:rPr>
              <a:t>  </a:t>
            </a:r>
            <a:r>
              <a:rPr sz="1950" spc="-25" dirty="0">
                <a:latin typeface="Arial"/>
                <a:cs typeface="Arial"/>
              </a:rPr>
              <a:t>на </a:t>
            </a:r>
            <a:r>
              <a:rPr sz="1950" dirty="0">
                <a:latin typeface="Arial"/>
                <a:cs typeface="Arial"/>
              </a:rPr>
              <a:t>несколько</a:t>
            </a:r>
            <a:r>
              <a:rPr sz="1950" spc="220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виртуальных,</a:t>
            </a:r>
            <a:r>
              <a:rPr sz="1950" spc="220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которые</a:t>
            </a:r>
            <a:r>
              <a:rPr sz="1950" spc="220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могут</a:t>
            </a:r>
            <a:r>
              <a:rPr sz="1950" spc="220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иметь</a:t>
            </a:r>
            <a:r>
              <a:rPr sz="1950" spc="225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разный</a:t>
            </a:r>
            <a:r>
              <a:rPr sz="1950" spc="220" dirty="0">
                <a:latin typeface="Arial"/>
                <a:cs typeface="Arial"/>
              </a:rPr>
              <a:t>  </a:t>
            </a:r>
            <a:r>
              <a:rPr sz="1950" dirty="0">
                <a:latin typeface="Arial"/>
                <a:cs typeface="Arial"/>
              </a:rPr>
              <a:t>набор</a:t>
            </a:r>
            <a:r>
              <a:rPr sz="1950" spc="220" dirty="0">
                <a:latin typeface="Arial"/>
                <a:cs typeface="Arial"/>
              </a:rPr>
              <a:t>  </a:t>
            </a:r>
            <a:r>
              <a:rPr sz="1950" spc="-10" dirty="0">
                <a:latin typeface="Arial"/>
                <a:cs typeface="Arial"/>
              </a:rPr>
              <a:t>программного </a:t>
            </a:r>
            <a:r>
              <a:rPr sz="1950" dirty="0">
                <a:latin typeface="Arial"/>
                <a:cs typeface="Arial"/>
              </a:rPr>
              <a:t>обеспечения</a:t>
            </a:r>
            <a:r>
              <a:rPr sz="1950" spc="13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и</a:t>
            </a:r>
            <a:r>
              <a:rPr sz="1950" spc="13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операционных</a:t>
            </a:r>
            <a:r>
              <a:rPr sz="1950" spc="12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систем,</a:t>
            </a:r>
            <a:r>
              <a:rPr sz="1950" spc="13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а</a:t>
            </a:r>
            <a:r>
              <a:rPr sz="1950" spc="13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также</a:t>
            </a:r>
            <a:r>
              <a:rPr sz="1950" spc="12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разделены</a:t>
            </a:r>
            <a:r>
              <a:rPr sz="1950" spc="13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и</a:t>
            </a:r>
            <a:r>
              <a:rPr sz="1950" spc="14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изолированы</a:t>
            </a:r>
            <a:r>
              <a:rPr sz="1950" spc="13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друг</a:t>
            </a:r>
            <a:r>
              <a:rPr sz="1950" spc="135" dirty="0">
                <a:latin typeface="Arial"/>
                <a:cs typeface="Arial"/>
              </a:rPr>
              <a:t> </a:t>
            </a:r>
            <a:r>
              <a:rPr sz="1950" spc="-25" dirty="0">
                <a:latin typeface="Arial"/>
                <a:cs typeface="Arial"/>
              </a:rPr>
              <a:t>от </a:t>
            </a:r>
            <a:r>
              <a:rPr sz="1950" spc="-10" dirty="0">
                <a:latin typeface="Arial"/>
                <a:cs typeface="Arial"/>
              </a:rPr>
              <a:t>друга.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6000" y="3428651"/>
            <a:ext cx="5829477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753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Технология</a:t>
            </a:r>
            <a:r>
              <a:rPr spc="-150" dirty="0"/>
              <a:t> </a:t>
            </a:r>
            <a:r>
              <a:rPr spc="-10" dirty="0"/>
              <a:t>виртуализации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7855" y="1531716"/>
            <a:ext cx="4535805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dirty="0">
                <a:latin typeface="Arial"/>
                <a:cs typeface="Arial"/>
              </a:rPr>
              <a:t>Использование</a:t>
            </a:r>
            <a:r>
              <a:rPr sz="1950" spc="8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в</a:t>
            </a:r>
            <a:r>
              <a:rPr sz="1950" spc="9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домашних</a:t>
            </a:r>
            <a:r>
              <a:rPr sz="1950" spc="9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условиях: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9368" y="1927435"/>
            <a:ext cx="6705152" cy="54288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753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Технология</a:t>
            </a:r>
            <a:r>
              <a:rPr spc="-150" dirty="0"/>
              <a:t> </a:t>
            </a:r>
            <a:r>
              <a:rPr spc="-10" dirty="0"/>
              <a:t>виртуализации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7855" y="1531716"/>
            <a:ext cx="312420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dirty="0">
                <a:latin typeface="Arial"/>
                <a:cs typeface="Arial"/>
              </a:rPr>
              <a:t>Использование</a:t>
            </a:r>
            <a:r>
              <a:rPr sz="1950" spc="5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в</a:t>
            </a:r>
            <a:r>
              <a:rPr sz="1950" spc="6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бизнесе: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1092" y="2075638"/>
            <a:ext cx="5857484" cy="52573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753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Технология</a:t>
            </a:r>
            <a:r>
              <a:rPr spc="-150" dirty="0"/>
              <a:t> </a:t>
            </a:r>
            <a:r>
              <a:rPr spc="-10" dirty="0"/>
              <a:t>виртуализации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37" y="1700181"/>
            <a:ext cx="9618345" cy="538797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91135" algn="just">
              <a:lnSpc>
                <a:spcPct val="100000"/>
              </a:lnSpc>
              <a:spcBef>
                <a:spcPts val="430"/>
              </a:spcBef>
            </a:pPr>
            <a:r>
              <a:rPr sz="1800" spc="-20" dirty="0">
                <a:latin typeface="Arial"/>
                <a:cs typeface="Arial"/>
              </a:rPr>
              <a:t>Технология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виртуализации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используют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для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следующих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целей:</a:t>
            </a:r>
            <a:endParaRPr sz="1800">
              <a:latin typeface="Arial"/>
              <a:cs typeface="Arial"/>
            </a:endParaRPr>
          </a:p>
          <a:p>
            <a:pPr marL="12700" marR="5080" indent="440055" algn="just">
              <a:lnSpc>
                <a:spcPct val="114999"/>
              </a:lnSpc>
              <a:spcBef>
                <a:spcPts val="10"/>
              </a:spcBef>
              <a:buAutoNum type="arabicPeriod"/>
              <a:tabLst>
                <a:tab pos="452755" algn="l"/>
              </a:tabLst>
            </a:pPr>
            <a:r>
              <a:rPr sz="1800" b="1" dirty="0">
                <a:latin typeface="Arial"/>
                <a:cs typeface="Arial"/>
              </a:rPr>
              <a:t>Финансовые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ресурсы.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Для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реализации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нескольких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отдельных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проектов</a:t>
            </a:r>
            <a:r>
              <a:rPr sz="1800" spc="-10" dirty="0">
                <a:latin typeface="Arial"/>
                <a:cs typeface="Arial"/>
              </a:rPr>
              <a:t> достаточно </a:t>
            </a:r>
            <a:r>
              <a:rPr sz="1800" dirty="0">
                <a:latin typeface="Arial"/>
                <a:cs typeface="Arial"/>
              </a:rPr>
              <a:t>купить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только</a:t>
            </a:r>
            <a:r>
              <a:rPr sz="1800" spc="1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один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физический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сервер</a:t>
            </a:r>
            <a:r>
              <a:rPr sz="1800" spc="1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на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нем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помощью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виртуализации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развернуть </a:t>
            </a:r>
            <a:r>
              <a:rPr sz="1800" dirty="0">
                <a:latin typeface="Arial"/>
                <a:cs typeface="Arial"/>
              </a:rPr>
              <a:t>несколько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контейнеров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нужными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ресурсами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набором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ПО.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тому</a:t>
            </a:r>
            <a:r>
              <a:rPr sz="1800" spc="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же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парк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серверов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и </a:t>
            </a:r>
            <a:r>
              <a:rPr sz="1800" dirty="0">
                <a:latin typeface="Arial"/>
                <a:cs typeface="Arial"/>
              </a:rPr>
              <a:t>количество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администраторов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сводятся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минимуму.</a:t>
            </a:r>
            <a:endParaRPr sz="1800">
              <a:latin typeface="Arial"/>
              <a:cs typeface="Arial"/>
            </a:endParaRPr>
          </a:p>
          <a:p>
            <a:pPr marL="12700" marR="6350" indent="465455" algn="just">
              <a:lnSpc>
                <a:spcPct val="114799"/>
              </a:lnSpc>
              <a:buAutoNum type="arabicPeriod"/>
              <a:tabLst>
                <a:tab pos="478155" algn="l"/>
              </a:tabLst>
            </a:pPr>
            <a:r>
              <a:rPr sz="1800" b="1" dirty="0">
                <a:latin typeface="Arial"/>
                <a:cs typeface="Arial"/>
              </a:rPr>
              <a:t>Безопасность.</a:t>
            </a:r>
            <a:r>
              <a:rPr sz="1800" b="1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Виртуализация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полностью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изолирует</a:t>
            </a:r>
            <a:r>
              <a:rPr sz="1800" spc="1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виртуальные</a:t>
            </a:r>
            <a:r>
              <a:rPr sz="1800" spc="1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машины</a:t>
            </a:r>
            <a:r>
              <a:rPr sz="1800" spc="1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друг</a:t>
            </a:r>
            <a:r>
              <a:rPr sz="1800" spc="15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от </a:t>
            </a:r>
            <a:r>
              <a:rPr sz="1800" dirty="0">
                <a:latin typeface="Arial"/>
                <a:cs typeface="Arial"/>
              </a:rPr>
              <a:t>друга.</a:t>
            </a:r>
            <a:r>
              <a:rPr sz="1800" spc="4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ПО,</a:t>
            </a:r>
            <a:r>
              <a:rPr sz="1800" spc="4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установленное</a:t>
            </a:r>
            <a:r>
              <a:rPr sz="1800" spc="45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на</a:t>
            </a:r>
            <a:r>
              <a:rPr sz="1800" spc="45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одном</a:t>
            </a:r>
            <a:r>
              <a:rPr sz="1800" spc="45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сервере,</a:t>
            </a:r>
            <a:r>
              <a:rPr sz="1800" spc="4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никак</a:t>
            </a:r>
            <a:r>
              <a:rPr sz="1800" spc="4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не</a:t>
            </a:r>
            <a:r>
              <a:rPr sz="1800" spc="45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“пересекается”</a:t>
            </a:r>
            <a:r>
              <a:rPr sz="1800" spc="45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</a:t>
            </a:r>
            <a:r>
              <a:rPr sz="1800" spc="4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ПО</a:t>
            </a:r>
            <a:r>
              <a:rPr sz="1800" spc="47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другого</a:t>
            </a:r>
            <a:endParaRPr sz="18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325"/>
              </a:spcBef>
            </a:pPr>
            <a:r>
              <a:rPr sz="1800" spc="-10" dirty="0">
                <a:latin typeface="Arial"/>
                <a:cs typeface="Arial"/>
              </a:rPr>
              <a:t>виртуального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сервера.</a:t>
            </a:r>
            <a:endParaRPr sz="1800">
              <a:latin typeface="Arial"/>
              <a:cs typeface="Arial"/>
            </a:endParaRPr>
          </a:p>
          <a:p>
            <a:pPr marL="12700" marR="6350" indent="452755" algn="just">
              <a:lnSpc>
                <a:spcPct val="114799"/>
              </a:lnSpc>
              <a:spcBef>
                <a:spcPts val="5"/>
              </a:spcBef>
              <a:buAutoNum type="arabicPeriod" startAt="3"/>
              <a:tabLst>
                <a:tab pos="465455" algn="l"/>
              </a:tabLst>
            </a:pPr>
            <a:r>
              <a:rPr sz="1800" b="1" dirty="0">
                <a:latin typeface="Arial"/>
                <a:cs typeface="Arial"/>
              </a:rPr>
              <a:t>Универсальность.</a:t>
            </a:r>
            <a:r>
              <a:rPr sz="1800" b="1" spc="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Виртуальные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машины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проще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“перенести”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на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другой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физический </a:t>
            </a:r>
            <a:r>
              <a:rPr sz="1800" dirty="0">
                <a:latin typeface="Arial"/>
                <a:cs typeface="Arial"/>
              </a:rPr>
              <a:t>сервер,</a:t>
            </a:r>
            <a:r>
              <a:rPr sz="1800" spc="8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чем</a:t>
            </a:r>
            <a:r>
              <a:rPr sz="1800" spc="8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менять</a:t>
            </a:r>
            <a:r>
              <a:rPr sz="1800" spc="8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на</a:t>
            </a:r>
            <a:r>
              <a:rPr sz="1800" spc="8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нем</a:t>
            </a:r>
            <a:r>
              <a:rPr sz="1800" spc="8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оборудование.</a:t>
            </a:r>
            <a:r>
              <a:rPr sz="1800" spc="8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Это</a:t>
            </a:r>
            <a:r>
              <a:rPr sz="1800" spc="7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относится</a:t>
            </a:r>
            <a:r>
              <a:rPr sz="1800" spc="8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8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к</a:t>
            </a:r>
            <a:r>
              <a:rPr sz="1800" spc="8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резервным</a:t>
            </a:r>
            <a:r>
              <a:rPr sz="1800" spc="85" dirty="0">
                <a:latin typeface="Arial"/>
                <a:cs typeface="Arial"/>
              </a:rPr>
              <a:t>  </a:t>
            </a:r>
            <a:r>
              <a:rPr sz="1800" spc="-10" dirty="0">
                <a:latin typeface="Arial"/>
                <a:cs typeface="Arial"/>
              </a:rPr>
              <a:t>копиям.</a:t>
            </a:r>
            <a:endParaRPr sz="1800">
              <a:latin typeface="Arial"/>
              <a:cs typeface="Arial"/>
            </a:endParaRPr>
          </a:p>
          <a:p>
            <a:pPr marL="12700" marR="5715" algn="just">
              <a:lnSpc>
                <a:spcPct val="114799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Настроить</a:t>
            </a:r>
            <a:r>
              <a:rPr sz="1800" spc="13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копирование</a:t>
            </a:r>
            <a:r>
              <a:rPr sz="1800" spc="14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14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развертывание</a:t>
            </a:r>
            <a:r>
              <a:rPr sz="1800" spc="13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виртуальных</a:t>
            </a:r>
            <a:r>
              <a:rPr sz="1800" spc="14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машин</a:t>
            </a:r>
            <a:r>
              <a:rPr sz="1800" spc="14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на</a:t>
            </a:r>
            <a:r>
              <a:rPr sz="1800" spc="13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другом</a:t>
            </a:r>
            <a:r>
              <a:rPr sz="1800" spc="140" dirty="0">
                <a:latin typeface="Arial"/>
                <a:cs typeface="Arial"/>
              </a:rPr>
              <a:t>  </a:t>
            </a:r>
            <a:r>
              <a:rPr sz="1800" spc="-10" dirty="0">
                <a:latin typeface="Arial"/>
                <a:cs typeface="Arial"/>
              </a:rPr>
              <a:t>“железе” </a:t>
            </a:r>
            <a:r>
              <a:rPr sz="1800" dirty="0">
                <a:latin typeface="Arial"/>
                <a:cs typeface="Arial"/>
              </a:rPr>
              <a:t>удобнее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быстрее.</a:t>
            </a:r>
            <a:endParaRPr sz="1800">
              <a:latin typeface="Arial"/>
              <a:cs typeface="Arial"/>
            </a:endParaRPr>
          </a:p>
          <a:p>
            <a:pPr marL="475615" indent="-284480" algn="just">
              <a:lnSpc>
                <a:spcPct val="100000"/>
              </a:lnSpc>
              <a:spcBef>
                <a:spcPts val="320"/>
              </a:spcBef>
              <a:buAutoNum type="arabicPeriod" startAt="4"/>
              <a:tabLst>
                <a:tab pos="475615" algn="l"/>
              </a:tabLst>
            </a:pPr>
            <a:r>
              <a:rPr sz="1800" b="1" dirty="0">
                <a:latin typeface="Arial"/>
                <a:cs typeface="Arial"/>
              </a:rPr>
              <a:t>Гибкость.</a:t>
            </a:r>
            <a:r>
              <a:rPr sz="1800" b="1" spc="1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любой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момент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вы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можете</a:t>
            </a:r>
            <a:r>
              <a:rPr sz="1800" spc="1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урезать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или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увеличить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любые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выделяемые</a:t>
            </a:r>
            <a:endParaRPr sz="1800">
              <a:latin typeface="Arial"/>
              <a:cs typeface="Arial"/>
            </a:endParaRPr>
          </a:p>
          <a:p>
            <a:pPr marL="12700" marR="6350" algn="just">
              <a:lnSpc>
                <a:spcPct val="114799"/>
              </a:lnSpc>
              <a:spcBef>
                <a:spcPts val="15"/>
              </a:spcBef>
            </a:pPr>
            <a:r>
              <a:rPr sz="1800" dirty="0">
                <a:latin typeface="Arial"/>
                <a:cs typeface="Arial"/>
              </a:rPr>
              <a:t>ресурсы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(CPU,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RAM,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дисковое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пространство)</a:t>
            </a:r>
            <a:r>
              <a:rPr sz="1800" spc="12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для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вашего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виртуального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сервера.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Также </a:t>
            </a:r>
            <a:r>
              <a:rPr sz="1800" dirty="0">
                <a:latin typeface="Arial"/>
                <a:cs typeface="Arial"/>
              </a:rPr>
              <a:t>вы</a:t>
            </a:r>
            <a:r>
              <a:rPr sz="1800" spc="2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можете</a:t>
            </a:r>
            <a:r>
              <a:rPr sz="1800" spc="1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легко</a:t>
            </a:r>
            <a:r>
              <a:rPr sz="1800" spc="2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2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быстро</a:t>
            </a:r>
            <a:r>
              <a:rPr sz="1800" spc="2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удалить/создать</a:t>
            </a:r>
            <a:r>
              <a:rPr sz="1800" spc="2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новый</a:t>
            </a:r>
            <a:r>
              <a:rPr sz="1800" spc="2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сервер</a:t>
            </a:r>
            <a:r>
              <a:rPr sz="1800" spc="1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или</a:t>
            </a:r>
            <a:r>
              <a:rPr sz="1800" spc="3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выключить</a:t>
            </a:r>
            <a:r>
              <a:rPr sz="1800" spc="20" dirty="0">
                <a:latin typeface="Arial"/>
                <a:cs typeface="Arial"/>
              </a:rPr>
              <a:t>  </a:t>
            </a:r>
            <a:r>
              <a:rPr sz="1800" spc="-10" dirty="0">
                <a:latin typeface="Arial"/>
                <a:cs typeface="Arial"/>
              </a:rPr>
              <a:t>текущий. </a:t>
            </a:r>
            <a:r>
              <a:rPr sz="1800" dirty="0">
                <a:latin typeface="Arial"/>
                <a:cs typeface="Arial"/>
              </a:rPr>
              <a:t>Остальные</a:t>
            </a:r>
            <a:r>
              <a:rPr sz="1800" spc="5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виртуальные</a:t>
            </a:r>
            <a:r>
              <a:rPr sz="1800" spc="5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машины</a:t>
            </a:r>
            <a:r>
              <a:rPr sz="1800" spc="5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на</a:t>
            </a:r>
            <a:r>
              <a:rPr sz="1800" spc="5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физическом</a:t>
            </a:r>
            <a:r>
              <a:rPr sz="1800" spc="5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сервере</a:t>
            </a:r>
            <a:r>
              <a:rPr sz="1800" spc="5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при</a:t>
            </a:r>
            <a:r>
              <a:rPr sz="1800" spc="6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этом</a:t>
            </a:r>
            <a:r>
              <a:rPr sz="1800" spc="55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60" dirty="0">
                <a:latin typeface="Arial"/>
                <a:cs typeface="Arial"/>
              </a:rPr>
              <a:t>  </a:t>
            </a:r>
            <a:r>
              <a:rPr sz="1800" dirty="0">
                <a:latin typeface="Arial"/>
                <a:cs typeface="Arial"/>
              </a:rPr>
              <a:t>далее</a:t>
            </a:r>
            <a:r>
              <a:rPr sz="1800" spc="55" dirty="0">
                <a:latin typeface="Arial"/>
                <a:cs typeface="Arial"/>
              </a:rPr>
              <a:t>  </a:t>
            </a:r>
            <a:r>
              <a:rPr sz="1800" spc="-10" dirty="0">
                <a:latin typeface="Arial"/>
                <a:cs typeface="Arial"/>
              </a:rPr>
              <a:t>будут работать.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14498" y="3360503"/>
            <a:ext cx="5045075" cy="9690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41910">
              <a:lnSpc>
                <a:spcPts val="3590"/>
              </a:lnSpc>
              <a:spcBef>
                <a:spcPts val="425"/>
              </a:spcBef>
            </a:pPr>
            <a:r>
              <a:rPr sz="3200" dirty="0">
                <a:latin typeface="Arial"/>
                <a:cs typeface="Arial"/>
              </a:rPr>
              <a:t>Подходы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к</a:t>
            </a:r>
            <a:r>
              <a:rPr sz="3200" spc="-8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виртуализации </a:t>
            </a:r>
            <a:r>
              <a:rPr sz="3200" dirty="0">
                <a:latin typeface="Arial"/>
                <a:cs typeface="Arial"/>
              </a:rPr>
              <a:t>вычислительных</a:t>
            </a:r>
            <a:r>
              <a:rPr sz="3200" spc="-16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ресурсов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855" y="1563389"/>
            <a:ext cx="4876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4664" algn="l"/>
                <a:tab pos="2969895" algn="l"/>
              </a:tabLst>
            </a:pPr>
            <a:r>
              <a:rPr sz="1800" spc="-10" dirty="0">
                <a:latin typeface="Arial"/>
                <a:cs typeface="Arial"/>
              </a:rPr>
              <a:t>Виртуализация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позволяет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абстрагироваться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27832" y="1563389"/>
            <a:ext cx="4326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69570" algn="l"/>
                <a:tab pos="1758314" algn="l"/>
                <a:tab pos="2857500" algn="l"/>
                <a:tab pos="3114675" algn="l"/>
                <a:tab pos="4198620" algn="l"/>
              </a:tabLst>
            </a:pPr>
            <a:r>
              <a:rPr sz="1800" spc="-25" dirty="0">
                <a:latin typeface="Arial"/>
                <a:cs typeface="Arial"/>
              </a:rPr>
              <a:t>от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аппаратных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ресурсов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работать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0" dirty="0">
                <a:latin typeface="Arial"/>
                <a:cs typeface="Arial"/>
              </a:rPr>
              <a:t>с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8937" y="1837709"/>
            <a:ext cx="7777480" cy="191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799"/>
              </a:lnSpc>
              <a:spcBef>
                <a:spcPts val="100"/>
              </a:spcBef>
              <a:tabLst>
                <a:tab pos="746760" algn="l"/>
                <a:tab pos="1274445" algn="l"/>
                <a:tab pos="1584325" algn="l"/>
                <a:tab pos="2974340" algn="l"/>
                <a:tab pos="4218305" algn="l"/>
                <a:tab pos="5564505" algn="l"/>
                <a:tab pos="5888355" algn="l"/>
              </a:tabLst>
            </a:pPr>
            <a:r>
              <a:rPr sz="1800" spc="-20" dirty="0">
                <a:latin typeface="Arial"/>
                <a:cs typeface="Arial"/>
              </a:rPr>
              <a:t>ними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как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0" dirty="0">
                <a:latin typeface="Arial"/>
                <a:cs typeface="Arial"/>
              </a:rPr>
              <a:t>с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ресурсами,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разделяя,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объединяя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0" dirty="0">
                <a:latin typeface="Arial"/>
                <a:cs typeface="Arial"/>
              </a:rPr>
              <a:t>и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перераспределяя </a:t>
            </a:r>
            <a:r>
              <a:rPr sz="1800" spc="-10" dirty="0">
                <a:latin typeface="Arial"/>
                <a:cs typeface="Arial"/>
              </a:rPr>
              <a:t>усмотрению.</a:t>
            </a:r>
            <a:endParaRPr sz="18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Arial"/>
                <a:cs typeface="Arial"/>
              </a:rPr>
              <a:t>Существующие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подходы:</a:t>
            </a:r>
            <a:endParaRPr sz="1800">
              <a:latin typeface="Arial"/>
              <a:cs typeface="Arial"/>
            </a:endParaRPr>
          </a:p>
          <a:p>
            <a:pPr marL="445134" indent="-254000">
              <a:lnSpc>
                <a:spcPct val="100000"/>
              </a:lnSpc>
              <a:spcBef>
                <a:spcPts val="320"/>
              </a:spcBef>
              <a:buAutoNum type="arabicPeriod"/>
              <a:tabLst>
                <a:tab pos="445134" algn="l"/>
              </a:tabLst>
            </a:pPr>
            <a:r>
              <a:rPr sz="1800" b="1" spc="-10" dirty="0">
                <a:latin typeface="Arial"/>
                <a:cs typeface="Arial"/>
              </a:rPr>
              <a:t>Виртуализация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ресурсов.</a:t>
            </a:r>
            <a:endParaRPr sz="18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  <a:spcBef>
                <a:spcPts val="320"/>
              </a:spcBef>
            </a:pPr>
            <a:r>
              <a:rPr sz="1800" spc="-20" dirty="0">
                <a:latin typeface="Arial"/>
                <a:cs typeface="Arial"/>
              </a:rPr>
              <a:t>Разделение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единого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ресурса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на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некоторое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количество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меньших.</a:t>
            </a:r>
            <a:endParaRPr sz="1800">
              <a:latin typeface="Arial"/>
              <a:cs typeface="Arial"/>
            </a:endParaRPr>
          </a:p>
          <a:p>
            <a:pPr marL="445134" indent="-254000">
              <a:lnSpc>
                <a:spcPct val="100000"/>
              </a:lnSpc>
              <a:spcBef>
                <a:spcPts val="325"/>
              </a:spcBef>
              <a:buAutoNum type="arabicPeriod" startAt="2"/>
              <a:tabLst>
                <a:tab pos="445134" algn="l"/>
              </a:tabLst>
            </a:pPr>
            <a:r>
              <a:rPr sz="1800" b="1" dirty="0">
                <a:latin typeface="Arial"/>
                <a:cs typeface="Arial"/>
              </a:rPr>
              <a:t>Полная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(native,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с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англ.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родная)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виртуализация.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86911" y="1878388"/>
            <a:ext cx="166941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0215" algn="l"/>
                <a:tab pos="895985" algn="l"/>
              </a:tabLst>
            </a:pPr>
            <a:r>
              <a:rPr sz="1800" spc="-25" dirty="0">
                <a:latin typeface="Arial"/>
                <a:cs typeface="Arial"/>
              </a:rPr>
              <a:t>их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по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своему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937" y="3729870"/>
            <a:ext cx="7985759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8435">
              <a:lnSpc>
                <a:spcPct val="114799"/>
              </a:lnSpc>
              <a:spcBef>
                <a:spcPts val="100"/>
              </a:spcBef>
              <a:tabLst>
                <a:tab pos="1711960" algn="l"/>
                <a:tab pos="3336925" algn="l"/>
                <a:tab pos="3990340" algn="l"/>
                <a:tab pos="4721860" algn="l"/>
                <a:tab pos="6355715" algn="l"/>
                <a:tab pos="7337425" algn="l"/>
              </a:tabLst>
            </a:pPr>
            <a:r>
              <a:rPr sz="1800" spc="-10" dirty="0">
                <a:latin typeface="Arial"/>
                <a:cs typeface="Arial"/>
              </a:rPr>
              <a:t>Аппаратное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обеспечение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для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всех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виртуальных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машин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имеет </a:t>
            </a:r>
            <a:r>
              <a:rPr sz="1800" dirty="0">
                <a:latin typeface="Arial"/>
                <a:cs typeface="Arial"/>
              </a:rPr>
              <a:t>конфигурацию,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отличную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от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компьютера.</a:t>
            </a:r>
            <a:endParaRPr sz="1800">
              <a:latin typeface="Arial"/>
              <a:cs typeface="Arial"/>
            </a:endParaRPr>
          </a:p>
          <a:p>
            <a:pPr marL="445134" indent="-254000">
              <a:lnSpc>
                <a:spcPct val="100000"/>
              </a:lnSpc>
              <a:spcBef>
                <a:spcPts val="330"/>
              </a:spcBef>
              <a:buAutoNum type="arabicPeriod" startAt="3"/>
              <a:tabLst>
                <a:tab pos="445134" algn="l"/>
              </a:tabLst>
            </a:pPr>
            <a:r>
              <a:rPr sz="1800" b="1" spc="-10" dirty="0">
                <a:latin typeface="Arial"/>
                <a:cs typeface="Arial"/>
              </a:rPr>
              <a:t>Паравиртуализация.</a:t>
            </a:r>
            <a:endParaRPr sz="18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  <a:spcBef>
                <a:spcPts val="320"/>
              </a:spcBef>
            </a:pPr>
            <a:r>
              <a:rPr sz="1800" dirty="0">
                <a:latin typeface="Arial"/>
                <a:cs typeface="Arial"/>
              </a:rPr>
              <a:t>Аппаратное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обеспечение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соответствует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конфигурации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компьютера.</a:t>
            </a:r>
            <a:endParaRPr sz="1800">
              <a:latin typeface="Arial"/>
              <a:cs typeface="Arial"/>
            </a:endParaRPr>
          </a:p>
          <a:p>
            <a:pPr marL="445134" indent="-254000">
              <a:lnSpc>
                <a:spcPct val="100000"/>
              </a:lnSpc>
              <a:spcBef>
                <a:spcPts val="320"/>
              </a:spcBef>
              <a:buAutoNum type="arabicPeriod" startAt="4"/>
              <a:tabLst>
                <a:tab pos="445134" algn="l"/>
              </a:tabLst>
            </a:pPr>
            <a:r>
              <a:rPr sz="1800" b="1" spc="-10" dirty="0">
                <a:latin typeface="Arial"/>
                <a:cs typeface="Arial"/>
              </a:rPr>
              <a:t>Виртуализация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уровня</a:t>
            </a:r>
            <a:r>
              <a:rPr sz="1800" b="1" spc="-4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операционной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системы.</a:t>
            </a:r>
            <a:endParaRPr sz="18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  <a:spcBef>
                <a:spcPts val="330"/>
              </a:spcBef>
            </a:pPr>
            <a:r>
              <a:rPr sz="1800" dirty="0">
                <a:latin typeface="Arial"/>
                <a:cs typeface="Arial"/>
              </a:rPr>
              <a:t>Виртуальные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машины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работают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разных</a:t>
            </a:r>
            <a:r>
              <a:rPr sz="1800" spc="-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пространствах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имен.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60561" y="3770548"/>
            <a:ext cx="13944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</a:rPr>
              <a:t>стандартную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50654" y="3589103"/>
            <a:ext cx="475678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"/>
                <a:cs typeface="Arial"/>
              </a:rPr>
              <a:t>Виртуализация</a:t>
            </a:r>
            <a:r>
              <a:rPr sz="3200" spc="-12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ресурсов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937" y="1521632"/>
            <a:ext cx="9615170" cy="372872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1180"/>
              </a:spcBef>
            </a:pPr>
            <a:r>
              <a:rPr sz="1800" spc="-10" dirty="0">
                <a:latin typeface="Arial"/>
                <a:cs typeface="Arial"/>
              </a:rPr>
              <a:t>Виды:</a:t>
            </a:r>
            <a:endParaRPr sz="1800">
              <a:latin typeface="Arial"/>
              <a:cs typeface="Arial"/>
            </a:endParaRPr>
          </a:p>
          <a:p>
            <a:pPr marL="457200" indent="-266065">
              <a:lnSpc>
                <a:spcPct val="100000"/>
              </a:lnSpc>
              <a:spcBef>
                <a:spcPts val="1080"/>
              </a:spcBef>
              <a:buAutoNum type="arabicParenR"/>
              <a:tabLst>
                <a:tab pos="457200" algn="l"/>
              </a:tabLst>
            </a:pPr>
            <a:r>
              <a:rPr sz="1800" spc="-10" dirty="0">
                <a:latin typeface="Arial"/>
                <a:cs typeface="Arial"/>
              </a:rPr>
              <a:t>Объединение,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агрегация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концентрация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компонентов:</a:t>
            </a:r>
            <a:endParaRPr sz="18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  <a:spcBef>
                <a:spcPts val="1080"/>
              </a:spcBef>
            </a:pPr>
            <a:r>
              <a:rPr sz="1800" b="1" spc="-10" dirty="0">
                <a:latin typeface="Arial"/>
                <a:cs typeface="Arial"/>
              </a:rPr>
              <a:t>многопроцессорные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системы,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представляющиеся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как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одна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мощная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система;</a:t>
            </a:r>
            <a:endParaRPr sz="1800">
              <a:latin typeface="Arial"/>
              <a:cs typeface="Arial"/>
            </a:endParaRPr>
          </a:p>
          <a:p>
            <a:pPr marL="12700" marR="5080" indent="178435">
              <a:lnSpc>
                <a:spcPct val="150000"/>
              </a:lnSpc>
            </a:pPr>
            <a:r>
              <a:rPr sz="1800" dirty="0">
                <a:latin typeface="Arial"/>
                <a:cs typeface="Arial"/>
              </a:rPr>
              <a:t>Архитектуры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компьютеров</a:t>
            </a:r>
            <a:r>
              <a:rPr sz="1800" spc="22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можно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классифицировать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по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структуре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каналов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обработки </a:t>
            </a:r>
            <a:r>
              <a:rPr sz="1800" dirty="0">
                <a:latin typeface="Arial"/>
                <a:cs typeface="Arial"/>
              </a:rPr>
              <a:t>данных,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основываясь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на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понятии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потоков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данных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команд:</a:t>
            </a:r>
            <a:endParaRPr sz="1800">
              <a:latin typeface="Arial"/>
              <a:cs typeface="Arial"/>
            </a:endParaRPr>
          </a:p>
          <a:p>
            <a:pPr marL="381000" lvl="1" indent="-189865">
              <a:lnSpc>
                <a:spcPct val="100000"/>
              </a:lnSpc>
              <a:spcBef>
                <a:spcPts val="1080"/>
              </a:spcBef>
              <a:buChar char="–"/>
              <a:tabLst>
                <a:tab pos="381000" algn="l"/>
              </a:tabLst>
            </a:pPr>
            <a:r>
              <a:rPr sz="1800" dirty="0">
                <a:latin typeface="Arial"/>
                <a:cs typeface="Arial"/>
              </a:rPr>
              <a:t>SISD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(single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instruction,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single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data);</a:t>
            </a:r>
            <a:endParaRPr sz="1800">
              <a:latin typeface="Arial"/>
              <a:cs typeface="Arial"/>
            </a:endParaRPr>
          </a:p>
          <a:p>
            <a:pPr marL="381000" lvl="1" indent="-189865">
              <a:lnSpc>
                <a:spcPct val="100000"/>
              </a:lnSpc>
              <a:spcBef>
                <a:spcPts val="1080"/>
              </a:spcBef>
              <a:buChar char="–"/>
              <a:tabLst>
                <a:tab pos="381000" algn="l"/>
              </a:tabLst>
            </a:pPr>
            <a:r>
              <a:rPr sz="1800" dirty="0">
                <a:latin typeface="Arial"/>
                <a:cs typeface="Arial"/>
              </a:rPr>
              <a:t>MISD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(multiple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instruction,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single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data);</a:t>
            </a:r>
            <a:endParaRPr sz="1800">
              <a:latin typeface="Arial"/>
              <a:cs typeface="Arial"/>
            </a:endParaRPr>
          </a:p>
          <a:p>
            <a:pPr marL="381000" lvl="1" indent="-189865">
              <a:lnSpc>
                <a:spcPct val="100000"/>
              </a:lnSpc>
              <a:spcBef>
                <a:spcPts val="1080"/>
              </a:spcBef>
              <a:buChar char="–"/>
              <a:tabLst>
                <a:tab pos="381000" algn="l"/>
              </a:tabLst>
            </a:pPr>
            <a:r>
              <a:rPr sz="1800" dirty="0">
                <a:latin typeface="Arial"/>
                <a:cs typeface="Arial"/>
              </a:rPr>
              <a:t>SIMD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(single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instruction,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multiple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data);</a:t>
            </a:r>
            <a:endParaRPr sz="1800">
              <a:latin typeface="Arial"/>
              <a:cs typeface="Arial"/>
            </a:endParaRPr>
          </a:p>
          <a:p>
            <a:pPr marL="381000" lvl="1" indent="-189865">
              <a:lnSpc>
                <a:spcPct val="100000"/>
              </a:lnSpc>
              <a:spcBef>
                <a:spcPts val="1080"/>
              </a:spcBef>
              <a:buChar char="–"/>
              <a:tabLst>
                <a:tab pos="381000" algn="l"/>
              </a:tabLst>
            </a:pPr>
            <a:r>
              <a:rPr sz="1800" dirty="0">
                <a:latin typeface="Arial"/>
                <a:cs typeface="Arial"/>
              </a:rPr>
              <a:t>MIMD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(multiple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instruction,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multiple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data).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Виртуализация</a:t>
            </a:r>
            <a:r>
              <a:rPr spc="-180" dirty="0"/>
              <a:t> </a:t>
            </a:r>
            <a:r>
              <a:rPr spc="-10" dirty="0"/>
              <a:t>ресурсов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937" y="1522711"/>
            <a:ext cx="9618345" cy="1753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8435">
              <a:lnSpc>
                <a:spcPct val="114799"/>
              </a:lnSpc>
              <a:spcBef>
                <a:spcPts val="100"/>
              </a:spcBef>
              <a:tabLst>
                <a:tab pos="2056130" algn="l"/>
                <a:tab pos="2406015" algn="l"/>
                <a:tab pos="3651885" algn="l"/>
                <a:tab pos="5210810" algn="l"/>
                <a:tab pos="6331585" algn="l"/>
                <a:tab pos="8435975" algn="l"/>
              </a:tabLst>
            </a:pPr>
            <a:r>
              <a:rPr sz="1800" b="1" spc="-20" dirty="0">
                <a:latin typeface="Arial"/>
                <a:cs typeface="Arial"/>
              </a:rPr>
              <a:t>RAID-</a:t>
            </a:r>
            <a:r>
              <a:rPr sz="1800" b="1" spc="-10" dirty="0">
                <a:latin typeface="Arial"/>
                <a:cs typeface="Arial"/>
              </a:rPr>
              <a:t>массивы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0" dirty="0">
                <a:latin typeface="Arial"/>
                <a:cs typeface="Arial"/>
              </a:rPr>
              <a:t>и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средства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управления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томами,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комбинирующие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несколько </a:t>
            </a:r>
            <a:r>
              <a:rPr sz="1800" b="1" spc="-10" dirty="0">
                <a:latin typeface="Arial"/>
                <a:cs typeface="Arial"/>
              </a:rPr>
              <a:t>физических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дисков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в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один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логический;</a:t>
            </a:r>
            <a:endParaRPr sz="1800">
              <a:latin typeface="Arial"/>
              <a:cs typeface="Arial"/>
            </a:endParaRPr>
          </a:p>
          <a:p>
            <a:pPr marL="12700" marR="7620" indent="178435">
              <a:lnSpc>
                <a:spcPct val="100000"/>
              </a:lnSpc>
              <a:tabLst>
                <a:tab pos="869315" algn="l"/>
                <a:tab pos="1128395" algn="l"/>
                <a:tab pos="1487170" algn="l"/>
                <a:tab pos="2637790" algn="l"/>
                <a:tab pos="3531235" algn="l"/>
                <a:tab pos="5015230" algn="l"/>
                <a:tab pos="7332345" algn="l"/>
                <a:tab pos="7578725" algn="l"/>
                <a:tab pos="9246870" algn="l"/>
              </a:tabLst>
            </a:pPr>
            <a:r>
              <a:rPr sz="1800" spc="-20" dirty="0">
                <a:latin typeface="Arial"/>
                <a:cs typeface="Arial"/>
              </a:rPr>
              <a:t>RAID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0" dirty="0">
                <a:latin typeface="Arial"/>
                <a:cs typeface="Arial"/>
              </a:rPr>
              <a:t>0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0" dirty="0">
                <a:latin typeface="Arial"/>
                <a:cs typeface="Arial"/>
              </a:rPr>
              <a:t>—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дисковый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массив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повышенной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производительности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50" dirty="0">
                <a:latin typeface="Arial"/>
                <a:cs typeface="Arial"/>
              </a:rPr>
              <a:t>с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чередованием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35" dirty="0">
                <a:latin typeface="Arial"/>
                <a:cs typeface="Arial"/>
              </a:rPr>
              <a:t>без </a:t>
            </a:r>
            <a:r>
              <a:rPr sz="1800" spc="-10" dirty="0">
                <a:latin typeface="Arial"/>
                <a:cs typeface="Arial"/>
              </a:rPr>
              <a:t>отказоустойчивости;</a:t>
            </a:r>
            <a:endParaRPr sz="18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RAID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—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зеркальный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дисковый</a:t>
            </a:r>
            <a:r>
              <a:rPr sz="1800" spc="-10" dirty="0">
                <a:latin typeface="Arial"/>
                <a:cs typeface="Arial"/>
              </a:rPr>
              <a:t> массив;</a:t>
            </a:r>
            <a:endParaRPr sz="18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RAID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2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—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зарезервирован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для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массивов,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которые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применяют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код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Хемминга;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Виртуализация</a:t>
            </a:r>
            <a:r>
              <a:rPr spc="-180" dirty="0"/>
              <a:t> </a:t>
            </a:r>
            <a:r>
              <a:rPr spc="-10" dirty="0"/>
              <a:t>ресурсов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0002" y="4105447"/>
            <a:ext cx="1787398" cy="27522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7401" y="4105447"/>
            <a:ext cx="1787398" cy="27522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26483" y="4052170"/>
            <a:ext cx="5611317" cy="28054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937" y="1522711"/>
            <a:ext cx="9618345" cy="1204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8435">
              <a:lnSpc>
                <a:spcPct val="114799"/>
              </a:lnSpc>
              <a:spcBef>
                <a:spcPts val="100"/>
              </a:spcBef>
              <a:tabLst>
                <a:tab pos="2056130" algn="l"/>
                <a:tab pos="2406015" algn="l"/>
                <a:tab pos="3651885" algn="l"/>
                <a:tab pos="5210810" algn="l"/>
                <a:tab pos="6331585" algn="l"/>
                <a:tab pos="8435975" algn="l"/>
              </a:tabLst>
            </a:pPr>
            <a:r>
              <a:rPr sz="1800" b="1" spc="-20" dirty="0">
                <a:latin typeface="Arial"/>
                <a:cs typeface="Arial"/>
              </a:rPr>
              <a:t>RAID-</a:t>
            </a:r>
            <a:r>
              <a:rPr sz="1800" b="1" spc="-10" dirty="0">
                <a:latin typeface="Arial"/>
                <a:cs typeface="Arial"/>
              </a:rPr>
              <a:t>массивы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50" dirty="0">
                <a:latin typeface="Arial"/>
                <a:cs typeface="Arial"/>
              </a:rPr>
              <a:t>и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средства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управления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томами,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10" dirty="0">
                <a:latin typeface="Arial"/>
                <a:cs typeface="Arial"/>
              </a:rPr>
              <a:t>комбинирующие</a:t>
            </a:r>
            <a:r>
              <a:rPr sz="1800" b="1" dirty="0">
                <a:latin typeface="Arial"/>
                <a:cs typeface="Arial"/>
              </a:rPr>
              <a:t>	</a:t>
            </a:r>
            <a:r>
              <a:rPr sz="1800" b="1" spc="-25" dirty="0">
                <a:latin typeface="Arial"/>
                <a:cs typeface="Arial"/>
              </a:rPr>
              <a:t>несколько </a:t>
            </a:r>
            <a:r>
              <a:rPr sz="1800" b="1" spc="-10" dirty="0">
                <a:latin typeface="Arial"/>
                <a:cs typeface="Arial"/>
              </a:rPr>
              <a:t>физических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дисков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в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один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логический;</a:t>
            </a:r>
            <a:endParaRPr sz="18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RAID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3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—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дисковый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массив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выделенным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диском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чётности;</a:t>
            </a:r>
            <a:endParaRPr sz="18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RAID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4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—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дисковый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массив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чередованием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выделенным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диском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чётности;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Виртуализация</a:t>
            </a:r>
            <a:r>
              <a:rPr spc="-180" dirty="0"/>
              <a:t> </a:t>
            </a:r>
            <a:r>
              <a:rPr spc="-10" dirty="0"/>
              <a:t>ресурсов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8604" y="3869646"/>
            <a:ext cx="4343400" cy="32166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6357" y="3849847"/>
            <a:ext cx="4321441" cy="32003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937" y="1522711"/>
            <a:ext cx="9618345" cy="202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8435" algn="just">
              <a:lnSpc>
                <a:spcPct val="114799"/>
              </a:lnSpc>
              <a:spcBef>
                <a:spcPts val="100"/>
              </a:spcBef>
            </a:pPr>
            <a:r>
              <a:rPr sz="1800" b="1" spc="-20" dirty="0">
                <a:latin typeface="Arial"/>
                <a:cs typeface="Arial"/>
              </a:rPr>
              <a:t>RAID-</a:t>
            </a:r>
            <a:r>
              <a:rPr sz="1800" b="1" dirty="0">
                <a:latin typeface="Arial"/>
                <a:cs typeface="Arial"/>
              </a:rPr>
              <a:t>массивы</a:t>
            </a:r>
            <a:r>
              <a:rPr sz="1800" b="1" spc="260" dirty="0">
                <a:latin typeface="Arial"/>
                <a:cs typeface="Arial"/>
              </a:rPr>
              <a:t>  </a:t>
            </a:r>
            <a:r>
              <a:rPr sz="1800" b="1" dirty="0">
                <a:latin typeface="Arial"/>
                <a:cs typeface="Arial"/>
              </a:rPr>
              <a:t>и</a:t>
            </a:r>
            <a:r>
              <a:rPr sz="1800" b="1" spc="265" dirty="0">
                <a:latin typeface="Arial"/>
                <a:cs typeface="Arial"/>
              </a:rPr>
              <a:t>  </a:t>
            </a:r>
            <a:r>
              <a:rPr sz="1800" b="1" dirty="0">
                <a:latin typeface="Arial"/>
                <a:cs typeface="Arial"/>
              </a:rPr>
              <a:t>средства</a:t>
            </a:r>
            <a:r>
              <a:rPr sz="1800" b="1" spc="260" dirty="0">
                <a:latin typeface="Arial"/>
                <a:cs typeface="Arial"/>
              </a:rPr>
              <a:t>  </a:t>
            </a:r>
            <a:r>
              <a:rPr sz="1800" b="1" dirty="0">
                <a:latin typeface="Arial"/>
                <a:cs typeface="Arial"/>
              </a:rPr>
              <a:t>управления</a:t>
            </a:r>
            <a:r>
              <a:rPr sz="1800" b="1" spc="265" dirty="0">
                <a:latin typeface="Arial"/>
                <a:cs typeface="Arial"/>
              </a:rPr>
              <a:t>  </a:t>
            </a:r>
            <a:r>
              <a:rPr sz="1800" b="1" dirty="0">
                <a:latin typeface="Arial"/>
                <a:cs typeface="Arial"/>
              </a:rPr>
              <a:t>томами,</a:t>
            </a:r>
            <a:r>
              <a:rPr sz="1800" b="1" spc="260" dirty="0">
                <a:latin typeface="Arial"/>
                <a:cs typeface="Arial"/>
              </a:rPr>
              <a:t>  </a:t>
            </a:r>
            <a:r>
              <a:rPr sz="1800" b="1" dirty="0">
                <a:latin typeface="Arial"/>
                <a:cs typeface="Arial"/>
              </a:rPr>
              <a:t>комбинирующие</a:t>
            </a:r>
            <a:r>
              <a:rPr sz="1800" b="1" spc="260" dirty="0">
                <a:latin typeface="Arial"/>
                <a:cs typeface="Arial"/>
              </a:rPr>
              <a:t>  </a:t>
            </a:r>
            <a:r>
              <a:rPr sz="1800" b="1" spc="-10" dirty="0">
                <a:latin typeface="Arial"/>
                <a:cs typeface="Arial"/>
              </a:rPr>
              <a:t>несколько физических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дисков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в</a:t>
            </a:r>
            <a:r>
              <a:rPr sz="1800" b="1" spc="-5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один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логический;</a:t>
            </a:r>
            <a:endParaRPr sz="1800">
              <a:latin typeface="Arial"/>
              <a:cs typeface="Arial"/>
            </a:endParaRPr>
          </a:p>
          <a:p>
            <a:pPr marL="12700" marR="6350" indent="178435" algn="just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RAID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5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—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дисковый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массив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чередованием,</a:t>
            </a:r>
            <a:r>
              <a:rPr sz="1800" spc="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том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числе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данных</a:t>
            </a:r>
            <a:r>
              <a:rPr sz="1800" spc="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чётности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(нет</a:t>
            </a:r>
            <a:r>
              <a:rPr sz="1800" spc="10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диска, выделенного </a:t>
            </a:r>
            <a:r>
              <a:rPr sz="1800" dirty="0">
                <a:latin typeface="Arial"/>
                <a:cs typeface="Arial"/>
              </a:rPr>
              <a:t>для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хранения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чётности — блоки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чётности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чередуются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 блоками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данных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на </a:t>
            </a:r>
            <a:r>
              <a:rPr sz="1800" dirty="0">
                <a:latin typeface="Arial"/>
                <a:cs typeface="Arial"/>
              </a:rPr>
              <a:t>каждом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диске);</a:t>
            </a:r>
            <a:endParaRPr sz="1800">
              <a:latin typeface="Arial"/>
              <a:cs typeface="Arial"/>
            </a:endParaRPr>
          </a:p>
          <a:p>
            <a:pPr marL="12700" marR="8255" indent="178435" algn="just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RAID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6</a:t>
            </a:r>
            <a:r>
              <a:rPr sz="1800" spc="1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—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дисковый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массив</a:t>
            </a:r>
            <a:r>
              <a:rPr sz="1800" spc="18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чередованием,</a:t>
            </a:r>
            <a:r>
              <a:rPr sz="1800" spc="1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использующий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две</a:t>
            </a:r>
            <a:r>
              <a:rPr sz="1800" spc="1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контрольные</a:t>
            </a:r>
            <a:r>
              <a:rPr sz="1800" spc="16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суммы, </a:t>
            </a:r>
            <a:r>
              <a:rPr sz="1800" dirty="0">
                <a:latin typeface="Arial"/>
                <a:cs typeface="Arial"/>
              </a:rPr>
              <a:t>вычисляемые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двумя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независимыми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способами;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Виртуализация</a:t>
            </a:r>
            <a:r>
              <a:rPr spc="-180" dirty="0"/>
              <a:t> </a:t>
            </a:r>
            <a:r>
              <a:rPr spc="-10" dirty="0"/>
              <a:t>ресурсов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01" y="3854165"/>
            <a:ext cx="4447438" cy="3293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1560" y="3885851"/>
            <a:ext cx="5518073" cy="328499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937" y="1795952"/>
            <a:ext cx="9614535" cy="2343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" marR="2883535" algn="just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RAID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10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—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массив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RAID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0,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построенный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из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массивов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RAID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1; </a:t>
            </a:r>
            <a:r>
              <a:rPr sz="1800" dirty="0">
                <a:latin typeface="Arial"/>
                <a:cs typeface="Arial"/>
              </a:rPr>
              <a:t>RAID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50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—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массив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RAID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0,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построенный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из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массивов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RAID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5; </a:t>
            </a:r>
            <a:r>
              <a:rPr sz="1800" dirty="0">
                <a:latin typeface="Arial"/>
                <a:cs typeface="Arial"/>
              </a:rPr>
              <a:t>RAID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60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—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массив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RAID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0,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построенный</a:t>
            </a:r>
            <a:r>
              <a:rPr sz="1800" spc="-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из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массивов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RAID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6;</a:t>
            </a:r>
            <a:endParaRPr sz="1800">
              <a:latin typeface="Arial"/>
              <a:cs typeface="Arial"/>
            </a:endParaRPr>
          </a:p>
          <a:p>
            <a:pPr marL="12700" marR="5080" indent="178435" algn="just">
              <a:lnSpc>
                <a:spcPct val="100000"/>
              </a:lnSpc>
            </a:pPr>
            <a:r>
              <a:rPr sz="1800" dirty="0">
                <a:latin typeface="Arial"/>
                <a:cs typeface="Arial"/>
              </a:rPr>
              <a:t>RAID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1E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—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зеркальный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массив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из</a:t>
            </a:r>
            <a:r>
              <a:rPr sz="1800" spc="1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трёх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других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массивов: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RAID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50,</a:t>
            </a:r>
            <a:r>
              <a:rPr sz="1800" spc="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RAID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05,</a:t>
            </a:r>
            <a:r>
              <a:rPr sz="1800" spc="1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RAID</a:t>
            </a:r>
            <a:r>
              <a:rPr sz="1800" spc="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60</a:t>
            </a:r>
            <a:r>
              <a:rPr sz="1800" spc="10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и </a:t>
            </a:r>
            <a:r>
              <a:rPr sz="1800" spc="-10" dirty="0">
                <a:latin typeface="Arial"/>
                <a:cs typeface="Arial"/>
              </a:rPr>
              <a:t>другие.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5"/>
              </a:spcBef>
            </a:pPr>
            <a:endParaRPr sz="18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Основными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массивами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RAID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являются: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RAID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0,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RAID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1,</a:t>
            </a:r>
            <a:r>
              <a:rPr sz="1800" spc="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RAID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Виртуализация</a:t>
            </a:r>
            <a:r>
              <a:rPr spc="-180" dirty="0"/>
              <a:t> </a:t>
            </a:r>
            <a:r>
              <a:rPr spc="-10" dirty="0"/>
              <a:t>ресурсов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937" y="1522711"/>
            <a:ext cx="9615170" cy="2547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8435">
              <a:lnSpc>
                <a:spcPct val="114799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виртуализация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систем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хранения,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используемая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при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построении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сетей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хранения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данных </a:t>
            </a:r>
            <a:r>
              <a:rPr sz="1800" dirty="0">
                <a:latin typeface="Arial"/>
                <a:cs typeface="Arial"/>
              </a:rPr>
              <a:t>SAN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(Storage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Network)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18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Arial"/>
                <a:cs typeface="Arial"/>
              </a:rPr>
              <a:t>Компоненты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SAN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50" dirty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447675" marR="6293485">
              <a:lnSpc>
                <a:spcPct val="114799"/>
              </a:lnSpc>
            </a:pPr>
            <a:r>
              <a:rPr sz="1800" dirty="0">
                <a:latin typeface="Arial"/>
                <a:cs typeface="Arial"/>
              </a:rPr>
              <a:t>Host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Bus</a:t>
            </a:r>
            <a:r>
              <a:rPr sz="1800" spc="-1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Adaptors</a:t>
            </a:r>
            <a:r>
              <a:rPr sz="1800" spc="-3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(HBA); </a:t>
            </a:r>
            <a:r>
              <a:rPr sz="1800" dirty="0">
                <a:latin typeface="Arial"/>
                <a:cs typeface="Arial"/>
              </a:rPr>
              <a:t>ресурсы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хранения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данных;</a:t>
            </a:r>
            <a:endParaRPr sz="1800">
              <a:latin typeface="Arial"/>
              <a:cs typeface="Arial"/>
            </a:endParaRPr>
          </a:p>
          <a:p>
            <a:pPr marL="447675" marR="4011929">
              <a:lnSpc>
                <a:spcPct val="114799"/>
              </a:lnSpc>
              <a:spcBef>
                <a:spcPts val="10"/>
              </a:spcBef>
            </a:pPr>
            <a:r>
              <a:rPr sz="1800" dirty="0">
                <a:latin typeface="Arial"/>
                <a:cs typeface="Arial"/>
              </a:rPr>
              <a:t>устройства,</a:t>
            </a:r>
            <a:r>
              <a:rPr sz="1800" spc="-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реализующие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инфраструктуру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SAN; </a:t>
            </a:r>
            <a:r>
              <a:rPr sz="1800" dirty="0">
                <a:latin typeface="Arial"/>
                <a:cs typeface="Arial"/>
              </a:rPr>
              <a:t>программное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обеспечение.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Виртуализация</a:t>
            </a:r>
            <a:r>
              <a:rPr spc="-180" dirty="0"/>
              <a:t> </a:t>
            </a:r>
            <a:r>
              <a:rPr spc="-10" dirty="0"/>
              <a:t>ресурсов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044" y="4352767"/>
            <a:ext cx="8818429" cy="273348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937" y="1522711"/>
            <a:ext cx="9615170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8435">
              <a:lnSpc>
                <a:spcPct val="114799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виртуализация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систем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хранения,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используемая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при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построении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сетей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хранения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данных </a:t>
            </a:r>
            <a:r>
              <a:rPr sz="1800" dirty="0">
                <a:latin typeface="Arial"/>
                <a:cs typeface="Arial"/>
              </a:rPr>
              <a:t>SAN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(Storage</a:t>
            </a:r>
            <a:r>
              <a:rPr sz="1800" spc="-114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Area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Network)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Виртуализация</a:t>
            </a:r>
            <a:r>
              <a:rPr spc="-180" dirty="0"/>
              <a:t> </a:t>
            </a:r>
            <a:r>
              <a:rPr spc="-10" dirty="0"/>
              <a:t>ресурсов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8733" y="2619406"/>
            <a:ext cx="6377296" cy="478213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937" y="1522711"/>
            <a:ext cx="9615805" cy="65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8435">
              <a:lnSpc>
                <a:spcPct val="114799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виртуальные</a:t>
            </a:r>
            <a:r>
              <a:rPr sz="1800" spc="1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частные</a:t>
            </a:r>
            <a:r>
              <a:rPr sz="1800" spc="1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сети</a:t>
            </a:r>
            <a:r>
              <a:rPr sz="1800" spc="1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(VPN)</a:t>
            </a:r>
            <a:r>
              <a:rPr sz="1800" spc="1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1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трансляция</a:t>
            </a:r>
            <a:r>
              <a:rPr sz="1800" spc="14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сетевых</a:t>
            </a:r>
            <a:r>
              <a:rPr sz="1800" spc="1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адресов</a:t>
            </a:r>
            <a:r>
              <a:rPr sz="1800" spc="1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(NAT),</a:t>
            </a:r>
            <a:r>
              <a:rPr sz="1800" spc="1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позволяющие создавать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виртуальные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пространства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сетевых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адресов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имен.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Виртуализация</a:t>
            </a:r>
            <a:r>
              <a:rPr spc="-180" dirty="0"/>
              <a:t> </a:t>
            </a:r>
            <a:r>
              <a:rPr spc="-10" dirty="0"/>
              <a:t>ресурсов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468" y="3103586"/>
            <a:ext cx="4452518" cy="305781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9906" y="3078017"/>
            <a:ext cx="4469208" cy="312395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7855" y="1563389"/>
            <a:ext cx="8532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2)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Кластеризация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компьютеров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распределенные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вычисления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(grid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computing).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Виртуализация</a:t>
            </a:r>
            <a:r>
              <a:rPr spc="-210" dirty="0"/>
              <a:t> </a:t>
            </a:r>
            <a:r>
              <a:rPr spc="-10" dirty="0"/>
              <a:t>ресурсов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80432" y="2171224"/>
            <a:ext cx="5088844" cy="530453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Виртуализация</a:t>
            </a:r>
            <a:r>
              <a:rPr spc="-210" dirty="0"/>
              <a:t> </a:t>
            </a:r>
            <a:r>
              <a:rPr spc="-10" dirty="0"/>
              <a:t>ресурсов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9405" y="1749965"/>
            <a:ext cx="4183178" cy="56692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045377" y="7098024"/>
            <a:ext cx="34747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Arial"/>
                <a:cs typeface="Arial"/>
                <a:hlinkClick r:id="rId3"/>
              </a:rPr>
              <a:t>http://top50.supercomputers.ru/list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937" y="1522711"/>
            <a:ext cx="9616440" cy="128651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420"/>
              </a:spcBef>
            </a:pPr>
            <a:r>
              <a:rPr sz="1800" dirty="0">
                <a:latin typeface="Arial"/>
                <a:cs typeface="Arial"/>
              </a:rPr>
              <a:t>3)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Разделение</a:t>
            </a:r>
            <a:r>
              <a:rPr sz="1800" spc="-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ресурсов</a:t>
            </a:r>
            <a:r>
              <a:rPr sz="1800" spc="-2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(partitioning).</a:t>
            </a:r>
            <a:endParaRPr sz="1800">
              <a:latin typeface="Arial"/>
              <a:cs typeface="Arial"/>
            </a:endParaRPr>
          </a:p>
          <a:p>
            <a:pPr marL="12700" marR="5080" indent="178435">
              <a:lnSpc>
                <a:spcPct val="114799"/>
              </a:lnSpc>
              <a:tabLst>
                <a:tab pos="1609090" algn="l"/>
                <a:tab pos="2735580" algn="l"/>
                <a:tab pos="4230370" algn="l"/>
                <a:tab pos="4955540" algn="l"/>
                <a:tab pos="5442585" algn="l"/>
                <a:tab pos="5994400" algn="l"/>
                <a:tab pos="6967220" algn="l"/>
                <a:tab pos="8098155" algn="l"/>
              </a:tabLst>
            </a:pPr>
            <a:r>
              <a:rPr sz="1800" spc="-10" dirty="0">
                <a:latin typeface="Arial"/>
                <a:cs typeface="Arial"/>
              </a:rPr>
              <a:t>Разделение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ресурсов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компьютера,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таких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как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ЦП,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память,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дисковое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пространство, </a:t>
            </a:r>
            <a:r>
              <a:rPr sz="1800" dirty="0">
                <a:latin typeface="Arial"/>
                <a:cs typeface="Arial"/>
              </a:rPr>
              <a:t>сетевое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подключение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на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уровне</a:t>
            </a:r>
            <a:r>
              <a:rPr sz="1800" spc="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ядра.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Все</a:t>
            </a:r>
            <a:r>
              <a:rPr sz="1800" spc="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то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что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происходит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при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создании</a:t>
            </a:r>
            <a:r>
              <a:rPr sz="1800" spc="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виртуальной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sz="1800" spc="-10" dirty="0">
                <a:latin typeface="Arial"/>
                <a:cs typeface="Arial"/>
              </a:rPr>
              <a:t>машины.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8937" y="3097715"/>
            <a:ext cx="3563620" cy="972819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425"/>
              </a:spcBef>
            </a:pPr>
            <a:r>
              <a:rPr sz="1800" dirty="0">
                <a:latin typeface="Arial"/>
                <a:cs typeface="Arial"/>
              </a:rPr>
              <a:t>4)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Инкапсуляция.</a:t>
            </a:r>
            <a:endParaRPr sz="1800">
              <a:latin typeface="Arial"/>
              <a:cs typeface="Arial"/>
            </a:endParaRPr>
          </a:p>
          <a:p>
            <a:pPr marL="12700" marR="5080" indent="178435">
              <a:lnSpc>
                <a:spcPct val="114799"/>
              </a:lnSpc>
              <a:spcBef>
                <a:spcPts val="10"/>
              </a:spcBef>
              <a:tabLst>
                <a:tab pos="1343660" algn="l"/>
                <a:tab pos="2774950" algn="l"/>
              </a:tabLst>
            </a:pPr>
            <a:r>
              <a:rPr sz="1800" spc="-10" dirty="0">
                <a:latin typeface="Arial"/>
                <a:cs typeface="Arial"/>
              </a:rPr>
              <a:t>Скрытие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трудностей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работы </a:t>
            </a:r>
            <a:r>
              <a:rPr sz="1800" dirty="0">
                <a:latin typeface="Arial"/>
                <a:cs typeface="Arial"/>
              </a:rPr>
              <a:t>графического</a:t>
            </a:r>
            <a:r>
              <a:rPr sz="1800" spc="-11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интерфейса.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13027" y="3455550"/>
            <a:ext cx="5841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71475" algn="l"/>
                <a:tab pos="1955800" algn="l"/>
                <a:tab pos="3077845" algn="l"/>
                <a:tab pos="3545840" algn="l"/>
                <a:tab pos="4236085" algn="l"/>
              </a:tabLst>
            </a:pPr>
            <a:r>
              <a:rPr sz="1800" spc="-50" dirty="0">
                <a:latin typeface="Arial"/>
                <a:cs typeface="Arial"/>
              </a:rPr>
              <a:t>в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виртуальной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машины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5" dirty="0">
                <a:latin typeface="Arial"/>
                <a:cs typeface="Arial"/>
              </a:rPr>
              <a:t>за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20" dirty="0">
                <a:latin typeface="Arial"/>
                <a:cs typeface="Arial"/>
              </a:rPr>
              <a:t>счет</a:t>
            </a:r>
            <a:r>
              <a:rPr sz="1800" dirty="0">
                <a:latin typeface="Arial"/>
                <a:cs typeface="Arial"/>
              </a:rPr>
              <a:t>	</a:t>
            </a:r>
            <a:r>
              <a:rPr sz="1800" spc="-10" dirty="0">
                <a:latin typeface="Arial"/>
                <a:cs typeface="Arial"/>
              </a:rPr>
              <a:t>использования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6130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Виртуализация</a:t>
            </a:r>
            <a:r>
              <a:rPr spc="-210" dirty="0"/>
              <a:t> </a:t>
            </a:r>
            <a:r>
              <a:rPr spc="-10" dirty="0"/>
              <a:t>ресурсов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6702" y="3589103"/>
            <a:ext cx="763905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"/>
                <a:cs typeface="Arial"/>
              </a:rPr>
              <a:t>Виртуализация</a:t>
            </a:r>
            <a:r>
              <a:rPr sz="3200" spc="-16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вычислительных</a:t>
            </a:r>
            <a:r>
              <a:rPr sz="3200" spc="-16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систем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5305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Терминология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37" y="1819701"/>
            <a:ext cx="9618345" cy="1776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100"/>
              </a:spcBef>
            </a:pPr>
            <a:r>
              <a:rPr sz="1700" b="1" spc="-10" dirty="0">
                <a:latin typeface="Arial"/>
                <a:cs typeface="Arial"/>
              </a:rPr>
              <a:t>Гипервизор</a:t>
            </a:r>
            <a:r>
              <a:rPr sz="1700" b="1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—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технология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поддержки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исполнения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виртуальных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машин.</a:t>
            </a:r>
            <a:endParaRPr sz="17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1700">
              <a:latin typeface="Arial"/>
              <a:cs typeface="Arial"/>
            </a:endParaRPr>
          </a:p>
          <a:p>
            <a:pPr marL="12700" marR="5080" indent="178435" algn="just">
              <a:lnSpc>
                <a:spcPct val="115100"/>
              </a:lnSpc>
            </a:pPr>
            <a:r>
              <a:rPr sz="1700" dirty="0">
                <a:latin typeface="Arial"/>
                <a:cs typeface="Arial"/>
              </a:rPr>
              <a:t>Гипервизор</a:t>
            </a:r>
            <a:r>
              <a:rPr sz="1700" spc="4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создает</a:t>
            </a:r>
            <a:r>
              <a:rPr sz="1700" spc="47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абстракцию</a:t>
            </a:r>
            <a:r>
              <a:rPr sz="1700" spc="4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нижележащей</a:t>
            </a:r>
            <a:r>
              <a:rPr sz="1700" spc="47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аппаратной</a:t>
            </a:r>
            <a:r>
              <a:rPr sz="1700" spc="47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платформы,</a:t>
            </a:r>
            <a:r>
              <a:rPr sz="1700" spc="46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таким</a:t>
            </a:r>
            <a:r>
              <a:rPr sz="1700" spc="48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образом, </a:t>
            </a:r>
            <a:r>
              <a:rPr sz="1700" dirty="0">
                <a:latin typeface="Arial"/>
                <a:cs typeface="Arial"/>
              </a:rPr>
              <a:t>чтобы</a:t>
            </a:r>
            <a:r>
              <a:rPr sz="1700" spc="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она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могла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использоваться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одной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или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несколькими</a:t>
            </a:r>
            <a:r>
              <a:rPr sz="1700" spc="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виртуальными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машинами,</a:t>
            </a:r>
            <a:r>
              <a:rPr sz="1700" spc="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при</a:t>
            </a:r>
            <a:r>
              <a:rPr sz="1700" spc="50" dirty="0">
                <a:latin typeface="Arial"/>
                <a:cs typeface="Arial"/>
              </a:rPr>
              <a:t> </a:t>
            </a:r>
            <a:r>
              <a:rPr sz="1700" spc="-20" dirty="0">
                <a:latin typeface="Arial"/>
                <a:cs typeface="Arial"/>
              </a:rPr>
              <a:t>этом </a:t>
            </a:r>
            <a:r>
              <a:rPr sz="1700" dirty="0">
                <a:latin typeface="Arial"/>
                <a:cs typeface="Arial"/>
              </a:rPr>
              <a:t>они</a:t>
            </a:r>
            <a:r>
              <a:rPr sz="1700" spc="48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не</a:t>
            </a:r>
            <a:r>
              <a:rPr sz="1700" spc="10" dirty="0">
                <a:latin typeface="Arial"/>
                <a:cs typeface="Arial"/>
              </a:rPr>
              <a:t>  </a:t>
            </a:r>
            <a:r>
              <a:rPr sz="1700" dirty="0">
                <a:latin typeface="Arial"/>
                <a:cs typeface="Arial"/>
              </a:rPr>
              <a:t>знают,</a:t>
            </a:r>
            <a:r>
              <a:rPr sz="1700" spc="49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что</a:t>
            </a:r>
            <a:r>
              <a:rPr sz="1700" spc="49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совместно</a:t>
            </a:r>
            <a:r>
              <a:rPr sz="1700" spc="484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используют</a:t>
            </a:r>
            <a:r>
              <a:rPr sz="1700" spc="484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одну</a:t>
            </a:r>
            <a:r>
              <a:rPr sz="1700" spc="49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и</a:t>
            </a:r>
            <a:r>
              <a:rPr sz="1700" spc="484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ту</a:t>
            </a:r>
            <a:r>
              <a:rPr sz="1700" spc="484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же</a:t>
            </a:r>
            <a:r>
              <a:rPr sz="1700" spc="484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платформу.</a:t>
            </a:r>
            <a:r>
              <a:rPr sz="1700" spc="484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В</a:t>
            </a:r>
            <a:r>
              <a:rPr sz="1700" spc="49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данном</a:t>
            </a:r>
            <a:r>
              <a:rPr sz="1700" spc="49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контексте виртуальная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машина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–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это</a:t>
            </a:r>
            <a:r>
              <a:rPr sz="1700" spc="-5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просто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контейнер</a:t>
            </a:r>
            <a:r>
              <a:rPr sz="1700" spc="-5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для</a:t>
            </a:r>
            <a:r>
              <a:rPr sz="1700" spc="-40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операционной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системы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dirty="0">
                <a:latin typeface="Arial"/>
                <a:cs typeface="Arial"/>
              </a:rPr>
              <a:t>и</a:t>
            </a:r>
            <a:r>
              <a:rPr sz="1700" spc="-45" dirty="0">
                <a:latin typeface="Arial"/>
                <a:cs typeface="Arial"/>
              </a:rPr>
              <a:t> </a:t>
            </a:r>
            <a:r>
              <a:rPr sz="1700" spc="-10" dirty="0">
                <a:latin typeface="Arial"/>
                <a:cs typeface="Arial"/>
              </a:rPr>
              <a:t>приложений.</a:t>
            </a:r>
            <a:endParaRPr sz="1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855" y="791108"/>
            <a:ext cx="7869555" cy="1033144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156460">
              <a:lnSpc>
                <a:spcPct val="100000"/>
              </a:lnSpc>
              <a:spcBef>
                <a:spcPts val="1150"/>
              </a:spcBef>
            </a:pPr>
            <a:r>
              <a:rPr dirty="0"/>
              <a:t>Виртуализация</a:t>
            </a:r>
            <a:r>
              <a:rPr spc="-210" dirty="0"/>
              <a:t> </a:t>
            </a:r>
            <a:r>
              <a:rPr spc="-10" dirty="0"/>
              <a:t>платформ</a:t>
            </a: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950" dirty="0">
                <a:solidFill>
                  <a:srgbClr val="000000"/>
                </a:solidFill>
              </a:rPr>
              <a:t>Аппаратная</a:t>
            </a:r>
            <a:r>
              <a:rPr sz="1950" spc="80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виртуализация</a:t>
            </a:r>
            <a:r>
              <a:rPr sz="1950" spc="80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-</a:t>
            </a:r>
            <a:r>
              <a:rPr sz="1950" spc="80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гипервизор</a:t>
            </a:r>
            <a:r>
              <a:rPr sz="1950" spc="85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1</a:t>
            </a:r>
            <a:r>
              <a:rPr sz="1950" spc="75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типа</a:t>
            </a:r>
            <a:r>
              <a:rPr sz="1950" spc="80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(native,</a:t>
            </a:r>
            <a:r>
              <a:rPr sz="1950" spc="85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bare-</a:t>
            </a:r>
            <a:r>
              <a:rPr sz="1950" spc="-10" dirty="0">
                <a:solidFill>
                  <a:srgbClr val="000000"/>
                </a:solidFill>
              </a:rPr>
              <a:t>metal)</a:t>
            </a:r>
            <a:endParaRPr sz="19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0644" y="2463134"/>
            <a:ext cx="3914279" cy="35333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60057" y="6169728"/>
            <a:ext cx="7395209" cy="137287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950" spc="-10" dirty="0">
                <a:latin typeface="Arial"/>
                <a:cs typeface="Arial"/>
              </a:rPr>
              <a:t>Примеры:</a:t>
            </a:r>
            <a:endParaRPr sz="1950">
              <a:latin typeface="Arial"/>
              <a:cs typeface="Arial"/>
            </a:endParaRPr>
          </a:p>
          <a:p>
            <a:pPr marL="532765" marR="4594225">
              <a:lnSpc>
                <a:spcPts val="2740"/>
              </a:lnSpc>
              <a:spcBef>
                <a:spcPts val="155"/>
              </a:spcBef>
            </a:pPr>
            <a:r>
              <a:rPr sz="1950" dirty="0">
                <a:latin typeface="Arial"/>
                <a:cs typeface="Arial"/>
              </a:rPr>
              <a:t>VMWare</a:t>
            </a:r>
            <a:r>
              <a:rPr sz="1950" spc="45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ESXi;</a:t>
            </a:r>
            <a:r>
              <a:rPr sz="1950" spc="50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KVM</a:t>
            </a:r>
            <a:r>
              <a:rPr sz="1950" spc="10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(Proxmox</a:t>
            </a:r>
            <a:r>
              <a:rPr sz="1950" spc="105" dirty="0">
                <a:latin typeface="Arial"/>
                <a:cs typeface="Arial"/>
              </a:rPr>
              <a:t> </a:t>
            </a:r>
            <a:r>
              <a:rPr sz="1950" spc="-20" dirty="0">
                <a:latin typeface="Arial"/>
                <a:cs typeface="Arial"/>
              </a:rPr>
              <a:t>VE);</a:t>
            </a:r>
            <a:endParaRPr sz="1950">
              <a:latin typeface="Arial"/>
              <a:cs typeface="Arial"/>
            </a:endParaRPr>
          </a:p>
          <a:p>
            <a:pPr marL="532765">
              <a:lnSpc>
                <a:spcPts val="2235"/>
              </a:lnSpc>
            </a:pPr>
            <a:r>
              <a:rPr sz="1950" dirty="0">
                <a:latin typeface="Arial"/>
                <a:cs typeface="Arial"/>
              </a:rPr>
              <a:t>Xen</a:t>
            </a:r>
            <a:r>
              <a:rPr sz="1950" spc="6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(Xenserver,</a:t>
            </a:r>
            <a:r>
              <a:rPr sz="1950" spc="5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Citrix</a:t>
            </a:r>
            <a:r>
              <a:rPr sz="1950" spc="6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Hypervisor),</a:t>
            </a:r>
            <a:r>
              <a:rPr sz="1950" spc="9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Windows</a:t>
            </a:r>
            <a:r>
              <a:rPr sz="1950" spc="6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Hyper-V</a:t>
            </a:r>
            <a:r>
              <a:rPr sz="1950" spc="6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Server.</a:t>
            </a:r>
            <a:endParaRPr sz="1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855" y="791108"/>
            <a:ext cx="7965440" cy="1033144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156460">
              <a:lnSpc>
                <a:spcPct val="100000"/>
              </a:lnSpc>
              <a:spcBef>
                <a:spcPts val="1150"/>
              </a:spcBef>
            </a:pPr>
            <a:r>
              <a:rPr dirty="0"/>
              <a:t>Виртуализация</a:t>
            </a:r>
            <a:r>
              <a:rPr spc="-155" dirty="0"/>
              <a:t> </a:t>
            </a:r>
            <a:r>
              <a:rPr spc="-10" dirty="0"/>
              <a:t>платформ</a:t>
            </a: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950" dirty="0">
                <a:solidFill>
                  <a:srgbClr val="000000"/>
                </a:solidFill>
              </a:rPr>
              <a:t>Виртуализация</a:t>
            </a:r>
            <a:r>
              <a:rPr sz="1950" spc="60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уровня</a:t>
            </a:r>
            <a:r>
              <a:rPr sz="1950" spc="65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рабочих</a:t>
            </a:r>
            <a:r>
              <a:rPr sz="1950" spc="70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столов</a:t>
            </a:r>
            <a:r>
              <a:rPr sz="1950" spc="65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-</a:t>
            </a:r>
            <a:r>
              <a:rPr sz="1950" spc="60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гипервизор</a:t>
            </a:r>
            <a:r>
              <a:rPr sz="1950" spc="65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2</a:t>
            </a:r>
            <a:r>
              <a:rPr sz="1950" spc="60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типа</a:t>
            </a:r>
            <a:r>
              <a:rPr sz="1950" spc="65" dirty="0">
                <a:solidFill>
                  <a:srgbClr val="000000"/>
                </a:solidFill>
              </a:rPr>
              <a:t> </a:t>
            </a:r>
            <a:r>
              <a:rPr sz="1950" spc="-10" dirty="0">
                <a:solidFill>
                  <a:srgbClr val="000000"/>
                </a:solidFill>
              </a:rPr>
              <a:t>(hosted)</a:t>
            </a:r>
            <a:endParaRPr sz="1950"/>
          </a:p>
        </p:txBody>
      </p:sp>
      <p:sp>
        <p:nvSpPr>
          <p:cNvPr id="3" name="object 3"/>
          <p:cNvSpPr txBox="1"/>
          <p:nvPr/>
        </p:nvSpPr>
        <p:spPr>
          <a:xfrm>
            <a:off x="560057" y="6169728"/>
            <a:ext cx="5522595" cy="141859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950" spc="-10" dirty="0">
                <a:latin typeface="Arial"/>
                <a:cs typeface="Arial"/>
              </a:rPr>
              <a:t>Примеры:</a:t>
            </a:r>
            <a:endParaRPr sz="1950">
              <a:latin typeface="Arial"/>
              <a:cs typeface="Arial"/>
            </a:endParaRPr>
          </a:p>
          <a:p>
            <a:pPr marL="532765" marR="5080" indent="-16510">
              <a:lnSpc>
                <a:spcPts val="2740"/>
              </a:lnSpc>
              <a:spcBef>
                <a:spcPts val="155"/>
              </a:spcBef>
            </a:pPr>
            <a:r>
              <a:rPr sz="1950" dirty="0">
                <a:latin typeface="Arial"/>
                <a:cs typeface="Arial"/>
              </a:rPr>
              <a:t>Oracle</a:t>
            </a:r>
            <a:r>
              <a:rPr sz="1950" spc="6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VM</a:t>
            </a:r>
            <a:r>
              <a:rPr sz="1950" spc="6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VirtualBox,</a:t>
            </a:r>
            <a:r>
              <a:rPr sz="1950" spc="9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VMWare</a:t>
            </a:r>
            <a:r>
              <a:rPr sz="1950" spc="60" dirty="0">
                <a:latin typeface="Arial"/>
                <a:cs typeface="Arial"/>
              </a:rPr>
              <a:t> </a:t>
            </a:r>
            <a:r>
              <a:rPr sz="1950" spc="-10" dirty="0">
                <a:latin typeface="Arial"/>
                <a:cs typeface="Arial"/>
              </a:rPr>
              <a:t>Workstation; </a:t>
            </a:r>
            <a:r>
              <a:rPr sz="1950" dirty="0">
                <a:latin typeface="Arial"/>
                <a:cs typeface="Arial"/>
              </a:rPr>
              <a:t>KVM</a:t>
            </a:r>
            <a:r>
              <a:rPr sz="1950" spc="10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(Proxmox</a:t>
            </a:r>
            <a:r>
              <a:rPr sz="1950" spc="105" dirty="0">
                <a:latin typeface="Arial"/>
                <a:cs typeface="Arial"/>
              </a:rPr>
              <a:t> </a:t>
            </a:r>
            <a:r>
              <a:rPr sz="1950" spc="-20" dirty="0">
                <a:latin typeface="Arial"/>
                <a:cs typeface="Arial"/>
              </a:rPr>
              <a:t>VE);</a:t>
            </a:r>
            <a:endParaRPr sz="1950">
              <a:latin typeface="Arial"/>
              <a:cs typeface="Arial"/>
            </a:endParaRPr>
          </a:p>
          <a:p>
            <a:pPr marL="532765">
              <a:lnSpc>
                <a:spcPct val="100000"/>
              </a:lnSpc>
              <a:spcBef>
                <a:spcPts val="254"/>
              </a:spcBef>
            </a:pPr>
            <a:r>
              <a:rPr sz="1950" dirty="0">
                <a:latin typeface="Arial"/>
                <a:cs typeface="Arial"/>
              </a:rPr>
              <a:t>Windows</a:t>
            </a:r>
            <a:r>
              <a:rPr sz="1950" spc="7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Server</a:t>
            </a:r>
            <a:r>
              <a:rPr sz="1950" spc="85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(роль</a:t>
            </a:r>
            <a:r>
              <a:rPr sz="1950" spc="90" dirty="0">
                <a:latin typeface="Arial"/>
                <a:cs typeface="Arial"/>
              </a:rPr>
              <a:t> </a:t>
            </a:r>
            <a:r>
              <a:rPr sz="1950" dirty="0">
                <a:latin typeface="Arial"/>
                <a:cs typeface="Arial"/>
              </a:rPr>
              <a:t>Hyper-</a:t>
            </a:r>
            <a:r>
              <a:rPr sz="1950" spc="-25" dirty="0">
                <a:latin typeface="Arial"/>
                <a:cs typeface="Arial"/>
              </a:rPr>
              <a:t>V).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0644" y="1939322"/>
            <a:ext cx="3914279" cy="458100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855" y="791108"/>
            <a:ext cx="7094855" cy="1033144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2156460">
              <a:lnSpc>
                <a:spcPct val="100000"/>
              </a:lnSpc>
              <a:spcBef>
                <a:spcPts val="1150"/>
              </a:spcBef>
            </a:pPr>
            <a:r>
              <a:rPr dirty="0"/>
              <a:t>Виртуализация</a:t>
            </a:r>
            <a:r>
              <a:rPr spc="-155" dirty="0"/>
              <a:t> </a:t>
            </a:r>
            <a:r>
              <a:rPr spc="-10" dirty="0"/>
              <a:t>платформ</a:t>
            </a: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950" dirty="0">
                <a:solidFill>
                  <a:srgbClr val="000000"/>
                </a:solidFill>
              </a:rPr>
              <a:t>Виртуализация</a:t>
            </a:r>
            <a:r>
              <a:rPr sz="1950" spc="85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уровня</a:t>
            </a:r>
            <a:r>
              <a:rPr sz="1950" spc="90" dirty="0">
                <a:solidFill>
                  <a:srgbClr val="000000"/>
                </a:solidFill>
              </a:rPr>
              <a:t> </a:t>
            </a:r>
            <a:r>
              <a:rPr sz="1950" dirty="0">
                <a:solidFill>
                  <a:srgbClr val="000000"/>
                </a:solidFill>
              </a:rPr>
              <a:t>ОС</a:t>
            </a:r>
            <a:r>
              <a:rPr sz="1950" spc="90" dirty="0">
                <a:solidFill>
                  <a:srgbClr val="000000"/>
                </a:solidFill>
              </a:rPr>
              <a:t> </a:t>
            </a:r>
            <a:r>
              <a:rPr sz="1950" spc="-10" dirty="0">
                <a:solidFill>
                  <a:srgbClr val="000000"/>
                </a:solidFill>
              </a:rPr>
              <a:t>(контейнеризация)</a:t>
            </a:r>
            <a:endParaRPr sz="1950"/>
          </a:p>
        </p:txBody>
      </p:sp>
      <p:sp>
        <p:nvSpPr>
          <p:cNvPr id="3" name="object 3"/>
          <p:cNvSpPr txBox="1"/>
          <p:nvPr/>
        </p:nvSpPr>
        <p:spPr>
          <a:xfrm>
            <a:off x="560057" y="6493006"/>
            <a:ext cx="1907539" cy="1069975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1950" spc="-10" dirty="0">
                <a:latin typeface="Arial"/>
                <a:cs typeface="Arial"/>
              </a:rPr>
              <a:t>Примеры:</a:t>
            </a:r>
            <a:endParaRPr sz="1950">
              <a:latin typeface="Arial"/>
              <a:cs typeface="Arial"/>
            </a:endParaRPr>
          </a:p>
          <a:p>
            <a:pPr marL="532765" marR="5080">
              <a:lnSpc>
                <a:spcPct val="117100"/>
              </a:lnSpc>
              <a:spcBef>
                <a:spcPts val="5"/>
              </a:spcBef>
            </a:pPr>
            <a:r>
              <a:rPr sz="1950" spc="-10" dirty="0">
                <a:latin typeface="Arial"/>
                <a:cs typeface="Arial"/>
              </a:rPr>
              <a:t>Docker; Kubernetes.</a:t>
            </a:r>
            <a:endParaRPr sz="19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0644" y="2511000"/>
            <a:ext cx="3914279" cy="343800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55090">
              <a:lnSpc>
                <a:spcPct val="100000"/>
              </a:lnSpc>
              <a:spcBef>
                <a:spcPts val="100"/>
              </a:spcBef>
            </a:pPr>
            <a:r>
              <a:rPr dirty="0"/>
              <a:t>Пространство</a:t>
            </a:r>
            <a:r>
              <a:rPr spc="-95" dirty="0"/>
              <a:t> </a:t>
            </a:r>
            <a:r>
              <a:rPr spc="-20" dirty="0"/>
              <a:t>имен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37" y="1522711"/>
            <a:ext cx="9617710" cy="1560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8435" algn="just">
              <a:lnSpc>
                <a:spcPct val="114799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Пространства</a:t>
            </a:r>
            <a:r>
              <a:rPr sz="1800" spc="3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имен</a:t>
            </a:r>
            <a:r>
              <a:rPr sz="1800" spc="3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-</a:t>
            </a:r>
            <a:r>
              <a:rPr sz="1800" spc="3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это</a:t>
            </a:r>
            <a:r>
              <a:rPr sz="1800" spc="3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особенность</a:t>
            </a:r>
            <a:r>
              <a:rPr sz="1800" spc="3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ядра</a:t>
            </a:r>
            <a:r>
              <a:rPr sz="1800" spc="3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Linux,</a:t>
            </a:r>
            <a:r>
              <a:rPr sz="1800" spc="3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которая</a:t>
            </a:r>
            <a:r>
              <a:rPr sz="1800" spc="3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разделяет</a:t>
            </a:r>
            <a:r>
              <a:rPr sz="1800" spc="37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ресурсы</a:t>
            </a:r>
            <a:r>
              <a:rPr sz="1800" spc="37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ядра </a:t>
            </a:r>
            <a:r>
              <a:rPr sz="1800" dirty="0">
                <a:latin typeface="Arial"/>
                <a:cs typeface="Arial"/>
              </a:rPr>
              <a:t>таким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образом,</a:t>
            </a:r>
            <a:r>
              <a:rPr sz="1800" spc="2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что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один</a:t>
            </a:r>
            <a:r>
              <a:rPr sz="1800" spc="22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набор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процессов</a:t>
            </a:r>
            <a:r>
              <a:rPr sz="1800" spc="2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видит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один</a:t>
            </a:r>
            <a:r>
              <a:rPr sz="1800" spc="229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набор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ресурсов,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</a:t>
            </a:r>
            <a:r>
              <a:rPr sz="1800" spc="23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то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время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как </a:t>
            </a:r>
            <a:r>
              <a:rPr sz="1800" dirty="0">
                <a:latin typeface="Arial"/>
                <a:cs typeface="Arial"/>
              </a:rPr>
              <a:t>другой</a:t>
            </a:r>
            <a:r>
              <a:rPr sz="1800" spc="-5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набор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процессов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видит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другой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набор</a:t>
            </a:r>
            <a:r>
              <a:rPr sz="1800" spc="-6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ресурсов.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1800">
              <a:latin typeface="Arial"/>
              <a:cs typeface="Arial"/>
            </a:endParaRPr>
          </a:p>
          <a:p>
            <a:pPr marL="191135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Arial"/>
                <a:cs typeface="Arial"/>
              </a:rPr>
              <a:t>Существующие</a:t>
            </a:r>
            <a:r>
              <a:rPr sz="1800" spc="-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типы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пространств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имён: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16925" y="3239370"/>
          <a:ext cx="7417435" cy="4038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8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8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1985">
                <a:tc>
                  <a:txBody>
                    <a:bodyPr/>
                    <a:lstStyle/>
                    <a:p>
                      <a:pPr marL="847725" marR="327660" indent="-513080">
                        <a:lnSpc>
                          <a:spcPts val="2020"/>
                        </a:lnSpc>
                        <a:spcBef>
                          <a:spcPts val="530"/>
                        </a:spcBef>
                      </a:pPr>
                      <a:r>
                        <a:rPr sz="1800" b="1" spc="-20" dirty="0">
                          <a:latin typeface="Arial"/>
                          <a:cs typeface="Arial"/>
                        </a:rPr>
                        <a:t>Пространство имён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55"/>
                        </a:spcBef>
                      </a:pPr>
                      <a:r>
                        <a:rPr sz="1800" b="1" dirty="0">
                          <a:latin typeface="Arial"/>
                          <a:cs typeface="Arial"/>
                        </a:rPr>
                        <a:t>Что</a:t>
                      </a:r>
                      <a:r>
                        <a:rPr sz="1800" b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изолирует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172085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B2B2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PID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Номера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процессов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NETWORK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10" dirty="0">
                          <a:latin typeface="Arial"/>
                          <a:cs typeface="Arial"/>
                        </a:rPr>
                        <a:t>Сетевые</a:t>
                      </a:r>
                      <a:r>
                        <a:rPr sz="18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устройства,</a:t>
                      </a:r>
                      <a:r>
                        <a:rPr sz="18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стеки,</a:t>
                      </a:r>
                      <a:r>
                        <a:rPr sz="18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порты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18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т.п.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1" spc="-20" dirty="0">
                          <a:latin typeface="Arial"/>
                          <a:cs typeface="Arial"/>
                        </a:rPr>
                        <a:t>USER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ID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 пользователей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групп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MOUNT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Точки</a:t>
                      </a:r>
                      <a:r>
                        <a:rPr sz="1800" spc="-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монтирования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198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IPC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2196465" marR="108585" indent="-2084070">
                        <a:lnSpc>
                          <a:spcPts val="2020"/>
                        </a:lnSpc>
                        <a:spcBef>
                          <a:spcPts val="38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Семафор,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очередь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сообщений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1800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разделяемая память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6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1" spc="-25" dirty="0">
                          <a:latin typeface="Arial"/>
                          <a:cs typeface="Arial"/>
                        </a:rPr>
                        <a:t>UTS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Имя</a:t>
                      </a:r>
                      <a:r>
                        <a:rPr sz="1800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хоста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доменное</a:t>
                      </a:r>
                      <a:r>
                        <a:rPr sz="18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5" dirty="0">
                          <a:latin typeface="Arial"/>
                          <a:cs typeface="Arial"/>
                        </a:rPr>
                        <a:t>имя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E5E5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163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CGROUP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156210" marR="151765" algn="ctr">
                        <a:lnSpc>
                          <a:spcPts val="2020"/>
                        </a:lnSpc>
                        <a:spcBef>
                          <a:spcPts val="380"/>
                        </a:spcBef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ограничения</a:t>
                      </a:r>
                      <a:r>
                        <a:rPr sz="1800" spc="-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ресурсов</a:t>
                      </a:r>
                      <a:r>
                        <a:rPr sz="18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(ЦП,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память,</a:t>
                      </a:r>
                      <a:r>
                        <a:rPr sz="18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дисковое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пространство,</a:t>
                      </a:r>
                      <a:r>
                        <a:rPr sz="18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сетевой</a:t>
                      </a:r>
                      <a:r>
                        <a:rPr sz="18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трафик</a:t>
                      </a:r>
                      <a:r>
                        <a:rPr sz="1800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и</a:t>
                      </a:r>
                      <a:r>
                        <a:rPr sz="1800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20" dirty="0">
                          <a:latin typeface="Arial"/>
                          <a:cs typeface="Arial"/>
                        </a:rPr>
                        <a:t>др.)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algn="ctr">
                        <a:lnSpc>
                          <a:spcPts val="1964"/>
                        </a:lnSpc>
                      </a:pPr>
                      <a:r>
                        <a:rPr sz="1800" dirty="0">
                          <a:latin typeface="Arial"/>
                          <a:cs typeface="Arial"/>
                        </a:rPr>
                        <a:t>для</a:t>
                      </a:r>
                      <a:r>
                        <a:rPr sz="18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dirty="0">
                          <a:latin typeface="Arial"/>
                          <a:cs typeface="Arial"/>
                        </a:rPr>
                        <a:t>группы</a:t>
                      </a:r>
                      <a:r>
                        <a:rPr sz="18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800" spc="-10" dirty="0">
                          <a:latin typeface="Arial"/>
                          <a:cs typeface="Arial"/>
                        </a:rPr>
                        <a:t>процессов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48260" marB="0">
                    <a:lnL w="3175">
                      <a:solidFill>
                        <a:srgbClr val="FFFFFF"/>
                      </a:solidFill>
                      <a:prstDash val="solid"/>
                    </a:lnL>
                    <a:lnR w="3175">
                      <a:solidFill>
                        <a:srgbClr val="FFFFFF"/>
                      </a:solidFill>
                      <a:prstDash val="solid"/>
                    </a:lnR>
                    <a:lnT w="3175">
                      <a:solidFill>
                        <a:srgbClr val="FFFFFF"/>
                      </a:solidFill>
                      <a:prstDash val="solid"/>
                    </a:lnT>
                    <a:lnB w="3175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7305">
              <a:lnSpc>
                <a:spcPct val="100000"/>
              </a:lnSpc>
              <a:spcBef>
                <a:spcPts val="100"/>
              </a:spcBef>
            </a:pPr>
            <a:r>
              <a:rPr dirty="0"/>
              <a:t>Пространство</a:t>
            </a:r>
            <a:r>
              <a:rPr spc="-95" dirty="0"/>
              <a:t> </a:t>
            </a:r>
            <a:r>
              <a:rPr spc="-20" dirty="0"/>
              <a:t>имен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518" y="2170567"/>
            <a:ext cx="5057045" cy="437670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43600" y="2538013"/>
            <a:ext cx="3657600" cy="389987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17855" y="1707026"/>
            <a:ext cx="4377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На</a:t>
            </a:r>
            <a:r>
              <a:rPr sz="1800" b="1" spc="-6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примере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изоляция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процессов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(PID)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6619" y="3360503"/>
            <a:ext cx="7370445" cy="9690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090420" marR="5080" indent="-2078355">
              <a:lnSpc>
                <a:spcPts val="3590"/>
              </a:lnSpc>
              <a:spcBef>
                <a:spcPts val="425"/>
              </a:spcBef>
            </a:pPr>
            <a:r>
              <a:rPr sz="3200" dirty="0">
                <a:latin typeface="Arial"/>
                <a:cs typeface="Arial"/>
              </a:rPr>
              <a:t>Виртуализация</a:t>
            </a:r>
            <a:r>
              <a:rPr sz="3200" spc="-1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вычислительных</a:t>
            </a:r>
            <a:r>
              <a:rPr sz="3200" spc="-16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сетей </a:t>
            </a:r>
            <a:r>
              <a:rPr sz="3200" dirty="0">
                <a:latin typeface="Arial"/>
                <a:cs typeface="Arial"/>
              </a:rPr>
              <a:t>(технология</a:t>
            </a:r>
            <a:r>
              <a:rPr sz="3200" spc="-21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NFV)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4585">
              <a:lnSpc>
                <a:spcPct val="100000"/>
              </a:lnSpc>
              <a:spcBef>
                <a:spcPts val="100"/>
              </a:spcBef>
            </a:pPr>
            <a:r>
              <a:rPr dirty="0"/>
              <a:t>Модели</a:t>
            </a:r>
            <a:r>
              <a:rPr spc="-75" dirty="0"/>
              <a:t> </a:t>
            </a:r>
            <a:r>
              <a:rPr dirty="0"/>
              <a:t>OSI</a:t>
            </a:r>
            <a:r>
              <a:rPr spc="-65" dirty="0"/>
              <a:t> </a:t>
            </a:r>
            <a:r>
              <a:rPr dirty="0"/>
              <a:t>и</a:t>
            </a:r>
            <a:r>
              <a:rPr spc="-65" dirty="0"/>
              <a:t> </a:t>
            </a:r>
            <a:r>
              <a:rPr spc="-10" dirty="0"/>
              <a:t>TCP/IP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2500" y="1549343"/>
            <a:ext cx="58877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Arial"/>
                <a:cs typeface="Arial"/>
              </a:rPr>
              <a:t>Cетевая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модель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передачи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данных,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представленных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в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цифровом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виде.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037547" y="2129771"/>
            <a:ext cx="7994650" cy="5168265"/>
            <a:chOff x="2037547" y="2129771"/>
            <a:chExt cx="7994650" cy="51682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7547" y="2129771"/>
              <a:ext cx="6125239" cy="516767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06194" y="6151226"/>
              <a:ext cx="1143000" cy="43833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641233" y="5372653"/>
              <a:ext cx="1390522" cy="49895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220595" y="4703409"/>
              <a:ext cx="1416596" cy="560306"/>
            </a:xfrm>
            <a:prstGeom prst="rect">
              <a:avLst/>
            </a:prstGeom>
          </p:spPr>
        </p:pic>
      </p:grpSp>
      <p:grpSp>
        <p:nvGrpSpPr>
          <p:cNvPr id="9" name="object 9"/>
          <p:cNvGrpSpPr/>
          <p:nvPr/>
        </p:nvGrpSpPr>
        <p:grpSpPr>
          <a:xfrm>
            <a:off x="264604" y="5028851"/>
            <a:ext cx="1492250" cy="1464945"/>
            <a:chOff x="264604" y="5028851"/>
            <a:chExt cx="1492250" cy="146494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4604" y="5868778"/>
              <a:ext cx="685800" cy="62484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0993" y="5028851"/>
              <a:ext cx="865797" cy="86579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2000" y="1599838"/>
            <a:ext cx="5204460" cy="5040630"/>
            <a:chOff x="4572000" y="1599838"/>
            <a:chExt cx="5204460" cy="50406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62777" y="3868930"/>
              <a:ext cx="4013273" cy="277106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2000" y="1599838"/>
              <a:ext cx="3707282" cy="3707282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62560" marR="106045" indent="2540" algn="ctr">
              <a:lnSpc>
                <a:spcPct val="92900"/>
              </a:lnSpc>
              <a:spcBef>
                <a:spcPts val="270"/>
              </a:spcBef>
            </a:pPr>
            <a:r>
              <a:rPr dirty="0">
                <a:solidFill>
                  <a:srgbClr val="214443"/>
                </a:solidFill>
              </a:rPr>
              <a:t>Мост</a:t>
            </a:r>
            <a:r>
              <a:rPr spc="-25" dirty="0">
                <a:solidFill>
                  <a:srgbClr val="214443"/>
                </a:solidFill>
              </a:rPr>
              <a:t> </a:t>
            </a:r>
            <a:r>
              <a:rPr dirty="0">
                <a:solidFill>
                  <a:srgbClr val="214443"/>
                </a:solidFill>
              </a:rPr>
              <a:t>(bridge)</a:t>
            </a:r>
            <a:r>
              <a:rPr spc="5" dirty="0">
                <a:solidFill>
                  <a:srgbClr val="214443"/>
                </a:solidFill>
              </a:rPr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это</a:t>
            </a:r>
            <a:r>
              <a:rPr spc="-20" dirty="0"/>
              <a:t> </a:t>
            </a:r>
            <a:r>
              <a:rPr spc="-10" dirty="0"/>
              <a:t>сетевое </a:t>
            </a:r>
            <a:r>
              <a:rPr dirty="0"/>
              <a:t>устройство,</a:t>
            </a:r>
            <a:r>
              <a:rPr spc="-85" dirty="0"/>
              <a:t> </a:t>
            </a:r>
            <a:r>
              <a:rPr dirty="0"/>
              <a:t>соединяющее</a:t>
            </a:r>
            <a:r>
              <a:rPr spc="-75" dirty="0"/>
              <a:t> </a:t>
            </a:r>
            <a:r>
              <a:rPr spc="-10" dirty="0"/>
              <a:t>между </a:t>
            </a:r>
            <a:r>
              <a:rPr dirty="0"/>
              <a:t>собой</a:t>
            </a:r>
            <a:r>
              <a:rPr spc="10" dirty="0"/>
              <a:t> </a:t>
            </a:r>
            <a:r>
              <a:rPr dirty="0"/>
              <a:t>сегменты</a:t>
            </a:r>
            <a:r>
              <a:rPr spc="15" dirty="0"/>
              <a:t> </a:t>
            </a:r>
            <a:r>
              <a:rPr dirty="0"/>
              <a:t>локальной</a:t>
            </a:r>
            <a:r>
              <a:rPr spc="10" dirty="0"/>
              <a:t> </a:t>
            </a:r>
            <a:r>
              <a:rPr spc="-10" dirty="0"/>
              <a:t>сети.</a:t>
            </a:r>
          </a:p>
          <a:p>
            <a:pPr marL="12700" marR="5080">
              <a:lnSpc>
                <a:spcPct val="92900"/>
              </a:lnSpc>
              <a:spcBef>
                <a:spcPts val="2230"/>
              </a:spcBef>
            </a:pPr>
            <a:r>
              <a:rPr dirty="0">
                <a:solidFill>
                  <a:srgbClr val="000000"/>
                </a:solidFill>
              </a:rPr>
              <a:t>Мост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отвечает </a:t>
            </a:r>
            <a:r>
              <a:rPr dirty="0">
                <a:solidFill>
                  <a:srgbClr val="000000"/>
                </a:solidFill>
              </a:rPr>
              <a:t>за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разделение </a:t>
            </a:r>
            <a:r>
              <a:rPr dirty="0">
                <a:solidFill>
                  <a:srgbClr val="000000"/>
                </a:solidFill>
              </a:rPr>
              <a:t>единой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сети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на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различные</a:t>
            </a:r>
            <a:r>
              <a:rPr spc="-5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сетевые </a:t>
            </a:r>
            <a:r>
              <a:rPr dirty="0">
                <a:solidFill>
                  <a:srgbClr val="000000"/>
                </a:solidFill>
              </a:rPr>
              <a:t>сегменты.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Сегментация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позволяет </a:t>
            </a:r>
            <a:r>
              <a:rPr dirty="0">
                <a:solidFill>
                  <a:srgbClr val="000000"/>
                </a:solidFill>
              </a:rPr>
              <a:t>уменьшить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сетевой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трафик</a:t>
            </a:r>
            <a:r>
              <a:rPr spc="-70" dirty="0">
                <a:solidFill>
                  <a:srgbClr val="000000"/>
                </a:solidFill>
              </a:rPr>
              <a:t> </a:t>
            </a:r>
            <a:r>
              <a:rPr spc="-50" dirty="0">
                <a:solidFill>
                  <a:srgbClr val="000000"/>
                </a:solidFill>
              </a:rPr>
              <a:t>и </a:t>
            </a:r>
            <a:r>
              <a:rPr dirty="0">
                <a:solidFill>
                  <a:srgbClr val="000000"/>
                </a:solidFill>
              </a:rPr>
              <a:t>повысить</a:t>
            </a:r>
            <a:r>
              <a:rPr spc="-40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пропускную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способность </a:t>
            </a:r>
            <a:r>
              <a:rPr dirty="0">
                <a:solidFill>
                  <a:srgbClr val="000000"/>
                </a:solidFill>
              </a:rPr>
              <a:t>сегмента</a:t>
            </a:r>
            <a:r>
              <a:rPr spc="-15" dirty="0">
                <a:solidFill>
                  <a:srgbClr val="000000"/>
                </a:solidFill>
              </a:rPr>
              <a:t> </a:t>
            </a:r>
            <a:r>
              <a:rPr spc="-20" dirty="0">
                <a:solidFill>
                  <a:srgbClr val="000000"/>
                </a:solidFill>
              </a:rPr>
              <a:t>сети.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02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Сетевое</a:t>
            </a:r>
            <a:r>
              <a:rPr spc="-155" dirty="0"/>
              <a:t> </a:t>
            </a:r>
            <a:r>
              <a:rPr spc="-10" dirty="0"/>
              <a:t>оборудование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025" y="1609097"/>
            <a:ext cx="4162425" cy="316230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15570" marR="5080" algn="ctr">
              <a:lnSpc>
                <a:spcPct val="92900"/>
              </a:lnSpc>
              <a:spcBef>
                <a:spcPts val="270"/>
              </a:spcBef>
            </a:pPr>
            <a:r>
              <a:rPr sz="2000" dirty="0">
                <a:solidFill>
                  <a:srgbClr val="214443"/>
                </a:solidFill>
                <a:latin typeface="Arial"/>
                <a:cs typeface="Arial"/>
              </a:rPr>
              <a:t>Коммутатор</a:t>
            </a:r>
            <a:r>
              <a:rPr sz="2000" spc="-45" dirty="0">
                <a:solidFill>
                  <a:srgbClr val="21444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14443"/>
                </a:solidFill>
                <a:latin typeface="Arial"/>
                <a:cs typeface="Arial"/>
              </a:rPr>
              <a:t>(switch)</a:t>
            </a:r>
            <a:r>
              <a:rPr sz="2000" spc="-25" dirty="0">
                <a:solidFill>
                  <a:srgbClr val="21444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–</a:t>
            </a:r>
            <a:r>
              <a:rPr sz="20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это</a:t>
            </a:r>
            <a:r>
              <a:rPr sz="20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сетевое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устройство,</a:t>
            </a:r>
            <a:r>
              <a:rPr sz="20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предназначенное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 для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соединения</a:t>
            </a:r>
            <a:r>
              <a:rPr sz="2000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нескольких</a:t>
            </a:r>
            <a:r>
              <a:rPr sz="20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узлов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компьютерной</a:t>
            </a:r>
            <a:r>
              <a:rPr sz="2000" spc="-5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сети</a:t>
            </a:r>
            <a:r>
              <a:rPr sz="20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в</a:t>
            </a:r>
            <a:r>
              <a:rPr sz="20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пределах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одного</a:t>
            </a:r>
            <a:r>
              <a:rPr sz="2000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или</a:t>
            </a:r>
            <a:r>
              <a:rPr sz="2000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нескольких</a:t>
            </a:r>
            <a:r>
              <a:rPr sz="2000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сегментов сети.</a:t>
            </a:r>
            <a:endParaRPr sz="2000">
              <a:latin typeface="Arial"/>
              <a:cs typeface="Arial"/>
            </a:endParaRPr>
          </a:p>
          <a:p>
            <a:pPr marL="12700" marR="756920" algn="just">
              <a:lnSpc>
                <a:spcPts val="2230"/>
              </a:lnSpc>
              <a:spcBef>
                <a:spcPts val="2275"/>
              </a:spcBef>
            </a:pPr>
            <a:r>
              <a:rPr sz="2000" dirty="0">
                <a:latin typeface="Arial"/>
                <a:cs typeface="Arial"/>
              </a:rPr>
              <a:t>Сетевой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адаптер</a:t>
            </a:r>
            <a:r>
              <a:rPr sz="2000" spc="-7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совместно </a:t>
            </a:r>
            <a:r>
              <a:rPr sz="2000" dirty="0">
                <a:latin typeface="Arial"/>
                <a:cs typeface="Arial"/>
              </a:rPr>
              <a:t>с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драйвером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выполняют</a:t>
            </a:r>
            <a:r>
              <a:rPr sz="2000" spc="-6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две </a:t>
            </a:r>
            <a:r>
              <a:rPr sz="2000" spc="-10" dirty="0">
                <a:latin typeface="Arial"/>
                <a:cs typeface="Arial"/>
              </a:rPr>
              <a:t>операции:</a:t>
            </a:r>
            <a:endParaRPr sz="2000">
              <a:latin typeface="Arial"/>
              <a:cs typeface="Arial"/>
            </a:endParaRPr>
          </a:p>
          <a:p>
            <a:pPr marL="12700" algn="just">
              <a:lnSpc>
                <a:spcPts val="2185"/>
              </a:lnSpc>
            </a:pPr>
            <a:r>
              <a:rPr sz="2000" dirty="0">
                <a:latin typeface="Arial"/>
                <a:cs typeface="Arial"/>
              </a:rPr>
              <a:t>передачу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и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приём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кадра.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4114820"/>
            <a:ext cx="6422034" cy="34286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11870" y="1888661"/>
            <a:ext cx="3406731" cy="158202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02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Сетевое</a:t>
            </a:r>
            <a:r>
              <a:rPr spc="-155" dirty="0"/>
              <a:t> </a:t>
            </a:r>
            <a:r>
              <a:rPr spc="-10" dirty="0"/>
              <a:t>оборудование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0280">
              <a:lnSpc>
                <a:spcPct val="100000"/>
              </a:lnSpc>
              <a:spcBef>
                <a:spcPts val="100"/>
              </a:spcBef>
            </a:pPr>
            <a:r>
              <a:rPr dirty="0"/>
              <a:t>Сетевое</a:t>
            </a:r>
            <a:r>
              <a:rPr spc="-220" dirty="0"/>
              <a:t> </a:t>
            </a:r>
            <a:r>
              <a:rPr spc="-10" dirty="0"/>
              <a:t>оборудование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64769" marR="5080" indent="-1905" algn="ctr">
              <a:lnSpc>
                <a:spcPct val="92900"/>
              </a:lnSpc>
              <a:spcBef>
                <a:spcPts val="270"/>
              </a:spcBef>
            </a:pPr>
            <a:r>
              <a:rPr dirty="0">
                <a:solidFill>
                  <a:srgbClr val="214443"/>
                </a:solidFill>
              </a:rPr>
              <a:t>Шлюз</a:t>
            </a:r>
            <a:r>
              <a:rPr spc="-30" dirty="0">
                <a:solidFill>
                  <a:srgbClr val="214443"/>
                </a:solidFill>
              </a:rPr>
              <a:t> </a:t>
            </a:r>
            <a:r>
              <a:rPr dirty="0">
                <a:solidFill>
                  <a:srgbClr val="214443"/>
                </a:solidFill>
              </a:rPr>
              <a:t>(gateway)</a:t>
            </a:r>
            <a:r>
              <a:rPr spc="-15" dirty="0">
                <a:solidFill>
                  <a:srgbClr val="214443"/>
                </a:solidFill>
              </a:rPr>
              <a:t> </a:t>
            </a:r>
            <a:r>
              <a:rPr dirty="0"/>
              <a:t>–</a:t>
            </a:r>
            <a:r>
              <a:rPr spc="-30" dirty="0"/>
              <a:t> </a:t>
            </a:r>
            <a:r>
              <a:rPr dirty="0"/>
              <a:t>это</a:t>
            </a:r>
            <a:r>
              <a:rPr spc="-25" dirty="0"/>
              <a:t> </a:t>
            </a:r>
            <a:r>
              <a:rPr spc="-10" dirty="0"/>
              <a:t>сетевое </a:t>
            </a:r>
            <a:r>
              <a:rPr dirty="0"/>
              <a:t>устройство,</a:t>
            </a:r>
            <a:r>
              <a:rPr spc="-35" dirty="0"/>
              <a:t> </a:t>
            </a:r>
            <a:r>
              <a:rPr spc="-10" dirty="0"/>
              <a:t>предназначенное</a:t>
            </a:r>
            <a:r>
              <a:rPr spc="-25" dirty="0"/>
              <a:t> для </a:t>
            </a:r>
            <a:r>
              <a:rPr dirty="0"/>
              <a:t>соединения</a:t>
            </a:r>
            <a:r>
              <a:rPr spc="-65" dirty="0"/>
              <a:t> </a:t>
            </a:r>
            <a:r>
              <a:rPr spc="-10" dirty="0"/>
              <a:t>нескольких </a:t>
            </a:r>
            <a:r>
              <a:rPr dirty="0"/>
              <a:t>компьютерных</a:t>
            </a:r>
            <a:r>
              <a:rPr spc="-50" dirty="0"/>
              <a:t> </a:t>
            </a:r>
            <a:r>
              <a:rPr spc="-10" dirty="0"/>
              <a:t>сетей, использующих</a:t>
            </a:r>
            <a:r>
              <a:rPr spc="-25" dirty="0"/>
              <a:t> </a:t>
            </a:r>
            <a:r>
              <a:rPr dirty="0"/>
              <a:t>разные</a:t>
            </a:r>
            <a:r>
              <a:rPr spc="-30" dirty="0"/>
              <a:t> </a:t>
            </a:r>
            <a:r>
              <a:rPr spc="-10" dirty="0"/>
              <a:t>протоколы.</a:t>
            </a:r>
          </a:p>
          <a:p>
            <a:pPr marL="12700" marR="2104390">
              <a:lnSpc>
                <a:spcPts val="2230"/>
              </a:lnSpc>
              <a:spcBef>
                <a:spcPts val="2280"/>
              </a:spcBef>
            </a:pPr>
            <a:r>
              <a:rPr dirty="0">
                <a:solidFill>
                  <a:srgbClr val="000000"/>
                </a:solidFill>
              </a:rPr>
              <a:t>Основная</a:t>
            </a:r>
            <a:r>
              <a:rPr spc="-20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задача сетевого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шлюза</a:t>
            </a:r>
          </a:p>
          <a:p>
            <a:pPr marL="12700">
              <a:lnSpc>
                <a:spcPts val="2100"/>
              </a:lnSpc>
            </a:pPr>
            <a:r>
              <a:rPr dirty="0">
                <a:solidFill>
                  <a:srgbClr val="000000"/>
                </a:solidFill>
              </a:rPr>
              <a:t>это</a:t>
            </a:r>
            <a:r>
              <a:rPr spc="-3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конвертировать</a:t>
            </a:r>
            <a:r>
              <a:rPr spc="-4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протокол</a:t>
            </a:r>
          </a:p>
          <a:p>
            <a:pPr marL="12700">
              <a:lnSpc>
                <a:spcPts val="2315"/>
              </a:lnSpc>
            </a:pPr>
            <a:r>
              <a:rPr dirty="0">
                <a:solidFill>
                  <a:srgbClr val="000000"/>
                </a:solidFill>
              </a:rPr>
              <a:t>между</a:t>
            </a:r>
            <a:r>
              <a:rPr spc="-2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сетями.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1147" y="2024960"/>
            <a:ext cx="5211993" cy="18388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9018" y="5054191"/>
            <a:ext cx="6538111" cy="225202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1025" y="1609097"/>
            <a:ext cx="4074160" cy="372999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01930" marR="5080" indent="635" algn="ctr">
              <a:lnSpc>
                <a:spcPct val="92900"/>
              </a:lnSpc>
              <a:spcBef>
                <a:spcPts val="270"/>
              </a:spcBef>
            </a:pPr>
            <a:r>
              <a:rPr sz="2000" dirty="0">
                <a:solidFill>
                  <a:srgbClr val="214443"/>
                </a:solidFill>
                <a:latin typeface="Arial"/>
                <a:cs typeface="Arial"/>
              </a:rPr>
              <a:t>Маршрутизатор</a:t>
            </a:r>
            <a:r>
              <a:rPr sz="2000" spc="-30" dirty="0">
                <a:solidFill>
                  <a:srgbClr val="21444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14443"/>
                </a:solidFill>
                <a:latin typeface="Arial"/>
                <a:cs typeface="Arial"/>
              </a:rPr>
              <a:t>(router)</a:t>
            </a:r>
            <a:r>
              <a:rPr sz="2000" spc="-15" dirty="0">
                <a:solidFill>
                  <a:srgbClr val="214443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–</a:t>
            </a:r>
            <a:r>
              <a:rPr sz="2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это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сетевое</a:t>
            </a:r>
            <a:r>
              <a:rPr sz="2000" spc="-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устройство,</a:t>
            </a:r>
            <a:r>
              <a:rPr sz="2000" spc="-8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которое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пересылает</a:t>
            </a:r>
            <a:r>
              <a:rPr sz="2000" spc="-9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пакеты</a:t>
            </a:r>
            <a:r>
              <a:rPr sz="2000" spc="-8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0000FF"/>
                </a:solidFill>
                <a:latin typeface="Arial"/>
                <a:cs typeface="Arial"/>
              </a:rPr>
              <a:t>между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различными</a:t>
            </a:r>
            <a:r>
              <a:rPr sz="2000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сегментами</a:t>
            </a:r>
            <a:r>
              <a:rPr sz="2000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сети</a:t>
            </a:r>
            <a:r>
              <a:rPr sz="2000" spc="-5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0000FF"/>
                </a:solidFill>
                <a:latin typeface="Arial"/>
                <a:cs typeface="Arial"/>
              </a:rPr>
              <a:t>на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основе</a:t>
            </a:r>
            <a:r>
              <a:rPr sz="2000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правил</a:t>
            </a:r>
            <a:r>
              <a:rPr sz="2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и</a:t>
            </a:r>
            <a:r>
              <a:rPr sz="2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таблиц маршрутизации.</a:t>
            </a:r>
            <a:endParaRPr sz="2000">
              <a:latin typeface="Arial"/>
              <a:cs typeface="Arial"/>
            </a:endParaRPr>
          </a:p>
          <a:p>
            <a:pPr marL="12700" marR="104139">
              <a:lnSpc>
                <a:spcPct val="92900"/>
              </a:lnSpc>
              <a:spcBef>
                <a:spcPts val="2230"/>
              </a:spcBef>
            </a:pPr>
            <a:r>
              <a:rPr sz="2000" spc="-10" dirty="0">
                <a:latin typeface="Arial"/>
                <a:cs typeface="Arial"/>
              </a:rPr>
              <a:t>Связывает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разные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подсети, </a:t>
            </a:r>
            <a:r>
              <a:rPr sz="2000" dirty="0">
                <a:latin typeface="Arial"/>
                <a:cs typeface="Arial"/>
              </a:rPr>
              <a:t>принимает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решений</a:t>
            </a:r>
            <a:r>
              <a:rPr sz="2000" spc="-3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пересылке </a:t>
            </a:r>
            <a:r>
              <a:rPr sz="2000" dirty="0">
                <a:latin typeface="Arial"/>
                <a:cs typeface="Arial"/>
              </a:rPr>
              <a:t>пакетов</a:t>
            </a:r>
            <a:r>
              <a:rPr sz="2000" spc="-8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используется </a:t>
            </a:r>
            <a:r>
              <a:rPr sz="2000" dirty="0">
                <a:latin typeface="Arial"/>
                <a:cs typeface="Arial"/>
              </a:rPr>
              <a:t>информация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о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топологии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сети</a:t>
            </a:r>
            <a:endParaRPr sz="2000">
              <a:latin typeface="Arial"/>
              <a:cs typeface="Arial"/>
            </a:endParaRPr>
          </a:p>
          <a:p>
            <a:pPr marL="12700" marR="634365">
              <a:lnSpc>
                <a:spcPts val="2230"/>
              </a:lnSpc>
              <a:spcBef>
                <a:spcPts val="60"/>
              </a:spcBef>
            </a:pPr>
            <a:r>
              <a:rPr sz="2000" dirty="0">
                <a:latin typeface="Arial"/>
                <a:cs typeface="Arial"/>
              </a:rPr>
              <a:t>и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определённые</a:t>
            </a:r>
            <a:r>
              <a:rPr sz="2000" spc="-1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правила, </a:t>
            </a:r>
            <a:r>
              <a:rPr sz="2000" dirty="0">
                <a:latin typeface="Arial"/>
                <a:cs typeface="Arial"/>
              </a:rPr>
              <a:t>заданные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администратором.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08622" y="1704093"/>
            <a:ext cx="2841955" cy="26755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7600" y="4800620"/>
            <a:ext cx="6171831" cy="251423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02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Сетевое</a:t>
            </a:r>
            <a:r>
              <a:rPr spc="-155" dirty="0"/>
              <a:t> </a:t>
            </a:r>
            <a:r>
              <a:rPr spc="-10" dirty="0"/>
              <a:t>оборудование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3200" y="4811059"/>
            <a:ext cx="7182172" cy="250414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31025" y="1609097"/>
            <a:ext cx="4064635" cy="57124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866140" marR="730250" indent="1905" algn="ctr">
              <a:lnSpc>
                <a:spcPts val="2230"/>
              </a:lnSpc>
              <a:spcBef>
                <a:spcPts val="315"/>
              </a:spcBef>
            </a:pPr>
            <a:r>
              <a:rPr sz="2000" dirty="0">
                <a:solidFill>
                  <a:srgbClr val="214443"/>
                </a:solidFill>
                <a:latin typeface="Arial"/>
                <a:cs typeface="Arial"/>
              </a:rPr>
              <a:t>Межсетевой</a:t>
            </a:r>
            <a:r>
              <a:rPr sz="2000" spc="-114" dirty="0">
                <a:solidFill>
                  <a:srgbClr val="214443"/>
                </a:solidFill>
                <a:latin typeface="Arial"/>
                <a:cs typeface="Arial"/>
              </a:rPr>
              <a:t> </a:t>
            </a:r>
            <a:r>
              <a:rPr sz="2000" spc="-20" dirty="0">
                <a:solidFill>
                  <a:srgbClr val="214443"/>
                </a:solidFill>
                <a:latin typeface="Arial"/>
                <a:cs typeface="Arial"/>
              </a:rPr>
              <a:t>экран </a:t>
            </a:r>
            <a:r>
              <a:rPr sz="2000" dirty="0">
                <a:solidFill>
                  <a:srgbClr val="214443"/>
                </a:solidFill>
                <a:latin typeface="Arial"/>
                <a:cs typeface="Arial"/>
              </a:rPr>
              <a:t>(brandmauer,</a:t>
            </a:r>
            <a:r>
              <a:rPr sz="2000" spc="-114" dirty="0">
                <a:solidFill>
                  <a:srgbClr val="214443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14443"/>
                </a:solidFill>
                <a:latin typeface="Arial"/>
                <a:cs typeface="Arial"/>
              </a:rPr>
              <a:t>firewall)</a:t>
            </a:r>
            <a:endParaRPr sz="2000">
              <a:latin typeface="Arial"/>
              <a:cs typeface="Arial"/>
            </a:endParaRPr>
          </a:p>
          <a:p>
            <a:pPr marL="200025" algn="ctr">
              <a:lnSpc>
                <a:spcPts val="2100"/>
              </a:lnSpc>
            </a:pP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–</a:t>
            </a:r>
            <a:r>
              <a:rPr sz="2000" spc="-6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это</a:t>
            </a:r>
            <a:r>
              <a:rPr sz="2000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сетевое</a:t>
            </a:r>
            <a:r>
              <a:rPr sz="2000" spc="-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устройство,</a:t>
            </a:r>
            <a:endParaRPr sz="2000">
              <a:latin typeface="Arial"/>
              <a:cs typeface="Arial"/>
            </a:endParaRPr>
          </a:p>
          <a:p>
            <a:pPr marL="213360" marR="5080" indent="-1270" algn="ctr">
              <a:lnSpc>
                <a:spcPct val="92900"/>
              </a:lnSpc>
              <a:spcBef>
                <a:spcPts val="85"/>
              </a:spcBef>
            </a:pP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осуществляющее</a:t>
            </a:r>
            <a:r>
              <a:rPr sz="20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контроль</a:t>
            </a:r>
            <a:r>
              <a:rPr sz="2000" spc="-2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0000FF"/>
                </a:solidFill>
                <a:latin typeface="Arial"/>
                <a:cs typeface="Arial"/>
              </a:rPr>
              <a:t>и 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фильтрацию</a:t>
            </a:r>
            <a:r>
              <a:rPr sz="2000" spc="-1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проходящего</a:t>
            </a:r>
            <a:r>
              <a:rPr sz="2000" spc="-11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через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него</a:t>
            </a:r>
            <a:r>
              <a:rPr sz="20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сетевого</a:t>
            </a:r>
            <a:r>
              <a:rPr sz="20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трафика</a:t>
            </a:r>
            <a:r>
              <a:rPr sz="20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50" dirty="0">
                <a:solidFill>
                  <a:srgbClr val="0000FF"/>
                </a:solidFill>
                <a:latin typeface="Arial"/>
                <a:cs typeface="Arial"/>
              </a:rPr>
              <a:t>в 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соответствии</a:t>
            </a:r>
            <a:r>
              <a:rPr sz="2000" spc="-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FF"/>
                </a:solidFill>
                <a:latin typeface="Arial"/>
                <a:cs typeface="Arial"/>
              </a:rPr>
              <a:t>с</a:t>
            </a:r>
            <a:r>
              <a:rPr sz="2000" spc="-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0000FF"/>
                </a:solidFill>
                <a:latin typeface="Arial"/>
                <a:cs typeface="Arial"/>
              </a:rPr>
              <a:t>заданными правилами.</a:t>
            </a:r>
            <a:endParaRPr sz="2000">
              <a:latin typeface="Arial"/>
              <a:cs typeface="Arial"/>
            </a:endParaRPr>
          </a:p>
          <a:p>
            <a:pPr marL="12700" marR="713105">
              <a:lnSpc>
                <a:spcPts val="2230"/>
              </a:lnSpc>
              <a:spcBef>
                <a:spcPts val="2280"/>
              </a:spcBef>
            </a:pPr>
            <a:r>
              <a:rPr sz="2000" dirty="0">
                <a:latin typeface="Arial"/>
                <a:cs typeface="Arial"/>
              </a:rPr>
              <a:t>Основной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задачей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является </a:t>
            </a:r>
            <a:r>
              <a:rPr sz="2000" dirty="0">
                <a:latin typeface="Arial"/>
                <a:cs typeface="Arial"/>
              </a:rPr>
              <a:t>защита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сегментов</a:t>
            </a:r>
            <a:r>
              <a:rPr sz="2000" spc="-25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сети</a:t>
            </a:r>
            <a:endParaRPr sz="2000">
              <a:latin typeface="Arial"/>
              <a:cs typeface="Arial"/>
            </a:endParaRPr>
          </a:p>
          <a:p>
            <a:pPr marL="12700" marR="308610">
              <a:lnSpc>
                <a:spcPts val="2230"/>
              </a:lnSpc>
              <a:spcBef>
                <a:spcPts val="10"/>
              </a:spcBef>
            </a:pPr>
            <a:r>
              <a:rPr sz="2000" dirty="0">
                <a:latin typeface="Arial"/>
                <a:cs typeface="Arial"/>
              </a:rPr>
              <a:t>или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отдельных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хостов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от </a:t>
            </a:r>
            <a:r>
              <a:rPr sz="2000" dirty="0">
                <a:latin typeface="Arial"/>
                <a:cs typeface="Arial"/>
              </a:rPr>
              <a:t>несанкционированного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доступа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100"/>
              </a:lnSpc>
            </a:pPr>
            <a:r>
              <a:rPr sz="2000" dirty="0">
                <a:latin typeface="Arial"/>
                <a:cs typeface="Arial"/>
              </a:rPr>
              <a:t>с </a:t>
            </a:r>
            <a:r>
              <a:rPr sz="2000" spc="-10" dirty="0">
                <a:latin typeface="Arial"/>
                <a:cs typeface="Arial"/>
              </a:rPr>
              <a:t>использованием</a:t>
            </a:r>
            <a:endParaRPr sz="2000">
              <a:latin typeface="Arial"/>
              <a:cs typeface="Arial"/>
            </a:endParaRPr>
          </a:p>
          <a:p>
            <a:pPr marL="12700" marR="657860">
              <a:lnSpc>
                <a:spcPts val="2230"/>
              </a:lnSpc>
              <a:spcBef>
                <a:spcPts val="130"/>
              </a:spcBef>
            </a:pPr>
            <a:r>
              <a:rPr sz="2000" dirty="0">
                <a:latin typeface="Arial"/>
                <a:cs typeface="Arial"/>
              </a:rPr>
              <a:t>уязвимых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мест</a:t>
            </a:r>
            <a:r>
              <a:rPr sz="2000" spc="-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протоколах </a:t>
            </a:r>
            <a:r>
              <a:rPr sz="2000" dirty="0">
                <a:latin typeface="Arial"/>
                <a:cs typeface="Arial"/>
              </a:rPr>
              <a:t>сетевой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модели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100"/>
              </a:lnSpc>
            </a:pPr>
            <a:r>
              <a:rPr sz="2000" dirty="0">
                <a:latin typeface="Arial"/>
                <a:cs typeface="Arial"/>
              </a:rPr>
              <a:t>или</a:t>
            </a:r>
            <a:r>
              <a:rPr sz="2000" spc="-1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в</a:t>
            </a:r>
            <a:r>
              <a:rPr sz="2000" spc="-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программном</a:t>
            </a:r>
            <a:endParaRPr sz="2000">
              <a:latin typeface="Arial"/>
              <a:cs typeface="Arial"/>
            </a:endParaRPr>
          </a:p>
          <a:p>
            <a:pPr marL="12700" marR="1829435">
              <a:lnSpc>
                <a:spcPct val="92900"/>
              </a:lnSpc>
              <a:spcBef>
                <a:spcPts val="85"/>
              </a:spcBef>
            </a:pPr>
            <a:r>
              <a:rPr sz="2000" spc="-10" dirty="0">
                <a:latin typeface="Arial"/>
                <a:cs typeface="Arial"/>
              </a:rPr>
              <a:t>обеспечении, </a:t>
            </a:r>
            <a:r>
              <a:rPr sz="2000" dirty="0">
                <a:latin typeface="Arial"/>
                <a:cs typeface="Arial"/>
              </a:rPr>
              <a:t>установленном</a:t>
            </a:r>
            <a:r>
              <a:rPr sz="2000" spc="-90" dirty="0">
                <a:latin typeface="Arial"/>
                <a:cs typeface="Arial"/>
              </a:rPr>
              <a:t> </a:t>
            </a:r>
            <a:r>
              <a:rPr sz="2000" spc="-25" dirty="0">
                <a:latin typeface="Arial"/>
                <a:cs typeface="Arial"/>
              </a:rPr>
              <a:t>на </a:t>
            </a:r>
            <a:r>
              <a:rPr sz="2000" dirty="0">
                <a:latin typeface="Arial"/>
                <a:cs typeface="Arial"/>
              </a:rPr>
              <a:t>компьютерах</a:t>
            </a:r>
            <a:r>
              <a:rPr sz="2000" spc="-40" dirty="0">
                <a:latin typeface="Arial"/>
                <a:cs typeface="Arial"/>
              </a:rPr>
              <a:t> </a:t>
            </a:r>
            <a:r>
              <a:rPr sz="2000" spc="-20" dirty="0">
                <a:latin typeface="Arial"/>
                <a:cs typeface="Arial"/>
              </a:rPr>
              <a:t>сети.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29200" y="1866501"/>
            <a:ext cx="4571644" cy="175226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02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Сетевое</a:t>
            </a:r>
            <a:r>
              <a:rPr spc="-155" dirty="0"/>
              <a:t> </a:t>
            </a:r>
            <a:r>
              <a:rPr spc="-10" dirty="0"/>
              <a:t>оборудование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Виртуализация</a:t>
            </a:r>
            <a:r>
              <a:rPr spc="-175" dirty="0"/>
              <a:t> </a:t>
            </a:r>
            <a:r>
              <a:rPr dirty="0"/>
              <a:t>сетевых</a:t>
            </a:r>
            <a:r>
              <a:rPr spc="-180" dirty="0"/>
              <a:t> </a:t>
            </a:r>
            <a:r>
              <a:rPr spc="-10" dirty="0"/>
              <a:t>функций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8937" y="1522711"/>
            <a:ext cx="9616440" cy="1601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78435" algn="just">
              <a:lnSpc>
                <a:spcPct val="114900"/>
              </a:lnSpc>
              <a:spcBef>
                <a:spcPts val="95"/>
              </a:spcBef>
            </a:pPr>
            <a:r>
              <a:rPr sz="1800" dirty="0">
                <a:latin typeface="Arial"/>
                <a:cs typeface="Arial"/>
              </a:rPr>
              <a:t>NFV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расширяет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концепцию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виртуализации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за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пределы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серверов,</a:t>
            </a:r>
            <a:r>
              <a:rPr sz="1800" spc="9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на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все</a:t>
            </a:r>
            <a:r>
              <a:rPr sz="1800" spc="8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типы</a:t>
            </a:r>
            <a:r>
              <a:rPr sz="1800" spc="9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сетевых </a:t>
            </a:r>
            <a:r>
              <a:rPr sz="1800" dirty="0">
                <a:latin typeface="Arial"/>
                <a:cs typeface="Arial"/>
              </a:rPr>
              <a:t>устройств.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NFV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можно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определить</a:t>
            </a:r>
            <a:r>
              <a:rPr sz="1800" spc="2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как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метод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и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технологию,</a:t>
            </a:r>
            <a:r>
              <a:rPr sz="1800" spc="22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которая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даёт</a:t>
            </a:r>
            <a:r>
              <a:rPr sz="1800" spc="220" dirty="0"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возможность </a:t>
            </a:r>
            <a:r>
              <a:rPr sz="1800" dirty="0">
                <a:latin typeface="Arial"/>
                <a:cs typeface="Arial"/>
              </a:rPr>
              <a:t>заменить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физические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сетевые</a:t>
            </a:r>
            <a:r>
              <a:rPr sz="1800" spc="-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устройства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с </a:t>
            </a:r>
            <a:r>
              <a:rPr sz="1800" spc="-10" dirty="0">
                <a:latin typeface="Arial"/>
                <a:cs typeface="Arial"/>
              </a:rPr>
              <a:t>определёнными </a:t>
            </a:r>
            <a:r>
              <a:rPr sz="1800" dirty="0">
                <a:latin typeface="Arial"/>
                <a:cs typeface="Arial"/>
              </a:rPr>
              <a:t>функциями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на</a:t>
            </a:r>
            <a:r>
              <a:rPr sz="1800" spc="-10" dirty="0">
                <a:latin typeface="Arial"/>
                <a:cs typeface="Arial"/>
              </a:rPr>
              <a:t> программные </a:t>
            </a:r>
            <a:r>
              <a:rPr sz="1800" dirty="0">
                <a:latin typeface="Arial"/>
                <a:cs typeface="Arial"/>
              </a:rPr>
              <a:t>сущности,</a:t>
            </a:r>
            <a:r>
              <a:rPr sz="1800" spc="210" dirty="0">
                <a:latin typeface="Arial"/>
                <a:cs typeface="Arial"/>
              </a:rPr>
              <a:t>   </a:t>
            </a:r>
            <a:r>
              <a:rPr sz="1800" dirty="0">
                <a:latin typeface="Arial"/>
                <a:cs typeface="Arial"/>
              </a:rPr>
              <a:t>выполняющими</a:t>
            </a:r>
            <a:r>
              <a:rPr sz="1800" spc="210" dirty="0">
                <a:latin typeface="Arial"/>
                <a:cs typeface="Arial"/>
              </a:rPr>
              <a:t>   </a:t>
            </a:r>
            <a:r>
              <a:rPr sz="1800" dirty="0">
                <a:latin typeface="Arial"/>
                <a:cs typeface="Arial"/>
              </a:rPr>
              <a:t>такие</a:t>
            </a:r>
            <a:r>
              <a:rPr sz="1800" spc="210" dirty="0">
                <a:latin typeface="Arial"/>
                <a:cs typeface="Arial"/>
              </a:rPr>
              <a:t>   </a:t>
            </a:r>
            <a:r>
              <a:rPr sz="1800" dirty="0">
                <a:latin typeface="Arial"/>
                <a:cs typeface="Arial"/>
              </a:rPr>
              <a:t>же</a:t>
            </a:r>
            <a:r>
              <a:rPr sz="1800" spc="210" dirty="0">
                <a:latin typeface="Arial"/>
                <a:cs typeface="Arial"/>
              </a:rPr>
              <a:t>   </a:t>
            </a:r>
            <a:r>
              <a:rPr sz="1800" dirty="0">
                <a:latin typeface="Arial"/>
                <a:cs typeface="Arial"/>
              </a:rPr>
              <a:t>функции</a:t>
            </a:r>
            <a:r>
              <a:rPr sz="1800" spc="210" dirty="0">
                <a:latin typeface="Arial"/>
                <a:cs typeface="Arial"/>
              </a:rPr>
              <a:t>   </a:t>
            </a:r>
            <a:r>
              <a:rPr sz="1800" dirty="0">
                <a:latin typeface="Arial"/>
                <a:cs typeface="Arial"/>
              </a:rPr>
              <a:t>на</a:t>
            </a:r>
            <a:r>
              <a:rPr sz="1800" spc="215" dirty="0">
                <a:latin typeface="Arial"/>
                <a:cs typeface="Arial"/>
              </a:rPr>
              <a:t>   </a:t>
            </a:r>
            <a:r>
              <a:rPr sz="1800" dirty="0">
                <a:latin typeface="Arial"/>
                <a:cs typeface="Arial"/>
              </a:rPr>
              <a:t>общедоступном</a:t>
            </a:r>
            <a:r>
              <a:rPr sz="1800" spc="204" dirty="0">
                <a:latin typeface="Arial"/>
                <a:cs typeface="Arial"/>
              </a:rPr>
              <a:t>   </a:t>
            </a:r>
            <a:r>
              <a:rPr sz="1800" spc="-10" dirty="0">
                <a:latin typeface="Arial"/>
                <a:cs typeface="Arial"/>
              </a:rPr>
              <a:t>серверном оборудовании.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3332" y="3125159"/>
            <a:ext cx="6661711" cy="366552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Виртуализация</a:t>
            </a:r>
            <a:r>
              <a:rPr spc="-175" dirty="0"/>
              <a:t> </a:t>
            </a:r>
            <a:r>
              <a:rPr dirty="0"/>
              <a:t>сетевых</a:t>
            </a:r>
            <a:r>
              <a:rPr spc="-180" dirty="0"/>
              <a:t> </a:t>
            </a:r>
            <a:r>
              <a:rPr spc="-10" dirty="0"/>
              <a:t>функций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7855" y="1563389"/>
            <a:ext cx="32893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Обобщённая</a:t>
            </a:r>
            <a:r>
              <a:rPr sz="1800" spc="-90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архитектура</a:t>
            </a:r>
            <a:r>
              <a:rPr sz="1800" spc="-80" dirty="0">
                <a:latin typeface="Arial"/>
                <a:cs typeface="Arial"/>
              </a:rPr>
              <a:t> </a:t>
            </a:r>
            <a:r>
              <a:rPr sz="1800" spc="-25" dirty="0">
                <a:latin typeface="Arial"/>
                <a:cs typeface="Arial"/>
              </a:rPr>
              <a:t>NFV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4045" y="2129047"/>
            <a:ext cx="7845120" cy="5304599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Виртуализация</a:t>
            </a:r>
            <a:r>
              <a:rPr spc="-175" dirty="0"/>
              <a:t> </a:t>
            </a:r>
            <a:r>
              <a:rPr dirty="0"/>
              <a:t>сетевых</a:t>
            </a:r>
            <a:r>
              <a:rPr spc="-180" dirty="0"/>
              <a:t> </a:t>
            </a:r>
            <a:r>
              <a:rPr spc="-10" dirty="0"/>
              <a:t>функций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7855" y="1563389"/>
            <a:ext cx="33826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Принцип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виртуализации</a:t>
            </a:r>
            <a:r>
              <a:rPr sz="1800" spc="-5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в</a:t>
            </a:r>
            <a:r>
              <a:rPr sz="1800" spc="-45" dirty="0">
                <a:latin typeface="Arial"/>
                <a:cs typeface="Arial"/>
              </a:rPr>
              <a:t> </a:t>
            </a:r>
            <a:r>
              <a:rPr sz="1800" spc="-20" dirty="0">
                <a:latin typeface="Arial"/>
                <a:cs typeface="Arial"/>
              </a:rPr>
              <a:t>NFVI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19369"/>
            <a:ext cx="10079634" cy="446688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68104" y="3589103"/>
            <a:ext cx="413956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000000"/>
                </a:solidFill>
              </a:rPr>
              <a:t>Спасибо</a:t>
            </a:r>
            <a:r>
              <a:rPr spc="-65" dirty="0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за</a:t>
            </a:r>
            <a:r>
              <a:rPr spc="-55" dirty="0">
                <a:solidFill>
                  <a:srgbClr val="000000"/>
                </a:solidFill>
              </a:rPr>
              <a:t> </a:t>
            </a:r>
            <a:r>
              <a:rPr spc="-10" dirty="0">
                <a:solidFill>
                  <a:srgbClr val="000000"/>
                </a:solidFill>
              </a:rPr>
              <a:t>внимание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1765</Words>
  <Application>Microsoft Office PowerPoint</Application>
  <PresentationFormat>Произвольный</PresentationFormat>
  <Paragraphs>199</Paragraphs>
  <Slides>44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Программа профессиональной переподготовки «Технологии DevOps»</vt:lpstr>
      <vt:lpstr>Основы виртуализации</vt:lpstr>
      <vt:lpstr>Список рассматриваемых вопросов:</vt:lpstr>
      <vt:lpstr>Терминология</vt:lpstr>
      <vt:lpstr>Терминология</vt:lpstr>
      <vt:lpstr>Терминология</vt:lpstr>
      <vt:lpstr>Технология виртуализации</vt:lpstr>
      <vt:lpstr>Технология виртуализации</vt:lpstr>
      <vt:lpstr>Технология виртуализации</vt:lpstr>
      <vt:lpstr>Технология виртуализации</vt:lpstr>
      <vt:lpstr>Технология виртуализации</vt:lpstr>
      <vt:lpstr>Технология виртуализации</vt:lpstr>
      <vt:lpstr>Презентация PowerPoint</vt:lpstr>
      <vt:lpstr>Презентация PowerPoint</vt:lpstr>
      <vt:lpstr>Презентация PowerPoint</vt:lpstr>
      <vt:lpstr>Виртуализация ресурсов</vt:lpstr>
      <vt:lpstr>Виртуализация ресурсов</vt:lpstr>
      <vt:lpstr>Виртуализация ресурсов</vt:lpstr>
      <vt:lpstr>Виртуализация ресурсов</vt:lpstr>
      <vt:lpstr>Виртуализация ресурсов</vt:lpstr>
      <vt:lpstr>Виртуализация ресурсов</vt:lpstr>
      <vt:lpstr>Виртуализация ресурсов</vt:lpstr>
      <vt:lpstr>Виртуализация ресурсов</vt:lpstr>
      <vt:lpstr>Виртуализация ресурсов</vt:lpstr>
      <vt:lpstr>Виртуализация ресурсов</vt:lpstr>
      <vt:lpstr>Виртуализация ресурсов</vt:lpstr>
      <vt:lpstr>Презентация PowerPoint</vt:lpstr>
      <vt:lpstr>Терминология</vt:lpstr>
      <vt:lpstr>Виртуализация платформ Аппаратная виртуализация - гипервизор 1 типа (native, bare-metal)</vt:lpstr>
      <vt:lpstr>Виртуализация платформ Виртуализация уровня рабочих столов - гипервизор 2 типа (hosted)</vt:lpstr>
      <vt:lpstr>Виртуализация платформ Виртуализация уровня ОС (контейнеризация)</vt:lpstr>
      <vt:lpstr>Пространство имен</vt:lpstr>
      <vt:lpstr>Пространство имен</vt:lpstr>
      <vt:lpstr>Презентация PowerPoint</vt:lpstr>
      <vt:lpstr>Модели OSI и TCP/IP</vt:lpstr>
      <vt:lpstr>Сетевое оборудование</vt:lpstr>
      <vt:lpstr>Сетевое оборудование</vt:lpstr>
      <vt:lpstr>Сетевое оборудование</vt:lpstr>
      <vt:lpstr>Сетевое оборудование</vt:lpstr>
      <vt:lpstr>Сетевое оборудование</vt:lpstr>
      <vt:lpstr>Виртуализация сетевых функций</vt:lpstr>
      <vt:lpstr>Виртуализация сетевых функций</vt:lpstr>
      <vt:lpstr>Виртуализация сетевых функций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xinxinli-blue-squares</dc:title>
  <dc:subject>Presentation Template Design-9</dc:subject>
  <cp:keywords>Apache OpenOffice business</cp:keywords>
  <cp:lastModifiedBy>Админ</cp:lastModifiedBy>
  <cp:revision>1</cp:revision>
  <dcterms:created xsi:type="dcterms:W3CDTF">2025-09-09T10:02:32Z</dcterms:created>
  <dcterms:modified xsi:type="dcterms:W3CDTF">2025-09-09T10:03:17Z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2022-10-10T00:00:00Z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7.0</vt:lpwstr>
  </property>
  <property fmtid="{D5CDD505-2E9C-101B-9397-08002B2CF9AE}" pid="5" name="LastSaved">
    <vt:filetime>2022-10-10T00:00:00Z</vt:filetime>
  </property>
</Properties>
</file>