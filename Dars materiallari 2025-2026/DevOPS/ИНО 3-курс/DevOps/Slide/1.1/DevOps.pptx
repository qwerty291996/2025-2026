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  <p:sldId id="268" r:id="rId3"/>
    <p:sldId id="274" r:id="rId4"/>
    <p:sldId id="275" r:id="rId5"/>
    <p:sldId id="276" r:id="rId6"/>
    <p:sldId id="298" r:id="rId7"/>
    <p:sldId id="287" r:id="rId8"/>
    <p:sldId id="299" r:id="rId9"/>
    <p:sldId id="281" r:id="rId10"/>
    <p:sldId id="288" r:id="rId11"/>
    <p:sldId id="282" r:id="rId12"/>
    <p:sldId id="283" r:id="rId13"/>
    <p:sldId id="284" r:id="rId14"/>
    <p:sldId id="285" r:id="rId15"/>
    <p:sldId id="289" r:id="rId16"/>
    <p:sldId id="290" r:id="rId17"/>
    <p:sldId id="277" r:id="rId18"/>
    <p:sldId id="271" r:id="rId19"/>
    <p:sldId id="280" r:id="rId20"/>
    <p:sldId id="294" r:id="rId21"/>
    <p:sldId id="295" r:id="rId22"/>
    <p:sldId id="270" r:id="rId23"/>
    <p:sldId id="286" r:id="rId24"/>
    <p:sldId id="267" r:id="rId25"/>
    <p:sldId id="278" r:id="rId26"/>
    <p:sldId id="293" r:id="rId27"/>
    <p:sldId id="297" r:id="rId28"/>
    <p:sldId id="296" r:id="rId29"/>
    <p:sldId id="26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078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210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883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64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901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818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79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47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59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1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981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8436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350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27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850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016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21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BF30C-12E3-4ABD-B7BB-BEB685C3DB1E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DFA8E-7103-4486-8A35-510C691DF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513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B12F6-A603-4F7A-96C2-79BC2CC71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1069" y="599848"/>
            <a:ext cx="8791575" cy="2387600"/>
          </a:xfrm>
        </p:spPr>
        <p:txBody>
          <a:bodyPr/>
          <a:lstStyle/>
          <a:p>
            <a:r>
              <a:rPr lang="en-US" dirty="0"/>
              <a:t>DevOps </a:t>
            </a:r>
            <a:r>
              <a:rPr lang="ru-RU"/>
              <a:t>начало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1061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возникновения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5280655" cy="3768542"/>
          </a:xfrm>
        </p:spPr>
        <p:txBody>
          <a:bodyPr>
            <a:noAutofit/>
          </a:bodyPr>
          <a:lstStyle/>
          <a:p>
            <a:r>
              <a:rPr lang="ru-RU" sz="1800" b="1" dirty="0" err="1"/>
              <a:t>DevOps</a:t>
            </a:r>
            <a:r>
              <a:rPr lang="ru-RU" sz="1800" dirty="0"/>
              <a:t> появился в 2009 году как ответ на проблему в коммуникации между системными администраторами и программистами. Разработчики создавали код и передавали его сисадминам, которые занимались поддержкой и эксплуатацией, в форме архива с инструкцией для установки. Инструкция часто была разной для разных версий этого кода и порой не учитывала специфику окружения. Такая схема существенно удлиняла разработку ПО.</a:t>
            </a:r>
          </a:p>
        </p:txBody>
      </p:sp>
    </p:spTree>
    <p:extLst>
      <p:ext uri="{BB962C8B-B14F-4D97-AF65-F5344CB8AC3E}">
        <p14:creationId xmlns:p14="http://schemas.microsoft.com/office/powerpoint/2010/main" val="293250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 </a:t>
            </a:r>
            <a:r>
              <a:rPr lang="en-US" dirty="0" err="1"/>
              <a:t>devops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5631530" cy="3541714"/>
          </a:xfrm>
        </p:spPr>
        <p:txBody>
          <a:bodyPr>
            <a:normAutofit/>
          </a:bodyPr>
          <a:lstStyle/>
          <a:p>
            <a:r>
              <a:rPr lang="ru-RU" sz="2000" b="1" dirty="0" err="1"/>
              <a:t>DevOps</a:t>
            </a:r>
            <a:r>
              <a:rPr lang="ru-RU" sz="2000" dirty="0"/>
              <a:t> — это комбинация слов «разработка» (</a:t>
            </a:r>
            <a:r>
              <a:rPr lang="ru-RU" sz="2000" dirty="0" err="1"/>
              <a:t>development</a:t>
            </a:r>
            <a:r>
              <a:rPr lang="ru-RU" sz="2000" dirty="0"/>
              <a:t>) и «эксплуатация» (</a:t>
            </a:r>
            <a:r>
              <a:rPr lang="ru-RU" sz="2000" dirty="0" err="1"/>
              <a:t>operations</a:t>
            </a:r>
            <a:r>
              <a:rPr lang="ru-RU" sz="2000" dirty="0"/>
              <a:t>), которая отражает процесс интеграции этих дисциплин в единый непрерывный процесс.</a:t>
            </a:r>
            <a:endParaRPr lang="en-US" sz="2000" dirty="0"/>
          </a:p>
          <a:p>
            <a:r>
              <a:rPr lang="ru-RU" sz="2000" dirty="0"/>
              <a:t>Разработчики и </a:t>
            </a:r>
            <a:r>
              <a:rPr lang="ru-RU" sz="2000" dirty="0" err="1"/>
              <a:t>тестировщики</a:t>
            </a:r>
            <a:r>
              <a:rPr lang="ru-RU" sz="2000" dirty="0"/>
              <a:t> отвечают за </a:t>
            </a:r>
            <a:r>
              <a:rPr lang="ru-RU" sz="2000" dirty="0" err="1"/>
              <a:t>Development</a:t>
            </a:r>
            <a:r>
              <a:rPr lang="ru-RU" sz="2000" dirty="0"/>
              <a:t>, а администраторы — за </a:t>
            </a:r>
            <a:r>
              <a:rPr lang="ru-RU" sz="2000" dirty="0" err="1"/>
              <a:t>Operations</a:t>
            </a:r>
            <a:r>
              <a:rPr lang="ru-RU" sz="2000" dirty="0"/>
              <a:t>. 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403" y="2860158"/>
            <a:ext cx="4145988" cy="2763992"/>
          </a:xfrm>
        </p:spPr>
      </p:pic>
    </p:spTree>
    <p:extLst>
      <p:ext uri="{BB962C8B-B14F-4D97-AF65-F5344CB8AC3E}">
        <p14:creationId xmlns:p14="http://schemas.microsoft.com/office/powerpoint/2010/main" val="478814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/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596" y="1234094"/>
            <a:ext cx="5429693" cy="5219149"/>
          </a:xfrm>
        </p:spPr>
      </p:pic>
    </p:spTree>
    <p:extLst>
      <p:ext uri="{BB962C8B-B14F-4D97-AF65-F5344CB8AC3E}">
        <p14:creationId xmlns:p14="http://schemas.microsoft.com/office/powerpoint/2010/main" val="4120157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 err="1"/>
              <a:t>devops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err="1"/>
              <a:t>DevOps</a:t>
            </a:r>
            <a:r>
              <a:rPr lang="ru-RU" sz="2000" dirty="0"/>
              <a:t> - методология автоматизации технологических процессов сборки, настройки и развёртывания программного обеспечения.</a:t>
            </a:r>
          </a:p>
          <a:p>
            <a:r>
              <a:rPr lang="ru-RU" sz="2000" dirty="0" err="1"/>
              <a:t>DevOps</a:t>
            </a:r>
            <a:r>
              <a:rPr lang="ru-RU" sz="2000" dirty="0"/>
              <a:t> - это методология, которая помогает автоматизировать рабочие процессы и сделать их бесшовными, что позволяет увеличить скорость и продуктивность разработчиков, </a:t>
            </a:r>
            <a:r>
              <a:rPr lang="ru-RU" sz="2000" dirty="0" err="1"/>
              <a:t>тестировщиков</a:t>
            </a:r>
            <a:r>
              <a:rPr lang="ru-RU" sz="2000" dirty="0"/>
              <a:t> и системных администраторов.</a:t>
            </a:r>
          </a:p>
          <a:p>
            <a:r>
              <a:rPr lang="ru-RU" sz="2000" dirty="0" err="1"/>
              <a:t>DevOps</a:t>
            </a:r>
            <a:r>
              <a:rPr lang="ru-RU" sz="2000" dirty="0"/>
              <a:t> - это методология, которая направлена на улучшение взаимодействия групп разработчиков и операционных групп для повышения гибкости производства ПО и достижения бизнес-целей.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2833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терминология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Проект - предоставляет </a:t>
            </a:r>
            <a:r>
              <a:rPr lang="ru-RU" sz="2000" dirty="0" err="1"/>
              <a:t>репозиторий</a:t>
            </a:r>
            <a:r>
              <a:rPr lang="ru-RU" sz="2000" dirty="0"/>
              <a:t> для исходного кода. Проект предоставляет место, в котором группа людей может планировать, отслеживать ход выполнения и совместно работать над созданием программных решений.</a:t>
            </a:r>
          </a:p>
          <a:p>
            <a:r>
              <a:rPr lang="ru-RU" sz="2000" dirty="0" err="1"/>
              <a:t>Репозиторий</a:t>
            </a:r>
            <a:r>
              <a:rPr lang="ru-RU" sz="2000" dirty="0"/>
              <a:t> - папка или контейнер системы управления версиями, настроенные для отслеживания изменений файлов. На компьютере может быть любое количество </a:t>
            </a:r>
            <a:r>
              <a:rPr lang="ru-RU" sz="2000" dirty="0" err="1"/>
              <a:t>репозиториев</a:t>
            </a:r>
            <a:r>
              <a:rPr lang="ru-RU" sz="2000" dirty="0"/>
              <a:t>, каждый из которых хранится в собственной папке. Каждый </a:t>
            </a:r>
            <a:r>
              <a:rPr lang="ru-RU" sz="2000" dirty="0" err="1"/>
              <a:t>репозиторий</a:t>
            </a:r>
            <a:r>
              <a:rPr lang="ru-RU" sz="2000" dirty="0"/>
              <a:t> является независимым, поэтому изменения, сохраненные в одном </a:t>
            </a:r>
            <a:r>
              <a:rPr lang="ru-RU" sz="2000" dirty="0" err="1"/>
              <a:t>репозитории</a:t>
            </a:r>
            <a:r>
              <a:rPr lang="ru-RU" sz="2000" dirty="0"/>
              <a:t>, не влияют на содержимое другого.</a:t>
            </a:r>
          </a:p>
        </p:txBody>
      </p:sp>
    </p:spTree>
    <p:extLst>
      <p:ext uri="{BB962C8B-B14F-4D97-AF65-F5344CB8AC3E}">
        <p14:creationId xmlns:p14="http://schemas.microsoft.com/office/powerpoint/2010/main" val="1454157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терминология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Спринт — это не только бег спортсменов на короткую дистанцию, известный в широких кругах как </a:t>
            </a:r>
            <a:r>
              <a:rPr lang="ru-RU" sz="2000" dirty="0" err="1"/>
              <a:t>sprint</a:t>
            </a:r>
            <a:r>
              <a:rPr lang="ru-RU" sz="2000" dirty="0"/>
              <a:t>. В разработке это — небольшой промежуток времени (1-4 недели), укомплектованный задачами на команду.</a:t>
            </a:r>
          </a:p>
          <a:p>
            <a:r>
              <a:rPr lang="ru-RU" sz="2000" dirty="0"/>
              <a:t>Релиз — своеобразный «выход в свет», </a:t>
            </a:r>
            <a:r>
              <a:rPr lang="ru-RU" sz="2000" dirty="0" err="1"/>
              <a:t>release</a:t>
            </a:r>
            <a:r>
              <a:rPr lang="ru-RU" sz="2000" dirty="0"/>
              <a:t>. Выпуск целого приложения или его части (например, </a:t>
            </a:r>
            <a:r>
              <a:rPr lang="ru-RU" sz="2000" dirty="0" err="1"/>
              <a:t>багфикс</a:t>
            </a:r>
            <a:r>
              <a:rPr lang="ru-RU" sz="2000" dirty="0"/>
              <a:t>) в </a:t>
            </a:r>
            <a:r>
              <a:rPr lang="ru-RU" sz="2000" dirty="0" err="1"/>
              <a:t>продакшн</a:t>
            </a:r>
            <a:r>
              <a:rPr lang="ru-RU" sz="2000" dirty="0"/>
              <a:t>-версии для конечного пользователя или в промежуточной для внутреннего тестирования. В идеале каждый спринт должен заканчиваться релизом.</a:t>
            </a:r>
          </a:p>
          <a:p>
            <a:pPr fontAlgn="base"/>
            <a:r>
              <a:rPr lang="ru-RU" sz="2000" dirty="0" err="1"/>
              <a:t>Продакшн</a:t>
            </a:r>
            <a:r>
              <a:rPr lang="ru-RU" sz="2000" dirty="0"/>
              <a:t> —конечная версия приложения или сайта, доступная рядовым пользователям (</a:t>
            </a:r>
            <a:r>
              <a:rPr lang="ru-RU" sz="2000" dirty="0" err="1"/>
              <a:t>production</a:t>
            </a:r>
            <a:r>
              <a:rPr lang="ru-RU" sz="2000" dirty="0"/>
              <a:t>). Проще говоря, то, что мы можем найти в </a:t>
            </a:r>
            <a:r>
              <a:rPr lang="ru-RU" sz="2000" dirty="0" err="1"/>
              <a:t>Google</a:t>
            </a:r>
            <a:r>
              <a:rPr lang="ru-RU" sz="2000" dirty="0"/>
              <a:t>, скачать с </a:t>
            </a:r>
            <a:r>
              <a:rPr lang="ru-RU" sz="2000" dirty="0" err="1"/>
              <a:t>Google</a:t>
            </a:r>
            <a:r>
              <a:rPr lang="ru-RU" sz="2000" dirty="0"/>
              <a:t> </a:t>
            </a:r>
            <a:r>
              <a:rPr lang="ru-RU" sz="2000" dirty="0" err="1"/>
              <a:t>Play</a:t>
            </a:r>
            <a:r>
              <a:rPr lang="ru-RU" sz="2000" dirty="0"/>
              <a:t> или </a:t>
            </a:r>
            <a:r>
              <a:rPr lang="ru-RU" sz="2000" dirty="0" err="1"/>
              <a:t>Apple</a:t>
            </a:r>
            <a:r>
              <a:rPr lang="ru-RU" sz="2000" dirty="0"/>
              <a:t> </a:t>
            </a:r>
            <a:r>
              <a:rPr lang="ru-RU" sz="2000" dirty="0" err="1"/>
              <a:t>Store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1049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терминология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sz="2000" dirty="0" err="1"/>
              <a:t>Деплой</a:t>
            </a:r>
            <a:r>
              <a:rPr lang="ru-RU" sz="2000" dirty="0"/>
              <a:t> — перенос разработчиками свежего кода на нужный сервер (промежуточный или </a:t>
            </a:r>
            <a:r>
              <a:rPr lang="ru-RU" sz="2000" dirty="0" err="1"/>
              <a:t>продакшен</a:t>
            </a:r>
            <a:r>
              <a:rPr lang="ru-RU" sz="2000" dirty="0"/>
              <a:t>), </a:t>
            </a:r>
            <a:r>
              <a:rPr lang="ru-RU" sz="2000" dirty="0" err="1"/>
              <a:t>deploy</a:t>
            </a:r>
            <a:r>
              <a:rPr lang="ru-RU" sz="2000" dirty="0"/>
              <a:t>. Очень часто в конце спринта можно услышать тревожное «</a:t>
            </a:r>
            <a:r>
              <a:rPr lang="ru-RU" sz="2000" dirty="0" err="1"/>
              <a:t>Задеплоил</a:t>
            </a:r>
            <a:r>
              <a:rPr lang="ru-RU" sz="2000" dirty="0"/>
              <a:t> ли ты свои изменения?».</a:t>
            </a:r>
          </a:p>
          <a:p>
            <a:pPr fontAlgn="base"/>
            <a:r>
              <a:rPr lang="ru-RU" sz="2000" dirty="0" err="1"/>
              <a:t>Билд</a:t>
            </a:r>
            <a:r>
              <a:rPr lang="ru-RU" sz="2000" dirty="0"/>
              <a:t> —сборка мобильного приложения, несущая в себе последние обновления (</a:t>
            </a:r>
            <a:r>
              <a:rPr lang="ru-RU" sz="2000" dirty="0" err="1"/>
              <a:t>build</a:t>
            </a:r>
            <a:r>
              <a:rPr lang="ru-RU" sz="2000" dirty="0"/>
              <a:t>). Самые свежие результаты «строительства».</a:t>
            </a:r>
          </a:p>
        </p:txBody>
      </p:sp>
    </p:spTree>
    <p:extLst>
      <p:ext uri="{BB962C8B-B14F-4D97-AF65-F5344CB8AC3E}">
        <p14:creationId xmlns:p14="http://schemas.microsoft.com/office/powerpoint/2010/main" val="4022621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по с использованием методологии </a:t>
            </a:r>
            <a:r>
              <a:rPr lang="en-US" dirty="0" err="1"/>
              <a:t>devops</a:t>
            </a:r>
            <a:r>
              <a:rPr lang="ru-RU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Чтобы понять, как происходит процесс разработки приложений по подходу </a:t>
            </a:r>
            <a:r>
              <a:rPr lang="ru-RU" sz="2000" dirty="0" err="1"/>
              <a:t>DevOps</a:t>
            </a:r>
            <a:r>
              <a:rPr lang="ru-RU" sz="2000" dirty="0"/>
              <a:t>, разберем его по этапам. Всего их пять.</a:t>
            </a:r>
            <a:endParaRPr lang="en-US" sz="2000" dirty="0"/>
          </a:p>
          <a:p>
            <a:r>
              <a:rPr lang="ru-RU" sz="2000" dirty="0"/>
              <a:t>Формулирование требований и проектирование</a:t>
            </a:r>
            <a:endParaRPr lang="en-US" sz="2000" dirty="0"/>
          </a:p>
          <a:p>
            <a:r>
              <a:rPr lang="ru-RU" sz="2000" dirty="0"/>
              <a:t>Разработка</a:t>
            </a:r>
            <a:endParaRPr lang="en-US" sz="2000" dirty="0"/>
          </a:p>
          <a:p>
            <a:r>
              <a:rPr lang="ru-RU" sz="2000" dirty="0"/>
              <a:t>Запуск конвейера </a:t>
            </a:r>
            <a:r>
              <a:rPr lang="en-US" sz="2000" dirty="0"/>
              <a:t>CI/CD</a:t>
            </a:r>
          </a:p>
          <a:p>
            <a:r>
              <a:rPr lang="ru-RU" sz="2000" dirty="0"/>
              <a:t>Непрерывное тестирование</a:t>
            </a:r>
            <a:endParaRPr lang="en-US" sz="2000" dirty="0"/>
          </a:p>
          <a:p>
            <a:r>
              <a:rPr lang="ru-RU" sz="2000" dirty="0"/>
              <a:t>Непрерывное развертывание</a:t>
            </a:r>
          </a:p>
          <a:p>
            <a:r>
              <a:rPr lang="ru-RU" sz="2000" dirty="0"/>
              <a:t>Непрерывный мониторинг</a:t>
            </a:r>
          </a:p>
        </p:txBody>
      </p:sp>
    </p:spTree>
    <p:extLst>
      <p:ext uri="{BB962C8B-B14F-4D97-AF65-F5344CB8AC3E}">
        <p14:creationId xmlns:p14="http://schemas.microsoft.com/office/powerpoint/2010/main" val="3812988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42" y="570849"/>
            <a:ext cx="10162315" cy="571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16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Формулирование требований и проектирование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Менеджер проекта описывает, чего бизнес ожидает от приложения, а команда разработки создает структуру будущего продукта и расписывает этапы его создания. В проектировании принимают участие в том числе программисты, </a:t>
            </a:r>
            <a:r>
              <a:rPr lang="ru-RU" sz="2000" dirty="0" err="1"/>
              <a:t>тестировщики</a:t>
            </a:r>
            <a:r>
              <a:rPr lang="ru-RU" sz="2000" dirty="0"/>
              <a:t> и администраторы: они лучше понимают время разработки и шаги, на которые ее нужно разделить.</a:t>
            </a:r>
          </a:p>
        </p:txBody>
      </p:sp>
    </p:spTree>
    <p:extLst>
      <p:ext uri="{BB962C8B-B14F-4D97-AF65-F5344CB8AC3E}">
        <p14:creationId xmlns:p14="http://schemas.microsoft.com/office/powerpoint/2010/main" val="3303711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Команда, обычно под руководством </a:t>
            </a:r>
            <a:r>
              <a:rPr lang="ru-RU" dirty="0" err="1"/>
              <a:t>DevOps</a:t>
            </a:r>
            <a:r>
              <a:rPr lang="ru-RU" dirty="0"/>
              <a:t>-инженера, создает среду и конвейер CI/CD, в которых будет происходить разработка продуктов. Для этого пишется ряд скриптов и систем для контроля версий, управления проектом, мониторинга, а также настраиваются кластеры для разработки, тестирования и </a:t>
            </a:r>
            <a:r>
              <a:rPr lang="ru-RU" dirty="0" err="1"/>
              <a:t>продакшена</a:t>
            </a:r>
            <a:r>
              <a:rPr lang="ru-RU" dirty="0"/>
              <a:t>. Этим, как правило, занимаются администраторы и </a:t>
            </a:r>
            <a:r>
              <a:rPr lang="ru-RU" dirty="0" err="1"/>
              <a:t>тестировщики</a:t>
            </a:r>
            <a:r>
              <a:rPr lang="ru-RU" dirty="0"/>
              <a:t>.</a:t>
            </a:r>
          </a:p>
          <a:p>
            <a:r>
              <a:rPr lang="ru-RU" dirty="0"/>
              <a:t>Параллельно с этим программисты работают непосредственно над кодом: пишут его, анализируют, контролируют версии. Обычно работу строят так, чтобы как можно быстрее выпускать отдельные готовые модули. Например, работают не сразу над всем приложением, а сначала над главной страницей и системой авторизации.</a:t>
            </a:r>
          </a:p>
        </p:txBody>
      </p:sp>
    </p:spTree>
    <p:extLst>
      <p:ext uri="{BB962C8B-B14F-4D97-AF65-F5344CB8AC3E}">
        <p14:creationId xmlns:p14="http://schemas.microsoft.com/office/powerpoint/2010/main" val="4022429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Запуск конвейера </a:t>
            </a:r>
            <a:r>
              <a:rPr lang="en-US" dirty="0"/>
              <a:t>ci/cd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Когда часть кода готова, разработчики запускают скрипты, подготовленные и автоматизированные на прошлом шаге. Эти скрипты превращают код в продукт и берут на себя рутину. Например, компилируют код в пакеты, управляют версиями, передают его </a:t>
            </a:r>
            <a:r>
              <a:rPr lang="ru-RU" sz="2000" dirty="0" err="1"/>
              <a:t>тестировщикам</a:t>
            </a:r>
            <a:r>
              <a:rPr lang="ru-RU" sz="2000" dirty="0"/>
              <a:t> и администраторам.</a:t>
            </a:r>
          </a:p>
        </p:txBody>
      </p:sp>
    </p:spTree>
    <p:extLst>
      <p:ext uri="{BB962C8B-B14F-4D97-AF65-F5344CB8AC3E}">
        <p14:creationId xmlns:p14="http://schemas.microsoft.com/office/powerpoint/2010/main" val="2231340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Непрерывное тестирование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Написанный код с помощью скриптов уходит на автоматическое тестирование. Оно происходит без участия программистов и </a:t>
            </a:r>
            <a:r>
              <a:rPr lang="ru-RU" sz="2000" dirty="0" err="1"/>
              <a:t>тестировщиков</a:t>
            </a:r>
            <a:r>
              <a:rPr lang="ru-RU" sz="2000" dirty="0"/>
              <a:t> и помогает выявить ошибки при внесении изменений и выгрузке кода. Если ошибки есть, код не уйдет в сборку и точно не попадет в работающий продукт.</a:t>
            </a:r>
          </a:p>
          <a:p>
            <a:r>
              <a:rPr lang="ru-RU" sz="2000" dirty="0"/>
              <a:t>Если изменения кода незначительные, после </a:t>
            </a:r>
            <a:r>
              <a:rPr lang="ru-RU" sz="2000" dirty="0" err="1"/>
              <a:t>автотестов</a:t>
            </a:r>
            <a:r>
              <a:rPr lang="ru-RU" sz="2000" dirty="0"/>
              <a:t> он сразу уходит на рабочие серверы. Если серьезные, код отправляется </a:t>
            </a:r>
            <a:r>
              <a:rPr lang="ru-RU" sz="2000" dirty="0" err="1"/>
              <a:t>тестировщикам</a:t>
            </a:r>
            <a:r>
              <a:rPr lang="ru-RU" sz="2000" dirty="0"/>
              <a:t>, чтобы они проверили пользовательские сценарии и убедились, что все работает в соответствии с требованиями к продукту.</a:t>
            </a:r>
          </a:p>
        </p:txBody>
      </p:sp>
    </p:spTree>
    <p:extLst>
      <p:ext uri="{BB962C8B-B14F-4D97-AF65-F5344CB8AC3E}">
        <p14:creationId xmlns:p14="http://schemas.microsoft.com/office/powerpoint/2010/main" val="226238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Непрерывное развертывание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Когда конфигурации протестированы, автоматические скрипты сразу отправляют их развертываться на «боевых» серверах. В итоге выпуск ПО или обновления в релиз перестает быть выдающимся событием и превращается в рутину. Если в какой-то версии были ошибки, можно исправлять их весь день и в течение дня постоянно развертывать мелкие обновления, которые постепенно нормализуют работу приложения.</a:t>
            </a:r>
          </a:p>
          <a:p>
            <a:r>
              <a:rPr lang="ru-RU" sz="2000" dirty="0"/>
              <a:t>Чтобы эта система работала, важно тщательное тестирование. Если плохо протестированное приложение автоматически развернется, это может привести к серьезным финансовым потерям.</a:t>
            </a:r>
          </a:p>
        </p:txBody>
      </p:sp>
    </p:spTree>
    <p:extLst>
      <p:ext uri="{BB962C8B-B14F-4D97-AF65-F5344CB8AC3E}">
        <p14:creationId xmlns:p14="http://schemas.microsoft.com/office/powerpoint/2010/main" val="4070800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Непрерывный мониторинг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800" dirty="0"/>
              <a:t>Когда приложение ушло на рабочий сервер, к нему подключаются системы мониторинга. Они контролируют, как работает приложение, записывают все ошибки в </a:t>
            </a:r>
            <a:r>
              <a:rPr lang="ru-RU" sz="1800" dirty="0" err="1"/>
              <a:t>логи</a:t>
            </a:r>
            <a:r>
              <a:rPr lang="ru-RU" sz="1800" dirty="0"/>
              <a:t>, оповещают о проблемах и автоматически перезагружают и отключают сломанные функции.</a:t>
            </a:r>
          </a:p>
          <a:p>
            <a:r>
              <a:rPr lang="ru-RU" sz="1800" dirty="0"/>
              <a:t>Например, в приложении происходит какой-то сбой. Система мониторинга его фиксирует, записывает в лог информацию о сбое и отправляет команду на перезагрузку. А потом посылает информацию о сбое разработчикам, чтобы они могли быстро исправить ошибку.</a:t>
            </a:r>
          </a:p>
          <a:p>
            <a:r>
              <a:rPr lang="ru-RU" sz="1800" dirty="0"/>
              <a:t>Важно, что в </a:t>
            </a:r>
            <a:r>
              <a:rPr lang="ru-RU" sz="1800" dirty="0" err="1"/>
              <a:t>DevOps</a:t>
            </a:r>
            <a:r>
              <a:rPr lang="ru-RU" sz="1800" dirty="0"/>
              <a:t> все эти этапы не идут друг за другом, а параллельно. Пока программисты работают над одним кодом, другую его часть уже тестируют, а еще одну </a:t>
            </a:r>
            <a:r>
              <a:rPr lang="ru-RU" sz="1800" dirty="0" err="1"/>
              <a:t>мониторят</a:t>
            </a:r>
            <a:r>
              <a:rPr lang="ru-RU" sz="1800" dirty="0"/>
              <a:t>. А администраторы в это же время собирают результаты мониторинга — и в этот же момент формируют вместе с программистами новые задачи на разработку.</a:t>
            </a:r>
          </a:p>
        </p:txBody>
      </p:sp>
    </p:spTree>
    <p:extLst>
      <p:ext uri="{BB962C8B-B14F-4D97-AF65-F5344CB8AC3E}">
        <p14:creationId xmlns:p14="http://schemas.microsoft.com/office/powerpoint/2010/main" val="3310290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Devops</a:t>
            </a:r>
            <a:r>
              <a:rPr lang="en-US" dirty="0"/>
              <a:t> – </a:t>
            </a:r>
            <a:r>
              <a:rPr lang="ru-RU" dirty="0"/>
              <a:t>это методология разработки по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69" y="2097088"/>
            <a:ext cx="6854685" cy="396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02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дает команде разработчиков </a:t>
            </a:r>
            <a:r>
              <a:rPr lang="en-US" dirty="0" err="1"/>
              <a:t>devops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1796902"/>
            <a:ext cx="9905999" cy="4508205"/>
          </a:xfrm>
        </p:spPr>
        <p:txBody>
          <a:bodyPr>
            <a:noAutofit/>
          </a:bodyPr>
          <a:lstStyle/>
          <a:p>
            <a:r>
              <a:rPr lang="ru-RU" sz="1800" b="1" dirty="0"/>
              <a:t>Меньше ошибок.</a:t>
            </a:r>
            <a:r>
              <a:rPr lang="ru-RU" sz="1800" dirty="0"/>
              <a:t> Одна из причин, почему случаются сбои при развертывании, связана с багами. В </a:t>
            </a:r>
            <a:r>
              <a:rPr lang="ru-RU" sz="1800" dirty="0" err="1"/>
              <a:t>DevOps</a:t>
            </a:r>
            <a:r>
              <a:rPr lang="ru-RU" sz="1800" dirty="0"/>
              <a:t> циклы разработки короче обычных, поэтому код выходит чаще. В результате искать ошибки становится проще, а значит, количество сбоев уменьшается.</a:t>
            </a:r>
          </a:p>
          <a:p>
            <a:r>
              <a:rPr lang="ru-RU" sz="1800" b="1" dirty="0"/>
              <a:t>Сокращение времени выхода сервиса на рынок.</a:t>
            </a:r>
            <a:r>
              <a:rPr lang="ru-RU" sz="1800" dirty="0"/>
              <a:t> Масштабируемые инфраструктуры — облачные платформы, инструменты для ускорения сборки, параллельные рабочие процессы, работа в одной среде — сильно сокращают время работы. Развертывать и запускать приложение стало в разы быстрее.</a:t>
            </a:r>
          </a:p>
          <a:p>
            <a:r>
              <a:rPr lang="ru-RU" sz="1800" b="1" dirty="0"/>
              <a:t>Создание более гибких и отказоустойчивых систем.</a:t>
            </a:r>
            <a:r>
              <a:rPr lang="ru-RU" sz="1800" dirty="0"/>
              <a:t> Это достигается за счет использования облачной инфраструктуры. Она дает возможность быстро масштабировать систему, использовать только нужное количество ресурсов и оперативно увеличивать мощности.</a:t>
            </a:r>
          </a:p>
          <a:p>
            <a:r>
              <a:rPr lang="ru-RU" sz="1800" b="1" dirty="0"/>
              <a:t>Повышенная надежность и безопасность приложений.</a:t>
            </a:r>
            <a:r>
              <a:rPr lang="ru-RU" sz="1800" dirty="0"/>
              <a:t> Среди </a:t>
            </a:r>
            <a:r>
              <a:rPr lang="ru-RU" sz="1800" dirty="0" err="1"/>
              <a:t>DevOps</a:t>
            </a:r>
            <a:r>
              <a:rPr lang="ru-RU" sz="1800" dirty="0"/>
              <a:t>-инструментов есть те, которые анализируют исходный код программного обеспечения, чтобы определить, есть ли в нем недостатки безопасности. </a:t>
            </a:r>
          </a:p>
        </p:txBody>
      </p:sp>
    </p:spTree>
    <p:extLst>
      <p:ext uri="{BB962C8B-B14F-4D97-AF65-F5344CB8AC3E}">
        <p14:creationId xmlns:p14="http://schemas.microsoft.com/office/powerpoint/2010/main" val="2198832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внедрения методологии </a:t>
            </a:r>
            <a:r>
              <a:rPr lang="en-US" dirty="0" err="1"/>
              <a:t>devops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err="1"/>
              <a:t>DevOPS</a:t>
            </a:r>
            <a:r>
              <a:rPr lang="ru-RU" dirty="0"/>
              <a:t>-инженер при разработке плана работ помогает определить, какую архитектуру применять в программе, как именно будет происходить масштабирование, какую систему </a:t>
            </a:r>
            <a:r>
              <a:rPr lang="ru-RU" dirty="0" err="1"/>
              <a:t>оркестрации</a:t>
            </a:r>
            <a:r>
              <a:rPr lang="ru-RU" dirty="0"/>
              <a:t> лучше всего использовать.</a:t>
            </a:r>
          </a:p>
          <a:p>
            <a:r>
              <a:rPr lang="ru-RU" dirty="0"/>
              <a:t>На следующем этапе автоматизирует проверку кода, настраивает сервера.</a:t>
            </a:r>
          </a:p>
          <a:p>
            <a:r>
              <a:rPr lang="ru-RU" dirty="0"/>
              <a:t>Как только продукт готов, автоматизирует его тестирование.</a:t>
            </a:r>
          </a:p>
          <a:p>
            <a:r>
              <a:rPr lang="ru-RU" dirty="0"/>
              <a:t>После релиза анализирует результаты опроса пользователей, внедряет обновления и улучшает приложения так, чтобы никто не заметил.</a:t>
            </a:r>
          </a:p>
          <a:p>
            <a:r>
              <a:rPr lang="ru-RU" dirty="0"/>
              <a:t>Одновременно занимается решением проблем, которые возникают в работе разработчиков, менеджеров и других специалистов.</a:t>
            </a:r>
          </a:p>
        </p:txBody>
      </p:sp>
    </p:spTree>
    <p:extLst>
      <p:ext uri="{BB962C8B-B14F-4D97-AF65-F5344CB8AC3E}">
        <p14:creationId xmlns:p14="http://schemas.microsoft.com/office/powerpoint/2010/main" val="836297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принципы </a:t>
            </a:r>
            <a:r>
              <a:rPr lang="en-US" dirty="0" err="1"/>
              <a:t>devops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ru-RU" sz="1800" dirty="0"/>
              <a:t>Автоматизация – автоматизируйте все, что возможно. Что невозможно, тоже. Чтобы все процессы по тестированию, сборке и развертыванию приложения, выкатке обновлений, сбору обратной связи производились автоматически.</a:t>
            </a:r>
          </a:p>
          <a:p>
            <a:pPr fontAlgn="base"/>
            <a:r>
              <a:rPr lang="ru-RU" sz="1800" dirty="0"/>
              <a:t>Ускорение релиза, в том числе через упрощение процесса разработки. Этот принцип подчеркивает прямую связь идеологии </a:t>
            </a:r>
            <a:r>
              <a:rPr lang="ru-RU" sz="1800" dirty="0" err="1"/>
              <a:t>DevOps</a:t>
            </a:r>
            <a:r>
              <a:rPr lang="ru-RU" sz="1800" dirty="0"/>
              <a:t> с потребностями бизнеса – чем быстрей заказчик получит конечный работающий продукт, тем выше будет эффективность и конкурентоспособность его бизнеса. Поэтому </a:t>
            </a:r>
            <a:r>
              <a:rPr lang="ru-RU" sz="1800" dirty="0" err="1"/>
              <a:t>DevOps</a:t>
            </a:r>
            <a:r>
              <a:rPr lang="ru-RU" sz="1800" dirty="0"/>
              <a:t> активно использует </a:t>
            </a:r>
            <a:r>
              <a:rPr lang="ru-RU" sz="1800" dirty="0" err="1"/>
              <a:t>best</a:t>
            </a:r>
            <a:r>
              <a:rPr lang="ru-RU" sz="1800" dirty="0"/>
              <a:t> </a:t>
            </a:r>
            <a:r>
              <a:rPr lang="ru-RU" sz="1800" dirty="0" err="1"/>
              <a:t>practices</a:t>
            </a:r>
            <a:r>
              <a:rPr lang="ru-RU" sz="1800" dirty="0"/>
              <a:t>, которые помогают, например, усовершенствовать процессы мониторинга или сократить время, затрачиваемое на процессы доставки продукта пользователю.</a:t>
            </a:r>
          </a:p>
        </p:txBody>
      </p:sp>
    </p:spTree>
    <p:extLst>
      <p:ext uri="{BB962C8B-B14F-4D97-AF65-F5344CB8AC3E}">
        <p14:creationId xmlns:p14="http://schemas.microsoft.com/office/powerpoint/2010/main" val="2986192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принципы </a:t>
            </a:r>
            <a:r>
              <a:rPr lang="en-US" dirty="0" err="1"/>
              <a:t>devops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sz="1800" dirty="0"/>
              <a:t>Получение быстрой обратной связи – именно </a:t>
            </a:r>
            <a:r>
              <a:rPr lang="ru-RU" sz="1800" dirty="0" err="1"/>
              <a:t>DevOps</a:t>
            </a:r>
            <a:r>
              <a:rPr lang="ru-RU" sz="1800" dirty="0"/>
              <a:t>-методология позволила ускорить этот процесс, а самое главное – по следам ОС от пользователей оперативно вносить корректировки в продукт и производить его обновления.</a:t>
            </a:r>
          </a:p>
          <a:p>
            <a:pPr fontAlgn="base"/>
            <a:r>
              <a:rPr lang="ru-RU" sz="1800" dirty="0"/>
              <a:t>Наличие стандартов. Для </a:t>
            </a:r>
            <a:r>
              <a:rPr lang="ru-RU" sz="1800" dirty="0" err="1"/>
              <a:t>DevOps</a:t>
            </a:r>
            <a:r>
              <a:rPr lang="ru-RU" sz="1800" dirty="0"/>
              <a:t> важно наличие стандартов настройки и использования тех или иных инструментов. Благодаря этому, сложный процесс, </a:t>
            </a:r>
            <a:r>
              <a:rPr lang="ru-RU" sz="1800" dirty="0" err="1"/>
              <a:t>задействующий</a:t>
            </a:r>
            <a:r>
              <a:rPr lang="ru-RU" sz="1800" dirty="0"/>
              <a:t> одновременно разработку, тестирование и эксплуатацию, не превращается в «хаос», а напротив, получает возможности для автоматизации каждого этапа.</a:t>
            </a:r>
          </a:p>
          <a:p>
            <a:pPr fontAlgn="base"/>
            <a:r>
              <a:rPr lang="ru-RU" sz="1800" dirty="0"/>
              <a:t>Непрерывное тестирование. Процесс запуска непрерывных тестов позволяет полностью контролировать процесс и оперативно реагировать на возникающие проблемы.</a:t>
            </a:r>
          </a:p>
        </p:txBody>
      </p:sp>
    </p:spTree>
    <p:extLst>
      <p:ext uri="{BB962C8B-B14F-4D97-AF65-F5344CB8AC3E}">
        <p14:creationId xmlns:p14="http://schemas.microsoft.com/office/powerpoint/2010/main" val="551255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289" y="879348"/>
            <a:ext cx="7633179" cy="509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613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Философия </a:t>
            </a:r>
            <a:r>
              <a:rPr lang="en-US" dirty="0" err="1"/>
              <a:t>devops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020186"/>
            <a:ext cx="9905999" cy="4401879"/>
          </a:xfrm>
        </p:spPr>
        <p:txBody>
          <a:bodyPr>
            <a:noAutofit/>
          </a:bodyPr>
          <a:lstStyle/>
          <a:p>
            <a:r>
              <a:rPr lang="ru-RU" sz="1800" dirty="0"/>
              <a:t>Философия </a:t>
            </a:r>
            <a:r>
              <a:rPr lang="ru-RU" sz="1800" dirty="0" err="1"/>
              <a:t>DevOps</a:t>
            </a:r>
            <a:r>
              <a:rPr lang="ru-RU" sz="1800" dirty="0"/>
              <a:t> — это подход к разработке, при котором код автоматически и непрерывно переходит от разработчиков к </a:t>
            </a:r>
            <a:r>
              <a:rPr lang="ru-RU" sz="1800" dirty="0" err="1"/>
              <a:t>тестировщикам</a:t>
            </a:r>
            <a:r>
              <a:rPr lang="ru-RU" sz="1800" dirty="0"/>
              <a:t>, а затем разворачивается на «боевых» серверах. Все занятые в разработке работают как единая команда, а не перебрасывают друг другу задачи и ответственность за результат.</a:t>
            </a:r>
          </a:p>
          <a:p>
            <a:r>
              <a:rPr lang="ru-RU" sz="1800" dirty="0" err="1"/>
              <a:t>DevOps</a:t>
            </a:r>
            <a:r>
              <a:rPr lang="ru-RU" sz="1800" dirty="0"/>
              <a:t> помогает ускорить релизы, избежать ошибок при тестировании и запуске приложений, предотвратить проблемы с обновлениями и снизить расходы на разработку.</a:t>
            </a:r>
          </a:p>
          <a:p>
            <a:r>
              <a:rPr lang="ru-RU" sz="1800" dirty="0"/>
              <a:t>Разработка по </a:t>
            </a:r>
            <a:r>
              <a:rPr lang="ru-RU" sz="1800" dirty="0" err="1"/>
              <a:t>DevOps</a:t>
            </a:r>
            <a:r>
              <a:rPr lang="ru-RU" sz="1800" dirty="0"/>
              <a:t> происходит в 6 этапов: проектирование, написание кода, запуск конвейера CI/CD, непрерывное тестирование, непрерывное развертывание и непрерывный мониторинг. Все эти этапы идут не друг за другом, а параллельно.</a:t>
            </a:r>
          </a:p>
          <a:p>
            <a:r>
              <a:rPr lang="ru-RU" sz="1800" dirty="0"/>
              <a:t>Для работы по технологии </a:t>
            </a:r>
            <a:r>
              <a:rPr lang="ru-RU" sz="1800" dirty="0" err="1"/>
              <a:t>DevOps</a:t>
            </a:r>
            <a:r>
              <a:rPr lang="ru-RU" sz="1800" dirty="0"/>
              <a:t> нужно много специальных инструментов автоматизации: облачные технологии, системы контроля версий, платформы управления инфраструктурой. Их настройкой обычно занимаются </a:t>
            </a:r>
            <a:r>
              <a:rPr lang="ru-RU" sz="1800" dirty="0" err="1"/>
              <a:t>DevOps</a:t>
            </a:r>
            <a:r>
              <a:rPr lang="ru-RU" sz="1800" dirty="0"/>
              <a:t>-инженеры.</a:t>
            </a:r>
          </a:p>
        </p:txBody>
      </p:sp>
    </p:spTree>
    <p:extLst>
      <p:ext uri="{BB962C8B-B14F-4D97-AF65-F5344CB8AC3E}">
        <p14:creationId xmlns:p14="http://schemas.microsoft.com/office/powerpoint/2010/main" val="2188099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Концепция </a:t>
            </a:r>
            <a:r>
              <a:rPr lang="ru-RU" dirty="0" err="1"/>
              <a:t>DevOps</a:t>
            </a:r>
            <a:r>
              <a:rPr lang="ru-RU" dirty="0"/>
              <a:t> — это не просто философия, но и технологии. Мало сказать: «Мы работаем как одна команда» — нужно еще и обеспечить инструменты для такой совместной работы. Обычно для настройки таких инструментов и процессов нанимают специального человека — </a:t>
            </a:r>
            <a:r>
              <a:rPr lang="ru-RU" dirty="0" err="1"/>
              <a:t>DevOps</a:t>
            </a:r>
            <a:r>
              <a:rPr lang="ru-RU" dirty="0"/>
              <a:t>-инженера.</a:t>
            </a:r>
          </a:p>
        </p:txBody>
      </p:sp>
      <p:sp>
        <p:nvSpPr>
          <p:cNvPr id="3" name="Объект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9496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такой </a:t>
            </a:r>
            <a:r>
              <a:rPr lang="en-US" dirty="0" err="1"/>
              <a:t>devops</a:t>
            </a:r>
            <a:r>
              <a:rPr lang="en-US" dirty="0"/>
              <a:t>-</a:t>
            </a:r>
            <a:r>
              <a:rPr lang="ru-RU" dirty="0"/>
              <a:t>инженер?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174869" cy="3541714"/>
          </a:xfrm>
        </p:spPr>
        <p:txBody>
          <a:bodyPr>
            <a:normAutofit/>
          </a:bodyPr>
          <a:lstStyle/>
          <a:p>
            <a:r>
              <a:rPr lang="ru-RU" sz="2000" dirty="0" err="1"/>
              <a:t>DevOps</a:t>
            </a:r>
            <a:r>
              <a:rPr lang="ru-RU" sz="2000" dirty="0"/>
              <a:t>-инженер отвечает за использование одноименной методологии в компании.</a:t>
            </a:r>
          </a:p>
          <a:p>
            <a:r>
              <a:rPr lang="ru-RU" sz="2000" dirty="0"/>
              <a:t>Он разбирается в программировании и инфраструктуре и объединяет эти знания для оптимальной работы бизнеса.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887" y="1824789"/>
            <a:ext cx="5939836" cy="465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60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инструменты </a:t>
            </a:r>
            <a:r>
              <a:rPr lang="en-US" dirty="0" err="1"/>
              <a:t>devops</a:t>
            </a:r>
            <a:r>
              <a:rPr lang="en-US" dirty="0"/>
              <a:t>-</a:t>
            </a:r>
            <a:r>
              <a:rPr lang="ru-RU" dirty="0"/>
              <a:t>инженера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Облачные технологии</a:t>
            </a:r>
          </a:p>
          <a:p>
            <a:r>
              <a:rPr lang="ru-RU" sz="2000" dirty="0"/>
              <a:t>Системы контроля версий</a:t>
            </a:r>
          </a:p>
          <a:p>
            <a:r>
              <a:rPr lang="en-US" sz="2000" dirty="0"/>
              <a:t>CI/CD-</a:t>
            </a:r>
            <a:r>
              <a:rPr lang="ru-RU" sz="2000" dirty="0"/>
              <a:t>системы</a:t>
            </a:r>
          </a:p>
          <a:p>
            <a:r>
              <a:rPr lang="ru-RU" sz="2000" dirty="0"/>
              <a:t>Инструменты управления конфигурацией серверов</a:t>
            </a:r>
          </a:p>
          <a:p>
            <a:r>
              <a:rPr lang="ru-RU" sz="2000" dirty="0"/>
              <a:t>Системы </a:t>
            </a:r>
            <a:r>
              <a:rPr lang="ru-RU" sz="2000" dirty="0" err="1"/>
              <a:t>оркестрации</a:t>
            </a:r>
            <a:r>
              <a:rPr lang="ru-RU" sz="2000" dirty="0"/>
              <a:t> контейнеров</a:t>
            </a:r>
          </a:p>
          <a:p>
            <a:r>
              <a:rPr lang="ru-RU" sz="2000" dirty="0"/>
              <a:t>Системы мониторинга серверов</a:t>
            </a:r>
          </a:p>
        </p:txBody>
      </p:sp>
    </p:spTree>
    <p:extLst>
      <p:ext uri="{BB962C8B-B14F-4D97-AF65-F5344CB8AC3E}">
        <p14:creationId xmlns:p14="http://schemas.microsoft.com/office/powerpoint/2010/main" val="2463548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профессии </a:t>
            </a:r>
            <a:r>
              <a:rPr lang="en-US" dirty="0" err="1"/>
              <a:t>devops</a:t>
            </a:r>
            <a:r>
              <a:rPr lang="en-US" dirty="0"/>
              <a:t>-</a:t>
            </a:r>
            <a:r>
              <a:rPr lang="ru-RU" dirty="0"/>
              <a:t>инженер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sz="2000" dirty="0"/>
              <a:t>ненормированный график - проблемы с софтом могут возникнуть в любое время, порой необходимо поработать ночью или в выходные;</a:t>
            </a:r>
          </a:p>
          <a:p>
            <a:pPr fontAlgn="base"/>
            <a:r>
              <a:rPr lang="ru-RU" sz="2000" dirty="0"/>
              <a:t>сложность - профессия требует совмещать знания из разных предметных областей, что может быть сложно и даже пугающе (особенно на старте).</a:t>
            </a:r>
          </a:p>
        </p:txBody>
      </p:sp>
    </p:spTree>
    <p:extLst>
      <p:ext uri="{BB962C8B-B14F-4D97-AF65-F5344CB8AC3E}">
        <p14:creationId xmlns:p14="http://schemas.microsoft.com/office/powerpoint/2010/main" val="3685499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профессии </a:t>
            </a:r>
            <a:r>
              <a:rPr lang="en-US" dirty="0" err="1"/>
              <a:t>devops</a:t>
            </a:r>
            <a:r>
              <a:rPr lang="ru-RU" dirty="0"/>
              <a:t>-инженер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sz="2000" dirty="0"/>
              <a:t>востребованность - спрос на таких специалистов превышает предложение. По прогнозам IDC , к 2024 году число </a:t>
            </a:r>
            <a:r>
              <a:rPr lang="ru-RU" sz="2000" dirty="0" err="1"/>
              <a:t>DevOps</a:t>
            </a:r>
            <a:r>
              <a:rPr lang="ru-RU" sz="2000" dirty="0"/>
              <a:t>-инженеров вырастет вдвое, а полноценный цикл развития операций внедрит 30% компаний;</a:t>
            </a:r>
          </a:p>
          <a:p>
            <a:pPr fontAlgn="base"/>
            <a:r>
              <a:rPr lang="ru-RU" sz="2000" dirty="0"/>
              <a:t>уровень дохода - заработок напрямую зависит от </a:t>
            </a:r>
            <a:r>
              <a:rPr lang="ru-RU" sz="2000" dirty="0" err="1"/>
              <a:t>скила</a:t>
            </a:r>
            <a:r>
              <a:rPr lang="ru-RU" sz="2000" dirty="0"/>
              <a:t>, однако у экспертов в </a:t>
            </a:r>
            <a:r>
              <a:rPr lang="ru-RU" sz="2000" dirty="0" err="1"/>
              <a:t>DevOps</a:t>
            </a:r>
            <a:r>
              <a:rPr lang="ru-RU" sz="2000" dirty="0"/>
              <a:t> зарплата в среднем выше, чем у представителей других IT-профессий;</a:t>
            </a:r>
          </a:p>
          <a:p>
            <a:pPr fontAlgn="base"/>
            <a:r>
              <a:rPr lang="ru-RU" sz="2000" dirty="0"/>
              <a:t>возможность всесторонне развиваться - работа позволяет погрузиться в широкий спектр технологий и постоянно осваивать новые.</a:t>
            </a:r>
          </a:p>
        </p:txBody>
      </p:sp>
    </p:spTree>
    <p:extLst>
      <p:ext uri="{BB962C8B-B14F-4D97-AF65-F5344CB8AC3E}">
        <p14:creationId xmlns:p14="http://schemas.microsoft.com/office/powerpoint/2010/main" val="4253941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1265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907</TotalTime>
  <Words>1790</Words>
  <Application>Microsoft Office PowerPoint</Application>
  <PresentationFormat>Широкоэкранный</PresentationFormat>
  <Paragraphs>87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2" baseType="lpstr">
      <vt:lpstr>Arial</vt:lpstr>
      <vt:lpstr>Tw Cen MT</vt:lpstr>
      <vt:lpstr>Контур</vt:lpstr>
      <vt:lpstr>DevOps начало</vt:lpstr>
      <vt:lpstr>История возникновения</vt:lpstr>
      <vt:lpstr>Термин devops</vt:lpstr>
      <vt:lpstr>Презентация PowerPoint</vt:lpstr>
      <vt:lpstr>Что такое devops?</vt:lpstr>
      <vt:lpstr>терминология</vt:lpstr>
      <vt:lpstr>терминология</vt:lpstr>
      <vt:lpstr>терминология</vt:lpstr>
      <vt:lpstr>Разработка по с использованием методологии devops </vt:lpstr>
      <vt:lpstr>Презентация PowerPoint</vt:lpstr>
      <vt:lpstr>Формулирование требований и проектирование</vt:lpstr>
      <vt:lpstr>разработка</vt:lpstr>
      <vt:lpstr>Запуск конвейера ci/cd</vt:lpstr>
      <vt:lpstr>Непрерывное тестирование</vt:lpstr>
      <vt:lpstr>Непрерывное развертывание</vt:lpstr>
      <vt:lpstr>Непрерывный мониторинг</vt:lpstr>
      <vt:lpstr>Devops – это методология разработки по</vt:lpstr>
      <vt:lpstr>что дает команде разработчиков devops</vt:lpstr>
      <vt:lpstr>Алгоритм внедрения методологии devops</vt:lpstr>
      <vt:lpstr>Основные принципы devops</vt:lpstr>
      <vt:lpstr>Основные принципы devops</vt:lpstr>
      <vt:lpstr>Презентация PowerPoint</vt:lpstr>
      <vt:lpstr>Философия devops</vt:lpstr>
      <vt:lpstr>Концепция DevOps — это не просто философия, но и технологии. Мало сказать: «Мы работаем как одна команда» — нужно еще и обеспечить инструменты для такой совместной работы. Обычно для настройки таких инструментов и процессов нанимают специального человека — DevOps-инженера.</vt:lpstr>
      <vt:lpstr>Кто такой devops-инженер?</vt:lpstr>
      <vt:lpstr>Основные инструменты devops-инженера</vt:lpstr>
      <vt:lpstr>Недостатки профессии devops-инженер</vt:lpstr>
      <vt:lpstr>Преимущества профессии devops-инженер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Linux серверы</dc:title>
  <dc:creator>User</dc:creator>
  <cp:lastModifiedBy>Админ</cp:lastModifiedBy>
  <cp:revision>97</cp:revision>
  <dcterms:created xsi:type="dcterms:W3CDTF">2022-03-12T05:56:47Z</dcterms:created>
  <dcterms:modified xsi:type="dcterms:W3CDTF">2025-09-09T09:52:43Z</dcterms:modified>
</cp:coreProperties>
</file>