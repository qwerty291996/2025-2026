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8288000" cy="10287000"/>
  <p:notesSz cx="6858000" cy="9144000"/>
  <p:embeddedFontLst>
    <p:embeddedFont>
      <p:font typeface="Helvetica Neue" panose="020B060402020202020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CXA9kBl1IJRbjWdYto4SoV9/h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1B9C74-4006-4AF6-8B13-EE674667AEE0}">
  <a:tblStyle styleId="{DD1B9C74-4006-4AF6-8B13-EE674667AE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d6becb7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g8d6becb7a7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Титульный слайд с темой модуля, именем преподавателя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d6becb7a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g8d6becb7a7_1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Титульный слайд с темой модуля, именем преподавателя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d6becb7a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g8d6becb7a7_0_5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Титульный слайд с темой модуля, именем преподавателя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96202863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g96202863f5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8d6becb7a7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g8d6becb7a7_1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Титульный слайд с темой модуля, именем преподавателя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96202863f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g96202863f5_0_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96202863f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g96202863f5_0_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202863f5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g96202863f5_0_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96202863f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g96202863f5_0_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6202863f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g96202863f5_0_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6202863f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g96202863f5_0_6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96202863f5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g96202863f5_0_7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96202863f5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g96202863f5_0_7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96202863f5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g96202863f5_0_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96202863f5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g96202863f5_0_9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6202863f5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g96202863f5_0_10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 со скриншотом.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96202863f5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g96202863f5_0_1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96202863f5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g96202863f5_0_1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96202863f5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96202863f5_0_1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Титульный слайд с темой модуля, именем преподавателя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6202863f5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g96202863f5_0_1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Титульный слайд с темой модуля, именем преподавателя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96202863f5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g96202863f5_0_16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96202863f5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g96202863f5_0_17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6202863f5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g96202863f5_0_18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96202863f5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96202863f5_0_1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96202863f5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g96202863f5_0_27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Титульный слайд с темой модуля, именем преподавателя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8de42e2e7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8de42e2e73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Титульный слайд с темой модуля, именем преподавателя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96202863f5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g96202863f5_0_19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93932c3e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g93932c3e4b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96202863f5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g96202863f5_0_20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96202863f5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g96202863f5_0_2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02863f5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g96202863f5_0_2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96202863f5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g96202863f5_0_26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96202863f5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96202863f5_0_26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96202863f5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g96202863f5_0_3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Титульный слайд с темой модуля, именем преподавателя 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96202863f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g96202863f5_0_28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Титульный слайд с темой модуля, именем преподавателя 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96202863f5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g96202863f5_0_28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 со скриншотом.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96202863f5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g96202863f5_0_29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96202863f5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g96202863f5_0_29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96202863f5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g96202863f5_0_30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96202863f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g96202863f5_0_3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96202863f5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g96202863f5_0_3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96202863f5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g96202863f5_0_3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96202863f5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g96202863f5_0_3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96202863f5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g96202863f5_0_3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96202863f5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g96202863f5_0_36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Слайд-перечисление буллитами в один столбец вариант 2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96202863f5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g96202863f5_0_37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Титульный слайд с темой модуля, именем преподавателя 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96202863f5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96202863f5_0_38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Титульный слайд с темой модуля, именем преподавателя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623416" y="1489149"/>
            <a:ext cx="17041070" cy="4105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0"/>
              <a:buFont typeface="Arial"/>
              <a:buNone/>
              <a:defRPr sz="7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623399" y="5668250"/>
            <a:ext cx="17041070" cy="1585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4000"/>
              <a:buFont typeface="Arial"/>
              <a:buNone/>
              <a:defRPr sz="4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4000"/>
              <a:buFont typeface="Arial"/>
              <a:buNone/>
              <a:defRPr sz="4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4000"/>
              <a:buFont typeface="Arial"/>
              <a:buNone/>
              <a:defRPr sz="4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4000"/>
              <a:buFont typeface="Arial"/>
              <a:buNone/>
              <a:defRPr sz="4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4000"/>
              <a:buFont typeface="Arial"/>
              <a:buNone/>
              <a:defRPr sz="4000"/>
            </a:lvl5pPr>
            <a:lvl6pPr marL="2743200" lvl="5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marL="3200400" lvl="6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marL="3657600" lvl="7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marL="4114800" lvl="8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17572998" y="9491817"/>
            <a:ext cx="469519" cy="45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623399" y="4301699"/>
            <a:ext cx="17041070" cy="1683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17572998" y="9491817"/>
            <a:ext cx="469519" cy="45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>
  <p:cSld name="TITLE_AND_BODY 2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>
            <a:spLocks noGrp="1"/>
          </p:cNvSpPr>
          <p:nvPr>
            <p:ph type="title"/>
          </p:nvPr>
        </p:nvSpPr>
        <p:spPr>
          <a:xfrm>
            <a:off x="623399" y="890050"/>
            <a:ext cx="17041070" cy="114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body" idx="1"/>
          </p:nvPr>
        </p:nvSpPr>
        <p:spPr>
          <a:xfrm>
            <a:off x="623399" y="2304950"/>
            <a:ext cx="1704107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t" anchorCtr="0">
            <a:normAutofit/>
          </a:bodyPr>
          <a:lstStyle>
            <a:lvl1pPr marL="457200" lvl="0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marL="1371600" lvl="2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marL="1828800" lvl="3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marL="2286000" lvl="4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marL="2743200" lvl="5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marL="3200400" lvl="6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marL="3657600" lvl="7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marL="4114800" lvl="8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sldNum" idx="12"/>
          </p:nvPr>
        </p:nvSpPr>
        <p:spPr>
          <a:xfrm>
            <a:off x="17572998" y="9491817"/>
            <a:ext cx="469519" cy="45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>
            <a:spLocks noGrp="1"/>
          </p:cNvSpPr>
          <p:nvPr>
            <p:ph type="title"/>
          </p:nvPr>
        </p:nvSpPr>
        <p:spPr>
          <a:xfrm>
            <a:off x="623399" y="890050"/>
            <a:ext cx="17041070" cy="114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body" idx="1"/>
          </p:nvPr>
        </p:nvSpPr>
        <p:spPr>
          <a:xfrm>
            <a:off x="623399" y="2304950"/>
            <a:ext cx="8000004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t" anchorCtr="0">
            <a:normAutofit/>
          </a:bodyPr>
          <a:lstStyle>
            <a:lvl1pPr marL="457200" lvl="0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marL="3200400" lvl="6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marL="3657600" lvl="7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marL="4114800" lvl="8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2"/>
          </p:nvPr>
        </p:nvSpPr>
        <p:spPr>
          <a:xfrm>
            <a:off x="9664799" y="2304950"/>
            <a:ext cx="8000003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t" anchorCtr="0">
            <a:normAutofit/>
          </a:bodyPr>
          <a:lstStyle>
            <a:lvl1pPr marL="457200" lvl="0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marL="1371600" lvl="2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marL="1828800" lvl="3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marL="2286000" lvl="4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marL="2743200" lvl="5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marL="3200400" lvl="6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marL="3657600" lvl="7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marL="4114800" lvl="8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17572998" y="9491817"/>
            <a:ext cx="469519" cy="45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623399" y="890050"/>
            <a:ext cx="17041070" cy="114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17572998" y="9491817"/>
            <a:ext cx="469519" cy="45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_COLUMN_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623399" y="1111200"/>
            <a:ext cx="5616002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623399" y="2779198"/>
            <a:ext cx="5616002" cy="6358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marL="3200400" lvl="6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marL="3657600" lvl="7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marL="4114800" lvl="8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sldNum" idx="12"/>
          </p:nvPr>
        </p:nvSpPr>
        <p:spPr>
          <a:xfrm>
            <a:off x="17572998" y="9491817"/>
            <a:ext cx="469519" cy="45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_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>
            <a:spLocks noGrp="1"/>
          </p:cNvSpPr>
          <p:nvPr>
            <p:ph type="title"/>
          </p:nvPr>
        </p:nvSpPr>
        <p:spPr>
          <a:xfrm>
            <a:off x="980498" y="900299"/>
            <a:ext cx="12735469" cy="818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  <a:defRPr sz="6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17572998" y="9491817"/>
            <a:ext cx="469519" cy="45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9144000" y="-250"/>
            <a:ext cx="9144000" cy="1028700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531001" y="2466350"/>
            <a:ext cx="8090667" cy="296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531001" y="5606150"/>
            <a:ext cx="8090667" cy="2470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000"/>
              <a:buFont typeface="Arial"/>
              <a:buNone/>
              <a:defRPr sz="3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000"/>
              <a:buFont typeface="Arial"/>
              <a:buNone/>
              <a:defRPr sz="3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000"/>
              <a:buFont typeface="Arial"/>
              <a:buNone/>
              <a:defRPr sz="3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000"/>
              <a:buFont typeface="Arial"/>
              <a:buNone/>
              <a:defRPr sz="3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000"/>
              <a:buFont typeface="Arial"/>
              <a:buNone/>
              <a:defRPr sz="3000"/>
            </a:lvl5pPr>
            <a:lvl6pPr marL="2743200" lvl="5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marL="3200400" lvl="6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marL="3657600" lvl="7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marL="4114800" lvl="8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9879000" y="1448149"/>
            <a:ext cx="7674135" cy="739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normAutofit/>
          </a:bodyPr>
          <a:lstStyle>
            <a:lvl1pPr marL="457200" lvl="0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marL="1371600" lvl="2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marL="1828800" lvl="3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marL="2286000" lvl="4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marL="2743200" lvl="5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marL="3200400" lvl="6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marL="3657600" lvl="7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marL="4114800" lvl="8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17572998" y="9491817"/>
            <a:ext cx="469519" cy="45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623399" y="8461150"/>
            <a:ext cx="11997869" cy="1210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7572998" y="9491817"/>
            <a:ext cx="469519" cy="45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_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/>
          </p:nvPr>
        </p:nvSpPr>
        <p:spPr>
          <a:xfrm>
            <a:off x="623399" y="2212250"/>
            <a:ext cx="1704107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0"/>
              <a:buFont typeface="Arial"/>
              <a:buNone/>
              <a:defRPr sz="17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623399" y="6304450"/>
            <a:ext cx="1704107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t" anchorCtr="0">
            <a:normAutofit/>
          </a:bodyPr>
          <a:lstStyle>
            <a:lvl1pPr marL="457200" lvl="0" indent="-3873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73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marL="1371600" lvl="2" indent="-3873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marL="1828800" lvl="3" indent="-3873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marL="2286000" lvl="4" indent="-3873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marL="2743200" lvl="5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marL="3200400" lvl="6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marL="3657600" lvl="7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marL="4114800" lvl="8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17572998" y="9491817"/>
            <a:ext cx="469519" cy="45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17572998" y="9491817"/>
            <a:ext cx="469519" cy="45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623399" y="890050"/>
            <a:ext cx="17041070" cy="114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623399" y="2304950"/>
            <a:ext cx="1704107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t" anchorCtr="0">
            <a:normAutofit/>
          </a:bodyPr>
          <a:lstStyle>
            <a:lvl1pPr marL="457200" marR="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500"/>
              <a:buFont typeface="Arial"/>
              <a:buChar char="●"/>
              <a:defRPr sz="25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500"/>
              <a:buFont typeface="Arial"/>
              <a:buChar char="○"/>
              <a:defRPr sz="25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500"/>
              <a:buFont typeface="Arial"/>
              <a:buChar char="■"/>
              <a:defRPr sz="25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500"/>
              <a:buFont typeface="Arial"/>
              <a:buChar char="●"/>
              <a:defRPr sz="25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500"/>
              <a:buFont typeface="Arial"/>
              <a:buChar char="○"/>
              <a:defRPr sz="25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500"/>
              <a:buFont typeface="Arial"/>
              <a:buChar char="■"/>
              <a:defRPr sz="25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500"/>
              <a:buFont typeface="Arial"/>
              <a:buChar char="●"/>
              <a:defRPr sz="25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500"/>
              <a:buFont typeface="Arial"/>
              <a:buChar char="○"/>
              <a:defRPr sz="25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500"/>
              <a:buFont typeface="Arial"/>
              <a:buChar char="■"/>
              <a:defRPr sz="25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17572998" y="9491817"/>
            <a:ext cx="469519" cy="45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525" tIns="129525" rIns="129525" bIns="1295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CF6D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8d6becb7a7_0_0"/>
          <p:cNvSpPr txBox="1"/>
          <p:nvPr/>
        </p:nvSpPr>
        <p:spPr>
          <a:xfrm>
            <a:off x="1035274" y="2041251"/>
            <a:ext cx="121593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Старт в devops: системное администрирование для начинающих</a:t>
            </a: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CF6D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8d6becb7a7_1_0"/>
          <p:cNvSpPr txBox="1"/>
          <p:nvPr/>
        </p:nvSpPr>
        <p:spPr>
          <a:xfrm>
            <a:off x="1035274" y="2041251"/>
            <a:ext cx="121593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r>
              <a:rPr lang="en-US" sz="6000" b="1">
                <a:latin typeface="Helvetica Neue"/>
                <a:ea typeface="Helvetica Neue"/>
                <a:cs typeface="Helvetica Neue"/>
                <a:sym typeface="Helvetica Neue"/>
              </a:rPr>
              <a:t>Подготовка к написанию скриптов на bash</a:t>
            </a: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CF6D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8d6becb7a7_0_57"/>
          <p:cNvSpPr txBox="1"/>
          <p:nvPr/>
        </p:nvSpPr>
        <p:spPr>
          <a:xfrm>
            <a:off x="1035274" y="2041251"/>
            <a:ext cx="121593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Разбор домашнего задания</a:t>
            </a: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6202863f5_0_0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Смена группы-владельца</a:t>
            </a:r>
            <a:endParaRPr sz="48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g96202863f5_0_0"/>
          <p:cNvSpPr txBox="1"/>
          <p:nvPr/>
        </p:nvSpPr>
        <p:spPr>
          <a:xfrm>
            <a:off x="1067825" y="4336200"/>
            <a:ext cx="15259800" cy="39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sudo chown username:devops /home/devops</a:t>
            </a:r>
            <a:endParaRPr sz="31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sudo chgrp devops /home/devops</a:t>
            </a:r>
            <a:endParaRPr sz="3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CF6D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d6becb7a7_1_5"/>
          <p:cNvSpPr txBox="1"/>
          <p:nvPr/>
        </p:nvSpPr>
        <p:spPr>
          <a:xfrm>
            <a:off x="1035274" y="2041251"/>
            <a:ext cx="121593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Некоторые консольные команды</a:t>
            </a: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96202863f5_0_18"/>
          <p:cNvSpPr txBox="1"/>
          <p:nvPr/>
        </p:nvSpPr>
        <p:spPr>
          <a:xfrm>
            <a:off x="1067825" y="3927550"/>
            <a:ext cx="15259800" cy="39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50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Char char="●"/>
            </a:pPr>
            <a:r>
              <a:rPr lang="en-US" sz="3500" b="1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Программы</a:t>
            </a:r>
            <a:endParaRPr sz="35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0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Char char="●"/>
            </a:pPr>
            <a:r>
              <a:rPr lang="en-US" sz="3500" b="1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Встроенные команды shell</a:t>
            </a:r>
            <a:endParaRPr sz="3500" b="1" i="0" u="none" strike="noStrike" cap="none">
              <a:solidFill>
                <a:schemeClr val="dk1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g96202863f5_0_18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96202863f5_0_30"/>
          <p:cNvSpPr txBox="1"/>
          <p:nvPr/>
        </p:nvSpPr>
        <p:spPr>
          <a:xfrm>
            <a:off x="1067821" y="4884926"/>
            <a:ext cx="80946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96202863f5_0_30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Команды, которые мы уже знаем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96202863f5_0_30"/>
          <p:cNvSpPr txBox="1"/>
          <p:nvPr/>
        </p:nvSpPr>
        <p:spPr>
          <a:xfrm>
            <a:off x="1067825" y="3108780"/>
            <a:ext cx="9243300" cy="28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Touch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rm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Cat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vim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Chown(chgrp)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Apt-get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dpkg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Useradd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groupadd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Usermod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Kill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2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96202863f5_0_37"/>
          <p:cNvSpPr txBox="1"/>
          <p:nvPr/>
        </p:nvSpPr>
        <p:spPr>
          <a:xfrm>
            <a:off x="1067821" y="4884926"/>
            <a:ext cx="80946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96202863f5_0_37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Консольная команда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96202863f5_0_37"/>
          <p:cNvSpPr txBox="1"/>
          <p:nvPr/>
        </p:nvSpPr>
        <p:spPr>
          <a:xfrm>
            <a:off x="1067824" y="4615175"/>
            <a:ext cx="163746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usermod</a:t>
            </a:r>
            <a:r>
              <a:rPr lang="en-US" sz="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-a -G devops victoria</a:t>
            </a:r>
            <a:endParaRPr sz="5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31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6" name="Google Shape;106;g96202863f5_0_37"/>
          <p:cNvSpPr txBox="1"/>
          <p:nvPr/>
        </p:nvSpPr>
        <p:spPr>
          <a:xfrm>
            <a:off x="1067825" y="5780375"/>
            <a:ext cx="3708900" cy="5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3100" b="1">
                <a:latin typeface="Courier New"/>
                <a:ea typeface="Courier New"/>
                <a:cs typeface="Courier New"/>
                <a:sym typeface="Courier New"/>
              </a:rPr>
              <a:t>вызов программы</a:t>
            </a:r>
            <a:endParaRPr sz="31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7" name="Google Shape;107;g96202863f5_0_37"/>
          <p:cNvSpPr txBox="1"/>
          <p:nvPr/>
        </p:nvSpPr>
        <p:spPr>
          <a:xfrm>
            <a:off x="7661976" y="5780375"/>
            <a:ext cx="22287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3100">
                <a:latin typeface="Courier New"/>
                <a:ea typeface="Courier New"/>
                <a:cs typeface="Courier New"/>
                <a:sym typeface="Courier New"/>
              </a:rPr>
              <a:t>аргументы</a:t>
            </a:r>
            <a:endParaRPr sz="31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96202863f5_0_46"/>
          <p:cNvSpPr txBox="1"/>
          <p:nvPr/>
        </p:nvSpPr>
        <p:spPr>
          <a:xfrm>
            <a:off x="1067825" y="5033525"/>
            <a:ext cx="63054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3100" b="1">
                <a:latin typeface="Courier New"/>
                <a:ea typeface="Courier New"/>
                <a:cs typeface="Courier New"/>
                <a:sym typeface="Courier New"/>
              </a:rPr>
              <a:t>vim </a:t>
            </a:r>
            <a:r>
              <a:rPr lang="en-US" sz="3100">
                <a:latin typeface="Courier New"/>
                <a:ea typeface="Courier New"/>
                <a:cs typeface="Courier New"/>
                <a:sym typeface="Courier New"/>
              </a:rPr>
              <a:t>-r /home/victoria/file</a:t>
            </a:r>
            <a:endParaRPr sz="31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" name="Google Shape;114;g96202863f5_0_46"/>
          <p:cNvSpPr txBox="1"/>
          <p:nvPr/>
        </p:nvSpPr>
        <p:spPr>
          <a:xfrm>
            <a:off x="8197150" y="5033525"/>
            <a:ext cx="63054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3100" b="1">
                <a:latin typeface="Courier New"/>
                <a:ea typeface="Courier New"/>
                <a:cs typeface="Courier New"/>
                <a:sym typeface="Courier New"/>
              </a:rPr>
              <a:t>rm </a:t>
            </a:r>
            <a:r>
              <a:rPr lang="en-US" sz="3100">
                <a:latin typeface="Courier New"/>
                <a:ea typeface="Courier New"/>
                <a:cs typeface="Courier New"/>
                <a:sym typeface="Courier New"/>
              </a:rPr>
              <a:t>-r /home/victoria/file</a:t>
            </a:r>
            <a:endParaRPr sz="310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96202863f5_0_53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Встроенная в Linux справочная информация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96202863f5_0_53"/>
          <p:cNvSpPr txBox="1"/>
          <p:nvPr/>
        </p:nvSpPr>
        <p:spPr>
          <a:xfrm>
            <a:off x="1067826" y="5033522"/>
            <a:ext cx="92433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3100" b="1">
                <a:latin typeface="Courier New"/>
                <a:ea typeface="Courier New"/>
                <a:cs typeface="Courier New"/>
                <a:sym typeface="Courier New"/>
              </a:rPr>
              <a:t>man</a:t>
            </a:r>
            <a:endParaRPr sz="31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6202863f5_0_65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Встроенная в Linux справочная информация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96202863f5_0_65"/>
          <p:cNvSpPr txBox="1"/>
          <p:nvPr/>
        </p:nvSpPr>
        <p:spPr>
          <a:xfrm>
            <a:off x="1067826" y="5033522"/>
            <a:ext cx="92433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3100" b="1">
                <a:latin typeface="Courier New"/>
                <a:ea typeface="Courier New"/>
                <a:cs typeface="Courier New"/>
                <a:sym typeface="Courier New"/>
              </a:rPr>
              <a:t>man man</a:t>
            </a:r>
            <a:endParaRPr sz="31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96202863f5_0_71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Чувствительность к регистру (Case Sensitivity)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96202863f5_0_71"/>
          <p:cNvSpPr txBox="1"/>
          <p:nvPr/>
        </p:nvSpPr>
        <p:spPr>
          <a:xfrm>
            <a:off x="1067825" y="5033529"/>
            <a:ext cx="9243300" cy="26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3100">
                <a:latin typeface="Courier New"/>
                <a:ea typeface="Courier New"/>
                <a:cs typeface="Courier New"/>
                <a:sym typeface="Courier New"/>
              </a:rPr>
              <a:t>file ≠ </a:t>
            </a:r>
            <a:r>
              <a:rPr lang="en-US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endParaRPr sz="3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 ≠ FILE</a:t>
            </a:r>
            <a:endParaRPr sz="3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 ≠ FiLe</a:t>
            </a:r>
            <a:endParaRPr sz="3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3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96202863f5_0_77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Пример чувствительности к регистру из физики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96202863f5_0_77"/>
          <p:cNvSpPr txBox="1"/>
          <p:nvPr/>
        </p:nvSpPr>
        <p:spPr>
          <a:xfrm>
            <a:off x="1067825" y="5033528"/>
            <a:ext cx="92433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  <a:t>1 МВт </a:t>
            </a:r>
            <a:r>
              <a:rPr lang="en-US" sz="4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≠ 1 мВт</a:t>
            </a:r>
            <a:endParaRPr sz="4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g96202863f5_0_77"/>
          <p:cNvSpPr txBox="1"/>
          <p:nvPr/>
        </p:nvSpPr>
        <p:spPr>
          <a:xfrm>
            <a:off x="3468675" y="5926325"/>
            <a:ext cx="3000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0.001 Вт</a:t>
            </a:r>
            <a:endParaRPr sz="2000"/>
          </a:p>
        </p:txBody>
      </p:sp>
      <p:sp>
        <p:nvSpPr>
          <p:cNvPr id="144" name="Google Shape;144;g96202863f5_0_77"/>
          <p:cNvSpPr txBox="1"/>
          <p:nvPr/>
        </p:nvSpPr>
        <p:spPr>
          <a:xfrm>
            <a:off x="1067825" y="5926325"/>
            <a:ext cx="3000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1 000 000 Вт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96202863f5_0_89"/>
          <p:cNvSpPr txBox="1"/>
          <p:nvPr/>
        </p:nvSpPr>
        <p:spPr>
          <a:xfrm>
            <a:off x="1067825" y="3927550"/>
            <a:ext cx="15259800" cy="39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grep root /etc/passwd</a:t>
            </a:r>
            <a:endParaRPr sz="3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grep -i Root /etc/passwd</a:t>
            </a:r>
            <a:endParaRPr sz="3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grep -r “insults” /etc</a:t>
            </a:r>
            <a:endParaRPr sz="35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Google Shape;151;g96202863f5_0_89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grep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96202863f5_0_95"/>
          <p:cNvSpPr txBox="1"/>
          <p:nvPr/>
        </p:nvSpPr>
        <p:spPr>
          <a:xfrm>
            <a:off x="1067821" y="4884926"/>
            <a:ext cx="80946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96202863f5_0_95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96202863f5_0_95"/>
          <p:cNvSpPr txBox="1"/>
          <p:nvPr/>
        </p:nvSpPr>
        <p:spPr>
          <a:xfrm>
            <a:off x="1067825" y="4615175"/>
            <a:ext cx="161367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</a:t>
            </a:r>
            <a:r>
              <a:rPr lang="en-US" sz="8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/ -name memo.txt</a:t>
            </a:r>
            <a:endParaRPr sz="8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" name="Google Shape;160;g96202863f5_0_95"/>
          <p:cNvSpPr txBox="1"/>
          <p:nvPr/>
        </p:nvSpPr>
        <p:spPr>
          <a:xfrm>
            <a:off x="3934313" y="6362550"/>
            <a:ext cx="2361600" cy="19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3100">
                <a:latin typeface="Courier New"/>
                <a:ea typeface="Courier New"/>
                <a:cs typeface="Courier New"/>
                <a:sym typeface="Courier New"/>
              </a:rPr>
              <a:t>где ищем</a:t>
            </a:r>
            <a:endParaRPr sz="310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" name="Google Shape;161;g96202863f5_0_95"/>
          <p:cNvSpPr txBox="1"/>
          <p:nvPr/>
        </p:nvSpPr>
        <p:spPr>
          <a:xfrm>
            <a:off x="8780624" y="6362550"/>
            <a:ext cx="49158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3100">
                <a:latin typeface="Courier New"/>
                <a:ea typeface="Courier New"/>
                <a:cs typeface="Courier New"/>
                <a:sym typeface="Courier New"/>
              </a:rPr>
              <a:t>что ищем</a:t>
            </a:r>
            <a:endParaRPr sz="31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62" name="Google Shape;162;g96202863f5_0_95"/>
          <p:cNvCxnSpPr/>
          <p:nvPr/>
        </p:nvCxnSpPr>
        <p:spPr>
          <a:xfrm>
            <a:off x="5966075" y="6045425"/>
            <a:ext cx="0" cy="21207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63" name="Google Shape;163;g96202863f5_0_95"/>
          <p:cNvCxnSpPr/>
          <p:nvPr/>
        </p:nvCxnSpPr>
        <p:spPr>
          <a:xfrm>
            <a:off x="3779625" y="6045425"/>
            <a:ext cx="0" cy="21207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4" name="Google Shape;164;g96202863f5_0_95"/>
          <p:cNvSpPr txBox="1"/>
          <p:nvPr/>
        </p:nvSpPr>
        <p:spPr>
          <a:xfrm>
            <a:off x="935188" y="6362550"/>
            <a:ext cx="2361600" cy="19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3100" b="1">
                <a:latin typeface="Courier New"/>
                <a:ea typeface="Courier New"/>
                <a:cs typeface="Courier New"/>
                <a:sym typeface="Courier New"/>
              </a:rPr>
              <a:t>вызов программы</a:t>
            </a:r>
            <a:endParaRPr sz="31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96202863f5_0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07940"/>
            <a:ext cx="17852010" cy="9126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96202863f5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6050" y="634391"/>
            <a:ext cx="12702871" cy="927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96202863f5_0_148"/>
          <p:cNvSpPr txBox="1"/>
          <p:nvPr/>
        </p:nvSpPr>
        <p:spPr>
          <a:xfrm>
            <a:off x="1067825" y="3350500"/>
            <a:ext cx="15259800" cy="39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48640" marR="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●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Пользователь —</a:t>
            </a: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</a:t>
            </a: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владелец файла.</a:t>
            </a:r>
            <a:endParaRPr sz="220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48640" marR="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●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Группа — владелец файла.</a:t>
            </a:r>
            <a:endParaRPr sz="220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48640" marR="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●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Права доступа к файлу.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48640" marR="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●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MAC-time: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marR="0" lvl="1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○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Время последней модификации содержимого файла (modify time). 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○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Время последнего доступа к файлу (access time).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marR="0" lvl="1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○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Время последней модификации метаданных (change time).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●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Информация о размере файла и расположении его на жёстком диске.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g96202863f5_0_148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Метаданные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CF6D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96202863f5_0_164"/>
          <p:cNvSpPr txBox="1"/>
          <p:nvPr/>
        </p:nvSpPr>
        <p:spPr>
          <a:xfrm>
            <a:off x="1035274" y="2041251"/>
            <a:ext cx="121593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Практика</a:t>
            </a: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CF6D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96202863f5_0_159"/>
          <p:cNvSpPr txBox="1"/>
          <p:nvPr/>
        </p:nvSpPr>
        <p:spPr>
          <a:xfrm>
            <a:off x="1035274" y="2041251"/>
            <a:ext cx="121593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Пайпы, шаблоны поиска</a:t>
            </a: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96202863f5_0_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5150" y="307844"/>
            <a:ext cx="9559800" cy="96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96202863f5_0_176"/>
          <p:cNvSpPr txBox="1"/>
          <p:nvPr/>
        </p:nvSpPr>
        <p:spPr>
          <a:xfrm>
            <a:off x="1067825" y="3927550"/>
            <a:ext cx="15259800" cy="23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		</a:t>
            </a: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любая строка,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</a:ext>
              </a:extLs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</a:ext>
              </a:extLs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?	 	любой символ</a:t>
            </a: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35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g96202863f5_0_176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Шаблоны поиска (Shell Globbing)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96202863f5_0_182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Pipe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96202863f5_0_191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96202863f5_0_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8525" y="2041251"/>
            <a:ext cx="9953416" cy="751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CF6D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96202863f5_0_275"/>
          <p:cNvSpPr txBox="1"/>
          <p:nvPr/>
        </p:nvSpPr>
        <p:spPr>
          <a:xfrm>
            <a:off x="1035274" y="2041251"/>
            <a:ext cx="121593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Практика</a:t>
            </a: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CF6D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8de42e2e73_0_6"/>
          <p:cNvSpPr txBox="1"/>
          <p:nvPr/>
        </p:nvSpPr>
        <p:spPr>
          <a:xfrm>
            <a:off x="1035274" y="2041251"/>
            <a:ext cx="121593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Перенаправление ввода/вывода</a:t>
            </a: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96202863f5_0_197"/>
          <p:cNvSpPr txBox="1"/>
          <p:nvPr/>
        </p:nvSpPr>
        <p:spPr>
          <a:xfrm>
            <a:off x="1067825" y="3927550"/>
            <a:ext cx="15259800" cy="39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cut -f1 -d “”</a:t>
            </a:r>
            <a:endParaRPr sz="28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0" name="Google Shape;240;g96202863f5_0_197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cut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93932c3e4b_0_0"/>
          <p:cNvSpPr txBox="1"/>
          <p:nvPr/>
        </p:nvSpPr>
        <p:spPr>
          <a:xfrm>
            <a:off x="1067825" y="3927550"/>
            <a:ext cx="15259800" cy="39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 file1 file2</a:t>
            </a:r>
            <a:endParaRPr sz="28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 file1 file2 &gt; file3</a:t>
            </a:r>
            <a:endParaRPr sz="28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 file1 &gt;&gt; file2</a:t>
            </a:r>
            <a:endParaRPr sz="28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7" name="Google Shape;247;g93932c3e4b_0_0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cat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3" name="Google Shape;253;g96202863f5_0_203"/>
          <p:cNvGraphicFramePr/>
          <p:nvPr/>
        </p:nvGraphicFramePr>
        <p:xfrm>
          <a:off x="952500" y="4572000"/>
          <a:ext cx="16383000" cy="3367425"/>
        </p:xfrm>
        <a:graphic>
          <a:graphicData uri="http://schemas.openxmlformats.org/drawingml/2006/table">
            <a:tbl>
              <a:tblPr>
                <a:noFill/>
                <a:tableStyleId>{DD1B9C74-4006-4AF6-8B13-EE674667AEE0}</a:tableStyleId>
              </a:tblPr>
              <a:tblGrid>
                <a:gridCol w="546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2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STDIN</a:t>
                      </a:r>
                      <a:endParaRPr sz="4000"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ввод</a:t>
                      </a:r>
                      <a:endParaRPr sz="4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4000"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2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STDOUT</a:t>
                      </a:r>
                      <a:endParaRPr sz="4000"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вывод</a:t>
                      </a:r>
                      <a:endParaRPr sz="4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4000"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2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STDERR</a:t>
                      </a:r>
                      <a:endParaRPr sz="4000"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ошибки</a:t>
                      </a:r>
                      <a:endParaRPr sz="4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4000"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4" name="Google Shape;254;g96202863f5_0_203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Стандартные потоки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96202863f5_0_220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Стандартные потоки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g96202863f5_0_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600" y="3607499"/>
            <a:ext cx="4116550" cy="4116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g96202863f5_0_220"/>
          <p:cNvCxnSpPr/>
          <p:nvPr/>
        </p:nvCxnSpPr>
        <p:spPr>
          <a:xfrm>
            <a:off x="1863150" y="5708400"/>
            <a:ext cx="41028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63" name="Google Shape;263;g96202863f5_0_220"/>
          <p:cNvCxnSpPr/>
          <p:nvPr/>
        </p:nvCxnSpPr>
        <p:spPr>
          <a:xfrm>
            <a:off x="11430450" y="4810300"/>
            <a:ext cx="41028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64" name="Google Shape;264;g96202863f5_0_220"/>
          <p:cNvCxnSpPr/>
          <p:nvPr/>
        </p:nvCxnSpPr>
        <p:spPr>
          <a:xfrm>
            <a:off x="11430450" y="6469075"/>
            <a:ext cx="41028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65" name="Google Shape;265;g96202863f5_0_220"/>
          <p:cNvSpPr txBox="1"/>
          <p:nvPr/>
        </p:nvSpPr>
        <p:spPr>
          <a:xfrm>
            <a:off x="1942450" y="4747050"/>
            <a:ext cx="26160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STDIN (ввод)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6" name="Google Shape;266;g96202863f5_0_220"/>
          <p:cNvSpPr txBox="1"/>
          <p:nvPr/>
        </p:nvSpPr>
        <p:spPr>
          <a:xfrm>
            <a:off x="12625850" y="3765975"/>
            <a:ext cx="21009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STDERR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(ошибки)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7" name="Google Shape;267;g96202863f5_0_220"/>
          <p:cNvSpPr txBox="1"/>
          <p:nvPr/>
        </p:nvSpPr>
        <p:spPr>
          <a:xfrm>
            <a:off x="12520500" y="5401200"/>
            <a:ext cx="19227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STDOUT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(вывод)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96202863f5_0_232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Стандартные потоки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" name="Google Shape;274;g96202863f5_0_232"/>
          <p:cNvCxnSpPr/>
          <p:nvPr/>
        </p:nvCxnSpPr>
        <p:spPr>
          <a:xfrm>
            <a:off x="5307325" y="4999800"/>
            <a:ext cx="1927200" cy="99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75" name="Google Shape;275;g96202863f5_0_232"/>
          <p:cNvSpPr txBox="1"/>
          <p:nvPr/>
        </p:nvSpPr>
        <p:spPr>
          <a:xfrm>
            <a:off x="3270450" y="4747050"/>
            <a:ext cx="12882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6" name="Google Shape;276;g96202863f5_0_232"/>
          <p:cNvSpPr txBox="1"/>
          <p:nvPr/>
        </p:nvSpPr>
        <p:spPr>
          <a:xfrm>
            <a:off x="596475" y="4700250"/>
            <a:ext cx="4374300" cy="19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cat /home/victoria/file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7" name="Google Shape;277;g96202863f5_0_232"/>
          <p:cNvSpPr txBox="1"/>
          <p:nvPr/>
        </p:nvSpPr>
        <p:spPr>
          <a:xfrm>
            <a:off x="5475025" y="3860725"/>
            <a:ext cx="15918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вывод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8" name="Google Shape;278;g96202863f5_0_2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1077" y="4041153"/>
            <a:ext cx="1927200" cy="192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g96202863f5_0_232"/>
          <p:cNvCxnSpPr/>
          <p:nvPr/>
        </p:nvCxnSpPr>
        <p:spPr>
          <a:xfrm>
            <a:off x="8534675" y="2913650"/>
            <a:ext cx="0" cy="39048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g96202863f5_0_232"/>
          <p:cNvCxnSpPr/>
          <p:nvPr/>
        </p:nvCxnSpPr>
        <p:spPr>
          <a:xfrm>
            <a:off x="9820300" y="4999800"/>
            <a:ext cx="1927200" cy="99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81" name="Google Shape;281;g96202863f5_0_232"/>
          <p:cNvSpPr txBox="1"/>
          <p:nvPr/>
        </p:nvSpPr>
        <p:spPr>
          <a:xfrm>
            <a:off x="10002525" y="3860725"/>
            <a:ext cx="15918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ввод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g96202863f5_0_232"/>
          <p:cNvSpPr txBox="1"/>
          <p:nvPr/>
        </p:nvSpPr>
        <p:spPr>
          <a:xfrm>
            <a:off x="12069525" y="4653625"/>
            <a:ext cx="4374300" cy="19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grep word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96202863f5_0_263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Выводы</a:t>
            </a:r>
            <a:endParaRPr sz="48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9" name="Google Shape;289;g96202863f5_0_263"/>
          <p:cNvSpPr txBox="1"/>
          <p:nvPr/>
        </p:nvSpPr>
        <p:spPr>
          <a:xfrm>
            <a:off x="1067825" y="4336200"/>
            <a:ext cx="15259800" cy="39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48640" marR="0" lvl="0" indent="-425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"/>
              <a:buChar char="●"/>
            </a:pPr>
            <a:r>
              <a:rPr lang="en-US" sz="3100">
                <a:latin typeface="Helvetica Neue"/>
                <a:ea typeface="Helvetica Neue"/>
                <a:cs typeface="Helvetica Neue"/>
                <a:sym typeface="Helvetica Neue"/>
              </a:rPr>
              <a:t>Команда</a:t>
            </a:r>
            <a:r>
              <a:rPr lang="en-US" sz="3100" b="1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100">
                <a:latin typeface="Courier New"/>
                <a:ea typeface="Courier New"/>
                <a:cs typeface="Courier New"/>
                <a:sym typeface="Courier New"/>
              </a:rPr>
              <a:t>xargs </a:t>
            </a:r>
            <a:r>
              <a:rPr lang="en-US" sz="3100"/>
              <a:t>превращает строку, полученную на стандартный ввод, в аргументы и передаёт её команде.</a:t>
            </a:r>
            <a:endParaRPr sz="3100" i="0" u="none" strike="noStrike" cap="none">
              <a:solidFill>
                <a:srgbClr val="000000"/>
              </a:solidFill>
            </a:endParaRPr>
          </a:p>
          <a:p>
            <a:pPr marL="548640" marR="0" lvl="0" indent="-425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"/>
              <a:buChar char="●"/>
            </a:pPr>
            <a:r>
              <a:rPr lang="en-US" sz="3100">
                <a:latin typeface="Helvetica Neue"/>
                <a:ea typeface="Helvetica Neue"/>
                <a:cs typeface="Helvetica Neue"/>
                <a:sym typeface="Helvetica Neue"/>
              </a:rPr>
              <a:t>Операторы перенаправления вывода: &gt;, &gt;&gt;.</a:t>
            </a:r>
            <a:endParaRPr sz="310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48640" marR="0" lvl="0" indent="-425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"/>
              <a:buChar char="●"/>
            </a:pPr>
            <a:r>
              <a:rPr lang="en-US" sz="3100">
                <a:latin typeface="Helvetica Neue"/>
                <a:ea typeface="Helvetica Neue"/>
                <a:cs typeface="Helvetica Neue"/>
                <a:sym typeface="Helvetica Neue"/>
              </a:rPr>
              <a:t>Пайп позволяет передать стандартный вывод одной команды на стандартный ввод другой.</a:t>
            </a:r>
            <a:endParaRPr sz="310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96202863f5_0_269"/>
          <p:cNvSpPr txBox="1"/>
          <p:nvPr/>
        </p:nvSpPr>
        <p:spPr>
          <a:xfrm>
            <a:off x="1067825" y="3146100"/>
            <a:ext cx="15259800" cy="39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du -h hello_world.txt</a:t>
            </a:r>
            <a:endParaRPr sz="28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du -h /home/victoria/</a:t>
            </a:r>
            <a:endParaRPr sz="28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du -h </a:t>
            </a:r>
            <a:r>
              <a:rPr lang="en-US" sz="2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/home/victoria/*</a:t>
            </a:r>
            <a:endParaRPr sz="28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6" name="Google Shape;296;g96202863f5_0_269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du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CF6D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96202863f5_0_372"/>
          <p:cNvSpPr txBox="1"/>
          <p:nvPr/>
        </p:nvSpPr>
        <p:spPr>
          <a:xfrm>
            <a:off x="1035274" y="2041251"/>
            <a:ext cx="121593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Практика</a:t>
            </a: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CF6D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96202863f5_0_280"/>
          <p:cNvSpPr txBox="1"/>
          <p:nvPr/>
        </p:nvSpPr>
        <p:spPr>
          <a:xfrm>
            <a:off x="1035274" y="2041251"/>
            <a:ext cx="121593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Планировщик Cron</a:t>
            </a: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g96202863f5_0_2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07940"/>
            <a:ext cx="17852010" cy="9126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" name="Google Shape;320;g96202863f5_0_290"/>
          <p:cNvGraphicFramePr/>
          <p:nvPr/>
        </p:nvGraphicFramePr>
        <p:xfrm>
          <a:off x="952500" y="4762500"/>
          <a:ext cx="16383000" cy="2888225"/>
        </p:xfrm>
        <a:graphic>
          <a:graphicData uri="http://schemas.openxmlformats.org/drawingml/2006/table">
            <a:tbl>
              <a:tblPr>
                <a:noFill/>
                <a:tableStyleId>{DD1B9C74-4006-4AF6-8B13-EE674667AEE0}</a:tableStyleId>
              </a:tblPr>
              <a:tblGrid>
                <a:gridCol w="819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Абсолютный путь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/home/victoria</a:t>
                      </a:r>
                      <a:endParaRPr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Относительный путь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~victoria</a:t>
                      </a:r>
                      <a:endParaRPr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./</a:t>
                      </a:r>
                      <a:endParaRPr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../</a:t>
                      </a:r>
                      <a:endParaRPr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96202863f5_0_297"/>
          <p:cNvSpPr txBox="1"/>
          <p:nvPr/>
        </p:nvSpPr>
        <p:spPr>
          <a:xfrm>
            <a:off x="1067821" y="4884926"/>
            <a:ext cx="80946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96202863f5_0_297"/>
          <p:cNvSpPr txBox="1"/>
          <p:nvPr/>
        </p:nvSpPr>
        <p:spPr>
          <a:xfrm>
            <a:off x="1067824" y="3719725"/>
            <a:ext cx="158394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4500" b="1">
                <a:latin typeface="Helvetica Neue"/>
                <a:ea typeface="Helvetica Neue"/>
                <a:cs typeface="Helvetica Neue"/>
                <a:sym typeface="Helvetica Neue"/>
              </a:rPr>
              <a:t>Cron </a:t>
            </a:r>
            <a: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  <a:t>позволяет запускать </a:t>
            </a:r>
            <a:endParaRPr sz="4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  <a:t>команды/скрипты по расписанию</a:t>
            </a:r>
            <a:endParaRPr sz="450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8" name="Google Shape;328;g96202863f5_0_297"/>
          <p:cNvPicPr preferRelativeResize="0"/>
          <p:nvPr/>
        </p:nvPicPr>
        <p:blipFill rotWithShape="1">
          <a:blip r:embed="rId3">
            <a:alphaModFix/>
          </a:blip>
          <a:srcRect l="27166" t="4807" r="20510"/>
          <a:stretch/>
        </p:blipFill>
        <p:spPr>
          <a:xfrm>
            <a:off x="12843875" y="3181238"/>
            <a:ext cx="4314324" cy="39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96202863f5_0_305"/>
          <p:cNvSpPr txBox="1"/>
          <p:nvPr/>
        </p:nvSpPr>
        <p:spPr>
          <a:xfrm>
            <a:off x="1067826" y="5033522"/>
            <a:ext cx="92433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@hourly date &gt; /tmp/date</a:t>
            </a:r>
            <a:endParaRPr sz="450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5" name="Google Shape;335;g96202863f5_0_305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Сron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96202863f5_0_313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Сron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2" name="Google Shape;342;g96202863f5_0_313"/>
          <p:cNvGraphicFramePr/>
          <p:nvPr/>
        </p:nvGraphicFramePr>
        <p:xfrm>
          <a:off x="952500" y="3180125"/>
          <a:ext cx="16383000" cy="3887005"/>
        </p:xfrm>
        <a:graphic>
          <a:graphicData uri="http://schemas.openxmlformats.org/drawingml/2006/table">
            <a:tbl>
              <a:tblPr>
                <a:noFill/>
                <a:tableStyleId>{DD1B9C74-4006-4AF6-8B13-EE674667AEE0}</a:tableStyleId>
              </a:tblPr>
              <a:tblGrid>
                <a:gridCol w="819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@hourly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раз в час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@daily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раз в день в полночь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@weekly 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раз в неделю 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@monthly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раз в месяц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@yearly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раз в год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96202863f5_0_320"/>
          <p:cNvSpPr txBox="1"/>
          <p:nvPr/>
        </p:nvSpPr>
        <p:spPr>
          <a:xfrm>
            <a:off x="1067824" y="5033525"/>
            <a:ext cx="161565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500">
                <a:latin typeface="Courier New"/>
                <a:ea typeface="Courier New"/>
                <a:cs typeface="Courier New"/>
                <a:sym typeface="Courier New"/>
              </a:rPr>
              <a:t>03 05 * * *  date &gt; /tmp/date</a:t>
            </a:r>
            <a:endParaRPr sz="45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2857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9" name="Google Shape;349;g96202863f5_0_320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Сron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96202863f5_0_332"/>
          <p:cNvSpPr txBox="1"/>
          <p:nvPr/>
        </p:nvSpPr>
        <p:spPr>
          <a:xfrm>
            <a:off x="1067825" y="3369550"/>
            <a:ext cx="16156500" cy="55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.---------------- минута (0 - 59)</a:t>
            </a:r>
            <a:endParaRPr sz="3500" b="1" i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|  .------------- час (0 - 23)</a:t>
            </a:r>
            <a:endParaRPr sz="3500" b="1" i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|  |  .---------- день месяца (1 - 31)</a:t>
            </a:r>
            <a:endParaRPr sz="3500" b="1" i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|  |  |  .------- месяц (1 - 12) или jan,feb,mar,apr ...</a:t>
            </a:r>
            <a:endParaRPr sz="3500" b="1" i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|  |  |  |  .---- день недели (0 - 6) (Воскресенье=0 или 7)</a:t>
            </a:r>
            <a:endParaRPr sz="3500" b="1" i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|  |  |  |  |</a:t>
            </a:r>
            <a:endParaRPr sz="3500" b="1" i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  *  *  *  *</a:t>
            </a:r>
            <a:endParaRPr sz="35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2857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6" name="Google Shape;356;g96202863f5_0_332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Сron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96202863f5_0_338"/>
          <p:cNvSpPr txBox="1"/>
          <p:nvPr/>
        </p:nvSpPr>
        <p:spPr>
          <a:xfrm>
            <a:off x="1067824" y="5033525"/>
            <a:ext cx="161565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42857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b="1">
              <a:solidFill>
                <a:srgbClr val="002B3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3" name="Google Shape;363;g96202863f5_0_338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Сron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4" name="Google Shape;364;g96202863f5_0_338"/>
          <p:cNvGraphicFramePr/>
          <p:nvPr/>
        </p:nvGraphicFramePr>
        <p:xfrm>
          <a:off x="954575" y="3751625"/>
          <a:ext cx="16383000" cy="3901888"/>
        </p:xfrm>
        <a:graphic>
          <a:graphicData uri="http://schemas.openxmlformats.org/drawingml/2006/table">
            <a:tbl>
              <a:tblPr>
                <a:noFill/>
                <a:tableStyleId>{DD1B9C74-4006-4AF6-8B13-EE674667AEE0}</a:tableStyleId>
              </a:tblPr>
              <a:tblGrid>
                <a:gridCol w="819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45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*/10 * * * *</a:t>
                      </a:r>
                      <a:endParaRPr sz="45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45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каждые 10 минут</a:t>
                      </a:r>
                      <a:endParaRPr sz="35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45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*  * * * /7</a:t>
                      </a:r>
                      <a:endParaRPr sz="45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45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каждое воскресенье</a:t>
                      </a:r>
                      <a:endParaRPr sz="35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96202863f5_0_351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Сron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1" name="Google Shape;371;g96202863f5_0_351"/>
          <p:cNvGraphicFramePr/>
          <p:nvPr/>
        </p:nvGraphicFramePr>
        <p:xfrm>
          <a:off x="952500" y="3180125"/>
          <a:ext cx="16383000" cy="3887005"/>
        </p:xfrm>
        <a:graphic>
          <a:graphicData uri="http://schemas.openxmlformats.org/drawingml/2006/table">
            <a:tbl>
              <a:tblPr>
                <a:noFill/>
                <a:tableStyleId>{DD1B9C74-4006-4AF6-8B13-EE674667AEE0}</a:tableStyleId>
              </a:tblPr>
              <a:tblGrid>
                <a:gridCol w="546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@hourly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каждый час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 * * * *</a:t>
                      </a:r>
                      <a:endParaRPr sz="3000">
                        <a:solidFill>
                          <a:srgbClr val="15151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@daily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каждый день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 0 * * *</a:t>
                      </a:r>
                      <a:endParaRPr sz="3000">
                        <a:solidFill>
                          <a:srgbClr val="15151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@weekly 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каждую неделю 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 0 * * 0</a:t>
                      </a:r>
                      <a:endParaRPr sz="3000">
                        <a:solidFill>
                          <a:srgbClr val="15151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@monthly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каждый месяц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 0 1 * *</a:t>
                      </a:r>
                      <a:endParaRPr sz="3000">
                        <a:solidFill>
                          <a:srgbClr val="15151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@yearly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15151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каждый год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300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 0 1 1 *</a:t>
                      </a:r>
                      <a:endParaRPr sz="3000">
                        <a:solidFill>
                          <a:srgbClr val="15151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96202863f5_0_365"/>
          <p:cNvSpPr txBox="1"/>
          <p:nvPr/>
        </p:nvSpPr>
        <p:spPr>
          <a:xfrm>
            <a:off x="1067824" y="5033525"/>
            <a:ext cx="161565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42857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b="1">
              <a:solidFill>
                <a:srgbClr val="002B3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8" name="Google Shape;378;g96202863f5_0_365"/>
          <p:cNvSpPr txBox="1"/>
          <p:nvPr/>
        </p:nvSpPr>
        <p:spPr>
          <a:xfrm>
            <a:off x="1067822" y="2041243"/>
            <a:ext cx="159513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1">
                <a:latin typeface="Helvetica Neue"/>
                <a:ea typeface="Helvetica Neue"/>
                <a:cs typeface="Helvetica Neue"/>
                <a:sym typeface="Helvetica Neue"/>
              </a:rPr>
              <a:t>Сron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9" name="Google Shape;379;g96202863f5_0_365"/>
          <p:cNvGraphicFramePr/>
          <p:nvPr/>
        </p:nvGraphicFramePr>
        <p:xfrm>
          <a:off x="954575" y="3751625"/>
          <a:ext cx="16383000" cy="3698688"/>
        </p:xfrm>
        <a:graphic>
          <a:graphicData uri="http://schemas.openxmlformats.org/drawingml/2006/table">
            <a:tbl>
              <a:tblPr>
                <a:noFill/>
                <a:tableStyleId>{DD1B9C74-4006-4AF6-8B13-EE674667AEE0}</a:tableStyleId>
              </a:tblPr>
              <a:tblGrid>
                <a:gridCol w="8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42857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500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59 23 31 dec *</a:t>
                      </a:r>
                      <a:endParaRPr sz="45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каждый Новый год</a:t>
                      </a:r>
                      <a:endParaRPr sz="35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42857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500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22 * * 1-5</a:t>
                      </a:r>
                      <a:endParaRPr sz="45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каждый будний день в 22:00</a:t>
                      </a:r>
                      <a:endParaRPr sz="35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CF6D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96202863f5_0_377"/>
          <p:cNvSpPr txBox="1"/>
          <p:nvPr/>
        </p:nvSpPr>
        <p:spPr>
          <a:xfrm>
            <a:off x="1035274" y="2041251"/>
            <a:ext cx="121593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Практика</a:t>
            </a: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CF6D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96202863f5_0_382"/>
          <p:cNvSpPr txBox="1"/>
          <p:nvPr/>
        </p:nvSpPr>
        <p:spPr>
          <a:xfrm>
            <a:off x="1035274" y="2041251"/>
            <a:ext cx="121593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r>
              <a:rPr lang="en-US" sz="6000" b="1">
                <a:latin typeface="Helvetica Neue"/>
                <a:ea typeface="Helvetica Neue"/>
                <a:cs typeface="Helvetica Neue"/>
                <a:sym typeface="Helvetica Neue"/>
              </a:rPr>
              <a:t>Домашнее задание</a:t>
            </a: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957</Words>
  <Application>Microsoft Office PowerPoint</Application>
  <PresentationFormat>Произвольный</PresentationFormat>
  <Paragraphs>217</Paragraphs>
  <Slides>47</Slides>
  <Notes>47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1" baseType="lpstr">
      <vt:lpstr>Arial</vt:lpstr>
      <vt:lpstr>Helvetica Neue</vt:lpstr>
      <vt:lpstr>Courier New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Админ</cp:lastModifiedBy>
  <cp:revision>1</cp:revision>
  <dcterms:modified xsi:type="dcterms:W3CDTF">2025-09-09T09:58:31Z</dcterms:modified>
</cp:coreProperties>
</file>