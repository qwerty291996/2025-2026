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67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ru-RU"/>
              <a:t>Образец заголовка</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FEADB107-CEAF-41F8-93FD-A3E964268AA9}" type="datetimeFigureOut">
              <a:rPr lang="ru-RU" smtClean="0"/>
              <a:t>24.09.2025</a:t>
            </a:fld>
            <a:endParaRPr lang="ru-RU"/>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ru-RU"/>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15C1D7A2-D477-49D7-85F1-42DC3D83F895}" type="slidenum">
              <a:rPr lang="ru-RU" smtClean="0"/>
              <a:t>‹#›</a:t>
            </a:fld>
            <a:endParaRPr lang="ru-RU"/>
          </a:p>
        </p:txBody>
      </p:sp>
    </p:spTree>
    <p:extLst>
      <p:ext uri="{BB962C8B-B14F-4D97-AF65-F5344CB8AC3E}">
        <p14:creationId xmlns:p14="http://schemas.microsoft.com/office/powerpoint/2010/main" val="304772128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EADB107-CEAF-41F8-93FD-A3E964268AA9}" type="datetimeFigureOut">
              <a:rPr lang="ru-RU" smtClean="0"/>
              <a:t>24.09.2025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39149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ru-RU"/>
              <a:t>Образец заголовка</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FEADB107-CEAF-41F8-93FD-A3E964268AA9}" type="datetimeFigureOut">
              <a:rPr lang="ru-RU" smtClean="0"/>
              <a:t>24.09.2025</a:t>
            </a:fld>
            <a:endParaRPr lang="ru-RU"/>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ru-RU"/>
          </a:p>
        </p:txBody>
      </p:sp>
      <p:sp>
        <p:nvSpPr>
          <p:cNvPr id="6" name="Slide Number Placeholder 5"/>
          <p:cNvSpPr>
            <a:spLocks noGrp="1"/>
          </p:cNvSpPr>
          <p:nvPr>
            <p:ph type="sldNum" sz="quarter" idx="12"/>
          </p:nvPr>
        </p:nvSpPr>
        <p:spPr>
          <a:xfrm>
            <a:off x="8604504" y="5211060"/>
            <a:ext cx="2112264" cy="228600"/>
          </a:xfrm>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12722953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FEADB107-CEAF-41F8-93FD-A3E964268AA9}" type="datetimeFigureOut">
              <a:rPr lang="ru-RU" smtClean="0"/>
              <a:t>24.09.2025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379087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EADB107-CEAF-41F8-93FD-A3E964268AA9}" type="datetimeFigureOut">
              <a:rPr lang="ru-RU" smtClean="0"/>
              <a:t>24.09.2025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3039703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FEADB107-CEAF-41F8-93FD-A3E964268AA9}" type="datetimeFigureOut">
              <a:rPr lang="ru-RU" smtClean="0"/>
              <a:t>24.09.2025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1199059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ADB107-CEAF-41F8-93FD-A3E964268AA9}" type="datetimeFigureOut">
              <a:rPr lang="ru-RU" smtClean="0"/>
              <a:t>24.09.2025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2523604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ru-RU"/>
              <a:t>Образец заголовка</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8" name="Date Placeholder 7"/>
          <p:cNvSpPr>
            <a:spLocks noGrp="1"/>
          </p:cNvSpPr>
          <p:nvPr>
            <p:ph type="dt" sz="half" idx="10"/>
          </p:nvPr>
        </p:nvSpPr>
        <p:spPr/>
        <p:txBody>
          <a:bodyPr/>
          <a:lstStyle/>
          <a:p>
            <a:fld id="{FEADB107-CEAF-41F8-93FD-A3E964268AA9}" type="datetimeFigureOut">
              <a:rPr lang="ru-RU" smtClean="0"/>
              <a:t>24.09.2025</a:t>
            </a:fld>
            <a:endParaRPr lang="ru-RU"/>
          </a:p>
        </p:txBody>
      </p:sp>
      <p:sp>
        <p:nvSpPr>
          <p:cNvPr id="9" name="Footer Placeholder 8"/>
          <p:cNvSpPr>
            <a:spLocks noGrp="1"/>
          </p:cNvSpPr>
          <p:nvPr>
            <p:ph type="ftr" sz="quarter" idx="11"/>
          </p:nvPr>
        </p:nvSpPr>
        <p:spPr/>
        <p:txBody>
          <a:bodyPr/>
          <a:lstStyle>
            <a:lvl1pPr algn="r">
              <a:defRPr/>
            </a:lvl1pPr>
          </a:lstStyle>
          <a:p>
            <a:endParaRPr lang="ru-RU"/>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15C1D7A2-D477-49D7-85F1-42DC3D83F895}" type="slidenum">
              <a:rPr lang="ru-RU" smtClean="0"/>
              <a:t>‹#›</a:t>
            </a:fld>
            <a:endParaRPr lang="ru-RU"/>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69150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FEADB107-CEAF-41F8-93FD-A3E964268AA9}" type="datetimeFigureOut">
              <a:rPr lang="ru-RU" smtClean="0"/>
              <a:t>24.09.2025</a:t>
            </a:fld>
            <a:endParaRPr lang="ru-RU"/>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ru-RU"/>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15C1D7A2-D477-49D7-85F1-42DC3D83F895}" type="slidenum">
              <a:rPr lang="ru-RU" smtClean="0"/>
              <a:t>‹#›</a:t>
            </a:fld>
            <a:endParaRPr lang="ru-RU"/>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3981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EADB107-CEAF-41F8-93FD-A3E964268AA9}" type="datetimeFigureOut">
              <a:rPr lang="ru-RU" smtClean="0"/>
              <a:t>24.09.2025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3080351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EADB107-CEAF-41F8-93FD-A3E964268AA9}" type="datetimeFigureOut">
              <a:rPr lang="ru-RU" smtClean="0"/>
              <a:t>24.09.2025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5C1D7A2-D477-49D7-85F1-42DC3D83F895}" type="slidenum">
              <a:rPr lang="ru-RU" smtClean="0"/>
              <a:t>‹#›</a:t>
            </a:fld>
            <a:endParaRPr lang="ru-RU"/>
          </a:p>
        </p:txBody>
      </p:sp>
    </p:spTree>
    <p:extLst>
      <p:ext uri="{BB962C8B-B14F-4D97-AF65-F5344CB8AC3E}">
        <p14:creationId xmlns:p14="http://schemas.microsoft.com/office/powerpoint/2010/main" val="625041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FEADB107-CEAF-41F8-93FD-A3E964268AA9}" type="datetimeFigureOut">
              <a:rPr lang="ru-RU" smtClean="0"/>
              <a:t>24.09.2025</a:t>
            </a:fld>
            <a:endParaRPr lang="ru-RU"/>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ru-RU"/>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15C1D7A2-D477-49D7-85F1-42DC3D83F895}" type="slidenum">
              <a:rPr lang="ru-RU" smtClean="0"/>
              <a:t>‹#›</a:t>
            </a:fld>
            <a:endParaRPr lang="ru-RU"/>
          </a:p>
        </p:txBody>
      </p:sp>
    </p:spTree>
    <p:extLst>
      <p:ext uri="{BB962C8B-B14F-4D97-AF65-F5344CB8AC3E}">
        <p14:creationId xmlns:p14="http://schemas.microsoft.com/office/powerpoint/2010/main" val="18187375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err="1"/>
              <a:t>МОДЕЛь</a:t>
            </a:r>
            <a:r>
              <a:rPr lang="en-US" dirty="0"/>
              <a:t> OSI</a:t>
            </a:r>
            <a:r>
              <a:rPr lang="ru-RU" dirty="0"/>
              <a:t>.7 УРОВНЙ </a:t>
            </a:r>
          </a:p>
        </p:txBody>
      </p:sp>
    </p:spTree>
    <p:extLst>
      <p:ext uri="{BB962C8B-B14F-4D97-AF65-F5344CB8AC3E}">
        <p14:creationId xmlns:p14="http://schemas.microsoft.com/office/powerpoint/2010/main" val="41983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Модель </a:t>
            </a:r>
            <a:r>
              <a:rPr lang="en-US" dirty="0"/>
              <a:t>OSI.</a:t>
            </a:r>
            <a:endParaRPr lang="ru-RU" dirty="0"/>
          </a:p>
        </p:txBody>
      </p:sp>
      <p:sp>
        <p:nvSpPr>
          <p:cNvPr id="3" name="Объект 2"/>
          <p:cNvSpPr>
            <a:spLocks noGrp="1"/>
          </p:cNvSpPr>
          <p:nvPr>
            <p:ph idx="1"/>
          </p:nvPr>
        </p:nvSpPr>
        <p:spPr/>
        <p:txBody>
          <a:bodyPr>
            <a:normAutofit/>
          </a:bodyPr>
          <a:lstStyle/>
          <a:p>
            <a:r>
              <a:rPr lang="ru-RU" sz="2400" dirty="0"/>
              <a:t>Определенно начинать лучше с теории, и затем, плавно, переходить к практике. Поэтому сначала рассмотрим сетевую модель (теоретическая модель), а затем приоткроем занавес на то, как теоретическая сетевая модель вписывается в сетевую инфраструктуру (на сетевое оборудование, компьютеры пользователей, кабели, радиоволны и т.д.). </a:t>
            </a:r>
          </a:p>
        </p:txBody>
      </p:sp>
    </p:spTree>
    <p:extLst>
      <p:ext uri="{BB962C8B-B14F-4D97-AF65-F5344CB8AC3E}">
        <p14:creationId xmlns:p14="http://schemas.microsoft.com/office/powerpoint/2010/main" val="10865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Модель </a:t>
            </a:r>
            <a:r>
              <a:rPr lang="en-US" dirty="0"/>
              <a:t>OSI.</a:t>
            </a:r>
            <a:endParaRPr lang="ru-RU" dirty="0"/>
          </a:p>
        </p:txBody>
      </p:sp>
      <p:sp>
        <p:nvSpPr>
          <p:cNvPr id="3" name="Объект 2"/>
          <p:cNvSpPr>
            <a:spLocks noGrp="1"/>
          </p:cNvSpPr>
          <p:nvPr>
            <p:ph idx="1"/>
          </p:nvPr>
        </p:nvSpPr>
        <p:spPr/>
        <p:txBody>
          <a:bodyPr>
            <a:normAutofit fontScale="92500" lnSpcReduction="20000"/>
          </a:bodyPr>
          <a:lstStyle/>
          <a:p>
            <a:r>
              <a:rPr lang="ru-RU" dirty="0">
                <a:solidFill>
                  <a:srgbClr val="001133"/>
                </a:solidFill>
                <a:latin typeface="&amp;quot"/>
              </a:rPr>
              <a:t>Итак, </a:t>
            </a:r>
            <a:r>
              <a:rPr lang="ru-RU" b="1" dirty="0">
                <a:solidFill>
                  <a:srgbClr val="001133"/>
                </a:solidFill>
                <a:latin typeface="&amp;quot"/>
              </a:rPr>
              <a:t>сетевая модель</a:t>
            </a:r>
            <a:r>
              <a:rPr lang="ru-RU" dirty="0">
                <a:solidFill>
                  <a:srgbClr val="001133"/>
                </a:solidFill>
                <a:latin typeface="&amp;quot"/>
              </a:rPr>
              <a:t> - это модель взаимодействия сетевых протоколов. А протоколы в свою очередь, это стандарты, которые определяют каким образом, будут обмениваться данными различные программы. </a:t>
            </a:r>
          </a:p>
          <a:p>
            <a:r>
              <a:rPr lang="ru-RU" dirty="0">
                <a:solidFill>
                  <a:srgbClr val="001133"/>
                </a:solidFill>
                <a:latin typeface="&amp;quot"/>
              </a:rPr>
              <a:t>Поясню на примере: открывая любую страничку в интернете, сервер (где находится открываемая страничка) пересылает в Ваш браузер данные (гипертекстовый документ) по протоколу HTTP. Благодаря протоколу HTTP Ваш браузер, получая данные с сервера, знает, как их требуется обработать, и успешно обрабатывает их, показывая Вам запрашиваемую страничку. </a:t>
            </a:r>
          </a:p>
          <a:p>
            <a:r>
              <a:rPr lang="ru-RU" dirty="0">
                <a:solidFill>
                  <a:srgbClr val="001133"/>
                </a:solidFill>
                <a:latin typeface="Trebuchet MS" panose="020B0603020202020204" pitchFamily="34" charset="0"/>
              </a:rPr>
              <a:t>Если Вы еще не в курсе что из себя представляет страничка в интернете, то объясню в двух словах: любой текст на веб-страничке заключен в специальные теги, которые указывают браузеру какой размер текста использовать, его цвет, расположение на странице (слева, справа или по центру). Это касается не только текста, но и картинок, форм, активных элементов и вообще всего контента, т.е. того, что есть на страничке. Браузер, обнаруживая теги, действует согласно их предписанию, и показывает Вам обработанные данные, которые заключены в эти теги. Вы и сами можете увидеть теги этой странички (и этот текст между тегами), для этого зайдите в меню вашего браузера и выберите - просмотр исходного кода. </a:t>
            </a:r>
            <a:endParaRPr lang="ru-RU" dirty="0"/>
          </a:p>
        </p:txBody>
      </p:sp>
    </p:spTree>
    <p:extLst>
      <p:ext uri="{BB962C8B-B14F-4D97-AF65-F5344CB8AC3E}">
        <p14:creationId xmlns:p14="http://schemas.microsoft.com/office/powerpoint/2010/main" val="2805980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113344"/>
                </a:solidFill>
                <a:latin typeface="Trebuchet MS" panose="020B0603020202020204" pitchFamily="34" charset="0"/>
              </a:rPr>
              <a:t>Эталонная сетевая модель </a:t>
            </a:r>
            <a:r>
              <a:rPr lang="en-US" b="1" dirty="0">
                <a:solidFill>
                  <a:srgbClr val="113344"/>
                </a:solidFill>
                <a:latin typeface="Trebuchet MS" panose="020B0603020202020204" pitchFamily="34" charset="0"/>
              </a:rPr>
              <a:t>OSI</a:t>
            </a:r>
            <a:endParaRPr lang="ru-RU" dirty="0"/>
          </a:p>
        </p:txBody>
      </p:sp>
      <p:sp>
        <p:nvSpPr>
          <p:cNvPr id="3" name="Объект 2"/>
          <p:cNvSpPr>
            <a:spLocks noGrp="1"/>
          </p:cNvSpPr>
          <p:nvPr>
            <p:ph idx="1"/>
          </p:nvPr>
        </p:nvSpPr>
        <p:spPr/>
        <p:txBody>
          <a:bodyPr>
            <a:normAutofit fontScale="92500" lnSpcReduction="10000"/>
          </a:bodyPr>
          <a:lstStyle/>
          <a:p>
            <a:r>
              <a:rPr lang="ru-RU" dirty="0">
                <a:solidFill>
                  <a:srgbClr val="001133"/>
                </a:solidFill>
                <a:latin typeface="&amp;quot"/>
              </a:rPr>
              <a:t>OSI расшифровывается как </a:t>
            </a:r>
            <a:r>
              <a:rPr lang="ru-RU" dirty="0" err="1">
                <a:solidFill>
                  <a:srgbClr val="001133"/>
                </a:solidFill>
                <a:latin typeface="&amp;quot"/>
              </a:rPr>
              <a:t>Open</a:t>
            </a:r>
            <a:r>
              <a:rPr lang="ru-RU" dirty="0">
                <a:solidFill>
                  <a:srgbClr val="001133"/>
                </a:solidFill>
                <a:latin typeface="&amp;quot"/>
              </a:rPr>
              <a:t> </a:t>
            </a:r>
            <a:r>
              <a:rPr lang="ru-RU" dirty="0" err="1">
                <a:solidFill>
                  <a:srgbClr val="001133"/>
                </a:solidFill>
                <a:latin typeface="&amp;quot"/>
              </a:rPr>
              <a:t>System</a:t>
            </a:r>
            <a:r>
              <a:rPr lang="ru-RU" dirty="0">
                <a:solidFill>
                  <a:srgbClr val="001133"/>
                </a:solidFill>
                <a:latin typeface="&amp;quot"/>
              </a:rPr>
              <a:t> </a:t>
            </a:r>
            <a:r>
              <a:rPr lang="ru-RU" dirty="0" err="1">
                <a:solidFill>
                  <a:srgbClr val="001133"/>
                </a:solidFill>
                <a:latin typeface="&amp;quot"/>
              </a:rPr>
              <a:t>Interconnection</a:t>
            </a:r>
            <a:r>
              <a:rPr lang="ru-RU" dirty="0">
                <a:solidFill>
                  <a:srgbClr val="001133"/>
                </a:solidFill>
                <a:latin typeface="&amp;quot"/>
              </a:rPr>
              <a:t>. На русском языке это звучит следующим образом: Сетевая модель взаимодействия открытых систем (эталонная модель). Эту модель можно смело назвать стандартом. Именно этой модели придерживаются производители сетевых устройств, когда разрабатывают новые продукты. </a:t>
            </a:r>
          </a:p>
          <a:p>
            <a:r>
              <a:rPr lang="ru-RU" dirty="0">
                <a:solidFill>
                  <a:srgbClr val="001133"/>
                </a:solidFill>
                <a:latin typeface="&amp;quot"/>
              </a:rPr>
              <a:t>Сетевая модель OSI состоит из 7 уровней, причем принято начинать отсчёт с нижнего. </a:t>
            </a:r>
          </a:p>
          <a:p>
            <a:pPr>
              <a:buFont typeface="Arial" panose="020B0604020202020204" pitchFamily="34" charset="0"/>
              <a:buChar char="•"/>
            </a:pPr>
            <a:r>
              <a:rPr lang="ru-RU" dirty="0">
                <a:solidFill>
                  <a:srgbClr val="001133"/>
                </a:solidFill>
                <a:latin typeface="&amp;quot"/>
              </a:rPr>
              <a:t>Перечислим их: 7. Прикладной уровень (</a:t>
            </a:r>
            <a:r>
              <a:rPr lang="ru-RU" dirty="0" err="1">
                <a:solidFill>
                  <a:srgbClr val="001133"/>
                </a:solidFill>
                <a:latin typeface="&amp;quot"/>
              </a:rPr>
              <a:t>application</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a:t>
            </a:r>
          </a:p>
          <a:p>
            <a:pPr>
              <a:buFont typeface="Arial" panose="020B0604020202020204" pitchFamily="34" charset="0"/>
              <a:buChar char="•"/>
            </a:pPr>
            <a:r>
              <a:rPr lang="ru-RU" dirty="0">
                <a:solidFill>
                  <a:srgbClr val="001133"/>
                </a:solidFill>
                <a:latin typeface="&amp;quot"/>
              </a:rPr>
              <a:t>6. Представительский уровень или уровень представления (</a:t>
            </a:r>
            <a:r>
              <a:rPr lang="ru-RU" dirty="0" err="1">
                <a:solidFill>
                  <a:srgbClr val="001133"/>
                </a:solidFill>
                <a:latin typeface="&amp;quot"/>
              </a:rPr>
              <a:t>presentation</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a:t>
            </a:r>
          </a:p>
          <a:p>
            <a:pPr>
              <a:buFont typeface="Arial" panose="020B0604020202020204" pitchFamily="34" charset="0"/>
              <a:buChar char="•"/>
            </a:pPr>
            <a:r>
              <a:rPr lang="ru-RU" dirty="0">
                <a:solidFill>
                  <a:srgbClr val="001133"/>
                </a:solidFill>
                <a:latin typeface="&amp;quot"/>
              </a:rPr>
              <a:t>5. Сеансовый уровень (</a:t>
            </a:r>
            <a:r>
              <a:rPr lang="ru-RU" dirty="0" err="1">
                <a:solidFill>
                  <a:srgbClr val="001133"/>
                </a:solidFill>
                <a:latin typeface="&amp;quot"/>
              </a:rPr>
              <a:t>session</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a:t>
            </a:r>
          </a:p>
          <a:p>
            <a:pPr>
              <a:buFont typeface="Arial" panose="020B0604020202020204" pitchFamily="34" charset="0"/>
              <a:buChar char="•"/>
            </a:pPr>
            <a:r>
              <a:rPr lang="ru-RU" dirty="0">
                <a:solidFill>
                  <a:srgbClr val="001133"/>
                </a:solidFill>
                <a:latin typeface="&amp;quot"/>
              </a:rPr>
              <a:t>4. Транспортный уровень (</a:t>
            </a:r>
            <a:r>
              <a:rPr lang="ru-RU" dirty="0" err="1">
                <a:solidFill>
                  <a:srgbClr val="001133"/>
                </a:solidFill>
                <a:latin typeface="&amp;quot"/>
              </a:rPr>
              <a:t>transport</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a:t>
            </a:r>
          </a:p>
          <a:p>
            <a:pPr>
              <a:buFont typeface="Arial" panose="020B0604020202020204" pitchFamily="34" charset="0"/>
              <a:buChar char="•"/>
            </a:pPr>
            <a:r>
              <a:rPr lang="ru-RU" dirty="0">
                <a:solidFill>
                  <a:srgbClr val="001133"/>
                </a:solidFill>
                <a:latin typeface="&amp;quot"/>
              </a:rPr>
              <a:t>3. Сетевой уровень (</a:t>
            </a:r>
            <a:r>
              <a:rPr lang="ru-RU" dirty="0" err="1">
                <a:solidFill>
                  <a:srgbClr val="001133"/>
                </a:solidFill>
                <a:latin typeface="&amp;quot"/>
              </a:rPr>
              <a:t>network</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a:t>
            </a:r>
          </a:p>
          <a:p>
            <a:pPr>
              <a:buFont typeface="Arial" panose="020B0604020202020204" pitchFamily="34" charset="0"/>
              <a:buChar char="•"/>
            </a:pPr>
            <a:r>
              <a:rPr lang="ru-RU" dirty="0">
                <a:solidFill>
                  <a:srgbClr val="001133"/>
                </a:solidFill>
                <a:latin typeface="&amp;quot"/>
              </a:rPr>
              <a:t>2. Канальный уровень (</a:t>
            </a:r>
            <a:r>
              <a:rPr lang="ru-RU" dirty="0" err="1">
                <a:solidFill>
                  <a:srgbClr val="001133"/>
                </a:solidFill>
                <a:latin typeface="&amp;quot"/>
              </a:rPr>
              <a:t>data</a:t>
            </a:r>
            <a:r>
              <a:rPr lang="ru-RU" dirty="0">
                <a:solidFill>
                  <a:srgbClr val="001133"/>
                </a:solidFill>
                <a:latin typeface="&amp;quot"/>
              </a:rPr>
              <a:t> </a:t>
            </a:r>
            <a:r>
              <a:rPr lang="ru-RU" dirty="0" err="1">
                <a:solidFill>
                  <a:srgbClr val="001133"/>
                </a:solidFill>
                <a:latin typeface="&amp;quot"/>
              </a:rPr>
              <a:t>link</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a:t>
            </a:r>
          </a:p>
          <a:p>
            <a:pPr>
              <a:buFont typeface="Arial" panose="020B0604020202020204" pitchFamily="34" charset="0"/>
              <a:buChar char="•"/>
            </a:pPr>
            <a:r>
              <a:rPr lang="ru-RU" dirty="0">
                <a:solidFill>
                  <a:srgbClr val="001133"/>
                </a:solidFill>
                <a:latin typeface="&amp;quot"/>
              </a:rPr>
              <a:t>1. Физический уровень (</a:t>
            </a:r>
            <a:r>
              <a:rPr lang="ru-RU" dirty="0" err="1">
                <a:solidFill>
                  <a:srgbClr val="001133"/>
                </a:solidFill>
                <a:latin typeface="&amp;quot"/>
              </a:rPr>
              <a:t>physical</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a:t>
            </a:r>
          </a:p>
          <a:p>
            <a:endParaRPr lang="ru-RU" dirty="0"/>
          </a:p>
        </p:txBody>
      </p:sp>
    </p:spTree>
    <p:extLst>
      <p:ext uri="{BB962C8B-B14F-4D97-AF65-F5344CB8AC3E}">
        <p14:creationId xmlns:p14="http://schemas.microsoft.com/office/powerpoint/2010/main" val="2534061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Модель </a:t>
            </a:r>
            <a:r>
              <a:rPr lang="en-US" dirty="0"/>
              <a:t>OSI.</a:t>
            </a:r>
            <a:endParaRPr lang="ru-RU"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7126" y="2001625"/>
            <a:ext cx="6413241" cy="3932237"/>
          </a:xfrm>
        </p:spPr>
      </p:pic>
    </p:spTree>
    <p:extLst>
      <p:ext uri="{BB962C8B-B14F-4D97-AF65-F5344CB8AC3E}">
        <p14:creationId xmlns:p14="http://schemas.microsoft.com/office/powerpoint/2010/main" val="3083879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Прикладной уровень.</a:t>
            </a:r>
          </a:p>
        </p:txBody>
      </p:sp>
      <p:sp>
        <p:nvSpPr>
          <p:cNvPr id="3" name="Объект 2"/>
          <p:cNvSpPr>
            <a:spLocks noGrp="1"/>
          </p:cNvSpPr>
          <p:nvPr>
            <p:ph idx="1"/>
          </p:nvPr>
        </p:nvSpPr>
        <p:spPr/>
        <p:txBody>
          <a:bodyPr/>
          <a:lstStyle/>
          <a:p>
            <a:r>
              <a:rPr lang="ru-RU" dirty="0"/>
              <a:t>Прикладной уровень или уровень приложений(</a:t>
            </a:r>
            <a:r>
              <a:rPr lang="ru-RU" dirty="0" err="1"/>
              <a:t>application</a:t>
            </a:r>
            <a:r>
              <a:rPr lang="ru-RU" dirty="0"/>
              <a:t> </a:t>
            </a:r>
            <a:r>
              <a:rPr lang="ru-RU" dirty="0" err="1"/>
              <a:t>layer</a:t>
            </a:r>
            <a:r>
              <a:rPr lang="ru-RU" dirty="0"/>
              <a:t>) – это самый верхний уровень модели. Он осуществляет связь пользовательских приложений с сетью. Эти приложения нам всем знакомы: просмотр веб-страниц (HTTP), передача и приём почты (SMTP, POP3), приём и получение файлов (FTP, TFTP), удаленный доступ (</a:t>
            </a:r>
            <a:r>
              <a:rPr lang="ru-RU" dirty="0" err="1"/>
              <a:t>Telnet</a:t>
            </a:r>
            <a:r>
              <a:rPr lang="ru-RU" dirty="0"/>
              <a:t>) и т.д.</a:t>
            </a:r>
          </a:p>
          <a:p>
            <a:endParaRPr lang="ru-RU" dirty="0"/>
          </a:p>
        </p:txBody>
      </p:sp>
    </p:spTree>
    <p:extLst>
      <p:ext uri="{BB962C8B-B14F-4D97-AF65-F5344CB8AC3E}">
        <p14:creationId xmlns:p14="http://schemas.microsoft.com/office/powerpoint/2010/main" val="3894258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113344"/>
                </a:solidFill>
                <a:latin typeface="Trebuchet MS" panose="020B0603020202020204" pitchFamily="34" charset="0"/>
              </a:rPr>
              <a:t>Представительский уровень</a:t>
            </a:r>
            <a:endParaRPr lang="ru-RU" dirty="0"/>
          </a:p>
        </p:txBody>
      </p:sp>
      <p:sp>
        <p:nvSpPr>
          <p:cNvPr id="3" name="Объект 2"/>
          <p:cNvSpPr>
            <a:spLocks noGrp="1"/>
          </p:cNvSpPr>
          <p:nvPr>
            <p:ph idx="1"/>
          </p:nvPr>
        </p:nvSpPr>
        <p:spPr/>
        <p:txBody>
          <a:bodyPr/>
          <a:lstStyle/>
          <a:p>
            <a:r>
              <a:rPr lang="ru-RU" dirty="0">
                <a:solidFill>
                  <a:srgbClr val="001133"/>
                </a:solidFill>
                <a:latin typeface="&amp;quot"/>
              </a:rPr>
              <a:t>Представительский уровень или уровень представления данных (</a:t>
            </a:r>
            <a:r>
              <a:rPr lang="ru-RU" dirty="0" err="1">
                <a:solidFill>
                  <a:srgbClr val="001133"/>
                </a:solidFill>
                <a:latin typeface="&amp;quot"/>
              </a:rPr>
              <a:t>presentation</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 – он преобразует данные в соответствующий формат. На примере понять проще: те картинки (все изображения) которые вы видите на экране, передаются при пересылке файла в виде маленьких порций единиц и ноликов (битов). Так вот, когда Вы отправляете своему другу фотографию по электронной почте, протокол Прикладного уровня SMTP отправляет фотографию на нижний уровень, т.е. на уровень Представления. Где Ваша фотка преобразуется в удобный вид данных для более низких уровней, например в биты (единицы и нолики). </a:t>
            </a:r>
          </a:p>
          <a:p>
            <a:r>
              <a:rPr lang="ru-RU" dirty="0">
                <a:solidFill>
                  <a:srgbClr val="001133"/>
                </a:solidFill>
                <a:latin typeface="&amp;quot"/>
              </a:rPr>
              <a:t>Именно таким же образом, когда Ваш друг начнет получать Ваше фото, ему оно будет поступать в виде все тех же единиц и нулей, и именно уровень Представления преобразует биты в полноценное фото, например JPEG. </a:t>
            </a:r>
          </a:p>
          <a:p>
            <a:r>
              <a:rPr lang="ru-RU" dirty="0">
                <a:solidFill>
                  <a:srgbClr val="001133"/>
                </a:solidFill>
                <a:latin typeface="&amp;quot"/>
              </a:rPr>
              <a:t>Вот так и работает этот уровень с протоколами (стандартами) изображений (JPEG, GIF, PNG, TIFF), кодировок (ASCII, EBDIC), музыки и видео (MPEG) и т.д. </a:t>
            </a:r>
          </a:p>
          <a:p>
            <a:endParaRPr lang="ru-RU" dirty="0"/>
          </a:p>
        </p:txBody>
      </p:sp>
    </p:spTree>
    <p:extLst>
      <p:ext uri="{BB962C8B-B14F-4D97-AF65-F5344CB8AC3E}">
        <p14:creationId xmlns:p14="http://schemas.microsoft.com/office/powerpoint/2010/main" val="340665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Сеансовый уровень</a:t>
            </a:r>
          </a:p>
        </p:txBody>
      </p:sp>
      <p:sp>
        <p:nvSpPr>
          <p:cNvPr id="3" name="Объект 2"/>
          <p:cNvSpPr>
            <a:spLocks noGrp="1"/>
          </p:cNvSpPr>
          <p:nvPr>
            <p:ph idx="1"/>
          </p:nvPr>
        </p:nvSpPr>
        <p:spPr/>
        <p:txBody>
          <a:bodyPr/>
          <a:lstStyle/>
          <a:p>
            <a:r>
              <a:rPr lang="ru-RU" dirty="0">
                <a:solidFill>
                  <a:srgbClr val="001133"/>
                </a:solidFill>
                <a:latin typeface="Trebuchet MS" panose="020B0603020202020204" pitchFamily="34" charset="0"/>
              </a:rPr>
              <a:t>Сеансовый уровень или уровень сессий(</a:t>
            </a:r>
            <a:r>
              <a:rPr lang="ru-RU" dirty="0" err="1">
                <a:solidFill>
                  <a:srgbClr val="001133"/>
                </a:solidFill>
                <a:latin typeface="Trebuchet MS" panose="020B0603020202020204" pitchFamily="34" charset="0"/>
              </a:rPr>
              <a:t>session</a:t>
            </a:r>
            <a:r>
              <a:rPr lang="ru-RU" dirty="0">
                <a:solidFill>
                  <a:srgbClr val="001133"/>
                </a:solidFill>
                <a:latin typeface="Trebuchet MS" panose="020B0603020202020204" pitchFamily="34" charset="0"/>
              </a:rPr>
              <a:t> </a:t>
            </a:r>
            <a:r>
              <a:rPr lang="ru-RU" dirty="0" err="1">
                <a:solidFill>
                  <a:srgbClr val="001133"/>
                </a:solidFill>
                <a:latin typeface="Trebuchet MS" panose="020B0603020202020204" pitchFamily="34" charset="0"/>
              </a:rPr>
              <a:t>layer</a:t>
            </a:r>
            <a:r>
              <a:rPr lang="ru-RU" dirty="0">
                <a:solidFill>
                  <a:srgbClr val="001133"/>
                </a:solidFill>
                <a:latin typeface="Trebuchet MS" panose="020B0603020202020204" pitchFamily="34" charset="0"/>
              </a:rPr>
              <a:t>) – как видно из названия, он организует сеанс связи между компьютерами. Хорошим примером будут служить аудио и видеоконференции, на этом уровне устанавливается, каким кодеком будет кодироваться сигнал, причем этот кодек должен присутствовать на обеих машинах. Еще примером может служить протокол SMPP (</a:t>
            </a:r>
            <a:r>
              <a:rPr lang="ru-RU" dirty="0" err="1">
                <a:solidFill>
                  <a:srgbClr val="001133"/>
                </a:solidFill>
                <a:latin typeface="Trebuchet MS" panose="020B0603020202020204" pitchFamily="34" charset="0"/>
              </a:rPr>
              <a:t>Short</a:t>
            </a:r>
            <a:r>
              <a:rPr lang="ru-RU" dirty="0">
                <a:solidFill>
                  <a:srgbClr val="001133"/>
                </a:solidFill>
                <a:latin typeface="Trebuchet MS" panose="020B0603020202020204" pitchFamily="34" charset="0"/>
              </a:rPr>
              <a:t> </a:t>
            </a:r>
            <a:r>
              <a:rPr lang="ru-RU" dirty="0" err="1">
                <a:solidFill>
                  <a:srgbClr val="001133"/>
                </a:solidFill>
                <a:latin typeface="Trebuchet MS" panose="020B0603020202020204" pitchFamily="34" charset="0"/>
              </a:rPr>
              <a:t>message</a:t>
            </a:r>
            <a:r>
              <a:rPr lang="ru-RU" dirty="0">
                <a:solidFill>
                  <a:srgbClr val="001133"/>
                </a:solidFill>
                <a:latin typeface="Trebuchet MS" panose="020B0603020202020204" pitchFamily="34" charset="0"/>
              </a:rPr>
              <a:t> </a:t>
            </a:r>
            <a:r>
              <a:rPr lang="ru-RU" dirty="0" err="1">
                <a:solidFill>
                  <a:srgbClr val="001133"/>
                </a:solidFill>
                <a:latin typeface="Trebuchet MS" panose="020B0603020202020204" pitchFamily="34" charset="0"/>
              </a:rPr>
              <a:t>peer-to-peer</a:t>
            </a:r>
            <a:r>
              <a:rPr lang="ru-RU" dirty="0">
                <a:solidFill>
                  <a:srgbClr val="001133"/>
                </a:solidFill>
                <a:latin typeface="Trebuchet MS" panose="020B0603020202020204" pitchFamily="34" charset="0"/>
              </a:rPr>
              <a:t> </a:t>
            </a:r>
            <a:r>
              <a:rPr lang="ru-RU" dirty="0" err="1">
                <a:solidFill>
                  <a:srgbClr val="001133"/>
                </a:solidFill>
                <a:latin typeface="Trebuchet MS" panose="020B0603020202020204" pitchFamily="34" charset="0"/>
              </a:rPr>
              <a:t>protocol</a:t>
            </a:r>
            <a:r>
              <a:rPr lang="ru-RU" dirty="0">
                <a:solidFill>
                  <a:srgbClr val="001133"/>
                </a:solidFill>
                <a:latin typeface="Trebuchet MS" panose="020B0603020202020204" pitchFamily="34" charset="0"/>
              </a:rPr>
              <a:t>), с помощью него отправляются хорошо известные нам </a:t>
            </a:r>
            <a:r>
              <a:rPr lang="ru-RU" dirty="0" err="1">
                <a:solidFill>
                  <a:srgbClr val="001133"/>
                </a:solidFill>
                <a:latin typeface="Trebuchet MS" panose="020B0603020202020204" pitchFamily="34" charset="0"/>
              </a:rPr>
              <a:t>СМСки</a:t>
            </a:r>
            <a:r>
              <a:rPr lang="ru-RU" dirty="0">
                <a:solidFill>
                  <a:srgbClr val="001133"/>
                </a:solidFill>
                <a:latin typeface="Trebuchet MS" panose="020B0603020202020204" pitchFamily="34" charset="0"/>
              </a:rPr>
              <a:t> и USSD запросы. И последний пример: PAP (</a:t>
            </a:r>
            <a:r>
              <a:rPr lang="ru-RU" dirty="0" err="1">
                <a:solidFill>
                  <a:srgbClr val="001133"/>
                </a:solidFill>
                <a:latin typeface="Trebuchet MS" panose="020B0603020202020204" pitchFamily="34" charset="0"/>
              </a:rPr>
              <a:t>Password</a:t>
            </a:r>
            <a:r>
              <a:rPr lang="ru-RU" dirty="0">
                <a:solidFill>
                  <a:srgbClr val="001133"/>
                </a:solidFill>
                <a:latin typeface="Trebuchet MS" panose="020B0603020202020204" pitchFamily="34" charset="0"/>
              </a:rPr>
              <a:t> </a:t>
            </a:r>
            <a:r>
              <a:rPr lang="ru-RU" dirty="0" err="1">
                <a:solidFill>
                  <a:srgbClr val="001133"/>
                </a:solidFill>
                <a:latin typeface="Trebuchet MS" panose="020B0603020202020204" pitchFamily="34" charset="0"/>
              </a:rPr>
              <a:t>Authentication</a:t>
            </a:r>
            <a:r>
              <a:rPr lang="ru-RU" dirty="0">
                <a:solidFill>
                  <a:srgbClr val="001133"/>
                </a:solidFill>
                <a:latin typeface="Trebuchet MS" panose="020B0603020202020204" pitchFamily="34" charset="0"/>
              </a:rPr>
              <a:t> </a:t>
            </a:r>
            <a:r>
              <a:rPr lang="ru-RU" dirty="0" err="1">
                <a:solidFill>
                  <a:srgbClr val="001133"/>
                </a:solidFill>
                <a:latin typeface="Trebuchet MS" panose="020B0603020202020204" pitchFamily="34" charset="0"/>
              </a:rPr>
              <a:t>Protocol</a:t>
            </a:r>
            <a:r>
              <a:rPr lang="ru-RU" dirty="0">
                <a:solidFill>
                  <a:srgbClr val="001133"/>
                </a:solidFill>
                <a:latin typeface="Trebuchet MS" panose="020B0603020202020204" pitchFamily="34" charset="0"/>
              </a:rPr>
              <a:t>) – это старенький протокол для отправки имени пользователя и пароля на сервер без шифрования. </a:t>
            </a:r>
            <a:endParaRPr lang="ru-RU" dirty="0"/>
          </a:p>
        </p:txBody>
      </p:sp>
    </p:spTree>
    <p:extLst>
      <p:ext uri="{BB962C8B-B14F-4D97-AF65-F5344CB8AC3E}">
        <p14:creationId xmlns:p14="http://schemas.microsoft.com/office/powerpoint/2010/main" val="1952190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113344"/>
                </a:solidFill>
                <a:latin typeface="Trebuchet MS" panose="020B0603020202020204" pitchFamily="34" charset="0"/>
              </a:rPr>
              <a:t>Транспортный уровень</a:t>
            </a:r>
            <a:endParaRPr lang="ru-RU" dirty="0"/>
          </a:p>
        </p:txBody>
      </p:sp>
      <p:sp>
        <p:nvSpPr>
          <p:cNvPr id="3" name="Объект 2"/>
          <p:cNvSpPr>
            <a:spLocks noGrp="1"/>
          </p:cNvSpPr>
          <p:nvPr>
            <p:ph idx="1"/>
          </p:nvPr>
        </p:nvSpPr>
        <p:spPr>
          <a:xfrm>
            <a:off x="1066800" y="2103120"/>
            <a:ext cx="10613010" cy="4373094"/>
          </a:xfrm>
        </p:spPr>
        <p:txBody>
          <a:bodyPr>
            <a:normAutofit fontScale="85000" lnSpcReduction="20000"/>
          </a:bodyPr>
          <a:lstStyle/>
          <a:p>
            <a:r>
              <a:rPr lang="ru-RU" dirty="0">
                <a:solidFill>
                  <a:srgbClr val="001133"/>
                </a:solidFill>
                <a:latin typeface="&amp;quot"/>
              </a:rPr>
              <a:t>Транспортный уровень (</a:t>
            </a:r>
            <a:r>
              <a:rPr lang="ru-RU" dirty="0" err="1">
                <a:solidFill>
                  <a:srgbClr val="001133"/>
                </a:solidFill>
                <a:latin typeface="&amp;quot"/>
              </a:rPr>
              <a:t>transport</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 – этот уровень обеспечивает надёжность передачи данных от отправителя к получателю. На самом деле всё очень просто, например вы общаетесь с помощью веб-камеры со своим другом или преподавателем. Нужна ли здесь надежная доставка каждого бита переданного изображения? Конечно нет, если потеряется несколько битов из потокового видео Вы даже этого не заметите, даже картинка не изменится (</a:t>
            </a:r>
            <a:r>
              <a:rPr lang="ru-RU" dirty="0" err="1">
                <a:solidFill>
                  <a:srgbClr val="001133"/>
                </a:solidFill>
                <a:latin typeface="&amp;quot"/>
              </a:rPr>
              <a:t>м.б</a:t>
            </a:r>
            <a:r>
              <a:rPr lang="ru-RU" dirty="0">
                <a:solidFill>
                  <a:srgbClr val="001133"/>
                </a:solidFill>
                <a:latin typeface="&amp;quot"/>
              </a:rPr>
              <a:t>. изменится цвет одного пикселя из 900000 пикселей, который промелькнет со скоростью 24 кадра в секунду). </a:t>
            </a:r>
          </a:p>
          <a:p>
            <a:r>
              <a:rPr lang="ru-RU" dirty="0">
                <a:solidFill>
                  <a:srgbClr val="001133"/>
                </a:solidFill>
                <a:latin typeface="&amp;quot"/>
              </a:rPr>
              <a:t>А теперь приведем такой пример: Вам друг пересылает (например, через почту) в архиве важную информацию или программу. Вы скачиваете себе на компьютер этот архив. Вот здесь надёжность нужна 100%, т.к. если пару бит при закачке архива потеряются – Вы не сможете затем его разархивировать, т.е. извлечь необходимые данные. Или представьте себе отправку пароля на сервер, и в пути один бит потерялся – пароль уже потеряет свой вид и значение изменится. </a:t>
            </a:r>
          </a:p>
          <a:p>
            <a:r>
              <a:rPr lang="ru-RU" dirty="0">
                <a:solidFill>
                  <a:srgbClr val="001133"/>
                </a:solidFill>
                <a:latin typeface="&amp;quot"/>
              </a:rPr>
              <a:t>Таким образом, когда мы смотрим видеоролики в интернете, иногда мы видим некоторые артефакты, задержки, шумы и т.п. А когда мы читаем текст с веб-страницы – потеря (или </a:t>
            </a:r>
            <a:r>
              <a:rPr lang="ru-RU" dirty="0" err="1">
                <a:solidFill>
                  <a:srgbClr val="001133"/>
                </a:solidFill>
                <a:latin typeface="&amp;quot"/>
              </a:rPr>
              <a:t>скжение</a:t>
            </a:r>
            <a:r>
              <a:rPr lang="ru-RU" dirty="0">
                <a:solidFill>
                  <a:srgbClr val="001133"/>
                </a:solidFill>
                <a:latin typeface="&amp;quot"/>
              </a:rPr>
              <a:t>) букв не допустима, и когда скачиваем программы – тоже все проходит без ошибок. </a:t>
            </a:r>
          </a:p>
          <a:p>
            <a:r>
              <a:rPr lang="ru-RU" dirty="0">
                <a:solidFill>
                  <a:srgbClr val="001133"/>
                </a:solidFill>
                <a:latin typeface="&amp;quot"/>
              </a:rPr>
              <a:t>На этом уровне я выделю два протокола: UDP и TCP. UDP протокол (</a:t>
            </a:r>
            <a:r>
              <a:rPr lang="ru-RU" dirty="0" err="1">
                <a:solidFill>
                  <a:srgbClr val="001133"/>
                </a:solidFill>
                <a:latin typeface="&amp;quot"/>
              </a:rPr>
              <a:t>User</a:t>
            </a:r>
            <a:r>
              <a:rPr lang="ru-RU" dirty="0">
                <a:solidFill>
                  <a:srgbClr val="001133"/>
                </a:solidFill>
                <a:latin typeface="&amp;quot"/>
              </a:rPr>
              <a:t> </a:t>
            </a:r>
            <a:r>
              <a:rPr lang="ru-RU" dirty="0" err="1">
                <a:solidFill>
                  <a:srgbClr val="001133"/>
                </a:solidFill>
                <a:latin typeface="&amp;quot"/>
              </a:rPr>
              <a:t>Datagram</a:t>
            </a:r>
            <a:r>
              <a:rPr lang="ru-RU" dirty="0">
                <a:solidFill>
                  <a:srgbClr val="001133"/>
                </a:solidFill>
                <a:latin typeface="&amp;quot"/>
              </a:rPr>
              <a:t> </a:t>
            </a:r>
            <a:r>
              <a:rPr lang="ru-RU" dirty="0" err="1">
                <a:solidFill>
                  <a:srgbClr val="001133"/>
                </a:solidFill>
                <a:latin typeface="&amp;quot"/>
              </a:rPr>
              <a:t>Protocol</a:t>
            </a:r>
            <a:r>
              <a:rPr lang="ru-RU" dirty="0">
                <a:solidFill>
                  <a:srgbClr val="001133"/>
                </a:solidFill>
                <a:latin typeface="&amp;quot"/>
              </a:rPr>
              <a:t>) передает данные без установления соединения, не подтверждает доставку данных и не делает повторы. TCP протокол (</a:t>
            </a:r>
            <a:r>
              <a:rPr lang="ru-RU" dirty="0" err="1">
                <a:solidFill>
                  <a:srgbClr val="001133"/>
                </a:solidFill>
                <a:latin typeface="&amp;quot"/>
              </a:rPr>
              <a:t>Transmission</a:t>
            </a:r>
            <a:r>
              <a:rPr lang="ru-RU" dirty="0">
                <a:solidFill>
                  <a:srgbClr val="001133"/>
                </a:solidFill>
                <a:latin typeface="&amp;quot"/>
              </a:rPr>
              <a:t> </a:t>
            </a:r>
            <a:r>
              <a:rPr lang="ru-RU" dirty="0" err="1">
                <a:solidFill>
                  <a:srgbClr val="001133"/>
                </a:solidFill>
                <a:latin typeface="&amp;quot"/>
              </a:rPr>
              <a:t>Control</a:t>
            </a:r>
            <a:r>
              <a:rPr lang="ru-RU" dirty="0">
                <a:solidFill>
                  <a:srgbClr val="001133"/>
                </a:solidFill>
                <a:latin typeface="&amp;quot"/>
              </a:rPr>
              <a:t> </a:t>
            </a:r>
            <a:r>
              <a:rPr lang="ru-RU" dirty="0" err="1">
                <a:solidFill>
                  <a:srgbClr val="001133"/>
                </a:solidFill>
                <a:latin typeface="&amp;quot"/>
              </a:rPr>
              <a:t>Protocol</a:t>
            </a:r>
            <a:r>
              <a:rPr lang="ru-RU" dirty="0">
                <a:solidFill>
                  <a:srgbClr val="001133"/>
                </a:solidFill>
                <a:latin typeface="&amp;quot"/>
              </a:rPr>
              <a:t>), который перед передачей устанавливает соединение, подтверждает доставку данных, при необходимости делает повтор, гарантирует целостность и правильную последовательность загружаемых данных. </a:t>
            </a:r>
          </a:p>
          <a:p>
            <a:r>
              <a:rPr lang="ru-RU" dirty="0">
                <a:solidFill>
                  <a:srgbClr val="001133"/>
                </a:solidFill>
                <a:latin typeface="&amp;quot"/>
              </a:rPr>
              <a:t>Следовательно, для музыки, видео, видеоконференций и звонков используем UDP (передаем данные без проверки и без задержек), а для текста, программ, паролей, архивов и т.п. – TCP (передача данных с подтверждением о получении, затрачивается больше времени). </a:t>
            </a:r>
          </a:p>
          <a:p>
            <a:endParaRPr lang="ru-RU" dirty="0"/>
          </a:p>
        </p:txBody>
      </p:sp>
    </p:spTree>
    <p:extLst>
      <p:ext uri="{BB962C8B-B14F-4D97-AF65-F5344CB8AC3E}">
        <p14:creationId xmlns:p14="http://schemas.microsoft.com/office/powerpoint/2010/main" val="2929224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113344"/>
                </a:solidFill>
                <a:latin typeface="Trebuchet MS" panose="020B0603020202020204" pitchFamily="34" charset="0"/>
              </a:rPr>
              <a:t>Сетевой уровень</a:t>
            </a:r>
            <a:endParaRPr lang="ru-RU" dirty="0"/>
          </a:p>
        </p:txBody>
      </p:sp>
      <p:sp>
        <p:nvSpPr>
          <p:cNvPr id="3" name="Объект 2"/>
          <p:cNvSpPr>
            <a:spLocks noGrp="1"/>
          </p:cNvSpPr>
          <p:nvPr>
            <p:ph idx="1"/>
          </p:nvPr>
        </p:nvSpPr>
        <p:spPr/>
        <p:txBody>
          <a:bodyPr/>
          <a:lstStyle/>
          <a:p>
            <a:r>
              <a:rPr lang="ru-RU" dirty="0">
                <a:solidFill>
                  <a:srgbClr val="001133"/>
                </a:solidFill>
                <a:latin typeface="&amp;quot"/>
              </a:rPr>
              <a:t>Сетевой уровень (</a:t>
            </a:r>
            <a:r>
              <a:rPr lang="ru-RU" dirty="0" err="1">
                <a:solidFill>
                  <a:srgbClr val="001133"/>
                </a:solidFill>
                <a:latin typeface="&amp;quot"/>
              </a:rPr>
              <a:t>network</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 – этот уровень определяет путь, по которому данные будут переданы. И, между прочим, это третий уровень Сетевой модели OSI, а ведь существуют такие устройства, которые как раз и называют устройствами третьего уровня – маршрутизаторы. </a:t>
            </a:r>
          </a:p>
          <a:p>
            <a:r>
              <a:rPr lang="ru-RU" dirty="0">
                <a:solidFill>
                  <a:srgbClr val="001133"/>
                </a:solidFill>
                <a:latin typeface="&amp;quot"/>
              </a:rPr>
              <a:t>Все мы слышали об IP-адресе, вот это и осуществляет протокол IP (</a:t>
            </a:r>
            <a:r>
              <a:rPr lang="ru-RU" dirty="0" err="1">
                <a:solidFill>
                  <a:srgbClr val="001133"/>
                </a:solidFill>
                <a:latin typeface="&amp;quot"/>
              </a:rPr>
              <a:t>Internet</a:t>
            </a:r>
            <a:r>
              <a:rPr lang="ru-RU" dirty="0">
                <a:solidFill>
                  <a:srgbClr val="001133"/>
                </a:solidFill>
                <a:latin typeface="&amp;quot"/>
              </a:rPr>
              <a:t> </a:t>
            </a:r>
            <a:r>
              <a:rPr lang="ru-RU" dirty="0" err="1">
                <a:solidFill>
                  <a:srgbClr val="001133"/>
                </a:solidFill>
                <a:latin typeface="&amp;quot"/>
              </a:rPr>
              <a:t>Protocol</a:t>
            </a:r>
            <a:r>
              <a:rPr lang="ru-RU" dirty="0">
                <a:solidFill>
                  <a:srgbClr val="001133"/>
                </a:solidFill>
                <a:latin typeface="&amp;quot"/>
              </a:rPr>
              <a:t>). IP-адрес – это логический адрес в сети. </a:t>
            </a:r>
          </a:p>
          <a:p>
            <a:r>
              <a:rPr lang="ru-RU" dirty="0">
                <a:solidFill>
                  <a:srgbClr val="001133"/>
                </a:solidFill>
                <a:latin typeface="&amp;quot"/>
              </a:rPr>
              <a:t>На этом уровне достаточно много протоколов и все эти протоколы мы разберем более подробно позже, в отдельных статьях и на примерах. Сейчас же только перечислю несколько популярных. </a:t>
            </a:r>
          </a:p>
          <a:p>
            <a:r>
              <a:rPr lang="ru-RU" dirty="0">
                <a:solidFill>
                  <a:srgbClr val="001133"/>
                </a:solidFill>
                <a:latin typeface="&amp;quot"/>
              </a:rPr>
              <a:t>Как об IP-адресе все слышали и о команде </a:t>
            </a:r>
            <a:r>
              <a:rPr lang="ru-RU" dirty="0" err="1">
                <a:solidFill>
                  <a:srgbClr val="001133"/>
                </a:solidFill>
                <a:latin typeface="&amp;quot"/>
              </a:rPr>
              <a:t>ping</a:t>
            </a:r>
            <a:r>
              <a:rPr lang="ru-RU" dirty="0">
                <a:solidFill>
                  <a:srgbClr val="001133"/>
                </a:solidFill>
                <a:latin typeface="&amp;quot"/>
              </a:rPr>
              <a:t> – это работает протокол ICMP. </a:t>
            </a:r>
          </a:p>
          <a:p>
            <a:endParaRPr lang="ru-RU" dirty="0"/>
          </a:p>
        </p:txBody>
      </p:sp>
    </p:spTree>
    <p:extLst>
      <p:ext uri="{BB962C8B-B14F-4D97-AF65-F5344CB8AC3E}">
        <p14:creationId xmlns:p14="http://schemas.microsoft.com/office/powerpoint/2010/main" val="2876660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113344"/>
                </a:solidFill>
                <a:latin typeface="Trebuchet MS" panose="020B0603020202020204" pitchFamily="34" charset="0"/>
              </a:rPr>
              <a:t>Канальный уровень</a:t>
            </a:r>
            <a:endParaRPr lang="ru-RU" dirty="0"/>
          </a:p>
        </p:txBody>
      </p:sp>
      <p:sp>
        <p:nvSpPr>
          <p:cNvPr id="3" name="Объект 2"/>
          <p:cNvSpPr>
            <a:spLocks noGrp="1"/>
          </p:cNvSpPr>
          <p:nvPr>
            <p:ph idx="1"/>
          </p:nvPr>
        </p:nvSpPr>
        <p:spPr>
          <a:xfrm>
            <a:off x="1066800" y="2103120"/>
            <a:ext cx="10058400" cy="4439082"/>
          </a:xfrm>
        </p:spPr>
        <p:txBody>
          <a:bodyPr>
            <a:normAutofit fontScale="85000" lnSpcReduction="10000"/>
          </a:bodyPr>
          <a:lstStyle/>
          <a:p>
            <a:r>
              <a:rPr lang="ru-RU" dirty="0">
                <a:solidFill>
                  <a:srgbClr val="001133"/>
                </a:solidFill>
                <a:latin typeface="&amp;quot"/>
              </a:rPr>
              <a:t>Канальный уровень (</a:t>
            </a:r>
            <a:r>
              <a:rPr lang="ru-RU" dirty="0" err="1">
                <a:solidFill>
                  <a:srgbClr val="001133"/>
                </a:solidFill>
                <a:latin typeface="&amp;quot"/>
              </a:rPr>
              <a:t>data</a:t>
            </a:r>
            <a:r>
              <a:rPr lang="ru-RU" dirty="0">
                <a:solidFill>
                  <a:srgbClr val="001133"/>
                </a:solidFill>
                <a:latin typeface="&amp;quot"/>
              </a:rPr>
              <a:t> </a:t>
            </a:r>
            <a:r>
              <a:rPr lang="ru-RU" dirty="0" err="1">
                <a:solidFill>
                  <a:srgbClr val="001133"/>
                </a:solidFill>
                <a:latin typeface="&amp;quot"/>
              </a:rPr>
              <a:t>link</a:t>
            </a:r>
            <a:r>
              <a:rPr lang="ru-RU" dirty="0">
                <a:solidFill>
                  <a:srgbClr val="001133"/>
                </a:solidFill>
                <a:latin typeface="&amp;quot"/>
              </a:rPr>
              <a:t> </a:t>
            </a:r>
            <a:r>
              <a:rPr lang="ru-RU" dirty="0" err="1">
                <a:solidFill>
                  <a:srgbClr val="001133"/>
                </a:solidFill>
                <a:latin typeface="&amp;quot"/>
              </a:rPr>
              <a:t>layer</a:t>
            </a:r>
            <a:r>
              <a:rPr lang="ru-RU" dirty="0">
                <a:solidFill>
                  <a:srgbClr val="001133"/>
                </a:solidFill>
                <a:latin typeface="&amp;quot"/>
              </a:rPr>
              <a:t>) – он нам нужен для взаимодействия сетей на физическом уровне. Наверное, все слышали о MAC-адресе, вот он является физическим адресом. Устройства канального уровня – коммутаторы, концентраторы и т.п. </a:t>
            </a:r>
          </a:p>
          <a:p>
            <a:r>
              <a:rPr lang="ru-RU" dirty="0">
                <a:solidFill>
                  <a:srgbClr val="001133"/>
                </a:solidFill>
                <a:latin typeface="&amp;quot"/>
              </a:rPr>
              <a:t>IEEE (</a:t>
            </a:r>
            <a:r>
              <a:rPr lang="ru-RU" dirty="0" err="1">
                <a:solidFill>
                  <a:srgbClr val="001133"/>
                </a:solidFill>
                <a:latin typeface="&amp;quot"/>
              </a:rPr>
              <a:t>Institute</a:t>
            </a:r>
            <a:r>
              <a:rPr lang="ru-RU" dirty="0">
                <a:solidFill>
                  <a:srgbClr val="001133"/>
                </a:solidFill>
                <a:latin typeface="&amp;quot"/>
              </a:rPr>
              <a:t> </a:t>
            </a:r>
            <a:r>
              <a:rPr lang="ru-RU" dirty="0" err="1">
                <a:solidFill>
                  <a:srgbClr val="001133"/>
                </a:solidFill>
                <a:latin typeface="&amp;quot"/>
              </a:rPr>
              <a:t>of</a:t>
            </a:r>
            <a:r>
              <a:rPr lang="ru-RU" dirty="0">
                <a:solidFill>
                  <a:srgbClr val="001133"/>
                </a:solidFill>
                <a:latin typeface="&amp;quot"/>
              </a:rPr>
              <a:t> </a:t>
            </a:r>
            <a:r>
              <a:rPr lang="ru-RU" dirty="0" err="1">
                <a:solidFill>
                  <a:srgbClr val="001133"/>
                </a:solidFill>
                <a:latin typeface="&amp;quot"/>
              </a:rPr>
              <a:t>Electrical</a:t>
            </a:r>
            <a:r>
              <a:rPr lang="ru-RU" dirty="0">
                <a:solidFill>
                  <a:srgbClr val="001133"/>
                </a:solidFill>
                <a:latin typeface="&amp;quot"/>
              </a:rPr>
              <a:t> </a:t>
            </a:r>
            <a:r>
              <a:rPr lang="ru-RU" dirty="0" err="1">
                <a:solidFill>
                  <a:srgbClr val="001133"/>
                </a:solidFill>
                <a:latin typeface="&amp;quot"/>
              </a:rPr>
              <a:t>and</a:t>
            </a:r>
            <a:r>
              <a:rPr lang="ru-RU" dirty="0">
                <a:solidFill>
                  <a:srgbClr val="001133"/>
                </a:solidFill>
                <a:latin typeface="&amp;quot"/>
              </a:rPr>
              <a:t> </a:t>
            </a:r>
            <a:r>
              <a:rPr lang="ru-RU" dirty="0" err="1">
                <a:solidFill>
                  <a:srgbClr val="001133"/>
                </a:solidFill>
                <a:latin typeface="&amp;quot"/>
              </a:rPr>
              <a:t>Electronics</a:t>
            </a:r>
            <a:r>
              <a:rPr lang="ru-RU" dirty="0">
                <a:solidFill>
                  <a:srgbClr val="001133"/>
                </a:solidFill>
                <a:latin typeface="&amp;quot"/>
              </a:rPr>
              <a:t> </a:t>
            </a:r>
            <a:r>
              <a:rPr lang="ru-RU" dirty="0" err="1">
                <a:solidFill>
                  <a:srgbClr val="001133"/>
                </a:solidFill>
                <a:latin typeface="&amp;quot"/>
              </a:rPr>
              <a:t>Engineers</a:t>
            </a:r>
            <a:r>
              <a:rPr lang="ru-RU" dirty="0">
                <a:solidFill>
                  <a:srgbClr val="001133"/>
                </a:solidFill>
                <a:latin typeface="&amp;quot"/>
              </a:rPr>
              <a:t> - Институт инженеров по электротехнике и электронике) определяет канальный уровень двумя подуровнями: LLC и MAC. </a:t>
            </a:r>
          </a:p>
          <a:p>
            <a:r>
              <a:rPr lang="ru-RU" dirty="0">
                <a:solidFill>
                  <a:srgbClr val="001133"/>
                </a:solidFill>
                <a:latin typeface="&amp;quot"/>
              </a:rPr>
              <a:t>LLC – управление логическим каналом (</a:t>
            </a:r>
            <a:r>
              <a:rPr lang="ru-RU" dirty="0" err="1">
                <a:solidFill>
                  <a:srgbClr val="001133"/>
                </a:solidFill>
                <a:latin typeface="&amp;quot"/>
              </a:rPr>
              <a:t>Logical</a:t>
            </a:r>
            <a:r>
              <a:rPr lang="ru-RU" dirty="0">
                <a:solidFill>
                  <a:srgbClr val="001133"/>
                </a:solidFill>
                <a:latin typeface="&amp;quot"/>
              </a:rPr>
              <a:t> </a:t>
            </a:r>
            <a:r>
              <a:rPr lang="ru-RU" dirty="0" err="1">
                <a:solidFill>
                  <a:srgbClr val="001133"/>
                </a:solidFill>
                <a:latin typeface="&amp;quot"/>
              </a:rPr>
              <a:t>Link</a:t>
            </a:r>
            <a:r>
              <a:rPr lang="ru-RU" dirty="0">
                <a:solidFill>
                  <a:srgbClr val="001133"/>
                </a:solidFill>
                <a:latin typeface="&amp;quot"/>
              </a:rPr>
              <a:t> </a:t>
            </a:r>
            <a:r>
              <a:rPr lang="ru-RU" dirty="0" err="1">
                <a:solidFill>
                  <a:srgbClr val="001133"/>
                </a:solidFill>
                <a:latin typeface="&amp;quot"/>
              </a:rPr>
              <a:t>Control</a:t>
            </a:r>
            <a:r>
              <a:rPr lang="ru-RU" dirty="0">
                <a:solidFill>
                  <a:srgbClr val="001133"/>
                </a:solidFill>
                <a:latin typeface="&amp;quot"/>
              </a:rPr>
              <a:t>), создан для взаимодействия с верхним уровнем. </a:t>
            </a:r>
          </a:p>
          <a:p>
            <a:r>
              <a:rPr lang="ru-RU" dirty="0">
                <a:solidFill>
                  <a:srgbClr val="001133"/>
                </a:solidFill>
                <a:latin typeface="&amp;quot"/>
              </a:rPr>
              <a:t>MAC – управление доступом к передающей среде (</a:t>
            </a:r>
            <a:r>
              <a:rPr lang="ru-RU" dirty="0" err="1">
                <a:solidFill>
                  <a:srgbClr val="001133"/>
                </a:solidFill>
                <a:latin typeface="&amp;quot"/>
              </a:rPr>
              <a:t>Media</a:t>
            </a:r>
            <a:r>
              <a:rPr lang="ru-RU" dirty="0">
                <a:solidFill>
                  <a:srgbClr val="001133"/>
                </a:solidFill>
                <a:latin typeface="&amp;quot"/>
              </a:rPr>
              <a:t> </a:t>
            </a:r>
            <a:r>
              <a:rPr lang="ru-RU" dirty="0" err="1">
                <a:solidFill>
                  <a:srgbClr val="001133"/>
                </a:solidFill>
                <a:latin typeface="&amp;quot"/>
              </a:rPr>
              <a:t>Access</a:t>
            </a:r>
            <a:r>
              <a:rPr lang="ru-RU" dirty="0">
                <a:solidFill>
                  <a:srgbClr val="001133"/>
                </a:solidFill>
                <a:latin typeface="&amp;quot"/>
              </a:rPr>
              <a:t> </a:t>
            </a:r>
            <a:r>
              <a:rPr lang="ru-RU" dirty="0" err="1">
                <a:solidFill>
                  <a:srgbClr val="001133"/>
                </a:solidFill>
                <a:latin typeface="&amp;quot"/>
              </a:rPr>
              <a:t>Control</a:t>
            </a:r>
            <a:r>
              <a:rPr lang="ru-RU" dirty="0">
                <a:solidFill>
                  <a:srgbClr val="001133"/>
                </a:solidFill>
                <a:latin typeface="&amp;quot"/>
              </a:rPr>
              <a:t>), создан для взаимодействия с нижним уровнем. </a:t>
            </a:r>
          </a:p>
          <a:p>
            <a:r>
              <a:rPr lang="ru-RU" dirty="0">
                <a:solidFill>
                  <a:srgbClr val="001133"/>
                </a:solidFill>
                <a:latin typeface="&amp;quot"/>
              </a:rPr>
              <a:t>Объясню на примере: в Вашем компьютере (ноутбуке, коммуникаторе) имеется сетевая карта (или какой-то другой адаптер), так вот для взаимодействия с ней (с картой) существует драйвер. Драйвер – это некоторая </a:t>
            </a:r>
            <a:r>
              <a:rPr lang="ru-RU" b="1" dirty="0">
                <a:solidFill>
                  <a:srgbClr val="001133"/>
                </a:solidFill>
                <a:latin typeface="&amp;quot"/>
              </a:rPr>
              <a:t>программа</a:t>
            </a:r>
            <a:r>
              <a:rPr lang="ru-RU" dirty="0">
                <a:solidFill>
                  <a:srgbClr val="001133"/>
                </a:solidFill>
                <a:latin typeface="&amp;quot"/>
              </a:rPr>
              <a:t> - верхний подуровень канального уровня, через которую как раз и можно связаться с нижними уровнями, а точнее с микропроцессором (</a:t>
            </a:r>
            <a:r>
              <a:rPr lang="ru-RU" b="1" dirty="0">
                <a:solidFill>
                  <a:srgbClr val="001133"/>
                </a:solidFill>
                <a:latin typeface="&amp;quot"/>
              </a:rPr>
              <a:t>железо</a:t>
            </a:r>
            <a:r>
              <a:rPr lang="ru-RU" dirty="0">
                <a:solidFill>
                  <a:srgbClr val="001133"/>
                </a:solidFill>
                <a:latin typeface="&amp;quot"/>
              </a:rPr>
              <a:t>) – нижний подуровень канального уровня. </a:t>
            </a:r>
          </a:p>
          <a:p>
            <a:r>
              <a:rPr lang="ru-RU" dirty="0">
                <a:solidFill>
                  <a:srgbClr val="001133"/>
                </a:solidFill>
                <a:latin typeface="&amp;quot"/>
              </a:rPr>
              <a:t>Типичных представителей на этом уровне много. PPP (</a:t>
            </a:r>
            <a:r>
              <a:rPr lang="ru-RU" dirty="0" err="1">
                <a:solidFill>
                  <a:srgbClr val="001133"/>
                </a:solidFill>
                <a:latin typeface="&amp;quot"/>
              </a:rPr>
              <a:t>Point-to-Point</a:t>
            </a:r>
            <a:r>
              <a:rPr lang="ru-RU" dirty="0">
                <a:solidFill>
                  <a:srgbClr val="001133"/>
                </a:solidFill>
                <a:latin typeface="&amp;quot"/>
              </a:rPr>
              <a:t>) – это протокол для связи двух компьютеров напрямую. FDDI (</a:t>
            </a:r>
            <a:r>
              <a:rPr lang="ru-RU" dirty="0" err="1">
                <a:solidFill>
                  <a:srgbClr val="001133"/>
                </a:solidFill>
                <a:latin typeface="&amp;quot"/>
              </a:rPr>
              <a:t>Fiber</a:t>
            </a:r>
            <a:r>
              <a:rPr lang="ru-RU" dirty="0">
                <a:solidFill>
                  <a:srgbClr val="001133"/>
                </a:solidFill>
                <a:latin typeface="&amp;quot"/>
              </a:rPr>
              <a:t> </a:t>
            </a:r>
            <a:r>
              <a:rPr lang="ru-RU" dirty="0" err="1">
                <a:solidFill>
                  <a:srgbClr val="001133"/>
                </a:solidFill>
                <a:latin typeface="&amp;quot"/>
              </a:rPr>
              <a:t>Distributed</a:t>
            </a:r>
            <a:r>
              <a:rPr lang="ru-RU" dirty="0">
                <a:solidFill>
                  <a:srgbClr val="001133"/>
                </a:solidFill>
                <a:latin typeface="&amp;quot"/>
              </a:rPr>
              <a:t> </a:t>
            </a:r>
            <a:r>
              <a:rPr lang="ru-RU" dirty="0" err="1">
                <a:solidFill>
                  <a:srgbClr val="001133"/>
                </a:solidFill>
                <a:latin typeface="&amp;quot"/>
              </a:rPr>
              <a:t>Data</a:t>
            </a:r>
            <a:r>
              <a:rPr lang="ru-RU" dirty="0">
                <a:solidFill>
                  <a:srgbClr val="001133"/>
                </a:solidFill>
                <a:latin typeface="&amp;quot"/>
              </a:rPr>
              <a:t> </a:t>
            </a:r>
            <a:r>
              <a:rPr lang="ru-RU" dirty="0" err="1">
                <a:solidFill>
                  <a:srgbClr val="001133"/>
                </a:solidFill>
                <a:latin typeface="&amp;quot"/>
              </a:rPr>
              <a:t>Interface</a:t>
            </a:r>
            <a:r>
              <a:rPr lang="ru-RU" dirty="0">
                <a:solidFill>
                  <a:srgbClr val="001133"/>
                </a:solidFill>
                <a:latin typeface="&amp;quot"/>
              </a:rPr>
              <a:t>) – стандарт передаёт данные на расстояние до 200 километров. CDP (</a:t>
            </a:r>
            <a:r>
              <a:rPr lang="ru-RU" dirty="0" err="1">
                <a:solidFill>
                  <a:srgbClr val="001133"/>
                </a:solidFill>
                <a:latin typeface="&amp;quot"/>
              </a:rPr>
              <a:t>Cisco</a:t>
            </a:r>
            <a:r>
              <a:rPr lang="ru-RU" dirty="0">
                <a:solidFill>
                  <a:srgbClr val="001133"/>
                </a:solidFill>
                <a:latin typeface="&amp;quot"/>
              </a:rPr>
              <a:t> </a:t>
            </a:r>
            <a:r>
              <a:rPr lang="ru-RU" dirty="0" err="1">
                <a:solidFill>
                  <a:srgbClr val="001133"/>
                </a:solidFill>
                <a:latin typeface="&amp;quot"/>
              </a:rPr>
              <a:t>Discovery</a:t>
            </a:r>
            <a:r>
              <a:rPr lang="ru-RU" dirty="0">
                <a:solidFill>
                  <a:srgbClr val="001133"/>
                </a:solidFill>
                <a:latin typeface="&amp;quot"/>
              </a:rPr>
              <a:t> </a:t>
            </a:r>
            <a:r>
              <a:rPr lang="ru-RU" dirty="0" err="1">
                <a:solidFill>
                  <a:srgbClr val="001133"/>
                </a:solidFill>
                <a:latin typeface="&amp;quot"/>
              </a:rPr>
              <a:t>Protocol</a:t>
            </a:r>
            <a:r>
              <a:rPr lang="ru-RU" dirty="0">
                <a:solidFill>
                  <a:srgbClr val="001133"/>
                </a:solidFill>
                <a:latin typeface="&amp;quot"/>
              </a:rPr>
              <a:t>) – это </a:t>
            </a:r>
            <a:r>
              <a:rPr lang="ru-RU" dirty="0" err="1">
                <a:solidFill>
                  <a:srgbClr val="001133"/>
                </a:solidFill>
                <a:latin typeface="&amp;quot"/>
              </a:rPr>
              <a:t>проприетарный</a:t>
            </a:r>
            <a:r>
              <a:rPr lang="ru-RU" dirty="0">
                <a:solidFill>
                  <a:srgbClr val="001133"/>
                </a:solidFill>
                <a:latin typeface="&amp;quot"/>
              </a:rPr>
              <a:t> (собственный) протокол принадлежащий компании </a:t>
            </a:r>
            <a:r>
              <a:rPr lang="ru-RU" dirty="0" err="1">
                <a:solidFill>
                  <a:srgbClr val="001133"/>
                </a:solidFill>
                <a:latin typeface="&amp;quot"/>
              </a:rPr>
              <a:t>Cisco</a:t>
            </a:r>
            <a:r>
              <a:rPr lang="ru-RU" dirty="0">
                <a:solidFill>
                  <a:srgbClr val="001133"/>
                </a:solidFill>
                <a:latin typeface="&amp;quot"/>
              </a:rPr>
              <a:t> </a:t>
            </a:r>
            <a:r>
              <a:rPr lang="ru-RU" dirty="0" err="1">
                <a:solidFill>
                  <a:srgbClr val="001133"/>
                </a:solidFill>
                <a:latin typeface="&amp;quot"/>
              </a:rPr>
              <a:t>Systems</a:t>
            </a:r>
            <a:r>
              <a:rPr lang="ru-RU" dirty="0">
                <a:solidFill>
                  <a:srgbClr val="001133"/>
                </a:solidFill>
                <a:latin typeface="&amp;quot"/>
              </a:rPr>
              <a:t>, с помощью него можно обнаружить соседние устройства и получить информацию об этих устройствах. </a:t>
            </a:r>
          </a:p>
          <a:p>
            <a:endParaRPr lang="ru-RU" dirty="0"/>
          </a:p>
        </p:txBody>
      </p:sp>
    </p:spTree>
    <p:extLst>
      <p:ext uri="{BB962C8B-B14F-4D97-AF65-F5344CB8AC3E}">
        <p14:creationId xmlns:p14="http://schemas.microsoft.com/office/powerpoint/2010/main" val="4051621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113344"/>
                </a:solidFill>
                <a:latin typeface="Trebuchet MS" panose="020B0603020202020204" pitchFamily="34" charset="0"/>
              </a:rPr>
              <a:t>Физический уровень</a:t>
            </a:r>
            <a:endParaRPr lang="ru-RU" dirty="0"/>
          </a:p>
        </p:txBody>
      </p:sp>
      <p:sp>
        <p:nvSpPr>
          <p:cNvPr id="3" name="Объект 2"/>
          <p:cNvSpPr>
            <a:spLocks noGrp="1"/>
          </p:cNvSpPr>
          <p:nvPr>
            <p:ph idx="1"/>
          </p:nvPr>
        </p:nvSpPr>
        <p:spPr/>
        <p:txBody>
          <a:bodyPr>
            <a:normAutofit/>
          </a:bodyPr>
          <a:lstStyle/>
          <a:p>
            <a:r>
              <a:rPr lang="ru-RU" sz="3200" dirty="0">
                <a:solidFill>
                  <a:srgbClr val="001133"/>
                </a:solidFill>
                <a:latin typeface="Trebuchet MS" panose="020B0603020202020204" pitchFamily="34" charset="0"/>
              </a:rPr>
              <a:t>Физический уровень (</a:t>
            </a:r>
            <a:r>
              <a:rPr lang="ru-RU" sz="3200" dirty="0" err="1">
                <a:solidFill>
                  <a:srgbClr val="001133"/>
                </a:solidFill>
                <a:latin typeface="Trebuchet MS" panose="020B0603020202020204" pitchFamily="34" charset="0"/>
              </a:rPr>
              <a:t>physical</a:t>
            </a:r>
            <a:r>
              <a:rPr lang="ru-RU" sz="3200" dirty="0">
                <a:solidFill>
                  <a:srgbClr val="001133"/>
                </a:solidFill>
                <a:latin typeface="Trebuchet MS" panose="020B0603020202020204" pitchFamily="34" charset="0"/>
              </a:rPr>
              <a:t> </a:t>
            </a:r>
            <a:r>
              <a:rPr lang="ru-RU" sz="3200" dirty="0" err="1">
                <a:solidFill>
                  <a:srgbClr val="001133"/>
                </a:solidFill>
                <a:latin typeface="Trebuchet MS" panose="020B0603020202020204" pitchFamily="34" charset="0"/>
              </a:rPr>
              <a:t>layer</a:t>
            </a:r>
            <a:r>
              <a:rPr lang="ru-RU" sz="3200" dirty="0">
                <a:solidFill>
                  <a:srgbClr val="001133"/>
                </a:solidFill>
                <a:latin typeface="Trebuchet MS" panose="020B0603020202020204" pitchFamily="34" charset="0"/>
              </a:rPr>
              <a:t>) – самый нижний уровень, непосредственно осуществляющий передачу потока данных. Протоколы нам всем хорошо известны: </a:t>
            </a:r>
            <a:r>
              <a:rPr lang="ru-RU" sz="3200" dirty="0" err="1">
                <a:solidFill>
                  <a:srgbClr val="001133"/>
                </a:solidFill>
                <a:latin typeface="Trebuchet MS" panose="020B0603020202020204" pitchFamily="34" charset="0"/>
              </a:rPr>
              <a:t>Bluetooth</a:t>
            </a:r>
            <a:r>
              <a:rPr lang="ru-RU" sz="3200" dirty="0">
                <a:solidFill>
                  <a:srgbClr val="001133"/>
                </a:solidFill>
                <a:latin typeface="Trebuchet MS" panose="020B0603020202020204" pitchFamily="34" charset="0"/>
              </a:rPr>
              <a:t>, IRDA (Инфракрасная связь), медные провода (витая пара, телефонная линия), </a:t>
            </a:r>
            <a:r>
              <a:rPr lang="ru-RU" sz="3200" dirty="0" err="1">
                <a:solidFill>
                  <a:srgbClr val="001133"/>
                </a:solidFill>
                <a:latin typeface="Trebuchet MS" panose="020B0603020202020204" pitchFamily="34" charset="0"/>
              </a:rPr>
              <a:t>Wi-Fi</a:t>
            </a:r>
            <a:r>
              <a:rPr lang="ru-RU" sz="3200" dirty="0">
                <a:solidFill>
                  <a:srgbClr val="001133"/>
                </a:solidFill>
                <a:latin typeface="Trebuchet MS" panose="020B0603020202020204" pitchFamily="34" charset="0"/>
              </a:rPr>
              <a:t>, и т.д. </a:t>
            </a:r>
            <a:endParaRPr lang="ru-RU" sz="3200" dirty="0"/>
          </a:p>
        </p:txBody>
      </p:sp>
    </p:spTree>
    <p:extLst>
      <p:ext uri="{BB962C8B-B14F-4D97-AF65-F5344CB8AC3E}">
        <p14:creationId xmlns:p14="http://schemas.microsoft.com/office/powerpoint/2010/main" val="30418985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TM03457510[[fn=Савон]]</Template>
  <TotalTime>14</TotalTime>
  <Words>1517</Words>
  <Application>Microsoft Office PowerPoint</Application>
  <PresentationFormat>Широкоэкранный</PresentationFormat>
  <Paragraphs>46</Paragraphs>
  <Slides>12</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12</vt:i4>
      </vt:variant>
    </vt:vector>
  </HeadingPairs>
  <TitlesOfParts>
    <vt:vector size="18" baseType="lpstr">
      <vt:lpstr>&amp;quot</vt:lpstr>
      <vt:lpstr>Arial</vt:lpstr>
      <vt:lpstr>Century Gothic</vt:lpstr>
      <vt:lpstr>Garamond</vt:lpstr>
      <vt:lpstr>Trebuchet MS</vt:lpstr>
      <vt:lpstr>Savon</vt:lpstr>
      <vt:lpstr>МОДЕЛь OSI.7 УРОВНЙ </vt:lpstr>
      <vt:lpstr>Модель OSI.</vt:lpstr>
      <vt:lpstr>Модель OSI.</vt:lpstr>
      <vt:lpstr>Эталонная сетевая модель OSI</vt:lpstr>
      <vt:lpstr>Модель OSI.</vt:lpstr>
      <vt:lpstr>Прикладной уровень.</vt:lpstr>
      <vt:lpstr>Представительский уровень</vt:lpstr>
      <vt:lpstr>Сеансовый уровень</vt:lpstr>
      <vt:lpstr>Транспортный уровень</vt:lpstr>
      <vt:lpstr>Сетевой уровень</vt:lpstr>
      <vt:lpstr>Канальный уровень</vt:lpstr>
      <vt:lpstr>Физический уровень</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МОДЕЛь OSI.7 УРОВНЙ </dc:title>
  <dc:creator>Иулиания Пустякова</dc:creator>
  <cp:lastModifiedBy>Пользователь</cp:lastModifiedBy>
  <cp:revision>4</cp:revision>
  <dcterms:created xsi:type="dcterms:W3CDTF">2018-04-02T14:31:22Z</dcterms:created>
  <dcterms:modified xsi:type="dcterms:W3CDTF">2025-09-24T11:18:38Z</dcterms:modified>
</cp:coreProperties>
</file>