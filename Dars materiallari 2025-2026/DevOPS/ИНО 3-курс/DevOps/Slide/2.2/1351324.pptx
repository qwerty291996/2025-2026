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340" r:id="rId3"/>
    <p:sldId id="341" r:id="rId4"/>
    <p:sldId id="342" r:id="rId5"/>
    <p:sldId id="354" r:id="rId6"/>
    <p:sldId id="343" r:id="rId7"/>
    <p:sldId id="344" r:id="rId8"/>
    <p:sldId id="345" r:id="rId9"/>
    <p:sldId id="350" r:id="rId10"/>
    <p:sldId id="346" r:id="rId11"/>
    <p:sldId id="347" r:id="rId12"/>
    <p:sldId id="348" r:id="rId13"/>
    <p:sldId id="349" r:id="rId14"/>
    <p:sldId id="351" r:id="rId15"/>
    <p:sldId id="352" r:id="rId16"/>
    <p:sldId id="353" r:id="rId17"/>
    <p:sldId id="355" r:id="rId18"/>
    <p:sldId id="356" r:id="rId19"/>
    <p:sldId id="357" r:id="rId20"/>
  </p:sldIdLst>
  <p:sldSz cx="12192000" cy="6858000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DCDFCB"/>
    <a:srgbClr val="3366FF"/>
    <a:srgbClr val="CCFFFF"/>
    <a:srgbClr val="000099"/>
    <a:srgbClr val="FFFFCC"/>
    <a:srgbClr val="CC99FF"/>
    <a:srgbClr val="C3C8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63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ru-RU">
              <a:latin typeface="Arial" charset="0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ru-RU">
              <a:latin typeface="Arial" charset="0"/>
            </a:endParaRPr>
          </a:p>
        </p:txBody>
      </p:sp>
      <p:sp>
        <p:nvSpPr>
          <p:cNvPr id="727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ru-RU" altLang="en-US"/>
              <a:t>Образец заголовка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ru-RU" altLang="en-US"/>
              <a:t>Образец подзаголовка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057A3F-A4F6-40F8-836C-D92BC5913557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617996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AF3744-8CB7-4CE7-926A-0586AD025150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789995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38F7D5-459E-4529-99E2-D066E24B38AC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995767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8A3145-3BB4-4BD9-B362-B61DBD8E67BC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99212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0F61EC-F589-49D0-B398-1F31305CE753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348018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42340D-285F-429D-87CD-AC8B63F346CD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512277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0359AB-4D7F-47B1-86CB-5D2A2798C5DE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397866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DED0AB-F965-4F2E-9E44-313EEE419B58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97956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E4439E-A06B-44EA-87A6-BBFB36F1AD5E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515384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5D5EFE-C35F-4BBB-99E4-31E5B45FF43C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904942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63E458-6EDA-41E7-82BE-C06940FD3EB2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7279129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pPr lvl="0"/>
            <a:endParaRPr lang="ru-RU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1961F1-6CDD-4D8A-BF7D-A64A6535EEFB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787825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A5C6DE-06FC-4FAC-9C8C-E73DA0C1C8CC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434609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en-US" smtClean="0"/>
              <a:t>Образец заголовка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en-US" smtClean="0"/>
              <a:t>Образец текста</a:t>
            </a:r>
          </a:p>
          <a:p>
            <a:pPr lvl="1"/>
            <a:r>
              <a:rPr lang="ru-RU" altLang="en-US" smtClean="0"/>
              <a:t>Второй уровень</a:t>
            </a:r>
          </a:p>
          <a:p>
            <a:pPr lvl="2"/>
            <a:r>
              <a:rPr lang="ru-RU" altLang="en-US" smtClean="0"/>
              <a:t>Третий уровень</a:t>
            </a:r>
          </a:p>
          <a:p>
            <a:pPr lvl="3"/>
            <a:r>
              <a:rPr lang="ru-RU" altLang="en-US" smtClean="0"/>
              <a:t>Четвертый уровень</a:t>
            </a:r>
          </a:p>
          <a:p>
            <a:pPr lvl="4"/>
            <a:r>
              <a:rPr lang="ru-RU" altLang="en-US" smtClean="0"/>
              <a:t>Пятый уровень</a:t>
            </a:r>
          </a:p>
        </p:txBody>
      </p:sp>
      <p:sp>
        <p:nvSpPr>
          <p:cNvPr id="716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716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</a:defRPr>
            </a:lvl1pPr>
          </a:lstStyle>
          <a:p>
            <a:pPr>
              <a:defRPr/>
            </a:pPr>
            <a:endParaRPr lang="ru-RU" altLang="en-US"/>
          </a:p>
        </p:txBody>
      </p:sp>
      <p:sp>
        <p:nvSpPr>
          <p:cNvPr id="716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EE573B12-65CB-4B19-889C-7E7B807588BB}" type="slidenum">
              <a:rPr lang="ru-RU" altLang="en-US"/>
              <a:pPr/>
              <a:t>‹#›</a:t>
            </a:fld>
            <a:endParaRPr lang="ru-RU" altLang="en-US"/>
          </a:p>
        </p:txBody>
      </p:sp>
      <p:sp>
        <p:nvSpPr>
          <p:cNvPr id="71687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ru-RU">
              <a:latin typeface="Arial" charset="0"/>
            </a:endParaRPr>
          </a:p>
        </p:txBody>
      </p:sp>
      <p:sp>
        <p:nvSpPr>
          <p:cNvPr id="71688" name="Line 8"/>
          <p:cNvSpPr>
            <a:spLocks noChangeShapeType="1"/>
          </p:cNvSpPr>
          <p:nvPr/>
        </p:nvSpPr>
        <p:spPr bwMode="auto">
          <a:xfrm>
            <a:off x="609600" y="61722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ru-RU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6" r:id="rId2"/>
    <p:sldLayoutId id="2147483745" r:id="rId3"/>
    <p:sldLayoutId id="2147483744" r:id="rId4"/>
    <p:sldLayoutId id="2147483743" r:id="rId5"/>
    <p:sldLayoutId id="2147483742" r:id="rId6"/>
    <p:sldLayoutId id="2147483741" r:id="rId7"/>
    <p:sldLayoutId id="2147483740" r:id="rId8"/>
    <p:sldLayoutId id="2147483739" r:id="rId9"/>
    <p:sldLayoutId id="2147483738" r:id="rId10"/>
    <p:sldLayoutId id="2147483737" r:id="rId11"/>
    <p:sldLayoutId id="2147483736" r:id="rId12"/>
    <p:sldLayoutId id="2147483735" r:id="rId13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199" y="1268760"/>
            <a:ext cx="10164233" cy="1752600"/>
          </a:xfrm>
        </p:spPr>
        <p:txBody>
          <a:bodyPr/>
          <a:lstStyle/>
          <a:p>
            <a:pPr algn="ctr" eaLnBrk="1" hangingPunct="1"/>
            <a:r>
              <a:rPr lang="en-US" sz="4200" dirty="0" smtClean="0"/>
              <a:t>IPv6</a:t>
            </a:r>
            <a:endParaRPr lang="ru-RU" sz="4200" dirty="0"/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791354" y="5085184"/>
            <a:ext cx="7019925" cy="1249362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sz="1400" dirty="0"/>
              <a:t>Институт Информационных Технологий</a:t>
            </a:r>
          </a:p>
          <a:p>
            <a:pPr eaLnBrk="1" hangingPunct="1">
              <a:lnSpc>
                <a:spcPct val="80000"/>
              </a:lnSpc>
            </a:pPr>
            <a:endParaRPr lang="ru-RU" sz="1400" dirty="0"/>
          </a:p>
          <a:p>
            <a:pPr eaLnBrk="1" hangingPunct="1">
              <a:lnSpc>
                <a:spcPct val="80000"/>
              </a:lnSpc>
            </a:pPr>
            <a:r>
              <a:rPr lang="ru-RU" sz="1400" dirty="0"/>
              <a:t>Челябинский Государственный Университет</a:t>
            </a:r>
          </a:p>
          <a:p>
            <a:pPr eaLnBrk="1" hangingPunct="1">
              <a:lnSpc>
                <a:spcPct val="80000"/>
              </a:lnSpc>
            </a:pPr>
            <a:endParaRPr lang="ru-RU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dirty="0" smtClean="0"/>
              <a:t>IPv6</a:t>
            </a:r>
            <a:endParaRPr lang="ru-RU" dirty="0" smtClean="0"/>
          </a:p>
        </p:txBody>
      </p:sp>
      <p:sp>
        <p:nvSpPr>
          <p:cNvPr id="6" name="Text Box 28"/>
          <p:cNvSpPr txBox="1">
            <a:spLocks noChangeArrowheads="1"/>
          </p:cNvSpPr>
          <p:nvPr/>
        </p:nvSpPr>
        <p:spPr bwMode="auto">
          <a:xfrm>
            <a:off x="767408" y="3050359"/>
            <a:ext cx="11160646" cy="5778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ru-RU" sz="2400" dirty="0" smtClean="0"/>
              <a:t>Главная причина создания нового протокола – исчерпание адресов </a:t>
            </a:r>
            <a:r>
              <a:rPr lang="en-US" sz="2400" dirty="0" smtClean="0"/>
              <a:t>IPv4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773958"/>
              </p:ext>
            </p:extLst>
          </p:nvPr>
        </p:nvGraphicFramePr>
        <p:xfrm>
          <a:off x="839416" y="1556792"/>
          <a:ext cx="1087320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363">
                  <a:extLst>
                    <a:ext uri="{9D8B030D-6E8A-4147-A177-3AD203B41FA5}">
                      <a16:colId xmlns:a16="http://schemas.microsoft.com/office/drawing/2014/main" val="1230767906"/>
                    </a:ext>
                  </a:extLst>
                </a:gridCol>
                <a:gridCol w="2246530">
                  <a:extLst>
                    <a:ext uri="{9D8B030D-6E8A-4147-A177-3AD203B41FA5}">
                      <a16:colId xmlns:a16="http://schemas.microsoft.com/office/drawing/2014/main" val="4071839546"/>
                    </a:ext>
                  </a:extLst>
                </a:gridCol>
                <a:gridCol w="6919315">
                  <a:extLst>
                    <a:ext uri="{9D8B030D-6E8A-4147-A177-3AD203B41FA5}">
                      <a16:colId xmlns:a16="http://schemas.microsoft.com/office/drawing/2014/main" val="2230502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Протокол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Размер адреса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Количество адресов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6904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IPv4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32</a:t>
                      </a:r>
                      <a:r>
                        <a:rPr lang="ru-RU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бита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4 294 967 296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619809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IPv6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128 </a:t>
                      </a:r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бит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340 282 366 920 938 463 463 374 607 431 768 211 456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654028"/>
                  </a:ext>
                </a:extLst>
              </a:tr>
            </a:tbl>
          </a:graphicData>
        </a:graphic>
      </p:graphicFrame>
      <p:sp>
        <p:nvSpPr>
          <p:cNvPr id="9" name="Text Box 28"/>
          <p:cNvSpPr txBox="1">
            <a:spLocks noChangeArrowheads="1"/>
          </p:cNvSpPr>
          <p:nvPr/>
        </p:nvSpPr>
        <p:spPr bwMode="auto">
          <a:xfrm>
            <a:off x="767408" y="3789040"/>
            <a:ext cx="11160646" cy="2308324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ru-RU" sz="2400" dirty="0" smtClean="0"/>
              <a:t>Другие способы, которыми пытались решить проблему исчерпания адресов:</a:t>
            </a:r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CIDR</a:t>
            </a:r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NAT</a:t>
            </a:r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PROXY</a:t>
            </a:r>
          </a:p>
        </p:txBody>
      </p:sp>
    </p:spTree>
    <p:extLst>
      <p:ext uri="{BB962C8B-B14F-4D97-AF65-F5344CB8AC3E}">
        <p14:creationId xmlns:p14="http://schemas.microsoft.com/office/powerpoint/2010/main" val="3292510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dirty="0" smtClean="0"/>
              <a:t>Заголовок </a:t>
            </a:r>
            <a:r>
              <a:rPr lang="en-US" dirty="0" smtClean="0"/>
              <a:t>IPv6</a:t>
            </a:r>
            <a:endParaRPr lang="ru-RU" dirty="0" smtClean="0"/>
          </a:p>
        </p:txBody>
      </p:sp>
      <p:sp>
        <p:nvSpPr>
          <p:cNvPr id="6" name="Text Box 28"/>
          <p:cNvSpPr txBox="1">
            <a:spLocks noChangeArrowheads="1"/>
          </p:cNvSpPr>
          <p:nvPr/>
        </p:nvSpPr>
        <p:spPr bwMode="auto">
          <a:xfrm>
            <a:off x="767408" y="4448732"/>
            <a:ext cx="6207074" cy="1754326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ru-RU" sz="2400" b="1" dirty="0" smtClean="0"/>
              <a:t>Различия с </a:t>
            </a:r>
            <a:r>
              <a:rPr lang="en-US" sz="2400" b="1" dirty="0" smtClean="0"/>
              <a:t>IPv4:</a:t>
            </a:r>
            <a:endParaRPr lang="ru-RU" sz="2400" dirty="0" smtClean="0"/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/>
              <a:t>Нет контрольной суммы</a:t>
            </a:r>
            <a:endParaRPr lang="en-US" sz="2400" dirty="0" smtClean="0"/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/>
              <a:t>Вместо поля </a:t>
            </a:r>
            <a:r>
              <a:rPr lang="en-US" sz="2400" dirty="0" smtClean="0"/>
              <a:t>Protocol – Next header</a:t>
            </a:r>
            <a:endParaRPr lang="ru-RU" sz="2400" dirty="0" smtClean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1124745"/>
            <a:ext cx="6207074" cy="2947442"/>
          </a:xfrm>
          <a:prstGeom prst="rect">
            <a:avLst/>
          </a:prstGeom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7176120" y="1124745"/>
            <a:ext cx="4869855" cy="507831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ru-RU" sz="2400" b="1" dirty="0" smtClean="0"/>
              <a:t>Различия с </a:t>
            </a:r>
            <a:r>
              <a:rPr lang="en-US" sz="2400" b="1" dirty="0" smtClean="0"/>
              <a:t>IPv4:</a:t>
            </a:r>
            <a:endParaRPr lang="ru-RU" sz="2400" dirty="0" smtClean="0"/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Version=6</a:t>
            </a:r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/>
              <a:t>Нет поля </a:t>
            </a:r>
            <a:r>
              <a:rPr lang="en-US" sz="2400" dirty="0" smtClean="0"/>
              <a:t>IHL</a:t>
            </a:r>
            <a:r>
              <a:rPr lang="ru-RU" sz="2400" dirty="0" smtClean="0"/>
              <a:t>,</a:t>
            </a:r>
            <a:r>
              <a:rPr lang="en-US" sz="2400" dirty="0" smtClean="0"/>
              <a:t> </a:t>
            </a:r>
            <a:r>
              <a:rPr lang="ru-RU" sz="2400" dirty="0" smtClean="0"/>
              <a:t>длина заголовка</a:t>
            </a:r>
            <a:r>
              <a:rPr lang="ru-RU" sz="2400" dirty="0"/>
              <a:t> </a:t>
            </a:r>
            <a:r>
              <a:rPr lang="ru-RU" sz="2400" dirty="0" smtClean="0"/>
              <a:t>всегда 40 байт</a:t>
            </a:r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/>
              <a:t>Новое поле «метка потока»</a:t>
            </a:r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/>
              <a:t>Нет полей для фрагментации</a:t>
            </a:r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/>
              <a:t>Нет опций</a:t>
            </a:r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/>
              <a:t>Размер адреса увеличен до 128 бит</a:t>
            </a:r>
          </a:p>
        </p:txBody>
      </p:sp>
    </p:spTree>
    <p:extLst>
      <p:ext uri="{BB962C8B-B14F-4D97-AF65-F5344CB8AC3E}">
        <p14:creationId xmlns:p14="http://schemas.microsoft.com/office/powerpoint/2010/main" val="4107318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dirty="0"/>
              <a:t>Заголовок </a:t>
            </a:r>
            <a:r>
              <a:rPr lang="en-US" dirty="0"/>
              <a:t>IPv6</a:t>
            </a:r>
            <a:endParaRPr lang="ru-RU" dirty="0" smtClean="0"/>
          </a:p>
        </p:txBody>
      </p:sp>
      <p:sp>
        <p:nvSpPr>
          <p:cNvPr id="6" name="Text Box 28"/>
          <p:cNvSpPr txBox="1">
            <a:spLocks noChangeArrowheads="1"/>
          </p:cNvSpPr>
          <p:nvPr/>
        </p:nvSpPr>
        <p:spPr bwMode="auto">
          <a:xfrm>
            <a:off x="767407" y="4206777"/>
            <a:ext cx="2016223" cy="646331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sz="2400" b="1" dirty="0" smtClean="0"/>
              <a:t>Next</a:t>
            </a:r>
            <a:r>
              <a:rPr lang="ru-RU" sz="2400" b="1" dirty="0" smtClean="0"/>
              <a:t> </a:t>
            </a:r>
            <a:r>
              <a:rPr lang="en-US" sz="2400" b="1" dirty="0" smtClean="0"/>
              <a:t>header</a:t>
            </a:r>
            <a:endParaRPr lang="ru-RU" sz="2400" dirty="0" smtClean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1124745"/>
            <a:ext cx="6207074" cy="2947442"/>
          </a:xfrm>
          <a:prstGeom prst="rect">
            <a:avLst/>
          </a:prstGeom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7176120" y="1124745"/>
            <a:ext cx="4869855" cy="1685846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ru-RU" sz="2400" dirty="0" smtClean="0"/>
              <a:t>Основной заголовок может быть дополнен заголовками расширения</a:t>
            </a:r>
          </a:p>
        </p:txBody>
      </p: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2783630" y="4206777"/>
            <a:ext cx="4190852" cy="646331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ru-RU" sz="2400" b="1" dirty="0" smtClean="0"/>
              <a:t>Заголовок 2</a:t>
            </a:r>
            <a:endParaRPr lang="ru-RU" sz="2400" dirty="0" smtClean="0"/>
          </a:p>
        </p:txBody>
      </p:sp>
      <p:sp>
        <p:nvSpPr>
          <p:cNvPr id="11" name="Text Box 28"/>
          <p:cNvSpPr txBox="1">
            <a:spLocks noChangeArrowheads="1"/>
          </p:cNvSpPr>
          <p:nvPr/>
        </p:nvSpPr>
        <p:spPr bwMode="auto">
          <a:xfrm>
            <a:off x="767407" y="4919118"/>
            <a:ext cx="2016224" cy="646331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sz="2400" b="1" dirty="0" smtClean="0"/>
              <a:t>Next</a:t>
            </a:r>
            <a:r>
              <a:rPr lang="ru-RU" sz="2400" b="1" dirty="0" smtClean="0"/>
              <a:t> </a:t>
            </a:r>
            <a:r>
              <a:rPr lang="en-US" sz="2400" b="1" dirty="0" smtClean="0"/>
              <a:t>header</a:t>
            </a:r>
            <a:endParaRPr lang="ru-RU" sz="2400" dirty="0" smtClean="0"/>
          </a:p>
        </p:txBody>
      </p:sp>
      <p:sp>
        <p:nvSpPr>
          <p:cNvPr id="12" name="Text Box 28"/>
          <p:cNvSpPr txBox="1">
            <a:spLocks noChangeArrowheads="1"/>
          </p:cNvSpPr>
          <p:nvPr/>
        </p:nvSpPr>
        <p:spPr bwMode="auto">
          <a:xfrm>
            <a:off x="2783631" y="4919118"/>
            <a:ext cx="4174479" cy="646331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ru-RU" sz="2400" b="1" dirty="0" smtClean="0"/>
              <a:t>Заголовок 3</a:t>
            </a:r>
            <a:endParaRPr lang="ru-RU" sz="2400" dirty="0" smtClean="0"/>
          </a:p>
        </p:txBody>
      </p:sp>
      <p:sp>
        <p:nvSpPr>
          <p:cNvPr id="13" name="Text Box 28"/>
          <p:cNvSpPr txBox="1">
            <a:spLocks noChangeArrowheads="1"/>
          </p:cNvSpPr>
          <p:nvPr/>
        </p:nvSpPr>
        <p:spPr bwMode="auto">
          <a:xfrm>
            <a:off x="767406" y="5649715"/>
            <a:ext cx="6190703" cy="577850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sz="2400" b="1" dirty="0" smtClean="0"/>
              <a:t>TCP</a:t>
            </a:r>
            <a:endParaRPr lang="ru-RU" sz="2400" dirty="0" smtClean="0"/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 flipV="1">
            <a:off x="3071664" y="2463951"/>
            <a:ext cx="1213309" cy="1916047"/>
          </a:xfrm>
          <a:prstGeom prst="line">
            <a:avLst/>
          </a:prstGeom>
          <a:ln w="6350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 flipH="1" flipV="1">
            <a:off x="2431985" y="4691526"/>
            <a:ext cx="495662" cy="389175"/>
          </a:xfrm>
          <a:prstGeom prst="line">
            <a:avLst/>
          </a:prstGeom>
          <a:ln w="6350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 flipH="1" flipV="1">
            <a:off x="2463442" y="5373658"/>
            <a:ext cx="608222" cy="503650"/>
          </a:xfrm>
          <a:prstGeom prst="line">
            <a:avLst/>
          </a:prstGeom>
          <a:ln w="6350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28"/>
          <p:cNvSpPr txBox="1">
            <a:spLocks noChangeArrowheads="1"/>
          </p:cNvSpPr>
          <p:nvPr/>
        </p:nvSpPr>
        <p:spPr bwMode="auto">
          <a:xfrm>
            <a:off x="7176119" y="2996924"/>
            <a:ext cx="4869855" cy="341632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ru-RU" sz="2400" b="1" dirty="0" smtClean="0"/>
              <a:t>Примеры кодов заголовков расширения:</a:t>
            </a:r>
          </a:p>
          <a:p>
            <a:pPr eaLnBrk="1" hangingPunct="1">
              <a:lnSpc>
                <a:spcPct val="150000"/>
              </a:lnSpc>
            </a:pPr>
            <a:r>
              <a:rPr lang="ru-RU" sz="2400" dirty="0" smtClean="0"/>
              <a:t>43 – маршрутный заголовок</a:t>
            </a:r>
          </a:p>
          <a:p>
            <a:pPr eaLnBrk="1" hangingPunct="1">
              <a:lnSpc>
                <a:spcPct val="150000"/>
              </a:lnSpc>
            </a:pPr>
            <a:r>
              <a:rPr lang="ru-RU" sz="2400" dirty="0"/>
              <a:t>44 – заголовок </a:t>
            </a:r>
            <a:r>
              <a:rPr lang="ru-RU" sz="2400" dirty="0" smtClean="0"/>
              <a:t>фрагмента</a:t>
            </a:r>
          </a:p>
          <a:p>
            <a:pPr eaLnBrk="1" hangingPunct="1">
              <a:lnSpc>
                <a:spcPct val="150000"/>
              </a:lnSpc>
            </a:pPr>
            <a:r>
              <a:rPr lang="en-US" sz="2400" dirty="0" smtClean="0"/>
              <a:t>50 – IPsec ESP</a:t>
            </a:r>
          </a:p>
          <a:p>
            <a:pPr eaLnBrk="1" hangingPunct="1">
              <a:lnSpc>
                <a:spcPct val="150000"/>
              </a:lnSpc>
            </a:pPr>
            <a:r>
              <a:rPr lang="en-US" sz="2400" dirty="0" smtClean="0"/>
              <a:t>51</a:t>
            </a:r>
            <a:r>
              <a:rPr lang="en-US" sz="2400" dirty="0"/>
              <a:t> – IPsec </a:t>
            </a:r>
            <a:r>
              <a:rPr lang="en-US" sz="2400" dirty="0" smtClean="0"/>
              <a:t>AH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993973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dirty="0" smtClean="0"/>
              <a:t>Адресация хоста </a:t>
            </a:r>
            <a:r>
              <a:rPr lang="en-US" dirty="0" smtClean="0"/>
              <a:t>IPv6</a:t>
            </a:r>
            <a:endParaRPr lang="ru-RU" dirty="0" smtClean="0"/>
          </a:p>
        </p:txBody>
      </p:sp>
      <p:sp>
        <p:nvSpPr>
          <p:cNvPr id="20" name="Text Box 28"/>
          <p:cNvSpPr txBox="1">
            <a:spLocks noChangeArrowheads="1"/>
          </p:cNvSpPr>
          <p:nvPr/>
        </p:nvSpPr>
        <p:spPr bwMode="auto">
          <a:xfrm>
            <a:off x="1127448" y="1406871"/>
            <a:ext cx="10153128" cy="2308324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ru-RU" sz="2400" b="1" smtClean="0"/>
              <a:t>Способы</a:t>
            </a:r>
            <a:r>
              <a:rPr lang="ru-RU" sz="2400" b="1" smtClean="0"/>
              <a:t> </a:t>
            </a:r>
            <a:r>
              <a:rPr lang="ru-RU" sz="2400" b="1" dirty="0" smtClean="0"/>
              <a:t>адресации хоста </a:t>
            </a:r>
            <a:r>
              <a:rPr lang="en-US" sz="2400" b="1" dirty="0" err="1" smtClean="0"/>
              <a:t>IPv</a:t>
            </a:r>
            <a:r>
              <a:rPr lang="ru-RU" sz="2400" b="1" dirty="0" smtClean="0"/>
              <a:t>6</a:t>
            </a:r>
            <a:r>
              <a:rPr lang="en-US" sz="2400" b="1" dirty="0" smtClean="0"/>
              <a:t>:</a:t>
            </a:r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Unicast (</a:t>
            </a:r>
            <a:r>
              <a:rPr lang="ru-RU" sz="2400" dirty="0" smtClean="0"/>
              <a:t>один получатель</a:t>
            </a:r>
            <a:r>
              <a:rPr lang="en-US" sz="2400" dirty="0" smtClean="0"/>
              <a:t>)</a:t>
            </a:r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Multicast</a:t>
            </a:r>
            <a:r>
              <a:rPr lang="ru-RU" sz="2400" dirty="0" smtClean="0"/>
              <a:t> (несколько получателей, но не обязательно все)</a:t>
            </a:r>
            <a:endParaRPr lang="en-US" sz="2400" dirty="0" smtClean="0"/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 smtClean="0"/>
              <a:t>Anycast</a:t>
            </a:r>
            <a:r>
              <a:rPr lang="ru-RU" sz="2400" dirty="0" smtClean="0"/>
              <a:t> (любой получатель из группы)</a:t>
            </a:r>
          </a:p>
        </p:txBody>
      </p:sp>
      <p:sp>
        <p:nvSpPr>
          <p:cNvPr id="8" name="Облако 7"/>
          <p:cNvSpPr/>
          <p:nvPr/>
        </p:nvSpPr>
        <p:spPr>
          <a:xfrm>
            <a:off x="2198420" y="4137941"/>
            <a:ext cx="1296144" cy="914400"/>
          </a:xfrm>
          <a:prstGeom prst="cloud">
            <a:avLst/>
          </a:prstGeom>
          <a:solidFill>
            <a:schemeClr val="accent3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Цилиндр 8"/>
          <p:cNvSpPr/>
          <p:nvPr/>
        </p:nvSpPr>
        <p:spPr>
          <a:xfrm>
            <a:off x="6283424" y="4035168"/>
            <a:ext cx="914400" cy="496072"/>
          </a:xfrm>
          <a:prstGeom prst="ca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Router</a:t>
            </a:r>
            <a:endParaRPr lang="ru-RU" dirty="0"/>
          </a:p>
        </p:txBody>
      </p:sp>
      <p:sp>
        <p:nvSpPr>
          <p:cNvPr id="10" name="Облако 9"/>
          <p:cNvSpPr/>
          <p:nvPr/>
        </p:nvSpPr>
        <p:spPr>
          <a:xfrm>
            <a:off x="8112224" y="4385977"/>
            <a:ext cx="1296144" cy="914400"/>
          </a:xfrm>
          <a:prstGeom prst="cloud">
            <a:avLst/>
          </a:prstGeom>
          <a:solidFill>
            <a:schemeClr val="accent3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11" name="Прямая соединительная линия 10"/>
          <p:cNvCxnSpPr>
            <a:stCxn id="10" idx="2"/>
            <a:endCxn id="9" idx="4"/>
          </p:cNvCxnSpPr>
          <p:nvPr/>
        </p:nvCxnSpPr>
        <p:spPr>
          <a:xfrm flipH="1" flipV="1">
            <a:off x="7197824" y="4283204"/>
            <a:ext cx="918420" cy="559973"/>
          </a:xfrm>
          <a:prstGeom prst="line">
            <a:avLst/>
          </a:prstGeom>
          <a:ln w="635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925612" y="5800839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2001:</a:t>
            </a:r>
            <a:r>
              <a:rPr lang="en-US" dirty="0" smtClean="0">
                <a:solidFill>
                  <a:srgbClr val="FF0000"/>
                </a:solidFill>
              </a:rPr>
              <a:t>DB8::9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5" name="Трапеция 14"/>
          <p:cNvSpPr>
            <a:spLocks noChangeAspect="1"/>
          </p:cNvSpPr>
          <p:nvPr/>
        </p:nvSpPr>
        <p:spPr>
          <a:xfrm>
            <a:off x="9925612" y="5216068"/>
            <a:ext cx="1339040" cy="519689"/>
          </a:xfrm>
          <a:prstGeom prst="trapezoi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Скругленный прямоугольник 15"/>
          <p:cNvSpPr>
            <a:spLocks noChangeAspect="1"/>
          </p:cNvSpPr>
          <p:nvPr/>
        </p:nvSpPr>
        <p:spPr>
          <a:xfrm>
            <a:off x="10012417" y="4471999"/>
            <a:ext cx="1163649" cy="742357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единительная линия 20"/>
          <p:cNvCxnSpPr>
            <a:stCxn id="16" idx="1"/>
            <a:endCxn id="10" idx="0"/>
          </p:cNvCxnSpPr>
          <p:nvPr/>
        </p:nvCxnSpPr>
        <p:spPr>
          <a:xfrm flipH="1" flipV="1">
            <a:off x="9407288" y="4843177"/>
            <a:ext cx="605129" cy="1"/>
          </a:xfrm>
          <a:prstGeom prst="line">
            <a:avLst/>
          </a:prstGeom>
          <a:ln w="635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22795" y="5552803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2001:</a:t>
            </a:r>
            <a:r>
              <a:rPr lang="en-US" dirty="0" smtClean="0">
                <a:solidFill>
                  <a:srgbClr val="FF0000"/>
                </a:solidFill>
              </a:rPr>
              <a:t>DB8::9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26" name="Трапеция 25"/>
          <p:cNvSpPr>
            <a:spLocks noChangeAspect="1"/>
          </p:cNvSpPr>
          <p:nvPr/>
        </p:nvSpPr>
        <p:spPr>
          <a:xfrm>
            <a:off x="522795" y="4968032"/>
            <a:ext cx="1339040" cy="519689"/>
          </a:xfrm>
          <a:prstGeom prst="trapezoi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Скругленный прямоугольник 26"/>
          <p:cNvSpPr>
            <a:spLocks noChangeAspect="1"/>
          </p:cNvSpPr>
          <p:nvPr/>
        </p:nvSpPr>
        <p:spPr>
          <a:xfrm>
            <a:off x="609600" y="4223963"/>
            <a:ext cx="1163649" cy="742357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единительная линия 27"/>
          <p:cNvCxnSpPr>
            <a:stCxn id="8" idx="2"/>
            <a:endCxn id="27" idx="3"/>
          </p:cNvCxnSpPr>
          <p:nvPr/>
        </p:nvCxnSpPr>
        <p:spPr>
          <a:xfrm flipH="1">
            <a:off x="1773249" y="4595141"/>
            <a:ext cx="429191" cy="1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Цилиндр 34"/>
          <p:cNvSpPr/>
          <p:nvPr/>
        </p:nvSpPr>
        <p:spPr>
          <a:xfrm>
            <a:off x="4223792" y="4031150"/>
            <a:ext cx="914400" cy="496072"/>
          </a:xfrm>
          <a:prstGeom prst="ca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Router</a:t>
            </a:r>
            <a:endParaRPr lang="ru-RU" dirty="0"/>
          </a:p>
        </p:txBody>
      </p:sp>
      <p:cxnSp>
        <p:nvCxnSpPr>
          <p:cNvPr id="36" name="Прямая соединительная линия 35"/>
          <p:cNvCxnSpPr>
            <a:stCxn id="9" idx="2"/>
            <a:endCxn id="35" idx="4"/>
          </p:cNvCxnSpPr>
          <p:nvPr/>
        </p:nvCxnSpPr>
        <p:spPr>
          <a:xfrm flipH="1" flipV="1">
            <a:off x="5138192" y="4279186"/>
            <a:ext cx="1145232" cy="4018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35" idx="2"/>
            <a:endCxn id="8" idx="0"/>
          </p:cNvCxnSpPr>
          <p:nvPr/>
        </p:nvCxnSpPr>
        <p:spPr>
          <a:xfrm flipH="1">
            <a:off x="3493484" y="4279186"/>
            <a:ext cx="730308" cy="315955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Облако 45"/>
          <p:cNvSpPr/>
          <p:nvPr/>
        </p:nvSpPr>
        <p:spPr>
          <a:xfrm>
            <a:off x="6204012" y="4953986"/>
            <a:ext cx="1296144" cy="914400"/>
          </a:xfrm>
          <a:prstGeom prst="cloud">
            <a:avLst/>
          </a:prstGeom>
          <a:solidFill>
            <a:schemeClr val="accent3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47" name="Прямая соединительная линия 46"/>
          <p:cNvCxnSpPr>
            <a:stCxn id="46" idx="3"/>
            <a:endCxn id="9" idx="3"/>
          </p:cNvCxnSpPr>
          <p:nvPr/>
        </p:nvCxnSpPr>
        <p:spPr>
          <a:xfrm flipH="1" flipV="1">
            <a:off x="6740624" y="4531240"/>
            <a:ext cx="111460" cy="475028"/>
          </a:xfrm>
          <a:prstGeom prst="line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Трапеция 50"/>
          <p:cNvSpPr>
            <a:spLocks noChangeAspect="1"/>
          </p:cNvSpPr>
          <p:nvPr/>
        </p:nvSpPr>
        <p:spPr>
          <a:xfrm>
            <a:off x="4427476" y="5695977"/>
            <a:ext cx="1339040" cy="519689"/>
          </a:xfrm>
          <a:prstGeom prst="trapezoi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2" name="Скругленный прямоугольник 51"/>
          <p:cNvSpPr>
            <a:spLocks noChangeAspect="1"/>
          </p:cNvSpPr>
          <p:nvPr/>
        </p:nvSpPr>
        <p:spPr>
          <a:xfrm>
            <a:off x="4514281" y="4951908"/>
            <a:ext cx="1163649" cy="742357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3" name="Прямая соединительная линия 52"/>
          <p:cNvCxnSpPr>
            <a:stCxn id="52" idx="3"/>
            <a:endCxn id="46" idx="2"/>
          </p:cNvCxnSpPr>
          <p:nvPr/>
        </p:nvCxnSpPr>
        <p:spPr>
          <a:xfrm>
            <a:off x="5677930" y="5323087"/>
            <a:ext cx="530102" cy="88099"/>
          </a:xfrm>
          <a:prstGeom prst="line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Box 28"/>
          <p:cNvSpPr txBox="1">
            <a:spLocks noChangeArrowheads="1"/>
          </p:cNvSpPr>
          <p:nvPr/>
        </p:nvSpPr>
        <p:spPr bwMode="auto">
          <a:xfrm>
            <a:off x="2881553" y="5282313"/>
            <a:ext cx="1382650" cy="55399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sz="2000" b="1" dirty="0" err="1" smtClean="0"/>
              <a:t>Anycast</a:t>
            </a:r>
            <a:endParaRPr lang="ru-RU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267760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dirty="0" smtClean="0"/>
              <a:t>Адресация </a:t>
            </a:r>
            <a:r>
              <a:rPr lang="en-US" dirty="0"/>
              <a:t>IPv6</a:t>
            </a:r>
            <a:endParaRPr lang="ru-RU" dirty="0" smtClean="0"/>
          </a:p>
        </p:txBody>
      </p: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853208" y="1699450"/>
            <a:ext cx="7331024" cy="83099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sz="2800" dirty="0"/>
              <a:t>2001:</a:t>
            </a:r>
            <a:r>
              <a:rPr lang="en-US" sz="2800" dirty="0">
                <a:solidFill>
                  <a:srgbClr val="FF3300"/>
                </a:solidFill>
              </a:rPr>
              <a:t>0</a:t>
            </a:r>
            <a:r>
              <a:rPr lang="en-US" sz="2800" dirty="0"/>
              <a:t>DB8:</a:t>
            </a:r>
            <a:r>
              <a:rPr lang="en-US" sz="2800" dirty="0">
                <a:solidFill>
                  <a:srgbClr val="FF3300"/>
                </a:solidFill>
              </a:rPr>
              <a:t>000</a:t>
            </a:r>
            <a:r>
              <a:rPr lang="en-US" sz="2800" dirty="0"/>
              <a:t>0:</a:t>
            </a:r>
            <a:r>
              <a:rPr lang="en-US" sz="2800" dirty="0">
                <a:solidFill>
                  <a:srgbClr val="FF3300"/>
                </a:solidFill>
              </a:rPr>
              <a:t>000</a:t>
            </a:r>
            <a:r>
              <a:rPr lang="en-US" sz="2800" dirty="0"/>
              <a:t>0:</a:t>
            </a:r>
            <a:r>
              <a:rPr lang="en-US" sz="2800" dirty="0">
                <a:solidFill>
                  <a:srgbClr val="FF3300"/>
                </a:solidFill>
              </a:rPr>
              <a:t>000</a:t>
            </a:r>
            <a:r>
              <a:rPr lang="en-US" sz="2800" dirty="0"/>
              <a:t>0:</a:t>
            </a:r>
            <a:r>
              <a:rPr lang="en-US" sz="2800" dirty="0">
                <a:solidFill>
                  <a:srgbClr val="FF3300"/>
                </a:solidFill>
              </a:rPr>
              <a:t>000</a:t>
            </a:r>
            <a:r>
              <a:rPr lang="en-US" sz="2800" dirty="0"/>
              <a:t>1:</a:t>
            </a:r>
            <a:r>
              <a:rPr lang="en-US" sz="2800" dirty="0">
                <a:solidFill>
                  <a:srgbClr val="FF3300"/>
                </a:solidFill>
              </a:rPr>
              <a:t>000</a:t>
            </a:r>
            <a:r>
              <a:rPr lang="en-US" sz="2800" dirty="0"/>
              <a:t>0:6789</a:t>
            </a:r>
            <a:r>
              <a:rPr lang="en-US" sz="3200" dirty="0"/>
              <a:t> </a:t>
            </a:r>
            <a:endParaRPr lang="ru-RU" sz="3200" dirty="0" smtClean="0"/>
          </a:p>
        </p:txBody>
      </p:sp>
      <p:sp>
        <p:nvSpPr>
          <p:cNvPr id="17" name="Text Box 28"/>
          <p:cNvSpPr txBox="1">
            <a:spLocks noChangeArrowheads="1"/>
          </p:cNvSpPr>
          <p:nvPr/>
        </p:nvSpPr>
        <p:spPr bwMode="auto">
          <a:xfrm>
            <a:off x="853208" y="2708920"/>
            <a:ext cx="4162672" cy="83099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sz="2800" dirty="0" smtClean="0"/>
              <a:t>2001:DB8:</a:t>
            </a:r>
            <a:r>
              <a:rPr lang="en-US" sz="2800" dirty="0" smtClean="0">
                <a:solidFill>
                  <a:srgbClr val="FF3300"/>
                </a:solidFill>
              </a:rPr>
              <a:t>0:0:0</a:t>
            </a:r>
            <a:r>
              <a:rPr lang="en-US" sz="2800" dirty="0" smtClean="0"/>
              <a:t>:1:0:6789</a:t>
            </a:r>
            <a:r>
              <a:rPr lang="en-US" sz="3200" dirty="0" smtClean="0"/>
              <a:t> </a:t>
            </a:r>
            <a:endParaRPr lang="ru-RU" sz="3200" dirty="0" smtClean="0"/>
          </a:p>
        </p:txBody>
      </p:sp>
      <p:sp>
        <p:nvSpPr>
          <p:cNvPr id="19" name="Text Box 28"/>
          <p:cNvSpPr txBox="1">
            <a:spLocks noChangeArrowheads="1"/>
          </p:cNvSpPr>
          <p:nvPr/>
        </p:nvSpPr>
        <p:spPr bwMode="auto">
          <a:xfrm>
            <a:off x="870602" y="3627147"/>
            <a:ext cx="3353190" cy="83099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sz="2800" dirty="0" smtClean="0"/>
              <a:t>2001:DB8::1:0:6789</a:t>
            </a:r>
            <a:r>
              <a:rPr lang="en-US" sz="3200" dirty="0" smtClean="0"/>
              <a:t> </a:t>
            </a:r>
            <a:endParaRPr lang="ru-RU" sz="3200" dirty="0" smtClean="0"/>
          </a:p>
        </p:txBody>
      </p:sp>
      <p:sp>
        <p:nvSpPr>
          <p:cNvPr id="20" name="Text Box 28"/>
          <p:cNvSpPr txBox="1">
            <a:spLocks noChangeArrowheads="1"/>
          </p:cNvSpPr>
          <p:nvPr/>
        </p:nvSpPr>
        <p:spPr bwMode="auto">
          <a:xfrm>
            <a:off x="5375920" y="2812258"/>
            <a:ext cx="6120679" cy="332398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ru-RU" sz="2000" b="1" dirty="0" smtClean="0"/>
              <a:t>Принципы записи адреса </a:t>
            </a:r>
            <a:r>
              <a:rPr lang="en-US" sz="2000" b="1" dirty="0" err="1" smtClean="0"/>
              <a:t>IPv</a:t>
            </a:r>
            <a:r>
              <a:rPr lang="ru-RU" sz="2000" b="1" dirty="0" smtClean="0"/>
              <a:t>6</a:t>
            </a:r>
            <a:r>
              <a:rPr lang="en-US" sz="2000" b="1" dirty="0" smtClean="0"/>
              <a:t>:</a:t>
            </a:r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Адрес записывается в 16-ричном виде</a:t>
            </a:r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Группы из двух байт разделяются с помощью символа «</a:t>
            </a:r>
            <a:r>
              <a:rPr lang="ru-RU" sz="2000" b="1" dirty="0" smtClean="0"/>
              <a:t>:</a:t>
            </a:r>
            <a:r>
              <a:rPr lang="ru-RU" sz="2000" dirty="0" smtClean="0"/>
              <a:t>»</a:t>
            </a:r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/>
              <a:t>В каждой группе старшие нули можно опустить</a:t>
            </a:r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b="1" dirty="0" smtClean="0"/>
              <a:t>Один раз </a:t>
            </a:r>
            <a:r>
              <a:rPr lang="ru-RU" sz="2000" dirty="0" smtClean="0"/>
              <a:t>можно заменить несколько подряд идущих нулевых групп на «</a:t>
            </a:r>
            <a:r>
              <a:rPr lang="ru-RU" sz="2000" b="1" dirty="0" smtClean="0"/>
              <a:t>::</a:t>
            </a:r>
            <a:r>
              <a:rPr lang="ru-RU" sz="2000" dirty="0" smtClean="0"/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2508253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dirty="0" smtClean="0"/>
              <a:t>Типы адресов </a:t>
            </a:r>
            <a:r>
              <a:rPr lang="en-US" dirty="0"/>
              <a:t>IPv6</a:t>
            </a:r>
            <a:endParaRPr lang="ru-RU" dirty="0" smtClean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394008"/>
              </p:ext>
            </p:extLst>
          </p:nvPr>
        </p:nvGraphicFramePr>
        <p:xfrm>
          <a:off x="709192" y="1268760"/>
          <a:ext cx="10873208" cy="499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2392">
                  <a:extLst>
                    <a:ext uri="{9D8B030D-6E8A-4147-A177-3AD203B41FA5}">
                      <a16:colId xmlns:a16="http://schemas.microsoft.com/office/drawing/2014/main" val="1230767906"/>
                    </a:ext>
                  </a:extLst>
                </a:gridCol>
                <a:gridCol w="4780112">
                  <a:extLst>
                    <a:ext uri="{9D8B030D-6E8A-4147-A177-3AD203B41FA5}">
                      <a16:colId xmlns:a16="http://schemas.microsoft.com/office/drawing/2014/main" val="4071839546"/>
                    </a:ext>
                  </a:extLst>
                </a:gridCol>
                <a:gridCol w="4450704">
                  <a:extLst>
                    <a:ext uri="{9D8B030D-6E8A-4147-A177-3AD203B41FA5}">
                      <a16:colId xmlns:a16="http://schemas.microsoft.com/office/drawing/2014/main" val="2230502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Адрес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Описание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Заметки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6904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2000::/3</a:t>
                      </a:r>
                      <a:endParaRPr lang="ru-RU" sz="2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Глобальный</a:t>
                      </a:r>
                      <a:r>
                        <a:rPr lang="ru-RU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индивидуальный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619809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FEC0::/10</a:t>
                      </a:r>
                      <a:endParaRPr lang="ru-RU" sz="2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Внутрисайтовые</a:t>
                      </a:r>
                      <a:r>
                        <a:rPr lang="ru-RU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адреса (</a:t>
                      </a:r>
                      <a:r>
                        <a:rPr lang="en-US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site-local address)</a:t>
                      </a:r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ru-RU" sz="2000" b="1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Отменены </a:t>
                      </a:r>
                      <a:r>
                        <a:rPr lang="en-US" sz="2000" b="1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RFC 3879</a:t>
                      </a:r>
                      <a:endParaRPr lang="ru-RU" sz="2000" b="1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Аналог</a:t>
                      </a:r>
                      <a:r>
                        <a:rPr lang="ru-RU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частных адресов 10.0.0.0/8, </a:t>
                      </a:r>
                      <a:r>
                        <a:rPr lang="ru-RU" sz="2000" dirty="0" smtClean="0"/>
                        <a:t>192.168.0.0/16, 172.16.0.0/12.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117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FC00::</a:t>
                      </a:r>
                      <a:r>
                        <a:rPr lang="ru-RU" sz="2400" dirty="0" smtClean="0"/>
                        <a:t>/7</a:t>
                      </a:r>
                      <a:endParaRPr lang="ru-RU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Уникальный локальный</a:t>
                      </a:r>
                    </a:p>
                    <a:p>
                      <a:r>
                        <a:rPr lang="ru-RU" sz="2000" dirty="0" smtClean="0"/>
                        <a:t>адрес (</a:t>
                      </a:r>
                      <a:r>
                        <a:rPr lang="ru-RU" sz="2000" dirty="0" err="1" smtClean="0"/>
                        <a:t>unique</a:t>
                      </a:r>
                      <a:r>
                        <a:rPr lang="ru-RU" sz="2000" dirty="0" smtClean="0"/>
                        <a:t> </a:t>
                      </a:r>
                      <a:r>
                        <a:rPr lang="ru-RU" sz="2000" dirty="0" err="1" smtClean="0"/>
                        <a:t>local</a:t>
                      </a:r>
                      <a:r>
                        <a:rPr lang="ru-RU" sz="2000" dirty="0" smtClean="0"/>
                        <a:t> </a:t>
                      </a:r>
                      <a:r>
                        <a:rPr lang="ru-RU" sz="2000" dirty="0" err="1" smtClean="0"/>
                        <a:t>address</a:t>
                      </a:r>
                      <a:r>
                        <a:rPr lang="ru-RU" sz="2000" dirty="0" smtClean="0"/>
                        <a:t>, ULA)</a:t>
                      </a:r>
                      <a:endParaRPr lang="ru-RU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Адреса частной сети с глобальной</a:t>
                      </a:r>
                      <a:r>
                        <a:rPr lang="ru-RU" sz="2000" baseline="0" dirty="0" smtClean="0"/>
                        <a:t> областью действия</a:t>
                      </a:r>
                      <a:endParaRPr lang="ru-RU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654028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lang="en-US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FE80::/10</a:t>
                      </a:r>
                      <a:r>
                        <a:rPr lang="en-US" sz="2400" dirty="0" smtClean="0"/>
                        <a:t> </a:t>
                      </a:r>
                      <a:br>
                        <a:rPr lang="en-US" sz="2400" dirty="0" smtClean="0"/>
                      </a:br>
                      <a:endParaRPr lang="ru-RU" sz="2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Внутриканальные индивидуальные адреса (</a:t>
                      </a:r>
                      <a:r>
                        <a:rPr lang="ru-RU" sz="2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link-local</a:t>
                      </a:r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2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unicast</a:t>
                      </a:r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Аналог 169.254.0.0/16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69322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FF00::/8</a:t>
                      </a:r>
                      <a:endParaRPr lang="ru-RU" sz="2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Групповые адреса</a:t>
                      </a:r>
                      <a:r>
                        <a:rPr lang="ru-RU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multicast)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Аналог 224.0.0.0/4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730493"/>
                  </a:ext>
                </a:extLst>
              </a:tr>
              <a:tr h="158496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::1</a:t>
                      </a:r>
                      <a:endParaRPr lang="ru-RU" sz="2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Loopback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Аналог</a:t>
                      </a:r>
                      <a:r>
                        <a:rPr lang="ru-RU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127.0.0.1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547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::</a:t>
                      </a:r>
                      <a:endParaRPr lang="ru-RU" sz="2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Неопределенный адрес</a:t>
                      </a:r>
                      <a:r>
                        <a:rPr lang="ru-RU" sz="2000" dirty="0" smtClean="0"/>
                        <a:t> </a:t>
                      </a:r>
                      <a:r>
                        <a:rPr lang="en-US" sz="2000" dirty="0" smtClean="0"/>
                        <a:t>(unspecified)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Аналог</a:t>
                      </a:r>
                      <a:r>
                        <a:rPr lang="ru-RU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0.0.0.0 </a:t>
                      </a:r>
                      <a:r>
                        <a:rPr lang="ru-RU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в </a:t>
                      </a:r>
                      <a:r>
                        <a:rPr lang="en-US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IPv4</a:t>
                      </a:r>
                      <a:endParaRPr lang="ru-RU" sz="200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ru-RU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Адрес не установлен, не настроен, неизвестен.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84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2112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dirty="0" smtClean="0"/>
              <a:t>Особые адреса </a:t>
            </a:r>
            <a:r>
              <a:rPr lang="en-US" dirty="0"/>
              <a:t>IPv6</a:t>
            </a:r>
            <a:endParaRPr lang="ru-RU" dirty="0" smtClean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310527"/>
              </p:ext>
            </p:extLst>
          </p:nvPr>
        </p:nvGraphicFramePr>
        <p:xfrm>
          <a:off x="709192" y="1268760"/>
          <a:ext cx="10873208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456">
                  <a:extLst>
                    <a:ext uri="{9D8B030D-6E8A-4147-A177-3AD203B41FA5}">
                      <a16:colId xmlns:a16="http://schemas.microsoft.com/office/drawing/2014/main" val="1230767906"/>
                    </a:ext>
                  </a:extLst>
                </a:gridCol>
                <a:gridCol w="4204048">
                  <a:extLst>
                    <a:ext uri="{9D8B030D-6E8A-4147-A177-3AD203B41FA5}">
                      <a16:colId xmlns:a16="http://schemas.microsoft.com/office/drawing/2014/main" val="4071839546"/>
                    </a:ext>
                  </a:extLst>
                </a:gridCol>
                <a:gridCol w="4450704">
                  <a:extLst>
                    <a:ext uri="{9D8B030D-6E8A-4147-A177-3AD203B41FA5}">
                      <a16:colId xmlns:a16="http://schemas.microsoft.com/office/drawing/2014/main" val="2230502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Адрес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Описание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Заметки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6904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::/96</a:t>
                      </a:r>
                      <a:endParaRPr lang="ru-RU" sz="2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IPv4-Compatible IPv6 Address</a:t>
                      </a:r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2000" b="1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Отменены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Последние</a:t>
                      </a:r>
                      <a:r>
                        <a:rPr lang="ru-RU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32 бита – глобальный </a:t>
                      </a:r>
                      <a:r>
                        <a:rPr lang="en-US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IPv4 </a:t>
                      </a:r>
                      <a:r>
                        <a:rPr lang="ru-RU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адрес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619809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::FFFF:0:0/96</a:t>
                      </a:r>
                      <a:endParaRPr lang="ru-RU" sz="2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IPv4-Mapped IPv6 Address</a:t>
                      </a:r>
                      <a:endParaRPr lang="ru-RU" sz="2000" b="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Последние</a:t>
                      </a:r>
                      <a:r>
                        <a:rPr lang="ru-RU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32 бита – любой </a:t>
                      </a:r>
                      <a:r>
                        <a:rPr lang="en-US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IPv4 </a:t>
                      </a:r>
                      <a:r>
                        <a:rPr lang="ru-RU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адрес. Позволяет представить </a:t>
                      </a:r>
                      <a:r>
                        <a:rPr lang="en-US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IPv4 </a:t>
                      </a:r>
                      <a:r>
                        <a:rPr lang="ru-RU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адрес как адрес </a:t>
                      </a:r>
                      <a:r>
                        <a:rPr lang="en-US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IPv6</a:t>
                      </a:r>
                      <a:endParaRPr lang="ru-RU" sz="2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117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2001:DB8::/32</a:t>
                      </a:r>
                      <a:endParaRPr lang="ru-RU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Документирование</a:t>
                      </a:r>
                      <a:endParaRPr lang="ru-RU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Документирование и</a:t>
                      </a:r>
                      <a:r>
                        <a:rPr lang="ru-RU" sz="2000" baseline="0" dirty="0" smtClean="0"/>
                        <a:t> примеры</a:t>
                      </a:r>
                      <a:endParaRPr lang="ru-RU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654028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64:ff9b::/96</a:t>
                      </a:r>
                      <a:endParaRPr lang="ru-RU" sz="2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NAT64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Для доступ</a:t>
                      </a:r>
                      <a:r>
                        <a:rPr lang="ru-RU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а к сетям </a:t>
                      </a:r>
                      <a:r>
                        <a:rPr lang="en-US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IPv4 </a:t>
                      </a:r>
                      <a:r>
                        <a:rPr lang="ru-RU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из </a:t>
                      </a:r>
                      <a:r>
                        <a:rPr lang="en-US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IPv6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69322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2001::</a:t>
                      </a:r>
                      <a:r>
                        <a:rPr lang="en-US" sz="2400" dirty="0" smtClean="0"/>
                        <a:t>/32</a:t>
                      </a:r>
                      <a:endParaRPr lang="ru-RU" sz="2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Клиенты </a:t>
                      </a:r>
                      <a:r>
                        <a:rPr lang="en-US" sz="2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Teredo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Позволяет</a:t>
                      </a:r>
                      <a:r>
                        <a:rPr lang="ru-RU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IPv4 </a:t>
                      </a:r>
                      <a:r>
                        <a:rPr lang="ru-RU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хосту подключиться к </a:t>
                      </a:r>
                      <a:r>
                        <a:rPr lang="en-US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IPv6 </a:t>
                      </a:r>
                      <a:r>
                        <a:rPr lang="ru-RU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сетям через туннель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730493"/>
                  </a:ext>
                </a:extLst>
              </a:tr>
              <a:tr h="158496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2002::</a:t>
                      </a:r>
                      <a:r>
                        <a:rPr lang="en-US" sz="2400" dirty="0" smtClean="0"/>
                        <a:t>/16</a:t>
                      </a:r>
                      <a:endParaRPr lang="ru-RU" sz="2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6to4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Позволяет</a:t>
                      </a:r>
                      <a:r>
                        <a:rPr lang="ru-RU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владельцам белых </a:t>
                      </a:r>
                      <a:r>
                        <a:rPr lang="en-US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IPv4 </a:t>
                      </a:r>
                      <a:r>
                        <a:rPr lang="ru-RU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адресов получить блок </a:t>
                      </a:r>
                      <a:r>
                        <a:rPr lang="en-US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IPv6 </a:t>
                      </a:r>
                      <a:r>
                        <a:rPr lang="ru-RU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адресов. Ретранслятор имеет </a:t>
                      </a:r>
                      <a:r>
                        <a:rPr lang="en-US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IPv4 </a:t>
                      </a:r>
                      <a:r>
                        <a:rPr lang="ru-RU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адрес </a:t>
                      </a:r>
                      <a:r>
                        <a:rPr lang="ru-RU" sz="2000" dirty="0" smtClean="0"/>
                        <a:t>192.88.99.1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547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8711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dirty="0" smtClean="0"/>
              <a:t>Индивидуальный  адрес</a:t>
            </a:r>
          </a:p>
        </p:txBody>
      </p:sp>
      <p:sp>
        <p:nvSpPr>
          <p:cNvPr id="31" name="Text Box 28"/>
          <p:cNvSpPr txBox="1">
            <a:spLocks noChangeArrowheads="1"/>
          </p:cNvSpPr>
          <p:nvPr/>
        </p:nvSpPr>
        <p:spPr bwMode="auto">
          <a:xfrm>
            <a:off x="767408" y="1855856"/>
            <a:ext cx="3312368" cy="1200329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sz="2400" b="1" dirty="0" smtClean="0"/>
              <a:t>Глобально маршрутизируемый префикс (</a:t>
            </a:r>
            <a:r>
              <a:rPr lang="en-US" sz="2400" b="1" dirty="0" smtClean="0"/>
              <a:t>n </a:t>
            </a:r>
            <a:r>
              <a:rPr lang="ru-RU" sz="2400" b="1" dirty="0" smtClean="0"/>
              <a:t>бит)</a:t>
            </a:r>
            <a:endParaRPr lang="ru-RU" sz="2400" dirty="0" smtClean="0"/>
          </a:p>
        </p:txBody>
      </p:sp>
      <p:sp>
        <p:nvSpPr>
          <p:cNvPr id="34" name="Text Box 28"/>
          <p:cNvSpPr txBox="1">
            <a:spLocks noChangeArrowheads="1"/>
          </p:cNvSpPr>
          <p:nvPr/>
        </p:nvSpPr>
        <p:spPr bwMode="auto">
          <a:xfrm>
            <a:off x="4079776" y="1855854"/>
            <a:ext cx="2717903" cy="1200329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sz="2400" b="1" dirty="0" smtClean="0"/>
              <a:t>Идентификатор подсети</a:t>
            </a:r>
            <a:endParaRPr lang="en-US" sz="2400" b="1" dirty="0" smtClean="0"/>
          </a:p>
          <a:p>
            <a:pPr algn="ctr" eaLnBrk="1" hangingPunct="1"/>
            <a:r>
              <a:rPr lang="ru-RU" sz="2400" b="1" dirty="0" smtClean="0"/>
              <a:t>(</a:t>
            </a:r>
            <a:r>
              <a:rPr lang="en-US" sz="2400" b="1" dirty="0"/>
              <a:t>m</a:t>
            </a:r>
            <a:r>
              <a:rPr lang="en-US" sz="2400" b="1" dirty="0" smtClean="0"/>
              <a:t> </a:t>
            </a:r>
            <a:r>
              <a:rPr lang="ru-RU" sz="2400" b="1" dirty="0"/>
              <a:t>бит</a:t>
            </a:r>
            <a:r>
              <a:rPr lang="ru-RU" sz="2400" b="1" dirty="0" smtClean="0"/>
              <a:t>)</a:t>
            </a:r>
            <a:endParaRPr lang="ru-RU" sz="2400" dirty="0"/>
          </a:p>
        </p:txBody>
      </p:sp>
      <p:sp>
        <p:nvSpPr>
          <p:cNvPr id="35" name="Text Box 28"/>
          <p:cNvSpPr txBox="1">
            <a:spLocks noChangeArrowheads="1"/>
          </p:cNvSpPr>
          <p:nvPr/>
        </p:nvSpPr>
        <p:spPr bwMode="auto">
          <a:xfrm>
            <a:off x="6816080" y="1855853"/>
            <a:ext cx="4608512" cy="1200329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sz="2400" b="1" dirty="0" smtClean="0"/>
              <a:t>Идентификатор интерфейса</a:t>
            </a:r>
          </a:p>
          <a:p>
            <a:pPr algn="ctr" eaLnBrk="1" hangingPunct="1"/>
            <a:r>
              <a:rPr lang="ru-RU" sz="2400" b="1" dirty="0" smtClean="0"/>
              <a:t>(64 бита)</a:t>
            </a:r>
          </a:p>
          <a:p>
            <a:pPr algn="ctr" eaLnBrk="1" hangingPunct="1"/>
            <a:endParaRPr lang="en-US" sz="2400" b="1" dirty="0"/>
          </a:p>
        </p:txBody>
      </p:sp>
      <p:sp>
        <p:nvSpPr>
          <p:cNvPr id="36" name="Text Box 28"/>
          <p:cNvSpPr txBox="1">
            <a:spLocks noChangeArrowheads="1"/>
          </p:cNvSpPr>
          <p:nvPr/>
        </p:nvSpPr>
        <p:spPr bwMode="auto">
          <a:xfrm>
            <a:off x="1127448" y="3717032"/>
            <a:ext cx="10081120" cy="1754326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ru-RU" sz="2400" dirty="0" smtClean="0"/>
              <a:t>Согласно </a:t>
            </a:r>
            <a:r>
              <a:rPr lang="en-US" sz="2400" dirty="0"/>
              <a:t>RFC </a:t>
            </a:r>
            <a:r>
              <a:rPr lang="en-US" sz="2400" dirty="0" smtClean="0"/>
              <a:t>4291</a:t>
            </a:r>
            <a:r>
              <a:rPr lang="ru-RU" sz="2400" dirty="0" smtClean="0"/>
              <a:t> идентификатор интерфейса всегда имеет размер 64 бита </a:t>
            </a:r>
            <a:r>
              <a:rPr lang="ru-RU" sz="2400" dirty="0"/>
              <a:t>(кроме ::/3</a:t>
            </a:r>
            <a:r>
              <a:rPr lang="ru-RU" sz="2400" dirty="0" smtClean="0"/>
              <a:t>)</a:t>
            </a:r>
            <a:r>
              <a:rPr lang="en-US" sz="2400" dirty="0" smtClean="0"/>
              <a:t>.</a:t>
            </a:r>
          </a:p>
          <a:p>
            <a:pPr eaLnBrk="1" hangingPunct="1">
              <a:lnSpc>
                <a:spcPct val="150000"/>
              </a:lnSpc>
            </a:pPr>
            <a:r>
              <a:rPr lang="en-US" sz="2400" dirty="0" err="1" smtClean="0"/>
              <a:t>m+n</a:t>
            </a:r>
            <a:r>
              <a:rPr lang="en-US" sz="2400" dirty="0" smtClean="0"/>
              <a:t>=64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3181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dirty="0" smtClean="0"/>
              <a:t>Внутриканальный адрес</a:t>
            </a:r>
          </a:p>
        </p:txBody>
      </p:sp>
      <p:sp>
        <p:nvSpPr>
          <p:cNvPr id="20" name="Text Box 28"/>
          <p:cNvSpPr txBox="1">
            <a:spLocks noChangeArrowheads="1"/>
          </p:cNvSpPr>
          <p:nvPr/>
        </p:nvSpPr>
        <p:spPr bwMode="auto">
          <a:xfrm>
            <a:off x="983432" y="1429547"/>
            <a:ext cx="10598968" cy="113184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ru-RU" sz="2400" dirty="0" smtClean="0"/>
              <a:t>Каждый </a:t>
            </a:r>
            <a:r>
              <a:rPr lang="ru-RU" sz="2400" dirty="0"/>
              <a:t>сетевой интерфейс IPv6 обязан иметь по меньшей </a:t>
            </a:r>
            <a:r>
              <a:rPr lang="ru-RU" sz="2400" dirty="0" smtClean="0"/>
              <a:t>мере один </a:t>
            </a:r>
            <a:r>
              <a:rPr lang="ru-RU" sz="2400" dirty="0"/>
              <a:t>индивидуальный внутриканальный адрес </a:t>
            </a:r>
            <a:endParaRPr lang="ru-RU" sz="2400" dirty="0" smtClean="0"/>
          </a:p>
        </p:txBody>
      </p:sp>
      <p:sp>
        <p:nvSpPr>
          <p:cNvPr id="9" name="Text Box 28"/>
          <p:cNvSpPr txBox="1">
            <a:spLocks noChangeArrowheads="1"/>
          </p:cNvSpPr>
          <p:nvPr/>
        </p:nvSpPr>
        <p:spPr bwMode="auto">
          <a:xfrm>
            <a:off x="767408" y="2780928"/>
            <a:ext cx="4968552" cy="646331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sz="2400" b="1" dirty="0" smtClean="0"/>
              <a:t>FE80::/64</a:t>
            </a:r>
            <a:endParaRPr lang="ru-RU" sz="2400" dirty="0" smtClean="0"/>
          </a:p>
        </p:txBody>
      </p:sp>
      <p:sp>
        <p:nvSpPr>
          <p:cNvPr id="12" name="Text Box 28"/>
          <p:cNvSpPr txBox="1">
            <a:spLocks noChangeArrowheads="1"/>
          </p:cNvSpPr>
          <p:nvPr/>
        </p:nvSpPr>
        <p:spPr bwMode="auto">
          <a:xfrm>
            <a:off x="5735960" y="2780928"/>
            <a:ext cx="6264696" cy="646331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ru-RU" sz="2400" b="1" dirty="0" smtClean="0"/>
              <a:t>Идентификатор интерфейса (64 бита)</a:t>
            </a:r>
            <a:endParaRPr lang="ru-RU" sz="2400" dirty="0" smtClean="0"/>
          </a:p>
        </p:txBody>
      </p:sp>
      <p:sp>
        <p:nvSpPr>
          <p:cNvPr id="13" name="Text Box 28"/>
          <p:cNvSpPr txBox="1">
            <a:spLocks noChangeArrowheads="1"/>
          </p:cNvSpPr>
          <p:nvPr/>
        </p:nvSpPr>
        <p:spPr bwMode="auto">
          <a:xfrm>
            <a:off x="911424" y="3506524"/>
            <a:ext cx="3960440" cy="2862322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ru-RU" sz="2400" dirty="0" smtClean="0"/>
              <a:t>Способы назначения идентификатора интерфейса:</a:t>
            </a:r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/>
              <a:t>EUI-64</a:t>
            </a:r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 smtClean="0"/>
              <a:t>Случайное значение</a:t>
            </a:r>
          </a:p>
        </p:txBody>
      </p:sp>
      <p:sp>
        <p:nvSpPr>
          <p:cNvPr id="14" name="Text Box 28"/>
          <p:cNvSpPr txBox="1">
            <a:spLocks noChangeArrowheads="1"/>
          </p:cNvSpPr>
          <p:nvPr/>
        </p:nvSpPr>
        <p:spPr bwMode="auto">
          <a:xfrm>
            <a:off x="5015880" y="3506524"/>
            <a:ext cx="6696744" cy="280532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/>
              <a:t>OUI</a:t>
            </a:r>
            <a:r>
              <a:rPr lang="en-US" sz="2000" dirty="0" smtClean="0"/>
              <a:t> – </a:t>
            </a:r>
            <a:r>
              <a:rPr lang="ru-RU" sz="2000" dirty="0"/>
              <a:t>24-битный номер, который присваивается регистрационной администрацией </a:t>
            </a:r>
            <a:r>
              <a:rPr lang="ru-RU" sz="2000" dirty="0" smtClean="0"/>
              <a:t>IEEE</a:t>
            </a:r>
            <a:endParaRPr lang="en-US" sz="2000" dirty="0" smtClean="0"/>
          </a:p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/>
              <a:t>EUI-48, EUI-64</a:t>
            </a:r>
            <a:r>
              <a:rPr lang="ru-RU" sz="2000" b="1" dirty="0" smtClean="0"/>
              <a:t> </a:t>
            </a:r>
            <a:r>
              <a:rPr lang="ru-RU" sz="2000" dirty="0" smtClean="0"/>
              <a:t>– OUI </a:t>
            </a:r>
            <a:r>
              <a:rPr lang="en-US" sz="2000" dirty="0" smtClean="0"/>
              <a:t>+</a:t>
            </a:r>
            <a:r>
              <a:rPr lang="ru-RU" sz="2000" dirty="0" smtClean="0"/>
              <a:t> дополнительны</a:t>
            </a:r>
            <a:r>
              <a:rPr lang="ru-RU" sz="2000" dirty="0"/>
              <a:t>й</a:t>
            </a:r>
            <a:r>
              <a:rPr lang="ru-RU" sz="2000" dirty="0" smtClean="0"/>
              <a:t> идентификатор, </a:t>
            </a:r>
            <a:r>
              <a:rPr lang="ru-RU" sz="2000" dirty="0"/>
              <a:t>который назначается организацией, получившей OUI.</a:t>
            </a:r>
            <a:endParaRPr lang="en-US" sz="2000" b="1" dirty="0"/>
          </a:p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/>
              <a:t>MAC-48</a:t>
            </a:r>
            <a:r>
              <a:rPr lang="ru-RU" sz="2000" dirty="0" smtClean="0"/>
              <a:t> – устарел, вместо него используется </a:t>
            </a:r>
            <a:r>
              <a:rPr lang="en-US" sz="2000" dirty="0" smtClean="0"/>
              <a:t>EUI-48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39034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dirty="0" smtClean="0"/>
              <a:t>Внутриканальный адрес</a:t>
            </a:r>
          </a:p>
        </p:txBody>
      </p:sp>
      <p:sp>
        <p:nvSpPr>
          <p:cNvPr id="20" name="Text Box 28"/>
          <p:cNvSpPr txBox="1">
            <a:spLocks noChangeArrowheads="1"/>
          </p:cNvSpPr>
          <p:nvPr/>
        </p:nvSpPr>
        <p:spPr bwMode="auto">
          <a:xfrm>
            <a:off x="4079776" y="1496593"/>
            <a:ext cx="2520280" cy="646331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sz="2400" dirty="0" smtClean="0"/>
              <a:t>EUI-48 </a:t>
            </a:r>
            <a:r>
              <a:rPr lang="en-US" sz="2400" dirty="0" smtClean="0">
                <a:sym typeface="Wingdings" panose="05000000000000000000" pitchFamily="2" charset="2"/>
              </a:rPr>
              <a:t>EUI-64</a:t>
            </a:r>
            <a:r>
              <a:rPr lang="en-US" sz="2400" dirty="0" smtClean="0"/>
              <a:t> </a:t>
            </a:r>
            <a:endParaRPr lang="ru-RU" sz="2400" dirty="0" smtClean="0"/>
          </a:p>
        </p:txBody>
      </p:sp>
      <p:sp>
        <p:nvSpPr>
          <p:cNvPr id="9" name="Text Box 28"/>
          <p:cNvSpPr txBox="1">
            <a:spLocks noChangeArrowheads="1"/>
          </p:cNvSpPr>
          <p:nvPr/>
        </p:nvSpPr>
        <p:spPr bwMode="auto">
          <a:xfrm>
            <a:off x="767408" y="2492896"/>
            <a:ext cx="720080" cy="577850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sz="2400" b="1" dirty="0" smtClean="0"/>
              <a:t>xx</a:t>
            </a:r>
            <a:endParaRPr lang="ru-RU" sz="2400" dirty="0" smtClean="0"/>
          </a:p>
        </p:txBody>
      </p:sp>
      <p:sp>
        <p:nvSpPr>
          <p:cNvPr id="8" name="Text Box 28"/>
          <p:cNvSpPr txBox="1">
            <a:spLocks noChangeArrowheads="1"/>
          </p:cNvSpPr>
          <p:nvPr/>
        </p:nvSpPr>
        <p:spPr bwMode="auto">
          <a:xfrm>
            <a:off x="1487488" y="2492896"/>
            <a:ext cx="720080" cy="577850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sz="2400" b="1" dirty="0" err="1" smtClean="0"/>
              <a:t>yy</a:t>
            </a:r>
            <a:endParaRPr lang="ru-RU" sz="2400" dirty="0" smtClean="0"/>
          </a:p>
        </p:txBody>
      </p: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2207568" y="2492896"/>
            <a:ext cx="720080" cy="577850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sz="2400" b="1" dirty="0" err="1" smtClean="0"/>
              <a:t>zz</a:t>
            </a:r>
            <a:endParaRPr lang="ru-RU" sz="2400" dirty="0" smtClean="0"/>
          </a:p>
        </p:txBody>
      </p:sp>
      <p:sp>
        <p:nvSpPr>
          <p:cNvPr id="11" name="Text Box 28"/>
          <p:cNvSpPr txBox="1">
            <a:spLocks noChangeArrowheads="1"/>
          </p:cNvSpPr>
          <p:nvPr/>
        </p:nvSpPr>
        <p:spPr bwMode="auto">
          <a:xfrm>
            <a:off x="2927648" y="2492896"/>
            <a:ext cx="720080" cy="577850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sz="2400" b="1" dirty="0" err="1" smtClean="0"/>
              <a:t>ss</a:t>
            </a:r>
            <a:endParaRPr lang="ru-RU" sz="2400" dirty="0" smtClean="0"/>
          </a:p>
        </p:txBody>
      </p:sp>
      <p:sp>
        <p:nvSpPr>
          <p:cNvPr id="15" name="Text Box 28"/>
          <p:cNvSpPr txBox="1">
            <a:spLocks noChangeArrowheads="1"/>
          </p:cNvSpPr>
          <p:nvPr/>
        </p:nvSpPr>
        <p:spPr bwMode="auto">
          <a:xfrm>
            <a:off x="3647728" y="2492896"/>
            <a:ext cx="720080" cy="577850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sz="2400" b="1" dirty="0" err="1" smtClean="0"/>
              <a:t>tt</a:t>
            </a:r>
            <a:endParaRPr lang="ru-RU" sz="2400" dirty="0" smtClean="0"/>
          </a:p>
        </p:txBody>
      </p:sp>
      <p:sp>
        <p:nvSpPr>
          <p:cNvPr id="16" name="Text Box 28"/>
          <p:cNvSpPr txBox="1">
            <a:spLocks noChangeArrowheads="1"/>
          </p:cNvSpPr>
          <p:nvPr/>
        </p:nvSpPr>
        <p:spPr bwMode="auto">
          <a:xfrm>
            <a:off x="4367808" y="2492896"/>
            <a:ext cx="720080" cy="577850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sz="2400" b="1" dirty="0" err="1" smtClean="0"/>
              <a:t>uu</a:t>
            </a:r>
            <a:endParaRPr lang="ru-RU" sz="2400" dirty="0" smtClean="0"/>
          </a:p>
        </p:txBody>
      </p:sp>
      <p:sp>
        <p:nvSpPr>
          <p:cNvPr id="17" name="Text Box 28"/>
          <p:cNvSpPr txBox="1">
            <a:spLocks noChangeArrowheads="1"/>
          </p:cNvSpPr>
          <p:nvPr/>
        </p:nvSpPr>
        <p:spPr bwMode="auto">
          <a:xfrm>
            <a:off x="5836940" y="2492896"/>
            <a:ext cx="720080" cy="577850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sz="2400" b="1" dirty="0" smtClean="0"/>
              <a:t>xx</a:t>
            </a:r>
            <a:endParaRPr lang="ru-RU" sz="2400" dirty="0" smtClean="0"/>
          </a:p>
        </p:txBody>
      </p:sp>
      <p:sp>
        <p:nvSpPr>
          <p:cNvPr id="18" name="Text Box 28"/>
          <p:cNvSpPr txBox="1">
            <a:spLocks noChangeArrowheads="1"/>
          </p:cNvSpPr>
          <p:nvPr/>
        </p:nvSpPr>
        <p:spPr bwMode="auto">
          <a:xfrm>
            <a:off x="6557020" y="2492896"/>
            <a:ext cx="720080" cy="577850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sz="2400" b="1" dirty="0" err="1" smtClean="0"/>
              <a:t>yy</a:t>
            </a:r>
            <a:endParaRPr lang="ru-RU" sz="2400" dirty="0" smtClean="0"/>
          </a:p>
        </p:txBody>
      </p:sp>
      <p:sp>
        <p:nvSpPr>
          <p:cNvPr id="19" name="Text Box 28"/>
          <p:cNvSpPr txBox="1">
            <a:spLocks noChangeArrowheads="1"/>
          </p:cNvSpPr>
          <p:nvPr/>
        </p:nvSpPr>
        <p:spPr bwMode="auto">
          <a:xfrm>
            <a:off x="7277100" y="2492896"/>
            <a:ext cx="720080" cy="577850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sz="2400" b="1" dirty="0" err="1" smtClean="0"/>
              <a:t>zz</a:t>
            </a:r>
            <a:endParaRPr lang="ru-RU" sz="2400" dirty="0" smtClean="0"/>
          </a:p>
        </p:txBody>
      </p:sp>
      <p:sp>
        <p:nvSpPr>
          <p:cNvPr id="21" name="Text Box 28"/>
          <p:cNvSpPr txBox="1">
            <a:spLocks noChangeArrowheads="1"/>
          </p:cNvSpPr>
          <p:nvPr/>
        </p:nvSpPr>
        <p:spPr bwMode="auto">
          <a:xfrm>
            <a:off x="7997180" y="2492896"/>
            <a:ext cx="720080" cy="577850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sz="2400" b="1" dirty="0" smtClean="0">
                <a:solidFill>
                  <a:srgbClr val="00B0F0"/>
                </a:solidFill>
              </a:rPr>
              <a:t>FF</a:t>
            </a:r>
            <a:endParaRPr lang="ru-RU" sz="2400" dirty="0" smtClean="0">
              <a:solidFill>
                <a:srgbClr val="00B0F0"/>
              </a:solidFill>
            </a:endParaRPr>
          </a:p>
        </p:txBody>
      </p:sp>
      <p:sp>
        <p:nvSpPr>
          <p:cNvPr id="22" name="Text Box 28"/>
          <p:cNvSpPr txBox="1">
            <a:spLocks noChangeArrowheads="1"/>
          </p:cNvSpPr>
          <p:nvPr/>
        </p:nvSpPr>
        <p:spPr bwMode="auto">
          <a:xfrm>
            <a:off x="8717260" y="2492896"/>
            <a:ext cx="720080" cy="577850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sz="2400" b="1" dirty="0" smtClean="0">
                <a:solidFill>
                  <a:srgbClr val="00B0F0"/>
                </a:solidFill>
              </a:rPr>
              <a:t>FE</a:t>
            </a:r>
            <a:endParaRPr lang="ru-RU" sz="2400" dirty="0" smtClean="0">
              <a:solidFill>
                <a:srgbClr val="00B0F0"/>
              </a:solidFill>
            </a:endParaRPr>
          </a:p>
        </p:txBody>
      </p:sp>
      <p:sp>
        <p:nvSpPr>
          <p:cNvPr id="23" name="Text Box 28"/>
          <p:cNvSpPr txBox="1">
            <a:spLocks noChangeArrowheads="1"/>
          </p:cNvSpPr>
          <p:nvPr/>
        </p:nvSpPr>
        <p:spPr bwMode="auto">
          <a:xfrm>
            <a:off x="9437340" y="2492896"/>
            <a:ext cx="720080" cy="577850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sz="2400" b="1" dirty="0" err="1" smtClean="0"/>
              <a:t>ss</a:t>
            </a:r>
            <a:endParaRPr lang="ru-RU" sz="2400" dirty="0" smtClean="0"/>
          </a:p>
        </p:txBody>
      </p:sp>
      <p:cxnSp>
        <p:nvCxnSpPr>
          <p:cNvPr id="24" name="Прямая соединительная линия 23"/>
          <p:cNvCxnSpPr>
            <a:endCxn id="16" idx="3"/>
          </p:cNvCxnSpPr>
          <p:nvPr/>
        </p:nvCxnSpPr>
        <p:spPr>
          <a:xfrm flipH="1">
            <a:off x="5087888" y="2781821"/>
            <a:ext cx="717215" cy="0"/>
          </a:xfrm>
          <a:prstGeom prst="line">
            <a:avLst/>
          </a:prstGeom>
          <a:ln w="6350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28"/>
          <p:cNvSpPr txBox="1">
            <a:spLocks noChangeArrowheads="1"/>
          </p:cNvSpPr>
          <p:nvPr/>
        </p:nvSpPr>
        <p:spPr bwMode="auto">
          <a:xfrm>
            <a:off x="10128448" y="2492896"/>
            <a:ext cx="720080" cy="577850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sz="2400" b="1" dirty="0" err="1" smtClean="0"/>
              <a:t>tt</a:t>
            </a:r>
            <a:endParaRPr lang="ru-RU" sz="2400" dirty="0" smtClean="0"/>
          </a:p>
        </p:txBody>
      </p:sp>
      <p:sp>
        <p:nvSpPr>
          <p:cNvPr id="26" name="Text Box 28"/>
          <p:cNvSpPr txBox="1">
            <a:spLocks noChangeArrowheads="1"/>
          </p:cNvSpPr>
          <p:nvPr/>
        </p:nvSpPr>
        <p:spPr bwMode="auto">
          <a:xfrm>
            <a:off x="10848528" y="2492896"/>
            <a:ext cx="720080" cy="577850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sz="2400" b="1" dirty="0" err="1" smtClean="0"/>
              <a:t>uu</a:t>
            </a:r>
            <a:endParaRPr lang="ru-RU" sz="2400" dirty="0" smtClean="0"/>
          </a:p>
        </p:txBody>
      </p:sp>
      <p:sp>
        <p:nvSpPr>
          <p:cNvPr id="27" name="Text Box 28"/>
          <p:cNvSpPr txBox="1">
            <a:spLocks noChangeArrowheads="1"/>
          </p:cNvSpPr>
          <p:nvPr/>
        </p:nvSpPr>
        <p:spPr bwMode="auto">
          <a:xfrm>
            <a:off x="3267497" y="3822837"/>
            <a:ext cx="6019700" cy="646331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sz="2400" dirty="0" smtClean="0"/>
              <a:t>EUI-64 </a:t>
            </a:r>
            <a:r>
              <a:rPr lang="en-US" sz="2400" dirty="0" smtClean="0">
                <a:sym typeface="Wingdings" panose="05000000000000000000" pitchFamily="2" charset="2"/>
              </a:rPr>
              <a:t></a:t>
            </a:r>
            <a:r>
              <a:rPr lang="ru-RU" sz="2400" dirty="0" smtClean="0">
                <a:sym typeface="Wingdings" panose="05000000000000000000" pitchFamily="2" charset="2"/>
              </a:rPr>
              <a:t>Идентификатор интерфейса</a:t>
            </a:r>
            <a:r>
              <a:rPr lang="en-US" sz="2400" dirty="0" smtClean="0"/>
              <a:t> </a:t>
            </a:r>
            <a:endParaRPr lang="ru-RU" sz="2400" dirty="0" smtClean="0"/>
          </a:p>
        </p:txBody>
      </p:sp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1127448" y="4941168"/>
            <a:ext cx="1728192" cy="577850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sz="2400" b="1" dirty="0"/>
              <a:t>6</a:t>
            </a:r>
            <a:r>
              <a:rPr lang="ru-RU" sz="2400" b="1" dirty="0" smtClean="0"/>
              <a:t> би</a:t>
            </a:r>
            <a:r>
              <a:rPr lang="ru-RU" sz="2400" b="1" dirty="0"/>
              <a:t>т</a:t>
            </a:r>
            <a:endParaRPr lang="ru-RU" sz="2400" dirty="0" smtClean="0"/>
          </a:p>
        </p:txBody>
      </p:sp>
      <p:sp>
        <p:nvSpPr>
          <p:cNvPr id="29" name="Text Box 28"/>
          <p:cNvSpPr txBox="1">
            <a:spLocks noChangeArrowheads="1"/>
          </p:cNvSpPr>
          <p:nvPr/>
        </p:nvSpPr>
        <p:spPr bwMode="auto">
          <a:xfrm>
            <a:off x="2855640" y="4941168"/>
            <a:ext cx="576064" cy="577850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sz="2400" b="1" dirty="0">
                <a:solidFill>
                  <a:srgbClr val="00B0F0"/>
                </a:solidFill>
              </a:rPr>
              <a:t>u</a:t>
            </a:r>
            <a:endParaRPr lang="ru-RU" sz="2400" dirty="0" smtClean="0">
              <a:solidFill>
                <a:srgbClr val="00B0F0"/>
              </a:solidFill>
            </a:endParaRPr>
          </a:p>
        </p:txBody>
      </p:sp>
      <p:sp>
        <p:nvSpPr>
          <p:cNvPr id="30" name="Text Box 28"/>
          <p:cNvSpPr txBox="1">
            <a:spLocks noChangeArrowheads="1"/>
          </p:cNvSpPr>
          <p:nvPr/>
        </p:nvSpPr>
        <p:spPr bwMode="auto">
          <a:xfrm>
            <a:off x="3431704" y="4941168"/>
            <a:ext cx="576064" cy="577850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sz="2400" b="1" dirty="0" smtClean="0"/>
              <a:t>g</a:t>
            </a:r>
            <a:endParaRPr lang="ru-RU" sz="2400" dirty="0" smtClean="0"/>
          </a:p>
        </p:txBody>
      </p:sp>
      <p:sp>
        <p:nvSpPr>
          <p:cNvPr id="31" name="Text Box 28"/>
          <p:cNvSpPr txBox="1">
            <a:spLocks noChangeArrowheads="1"/>
          </p:cNvSpPr>
          <p:nvPr/>
        </p:nvSpPr>
        <p:spPr bwMode="auto">
          <a:xfrm>
            <a:off x="4007768" y="4941168"/>
            <a:ext cx="4896544" cy="577850"/>
          </a:xfrm>
          <a:prstGeom prst="rect">
            <a:avLst/>
          </a:prstGeom>
          <a:solidFill>
            <a:schemeClr val="bg1"/>
          </a:solidFill>
          <a:ln w="349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US" sz="2400" b="1" dirty="0" smtClean="0"/>
              <a:t>56</a:t>
            </a:r>
            <a:r>
              <a:rPr lang="ru-RU" sz="2400" b="1" dirty="0" smtClean="0"/>
              <a:t> би</a:t>
            </a:r>
            <a:r>
              <a:rPr lang="ru-RU" sz="2400" b="1" dirty="0"/>
              <a:t>т</a:t>
            </a:r>
            <a:endParaRPr lang="ru-RU" sz="2400" dirty="0" smtClean="0"/>
          </a:p>
        </p:txBody>
      </p:sp>
      <p:sp>
        <p:nvSpPr>
          <p:cNvPr id="32" name="Text Box 28"/>
          <p:cNvSpPr txBox="1">
            <a:spLocks noChangeArrowheads="1"/>
          </p:cNvSpPr>
          <p:nvPr/>
        </p:nvSpPr>
        <p:spPr bwMode="auto">
          <a:xfrm>
            <a:off x="4007768" y="5805264"/>
            <a:ext cx="3269332" cy="646331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ru-RU" sz="2400" dirty="0" smtClean="0"/>
              <a:t>Инвертировать бит </a:t>
            </a:r>
            <a:r>
              <a:rPr lang="en-US" sz="2400" b="1" dirty="0" smtClean="0"/>
              <a:t>u</a:t>
            </a:r>
            <a:endParaRPr lang="ru-RU" sz="2400" b="1" dirty="0" smtClean="0"/>
          </a:p>
        </p:txBody>
      </p:sp>
      <p:cxnSp>
        <p:nvCxnSpPr>
          <p:cNvPr id="33" name="Прямая соединительная линия 32"/>
          <p:cNvCxnSpPr>
            <a:stCxn id="29" idx="2"/>
            <a:endCxn id="32" idx="1"/>
          </p:cNvCxnSpPr>
          <p:nvPr/>
        </p:nvCxnSpPr>
        <p:spPr>
          <a:xfrm>
            <a:off x="3143672" y="5519018"/>
            <a:ext cx="864096" cy="609412"/>
          </a:xfrm>
          <a:prstGeom prst="line">
            <a:avLst/>
          </a:prstGeom>
          <a:ln w="6350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235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dirty="0" smtClean="0"/>
              <a:t>Внутриканальный адрес</a:t>
            </a:r>
          </a:p>
        </p:txBody>
      </p:sp>
      <p:sp>
        <p:nvSpPr>
          <p:cNvPr id="20" name="Text Box 28"/>
          <p:cNvSpPr txBox="1">
            <a:spLocks noChangeArrowheads="1"/>
          </p:cNvSpPr>
          <p:nvPr/>
        </p:nvSpPr>
        <p:spPr bwMode="auto">
          <a:xfrm>
            <a:off x="3287688" y="1360489"/>
            <a:ext cx="8136904" cy="1754326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ru-RU" sz="2400" dirty="0" smtClean="0"/>
              <a:t>Если хост имеет более одного интерфейса, возникает неоднозначность при использовании внутриканального адреса</a:t>
            </a:r>
          </a:p>
        </p:txBody>
      </p:sp>
      <p:sp>
        <p:nvSpPr>
          <p:cNvPr id="8" name="Облако 7"/>
          <p:cNvSpPr/>
          <p:nvPr/>
        </p:nvSpPr>
        <p:spPr>
          <a:xfrm>
            <a:off x="936576" y="1387154"/>
            <a:ext cx="1296144" cy="914400"/>
          </a:xfrm>
          <a:prstGeom prst="cloud">
            <a:avLst/>
          </a:prstGeom>
          <a:solidFill>
            <a:schemeClr val="accent3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Сеть1</a:t>
            </a:r>
            <a:endParaRPr lang="ru-RU" dirty="0"/>
          </a:p>
        </p:txBody>
      </p:sp>
      <p:sp>
        <p:nvSpPr>
          <p:cNvPr id="10" name="Цилиндр 9"/>
          <p:cNvSpPr/>
          <p:nvPr/>
        </p:nvSpPr>
        <p:spPr>
          <a:xfrm>
            <a:off x="1127448" y="3199135"/>
            <a:ext cx="914400" cy="496072"/>
          </a:xfrm>
          <a:prstGeom prst="can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Router</a:t>
            </a:r>
            <a:endParaRPr lang="ru-RU" dirty="0"/>
          </a:p>
        </p:txBody>
      </p:sp>
      <p:sp>
        <p:nvSpPr>
          <p:cNvPr id="11" name="Облако 10"/>
          <p:cNvSpPr/>
          <p:nvPr/>
        </p:nvSpPr>
        <p:spPr>
          <a:xfrm>
            <a:off x="935496" y="4569070"/>
            <a:ext cx="1296144" cy="914400"/>
          </a:xfrm>
          <a:prstGeom prst="cloud">
            <a:avLst/>
          </a:prstGeom>
          <a:solidFill>
            <a:schemeClr val="accent3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Сеть2</a:t>
            </a:r>
            <a:endParaRPr lang="ru-RU" dirty="0"/>
          </a:p>
        </p:txBody>
      </p:sp>
      <p:cxnSp>
        <p:nvCxnSpPr>
          <p:cNvPr id="15" name="Прямая соединительная линия 14"/>
          <p:cNvCxnSpPr>
            <a:stCxn id="8" idx="1"/>
            <a:endCxn id="10" idx="1"/>
          </p:cNvCxnSpPr>
          <p:nvPr/>
        </p:nvCxnSpPr>
        <p:spPr>
          <a:xfrm>
            <a:off x="1584648" y="2300580"/>
            <a:ext cx="0" cy="898555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10" idx="3"/>
            <a:endCxn id="11" idx="3"/>
          </p:cNvCxnSpPr>
          <p:nvPr/>
        </p:nvCxnSpPr>
        <p:spPr>
          <a:xfrm flipH="1">
            <a:off x="1583568" y="3695207"/>
            <a:ext cx="1080" cy="926145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583568" y="2561292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FE80::/64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1603809" y="3940000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FE80::/64</a:t>
            </a:r>
            <a:endParaRPr lang="ru-RU" dirty="0"/>
          </a:p>
        </p:txBody>
      </p:sp>
      <p:sp>
        <p:nvSpPr>
          <p:cNvPr id="24" name="Text Box 28"/>
          <p:cNvSpPr txBox="1">
            <a:spLocks noChangeArrowheads="1"/>
          </p:cNvSpPr>
          <p:nvPr/>
        </p:nvSpPr>
        <p:spPr bwMode="auto">
          <a:xfrm>
            <a:off x="3287688" y="3432169"/>
            <a:ext cx="8136904" cy="1685846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ru-RU" sz="2400" dirty="0" smtClean="0"/>
              <a:t>Для решения проблемы вместе с адресом указывается зона:</a:t>
            </a:r>
          </a:p>
          <a:p>
            <a:pPr eaLnBrk="1" hangingPunct="1">
              <a:lnSpc>
                <a:spcPct val="150000"/>
              </a:lnSpc>
            </a:pPr>
            <a:r>
              <a:rPr lang="en-US" sz="2400" b="1" dirty="0" smtClean="0"/>
              <a:t>C:\&gt; ping </a:t>
            </a:r>
            <a:r>
              <a:rPr lang="en-US" sz="2400" b="1" dirty="0"/>
              <a:t>fe80::</a:t>
            </a:r>
            <a:r>
              <a:rPr lang="en-US" sz="2400" b="1" dirty="0" smtClean="0"/>
              <a:t>e0ef:518a:9281:f356</a:t>
            </a:r>
            <a:r>
              <a:rPr lang="en-US" sz="2400" b="1" dirty="0" smtClean="0">
                <a:solidFill>
                  <a:srgbClr val="00B0F0"/>
                </a:solidFill>
              </a:rPr>
              <a:t>%10</a:t>
            </a:r>
            <a:endParaRPr lang="ru-RU" sz="2400" b="1" dirty="0" smtClean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184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dirty="0"/>
              <a:t>Уникальный </a:t>
            </a:r>
            <a:r>
              <a:rPr lang="ru-RU" dirty="0" smtClean="0"/>
              <a:t>локальный</a:t>
            </a:r>
            <a:r>
              <a:rPr lang="en-US" dirty="0" smtClean="0"/>
              <a:t> </a:t>
            </a:r>
            <a:r>
              <a:rPr lang="ru-RU" dirty="0" smtClean="0"/>
              <a:t>адрес 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56792"/>
            <a:ext cx="11210181" cy="1451432"/>
          </a:xfrm>
          <a:prstGeom prst="rect">
            <a:avLst/>
          </a:prstGeom>
        </p:spPr>
      </p:pic>
      <p:sp>
        <p:nvSpPr>
          <p:cNvPr id="34" name="Text Box 28"/>
          <p:cNvSpPr txBox="1">
            <a:spLocks noChangeArrowheads="1"/>
          </p:cNvSpPr>
          <p:nvPr/>
        </p:nvSpPr>
        <p:spPr bwMode="auto">
          <a:xfrm>
            <a:off x="644914" y="3212976"/>
            <a:ext cx="5184576" cy="2862322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Prefix=</a:t>
            </a:r>
            <a:r>
              <a:rPr lang="en-US" sz="2400" b="1" dirty="0"/>
              <a:t>FC00::/</a:t>
            </a:r>
            <a:r>
              <a:rPr lang="en-US" sz="2400" b="1" dirty="0" smtClean="0"/>
              <a:t>7</a:t>
            </a:r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/>
              <a:t>L</a:t>
            </a:r>
            <a:r>
              <a:rPr lang="en-US" sz="2400" dirty="0" smtClean="0"/>
              <a:t>: </a:t>
            </a:r>
            <a:r>
              <a:rPr lang="en-US" sz="2400" b="1" dirty="0" smtClean="0"/>
              <a:t>1</a:t>
            </a:r>
            <a:r>
              <a:rPr lang="en-US" sz="2400" dirty="0" smtClean="0"/>
              <a:t> – </a:t>
            </a:r>
            <a:r>
              <a:rPr lang="ru-RU" sz="2400" dirty="0" smtClean="0"/>
              <a:t>локальный адрес, </a:t>
            </a:r>
            <a:r>
              <a:rPr lang="ru-RU" sz="2400" b="1" dirty="0" smtClean="0"/>
              <a:t>0</a:t>
            </a:r>
            <a:r>
              <a:rPr lang="ru-RU" sz="2400" dirty="0" smtClean="0"/>
              <a:t> – для будущего использования</a:t>
            </a:r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/>
              <a:t>Global ID</a:t>
            </a:r>
            <a:r>
              <a:rPr lang="ru-RU" sz="2400" b="1" dirty="0" smtClean="0"/>
              <a:t> </a:t>
            </a:r>
            <a:r>
              <a:rPr lang="ru-RU" sz="2400" dirty="0" smtClean="0"/>
              <a:t>– для создания уникального префикса</a:t>
            </a:r>
          </a:p>
        </p:txBody>
      </p:sp>
      <p:sp>
        <p:nvSpPr>
          <p:cNvPr id="35" name="Text Box 28"/>
          <p:cNvSpPr txBox="1">
            <a:spLocks noChangeArrowheads="1"/>
          </p:cNvSpPr>
          <p:nvPr/>
        </p:nvSpPr>
        <p:spPr bwMode="auto">
          <a:xfrm>
            <a:off x="5951983" y="3188160"/>
            <a:ext cx="5867797" cy="28931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1400" dirty="0"/>
              <a:t>Obtain the current time of day in 64-bit NTP format [NTP].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1400" dirty="0"/>
              <a:t>Obtain an EUI-64 identifier from the system running this algorithm.  If an EUI-64 does not exist, one can be created from a 48-bit MAC address as specified in [ADDARCH].  If an EUI-64 cannot be obtained or created, a suitably unique identifier, local to the node, should be used (e.g., system serial number).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1400" dirty="0"/>
              <a:t>Concatenate the time of day with the system-specific identifier in order to create a key.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1400" dirty="0"/>
              <a:t>Compute an SHA-1 digest on the key as specified in [FIPS, SHA1]; the resulting value is 160 bits.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1400" dirty="0"/>
              <a:t>Use the least significant 40 bits as the Global ID.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1400" dirty="0"/>
              <a:t>Concatenate FC00::/7, the L bit set to 1, and the 40-bit Global ID to create a Local IPv6 address prefix.</a:t>
            </a:r>
            <a:endParaRPr lang="ru-RU" sz="1400" dirty="0" smtClean="0"/>
          </a:p>
        </p:txBody>
      </p:sp>
    </p:spTree>
    <p:extLst>
      <p:ext uri="{BB962C8B-B14F-4D97-AF65-F5344CB8AC3E}">
        <p14:creationId xmlns:p14="http://schemas.microsoft.com/office/powerpoint/2010/main" val="3262859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dirty="0" smtClean="0"/>
              <a:t>Групповой адрес (</a:t>
            </a:r>
            <a:r>
              <a:rPr lang="en-US" dirty="0" smtClean="0"/>
              <a:t>multicast</a:t>
            </a:r>
            <a:r>
              <a:rPr lang="ru-RU" dirty="0" smtClean="0"/>
              <a:t>) </a:t>
            </a:r>
          </a:p>
        </p:txBody>
      </p:sp>
      <p:sp>
        <p:nvSpPr>
          <p:cNvPr id="34" name="Text Box 28"/>
          <p:cNvSpPr txBox="1">
            <a:spLocks noChangeArrowheads="1"/>
          </p:cNvSpPr>
          <p:nvPr/>
        </p:nvSpPr>
        <p:spPr bwMode="auto">
          <a:xfrm>
            <a:off x="644914" y="3212976"/>
            <a:ext cx="5184576" cy="1754326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 smtClean="0"/>
              <a:t>flgs</a:t>
            </a:r>
            <a:r>
              <a:rPr lang="en-US" sz="2400" dirty="0" smtClean="0"/>
              <a:t>=|</a:t>
            </a:r>
            <a:r>
              <a:rPr lang="en-US" sz="2400" b="1" dirty="0" smtClean="0"/>
              <a:t>0</a:t>
            </a:r>
            <a:r>
              <a:rPr lang="en-US" sz="2400" dirty="0" smtClean="0"/>
              <a:t>|</a:t>
            </a:r>
            <a:r>
              <a:rPr lang="en-US" sz="2400" b="1" dirty="0" smtClean="0"/>
              <a:t>R</a:t>
            </a:r>
            <a:r>
              <a:rPr lang="en-US" sz="2400" dirty="0" smtClean="0"/>
              <a:t>|</a:t>
            </a:r>
            <a:r>
              <a:rPr lang="en-US" sz="2400" b="1" dirty="0" smtClean="0"/>
              <a:t>P</a:t>
            </a:r>
            <a:r>
              <a:rPr lang="en-US" sz="2400" dirty="0" smtClean="0"/>
              <a:t>|</a:t>
            </a:r>
            <a:r>
              <a:rPr lang="en-US" sz="2400" b="1" dirty="0" smtClean="0"/>
              <a:t>T</a:t>
            </a:r>
            <a:r>
              <a:rPr lang="en-US" sz="2400" dirty="0" smtClean="0"/>
              <a:t>|</a:t>
            </a:r>
          </a:p>
          <a:p>
            <a:pPr marL="1085850" lvl="1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/>
              <a:t>T=0</a:t>
            </a:r>
            <a:r>
              <a:rPr lang="en-US" sz="2400" dirty="0" smtClean="0"/>
              <a:t> – well-known </a:t>
            </a:r>
            <a:r>
              <a:rPr lang="ru-RU" sz="2400" dirty="0" smtClean="0"/>
              <a:t>адрес</a:t>
            </a:r>
            <a:r>
              <a:rPr lang="en-US" sz="2400" dirty="0" smtClean="0"/>
              <a:t> </a:t>
            </a:r>
            <a:endParaRPr lang="ru-RU" sz="2400" dirty="0" smtClean="0"/>
          </a:p>
          <a:p>
            <a:pPr marL="1085850" lvl="1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/>
              <a:t>T=</a:t>
            </a:r>
            <a:r>
              <a:rPr lang="ru-RU" sz="2400" b="1" dirty="0" smtClean="0"/>
              <a:t>1</a:t>
            </a:r>
            <a:r>
              <a:rPr lang="en-US" sz="2400" dirty="0" smtClean="0"/>
              <a:t> –</a:t>
            </a:r>
            <a:r>
              <a:rPr lang="ru-RU" sz="2400" dirty="0" smtClean="0"/>
              <a:t> динамический</a:t>
            </a:r>
            <a:r>
              <a:rPr lang="en-US" sz="2400" dirty="0" smtClean="0"/>
              <a:t> </a:t>
            </a:r>
            <a:r>
              <a:rPr lang="ru-RU" sz="2400" dirty="0"/>
              <a:t>адрес</a:t>
            </a:r>
            <a:r>
              <a:rPr lang="en-US" sz="2400" dirty="0"/>
              <a:t> </a:t>
            </a:r>
            <a:endParaRPr lang="ru-RU" sz="2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14" y="1268760"/>
            <a:ext cx="10851686" cy="1341047"/>
          </a:xfrm>
          <a:prstGeom prst="rect">
            <a:avLst/>
          </a:prstGeom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6095483" y="3068960"/>
            <a:ext cx="5184576" cy="2862322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sz="2400" b="1" dirty="0" smtClean="0"/>
              <a:t>Scope:</a:t>
            </a:r>
          </a:p>
          <a:p>
            <a:pPr eaLnBrk="1" hangingPunct="1"/>
            <a:r>
              <a:rPr lang="en-US" sz="2400" dirty="0"/>
              <a:t>1  Interface-Local scope</a:t>
            </a:r>
          </a:p>
          <a:p>
            <a:pPr eaLnBrk="1" hangingPunct="1"/>
            <a:r>
              <a:rPr lang="en-US" sz="2400" dirty="0"/>
              <a:t>2  Link-Local scope</a:t>
            </a:r>
          </a:p>
          <a:p>
            <a:pPr eaLnBrk="1" hangingPunct="1"/>
            <a:r>
              <a:rPr lang="en-US" sz="2400" dirty="0"/>
              <a:t>4  Admin-Local scope</a:t>
            </a:r>
          </a:p>
          <a:p>
            <a:pPr eaLnBrk="1" hangingPunct="1"/>
            <a:r>
              <a:rPr lang="en-US" sz="2400" dirty="0"/>
              <a:t>5  Site-Local scope</a:t>
            </a:r>
          </a:p>
          <a:p>
            <a:pPr eaLnBrk="1" hangingPunct="1"/>
            <a:r>
              <a:rPr lang="en-US" sz="2400" dirty="0"/>
              <a:t>8  Organization-Local scope</a:t>
            </a:r>
          </a:p>
          <a:p>
            <a:pPr eaLnBrk="1" hangingPunct="1"/>
            <a:r>
              <a:rPr lang="en-US" sz="2400" dirty="0"/>
              <a:t>E  Global </a:t>
            </a:r>
            <a:r>
              <a:rPr lang="en-US" sz="2400" dirty="0" smtClean="0"/>
              <a:t>scope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680197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dirty="0" smtClean="0"/>
              <a:t>Групповой адрес (</a:t>
            </a:r>
            <a:r>
              <a:rPr lang="en-US" dirty="0" smtClean="0"/>
              <a:t>multicast</a:t>
            </a:r>
            <a:r>
              <a:rPr lang="ru-RU" dirty="0" smtClean="0"/>
              <a:t>) 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674056"/>
              </p:ext>
            </p:extLst>
          </p:nvPr>
        </p:nvGraphicFramePr>
        <p:xfrm>
          <a:off x="709192" y="1268760"/>
          <a:ext cx="10643392" cy="372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432">
                  <a:extLst>
                    <a:ext uri="{9D8B030D-6E8A-4147-A177-3AD203B41FA5}">
                      <a16:colId xmlns:a16="http://schemas.microsoft.com/office/drawing/2014/main" val="1230767906"/>
                    </a:ext>
                  </a:extLst>
                </a:gridCol>
                <a:gridCol w="6966960">
                  <a:extLst>
                    <a:ext uri="{9D8B030D-6E8A-4147-A177-3AD203B41FA5}">
                      <a16:colId xmlns:a16="http://schemas.microsoft.com/office/drawing/2014/main" val="4071839546"/>
                    </a:ext>
                  </a:extLst>
                </a:gridCol>
              </a:tblGrid>
              <a:tr h="531302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Адрес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Описание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66904"/>
                  </a:ext>
                </a:extLst>
              </a:tr>
              <a:tr h="764842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FF01:0:0:0:0:0:0:1</a:t>
                      </a:r>
                      <a:endParaRPr lang="ru-RU" sz="24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Все</a:t>
                      </a:r>
                      <a:r>
                        <a:rPr lang="ru-RU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узлы на интерфейсе (групповая рассылка на самого себя)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619809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/>
                        <a:t>FF0</a:t>
                      </a:r>
                      <a:r>
                        <a:rPr lang="ru-RU" sz="2400" b="1" dirty="0" smtClean="0"/>
                        <a:t>2</a:t>
                      </a:r>
                      <a:r>
                        <a:rPr lang="en-US" sz="2400" b="1" dirty="0" smtClean="0"/>
                        <a:t>:0:0:0:0:0:0:1</a:t>
                      </a:r>
                      <a:endParaRPr lang="ru-RU" sz="2400" b="1" dirty="0" smtClean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Все узлы</a:t>
                      </a:r>
                      <a:r>
                        <a:rPr lang="ru-RU" sz="2000" b="1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на канале</a:t>
                      </a:r>
                      <a:endParaRPr lang="ru-RU" sz="2000" b="1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117121"/>
                  </a:ext>
                </a:extLst>
              </a:tr>
              <a:tr h="613041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FF01:0:0:0:0:0:0:2</a:t>
                      </a:r>
                      <a:endParaRPr lang="ru-RU" sz="24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Все</a:t>
                      </a:r>
                      <a:r>
                        <a:rPr lang="ru-RU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маршрутизаторы на интерфейсе (групповая рассылка на самого себя)</a:t>
                      </a:r>
                      <a:endParaRPr lang="ru-RU" sz="20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654028"/>
                  </a:ext>
                </a:extLst>
              </a:tr>
              <a:tr h="613041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FF0</a:t>
                      </a:r>
                      <a:r>
                        <a:rPr lang="ru-RU" sz="2400" b="1" dirty="0" smtClean="0"/>
                        <a:t>2</a:t>
                      </a:r>
                      <a:r>
                        <a:rPr lang="en-US" sz="2400" b="1" dirty="0" smtClean="0"/>
                        <a:t>:0:0:0:0:0:0:2</a:t>
                      </a:r>
                      <a:endParaRPr lang="ru-RU" sz="2400" b="1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1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Все </a:t>
                      </a:r>
                      <a:r>
                        <a:rPr lang="ru-RU" sz="2000" b="1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маршрутизаторы на канале</a:t>
                      </a:r>
                      <a:endParaRPr lang="ru-RU" sz="2000" b="1" dirty="0" smtClean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693228"/>
                  </a:ext>
                </a:extLst>
              </a:tr>
              <a:tr h="61304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FF0</a:t>
                      </a:r>
                      <a:r>
                        <a:rPr lang="ru-RU" sz="2400" dirty="0" smtClean="0"/>
                        <a:t>5</a:t>
                      </a:r>
                      <a:r>
                        <a:rPr lang="en-US" sz="2400" dirty="0" smtClean="0"/>
                        <a:t>:0:0:0:0:0:0:2</a:t>
                      </a:r>
                      <a:endParaRPr lang="ru-RU" sz="2400" dirty="0" smtClean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Все </a:t>
                      </a:r>
                      <a:r>
                        <a:rPr lang="ru-RU" sz="200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маршрутизаторы</a:t>
                      </a:r>
                      <a:r>
                        <a:rPr lang="ru-RU" sz="2000" b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на сайте (в частной сети)</a:t>
                      </a:r>
                      <a:endParaRPr lang="ru-RU" sz="2000" b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730493"/>
                  </a:ext>
                </a:extLst>
              </a:tr>
            </a:tbl>
          </a:graphicData>
        </a:graphic>
      </p:graphicFrame>
      <p:sp>
        <p:nvSpPr>
          <p:cNvPr id="8" name="Text Box 28"/>
          <p:cNvSpPr txBox="1">
            <a:spLocks noChangeArrowheads="1"/>
          </p:cNvSpPr>
          <p:nvPr/>
        </p:nvSpPr>
        <p:spPr bwMode="auto">
          <a:xfrm>
            <a:off x="644914" y="5229200"/>
            <a:ext cx="10707670" cy="120032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sz="2400" dirty="0" smtClean="0"/>
              <a:t>IPv6 </a:t>
            </a:r>
            <a:r>
              <a:rPr lang="ru-RU" sz="2400" dirty="0" smtClean="0"/>
              <a:t>не поддерживает широковещание. Вместо него необходимо использовать групповую рассылку </a:t>
            </a:r>
          </a:p>
        </p:txBody>
      </p:sp>
    </p:spTree>
    <p:extLst>
      <p:ext uri="{BB962C8B-B14F-4D97-AF65-F5344CB8AC3E}">
        <p14:creationId xmlns:p14="http://schemas.microsoft.com/office/powerpoint/2010/main" val="2660209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dirty="0" smtClean="0"/>
              <a:t>Групповой адрес (</a:t>
            </a:r>
            <a:r>
              <a:rPr lang="en-US" dirty="0" smtClean="0"/>
              <a:t>multicast</a:t>
            </a:r>
            <a:r>
              <a:rPr lang="ru-RU" dirty="0" smtClean="0"/>
              <a:t>) </a:t>
            </a:r>
          </a:p>
        </p:txBody>
      </p:sp>
      <p:sp>
        <p:nvSpPr>
          <p:cNvPr id="34" name="Text Box 28"/>
          <p:cNvSpPr txBox="1">
            <a:spLocks noChangeArrowheads="1"/>
          </p:cNvSpPr>
          <p:nvPr/>
        </p:nvSpPr>
        <p:spPr bwMode="auto">
          <a:xfrm>
            <a:off x="2135560" y="1700808"/>
            <a:ext cx="7755342" cy="5778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sz="2400" dirty="0"/>
              <a:t>Solicited-Node Address:  </a:t>
            </a:r>
            <a:r>
              <a:rPr lang="en-US" sz="2400" b="1" dirty="0"/>
              <a:t>FF02:0:0:0:0:1:FFXX:XXXX</a:t>
            </a:r>
            <a:endParaRPr lang="ru-RU" sz="2400" b="1" dirty="0"/>
          </a:p>
        </p:txBody>
      </p:sp>
      <p:sp>
        <p:nvSpPr>
          <p:cNvPr id="8" name="Text Box 28"/>
          <p:cNvSpPr txBox="1">
            <a:spLocks noChangeArrowheads="1"/>
          </p:cNvSpPr>
          <p:nvPr/>
        </p:nvSpPr>
        <p:spPr bwMode="auto">
          <a:xfrm>
            <a:off x="2135560" y="2541348"/>
            <a:ext cx="7755342" cy="1754326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ru-RU" sz="2400" dirty="0" smtClean="0"/>
              <a:t>Пример:</a:t>
            </a:r>
          </a:p>
          <a:p>
            <a:pPr eaLnBrk="1" hangingPunct="1">
              <a:lnSpc>
                <a:spcPct val="150000"/>
              </a:lnSpc>
            </a:pPr>
            <a:r>
              <a:rPr lang="ru-RU" sz="2400" dirty="0" smtClean="0"/>
              <a:t>Для адреса 	</a:t>
            </a:r>
            <a:r>
              <a:rPr lang="en-US" sz="2400" b="1" dirty="0" smtClean="0"/>
              <a:t>4037</a:t>
            </a:r>
            <a:r>
              <a:rPr lang="en-US" sz="2400" b="1" dirty="0"/>
              <a:t>::</a:t>
            </a:r>
            <a:r>
              <a:rPr lang="en-US" sz="2400" b="1" dirty="0" smtClean="0"/>
              <a:t>01:800:20</a:t>
            </a:r>
            <a:r>
              <a:rPr lang="en-US" sz="2400" b="1" dirty="0" smtClean="0">
                <a:solidFill>
                  <a:srgbClr val="00B0F0"/>
                </a:solidFill>
              </a:rPr>
              <a:t>0E</a:t>
            </a:r>
            <a:r>
              <a:rPr lang="en-US" sz="2400" b="1" dirty="0" smtClean="0"/>
              <a:t>:</a:t>
            </a:r>
            <a:r>
              <a:rPr lang="en-US" sz="2400" b="1" dirty="0" smtClean="0">
                <a:solidFill>
                  <a:srgbClr val="00B0F0"/>
                </a:solidFill>
              </a:rPr>
              <a:t>8C6C</a:t>
            </a:r>
            <a:endParaRPr lang="ru-RU" sz="2400" b="1" dirty="0" smtClean="0">
              <a:solidFill>
                <a:srgbClr val="00B0F0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en-US" sz="2400" dirty="0" smtClean="0"/>
              <a:t>Solicited</a:t>
            </a:r>
            <a:r>
              <a:rPr lang="ru-RU" sz="2400" dirty="0" smtClean="0"/>
              <a:t>: 	</a:t>
            </a:r>
            <a:r>
              <a:rPr lang="en-US" sz="2400" b="1" dirty="0" smtClean="0"/>
              <a:t>FF02</a:t>
            </a:r>
            <a:r>
              <a:rPr lang="en-US" sz="2400" b="1" dirty="0"/>
              <a:t>::1:FF</a:t>
            </a:r>
            <a:r>
              <a:rPr lang="en-US" sz="2400" b="1" dirty="0">
                <a:solidFill>
                  <a:srgbClr val="00B0F0"/>
                </a:solidFill>
              </a:rPr>
              <a:t>0E</a:t>
            </a:r>
            <a:r>
              <a:rPr lang="en-US" sz="2400" b="1" dirty="0"/>
              <a:t>:</a:t>
            </a:r>
            <a:r>
              <a:rPr lang="en-US" sz="2400" b="1" dirty="0">
                <a:solidFill>
                  <a:srgbClr val="00B0F0"/>
                </a:solidFill>
              </a:rPr>
              <a:t>8C6C</a:t>
            </a:r>
            <a:endParaRPr lang="ru-RU" sz="2400" b="1" dirty="0">
              <a:solidFill>
                <a:srgbClr val="00B0F0"/>
              </a:solidFill>
            </a:endParaRPr>
          </a:p>
        </p:txBody>
      </p: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1055440" y="4566158"/>
            <a:ext cx="9577064" cy="120032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ru-RU" sz="2400" dirty="0" smtClean="0"/>
              <a:t>Каждый узел обязан вычислить </a:t>
            </a:r>
            <a:r>
              <a:rPr lang="en-US" sz="2400" dirty="0" smtClean="0"/>
              <a:t>Solicited</a:t>
            </a:r>
            <a:r>
              <a:rPr lang="ru-RU" sz="2400" dirty="0" smtClean="0"/>
              <a:t> адрес для каждого своего </a:t>
            </a:r>
            <a:r>
              <a:rPr lang="en-US" sz="2400" dirty="0" smtClean="0"/>
              <a:t>unicast </a:t>
            </a:r>
            <a:r>
              <a:rPr lang="ru-RU" sz="2400" dirty="0" smtClean="0"/>
              <a:t>и </a:t>
            </a:r>
            <a:r>
              <a:rPr lang="en-US" sz="2400" dirty="0" err="1" smtClean="0"/>
              <a:t>anycast</a:t>
            </a:r>
            <a:r>
              <a:rPr lang="en-US" sz="2400" dirty="0" smtClean="0"/>
              <a:t> </a:t>
            </a:r>
            <a:r>
              <a:rPr lang="ru-RU" sz="2400" dirty="0" smtClean="0"/>
              <a:t>адреса и вступить в группу</a:t>
            </a:r>
            <a:endParaRPr lang="ru-RU" sz="24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677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dirty="0" smtClean="0"/>
              <a:t>Розыск соседей</a:t>
            </a:r>
          </a:p>
        </p:txBody>
      </p:sp>
      <p:sp>
        <p:nvSpPr>
          <p:cNvPr id="8" name="Text Box 28"/>
          <p:cNvSpPr txBox="1">
            <a:spLocks noChangeArrowheads="1"/>
          </p:cNvSpPr>
          <p:nvPr/>
        </p:nvSpPr>
        <p:spPr bwMode="auto">
          <a:xfrm>
            <a:off x="7808876" y="1287771"/>
            <a:ext cx="3888432" cy="424731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ru-RU" sz="2000" b="1" dirty="0"/>
              <a:t>Для </a:t>
            </a:r>
            <a:r>
              <a:rPr lang="en-US" sz="2000" b="1" dirty="0"/>
              <a:t>IPv6 </a:t>
            </a:r>
            <a:r>
              <a:rPr lang="ru-RU" sz="2000" b="1" dirty="0"/>
              <a:t>протокол </a:t>
            </a:r>
            <a:r>
              <a:rPr lang="en-US" sz="2000" b="1" dirty="0"/>
              <a:t>ARP </a:t>
            </a:r>
            <a:r>
              <a:rPr lang="ru-RU" sz="2000" b="1" dirty="0"/>
              <a:t>не </a:t>
            </a:r>
            <a:r>
              <a:rPr lang="ru-RU" sz="2000" b="1" dirty="0" smtClean="0"/>
              <a:t>существует!</a:t>
            </a:r>
            <a:endParaRPr lang="ru-RU" sz="2000" dirty="0" smtClean="0"/>
          </a:p>
          <a:p>
            <a:pPr eaLnBrk="1" hangingPunct="1">
              <a:lnSpc>
                <a:spcPct val="150000"/>
              </a:lnSpc>
            </a:pPr>
            <a:r>
              <a:rPr lang="ru-RU" sz="2000" dirty="0" smtClean="0"/>
              <a:t>Для розыска соседа </a:t>
            </a:r>
            <a:r>
              <a:rPr lang="ru-RU" sz="2000" dirty="0"/>
              <a:t>и</a:t>
            </a:r>
            <a:r>
              <a:rPr lang="ru-RU" sz="2000" dirty="0" smtClean="0"/>
              <a:t>спользуется </a:t>
            </a:r>
            <a:r>
              <a:rPr lang="en-US" sz="2000" dirty="0" smtClean="0"/>
              <a:t>ICMPv6. </a:t>
            </a:r>
            <a:r>
              <a:rPr lang="ru-RU" sz="2000" dirty="0" smtClean="0"/>
              <a:t>Поддерживаются сообщения:</a:t>
            </a:r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Neighbor solicitation </a:t>
            </a:r>
            <a:r>
              <a:rPr lang="ru-RU" sz="2000" dirty="0" smtClean="0"/>
              <a:t>(</a:t>
            </a:r>
            <a:r>
              <a:rPr lang="en-US" sz="2000" b="1" dirty="0" smtClean="0"/>
              <a:t>NS</a:t>
            </a:r>
            <a:r>
              <a:rPr lang="ru-RU" sz="2000" dirty="0" smtClean="0"/>
              <a:t>)</a:t>
            </a:r>
            <a:r>
              <a:rPr lang="en-US" sz="2000" dirty="0" smtClean="0"/>
              <a:t> – </a:t>
            </a:r>
            <a:r>
              <a:rPr lang="ru-RU" sz="2000" dirty="0" smtClean="0"/>
              <a:t>вызов соседа</a:t>
            </a:r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Neighbor advertisement (</a:t>
            </a:r>
            <a:r>
              <a:rPr lang="en-US" sz="2000" b="1" dirty="0" smtClean="0"/>
              <a:t>NA</a:t>
            </a:r>
            <a:r>
              <a:rPr lang="en-US" sz="2000" dirty="0" smtClean="0"/>
              <a:t>) – </a:t>
            </a:r>
            <a:r>
              <a:rPr lang="ru-RU" sz="2000" dirty="0" smtClean="0"/>
              <a:t>объявление соседа</a:t>
            </a:r>
          </a:p>
        </p:txBody>
      </p:sp>
      <p:sp>
        <p:nvSpPr>
          <p:cNvPr id="6" name="Text Box 28"/>
          <p:cNvSpPr txBox="1">
            <a:spLocks noChangeArrowheads="1"/>
          </p:cNvSpPr>
          <p:nvPr/>
        </p:nvSpPr>
        <p:spPr bwMode="auto">
          <a:xfrm>
            <a:off x="839416" y="1268760"/>
            <a:ext cx="6624736" cy="465197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ru-RU" sz="2000" dirty="0" smtClean="0"/>
              <a:t>Узел </a:t>
            </a:r>
            <a:r>
              <a:rPr lang="ru-RU" sz="2000" dirty="0"/>
              <a:t>хочет передать пакет своему </a:t>
            </a:r>
            <a:r>
              <a:rPr lang="ru-RU" sz="2000" dirty="0" smtClean="0"/>
              <a:t>соседу, </a:t>
            </a:r>
            <a:r>
              <a:rPr lang="ru-RU" sz="2000" dirty="0"/>
              <a:t>но не знает его канального </a:t>
            </a:r>
            <a:r>
              <a:rPr lang="ru-RU" sz="2000" dirty="0" smtClean="0"/>
              <a:t>адреса: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составить групповой </a:t>
            </a:r>
            <a:r>
              <a:rPr lang="en-US" sz="2000" dirty="0" smtClean="0"/>
              <a:t>Solicited</a:t>
            </a:r>
            <a:r>
              <a:rPr lang="ru-RU" sz="2000" dirty="0" smtClean="0"/>
              <a:t>-адрес искомого узла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 smtClean="0"/>
              <a:t>составить </a:t>
            </a:r>
            <a:r>
              <a:rPr lang="ru-RU" sz="2000" dirty="0"/>
              <a:t>вызов соседа </a:t>
            </a:r>
            <a:r>
              <a:rPr lang="ru-RU" sz="2000" dirty="0" smtClean="0"/>
              <a:t>NS</a:t>
            </a:r>
            <a:endParaRPr lang="ru-RU" sz="2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 smtClean="0"/>
              <a:t>послать </a:t>
            </a:r>
            <a:r>
              <a:rPr lang="ru-RU" sz="2000" dirty="0"/>
              <a:t>этот вызов по </a:t>
            </a:r>
            <a:r>
              <a:rPr lang="en-US" sz="2000" dirty="0" smtClean="0"/>
              <a:t>Solicited</a:t>
            </a:r>
            <a:r>
              <a:rPr lang="ru-RU" sz="2000" dirty="0" smtClean="0"/>
              <a:t>-адресу</a:t>
            </a:r>
            <a:endParaRPr lang="ru-RU" sz="2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 smtClean="0"/>
              <a:t>ожидать </a:t>
            </a:r>
            <a:r>
              <a:rPr lang="ru-RU" sz="2000" dirty="0"/>
              <a:t>объявления соседа </a:t>
            </a:r>
            <a:r>
              <a:rPr lang="ru-RU" sz="2000" dirty="0" smtClean="0"/>
              <a:t>NA</a:t>
            </a:r>
            <a:endParaRPr lang="ru-RU" sz="2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 smtClean="0"/>
              <a:t>извлечь </a:t>
            </a:r>
            <a:r>
              <a:rPr lang="ru-RU" sz="2000" dirty="0"/>
              <a:t>из принятого объявления NA канальный </a:t>
            </a:r>
            <a:r>
              <a:rPr lang="ru-RU" sz="2000" dirty="0" smtClean="0"/>
              <a:t>адрес</a:t>
            </a:r>
            <a:endParaRPr lang="ru-RU" sz="2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 smtClean="0"/>
              <a:t>направить </a:t>
            </a:r>
            <a:r>
              <a:rPr lang="ru-RU" sz="2000" dirty="0"/>
              <a:t>по канальному </a:t>
            </a:r>
            <a:r>
              <a:rPr lang="ru-RU" sz="2000" dirty="0" smtClean="0"/>
              <a:t>адресу кадр </a:t>
            </a:r>
            <a:r>
              <a:rPr lang="ru-RU" sz="2000" dirty="0"/>
              <a:t>с пакетом</a:t>
            </a:r>
            <a:r>
              <a:rPr lang="ru-RU" sz="2000" dirty="0" smtClean="0"/>
              <a:t>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794255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dirty="0" smtClean="0"/>
              <a:t>Выявление дубликатов </a:t>
            </a:r>
            <a:r>
              <a:rPr lang="ru-RU" dirty="0"/>
              <a:t>адресов</a:t>
            </a:r>
            <a:endParaRPr lang="ru-RU" dirty="0" smtClean="0"/>
          </a:p>
        </p:txBody>
      </p:sp>
      <p:sp>
        <p:nvSpPr>
          <p:cNvPr id="5" name="Text Box 28"/>
          <p:cNvSpPr txBox="1">
            <a:spLocks noChangeArrowheads="1"/>
          </p:cNvSpPr>
          <p:nvPr/>
        </p:nvSpPr>
        <p:spPr bwMode="auto">
          <a:xfrm>
            <a:off x="695400" y="1052736"/>
            <a:ext cx="11233247" cy="5632311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sz="2000" b="1" dirty="0"/>
              <a:t>DAD</a:t>
            </a:r>
            <a:r>
              <a:rPr lang="en-US" sz="2000" dirty="0"/>
              <a:t> (duplicate address detection</a:t>
            </a:r>
            <a:r>
              <a:rPr lang="ru-RU" sz="2000" dirty="0" smtClean="0"/>
              <a:t>):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 smtClean="0"/>
              <a:t>Узел вступает </a:t>
            </a:r>
            <a:r>
              <a:rPr lang="ru-RU" sz="2000" dirty="0"/>
              <a:t>на интерфейсе </a:t>
            </a:r>
            <a:r>
              <a:rPr lang="ru-RU" sz="2000" dirty="0" smtClean="0"/>
              <a:t>в </a:t>
            </a:r>
            <a:r>
              <a:rPr lang="ru-RU" sz="2000" dirty="0"/>
              <a:t>следующие группы</a:t>
            </a:r>
            <a:r>
              <a:rPr lang="ru-RU" sz="2000" dirty="0" smtClean="0"/>
              <a:t>:</a:t>
            </a:r>
          </a:p>
          <a:p>
            <a:pPr marL="1200150" lvl="1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 smtClean="0"/>
              <a:t>«все </a:t>
            </a:r>
            <a:r>
              <a:rPr lang="ru-RU" sz="2000" dirty="0"/>
              <a:t>узлы канала», FF02::</a:t>
            </a:r>
            <a:r>
              <a:rPr lang="ru-RU" sz="2000" dirty="0" smtClean="0"/>
              <a:t>1</a:t>
            </a:r>
          </a:p>
          <a:p>
            <a:pPr marL="1200150" lvl="1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 smtClean="0"/>
              <a:t>группа </a:t>
            </a:r>
            <a:r>
              <a:rPr lang="ru-RU" sz="2000" dirty="0"/>
              <a:t>искомого </a:t>
            </a:r>
            <a:r>
              <a:rPr lang="ru-RU" sz="2000" dirty="0" smtClean="0"/>
              <a:t>адреса</a:t>
            </a:r>
            <a:endParaRPr lang="ru-RU" sz="2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 smtClean="0"/>
              <a:t>Узел </a:t>
            </a:r>
            <a:r>
              <a:rPr lang="ru-RU" sz="2000" dirty="0"/>
              <a:t>направляет группе искомого адреса</a:t>
            </a:r>
            <a:r>
              <a:rPr lang="ru-RU" sz="2000" dirty="0" smtClean="0"/>
              <a:t> </a:t>
            </a:r>
            <a:r>
              <a:rPr lang="ru-RU" sz="2000" dirty="0"/>
              <a:t>вызов </a:t>
            </a:r>
            <a:r>
              <a:rPr lang="ru-RU" sz="2000" dirty="0" smtClean="0"/>
              <a:t>DAD: </a:t>
            </a:r>
            <a:r>
              <a:rPr lang="ru-RU" sz="2000" dirty="0"/>
              <a:t>NS </a:t>
            </a:r>
            <a:r>
              <a:rPr lang="ru-RU" sz="2000" dirty="0" smtClean="0"/>
              <a:t>с </a:t>
            </a:r>
            <a:r>
              <a:rPr lang="ru-RU" sz="2000" dirty="0"/>
              <a:t>неопределенным адресом </a:t>
            </a:r>
            <a:r>
              <a:rPr lang="ru-RU" sz="2000" dirty="0" smtClean="0"/>
              <a:t>источника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У</a:t>
            </a:r>
            <a:r>
              <a:rPr lang="ru-RU" sz="2000" dirty="0" smtClean="0"/>
              <a:t>злы</a:t>
            </a:r>
            <a:r>
              <a:rPr lang="ru-RU" sz="2000" dirty="0"/>
              <a:t>, уже занявшие </a:t>
            </a:r>
            <a:r>
              <a:rPr lang="ru-RU" sz="2000" dirty="0" smtClean="0"/>
              <a:t>этот адрес, если </a:t>
            </a:r>
            <a:r>
              <a:rPr lang="ru-RU" sz="2000" dirty="0"/>
              <a:t>таковые есть, отвечают на вызов DAD объявлениями </a:t>
            </a:r>
            <a:r>
              <a:rPr lang="ru-RU" sz="2000" dirty="0" smtClean="0"/>
              <a:t>NA, </a:t>
            </a:r>
            <a:r>
              <a:rPr lang="ru-RU" sz="2000" dirty="0"/>
              <a:t>направляя их группе «все узлы </a:t>
            </a:r>
            <a:r>
              <a:rPr lang="ru-RU" sz="2000" dirty="0" smtClean="0"/>
              <a:t>канала»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 smtClean="0"/>
              <a:t>Узел отказывается </a:t>
            </a:r>
            <a:r>
              <a:rPr lang="ru-RU" sz="2000" dirty="0"/>
              <a:t>назначить себе </a:t>
            </a:r>
            <a:r>
              <a:rPr lang="ru-RU" sz="2000" dirty="0" smtClean="0"/>
              <a:t>искомый адрес, если:</a:t>
            </a:r>
          </a:p>
          <a:p>
            <a:pPr marL="1200150" lvl="1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 smtClean="0"/>
              <a:t>чужой </a:t>
            </a:r>
            <a:r>
              <a:rPr lang="ru-RU" sz="2000" dirty="0"/>
              <a:t>вызов NS с неопределенного адреса касательно </a:t>
            </a:r>
            <a:r>
              <a:rPr lang="ru-RU" sz="2000" dirty="0" smtClean="0"/>
              <a:t>искомого адреса</a:t>
            </a:r>
          </a:p>
          <a:p>
            <a:pPr marL="1200150" lvl="1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 smtClean="0"/>
              <a:t>объявление </a:t>
            </a:r>
            <a:r>
              <a:rPr lang="ru-RU" sz="2000" dirty="0"/>
              <a:t>NA об </a:t>
            </a:r>
            <a:r>
              <a:rPr lang="ru-RU" sz="2000" dirty="0" smtClean="0"/>
              <a:t>адресе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DAD дает отрицательный результат, если истекает тайм-аут</a:t>
            </a:r>
          </a:p>
        </p:txBody>
      </p:sp>
    </p:spTree>
    <p:extLst>
      <p:ext uri="{BB962C8B-B14F-4D97-AF65-F5344CB8AC3E}">
        <p14:creationId xmlns:p14="http://schemas.microsoft.com/office/powerpoint/2010/main" val="731500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dirty="0"/>
              <a:t>Розыск маршрутизаторов и префиксов</a:t>
            </a:r>
            <a:endParaRPr lang="ru-RU" dirty="0" smtClean="0"/>
          </a:p>
        </p:txBody>
      </p:sp>
      <p:sp>
        <p:nvSpPr>
          <p:cNvPr id="5" name="Text Box 28"/>
          <p:cNvSpPr txBox="1">
            <a:spLocks noChangeArrowheads="1"/>
          </p:cNvSpPr>
          <p:nvPr/>
        </p:nvSpPr>
        <p:spPr bwMode="auto">
          <a:xfrm>
            <a:off x="695400" y="1052736"/>
            <a:ext cx="7877980" cy="507831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ru-RU" b="1" dirty="0" smtClean="0"/>
              <a:t>Действия хоста после активации сетевого интерфейса:</a:t>
            </a:r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/>
              <a:t>Создает </a:t>
            </a:r>
            <a:r>
              <a:rPr lang="ru-RU" dirty="0"/>
              <a:t>пробный внутриканальный адрес </a:t>
            </a:r>
            <a:r>
              <a:rPr lang="ru-RU" dirty="0" smtClean="0"/>
              <a:t>IPv6</a:t>
            </a:r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/>
              <a:t>Проверяет пробный адрес с помощью </a:t>
            </a:r>
            <a:r>
              <a:rPr lang="en-US" dirty="0" smtClean="0"/>
              <a:t>DAD</a:t>
            </a:r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/>
              <a:t>При желании </a:t>
            </a:r>
            <a:r>
              <a:rPr lang="ru-RU" dirty="0" smtClean="0"/>
              <a:t>посылает </a:t>
            </a:r>
            <a:r>
              <a:rPr lang="ru-RU" dirty="0"/>
              <a:t>RS </a:t>
            </a:r>
            <a:r>
              <a:rPr lang="ru-RU" dirty="0" smtClean="0"/>
              <a:t>на </a:t>
            </a:r>
            <a:r>
              <a:rPr lang="ru-RU" b="1" dirty="0" smtClean="0"/>
              <a:t>FF02</a:t>
            </a:r>
            <a:r>
              <a:rPr lang="ru-RU" b="1" dirty="0"/>
              <a:t>::</a:t>
            </a:r>
            <a:r>
              <a:rPr lang="ru-RU" b="1" dirty="0" smtClean="0"/>
              <a:t>2</a:t>
            </a:r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/>
              <a:t>Получает </a:t>
            </a:r>
            <a:r>
              <a:rPr lang="en-US" b="1" dirty="0" smtClean="0"/>
              <a:t>RA</a:t>
            </a:r>
            <a:r>
              <a:rPr lang="ru-RU" dirty="0" smtClean="0"/>
              <a:t>, сканирует сведения о префиксе </a:t>
            </a:r>
            <a:r>
              <a:rPr lang="ru-RU" dirty="0"/>
              <a:t>(</a:t>
            </a:r>
            <a:r>
              <a:rPr lang="en-US" dirty="0"/>
              <a:t>Prefix Information Option, </a:t>
            </a:r>
            <a:r>
              <a:rPr lang="en-US" b="1" dirty="0"/>
              <a:t>PIO</a:t>
            </a:r>
            <a:r>
              <a:rPr lang="en-US" dirty="0" smtClean="0"/>
              <a:t>)</a:t>
            </a:r>
            <a:endParaRPr lang="ru-RU" dirty="0" smtClean="0"/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/>
              <a:t>Флаг </a:t>
            </a:r>
            <a:r>
              <a:rPr lang="en-US" b="1" dirty="0" smtClean="0"/>
              <a:t>M</a:t>
            </a:r>
            <a:r>
              <a:rPr lang="en-US" dirty="0" smtClean="0"/>
              <a:t> </a:t>
            </a:r>
            <a:r>
              <a:rPr lang="ru-RU" dirty="0" smtClean="0"/>
              <a:t>в </a:t>
            </a:r>
            <a:r>
              <a:rPr lang="en-US" dirty="0" smtClean="0"/>
              <a:t>RA </a:t>
            </a:r>
            <a:r>
              <a:rPr lang="ru-RU" dirty="0" smtClean="0"/>
              <a:t>означает, что в сети есть </a:t>
            </a:r>
            <a:r>
              <a:rPr lang="en-US" dirty="0" smtClean="0"/>
              <a:t>DHCPv6, </a:t>
            </a:r>
            <a:r>
              <a:rPr lang="ru-RU" dirty="0" smtClean="0"/>
              <a:t>способный выдавать адреса и другие настройки</a:t>
            </a:r>
            <a:r>
              <a:rPr lang="en-US" dirty="0" smtClean="0"/>
              <a:t> (</a:t>
            </a:r>
            <a:r>
              <a:rPr lang="en-US" dirty="0" err="1" smtClean="0"/>
              <a:t>Statefull</a:t>
            </a:r>
            <a:r>
              <a:rPr lang="en-US" dirty="0" smtClean="0"/>
              <a:t> address configuration)</a:t>
            </a:r>
            <a:endParaRPr lang="ru-RU" dirty="0" smtClean="0"/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Флаг </a:t>
            </a:r>
            <a:r>
              <a:rPr lang="en-US" b="1" dirty="0"/>
              <a:t>O</a:t>
            </a:r>
            <a:r>
              <a:rPr lang="en-US" dirty="0" smtClean="0"/>
              <a:t> </a:t>
            </a:r>
            <a:r>
              <a:rPr lang="ru-RU" dirty="0"/>
              <a:t>в </a:t>
            </a:r>
            <a:r>
              <a:rPr lang="en-US" dirty="0"/>
              <a:t>RA </a:t>
            </a:r>
            <a:r>
              <a:rPr lang="ru-RU" dirty="0"/>
              <a:t>означает, что в сети есть </a:t>
            </a:r>
            <a:r>
              <a:rPr lang="en-US" dirty="0"/>
              <a:t>DHCPv6, </a:t>
            </a:r>
            <a:r>
              <a:rPr lang="ru-RU" dirty="0"/>
              <a:t>способный выдавать </a:t>
            </a:r>
            <a:r>
              <a:rPr lang="ru-RU" dirty="0" smtClean="0"/>
              <a:t>дополнительные настройки</a:t>
            </a:r>
            <a:endParaRPr lang="en-US" dirty="0" smtClean="0"/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/>
              <a:t>На основе префикса создается пробный адрес, проверяется с помощью </a:t>
            </a:r>
            <a:r>
              <a:rPr lang="en-US" dirty="0"/>
              <a:t>DAD </a:t>
            </a:r>
            <a:r>
              <a:rPr lang="en-US" dirty="0" smtClean="0"/>
              <a:t>(Stateless </a:t>
            </a:r>
            <a:r>
              <a:rPr lang="en-US" dirty="0"/>
              <a:t>Address </a:t>
            </a:r>
            <a:r>
              <a:rPr lang="en-US" dirty="0" smtClean="0"/>
              <a:t>Auto-</a:t>
            </a:r>
            <a:r>
              <a:rPr lang="en-US" dirty="0" err="1" smtClean="0"/>
              <a:t>configuration,</a:t>
            </a:r>
            <a:r>
              <a:rPr lang="en-US" b="1" dirty="0" err="1" smtClean="0"/>
              <a:t>SLAAC</a:t>
            </a:r>
            <a:r>
              <a:rPr lang="en-US" dirty="0" smtClean="0"/>
              <a:t>)</a:t>
            </a:r>
            <a:endParaRPr lang="ru-RU" dirty="0" smtClean="0"/>
          </a:p>
        </p:txBody>
      </p:sp>
      <p:sp>
        <p:nvSpPr>
          <p:cNvPr id="4" name="Text Box 28"/>
          <p:cNvSpPr txBox="1">
            <a:spLocks noChangeArrowheads="1"/>
          </p:cNvSpPr>
          <p:nvPr/>
        </p:nvSpPr>
        <p:spPr bwMode="auto">
          <a:xfrm>
            <a:off x="8688288" y="1287771"/>
            <a:ext cx="3009020" cy="424731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ru-RU" sz="2000" dirty="0" smtClean="0"/>
              <a:t>Поддерживаются </a:t>
            </a:r>
            <a:r>
              <a:rPr lang="ru-RU" sz="2000" dirty="0" smtClean="0"/>
              <a:t>сообщения:</a:t>
            </a:r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 smtClean="0"/>
              <a:t>R</a:t>
            </a:r>
            <a:r>
              <a:rPr lang="ru-RU" sz="2000" dirty="0" err="1" smtClean="0"/>
              <a:t>outer</a:t>
            </a:r>
            <a:r>
              <a:rPr lang="ru-RU" sz="2000" dirty="0" smtClean="0"/>
              <a:t> </a:t>
            </a:r>
            <a:r>
              <a:rPr lang="ru-RU" sz="2000" dirty="0" err="1" smtClean="0"/>
              <a:t>advertisement</a:t>
            </a:r>
            <a:r>
              <a:rPr lang="en-US" sz="2000" dirty="0" smtClean="0"/>
              <a:t> </a:t>
            </a:r>
            <a:r>
              <a:rPr lang="ru-RU" sz="2000" dirty="0" smtClean="0"/>
              <a:t>(</a:t>
            </a:r>
            <a:r>
              <a:rPr lang="ru-RU" sz="2000" b="1" dirty="0" smtClean="0"/>
              <a:t>RA</a:t>
            </a:r>
            <a:r>
              <a:rPr lang="ru-RU" sz="2000" dirty="0" smtClean="0"/>
              <a:t>)</a:t>
            </a:r>
            <a:r>
              <a:rPr lang="en-US" sz="2000" dirty="0" smtClean="0"/>
              <a:t> – </a:t>
            </a:r>
            <a:r>
              <a:rPr lang="ru-RU" sz="2000" dirty="0" smtClean="0"/>
              <a:t>объявление маршрутизатора</a:t>
            </a:r>
            <a:endParaRPr lang="en-US" sz="2000" dirty="0"/>
          </a:p>
          <a:p>
            <a:pPr marL="342900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 smtClean="0"/>
              <a:t>R</a:t>
            </a:r>
            <a:r>
              <a:rPr lang="ru-RU" sz="2000" dirty="0" err="1" smtClean="0"/>
              <a:t>outer</a:t>
            </a:r>
            <a:r>
              <a:rPr lang="ru-RU" sz="2000" dirty="0" smtClean="0"/>
              <a:t> </a:t>
            </a:r>
            <a:r>
              <a:rPr lang="ru-RU" sz="2000" dirty="0" err="1" smtClean="0"/>
              <a:t>solicitation</a:t>
            </a:r>
            <a:r>
              <a:rPr lang="ru-RU" sz="2000" dirty="0" smtClean="0"/>
              <a:t>(</a:t>
            </a:r>
            <a:r>
              <a:rPr lang="ru-RU" sz="2000" b="1" dirty="0" smtClean="0"/>
              <a:t>RS</a:t>
            </a:r>
            <a:r>
              <a:rPr lang="ru-RU" sz="2000" dirty="0" smtClean="0"/>
              <a:t>)</a:t>
            </a:r>
            <a:r>
              <a:rPr lang="en-US" sz="2000" dirty="0" smtClean="0"/>
              <a:t> – </a:t>
            </a:r>
            <a:r>
              <a:rPr lang="ru-RU" sz="2000" dirty="0" smtClean="0"/>
              <a:t>вызов маршрутизатора</a:t>
            </a:r>
            <a:endParaRPr lang="ru-RU" sz="2000" dirty="0" smtClean="0"/>
          </a:p>
        </p:txBody>
      </p:sp>
    </p:spTree>
    <p:extLst>
      <p:ext uri="{BB962C8B-B14F-4D97-AF65-F5344CB8AC3E}">
        <p14:creationId xmlns:p14="http://schemas.microsoft.com/office/powerpoint/2010/main" val="433859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Край">
  <a:themeElements>
    <a:clrScheme name="Край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Край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Край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рай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рай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рай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рай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рай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рай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Край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Край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5474</TotalTime>
  <Words>1203</Words>
  <Application>Microsoft Office PowerPoint</Application>
  <PresentationFormat>Широкоэкранный</PresentationFormat>
  <Paragraphs>234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Garamond</vt:lpstr>
      <vt:lpstr>Wingdings</vt:lpstr>
      <vt:lpstr>Край</vt:lpstr>
      <vt:lpstr>IPv6</vt:lpstr>
      <vt:lpstr>IPv6</vt:lpstr>
      <vt:lpstr>Заголовок IPv6</vt:lpstr>
      <vt:lpstr>Заголовок IPv6</vt:lpstr>
      <vt:lpstr>Адресация хоста IPv6</vt:lpstr>
      <vt:lpstr>Адресация IPv6</vt:lpstr>
      <vt:lpstr>Типы адресов IPv6</vt:lpstr>
      <vt:lpstr>Особые адреса IPv6</vt:lpstr>
      <vt:lpstr>Индивидуальный  адрес</vt:lpstr>
      <vt:lpstr>Внутриканальный адрес</vt:lpstr>
      <vt:lpstr>Внутриканальный адрес</vt:lpstr>
      <vt:lpstr>Внутриканальный адрес</vt:lpstr>
      <vt:lpstr>Уникальный локальный адрес </vt:lpstr>
      <vt:lpstr>Групповой адрес (multicast) </vt:lpstr>
      <vt:lpstr>Групповой адрес (multicast) </vt:lpstr>
      <vt:lpstr>Групповой адрес (multicast) </vt:lpstr>
      <vt:lpstr>Розыск соседей</vt:lpstr>
      <vt:lpstr>Выявление дубликатов адресов</vt:lpstr>
      <vt:lpstr>Розыск маршрутизаторов и префиксов</vt:lpstr>
    </vt:vector>
  </TitlesOfParts>
  <Company>CSU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системы счисления</dc:title>
  <dc:creator>BLENDA</dc:creator>
  <cp:lastModifiedBy>Пользователь Windows</cp:lastModifiedBy>
  <cp:revision>722</cp:revision>
  <dcterms:created xsi:type="dcterms:W3CDTF">2009-10-19T07:49:58Z</dcterms:created>
  <dcterms:modified xsi:type="dcterms:W3CDTF">2021-12-01T19:12:00Z</dcterms:modified>
</cp:coreProperties>
</file>