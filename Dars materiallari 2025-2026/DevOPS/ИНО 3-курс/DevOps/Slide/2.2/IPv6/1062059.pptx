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11" r:id="rId1"/>
  </p:sldMasterIdLst>
  <p:notesMasterIdLst>
    <p:notesMasterId r:id="rId41"/>
  </p:notesMasterIdLst>
  <p:sldIdLst>
    <p:sldId id="256" r:id="rId2"/>
    <p:sldId id="403" r:id="rId3"/>
    <p:sldId id="309" r:id="rId4"/>
    <p:sldId id="451" r:id="rId5"/>
    <p:sldId id="439" r:id="rId6"/>
    <p:sldId id="287" r:id="rId7"/>
    <p:sldId id="257" r:id="rId8"/>
    <p:sldId id="452" r:id="rId9"/>
    <p:sldId id="440" r:id="rId10"/>
    <p:sldId id="441" r:id="rId11"/>
    <p:sldId id="442" r:id="rId12"/>
    <p:sldId id="443" r:id="rId13"/>
    <p:sldId id="281" r:id="rId14"/>
    <p:sldId id="444" r:id="rId15"/>
    <p:sldId id="272" r:id="rId16"/>
    <p:sldId id="453" r:id="rId17"/>
    <p:sldId id="445" r:id="rId18"/>
    <p:sldId id="271" r:id="rId19"/>
    <p:sldId id="270" r:id="rId20"/>
    <p:sldId id="454" r:id="rId21"/>
    <p:sldId id="446" r:id="rId22"/>
    <p:sldId id="447" r:id="rId23"/>
    <p:sldId id="273" r:id="rId24"/>
    <p:sldId id="274" r:id="rId25"/>
    <p:sldId id="275" r:id="rId26"/>
    <p:sldId id="448" r:id="rId27"/>
    <p:sldId id="267" r:id="rId28"/>
    <p:sldId id="279" r:id="rId29"/>
    <p:sldId id="280" r:id="rId30"/>
    <p:sldId id="278" r:id="rId31"/>
    <p:sldId id="276" r:id="rId32"/>
    <p:sldId id="289" r:id="rId33"/>
    <p:sldId id="449" r:id="rId34"/>
    <p:sldId id="450" r:id="rId35"/>
    <p:sldId id="288" r:id="rId36"/>
    <p:sldId id="285" r:id="rId37"/>
    <p:sldId id="286" r:id="rId38"/>
    <p:sldId id="268" r:id="rId39"/>
    <p:sldId id="269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67133783-841F-4B84-8D15-B4070B73132C}">
          <p14:sldIdLst/>
        </p14:section>
        <p14:section name="Раздел по умолчанию" id="{90BA1F99-353E-460E-BD1B-C74EF587A459}">
          <p14:sldIdLst>
            <p14:sldId id="256"/>
            <p14:sldId id="403"/>
            <p14:sldId id="309"/>
            <p14:sldId id="451"/>
            <p14:sldId id="439"/>
            <p14:sldId id="287"/>
            <p14:sldId id="257"/>
            <p14:sldId id="452"/>
            <p14:sldId id="440"/>
            <p14:sldId id="441"/>
            <p14:sldId id="442"/>
            <p14:sldId id="443"/>
            <p14:sldId id="281"/>
            <p14:sldId id="444"/>
            <p14:sldId id="272"/>
            <p14:sldId id="453"/>
            <p14:sldId id="445"/>
            <p14:sldId id="271"/>
            <p14:sldId id="270"/>
            <p14:sldId id="454"/>
            <p14:sldId id="446"/>
            <p14:sldId id="447"/>
            <p14:sldId id="273"/>
            <p14:sldId id="274"/>
            <p14:sldId id="275"/>
            <p14:sldId id="448"/>
            <p14:sldId id="267"/>
            <p14:sldId id="279"/>
            <p14:sldId id="280"/>
            <p14:sldId id="278"/>
            <p14:sldId id="276"/>
            <p14:sldId id="289"/>
            <p14:sldId id="449"/>
            <p14:sldId id="450"/>
            <p14:sldId id="288"/>
            <p14:sldId id="285"/>
            <p14:sldId id="286"/>
            <p14:sldId id="268"/>
            <p14:sldId id="269"/>
          </p14:sldIdLst>
        </p14:section>
        <p14:section name="Раздел по умолчанию" id="{CBE1C200-B14D-44B8-A8A9-AA6AFFFFFABF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76685"/>
  </p:normalViewPr>
  <p:slideViewPr>
    <p:cSldViewPr snapToGrid="0">
      <p:cViewPr varScale="1">
        <p:scale>
          <a:sx n="84" d="100"/>
          <a:sy n="84" d="100"/>
        </p:scale>
        <p:origin x="15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55475F-BF99-D94B-AC70-73EA4302339B}" type="datetimeFigureOut">
              <a:rPr lang="ru-RU" smtClean="0"/>
              <a:t>14.03.2021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09824A-E9BD-DB4B-9FD0-643672A8AD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4953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7746D-7367-4E94-ABA4-4C5205DBC51F}" type="datetimeFigureOut">
              <a:rPr lang="ru-RU" smtClean="0"/>
              <a:t>14.03.2021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5444-8040-4F3D-86EA-1CE639B3B9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4747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7746D-7367-4E94-ABA4-4C5205DBC51F}" type="datetimeFigureOut">
              <a:rPr lang="ru-RU" smtClean="0"/>
              <a:t>14.03.2021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5444-8040-4F3D-86EA-1CE639B3B9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3209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7746D-7367-4E94-ABA4-4C5205DBC51F}" type="datetimeFigureOut">
              <a:rPr lang="ru-RU" smtClean="0"/>
              <a:t>14.03.2021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5444-8040-4F3D-86EA-1CE639B3B9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1169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7746D-7367-4E94-ABA4-4C5205DBC51F}" type="datetimeFigureOut">
              <a:rPr lang="ru-RU" smtClean="0"/>
              <a:t>14.03.2021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5444-8040-4F3D-86EA-1CE639B3B9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36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7746D-7367-4E94-ABA4-4C5205DBC51F}" type="datetimeFigureOut">
              <a:rPr lang="ru-RU" smtClean="0"/>
              <a:t>14.03.2021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5444-8040-4F3D-86EA-1CE639B3B9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4413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7746D-7367-4E94-ABA4-4C5205DBC51F}" type="datetimeFigureOut">
              <a:rPr lang="ru-RU" smtClean="0"/>
              <a:t>14.03.2021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5444-8040-4F3D-86EA-1CE639B3B9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931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7746D-7367-4E94-ABA4-4C5205DBC51F}" type="datetimeFigureOut">
              <a:rPr lang="ru-RU" smtClean="0"/>
              <a:t>14.03.2021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5444-8040-4F3D-86EA-1CE639B3B9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007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7746D-7367-4E94-ABA4-4C5205DBC51F}" type="datetimeFigureOut">
              <a:rPr lang="ru-RU" smtClean="0"/>
              <a:t>14.03.2021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5444-8040-4F3D-86EA-1CE639B3B9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6043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7746D-7367-4E94-ABA4-4C5205DBC51F}" type="datetimeFigureOut">
              <a:rPr lang="ru-RU" smtClean="0"/>
              <a:t>14.03.2021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5444-8040-4F3D-86EA-1CE639B3B9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9702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7746D-7367-4E94-ABA4-4C5205DBC51F}" type="datetimeFigureOut">
              <a:rPr lang="ru-RU" smtClean="0"/>
              <a:t>14.03.2021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5444-8040-4F3D-86EA-1CE639B3B9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2872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7746D-7367-4E94-ABA4-4C5205DBC51F}" type="datetimeFigureOut">
              <a:rPr lang="ru-RU" smtClean="0"/>
              <a:t>14.03.2021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5444-8040-4F3D-86EA-1CE639B3B991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627811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7746D-7367-4E94-ABA4-4C5205DBC51F}" type="datetimeFigureOut">
              <a:rPr lang="ru-RU" smtClean="0"/>
              <a:t>14.03.2021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5444-8040-4F3D-86EA-1CE639B3B9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69953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7746D-7367-4E94-ABA4-4C5205DBC51F}" type="datetimeFigureOut">
              <a:rPr lang="ru-RU" smtClean="0"/>
              <a:t>14.03.2021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5444-8040-4F3D-86EA-1CE639B3B991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54359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7746D-7367-4E94-ABA4-4C5205DBC51F}" type="datetimeFigureOut">
              <a:rPr lang="ru-RU" smtClean="0"/>
              <a:t>14.03.2021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5444-8040-4F3D-86EA-1CE639B3B9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42347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7746D-7367-4E94-ABA4-4C5205DBC51F}" type="datetimeFigureOut">
              <a:rPr lang="ru-RU" smtClean="0"/>
              <a:t>14.03.2021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5444-8040-4F3D-86EA-1CE639B3B9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9487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7746D-7367-4E94-ABA4-4C5205DBC51F}" type="datetimeFigureOut">
              <a:rPr lang="ru-RU" smtClean="0"/>
              <a:t>14.03.2021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F5444-8040-4F3D-86EA-1CE639B3B9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9828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7746D-7367-4E94-ABA4-4C5205DBC51F}" type="datetimeFigureOut">
              <a:rPr lang="ru-RU" smtClean="0"/>
              <a:t>14.03.2021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F5F5444-8040-4F3D-86EA-1CE639B3B99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63044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myip.ms/browse/ip_ranges/1/ownerID/81658/ownerID_A/1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D4DiqH-XPJU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google.com/url?sa=i&amp;rct=j&amp;q=&amp;esrc=s&amp;source=images&amp;cd=&amp;ved=2ahUKEwi_uczy89DlAhXE0qYKHe8tD9IQjRx6BAgBEAQ&amp;url=http://opds.spbsut.ru/ecourse/2016-ipv6proto/index.php/%D0%A4%D0%BE%D1%80%D0%BC%D0%B0%D1%82_%D0%B7%D0%B0%D0%B3%D0%BE%D0%BB%D0%BE%D0%B2%D0%BA%D0%B0_IPv6-%D0%BF%D0%B0%D0%BA%D0%B5%D1%82%D0%B0&amp;psig=AOvVaw2Mo4yANn9nZ5ccX_VGLdvn&amp;ust=1572968867785652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intl/gr/ipv6/statistics.html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FB00A3-9EB4-45F0-ABFF-B7D53BC004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Протокол </a:t>
            </a:r>
            <a:r>
              <a:rPr lang="en-US" dirty="0" err="1"/>
              <a:t>IPv</a:t>
            </a:r>
            <a:r>
              <a:rPr lang="ru-RU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082542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quarter" idx="1"/>
          </p:nvPr>
        </p:nvSpPr>
        <p:spPr>
          <a:xfrm>
            <a:off x="762175" y="1488613"/>
            <a:ext cx="8596668" cy="3880773"/>
          </a:xfrm>
        </p:spPr>
        <p:txBody>
          <a:bodyPr/>
          <a:lstStyle/>
          <a:p>
            <a:r>
              <a:rPr lang="ru-RU" dirty="0"/>
              <a:t>Причины перехода с </a:t>
            </a:r>
            <a:r>
              <a:rPr lang="en-US" dirty="0"/>
              <a:t>IPv4 </a:t>
            </a:r>
            <a:r>
              <a:rPr lang="ru-RU" dirty="0"/>
              <a:t>на </a:t>
            </a:r>
            <a:r>
              <a:rPr lang="en-US" dirty="0"/>
              <a:t>IPv6</a:t>
            </a:r>
            <a:endParaRPr lang="ru-RU" dirty="0"/>
          </a:p>
          <a:p>
            <a:r>
              <a:rPr lang="ru-RU" dirty="0"/>
              <a:t>Заголовок </a:t>
            </a:r>
            <a:r>
              <a:rPr lang="en-US" dirty="0"/>
              <a:t>IPv6</a:t>
            </a:r>
          </a:p>
          <a:p>
            <a:r>
              <a:rPr lang="ru-RU" dirty="0"/>
              <a:t>Адреса </a:t>
            </a:r>
            <a:r>
              <a:rPr lang="en-US" dirty="0"/>
              <a:t>IPv6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9D7069-5CE4-40AF-B315-4AF73CA69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969" y="4553712"/>
            <a:ext cx="8288032" cy="109631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ru-RU" sz="4000" dirty="0"/>
              <a:t>Причины перехода на </a:t>
            </a:r>
            <a:r>
              <a:rPr lang="en-US" sz="4000" dirty="0"/>
              <a:t>IPv6</a:t>
            </a:r>
            <a:br>
              <a:rPr lang="en-US" sz="4000" dirty="0"/>
            </a:br>
            <a:endParaRPr lang="en-US" sz="3700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8964BB0-5B8F-4930-A3F0-5B3FD370C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0259" y="934222"/>
            <a:ext cx="3299450" cy="329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588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401FCA-F3A5-42D2-B5FC-501E2252B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Немого истории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AAC1CF-6ED9-4133-90CC-1971D87BA4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1974 </a:t>
            </a:r>
            <a:r>
              <a:rPr lang="ru-RU" dirty="0"/>
              <a:t>– начало разработки </a:t>
            </a:r>
            <a:r>
              <a:rPr lang="en-US" dirty="0"/>
              <a:t>IP (TCP)</a:t>
            </a:r>
          </a:p>
          <a:p>
            <a:r>
              <a:rPr lang="en-US" dirty="0"/>
              <a:t>1981 – RFC 791 (IPv4)</a:t>
            </a:r>
          </a:p>
          <a:p>
            <a:r>
              <a:rPr lang="en-US" dirty="0"/>
              <a:t>1982-1984 – </a:t>
            </a:r>
            <a:r>
              <a:rPr lang="ru-RU" dirty="0"/>
              <a:t>формирование Интернет на базе </a:t>
            </a:r>
            <a:r>
              <a:rPr lang="en-US" dirty="0"/>
              <a:t>IPv4</a:t>
            </a:r>
            <a:endParaRPr lang="ru-RU" dirty="0"/>
          </a:p>
          <a:p>
            <a:r>
              <a:rPr lang="ru-RU" dirty="0"/>
              <a:t>1992 – появление </a:t>
            </a:r>
            <a:r>
              <a:rPr lang="en-US" dirty="0"/>
              <a:t>WWW</a:t>
            </a:r>
          </a:p>
          <a:p>
            <a:r>
              <a:rPr lang="en-US" dirty="0"/>
              <a:t>1996 – </a:t>
            </a:r>
            <a:r>
              <a:rPr lang="ru-RU" dirty="0"/>
              <a:t>начало разработки </a:t>
            </a:r>
            <a:r>
              <a:rPr lang="en-US" dirty="0"/>
              <a:t>IPv6</a:t>
            </a:r>
          </a:p>
          <a:p>
            <a:r>
              <a:rPr lang="en-US" dirty="0"/>
              <a:t>1998 – RFC 2460 (IPv6)</a:t>
            </a:r>
          </a:p>
          <a:p>
            <a:r>
              <a:rPr lang="en-US" dirty="0"/>
              <a:t>2006</a:t>
            </a:r>
            <a:r>
              <a:rPr lang="ru-RU" dirty="0"/>
              <a:t> – </a:t>
            </a:r>
            <a:r>
              <a:rPr lang="en-US" dirty="0"/>
              <a:t>RFC 4291 4294 </a:t>
            </a:r>
            <a:r>
              <a:rPr lang="ru-RU" dirty="0"/>
              <a:t>адресация и работа узлов </a:t>
            </a:r>
            <a:r>
              <a:rPr lang="en-US" dirty="0"/>
              <a:t>IPv6</a:t>
            </a:r>
          </a:p>
          <a:p>
            <a:r>
              <a:rPr lang="en-US" dirty="0"/>
              <a:t>2010 – 4G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2872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279A7-EB67-45BD-B740-D2CCA8244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Предпосылки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AC697D-1E93-479E-88C9-4D4B6CE92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sz="3100" dirty="0"/>
              <a:t>Нехватка адресов </a:t>
            </a:r>
            <a:r>
              <a:rPr lang="en-US" sz="3100" dirty="0" err="1"/>
              <a:t>IPv</a:t>
            </a:r>
            <a:r>
              <a:rPr lang="ru-RU" sz="3100" dirty="0"/>
              <a:t>4</a:t>
            </a:r>
            <a:endParaRPr lang="en-US" sz="3100" dirty="0"/>
          </a:p>
          <a:p>
            <a:pPr marL="457200" lvl="1" indent="0">
              <a:buNone/>
            </a:pPr>
            <a:endParaRPr lang="en-US" sz="3100" dirty="0"/>
          </a:p>
          <a:p>
            <a:pPr marL="457200" lvl="1" indent="0" algn="ctr">
              <a:buNone/>
            </a:pPr>
            <a:r>
              <a:rPr lang="en-US" sz="3000" dirty="0"/>
              <a:t>IANA (Internet Assigned Numbers Authority)</a:t>
            </a:r>
          </a:p>
          <a:p>
            <a:pPr marL="457200" lvl="1" indent="0" algn="ctr">
              <a:buNone/>
            </a:pPr>
            <a:endParaRPr lang="en-US" sz="3000" dirty="0"/>
          </a:p>
          <a:p>
            <a:pPr marL="457200" lvl="1" indent="0" algn="ctr">
              <a:buNone/>
            </a:pPr>
            <a:endParaRPr lang="en-US" sz="3000" dirty="0"/>
          </a:p>
          <a:p>
            <a:pPr marL="457200" lvl="1" indent="0" algn="ctr">
              <a:buNone/>
            </a:pPr>
            <a:r>
              <a:rPr lang="en-US" sz="3000" dirty="0"/>
              <a:t>RIR  (Regional Internet Registry)</a:t>
            </a:r>
          </a:p>
          <a:p>
            <a:pPr marL="457200" lvl="1" indent="0" algn="ctr">
              <a:buNone/>
            </a:pPr>
            <a:endParaRPr lang="en-US" sz="3000" dirty="0"/>
          </a:p>
          <a:p>
            <a:pPr marL="457200" lvl="1" indent="0" algn="ctr">
              <a:buNone/>
            </a:pPr>
            <a:endParaRPr lang="en-US" sz="3000" dirty="0"/>
          </a:p>
          <a:p>
            <a:pPr marL="457200" lvl="1" indent="0" algn="ctr">
              <a:buNone/>
            </a:pPr>
            <a:r>
              <a:rPr lang="en-US" sz="3000" dirty="0"/>
              <a:t>LIR (Local Internet Registries)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Стрелка: вниз 4">
            <a:extLst>
              <a:ext uri="{FF2B5EF4-FFF2-40B4-BE49-F238E27FC236}">
                <a16:creationId xmlns:a16="http://schemas.microsoft.com/office/drawing/2014/main" id="{9947E154-F585-466E-9ADC-2846CE01E535}"/>
              </a:ext>
            </a:extLst>
          </p:cNvPr>
          <p:cNvSpPr/>
          <p:nvPr/>
        </p:nvSpPr>
        <p:spPr>
          <a:xfrm>
            <a:off x="4975668" y="3388593"/>
            <a:ext cx="448887" cy="7123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трелка: вниз 5">
            <a:extLst>
              <a:ext uri="{FF2B5EF4-FFF2-40B4-BE49-F238E27FC236}">
                <a16:creationId xmlns:a16="http://schemas.microsoft.com/office/drawing/2014/main" id="{C95F51A6-5B68-420D-959E-6517DC49C439}"/>
              </a:ext>
            </a:extLst>
          </p:cNvPr>
          <p:cNvSpPr/>
          <p:nvPr/>
        </p:nvSpPr>
        <p:spPr>
          <a:xfrm>
            <a:off x="5005263" y="4635466"/>
            <a:ext cx="448887" cy="71238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2113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279A7-EB67-45BD-B740-D2CCA8244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RIR  (Regional Internet Registry)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AC697D-1E93-479E-88C9-4D4B6CE92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100" dirty="0"/>
              <a:t>Asia-Pacific Network Information Center (APNIC) - </a:t>
            </a:r>
            <a:r>
              <a:rPr lang="ru-RU" sz="3100" dirty="0"/>
              <a:t>отвечает за Азию и Тихоокеанский регион</a:t>
            </a:r>
          </a:p>
          <a:p>
            <a:r>
              <a:rPr lang="en-US" sz="3100" dirty="0"/>
              <a:t>African Network Information Center (AFRINIC) - </a:t>
            </a:r>
            <a:r>
              <a:rPr lang="ru-RU" sz="3100" dirty="0"/>
              <a:t>для Африки и региона Индийского океана</a:t>
            </a:r>
          </a:p>
          <a:p>
            <a:r>
              <a:rPr lang="en-US" sz="3100" dirty="0"/>
              <a:t>American Registry for Internet Numbers (ARIN) - </a:t>
            </a:r>
            <a:r>
              <a:rPr lang="ru-RU" sz="3100" dirty="0"/>
              <a:t>отвечает за североамериканский регион</a:t>
            </a:r>
          </a:p>
          <a:p>
            <a:r>
              <a:rPr lang="en-US" sz="3100" dirty="0"/>
              <a:t>Latin American and Caribbean Network Information Center (LACNIC) - </a:t>
            </a:r>
            <a:r>
              <a:rPr lang="ru-RU" sz="3100" dirty="0"/>
              <a:t>отвечает за Латинскую Америку и Карибский регион</a:t>
            </a:r>
          </a:p>
          <a:p>
            <a:r>
              <a:rPr lang="en-US" sz="3100" b="1" dirty="0" err="1"/>
              <a:t>Réseaux</a:t>
            </a:r>
            <a:r>
              <a:rPr lang="en-US" sz="3100" b="1" dirty="0"/>
              <a:t> IP </a:t>
            </a:r>
            <a:r>
              <a:rPr lang="en-US" sz="3100" b="1" dirty="0" err="1"/>
              <a:t>Européens</a:t>
            </a:r>
            <a:r>
              <a:rPr lang="en-US" sz="3100" b="1" dirty="0"/>
              <a:t> Network Center (RIPE NCC) - </a:t>
            </a:r>
            <a:r>
              <a:rPr lang="ru-RU" sz="3100" b="1" dirty="0"/>
              <a:t>для Европы, Центральной Азии и Ближнего Востока.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391412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FD5EF05-CA93-4DF5-89CE-22552DD85DAC}"/>
              </a:ext>
            </a:extLst>
          </p:cNvPr>
          <p:cNvSpPr/>
          <p:nvPr/>
        </p:nvSpPr>
        <p:spPr>
          <a:xfrm>
            <a:off x="4332544" y="1539433"/>
            <a:ext cx="5949387" cy="46101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279A7-EB67-45BD-B740-D2CCA8244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Предпосылки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AC697D-1E93-479E-88C9-4D4B6CE92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Нехватка адресов </a:t>
            </a:r>
            <a:r>
              <a:rPr lang="en-US" dirty="0" err="1"/>
              <a:t>IPv</a:t>
            </a:r>
            <a:r>
              <a:rPr lang="ru-RU" dirty="0"/>
              <a:t>4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2011 </a:t>
            </a:r>
            <a:r>
              <a:rPr lang="ru-RU" dirty="0"/>
              <a:t>последняя сеть </a:t>
            </a:r>
            <a:r>
              <a:rPr lang="en-US" dirty="0"/>
              <a:t>/</a:t>
            </a:r>
            <a:r>
              <a:rPr lang="ru-RU" dirty="0"/>
              <a:t>8</a:t>
            </a:r>
            <a:r>
              <a:rPr lang="en-US" dirty="0"/>
              <a:t> </a:t>
            </a:r>
            <a:br>
              <a:rPr lang="ru-RU" dirty="0"/>
            </a:br>
            <a:r>
              <a:rPr lang="ru-RU" dirty="0"/>
              <a:t>от </a:t>
            </a:r>
            <a:r>
              <a:rPr lang="en-US" dirty="0"/>
              <a:t>IANA</a:t>
            </a:r>
            <a:r>
              <a:rPr lang="ru-RU" dirty="0"/>
              <a:t>.</a:t>
            </a:r>
          </a:p>
          <a:p>
            <a:pPr marL="457200" lvl="1" indent="0">
              <a:buNone/>
            </a:pPr>
            <a:endParaRPr lang="ru-RU" dirty="0"/>
          </a:p>
          <a:p>
            <a:pPr marL="457200" lvl="1" indent="0">
              <a:buNone/>
            </a:pPr>
            <a:r>
              <a:rPr lang="ru-RU" dirty="0"/>
              <a:t>Начало исчерпания </a:t>
            </a:r>
            <a:br>
              <a:rPr lang="ru-RU" dirty="0"/>
            </a:br>
            <a:r>
              <a:rPr lang="ru-RU" dirty="0"/>
              <a:t>последней сети </a:t>
            </a:r>
            <a:r>
              <a:rPr lang="en-US" dirty="0"/>
              <a:t>/8</a:t>
            </a:r>
            <a:r>
              <a:rPr lang="ru-RU" dirty="0"/>
              <a:t>:</a:t>
            </a:r>
          </a:p>
          <a:p>
            <a:pPr marL="457200" lvl="1" indent="0">
              <a:buNone/>
            </a:pPr>
            <a:r>
              <a:rPr lang="ru-RU" dirty="0"/>
              <a:t>2011 – </a:t>
            </a:r>
            <a:r>
              <a:rPr lang="en-US" dirty="0"/>
              <a:t>ARIN</a:t>
            </a:r>
          </a:p>
          <a:p>
            <a:pPr marL="457200" lvl="1" indent="0">
              <a:buNone/>
            </a:pPr>
            <a:r>
              <a:rPr lang="en-US" dirty="0"/>
              <a:t>2012 – RIPE NCC</a:t>
            </a:r>
          </a:p>
          <a:p>
            <a:pPr marL="457200" lvl="1" indent="0">
              <a:buNone/>
            </a:pPr>
            <a:r>
              <a:rPr lang="ru-RU" dirty="0"/>
              <a:t>Дальше по </a:t>
            </a:r>
            <a:r>
              <a:rPr lang="en-US" dirty="0"/>
              <a:t>/22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D7EB64F-B64F-4C18-A572-F1792CBA21E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2544" y="1431262"/>
            <a:ext cx="5763260" cy="4610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77965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E2C862-13DB-45EA-8A4A-0C4835C09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Владение адресами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66FB05-DCB0-4739-8EE5-2DF6E9DDD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https://www.ripe.net/manage-ips-and-asns/ipv4/ipv4-run-out</a:t>
            </a:r>
          </a:p>
          <a:p>
            <a:r>
              <a:rPr lang="en-US" dirty="0">
                <a:hlinkClick r:id="rId2"/>
              </a:rPr>
              <a:t>https://myip.ms/browse/ip_ranges/1/ownerID/81658/ownerID_A/1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7317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279A7-EB67-45BD-B740-D2CCA8244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Предпосылки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AC697D-1E93-479E-88C9-4D4B6CE92A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3200" dirty="0"/>
              <a:t>Критика в адрес </a:t>
            </a:r>
            <a:r>
              <a:rPr lang="en-US" sz="3200" dirty="0"/>
              <a:t>IPv4</a:t>
            </a:r>
            <a:r>
              <a:rPr lang="ru-RU" sz="3200" dirty="0"/>
              <a:t>.</a:t>
            </a:r>
          </a:p>
          <a:p>
            <a:pPr lvl="1"/>
            <a:r>
              <a:rPr lang="ru-RU" sz="2200" dirty="0"/>
              <a:t>Контрольная сумма</a:t>
            </a:r>
          </a:p>
          <a:p>
            <a:pPr lvl="1"/>
            <a:r>
              <a:rPr lang="ru-RU" sz="2200" dirty="0"/>
              <a:t>Фрагментация </a:t>
            </a:r>
            <a:r>
              <a:rPr lang="en-US" sz="2200" dirty="0"/>
              <a:t>IP</a:t>
            </a:r>
            <a:endParaRPr lang="ru-RU" sz="2200" dirty="0"/>
          </a:p>
          <a:p>
            <a:pPr lvl="1"/>
            <a:r>
              <a:rPr lang="en-US" sz="2200" dirty="0"/>
              <a:t>NAT</a:t>
            </a:r>
          </a:p>
          <a:p>
            <a:pPr lvl="1"/>
            <a:r>
              <a:rPr lang="ru-RU" sz="2200" dirty="0"/>
              <a:t>Наличие большего количества смежных протоколов</a:t>
            </a:r>
          </a:p>
          <a:p>
            <a:pPr lvl="1"/>
            <a:r>
              <a:rPr lang="ru-RU" sz="2200" dirty="0"/>
              <a:t>Проблемная маршрутизация</a:t>
            </a:r>
          </a:p>
          <a:p>
            <a:pPr lvl="2"/>
            <a:r>
              <a:rPr lang="ru-RU" sz="2000" dirty="0"/>
              <a:t>Аппаратная реализация маршрутизации не по </a:t>
            </a:r>
            <a:r>
              <a:rPr lang="en-US" sz="2000" dirty="0"/>
              <a:t>RFC (</a:t>
            </a:r>
            <a:r>
              <a:rPr lang="en-US" sz="2000" dirty="0" err="1"/>
              <a:t>fastpath</a:t>
            </a:r>
            <a:r>
              <a:rPr lang="en-US" sz="2000" dirty="0"/>
              <a:t> </a:t>
            </a:r>
            <a:r>
              <a:rPr lang="ru-RU" sz="2000" dirty="0"/>
              <a:t>или </a:t>
            </a:r>
            <a:r>
              <a:rPr lang="en-US" sz="2000" dirty="0"/>
              <a:t>Cisco Express Forwarding )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204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2279A7-EB67-45BD-B740-D2CCA8244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Предпосылки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AC697D-1E93-479E-88C9-4D4B6CE92A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811454"/>
            <a:ext cx="8596668" cy="3880773"/>
          </a:xfrm>
        </p:spPr>
        <p:txBody>
          <a:bodyPr>
            <a:normAutofit lnSpcReduction="10000"/>
          </a:bodyPr>
          <a:lstStyle/>
          <a:p>
            <a:r>
              <a:rPr lang="ru-RU" sz="2800" b="1" dirty="0"/>
              <a:t>Нехватка адресов </a:t>
            </a:r>
            <a:r>
              <a:rPr lang="en-US" sz="2800" b="1" dirty="0" err="1"/>
              <a:t>IPv</a:t>
            </a:r>
            <a:r>
              <a:rPr lang="ru-RU" sz="2800" b="1" dirty="0"/>
              <a:t>4,</a:t>
            </a:r>
            <a:endParaRPr lang="en-US" sz="2800" b="1" dirty="0"/>
          </a:p>
          <a:p>
            <a:r>
              <a:rPr lang="ru-RU" sz="2400" dirty="0"/>
              <a:t>накопившаяся критика в адрес </a:t>
            </a:r>
            <a:r>
              <a:rPr lang="en-US" sz="2400" dirty="0"/>
              <a:t>IPv4</a:t>
            </a:r>
            <a:r>
              <a:rPr lang="ru-RU" sz="2400" dirty="0"/>
              <a:t>,</a:t>
            </a:r>
          </a:p>
          <a:p>
            <a:r>
              <a:rPr lang="ru-RU" sz="2400" dirty="0"/>
              <a:t>современные технологии требуют реализации слишком большого числа сессий, работающих в параллельно,</a:t>
            </a:r>
          </a:p>
          <a:p>
            <a:r>
              <a:rPr lang="ru-RU" sz="2400" dirty="0"/>
              <a:t>4G/LTE/5</a:t>
            </a:r>
            <a:r>
              <a:rPr lang="en-US" sz="2400" dirty="0"/>
              <a:t>G</a:t>
            </a:r>
            <a:r>
              <a:rPr lang="ru-RU" sz="2400" dirty="0"/>
              <a:t>, которая ориентирована исключительно на IPv6,</a:t>
            </a:r>
          </a:p>
          <a:p>
            <a:r>
              <a:rPr lang="ru-RU" sz="2400" dirty="0"/>
              <a:t>развитие </a:t>
            </a:r>
            <a:r>
              <a:rPr lang="en-US" sz="2400" dirty="0"/>
              <a:t>IoT</a:t>
            </a:r>
            <a:r>
              <a:rPr lang="ru-RU" sz="2400" dirty="0"/>
              <a:t>,</a:t>
            </a:r>
            <a:endParaRPr lang="en-US" sz="2400" dirty="0"/>
          </a:p>
          <a:p>
            <a:r>
              <a:rPr lang="ru-RU" sz="2400" dirty="0"/>
              <a:t>стремление восстановить </a:t>
            </a:r>
            <a:r>
              <a:rPr lang="en-US" sz="2400" dirty="0"/>
              <a:t>end-to</a:t>
            </a:r>
            <a:r>
              <a:rPr lang="ru-RU" sz="2400" dirty="0"/>
              <a:t>-</a:t>
            </a:r>
            <a:r>
              <a:rPr lang="en-US" sz="2400" dirty="0"/>
              <a:t>end </a:t>
            </a:r>
            <a:r>
              <a:rPr lang="ru-RU" sz="2400" dirty="0"/>
              <a:t>связанность</a:t>
            </a:r>
          </a:p>
          <a:p>
            <a:r>
              <a:rPr lang="ru-RU" sz="2400" dirty="0"/>
              <a:t>стремление снизить анонимность в сети.</a:t>
            </a:r>
          </a:p>
          <a:p>
            <a:endParaRPr lang="en-US" sz="2400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7630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12FEDF-11BB-42BD-A901-2213C6988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Проблемы и препятствия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CE1A76-2A9B-4EC0-AB46-B2FE02A8F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sz="2400" dirty="0"/>
              <a:t>Огромное количество сетей на </a:t>
            </a:r>
            <a:r>
              <a:rPr lang="en-US" sz="2400" dirty="0"/>
              <a:t>IPv4</a:t>
            </a:r>
          </a:p>
          <a:p>
            <a:r>
              <a:rPr lang="ru-RU" sz="2400" dirty="0"/>
              <a:t>Необходимость адаптации оборудования и системного ПО (</a:t>
            </a:r>
            <a:r>
              <a:rPr lang="en-US" sz="2400" dirty="0"/>
              <a:t>done</a:t>
            </a:r>
            <a:r>
              <a:rPr lang="ru-RU" sz="2400" dirty="0"/>
              <a:t>)</a:t>
            </a:r>
          </a:p>
          <a:p>
            <a:r>
              <a:rPr lang="ru-RU" sz="2400" dirty="0"/>
              <a:t>некоторое снижение пропускной способности из-за увеличения размера заголовка (спорно). </a:t>
            </a:r>
          </a:p>
          <a:p>
            <a:r>
              <a:rPr lang="ru-RU" sz="2400" dirty="0"/>
              <a:t>Необходимость адаптация сопутствующего ПО (системы управления и мониторинга)</a:t>
            </a:r>
          </a:p>
          <a:p>
            <a:r>
              <a:rPr lang="ru-RU" sz="2400" dirty="0"/>
              <a:t>Необходимость адаптация систем безопасности (стандартные методы с ACL не работают).</a:t>
            </a:r>
          </a:p>
          <a:p>
            <a:pPr marL="0" indent="0">
              <a:buNone/>
            </a:pPr>
            <a:r>
              <a:rPr lang="ru-RU" dirty="0"/>
              <a:t> 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https://youtu.be/D4DiqH-XPJU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27446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8A9497-96E8-42A8-B304-EA468AE89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24A9F4-6A50-4FEB-A7A0-E1F231A84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74452"/>
            <a:ext cx="8596668" cy="3880773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ru-RU" sz="2400" dirty="0"/>
              <a:t>Расширение адресации</a:t>
            </a:r>
          </a:p>
          <a:p>
            <a:pPr lvl="0"/>
            <a:r>
              <a:rPr lang="ru-RU" sz="2400" dirty="0"/>
              <a:t>Восстановление </a:t>
            </a:r>
            <a:r>
              <a:rPr lang="en-US" sz="2400" dirty="0"/>
              <a:t>end-to</a:t>
            </a:r>
            <a:r>
              <a:rPr lang="ru-RU" sz="2400" dirty="0"/>
              <a:t>-</a:t>
            </a:r>
            <a:r>
              <a:rPr lang="en-US" sz="2400" dirty="0"/>
              <a:t>end </a:t>
            </a:r>
            <a:r>
              <a:rPr lang="ru-RU" sz="2400" dirty="0"/>
              <a:t>связанность</a:t>
            </a:r>
          </a:p>
          <a:p>
            <a:pPr lvl="0"/>
            <a:r>
              <a:rPr lang="ru-RU" sz="2400" dirty="0"/>
              <a:t>Сокращение количества инфраструктурных технологий</a:t>
            </a:r>
          </a:p>
          <a:p>
            <a:pPr lvl="0"/>
            <a:r>
              <a:rPr lang="ru-RU" sz="2400" dirty="0"/>
              <a:t>Упрощение формата заголовка</a:t>
            </a:r>
          </a:p>
          <a:p>
            <a:pPr lvl="0"/>
            <a:r>
              <a:rPr lang="ru-RU" sz="2400" dirty="0"/>
              <a:t>Интеграция средств безопасности</a:t>
            </a:r>
          </a:p>
          <a:p>
            <a:pPr lvl="0"/>
            <a:r>
              <a:rPr lang="ru-RU" sz="2400" dirty="0"/>
              <a:t>Улучшенная поддержка расширений и опций </a:t>
            </a:r>
          </a:p>
          <a:p>
            <a:pPr lvl="0"/>
            <a:r>
              <a:rPr lang="ru-RU" sz="2400" dirty="0"/>
              <a:t>Возможность пометки потоков данных</a:t>
            </a:r>
          </a:p>
          <a:p>
            <a:pPr lvl="0"/>
            <a:r>
              <a:rPr lang="ru-RU" sz="2400" dirty="0"/>
              <a:t>Идентификация и защита частных обменов</a:t>
            </a:r>
            <a:endParaRPr lang="en-US" sz="2400" dirty="0"/>
          </a:p>
          <a:p>
            <a:pPr lvl="0"/>
            <a:r>
              <a:rPr lang="ru-RU" sz="2400" dirty="0"/>
              <a:t>Встроенная поддержка мобильных сетей </a:t>
            </a:r>
            <a:r>
              <a:rPr lang="en-US" sz="2400" dirty="0"/>
              <a:t>(MIPv6)</a:t>
            </a:r>
            <a:endParaRPr lang="ru-RU" sz="2400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6212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28D622-EEC8-43EC-8AE3-9947776F9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Сравнение </a:t>
            </a:r>
            <a:r>
              <a:rPr lang="en-US" dirty="0"/>
              <a:t>IPv4 </a:t>
            </a:r>
            <a:r>
              <a:rPr lang="ru-RU" dirty="0"/>
              <a:t>и</a:t>
            </a:r>
            <a:r>
              <a:rPr lang="en-US" dirty="0"/>
              <a:t> IPv6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D884CD3-13B5-4EE2-BECD-E547873CB19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17937" t="19889" r="38063" b="42667"/>
          <a:stretch/>
        </p:blipFill>
        <p:spPr>
          <a:xfrm>
            <a:off x="1112689" y="1697198"/>
            <a:ext cx="8762011" cy="41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156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A7920A-A127-4980-9A00-D605D00F6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RFC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53182F-F773-4C7F-BB9E-F0E7381D8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IPv6 RFC 8200 (</a:t>
            </a:r>
            <a:r>
              <a:rPr lang="ru-RU" sz="3600" dirty="0"/>
              <a:t>заменил RFC-1884)</a:t>
            </a:r>
          </a:p>
          <a:p>
            <a:r>
              <a:rPr lang="ru-RU" sz="3600" dirty="0"/>
              <a:t>ICMP IPv6 RFC-4861 (заменил RFC-1885)</a:t>
            </a:r>
          </a:p>
          <a:p>
            <a:r>
              <a:rPr lang="en-US" sz="3600" dirty="0"/>
              <a:t>IPv6 </a:t>
            </a:r>
            <a:r>
              <a:rPr lang="ru-RU" sz="3600" dirty="0"/>
              <a:t>по </a:t>
            </a:r>
            <a:r>
              <a:rPr lang="en-US" sz="3600" dirty="0"/>
              <a:t>IPv4 RFC 5969</a:t>
            </a:r>
          </a:p>
          <a:p>
            <a:r>
              <a:rPr lang="ru-RU" sz="3600" dirty="0"/>
              <a:t>и т.д.</a:t>
            </a:r>
          </a:p>
        </p:txBody>
      </p:sp>
    </p:spTree>
    <p:extLst>
      <p:ext uri="{BB962C8B-B14F-4D97-AF65-F5344CB8AC3E}">
        <p14:creationId xmlns:p14="http://schemas.microsoft.com/office/powerpoint/2010/main" val="13187569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5DBEA6-E8D2-4D0E-A91F-3C7B84E06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сущности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B53733-4C90-415A-B144-BBE564C841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95401"/>
            <a:ext cx="8596668" cy="4745962"/>
          </a:xfrm>
        </p:spPr>
        <p:txBody>
          <a:bodyPr>
            <a:normAutofit fontScale="92500" lnSpcReduction="20000"/>
          </a:bodyPr>
          <a:lstStyle/>
          <a:p>
            <a:r>
              <a:rPr lang="ru-RU" b="1" dirty="0"/>
              <a:t>Узел</a:t>
            </a:r>
            <a:r>
              <a:rPr lang="ru-RU" dirty="0"/>
              <a:t>	- оборудование, использующее IPv6.</a:t>
            </a:r>
          </a:p>
          <a:p>
            <a:r>
              <a:rPr lang="ru-RU" b="1" dirty="0"/>
              <a:t>Маршрутизатор</a:t>
            </a:r>
            <a:r>
              <a:rPr lang="en-US" b="1" dirty="0"/>
              <a:t> - </a:t>
            </a:r>
            <a:r>
              <a:rPr lang="ru-RU" dirty="0"/>
              <a:t>узел, который переадресует пакеты IPv6, которые не адресованы ему непосредственно.</a:t>
            </a:r>
          </a:p>
          <a:p>
            <a:r>
              <a:rPr lang="ru-RU" b="1" dirty="0"/>
              <a:t>Канал</a:t>
            </a:r>
            <a:r>
              <a:rPr lang="en-US" b="1" dirty="0"/>
              <a:t> -</a:t>
            </a:r>
            <a:r>
              <a:rPr lang="ru-RU" b="1" dirty="0"/>
              <a:t> </a:t>
            </a:r>
            <a:r>
              <a:rPr lang="en-US" dirty="0"/>
              <a:t>c</a:t>
            </a:r>
            <a:r>
              <a:rPr lang="ru-RU" dirty="0"/>
              <a:t>средство коммуникации или среда, через которую узлы могут взаимодействовать друг с другом на связном уровне, т.е., уровень непосредственно под IPv6. Примерами могут служить </a:t>
            </a:r>
            <a:r>
              <a:rPr lang="ru-RU" dirty="0" err="1"/>
              <a:t>Ethernet</a:t>
            </a:r>
            <a:r>
              <a:rPr lang="ru-RU" dirty="0"/>
              <a:t>; PPP; X.25, </a:t>
            </a:r>
            <a:r>
              <a:rPr lang="ru-RU" dirty="0" err="1"/>
              <a:t>Frame</a:t>
            </a:r>
            <a:r>
              <a:rPr lang="ru-RU" dirty="0"/>
              <a:t> </a:t>
            </a:r>
            <a:r>
              <a:rPr lang="ru-RU" dirty="0" err="1"/>
              <a:t>Relay</a:t>
            </a:r>
            <a:r>
              <a:rPr lang="ru-RU" dirty="0"/>
              <a:t>, или ATM; а также Интернет "туннели", такие как туннели поверх IPv4 или IPv6.</a:t>
            </a:r>
          </a:p>
          <a:p>
            <a:r>
              <a:rPr lang="ru-RU" b="1" dirty="0"/>
              <a:t>Соседи </a:t>
            </a:r>
            <a:r>
              <a:rPr lang="ru-RU" dirty="0"/>
              <a:t>- узлы, подключенные к общему каналу.</a:t>
            </a:r>
          </a:p>
          <a:p>
            <a:r>
              <a:rPr lang="ru-RU" b="1" dirty="0"/>
              <a:t>Интерфейс</a:t>
            </a:r>
            <a:r>
              <a:rPr lang="ru-RU" dirty="0"/>
              <a:t> - средство подключения узла к каналу.</a:t>
            </a:r>
          </a:p>
          <a:p>
            <a:r>
              <a:rPr lang="ru-RU" b="1" dirty="0"/>
              <a:t>Адрес</a:t>
            </a:r>
            <a:r>
              <a:rPr lang="ru-RU" dirty="0"/>
              <a:t>	 - идентификатор IPv6-уровня для интерфейса или набора интерфейсов.</a:t>
            </a:r>
          </a:p>
          <a:p>
            <a:r>
              <a:rPr lang="ru-RU" b="1" dirty="0"/>
              <a:t>Пакет</a:t>
            </a:r>
            <a:r>
              <a:rPr lang="ru-RU" dirty="0"/>
              <a:t>	  - заголовок и поле данных IPv6.</a:t>
            </a:r>
          </a:p>
          <a:p>
            <a:r>
              <a:rPr lang="ru-RU" b="1" dirty="0"/>
              <a:t>MTU канала </a:t>
            </a:r>
            <a:r>
              <a:rPr lang="ru-RU" dirty="0"/>
              <a:t>- максимальный размер пакета в канале</a:t>
            </a:r>
          </a:p>
          <a:p>
            <a:r>
              <a:rPr lang="ru-RU" b="1" dirty="0"/>
              <a:t>MTU пути</a:t>
            </a:r>
            <a:r>
              <a:rPr lang="ru-RU" dirty="0"/>
              <a:t> - минимальный MTU канала для пути от узла источника до получателя.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0309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9D7069-5CE4-40AF-B315-4AF73CA69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969" y="4553712"/>
            <a:ext cx="8288032" cy="109631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ru-RU" sz="4000" dirty="0"/>
              <a:t>Заголовок </a:t>
            </a:r>
            <a:r>
              <a:rPr lang="en-US" sz="4000" dirty="0"/>
              <a:t>IPv6</a:t>
            </a:r>
            <a:br>
              <a:rPr lang="en-US" sz="4000" dirty="0"/>
            </a:br>
            <a:endParaRPr lang="en-US" sz="3700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8964BB0-5B8F-4930-A3F0-5B3FD370C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0259" y="934222"/>
            <a:ext cx="3299450" cy="329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7866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75DD3C-0FCD-4B17-8C4B-33E3DCE85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Формат заголовка</a:t>
            </a:r>
          </a:p>
        </p:txBody>
      </p:sp>
      <p:pic>
        <p:nvPicPr>
          <p:cNvPr id="4" name="Рисунок 3" descr="Image result for заголовок ip6">
            <a:hlinkClick r:id="rId2" tgtFrame="&quot;_blank&quot;"/>
            <a:extLst>
              <a:ext uri="{FF2B5EF4-FFF2-40B4-BE49-F238E27FC236}">
                <a16:creationId xmlns:a16="http://schemas.microsoft.com/office/drawing/2014/main" id="{4A9623A2-4BFB-4330-ACAE-354A0BB2EED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634" y="1816576"/>
            <a:ext cx="7260590" cy="35550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90596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75DD3C-0FCD-4B17-8C4B-33E3DCE85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Формат заголовка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55A0F23-B0D6-41F9-8148-8F00EB74B592}"/>
              </a:ext>
            </a:extLst>
          </p:cNvPr>
          <p:cNvSpPr/>
          <p:nvPr/>
        </p:nvSpPr>
        <p:spPr>
          <a:xfrm>
            <a:off x="954430" y="1270000"/>
            <a:ext cx="8991600" cy="5710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Версия</a:t>
            </a:r>
            <a: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поле, содержащее 4-битное двоичное значение, которое определяет версию IP-пакета. Для пакетов IPv6 в этом поле всегда указано значение 0110.</a:t>
            </a:r>
            <a:b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Класс трафика</a:t>
            </a:r>
            <a: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8-битное поле, соответствующее полю «Дифференцированные сервисы (DS)» в заголовке IPv4. Оно также содержит 6-битное значение точки кода дифференцированных сервисов (DSCP), которое используется для классификации пакетов, а также 2-битное значение явного уведомления о перегрузке (ECN), используемое для управления перегрузками трафика.</a:t>
            </a:r>
            <a:b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Метка потока</a:t>
            </a:r>
            <a: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20-битное поле, предоставляющее специальную службу для приложений реального времени. Используя это поле, маршрутизаторам и коммутаторам передается информация о необходимости поддерживать один и тот же путь для потока пакетов, что поможет избежать их переупорядочивания.</a:t>
            </a:r>
            <a:b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Длина полезной нагрузки</a:t>
            </a:r>
            <a: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16-битное поле, соответствующее полю «Общая длина» в заголовке IPv4. Оно определяет размер всего пакета (фрагмента), включая заголовок и дополнительные расширения.</a:t>
            </a:r>
            <a:b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0830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75DD3C-0FCD-4B17-8C4B-33E3DCE85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Формат заголовка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55A0F23-B0D6-41F9-8148-8F00EB74B592}"/>
              </a:ext>
            </a:extLst>
          </p:cNvPr>
          <p:cNvSpPr/>
          <p:nvPr/>
        </p:nvSpPr>
        <p:spPr>
          <a:xfrm>
            <a:off x="479868" y="946924"/>
            <a:ext cx="8991600" cy="5708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br>
              <a:rPr lang="ru-RU" dirty="0">
                <a:solidFill>
                  <a:srgbClr val="333333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dirty="0">
                <a:solidFill>
                  <a:srgbClr val="333333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Следующий заголовок:</a:t>
            </a:r>
            <a: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8-битное поле, соответствующее полю «Протокол» в заголовке IPv4. Оно указывает тип полезной нагрузки данных, которые переносит пакет, что позволяет сетевому уровню пересылать данные на соответствующий протокол более высокого уровня. Это поле также используется в тех случаях, когда в пакет IPv6 добавляются дополнительные заголовки расширений.</a:t>
            </a:r>
            <a:b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Предел перехода</a:t>
            </a:r>
            <a: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8-битное поле, заменяющее поле «Время существования» (TTL) в IPv4. Это значение уменьшается на единицу каждым маршрутизатором, пересылающим пакет. Когда счетчик достигает 0, пакет отбрасывается, и на отправляющий узел пересылается сообщение ICMPv6, которое означает, что пакет не достиг своего назначения.</a:t>
            </a:r>
            <a:b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Адрес источника</a:t>
            </a:r>
            <a: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— 128-битовое поле, определяющее IPv6-адрес принимающего узла.</a:t>
            </a:r>
            <a:b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Адрес назначения</a:t>
            </a:r>
            <a:r>
              <a:rPr lang="ru-RU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128-битное поле, определяющее IPv6-адрес принимающего узла.</a:t>
            </a:r>
            <a:endParaRPr lang="ru-RU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2007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9D7069-5CE4-40AF-B315-4AF73CA69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969" y="4553712"/>
            <a:ext cx="8288032" cy="1096316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>
              <a:lnSpc>
                <a:spcPct val="90000"/>
              </a:lnSpc>
            </a:pPr>
            <a:r>
              <a:rPr lang="ru-RU" sz="4000" dirty="0"/>
              <a:t>Адреса </a:t>
            </a:r>
            <a:r>
              <a:rPr lang="en-US" sz="4000" dirty="0"/>
              <a:t>IPv6</a:t>
            </a:r>
            <a:br>
              <a:rPr lang="en-US" sz="4000" dirty="0"/>
            </a:br>
            <a:endParaRPr lang="en-US" sz="3700" kern="12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8964BB0-5B8F-4930-A3F0-5B3FD370C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80259" y="934222"/>
            <a:ext cx="3299450" cy="329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36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85B436-D5ED-4822-BACB-27A8288B3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Адреса </a:t>
            </a:r>
            <a:r>
              <a:rPr lang="en-US" dirty="0"/>
              <a:t>IPv6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35FE68-9E96-4048-8818-FA5B65FA3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Формат</a:t>
            </a:r>
          </a:p>
          <a:p>
            <a:pPr marL="0" indent="0">
              <a:buNone/>
            </a:pPr>
            <a:r>
              <a:rPr lang="ru-RU" dirty="0"/>
              <a:t>В протоколе IPv6 размер адреса составляет 128 бит. Предпочтительным является следующее представление адреса IPv6: x:x:x:x:x:x:x:x, где каждая буква x - это </a:t>
            </a:r>
            <a:r>
              <a:rPr lang="ru-RU" dirty="0" err="1"/>
              <a:t>шестнадцатиричные</a:t>
            </a:r>
            <a:r>
              <a:rPr lang="ru-RU" dirty="0"/>
              <a:t> значения шести 16-битных элементов адреса. </a:t>
            </a:r>
          </a:p>
          <a:p>
            <a:pPr marL="0" indent="0">
              <a:buNone/>
            </a:pPr>
            <a:r>
              <a:rPr lang="ru-RU" dirty="0"/>
              <a:t>Диапазон адресов IPv6 составляет от </a:t>
            </a:r>
          </a:p>
          <a:p>
            <a:pPr marL="0" indent="0">
              <a:buNone/>
            </a:pPr>
            <a:r>
              <a:rPr lang="ru-RU" dirty="0">
                <a:latin typeface="Consolas" panose="020B0609020204030204" pitchFamily="49" charset="0"/>
                <a:cs typeface="Consolas" panose="020B0609020204030204" pitchFamily="49" charset="0"/>
              </a:rPr>
              <a:t>0000:0000:0000:0000:0000:0000:0000:0000 </a:t>
            </a:r>
          </a:p>
          <a:p>
            <a:pPr marL="0" indent="0">
              <a:buNone/>
            </a:pPr>
            <a:r>
              <a:rPr lang="ru-RU" dirty="0"/>
              <a:t>до </a:t>
            </a:r>
          </a:p>
          <a:p>
            <a:pPr marL="0" indent="0">
              <a:buNone/>
            </a:pPr>
            <a:r>
              <a:rPr lang="ru-RU" dirty="0" err="1">
                <a:latin typeface="Consolas" panose="020B0609020204030204" pitchFamily="49" charset="0"/>
                <a:cs typeface="Consolas" panose="020B0609020204030204" pitchFamily="49" charset="0"/>
              </a:rPr>
              <a:t>ffff:ffff:ffff:ffff:ffff:ffff:ffff:ffff</a:t>
            </a:r>
            <a:endParaRPr lang="ru-RU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86104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85B436-D5ED-4822-BACB-27A8288B3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Адреса </a:t>
            </a:r>
            <a:r>
              <a:rPr lang="en-US" dirty="0"/>
              <a:t>IPv6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35FE68-9E96-4048-8818-FA5B65FA3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2001:0DB8:</a:t>
            </a:r>
            <a:r>
              <a:rPr lang="ru-RU" sz="2800" dirty="0">
                <a:latin typeface="Consolas" panose="020B0609020204030204" pitchFamily="49" charset="0"/>
                <a:cs typeface="Consolas" panose="020B0609020204030204" pitchFamily="49" charset="0"/>
              </a:rPr>
              <a:t>00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AF:ABCD:0000:0000:0000:0034</a:t>
            </a:r>
            <a:endParaRPr 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ru-RU" dirty="0"/>
              <a:t>Правила сокращения при записи:</a:t>
            </a:r>
          </a:p>
          <a:p>
            <a:pPr lvl="1"/>
            <a:r>
              <a:rPr lang="ru-RU" dirty="0"/>
              <a:t>Убираем ведущие нули:</a:t>
            </a:r>
          </a:p>
          <a:p>
            <a:pPr marL="457200" lvl="1" indent="0" algn="ctr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2001:</a:t>
            </a:r>
            <a:r>
              <a:rPr lang="en-US" sz="2800" dirty="0">
                <a:highlight>
                  <a:srgbClr val="008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DB8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800" dirty="0">
                <a:highlight>
                  <a:srgbClr val="008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AF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:ABCD:0000:0000:0000:</a:t>
            </a:r>
            <a:r>
              <a:rPr lang="en-US" sz="2800" dirty="0">
                <a:highlight>
                  <a:srgbClr val="008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34</a:t>
            </a:r>
            <a:endParaRPr lang="ru-RU" sz="2800" dirty="0">
              <a:highlight>
                <a:srgbClr val="008000"/>
              </a:highlight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ru-RU" dirty="0"/>
              <a:t>Убираем длинные последовательности нулей:</a:t>
            </a:r>
          </a:p>
          <a:p>
            <a:pPr marL="457200" lvl="1" indent="0" algn="ctr">
              <a:buNone/>
            </a:pP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2001:DB8:AF:ABCD</a:t>
            </a:r>
            <a:r>
              <a:rPr lang="en-US" sz="2800" dirty="0">
                <a:highlight>
                  <a:srgbClr val="0080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en-US" sz="2800" dirty="0">
                <a:latin typeface="Consolas" panose="020B0609020204030204" pitchFamily="49" charset="0"/>
                <a:cs typeface="Consolas" panose="020B0609020204030204" pitchFamily="49" charset="0"/>
              </a:rPr>
              <a:t>34</a:t>
            </a:r>
            <a:endParaRPr lang="ru-RU" sz="2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63898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EF983-75F0-4396-BC20-737B47B66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адресов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4E10BE-B419-4628-AABC-744C272B1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 err="1"/>
              <a:t>Unicast</a:t>
            </a:r>
            <a:r>
              <a:rPr lang="ru-RU" dirty="0"/>
              <a:t> адреса идентифицируют только один сетевой интерфейс. Протокол IPv6 доставляет пакеты, отправленные на такой адрес, на конкретный интерфейс.</a:t>
            </a:r>
          </a:p>
          <a:p>
            <a:pPr lvl="0"/>
            <a:r>
              <a:rPr lang="ru-RU" b="1" dirty="0" err="1"/>
              <a:t>Anycast</a:t>
            </a:r>
            <a:r>
              <a:rPr lang="ru-RU" dirty="0"/>
              <a:t> адреса назначаются группе интерфейсов, обычно принадлежащих различным узлам. Пакет, отправленный на такой адрес, доставляется на один из интерфейсов данной группы, как правило наиболее близкий к отправителю с точки зрения протокола маршрутизации.</a:t>
            </a:r>
          </a:p>
          <a:p>
            <a:pPr lvl="0"/>
            <a:r>
              <a:rPr lang="ru-RU" dirty="0" err="1"/>
              <a:t>Multicast</a:t>
            </a:r>
            <a:r>
              <a:rPr lang="ru-RU" dirty="0"/>
              <a:t> адрес также используется группой узлов, но пакет, отправленный на такой адрес, будет доставлен каждому узлу в группе.</a:t>
            </a:r>
          </a:p>
          <a:p>
            <a:r>
              <a:rPr lang="ru-RU" dirty="0" err="1"/>
              <a:t>Бродкаста</a:t>
            </a:r>
            <a:r>
              <a:rPr lang="ru-RU" dirty="0"/>
              <a:t> нет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1382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7EF983-75F0-4396-BC20-737B47B66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адресов (исключения)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4E10BE-B419-4628-AABC-744C272B1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dirty="0"/>
              <a:t>Одиночный адрес может приписываться нескольким физическим интерфейсам, если приложение рассматривает эти несколько интерфейсов как единое целое при представлении его на уровне Интернет.</a:t>
            </a:r>
          </a:p>
          <a:p>
            <a:r>
              <a:rPr lang="ru-RU" dirty="0"/>
              <a:t>Маршрутизаторы могут иметь ненумерованные интерфейсы (например, интерфейсу не присваивается никакого IPv6 адреса) для соединений точка-точка, чтобы исключить необходимость вручную конфигурировать и объявлять (</a:t>
            </a:r>
            <a:r>
              <a:rPr lang="ru-RU" dirty="0" err="1"/>
              <a:t>advertise</a:t>
            </a:r>
            <a:r>
              <a:rPr lang="ru-RU" dirty="0"/>
              <a:t>) эти адреса. Адреса не нужны для соединений точка-точка маршрутизаторов, если эти интерфейсы не используются в качестве точки отправления или назначения при посылке IPv6 дейтограмм. </a:t>
            </a:r>
          </a:p>
        </p:txBody>
      </p:sp>
    </p:spTree>
    <p:extLst>
      <p:ext uri="{BB962C8B-B14F-4D97-AF65-F5344CB8AC3E}">
        <p14:creationId xmlns:p14="http://schemas.microsoft.com/office/powerpoint/2010/main" val="7449858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5B81D-0A5C-4606-B582-387E74238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Логические части адреса </a:t>
            </a:r>
            <a:r>
              <a:rPr lang="en-US" dirty="0"/>
              <a:t>IPv6</a:t>
            </a:r>
            <a:endParaRPr lang="ru-RU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AFDC2B7-2571-4A64-ACB6-04F155FBCC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520" y="2183989"/>
            <a:ext cx="7767482" cy="329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982667-C25C-4E9C-BA6E-D3E88696F50D}"/>
              </a:ext>
            </a:extLst>
          </p:cNvPr>
          <p:cNvSpPr txBox="1"/>
          <p:nvPr/>
        </p:nvSpPr>
        <p:spPr>
          <a:xfrm>
            <a:off x="677334" y="1530290"/>
            <a:ext cx="9192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Вместо масок сетей – префиксы от 0 до 128 (стандартно – 64)</a:t>
            </a:r>
          </a:p>
        </p:txBody>
      </p:sp>
    </p:spTree>
    <p:extLst>
      <p:ext uri="{BB962C8B-B14F-4D97-AF65-F5344CB8AC3E}">
        <p14:creationId xmlns:p14="http://schemas.microsoft.com/office/powerpoint/2010/main" val="23711756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E8D17BA-2A60-4D43-84F9-9CEA6020BD3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18438" t="24111" r="48437" b="47000"/>
          <a:stretch/>
        </p:blipFill>
        <p:spPr>
          <a:xfrm>
            <a:off x="1234439" y="1930400"/>
            <a:ext cx="7719939" cy="378714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6540D-5CFC-4F7A-904F-85E655666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Префиксы адреса</a:t>
            </a:r>
          </a:p>
        </p:txBody>
      </p:sp>
    </p:spTree>
    <p:extLst>
      <p:ext uri="{BB962C8B-B14F-4D97-AF65-F5344CB8AC3E}">
        <p14:creationId xmlns:p14="http://schemas.microsoft.com/office/powerpoint/2010/main" val="6253127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E712DE-0BB5-46E2-B964-E9DD70EB6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адресов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9F815B-4262-4C1A-A4F1-D809991BB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9487"/>
            <a:ext cx="8596668" cy="4531876"/>
          </a:xfrm>
        </p:spPr>
        <p:txBody>
          <a:bodyPr>
            <a:normAutofit fontScale="92500" lnSpcReduction="10000"/>
          </a:bodyPr>
          <a:lstStyle/>
          <a:p>
            <a:r>
              <a:rPr lang="ru-RU" sz="2400" b="1" dirty="0" err="1"/>
              <a:t>Global</a:t>
            </a:r>
            <a:r>
              <a:rPr lang="ru-RU" sz="2400" b="1" dirty="0"/>
              <a:t> </a:t>
            </a:r>
            <a:r>
              <a:rPr lang="ru-RU" sz="2400" b="1" dirty="0" err="1"/>
              <a:t>unicast</a:t>
            </a:r>
            <a:r>
              <a:rPr lang="ru-RU" sz="2400" b="1" dirty="0"/>
              <a:t> адрес </a:t>
            </a:r>
            <a:br>
              <a:rPr lang="ru-RU" sz="2400" dirty="0"/>
            </a:br>
            <a:r>
              <a:rPr lang="ru-RU" sz="2400" dirty="0"/>
              <a:t>Аналог адреса белого адреса </a:t>
            </a:r>
            <a:r>
              <a:rPr lang="en-US" sz="2400" dirty="0"/>
              <a:t>IPv4</a:t>
            </a:r>
            <a:r>
              <a:rPr lang="ru-RU" sz="2400" dirty="0"/>
              <a:t>. Глобальные индивидуальные адреса могут быть настроены статически или присвоены динамически. Начинается с 2 или с 3.</a:t>
            </a:r>
            <a:br>
              <a:rPr lang="en-US" sz="2400" dirty="0"/>
            </a:br>
            <a:r>
              <a:rPr lang="ru-RU" sz="2400"/>
              <a:t>От 2000 </a:t>
            </a:r>
            <a:r>
              <a:rPr lang="ru-RU" sz="2400" dirty="0"/>
              <a:t>до 3FFF. Из этой группы отдельно выделяется сеть 2001:0DB8::/32</a:t>
            </a:r>
          </a:p>
          <a:p>
            <a:r>
              <a:rPr lang="ru-RU" sz="2400" b="1" dirty="0" err="1"/>
              <a:t>Link-local</a:t>
            </a:r>
            <a:r>
              <a:rPr lang="ru-RU" sz="2400" b="1" dirty="0"/>
              <a:t> </a:t>
            </a:r>
            <a:br>
              <a:rPr lang="ru-RU" sz="2400" dirty="0"/>
            </a:br>
            <a:r>
              <a:rPr lang="ru-RU" sz="2400" dirty="0" err="1"/>
              <a:t>Local</a:t>
            </a:r>
            <a:r>
              <a:rPr lang="ru-RU" sz="2400" dirty="0"/>
              <a:t> IPv6-адрес канала позволяет устройству обмениваться данными с другими устройствами под управлением IPv6 по одному и тому же каналу и только по данному каналу (подсети).  </a:t>
            </a:r>
            <a:r>
              <a:rPr lang="ru-RU" sz="2400" b="1" dirty="0"/>
              <a:t>Не</a:t>
            </a:r>
            <a:r>
              <a:rPr lang="ru-RU" sz="2400" dirty="0"/>
              <a:t> является аналогом «серого» </a:t>
            </a:r>
            <a:r>
              <a:rPr lang="en-US" sz="2400" dirty="0"/>
              <a:t>IPv4</a:t>
            </a:r>
            <a:r>
              <a:rPr lang="ru-RU" sz="2400" dirty="0"/>
              <a:t>.</a:t>
            </a:r>
            <a:r>
              <a:rPr lang="en-US" sz="2400" dirty="0"/>
              <a:t> </a:t>
            </a:r>
            <a:r>
              <a:rPr lang="ru-RU" sz="2400" dirty="0"/>
              <a:t>Локальные IPv6-адреса канала находятся в диапазоне FE80::/10. /10 </a:t>
            </a:r>
            <a:br>
              <a:rPr lang="ru-RU" dirty="0"/>
            </a:b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90371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E712DE-0BB5-46E2-B964-E9DD70EB6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адресов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9F815B-4262-4C1A-A4F1-D809991BB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06287"/>
            <a:ext cx="8596668" cy="4735076"/>
          </a:xfrm>
        </p:spPr>
        <p:txBody>
          <a:bodyPr>
            <a:normAutofit fontScale="77500" lnSpcReduction="20000"/>
          </a:bodyPr>
          <a:lstStyle/>
          <a:p>
            <a:r>
              <a:rPr lang="ru-RU" sz="2800" b="1" dirty="0" err="1"/>
              <a:t>Loopback</a:t>
            </a:r>
            <a:br>
              <a:rPr lang="ru-RU" sz="2800" dirty="0"/>
            </a:br>
            <a:r>
              <a:rPr lang="ru-RU" sz="2800" dirty="0" err="1"/>
              <a:t>Loopback</a:t>
            </a:r>
            <a:r>
              <a:rPr lang="ru-RU" sz="2800" dirty="0"/>
              <a:t>-адрес используется узлом для отправки пакета самому себе и не может быть назначен физическому интерфейсу. Как и на </a:t>
            </a:r>
            <a:r>
              <a:rPr lang="ru-RU" sz="2800" dirty="0" err="1"/>
              <a:t>loopback</a:t>
            </a:r>
            <a:r>
              <a:rPr lang="ru-RU" sz="2800" dirty="0"/>
              <a:t>-адрес IPv4, для проверки настроек TCP/IP на локальном узле можно послать эхо-запрос на </a:t>
            </a:r>
            <a:r>
              <a:rPr lang="ru-RU" sz="2800" dirty="0" err="1"/>
              <a:t>loopback</a:t>
            </a:r>
            <a:r>
              <a:rPr lang="ru-RU" sz="2800" dirty="0"/>
              <a:t>-адрес IPv6. </a:t>
            </a:r>
            <a:r>
              <a:rPr lang="ru-RU" sz="2800" dirty="0" err="1"/>
              <a:t>Loopback</a:t>
            </a:r>
            <a:r>
              <a:rPr lang="ru-RU" sz="2800" dirty="0"/>
              <a:t>-адрес IPv6 </a:t>
            </a:r>
            <a:r>
              <a:rPr lang="en-US" sz="2800" dirty="0"/>
              <a:t> - </a:t>
            </a:r>
            <a:r>
              <a:rPr lang="ru-RU" sz="2800" dirty="0"/>
              <a:t>::1/128 или просто ::1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ru-RU" sz="2800" b="1" dirty="0" err="1"/>
              <a:t>Unspecified</a:t>
            </a:r>
            <a:r>
              <a:rPr lang="ru-RU" sz="2800" b="1" dirty="0"/>
              <a:t> </a:t>
            </a:r>
            <a:r>
              <a:rPr lang="ru-RU" sz="2800" b="1" dirty="0" err="1"/>
              <a:t>address</a:t>
            </a:r>
            <a:br>
              <a:rPr lang="ru-RU" sz="2800" dirty="0"/>
            </a:br>
            <a:r>
              <a:rPr lang="ru-RU" sz="2800" dirty="0"/>
              <a:t>Неопределённый адрес состоит из нулей и в сжатом формате представлен как ::/128 или просто :: Он не может быть назначен интерфейсу и используется только в качестве адреса источника в IPv6-пакете. Неопределённый адрес используется в качестве адреса источника, когда устройству еще не назначен постоянный IPv6-адрес</a:t>
            </a:r>
            <a:r>
              <a:rPr lang="en-US" sz="2800" dirty="0"/>
              <a:t>.</a:t>
            </a:r>
            <a:br>
              <a:rPr lang="ru-RU" sz="2200" dirty="0"/>
            </a:b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90955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E712DE-0BB5-46E2-B964-E9DD70EB6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адресов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B9F815B-4262-4C1A-A4F1-D809991BB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89089"/>
            <a:ext cx="8596668" cy="3880773"/>
          </a:xfrm>
        </p:spPr>
        <p:txBody>
          <a:bodyPr>
            <a:normAutofit fontScale="92500"/>
          </a:bodyPr>
          <a:lstStyle/>
          <a:p>
            <a:r>
              <a:rPr lang="ru-RU" b="1" dirty="0" err="1"/>
              <a:t>Unique</a:t>
            </a:r>
            <a:r>
              <a:rPr lang="ru-RU" b="1" dirty="0"/>
              <a:t> </a:t>
            </a:r>
            <a:r>
              <a:rPr lang="ru-RU" b="1" dirty="0" err="1"/>
              <a:t>local</a:t>
            </a:r>
            <a:br>
              <a:rPr lang="ru-RU" dirty="0"/>
            </a:br>
            <a:r>
              <a:rPr lang="ru-RU" dirty="0" err="1"/>
              <a:t>Unique</a:t>
            </a:r>
            <a:r>
              <a:rPr lang="ru-RU" dirty="0"/>
              <a:t> </a:t>
            </a:r>
            <a:r>
              <a:rPr lang="ru-RU" dirty="0" err="1"/>
              <a:t>local</a:t>
            </a:r>
            <a:r>
              <a:rPr lang="ru-RU" dirty="0"/>
              <a:t> — IPv6-адреса имеют некоторые общие особенности с «серыми» адресами </a:t>
            </a:r>
            <a:r>
              <a:rPr lang="en-US" dirty="0"/>
              <a:t>IPv4</a:t>
            </a:r>
            <a:r>
              <a:rPr lang="ru-RU" dirty="0"/>
              <a:t>, но имеют и значительные отличия. Находятся в диапазоне от FC00::/7 до FDFF::/7. Хотя протокол IPv6 обеспечивает особую адресацию для сайтов, он не предназначен для того, чтобы скрывать внутренние устройства под управлением IPv6 от Интернета IPv6. </a:t>
            </a:r>
          </a:p>
          <a:p>
            <a:pPr marL="0" indent="0">
              <a:buNone/>
            </a:pPr>
            <a:endParaRPr lang="ru-RU" dirty="0"/>
          </a:p>
          <a:p>
            <a:r>
              <a:rPr lang="ru-RU" b="1" dirty="0"/>
              <a:t>IPv4 </a:t>
            </a:r>
            <a:r>
              <a:rPr lang="ru-RU" b="1" dirty="0" err="1"/>
              <a:t>embedded</a:t>
            </a:r>
            <a:br>
              <a:rPr lang="ru-RU" dirty="0"/>
            </a:br>
            <a:r>
              <a:rPr lang="ru-RU" dirty="0"/>
              <a:t>Использование этих адресов способствует переходу с протокола IPv4 на IPv6.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Multicast</a:t>
            </a:r>
          </a:p>
          <a:p>
            <a:pPr marL="0" indent="0">
              <a:buNone/>
            </a:pPr>
            <a:r>
              <a:rPr lang="ru-RU" dirty="0"/>
              <a:t>Для рассылок внутри группы. Начинаются с </a:t>
            </a:r>
            <a:r>
              <a:rPr lang="en-US" dirty="0"/>
              <a:t>FF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09086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2E5FAA-D1FC-4837-9A98-D157A1C39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адреса</a:t>
            </a:r>
          </a:p>
        </p:txBody>
      </p:sp>
      <p:graphicFrame>
        <p:nvGraphicFramePr>
          <p:cNvPr id="4" name="Таблица 5">
            <a:extLst>
              <a:ext uri="{FF2B5EF4-FFF2-40B4-BE49-F238E27FC236}">
                <a16:creationId xmlns:a16="http://schemas.microsoft.com/office/drawing/2014/main" id="{D0FF0002-0920-4F2B-AF84-7189A00D5A09}"/>
              </a:ext>
            </a:extLst>
          </p:cNvPr>
          <p:cNvGraphicFramePr>
            <a:graphicFrameLocks noGrp="1"/>
          </p:cNvGraphicFramePr>
          <p:nvPr/>
        </p:nvGraphicFramePr>
        <p:xfrm>
          <a:off x="1003286" y="2316480"/>
          <a:ext cx="812799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8594">
                  <a:extLst>
                    <a:ext uri="{9D8B030D-6E8A-4147-A177-3AD203B41FA5}">
                      <a16:colId xmlns:a16="http://schemas.microsoft.com/office/drawing/2014/main" val="1157628211"/>
                    </a:ext>
                  </a:extLst>
                </a:gridCol>
                <a:gridCol w="1226820">
                  <a:extLst>
                    <a:ext uri="{9D8B030D-6E8A-4147-A177-3AD203B41FA5}">
                      <a16:colId xmlns:a16="http://schemas.microsoft.com/office/drawing/2014/main" val="748797005"/>
                    </a:ext>
                  </a:extLst>
                </a:gridCol>
                <a:gridCol w="4292585">
                  <a:extLst>
                    <a:ext uri="{9D8B030D-6E8A-4147-A177-3AD203B41FA5}">
                      <a16:colId xmlns:a16="http://schemas.microsoft.com/office/drawing/2014/main" val="879172177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Префикс глобальной маршрутизации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Ид. подсети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Идентификатор </a:t>
                      </a:r>
                      <a:br>
                        <a:rPr lang="ru-RU" dirty="0"/>
                      </a:br>
                      <a:r>
                        <a:rPr lang="ru-RU" dirty="0"/>
                        <a:t>интерфейса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137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48 бит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16 бит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64 бита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254809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Префикс сети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Идентификатор интерфейса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541309"/>
                  </a:ext>
                </a:extLst>
              </a:tr>
            </a:tbl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F1D7DEB-EBBE-435F-9DD6-0BDBE1B138CD}"/>
              </a:ext>
            </a:extLst>
          </p:cNvPr>
          <p:cNvSpPr/>
          <p:nvPr/>
        </p:nvSpPr>
        <p:spPr>
          <a:xfrm>
            <a:off x="1163306" y="4501634"/>
            <a:ext cx="5785558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Префикс глобальной маршрутизации выдается </a:t>
            </a:r>
            <a:r>
              <a:rPr lang="en-US" dirty="0"/>
              <a:t>IANA</a:t>
            </a:r>
          </a:p>
          <a:p>
            <a:br>
              <a:rPr lang="ru-RU" dirty="0"/>
            </a:br>
            <a:r>
              <a:rPr lang="ru-RU" dirty="0"/>
              <a:t>Пример адреса: </a:t>
            </a:r>
            <a:r>
              <a:rPr lang="da-DK" dirty="0"/>
              <a:t>2001:DB8:AF:ABCD::34</a:t>
            </a:r>
          </a:p>
          <a:p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BAB2376-FFD6-4404-A526-0C5D754BA901}"/>
              </a:ext>
            </a:extLst>
          </p:cNvPr>
          <p:cNvSpPr/>
          <p:nvPr/>
        </p:nvSpPr>
        <p:spPr>
          <a:xfrm>
            <a:off x="938040" y="1563886"/>
            <a:ext cx="41749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Global</a:t>
            </a:r>
            <a:r>
              <a:rPr lang="ru-RU" b="1" dirty="0"/>
              <a:t> </a:t>
            </a:r>
            <a:r>
              <a:rPr lang="ru-RU" b="1" dirty="0" err="1"/>
              <a:t>unicast</a:t>
            </a:r>
            <a:r>
              <a:rPr lang="ru-RU" b="1" dirty="0"/>
              <a:t> адрес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264367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5B81D-0A5C-4606-B582-387E74238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структуры адреса</a:t>
            </a:r>
          </a:p>
        </p:txBody>
      </p:sp>
      <p:pic>
        <p:nvPicPr>
          <p:cNvPr id="5" name="Рисунок 4" descr="Изображение выглядит как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0EB3305C-C225-4F89-8491-201464EBEAC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951"/>
          <a:stretch/>
        </p:blipFill>
        <p:spPr>
          <a:xfrm>
            <a:off x="1378857" y="1993913"/>
            <a:ext cx="7872260" cy="3158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2905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562052-52F6-484E-AE0A-652FAAB5D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D3E48E9-E479-4DD5-9668-41FA6E6E8E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324" b="5824"/>
          <a:stretch/>
        </p:blipFill>
        <p:spPr bwMode="auto">
          <a:xfrm>
            <a:off x="768774" y="1930400"/>
            <a:ext cx="9144000" cy="3761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4224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2E5FAA-D1FC-4837-9A98-D157A1C39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адреса</a:t>
            </a:r>
          </a:p>
        </p:txBody>
      </p:sp>
      <p:graphicFrame>
        <p:nvGraphicFramePr>
          <p:cNvPr id="4" name="Таблица 5">
            <a:extLst>
              <a:ext uri="{FF2B5EF4-FFF2-40B4-BE49-F238E27FC236}">
                <a16:creationId xmlns:a16="http://schemas.microsoft.com/office/drawing/2014/main" id="{D0FF0002-0920-4F2B-AF84-7189A00D5A09}"/>
              </a:ext>
            </a:extLst>
          </p:cNvPr>
          <p:cNvGraphicFramePr>
            <a:graphicFrameLocks noGrp="1"/>
          </p:cNvGraphicFramePr>
          <p:nvPr/>
        </p:nvGraphicFramePr>
        <p:xfrm>
          <a:off x="1003286" y="2316480"/>
          <a:ext cx="812799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9774">
                  <a:extLst>
                    <a:ext uri="{9D8B030D-6E8A-4147-A177-3AD203B41FA5}">
                      <a16:colId xmlns:a16="http://schemas.microsoft.com/office/drawing/2014/main" val="1157628211"/>
                    </a:ext>
                  </a:extLst>
                </a:gridCol>
                <a:gridCol w="1988820">
                  <a:extLst>
                    <a:ext uri="{9D8B030D-6E8A-4147-A177-3AD203B41FA5}">
                      <a16:colId xmlns:a16="http://schemas.microsoft.com/office/drawing/2014/main" val="4125552912"/>
                    </a:ext>
                  </a:extLst>
                </a:gridCol>
                <a:gridCol w="1226820">
                  <a:extLst>
                    <a:ext uri="{9D8B030D-6E8A-4147-A177-3AD203B41FA5}">
                      <a16:colId xmlns:a16="http://schemas.microsoft.com/office/drawing/2014/main" val="748797005"/>
                    </a:ext>
                  </a:extLst>
                </a:gridCol>
                <a:gridCol w="4292585">
                  <a:extLst>
                    <a:ext uri="{9D8B030D-6E8A-4147-A177-3AD203B41FA5}">
                      <a16:colId xmlns:a16="http://schemas.microsoft.com/office/drawing/2014/main" val="879172177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Префикс глобальной маршрутизации</a:t>
                      </a:r>
                    </a:p>
                    <a:p>
                      <a:pPr algn="ctr"/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Ид. подсети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Идентификатор </a:t>
                      </a:r>
                      <a:br>
                        <a:rPr lang="ru-RU" dirty="0"/>
                      </a:br>
                      <a:r>
                        <a:rPr lang="ru-RU" dirty="0"/>
                        <a:t>интерфейса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137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8 бит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40 бит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16 бит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64 бита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254809"/>
                  </a:ext>
                </a:extLst>
              </a:tr>
              <a:tr h="182880">
                <a:tc gridSpan="3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Префикс сети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Идентификатор интерфейса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541309"/>
                  </a:ext>
                </a:extLst>
              </a:tr>
            </a:tbl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F1D7DEB-EBBE-435F-9DD6-0BDBE1B138CD}"/>
              </a:ext>
            </a:extLst>
          </p:cNvPr>
          <p:cNvSpPr/>
          <p:nvPr/>
        </p:nvSpPr>
        <p:spPr>
          <a:xfrm>
            <a:off x="938040" y="4674846"/>
            <a:ext cx="10195125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Определяется по </a:t>
            </a:r>
            <a:r>
              <a:rPr lang="en-US" dirty="0"/>
              <a:t>RFC </a:t>
            </a:r>
            <a:r>
              <a:rPr lang="ru-RU" dirty="0"/>
              <a:t>4193</a:t>
            </a:r>
            <a:endParaRPr lang="en-US" dirty="0"/>
          </a:p>
          <a:p>
            <a:r>
              <a:rPr lang="ru-RU" dirty="0"/>
              <a:t>Для работы в </a:t>
            </a:r>
            <a:r>
              <a:rPr lang="en-US" dirty="0"/>
              <a:t>LAN</a:t>
            </a:r>
            <a:r>
              <a:rPr lang="ru-RU" dirty="0"/>
              <a:t>. В интернете не работают.</a:t>
            </a:r>
          </a:p>
          <a:p>
            <a:endParaRPr lang="ru-RU" dirty="0"/>
          </a:p>
          <a:p>
            <a:r>
              <a:rPr lang="ru-RU" dirty="0"/>
              <a:t>Пример адреса: </a:t>
            </a:r>
            <a:r>
              <a:rPr lang="en-US" dirty="0"/>
              <a:t>fde8:86a5:fe80:1:5922:49:50:6767</a:t>
            </a:r>
            <a:endParaRPr lang="ru-RU" dirty="0"/>
          </a:p>
          <a:p>
            <a:endParaRPr lang="ru-RU" dirty="0"/>
          </a:p>
          <a:p>
            <a:r>
              <a:rPr lang="en-US" dirty="0"/>
              <a:t>Fc00::/8 – </a:t>
            </a:r>
            <a:r>
              <a:rPr lang="ru-RU" dirty="0"/>
              <a:t>управляется </a:t>
            </a:r>
            <a:r>
              <a:rPr lang="en-US" dirty="0"/>
              <a:t>IANA</a:t>
            </a:r>
            <a:r>
              <a:rPr lang="ru-RU" dirty="0"/>
              <a:t> (не работает)</a:t>
            </a:r>
            <a:endParaRPr lang="en-US" dirty="0"/>
          </a:p>
          <a:p>
            <a:r>
              <a:rPr lang="en-US" dirty="0"/>
              <a:t>Fd00::/8 – </a:t>
            </a:r>
            <a:r>
              <a:rPr lang="ru-RU" dirty="0"/>
              <a:t>используете. Генерация по алгоритму. Сети по </a:t>
            </a:r>
            <a:r>
              <a:rPr lang="en-US" dirty="0"/>
              <a:t>/48</a:t>
            </a: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BAB2376-FFD6-4404-A526-0C5D754BA901}"/>
              </a:ext>
            </a:extLst>
          </p:cNvPr>
          <p:cNvSpPr/>
          <p:nvPr/>
        </p:nvSpPr>
        <p:spPr>
          <a:xfrm>
            <a:off x="938040" y="1563886"/>
            <a:ext cx="41749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Unique</a:t>
            </a:r>
            <a:r>
              <a:rPr lang="ru-RU" b="1" dirty="0"/>
              <a:t> </a:t>
            </a:r>
            <a:r>
              <a:rPr lang="ru-RU" b="1" dirty="0" err="1"/>
              <a:t>local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1829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2E5FAA-D1FC-4837-9A98-D157A1C39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Структура адреса</a:t>
            </a:r>
          </a:p>
        </p:txBody>
      </p:sp>
      <p:graphicFrame>
        <p:nvGraphicFramePr>
          <p:cNvPr id="4" name="Таблица 5">
            <a:extLst>
              <a:ext uri="{FF2B5EF4-FFF2-40B4-BE49-F238E27FC236}">
                <a16:creationId xmlns:a16="http://schemas.microsoft.com/office/drawing/2014/main" id="{D0FF0002-0920-4F2B-AF84-7189A00D5A09}"/>
              </a:ext>
            </a:extLst>
          </p:cNvPr>
          <p:cNvGraphicFramePr>
            <a:graphicFrameLocks noGrp="1"/>
          </p:cNvGraphicFramePr>
          <p:nvPr/>
        </p:nvGraphicFramePr>
        <p:xfrm>
          <a:off x="1003286" y="2316480"/>
          <a:ext cx="8127999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7934">
                  <a:extLst>
                    <a:ext uri="{9D8B030D-6E8A-4147-A177-3AD203B41FA5}">
                      <a16:colId xmlns:a16="http://schemas.microsoft.com/office/drawing/2014/main" val="1157628211"/>
                    </a:ext>
                  </a:extLst>
                </a:gridCol>
                <a:gridCol w="2621280">
                  <a:extLst>
                    <a:ext uri="{9D8B030D-6E8A-4147-A177-3AD203B41FA5}">
                      <a16:colId xmlns:a16="http://schemas.microsoft.com/office/drawing/2014/main" val="4125552912"/>
                    </a:ext>
                  </a:extLst>
                </a:gridCol>
                <a:gridCol w="4368785">
                  <a:extLst>
                    <a:ext uri="{9D8B030D-6E8A-4147-A177-3AD203B41FA5}">
                      <a16:colId xmlns:a16="http://schemas.microsoft.com/office/drawing/2014/main" val="879172177"/>
                    </a:ext>
                  </a:extLst>
                </a:gridCol>
              </a:tblGrid>
              <a:tr h="1854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Fe80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Ид. подсети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Идентификатор </a:t>
                      </a:r>
                      <a:br>
                        <a:rPr lang="ru-RU" dirty="0"/>
                      </a:br>
                      <a:r>
                        <a:rPr lang="ru-RU" dirty="0"/>
                        <a:t>интерфейса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31377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  <a:r>
                        <a:rPr lang="ru-RU" dirty="0"/>
                        <a:t> бит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4</a:t>
                      </a:r>
                      <a:r>
                        <a:rPr lang="en-US" dirty="0"/>
                        <a:t>8</a:t>
                      </a:r>
                      <a:r>
                        <a:rPr lang="ru-RU" dirty="0"/>
                        <a:t> бит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64 бита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254809"/>
                  </a:ext>
                </a:extLst>
              </a:tr>
              <a:tr h="182880"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Префикс сети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Идентификатор интерфейса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541309"/>
                  </a:ext>
                </a:extLst>
              </a:tr>
            </a:tbl>
          </a:graphicData>
        </a:graphic>
      </p:graphicFrame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F1D7DEB-EBBE-435F-9DD6-0BDBE1B138CD}"/>
              </a:ext>
            </a:extLst>
          </p:cNvPr>
          <p:cNvSpPr/>
          <p:nvPr/>
        </p:nvSpPr>
        <p:spPr>
          <a:xfrm>
            <a:off x="1184642" y="4748105"/>
            <a:ext cx="728270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Служебный, конфигурационный.</a:t>
            </a:r>
          </a:p>
          <a:p>
            <a:r>
              <a:rPr lang="ru-RU" dirty="0"/>
              <a:t>Уникален в канале.</a:t>
            </a:r>
            <a:br>
              <a:rPr lang="ru-RU" dirty="0"/>
            </a:br>
            <a:r>
              <a:rPr lang="ru-RU" dirty="0"/>
              <a:t>Пример адреса: </a:t>
            </a:r>
            <a:r>
              <a:rPr lang="pt-BR" dirty="0"/>
              <a:t>fe80::59e1:d46b:1bb:5169</a:t>
            </a:r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BAB2376-FFD6-4404-A526-0C5D754BA901}"/>
              </a:ext>
            </a:extLst>
          </p:cNvPr>
          <p:cNvSpPr/>
          <p:nvPr/>
        </p:nvSpPr>
        <p:spPr>
          <a:xfrm>
            <a:off x="938040" y="1563886"/>
            <a:ext cx="41749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/>
              <a:t>Link-local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579096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F33DB5-32A8-4B58-A110-DE849572E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IPv4 </a:t>
            </a:r>
            <a:r>
              <a:rPr lang="ru-RU" b="1" dirty="0" err="1"/>
              <a:t>embedded</a:t>
            </a: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71D886-3598-4637-8195-045D85B256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867" r="3666" b="20800"/>
          <a:stretch/>
        </p:blipFill>
        <p:spPr bwMode="auto">
          <a:xfrm>
            <a:off x="677334" y="1745968"/>
            <a:ext cx="880872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82547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43D0B2-54F1-41CD-A164-49F5E2D9A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Особые адреса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D795B0E-0AEF-46F8-AF8A-B58FA73E086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/>
          <a:srcRect l="18438" t="24333" r="53500" b="53223"/>
          <a:stretch/>
        </p:blipFill>
        <p:spPr>
          <a:xfrm>
            <a:off x="912325" y="1725930"/>
            <a:ext cx="6371897" cy="286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9439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FB0DF3-29D5-47A8-B6DE-BD2889DD3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Статистика </a:t>
            </a:r>
            <a:r>
              <a:rPr lang="en-US" dirty="0"/>
              <a:t>IPv6 </a:t>
            </a:r>
            <a:r>
              <a:rPr lang="ru-RU" dirty="0"/>
              <a:t>от </a:t>
            </a:r>
            <a:r>
              <a:rPr lang="en-US" dirty="0"/>
              <a:t>Google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85A344-379C-4390-9DA7-2969B31D7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https://www.google.com/intl/gr/ipv6/statistics.html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08841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F442C1-998B-4884-863D-3D2131CBA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Конфигурирование узла </a:t>
            </a:r>
            <a:r>
              <a:rPr lang="en-US" dirty="0"/>
              <a:t>IPv6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006D21-0B4E-4476-AD55-BCA69CE2E0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Включение узла</a:t>
            </a:r>
          </a:p>
          <a:p>
            <a:r>
              <a:rPr lang="ru-RU" dirty="0"/>
              <a:t>Выбор узлом адреса из </a:t>
            </a:r>
            <a:r>
              <a:rPr lang="ru-RU" b="1" dirty="0" err="1"/>
              <a:t>Link-local</a:t>
            </a:r>
            <a:r>
              <a:rPr lang="ru-RU" dirty="0"/>
              <a:t> </a:t>
            </a:r>
          </a:p>
          <a:p>
            <a:r>
              <a:rPr lang="ru-RU" dirty="0"/>
              <a:t>Рассылка  на </a:t>
            </a:r>
            <a:r>
              <a:rPr lang="en-US" dirty="0"/>
              <a:t>ff01:0:0:0:0:0:0:</a:t>
            </a:r>
            <a:r>
              <a:rPr lang="ru-RU" dirty="0"/>
              <a:t>1 (все узлы) запроса на возражение</a:t>
            </a:r>
          </a:p>
          <a:p>
            <a:r>
              <a:rPr lang="ru-RU" dirty="0"/>
              <a:t>Рассылка на </a:t>
            </a:r>
            <a:r>
              <a:rPr lang="en-US" dirty="0"/>
              <a:t>ff01:0:0:0:0:0:0:2</a:t>
            </a:r>
            <a:r>
              <a:rPr lang="ru-RU" dirty="0"/>
              <a:t> (все роутеры) запроса на конфигурацию</a:t>
            </a:r>
          </a:p>
          <a:p>
            <a:r>
              <a:rPr lang="ru-RU" dirty="0"/>
              <a:t>Получение от ближайшего роутера данных:</a:t>
            </a:r>
            <a:br>
              <a:rPr lang="ru-RU" dirty="0"/>
            </a:br>
            <a:endParaRPr lang="ru-RU" dirty="0"/>
          </a:p>
          <a:p>
            <a:pPr marL="1790700" indent="0">
              <a:buNone/>
              <a:tabLst>
                <a:tab pos="2065338" algn="l"/>
              </a:tabLst>
            </a:pPr>
            <a:r>
              <a:rPr lang="ru-RU" dirty="0"/>
              <a:t>адрес, </a:t>
            </a:r>
            <a:br>
              <a:rPr lang="ru-RU" dirty="0"/>
            </a:br>
            <a:r>
              <a:rPr lang="ru-RU" dirty="0"/>
              <a:t>длину префикса, </a:t>
            </a:r>
            <a:br>
              <a:rPr lang="ru-RU" dirty="0"/>
            </a:br>
            <a:r>
              <a:rPr lang="en-US" dirty="0"/>
              <a:t>MTU</a:t>
            </a:r>
            <a:r>
              <a:rPr lang="ru-RU" dirty="0"/>
              <a:t>, </a:t>
            </a:r>
            <a:br>
              <a:rPr lang="ru-RU" dirty="0"/>
            </a:br>
            <a:r>
              <a:rPr lang="en-US" dirty="0"/>
              <a:t>DNS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9415015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ACACE1-D06C-4178-AD99-6803BD65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Фрагментация в </a:t>
            </a:r>
            <a:r>
              <a:rPr lang="en-US" dirty="0"/>
              <a:t>IPv6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5F49BA-0C9B-42A6-8A08-90B4D19A2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22597"/>
            <a:ext cx="8596668" cy="3880773"/>
          </a:xfrm>
        </p:spPr>
        <p:txBody>
          <a:bodyPr/>
          <a:lstStyle/>
          <a:p>
            <a:r>
              <a:rPr lang="ru-RU" dirty="0"/>
              <a:t>Нет фрагментации, когда маршрутизатор не может передать пакет из-за нехватки места в </a:t>
            </a:r>
            <a:r>
              <a:rPr lang="en-US" dirty="0"/>
              <a:t>MTU </a:t>
            </a:r>
            <a:r>
              <a:rPr lang="ru-RU" dirty="0"/>
              <a:t>– он сбрасывает пакет и сообщает отправителю о необходимости снизить </a:t>
            </a:r>
            <a:r>
              <a:rPr lang="en-US" dirty="0"/>
              <a:t>MTU</a:t>
            </a:r>
            <a:r>
              <a:rPr lang="ru-RU" dirty="0"/>
              <a:t>.</a:t>
            </a:r>
          </a:p>
        </p:txBody>
      </p:sp>
      <p:sp>
        <p:nvSpPr>
          <p:cNvPr id="4" name="Блок-схема: магнитный диск 3">
            <a:extLst>
              <a:ext uri="{FF2B5EF4-FFF2-40B4-BE49-F238E27FC236}">
                <a16:creationId xmlns:a16="http://schemas.microsoft.com/office/drawing/2014/main" id="{1BEDB5E4-E80A-4412-A107-928409B70852}"/>
              </a:ext>
            </a:extLst>
          </p:cNvPr>
          <p:cNvSpPr/>
          <p:nvPr/>
        </p:nvSpPr>
        <p:spPr>
          <a:xfrm>
            <a:off x="3243580" y="3450336"/>
            <a:ext cx="914400" cy="612648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Блок-схема: магнитный диск 4">
            <a:extLst>
              <a:ext uri="{FF2B5EF4-FFF2-40B4-BE49-F238E27FC236}">
                <a16:creationId xmlns:a16="http://schemas.microsoft.com/office/drawing/2014/main" id="{301CF983-7DCF-4A57-8850-5C3AB7C028EF}"/>
              </a:ext>
            </a:extLst>
          </p:cNvPr>
          <p:cNvSpPr/>
          <p:nvPr/>
        </p:nvSpPr>
        <p:spPr>
          <a:xfrm>
            <a:off x="5892800" y="3450336"/>
            <a:ext cx="914400" cy="612648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Блок-схема: узел 5">
            <a:extLst>
              <a:ext uri="{FF2B5EF4-FFF2-40B4-BE49-F238E27FC236}">
                <a16:creationId xmlns:a16="http://schemas.microsoft.com/office/drawing/2014/main" id="{20505E54-A17B-4436-80F5-3AAE28AE4BA6}"/>
              </a:ext>
            </a:extLst>
          </p:cNvPr>
          <p:cNvSpPr/>
          <p:nvPr/>
        </p:nvSpPr>
        <p:spPr>
          <a:xfrm>
            <a:off x="1051560" y="3450336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Блок-схема: узел 6">
            <a:extLst>
              <a:ext uri="{FF2B5EF4-FFF2-40B4-BE49-F238E27FC236}">
                <a16:creationId xmlns:a16="http://schemas.microsoft.com/office/drawing/2014/main" id="{05E68E5F-2DFA-4551-9DF1-960448CFEF42}"/>
              </a:ext>
            </a:extLst>
          </p:cNvPr>
          <p:cNvSpPr/>
          <p:nvPr/>
        </p:nvSpPr>
        <p:spPr>
          <a:xfrm>
            <a:off x="8542020" y="3450336"/>
            <a:ext cx="457200" cy="457200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B2B63ECF-2619-48F2-8D5C-2D6DE848A1D1}"/>
              </a:ext>
            </a:extLst>
          </p:cNvPr>
          <p:cNvCxnSpPr>
            <a:cxnSpLocks/>
            <a:stCxn id="6" idx="6"/>
            <a:endCxn id="7" idx="2"/>
          </p:cNvCxnSpPr>
          <p:nvPr/>
        </p:nvCxnSpPr>
        <p:spPr>
          <a:xfrm>
            <a:off x="1508760" y="3678936"/>
            <a:ext cx="70332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7789C0D-747D-448D-801F-1BD0CF7B2EA1}"/>
              </a:ext>
            </a:extLst>
          </p:cNvPr>
          <p:cNvSpPr txBox="1"/>
          <p:nvPr/>
        </p:nvSpPr>
        <p:spPr>
          <a:xfrm>
            <a:off x="1782097" y="3213506"/>
            <a:ext cx="1188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MTU 1500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F173EE-1A86-4EAC-B923-17E4BA9DE888}"/>
              </a:ext>
            </a:extLst>
          </p:cNvPr>
          <p:cNvSpPr txBox="1"/>
          <p:nvPr/>
        </p:nvSpPr>
        <p:spPr>
          <a:xfrm>
            <a:off x="4381595" y="3213506"/>
            <a:ext cx="1188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MTU 1200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E1E989-EE8F-4D56-B126-1B618030D5E1}"/>
              </a:ext>
            </a:extLst>
          </p:cNvPr>
          <p:cNvSpPr txBox="1"/>
          <p:nvPr/>
        </p:nvSpPr>
        <p:spPr>
          <a:xfrm>
            <a:off x="6981093" y="3213506"/>
            <a:ext cx="1188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MTU 9000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1056286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1776</Words>
  <Application>Microsoft Office PowerPoint</Application>
  <PresentationFormat>Широкоэкранный</PresentationFormat>
  <Paragraphs>199</Paragraphs>
  <Slides>39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5" baseType="lpstr">
      <vt:lpstr>Arial</vt:lpstr>
      <vt:lpstr>Calibri</vt:lpstr>
      <vt:lpstr>Consolas</vt:lpstr>
      <vt:lpstr>Trebuchet MS</vt:lpstr>
      <vt:lpstr>Wingdings 3</vt:lpstr>
      <vt:lpstr>Аспект</vt:lpstr>
      <vt:lpstr>Протокол IPv6</vt:lpstr>
      <vt:lpstr>План</vt:lpstr>
      <vt:lpstr>Причины перехода на IPv6 </vt:lpstr>
      <vt:lpstr>Немого истории</vt:lpstr>
      <vt:lpstr>Предпосылки</vt:lpstr>
      <vt:lpstr>RIR  (Regional Internet Registry)</vt:lpstr>
      <vt:lpstr>Предпосылки</vt:lpstr>
      <vt:lpstr>Владение адресами</vt:lpstr>
      <vt:lpstr>Предпосылки</vt:lpstr>
      <vt:lpstr>Предпосылки</vt:lpstr>
      <vt:lpstr>Проблемы и препятствия</vt:lpstr>
      <vt:lpstr>Цели</vt:lpstr>
      <vt:lpstr>Сравнение IPv4 и IPv6</vt:lpstr>
      <vt:lpstr>RFC</vt:lpstr>
      <vt:lpstr>Основные сущности</vt:lpstr>
      <vt:lpstr>Заголовок IPv6 </vt:lpstr>
      <vt:lpstr>Формат заголовка</vt:lpstr>
      <vt:lpstr>Формат заголовка</vt:lpstr>
      <vt:lpstr>Формат заголовка</vt:lpstr>
      <vt:lpstr>Адреса IPv6 </vt:lpstr>
      <vt:lpstr>Адреса IPv6</vt:lpstr>
      <vt:lpstr>Адреса IPv6</vt:lpstr>
      <vt:lpstr>Типы адресов</vt:lpstr>
      <vt:lpstr>Типы адресов (исключения)</vt:lpstr>
      <vt:lpstr>Логические части адреса IPv6</vt:lpstr>
      <vt:lpstr>Префиксы адреса</vt:lpstr>
      <vt:lpstr>Виды адресов</vt:lpstr>
      <vt:lpstr>Виды адресов</vt:lpstr>
      <vt:lpstr>Виды адресов</vt:lpstr>
      <vt:lpstr>Структура адреса</vt:lpstr>
      <vt:lpstr>Примеры структуры адреса</vt:lpstr>
      <vt:lpstr>Презентация PowerPoint</vt:lpstr>
      <vt:lpstr>Структура адреса</vt:lpstr>
      <vt:lpstr>Структура адреса</vt:lpstr>
      <vt:lpstr>IPv4 embedded</vt:lpstr>
      <vt:lpstr>Особые адреса</vt:lpstr>
      <vt:lpstr>Статистика IPv6 от Google</vt:lpstr>
      <vt:lpstr>Конфигурирование узла IPv6</vt:lpstr>
      <vt:lpstr>Фрагментация в IPv6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WiFi</dc:title>
  <dc:creator>Artem Beresnev</dc:creator>
  <cp:lastModifiedBy>Береснев Артем Дмитриевич</cp:lastModifiedBy>
  <cp:revision>38</cp:revision>
  <dcterms:created xsi:type="dcterms:W3CDTF">2020-10-01T19:26:16Z</dcterms:created>
  <dcterms:modified xsi:type="dcterms:W3CDTF">2021-03-14T12:33:11Z</dcterms:modified>
</cp:coreProperties>
</file>