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54" autoAdjust="0"/>
  </p:normalViewPr>
  <p:slideViewPr>
    <p:cSldViewPr>
      <p:cViewPr varScale="1">
        <p:scale>
          <a:sx n="100" d="100"/>
          <a:sy n="100" d="100"/>
        </p:scale>
        <p:origin x="-2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0D213-10F7-4EB9-9061-0D6DDB15448B}" type="datetimeFigureOut">
              <a:rPr lang="ru-RU" smtClean="0"/>
              <a:pPr/>
              <a:t>06.04.2018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EB583-3264-434E-9FFA-4E2404BE5BD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714348" y="642918"/>
            <a:ext cx="7858180" cy="553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40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IP-адреса  </a:t>
            </a:r>
            <a:r>
              <a:rPr kumimoji="0" lang="ru-RU" sz="44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IPv6</a:t>
            </a:r>
            <a:r>
              <a:rPr kumimoji="0" lang="ru-RU" sz="44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IP-адрес в шестой версии имеет более сложную иерархическую структуру, нежели IPv4. 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Благодаря размеру адреса в 128 бит, 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для использования доступны 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400" b="1" dirty="0" smtClean="0"/>
              <a:t>3.4*10</a:t>
            </a:r>
            <a:r>
              <a:rPr lang="ru-RU" sz="2400" b="1" baseline="30000" dirty="0" smtClean="0"/>
              <a:t>38 </a:t>
            </a:r>
            <a:r>
              <a:rPr lang="ru-RU" sz="2400" b="1" baseline="30000" dirty="0" smtClean="0"/>
              <a:t> </a:t>
            </a:r>
            <a:r>
              <a:rPr lang="ru-RU" sz="24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340.282.366.920.938.463.463.374.607.431.768.211.456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адресов. 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lum bright="-10000"/>
          </a:blip>
          <a:srcRect/>
          <a:stretch>
            <a:fillRect/>
          </a:stretch>
        </p:blipFill>
        <p:spPr bwMode="auto">
          <a:xfrm>
            <a:off x="642910" y="4000504"/>
            <a:ext cx="788293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857224" y="2714620"/>
            <a:ext cx="7929618" cy="96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u="sng" dirty="0" smtClean="0">
                <a:latin typeface="Times New Roman" pitchFamily="18" charset="0"/>
                <a:cs typeface="Times New Roman" pitchFamily="18" charset="0"/>
              </a:rPr>
              <a:t>IPv6-адрес состоит из двух логических частей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– </a:t>
            </a:r>
          </a:p>
          <a:p>
            <a:pPr algn="ctr">
              <a:lnSpc>
                <a:spcPct val="150000"/>
              </a:lnSpc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префикса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Prefix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идентификатора интерфейса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ID).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00100" y="785794"/>
            <a:ext cx="757242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u="sng" dirty="0" smtClean="0">
                <a:latin typeface="Times New Roman" pitchFamily="18" charset="0"/>
                <a:cs typeface="Times New Roman" pitchFamily="18" charset="0"/>
              </a:rPr>
              <a:t>Адрес IPv6 имеет длину 128 бит и записывается как восемь групп по четыре шестнадцатеричные цифры, разделенные двоеточием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Например, 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2001:0DB8:AC10:FE01:0018:8BFF:FED8:E3E0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214546" y="4357694"/>
            <a:ext cx="5000660" cy="214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2001:0DB8:AC10:FE01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:  018:8BFF:FED8:E3E0</a:t>
            </a:r>
            <a:endParaRPr lang="ru-RU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000100" y="500042"/>
            <a:ext cx="7572428" cy="524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На текущий момент определены </a:t>
            </a:r>
          </a:p>
          <a:p>
            <a:pPr marL="0" marR="0" lvl="0" indent="0" algn="ctr" defTabSz="914400" rtl="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 формата IPv6-адресов: 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1) </a:t>
            </a:r>
            <a:r>
              <a:rPr kumimoji="0" lang="ru-RU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Стандартный формат IPv6-адреса;</a:t>
            </a:r>
          </a:p>
          <a:p>
            <a:pPr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2) Сжатый формат IPv6-адреса; </a:t>
            </a:r>
            <a:endParaRPr kumimoji="0" lang="ru-RU" sz="20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3) Альтернативный (переходный) формат.</a:t>
            </a:r>
            <a:endParaRPr lang="ru-RU" sz="2000" b="1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Стандартный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основной формат IPv6-адреса.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Состоит из 8-ми блоков (групп)  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X:X:X:X:X:X:X:X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</a:t>
            </a:r>
          </a:p>
          <a:p>
            <a:pPr marL="457200" marR="0" lvl="0" indent="-45720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где каждое число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X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— это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шестнадцатеричное 16-битное число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которое состоит из 4 символов в шестнадцатеричной системе. </a:t>
            </a:r>
          </a:p>
          <a:p>
            <a:pPr marL="457200" lvl="0" indent="-45720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Пример стандартного IPv6-адреса: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457200" lvl="0" indent="-45720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fe80:0:0:0:200:f8ff:fe21:67cf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928662" y="714356"/>
            <a:ext cx="7429552" cy="5405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2)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Сжатый формат IPv6-адреса.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Если в адресе есть несколько групп, содержащие в себе только нулевые биты, то для удобства принят специальный тип сокращения вот такого вида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«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::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»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Выглядит это так: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был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EF98:3:0:0:0:0:2F3B:7654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стал 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EF98:3::2F3B:7654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или был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FF01:0:0:0:0:0:0:1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стал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FF01::1 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При этом существует ограничение: через два двоеточия можно заменять только одну группу байт.  </a:t>
            </a:r>
            <a:r>
              <a:rPr kumimoji="0" lang="ru-RU" sz="2000" b="1" i="0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Для наглядного примера пусть будет вот такой адрес: 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1:0:0:0:1:0:0:1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Вот так можно: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1::1:0:0:1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И так можно: 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1:0:0:0:1::1   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 вот так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нельзя: 1::1::1 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857224" y="500042"/>
            <a:ext cx="7572428" cy="572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3)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Альтернативный (переходный) формат.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Так как полный переход с IPv4 на IPv6 займет весьма длительное время, то для удобства миграции </a:t>
            </a:r>
            <a:r>
              <a:rPr kumimoji="0" lang="ru-RU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существует 2 варианта переходных адресов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совместимые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и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отображенные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Совместимые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адреса предусмотрены для узлов сети, которые осуществляют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туннелирование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трафика из IPv6 в IPv4.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Они будут широко применяться по началу на стыках сетей.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Совместимые адреса имеют префикс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::/96 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  выглядят  так: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0:0:0:0:0:0:144.12.10.31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или сжато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::144.12.10.31 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То есть из 128 бит адреса - 96 бит (6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групп)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нулей плюс 32 бита - IPv4-адрес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857224" y="1214422"/>
            <a:ext cx="771530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Второй тип придуман специально для хостов,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которые IPv6 не поддерживают.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Называются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они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«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отображенные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»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r>
              <a:rPr kumimoji="0" lang="ru-RU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Префикс отображенного IPv6-адреса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::ffff:0:0/96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 выглядит вот так: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0:0:0:0:0:ffff:88.147.129.15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или сжато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::ffff:88.147.129.15.  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Здесь из 128 бит адреса первые 80 бит  занимают нули, затем 16 единичных бит, а затем 32 бита занимает IPv4-адрес.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642910" y="357166"/>
            <a:ext cx="8143932" cy="5558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Состав IP-адреса в IPv6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IPv6 IP-адрес можно разделить на три составные части:</a:t>
            </a:r>
            <a:endParaRPr kumimoji="0" lang="ru-RU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глобальный префикс,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 —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идентификатор подсети,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 —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идентификатор интерфейса.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Рассмотрим для примера адрес: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21DA:7654:DE12:2F3B:02AA:EF98:FE28:9C5A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нем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первые три поля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адресе протокола IPv6 указывают на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префикс сайта </a:t>
            </a:r>
            <a:r>
              <a:rPr kumimoji="0" lang="ru-RU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21DA:7654:DE12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Глобальный префикс указывает в сети какого провайдера находится данный адрес.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Четвертое поле </a:t>
            </a:r>
            <a:r>
              <a:rPr kumimoji="0" lang="ru-RU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2F3B </a:t>
            </a:r>
            <a:r>
              <a:rPr kumimoji="0" lang="ru-RU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идентификатор подсети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Оставшиеся 4 поля </a:t>
            </a:r>
            <a:r>
              <a:rPr kumimoji="0" lang="ru-RU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02AA:EF98:FE28:9C5A </a:t>
            </a:r>
            <a:r>
              <a:rPr kumimoji="0" lang="ru-RU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идентификатор интерфейса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—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аналогичен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Host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ID в IPv4 и определяет уникальный адрес хоста вашей сети.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714348" y="428604"/>
            <a:ext cx="7786742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Как работает IPv6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 умолчанию </a:t>
            </a:r>
            <a:r>
              <a:rPr lang="ru-RU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присваивается сетевой </a:t>
            </a:r>
            <a:r>
              <a:rPr lang="ru-RU" sz="2000" b="1" dirty="0" err="1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link-local</a:t>
            </a:r>
            <a:r>
              <a:rPr lang="ru-RU" sz="20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адрес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fe80::/10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), а затем хост, используя этот адрес, отправляет в сеть групповой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ICMPv6-запрос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—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Router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Solicitation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— для поиска роутера. Если роутер в сети есть, то он ответит хосту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ICMPv6-сообщением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—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Router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Advertisement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В ответе помимо IPv6-префикса сети могут так же присутствовать адрес шлюза, адреса DNS-серверов и др. Затем, если на роутере запущен DHCPv6-сервер, то далее все пройдет как в случае обычного DHCP-сервера — интерфейсу присвоится адрес, маска, шлюз и DNS-серверы. Если DHCP-сервера нет, то узел сам себе присвоит адрес с использованием этого префикса и своего физического MAC-адреса.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57290" y="785794"/>
            <a:ext cx="7043758" cy="1143000"/>
          </a:xfrm>
        </p:spPr>
        <p:txBody>
          <a:bodyPr>
            <a:normAutofit fontScale="90000"/>
          </a:bodyPr>
          <a:lstStyle/>
          <a:p>
            <a:r>
              <a:rPr lang="ru-RU" sz="3100" b="1" dirty="0" smtClean="0"/>
              <a:t>Типы</a:t>
            </a:r>
            <a:r>
              <a:rPr lang="ru-RU" sz="3100" b="1" dirty="0" smtClean="0"/>
              <a:t> </a:t>
            </a:r>
            <a:r>
              <a:rPr lang="en-US" sz="3100" b="1" dirty="0" err="1" smtClean="0"/>
              <a:t>IPv</a:t>
            </a:r>
            <a:r>
              <a:rPr lang="ru-RU" sz="3100" b="1" dirty="0" smtClean="0"/>
              <a:t>6-адресов:</a:t>
            </a: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b="1" dirty="0" smtClean="0"/>
              <a:t>о</a:t>
            </a:r>
            <a:r>
              <a:rPr lang="ru-RU" sz="3100" b="1" dirty="0" smtClean="0"/>
              <a:t>дноадресные</a:t>
            </a:r>
            <a:r>
              <a:rPr lang="ru-RU" sz="3100" b="1" dirty="0" smtClean="0"/>
              <a:t>, групповые и </a:t>
            </a:r>
            <a:r>
              <a:rPr lang="ru-RU" sz="3100" b="1" dirty="0" smtClean="0"/>
              <a:t>многоадресные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14414" y="2136339"/>
            <a:ext cx="70723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Одноадресные </a:t>
            </a:r>
            <a:r>
              <a:rPr lang="ru-RU" sz="2400" dirty="0" smtClean="0"/>
              <a:t>(индивидуальные) типы адресов позволяют пересылать сообщения в одну точку в отличие от широковещания (транслируемого на все точки локальной сети).</a:t>
            </a:r>
          </a:p>
          <a:p>
            <a:pPr algn="ctr"/>
            <a:r>
              <a:rPr lang="ru-RU" sz="2400" dirty="0" smtClean="0"/>
              <a:t> </a:t>
            </a:r>
            <a:r>
              <a:rPr lang="ru-RU" sz="2400" b="1" dirty="0" smtClean="0"/>
              <a:t>Многоадресные</a:t>
            </a:r>
            <a:r>
              <a:rPr lang="ru-RU" sz="2400" dirty="0" smtClean="0"/>
              <a:t> типы позволяют транслировать сообщения во множество точек, а </a:t>
            </a:r>
            <a:r>
              <a:rPr lang="ru-RU" sz="2400" b="1" dirty="0" smtClean="0"/>
              <a:t>групповые типы </a:t>
            </a:r>
            <a:r>
              <a:rPr lang="ru-RU" sz="2400" dirty="0" smtClean="0"/>
              <a:t>— пересылать сообщения на любой отдельный компьютер или группу компьютеров. </a:t>
            </a:r>
            <a:endParaRPr lang="ru-RU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785786" y="1071546"/>
            <a:ext cx="7786742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IPv6-адреса одноадресных типов разделены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на две части: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64-битовый компонент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сети (подсети)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и 64-битовый компонент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узла (интерфейса).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Компонент сети идентифицирует  уникальную подсеть, эти числа </a:t>
            </a:r>
            <a:r>
              <a:rPr lang="ru-RU" sz="2400" dirty="0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выделяются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поставщикам или крупным компаниям.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Компонент узла, как правило, основан на уникальном 48-битовом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МАС-адресе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(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Media Access Control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) сетевого адаптера или  генерируется случайным образом.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928662" y="1285860"/>
            <a:ext cx="7500958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Для одноадресных типов 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IPv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6 не поддерживает идентификаторы подсетей переменной длины, а число битов, используемых для идентификации сети одноадресного типа 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IPv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6-адреса, всегда равно 64 (первая половина адреса). 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Поэтому для представления одноадресных типов 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IPv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6 нет необходимости указывать маску подсети.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Calibr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IPv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6-адреса используют сетевые префиксы, выражаемые в представлении с косой чертой</a:t>
            </a:r>
            <a:r>
              <a:rPr kumimoji="0" lang="ru-RU" sz="24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для описания маршрутов и диапазонов адресов, а не для указания 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ID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 сети. 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928662" y="571480"/>
            <a:ext cx="7643866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Виды IPv6-адресов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Версия IPv6 описывает три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вида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адресов: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глобальные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адреса,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канальные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и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уникальные локальные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адреса.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Глобальные адреса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Глобальные 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IPv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6-адреса (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GA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) аналогичны публичным адресам в сетях 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IPv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4 и являются глобально достижимыми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для области 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IPv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6 Интернета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 Для  глобальных адресов в настоящее время используется префикс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2000::/3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который преобразуется в стандартное шестнадцатеричное значение первого блока между 2000 и 3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FFF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как, например,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2001: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db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8:21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da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:7:713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e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: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426: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dl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67:37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ab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85786" y="857232"/>
            <a:ext cx="7715304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Канальные адреса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Канальные адреса (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Link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-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Local Address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LLA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) аналогичны автоматически назначаемым частным адресам 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APIPA</a:t>
            </a:r>
            <a:r>
              <a:rPr kumimoji="0" lang="ru-RU" sz="2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 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(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Automatic Private IP Addressing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) в 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IPv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4 (например, 169.254.0.0/16). Они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конфигурируются самостоятельно и могут использоваться лишь для коммуникаций в локальной подсети.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Но, в отличие от адреса APIPA, канальный адрес LLA назначается интерфейсу как вспомогательный даже после получения маршрутизируемого адреса для этого интерфейса.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Канальный адрес LLA всегда начинается с fe80.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Пример канального  адреса: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fe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80::154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:3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cd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7: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b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33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b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:1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bc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1%13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857224" y="714356"/>
            <a:ext cx="742952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Идентификаторы зон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в конце локальных адресов канала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Поскольку все канальные адреса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LLA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 совместно используют один сетевой идентификатор 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80::), вы не сможете определить интерфейс, к которому привязан адрес, просто взглянув на него. Поэтому если на компьютере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Windows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 к различным сегментам сети подключено много сетевых адаптеров, эти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сети распознаются по числовому значению 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ID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 зоны после знака  процентов в 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IP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-адресе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как показано в примерах: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* fe80::d84b:8939:7684:a5a4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%7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*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 fe80::462:7ed4:795b:lc9f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%8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*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80::2882:29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5: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7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4: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b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481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%9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1071538" y="1142984"/>
            <a:ext cx="7358082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Уникальные локальные адреса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Уникальные локальные адреса (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Unique Local Address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ULA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) в IPv6 аналогичны частным адресам в IPv4 (10.0.0.0/8, 172.16.0.0/12 и 192.168.0.0/16). </a:t>
            </a:r>
            <a:r>
              <a:rPr kumimoji="0" lang="ru-RU" sz="24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Эти адреса маршрутизируются между подсетями в частной сети и не маршрутизируются в общественном Интернете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 Они позволяют создавать комплексные внутренние сети без выделения пространства публичных адресов. Такие адреса начинаются с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fd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как, например, локальный уникальный адрес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fd65:9abf:efb0:0001::0002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673</Words>
  <Application>Microsoft Office PowerPoint</Application>
  <PresentationFormat>Экран (4:3)</PresentationFormat>
  <Paragraphs>88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Типы IPv6-адресов: одноадресные, групповые и многоадресные</vt:lpstr>
      <vt:lpstr>Слайд 10</vt:lpstr>
      <vt:lpstr>Слайд 11</vt:lpstr>
      <vt:lpstr>Слайд 12</vt:lpstr>
      <vt:lpstr>Слайд 13</vt:lpstr>
      <vt:lpstr>Слайд 14</vt:lpstr>
      <vt:lpstr>Слайд 15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Admin</dc:creator>
  <cp:lastModifiedBy>Admin</cp:lastModifiedBy>
  <cp:revision>25</cp:revision>
  <dcterms:created xsi:type="dcterms:W3CDTF">2017-02-28T18:42:55Z</dcterms:created>
  <dcterms:modified xsi:type="dcterms:W3CDTF">2018-04-06T15:55:27Z</dcterms:modified>
</cp:coreProperties>
</file>