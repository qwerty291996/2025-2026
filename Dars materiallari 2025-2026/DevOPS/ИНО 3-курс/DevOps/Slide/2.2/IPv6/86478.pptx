
<file path=[Content_Types].xml><?xml version="1.0" encoding="utf-8"?>
<Types xmlns="http://schemas.openxmlformats.org/package/2006/content-types">
  <Default Extension="png" ContentType="image/png"/>
  <Default Extension="emf" ContentType="image/x-emf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257" r:id="rId2"/>
    <p:sldId id="264" r:id="rId3"/>
    <p:sldId id="345" r:id="rId4"/>
    <p:sldId id="346" r:id="rId5"/>
    <p:sldId id="348" r:id="rId6"/>
    <p:sldId id="349" r:id="rId7"/>
    <p:sldId id="350" r:id="rId8"/>
    <p:sldId id="351" r:id="rId9"/>
    <p:sldId id="352" r:id="rId10"/>
    <p:sldId id="353" r:id="rId11"/>
    <p:sldId id="354" r:id="rId12"/>
    <p:sldId id="355" r:id="rId13"/>
    <p:sldId id="356" r:id="rId14"/>
    <p:sldId id="357" r:id="rId15"/>
    <p:sldId id="358" r:id="rId16"/>
    <p:sldId id="359" r:id="rId17"/>
    <p:sldId id="360" r:id="rId18"/>
    <p:sldId id="361" r:id="rId19"/>
    <p:sldId id="362" r:id="rId20"/>
    <p:sldId id="363" r:id="rId21"/>
    <p:sldId id="379" r:id="rId22"/>
    <p:sldId id="364" r:id="rId23"/>
    <p:sldId id="365" r:id="rId24"/>
    <p:sldId id="366" r:id="rId25"/>
    <p:sldId id="367" r:id="rId26"/>
    <p:sldId id="368" r:id="rId27"/>
    <p:sldId id="369" r:id="rId28"/>
    <p:sldId id="370" r:id="rId29"/>
    <p:sldId id="371" r:id="rId30"/>
    <p:sldId id="372" r:id="rId31"/>
    <p:sldId id="373" r:id="rId32"/>
    <p:sldId id="374" r:id="rId33"/>
    <p:sldId id="375" r:id="rId34"/>
    <p:sldId id="376" r:id="rId35"/>
    <p:sldId id="377" r:id="rId36"/>
    <p:sldId id="378" r:id="rId37"/>
    <p:sldId id="347" r:id="rId38"/>
    <p:sldId id="287" r:id="rId39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86E9"/>
    <a:srgbClr val="F98BE4"/>
    <a:srgbClr val="00B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362" y="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CF2FAFA6-C090-44F4-A93C-4E09D3A480CF}" type="datetimeFigureOut">
              <a:rPr lang="ru-RU"/>
              <a:pPr>
                <a:defRPr/>
              </a:pPr>
              <a:t>27.10.2015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 smtClean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noProof="0" smtClean="0"/>
              <a:t>Образец текста</a:t>
            </a:r>
          </a:p>
          <a:p>
            <a:pPr lvl="1"/>
            <a:r>
              <a:rPr lang="ru-RU" noProof="0" smtClean="0"/>
              <a:t>Второй уровень</a:t>
            </a:r>
          </a:p>
          <a:p>
            <a:pPr lvl="2"/>
            <a:r>
              <a:rPr lang="ru-RU" noProof="0" smtClean="0"/>
              <a:t>Третий уровень</a:t>
            </a:r>
          </a:p>
          <a:p>
            <a:pPr lvl="3"/>
            <a:r>
              <a:rPr lang="ru-RU" noProof="0" smtClean="0"/>
              <a:t>Четвертый уровень</a:t>
            </a:r>
          </a:p>
          <a:p>
            <a:pPr lvl="4"/>
            <a:r>
              <a:rPr lang="ru-RU" noProof="0" smtClean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186F15EB-A7CF-4AC1-928C-595BA2D37339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226713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7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892FBAB-B9D8-4854-8A2F-772918B587E0}" type="slidenum">
              <a:rPr lang="ru-RU" altLang="ru-RU"/>
              <a:pPr eaLnBrk="1" hangingPunct="1"/>
              <a:t>1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8873588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316A67F-1E80-4EA0-A3BE-929A91DB12EE}" type="slidenum">
              <a:rPr lang="ru-RU" altLang="ru-RU"/>
              <a:pPr eaLnBrk="1" hangingPunct="1"/>
              <a:t>2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9913355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316A67F-1E80-4EA0-A3BE-929A91DB12EE}" type="slidenum">
              <a:rPr lang="ru-RU" altLang="ru-RU"/>
              <a:pPr eaLnBrk="1" hangingPunct="1"/>
              <a:t>3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5596405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316A67F-1E80-4EA0-A3BE-929A91DB12EE}" type="slidenum">
              <a:rPr lang="ru-RU" altLang="ru-RU"/>
              <a:pPr eaLnBrk="1" hangingPunct="1"/>
              <a:t>4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3273072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316A67F-1E80-4EA0-A3BE-929A91DB12EE}" type="slidenum">
              <a:rPr lang="ru-RU" altLang="ru-RU"/>
              <a:pPr eaLnBrk="1" hangingPunct="1"/>
              <a:t>5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40665142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316A67F-1E80-4EA0-A3BE-929A91DB12EE}" type="slidenum">
              <a:rPr lang="ru-RU" altLang="ru-RU"/>
              <a:pPr eaLnBrk="1" hangingPunct="1"/>
              <a:t>6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6560303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316A67F-1E80-4EA0-A3BE-929A91DB12EE}" type="slidenum">
              <a:rPr lang="ru-RU" altLang="ru-RU"/>
              <a:pPr eaLnBrk="1" hangingPunct="1"/>
              <a:t>7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0934451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316A67F-1E80-4EA0-A3BE-929A91DB12EE}" type="slidenum">
              <a:rPr lang="ru-RU" altLang="ru-RU"/>
              <a:pPr eaLnBrk="1" hangingPunct="1"/>
              <a:t>8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9898590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316A67F-1E80-4EA0-A3BE-929A91DB12EE}" type="slidenum">
              <a:rPr lang="ru-RU" altLang="ru-RU"/>
              <a:pPr eaLnBrk="1" hangingPunct="1"/>
              <a:t>9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6510828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316A67F-1E80-4EA0-A3BE-929A91DB12EE}" type="slidenum">
              <a:rPr lang="ru-RU" altLang="ru-RU"/>
              <a:pPr eaLnBrk="1" hangingPunct="1"/>
              <a:t>10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7090473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316A67F-1E80-4EA0-A3BE-929A91DB12EE}" type="slidenum">
              <a:rPr lang="ru-RU" altLang="ru-RU"/>
              <a:pPr eaLnBrk="1" hangingPunct="1"/>
              <a:t>11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41288149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316A67F-1E80-4EA0-A3BE-929A91DB12EE}" type="slidenum">
              <a:rPr lang="ru-RU" altLang="ru-RU"/>
              <a:pPr eaLnBrk="1" hangingPunct="1"/>
              <a:t>12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4073268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316A67F-1E80-4EA0-A3BE-929A91DB12EE}" type="slidenum">
              <a:rPr lang="ru-RU" altLang="ru-RU"/>
              <a:pPr eaLnBrk="1" hangingPunct="1"/>
              <a:t>13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0339226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316A67F-1E80-4EA0-A3BE-929A91DB12EE}" type="slidenum">
              <a:rPr lang="ru-RU" altLang="ru-RU"/>
              <a:pPr eaLnBrk="1" hangingPunct="1"/>
              <a:t>14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7918634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316A67F-1E80-4EA0-A3BE-929A91DB12EE}" type="slidenum">
              <a:rPr lang="ru-RU" altLang="ru-RU"/>
              <a:pPr eaLnBrk="1" hangingPunct="1"/>
              <a:t>15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2900152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316A67F-1E80-4EA0-A3BE-929A91DB12EE}" type="slidenum">
              <a:rPr lang="ru-RU" altLang="ru-RU"/>
              <a:pPr eaLnBrk="1" hangingPunct="1"/>
              <a:t>16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40507466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316A67F-1E80-4EA0-A3BE-929A91DB12EE}" type="slidenum">
              <a:rPr lang="ru-RU" altLang="ru-RU"/>
              <a:pPr eaLnBrk="1" hangingPunct="1"/>
              <a:t>17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5744964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316A67F-1E80-4EA0-A3BE-929A91DB12EE}" type="slidenum">
              <a:rPr lang="ru-RU" altLang="ru-RU"/>
              <a:pPr eaLnBrk="1" hangingPunct="1"/>
              <a:t>18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19384368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316A67F-1E80-4EA0-A3BE-929A91DB12EE}" type="slidenum">
              <a:rPr lang="ru-RU" altLang="ru-RU"/>
              <a:pPr eaLnBrk="1" hangingPunct="1"/>
              <a:t>19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5744403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316A67F-1E80-4EA0-A3BE-929A91DB12EE}" type="slidenum">
              <a:rPr lang="ru-RU" altLang="ru-RU"/>
              <a:pPr eaLnBrk="1" hangingPunct="1"/>
              <a:t>20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36658098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316A67F-1E80-4EA0-A3BE-929A91DB12EE}" type="slidenum">
              <a:rPr lang="ru-RU" altLang="ru-RU"/>
              <a:pPr eaLnBrk="1" hangingPunct="1"/>
              <a:t>21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27148486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316A67F-1E80-4EA0-A3BE-929A91DB12EE}" type="slidenum">
              <a:rPr lang="ru-RU" altLang="ru-RU"/>
              <a:pPr eaLnBrk="1" hangingPunct="1"/>
              <a:t>22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56400187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316A67F-1E80-4EA0-A3BE-929A91DB12EE}" type="slidenum">
              <a:rPr lang="ru-RU" altLang="ru-RU"/>
              <a:pPr eaLnBrk="1" hangingPunct="1"/>
              <a:t>23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59676343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316A67F-1E80-4EA0-A3BE-929A91DB12EE}" type="slidenum">
              <a:rPr lang="ru-RU" altLang="ru-RU"/>
              <a:pPr eaLnBrk="1" hangingPunct="1"/>
              <a:t>24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54078024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316A67F-1E80-4EA0-A3BE-929A91DB12EE}" type="slidenum">
              <a:rPr lang="ru-RU" altLang="ru-RU"/>
              <a:pPr eaLnBrk="1" hangingPunct="1"/>
              <a:t>25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68342628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316A67F-1E80-4EA0-A3BE-929A91DB12EE}" type="slidenum">
              <a:rPr lang="ru-RU" altLang="ru-RU"/>
              <a:pPr eaLnBrk="1" hangingPunct="1"/>
              <a:t>26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7396325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316A67F-1E80-4EA0-A3BE-929A91DB12EE}" type="slidenum">
              <a:rPr lang="ru-RU" altLang="ru-RU"/>
              <a:pPr eaLnBrk="1" hangingPunct="1"/>
              <a:t>27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39864484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316A67F-1E80-4EA0-A3BE-929A91DB12EE}" type="slidenum">
              <a:rPr lang="ru-RU" altLang="ru-RU"/>
              <a:pPr eaLnBrk="1" hangingPunct="1"/>
              <a:t>28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37017423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316A67F-1E80-4EA0-A3BE-929A91DB12EE}" type="slidenum">
              <a:rPr lang="ru-RU" altLang="ru-RU"/>
              <a:pPr eaLnBrk="1" hangingPunct="1"/>
              <a:t>29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405318717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316A67F-1E80-4EA0-A3BE-929A91DB12EE}" type="slidenum">
              <a:rPr lang="ru-RU" altLang="ru-RU"/>
              <a:pPr eaLnBrk="1" hangingPunct="1"/>
              <a:t>30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415114739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316A67F-1E80-4EA0-A3BE-929A91DB12EE}" type="slidenum">
              <a:rPr lang="ru-RU" altLang="ru-RU"/>
              <a:pPr eaLnBrk="1" hangingPunct="1"/>
              <a:t>31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59714050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316A67F-1E80-4EA0-A3BE-929A91DB12EE}" type="slidenum">
              <a:rPr lang="ru-RU" altLang="ru-RU"/>
              <a:pPr eaLnBrk="1" hangingPunct="1"/>
              <a:t>32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72345452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316A67F-1E80-4EA0-A3BE-929A91DB12EE}" type="slidenum">
              <a:rPr lang="ru-RU" altLang="ru-RU"/>
              <a:pPr eaLnBrk="1" hangingPunct="1"/>
              <a:t>33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6921954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316A67F-1E80-4EA0-A3BE-929A91DB12EE}" type="slidenum">
              <a:rPr lang="ru-RU" altLang="ru-RU"/>
              <a:pPr eaLnBrk="1" hangingPunct="1"/>
              <a:t>34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21471836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316A67F-1E80-4EA0-A3BE-929A91DB12EE}" type="slidenum">
              <a:rPr lang="ru-RU" altLang="ru-RU"/>
              <a:pPr eaLnBrk="1" hangingPunct="1"/>
              <a:t>35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93989916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316A67F-1E80-4EA0-A3BE-929A91DB12EE}" type="slidenum">
              <a:rPr lang="ru-RU" altLang="ru-RU"/>
              <a:pPr eaLnBrk="1" hangingPunct="1"/>
              <a:t>36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50935208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316A67F-1E80-4EA0-A3BE-929A91DB12EE}" type="slidenum">
              <a:rPr lang="ru-RU" altLang="ru-RU"/>
              <a:pPr eaLnBrk="1" hangingPunct="1"/>
              <a:t>37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22725031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316A67F-1E80-4EA0-A3BE-929A91DB12EE}" type="slidenum">
              <a:rPr lang="ru-RU" altLang="ru-RU"/>
              <a:pPr eaLnBrk="1" hangingPunct="1"/>
              <a:t>38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6408658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761D85-41BD-427E-B72F-7AFCA0473749}" type="datetime1">
              <a:rPr lang="ru-RU" smtClean="0"/>
              <a:t>27.10.2015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C7CEF6-8A56-4D4D-990F-DAEE98DC2888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424813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8F228B-5F43-46F7-93D4-6834D8C966FD}" type="datetime1">
              <a:rPr lang="ru-RU" smtClean="0"/>
              <a:t>27.10.2015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E7F578D-60D0-4327-ABF5-53DA31E96E04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461024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EA37F7-9113-4519-9BB6-3D1B5D25D873}" type="datetime1">
              <a:rPr lang="ru-RU" smtClean="0"/>
              <a:t>27.10.2015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0C6588-844F-4AF8-8B9F-3C59CD409A78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7777075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0BB8BA-B48B-401A-9F9B-B5400F5545E0}" type="datetime1">
              <a:rPr lang="ru-RU" smtClean="0"/>
              <a:t>27.10.2015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F743D0-A9E8-4D6A-BE12-9DB26651E797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4956555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F6288D-0045-451A-A4E7-9358AD0542C5}" type="datetime1">
              <a:rPr lang="ru-RU" smtClean="0"/>
              <a:t>27.10.2015</a:t>
            </a:fld>
            <a:endParaRPr lang="ru-RU"/>
          </a:p>
        </p:txBody>
      </p:sp>
      <p:sp>
        <p:nvSpPr>
          <p:cNvPr id="8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9BE87A-00B7-473A-B208-174CC5B06EF6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65594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5C501F-0421-4D5B-8DDA-D7DBF98D5FA4}" type="datetime1">
              <a:rPr lang="ru-RU" smtClean="0"/>
              <a:t>27.10.2015</a:t>
            </a:fld>
            <a:endParaRPr lang="ru-RU"/>
          </a:p>
        </p:txBody>
      </p:sp>
      <p:sp>
        <p:nvSpPr>
          <p:cNvPr id="4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C56580-24D8-4B23-8D06-CC43B95D2844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227583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50E848-3F0F-4F21-ACEF-26F6C9F11FDE}" type="datetime1">
              <a:rPr lang="ru-RU" smtClean="0"/>
              <a:t>27.10.2015</a:t>
            </a:fld>
            <a:endParaRPr lang="ru-RU"/>
          </a:p>
        </p:txBody>
      </p:sp>
      <p:sp>
        <p:nvSpPr>
          <p:cNvPr id="3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572FCD-ECDD-4AD1-A933-149E1B2284F8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5297977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8C6382-2E64-4C33-8588-37CB11DDA252}" type="datetime1">
              <a:rPr lang="ru-RU" smtClean="0"/>
              <a:t>27.10.2015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BC3ABD-357B-4913-B509-20F5EE107CEB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898774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 smtClean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73BE32-8713-4076-B693-C8D6993DE8D8}" type="datetime1">
              <a:rPr lang="ru-RU" smtClean="0"/>
              <a:t>27.10.2015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BE6798-1F97-403D-B95D-E49787E1AA0D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499883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62575B-C3B0-4295-B5F3-C0A9FE9F8ABB}" type="datetime1">
              <a:rPr lang="ru-RU" smtClean="0"/>
              <a:t>27.10.2015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815366E-D786-499B-A6E7-ACAE019F9CA6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574775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D27A71-E7B6-40AD-982E-F560C02D3D17}" type="datetime1">
              <a:rPr lang="ru-RU" smtClean="0"/>
              <a:t>27.10.2015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CF0E4A-96F5-48EA-B865-DC59401FACDD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137594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Заголовок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 smtClean="0"/>
              <a:t>Образец заголовка</a:t>
            </a:r>
          </a:p>
        </p:txBody>
      </p:sp>
      <p:sp>
        <p:nvSpPr>
          <p:cNvPr id="1027" name="Текст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 smtClean="0"/>
              <a:t>Образец текста</a:t>
            </a:r>
          </a:p>
          <a:p>
            <a:pPr lvl="1"/>
            <a:r>
              <a:rPr lang="ru-RU" altLang="ru-RU" smtClean="0"/>
              <a:t>Второй уровень</a:t>
            </a:r>
          </a:p>
          <a:p>
            <a:pPr lvl="2"/>
            <a:r>
              <a:rPr lang="ru-RU" altLang="ru-RU" smtClean="0"/>
              <a:t>Третий уровень</a:t>
            </a:r>
          </a:p>
          <a:p>
            <a:pPr lvl="3"/>
            <a:r>
              <a:rPr lang="ru-RU" altLang="ru-RU" smtClean="0"/>
              <a:t>Четвертый уровень</a:t>
            </a:r>
          </a:p>
          <a:p>
            <a:pPr lvl="4"/>
            <a:r>
              <a:rPr lang="ru-RU" altLang="ru-RU" smtClean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59DBAC37-C861-4D72-B39D-9AA73215D14B}" type="datetime1">
              <a:rPr lang="ru-RU" smtClean="0"/>
              <a:t>27.10.2015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3DA8FF6D-FEC4-423E-ADFE-D60CB1A76699}" type="slidenum">
              <a:rPr lang="ru-RU" altLang="ru-RU"/>
              <a:pPr/>
              <a:t>‹#›</a:t>
            </a:fld>
            <a:endParaRPr lang="ru-RU" alt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290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51" name="TextBox 1"/>
          <p:cNvSpPr txBox="1">
            <a:spLocks noChangeArrowheads="1"/>
          </p:cNvSpPr>
          <p:nvPr/>
        </p:nvSpPr>
        <p:spPr bwMode="auto">
          <a:xfrm>
            <a:off x="0" y="2708275"/>
            <a:ext cx="9144000" cy="1692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 sz="3200" b="1" dirty="0" smtClean="0">
                <a:latin typeface="Verdana" panose="020B0604030504040204" pitchFamily="34" charset="0"/>
              </a:rPr>
              <a:t>Сети и системы телекоммуникаций</a:t>
            </a:r>
          </a:p>
          <a:p>
            <a:pPr algn="ctr" eaLnBrk="1" hangingPunct="1"/>
            <a:endParaRPr lang="ru-RU" altLang="ru-RU" sz="3200" b="1" dirty="0" smtClean="0">
              <a:latin typeface="Verdana" panose="020B0604030504040204" pitchFamily="34" charset="0"/>
            </a:endParaRPr>
          </a:p>
          <a:p>
            <a:pPr algn="ctr" eaLnBrk="1" hangingPunct="1"/>
            <a:r>
              <a:rPr lang="ru-RU" altLang="ru-RU" sz="4000" b="1" dirty="0" smtClean="0">
                <a:latin typeface="Verdana" panose="020B0604030504040204" pitchFamily="34" charset="0"/>
              </a:rPr>
              <a:t>Протокол </a:t>
            </a:r>
            <a:r>
              <a:rPr lang="en-US" altLang="ru-RU" sz="4000" b="1" dirty="0" smtClean="0">
                <a:latin typeface="Verdana" panose="020B0604030504040204" pitchFamily="34" charset="0"/>
              </a:rPr>
              <a:t>IPv6</a:t>
            </a:r>
            <a:endParaRPr lang="ru-RU" altLang="ru-RU" sz="4000" b="1" dirty="0">
              <a:latin typeface="Verdana" panose="020B0604030504040204" pitchFamily="34" charset="0"/>
            </a:endParaRPr>
          </a:p>
        </p:txBody>
      </p:sp>
      <p:sp>
        <p:nvSpPr>
          <p:cNvPr id="2052" name="TextBox 4"/>
          <p:cNvSpPr txBox="1">
            <a:spLocks noChangeArrowheads="1"/>
          </p:cNvSpPr>
          <p:nvPr/>
        </p:nvSpPr>
        <p:spPr bwMode="auto">
          <a:xfrm>
            <a:off x="2195513" y="6453336"/>
            <a:ext cx="482441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 dirty="0" smtClean="0">
                <a:latin typeface="Verdana" panose="020B0604030504040204" pitchFamily="34" charset="0"/>
              </a:rPr>
              <a:t>ИМКН </a:t>
            </a:r>
            <a:r>
              <a:rPr lang="ru-RU" altLang="ru-RU" dirty="0" err="1" smtClean="0">
                <a:latin typeface="Verdana" panose="020B0604030504040204" pitchFamily="34" charset="0"/>
              </a:rPr>
              <a:t>УрФУ</a:t>
            </a:r>
            <a:endParaRPr lang="ru-RU" altLang="ru-RU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TextBox 2"/>
          <p:cNvSpPr txBox="1">
            <a:spLocks noChangeArrowheads="1"/>
          </p:cNvSpPr>
          <p:nvPr/>
        </p:nvSpPr>
        <p:spPr bwMode="auto">
          <a:xfrm>
            <a:off x="2843213" y="158750"/>
            <a:ext cx="626586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000" dirty="0" smtClean="0">
                <a:latin typeface="Verdana" panose="020B0604030504040204" pitchFamily="34" charset="0"/>
              </a:rPr>
              <a:t>Сети и системы телекоммуникаций. Протокол </a:t>
            </a:r>
            <a:r>
              <a:rPr lang="en-US" altLang="ru-RU" sz="1000" dirty="0" smtClean="0">
                <a:latin typeface="Verdana" panose="020B0604030504040204" pitchFamily="34" charset="0"/>
              </a:rPr>
              <a:t>IPv6</a:t>
            </a:r>
            <a:r>
              <a:rPr lang="ru-RU" altLang="ru-RU" sz="1000" dirty="0">
                <a:latin typeface="Verdana" panose="020B0604030504040204" pitchFamily="34" charset="0"/>
              </a:rPr>
              <a:t>	</a:t>
            </a:r>
            <a:r>
              <a:rPr lang="ru-RU" altLang="ru-RU" sz="1000" b="1" dirty="0">
                <a:latin typeface="Verdana" panose="020B0604030504040204" pitchFamily="34" charset="0"/>
              </a:rPr>
              <a:t>	</a:t>
            </a:r>
          </a:p>
        </p:txBody>
      </p:sp>
      <p:sp>
        <p:nvSpPr>
          <p:cNvPr id="4100" name="TextBox 3"/>
          <p:cNvSpPr txBox="1">
            <a:spLocks noChangeArrowheads="1"/>
          </p:cNvSpPr>
          <p:nvPr/>
        </p:nvSpPr>
        <p:spPr bwMode="auto">
          <a:xfrm>
            <a:off x="539749" y="1714500"/>
            <a:ext cx="8208963" cy="2462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ts val="1200"/>
              </a:spcBef>
            </a:pPr>
            <a:r>
              <a:rPr lang="ru-RU" altLang="ru-RU" sz="2400" dirty="0">
                <a:latin typeface="Verdana" panose="020B0604030504040204" pitchFamily="34" charset="0"/>
              </a:rPr>
              <a:t>Место протокола IPv6 в модели OSI и TCP/IP</a:t>
            </a:r>
          </a:p>
          <a:p>
            <a:pPr algn="just" eaLnBrk="1" hangingPunct="1">
              <a:spcBef>
                <a:spcPts val="1200"/>
              </a:spcBef>
            </a:pPr>
            <a:r>
              <a:rPr lang="ru-RU" altLang="ru-RU" sz="2400" dirty="0">
                <a:latin typeface="Verdana" panose="020B0604030504040204" pitchFamily="34" charset="0"/>
              </a:rPr>
              <a:t>Цели создания IPv6</a:t>
            </a:r>
          </a:p>
          <a:p>
            <a:pPr algn="just" eaLnBrk="1" hangingPunct="1">
              <a:spcBef>
                <a:spcPts val="1200"/>
              </a:spcBef>
            </a:pPr>
            <a:r>
              <a:rPr lang="ru-RU" altLang="ru-RU" sz="2400" dirty="0">
                <a:latin typeface="Verdana" panose="020B0604030504040204" pitchFamily="34" charset="0"/>
              </a:rPr>
              <a:t>Формат заголовка IPv6</a:t>
            </a:r>
          </a:p>
          <a:p>
            <a:pPr algn="just" eaLnBrk="1" hangingPunct="1">
              <a:spcBef>
                <a:spcPts val="1200"/>
              </a:spcBef>
            </a:pPr>
            <a:r>
              <a:rPr lang="ru-RU" altLang="ru-RU" sz="2400" dirty="0">
                <a:latin typeface="Verdana" panose="020B0604030504040204" pitchFamily="34" charset="0"/>
              </a:rPr>
              <a:t>Адреса IPv6</a:t>
            </a:r>
          </a:p>
          <a:p>
            <a:pPr algn="just" eaLnBrk="1" hangingPunct="1">
              <a:spcBef>
                <a:spcPts val="1200"/>
              </a:spcBef>
            </a:pPr>
            <a:r>
              <a:rPr lang="ru-RU" altLang="ru-RU" sz="2400" dirty="0" smtClean="0">
                <a:latin typeface="Verdana" panose="020B0604030504040204" pitchFamily="34" charset="0"/>
              </a:rPr>
              <a:t>Внедрени</a:t>
            </a:r>
            <a:r>
              <a:rPr lang="ru-RU" altLang="ru-RU" sz="2400" dirty="0">
                <a:latin typeface="Verdana" panose="020B0604030504040204" pitchFamily="34" charset="0"/>
              </a:rPr>
              <a:t>е</a:t>
            </a:r>
            <a:r>
              <a:rPr lang="ru-RU" altLang="ru-RU" sz="2400" dirty="0" smtClean="0">
                <a:latin typeface="Verdana" panose="020B0604030504040204" pitchFamily="34" charset="0"/>
              </a:rPr>
              <a:t> </a:t>
            </a:r>
            <a:r>
              <a:rPr lang="ru-RU" altLang="ru-RU" sz="2400" dirty="0">
                <a:latin typeface="Verdana" panose="020B0604030504040204" pitchFamily="34" charset="0"/>
              </a:rPr>
              <a:t>IPv6</a:t>
            </a:r>
          </a:p>
        </p:txBody>
      </p:sp>
      <p:sp>
        <p:nvSpPr>
          <p:cNvPr id="4101" name="TextBox 3"/>
          <p:cNvSpPr txBox="1">
            <a:spLocks noChangeArrowheads="1"/>
          </p:cNvSpPr>
          <p:nvPr/>
        </p:nvSpPr>
        <p:spPr bwMode="auto">
          <a:xfrm>
            <a:off x="539750" y="937774"/>
            <a:ext cx="8208963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800" b="1" dirty="0" smtClean="0">
                <a:latin typeface="Verdana" panose="020B0604030504040204" pitchFamily="34" charset="0"/>
              </a:rPr>
              <a:t>План</a:t>
            </a:r>
            <a:endParaRPr lang="ru-RU" altLang="ru-RU" sz="2800" b="1" dirty="0">
              <a:latin typeface="Verdana" panose="020B0604030504040204" pitchFamily="34" charset="0"/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72FCD-ECDD-4AD1-A933-149E1B2284F8}" type="slidenum">
              <a:rPr lang="ru-RU" altLang="ru-RU" smtClean="0"/>
              <a:pPr/>
              <a:t>2</a:t>
            </a:fld>
            <a:endParaRPr lang="ru-RU" alt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TextBox 2"/>
          <p:cNvSpPr txBox="1">
            <a:spLocks noChangeArrowheads="1"/>
          </p:cNvSpPr>
          <p:nvPr/>
        </p:nvSpPr>
        <p:spPr bwMode="auto">
          <a:xfrm>
            <a:off x="2843213" y="158750"/>
            <a:ext cx="626586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000" dirty="0" smtClean="0">
                <a:latin typeface="Verdana" panose="020B0604030504040204" pitchFamily="34" charset="0"/>
              </a:rPr>
              <a:t>Сети и системы телекоммуникаций. </a:t>
            </a:r>
            <a:r>
              <a:rPr lang="ru-RU" altLang="ru-RU" sz="1000" dirty="0">
                <a:latin typeface="Verdana" panose="020B0604030504040204" pitchFamily="34" charset="0"/>
              </a:rPr>
              <a:t>Протокол </a:t>
            </a:r>
            <a:r>
              <a:rPr lang="en-US" altLang="ru-RU" sz="1000" dirty="0">
                <a:latin typeface="Verdana" panose="020B0604030504040204" pitchFamily="34" charset="0"/>
              </a:rPr>
              <a:t>IPv6</a:t>
            </a:r>
            <a:r>
              <a:rPr lang="ru-RU" altLang="ru-RU" sz="1000" dirty="0">
                <a:latin typeface="Verdana" panose="020B0604030504040204" pitchFamily="34" charset="0"/>
              </a:rPr>
              <a:t>	</a:t>
            </a:r>
            <a:endParaRPr lang="ru-RU" altLang="ru-RU" sz="1000" b="1" dirty="0">
              <a:latin typeface="Verdana" panose="020B0604030504040204" pitchFamily="34" charset="0"/>
            </a:endParaRPr>
          </a:p>
        </p:txBody>
      </p:sp>
      <p:sp>
        <p:nvSpPr>
          <p:cNvPr id="4101" name="TextBox 3"/>
          <p:cNvSpPr txBox="1">
            <a:spLocks noChangeArrowheads="1"/>
          </p:cNvSpPr>
          <p:nvPr/>
        </p:nvSpPr>
        <p:spPr bwMode="auto">
          <a:xfrm>
            <a:off x="539750" y="909638"/>
            <a:ext cx="8208963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800" b="1" dirty="0">
                <a:latin typeface="Verdana" panose="020B0604030504040204" pitchFamily="34" charset="0"/>
              </a:rPr>
              <a:t>Место в моделях OSI и TCP/IP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72FCD-ECDD-4AD1-A933-149E1B2284F8}" type="slidenum">
              <a:rPr lang="ru-RU" altLang="ru-RU" smtClean="0"/>
              <a:pPr/>
              <a:t>3</a:t>
            </a:fld>
            <a:endParaRPr lang="ru-RU" alt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1619672" y="2193925"/>
            <a:ext cx="2017713" cy="4429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ru-RU" altLang="ru-RU" smtClean="0">
                <a:latin typeface="Verdana" panose="020B0604030504040204" pitchFamily="34" charset="0"/>
              </a:rPr>
              <a:t>Прикладной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1619672" y="2636838"/>
            <a:ext cx="2017713" cy="4429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ru-RU" altLang="ru-RU" smtClean="0">
                <a:latin typeface="Verdana" panose="020B0604030504040204" pitchFamily="34" charset="0"/>
              </a:rPr>
              <a:t>Представления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1619672" y="3079750"/>
            <a:ext cx="2017713" cy="4206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ru-RU" altLang="ru-RU" smtClean="0">
                <a:latin typeface="Verdana" panose="020B0604030504040204" pitchFamily="34" charset="0"/>
              </a:rPr>
              <a:t>Сеансовый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1619672" y="3500438"/>
            <a:ext cx="2017713" cy="4429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ru-RU" altLang="ru-RU" smtClean="0">
                <a:latin typeface="Verdana" panose="020B0604030504040204" pitchFamily="34" charset="0"/>
              </a:rPr>
              <a:t>Транспортный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1619672" y="3943350"/>
            <a:ext cx="2017713" cy="433388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ru-RU" altLang="ru-RU" dirty="0" smtClean="0">
                <a:latin typeface="Verdana" panose="020B0604030504040204" pitchFamily="34" charset="0"/>
              </a:rPr>
              <a:t>Сетевой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1619672" y="4797425"/>
            <a:ext cx="2017713" cy="4429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ru-RU" altLang="ru-RU" smtClean="0">
                <a:latin typeface="Verdana" panose="020B0604030504040204" pitchFamily="34" charset="0"/>
              </a:rPr>
              <a:t>Физический</a:t>
            </a:r>
          </a:p>
        </p:txBody>
      </p:sp>
      <p:sp>
        <p:nvSpPr>
          <p:cNvPr id="13" name="Прямоугольник 12"/>
          <p:cNvSpPr/>
          <p:nvPr/>
        </p:nvSpPr>
        <p:spPr>
          <a:xfrm>
            <a:off x="5291162" y="2193925"/>
            <a:ext cx="2017713" cy="13065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ru-RU" altLang="ru-RU" smtClean="0">
                <a:latin typeface="Verdana" panose="020B0604030504040204" pitchFamily="34" charset="0"/>
              </a:rPr>
              <a:t>Прикладной</a:t>
            </a:r>
          </a:p>
        </p:txBody>
      </p:sp>
      <p:sp>
        <p:nvSpPr>
          <p:cNvPr id="14" name="Прямоугольник 13"/>
          <p:cNvSpPr/>
          <p:nvPr/>
        </p:nvSpPr>
        <p:spPr>
          <a:xfrm>
            <a:off x="5291162" y="3500438"/>
            <a:ext cx="2017713" cy="4429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ru-RU" altLang="ru-RU" smtClean="0">
                <a:latin typeface="Verdana" panose="020B0604030504040204" pitchFamily="34" charset="0"/>
              </a:rPr>
              <a:t>Транспортный</a:t>
            </a:r>
          </a:p>
        </p:txBody>
      </p:sp>
      <p:sp>
        <p:nvSpPr>
          <p:cNvPr id="15" name="Прямоугольник 14"/>
          <p:cNvSpPr/>
          <p:nvPr/>
        </p:nvSpPr>
        <p:spPr>
          <a:xfrm>
            <a:off x="5291138" y="3943350"/>
            <a:ext cx="2017737" cy="433388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ru-RU" altLang="ru-RU" dirty="0" smtClean="0">
                <a:latin typeface="Verdana" panose="020B0604030504040204" pitchFamily="34" charset="0"/>
              </a:rPr>
              <a:t>Интернет</a:t>
            </a:r>
          </a:p>
        </p:txBody>
      </p:sp>
      <p:sp>
        <p:nvSpPr>
          <p:cNvPr id="16" name="Прямоугольник 15"/>
          <p:cNvSpPr/>
          <p:nvPr/>
        </p:nvSpPr>
        <p:spPr>
          <a:xfrm>
            <a:off x="1621260" y="4376738"/>
            <a:ext cx="2016125" cy="4206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ru-RU" altLang="ru-RU" smtClean="0">
                <a:latin typeface="Verdana" panose="020B0604030504040204" pitchFamily="34" charset="0"/>
              </a:rPr>
              <a:t>Канальный</a:t>
            </a:r>
          </a:p>
        </p:txBody>
      </p:sp>
      <p:sp>
        <p:nvSpPr>
          <p:cNvPr id="17" name="Прямоугольник 16"/>
          <p:cNvSpPr/>
          <p:nvPr/>
        </p:nvSpPr>
        <p:spPr>
          <a:xfrm>
            <a:off x="5291162" y="4379913"/>
            <a:ext cx="2017713" cy="8604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ru-RU" altLang="ru-RU" smtClean="0">
                <a:latin typeface="Verdana" panose="020B0604030504040204" pitchFamily="34" charset="0"/>
              </a:rPr>
              <a:t>Сетевых интерфейсов</a:t>
            </a:r>
          </a:p>
        </p:txBody>
      </p:sp>
      <p:sp>
        <p:nvSpPr>
          <p:cNvPr id="18" name="Text Box 6"/>
          <p:cNvSpPr txBox="1">
            <a:spLocks noChangeArrowheads="1"/>
          </p:cNvSpPr>
          <p:nvPr/>
        </p:nvSpPr>
        <p:spPr bwMode="auto">
          <a:xfrm>
            <a:off x="1764135" y="1600200"/>
            <a:ext cx="1752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ru-RU" altLang="ru-RU" sz="1800">
                <a:latin typeface="Verdana" panose="020B0604030504040204" pitchFamily="34" charset="0"/>
              </a:rPr>
              <a:t>Модель </a:t>
            </a:r>
            <a:r>
              <a:rPr lang="en-US" altLang="ru-RU" sz="1800">
                <a:latin typeface="Verdana" panose="020B0604030504040204" pitchFamily="34" charset="0"/>
              </a:rPr>
              <a:t>OSI</a:t>
            </a:r>
            <a:endParaRPr lang="ru-RU" altLang="ru-RU" sz="1800">
              <a:latin typeface="Verdana" panose="020B0604030504040204" pitchFamily="34" charset="0"/>
            </a:endParaRPr>
          </a:p>
        </p:txBody>
      </p:sp>
      <p:sp>
        <p:nvSpPr>
          <p:cNvPr id="19" name="Text Box 7"/>
          <p:cNvSpPr txBox="1">
            <a:spLocks noChangeArrowheads="1"/>
          </p:cNvSpPr>
          <p:nvPr/>
        </p:nvSpPr>
        <p:spPr bwMode="auto">
          <a:xfrm>
            <a:off x="5322912" y="1600200"/>
            <a:ext cx="2057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ru-RU" altLang="ru-RU" sz="1800">
                <a:latin typeface="Verdana" panose="020B0604030504040204" pitchFamily="34" charset="0"/>
              </a:rPr>
              <a:t>Модель </a:t>
            </a:r>
            <a:r>
              <a:rPr lang="en-US" altLang="ru-RU" sz="1800">
                <a:latin typeface="Verdana" panose="020B0604030504040204" pitchFamily="34" charset="0"/>
              </a:rPr>
              <a:t>TCP/IP</a:t>
            </a:r>
            <a:endParaRPr lang="ru-RU" altLang="ru-RU" sz="1800"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0384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TextBox 2"/>
          <p:cNvSpPr txBox="1">
            <a:spLocks noChangeArrowheads="1"/>
          </p:cNvSpPr>
          <p:nvPr/>
        </p:nvSpPr>
        <p:spPr bwMode="auto">
          <a:xfrm>
            <a:off x="2843213" y="158750"/>
            <a:ext cx="626586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000" dirty="0" smtClean="0">
                <a:latin typeface="Verdana" panose="020B0604030504040204" pitchFamily="34" charset="0"/>
              </a:rPr>
              <a:t>Сети и системы телекоммуникаций. Протокол </a:t>
            </a:r>
            <a:r>
              <a:rPr lang="en-US" altLang="ru-RU" sz="1000" dirty="0" smtClean="0">
                <a:latin typeface="Verdana" panose="020B0604030504040204" pitchFamily="34" charset="0"/>
              </a:rPr>
              <a:t>IPv6</a:t>
            </a:r>
            <a:endParaRPr lang="ru-RU" altLang="ru-RU" sz="1000" b="1" dirty="0">
              <a:latin typeface="Verdana" panose="020B0604030504040204" pitchFamily="34" charset="0"/>
            </a:endParaRPr>
          </a:p>
        </p:txBody>
      </p:sp>
      <p:sp>
        <p:nvSpPr>
          <p:cNvPr id="4101" name="TextBox 3"/>
          <p:cNvSpPr txBox="1">
            <a:spLocks noChangeArrowheads="1"/>
          </p:cNvSpPr>
          <p:nvPr/>
        </p:nvSpPr>
        <p:spPr bwMode="auto">
          <a:xfrm>
            <a:off x="539750" y="909638"/>
            <a:ext cx="8208963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800" b="1" dirty="0">
                <a:latin typeface="Verdana" panose="020B0604030504040204" pitchFamily="34" charset="0"/>
              </a:rPr>
              <a:t>Сетевой уровень в </a:t>
            </a:r>
            <a:r>
              <a:rPr lang="en-US" altLang="ru-RU" sz="2800" b="1" dirty="0">
                <a:latin typeface="Verdana" panose="020B0604030504040204" pitchFamily="34" charset="0"/>
              </a:rPr>
              <a:t>TCP/IP</a:t>
            </a:r>
            <a:endParaRPr lang="ru-RU" altLang="ru-RU" sz="2800" b="1" dirty="0">
              <a:latin typeface="Verdana" panose="020B0604030504040204" pitchFamily="34" charset="0"/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72FCD-ECDD-4AD1-A933-149E1B2284F8}" type="slidenum">
              <a:rPr lang="ru-RU" altLang="ru-RU" smtClean="0"/>
              <a:pPr/>
              <a:t>4</a:t>
            </a:fld>
            <a:endParaRPr lang="ru-RU" altLang="ru-RU"/>
          </a:p>
        </p:txBody>
      </p:sp>
      <p:sp>
        <p:nvSpPr>
          <p:cNvPr id="44" name="Rectangle 3"/>
          <p:cNvSpPr>
            <a:spLocks noChangeArrowheads="1"/>
          </p:cNvSpPr>
          <p:nvPr/>
        </p:nvSpPr>
        <p:spPr bwMode="auto">
          <a:xfrm>
            <a:off x="2133600" y="2209800"/>
            <a:ext cx="5257800" cy="3429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/>
          </a:p>
        </p:txBody>
      </p:sp>
      <p:sp>
        <p:nvSpPr>
          <p:cNvPr id="45" name="Line 4"/>
          <p:cNvSpPr>
            <a:spLocks noChangeShapeType="1"/>
          </p:cNvSpPr>
          <p:nvPr/>
        </p:nvSpPr>
        <p:spPr bwMode="auto">
          <a:xfrm>
            <a:off x="2133600" y="3886200"/>
            <a:ext cx="525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6" name="Line 5"/>
          <p:cNvSpPr>
            <a:spLocks noChangeShapeType="1"/>
          </p:cNvSpPr>
          <p:nvPr/>
        </p:nvSpPr>
        <p:spPr bwMode="auto">
          <a:xfrm>
            <a:off x="2133600" y="4800600"/>
            <a:ext cx="525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7" name="Line 6"/>
          <p:cNvSpPr>
            <a:spLocks noChangeShapeType="1"/>
          </p:cNvSpPr>
          <p:nvPr/>
        </p:nvSpPr>
        <p:spPr bwMode="auto">
          <a:xfrm>
            <a:off x="2133600" y="3048000"/>
            <a:ext cx="525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8" name="Text Box 7"/>
          <p:cNvSpPr txBox="1">
            <a:spLocks noChangeArrowheads="1"/>
          </p:cNvSpPr>
          <p:nvPr/>
        </p:nvSpPr>
        <p:spPr bwMode="auto">
          <a:xfrm>
            <a:off x="379413" y="4953000"/>
            <a:ext cx="1601787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/>
              <a:t>Сетевых </a:t>
            </a:r>
            <a:br>
              <a:rPr lang="ru-RU"/>
            </a:br>
            <a:r>
              <a:rPr lang="ru-RU"/>
              <a:t>интерфейсов</a:t>
            </a:r>
          </a:p>
        </p:txBody>
      </p:sp>
      <p:sp>
        <p:nvSpPr>
          <p:cNvPr id="49" name="Text Box 8"/>
          <p:cNvSpPr txBox="1">
            <a:spLocks noChangeArrowheads="1"/>
          </p:cNvSpPr>
          <p:nvPr/>
        </p:nvSpPr>
        <p:spPr bwMode="auto">
          <a:xfrm>
            <a:off x="592138" y="4114800"/>
            <a:ext cx="108426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/>
              <a:t>Сетевой</a:t>
            </a:r>
          </a:p>
        </p:txBody>
      </p:sp>
      <p:sp>
        <p:nvSpPr>
          <p:cNvPr id="50" name="Text Box 9"/>
          <p:cNvSpPr txBox="1">
            <a:spLocks noChangeArrowheads="1"/>
          </p:cNvSpPr>
          <p:nvPr/>
        </p:nvSpPr>
        <p:spPr bwMode="auto">
          <a:xfrm>
            <a:off x="304800" y="3276600"/>
            <a:ext cx="1720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/>
              <a:t>Транспортный</a:t>
            </a:r>
          </a:p>
        </p:txBody>
      </p:sp>
      <p:sp>
        <p:nvSpPr>
          <p:cNvPr id="51" name="Text Box 10"/>
          <p:cNvSpPr txBox="1">
            <a:spLocks noChangeArrowheads="1"/>
          </p:cNvSpPr>
          <p:nvPr/>
        </p:nvSpPr>
        <p:spPr bwMode="auto">
          <a:xfrm>
            <a:off x="427038" y="2438400"/>
            <a:ext cx="147796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/>
              <a:t>Прикладной</a:t>
            </a:r>
          </a:p>
        </p:txBody>
      </p:sp>
      <p:sp>
        <p:nvSpPr>
          <p:cNvPr id="52" name="Rectangle 11"/>
          <p:cNvSpPr>
            <a:spLocks noChangeArrowheads="1"/>
          </p:cNvSpPr>
          <p:nvPr/>
        </p:nvSpPr>
        <p:spPr bwMode="auto">
          <a:xfrm>
            <a:off x="2362200" y="5029200"/>
            <a:ext cx="16764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/>
              <a:t>Ethernet</a:t>
            </a:r>
            <a:endParaRPr lang="ru-RU"/>
          </a:p>
        </p:txBody>
      </p:sp>
      <p:sp>
        <p:nvSpPr>
          <p:cNvPr id="53" name="Rectangle 12"/>
          <p:cNvSpPr>
            <a:spLocks noChangeArrowheads="1"/>
          </p:cNvSpPr>
          <p:nvPr/>
        </p:nvSpPr>
        <p:spPr bwMode="auto">
          <a:xfrm>
            <a:off x="4114800" y="5029200"/>
            <a:ext cx="16764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/>
              <a:t>WiFi</a:t>
            </a:r>
            <a:endParaRPr lang="ru-RU"/>
          </a:p>
        </p:txBody>
      </p:sp>
      <p:sp>
        <p:nvSpPr>
          <p:cNvPr id="54" name="Rectangle 13"/>
          <p:cNvSpPr>
            <a:spLocks noChangeArrowheads="1"/>
          </p:cNvSpPr>
          <p:nvPr/>
        </p:nvSpPr>
        <p:spPr bwMode="auto">
          <a:xfrm>
            <a:off x="5943600" y="5029200"/>
            <a:ext cx="12954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/>
              <a:t>DSL</a:t>
            </a:r>
            <a:endParaRPr lang="ru-RU"/>
          </a:p>
        </p:txBody>
      </p:sp>
      <p:sp>
        <p:nvSpPr>
          <p:cNvPr id="55" name="Rectangle 14"/>
          <p:cNvSpPr>
            <a:spLocks noChangeArrowheads="1"/>
          </p:cNvSpPr>
          <p:nvPr/>
        </p:nvSpPr>
        <p:spPr bwMode="auto">
          <a:xfrm>
            <a:off x="2537015" y="4114800"/>
            <a:ext cx="12954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dirty="0" smtClean="0"/>
              <a:t>IPv4</a:t>
            </a:r>
            <a:endParaRPr lang="ru-RU" dirty="0"/>
          </a:p>
        </p:txBody>
      </p:sp>
      <p:sp>
        <p:nvSpPr>
          <p:cNvPr id="56" name="Rectangle 15"/>
          <p:cNvSpPr>
            <a:spLocks noChangeArrowheads="1"/>
          </p:cNvSpPr>
          <p:nvPr/>
        </p:nvSpPr>
        <p:spPr bwMode="auto">
          <a:xfrm>
            <a:off x="3124200" y="3276600"/>
            <a:ext cx="12954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/>
              <a:t>TCP</a:t>
            </a:r>
            <a:endParaRPr lang="ru-RU"/>
          </a:p>
        </p:txBody>
      </p:sp>
      <p:sp>
        <p:nvSpPr>
          <p:cNvPr id="57" name="Rectangle 16"/>
          <p:cNvSpPr>
            <a:spLocks noChangeArrowheads="1"/>
          </p:cNvSpPr>
          <p:nvPr/>
        </p:nvSpPr>
        <p:spPr bwMode="auto">
          <a:xfrm>
            <a:off x="5257800" y="3276600"/>
            <a:ext cx="12954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/>
              <a:t>UDP</a:t>
            </a:r>
            <a:endParaRPr lang="ru-RU"/>
          </a:p>
        </p:txBody>
      </p:sp>
      <p:sp>
        <p:nvSpPr>
          <p:cNvPr id="58" name="Rectangle 17"/>
          <p:cNvSpPr>
            <a:spLocks noChangeArrowheads="1"/>
          </p:cNvSpPr>
          <p:nvPr/>
        </p:nvSpPr>
        <p:spPr bwMode="auto">
          <a:xfrm>
            <a:off x="2286000" y="2438400"/>
            <a:ext cx="10668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/>
              <a:t>HTTP</a:t>
            </a:r>
            <a:endParaRPr lang="ru-RU"/>
          </a:p>
        </p:txBody>
      </p:sp>
      <p:sp>
        <p:nvSpPr>
          <p:cNvPr id="59" name="Rectangle 18"/>
          <p:cNvSpPr>
            <a:spLocks noChangeArrowheads="1"/>
          </p:cNvSpPr>
          <p:nvPr/>
        </p:nvSpPr>
        <p:spPr bwMode="auto">
          <a:xfrm>
            <a:off x="3505200" y="2438400"/>
            <a:ext cx="10668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/>
              <a:t>SMTP</a:t>
            </a:r>
            <a:endParaRPr lang="ru-RU"/>
          </a:p>
        </p:txBody>
      </p:sp>
      <p:sp>
        <p:nvSpPr>
          <p:cNvPr id="60" name="Rectangle 19"/>
          <p:cNvSpPr>
            <a:spLocks noChangeArrowheads="1"/>
          </p:cNvSpPr>
          <p:nvPr/>
        </p:nvSpPr>
        <p:spPr bwMode="auto">
          <a:xfrm>
            <a:off x="4724400" y="2438400"/>
            <a:ext cx="10668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/>
              <a:t>DNS</a:t>
            </a:r>
            <a:endParaRPr lang="ru-RU"/>
          </a:p>
        </p:txBody>
      </p:sp>
      <p:sp>
        <p:nvSpPr>
          <p:cNvPr id="61" name="Rectangle 20"/>
          <p:cNvSpPr>
            <a:spLocks noChangeArrowheads="1"/>
          </p:cNvSpPr>
          <p:nvPr/>
        </p:nvSpPr>
        <p:spPr bwMode="auto">
          <a:xfrm>
            <a:off x="5943600" y="2438400"/>
            <a:ext cx="12954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/>
              <a:t>FTP</a:t>
            </a:r>
            <a:endParaRPr lang="ru-RU"/>
          </a:p>
        </p:txBody>
      </p:sp>
      <p:sp>
        <p:nvSpPr>
          <p:cNvPr id="62" name="Rectangle 21"/>
          <p:cNvSpPr>
            <a:spLocks noChangeArrowheads="1"/>
          </p:cNvSpPr>
          <p:nvPr/>
        </p:nvSpPr>
        <p:spPr bwMode="auto">
          <a:xfrm>
            <a:off x="5656726" y="4114800"/>
            <a:ext cx="1295400" cy="381000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/>
              <a:t>ICMP</a:t>
            </a:r>
            <a:endParaRPr lang="ru-RU"/>
          </a:p>
        </p:txBody>
      </p:sp>
      <p:sp>
        <p:nvSpPr>
          <p:cNvPr id="63" name="Rectangle 22"/>
          <p:cNvSpPr>
            <a:spLocks noChangeArrowheads="1"/>
          </p:cNvSpPr>
          <p:nvPr/>
        </p:nvSpPr>
        <p:spPr bwMode="auto">
          <a:xfrm>
            <a:off x="2667000" y="4648200"/>
            <a:ext cx="1295400" cy="228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/>
              <a:t>ARP</a:t>
            </a:r>
            <a:endParaRPr lang="ru-RU"/>
          </a:p>
        </p:txBody>
      </p:sp>
      <p:sp>
        <p:nvSpPr>
          <p:cNvPr id="64" name="Rectangle 23"/>
          <p:cNvSpPr>
            <a:spLocks noChangeArrowheads="1"/>
          </p:cNvSpPr>
          <p:nvPr/>
        </p:nvSpPr>
        <p:spPr bwMode="auto">
          <a:xfrm>
            <a:off x="4191000" y="4648200"/>
            <a:ext cx="1295400" cy="228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/>
              <a:t>DHCP</a:t>
            </a:r>
            <a:endParaRPr lang="ru-RU"/>
          </a:p>
        </p:txBody>
      </p:sp>
      <p:sp>
        <p:nvSpPr>
          <p:cNvPr id="65" name="Rectangle 14"/>
          <p:cNvSpPr>
            <a:spLocks noChangeArrowheads="1"/>
          </p:cNvSpPr>
          <p:nvPr/>
        </p:nvSpPr>
        <p:spPr bwMode="auto">
          <a:xfrm>
            <a:off x="4090144" y="4114800"/>
            <a:ext cx="1295400" cy="381000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dirty="0" smtClean="0"/>
              <a:t>IPv6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59243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TextBox 2"/>
          <p:cNvSpPr txBox="1">
            <a:spLocks noChangeArrowheads="1"/>
          </p:cNvSpPr>
          <p:nvPr/>
        </p:nvSpPr>
        <p:spPr bwMode="auto">
          <a:xfrm>
            <a:off x="2843213" y="158750"/>
            <a:ext cx="626586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000" dirty="0" smtClean="0">
                <a:latin typeface="Verdana" panose="020B0604030504040204" pitchFamily="34" charset="0"/>
              </a:rPr>
              <a:t>Сети и системы телекоммуникаций. Протокол </a:t>
            </a:r>
            <a:r>
              <a:rPr lang="en-US" altLang="ru-RU" sz="1000" dirty="0" smtClean="0">
                <a:latin typeface="Verdana" panose="020B0604030504040204" pitchFamily="34" charset="0"/>
              </a:rPr>
              <a:t>IPv6</a:t>
            </a:r>
            <a:r>
              <a:rPr lang="ru-RU" altLang="ru-RU" sz="1000" dirty="0">
                <a:latin typeface="Verdana" panose="020B0604030504040204" pitchFamily="34" charset="0"/>
              </a:rPr>
              <a:t>	</a:t>
            </a:r>
            <a:r>
              <a:rPr lang="ru-RU" altLang="ru-RU" sz="1000" b="1" dirty="0">
                <a:latin typeface="Verdana" panose="020B0604030504040204" pitchFamily="34" charset="0"/>
              </a:rPr>
              <a:t>	</a:t>
            </a:r>
          </a:p>
        </p:txBody>
      </p:sp>
      <p:sp>
        <p:nvSpPr>
          <p:cNvPr id="4100" name="TextBox 3"/>
          <p:cNvSpPr txBox="1">
            <a:spLocks noChangeArrowheads="1"/>
          </p:cNvSpPr>
          <p:nvPr/>
        </p:nvSpPr>
        <p:spPr bwMode="auto">
          <a:xfrm>
            <a:off x="539749" y="1714500"/>
            <a:ext cx="8208963" cy="3570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ts val="1200"/>
              </a:spcBef>
            </a:pPr>
            <a:r>
              <a:rPr lang="en-US" altLang="ru-RU" sz="2400" dirty="0">
                <a:latin typeface="Verdana" panose="020B0604030504040204" pitchFamily="34" charset="0"/>
              </a:rPr>
              <a:t>IPv6 (Internet Protocol version 6) </a:t>
            </a:r>
            <a:r>
              <a:rPr lang="en-US" altLang="ru-RU" sz="2400" dirty="0" smtClean="0">
                <a:latin typeface="Verdana" panose="020B0604030504040204" pitchFamily="34" charset="0"/>
              </a:rPr>
              <a:t>— </a:t>
            </a:r>
            <a:r>
              <a:rPr lang="ru-RU" altLang="ru-RU" sz="2400" dirty="0">
                <a:latin typeface="Verdana" panose="020B0604030504040204" pitchFamily="34" charset="0"/>
              </a:rPr>
              <a:t>протокол сетевого уровня стека </a:t>
            </a:r>
            <a:r>
              <a:rPr lang="en-US" altLang="ru-RU" sz="2400" dirty="0">
                <a:latin typeface="Verdana" panose="020B0604030504040204" pitchFamily="34" charset="0"/>
              </a:rPr>
              <a:t>TCP/IP</a:t>
            </a:r>
          </a:p>
          <a:p>
            <a:pPr algn="just" eaLnBrk="1" hangingPunct="1">
              <a:spcBef>
                <a:spcPts val="1200"/>
              </a:spcBef>
            </a:pPr>
            <a:r>
              <a:rPr lang="en-US" altLang="ru-RU" sz="2400" dirty="0">
                <a:latin typeface="Verdana" panose="020B0604030504040204" pitchFamily="34" charset="0"/>
              </a:rPr>
              <a:t>IPv6 </a:t>
            </a:r>
            <a:r>
              <a:rPr lang="ru-RU" altLang="ru-RU" sz="2400" dirty="0">
                <a:latin typeface="Verdana" panose="020B0604030504040204" pitchFamily="34" charset="0"/>
              </a:rPr>
              <a:t>используется для передачи данных на сетевом уровне</a:t>
            </a:r>
          </a:p>
          <a:p>
            <a:pPr algn="just" eaLnBrk="1" hangingPunct="1">
              <a:spcBef>
                <a:spcPts val="1200"/>
              </a:spcBef>
            </a:pPr>
            <a:r>
              <a:rPr lang="en-US" altLang="ru-RU" sz="2400" dirty="0">
                <a:latin typeface="Verdana" panose="020B0604030504040204" pitchFamily="34" charset="0"/>
              </a:rPr>
              <a:t>IPv6 </a:t>
            </a:r>
            <a:r>
              <a:rPr lang="en-US" altLang="ru-RU" sz="2400" dirty="0" smtClean="0">
                <a:latin typeface="Verdana" panose="020B0604030504040204" pitchFamily="34" charset="0"/>
              </a:rPr>
              <a:t>— </a:t>
            </a:r>
            <a:r>
              <a:rPr lang="ru-RU" altLang="ru-RU" sz="2400" dirty="0">
                <a:latin typeface="Verdana" panose="020B0604030504040204" pitchFamily="34" charset="0"/>
              </a:rPr>
              <a:t>замена </a:t>
            </a:r>
            <a:r>
              <a:rPr lang="en-US" altLang="ru-RU" sz="2400" dirty="0">
                <a:latin typeface="Verdana" panose="020B0604030504040204" pitchFamily="34" charset="0"/>
              </a:rPr>
              <a:t>IPv4</a:t>
            </a:r>
          </a:p>
          <a:p>
            <a:pPr algn="just" eaLnBrk="1" hangingPunct="1">
              <a:spcBef>
                <a:spcPts val="1200"/>
              </a:spcBef>
            </a:pPr>
            <a:r>
              <a:rPr lang="en-US" altLang="ru-RU" sz="2400" dirty="0">
                <a:latin typeface="Verdana" panose="020B0604030504040204" pitchFamily="34" charset="0"/>
              </a:rPr>
              <a:t>IPv6 </a:t>
            </a:r>
            <a:r>
              <a:rPr lang="ru-RU" altLang="ru-RU" sz="2400" dirty="0">
                <a:latin typeface="Verdana" panose="020B0604030504040204" pitchFamily="34" charset="0"/>
              </a:rPr>
              <a:t>не совместим с </a:t>
            </a:r>
            <a:r>
              <a:rPr lang="en-US" altLang="ru-RU" sz="2400" dirty="0">
                <a:latin typeface="Verdana" panose="020B0604030504040204" pitchFamily="34" charset="0"/>
              </a:rPr>
              <a:t>IPv4</a:t>
            </a:r>
          </a:p>
          <a:p>
            <a:pPr algn="just" eaLnBrk="1" hangingPunct="1">
              <a:spcBef>
                <a:spcPts val="1200"/>
              </a:spcBef>
            </a:pPr>
            <a:r>
              <a:rPr lang="en-US" altLang="ru-RU" sz="2400" dirty="0">
                <a:latin typeface="Verdana" panose="020B0604030504040204" pitchFamily="34" charset="0"/>
              </a:rPr>
              <a:t>IPv6 </a:t>
            </a:r>
            <a:r>
              <a:rPr lang="ru-RU" altLang="ru-RU" sz="2400" dirty="0">
                <a:latin typeface="Verdana" panose="020B0604030504040204" pitchFamily="34" charset="0"/>
              </a:rPr>
              <a:t>совместим с другими протоколами стека </a:t>
            </a:r>
            <a:r>
              <a:rPr lang="en-US" altLang="ru-RU" sz="2400" dirty="0">
                <a:latin typeface="Verdana" panose="020B0604030504040204" pitchFamily="34" charset="0"/>
              </a:rPr>
              <a:t>TCP/IP: TCP, UDP, ICMP, DHCP, DNS </a:t>
            </a:r>
            <a:r>
              <a:rPr lang="ru-RU" altLang="ru-RU" sz="2400" dirty="0">
                <a:latin typeface="Verdana" panose="020B0604030504040204" pitchFamily="34" charset="0"/>
              </a:rPr>
              <a:t>и др.</a:t>
            </a:r>
          </a:p>
        </p:txBody>
      </p:sp>
      <p:sp>
        <p:nvSpPr>
          <p:cNvPr id="4101" name="TextBox 3"/>
          <p:cNvSpPr txBox="1">
            <a:spLocks noChangeArrowheads="1"/>
          </p:cNvSpPr>
          <p:nvPr/>
        </p:nvSpPr>
        <p:spPr bwMode="auto">
          <a:xfrm>
            <a:off x="539750" y="937774"/>
            <a:ext cx="8208963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800" b="1" dirty="0">
                <a:latin typeface="Verdana" panose="020B0604030504040204" pitchFamily="34" charset="0"/>
              </a:rPr>
              <a:t>Сетевой уровень в </a:t>
            </a:r>
            <a:r>
              <a:rPr lang="en-US" altLang="ru-RU" sz="2800" b="1" dirty="0" smtClean="0">
                <a:latin typeface="Verdana" panose="020B0604030504040204" pitchFamily="34" charset="0"/>
              </a:rPr>
              <a:t>TCP/IP</a:t>
            </a:r>
            <a:endParaRPr lang="ru-RU" altLang="ru-RU" sz="2800" b="1" dirty="0">
              <a:latin typeface="Verdana" panose="020B0604030504040204" pitchFamily="34" charset="0"/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72FCD-ECDD-4AD1-A933-149E1B2284F8}" type="slidenum">
              <a:rPr lang="ru-RU" altLang="ru-RU" smtClean="0"/>
              <a:pPr/>
              <a:t>5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523970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TextBox 2"/>
          <p:cNvSpPr txBox="1">
            <a:spLocks noChangeArrowheads="1"/>
          </p:cNvSpPr>
          <p:nvPr/>
        </p:nvSpPr>
        <p:spPr bwMode="auto">
          <a:xfrm>
            <a:off x="2843213" y="158750"/>
            <a:ext cx="626586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000" dirty="0" smtClean="0">
                <a:latin typeface="Verdana" panose="020B0604030504040204" pitchFamily="34" charset="0"/>
              </a:rPr>
              <a:t>Сети и системы телекоммуникаций. Протокол </a:t>
            </a:r>
            <a:r>
              <a:rPr lang="en-US" altLang="ru-RU" sz="1000" dirty="0" smtClean="0">
                <a:latin typeface="Verdana" panose="020B0604030504040204" pitchFamily="34" charset="0"/>
              </a:rPr>
              <a:t>IPv6</a:t>
            </a:r>
            <a:r>
              <a:rPr lang="ru-RU" altLang="ru-RU" sz="1000" dirty="0">
                <a:latin typeface="Verdana" panose="020B0604030504040204" pitchFamily="34" charset="0"/>
              </a:rPr>
              <a:t>	</a:t>
            </a:r>
            <a:r>
              <a:rPr lang="ru-RU" altLang="ru-RU" sz="1000" b="1" dirty="0">
                <a:latin typeface="Verdana" panose="020B0604030504040204" pitchFamily="34" charset="0"/>
              </a:rPr>
              <a:t>	</a:t>
            </a:r>
          </a:p>
        </p:txBody>
      </p:sp>
      <p:sp>
        <p:nvSpPr>
          <p:cNvPr id="4100" name="TextBox 3"/>
          <p:cNvSpPr txBox="1">
            <a:spLocks noChangeArrowheads="1"/>
          </p:cNvSpPr>
          <p:nvPr/>
        </p:nvSpPr>
        <p:spPr bwMode="auto">
          <a:xfrm>
            <a:off x="539749" y="1714500"/>
            <a:ext cx="8208963" cy="267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ts val="1200"/>
              </a:spcBef>
            </a:pPr>
            <a:r>
              <a:rPr lang="ru-RU" altLang="ru-RU" sz="2400" dirty="0">
                <a:latin typeface="Verdana" panose="020B0604030504040204" pitchFamily="34" charset="0"/>
              </a:rPr>
              <a:t>Адресация миллиардов устройств в сети (борьба с нехваткой адресов в </a:t>
            </a:r>
            <a:r>
              <a:rPr lang="ru-RU" altLang="ru-RU" sz="2400" dirty="0" err="1" smtClean="0">
                <a:latin typeface="Verdana" panose="020B0604030504040204" pitchFamily="34" charset="0"/>
              </a:rPr>
              <a:t>IPv</a:t>
            </a:r>
            <a:r>
              <a:rPr lang="en-US" altLang="ru-RU" sz="2400" dirty="0" smtClean="0">
                <a:latin typeface="Verdana" panose="020B0604030504040204" pitchFamily="34" charset="0"/>
              </a:rPr>
              <a:t>4</a:t>
            </a:r>
            <a:r>
              <a:rPr lang="ru-RU" altLang="ru-RU" sz="2400" dirty="0" smtClean="0">
                <a:latin typeface="Verdana" panose="020B0604030504040204" pitchFamily="34" charset="0"/>
              </a:rPr>
              <a:t>)</a:t>
            </a:r>
            <a:endParaRPr lang="ru-RU" altLang="ru-RU" sz="2400" dirty="0">
              <a:latin typeface="Verdana" panose="020B0604030504040204" pitchFamily="34" charset="0"/>
            </a:endParaRPr>
          </a:p>
          <a:p>
            <a:pPr algn="just" eaLnBrk="1" hangingPunct="1">
              <a:spcBef>
                <a:spcPts val="1200"/>
              </a:spcBef>
            </a:pPr>
            <a:r>
              <a:rPr lang="ru-RU" altLang="ru-RU" sz="2400" dirty="0">
                <a:latin typeface="Verdana" panose="020B0604030504040204" pitchFamily="34" charset="0"/>
              </a:rPr>
              <a:t>Упрощение протокола для ускорения работы маршрутизаторов</a:t>
            </a:r>
          </a:p>
          <a:p>
            <a:pPr algn="just" eaLnBrk="1" hangingPunct="1">
              <a:spcBef>
                <a:spcPts val="1200"/>
              </a:spcBef>
            </a:pPr>
            <a:r>
              <a:rPr lang="ru-RU" altLang="ru-RU" sz="2400" dirty="0">
                <a:latin typeface="Verdana" panose="020B0604030504040204" pitchFamily="34" charset="0"/>
              </a:rPr>
              <a:t>Обеспечение безопасности</a:t>
            </a:r>
          </a:p>
          <a:p>
            <a:pPr algn="just" eaLnBrk="1" hangingPunct="1">
              <a:spcBef>
                <a:spcPts val="1200"/>
              </a:spcBef>
            </a:pPr>
            <a:r>
              <a:rPr lang="ru-RU" altLang="ru-RU" sz="2400" dirty="0">
                <a:latin typeface="Verdana" panose="020B0604030504040204" pitchFamily="34" charset="0"/>
              </a:rPr>
              <a:t>Качество облуживания</a:t>
            </a:r>
          </a:p>
        </p:txBody>
      </p:sp>
      <p:sp>
        <p:nvSpPr>
          <p:cNvPr id="4101" name="TextBox 3"/>
          <p:cNvSpPr txBox="1">
            <a:spLocks noChangeArrowheads="1"/>
          </p:cNvSpPr>
          <p:nvPr/>
        </p:nvSpPr>
        <p:spPr bwMode="auto">
          <a:xfrm>
            <a:off x="539750" y="937774"/>
            <a:ext cx="8208963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800" b="1" dirty="0" smtClean="0">
                <a:latin typeface="Verdana" panose="020B0604030504040204" pitchFamily="34" charset="0"/>
              </a:rPr>
              <a:t>Цели создания </a:t>
            </a:r>
            <a:r>
              <a:rPr lang="en-US" altLang="ru-RU" sz="2800" b="1" dirty="0" smtClean="0">
                <a:latin typeface="Verdana" panose="020B0604030504040204" pitchFamily="34" charset="0"/>
              </a:rPr>
              <a:t>IPv6</a:t>
            </a:r>
            <a:endParaRPr lang="ru-RU" altLang="ru-RU" sz="2800" b="1" dirty="0">
              <a:latin typeface="Verdana" panose="020B0604030504040204" pitchFamily="34" charset="0"/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72FCD-ECDD-4AD1-A933-149E1B2284F8}" type="slidenum">
              <a:rPr lang="ru-RU" altLang="ru-RU" smtClean="0"/>
              <a:pPr/>
              <a:t>6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309022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TextBox 2"/>
          <p:cNvSpPr txBox="1">
            <a:spLocks noChangeArrowheads="1"/>
          </p:cNvSpPr>
          <p:nvPr/>
        </p:nvSpPr>
        <p:spPr bwMode="auto">
          <a:xfrm>
            <a:off x="2843213" y="158750"/>
            <a:ext cx="626586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000" dirty="0" smtClean="0">
                <a:latin typeface="Verdana" panose="020B0604030504040204" pitchFamily="34" charset="0"/>
              </a:rPr>
              <a:t>Сети и системы телекоммуникаций. Протокол </a:t>
            </a:r>
            <a:r>
              <a:rPr lang="en-US" altLang="ru-RU" sz="1000" dirty="0" smtClean="0">
                <a:latin typeface="Verdana" panose="020B0604030504040204" pitchFamily="34" charset="0"/>
              </a:rPr>
              <a:t>IPv6</a:t>
            </a:r>
            <a:r>
              <a:rPr lang="ru-RU" altLang="ru-RU" sz="1000" dirty="0">
                <a:latin typeface="Verdana" panose="020B0604030504040204" pitchFamily="34" charset="0"/>
              </a:rPr>
              <a:t>	</a:t>
            </a:r>
            <a:r>
              <a:rPr lang="ru-RU" altLang="ru-RU" sz="1000" b="1" dirty="0">
                <a:latin typeface="Verdana" panose="020B0604030504040204" pitchFamily="34" charset="0"/>
              </a:rPr>
              <a:t>	</a:t>
            </a:r>
          </a:p>
        </p:txBody>
      </p:sp>
      <p:sp>
        <p:nvSpPr>
          <p:cNvPr id="4101" name="TextBox 3"/>
          <p:cNvSpPr txBox="1">
            <a:spLocks noChangeArrowheads="1"/>
          </p:cNvSpPr>
          <p:nvPr/>
        </p:nvSpPr>
        <p:spPr bwMode="auto">
          <a:xfrm>
            <a:off x="539750" y="937774"/>
            <a:ext cx="8208963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800" b="1" dirty="0" smtClean="0">
                <a:latin typeface="Verdana" panose="020B0604030504040204" pitchFamily="34" charset="0"/>
              </a:rPr>
              <a:t>Когда был создан </a:t>
            </a:r>
            <a:r>
              <a:rPr lang="en-US" altLang="ru-RU" sz="2800" b="1" dirty="0" smtClean="0">
                <a:latin typeface="Verdana" panose="020B0604030504040204" pitchFamily="34" charset="0"/>
              </a:rPr>
              <a:t>IPv6</a:t>
            </a:r>
            <a:r>
              <a:rPr lang="ru-RU" altLang="ru-RU" sz="2800" b="1" dirty="0" smtClean="0">
                <a:latin typeface="Verdana" panose="020B0604030504040204" pitchFamily="34" charset="0"/>
              </a:rPr>
              <a:t>?</a:t>
            </a:r>
            <a:endParaRPr lang="ru-RU" altLang="ru-RU" sz="2800" b="1" dirty="0">
              <a:latin typeface="Verdana" panose="020B0604030504040204" pitchFamily="34" charset="0"/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72FCD-ECDD-4AD1-A933-149E1B2284F8}" type="slidenum">
              <a:rPr lang="ru-RU" altLang="ru-RU" smtClean="0"/>
              <a:pPr/>
              <a:t>7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741446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TextBox 2"/>
          <p:cNvSpPr txBox="1">
            <a:spLocks noChangeArrowheads="1"/>
          </p:cNvSpPr>
          <p:nvPr/>
        </p:nvSpPr>
        <p:spPr bwMode="auto">
          <a:xfrm>
            <a:off x="2843213" y="158750"/>
            <a:ext cx="626586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000" dirty="0" smtClean="0">
                <a:latin typeface="Verdana" panose="020B0604030504040204" pitchFamily="34" charset="0"/>
              </a:rPr>
              <a:t>Сети и системы телекоммуникаций. Протокол </a:t>
            </a:r>
            <a:r>
              <a:rPr lang="en-US" altLang="ru-RU" sz="1000" dirty="0" smtClean="0">
                <a:latin typeface="Verdana" panose="020B0604030504040204" pitchFamily="34" charset="0"/>
              </a:rPr>
              <a:t>IPv6</a:t>
            </a:r>
            <a:r>
              <a:rPr lang="ru-RU" altLang="ru-RU" sz="1000" dirty="0">
                <a:latin typeface="Verdana" panose="020B0604030504040204" pitchFamily="34" charset="0"/>
              </a:rPr>
              <a:t>	</a:t>
            </a:r>
            <a:r>
              <a:rPr lang="ru-RU" altLang="ru-RU" sz="1000" b="1" dirty="0">
                <a:latin typeface="Verdana" panose="020B0604030504040204" pitchFamily="34" charset="0"/>
              </a:rPr>
              <a:t>	</a:t>
            </a:r>
          </a:p>
        </p:txBody>
      </p:sp>
      <p:sp>
        <p:nvSpPr>
          <p:cNvPr id="4100" name="TextBox 3"/>
          <p:cNvSpPr txBox="1">
            <a:spLocks noChangeArrowheads="1"/>
          </p:cNvSpPr>
          <p:nvPr/>
        </p:nvSpPr>
        <p:spPr bwMode="auto">
          <a:xfrm>
            <a:off x="539749" y="1714500"/>
            <a:ext cx="8208963" cy="42780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ts val="1200"/>
              </a:spcBef>
            </a:pPr>
            <a:r>
              <a:rPr lang="ru-RU" altLang="ru-RU" sz="2400" dirty="0">
                <a:latin typeface="Verdana" panose="020B0604030504040204" pitchFamily="34" charset="0"/>
              </a:rPr>
              <a:t>1990 </a:t>
            </a:r>
            <a:r>
              <a:rPr lang="en-US" altLang="ru-RU" sz="2400" dirty="0" smtClean="0">
                <a:latin typeface="Verdana" panose="020B0604030504040204" pitchFamily="34" charset="0"/>
              </a:rPr>
              <a:t>—</a:t>
            </a:r>
            <a:r>
              <a:rPr lang="ru-RU" altLang="ru-RU" sz="2400" dirty="0" smtClean="0">
                <a:latin typeface="Verdana" panose="020B0604030504040204" pitchFamily="34" charset="0"/>
              </a:rPr>
              <a:t> </a:t>
            </a:r>
            <a:r>
              <a:rPr lang="ru-RU" altLang="ru-RU" sz="2400" dirty="0">
                <a:latin typeface="Verdana" panose="020B0604030504040204" pitchFamily="34" charset="0"/>
              </a:rPr>
              <a:t>проблемная группа проектирования Интернета IETF начала работу над новой версией протокола IP</a:t>
            </a:r>
          </a:p>
          <a:p>
            <a:pPr algn="just" eaLnBrk="1" hangingPunct="1">
              <a:spcBef>
                <a:spcPts val="1200"/>
              </a:spcBef>
            </a:pPr>
            <a:r>
              <a:rPr lang="ru-RU" altLang="ru-RU" sz="2400" dirty="0">
                <a:latin typeface="Verdana" panose="020B0604030504040204" pitchFamily="34" charset="0"/>
              </a:rPr>
              <a:t>1998 </a:t>
            </a:r>
            <a:r>
              <a:rPr lang="en-US" altLang="ru-RU" sz="2400" dirty="0" smtClean="0">
                <a:latin typeface="Verdana" panose="020B0604030504040204" pitchFamily="34" charset="0"/>
              </a:rPr>
              <a:t>—</a:t>
            </a:r>
            <a:r>
              <a:rPr lang="ru-RU" altLang="ru-RU" sz="2400" dirty="0" smtClean="0">
                <a:latin typeface="Verdana" panose="020B0604030504040204" pitchFamily="34" charset="0"/>
              </a:rPr>
              <a:t> </a:t>
            </a:r>
            <a:r>
              <a:rPr lang="ru-RU" altLang="ru-RU" sz="2400" dirty="0">
                <a:latin typeface="Verdana" panose="020B0604030504040204" pitchFamily="34" charset="0"/>
              </a:rPr>
              <a:t>IPv6 принят в качестве стандарта RFC 2460</a:t>
            </a:r>
          </a:p>
          <a:p>
            <a:pPr algn="just" eaLnBrk="1" hangingPunct="1">
              <a:spcBef>
                <a:spcPts val="1200"/>
              </a:spcBef>
            </a:pPr>
            <a:endParaRPr lang="ru-RU" altLang="ru-RU" sz="2400" dirty="0">
              <a:latin typeface="Verdana" panose="020B0604030504040204" pitchFamily="34" charset="0"/>
            </a:endParaRPr>
          </a:p>
          <a:p>
            <a:pPr algn="just" eaLnBrk="1" hangingPunct="1">
              <a:spcBef>
                <a:spcPts val="1200"/>
              </a:spcBef>
            </a:pPr>
            <a:r>
              <a:rPr lang="ru-RU" altLang="ru-RU" sz="2400" dirty="0">
                <a:latin typeface="Verdana" panose="020B0604030504040204" pitchFamily="34" charset="0"/>
              </a:rPr>
              <a:t>IPv5:</a:t>
            </a:r>
          </a:p>
          <a:p>
            <a:pPr marL="715963" lvl="1" indent="-361950" algn="just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altLang="ru-RU" sz="2000" dirty="0">
                <a:latin typeface="Verdana" panose="020B0604030504040204" pitchFamily="34" charset="0"/>
              </a:rPr>
              <a:t>Экспериментальный протокол потоковой передачи данных (</a:t>
            </a:r>
            <a:r>
              <a:rPr lang="ru-RU" altLang="ru-RU" sz="2000" dirty="0" err="1">
                <a:latin typeface="Verdana" panose="020B0604030504040204" pitchFamily="34" charset="0"/>
              </a:rPr>
              <a:t>Streaming</a:t>
            </a:r>
            <a:r>
              <a:rPr lang="ru-RU" altLang="ru-RU" sz="2000" dirty="0">
                <a:latin typeface="Verdana" panose="020B0604030504040204" pitchFamily="34" charset="0"/>
              </a:rPr>
              <a:t> </a:t>
            </a:r>
            <a:r>
              <a:rPr lang="ru-RU" altLang="ru-RU" sz="2000" dirty="0" err="1">
                <a:latin typeface="Verdana" panose="020B0604030504040204" pitchFamily="34" charset="0"/>
              </a:rPr>
              <a:t>Protocol</a:t>
            </a:r>
            <a:r>
              <a:rPr lang="ru-RU" altLang="ru-RU" sz="2000" dirty="0">
                <a:latin typeface="Verdana" panose="020B0604030504040204" pitchFamily="34" charset="0"/>
              </a:rPr>
              <a:t>), предложен в 1979 г.</a:t>
            </a:r>
          </a:p>
          <a:p>
            <a:pPr marL="715963" lvl="1" indent="-361950" algn="just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altLang="ru-RU" sz="2000" dirty="0">
                <a:latin typeface="Verdana" panose="020B0604030504040204" pitchFamily="34" charset="0"/>
              </a:rPr>
              <a:t>Не использовался широко</a:t>
            </a:r>
          </a:p>
          <a:p>
            <a:pPr marL="715963" lvl="1" indent="-361950" algn="just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altLang="ru-RU" sz="2000" dirty="0">
                <a:latin typeface="Verdana" panose="020B0604030504040204" pitchFamily="34" charset="0"/>
              </a:rPr>
              <a:t>Концепции IPv5 перешли в ATM и MPLS</a:t>
            </a:r>
          </a:p>
        </p:txBody>
      </p:sp>
      <p:sp>
        <p:nvSpPr>
          <p:cNvPr id="4101" name="TextBox 3"/>
          <p:cNvSpPr txBox="1">
            <a:spLocks noChangeArrowheads="1"/>
          </p:cNvSpPr>
          <p:nvPr/>
        </p:nvSpPr>
        <p:spPr bwMode="auto">
          <a:xfrm>
            <a:off x="539750" y="937774"/>
            <a:ext cx="8208963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800" b="1" dirty="0">
                <a:latin typeface="Verdana" panose="020B0604030504040204" pitchFamily="34" charset="0"/>
              </a:rPr>
              <a:t>Когда был создан </a:t>
            </a:r>
            <a:r>
              <a:rPr lang="en-US" altLang="ru-RU" sz="2800" b="1" dirty="0" smtClean="0">
                <a:latin typeface="Verdana" panose="020B0604030504040204" pitchFamily="34" charset="0"/>
              </a:rPr>
              <a:t>IPv6</a:t>
            </a:r>
            <a:endParaRPr lang="ru-RU" altLang="ru-RU" sz="2800" b="1" dirty="0">
              <a:latin typeface="Verdana" panose="020B0604030504040204" pitchFamily="34" charset="0"/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72FCD-ECDD-4AD1-A933-149E1B2284F8}" type="slidenum">
              <a:rPr lang="ru-RU" altLang="ru-RU" smtClean="0"/>
              <a:pPr/>
              <a:t>8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973192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TextBox 2"/>
          <p:cNvSpPr txBox="1">
            <a:spLocks noChangeArrowheads="1"/>
          </p:cNvSpPr>
          <p:nvPr/>
        </p:nvSpPr>
        <p:spPr bwMode="auto">
          <a:xfrm>
            <a:off x="2843213" y="158750"/>
            <a:ext cx="626586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000" dirty="0" smtClean="0">
                <a:latin typeface="Verdana" panose="020B0604030504040204" pitchFamily="34" charset="0"/>
              </a:rPr>
              <a:t>Сети и системы телекоммуникаций. Протокол </a:t>
            </a:r>
            <a:r>
              <a:rPr lang="en-US" altLang="ru-RU" sz="1000" dirty="0" smtClean="0">
                <a:latin typeface="Verdana" panose="020B0604030504040204" pitchFamily="34" charset="0"/>
              </a:rPr>
              <a:t>IPv6</a:t>
            </a:r>
            <a:r>
              <a:rPr lang="ru-RU" altLang="ru-RU" sz="1000" dirty="0">
                <a:latin typeface="Verdana" panose="020B0604030504040204" pitchFamily="34" charset="0"/>
              </a:rPr>
              <a:t>	</a:t>
            </a:r>
            <a:r>
              <a:rPr lang="ru-RU" altLang="ru-RU" sz="1000" b="1" dirty="0">
                <a:latin typeface="Verdana" panose="020B0604030504040204" pitchFamily="34" charset="0"/>
              </a:rPr>
              <a:t>	</a:t>
            </a:r>
          </a:p>
        </p:txBody>
      </p:sp>
      <p:sp>
        <p:nvSpPr>
          <p:cNvPr id="4101" name="TextBox 3"/>
          <p:cNvSpPr txBox="1">
            <a:spLocks noChangeArrowheads="1"/>
          </p:cNvSpPr>
          <p:nvPr/>
        </p:nvSpPr>
        <p:spPr bwMode="auto">
          <a:xfrm>
            <a:off x="539750" y="937774"/>
            <a:ext cx="8208963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800" b="1" dirty="0" smtClean="0">
                <a:latin typeface="Verdana" panose="020B0604030504040204" pitchFamily="34" charset="0"/>
              </a:rPr>
              <a:t>Формат заголовка </a:t>
            </a:r>
            <a:r>
              <a:rPr lang="en-US" altLang="ru-RU" sz="2800" b="1" dirty="0" smtClean="0">
                <a:latin typeface="Verdana" panose="020B0604030504040204" pitchFamily="34" charset="0"/>
              </a:rPr>
              <a:t>IPv6</a:t>
            </a:r>
            <a:endParaRPr lang="ru-RU" altLang="ru-RU" sz="2800" b="1" dirty="0">
              <a:latin typeface="Verdana" panose="020B0604030504040204" pitchFamily="34" charset="0"/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72FCD-ECDD-4AD1-A933-149E1B2284F8}" type="slidenum">
              <a:rPr lang="ru-RU" altLang="ru-RU" smtClean="0"/>
              <a:pPr/>
              <a:t>9</a:t>
            </a:fld>
            <a:endParaRPr lang="ru-RU" altLang="ru-RU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685800" y="1772816"/>
            <a:ext cx="7620000" cy="914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/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685800" y="2687215"/>
            <a:ext cx="7620000" cy="92119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/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685800" y="3604009"/>
            <a:ext cx="7620000" cy="11334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/>
          </a:p>
        </p:txBody>
      </p:sp>
      <p:sp>
        <p:nvSpPr>
          <p:cNvPr id="11" name="Line 9"/>
          <p:cNvSpPr>
            <a:spLocks noChangeShapeType="1"/>
          </p:cNvSpPr>
          <p:nvPr/>
        </p:nvSpPr>
        <p:spPr bwMode="auto">
          <a:xfrm>
            <a:off x="4240307" y="1772816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2" name="Line 11"/>
          <p:cNvSpPr>
            <a:spLocks noChangeShapeType="1"/>
          </p:cNvSpPr>
          <p:nvPr/>
        </p:nvSpPr>
        <p:spPr bwMode="auto">
          <a:xfrm>
            <a:off x="1600200" y="1772816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3" name="Text Box 12"/>
          <p:cNvSpPr txBox="1">
            <a:spLocks noChangeArrowheads="1"/>
          </p:cNvSpPr>
          <p:nvPr/>
        </p:nvSpPr>
        <p:spPr bwMode="auto">
          <a:xfrm>
            <a:off x="649288" y="1772816"/>
            <a:ext cx="950912" cy="91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/>
              <a:t>4 бита</a:t>
            </a:r>
          </a:p>
          <a:p>
            <a:pPr algn="ctr" eaLnBrk="1" hangingPunct="1"/>
            <a:r>
              <a:rPr lang="ru-RU"/>
              <a:t>Номер </a:t>
            </a:r>
          </a:p>
          <a:p>
            <a:pPr algn="ctr" eaLnBrk="1" hangingPunct="1"/>
            <a:r>
              <a:rPr lang="ru-RU"/>
              <a:t>версии</a:t>
            </a:r>
          </a:p>
        </p:txBody>
      </p:sp>
      <p:sp>
        <p:nvSpPr>
          <p:cNvPr id="14" name="Text Box 14"/>
          <p:cNvSpPr txBox="1">
            <a:spLocks noChangeArrowheads="1"/>
          </p:cNvSpPr>
          <p:nvPr/>
        </p:nvSpPr>
        <p:spPr bwMode="auto">
          <a:xfrm>
            <a:off x="1600203" y="1772816"/>
            <a:ext cx="264010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dirty="0"/>
              <a:t>8 бит</a:t>
            </a:r>
          </a:p>
          <a:p>
            <a:pPr algn="ctr" eaLnBrk="1" hangingPunct="1"/>
            <a:r>
              <a:rPr lang="ru-RU" dirty="0" smtClean="0"/>
              <a:t>Дифференцированное обслуживание</a:t>
            </a:r>
            <a:endParaRPr lang="ru-RU" dirty="0"/>
          </a:p>
        </p:txBody>
      </p:sp>
      <p:sp>
        <p:nvSpPr>
          <p:cNvPr id="15" name="Text Box 15"/>
          <p:cNvSpPr txBox="1">
            <a:spLocks noChangeArrowheads="1"/>
          </p:cNvSpPr>
          <p:nvPr/>
        </p:nvSpPr>
        <p:spPr bwMode="auto">
          <a:xfrm>
            <a:off x="4240306" y="1772816"/>
            <a:ext cx="3989294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dirty="0"/>
              <a:t>16 бит</a:t>
            </a:r>
          </a:p>
          <a:p>
            <a:pPr algn="ctr" eaLnBrk="1" hangingPunct="1"/>
            <a:r>
              <a:rPr lang="ru-RU" dirty="0" smtClean="0"/>
              <a:t>Метка потока</a:t>
            </a:r>
            <a:endParaRPr lang="ru-RU" dirty="0"/>
          </a:p>
        </p:txBody>
      </p:sp>
      <p:sp>
        <p:nvSpPr>
          <p:cNvPr id="16" name="Line 16"/>
          <p:cNvSpPr>
            <a:spLocks noChangeShapeType="1"/>
          </p:cNvSpPr>
          <p:nvPr/>
        </p:nvSpPr>
        <p:spPr bwMode="auto">
          <a:xfrm>
            <a:off x="4491318" y="2696146"/>
            <a:ext cx="0" cy="91226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7" name="Text Box 17"/>
          <p:cNvSpPr txBox="1">
            <a:spLocks noChangeArrowheads="1"/>
          </p:cNvSpPr>
          <p:nvPr/>
        </p:nvSpPr>
        <p:spPr bwMode="auto">
          <a:xfrm>
            <a:off x="914400" y="2763416"/>
            <a:ext cx="34290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dirty="0"/>
              <a:t>16 бит</a:t>
            </a:r>
          </a:p>
          <a:p>
            <a:pPr algn="ctr" eaLnBrk="1" hangingPunct="1"/>
            <a:r>
              <a:rPr lang="ru-RU" dirty="0" smtClean="0"/>
              <a:t>Длина полезной нагрузки</a:t>
            </a:r>
            <a:endParaRPr lang="ru-RU" dirty="0"/>
          </a:p>
        </p:txBody>
      </p:sp>
      <p:sp>
        <p:nvSpPr>
          <p:cNvPr id="18" name="Text Box 18"/>
          <p:cNvSpPr txBox="1">
            <a:spLocks noChangeArrowheads="1"/>
          </p:cNvSpPr>
          <p:nvPr/>
        </p:nvSpPr>
        <p:spPr bwMode="auto">
          <a:xfrm>
            <a:off x="6369422" y="2669287"/>
            <a:ext cx="1936377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dirty="0" smtClean="0"/>
              <a:t>8 бит</a:t>
            </a:r>
            <a:endParaRPr lang="ru-RU" dirty="0"/>
          </a:p>
          <a:p>
            <a:pPr algn="ctr" eaLnBrk="1" hangingPunct="1"/>
            <a:r>
              <a:rPr lang="ru-RU" sz="1400" dirty="0" smtClean="0"/>
              <a:t>Максимальное число транзитных участков</a:t>
            </a:r>
            <a:endParaRPr lang="ru-RU" sz="1400" dirty="0"/>
          </a:p>
        </p:txBody>
      </p:sp>
      <p:sp>
        <p:nvSpPr>
          <p:cNvPr id="19" name="Line 19"/>
          <p:cNvSpPr>
            <a:spLocks noChangeShapeType="1"/>
          </p:cNvSpPr>
          <p:nvPr/>
        </p:nvSpPr>
        <p:spPr bwMode="auto">
          <a:xfrm>
            <a:off x="6347012" y="2696146"/>
            <a:ext cx="0" cy="92119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20" name="Text Box 20"/>
          <p:cNvSpPr txBox="1">
            <a:spLocks noChangeArrowheads="1"/>
          </p:cNvSpPr>
          <p:nvPr/>
        </p:nvSpPr>
        <p:spPr bwMode="auto">
          <a:xfrm>
            <a:off x="4659898" y="2663050"/>
            <a:ext cx="165300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dirty="0" smtClean="0"/>
              <a:t>8 бит</a:t>
            </a:r>
            <a:endParaRPr lang="ru-RU" dirty="0"/>
          </a:p>
          <a:p>
            <a:pPr algn="ctr" eaLnBrk="1" hangingPunct="1"/>
            <a:r>
              <a:rPr lang="ru-RU" dirty="0" smtClean="0"/>
              <a:t>Следующий заголовок</a:t>
            </a:r>
            <a:endParaRPr lang="ru-RU" dirty="0"/>
          </a:p>
        </p:txBody>
      </p:sp>
      <p:sp>
        <p:nvSpPr>
          <p:cNvPr id="21" name="Rectangle 26"/>
          <p:cNvSpPr>
            <a:spLocks noChangeArrowheads="1"/>
          </p:cNvSpPr>
          <p:nvPr/>
        </p:nvSpPr>
        <p:spPr bwMode="auto">
          <a:xfrm>
            <a:off x="685800" y="5864885"/>
            <a:ext cx="76200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/>
          </a:p>
        </p:txBody>
      </p:sp>
      <p:sp>
        <p:nvSpPr>
          <p:cNvPr id="22" name="Text Box 27"/>
          <p:cNvSpPr txBox="1">
            <a:spLocks noChangeArrowheads="1"/>
          </p:cNvSpPr>
          <p:nvPr/>
        </p:nvSpPr>
        <p:spPr bwMode="auto">
          <a:xfrm>
            <a:off x="685800" y="3864190"/>
            <a:ext cx="76200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dirty="0" smtClean="0"/>
              <a:t>16 байт</a:t>
            </a:r>
            <a:endParaRPr lang="ru-RU" dirty="0"/>
          </a:p>
          <a:p>
            <a:pPr algn="ctr" eaLnBrk="1" hangingPunct="1"/>
            <a:r>
              <a:rPr lang="en-US" dirty="0" smtClean="0"/>
              <a:t>IPv6-</a:t>
            </a:r>
            <a:r>
              <a:rPr lang="ru-RU" dirty="0"/>
              <a:t>адрес отправителя</a:t>
            </a:r>
          </a:p>
        </p:txBody>
      </p:sp>
      <p:sp>
        <p:nvSpPr>
          <p:cNvPr id="23" name="Text Box 29"/>
          <p:cNvSpPr txBox="1">
            <a:spLocks noChangeArrowheads="1"/>
          </p:cNvSpPr>
          <p:nvPr/>
        </p:nvSpPr>
        <p:spPr bwMode="auto">
          <a:xfrm>
            <a:off x="533400" y="5824957"/>
            <a:ext cx="76200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dirty="0" smtClean="0"/>
              <a:t>Дополнительные заголовки</a:t>
            </a:r>
            <a:endParaRPr lang="ru-RU" dirty="0"/>
          </a:p>
          <a:p>
            <a:pPr algn="ctr" eaLnBrk="1" hangingPunct="1"/>
            <a:r>
              <a:rPr lang="ru-RU" dirty="0"/>
              <a:t>(не обязательно)</a:t>
            </a:r>
          </a:p>
        </p:txBody>
      </p:sp>
      <p:sp>
        <p:nvSpPr>
          <p:cNvPr id="24" name="Rectangle 7"/>
          <p:cNvSpPr>
            <a:spLocks noChangeArrowheads="1"/>
          </p:cNvSpPr>
          <p:nvPr/>
        </p:nvSpPr>
        <p:spPr bwMode="auto">
          <a:xfrm>
            <a:off x="685800" y="4737968"/>
            <a:ext cx="7620000" cy="11334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/>
          </a:p>
        </p:txBody>
      </p:sp>
      <p:sp>
        <p:nvSpPr>
          <p:cNvPr id="25" name="Text Box 27"/>
          <p:cNvSpPr txBox="1">
            <a:spLocks noChangeArrowheads="1"/>
          </p:cNvSpPr>
          <p:nvPr/>
        </p:nvSpPr>
        <p:spPr bwMode="auto">
          <a:xfrm>
            <a:off x="685800" y="4998149"/>
            <a:ext cx="76200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dirty="0" smtClean="0"/>
              <a:t>16 байт</a:t>
            </a:r>
            <a:endParaRPr lang="ru-RU" dirty="0"/>
          </a:p>
          <a:p>
            <a:pPr algn="ctr" eaLnBrk="1" hangingPunct="1"/>
            <a:r>
              <a:rPr lang="en-US" dirty="0" smtClean="0"/>
              <a:t>IPv6-</a:t>
            </a:r>
            <a:r>
              <a:rPr lang="ru-RU" dirty="0"/>
              <a:t>адрес </a:t>
            </a:r>
            <a:r>
              <a:rPr lang="ru-RU" dirty="0" smtClean="0"/>
              <a:t>получателя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56368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TextBox 2"/>
          <p:cNvSpPr txBox="1">
            <a:spLocks noChangeArrowheads="1"/>
          </p:cNvSpPr>
          <p:nvPr/>
        </p:nvSpPr>
        <p:spPr bwMode="auto">
          <a:xfrm>
            <a:off x="2843213" y="158750"/>
            <a:ext cx="626586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000" dirty="0" smtClean="0">
                <a:latin typeface="Verdana" panose="020B0604030504040204" pitchFamily="34" charset="0"/>
              </a:rPr>
              <a:t>Сети и системы телекоммуникаций. Протокол </a:t>
            </a:r>
            <a:r>
              <a:rPr lang="en-US" altLang="ru-RU" sz="1000" dirty="0" smtClean="0">
                <a:latin typeface="Verdana" panose="020B0604030504040204" pitchFamily="34" charset="0"/>
              </a:rPr>
              <a:t>IPv6</a:t>
            </a:r>
            <a:r>
              <a:rPr lang="ru-RU" altLang="ru-RU" sz="1000" dirty="0">
                <a:latin typeface="Verdana" panose="020B0604030504040204" pitchFamily="34" charset="0"/>
              </a:rPr>
              <a:t>	</a:t>
            </a:r>
            <a:r>
              <a:rPr lang="ru-RU" altLang="ru-RU" sz="1000" b="1" dirty="0">
                <a:latin typeface="Verdana" panose="020B0604030504040204" pitchFamily="34" charset="0"/>
              </a:rPr>
              <a:t>	</a:t>
            </a:r>
          </a:p>
        </p:txBody>
      </p:sp>
      <p:sp>
        <p:nvSpPr>
          <p:cNvPr id="4100" name="TextBox 3"/>
          <p:cNvSpPr txBox="1">
            <a:spLocks noChangeArrowheads="1"/>
          </p:cNvSpPr>
          <p:nvPr/>
        </p:nvSpPr>
        <p:spPr bwMode="auto">
          <a:xfrm>
            <a:off x="539749" y="1714500"/>
            <a:ext cx="8208963" cy="3693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ts val="1200"/>
              </a:spcBef>
            </a:pPr>
            <a:r>
              <a:rPr lang="ru-RU" altLang="ru-RU" sz="2400" dirty="0">
                <a:latin typeface="Verdana" panose="020B0604030504040204" pitchFamily="34" charset="0"/>
              </a:rPr>
              <a:t>Версия </a:t>
            </a:r>
            <a:r>
              <a:rPr lang="en-US" altLang="ru-RU" sz="2400" dirty="0" smtClean="0">
                <a:latin typeface="Verdana" panose="020B0604030504040204" pitchFamily="34" charset="0"/>
              </a:rPr>
              <a:t>—</a:t>
            </a:r>
            <a:r>
              <a:rPr lang="ru-RU" altLang="ru-RU" sz="2400" dirty="0" smtClean="0">
                <a:latin typeface="Verdana" panose="020B0604030504040204" pitchFamily="34" charset="0"/>
              </a:rPr>
              <a:t> </a:t>
            </a:r>
            <a:r>
              <a:rPr lang="ru-RU" altLang="ru-RU" sz="2400" dirty="0">
                <a:latin typeface="Verdana" panose="020B0604030504040204" pitchFamily="34" charset="0"/>
              </a:rPr>
              <a:t>номер версии протокола IP: 6</a:t>
            </a:r>
          </a:p>
          <a:p>
            <a:pPr algn="just" eaLnBrk="1" hangingPunct="1">
              <a:spcBef>
                <a:spcPts val="1200"/>
              </a:spcBef>
            </a:pPr>
            <a:r>
              <a:rPr lang="ru-RU" altLang="ru-RU" sz="2400" dirty="0">
                <a:latin typeface="Verdana" panose="020B0604030504040204" pitchFamily="34" charset="0"/>
              </a:rPr>
              <a:t>Дифференцированное обслуживание </a:t>
            </a:r>
            <a:r>
              <a:rPr lang="en-US" altLang="ru-RU" sz="2400" dirty="0" smtClean="0">
                <a:latin typeface="Verdana" panose="020B0604030504040204" pitchFamily="34" charset="0"/>
              </a:rPr>
              <a:t>—</a:t>
            </a:r>
            <a:r>
              <a:rPr lang="ru-RU" altLang="ru-RU" sz="2400" dirty="0" smtClean="0">
                <a:latin typeface="Verdana" panose="020B0604030504040204" pitchFamily="34" charset="0"/>
              </a:rPr>
              <a:t> </a:t>
            </a:r>
            <a:r>
              <a:rPr lang="ru-RU" altLang="ru-RU" sz="2400" dirty="0">
                <a:latin typeface="Verdana" panose="020B0604030504040204" pitchFamily="34" charset="0"/>
              </a:rPr>
              <a:t>параметры качества обслуживания (перешло в IPv4)</a:t>
            </a:r>
          </a:p>
          <a:p>
            <a:pPr algn="just" eaLnBrk="1" hangingPunct="1">
              <a:spcBef>
                <a:spcPts val="1200"/>
              </a:spcBef>
            </a:pPr>
            <a:r>
              <a:rPr lang="ru-RU" altLang="ru-RU" sz="2400" dirty="0">
                <a:latin typeface="Verdana" panose="020B0604030504040204" pitchFamily="34" charset="0"/>
              </a:rPr>
              <a:t>Метка потока </a:t>
            </a:r>
            <a:r>
              <a:rPr lang="en-US" altLang="ru-RU" sz="2400" dirty="0" smtClean="0">
                <a:latin typeface="Verdana" panose="020B0604030504040204" pitchFamily="34" charset="0"/>
              </a:rPr>
              <a:t>—</a:t>
            </a:r>
            <a:r>
              <a:rPr lang="ru-RU" altLang="ru-RU" sz="2400" dirty="0" smtClean="0">
                <a:latin typeface="Verdana" panose="020B0604030504040204" pitchFamily="34" charset="0"/>
              </a:rPr>
              <a:t> </a:t>
            </a:r>
            <a:r>
              <a:rPr lang="ru-RU" altLang="ru-RU" sz="2400" dirty="0">
                <a:latin typeface="Verdana" panose="020B0604030504040204" pitchFamily="34" charset="0"/>
              </a:rPr>
              <a:t>сообщение об особенных требованиях к обработке</a:t>
            </a:r>
          </a:p>
          <a:p>
            <a:pPr marL="715963" lvl="1" indent="-361950" algn="just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altLang="ru-RU" sz="2000" dirty="0">
                <a:latin typeface="Verdana" panose="020B0604030504040204" pitchFamily="34" charset="0"/>
              </a:rPr>
              <a:t>Маршрутизаторы смотрят на метку потока и обрабатывают пакеты </a:t>
            </a:r>
            <a:r>
              <a:rPr lang="ru-RU" altLang="ru-RU" sz="2000" dirty="0" smtClean="0">
                <a:latin typeface="Verdana" panose="020B0604030504040204" pitchFamily="34" charset="0"/>
              </a:rPr>
              <a:t>по-разному</a:t>
            </a:r>
            <a:endParaRPr lang="ru-RU" altLang="ru-RU" sz="2000" dirty="0">
              <a:latin typeface="Verdana" panose="020B0604030504040204" pitchFamily="34" charset="0"/>
            </a:endParaRPr>
          </a:p>
          <a:p>
            <a:pPr marL="715963" lvl="1" indent="-361950" algn="just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altLang="ru-RU" sz="2000" dirty="0">
                <a:latin typeface="Verdana" panose="020B0604030504040204" pitchFamily="34" charset="0"/>
              </a:rPr>
              <a:t>Аналог виртуальных каналов в MPLS</a:t>
            </a:r>
          </a:p>
          <a:p>
            <a:pPr marL="715963" lvl="1" indent="-361950" algn="just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altLang="ru-RU" sz="2000" dirty="0">
                <a:latin typeface="Verdana" panose="020B0604030504040204" pitchFamily="34" charset="0"/>
              </a:rPr>
              <a:t>Метки должны быть настроены на всех маршрутизаторах заранее</a:t>
            </a:r>
          </a:p>
        </p:txBody>
      </p:sp>
      <p:sp>
        <p:nvSpPr>
          <p:cNvPr id="4101" name="TextBox 3"/>
          <p:cNvSpPr txBox="1">
            <a:spLocks noChangeArrowheads="1"/>
          </p:cNvSpPr>
          <p:nvPr/>
        </p:nvSpPr>
        <p:spPr bwMode="auto">
          <a:xfrm>
            <a:off x="539750" y="937774"/>
            <a:ext cx="8208963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800" b="1" dirty="0">
                <a:latin typeface="Verdana" panose="020B0604030504040204" pitchFamily="34" charset="0"/>
              </a:rPr>
              <a:t>Формат заголовка </a:t>
            </a:r>
            <a:r>
              <a:rPr lang="en-US" altLang="ru-RU" sz="2800" b="1" dirty="0">
                <a:latin typeface="Verdana" panose="020B0604030504040204" pitchFamily="34" charset="0"/>
              </a:rPr>
              <a:t>IPv6</a:t>
            </a:r>
            <a:endParaRPr lang="ru-RU" altLang="ru-RU" sz="2800" b="1" dirty="0">
              <a:latin typeface="Verdana" panose="020B0604030504040204" pitchFamily="34" charset="0"/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72FCD-ECDD-4AD1-A933-149E1B2284F8}" type="slidenum">
              <a:rPr lang="ru-RU" altLang="ru-RU" smtClean="0"/>
              <a:pPr/>
              <a:t>10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717239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TextBox 2"/>
          <p:cNvSpPr txBox="1">
            <a:spLocks noChangeArrowheads="1"/>
          </p:cNvSpPr>
          <p:nvPr/>
        </p:nvSpPr>
        <p:spPr bwMode="auto">
          <a:xfrm>
            <a:off x="2843213" y="158750"/>
            <a:ext cx="626586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000" dirty="0" smtClean="0">
                <a:latin typeface="Verdana" panose="020B0604030504040204" pitchFamily="34" charset="0"/>
              </a:rPr>
              <a:t>Сети и системы телекоммуникаций. Протокол </a:t>
            </a:r>
            <a:r>
              <a:rPr lang="en-US" altLang="ru-RU" sz="1000" dirty="0" smtClean="0">
                <a:latin typeface="Verdana" panose="020B0604030504040204" pitchFamily="34" charset="0"/>
              </a:rPr>
              <a:t>IPv6</a:t>
            </a:r>
            <a:r>
              <a:rPr lang="ru-RU" altLang="ru-RU" sz="1000" dirty="0">
                <a:latin typeface="Verdana" panose="020B0604030504040204" pitchFamily="34" charset="0"/>
              </a:rPr>
              <a:t>	</a:t>
            </a:r>
            <a:r>
              <a:rPr lang="ru-RU" altLang="ru-RU" sz="1000" b="1" dirty="0">
                <a:latin typeface="Verdana" panose="020B0604030504040204" pitchFamily="34" charset="0"/>
              </a:rPr>
              <a:t>	</a:t>
            </a:r>
          </a:p>
        </p:txBody>
      </p:sp>
      <p:sp>
        <p:nvSpPr>
          <p:cNvPr id="4100" name="TextBox 3"/>
          <p:cNvSpPr txBox="1">
            <a:spLocks noChangeArrowheads="1"/>
          </p:cNvSpPr>
          <p:nvPr/>
        </p:nvSpPr>
        <p:spPr bwMode="auto">
          <a:xfrm>
            <a:off x="539749" y="1714500"/>
            <a:ext cx="8208963" cy="3816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ts val="1200"/>
              </a:spcBef>
            </a:pPr>
            <a:r>
              <a:rPr lang="ru-RU" altLang="ru-RU" sz="2400" dirty="0">
                <a:latin typeface="Verdana" panose="020B0604030504040204" pitchFamily="34" charset="0"/>
              </a:rPr>
              <a:t>Длина полезной нагрузки </a:t>
            </a:r>
            <a:r>
              <a:rPr lang="en-US" altLang="ru-RU" sz="2400" dirty="0" smtClean="0">
                <a:latin typeface="Verdana" panose="020B0604030504040204" pitchFamily="34" charset="0"/>
              </a:rPr>
              <a:t>—</a:t>
            </a:r>
            <a:r>
              <a:rPr lang="ru-RU" altLang="ru-RU" sz="2400" dirty="0" smtClean="0">
                <a:latin typeface="Verdana" panose="020B0604030504040204" pitchFamily="34" charset="0"/>
              </a:rPr>
              <a:t> </a:t>
            </a:r>
            <a:r>
              <a:rPr lang="ru-RU" altLang="ru-RU" sz="2400" dirty="0">
                <a:latin typeface="Verdana" panose="020B0604030504040204" pitchFamily="34" charset="0"/>
              </a:rPr>
              <a:t>размер данных в IPv6 пакете (в IPv4 был размер всего пакета)</a:t>
            </a:r>
          </a:p>
          <a:p>
            <a:pPr algn="just" eaLnBrk="1" hangingPunct="1">
              <a:spcBef>
                <a:spcPts val="1200"/>
              </a:spcBef>
            </a:pPr>
            <a:r>
              <a:rPr lang="ru-RU" altLang="ru-RU" sz="2400" dirty="0">
                <a:latin typeface="Verdana" panose="020B0604030504040204" pitchFamily="34" charset="0"/>
              </a:rPr>
              <a:t>Следующий заголовок </a:t>
            </a:r>
            <a:r>
              <a:rPr lang="en-US" altLang="ru-RU" sz="2400" dirty="0" smtClean="0">
                <a:latin typeface="Verdana" panose="020B0604030504040204" pitchFamily="34" charset="0"/>
              </a:rPr>
              <a:t>—</a:t>
            </a:r>
            <a:r>
              <a:rPr lang="ru-RU" altLang="ru-RU" sz="2400" dirty="0" smtClean="0">
                <a:latin typeface="Verdana" panose="020B0604030504040204" pitchFamily="34" charset="0"/>
              </a:rPr>
              <a:t> </a:t>
            </a:r>
            <a:r>
              <a:rPr lang="ru-RU" altLang="ru-RU" sz="2400" dirty="0">
                <a:latin typeface="Verdana" panose="020B0604030504040204" pitchFamily="34" charset="0"/>
              </a:rPr>
              <a:t>использование дополнительных заголовков</a:t>
            </a:r>
          </a:p>
          <a:p>
            <a:pPr marL="715963" lvl="1" indent="-361950" algn="just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altLang="ru-RU" sz="2000" dirty="0">
                <a:latin typeface="Verdana" panose="020B0604030504040204" pitchFamily="34" charset="0"/>
              </a:rPr>
              <a:t>Тип следующего необязательного заголовка</a:t>
            </a:r>
          </a:p>
          <a:p>
            <a:pPr marL="715963" lvl="1" indent="-361950" algn="just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altLang="ru-RU" sz="2000" dirty="0">
                <a:latin typeface="Verdana" panose="020B0604030504040204" pitchFamily="34" charset="0"/>
              </a:rPr>
              <a:t>Последний тип заголовка </a:t>
            </a:r>
            <a:r>
              <a:rPr lang="en-US" altLang="ru-RU" sz="2000" dirty="0" smtClean="0">
                <a:latin typeface="Verdana" panose="020B0604030504040204" pitchFamily="34" charset="0"/>
              </a:rPr>
              <a:t>—</a:t>
            </a:r>
            <a:r>
              <a:rPr lang="ru-RU" altLang="ru-RU" sz="2000" dirty="0" smtClean="0">
                <a:latin typeface="Verdana" panose="020B0604030504040204" pitchFamily="34" charset="0"/>
              </a:rPr>
              <a:t> </a:t>
            </a:r>
            <a:r>
              <a:rPr lang="ru-RU" altLang="ru-RU" sz="2000" dirty="0">
                <a:latin typeface="Verdana" panose="020B0604030504040204" pitchFamily="34" charset="0"/>
              </a:rPr>
              <a:t>протокол транспортного уровня (TCP или UDP)</a:t>
            </a:r>
          </a:p>
          <a:p>
            <a:pPr algn="just" eaLnBrk="1" hangingPunct="1">
              <a:spcBef>
                <a:spcPts val="1200"/>
              </a:spcBef>
            </a:pPr>
            <a:r>
              <a:rPr lang="ru-RU" altLang="ru-RU" sz="2400" dirty="0">
                <a:latin typeface="Verdana" panose="020B0604030504040204" pitchFamily="34" charset="0"/>
              </a:rPr>
              <a:t>Максимальное число транзитных участков </a:t>
            </a:r>
            <a:r>
              <a:rPr lang="en-US" altLang="ru-RU" sz="2400" dirty="0" smtClean="0">
                <a:latin typeface="Verdana" panose="020B0604030504040204" pitchFamily="34" charset="0"/>
              </a:rPr>
              <a:t>—</a:t>
            </a:r>
            <a:r>
              <a:rPr lang="ru-RU" altLang="ru-RU" sz="2400" dirty="0" smtClean="0">
                <a:latin typeface="Verdana" panose="020B0604030504040204" pitchFamily="34" charset="0"/>
              </a:rPr>
              <a:t> </a:t>
            </a:r>
            <a:r>
              <a:rPr lang="ru-RU" altLang="ru-RU" sz="2400" dirty="0">
                <a:latin typeface="Verdana" panose="020B0604030504040204" pitchFamily="34" charset="0"/>
              </a:rPr>
              <a:t>максимальное число маршрутизаторов, после которого пакет отбрасывается (аналог TTL в IPv4)</a:t>
            </a:r>
          </a:p>
        </p:txBody>
      </p:sp>
      <p:sp>
        <p:nvSpPr>
          <p:cNvPr id="4101" name="TextBox 3"/>
          <p:cNvSpPr txBox="1">
            <a:spLocks noChangeArrowheads="1"/>
          </p:cNvSpPr>
          <p:nvPr/>
        </p:nvSpPr>
        <p:spPr bwMode="auto">
          <a:xfrm>
            <a:off x="539750" y="937774"/>
            <a:ext cx="8208963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800" b="1" dirty="0">
                <a:latin typeface="Verdana" panose="020B0604030504040204" pitchFamily="34" charset="0"/>
              </a:rPr>
              <a:t>Формат заголовка </a:t>
            </a:r>
            <a:r>
              <a:rPr lang="en-US" altLang="ru-RU" sz="2800" b="1" dirty="0">
                <a:latin typeface="Verdana" panose="020B0604030504040204" pitchFamily="34" charset="0"/>
              </a:rPr>
              <a:t>IPv6</a:t>
            </a:r>
            <a:endParaRPr lang="ru-RU" altLang="ru-RU" sz="2800" b="1" dirty="0">
              <a:latin typeface="Verdana" panose="020B0604030504040204" pitchFamily="34" charset="0"/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72FCD-ECDD-4AD1-A933-149E1B2284F8}" type="slidenum">
              <a:rPr lang="ru-RU" altLang="ru-RU" smtClean="0"/>
              <a:pPr/>
              <a:t>11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01969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TextBox 2"/>
          <p:cNvSpPr txBox="1">
            <a:spLocks noChangeArrowheads="1"/>
          </p:cNvSpPr>
          <p:nvPr/>
        </p:nvSpPr>
        <p:spPr bwMode="auto">
          <a:xfrm>
            <a:off x="2843213" y="158750"/>
            <a:ext cx="626586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000" dirty="0" smtClean="0">
                <a:latin typeface="Verdana" panose="020B0604030504040204" pitchFamily="34" charset="0"/>
              </a:rPr>
              <a:t>Сети и системы телекоммуникаций. Протокол </a:t>
            </a:r>
            <a:r>
              <a:rPr lang="en-US" altLang="ru-RU" sz="1000" dirty="0" smtClean="0">
                <a:latin typeface="Verdana" panose="020B0604030504040204" pitchFamily="34" charset="0"/>
              </a:rPr>
              <a:t>IPv6</a:t>
            </a:r>
            <a:r>
              <a:rPr lang="ru-RU" altLang="ru-RU" sz="1000" dirty="0">
                <a:latin typeface="Verdana" panose="020B0604030504040204" pitchFamily="34" charset="0"/>
              </a:rPr>
              <a:t>	</a:t>
            </a:r>
            <a:r>
              <a:rPr lang="ru-RU" altLang="ru-RU" sz="1000" b="1" dirty="0">
                <a:latin typeface="Verdana" panose="020B0604030504040204" pitchFamily="34" charset="0"/>
              </a:rPr>
              <a:t>	</a:t>
            </a:r>
          </a:p>
        </p:txBody>
      </p:sp>
      <p:sp>
        <p:nvSpPr>
          <p:cNvPr id="4101" name="TextBox 3"/>
          <p:cNvSpPr txBox="1">
            <a:spLocks noChangeArrowheads="1"/>
          </p:cNvSpPr>
          <p:nvPr/>
        </p:nvSpPr>
        <p:spPr bwMode="auto">
          <a:xfrm>
            <a:off x="539750" y="937774"/>
            <a:ext cx="8208963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800" b="1" dirty="0">
                <a:latin typeface="Verdana" panose="020B0604030504040204" pitchFamily="34" charset="0"/>
              </a:rPr>
              <a:t>Что исчезло по сравнению с IPv4?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72FCD-ECDD-4AD1-A933-149E1B2284F8}" type="slidenum">
              <a:rPr lang="ru-RU" altLang="ru-RU" smtClean="0"/>
              <a:pPr/>
              <a:t>12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982478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TextBox 2"/>
          <p:cNvSpPr txBox="1">
            <a:spLocks noChangeArrowheads="1"/>
          </p:cNvSpPr>
          <p:nvPr/>
        </p:nvSpPr>
        <p:spPr bwMode="auto">
          <a:xfrm>
            <a:off x="2843213" y="158750"/>
            <a:ext cx="626586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000" dirty="0" smtClean="0">
                <a:latin typeface="Verdana" panose="020B0604030504040204" pitchFamily="34" charset="0"/>
              </a:rPr>
              <a:t>Сети и системы телекоммуникаций. Протокол </a:t>
            </a:r>
            <a:r>
              <a:rPr lang="en-US" altLang="ru-RU" sz="1000" dirty="0" smtClean="0">
                <a:latin typeface="Verdana" panose="020B0604030504040204" pitchFamily="34" charset="0"/>
              </a:rPr>
              <a:t>IPv6</a:t>
            </a:r>
            <a:r>
              <a:rPr lang="ru-RU" altLang="ru-RU" sz="1000" dirty="0">
                <a:latin typeface="Verdana" panose="020B0604030504040204" pitchFamily="34" charset="0"/>
              </a:rPr>
              <a:t>	</a:t>
            </a:r>
            <a:r>
              <a:rPr lang="ru-RU" altLang="ru-RU" sz="1000" b="1" dirty="0">
                <a:latin typeface="Verdana" panose="020B0604030504040204" pitchFamily="34" charset="0"/>
              </a:rPr>
              <a:t>	</a:t>
            </a:r>
          </a:p>
        </p:txBody>
      </p:sp>
      <p:sp>
        <p:nvSpPr>
          <p:cNvPr id="4100" name="TextBox 3"/>
          <p:cNvSpPr txBox="1">
            <a:spLocks noChangeArrowheads="1"/>
          </p:cNvSpPr>
          <p:nvPr/>
        </p:nvSpPr>
        <p:spPr bwMode="auto">
          <a:xfrm>
            <a:off x="539749" y="1714500"/>
            <a:ext cx="8208963" cy="3416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ts val="1200"/>
              </a:spcBef>
            </a:pPr>
            <a:r>
              <a:rPr lang="ru-RU" altLang="ru-RU" sz="2400" dirty="0">
                <a:latin typeface="Verdana" panose="020B0604030504040204" pitchFamily="34" charset="0"/>
              </a:rPr>
              <a:t>В IPv6 отказались от контрольной суммы в заголовке</a:t>
            </a:r>
          </a:p>
          <a:p>
            <a:pPr algn="just" eaLnBrk="1" hangingPunct="1">
              <a:spcBef>
                <a:spcPts val="1200"/>
              </a:spcBef>
            </a:pPr>
            <a:r>
              <a:rPr lang="ru-RU" altLang="ru-RU" sz="2400" dirty="0">
                <a:latin typeface="Verdana" panose="020B0604030504040204" pitchFamily="34" charset="0"/>
              </a:rPr>
              <a:t>Аргументация:</a:t>
            </a:r>
          </a:p>
          <a:p>
            <a:pPr marL="715963" lvl="1" indent="-361950" algn="just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altLang="ru-RU" sz="2000" dirty="0">
                <a:latin typeface="Verdana" panose="020B0604030504040204" pitchFamily="34" charset="0"/>
              </a:rPr>
              <a:t>Контрольную сумму необходимо пересчитывать на каждом маршрутизаторе </a:t>
            </a:r>
            <a:r>
              <a:rPr lang="en-US" altLang="ru-RU" sz="2000" dirty="0" smtClean="0">
                <a:latin typeface="Verdana" panose="020B0604030504040204" pitchFamily="34" charset="0"/>
              </a:rPr>
              <a:t>—</a:t>
            </a:r>
            <a:r>
              <a:rPr lang="ru-RU" altLang="ru-RU" sz="2000" dirty="0" smtClean="0">
                <a:latin typeface="Verdana" panose="020B0604030504040204" pitchFamily="34" charset="0"/>
              </a:rPr>
              <a:t> </a:t>
            </a:r>
            <a:r>
              <a:rPr lang="ru-RU" altLang="ru-RU" sz="2000" dirty="0">
                <a:latin typeface="Verdana" panose="020B0604030504040204" pitchFamily="34" charset="0"/>
              </a:rPr>
              <a:t>высокие накладные расходы</a:t>
            </a:r>
          </a:p>
          <a:p>
            <a:pPr marL="715963" lvl="1" indent="-361950" algn="just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altLang="ru-RU" sz="2000" dirty="0">
                <a:latin typeface="Verdana" panose="020B0604030504040204" pitchFamily="34" charset="0"/>
              </a:rPr>
              <a:t>Каналы связи надежные </a:t>
            </a:r>
            <a:r>
              <a:rPr lang="en-US" altLang="ru-RU" sz="2000" dirty="0" smtClean="0">
                <a:latin typeface="Verdana" panose="020B0604030504040204" pitchFamily="34" charset="0"/>
              </a:rPr>
              <a:t>—</a:t>
            </a:r>
            <a:r>
              <a:rPr lang="ru-RU" altLang="ru-RU" sz="2000" dirty="0" smtClean="0">
                <a:latin typeface="Verdana" panose="020B0604030504040204" pitchFamily="34" charset="0"/>
              </a:rPr>
              <a:t> </a:t>
            </a:r>
            <a:r>
              <a:rPr lang="ru-RU" altLang="ru-RU" sz="2000" dirty="0">
                <a:latin typeface="Verdana" panose="020B0604030504040204" pitchFamily="34" charset="0"/>
              </a:rPr>
              <a:t>ошибок мало</a:t>
            </a:r>
          </a:p>
          <a:p>
            <a:pPr marL="715963" lvl="1" indent="-361950" algn="just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altLang="ru-RU" sz="2000" dirty="0">
                <a:latin typeface="Verdana" panose="020B0604030504040204" pitchFamily="34" charset="0"/>
              </a:rPr>
              <a:t>Контрольные суммы рассчитываются на канальном и транспортном уровне: достаточно для обнаружения ошибок</a:t>
            </a:r>
          </a:p>
        </p:txBody>
      </p:sp>
      <p:sp>
        <p:nvSpPr>
          <p:cNvPr id="4101" name="TextBox 3"/>
          <p:cNvSpPr txBox="1">
            <a:spLocks noChangeArrowheads="1"/>
          </p:cNvSpPr>
          <p:nvPr/>
        </p:nvSpPr>
        <p:spPr bwMode="auto">
          <a:xfrm>
            <a:off x="539750" y="937774"/>
            <a:ext cx="8208963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800" b="1" dirty="0">
                <a:latin typeface="Verdana" panose="020B0604030504040204" pitchFamily="34" charset="0"/>
              </a:rPr>
              <a:t>Контрольная сумма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72FCD-ECDD-4AD1-A933-149E1B2284F8}" type="slidenum">
              <a:rPr lang="ru-RU" altLang="ru-RU" smtClean="0"/>
              <a:pPr/>
              <a:t>13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4625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TextBox 2"/>
          <p:cNvSpPr txBox="1">
            <a:spLocks noChangeArrowheads="1"/>
          </p:cNvSpPr>
          <p:nvPr/>
        </p:nvSpPr>
        <p:spPr bwMode="auto">
          <a:xfrm>
            <a:off x="2843213" y="158750"/>
            <a:ext cx="626586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000" dirty="0" smtClean="0">
                <a:latin typeface="Verdana" panose="020B0604030504040204" pitchFamily="34" charset="0"/>
              </a:rPr>
              <a:t>Сети и системы телекоммуникаций. Протокол </a:t>
            </a:r>
            <a:r>
              <a:rPr lang="en-US" altLang="ru-RU" sz="1000" dirty="0" smtClean="0">
                <a:latin typeface="Verdana" panose="020B0604030504040204" pitchFamily="34" charset="0"/>
              </a:rPr>
              <a:t>IPv6</a:t>
            </a:r>
            <a:r>
              <a:rPr lang="ru-RU" altLang="ru-RU" sz="1000" dirty="0">
                <a:latin typeface="Verdana" panose="020B0604030504040204" pitchFamily="34" charset="0"/>
              </a:rPr>
              <a:t>	</a:t>
            </a:r>
            <a:r>
              <a:rPr lang="ru-RU" altLang="ru-RU" sz="1000" b="1" dirty="0">
                <a:latin typeface="Verdana" panose="020B0604030504040204" pitchFamily="34" charset="0"/>
              </a:rPr>
              <a:t>	</a:t>
            </a:r>
          </a:p>
        </p:txBody>
      </p:sp>
      <p:sp>
        <p:nvSpPr>
          <p:cNvPr id="4100" name="TextBox 3"/>
          <p:cNvSpPr txBox="1">
            <a:spLocks noChangeArrowheads="1"/>
          </p:cNvSpPr>
          <p:nvPr/>
        </p:nvSpPr>
        <p:spPr bwMode="auto">
          <a:xfrm>
            <a:off x="539749" y="1714500"/>
            <a:ext cx="8208963" cy="2462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ts val="1200"/>
              </a:spcBef>
            </a:pPr>
            <a:r>
              <a:rPr lang="ru-RU" altLang="ru-RU" sz="2400" dirty="0">
                <a:latin typeface="Verdana" panose="020B0604030504040204" pitchFamily="34" charset="0"/>
              </a:rPr>
              <a:t>Маршрутизаторы IPv6 не выполняют фрагментацию</a:t>
            </a:r>
          </a:p>
          <a:p>
            <a:pPr marL="715963" lvl="1" indent="-361950" algn="just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altLang="ru-RU" sz="2000" dirty="0">
                <a:latin typeface="Verdana" panose="020B0604030504040204" pitchFamily="34" charset="0"/>
              </a:rPr>
              <a:t>Высокие накладные расходы на маршрутизаторе</a:t>
            </a:r>
          </a:p>
          <a:p>
            <a:pPr algn="just" eaLnBrk="1" hangingPunct="1">
              <a:spcBef>
                <a:spcPts val="1200"/>
              </a:spcBef>
            </a:pPr>
            <a:r>
              <a:rPr lang="ru-RU" altLang="ru-RU" sz="2400" dirty="0">
                <a:latin typeface="Verdana" panose="020B0604030504040204" pitchFamily="34" charset="0"/>
              </a:rPr>
              <a:t>Фрагментацию выполняют хосты, которые отправляют данные</a:t>
            </a:r>
          </a:p>
          <a:p>
            <a:pPr algn="just" eaLnBrk="1" hangingPunct="1">
              <a:spcBef>
                <a:spcPts val="1200"/>
              </a:spcBef>
            </a:pPr>
            <a:r>
              <a:rPr lang="ru-RU" altLang="ru-RU" sz="2400" dirty="0">
                <a:latin typeface="Verdana" panose="020B0604030504040204" pitchFamily="34" charset="0"/>
              </a:rPr>
              <a:t>Как хост может узнать MTU в сети?</a:t>
            </a:r>
          </a:p>
        </p:txBody>
      </p:sp>
      <p:sp>
        <p:nvSpPr>
          <p:cNvPr id="4101" name="TextBox 3"/>
          <p:cNvSpPr txBox="1">
            <a:spLocks noChangeArrowheads="1"/>
          </p:cNvSpPr>
          <p:nvPr/>
        </p:nvSpPr>
        <p:spPr bwMode="auto">
          <a:xfrm>
            <a:off x="539750" y="937774"/>
            <a:ext cx="8208963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800" b="1" dirty="0">
                <a:latin typeface="Verdana" panose="020B0604030504040204" pitchFamily="34" charset="0"/>
              </a:rPr>
              <a:t>Фрагментация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72FCD-ECDD-4AD1-A933-149E1B2284F8}" type="slidenum">
              <a:rPr lang="ru-RU" altLang="ru-RU" smtClean="0"/>
              <a:pPr/>
              <a:t>14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484577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TextBox 2"/>
          <p:cNvSpPr txBox="1">
            <a:spLocks noChangeArrowheads="1"/>
          </p:cNvSpPr>
          <p:nvPr/>
        </p:nvSpPr>
        <p:spPr bwMode="auto">
          <a:xfrm>
            <a:off x="2843213" y="158750"/>
            <a:ext cx="626586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000" dirty="0" smtClean="0">
                <a:latin typeface="Verdana" panose="020B0604030504040204" pitchFamily="34" charset="0"/>
              </a:rPr>
              <a:t>Сети и системы телекоммуникаций. Протокол </a:t>
            </a:r>
            <a:r>
              <a:rPr lang="en-US" altLang="ru-RU" sz="1000" dirty="0" smtClean="0">
                <a:latin typeface="Verdana" panose="020B0604030504040204" pitchFamily="34" charset="0"/>
              </a:rPr>
              <a:t>IPv6</a:t>
            </a:r>
            <a:r>
              <a:rPr lang="ru-RU" altLang="ru-RU" sz="1000" dirty="0">
                <a:latin typeface="Verdana" panose="020B0604030504040204" pitchFamily="34" charset="0"/>
              </a:rPr>
              <a:t>	</a:t>
            </a:r>
            <a:r>
              <a:rPr lang="ru-RU" altLang="ru-RU" sz="1000" b="1" dirty="0">
                <a:latin typeface="Verdana" panose="020B0604030504040204" pitchFamily="34" charset="0"/>
              </a:rPr>
              <a:t>	</a:t>
            </a:r>
          </a:p>
        </p:txBody>
      </p:sp>
      <p:sp>
        <p:nvSpPr>
          <p:cNvPr id="4100" name="TextBox 3"/>
          <p:cNvSpPr txBox="1">
            <a:spLocks noChangeArrowheads="1"/>
          </p:cNvSpPr>
          <p:nvPr/>
        </p:nvSpPr>
        <p:spPr bwMode="auto">
          <a:xfrm>
            <a:off x="539749" y="1714500"/>
            <a:ext cx="8208963" cy="4062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ts val="1200"/>
              </a:spcBef>
            </a:pPr>
            <a:r>
              <a:rPr lang="ru-RU" altLang="ru-RU" sz="2400" dirty="0">
                <a:latin typeface="Verdana" panose="020B0604030504040204" pitchFamily="34" charset="0"/>
              </a:rPr>
              <a:t>Технология, позволяющая хосту определить </a:t>
            </a:r>
            <a:r>
              <a:rPr lang="en-US" altLang="ru-RU" sz="2400" dirty="0">
                <a:latin typeface="Verdana" panose="020B0604030504040204" pitchFamily="34" charset="0"/>
              </a:rPr>
              <a:t>MTU</a:t>
            </a:r>
          </a:p>
          <a:p>
            <a:pPr marL="715963" lvl="1" indent="-361950" algn="just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ru-RU" sz="2000" dirty="0">
                <a:latin typeface="Verdana" panose="020B0604030504040204" pitchFamily="34" charset="0"/>
              </a:rPr>
              <a:t>RFC 1191 </a:t>
            </a:r>
            <a:r>
              <a:rPr lang="en-US" altLang="ru-RU" sz="2000" dirty="0" smtClean="0">
                <a:latin typeface="Verdana" panose="020B0604030504040204" pitchFamily="34" charset="0"/>
              </a:rPr>
              <a:t>— </a:t>
            </a:r>
            <a:r>
              <a:rPr lang="en-US" altLang="ru-RU" sz="2000" dirty="0">
                <a:latin typeface="Verdana" panose="020B0604030504040204" pitchFamily="34" charset="0"/>
              </a:rPr>
              <a:t>Path MTU Discovery (1990)</a:t>
            </a:r>
          </a:p>
          <a:p>
            <a:pPr marL="715963" lvl="1" indent="-361950" algn="just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ru-RU" sz="2000" dirty="0">
                <a:latin typeface="Verdana" panose="020B0604030504040204" pitchFamily="34" charset="0"/>
              </a:rPr>
              <a:t>RFC 1981 </a:t>
            </a:r>
            <a:r>
              <a:rPr lang="en-US" altLang="ru-RU" sz="2000" dirty="0" smtClean="0">
                <a:latin typeface="Verdana" panose="020B0604030504040204" pitchFamily="34" charset="0"/>
              </a:rPr>
              <a:t>— </a:t>
            </a:r>
            <a:r>
              <a:rPr lang="en-US" altLang="ru-RU" sz="2000" dirty="0">
                <a:latin typeface="Verdana" panose="020B0604030504040204" pitchFamily="34" charset="0"/>
              </a:rPr>
              <a:t>Path MTU Discovery for IPv6 (1996)</a:t>
            </a:r>
          </a:p>
          <a:p>
            <a:pPr algn="just" eaLnBrk="1" hangingPunct="1">
              <a:spcBef>
                <a:spcPts val="1200"/>
              </a:spcBef>
            </a:pPr>
            <a:r>
              <a:rPr lang="ru-RU" altLang="ru-RU" sz="2400" dirty="0">
                <a:latin typeface="Verdana" panose="020B0604030504040204" pitchFamily="34" charset="0"/>
              </a:rPr>
              <a:t>Маршрутизатор не фрагментирует </a:t>
            </a:r>
            <a:r>
              <a:rPr lang="en-US" altLang="ru-RU" sz="2400" dirty="0">
                <a:latin typeface="Verdana" panose="020B0604030504040204" pitchFamily="34" charset="0"/>
              </a:rPr>
              <a:t>IP </a:t>
            </a:r>
            <a:r>
              <a:rPr lang="ru-RU" altLang="ru-RU" sz="2400" dirty="0">
                <a:latin typeface="Verdana" panose="020B0604030504040204" pitchFamily="34" charset="0"/>
              </a:rPr>
              <a:t>пакет, а отбрасывает его и </a:t>
            </a:r>
            <a:r>
              <a:rPr lang="ru-RU" altLang="ru-RU" sz="2400" dirty="0" smtClean="0">
                <a:latin typeface="Verdana" panose="020B0604030504040204" pitchFamily="34" charset="0"/>
              </a:rPr>
              <a:t>отправляет </a:t>
            </a:r>
            <a:r>
              <a:rPr lang="ru-RU" altLang="ru-RU" sz="2400" dirty="0">
                <a:latin typeface="Verdana" panose="020B0604030504040204" pitchFamily="34" charset="0"/>
              </a:rPr>
              <a:t>хосту </a:t>
            </a:r>
            <a:r>
              <a:rPr lang="en-US" altLang="ru-RU" sz="2400" dirty="0">
                <a:latin typeface="Verdana" panose="020B0604030504040204" pitchFamily="34" charset="0"/>
              </a:rPr>
              <a:t>ICMP </a:t>
            </a:r>
            <a:r>
              <a:rPr lang="ru-RU" altLang="ru-RU" sz="2400" dirty="0">
                <a:latin typeface="Verdana" panose="020B0604030504040204" pitchFamily="34" charset="0"/>
              </a:rPr>
              <a:t>сообщение:</a:t>
            </a:r>
          </a:p>
          <a:p>
            <a:pPr marL="715963" lvl="1" indent="-361950" algn="just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ru-RU" sz="2000" dirty="0">
                <a:latin typeface="Verdana" panose="020B0604030504040204" pitchFamily="34" charset="0"/>
              </a:rPr>
              <a:t>ICMP </a:t>
            </a:r>
            <a:r>
              <a:rPr lang="en-US" altLang="ru-RU" sz="2000" dirty="0" smtClean="0">
                <a:latin typeface="Verdana" panose="020B0604030504040204" pitchFamily="34" charset="0"/>
              </a:rPr>
              <a:t>— </a:t>
            </a:r>
            <a:r>
              <a:rPr lang="ru-RU" altLang="ru-RU" sz="2000" dirty="0">
                <a:latin typeface="Verdana" panose="020B0604030504040204" pitchFamily="34" charset="0"/>
              </a:rPr>
              <a:t>Тип 3 (</a:t>
            </a:r>
            <a:r>
              <a:rPr lang="en-US" altLang="ru-RU" sz="2000" dirty="0">
                <a:latin typeface="Verdana" panose="020B0604030504040204" pitchFamily="34" charset="0"/>
              </a:rPr>
              <a:t>Destination Unreachable), </a:t>
            </a:r>
            <a:r>
              <a:rPr lang="ru-RU" altLang="ru-RU" sz="2000" dirty="0">
                <a:latin typeface="Verdana" panose="020B0604030504040204" pitchFamily="34" charset="0"/>
              </a:rPr>
              <a:t>код 4 (</a:t>
            </a:r>
            <a:r>
              <a:rPr lang="en-US" altLang="ru-RU" sz="2000" dirty="0">
                <a:latin typeface="Verdana" panose="020B0604030504040204" pitchFamily="34" charset="0"/>
              </a:rPr>
              <a:t>fragmentation needed and DF set) + </a:t>
            </a:r>
            <a:r>
              <a:rPr lang="ru-RU" altLang="ru-RU" sz="2000" dirty="0">
                <a:latin typeface="Verdana" panose="020B0604030504040204" pitchFamily="34" charset="0"/>
              </a:rPr>
              <a:t>размер </a:t>
            </a:r>
            <a:r>
              <a:rPr lang="en-US" altLang="ru-RU" sz="2000" dirty="0">
                <a:latin typeface="Verdana" panose="020B0604030504040204" pitchFamily="34" charset="0"/>
              </a:rPr>
              <a:t>MTU</a:t>
            </a:r>
          </a:p>
          <a:p>
            <a:pPr marL="715963" lvl="1" indent="-361950" algn="just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ru-RU" sz="2000" dirty="0">
                <a:latin typeface="Verdana" panose="020B0604030504040204" pitchFamily="34" charset="0"/>
              </a:rPr>
              <a:t>ICMPv6 </a:t>
            </a:r>
            <a:r>
              <a:rPr lang="en-US" altLang="ru-RU" sz="2000" dirty="0" smtClean="0">
                <a:latin typeface="Verdana" panose="020B0604030504040204" pitchFamily="34" charset="0"/>
              </a:rPr>
              <a:t>— </a:t>
            </a:r>
            <a:r>
              <a:rPr lang="ru-RU" altLang="ru-RU" sz="2000" dirty="0">
                <a:latin typeface="Verdana" panose="020B0604030504040204" pitchFamily="34" charset="0"/>
              </a:rPr>
              <a:t>Тип 2 код 0 (</a:t>
            </a:r>
            <a:r>
              <a:rPr lang="en-US" altLang="ru-RU" sz="2000" dirty="0">
                <a:latin typeface="Verdana" panose="020B0604030504040204" pitchFamily="34" charset="0"/>
              </a:rPr>
              <a:t>Packet Too Big) + MTU</a:t>
            </a:r>
          </a:p>
          <a:p>
            <a:pPr algn="just" eaLnBrk="1" hangingPunct="1">
              <a:spcBef>
                <a:spcPts val="1200"/>
              </a:spcBef>
            </a:pPr>
            <a:r>
              <a:rPr lang="ru-RU" altLang="ru-RU" sz="2400" dirty="0">
                <a:latin typeface="Verdana" panose="020B0604030504040204" pitchFamily="34" charset="0"/>
              </a:rPr>
              <a:t>Хост отправляет новый пакет с меньшим размером </a:t>
            </a:r>
            <a:r>
              <a:rPr lang="en-US" altLang="ru-RU" sz="2400" dirty="0">
                <a:latin typeface="Verdana" panose="020B0604030504040204" pitchFamily="34" charset="0"/>
              </a:rPr>
              <a:t>MTU</a:t>
            </a:r>
          </a:p>
        </p:txBody>
      </p:sp>
      <p:sp>
        <p:nvSpPr>
          <p:cNvPr id="4101" name="TextBox 3"/>
          <p:cNvSpPr txBox="1">
            <a:spLocks noChangeArrowheads="1"/>
          </p:cNvSpPr>
          <p:nvPr/>
        </p:nvSpPr>
        <p:spPr bwMode="auto">
          <a:xfrm>
            <a:off x="539750" y="937774"/>
            <a:ext cx="8208963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ru-RU" sz="2800" b="1" dirty="0">
                <a:latin typeface="Verdana" panose="020B0604030504040204" pitchFamily="34" charset="0"/>
              </a:rPr>
              <a:t>Path MTU Discovery</a:t>
            </a:r>
            <a:endParaRPr lang="ru-RU" altLang="ru-RU" sz="2800" b="1" dirty="0">
              <a:latin typeface="Verdana" panose="020B0604030504040204" pitchFamily="34" charset="0"/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72FCD-ECDD-4AD1-A933-149E1B2284F8}" type="slidenum">
              <a:rPr lang="ru-RU" altLang="ru-RU" smtClean="0"/>
              <a:pPr/>
              <a:t>15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709514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TextBox 2"/>
          <p:cNvSpPr txBox="1">
            <a:spLocks noChangeArrowheads="1"/>
          </p:cNvSpPr>
          <p:nvPr/>
        </p:nvSpPr>
        <p:spPr bwMode="auto">
          <a:xfrm>
            <a:off x="2843213" y="158750"/>
            <a:ext cx="626586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000" dirty="0" smtClean="0">
                <a:latin typeface="Verdana" panose="020B0604030504040204" pitchFamily="34" charset="0"/>
              </a:rPr>
              <a:t>Сети и системы телекоммуникаций. Протокол </a:t>
            </a:r>
            <a:r>
              <a:rPr lang="en-US" altLang="ru-RU" sz="1000" dirty="0" smtClean="0">
                <a:latin typeface="Verdana" panose="020B0604030504040204" pitchFamily="34" charset="0"/>
              </a:rPr>
              <a:t>IPv6</a:t>
            </a:r>
            <a:r>
              <a:rPr lang="ru-RU" altLang="ru-RU" sz="1000" dirty="0">
                <a:latin typeface="Verdana" panose="020B0604030504040204" pitchFamily="34" charset="0"/>
              </a:rPr>
              <a:t>	</a:t>
            </a:r>
            <a:r>
              <a:rPr lang="ru-RU" altLang="ru-RU" sz="1000" b="1" dirty="0">
                <a:latin typeface="Verdana" panose="020B0604030504040204" pitchFamily="34" charset="0"/>
              </a:rPr>
              <a:t>	</a:t>
            </a:r>
          </a:p>
        </p:txBody>
      </p:sp>
      <p:sp>
        <p:nvSpPr>
          <p:cNvPr id="4100" name="TextBox 3"/>
          <p:cNvSpPr txBox="1">
            <a:spLocks noChangeArrowheads="1"/>
          </p:cNvSpPr>
          <p:nvPr/>
        </p:nvSpPr>
        <p:spPr bwMode="auto">
          <a:xfrm>
            <a:off x="539749" y="1714500"/>
            <a:ext cx="8208963" cy="2985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ts val="1200"/>
              </a:spcBef>
            </a:pPr>
            <a:r>
              <a:rPr lang="ru-RU" altLang="ru-RU" sz="2400" dirty="0">
                <a:latin typeface="Verdana" panose="020B0604030504040204" pitchFamily="34" charset="0"/>
              </a:rPr>
              <a:t>Параметры маршрутизации</a:t>
            </a:r>
          </a:p>
          <a:p>
            <a:pPr algn="just" eaLnBrk="1" hangingPunct="1">
              <a:spcBef>
                <a:spcPts val="1200"/>
              </a:spcBef>
            </a:pPr>
            <a:r>
              <a:rPr lang="ru-RU" altLang="ru-RU" sz="2400" dirty="0">
                <a:latin typeface="Verdana" panose="020B0604030504040204" pitchFamily="34" charset="0"/>
              </a:rPr>
              <a:t>Параметры получателя</a:t>
            </a:r>
          </a:p>
          <a:p>
            <a:pPr algn="just" eaLnBrk="1" hangingPunct="1">
              <a:spcBef>
                <a:spcPts val="1200"/>
              </a:spcBef>
            </a:pPr>
            <a:r>
              <a:rPr lang="ru-RU" altLang="ru-RU" sz="2400" dirty="0">
                <a:latin typeface="Verdana" panose="020B0604030504040204" pitchFamily="34" charset="0"/>
              </a:rPr>
              <a:t>Маршрутизация</a:t>
            </a:r>
          </a:p>
          <a:p>
            <a:pPr algn="just" eaLnBrk="1" hangingPunct="1">
              <a:spcBef>
                <a:spcPts val="1200"/>
              </a:spcBef>
            </a:pPr>
            <a:r>
              <a:rPr lang="ru-RU" altLang="ru-RU" sz="2400" dirty="0">
                <a:latin typeface="Verdana" panose="020B0604030504040204" pitchFamily="34" charset="0"/>
              </a:rPr>
              <a:t>Фрагментация</a:t>
            </a:r>
          </a:p>
          <a:p>
            <a:pPr algn="just" eaLnBrk="1" hangingPunct="1">
              <a:spcBef>
                <a:spcPts val="1200"/>
              </a:spcBef>
            </a:pPr>
            <a:r>
              <a:rPr lang="ru-RU" altLang="ru-RU" sz="2400" dirty="0">
                <a:latin typeface="Verdana" panose="020B0604030504040204" pitchFamily="34" charset="0"/>
              </a:rPr>
              <a:t>Аутентификация</a:t>
            </a:r>
          </a:p>
          <a:p>
            <a:pPr algn="just" eaLnBrk="1" hangingPunct="1">
              <a:spcBef>
                <a:spcPts val="1200"/>
              </a:spcBef>
            </a:pPr>
            <a:r>
              <a:rPr lang="ru-RU" altLang="ru-RU" sz="2400" dirty="0">
                <a:latin typeface="Verdana" panose="020B0604030504040204" pitchFamily="34" charset="0"/>
              </a:rPr>
              <a:t>Шифрование</a:t>
            </a:r>
          </a:p>
        </p:txBody>
      </p:sp>
      <p:sp>
        <p:nvSpPr>
          <p:cNvPr id="4101" name="TextBox 3"/>
          <p:cNvSpPr txBox="1">
            <a:spLocks noChangeArrowheads="1"/>
          </p:cNvSpPr>
          <p:nvPr/>
        </p:nvSpPr>
        <p:spPr bwMode="auto">
          <a:xfrm>
            <a:off x="539750" y="937774"/>
            <a:ext cx="8208963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800" b="1" dirty="0">
                <a:latin typeface="Verdana" panose="020B0604030504040204" pitchFamily="34" charset="0"/>
              </a:rPr>
              <a:t>Дополнительные заголовки </a:t>
            </a:r>
            <a:r>
              <a:rPr lang="en-US" altLang="ru-RU" sz="2800" b="1" dirty="0">
                <a:latin typeface="Verdana" panose="020B0604030504040204" pitchFamily="34" charset="0"/>
              </a:rPr>
              <a:t>IPv6</a:t>
            </a:r>
            <a:endParaRPr lang="ru-RU" altLang="ru-RU" sz="2800" b="1" dirty="0">
              <a:latin typeface="Verdana" panose="020B0604030504040204" pitchFamily="34" charset="0"/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72FCD-ECDD-4AD1-A933-149E1B2284F8}" type="slidenum">
              <a:rPr lang="ru-RU" altLang="ru-RU" smtClean="0"/>
              <a:pPr/>
              <a:t>16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691836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TextBox 2"/>
          <p:cNvSpPr txBox="1">
            <a:spLocks noChangeArrowheads="1"/>
          </p:cNvSpPr>
          <p:nvPr/>
        </p:nvSpPr>
        <p:spPr bwMode="auto">
          <a:xfrm>
            <a:off x="2843213" y="158750"/>
            <a:ext cx="626586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000" dirty="0" smtClean="0">
                <a:latin typeface="Verdana" panose="020B0604030504040204" pitchFamily="34" charset="0"/>
              </a:rPr>
              <a:t>Сети и системы телекоммуникаций. Протокол </a:t>
            </a:r>
            <a:r>
              <a:rPr lang="en-US" altLang="ru-RU" sz="1000" dirty="0" smtClean="0">
                <a:latin typeface="Verdana" panose="020B0604030504040204" pitchFamily="34" charset="0"/>
              </a:rPr>
              <a:t>IPv6</a:t>
            </a:r>
            <a:r>
              <a:rPr lang="ru-RU" altLang="ru-RU" sz="1000" dirty="0">
                <a:latin typeface="Verdana" panose="020B0604030504040204" pitchFamily="34" charset="0"/>
              </a:rPr>
              <a:t>	</a:t>
            </a:r>
            <a:r>
              <a:rPr lang="ru-RU" altLang="ru-RU" sz="1000" b="1" dirty="0">
                <a:latin typeface="Verdana" panose="020B0604030504040204" pitchFamily="34" charset="0"/>
              </a:rPr>
              <a:t>	</a:t>
            </a:r>
          </a:p>
        </p:txBody>
      </p:sp>
      <p:sp>
        <p:nvSpPr>
          <p:cNvPr id="4100" name="TextBox 3"/>
          <p:cNvSpPr txBox="1">
            <a:spLocks noChangeArrowheads="1"/>
          </p:cNvSpPr>
          <p:nvPr/>
        </p:nvSpPr>
        <p:spPr bwMode="auto">
          <a:xfrm>
            <a:off x="539749" y="1714500"/>
            <a:ext cx="8208963" cy="2646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ts val="1200"/>
              </a:spcBef>
            </a:pPr>
            <a:r>
              <a:rPr lang="ru-RU" altLang="ru-RU" sz="2400" dirty="0">
                <a:latin typeface="Verdana" panose="020B0604030504040204" pitchFamily="34" charset="0"/>
              </a:rPr>
              <a:t>Некоторые возможности IPv6 были внесены в IPv4</a:t>
            </a:r>
          </a:p>
          <a:p>
            <a:pPr algn="just" eaLnBrk="1" hangingPunct="1">
              <a:spcBef>
                <a:spcPts val="1200"/>
              </a:spcBef>
            </a:pPr>
            <a:r>
              <a:rPr lang="ru-RU" altLang="ru-RU" sz="2400" dirty="0">
                <a:latin typeface="Verdana" panose="020B0604030504040204" pitchFamily="34" charset="0"/>
              </a:rPr>
              <a:t>Качество обслуживания:</a:t>
            </a:r>
          </a:p>
          <a:p>
            <a:pPr marL="715963" lvl="1" indent="-361950" algn="just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altLang="ru-RU" sz="2000" dirty="0">
                <a:latin typeface="Verdana" panose="020B0604030504040204" pitchFamily="34" charset="0"/>
              </a:rPr>
              <a:t>Поле «Тип сервиса» в заголовке IPv4 было заменено на «Дифференцированное обслуживание», как в IPv6</a:t>
            </a:r>
          </a:p>
          <a:p>
            <a:pPr algn="just" eaLnBrk="1" hangingPunct="1">
              <a:spcBef>
                <a:spcPts val="1200"/>
              </a:spcBef>
            </a:pPr>
            <a:r>
              <a:rPr lang="ru-RU" altLang="ru-RU" sz="2400" dirty="0">
                <a:latin typeface="Verdana" panose="020B0604030504040204" pitchFamily="34" charset="0"/>
              </a:rPr>
              <a:t>Безопасность:</a:t>
            </a:r>
          </a:p>
          <a:p>
            <a:pPr marL="715963" lvl="1" indent="-361950" algn="just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altLang="ru-RU" sz="2000" dirty="0">
                <a:latin typeface="Verdana" panose="020B0604030504040204" pitchFamily="34" charset="0"/>
              </a:rPr>
              <a:t>Аутентификация и шифрование были перенесены в IPv4 в виде технологии </a:t>
            </a:r>
            <a:r>
              <a:rPr lang="ru-RU" altLang="ru-RU" sz="2000" dirty="0" err="1">
                <a:latin typeface="Verdana" panose="020B0604030504040204" pitchFamily="34" charset="0"/>
              </a:rPr>
              <a:t>IPSec</a:t>
            </a:r>
            <a:r>
              <a:rPr lang="ru-RU" altLang="ru-RU" sz="2000" dirty="0">
                <a:latin typeface="Verdana" panose="020B0604030504040204" pitchFamily="34" charset="0"/>
              </a:rPr>
              <a:t> (IP </a:t>
            </a:r>
            <a:r>
              <a:rPr lang="ru-RU" altLang="ru-RU" sz="2000" dirty="0" err="1">
                <a:latin typeface="Verdana" panose="020B0604030504040204" pitchFamily="34" charset="0"/>
              </a:rPr>
              <a:t>Security</a:t>
            </a:r>
            <a:r>
              <a:rPr lang="ru-RU" altLang="ru-RU" sz="2000" dirty="0">
                <a:latin typeface="Verdana" panose="020B0604030504040204" pitchFamily="34" charset="0"/>
              </a:rPr>
              <a:t>)</a:t>
            </a:r>
          </a:p>
        </p:txBody>
      </p:sp>
      <p:sp>
        <p:nvSpPr>
          <p:cNvPr id="4101" name="TextBox 3"/>
          <p:cNvSpPr txBox="1">
            <a:spLocks noChangeArrowheads="1"/>
          </p:cNvSpPr>
          <p:nvPr/>
        </p:nvSpPr>
        <p:spPr bwMode="auto">
          <a:xfrm>
            <a:off x="539750" y="937774"/>
            <a:ext cx="8208963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800" b="1" dirty="0">
                <a:latin typeface="Verdana" panose="020B0604030504040204" pitchFamily="34" charset="0"/>
              </a:rPr>
              <a:t>Влияние </a:t>
            </a:r>
            <a:r>
              <a:rPr lang="en-US" altLang="ru-RU" sz="2800" b="1" dirty="0">
                <a:latin typeface="Verdana" panose="020B0604030504040204" pitchFamily="34" charset="0"/>
              </a:rPr>
              <a:t>IPv6 </a:t>
            </a:r>
            <a:r>
              <a:rPr lang="ru-RU" altLang="ru-RU" sz="2800" b="1" dirty="0">
                <a:latin typeface="Verdana" panose="020B0604030504040204" pitchFamily="34" charset="0"/>
              </a:rPr>
              <a:t>на </a:t>
            </a:r>
            <a:r>
              <a:rPr lang="en-US" altLang="ru-RU" sz="2800" b="1" dirty="0">
                <a:latin typeface="Verdana" panose="020B0604030504040204" pitchFamily="34" charset="0"/>
              </a:rPr>
              <a:t>IPv4</a:t>
            </a:r>
            <a:endParaRPr lang="ru-RU" altLang="ru-RU" sz="2800" b="1" dirty="0">
              <a:latin typeface="Verdana" panose="020B0604030504040204" pitchFamily="34" charset="0"/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72FCD-ECDD-4AD1-A933-149E1B2284F8}" type="slidenum">
              <a:rPr lang="ru-RU" altLang="ru-RU" smtClean="0"/>
              <a:pPr/>
              <a:t>17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705275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TextBox 2"/>
          <p:cNvSpPr txBox="1">
            <a:spLocks noChangeArrowheads="1"/>
          </p:cNvSpPr>
          <p:nvPr/>
        </p:nvSpPr>
        <p:spPr bwMode="auto">
          <a:xfrm>
            <a:off x="2843213" y="158750"/>
            <a:ext cx="626586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000" dirty="0" smtClean="0">
                <a:latin typeface="Verdana" panose="020B0604030504040204" pitchFamily="34" charset="0"/>
              </a:rPr>
              <a:t>Сети и системы телекоммуникаций. Протокол </a:t>
            </a:r>
            <a:r>
              <a:rPr lang="en-US" altLang="ru-RU" sz="1000" dirty="0" smtClean="0">
                <a:latin typeface="Verdana" panose="020B0604030504040204" pitchFamily="34" charset="0"/>
              </a:rPr>
              <a:t>IPv6</a:t>
            </a:r>
            <a:r>
              <a:rPr lang="ru-RU" altLang="ru-RU" sz="1000" dirty="0">
                <a:latin typeface="Verdana" panose="020B0604030504040204" pitchFamily="34" charset="0"/>
              </a:rPr>
              <a:t>	</a:t>
            </a:r>
            <a:r>
              <a:rPr lang="ru-RU" altLang="ru-RU" sz="1000" b="1" dirty="0">
                <a:latin typeface="Verdana" panose="020B0604030504040204" pitchFamily="34" charset="0"/>
              </a:rPr>
              <a:t>	</a:t>
            </a:r>
          </a:p>
        </p:txBody>
      </p:sp>
      <p:sp>
        <p:nvSpPr>
          <p:cNvPr id="4100" name="TextBox 3"/>
          <p:cNvSpPr txBox="1">
            <a:spLocks noChangeArrowheads="1"/>
          </p:cNvSpPr>
          <p:nvPr/>
        </p:nvSpPr>
        <p:spPr bwMode="auto">
          <a:xfrm>
            <a:off x="539749" y="1714500"/>
            <a:ext cx="8208963" cy="3570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ts val="1200"/>
              </a:spcBef>
            </a:pPr>
            <a:r>
              <a:rPr lang="ru-RU" altLang="ru-RU" sz="2400" dirty="0">
                <a:latin typeface="Verdana" panose="020B0604030504040204" pitchFamily="34" charset="0"/>
              </a:rPr>
              <a:t>Адресация </a:t>
            </a:r>
            <a:r>
              <a:rPr lang="en-US" altLang="ru-RU" sz="2400" dirty="0" smtClean="0">
                <a:latin typeface="Verdana" panose="020B0604030504040204" pitchFamily="34" charset="0"/>
              </a:rPr>
              <a:t>—</a:t>
            </a:r>
            <a:r>
              <a:rPr lang="ru-RU" altLang="ru-RU" sz="2400" dirty="0" smtClean="0">
                <a:latin typeface="Verdana" panose="020B0604030504040204" pitchFamily="34" charset="0"/>
              </a:rPr>
              <a:t> </a:t>
            </a:r>
            <a:r>
              <a:rPr lang="ru-RU" altLang="ru-RU" sz="2400" dirty="0">
                <a:latin typeface="Verdana" panose="020B0604030504040204" pitchFamily="34" charset="0"/>
              </a:rPr>
              <a:t>основное отличие IPv6 от IPv4</a:t>
            </a:r>
          </a:p>
          <a:p>
            <a:pPr marL="715963" lvl="1" indent="-361950" algn="just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altLang="ru-RU" sz="2000" dirty="0">
                <a:latin typeface="Verdana" panose="020B0604030504040204" pitchFamily="34" charset="0"/>
              </a:rPr>
              <a:t>IPv4 </a:t>
            </a:r>
            <a:r>
              <a:rPr lang="en-US" altLang="ru-RU" sz="2000" dirty="0" smtClean="0">
                <a:latin typeface="Verdana" panose="020B0604030504040204" pitchFamily="34" charset="0"/>
              </a:rPr>
              <a:t>—</a:t>
            </a:r>
            <a:r>
              <a:rPr lang="ru-RU" altLang="ru-RU" sz="2000" dirty="0" smtClean="0">
                <a:latin typeface="Verdana" panose="020B0604030504040204" pitchFamily="34" charset="0"/>
              </a:rPr>
              <a:t> </a:t>
            </a:r>
            <a:r>
              <a:rPr lang="ru-RU" altLang="ru-RU" sz="2000" dirty="0">
                <a:latin typeface="Verdana" panose="020B0604030504040204" pitchFamily="34" charset="0"/>
              </a:rPr>
              <a:t>размер адреса 4 байта</a:t>
            </a:r>
          </a:p>
          <a:p>
            <a:pPr marL="715963" lvl="1" indent="-361950" algn="just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altLang="ru-RU" sz="2000" dirty="0">
                <a:latin typeface="Verdana" panose="020B0604030504040204" pitchFamily="34" charset="0"/>
              </a:rPr>
              <a:t>IPv6 </a:t>
            </a:r>
            <a:r>
              <a:rPr lang="en-US" altLang="ru-RU" sz="2000" dirty="0">
                <a:latin typeface="Verdana" panose="020B0604030504040204" pitchFamily="34" charset="0"/>
              </a:rPr>
              <a:t>—</a:t>
            </a:r>
            <a:r>
              <a:rPr lang="ru-RU" altLang="ru-RU" sz="2000" dirty="0" smtClean="0">
                <a:latin typeface="Verdana" panose="020B0604030504040204" pitchFamily="34" charset="0"/>
              </a:rPr>
              <a:t> </a:t>
            </a:r>
            <a:r>
              <a:rPr lang="ru-RU" altLang="ru-RU" sz="2000" dirty="0">
                <a:latin typeface="Verdana" panose="020B0604030504040204" pitchFamily="34" charset="0"/>
              </a:rPr>
              <a:t>размер адреса 16 байт</a:t>
            </a:r>
          </a:p>
          <a:p>
            <a:pPr algn="just" eaLnBrk="1" hangingPunct="1">
              <a:spcBef>
                <a:spcPts val="1200"/>
              </a:spcBef>
            </a:pPr>
            <a:r>
              <a:rPr lang="ru-RU" altLang="ru-RU" sz="2400" dirty="0">
                <a:latin typeface="Verdana" panose="020B0604030504040204" pitchFamily="34" charset="0"/>
              </a:rPr>
              <a:t>Рассматриваемые варианты размера адреса</a:t>
            </a:r>
          </a:p>
          <a:p>
            <a:pPr marL="715963" lvl="1" indent="-361950" algn="just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altLang="ru-RU" sz="2000" dirty="0">
                <a:latin typeface="Verdana" panose="020B0604030504040204" pitchFamily="34" charset="0"/>
              </a:rPr>
              <a:t>8 байт </a:t>
            </a:r>
            <a:r>
              <a:rPr lang="en-US" altLang="ru-RU" sz="2000" dirty="0" smtClean="0">
                <a:latin typeface="Verdana" panose="020B0604030504040204" pitchFamily="34" charset="0"/>
              </a:rPr>
              <a:t>—</a:t>
            </a:r>
            <a:r>
              <a:rPr lang="ru-RU" altLang="ru-RU" sz="2000" dirty="0" smtClean="0">
                <a:latin typeface="Verdana" panose="020B0604030504040204" pitchFamily="34" charset="0"/>
              </a:rPr>
              <a:t> </a:t>
            </a:r>
            <a:r>
              <a:rPr lang="ru-RU" altLang="ru-RU" sz="2000" dirty="0">
                <a:latin typeface="Verdana" panose="020B0604030504040204" pitchFamily="34" charset="0"/>
              </a:rPr>
              <a:t>первоначальное предложение разработчиков IPv6</a:t>
            </a:r>
          </a:p>
          <a:p>
            <a:pPr marL="715963" lvl="1" indent="-361950" algn="just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altLang="ru-RU" sz="2000" dirty="0">
                <a:latin typeface="Verdana" panose="020B0604030504040204" pitchFamily="34" charset="0"/>
              </a:rPr>
              <a:t>20 байт </a:t>
            </a:r>
            <a:r>
              <a:rPr lang="en-US" altLang="ru-RU" sz="2000" dirty="0" smtClean="0">
                <a:latin typeface="Verdana" panose="020B0604030504040204" pitchFamily="34" charset="0"/>
              </a:rPr>
              <a:t>—</a:t>
            </a:r>
            <a:r>
              <a:rPr lang="ru-RU" altLang="ru-RU" sz="2000" dirty="0" smtClean="0">
                <a:latin typeface="Verdana" panose="020B0604030504040204" pitchFamily="34" charset="0"/>
              </a:rPr>
              <a:t> </a:t>
            </a:r>
            <a:r>
              <a:rPr lang="ru-RU" altLang="ru-RU" sz="2000" dirty="0">
                <a:latin typeface="Verdana" panose="020B0604030504040204" pitchFamily="34" charset="0"/>
              </a:rPr>
              <a:t>размер адреса в протоколе CLNP (протокол сетевого уровня в стеке OSI)</a:t>
            </a:r>
          </a:p>
          <a:p>
            <a:pPr marL="715963" lvl="1" indent="-361950" algn="just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altLang="ru-RU" sz="2000" dirty="0">
                <a:latin typeface="Verdana" panose="020B0604030504040204" pitchFamily="34" charset="0"/>
              </a:rPr>
              <a:t>Адреса переменной </a:t>
            </a:r>
            <a:r>
              <a:rPr lang="ru-RU" altLang="ru-RU" sz="2000" dirty="0" smtClean="0">
                <a:latin typeface="Verdana" panose="020B0604030504040204" pitchFamily="34" charset="0"/>
              </a:rPr>
              <a:t>длины</a:t>
            </a:r>
            <a:endParaRPr lang="ru-RU" altLang="ru-RU" sz="2000" dirty="0">
              <a:latin typeface="Verdana" panose="020B0604030504040204" pitchFamily="34" charset="0"/>
            </a:endParaRPr>
          </a:p>
          <a:p>
            <a:pPr algn="just" eaLnBrk="1" hangingPunct="1">
              <a:spcBef>
                <a:spcPts val="1200"/>
              </a:spcBef>
            </a:pPr>
            <a:r>
              <a:rPr lang="ru-RU" altLang="ru-RU" sz="2400" dirty="0">
                <a:latin typeface="Verdana" panose="020B0604030504040204" pitchFamily="34" charset="0"/>
              </a:rPr>
              <a:t>RFC 4291 (IP </a:t>
            </a:r>
            <a:r>
              <a:rPr lang="ru-RU" altLang="ru-RU" sz="2400" dirty="0" err="1">
                <a:latin typeface="Verdana" panose="020B0604030504040204" pitchFamily="34" charset="0"/>
              </a:rPr>
              <a:t>Version</a:t>
            </a:r>
            <a:r>
              <a:rPr lang="ru-RU" altLang="ru-RU" sz="2400" dirty="0">
                <a:latin typeface="Verdana" panose="020B0604030504040204" pitchFamily="34" charset="0"/>
              </a:rPr>
              <a:t> 6 </a:t>
            </a:r>
            <a:r>
              <a:rPr lang="ru-RU" altLang="ru-RU" sz="2400" dirty="0" err="1">
                <a:latin typeface="Verdana" panose="020B0604030504040204" pitchFamily="34" charset="0"/>
              </a:rPr>
              <a:t>Addressing</a:t>
            </a:r>
            <a:r>
              <a:rPr lang="ru-RU" altLang="ru-RU" sz="2400" dirty="0">
                <a:latin typeface="Verdana" panose="020B0604030504040204" pitchFamily="34" charset="0"/>
              </a:rPr>
              <a:t> </a:t>
            </a:r>
            <a:r>
              <a:rPr lang="ru-RU" altLang="ru-RU" sz="2400" dirty="0" err="1">
                <a:latin typeface="Verdana" panose="020B0604030504040204" pitchFamily="34" charset="0"/>
              </a:rPr>
              <a:t>Architecture</a:t>
            </a:r>
            <a:r>
              <a:rPr lang="ru-RU" altLang="ru-RU" sz="2400" dirty="0">
                <a:latin typeface="Verdana" panose="020B0604030504040204" pitchFamily="34" charset="0"/>
              </a:rPr>
              <a:t>)</a:t>
            </a:r>
          </a:p>
        </p:txBody>
      </p:sp>
      <p:sp>
        <p:nvSpPr>
          <p:cNvPr id="4101" name="TextBox 3"/>
          <p:cNvSpPr txBox="1">
            <a:spLocks noChangeArrowheads="1"/>
          </p:cNvSpPr>
          <p:nvPr/>
        </p:nvSpPr>
        <p:spPr bwMode="auto">
          <a:xfrm>
            <a:off x="539750" y="937774"/>
            <a:ext cx="8208963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800" b="1" dirty="0">
                <a:latin typeface="Verdana" panose="020B0604030504040204" pitchFamily="34" charset="0"/>
              </a:rPr>
              <a:t>Адресация в </a:t>
            </a:r>
            <a:r>
              <a:rPr lang="en-US" altLang="ru-RU" sz="2800" b="1" dirty="0">
                <a:latin typeface="Verdana" panose="020B0604030504040204" pitchFamily="34" charset="0"/>
              </a:rPr>
              <a:t>IPv6</a:t>
            </a:r>
            <a:endParaRPr lang="ru-RU" altLang="ru-RU" sz="2800" b="1" dirty="0">
              <a:latin typeface="Verdana" panose="020B0604030504040204" pitchFamily="34" charset="0"/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72FCD-ECDD-4AD1-A933-149E1B2284F8}" type="slidenum">
              <a:rPr lang="ru-RU" altLang="ru-RU" smtClean="0"/>
              <a:pPr/>
              <a:t>18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69237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TextBox 2"/>
          <p:cNvSpPr txBox="1">
            <a:spLocks noChangeArrowheads="1"/>
          </p:cNvSpPr>
          <p:nvPr/>
        </p:nvSpPr>
        <p:spPr bwMode="auto">
          <a:xfrm>
            <a:off x="2843213" y="158750"/>
            <a:ext cx="626586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000" dirty="0" smtClean="0">
                <a:latin typeface="Verdana" panose="020B0604030504040204" pitchFamily="34" charset="0"/>
              </a:rPr>
              <a:t>Сети и системы телекоммуникаций. Протокол </a:t>
            </a:r>
            <a:r>
              <a:rPr lang="en-US" altLang="ru-RU" sz="1000" dirty="0" smtClean="0">
                <a:latin typeface="Verdana" panose="020B0604030504040204" pitchFamily="34" charset="0"/>
              </a:rPr>
              <a:t>IPv6</a:t>
            </a:r>
            <a:r>
              <a:rPr lang="ru-RU" altLang="ru-RU" sz="1000" dirty="0">
                <a:latin typeface="Verdana" panose="020B0604030504040204" pitchFamily="34" charset="0"/>
              </a:rPr>
              <a:t>	</a:t>
            </a:r>
            <a:r>
              <a:rPr lang="ru-RU" altLang="ru-RU" sz="1000" b="1" dirty="0">
                <a:latin typeface="Verdana" panose="020B0604030504040204" pitchFamily="34" charset="0"/>
              </a:rPr>
              <a:t>	</a:t>
            </a:r>
          </a:p>
        </p:txBody>
      </p:sp>
      <p:sp>
        <p:nvSpPr>
          <p:cNvPr id="4100" name="TextBox 3"/>
          <p:cNvSpPr txBox="1">
            <a:spLocks noChangeArrowheads="1"/>
          </p:cNvSpPr>
          <p:nvPr/>
        </p:nvSpPr>
        <p:spPr bwMode="auto">
          <a:xfrm>
            <a:off x="539749" y="1714500"/>
            <a:ext cx="8208963" cy="1877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ts val="1200"/>
              </a:spcBef>
            </a:pPr>
            <a:r>
              <a:rPr lang="ru-RU" altLang="ru-RU" sz="2400" dirty="0">
                <a:latin typeface="Verdana" panose="020B0604030504040204" pitchFamily="34" charset="0"/>
              </a:rPr>
              <a:t>Размер адреса IPv6 увеличился, старый формат записи неудобен</a:t>
            </a:r>
          </a:p>
          <a:p>
            <a:pPr algn="just" eaLnBrk="1" hangingPunct="1">
              <a:spcBef>
                <a:spcPts val="1200"/>
              </a:spcBef>
            </a:pPr>
            <a:r>
              <a:rPr lang="ru-RU" altLang="ru-RU" sz="2400" dirty="0">
                <a:latin typeface="Verdana" panose="020B0604030504040204" pitchFamily="34" charset="0"/>
              </a:rPr>
              <a:t>Новый формат:</a:t>
            </a:r>
          </a:p>
          <a:p>
            <a:pPr marL="715963" lvl="1" indent="-361950" algn="just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altLang="ru-RU" sz="2000" dirty="0">
                <a:latin typeface="Verdana" panose="020B0604030504040204" pitchFamily="34" charset="0"/>
              </a:rPr>
              <a:t>8 групп по четыре шестнадцатеричных цифры</a:t>
            </a:r>
          </a:p>
          <a:p>
            <a:pPr marL="715963" lvl="1" indent="-361950" algn="just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altLang="ru-RU" sz="2000" dirty="0">
                <a:latin typeface="Verdana" panose="020B0604030504040204" pitchFamily="34" charset="0"/>
              </a:rPr>
              <a:t>8000:0000:0000:0000:0127:AB68:CD45:EF15</a:t>
            </a:r>
          </a:p>
        </p:txBody>
      </p:sp>
      <p:sp>
        <p:nvSpPr>
          <p:cNvPr id="4101" name="TextBox 3"/>
          <p:cNvSpPr txBox="1">
            <a:spLocks noChangeArrowheads="1"/>
          </p:cNvSpPr>
          <p:nvPr/>
        </p:nvSpPr>
        <p:spPr bwMode="auto">
          <a:xfrm>
            <a:off x="539750" y="937774"/>
            <a:ext cx="8208963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800" b="1" dirty="0">
                <a:latin typeface="Verdana" panose="020B0604030504040204" pitchFamily="34" charset="0"/>
              </a:rPr>
              <a:t>Форма представления </a:t>
            </a:r>
            <a:r>
              <a:rPr lang="en-US" altLang="ru-RU" sz="2800" b="1" dirty="0">
                <a:latin typeface="Verdana" panose="020B0604030504040204" pitchFamily="34" charset="0"/>
              </a:rPr>
              <a:t>IPv6 </a:t>
            </a:r>
            <a:r>
              <a:rPr lang="ru-RU" altLang="ru-RU" sz="2800" b="1" dirty="0">
                <a:latin typeface="Verdana" panose="020B0604030504040204" pitchFamily="34" charset="0"/>
              </a:rPr>
              <a:t>адреса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72FCD-ECDD-4AD1-A933-149E1B2284F8}" type="slidenum">
              <a:rPr lang="ru-RU" altLang="ru-RU" smtClean="0"/>
              <a:pPr/>
              <a:t>19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9500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TextBox 2"/>
          <p:cNvSpPr txBox="1">
            <a:spLocks noChangeArrowheads="1"/>
          </p:cNvSpPr>
          <p:nvPr/>
        </p:nvSpPr>
        <p:spPr bwMode="auto">
          <a:xfrm>
            <a:off x="2843213" y="158750"/>
            <a:ext cx="626586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000" dirty="0" smtClean="0">
                <a:latin typeface="Verdana" panose="020B0604030504040204" pitchFamily="34" charset="0"/>
              </a:rPr>
              <a:t>Сети и системы телекоммуникаций. Протокол </a:t>
            </a:r>
            <a:r>
              <a:rPr lang="en-US" altLang="ru-RU" sz="1000" dirty="0" smtClean="0">
                <a:latin typeface="Verdana" panose="020B0604030504040204" pitchFamily="34" charset="0"/>
              </a:rPr>
              <a:t>IPv6</a:t>
            </a:r>
            <a:r>
              <a:rPr lang="ru-RU" altLang="ru-RU" sz="1000" dirty="0">
                <a:latin typeface="Verdana" panose="020B0604030504040204" pitchFamily="34" charset="0"/>
              </a:rPr>
              <a:t>	</a:t>
            </a:r>
            <a:r>
              <a:rPr lang="ru-RU" altLang="ru-RU" sz="1000" b="1" dirty="0">
                <a:latin typeface="Verdana" panose="020B0604030504040204" pitchFamily="34" charset="0"/>
              </a:rPr>
              <a:t>	</a:t>
            </a:r>
          </a:p>
        </p:txBody>
      </p:sp>
      <p:sp>
        <p:nvSpPr>
          <p:cNvPr id="4100" name="TextBox 3"/>
          <p:cNvSpPr txBox="1">
            <a:spLocks noChangeArrowheads="1"/>
          </p:cNvSpPr>
          <p:nvPr/>
        </p:nvSpPr>
        <p:spPr bwMode="auto">
          <a:xfrm>
            <a:off x="539749" y="1714500"/>
            <a:ext cx="8208963" cy="3970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ts val="1200"/>
              </a:spcBef>
            </a:pPr>
            <a:r>
              <a:rPr lang="ru-RU" altLang="ru-RU" sz="2400" dirty="0">
                <a:latin typeface="Verdana" panose="020B0604030504040204" pitchFamily="34" charset="0"/>
              </a:rPr>
              <a:t>Адреса IPv6 часто содержат много нулей, поэтому разработано несколько форм сокращения</a:t>
            </a:r>
          </a:p>
          <a:p>
            <a:pPr algn="just" eaLnBrk="1" hangingPunct="1">
              <a:spcBef>
                <a:spcPts val="1200"/>
              </a:spcBef>
            </a:pPr>
            <a:r>
              <a:rPr lang="ru-RU" altLang="ru-RU" sz="2400" dirty="0">
                <a:latin typeface="Verdana" panose="020B0604030504040204" pitchFamily="34" charset="0"/>
              </a:rPr>
              <a:t>Ведущие нули в группе можно опустить</a:t>
            </a:r>
          </a:p>
          <a:p>
            <a:pPr marL="715963" lvl="1" indent="-361950" algn="just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altLang="ru-RU" sz="2000" dirty="0">
                <a:latin typeface="Verdana" panose="020B0604030504040204" pitchFamily="34" charset="0"/>
              </a:rPr>
              <a:t>8000:0000:0000:0000:0127:AB68:CD45:EF15</a:t>
            </a:r>
          </a:p>
          <a:p>
            <a:pPr marL="715963" lvl="1" indent="-361950" algn="just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altLang="ru-RU" sz="2000" dirty="0">
                <a:latin typeface="Verdana" panose="020B0604030504040204" pitchFamily="34" charset="0"/>
              </a:rPr>
              <a:t>8000:0000:0000:0000:127:AB68:CD45:EF15</a:t>
            </a:r>
          </a:p>
          <a:p>
            <a:pPr algn="just" eaLnBrk="1" hangingPunct="1">
              <a:spcBef>
                <a:spcPts val="1200"/>
              </a:spcBef>
            </a:pPr>
            <a:r>
              <a:rPr lang="ru-RU" altLang="ru-RU" sz="2400" dirty="0">
                <a:latin typeface="Verdana" panose="020B0604030504040204" pitchFamily="34" charset="0"/>
              </a:rPr>
              <a:t>Несколько подряд идущих групп нулей можно пропустить:</a:t>
            </a:r>
          </a:p>
          <a:p>
            <a:pPr marL="715963" lvl="1" indent="-361950" algn="just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altLang="ru-RU" sz="2000" dirty="0">
                <a:latin typeface="Verdana" panose="020B0604030504040204" pitchFamily="34" charset="0"/>
              </a:rPr>
              <a:t>8000::127:AB68:CD45:EF15</a:t>
            </a:r>
          </a:p>
          <a:p>
            <a:pPr algn="just" eaLnBrk="1" hangingPunct="1">
              <a:spcBef>
                <a:spcPts val="1200"/>
              </a:spcBef>
            </a:pPr>
            <a:r>
              <a:rPr lang="ru-RU" altLang="ru-RU" sz="2400" dirty="0">
                <a:latin typeface="Verdana" panose="020B0604030504040204" pitchFamily="34" charset="0"/>
              </a:rPr>
              <a:t>Как сократить адрес:</a:t>
            </a:r>
          </a:p>
          <a:p>
            <a:pPr marL="715963" lvl="1" indent="-361950" algn="just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altLang="ru-RU" sz="2000" dirty="0">
                <a:latin typeface="Verdana" panose="020B0604030504040204" pitchFamily="34" charset="0"/>
              </a:rPr>
              <a:t>8000:0000:0000:0127:0000:AB68:CD45:EF15</a:t>
            </a:r>
          </a:p>
        </p:txBody>
      </p:sp>
      <p:sp>
        <p:nvSpPr>
          <p:cNvPr id="4101" name="TextBox 3"/>
          <p:cNvSpPr txBox="1">
            <a:spLocks noChangeArrowheads="1"/>
          </p:cNvSpPr>
          <p:nvPr/>
        </p:nvSpPr>
        <p:spPr bwMode="auto">
          <a:xfrm>
            <a:off x="539750" y="937774"/>
            <a:ext cx="8208963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800" b="1" dirty="0">
                <a:latin typeface="Verdana" panose="020B0604030504040204" pitchFamily="34" charset="0"/>
              </a:rPr>
              <a:t>Сокращения </a:t>
            </a:r>
            <a:r>
              <a:rPr lang="en-US" altLang="ru-RU" sz="2800" b="1" dirty="0">
                <a:latin typeface="Verdana" panose="020B0604030504040204" pitchFamily="34" charset="0"/>
              </a:rPr>
              <a:t>IPv6 </a:t>
            </a:r>
            <a:r>
              <a:rPr lang="ru-RU" altLang="ru-RU" sz="2800" b="1" dirty="0">
                <a:latin typeface="Verdana" panose="020B0604030504040204" pitchFamily="34" charset="0"/>
              </a:rPr>
              <a:t>адреса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72FCD-ECDD-4AD1-A933-149E1B2284F8}" type="slidenum">
              <a:rPr lang="ru-RU" altLang="ru-RU" smtClean="0"/>
              <a:pPr/>
              <a:t>20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116437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TextBox 2"/>
          <p:cNvSpPr txBox="1">
            <a:spLocks noChangeArrowheads="1"/>
          </p:cNvSpPr>
          <p:nvPr/>
        </p:nvSpPr>
        <p:spPr bwMode="auto">
          <a:xfrm>
            <a:off x="2843213" y="158750"/>
            <a:ext cx="626586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000" dirty="0" smtClean="0">
                <a:latin typeface="Verdana" panose="020B0604030504040204" pitchFamily="34" charset="0"/>
              </a:rPr>
              <a:t>Сети и системы телекоммуникаций. Протокол </a:t>
            </a:r>
            <a:r>
              <a:rPr lang="en-US" altLang="ru-RU" sz="1000" dirty="0" smtClean="0">
                <a:latin typeface="Verdana" panose="020B0604030504040204" pitchFamily="34" charset="0"/>
              </a:rPr>
              <a:t>IPv6</a:t>
            </a:r>
            <a:r>
              <a:rPr lang="ru-RU" altLang="ru-RU" sz="1000" dirty="0">
                <a:latin typeface="Verdana" panose="020B0604030504040204" pitchFamily="34" charset="0"/>
              </a:rPr>
              <a:t>	</a:t>
            </a:r>
            <a:r>
              <a:rPr lang="ru-RU" altLang="ru-RU" sz="1000" b="1" dirty="0">
                <a:latin typeface="Verdana" panose="020B0604030504040204" pitchFamily="34" charset="0"/>
              </a:rPr>
              <a:t>	</a:t>
            </a:r>
          </a:p>
        </p:txBody>
      </p:sp>
      <p:sp>
        <p:nvSpPr>
          <p:cNvPr id="4100" name="TextBox 3"/>
          <p:cNvSpPr txBox="1">
            <a:spLocks noChangeArrowheads="1"/>
          </p:cNvSpPr>
          <p:nvPr/>
        </p:nvSpPr>
        <p:spPr bwMode="auto">
          <a:xfrm>
            <a:off x="539749" y="1714500"/>
            <a:ext cx="8208963" cy="42165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ts val="1200"/>
              </a:spcBef>
            </a:pPr>
            <a:r>
              <a:rPr lang="ru-RU" altLang="ru-RU" sz="2400" dirty="0">
                <a:latin typeface="Verdana" panose="020B0604030504040204" pitchFamily="34" charset="0"/>
              </a:rPr>
              <a:t>Адреса IPv6 часто содержат много нулей, поэтому разработано несколько форм сокращения</a:t>
            </a:r>
          </a:p>
          <a:p>
            <a:pPr algn="just" eaLnBrk="1" hangingPunct="1">
              <a:spcBef>
                <a:spcPts val="1200"/>
              </a:spcBef>
            </a:pPr>
            <a:r>
              <a:rPr lang="ru-RU" altLang="ru-RU" sz="2400" dirty="0">
                <a:latin typeface="Verdana" panose="020B0604030504040204" pitchFamily="34" charset="0"/>
              </a:rPr>
              <a:t>Ведущие нули в группе можно опустить</a:t>
            </a:r>
          </a:p>
          <a:p>
            <a:pPr marL="715963" lvl="1" indent="-361950" algn="just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altLang="ru-RU" sz="2000" dirty="0">
                <a:latin typeface="Verdana" panose="020B0604030504040204" pitchFamily="34" charset="0"/>
              </a:rPr>
              <a:t>8000:0000:0000:0000:0127:AB68:CD45:EF15</a:t>
            </a:r>
          </a:p>
          <a:p>
            <a:pPr marL="715963" lvl="1" indent="-361950" algn="just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altLang="ru-RU" sz="2000" dirty="0">
                <a:latin typeface="Verdana" panose="020B0604030504040204" pitchFamily="34" charset="0"/>
              </a:rPr>
              <a:t>8000:0000:0000:0000:127:AB68:CD45:EF15</a:t>
            </a:r>
          </a:p>
          <a:p>
            <a:pPr algn="just" eaLnBrk="1" hangingPunct="1">
              <a:spcBef>
                <a:spcPts val="1200"/>
              </a:spcBef>
            </a:pPr>
            <a:r>
              <a:rPr lang="ru-RU" altLang="ru-RU" sz="2400" dirty="0">
                <a:latin typeface="Verdana" panose="020B0604030504040204" pitchFamily="34" charset="0"/>
              </a:rPr>
              <a:t>Несколько подряд идущих групп нулей можно пропустить:</a:t>
            </a:r>
          </a:p>
          <a:p>
            <a:pPr marL="715963" lvl="1" indent="-361950" algn="just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altLang="ru-RU" sz="2000" dirty="0">
                <a:latin typeface="Verdana" panose="020B0604030504040204" pitchFamily="34" charset="0"/>
              </a:rPr>
              <a:t>8000::127:AB68:CD45:EF15</a:t>
            </a:r>
          </a:p>
          <a:p>
            <a:pPr algn="just" eaLnBrk="1" hangingPunct="1">
              <a:spcBef>
                <a:spcPts val="1200"/>
              </a:spcBef>
            </a:pPr>
            <a:r>
              <a:rPr lang="ru-RU" altLang="ru-RU" sz="2400" dirty="0">
                <a:latin typeface="Verdana" panose="020B0604030504040204" pitchFamily="34" charset="0"/>
              </a:rPr>
              <a:t>Как сократить адрес:</a:t>
            </a:r>
          </a:p>
          <a:p>
            <a:pPr marL="715963" lvl="1" indent="-361950" algn="just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altLang="ru-RU" sz="2000" dirty="0" smtClean="0">
                <a:latin typeface="Verdana" panose="020B0604030504040204" pitchFamily="34" charset="0"/>
              </a:rPr>
              <a:t>8000:0000:0000:0127:0000:AB68:CD45:EF15</a:t>
            </a:r>
            <a:endParaRPr lang="en-US" altLang="ru-RU" sz="2000" dirty="0" smtClean="0">
              <a:latin typeface="Verdana" panose="020B0604030504040204" pitchFamily="34" charset="0"/>
            </a:endParaRPr>
          </a:p>
          <a:p>
            <a:pPr marL="715963" lvl="1" indent="-361950" algn="just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altLang="ru-RU" sz="2000" dirty="0" smtClean="0">
                <a:latin typeface="Verdana" panose="020B0604030504040204" pitchFamily="34" charset="0"/>
              </a:rPr>
              <a:t>8000::127:0:AB68:CD45:EF15</a:t>
            </a:r>
            <a:endParaRPr lang="ru-RU" altLang="ru-RU" sz="2000" dirty="0">
              <a:latin typeface="Verdana" panose="020B0604030504040204" pitchFamily="34" charset="0"/>
            </a:endParaRPr>
          </a:p>
        </p:txBody>
      </p:sp>
      <p:sp>
        <p:nvSpPr>
          <p:cNvPr id="4101" name="TextBox 3"/>
          <p:cNvSpPr txBox="1">
            <a:spLocks noChangeArrowheads="1"/>
          </p:cNvSpPr>
          <p:nvPr/>
        </p:nvSpPr>
        <p:spPr bwMode="auto">
          <a:xfrm>
            <a:off x="539750" y="937774"/>
            <a:ext cx="8208963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800" b="1" dirty="0">
                <a:latin typeface="Verdana" panose="020B0604030504040204" pitchFamily="34" charset="0"/>
              </a:rPr>
              <a:t>Сокращения </a:t>
            </a:r>
            <a:r>
              <a:rPr lang="en-US" altLang="ru-RU" sz="2800" b="1" dirty="0">
                <a:latin typeface="Verdana" panose="020B0604030504040204" pitchFamily="34" charset="0"/>
              </a:rPr>
              <a:t>IPv6 </a:t>
            </a:r>
            <a:r>
              <a:rPr lang="ru-RU" altLang="ru-RU" sz="2800" b="1" dirty="0">
                <a:latin typeface="Verdana" panose="020B0604030504040204" pitchFamily="34" charset="0"/>
              </a:rPr>
              <a:t>адреса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72FCD-ECDD-4AD1-A933-149E1B2284F8}" type="slidenum">
              <a:rPr lang="ru-RU" altLang="ru-RU" smtClean="0"/>
              <a:pPr/>
              <a:t>21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403845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TextBox 2"/>
          <p:cNvSpPr txBox="1">
            <a:spLocks noChangeArrowheads="1"/>
          </p:cNvSpPr>
          <p:nvPr/>
        </p:nvSpPr>
        <p:spPr bwMode="auto">
          <a:xfrm>
            <a:off x="2843213" y="158750"/>
            <a:ext cx="626586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000" dirty="0" smtClean="0">
                <a:latin typeface="Verdana" panose="020B0604030504040204" pitchFamily="34" charset="0"/>
              </a:rPr>
              <a:t>Сети и системы телекоммуникаций. Протокол </a:t>
            </a:r>
            <a:r>
              <a:rPr lang="en-US" altLang="ru-RU" sz="1000" dirty="0" smtClean="0">
                <a:latin typeface="Verdana" panose="020B0604030504040204" pitchFamily="34" charset="0"/>
              </a:rPr>
              <a:t>IPv6</a:t>
            </a:r>
            <a:r>
              <a:rPr lang="ru-RU" altLang="ru-RU" sz="1000" dirty="0">
                <a:latin typeface="Verdana" panose="020B0604030504040204" pitchFamily="34" charset="0"/>
              </a:rPr>
              <a:t>	</a:t>
            </a:r>
            <a:r>
              <a:rPr lang="ru-RU" altLang="ru-RU" sz="1000" b="1" dirty="0">
                <a:latin typeface="Verdana" panose="020B0604030504040204" pitchFamily="34" charset="0"/>
              </a:rPr>
              <a:t>	</a:t>
            </a:r>
          </a:p>
        </p:txBody>
      </p:sp>
      <p:sp>
        <p:nvSpPr>
          <p:cNvPr id="4100" name="TextBox 3"/>
          <p:cNvSpPr txBox="1">
            <a:spLocks noChangeArrowheads="1"/>
          </p:cNvSpPr>
          <p:nvPr/>
        </p:nvSpPr>
        <p:spPr bwMode="auto">
          <a:xfrm>
            <a:off x="539750" y="1700808"/>
            <a:ext cx="8208963" cy="24314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ts val="1200"/>
              </a:spcBef>
            </a:pPr>
            <a:r>
              <a:rPr lang="ru-RU" altLang="ru-RU" sz="2400" dirty="0" err="1">
                <a:latin typeface="Verdana" panose="020B0604030504040204" pitchFamily="34" charset="0"/>
              </a:rPr>
              <a:t>Localhost</a:t>
            </a:r>
            <a:endParaRPr lang="ru-RU" altLang="ru-RU" sz="2400" dirty="0">
              <a:latin typeface="Verdana" panose="020B0604030504040204" pitchFamily="34" charset="0"/>
            </a:endParaRPr>
          </a:p>
          <a:p>
            <a:pPr marL="715963" lvl="1" indent="-361950" algn="just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altLang="ru-RU" sz="2000" dirty="0">
                <a:latin typeface="Verdana" panose="020B0604030504040204" pitchFamily="34" charset="0"/>
              </a:rPr>
              <a:t>::1 (0000:0000:0000:0000:0000:0000:0000:0001)</a:t>
            </a:r>
          </a:p>
          <a:p>
            <a:pPr algn="just" eaLnBrk="1" hangingPunct="1">
              <a:spcBef>
                <a:spcPts val="1200"/>
              </a:spcBef>
            </a:pPr>
            <a:r>
              <a:rPr lang="ru-RU" altLang="ru-RU" sz="2400" dirty="0">
                <a:latin typeface="Verdana" panose="020B0604030504040204" pitchFamily="34" charset="0"/>
              </a:rPr>
              <a:t>Адрес IPv4 в формате IPv6</a:t>
            </a:r>
          </a:p>
          <a:p>
            <a:pPr marL="715963" lvl="1" indent="-361950" algn="just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altLang="ru-RU" sz="2000" dirty="0">
                <a:latin typeface="Verdana" panose="020B0604030504040204" pitchFamily="34" charset="0"/>
              </a:rPr>
              <a:t>Используется на время переходного периода, когда применяются обе версии протокола</a:t>
            </a:r>
          </a:p>
          <a:p>
            <a:pPr marL="715963" lvl="1" indent="-361950" algn="just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altLang="ru-RU" sz="2000" dirty="0">
                <a:latin typeface="Verdana" panose="020B0604030504040204" pitchFamily="34" charset="0"/>
              </a:rPr>
              <a:t>Два двоеточия и затем адрес в десятичном виде</a:t>
            </a:r>
          </a:p>
          <a:p>
            <a:pPr marL="715963" lvl="1" indent="-361950" algn="just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altLang="ru-RU" sz="2000" dirty="0">
                <a:latin typeface="Verdana" panose="020B0604030504040204" pitchFamily="34" charset="0"/>
              </a:rPr>
              <a:t>::192.168.1.1</a:t>
            </a:r>
          </a:p>
        </p:txBody>
      </p:sp>
      <p:sp>
        <p:nvSpPr>
          <p:cNvPr id="4101" name="TextBox 3"/>
          <p:cNvSpPr txBox="1">
            <a:spLocks noChangeArrowheads="1"/>
          </p:cNvSpPr>
          <p:nvPr/>
        </p:nvSpPr>
        <p:spPr bwMode="auto">
          <a:xfrm>
            <a:off x="539750" y="937774"/>
            <a:ext cx="8208963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800" b="1" dirty="0">
                <a:latin typeface="Verdana" panose="020B0604030504040204" pitchFamily="34" charset="0"/>
              </a:rPr>
              <a:t>Специальные </a:t>
            </a:r>
            <a:r>
              <a:rPr lang="ru-RU" altLang="ru-RU" sz="2800" b="1" dirty="0" smtClean="0">
                <a:latin typeface="Verdana" panose="020B0604030504040204" pitchFamily="34" charset="0"/>
              </a:rPr>
              <a:t>адреса </a:t>
            </a:r>
            <a:r>
              <a:rPr lang="en-US" altLang="ru-RU" sz="2800" b="1" dirty="0" smtClean="0">
                <a:latin typeface="Verdana" panose="020B0604030504040204" pitchFamily="34" charset="0"/>
              </a:rPr>
              <a:t>IPv6 </a:t>
            </a:r>
            <a:endParaRPr lang="ru-RU" altLang="ru-RU" sz="2800" b="1" dirty="0">
              <a:latin typeface="Verdana" panose="020B0604030504040204" pitchFamily="34" charset="0"/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72FCD-ECDD-4AD1-A933-149E1B2284F8}" type="slidenum">
              <a:rPr lang="ru-RU" altLang="ru-RU" smtClean="0"/>
              <a:pPr/>
              <a:t>22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164436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TextBox 2"/>
          <p:cNvSpPr txBox="1">
            <a:spLocks noChangeArrowheads="1"/>
          </p:cNvSpPr>
          <p:nvPr/>
        </p:nvSpPr>
        <p:spPr bwMode="auto">
          <a:xfrm>
            <a:off x="2843213" y="158750"/>
            <a:ext cx="626586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000" dirty="0" smtClean="0">
                <a:latin typeface="Verdana" panose="020B0604030504040204" pitchFamily="34" charset="0"/>
              </a:rPr>
              <a:t>Сети и системы телекоммуникаций. Протокол </a:t>
            </a:r>
            <a:r>
              <a:rPr lang="en-US" altLang="ru-RU" sz="1000" dirty="0" smtClean="0">
                <a:latin typeface="Verdana" panose="020B0604030504040204" pitchFamily="34" charset="0"/>
              </a:rPr>
              <a:t>IPv6</a:t>
            </a:r>
            <a:r>
              <a:rPr lang="ru-RU" altLang="ru-RU" sz="1000" dirty="0">
                <a:latin typeface="Verdana" panose="020B0604030504040204" pitchFamily="34" charset="0"/>
              </a:rPr>
              <a:t>	</a:t>
            </a:r>
            <a:r>
              <a:rPr lang="ru-RU" altLang="ru-RU" sz="1000" b="1" dirty="0">
                <a:latin typeface="Verdana" panose="020B0604030504040204" pitchFamily="34" charset="0"/>
              </a:rPr>
              <a:t>	</a:t>
            </a:r>
          </a:p>
        </p:txBody>
      </p:sp>
      <p:sp>
        <p:nvSpPr>
          <p:cNvPr id="4101" name="TextBox 3"/>
          <p:cNvSpPr txBox="1">
            <a:spLocks noChangeArrowheads="1"/>
          </p:cNvSpPr>
          <p:nvPr/>
        </p:nvSpPr>
        <p:spPr bwMode="auto">
          <a:xfrm>
            <a:off x="539750" y="937774"/>
            <a:ext cx="8208963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800" b="1" dirty="0" smtClean="0">
                <a:latin typeface="Verdana" panose="020B0604030504040204" pitchFamily="34" charset="0"/>
              </a:rPr>
              <a:t>Структура адреса </a:t>
            </a:r>
            <a:r>
              <a:rPr lang="en-US" altLang="ru-RU" sz="2800" b="1" dirty="0" smtClean="0">
                <a:latin typeface="Verdana" panose="020B0604030504040204" pitchFamily="34" charset="0"/>
              </a:rPr>
              <a:t>IPv6 </a:t>
            </a:r>
            <a:endParaRPr lang="ru-RU" altLang="ru-RU" sz="2800" b="1" dirty="0">
              <a:latin typeface="Verdana" panose="020B0604030504040204" pitchFamily="34" charset="0"/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72FCD-ECDD-4AD1-A933-149E1B2284F8}" type="slidenum">
              <a:rPr lang="ru-RU" altLang="ru-RU" smtClean="0"/>
              <a:pPr/>
              <a:t>23</a:t>
            </a:fld>
            <a:endParaRPr lang="ru-RU" altLang="ru-RU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03" y="2838304"/>
            <a:ext cx="9095193" cy="1181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378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TextBox 2"/>
          <p:cNvSpPr txBox="1">
            <a:spLocks noChangeArrowheads="1"/>
          </p:cNvSpPr>
          <p:nvPr/>
        </p:nvSpPr>
        <p:spPr bwMode="auto">
          <a:xfrm>
            <a:off x="2843213" y="158750"/>
            <a:ext cx="626586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000" dirty="0" smtClean="0">
                <a:latin typeface="Verdana" panose="020B0604030504040204" pitchFamily="34" charset="0"/>
              </a:rPr>
              <a:t>Сети и системы телекоммуникаций. Протокол </a:t>
            </a:r>
            <a:r>
              <a:rPr lang="en-US" altLang="ru-RU" sz="1000" dirty="0" smtClean="0">
                <a:latin typeface="Verdana" panose="020B0604030504040204" pitchFamily="34" charset="0"/>
              </a:rPr>
              <a:t>IPv6</a:t>
            </a:r>
            <a:r>
              <a:rPr lang="ru-RU" altLang="ru-RU" sz="1000" dirty="0">
                <a:latin typeface="Verdana" panose="020B0604030504040204" pitchFamily="34" charset="0"/>
              </a:rPr>
              <a:t>	</a:t>
            </a:r>
            <a:r>
              <a:rPr lang="ru-RU" altLang="ru-RU" sz="1000" b="1" dirty="0">
                <a:latin typeface="Verdana" panose="020B0604030504040204" pitchFamily="34" charset="0"/>
              </a:rPr>
              <a:t>	</a:t>
            </a:r>
          </a:p>
        </p:txBody>
      </p:sp>
      <p:sp>
        <p:nvSpPr>
          <p:cNvPr id="4100" name="TextBox 3"/>
          <p:cNvSpPr txBox="1">
            <a:spLocks noChangeArrowheads="1"/>
          </p:cNvSpPr>
          <p:nvPr/>
        </p:nvSpPr>
        <p:spPr bwMode="auto">
          <a:xfrm>
            <a:off x="539750" y="1700808"/>
            <a:ext cx="8208963" cy="40934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ts val="1200"/>
              </a:spcBef>
            </a:pPr>
            <a:r>
              <a:rPr lang="ru-RU" altLang="ru-RU" sz="2400" dirty="0" err="1">
                <a:latin typeface="Verdana" panose="020B0604030504040204" pitchFamily="34" charset="0"/>
              </a:rPr>
              <a:t>Unicast</a:t>
            </a:r>
            <a:r>
              <a:rPr lang="ru-RU" altLang="ru-RU" sz="2400" dirty="0">
                <a:latin typeface="Verdana" panose="020B0604030504040204" pitchFamily="34" charset="0"/>
              </a:rPr>
              <a:t> </a:t>
            </a:r>
          </a:p>
          <a:p>
            <a:pPr marL="715963" lvl="1" indent="-361950" algn="just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altLang="ru-RU" sz="2000" dirty="0">
                <a:latin typeface="Verdana" panose="020B0604030504040204" pitchFamily="34" charset="0"/>
              </a:rPr>
              <a:t>Адреса хостов в сети (данные получает только один хост)</a:t>
            </a:r>
          </a:p>
          <a:p>
            <a:pPr algn="just" eaLnBrk="1" hangingPunct="1">
              <a:spcBef>
                <a:spcPts val="1200"/>
              </a:spcBef>
            </a:pPr>
            <a:r>
              <a:rPr lang="ru-RU" altLang="ru-RU" sz="2400" dirty="0" err="1">
                <a:latin typeface="Verdana" panose="020B0604030504040204" pitchFamily="34" charset="0"/>
              </a:rPr>
              <a:t>Multicast</a:t>
            </a:r>
            <a:endParaRPr lang="ru-RU" altLang="ru-RU" sz="2400" dirty="0">
              <a:latin typeface="Verdana" panose="020B0604030504040204" pitchFamily="34" charset="0"/>
            </a:endParaRPr>
          </a:p>
          <a:p>
            <a:pPr marL="715963" lvl="1" indent="-361950" algn="just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altLang="ru-RU" sz="2000" dirty="0">
                <a:latin typeface="Verdana" panose="020B0604030504040204" pitchFamily="34" charset="0"/>
              </a:rPr>
              <a:t>Групповые адреса (данные получают все хосты в группе)</a:t>
            </a:r>
          </a:p>
          <a:p>
            <a:pPr algn="just" eaLnBrk="1" hangingPunct="1">
              <a:spcBef>
                <a:spcPts val="1200"/>
              </a:spcBef>
            </a:pPr>
            <a:r>
              <a:rPr lang="ru-RU" altLang="ru-RU" sz="2400" dirty="0" err="1">
                <a:latin typeface="Verdana" panose="020B0604030504040204" pitchFamily="34" charset="0"/>
              </a:rPr>
              <a:t>Anycast</a:t>
            </a:r>
            <a:endParaRPr lang="ru-RU" altLang="ru-RU" sz="2400" dirty="0">
              <a:latin typeface="Verdana" panose="020B0604030504040204" pitchFamily="34" charset="0"/>
            </a:endParaRPr>
          </a:p>
          <a:p>
            <a:pPr marL="715963" lvl="1" indent="-361950" algn="just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altLang="ru-RU" sz="2000" dirty="0">
                <a:latin typeface="Verdana" panose="020B0604030504040204" pitchFamily="34" charset="0"/>
              </a:rPr>
              <a:t>Групповые адреса (данные получает только один хост в группе)</a:t>
            </a:r>
          </a:p>
          <a:p>
            <a:pPr algn="just" eaLnBrk="1" hangingPunct="1">
              <a:spcBef>
                <a:spcPts val="1200"/>
              </a:spcBef>
            </a:pPr>
            <a:r>
              <a:rPr lang="ru-RU" altLang="ru-RU" sz="2400" dirty="0">
                <a:latin typeface="Verdana" panose="020B0604030504040204" pitchFamily="34" charset="0"/>
              </a:rPr>
              <a:t>Нет широковещательных адресов</a:t>
            </a:r>
          </a:p>
          <a:p>
            <a:pPr marL="715963" lvl="1" indent="-361950" algn="just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altLang="ru-RU" sz="2000" dirty="0">
                <a:latin typeface="Verdana" panose="020B0604030504040204" pitchFamily="34" charset="0"/>
              </a:rPr>
              <a:t>Можно использовать групповой адрес FF02::1</a:t>
            </a:r>
          </a:p>
        </p:txBody>
      </p:sp>
      <p:sp>
        <p:nvSpPr>
          <p:cNvPr id="4101" name="TextBox 3"/>
          <p:cNvSpPr txBox="1">
            <a:spLocks noChangeArrowheads="1"/>
          </p:cNvSpPr>
          <p:nvPr/>
        </p:nvSpPr>
        <p:spPr bwMode="auto">
          <a:xfrm>
            <a:off x="539750" y="937774"/>
            <a:ext cx="8208963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800" b="1" dirty="0">
                <a:latin typeface="Verdana" panose="020B0604030504040204" pitchFamily="34" charset="0"/>
              </a:rPr>
              <a:t>Типы </a:t>
            </a:r>
            <a:r>
              <a:rPr lang="ru-RU" altLang="ru-RU" sz="2800" b="1" dirty="0" smtClean="0">
                <a:latin typeface="Verdana" panose="020B0604030504040204" pitchFamily="34" charset="0"/>
              </a:rPr>
              <a:t>адресов </a:t>
            </a:r>
            <a:r>
              <a:rPr lang="en-US" altLang="ru-RU" sz="2800" b="1" dirty="0" smtClean="0">
                <a:latin typeface="Verdana" panose="020B0604030504040204" pitchFamily="34" charset="0"/>
              </a:rPr>
              <a:t>IPv6 </a:t>
            </a:r>
            <a:endParaRPr lang="ru-RU" altLang="ru-RU" sz="2800" b="1" dirty="0">
              <a:latin typeface="Verdana" panose="020B0604030504040204" pitchFamily="34" charset="0"/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72FCD-ECDD-4AD1-A933-149E1B2284F8}" type="slidenum">
              <a:rPr lang="ru-RU" altLang="ru-RU" smtClean="0"/>
              <a:pPr/>
              <a:t>24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4180363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TextBox 2"/>
          <p:cNvSpPr txBox="1">
            <a:spLocks noChangeArrowheads="1"/>
          </p:cNvSpPr>
          <p:nvPr/>
        </p:nvSpPr>
        <p:spPr bwMode="auto">
          <a:xfrm>
            <a:off x="2843213" y="158750"/>
            <a:ext cx="626586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000" dirty="0" smtClean="0">
                <a:latin typeface="Verdana" panose="020B0604030504040204" pitchFamily="34" charset="0"/>
              </a:rPr>
              <a:t>Сети и системы телекоммуникаций. Протокол </a:t>
            </a:r>
            <a:r>
              <a:rPr lang="en-US" altLang="ru-RU" sz="1000" dirty="0" smtClean="0">
                <a:latin typeface="Verdana" panose="020B0604030504040204" pitchFamily="34" charset="0"/>
              </a:rPr>
              <a:t>IPv6</a:t>
            </a:r>
            <a:r>
              <a:rPr lang="ru-RU" altLang="ru-RU" sz="1000" dirty="0">
                <a:latin typeface="Verdana" panose="020B0604030504040204" pitchFamily="34" charset="0"/>
              </a:rPr>
              <a:t>	</a:t>
            </a:r>
            <a:r>
              <a:rPr lang="ru-RU" altLang="ru-RU" sz="1000" b="1" dirty="0">
                <a:latin typeface="Verdana" panose="020B0604030504040204" pitchFamily="34" charset="0"/>
              </a:rPr>
              <a:t>	</a:t>
            </a:r>
          </a:p>
        </p:txBody>
      </p:sp>
      <p:sp>
        <p:nvSpPr>
          <p:cNvPr id="4100" name="TextBox 3"/>
          <p:cNvSpPr txBox="1">
            <a:spLocks noChangeArrowheads="1"/>
          </p:cNvSpPr>
          <p:nvPr/>
        </p:nvSpPr>
        <p:spPr bwMode="auto">
          <a:xfrm>
            <a:off x="539750" y="1700808"/>
            <a:ext cx="8208963" cy="40318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ts val="1200"/>
              </a:spcBef>
            </a:pPr>
            <a:r>
              <a:rPr lang="ru-RU" altLang="ru-RU" sz="2400" dirty="0" err="1">
                <a:latin typeface="Verdana" panose="020B0604030504040204" pitchFamily="34" charset="0"/>
              </a:rPr>
              <a:t>Link</a:t>
            </a:r>
            <a:r>
              <a:rPr lang="ru-RU" altLang="ru-RU" sz="2400" dirty="0">
                <a:latin typeface="Verdana" panose="020B0604030504040204" pitchFamily="34" charset="0"/>
              </a:rPr>
              <a:t> </a:t>
            </a:r>
            <a:r>
              <a:rPr lang="ru-RU" altLang="ru-RU" sz="2400" dirty="0" err="1">
                <a:latin typeface="Verdana" panose="020B0604030504040204" pitchFamily="34" charset="0"/>
              </a:rPr>
              <a:t>local</a:t>
            </a:r>
            <a:r>
              <a:rPr lang="ru-RU" altLang="ru-RU" sz="2400" dirty="0">
                <a:latin typeface="Verdana" panose="020B0604030504040204" pitchFamily="34" charset="0"/>
              </a:rPr>
              <a:t> </a:t>
            </a:r>
            <a:r>
              <a:rPr lang="en-US" altLang="ru-RU" sz="2400" dirty="0" smtClean="0">
                <a:latin typeface="Verdana" panose="020B0604030504040204" pitchFamily="34" charset="0"/>
              </a:rPr>
              <a:t>—</a:t>
            </a:r>
            <a:r>
              <a:rPr lang="ru-RU" altLang="ru-RU" sz="2400" dirty="0" smtClean="0">
                <a:latin typeface="Verdana" panose="020B0604030504040204" pitchFamily="34" charset="0"/>
              </a:rPr>
              <a:t> </a:t>
            </a:r>
            <a:r>
              <a:rPr lang="ru-RU" altLang="ru-RU" sz="2400" dirty="0">
                <a:latin typeface="Verdana" panose="020B0604030504040204" pitchFamily="34" charset="0"/>
              </a:rPr>
              <a:t>адреса для передачи данных в рамках одного сегмента сети (без маршрутизации)</a:t>
            </a:r>
          </a:p>
          <a:p>
            <a:pPr algn="just" eaLnBrk="1" hangingPunct="1">
              <a:spcBef>
                <a:spcPts val="1200"/>
              </a:spcBef>
            </a:pPr>
            <a:r>
              <a:rPr lang="ru-RU" altLang="ru-RU" sz="2400" dirty="0" err="1">
                <a:latin typeface="Verdana" panose="020B0604030504040204" pitchFamily="34" charset="0"/>
              </a:rPr>
              <a:t>Site</a:t>
            </a:r>
            <a:r>
              <a:rPr lang="ru-RU" altLang="ru-RU" sz="2400" dirty="0">
                <a:latin typeface="Verdana" panose="020B0604030504040204" pitchFamily="34" charset="0"/>
              </a:rPr>
              <a:t> </a:t>
            </a:r>
            <a:r>
              <a:rPr lang="ru-RU" altLang="ru-RU" sz="2400" dirty="0" err="1">
                <a:latin typeface="Verdana" panose="020B0604030504040204" pitchFamily="34" charset="0"/>
              </a:rPr>
              <a:t>local</a:t>
            </a:r>
            <a:r>
              <a:rPr lang="ru-RU" altLang="ru-RU" sz="2400" dirty="0">
                <a:latin typeface="Verdana" panose="020B0604030504040204" pitchFamily="34" charset="0"/>
              </a:rPr>
              <a:t> </a:t>
            </a:r>
            <a:r>
              <a:rPr lang="en-US" altLang="ru-RU" sz="2400" dirty="0" smtClean="0">
                <a:latin typeface="Verdana" panose="020B0604030504040204" pitchFamily="34" charset="0"/>
              </a:rPr>
              <a:t>—</a:t>
            </a:r>
            <a:r>
              <a:rPr lang="ru-RU" altLang="ru-RU" sz="2400" dirty="0" smtClean="0">
                <a:latin typeface="Verdana" panose="020B0604030504040204" pitchFamily="34" charset="0"/>
              </a:rPr>
              <a:t> </a:t>
            </a:r>
            <a:r>
              <a:rPr lang="ru-RU" altLang="ru-RU" sz="2400" dirty="0">
                <a:latin typeface="Verdana" panose="020B0604030504040204" pitchFamily="34" charset="0"/>
              </a:rPr>
              <a:t>адреса для передачи данных внутри организации (аналог </a:t>
            </a:r>
            <a:r>
              <a:rPr lang="ru-RU" altLang="ru-RU" sz="2400" dirty="0" err="1">
                <a:latin typeface="Verdana" panose="020B0604030504040204" pitchFamily="34" charset="0"/>
              </a:rPr>
              <a:t>Private</a:t>
            </a:r>
            <a:r>
              <a:rPr lang="ru-RU" altLang="ru-RU" sz="2400" dirty="0">
                <a:latin typeface="Verdana" panose="020B0604030504040204" pitchFamily="34" charset="0"/>
              </a:rPr>
              <a:t> адресов в IPv4). </a:t>
            </a:r>
          </a:p>
          <a:p>
            <a:pPr marL="715963" lvl="1" indent="-361950" algn="just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altLang="ru-RU" sz="2000" dirty="0">
                <a:latin typeface="Verdana" panose="020B0604030504040204" pitchFamily="34" charset="0"/>
              </a:rPr>
              <a:t>Маршрутизируются в сети организации, но недоступны </a:t>
            </a:r>
            <a:r>
              <a:rPr lang="ru-RU" altLang="ru-RU" sz="2000" dirty="0" smtClean="0">
                <a:latin typeface="Verdana" panose="020B0604030504040204" pitchFamily="34" charset="0"/>
              </a:rPr>
              <a:t>из </a:t>
            </a:r>
            <a:r>
              <a:rPr lang="ru-RU" altLang="ru-RU" sz="2000" dirty="0">
                <a:latin typeface="Verdana" panose="020B0604030504040204" pitchFamily="34" charset="0"/>
              </a:rPr>
              <a:t>Интернет</a:t>
            </a:r>
          </a:p>
          <a:p>
            <a:pPr algn="just" eaLnBrk="1" hangingPunct="1">
              <a:spcBef>
                <a:spcPts val="1200"/>
              </a:spcBef>
            </a:pPr>
            <a:r>
              <a:rPr lang="ru-RU" altLang="ru-RU" sz="2400" dirty="0" err="1">
                <a:latin typeface="Verdana" panose="020B0604030504040204" pitchFamily="34" charset="0"/>
              </a:rPr>
              <a:t>Global</a:t>
            </a:r>
            <a:r>
              <a:rPr lang="ru-RU" altLang="ru-RU" sz="2400" dirty="0">
                <a:latin typeface="Verdana" panose="020B0604030504040204" pitchFamily="34" charset="0"/>
              </a:rPr>
              <a:t> </a:t>
            </a:r>
            <a:r>
              <a:rPr lang="en-US" altLang="ru-RU" sz="2400" dirty="0" smtClean="0">
                <a:latin typeface="Verdana" panose="020B0604030504040204" pitchFamily="34" charset="0"/>
              </a:rPr>
              <a:t>—</a:t>
            </a:r>
            <a:r>
              <a:rPr lang="ru-RU" altLang="ru-RU" sz="2400" dirty="0" smtClean="0">
                <a:latin typeface="Verdana" panose="020B0604030504040204" pitchFamily="34" charset="0"/>
              </a:rPr>
              <a:t> </a:t>
            </a:r>
            <a:r>
              <a:rPr lang="ru-RU" altLang="ru-RU" sz="2400" dirty="0">
                <a:latin typeface="Verdana" panose="020B0604030504040204" pitchFamily="34" charset="0"/>
              </a:rPr>
              <a:t>глобальные адреса для работы в Интернет</a:t>
            </a:r>
          </a:p>
          <a:p>
            <a:pPr algn="just" eaLnBrk="1" hangingPunct="1">
              <a:spcBef>
                <a:spcPts val="1200"/>
              </a:spcBef>
            </a:pPr>
            <a:r>
              <a:rPr lang="ru-RU" altLang="ru-RU" sz="2400" dirty="0">
                <a:latin typeface="Verdana" panose="020B0604030504040204" pitchFamily="34" charset="0"/>
              </a:rPr>
              <a:t>В IPv6 интерфейс может иметь несколько адресов разных типов</a:t>
            </a:r>
          </a:p>
        </p:txBody>
      </p:sp>
      <p:sp>
        <p:nvSpPr>
          <p:cNvPr id="4101" name="TextBox 3"/>
          <p:cNvSpPr txBox="1">
            <a:spLocks noChangeArrowheads="1"/>
          </p:cNvSpPr>
          <p:nvPr/>
        </p:nvSpPr>
        <p:spPr bwMode="auto">
          <a:xfrm>
            <a:off x="539750" y="937774"/>
            <a:ext cx="8208963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800" b="1" dirty="0">
                <a:latin typeface="Verdana" panose="020B0604030504040204" pitchFamily="34" charset="0"/>
              </a:rPr>
              <a:t>Область действия </a:t>
            </a:r>
            <a:r>
              <a:rPr lang="en-US" altLang="ru-RU" sz="2800" b="1" dirty="0">
                <a:latin typeface="Verdana" panose="020B0604030504040204" pitchFamily="34" charset="0"/>
              </a:rPr>
              <a:t>IPv6 </a:t>
            </a:r>
            <a:r>
              <a:rPr lang="ru-RU" altLang="ru-RU" sz="2800" b="1" dirty="0">
                <a:latin typeface="Verdana" panose="020B0604030504040204" pitchFamily="34" charset="0"/>
              </a:rPr>
              <a:t>адресов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72FCD-ECDD-4AD1-A933-149E1B2284F8}" type="slidenum">
              <a:rPr lang="ru-RU" altLang="ru-RU" smtClean="0"/>
              <a:pPr/>
              <a:t>25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06918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TextBox 2"/>
          <p:cNvSpPr txBox="1">
            <a:spLocks noChangeArrowheads="1"/>
          </p:cNvSpPr>
          <p:nvPr/>
        </p:nvSpPr>
        <p:spPr bwMode="auto">
          <a:xfrm>
            <a:off x="2843213" y="158750"/>
            <a:ext cx="626586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000" dirty="0" smtClean="0">
                <a:latin typeface="Verdana" panose="020B0604030504040204" pitchFamily="34" charset="0"/>
              </a:rPr>
              <a:t>Сети и системы телекоммуникаций. Протокол </a:t>
            </a:r>
            <a:r>
              <a:rPr lang="en-US" altLang="ru-RU" sz="1000" dirty="0" smtClean="0">
                <a:latin typeface="Verdana" panose="020B0604030504040204" pitchFamily="34" charset="0"/>
              </a:rPr>
              <a:t>IPv6</a:t>
            </a:r>
            <a:r>
              <a:rPr lang="ru-RU" altLang="ru-RU" sz="1000" dirty="0">
                <a:latin typeface="Verdana" panose="020B0604030504040204" pitchFamily="34" charset="0"/>
              </a:rPr>
              <a:t>	</a:t>
            </a:r>
            <a:r>
              <a:rPr lang="ru-RU" altLang="ru-RU" sz="1000" b="1" dirty="0">
                <a:latin typeface="Verdana" panose="020B0604030504040204" pitchFamily="34" charset="0"/>
              </a:rPr>
              <a:t>	</a:t>
            </a:r>
          </a:p>
        </p:txBody>
      </p:sp>
      <p:sp>
        <p:nvSpPr>
          <p:cNvPr id="4100" name="TextBox 3"/>
          <p:cNvSpPr txBox="1">
            <a:spLocks noChangeArrowheads="1"/>
          </p:cNvSpPr>
          <p:nvPr/>
        </p:nvSpPr>
        <p:spPr bwMode="auto">
          <a:xfrm>
            <a:off x="539750" y="1700808"/>
            <a:ext cx="8208963" cy="892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ts val="1200"/>
              </a:spcBef>
            </a:pPr>
            <a:r>
              <a:rPr lang="ru-RU" altLang="ru-RU" sz="2400" dirty="0">
                <a:latin typeface="Verdana" panose="020B0604030504040204" pitchFamily="34" charset="0"/>
              </a:rPr>
              <a:t>Используются внутри одного сегмента сети</a:t>
            </a:r>
          </a:p>
          <a:p>
            <a:pPr algn="just" eaLnBrk="1" hangingPunct="1">
              <a:spcBef>
                <a:spcPts val="1200"/>
              </a:spcBef>
            </a:pPr>
            <a:r>
              <a:rPr lang="ru-RU" altLang="ru-RU" sz="2400" dirty="0">
                <a:latin typeface="Verdana" panose="020B0604030504040204" pitchFamily="34" charset="0"/>
              </a:rPr>
              <a:t>Начинаются с FE80::/10</a:t>
            </a:r>
          </a:p>
        </p:txBody>
      </p:sp>
      <p:sp>
        <p:nvSpPr>
          <p:cNvPr id="4101" name="TextBox 3"/>
          <p:cNvSpPr txBox="1">
            <a:spLocks noChangeArrowheads="1"/>
          </p:cNvSpPr>
          <p:nvPr/>
        </p:nvSpPr>
        <p:spPr bwMode="auto">
          <a:xfrm>
            <a:off x="539750" y="937774"/>
            <a:ext cx="8208963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ru-RU" sz="2800" b="1" dirty="0">
                <a:latin typeface="Verdana" panose="020B0604030504040204" pitchFamily="34" charset="0"/>
              </a:rPr>
              <a:t>Link local </a:t>
            </a:r>
            <a:r>
              <a:rPr lang="ru-RU" altLang="ru-RU" sz="2800" b="1" dirty="0">
                <a:latin typeface="Verdana" panose="020B0604030504040204" pitchFamily="34" charset="0"/>
              </a:rPr>
              <a:t>адреса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72FCD-ECDD-4AD1-A933-149E1B2284F8}" type="slidenum">
              <a:rPr lang="ru-RU" altLang="ru-RU" smtClean="0"/>
              <a:pPr/>
              <a:t>26</a:t>
            </a:fld>
            <a:endParaRPr lang="ru-RU" altLang="ru-RU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5525" y="3227069"/>
            <a:ext cx="6694367" cy="182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795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TextBox 2"/>
          <p:cNvSpPr txBox="1">
            <a:spLocks noChangeArrowheads="1"/>
          </p:cNvSpPr>
          <p:nvPr/>
        </p:nvSpPr>
        <p:spPr bwMode="auto">
          <a:xfrm>
            <a:off x="2843213" y="158750"/>
            <a:ext cx="626586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000" dirty="0" smtClean="0">
                <a:latin typeface="Verdana" panose="020B0604030504040204" pitchFamily="34" charset="0"/>
              </a:rPr>
              <a:t>Сети и системы телекоммуникаций. Протокол </a:t>
            </a:r>
            <a:r>
              <a:rPr lang="en-US" altLang="ru-RU" sz="1000" dirty="0" smtClean="0">
                <a:latin typeface="Verdana" panose="020B0604030504040204" pitchFamily="34" charset="0"/>
              </a:rPr>
              <a:t>IPv6</a:t>
            </a:r>
            <a:r>
              <a:rPr lang="ru-RU" altLang="ru-RU" sz="1000" dirty="0">
                <a:latin typeface="Verdana" panose="020B0604030504040204" pitchFamily="34" charset="0"/>
              </a:rPr>
              <a:t>	</a:t>
            </a:r>
            <a:r>
              <a:rPr lang="ru-RU" altLang="ru-RU" sz="1000" b="1" dirty="0">
                <a:latin typeface="Verdana" panose="020B0604030504040204" pitchFamily="34" charset="0"/>
              </a:rPr>
              <a:t>	</a:t>
            </a:r>
          </a:p>
        </p:txBody>
      </p:sp>
      <p:sp>
        <p:nvSpPr>
          <p:cNvPr id="4100" name="TextBox 3"/>
          <p:cNvSpPr txBox="1">
            <a:spLocks noChangeArrowheads="1"/>
          </p:cNvSpPr>
          <p:nvPr/>
        </p:nvSpPr>
        <p:spPr bwMode="auto">
          <a:xfrm>
            <a:off x="539750" y="1700808"/>
            <a:ext cx="8208963" cy="4247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ts val="1200"/>
              </a:spcBef>
            </a:pPr>
            <a:r>
              <a:rPr lang="ru-RU" altLang="ru-RU" sz="2400" dirty="0">
                <a:latin typeface="Verdana" panose="020B0604030504040204" pitchFamily="34" charset="0"/>
              </a:rPr>
              <a:t>Используются внутри одной организации</a:t>
            </a:r>
          </a:p>
          <a:p>
            <a:pPr algn="just" eaLnBrk="1" hangingPunct="1">
              <a:spcBef>
                <a:spcPts val="1200"/>
              </a:spcBef>
            </a:pPr>
            <a:r>
              <a:rPr lang="ru-RU" altLang="ru-RU" sz="2400" dirty="0">
                <a:latin typeface="Verdana" panose="020B0604030504040204" pitchFamily="34" charset="0"/>
              </a:rPr>
              <a:t>Начинаются с FС00::/7 (сейчас с FD00::/8)</a:t>
            </a:r>
          </a:p>
          <a:p>
            <a:pPr algn="just" eaLnBrk="1" hangingPunct="1">
              <a:spcBef>
                <a:spcPts val="1200"/>
              </a:spcBef>
            </a:pPr>
            <a:endParaRPr lang="ru-RU" altLang="ru-RU" sz="2400" dirty="0">
              <a:latin typeface="Verdana" panose="020B0604030504040204" pitchFamily="34" charset="0"/>
            </a:endParaRPr>
          </a:p>
          <a:p>
            <a:pPr algn="just" eaLnBrk="1" hangingPunct="1">
              <a:spcBef>
                <a:spcPts val="1200"/>
              </a:spcBef>
            </a:pPr>
            <a:endParaRPr lang="ru-RU" altLang="ru-RU" sz="2400" dirty="0">
              <a:latin typeface="Verdana" panose="020B0604030504040204" pitchFamily="34" charset="0"/>
            </a:endParaRPr>
          </a:p>
          <a:p>
            <a:pPr algn="just" eaLnBrk="1" hangingPunct="1">
              <a:spcBef>
                <a:spcPts val="1200"/>
              </a:spcBef>
            </a:pPr>
            <a:endParaRPr lang="ru-RU" altLang="ru-RU" sz="2400" dirty="0">
              <a:latin typeface="Verdana" panose="020B0604030504040204" pitchFamily="34" charset="0"/>
            </a:endParaRPr>
          </a:p>
          <a:p>
            <a:pPr algn="just" eaLnBrk="1" hangingPunct="1">
              <a:spcBef>
                <a:spcPts val="1200"/>
              </a:spcBef>
            </a:pPr>
            <a:endParaRPr lang="ru-RU" altLang="ru-RU" sz="2400" dirty="0">
              <a:latin typeface="Verdana" panose="020B0604030504040204" pitchFamily="34" charset="0"/>
            </a:endParaRPr>
          </a:p>
          <a:p>
            <a:pPr algn="just" eaLnBrk="1" hangingPunct="1">
              <a:spcBef>
                <a:spcPts val="1200"/>
              </a:spcBef>
            </a:pPr>
            <a:r>
              <a:rPr lang="ru-RU" altLang="ru-RU" sz="2400" dirty="0" err="1">
                <a:latin typeface="Verdana" panose="020B0604030504040204" pitchFamily="34" charset="0"/>
              </a:rPr>
              <a:t>Global</a:t>
            </a:r>
            <a:r>
              <a:rPr lang="ru-RU" altLang="ru-RU" sz="2400" dirty="0">
                <a:latin typeface="Verdana" panose="020B0604030504040204" pitchFamily="34" charset="0"/>
              </a:rPr>
              <a:t> ID выбирается для каждой организации по алгоритму из RFC 4193 (с высокой долей вероятности уникальный)</a:t>
            </a:r>
          </a:p>
        </p:txBody>
      </p:sp>
      <p:sp>
        <p:nvSpPr>
          <p:cNvPr id="4101" name="TextBox 3"/>
          <p:cNvSpPr txBox="1">
            <a:spLocks noChangeArrowheads="1"/>
          </p:cNvSpPr>
          <p:nvPr/>
        </p:nvSpPr>
        <p:spPr bwMode="auto">
          <a:xfrm>
            <a:off x="539750" y="937774"/>
            <a:ext cx="8208963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ru-RU" sz="2800" b="1" dirty="0">
                <a:latin typeface="Verdana" panose="020B0604030504040204" pitchFamily="34" charset="0"/>
              </a:rPr>
              <a:t>Site local </a:t>
            </a:r>
            <a:r>
              <a:rPr lang="ru-RU" altLang="ru-RU" sz="2800" b="1" dirty="0">
                <a:latin typeface="Verdana" panose="020B0604030504040204" pitchFamily="34" charset="0"/>
              </a:rPr>
              <a:t>адреса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72FCD-ECDD-4AD1-A933-149E1B2284F8}" type="slidenum">
              <a:rPr lang="ru-RU" altLang="ru-RU" smtClean="0"/>
              <a:pPr/>
              <a:t>27</a:t>
            </a:fld>
            <a:endParaRPr lang="ru-RU" altLang="ru-RU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816" y="2780928"/>
            <a:ext cx="6694367" cy="1765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356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TextBox 2"/>
          <p:cNvSpPr txBox="1">
            <a:spLocks noChangeArrowheads="1"/>
          </p:cNvSpPr>
          <p:nvPr/>
        </p:nvSpPr>
        <p:spPr bwMode="auto">
          <a:xfrm>
            <a:off x="2843213" y="158750"/>
            <a:ext cx="626586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000" dirty="0" smtClean="0">
                <a:latin typeface="Verdana" panose="020B0604030504040204" pitchFamily="34" charset="0"/>
              </a:rPr>
              <a:t>Сети и системы телекоммуникаций. Протокол </a:t>
            </a:r>
            <a:r>
              <a:rPr lang="en-US" altLang="ru-RU" sz="1000" dirty="0" smtClean="0">
                <a:latin typeface="Verdana" panose="020B0604030504040204" pitchFamily="34" charset="0"/>
              </a:rPr>
              <a:t>IPv6</a:t>
            </a:r>
            <a:r>
              <a:rPr lang="ru-RU" altLang="ru-RU" sz="1000" dirty="0">
                <a:latin typeface="Verdana" panose="020B0604030504040204" pitchFamily="34" charset="0"/>
              </a:rPr>
              <a:t>	</a:t>
            </a:r>
            <a:r>
              <a:rPr lang="ru-RU" altLang="ru-RU" sz="1000" b="1" dirty="0">
                <a:latin typeface="Verdana" panose="020B0604030504040204" pitchFamily="34" charset="0"/>
              </a:rPr>
              <a:t>	</a:t>
            </a:r>
          </a:p>
        </p:txBody>
      </p:sp>
      <p:sp>
        <p:nvSpPr>
          <p:cNvPr id="4100" name="TextBox 3"/>
          <p:cNvSpPr txBox="1">
            <a:spLocks noChangeArrowheads="1"/>
          </p:cNvSpPr>
          <p:nvPr/>
        </p:nvSpPr>
        <p:spPr bwMode="auto">
          <a:xfrm>
            <a:off x="539750" y="1700808"/>
            <a:ext cx="8208963" cy="1785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ts val="1200"/>
              </a:spcBef>
            </a:pPr>
            <a:r>
              <a:rPr lang="ru-RU" altLang="ru-RU" sz="2400" dirty="0">
                <a:latin typeface="Verdana" panose="020B0604030504040204" pitchFamily="34" charset="0"/>
              </a:rPr>
              <a:t>Используются в Интернет</a:t>
            </a:r>
          </a:p>
          <a:p>
            <a:pPr algn="just" eaLnBrk="1" hangingPunct="1">
              <a:spcBef>
                <a:spcPts val="1200"/>
              </a:spcBef>
            </a:pPr>
            <a:r>
              <a:rPr lang="ru-RU" altLang="ru-RU" sz="2400" dirty="0">
                <a:latin typeface="Verdana" panose="020B0604030504040204" pitchFamily="34" charset="0"/>
              </a:rPr>
              <a:t>Выделяются регистратором ICANN (не должны дублироваться)</a:t>
            </a:r>
          </a:p>
          <a:p>
            <a:pPr algn="just" eaLnBrk="1" hangingPunct="1">
              <a:spcBef>
                <a:spcPts val="1200"/>
              </a:spcBef>
            </a:pPr>
            <a:r>
              <a:rPr lang="ru-RU" altLang="ru-RU" sz="2400" dirty="0">
                <a:latin typeface="Verdana" panose="020B0604030504040204" pitchFamily="34" charset="0"/>
              </a:rPr>
              <a:t>Сейчас выделяются из диапазона 2000::/3</a:t>
            </a:r>
          </a:p>
        </p:txBody>
      </p:sp>
      <p:sp>
        <p:nvSpPr>
          <p:cNvPr id="4101" name="TextBox 3"/>
          <p:cNvSpPr txBox="1">
            <a:spLocks noChangeArrowheads="1"/>
          </p:cNvSpPr>
          <p:nvPr/>
        </p:nvSpPr>
        <p:spPr bwMode="auto">
          <a:xfrm>
            <a:off x="539750" y="937774"/>
            <a:ext cx="8208963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ru-RU" sz="2800" b="1" dirty="0">
                <a:latin typeface="Verdana" panose="020B0604030504040204" pitchFamily="34" charset="0"/>
              </a:rPr>
              <a:t>Global </a:t>
            </a:r>
            <a:r>
              <a:rPr lang="ru-RU" altLang="ru-RU" sz="2800" b="1" dirty="0">
                <a:latin typeface="Verdana" panose="020B0604030504040204" pitchFamily="34" charset="0"/>
              </a:rPr>
              <a:t>адреса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72FCD-ECDD-4AD1-A933-149E1B2284F8}" type="slidenum">
              <a:rPr lang="ru-RU" altLang="ru-RU" smtClean="0"/>
              <a:pPr/>
              <a:t>28</a:t>
            </a:fld>
            <a:endParaRPr lang="ru-RU" altLang="ru-RU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920" y="3714015"/>
            <a:ext cx="7281865" cy="2115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973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TextBox 2"/>
          <p:cNvSpPr txBox="1">
            <a:spLocks noChangeArrowheads="1"/>
          </p:cNvSpPr>
          <p:nvPr/>
        </p:nvSpPr>
        <p:spPr bwMode="auto">
          <a:xfrm>
            <a:off x="2843213" y="158750"/>
            <a:ext cx="626586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000" dirty="0" smtClean="0">
                <a:latin typeface="Verdana" panose="020B0604030504040204" pitchFamily="34" charset="0"/>
              </a:rPr>
              <a:t>Сети и системы телекоммуникаций. Протокол </a:t>
            </a:r>
            <a:r>
              <a:rPr lang="en-US" altLang="ru-RU" sz="1000" dirty="0" smtClean="0">
                <a:latin typeface="Verdana" panose="020B0604030504040204" pitchFamily="34" charset="0"/>
              </a:rPr>
              <a:t>IPv6</a:t>
            </a:r>
            <a:r>
              <a:rPr lang="ru-RU" altLang="ru-RU" sz="1000" dirty="0">
                <a:latin typeface="Verdana" panose="020B0604030504040204" pitchFamily="34" charset="0"/>
              </a:rPr>
              <a:t>	</a:t>
            </a:r>
            <a:r>
              <a:rPr lang="ru-RU" altLang="ru-RU" sz="1000" b="1" dirty="0">
                <a:latin typeface="Verdana" panose="020B0604030504040204" pitchFamily="34" charset="0"/>
              </a:rPr>
              <a:t>	</a:t>
            </a:r>
          </a:p>
        </p:txBody>
      </p:sp>
      <p:sp>
        <p:nvSpPr>
          <p:cNvPr id="4100" name="TextBox 3"/>
          <p:cNvSpPr txBox="1">
            <a:spLocks noChangeArrowheads="1"/>
          </p:cNvSpPr>
          <p:nvPr/>
        </p:nvSpPr>
        <p:spPr bwMode="auto">
          <a:xfrm>
            <a:off x="539750" y="1700808"/>
            <a:ext cx="8208963" cy="2646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ts val="1200"/>
              </a:spcBef>
            </a:pPr>
            <a:r>
              <a:rPr lang="ru-RU" altLang="ru-RU" sz="2400" dirty="0">
                <a:latin typeface="Verdana" panose="020B0604030504040204" pitchFamily="34" charset="0"/>
              </a:rPr>
              <a:t>Вручную</a:t>
            </a:r>
          </a:p>
          <a:p>
            <a:pPr algn="just" eaLnBrk="1" hangingPunct="1">
              <a:spcBef>
                <a:spcPts val="1200"/>
              </a:spcBef>
            </a:pPr>
            <a:r>
              <a:rPr lang="ru-RU" altLang="ru-RU" sz="2400" dirty="0">
                <a:latin typeface="Verdana" panose="020B0604030504040204" pitchFamily="34" charset="0"/>
              </a:rPr>
              <a:t>DHCPv6</a:t>
            </a:r>
          </a:p>
          <a:p>
            <a:pPr algn="just" eaLnBrk="1" hangingPunct="1">
              <a:spcBef>
                <a:spcPts val="1200"/>
              </a:spcBef>
            </a:pPr>
            <a:r>
              <a:rPr lang="ru-RU" altLang="ru-RU" sz="2400" dirty="0">
                <a:latin typeface="Verdana" panose="020B0604030504040204" pitchFamily="34" charset="0"/>
              </a:rPr>
              <a:t>Автоматическая конфигурация</a:t>
            </a:r>
          </a:p>
          <a:p>
            <a:pPr marL="715963" lvl="1" indent="-361950" algn="just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altLang="ru-RU" sz="2000" dirty="0">
                <a:latin typeface="Verdana" panose="020B0604030504040204" pitchFamily="34" charset="0"/>
              </a:rPr>
              <a:t>Формирование </a:t>
            </a:r>
            <a:r>
              <a:rPr lang="ru-RU" altLang="ru-RU" sz="2000" dirty="0" err="1">
                <a:latin typeface="Verdana" panose="020B0604030504040204" pitchFamily="34" charset="0"/>
              </a:rPr>
              <a:t>Interface</a:t>
            </a:r>
            <a:r>
              <a:rPr lang="ru-RU" altLang="ru-RU" sz="2000" dirty="0">
                <a:latin typeface="Verdana" panose="020B0604030504040204" pitchFamily="34" charset="0"/>
              </a:rPr>
              <a:t> ID на основе MAC-адреса </a:t>
            </a:r>
            <a:r>
              <a:rPr lang="en-US" altLang="ru-RU" sz="2000" dirty="0" smtClean="0">
                <a:latin typeface="Verdana" panose="020B0604030504040204" pitchFamily="34" charset="0"/>
              </a:rPr>
              <a:t>—</a:t>
            </a:r>
            <a:r>
              <a:rPr lang="ru-RU" altLang="ru-RU" sz="2000" dirty="0" smtClean="0">
                <a:latin typeface="Verdana" panose="020B0604030504040204" pitchFamily="34" charset="0"/>
              </a:rPr>
              <a:t>процесс </a:t>
            </a:r>
            <a:r>
              <a:rPr lang="ru-RU" altLang="ru-RU" sz="2000" dirty="0">
                <a:latin typeface="Verdana" panose="020B0604030504040204" pitchFamily="34" charset="0"/>
              </a:rPr>
              <a:t>EUI-64 (</a:t>
            </a:r>
            <a:r>
              <a:rPr lang="ru-RU" altLang="ru-RU" sz="2000" dirty="0" err="1">
                <a:latin typeface="Verdana" panose="020B0604030504040204" pitchFamily="34" charset="0"/>
              </a:rPr>
              <a:t>Extended</a:t>
            </a:r>
            <a:r>
              <a:rPr lang="ru-RU" altLang="ru-RU" sz="2000" dirty="0">
                <a:latin typeface="Verdana" panose="020B0604030504040204" pitchFamily="34" charset="0"/>
              </a:rPr>
              <a:t> </a:t>
            </a:r>
            <a:r>
              <a:rPr lang="ru-RU" altLang="ru-RU" sz="2000" dirty="0" err="1">
                <a:latin typeface="Verdana" panose="020B0604030504040204" pitchFamily="34" charset="0"/>
              </a:rPr>
              <a:t>Unique</a:t>
            </a:r>
            <a:r>
              <a:rPr lang="ru-RU" altLang="ru-RU" sz="2000" dirty="0">
                <a:latin typeface="Verdana" panose="020B0604030504040204" pitchFamily="34" charset="0"/>
              </a:rPr>
              <a:t> </a:t>
            </a:r>
            <a:r>
              <a:rPr lang="ru-RU" altLang="ru-RU" sz="2000" dirty="0" err="1">
                <a:latin typeface="Verdana" panose="020B0604030504040204" pitchFamily="34" charset="0"/>
              </a:rPr>
              <a:t>Identifier</a:t>
            </a:r>
            <a:r>
              <a:rPr lang="ru-RU" altLang="ru-RU" sz="2000" dirty="0">
                <a:latin typeface="Verdana" panose="020B0604030504040204" pitchFamily="34" charset="0"/>
              </a:rPr>
              <a:t>, 64 бита)</a:t>
            </a:r>
          </a:p>
          <a:p>
            <a:pPr marL="715963" lvl="1" indent="-361950" algn="just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altLang="ru-RU" sz="2000" dirty="0">
                <a:latin typeface="Verdana" panose="020B0604030504040204" pitchFamily="34" charset="0"/>
              </a:rPr>
              <a:t>Получение от маршрутизатора </a:t>
            </a:r>
            <a:r>
              <a:rPr lang="ru-RU" altLang="ru-RU" sz="2000" dirty="0" err="1">
                <a:latin typeface="Verdana" panose="020B0604030504040204" pitchFamily="34" charset="0"/>
              </a:rPr>
              <a:t>Subnet</a:t>
            </a:r>
            <a:r>
              <a:rPr lang="ru-RU" altLang="ru-RU" sz="2000" dirty="0">
                <a:latin typeface="Verdana" panose="020B0604030504040204" pitchFamily="34" charset="0"/>
              </a:rPr>
              <a:t> ID и других параметров</a:t>
            </a:r>
          </a:p>
        </p:txBody>
      </p:sp>
      <p:sp>
        <p:nvSpPr>
          <p:cNvPr id="4101" name="TextBox 3"/>
          <p:cNvSpPr txBox="1">
            <a:spLocks noChangeArrowheads="1"/>
          </p:cNvSpPr>
          <p:nvPr/>
        </p:nvSpPr>
        <p:spPr bwMode="auto">
          <a:xfrm>
            <a:off x="539750" y="937774"/>
            <a:ext cx="8208963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800" b="1" dirty="0">
                <a:latin typeface="Verdana" panose="020B0604030504040204" pitchFamily="34" charset="0"/>
              </a:rPr>
              <a:t>Варианты назначения </a:t>
            </a:r>
            <a:r>
              <a:rPr lang="en-US" altLang="ru-RU" sz="2800" b="1" dirty="0">
                <a:latin typeface="Verdana" panose="020B0604030504040204" pitchFamily="34" charset="0"/>
              </a:rPr>
              <a:t>IPv6 </a:t>
            </a:r>
            <a:r>
              <a:rPr lang="ru-RU" altLang="ru-RU" sz="2800" b="1" dirty="0">
                <a:latin typeface="Verdana" panose="020B0604030504040204" pitchFamily="34" charset="0"/>
              </a:rPr>
              <a:t>адресов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72FCD-ECDD-4AD1-A933-149E1B2284F8}" type="slidenum">
              <a:rPr lang="ru-RU" altLang="ru-RU" smtClean="0"/>
              <a:pPr/>
              <a:t>29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854650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TextBox 2"/>
          <p:cNvSpPr txBox="1">
            <a:spLocks noChangeArrowheads="1"/>
          </p:cNvSpPr>
          <p:nvPr/>
        </p:nvSpPr>
        <p:spPr bwMode="auto">
          <a:xfrm>
            <a:off x="2843213" y="158750"/>
            <a:ext cx="626586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000" dirty="0" smtClean="0">
                <a:latin typeface="Verdana" panose="020B0604030504040204" pitchFamily="34" charset="0"/>
              </a:rPr>
              <a:t>Сети и системы телекоммуникаций. Протокол </a:t>
            </a:r>
            <a:r>
              <a:rPr lang="en-US" altLang="ru-RU" sz="1000" dirty="0" smtClean="0">
                <a:latin typeface="Verdana" panose="020B0604030504040204" pitchFamily="34" charset="0"/>
              </a:rPr>
              <a:t>IPv6</a:t>
            </a:r>
            <a:r>
              <a:rPr lang="ru-RU" altLang="ru-RU" sz="1000" dirty="0">
                <a:latin typeface="Verdana" panose="020B0604030504040204" pitchFamily="34" charset="0"/>
              </a:rPr>
              <a:t>	</a:t>
            </a:r>
            <a:r>
              <a:rPr lang="ru-RU" altLang="ru-RU" sz="1000" b="1" dirty="0">
                <a:latin typeface="Verdana" panose="020B0604030504040204" pitchFamily="34" charset="0"/>
              </a:rPr>
              <a:t>	</a:t>
            </a:r>
          </a:p>
        </p:txBody>
      </p:sp>
      <p:sp>
        <p:nvSpPr>
          <p:cNvPr id="4101" name="TextBox 3"/>
          <p:cNvSpPr txBox="1">
            <a:spLocks noChangeArrowheads="1"/>
          </p:cNvSpPr>
          <p:nvPr/>
        </p:nvSpPr>
        <p:spPr bwMode="auto">
          <a:xfrm>
            <a:off x="539750" y="937774"/>
            <a:ext cx="8208963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800" b="1" dirty="0">
                <a:latin typeface="Verdana" panose="020B0604030504040204" pitchFamily="34" charset="0"/>
              </a:rPr>
              <a:t>Процесс </a:t>
            </a:r>
            <a:r>
              <a:rPr lang="en-US" altLang="ru-RU" sz="2800" b="1" dirty="0">
                <a:latin typeface="Verdana" panose="020B0604030504040204" pitchFamily="34" charset="0"/>
              </a:rPr>
              <a:t>EUI-64</a:t>
            </a:r>
            <a:endParaRPr lang="ru-RU" altLang="ru-RU" sz="2800" b="1" dirty="0">
              <a:latin typeface="Verdana" panose="020B0604030504040204" pitchFamily="34" charset="0"/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72FCD-ECDD-4AD1-A933-149E1B2284F8}" type="slidenum">
              <a:rPr lang="ru-RU" altLang="ru-RU" smtClean="0"/>
              <a:pPr/>
              <a:t>30</a:t>
            </a:fld>
            <a:endParaRPr lang="ru-RU" altLang="ru-RU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9182" y="1815353"/>
            <a:ext cx="5807054" cy="4258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9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TextBox 2"/>
          <p:cNvSpPr txBox="1">
            <a:spLocks noChangeArrowheads="1"/>
          </p:cNvSpPr>
          <p:nvPr/>
        </p:nvSpPr>
        <p:spPr bwMode="auto">
          <a:xfrm>
            <a:off x="2843213" y="158750"/>
            <a:ext cx="626586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000" dirty="0" smtClean="0">
                <a:latin typeface="Verdana" panose="020B0604030504040204" pitchFamily="34" charset="0"/>
              </a:rPr>
              <a:t>Сети и системы телекоммуникаций. Протокол </a:t>
            </a:r>
            <a:r>
              <a:rPr lang="en-US" altLang="ru-RU" sz="1000" dirty="0" smtClean="0">
                <a:latin typeface="Verdana" panose="020B0604030504040204" pitchFamily="34" charset="0"/>
              </a:rPr>
              <a:t>IPv6</a:t>
            </a:r>
            <a:r>
              <a:rPr lang="ru-RU" altLang="ru-RU" sz="1000" dirty="0">
                <a:latin typeface="Verdana" panose="020B0604030504040204" pitchFamily="34" charset="0"/>
              </a:rPr>
              <a:t>	</a:t>
            </a:r>
            <a:r>
              <a:rPr lang="ru-RU" altLang="ru-RU" sz="1000" b="1" dirty="0">
                <a:latin typeface="Verdana" panose="020B0604030504040204" pitchFamily="34" charset="0"/>
              </a:rPr>
              <a:t>	</a:t>
            </a:r>
          </a:p>
        </p:txBody>
      </p:sp>
      <p:sp>
        <p:nvSpPr>
          <p:cNvPr id="4100" name="TextBox 3"/>
          <p:cNvSpPr txBox="1">
            <a:spLocks noChangeArrowheads="1"/>
          </p:cNvSpPr>
          <p:nvPr/>
        </p:nvSpPr>
        <p:spPr bwMode="auto">
          <a:xfrm>
            <a:off x="539750" y="1700808"/>
            <a:ext cx="8208963" cy="43704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ts val="1200"/>
              </a:spcBef>
            </a:pPr>
            <a:r>
              <a:rPr lang="ru-RU" altLang="ru-RU" sz="2400" dirty="0">
                <a:latin typeface="Verdana" panose="020B0604030504040204" pitchFamily="34" charset="0"/>
              </a:rPr>
              <a:t>В </a:t>
            </a:r>
            <a:r>
              <a:rPr lang="en-US" altLang="ru-RU" sz="2400" dirty="0">
                <a:latin typeface="Verdana" panose="020B0604030504040204" pitchFamily="34" charset="0"/>
              </a:rPr>
              <a:t>IPv6 </a:t>
            </a:r>
            <a:r>
              <a:rPr lang="ru-RU" altLang="ru-RU" sz="2400" dirty="0">
                <a:latin typeface="Verdana" panose="020B0604030504040204" pitchFamily="34" charset="0"/>
              </a:rPr>
              <a:t>хост может получить от маршрутизатора следующие параметры:</a:t>
            </a:r>
          </a:p>
          <a:p>
            <a:pPr marL="715963" lvl="1" indent="-361950" algn="just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ru-RU" sz="2000" dirty="0">
                <a:latin typeface="Verdana" panose="020B0604030504040204" pitchFamily="34" charset="0"/>
              </a:rPr>
              <a:t>Subnet ID, </a:t>
            </a:r>
            <a:r>
              <a:rPr lang="ru-RU" altLang="ru-RU" sz="2000" dirty="0">
                <a:latin typeface="Verdana" panose="020B0604030504040204" pitchFamily="34" charset="0"/>
              </a:rPr>
              <a:t>адрес шлюза, адрес </a:t>
            </a:r>
            <a:r>
              <a:rPr lang="en-US" altLang="ru-RU" sz="2000" dirty="0">
                <a:latin typeface="Verdana" panose="020B0604030504040204" pitchFamily="34" charset="0"/>
              </a:rPr>
              <a:t>DNS-</a:t>
            </a:r>
            <a:r>
              <a:rPr lang="ru-RU" altLang="ru-RU" sz="2000" dirty="0">
                <a:latin typeface="Verdana" panose="020B0604030504040204" pitchFamily="34" charset="0"/>
              </a:rPr>
              <a:t>сервера и т.д.</a:t>
            </a:r>
          </a:p>
          <a:p>
            <a:pPr algn="just" eaLnBrk="1" hangingPunct="1">
              <a:spcBef>
                <a:spcPts val="1200"/>
              </a:spcBef>
            </a:pPr>
            <a:r>
              <a:rPr lang="ru-RU" altLang="ru-RU" sz="2400" dirty="0">
                <a:latin typeface="Verdana" panose="020B0604030504040204" pitchFamily="34" charset="0"/>
              </a:rPr>
              <a:t>Механизм реализации:</a:t>
            </a:r>
          </a:p>
          <a:p>
            <a:pPr marL="715963" lvl="1" indent="-361950" algn="just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altLang="ru-RU" sz="2000" dirty="0">
                <a:latin typeface="Verdana" panose="020B0604030504040204" pitchFamily="34" charset="0"/>
              </a:rPr>
              <a:t>Хост отправляет </a:t>
            </a:r>
            <a:r>
              <a:rPr lang="en-US" altLang="ru-RU" sz="2000" dirty="0">
                <a:latin typeface="Verdana" panose="020B0604030504040204" pitchFamily="34" charset="0"/>
              </a:rPr>
              <a:t>ICMPv6 </a:t>
            </a:r>
            <a:r>
              <a:rPr lang="ru-RU" altLang="ru-RU" sz="2000" dirty="0">
                <a:latin typeface="Verdana" panose="020B0604030504040204" pitchFamily="34" charset="0"/>
              </a:rPr>
              <a:t>запрос тип 133 код 0 (</a:t>
            </a:r>
            <a:r>
              <a:rPr lang="en-US" altLang="ru-RU" sz="2000" dirty="0">
                <a:latin typeface="Verdana" panose="020B0604030504040204" pitchFamily="34" charset="0"/>
              </a:rPr>
              <a:t>Router Solicitation) </a:t>
            </a:r>
            <a:r>
              <a:rPr lang="ru-RU" altLang="ru-RU" sz="2000" dirty="0">
                <a:latin typeface="Verdana" panose="020B0604030504040204" pitchFamily="34" charset="0"/>
              </a:rPr>
              <a:t>на групповой адрес </a:t>
            </a:r>
            <a:r>
              <a:rPr lang="en-US" altLang="ru-RU" sz="2000" dirty="0">
                <a:latin typeface="Verdana" panose="020B0604030504040204" pitchFamily="34" charset="0"/>
              </a:rPr>
              <a:t>FF02::2 (all routers)</a:t>
            </a:r>
          </a:p>
          <a:p>
            <a:pPr marL="715963" lvl="1" indent="-361950" algn="just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altLang="ru-RU" sz="2000" dirty="0">
                <a:latin typeface="Verdana" panose="020B0604030504040204" pitchFamily="34" charset="0"/>
              </a:rPr>
              <a:t>Маршрутизатор, который получил запрос, отвечает </a:t>
            </a:r>
            <a:r>
              <a:rPr lang="en-US" altLang="ru-RU" sz="2000" dirty="0">
                <a:latin typeface="Verdana" panose="020B0604030504040204" pitchFamily="34" charset="0"/>
              </a:rPr>
              <a:t>ICMPv6 </a:t>
            </a:r>
            <a:r>
              <a:rPr lang="ru-RU" altLang="ru-RU" sz="2000" dirty="0">
                <a:latin typeface="Verdana" panose="020B0604030504040204" pitchFamily="34" charset="0"/>
              </a:rPr>
              <a:t>сообщением тип 134 код 0 (</a:t>
            </a:r>
            <a:r>
              <a:rPr lang="en-US" altLang="ru-RU" sz="2000" dirty="0">
                <a:latin typeface="Verdana" panose="020B0604030504040204" pitchFamily="34" charset="0"/>
              </a:rPr>
              <a:t>Router Advertisement) </a:t>
            </a:r>
            <a:r>
              <a:rPr lang="ru-RU" altLang="ru-RU" sz="2000" dirty="0">
                <a:latin typeface="Verdana" panose="020B0604030504040204" pitchFamily="34" charset="0"/>
              </a:rPr>
              <a:t>с параметрами сети</a:t>
            </a:r>
          </a:p>
          <a:p>
            <a:pPr algn="just" eaLnBrk="1" hangingPunct="1">
              <a:spcBef>
                <a:spcPts val="1200"/>
              </a:spcBef>
            </a:pPr>
            <a:r>
              <a:rPr lang="ru-RU" altLang="ru-RU" sz="2400" dirty="0">
                <a:latin typeface="Verdana" panose="020B0604030504040204" pitchFamily="34" charset="0"/>
              </a:rPr>
              <a:t>Маршрутизаторы периодически рассылают </a:t>
            </a:r>
            <a:r>
              <a:rPr lang="en-US" altLang="ru-RU" sz="2400" dirty="0">
                <a:latin typeface="Verdana" panose="020B0604030504040204" pitchFamily="34" charset="0"/>
              </a:rPr>
              <a:t>Unsolicited Router Advertisements </a:t>
            </a:r>
            <a:r>
              <a:rPr lang="ru-RU" altLang="ru-RU" sz="2400" dirty="0">
                <a:latin typeface="Verdana" panose="020B0604030504040204" pitchFamily="34" charset="0"/>
              </a:rPr>
              <a:t>на групповой адрес </a:t>
            </a:r>
            <a:r>
              <a:rPr lang="en-US" altLang="ru-RU" sz="2400" dirty="0">
                <a:latin typeface="Verdana" panose="020B0604030504040204" pitchFamily="34" charset="0"/>
              </a:rPr>
              <a:t>FF02::1 (all nodes)</a:t>
            </a:r>
          </a:p>
        </p:txBody>
      </p:sp>
      <p:sp>
        <p:nvSpPr>
          <p:cNvPr id="4101" name="TextBox 3"/>
          <p:cNvSpPr txBox="1">
            <a:spLocks noChangeArrowheads="1"/>
          </p:cNvSpPr>
          <p:nvPr/>
        </p:nvSpPr>
        <p:spPr bwMode="auto">
          <a:xfrm>
            <a:off x="539750" y="937774"/>
            <a:ext cx="8208963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800" b="1" dirty="0">
                <a:latin typeface="Verdana" panose="020B0604030504040204" pitchFamily="34" charset="0"/>
              </a:rPr>
              <a:t>Автоматическая конфигурация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72FCD-ECDD-4AD1-A933-149E1B2284F8}" type="slidenum">
              <a:rPr lang="ru-RU" altLang="ru-RU" smtClean="0"/>
              <a:pPr/>
              <a:t>31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815624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TextBox 2"/>
          <p:cNvSpPr txBox="1">
            <a:spLocks noChangeArrowheads="1"/>
          </p:cNvSpPr>
          <p:nvPr/>
        </p:nvSpPr>
        <p:spPr bwMode="auto">
          <a:xfrm>
            <a:off x="2843213" y="158750"/>
            <a:ext cx="626586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000" dirty="0" smtClean="0">
                <a:latin typeface="Verdana" panose="020B0604030504040204" pitchFamily="34" charset="0"/>
              </a:rPr>
              <a:t>Сети и системы телекоммуникаций. Протокол </a:t>
            </a:r>
            <a:r>
              <a:rPr lang="en-US" altLang="ru-RU" sz="1000" dirty="0" smtClean="0">
                <a:latin typeface="Verdana" panose="020B0604030504040204" pitchFamily="34" charset="0"/>
              </a:rPr>
              <a:t>IPv6</a:t>
            </a:r>
            <a:r>
              <a:rPr lang="ru-RU" altLang="ru-RU" sz="1000" dirty="0">
                <a:latin typeface="Verdana" panose="020B0604030504040204" pitchFamily="34" charset="0"/>
              </a:rPr>
              <a:t>	</a:t>
            </a:r>
            <a:r>
              <a:rPr lang="ru-RU" altLang="ru-RU" sz="1000" b="1" dirty="0">
                <a:latin typeface="Verdana" panose="020B0604030504040204" pitchFamily="34" charset="0"/>
              </a:rPr>
              <a:t>	</a:t>
            </a:r>
          </a:p>
        </p:txBody>
      </p:sp>
      <p:sp>
        <p:nvSpPr>
          <p:cNvPr id="4100" name="TextBox 3"/>
          <p:cNvSpPr txBox="1">
            <a:spLocks noChangeArrowheads="1"/>
          </p:cNvSpPr>
          <p:nvPr/>
        </p:nvSpPr>
        <p:spPr bwMode="auto">
          <a:xfrm>
            <a:off x="539750" y="1700808"/>
            <a:ext cx="8208963" cy="43088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ts val="1200"/>
              </a:spcBef>
            </a:pPr>
            <a:r>
              <a:rPr lang="ru-RU" altLang="ru-RU" sz="2400" dirty="0">
                <a:latin typeface="Verdana" panose="020B0604030504040204" pitchFamily="34" charset="0"/>
              </a:rPr>
              <a:t>IPv4 и IPv6 не совместимы, необходим явный переход на IPv6, заметный для пользователей Интернет</a:t>
            </a:r>
          </a:p>
          <a:p>
            <a:pPr marL="715963" lvl="1" indent="-361950" algn="just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altLang="ru-RU" sz="2000" dirty="0">
                <a:latin typeface="Verdana" panose="020B0604030504040204" pitchFamily="34" charset="0"/>
              </a:rPr>
              <a:t>Не предполагается, что переход на IPv6 будет быстрым</a:t>
            </a:r>
          </a:p>
          <a:p>
            <a:pPr algn="just" eaLnBrk="1" hangingPunct="1">
              <a:spcBef>
                <a:spcPts val="1200"/>
              </a:spcBef>
            </a:pPr>
            <a:r>
              <a:rPr lang="ru-RU" altLang="ru-RU" sz="2400" dirty="0">
                <a:latin typeface="Verdana" panose="020B0604030504040204" pitchFamily="34" charset="0"/>
              </a:rPr>
              <a:t>Долгое время будут сосуществовать два протокола</a:t>
            </a:r>
          </a:p>
          <a:p>
            <a:pPr algn="just" eaLnBrk="1" hangingPunct="1">
              <a:spcBef>
                <a:spcPts val="1200"/>
              </a:spcBef>
            </a:pPr>
            <a:r>
              <a:rPr lang="ru-RU" altLang="ru-RU" sz="2400" dirty="0">
                <a:latin typeface="Verdana" panose="020B0604030504040204" pitchFamily="34" charset="0"/>
              </a:rPr>
              <a:t>Механизмы перехода</a:t>
            </a:r>
          </a:p>
          <a:p>
            <a:pPr marL="715963" lvl="1" indent="-361950" algn="just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altLang="ru-RU" sz="2000" dirty="0" err="1">
                <a:latin typeface="Verdana" panose="020B0604030504040204" pitchFamily="34" charset="0"/>
              </a:rPr>
              <a:t>Dual</a:t>
            </a:r>
            <a:r>
              <a:rPr lang="ru-RU" altLang="ru-RU" sz="2000" dirty="0">
                <a:latin typeface="Verdana" panose="020B0604030504040204" pitchFamily="34" charset="0"/>
              </a:rPr>
              <a:t> </a:t>
            </a:r>
            <a:r>
              <a:rPr lang="ru-RU" altLang="ru-RU" sz="2000" dirty="0" err="1">
                <a:latin typeface="Verdana" panose="020B0604030504040204" pitchFamily="34" charset="0"/>
              </a:rPr>
              <a:t>Stack</a:t>
            </a:r>
            <a:endParaRPr lang="ru-RU" altLang="ru-RU" sz="2000" dirty="0">
              <a:latin typeface="Verdana" panose="020B0604030504040204" pitchFamily="34" charset="0"/>
            </a:endParaRPr>
          </a:p>
          <a:p>
            <a:pPr marL="715963" lvl="1" indent="-361950" algn="just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altLang="ru-RU" sz="2000" dirty="0" err="1">
                <a:latin typeface="Verdana" panose="020B0604030504040204" pitchFamily="34" charset="0"/>
              </a:rPr>
              <a:t>Туннелирование</a:t>
            </a:r>
            <a:endParaRPr lang="ru-RU" altLang="ru-RU" sz="2000" dirty="0">
              <a:latin typeface="Verdana" panose="020B0604030504040204" pitchFamily="34" charset="0"/>
            </a:endParaRPr>
          </a:p>
          <a:p>
            <a:pPr marL="1116013" lvl="2" indent="-361950" algn="just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altLang="ru-RU" sz="2000" dirty="0">
                <a:latin typeface="Verdana" panose="020B0604030504040204" pitchFamily="34" charset="0"/>
              </a:rPr>
              <a:t>6to4</a:t>
            </a:r>
          </a:p>
          <a:p>
            <a:pPr marL="1116013" lvl="2" indent="-361950" algn="just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altLang="ru-RU" sz="2000" dirty="0" err="1">
                <a:latin typeface="Verdana" panose="020B0604030504040204" pitchFamily="34" charset="0"/>
              </a:rPr>
              <a:t>Teredo</a:t>
            </a:r>
            <a:endParaRPr lang="ru-RU" altLang="ru-RU" sz="2000" dirty="0">
              <a:latin typeface="Verdana" panose="020B0604030504040204" pitchFamily="34" charset="0"/>
            </a:endParaRPr>
          </a:p>
          <a:p>
            <a:pPr marL="1116013" lvl="2" indent="-361950" algn="just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altLang="ru-RU" sz="2000" dirty="0" err="1">
                <a:latin typeface="Verdana" panose="020B0604030504040204" pitchFamily="34" charset="0"/>
              </a:rPr>
              <a:t>Intra-Site</a:t>
            </a:r>
            <a:r>
              <a:rPr lang="ru-RU" altLang="ru-RU" sz="2000" dirty="0">
                <a:latin typeface="Verdana" panose="020B0604030504040204" pitchFamily="34" charset="0"/>
              </a:rPr>
              <a:t> </a:t>
            </a:r>
            <a:r>
              <a:rPr lang="ru-RU" altLang="ru-RU" sz="2000" dirty="0" err="1">
                <a:latin typeface="Verdana" panose="020B0604030504040204" pitchFamily="34" charset="0"/>
              </a:rPr>
              <a:t>Automatic</a:t>
            </a:r>
            <a:r>
              <a:rPr lang="ru-RU" altLang="ru-RU" sz="2000" dirty="0">
                <a:latin typeface="Verdana" panose="020B0604030504040204" pitchFamily="34" charset="0"/>
              </a:rPr>
              <a:t> </a:t>
            </a:r>
            <a:r>
              <a:rPr lang="ru-RU" altLang="ru-RU" sz="2000" dirty="0" err="1">
                <a:latin typeface="Verdana" panose="020B0604030504040204" pitchFamily="34" charset="0"/>
              </a:rPr>
              <a:t>Tunnel</a:t>
            </a:r>
            <a:r>
              <a:rPr lang="ru-RU" altLang="ru-RU" sz="2000" dirty="0">
                <a:latin typeface="Verdana" panose="020B0604030504040204" pitchFamily="34" charset="0"/>
              </a:rPr>
              <a:t> </a:t>
            </a:r>
            <a:r>
              <a:rPr lang="ru-RU" altLang="ru-RU" sz="2000" dirty="0" err="1">
                <a:latin typeface="Verdana" panose="020B0604030504040204" pitchFamily="34" charset="0"/>
              </a:rPr>
              <a:t>Addressing</a:t>
            </a:r>
            <a:r>
              <a:rPr lang="ru-RU" altLang="ru-RU" sz="2000" dirty="0">
                <a:latin typeface="Verdana" panose="020B0604030504040204" pitchFamily="34" charset="0"/>
              </a:rPr>
              <a:t> </a:t>
            </a:r>
            <a:r>
              <a:rPr lang="ru-RU" altLang="ru-RU" sz="2000" dirty="0" err="1">
                <a:latin typeface="Verdana" panose="020B0604030504040204" pitchFamily="34" charset="0"/>
              </a:rPr>
              <a:t>Protocol</a:t>
            </a:r>
            <a:r>
              <a:rPr lang="ru-RU" altLang="ru-RU" sz="2000" dirty="0">
                <a:latin typeface="Verdana" panose="020B0604030504040204" pitchFamily="34" charset="0"/>
              </a:rPr>
              <a:t> (ISATAP)</a:t>
            </a:r>
          </a:p>
        </p:txBody>
      </p:sp>
      <p:sp>
        <p:nvSpPr>
          <p:cNvPr id="4101" name="TextBox 3"/>
          <p:cNvSpPr txBox="1">
            <a:spLocks noChangeArrowheads="1"/>
          </p:cNvSpPr>
          <p:nvPr/>
        </p:nvSpPr>
        <p:spPr bwMode="auto">
          <a:xfrm>
            <a:off x="539750" y="937774"/>
            <a:ext cx="8208963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800" b="1" dirty="0">
                <a:latin typeface="Verdana" panose="020B0604030504040204" pitchFamily="34" charset="0"/>
              </a:rPr>
              <a:t>Переход на </a:t>
            </a:r>
            <a:r>
              <a:rPr lang="en-US" altLang="ru-RU" sz="2800" b="1" dirty="0">
                <a:latin typeface="Verdana" panose="020B0604030504040204" pitchFamily="34" charset="0"/>
              </a:rPr>
              <a:t>IPv6</a:t>
            </a:r>
            <a:endParaRPr lang="ru-RU" altLang="ru-RU" sz="2800" b="1" dirty="0">
              <a:latin typeface="Verdana" panose="020B0604030504040204" pitchFamily="34" charset="0"/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72FCD-ECDD-4AD1-A933-149E1B2284F8}" type="slidenum">
              <a:rPr lang="ru-RU" altLang="ru-RU" smtClean="0"/>
              <a:pPr/>
              <a:t>32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946198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TextBox 2"/>
          <p:cNvSpPr txBox="1">
            <a:spLocks noChangeArrowheads="1"/>
          </p:cNvSpPr>
          <p:nvPr/>
        </p:nvSpPr>
        <p:spPr bwMode="auto">
          <a:xfrm>
            <a:off x="2843213" y="158750"/>
            <a:ext cx="626586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000" dirty="0" smtClean="0">
                <a:latin typeface="Verdana" panose="020B0604030504040204" pitchFamily="34" charset="0"/>
              </a:rPr>
              <a:t>Сети и системы телекоммуникаций. Протокол </a:t>
            </a:r>
            <a:r>
              <a:rPr lang="en-US" altLang="ru-RU" sz="1000" dirty="0" smtClean="0">
                <a:latin typeface="Verdana" panose="020B0604030504040204" pitchFamily="34" charset="0"/>
              </a:rPr>
              <a:t>IPv6</a:t>
            </a:r>
            <a:r>
              <a:rPr lang="ru-RU" altLang="ru-RU" sz="1000" dirty="0">
                <a:latin typeface="Verdana" panose="020B0604030504040204" pitchFamily="34" charset="0"/>
              </a:rPr>
              <a:t>	</a:t>
            </a:r>
            <a:r>
              <a:rPr lang="ru-RU" altLang="ru-RU" sz="1000" b="1" dirty="0">
                <a:latin typeface="Verdana" panose="020B0604030504040204" pitchFamily="34" charset="0"/>
              </a:rPr>
              <a:t>	</a:t>
            </a:r>
          </a:p>
        </p:txBody>
      </p:sp>
      <p:sp>
        <p:nvSpPr>
          <p:cNvPr id="4100" name="TextBox 3"/>
          <p:cNvSpPr txBox="1">
            <a:spLocks noChangeArrowheads="1"/>
          </p:cNvSpPr>
          <p:nvPr/>
        </p:nvSpPr>
        <p:spPr bwMode="auto">
          <a:xfrm>
            <a:off x="539751" y="1700808"/>
            <a:ext cx="5184377" cy="3077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ts val="1200"/>
              </a:spcBef>
            </a:pPr>
            <a:r>
              <a:rPr lang="ru-RU" altLang="ru-RU" sz="2400" dirty="0">
                <a:latin typeface="Verdana" panose="020B0604030504040204" pitchFamily="34" charset="0"/>
              </a:rPr>
              <a:t>IPv6 </a:t>
            </a:r>
            <a:r>
              <a:rPr lang="ru-RU" altLang="ru-RU" sz="2400" dirty="0" err="1">
                <a:latin typeface="Verdana" panose="020B0604030504040204" pitchFamily="34" charset="0"/>
              </a:rPr>
              <a:t>World</a:t>
            </a:r>
            <a:r>
              <a:rPr lang="ru-RU" altLang="ru-RU" sz="2400" dirty="0">
                <a:latin typeface="Verdana" panose="020B0604030504040204" pitchFamily="34" charset="0"/>
              </a:rPr>
              <a:t> </a:t>
            </a:r>
            <a:r>
              <a:rPr lang="ru-RU" altLang="ru-RU" sz="2400" dirty="0" err="1">
                <a:latin typeface="Verdana" panose="020B0604030504040204" pitchFamily="34" charset="0"/>
              </a:rPr>
              <a:t>Launch</a:t>
            </a:r>
            <a:endParaRPr lang="ru-RU" altLang="ru-RU" sz="2400" dirty="0">
              <a:latin typeface="Verdana" panose="020B0604030504040204" pitchFamily="34" charset="0"/>
            </a:endParaRPr>
          </a:p>
          <a:p>
            <a:pPr marL="715963" lvl="1" indent="-361950" algn="just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altLang="ru-RU" sz="2000" dirty="0">
                <a:latin typeface="Verdana" panose="020B0604030504040204" pitchFamily="34" charset="0"/>
              </a:rPr>
              <a:t>6 июня 2012 г.</a:t>
            </a:r>
          </a:p>
          <a:p>
            <a:pPr algn="just" eaLnBrk="1" hangingPunct="1">
              <a:spcBef>
                <a:spcPts val="1200"/>
              </a:spcBef>
            </a:pPr>
            <a:r>
              <a:rPr lang="ru-RU" altLang="ru-RU" sz="2400" dirty="0">
                <a:latin typeface="Verdana" panose="020B0604030504040204" pitchFamily="34" charset="0"/>
              </a:rPr>
              <a:t>Компании договорились об использовании IPv6 и внедрении его в свои продукты</a:t>
            </a:r>
          </a:p>
          <a:p>
            <a:pPr marL="715963" lvl="1" indent="-361950" algn="just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altLang="ru-RU" sz="2000" dirty="0" err="1">
                <a:latin typeface="Verdana" panose="020B0604030504040204" pitchFamily="34" charset="0"/>
              </a:rPr>
              <a:t>Cisco</a:t>
            </a:r>
            <a:r>
              <a:rPr lang="ru-RU" altLang="ru-RU" sz="2000" dirty="0">
                <a:latin typeface="Verdana" panose="020B0604030504040204" pitchFamily="34" charset="0"/>
              </a:rPr>
              <a:t>, D-</a:t>
            </a:r>
            <a:r>
              <a:rPr lang="ru-RU" altLang="ru-RU" sz="2000" dirty="0" err="1">
                <a:latin typeface="Verdana" panose="020B0604030504040204" pitchFamily="34" charset="0"/>
              </a:rPr>
              <a:t>Link</a:t>
            </a:r>
            <a:r>
              <a:rPr lang="ru-RU" altLang="ru-RU" sz="2000" dirty="0">
                <a:latin typeface="Verdana" panose="020B0604030504040204" pitchFamily="34" charset="0"/>
              </a:rPr>
              <a:t>, </a:t>
            </a:r>
            <a:r>
              <a:rPr lang="ru-RU" altLang="ru-RU" sz="2000" dirty="0" err="1">
                <a:latin typeface="Verdana" panose="020B0604030504040204" pitchFamily="34" charset="0"/>
              </a:rPr>
              <a:t>Google</a:t>
            </a:r>
            <a:r>
              <a:rPr lang="ru-RU" altLang="ru-RU" sz="2000" dirty="0">
                <a:latin typeface="Verdana" panose="020B0604030504040204" pitchFamily="34" charset="0"/>
              </a:rPr>
              <a:t>, </a:t>
            </a:r>
            <a:r>
              <a:rPr lang="ru-RU" altLang="ru-RU" sz="2000" dirty="0" err="1">
                <a:latin typeface="Verdana" panose="020B0604030504040204" pitchFamily="34" charset="0"/>
              </a:rPr>
              <a:t>Facebook</a:t>
            </a:r>
            <a:r>
              <a:rPr lang="ru-RU" altLang="ru-RU" sz="2000" dirty="0">
                <a:latin typeface="Verdana" panose="020B0604030504040204" pitchFamily="34" charset="0"/>
              </a:rPr>
              <a:t>, </a:t>
            </a:r>
            <a:r>
              <a:rPr lang="ru-RU" altLang="ru-RU" sz="2000" dirty="0" err="1">
                <a:latin typeface="Verdana" panose="020B0604030504040204" pitchFamily="34" charset="0"/>
              </a:rPr>
              <a:t>Yahoo</a:t>
            </a:r>
            <a:r>
              <a:rPr lang="ru-RU" altLang="ru-RU" sz="2000" dirty="0">
                <a:latin typeface="Verdana" panose="020B0604030504040204" pitchFamily="34" charset="0"/>
              </a:rPr>
              <a:t>!, </a:t>
            </a:r>
            <a:r>
              <a:rPr lang="ru-RU" altLang="ru-RU" sz="2000" dirty="0" err="1">
                <a:latin typeface="Verdana" panose="020B0604030504040204" pitchFamily="34" charset="0"/>
              </a:rPr>
              <a:t>Microsoft</a:t>
            </a:r>
            <a:r>
              <a:rPr lang="ru-RU" altLang="ru-RU" sz="2000" dirty="0">
                <a:latin typeface="Verdana" panose="020B0604030504040204" pitchFamily="34" charset="0"/>
              </a:rPr>
              <a:t> и др.</a:t>
            </a:r>
          </a:p>
          <a:p>
            <a:pPr algn="just" eaLnBrk="1" hangingPunct="1">
              <a:spcBef>
                <a:spcPts val="1200"/>
              </a:spcBef>
            </a:pPr>
            <a:r>
              <a:rPr lang="ru-RU" altLang="ru-RU" sz="2400" dirty="0">
                <a:latin typeface="Verdana" panose="020B0604030504040204" pitchFamily="34" charset="0"/>
              </a:rPr>
              <a:t>http://</a:t>
            </a:r>
            <a:r>
              <a:rPr lang="ru-RU" altLang="ru-RU" sz="2400" dirty="0" smtClean="0">
                <a:latin typeface="Verdana" panose="020B0604030504040204" pitchFamily="34" charset="0"/>
              </a:rPr>
              <a:t>www.worldipv6launch.org</a:t>
            </a:r>
            <a:endParaRPr lang="ru-RU" altLang="ru-RU" sz="2400" dirty="0">
              <a:latin typeface="Verdana" panose="020B0604030504040204" pitchFamily="34" charset="0"/>
            </a:endParaRPr>
          </a:p>
        </p:txBody>
      </p:sp>
      <p:sp>
        <p:nvSpPr>
          <p:cNvPr id="4101" name="TextBox 3"/>
          <p:cNvSpPr txBox="1">
            <a:spLocks noChangeArrowheads="1"/>
          </p:cNvSpPr>
          <p:nvPr/>
        </p:nvSpPr>
        <p:spPr bwMode="auto">
          <a:xfrm>
            <a:off x="539750" y="937774"/>
            <a:ext cx="8208963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800" b="1" dirty="0">
                <a:latin typeface="Verdana" panose="020B0604030504040204" pitchFamily="34" charset="0"/>
              </a:rPr>
              <a:t>Запуск </a:t>
            </a:r>
            <a:r>
              <a:rPr lang="en-US" altLang="ru-RU" sz="2800" b="1" dirty="0">
                <a:latin typeface="Verdana" panose="020B0604030504040204" pitchFamily="34" charset="0"/>
              </a:rPr>
              <a:t>IPv6 </a:t>
            </a:r>
            <a:r>
              <a:rPr lang="ru-RU" altLang="ru-RU" sz="2800" b="1" dirty="0">
                <a:latin typeface="Verdana" panose="020B0604030504040204" pitchFamily="34" charset="0"/>
              </a:rPr>
              <a:t>в мире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72FCD-ECDD-4AD1-A933-149E1B2284F8}" type="slidenum">
              <a:rPr lang="ru-RU" altLang="ru-RU" smtClean="0"/>
              <a:pPr/>
              <a:t>33</a:t>
            </a:fld>
            <a:endParaRPr lang="ru-RU" altLang="ru-RU"/>
          </a:p>
        </p:txBody>
      </p:sp>
      <p:pic>
        <p:nvPicPr>
          <p:cNvPr id="7" name="Picture 2" descr="http://www.worldipv6launch.org/wp-content/themes/ipv6/downloads/World_IPv6_launch_badge_bg_512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6144" y="1706339"/>
            <a:ext cx="2874788" cy="2874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8744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TextBox 2"/>
          <p:cNvSpPr txBox="1">
            <a:spLocks noChangeArrowheads="1"/>
          </p:cNvSpPr>
          <p:nvPr/>
        </p:nvSpPr>
        <p:spPr bwMode="auto">
          <a:xfrm>
            <a:off x="2843213" y="158750"/>
            <a:ext cx="626586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000" dirty="0" smtClean="0">
                <a:latin typeface="Verdana" panose="020B0604030504040204" pitchFamily="34" charset="0"/>
              </a:rPr>
              <a:t>Сети и системы телекоммуникаций. Протокол </a:t>
            </a:r>
            <a:r>
              <a:rPr lang="en-US" altLang="ru-RU" sz="1000" dirty="0" smtClean="0">
                <a:latin typeface="Verdana" panose="020B0604030504040204" pitchFamily="34" charset="0"/>
              </a:rPr>
              <a:t>IPv6</a:t>
            </a:r>
            <a:r>
              <a:rPr lang="ru-RU" altLang="ru-RU" sz="1000" dirty="0">
                <a:latin typeface="Verdana" panose="020B0604030504040204" pitchFamily="34" charset="0"/>
              </a:rPr>
              <a:t>	</a:t>
            </a:r>
            <a:r>
              <a:rPr lang="ru-RU" altLang="ru-RU" sz="1000" b="1" dirty="0">
                <a:latin typeface="Verdana" panose="020B0604030504040204" pitchFamily="34" charset="0"/>
              </a:rPr>
              <a:t>	</a:t>
            </a:r>
          </a:p>
        </p:txBody>
      </p:sp>
      <p:sp>
        <p:nvSpPr>
          <p:cNvPr id="4100" name="TextBox 3"/>
          <p:cNvSpPr txBox="1">
            <a:spLocks noChangeArrowheads="1"/>
          </p:cNvSpPr>
          <p:nvPr/>
        </p:nvSpPr>
        <p:spPr bwMode="auto">
          <a:xfrm>
            <a:off x="539751" y="1700808"/>
            <a:ext cx="8147049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ts val="1200"/>
              </a:spcBef>
            </a:pPr>
            <a:r>
              <a:rPr lang="ru-RU" altLang="ru-RU" sz="2400" dirty="0">
                <a:latin typeface="Verdana" panose="020B0604030504040204" pitchFamily="34" charset="0"/>
              </a:rPr>
              <a:t>Статистика </a:t>
            </a:r>
            <a:r>
              <a:rPr lang="ru-RU" altLang="ru-RU" sz="2400" dirty="0" err="1">
                <a:latin typeface="Verdana" panose="020B0604030504040204" pitchFamily="34" charset="0"/>
              </a:rPr>
              <a:t>Google</a:t>
            </a:r>
            <a:r>
              <a:rPr lang="ru-RU" altLang="ru-RU" sz="2400" dirty="0">
                <a:latin typeface="Verdana" panose="020B0604030504040204" pitchFamily="34" charset="0"/>
              </a:rPr>
              <a:t>: обращение пользователей по IPv6</a:t>
            </a:r>
          </a:p>
        </p:txBody>
      </p:sp>
      <p:sp>
        <p:nvSpPr>
          <p:cNvPr id="4101" name="TextBox 3"/>
          <p:cNvSpPr txBox="1">
            <a:spLocks noChangeArrowheads="1"/>
          </p:cNvSpPr>
          <p:nvPr/>
        </p:nvSpPr>
        <p:spPr bwMode="auto">
          <a:xfrm>
            <a:off x="539750" y="937774"/>
            <a:ext cx="8208963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800" b="1" dirty="0">
                <a:latin typeface="Verdana" panose="020B0604030504040204" pitchFamily="34" charset="0"/>
              </a:rPr>
              <a:t>Внедрение </a:t>
            </a:r>
            <a:r>
              <a:rPr lang="en-US" altLang="ru-RU" sz="2800" b="1" dirty="0">
                <a:latin typeface="Verdana" panose="020B0604030504040204" pitchFamily="34" charset="0"/>
              </a:rPr>
              <a:t>IPv6</a:t>
            </a:r>
            <a:endParaRPr lang="ru-RU" altLang="ru-RU" sz="2800" b="1" dirty="0">
              <a:latin typeface="Verdana" panose="020B0604030504040204" pitchFamily="34" charset="0"/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72FCD-ECDD-4AD1-A933-149E1B2284F8}" type="slidenum">
              <a:rPr lang="ru-RU" altLang="ru-RU" smtClean="0"/>
              <a:pPr/>
              <a:t>34</a:t>
            </a:fld>
            <a:endParaRPr lang="ru-RU" altLang="ru-RU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 rotWithShape="1">
          <a:blip r:embed="rId4"/>
          <a:srcRect l="33021" t="38846" r="24479" b="11154"/>
          <a:stretch/>
        </p:blipFill>
        <p:spPr>
          <a:xfrm>
            <a:off x="1284684" y="2368737"/>
            <a:ext cx="6496050" cy="4139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580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TextBox 2"/>
          <p:cNvSpPr txBox="1">
            <a:spLocks noChangeArrowheads="1"/>
          </p:cNvSpPr>
          <p:nvPr/>
        </p:nvSpPr>
        <p:spPr bwMode="auto">
          <a:xfrm>
            <a:off x="2843213" y="158750"/>
            <a:ext cx="626586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000" dirty="0" smtClean="0">
                <a:latin typeface="Verdana" panose="020B0604030504040204" pitchFamily="34" charset="0"/>
              </a:rPr>
              <a:t>Сети и системы телекоммуникаций. Протокол </a:t>
            </a:r>
            <a:r>
              <a:rPr lang="en-US" altLang="ru-RU" sz="1000" dirty="0" smtClean="0">
                <a:latin typeface="Verdana" panose="020B0604030504040204" pitchFamily="34" charset="0"/>
              </a:rPr>
              <a:t>IPv6</a:t>
            </a:r>
            <a:r>
              <a:rPr lang="ru-RU" altLang="ru-RU" sz="1000" dirty="0">
                <a:latin typeface="Verdana" panose="020B0604030504040204" pitchFamily="34" charset="0"/>
              </a:rPr>
              <a:t>	</a:t>
            </a:r>
            <a:r>
              <a:rPr lang="ru-RU" altLang="ru-RU" sz="1000" b="1" dirty="0">
                <a:latin typeface="Verdana" panose="020B0604030504040204" pitchFamily="34" charset="0"/>
              </a:rPr>
              <a:t>	</a:t>
            </a:r>
          </a:p>
        </p:txBody>
      </p:sp>
      <p:sp>
        <p:nvSpPr>
          <p:cNvPr id="4100" name="TextBox 3"/>
          <p:cNvSpPr txBox="1">
            <a:spLocks noChangeArrowheads="1"/>
          </p:cNvSpPr>
          <p:nvPr/>
        </p:nvSpPr>
        <p:spPr bwMode="auto">
          <a:xfrm>
            <a:off x="539750" y="1700808"/>
            <a:ext cx="8208963" cy="32008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ts val="1200"/>
              </a:spcBef>
            </a:pPr>
            <a:r>
              <a:rPr lang="ru-RU" altLang="ru-RU" sz="2400" dirty="0">
                <a:latin typeface="Verdana" panose="020B0604030504040204" pitchFamily="34" charset="0"/>
              </a:rPr>
              <a:t>IPv6 был стандартизован в 1998</a:t>
            </a:r>
          </a:p>
          <a:p>
            <a:pPr algn="just" eaLnBrk="1" hangingPunct="1">
              <a:spcBef>
                <a:spcPts val="1200"/>
              </a:spcBef>
            </a:pPr>
            <a:r>
              <a:rPr lang="ru-RU" altLang="ru-RU" sz="2400" dirty="0">
                <a:latin typeface="Verdana" panose="020B0604030504040204" pitchFamily="34" charset="0"/>
              </a:rPr>
              <a:t>IPv6 решает насущную проблему </a:t>
            </a:r>
            <a:r>
              <a:rPr lang="en-US" altLang="ru-RU" sz="2400" dirty="0" smtClean="0">
                <a:latin typeface="Verdana" panose="020B0604030504040204" pitchFamily="34" charset="0"/>
              </a:rPr>
              <a:t>—</a:t>
            </a:r>
            <a:r>
              <a:rPr lang="ru-RU" altLang="ru-RU" sz="2400" dirty="0" smtClean="0">
                <a:latin typeface="Verdana" panose="020B0604030504040204" pitchFamily="34" charset="0"/>
              </a:rPr>
              <a:t> </a:t>
            </a:r>
            <a:r>
              <a:rPr lang="ru-RU" altLang="ru-RU" sz="2400" dirty="0">
                <a:latin typeface="Verdana" panose="020B0604030504040204" pitchFamily="34" charset="0"/>
              </a:rPr>
              <a:t>нехватка адресов IPv4</a:t>
            </a:r>
          </a:p>
          <a:p>
            <a:pPr algn="just" eaLnBrk="1" hangingPunct="1">
              <a:spcBef>
                <a:spcPts val="1200"/>
              </a:spcBef>
            </a:pPr>
            <a:r>
              <a:rPr lang="ru-RU" altLang="ru-RU" sz="2400" dirty="0">
                <a:latin typeface="Verdana" panose="020B0604030504040204" pitchFamily="34" charset="0"/>
              </a:rPr>
              <a:t>IPv6 поддерживается всем современным оборудованием, операционными системами и ПО</a:t>
            </a:r>
          </a:p>
          <a:p>
            <a:pPr algn="just" eaLnBrk="1" hangingPunct="1">
              <a:spcBef>
                <a:spcPts val="1200"/>
              </a:spcBef>
            </a:pPr>
            <a:r>
              <a:rPr lang="ru-RU" altLang="ru-RU" sz="2400" dirty="0">
                <a:latin typeface="Verdana" panose="020B0604030504040204" pitchFamily="34" charset="0"/>
              </a:rPr>
              <a:t>Протокол IPv6 проще, чем IPv4</a:t>
            </a:r>
          </a:p>
          <a:p>
            <a:pPr algn="just" eaLnBrk="1" hangingPunct="1">
              <a:spcBef>
                <a:spcPts val="1200"/>
              </a:spcBef>
            </a:pPr>
            <a:r>
              <a:rPr lang="ru-RU" altLang="ru-RU" sz="2400" dirty="0">
                <a:latin typeface="Verdana" panose="020B0604030504040204" pitchFamily="34" charset="0"/>
              </a:rPr>
              <a:t>Почему IPv6 до сих пор не вытеснил IPv4?</a:t>
            </a:r>
          </a:p>
        </p:txBody>
      </p:sp>
      <p:sp>
        <p:nvSpPr>
          <p:cNvPr id="4101" name="TextBox 3"/>
          <p:cNvSpPr txBox="1">
            <a:spLocks noChangeArrowheads="1"/>
          </p:cNvSpPr>
          <p:nvPr/>
        </p:nvSpPr>
        <p:spPr bwMode="auto">
          <a:xfrm>
            <a:off x="539750" y="937774"/>
            <a:ext cx="8208963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800" b="1" dirty="0">
                <a:latin typeface="Verdana" panose="020B0604030504040204" pitchFamily="34" charset="0"/>
              </a:rPr>
              <a:t>Проблемы внедрения </a:t>
            </a:r>
            <a:r>
              <a:rPr lang="en-US" altLang="ru-RU" sz="2800" b="1" dirty="0">
                <a:latin typeface="Verdana" panose="020B0604030504040204" pitchFamily="34" charset="0"/>
              </a:rPr>
              <a:t>IPv6</a:t>
            </a:r>
            <a:endParaRPr lang="ru-RU" altLang="ru-RU" sz="2800" b="1" dirty="0">
              <a:latin typeface="Verdana" panose="020B0604030504040204" pitchFamily="34" charset="0"/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72FCD-ECDD-4AD1-A933-149E1B2284F8}" type="slidenum">
              <a:rPr lang="ru-RU" altLang="ru-RU" smtClean="0"/>
              <a:pPr/>
              <a:t>35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309394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TextBox 2"/>
          <p:cNvSpPr txBox="1">
            <a:spLocks noChangeArrowheads="1"/>
          </p:cNvSpPr>
          <p:nvPr/>
        </p:nvSpPr>
        <p:spPr bwMode="auto">
          <a:xfrm>
            <a:off x="2843213" y="158750"/>
            <a:ext cx="626586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000" dirty="0" smtClean="0">
                <a:latin typeface="Verdana" panose="020B0604030504040204" pitchFamily="34" charset="0"/>
              </a:rPr>
              <a:t>Сети и системы телекоммуникаций. Протокол </a:t>
            </a:r>
            <a:r>
              <a:rPr lang="en-US" altLang="ru-RU" sz="1000" dirty="0" smtClean="0">
                <a:latin typeface="Verdana" panose="020B0604030504040204" pitchFamily="34" charset="0"/>
              </a:rPr>
              <a:t>IPv6</a:t>
            </a:r>
            <a:r>
              <a:rPr lang="ru-RU" altLang="ru-RU" sz="1000" dirty="0">
                <a:latin typeface="Verdana" panose="020B0604030504040204" pitchFamily="34" charset="0"/>
              </a:rPr>
              <a:t>	</a:t>
            </a:r>
            <a:r>
              <a:rPr lang="ru-RU" altLang="ru-RU" sz="1000" b="1" dirty="0">
                <a:latin typeface="Verdana" panose="020B0604030504040204" pitchFamily="34" charset="0"/>
              </a:rPr>
              <a:t>	</a:t>
            </a:r>
          </a:p>
        </p:txBody>
      </p:sp>
      <p:sp>
        <p:nvSpPr>
          <p:cNvPr id="4100" name="TextBox 3"/>
          <p:cNvSpPr txBox="1">
            <a:spLocks noChangeArrowheads="1"/>
          </p:cNvSpPr>
          <p:nvPr/>
        </p:nvSpPr>
        <p:spPr bwMode="auto">
          <a:xfrm>
            <a:off x="539750" y="1700808"/>
            <a:ext cx="8208963" cy="3693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ts val="1200"/>
              </a:spcBef>
            </a:pPr>
            <a:r>
              <a:rPr lang="ru-RU" altLang="ru-RU" sz="2400" dirty="0">
                <a:latin typeface="Verdana" panose="020B0604030504040204" pitchFamily="34" charset="0"/>
              </a:rPr>
              <a:t>IPv6 не совместим с IPv4</a:t>
            </a:r>
          </a:p>
          <a:p>
            <a:pPr marL="715963" lvl="1" indent="-361950" algn="just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altLang="ru-RU" sz="2000" dirty="0">
                <a:latin typeface="Verdana" panose="020B0604030504040204" pitchFamily="34" charset="0"/>
              </a:rPr>
              <a:t>Требуется полная замена, заметная для пользователей</a:t>
            </a:r>
          </a:p>
          <a:p>
            <a:pPr algn="just" eaLnBrk="1" hangingPunct="1">
              <a:spcBef>
                <a:spcPts val="1200"/>
              </a:spcBef>
            </a:pPr>
            <a:r>
              <a:rPr lang="ru-RU" altLang="ru-RU" sz="2400" dirty="0">
                <a:latin typeface="Verdana" panose="020B0604030504040204" pitchFamily="34" charset="0"/>
              </a:rPr>
              <a:t>Для многих проблем IPv4 удалось найти решение (хотя бы временное)</a:t>
            </a:r>
          </a:p>
          <a:p>
            <a:pPr marL="715963" lvl="1" indent="-361950" algn="just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altLang="ru-RU" sz="2000" dirty="0">
                <a:latin typeface="Verdana" panose="020B0604030504040204" pitchFamily="34" charset="0"/>
              </a:rPr>
              <a:t>Нехватка IPv4-адресов </a:t>
            </a:r>
            <a:r>
              <a:rPr lang="en-US" altLang="ru-RU" sz="2000" dirty="0" smtClean="0">
                <a:latin typeface="Verdana" panose="020B0604030504040204" pitchFamily="34" charset="0"/>
              </a:rPr>
              <a:t>—</a:t>
            </a:r>
            <a:r>
              <a:rPr lang="ru-RU" altLang="ru-RU" sz="2000" dirty="0" smtClean="0">
                <a:latin typeface="Verdana" panose="020B0604030504040204" pitchFamily="34" charset="0"/>
              </a:rPr>
              <a:t> </a:t>
            </a:r>
            <a:r>
              <a:rPr lang="ru-RU" altLang="ru-RU" sz="2000" dirty="0">
                <a:latin typeface="Verdana" panose="020B0604030504040204" pitchFamily="34" charset="0"/>
              </a:rPr>
              <a:t>NAT</a:t>
            </a:r>
          </a:p>
          <a:p>
            <a:pPr marL="715963" lvl="1" indent="-361950" algn="just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altLang="ru-RU" sz="2000" dirty="0">
                <a:latin typeface="Verdana" panose="020B0604030504040204" pitchFamily="34" charset="0"/>
              </a:rPr>
              <a:t>Низкая безопасность </a:t>
            </a:r>
            <a:r>
              <a:rPr lang="en-US" altLang="ru-RU" sz="2000" dirty="0" smtClean="0">
                <a:latin typeface="Verdana" panose="020B0604030504040204" pitchFamily="34" charset="0"/>
              </a:rPr>
              <a:t>—</a:t>
            </a:r>
            <a:r>
              <a:rPr lang="ru-RU" altLang="ru-RU" sz="2000" dirty="0" smtClean="0">
                <a:latin typeface="Verdana" panose="020B0604030504040204" pitchFamily="34" charset="0"/>
              </a:rPr>
              <a:t> </a:t>
            </a:r>
            <a:r>
              <a:rPr lang="ru-RU" altLang="ru-RU" sz="2000" dirty="0" err="1">
                <a:latin typeface="Verdana" panose="020B0604030504040204" pitchFamily="34" charset="0"/>
              </a:rPr>
              <a:t>IPSec</a:t>
            </a:r>
            <a:endParaRPr lang="ru-RU" altLang="ru-RU" sz="2000" dirty="0">
              <a:latin typeface="Verdana" panose="020B0604030504040204" pitchFamily="34" charset="0"/>
            </a:endParaRPr>
          </a:p>
          <a:p>
            <a:pPr marL="715963" lvl="1" indent="-361950" algn="just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altLang="ru-RU" sz="2000" dirty="0">
                <a:latin typeface="Verdana" panose="020B0604030504040204" pitchFamily="34" charset="0"/>
              </a:rPr>
              <a:t>Качество обслуживания </a:t>
            </a:r>
            <a:r>
              <a:rPr lang="en-US" altLang="ru-RU" sz="2000" dirty="0" smtClean="0">
                <a:latin typeface="Verdana" panose="020B0604030504040204" pitchFamily="34" charset="0"/>
              </a:rPr>
              <a:t>—</a:t>
            </a:r>
            <a:r>
              <a:rPr lang="ru-RU" altLang="ru-RU" sz="2000" dirty="0" smtClean="0">
                <a:latin typeface="Verdana" panose="020B0604030504040204" pitchFamily="34" charset="0"/>
              </a:rPr>
              <a:t> </a:t>
            </a:r>
            <a:r>
              <a:rPr lang="ru-RU" altLang="ru-RU" sz="2000" dirty="0">
                <a:latin typeface="Verdana" panose="020B0604030504040204" pitchFamily="34" charset="0"/>
              </a:rPr>
              <a:t>Дифференцированное обслуживание</a:t>
            </a:r>
          </a:p>
          <a:p>
            <a:pPr algn="just" eaLnBrk="1" hangingPunct="1">
              <a:spcBef>
                <a:spcPts val="1200"/>
              </a:spcBef>
            </a:pPr>
            <a:r>
              <a:rPr lang="ru-RU" altLang="ru-RU" sz="2400" dirty="0">
                <a:latin typeface="Verdana" panose="020B0604030504040204" pitchFamily="34" charset="0"/>
              </a:rPr>
              <a:t>Люди и организации не понимают, зачем переходить на IPv6</a:t>
            </a:r>
          </a:p>
        </p:txBody>
      </p:sp>
      <p:sp>
        <p:nvSpPr>
          <p:cNvPr id="4101" name="TextBox 3"/>
          <p:cNvSpPr txBox="1">
            <a:spLocks noChangeArrowheads="1"/>
          </p:cNvSpPr>
          <p:nvPr/>
        </p:nvSpPr>
        <p:spPr bwMode="auto">
          <a:xfrm>
            <a:off x="539750" y="937774"/>
            <a:ext cx="8208963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800" b="1" dirty="0">
                <a:latin typeface="Verdana" panose="020B0604030504040204" pitchFamily="34" charset="0"/>
              </a:rPr>
              <a:t>Проблемы внедрения </a:t>
            </a:r>
            <a:r>
              <a:rPr lang="en-US" altLang="ru-RU" sz="2800" b="1" dirty="0">
                <a:latin typeface="Verdana" panose="020B0604030504040204" pitchFamily="34" charset="0"/>
              </a:rPr>
              <a:t>IPv6</a:t>
            </a:r>
            <a:endParaRPr lang="ru-RU" altLang="ru-RU" sz="2800" b="1" dirty="0">
              <a:latin typeface="Verdana" panose="020B0604030504040204" pitchFamily="34" charset="0"/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72FCD-ECDD-4AD1-A933-149E1B2284F8}" type="slidenum">
              <a:rPr lang="ru-RU" altLang="ru-RU" smtClean="0"/>
              <a:pPr/>
              <a:t>36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210347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TextBox 2"/>
          <p:cNvSpPr txBox="1">
            <a:spLocks noChangeArrowheads="1"/>
          </p:cNvSpPr>
          <p:nvPr/>
        </p:nvSpPr>
        <p:spPr bwMode="auto">
          <a:xfrm>
            <a:off x="2843213" y="158750"/>
            <a:ext cx="626586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000" dirty="0" smtClean="0">
                <a:latin typeface="Verdana" panose="020B0604030504040204" pitchFamily="34" charset="0"/>
              </a:rPr>
              <a:t>Сети и системы телекоммуникаций. Протокол </a:t>
            </a:r>
            <a:r>
              <a:rPr lang="en-US" altLang="ru-RU" sz="1000" dirty="0" smtClean="0">
                <a:latin typeface="Verdana" panose="020B0604030504040204" pitchFamily="34" charset="0"/>
              </a:rPr>
              <a:t>IPv6</a:t>
            </a:r>
            <a:r>
              <a:rPr lang="ru-RU" altLang="ru-RU" sz="1000" dirty="0">
                <a:latin typeface="Verdana" panose="020B0604030504040204" pitchFamily="34" charset="0"/>
              </a:rPr>
              <a:t>	</a:t>
            </a:r>
            <a:r>
              <a:rPr lang="ru-RU" altLang="ru-RU" sz="1000" b="1" dirty="0">
                <a:latin typeface="Verdana" panose="020B0604030504040204" pitchFamily="34" charset="0"/>
              </a:rPr>
              <a:t>	</a:t>
            </a:r>
          </a:p>
        </p:txBody>
      </p:sp>
      <p:sp>
        <p:nvSpPr>
          <p:cNvPr id="4100" name="TextBox 3"/>
          <p:cNvSpPr txBox="1">
            <a:spLocks noChangeArrowheads="1"/>
          </p:cNvSpPr>
          <p:nvPr/>
        </p:nvSpPr>
        <p:spPr bwMode="auto">
          <a:xfrm>
            <a:off x="539749" y="1714500"/>
            <a:ext cx="8208963" cy="2462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ts val="1200"/>
              </a:spcBef>
            </a:pPr>
            <a:r>
              <a:rPr lang="ru-RU" altLang="ru-RU" sz="2400" dirty="0">
                <a:latin typeface="Verdana" panose="020B0604030504040204" pitchFamily="34" charset="0"/>
              </a:rPr>
              <a:t>Место протокола IPv6 в модели OSI и TCP/IP</a:t>
            </a:r>
          </a:p>
          <a:p>
            <a:pPr algn="just" eaLnBrk="1" hangingPunct="1">
              <a:spcBef>
                <a:spcPts val="1200"/>
              </a:spcBef>
            </a:pPr>
            <a:r>
              <a:rPr lang="ru-RU" altLang="ru-RU" sz="2400" dirty="0">
                <a:latin typeface="Verdana" panose="020B0604030504040204" pitchFamily="34" charset="0"/>
              </a:rPr>
              <a:t>Цели создания IPv6</a:t>
            </a:r>
          </a:p>
          <a:p>
            <a:pPr algn="just" eaLnBrk="1" hangingPunct="1">
              <a:spcBef>
                <a:spcPts val="1200"/>
              </a:spcBef>
            </a:pPr>
            <a:r>
              <a:rPr lang="ru-RU" altLang="ru-RU" sz="2400" dirty="0">
                <a:latin typeface="Verdana" panose="020B0604030504040204" pitchFamily="34" charset="0"/>
              </a:rPr>
              <a:t>Формат заголовка IPv6</a:t>
            </a:r>
          </a:p>
          <a:p>
            <a:pPr algn="just" eaLnBrk="1" hangingPunct="1">
              <a:spcBef>
                <a:spcPts val="1200"/>
              </a:spcBef>
            </a:pPr>
            <a:r>
              <a:rPr lang="ru-RU" altLang="ru-RU" sz="2400" dirty="0">
                <a:latin typeface="Verdana" panose="020B0604030504040204" pitchFamily="34" charset="0"/>
              </a:rPr>
              <a:t>Адреса IPv6</a:t>
            </a:r>
          </a:p>
          <a:p>
            <a:pPr algn="just" eaLnBrk="1" hangingPunct="1">
              <a:spcBef>
                <a:spcPts val="1200"/>
              </a:spcBef>
            </a:pPr>
            <a:r>
              <a:rPr lang="ru-RU" altLang="ru-RU" sz="2400" dirty="0" smtClean="0">
                <a:latin typeface="Verdana" panose="020B0604030504040204" pitchFamily="34" charset="0"/>
              </a:rPr>
              <a:t>Внедрение </a:t>
            </a:r>
            <a:r>
              <a:rPr lang="ru-RU" altLang="ru-RU" sz="2400" dirty="0">
                <a:latin typeface="Verdana" panose="020B0604030504040204" pitchFamily="34" charset="0"/>
              </a:rPr>
              <a:t>IPv6</a:t>
            </a:r>
          </a:p>
        </p:txBody>
      </p:sp>
      <p:sp>
        <p:nvSpPr>
          <p:cNvPr id="4101" name="TextBox 3"/>
          <p:cNvSpPr txBox="1">
            <a:spLocks noChangeArrowheads="1"/>
          </p:cNvSpPr>
          <p:nvPr/>
        </p:nvSpPr>
        <p:spPr bwMode="auto">
          <a:xfrm>
            <a:off x="539750" y="937774"/>
            <a:ext cx="8208963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800" b="1" dirty="0" smtClean="0">
                <a:latin typeface="Verdana" panose="020B0604030504040204" pitchFamily="34" charset="0"/>
              </a:rPr>
              <a:t>Итоги</a:t>
            </a:r>
            <a:endParaRPr lang="ru-RU" altLang="ru-RU" sz="2800" b="1" dirty="0">
              <a:latin typeface="Verdana" panose="020B0604030504040204" pitchFamily="34" charset="0"/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72FCD-ECDD-4AD1-A933-149E1B2284F8}" type="slidenum">
              <a:rPr lang="ru-RU" altLang="ru-RU" smtClean="0"/>
              <a:pPr/>
              <a:t>37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908840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TextBox 2"/>
          <p:cNvSpPr txBox="1">
            <a:spLocks noChangeArrowheads="1"/>
          </p:cNvSpPr>
          <p:nvPr/>
        </p:nvSpPr>
        <p:spPr bwMode="auto">
          <a:xfrm>
            <a:off x="2843213" y="158750"/>
            <a:ext cx="626586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000" dirty="0" smtClean="0">
                <a:latin typeface="Verdana" panose="020B0604030504040204" pitchFamily="34" charset="0"/>
              </a:rPr>
              <a:t>Сети и системы телекоммуникаций. Протокол</a:t>
            </a:r>
            <a:r>
              <a:rPr lang="en-US" altLang="ru-RU" sz="1000" dirty="0" smtClean="0">
                <a:latin typeface="Verdana" panose="020B0604030504040204" pitchFamily="34" charset="0"/>
              </a:rPr>
              <a:t> IPv6</a:t>
            </a:r>
            <a:r>
              <a:rPr lang="ru-RU" altLang="ru-RU" sz="1000" b="1" dirty="0">
                <a:latin typeface="Verdana" panose="020B0604030504040204" pitchFamily="34" charset="0"/>
              </a:rPr>
              <a:t>	</a:t>
            </a:r>
          </a:p>
        </p:txBody>
      </p:sp>
      <p:sp>
        <p:nvSpPr>
          <p:cNvPr id="4100" name="TextBox 3"/>
          <p:cNvSpPr txBox="1">
            <a:spLocks noChangeArrowheads="1"/>
          </p:cNvSpPr>
          <p:nvPr/>
        </p:nvSpPr>
        <p:spPr bwMode="auto">
          <a:xfrm>
            <a:off x="465261" y="3110230"/>
            <a:ext cx="8208963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 sz="4800" dirty="0" smtClean="0">
                <a:latin typeface="Verdana" panose="020B0604030504040204" pitchFamily="34" charset="0"/>
              </a:rPr>
              <a:t>Вопросы?</a:t>
            </a:r>
            <a:endParaRPr lang="ru-RU" altLang="ru-RU" sz="4800" dirty="0">
              <a:latin typeface="Verdana" panose="020B0604030504040204" pitchFamily="34" charset="0"/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72FCD-ECDD-4AD1-A933-149E1B2284F8}" type="slidenum">
              <a:rPr lang="ru-RU" altLang="ru-RU" smtClean="0"/>
              <a:pPr/>
              <a:t>38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131463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3374</TotalTime>
  <Words>1637</Words>
  <Application>Microsoft Office PowerPoint</Application>
  <PresentationFormat>Экран (4:3)</PresentationFormat>
  <Paragraphs>365</Paragraphs>
  <Slides>38</Slides>
  <Notes>38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38</vt:i4>
      </vt:variant>
    </vt:vector>
  </HeadingPairs>
  <TitlesOfParts>
    <vt:vector size="42" baseType="lpstr">
      <vt:lpstr>Arial</vt:lpstr>
      <vt:lpstr>Calibri</vt:lpstr>
      <vt:lpstr>Verdana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Илья</dc:creator>
  <cp:lastModifiedBy>Little Nate</cp:lastModifiedBy>
  <cp:revision>420</cp:revision>
  <dcterms:created xsi:type="dcterms:W3CDTF">2011-09-19T03:23:37Z</dcterms:created>
  <dcterms:modified xsi:type="dcterms:W3CDTF">2015-10-27T01:05:35Z</dcterms:modified>
</cp:coreProperties>
</file>