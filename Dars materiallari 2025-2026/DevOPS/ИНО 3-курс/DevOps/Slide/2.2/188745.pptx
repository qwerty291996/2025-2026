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C3021-7620-443C-8350-365B18CB35BC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F2E9E-EE01-4474-9161-683CF415EC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510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23DABE5-F7E1-488C-ADC4-CDA2604A2CA2}" type="datetimeFigureOut">
              <a:rPr lang="ru-RU" smtClean="0"/>
              <a:t>15.06.2017</a:t>
            </a:fld>
            <a:endParaRPr lang="ru-R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7F4EE7-B57A-4E80-88E8-88B4D442350E}" type="slidenum">
              <a:rPr lang="ru-RU" smtClean="0"/>
              <a:t>‹#›</a:t>
            </a:fld>
            <a:endParaRPr lang="ru-R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411760" y="190492"/>
            <a:ext cx="392126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C</a:t>
            </a:r>
            <a:r>
              <a:rPr lang="ru-RU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равнение</a:t>
            </a:r>
            <a:endParaRPr lang="en-US" sz="5400" b="1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IPv4</a:t>
            </a:r>
            <a:r>
              <a:rPr lang="ru-RU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ru-RU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и </a:t>
            </a:r>
            <a:r>
              <a:rPr lang="en-US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IPv6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863723"/>
            <a:ext cx="6684235" cy="50131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6597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984182" y="188640"/>
            <a:ext cx="721941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Исследование</a:t>
            </a:r>
          </a:p>
          <a:p>
            <a:pPr algn="ctr"/>
            <a:r>
              <a:rPr lang="ru-RU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п</a:t>
            </a:r>
            <a:r>
              <a:rPr lang="ru-RU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редметной области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724128" y="2132856"/>
            <a:ext cx="20699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Сетевой протокол — набор правил и действий (очерёдности действий), позволяющий осуществлять соединение и обмен данными между двумя и более включёнными в сеть устройствами.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1" y="2353818"/>
            <a:ext cx="5545539" cy="366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36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63888" y="260648"/>
            <a:ext cx="16209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IPv4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78969" y="1183978"/>
            <a:ext cx="30963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IPv4</a:t>
            </a:r>
            <a:r>
              <a:rPr lang="ru-RU" dirty="0"/>
              <a:t> (англ. </a:t>
            </a:r>
            <a:r>
              <a:rPr lang="ru-RU" i="1" dirty="0" err="1"/>
              <a:t>Internet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  <a:r>
              <a:rPr lang="ru-RU" i="1" dirty="0" err="1"/>
              <a:t>version</a:t>
            </a:r>
            <a:r>
              <a:rPr lang="ru-RU" i="1" dirty="0"/>
              <a:t> 4</a:t>
            </a:r>
            <a:r>
              <a:rPr lang="ru-RU" dirty="0"/>
              <a:t>) — четвёртая версия интернет протокола (IP). Первая широко используемая версия. Протокол описан в RFC 791 (сентябрь 1981 года), заменившем RFC 760 (январь 1980 года).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15" y="2924944"/>
            <a:ext cx="5100596" cy="33233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5267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106316"/>
            <a:ext cx="3751684" cy="375168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635896" y="188640"/>
            <a:ext cx="16385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IPv6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76245" y="1377107"/>
            <a:ext cx="3294112" cy="3458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IPv6</a:t>
            </a:r>
            <a:r>
              <a:rPr lang="ru-RU" dirty="0"/>
              <a:t> (англ. </a:t>
            </a:r>
            <a:r>
              <a:rPr lang="ru-RU" i="1" dirty="0" err="1"/>
              <a:t>Internet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  <a:r>
              <a:rPr lang="ru-RU" i="1" dirty="0" err="1"/>
              <a:t>version</a:t>
            </a:r>
            <a:r>
              <a:rPr lang="ru-RU" i="1" dirty="0"/>
              <a:t> 6</a:t>
            </a:r>
            <a:r>
              <a:rPr lang="ru-RU" dirty="0"/>
              <a:t>) — новая версия протокола IP, призванная решить проблемы, с которыми столкнулась предыдущая версия (IPv4) при её использовании в Интернете, за счёт использования длины адреса 128 бит вместо 32. Протокол был разработан IETF.</a:t>
            </a:r>
          </a:p>
        </p:txBody>
      </p:sp>
    </p:spTree>
    <p:extLst>
      <p:ext uri="{BB962C8B-B14F-4D97-AF65-F5344CB8AC3E}">
        <p14:creationId xmlns:p14="http://schemas.microsoft.com/office/powerpoint/2010/main" val="172213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112196"/>
              </p:ext>
            </p:extLst>
          </p:nvPr>
        </p:nvGraphicFramePr>
        <p:xfrm>
          <a:off x="899592" y="1124744"/>
          <a:ext cx="6336704" cy="56930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6310"/>
                <a:gridCol w="2815797"/>
                <a:gridCol w="2604597"/>
              </a:tblGrid>
              <a:tr h="1553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IPv4 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IPv6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</a:tr>
              <a:tr h="8154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Количество уникальных адресов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2</a:t>
                      </a:r>
                      <a:r>
                        <a:rPr lang="ru-RU" sz="1000" baseline="30000" dirty="0">
                          <a:effectLst/>
                        </a:rPr>
                        <a:t>32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5·10</a:t>
                      </a:r>
                      <a:r>
                        <a:rPr lang="ru-RU" sz="1000" baseline="30000">
                          <a:effectLst/>
                        </a:rPr>
                        <a:t>28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</a:tr>
              <a:tr h="13929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Сложность написания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Традиционной формой записи IPv4 адреса является запись в виде четырёх десятичных чисел (от 0 до 255), разделённых точками. Через дробь указывается длина маски подсети.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Пример: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192.168.0.0/16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Адреса IPv6 отображаются как восемь четырёхзначных шестнадцатеричных чисел (то есть групп по четыре символа), разделённых двоеточием. Пример адреса:</a:t>
                      </a:r>
                    </a:p>
                    <a:p>
                      <a:r>
                        <a:rPr lang="ru-RU" sz="1000">
                          <a:effectLst/>
                        </a:rPr>
                        <a:t>2001:0db8:11a3:09d7:1f34:8a2e:07a0:765d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</a:tr>
              <a:tr h="32528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Распротраненность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Уже в 1980-е годы стало очевидно, что распределение адресного пространства происходит значительно более быстрыми темпами, чем было заложено в архитектуру IPv4. Это привело сначала к появлению классовой адресации, позднее бесклассовой адресации, и в конечном итоге к разработке нового протокола IPv6.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В феврале 2011 года IANA выделила 5 последних блоков адресов RIRам. Блоки свободных IP-адресов начали заканчиваться у региональных регистраторов с 2011 года. Несмотря на это, </a:t>
                      </a:r>
                      <a:r>
                        <a:rPr lang="en-US" sz="1000">
                          <a:effectLst/>
                        </a:rPr>
                        <a:t>IPv</a:t>
                      </a:r>
                      <a:r>
                        <a:rPr lang="ru-RU" sz="1000">
                          <a:effectLst/>
                        </a:rPr>
                        <a:t>4 до сих пор является основным сетевым протоколом.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Перевод на IPv6 начал осуществляться внутри </a:t>
                      </a:r>
                      <a:r>
                        <a:rPr lang="ru-RU" sz="1000" dirty="0" err="1">
                          <a:effectLst/>
                        </a:rPr>
                        <a:t>Google</a:t>
                      </a:r>
                      <a:r>
                        <a:rPr lang="ru-RU" sz="1000" dirty="0">
                          <a:effectLst/>
                        </a:rPr>
                        <a:t> с 2008 года. Тестирование IPv6 признано успешным. 6 июня 2012 года состоялся Всемирный запуск IPv6. Интернет-провайдеры включат IPv6 как минимум для 1 % своих пользователей (уже подписались AT&amp;T, </a:t>
                      </a:r>
                      <a:r>
                        <a:rPr lang="ru-RU" sz="1000" dirty="0" err="1">
                          <a:effectLst/>
                        </a:rPr>
                        <a:t>Comcast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ru-RU" sz="1000" dirty="0" err="1">
                          <a:effectLst/>
                        </a:rPr>
                        <a:t>Free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Telecom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ru-RU" sz="1000" dirty="0" err="1">
                          <a:effectLst/>
                        </a:rPr>
                        <a:t>Internode</a:t>
                      </a:r>
                      <a:r>
                        <a:rPr lang="ru-RU" sz="1000" dirty="0">
                          <a:effectLst/>
                        </a:rPr>
                        <a:t>, KDDI, </a:t>
                      </a:r>
                      <a:r>
                        <a:rPr lang="ru-RU" sz="1000" dirty="0" err="1">
                          <a:effectLst/>
                        </a:rPr>
                        <a:t>Time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Warner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Cable</a:t>
                      </a:r>
                      <a:r>
                        <a:rPr lang="ru-RU" sz="1000" dirty="0">
                          <a:effectLst/>
                        </a:rPr>
                        <a:t>, XS4ALL). Производители сетевого оборудования активируют IPv6 в качестве настроек по умолчанию в маршрутизаторах (</a:t>
                      </a:r>
                      <a:r>
                        <a:rPr lang="ru-RU" sz="1000" dirty="0" err="1">
                          <a:effectLst/>
                        </a:rPr>
                        <a:t>Cisco</a:t>
                      </a:r>
                      <a:r>
                        <a:rPr lang="ru-RU" sz="1000" dirty="0">
                          <a:effectLst/>
                        </a:rPr>
                        <a:t>, D-</a:t>
                      </a:r>
                      <a:r>
                        <a:rPr lang="ru-RU" sz="1000" dirty="0" err="1">
                          <a:effectLst/>
                        </a:rPr>
                        <a:t>Link</a:t>
                      </a:r>
                      <a:r>
                        <a:rPr lang="ru-RU" sz="1000" dirty="0">
                          <a:effectLst/>
                        </a:rPr>
                        <a:t>). Веб-компании включат IPv6 на своих основных сайтах (</a:t>
                      </a:r>
                      <a:r>
                        <a:rPr lang="ru-RU" sz="1000" dirty="0" err="1">
                          <a:effectLst/>
                        </a:rPr>
                        <a:t>Google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ru-RU" sz="1000" dirty="0" err="1">
                          <a:effectLst/>
                        </a:rPr>
                        <a:t>Facebook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ru-RU" sz="1000" dirty="0" err="1">
                          <a:effectLst/>
                        </a:rPr>
                        <a:t>Microsoft</a:t>
                      </a:r>
                      <a:r>
                        <a:rPr lang="ru-RU" sz="1000" dirty="0">
                          <a:effectLst/>
                        </a:rPr>
                        <a:t> </a:t>
                      </a:r>
                      <a:r>
                        <a:rPr lang="ru-RU" sz="1000" dirty="0" err="1">
                          <a:effectLst/>
                        </a:rPr>
                        <a:t>Bing</a:t>
                      </a:r>
                      <a:r>
                        <a:rPr lang="ru-RU" sz="1000" dirty="0">
                          <a:effectLst/>
                        </a:rPr>
                        <a:t>, </a:t>
                      </a:r>
                      <a:r>
                        <a:rPr lang="ru-RU" sz="1000" dirty="0" err="1">
                          <a:effectLst/>
                        </a:rPr>
                        <a:t>Yahoo</a:t>
                      </a:r>
                      <a:r>
                        <a:rPr lang="ru-RU" sz="1000" dirty="0">
                          <a:effectLst/>
                        </a:rPr>
                        <a:t>), а некоторые переводят на IPv6 также корпоративные сети. В спецификации стандарта мобильных сетей LTE указана обязательная поддержка протокола IPv6.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6818" marR="46818" marT="0" marB="0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899592" y="0"/>
            <a:ext cx="697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Таблица сравнения.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416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65221"/>
              </p:ext>
            </p:extLst>
          </p:nvPr>
        </p:nvGraphicFramePr>
        <p:xfrm>
          <a:off x="598636" y="1340768"/>
          <a:ext cx="7668344" cy="54643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4803"/>
                <a:gridCol w="1811621"/>
                <a:gridCol w="5041920"/>
              </a:tblGrid>
              <a:tr h="2871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Простота настройки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Нужно указать: </a:t>
                      </a:r>
                      <a:r>
                        <a:rPr lang="en-US" sz="1050" dirty="0" err="1">
                          <a:effectLst/>
                        </a:rPr>
                        <a:t>IPv</a:t>
                      </a:r>
                      <a:r>
                        <a:rPr lang="ru-RU" sz="1050" dirty="0">
                          <a:effectLst/>
                        </a:rPr>
                        <a:t>4 адрес, маску,</a:t>
                      </a:r>
                      <a:r>
                        <a:rPr lang="en-US" sz="1050" dirty="0">
                          <a:effectLst/>
                        </a:rPr>
                        <a:t>DNS </a:t>
                      </a:r>
                      <a:r>
                        <a:rPr lang="ru-RU" sz="1050" dirty="0">
                          <a:effectLst/>
                        </a:rPr>
                        <a:t> сервер и шлюз.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Нужно указать только </a:t>
                      </a:r>
                      <a:r>
                        <a:rPr lang="en-US" sz="1050" dirty="0" err="1">
                          <a:effectLst/>
                        </a:rPr>
                        <a:t>IPv</a:t>
                      </a:r>
                      <a:r>
                        <a:rPr lang="ru-RU" sz="1050" dirty="0">
                          <a:effectLst/>
                        </a:rPr>
                        <a:t>6 адрес и </a:t>
                      </a:r>
                      <a:r>
                        <a:rPr lang="en-US" sz="1050" dirty="0">
                          <a:effectLst/>
                        </a:rPr>
                        <a:t>DNS</a:t>
                      </a:r>
                      <a:endParaRPr lang="ru-RU" sz="105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сервер. 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</a:tr>
              <a:tr h="4438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</a:rPr>
                        <a:t>Выполняемые функции</a:t>
                      </a:r>
                      <a:endParaRPr lang="ru-RU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Ничего особенного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</a:rPr>
                        <a:t>Автоконфигурация</a:t>
                      </a:r>
                      <a:r>
                        <a:rPr lang="ru-RU" sz="1050" dirty="0">
                          <a:effectLst/>
                        </a:rPr>
                        <a:t>, </a:t>
                      </a:r>
                      <a:r>
                        <a:rPr lang="en-US" sz="1050" dirty="0" err="1">
                          <a:effectLst/>
                        </a:rPr>
                        <a:t>QuS</a:t>
                      </a:r>
                      <a:endParaRPr lang="ru-RU" sz="105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 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</a:tr>
              <a:tr h="4360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Использование в локальных сетях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 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50" dirty="0">
                          <a:effectLst/>
                        </a:rPr>
                        <a:t>При инициализации сетевого интерфейса  назначается локальный IPv6-адрес, состоящий из префикса fe80::/10 и идентификатора интерфейса, размещённого в младшей части адреса. В качестве идентификатора интерфейса часто используется 64-битный расширенный уникальный идентификатор EUI-64, часто ассоциируемый с MAC-адресом. Локальный адрес действителен только в пределах сетевого сегмента канального уровня и используется для обмена информационными ICMPv6 пакетами.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50" dirty="0">
                          <a:effectLst/>
                        </a:rPr>
                        <a:t>Для настройки других адресов узел может запросить информацию о настройках сети у маршрутизаторов, отправив ICMPv6 сообщение «</a:t>
                      </a:r>
                      <a:r>
                        <a:rPr lang="ru-RU" sz="1050" dirty="0" err="1">
                          <a:effectLst/>
                        </a:rPr>
                        <a:t>Router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Solicitation</a:t>
                      </a:r>
                      <a:r>
                        <a:rPr lang="ru-RU" sz="1050" dirty="0">
                          <a:effectLst/>
                        </a:rPr>
                        <a:t>» на групповой адрес маршрутизаторов. Маршрутизаторы, получившие это сообщение, отвечают ICMPv6 сообщением «</a:t>
                      </a:r>
                      <a:r>
                        <a:rPr lang="ru-RU" sz="1050" dirty="0" err="1">
                          <a:effectLst/>
                        </a:rPr>
                        <a:t>Router</a:t>
                      </a:r>
                      <a:r>
                        <a:rPr lang="ru-RU" sz="1050" dirty="0">
                          <a:effectLst/>
                        </a:rPr>
                        <a:t> </a:t>
                      </a:r>
                      <a:r>
                        <a:rPr lang="ru-RU" sz="1050" dirty="0" err="1">
                          <a:effectLst/>
                        </a:rPr>
                        <a:t>Advertisement</a:t>
                      </a:r>
                      <a:r>
                        <a:rPr lang="ru-RU" sz="1050" dirty="0">
                          <a:effectLst/>
                        </a:rPr>
                        <a:t>», в котором может содержаться информация о сетевом префиксе, адресе шлюза, адресах рекурсивных DNS серверов, MTU и множестве других параметров. Объединяя сетевой префикс и идентификатор интерфейса, узел получает новый адрес. Для защиты персональных данных идентификатор интерфейса может быть заменён на псевдослучайное число.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50" dirty="0">
                          <a:effectLst/>
                        </a:rPr>
                        <a:t>Для большего административного контроля может быть использован DHCPv6, позволяющий администратору маршрутизатора назначать узлу конкретный адрес.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50" dirty="0">
                          <a:effectLst/>
                        </a:rPr>
                        <a:t>Для провайдеров может использоваться функция делегирования префиксов клиенту, что позволяет клиенту просто переходить от провайдера к провайдеру, без изменения каких-либо настроек.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</a:rPr>
                        <a:t> 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22" marR="28022" marT="0" marB="0"/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914935" y="-243408"/>
            <a:ext cx="69424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Продолжение</a:t>
            </a:r>
          </a:p>
          <a:p>
            <a:pPr algn="ctr"/>
            <a:r>
              <a:rPr lang="ru-RU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т</a:t>
            </a:r>
            <a:r>
              <a:rPr lang="ru-RU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аблицы сравнения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417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7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124</TotalTime>
  <Words>167</Words>
  <Application>Microsoft Office PowerPoint</Application>
  <PresentationFormat>Экран (4:3)</PresentationFormat>
  <Paragraphs>49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Поток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student</cp:lastModifiedBy>
  <cp:revision>6</cp:revision>
  <dcterms:created xsi:type="dcterms:W3CDTF">2017-06-15T14:51:39Z</dcterms:created>
  <dcterms:modified xsi:type="dcterms:W3CDTF">2017-06-15T16:55:43Z</dcterms:modified>
</cp:coreProperties>
</file>