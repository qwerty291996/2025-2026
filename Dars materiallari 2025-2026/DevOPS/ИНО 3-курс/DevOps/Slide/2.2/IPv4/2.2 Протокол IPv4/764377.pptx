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5"/>
  </p:notesMasterIdLst>
  <p:sldIdLst>
    <p:sldId id="329" r:id="rId2"/>
    <p:sldId id="327" r:id="rId3"/>
    <p:sldId id="32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D6E337-CC50-4495-881A-C854C0731174}">
  <a:tblStyle styleId="{B9D6E337-CC50-4495-881A-C854C07311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44" y="2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9835442e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9835442e2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9835442e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9835442e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9835442e2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9835442e2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835442e2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835442e2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9835442e2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9835442e2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89835442e2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89835442e2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89835442e2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89835442e2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9835442e2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9835442e2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9b86e66ea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9b86e66ea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9b86e66ea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9b86e66ea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9b86e66e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9b86e66e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89835442e2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89835442e2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89835442e2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89835442e2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9b86e66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9b86e66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89b86e66e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89b86e66e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9b86e66e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9b86e66e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9b86e66e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9b86e66e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9b86e66e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89b86e66e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89b86e66ea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89b86e66ea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9b86e66ea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9b86e66ea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89b86e66ea_0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89b86e66ea_0_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89b86e66ea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89b86e66ea_0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89b86e66ea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89b86e66ea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9b86e66ea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9b86e66ea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9b86e66ea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9b86e66ea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9b86e66ea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9b86e66ea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89b86e66ea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89b86e66ea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9b86e66ea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9b86e66ea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9b86e66ea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9b86e66ea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89b86e66ea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89b86e66ea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89b86e66ea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89b86e66ea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89b86e66ea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89b86e66ea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89b86e66ea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89b86e66ea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89b86e66ea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89b86e66ea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89b86e66e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89b86e66e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89b86e66ea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89b86e66ea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89b86e66e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89b86e66ea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89b86e66e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89b86e66ea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89b86e66e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89b86e66e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89b86e66ea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89b86e66ea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89b86e66ea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89b86e66ea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89b86e66ea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89b86e66ea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9b86e66e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9b86e66ea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89b86e66ea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89b86e66ea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89b86e66ea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89b86e66ea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9b86e66ea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9b86e66ea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89b86e66ea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89b86e66ea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89b86e66ea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89b86e66ea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89b86e66ea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89b86e66ea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9b86e66ea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9b86e66ea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9b86e66ea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9b86e66ea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9b86e66ea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9b86e66ea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9b86e66ea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9b86e66ea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89b86e66ea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89b86e66ea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89b86e66ea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89b86e66ea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9b86e66ea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9b86e66ea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89b86e66ea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89b86e66ea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89b86e66ea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89b86e66ea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89b86e66e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89b86e66ea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9b86e66ea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9b86e66ea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89b86e66ea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89b86e66ea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89b86e66ea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89b86e66ea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89b86e66ea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89b86e66ea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89b86e66ea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89b86e66ea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89b86e66ea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89b86e66ea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89b86e66ea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89b86e66ea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89b86e66ea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89b86e66ea_0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89b86e66ea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89b86e66ea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89b86e66ea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89b86e66ea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89b86e66ea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89b86e66ea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yola.ru/dhcp/dhc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A1%D0%BF%D0%B8%D1%81%D0%BE%D0%BA_%D0%BF%D1%80%D0%BE%D1%82%D0%BE%D0%BA%D0%BE%D0%BB%D0%BE%D0%B2_IP" TargetMode="External"/><Relationship Id="rId3" Type="http://schemas.openxmlformats.org/officeDocument/2006/relationships/hyperlink" Target="https://ru.wikipedia.org/wiki/%D0%9E%D0%BA%D1%82%D0%B5%D1%82_(%D0%B8%D0%BD%D1%84%D0%BE%D1%80%D0%BC%D0%B0%D1%82%D0%B8%D0%BA%D0%B0)" TargetMode="External"/><Relationship Id="rId7" Type="http://schemas.openxmlformats.org/officeDocument/2006/relationships/hyperlink" Target="https://ru.wikipedia.org/wiki/Time_to_liv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Explicit_Congestion_Notification" TargetMode="External"/><Relationship Id="rId5" Type="http://schemas.openxmlformats.org/officeDocument/2006/relationships/hyperlink" Target="https://ru.wikipedia.org/wiki/DSCP" TargetMode="External"/><Relationship Id="rId4" Type="http://schemas.openxmlformats.org/officeDocument/2006/relationships/hyperlink" Target="https://ru.wikipedia.org/wiki/%D0%91%D0%B8%D1%82" TargetMode="External"/><Relationship Id="rId9" Type="http://schemas.openxmlformats.org/officeDocument/2006/relationships/hyperlink" Target="https://ru.wikipedia.org/wiki/%D0%9A%D0%BE%D0%BD%D1%82%D1%80%D0%BE%D0%BB%D1%8C%D0%BD%D0%B0%D1%8F_%D1%81%D1%83%D0%BC%D0%BC%D0%B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138EA-CDA1-483E-9EE1-3C3B8D130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571750"/>
            <a:ext cx="8520600" cy="841800"/>
          </a:xfr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</a:rPr>
              <a:t>«ИНТЕГРАЦИЯ ПРОГРАММИРОВАНИЯ И ЭКСПЛУАТАЦИИ (</a:t>
            </a:r>
            <a:r>
              <a:rPr lang="ru-RU" sz="2800" b="1" dirty="0" err="1">
                <a:solidFill>
                  <a:schemeClr val="bg1"/>
                </a:solidFill>
              </a:rPr>
              <a:t>DevOps</a:t>
            </a:r>
            <a:r>
              <a:rPr lang="ru-RU" sz="2800" b="1" dirty="0">
                <a:solidFill>
                  <a:schemeClr val="bg1"/>
                </a:solidFill>
              </a:rPr>
              <a:t>)»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49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38B968-803C-4818-8927-D6ED2CF7E003}"/>
              </a:ext>
            </a:extLst>
          </p:cNvPr>
          <p:cNvSpPr/>
          <p:nvPr/>
        </p:nvSpPr>
        <p:spPr>
          <a:xfrm>
            <a:off x="1057276" y="2729371"/>
            <a:ext cx="7443787" cy="991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Тема 2: Компьютерные сети и технологии.</a:t>
            </a:r>
            <a:endParaRPr lang="ru-RU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Занятие-2. (Группа) </a:t>
            </a:r>
            <a:r>
              <a:rPr lang="x-none" sz="2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Протоколы IPv4 и IPv6.</a:t>
            </a:r>
            <a:endParaRPr lang="ru-RU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77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406F86-85D4-44A1-9D2F-92D5F5F5AB61}"/>
              </a:ext>
            </a:extLst>
          </p:cNvPr>
          <p:cNvSpPr/>
          <p:nvPr/>
        </p:nvSpPr>
        <p:spPr>
          <a:xfrm>
            <a:off x="1221581" y="2033560"/>
            <a:ext cx="7029449" cy="2048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uz-Cyrl-UZ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Учебные вопросы:</a:t>
            </a:r>
            <a:endParaRPr lang="ru-RU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Двоичные системы счисления.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-маршрутизация на основе двоичной системы счисления.</a:t>
            </a:r>
            <a:endParaRPr lang="ru-RU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x-none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Классные адреса IP-сетей. Формат IP-адреса и классы сетей, маски классов сетей.</a:t>
            </a:r>
            <a:endParaRPr lang="ru-RU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02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361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 dirty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sz="2700" b="1" dirty="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327550"/>
            <a:ext cx="8520600" cy="34332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IP-адреса делятся на 5 классов (A, B, C, D, E). A, B и C — это классы коммерческой адресации. D – для многоадресных рассылок, а класс E – для экспериментов.</a:t>
            </a:r>
            <a:endParaRPr sz="2000" dirty="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А: 1.0.0.0 — 126.0.0.0, маска 255.0.0.0</a:t>
            </a:r>
            <a:endParaRPr sz="2000" dirty="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В: 128.0.0.0 — 191.255.0.0, маска 255.255.0.0</a:t>
            </a:r>
            <a:endParaRPr sz="2000" dirty="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С: 192.0.0.0 — 223.255.255.0, маска 255.255.255.0</a:t>
            </a:r>
            <a:endParaRPr sz="2000" dirty="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D: 224.0.0.0 — 239.255.255.255, маска 255.255.255.255</a:t>
            </a:r>
            <a:endParaRPr sz="2000" dirty="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dirty="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Е: 240.0.0.0 — 247.255.255.255, маска 255.255.255.255</a:t>
            </a:r>
            <a:endParaRPr sz="2000" dirty="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13" y="1080200"/>
            <a:ext cx="7991374" cy="341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48854"/>
          <a:stretch/>
        </p:blipFill>
        <p:spPr>
          <a:xfrm>
            <a:off x="1720888" y="1075650"/>
            <a:ext cx="5702225" cy="355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t="50443"/>
          <a:stretch/>
        </p:blipFill>
        <p:spPr>
          <a:xfrm>
            <a:off x="1714075" y="1071575"/>
            <a:ext cx="5715849" cy="34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100" y="810900"/>
            <a:ext cx="4560754" cy="416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204575"/>
            <a:ext cx="8520600" cy="7404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Списки зарезервированных сетей, которые не предназначены для глобальной (В Интернет) маршрутизации</a:t>
            </a:r>
            <a:endParaRPr sz="21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98" name="Google Shape;98;p19"/>
          <p:cNvGraphicFramePr/>
          <p:nvPr/>
        </p:nvGraphicFramePr>
        <p:xfrm>
          <a:off x="472425" y="10666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{B9D6E337-CC50-4495-881A-C854C0731174}</a:tableStyleId>
              </a:tblPr>
              <a:tblGrid>
                <a:gridCol w="13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FFFFFF"/>
                          </a:solidFill>
                        </a:rPr>
                        <a:t>Подсеть</a:t>
                      </a:r>
                      <a:endParaRPr sz="1050" b="1">
                        <a:solidFill>
                          <a:srgbClr val="FFFFFF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5E8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FFFFFF"/>
                          </a:solidFill>
                        </a:rPr>
                        <a:t>Назначение</a:t>
                      </a:r>
                      <a:endParaRPr sz="1050" b="1">
                        <a:solidFill>
                          <a:srgbClr val="FFFFFF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5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0.0.0.0/8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Адреса источников пакетов «этой» («своей») сети, предназначены для локального использования на хосте при создании сокетов IP. Адрес </a:t>
                      </a: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0.0.0.0/32</a:t>
                      </a: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 используется для указания адреса источника самого хоста.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10.0.0.0/8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использования в частных сетях.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127.0.0.0/8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Подсеть для коммуникаций внутри хоста (localhost).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169.254.0.0/16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Канальные адреса; подсеть используется для автоматического конфигурирования адресов IP в случае отсутствия сервера </a:t>
                      </a:r>
                      <a:r>
                        <a:rPr lang="ru" sz="1000">
                          <a:solidFill>
                            <a:srgbClr val="008800"/>
                          </a:solidFill>
                          <a:uFill>
                            <a:noFill/>
                          </a:uFill>
                          <a:hlinkClick r:id="rId3"/>
                        </a:rPr>
                        <a:t>DHCP</a:t>
                      </a: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172.16.0.0/12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использования в частных сетях.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192.168.0.0/16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100.64.0.0/10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использования в сетях сервис-провайдера.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192.0.0.0/24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Регистрация адресов специального назначения.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192.0.2.0/24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примеров в документации.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198.51.100.0/24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203.0.113.0/24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198.18.0.0/15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стендов тестирования производительности.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240.0.0.0/4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Зарезервировано для использования в “будущем”.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255.255.255.255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Ограниченный широковещательный адрес.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204575"/>
            <a:ext cx="8520600" cy="7404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Зарезервированные сети, которые могут маршрутизироваться глобально</a:t>
            </a:r>
            <a:endParaRPr sz="22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472425" y="13714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{B9D6E337-CC50-4495-881A-C854C0731174}</a:tableStyleId>
              </a:tblPr>
              <a:tblGrid>
                <a:gridCol w="13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FFFFFF"/>
                          </a:solidFill>
                        </a:rPr>
                        <a:t>Подсеть</a:t>
                      </a:r>
                      <a:endParaRPr sz="1050" b="1">
                        <a:solidFill>
                          <a:srgbClr val="FFFFFF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5E8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FFFFFF"/>
                          </a:solidFill>
                        </a:rPr>
                        <a:t>Назначение</a:t>
                      </a:r>
                      <a:endParaRPr sz="1050" b="1">
                        <a:solidFill>
                          <a:srgbClr val="FFFFFF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5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192.88.99.0/24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Используются для рассылки ближайшему узлу. Адрес </a:t>
                      </a:r>
                      <a:r>
                        <a:rPr lang="ru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192.88.99.1/32</a:t>
                      </a: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 применяется в качестве ретранслятора при инкапсуляции IPv6 в IPv4.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224.0.0.0/4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Используются для многоадресной рассылки.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L="66675" marR="66675" marT="40000" marB="4000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Структура заголовка пакета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12" name="Google Shape;112;p21"/>
          <p:cNvGraphicFramePr/>
          <p:nvPr/>
        </p:nvGraphicFramePr>
        <p:xfrm>
          <a:off x="28575" y="15649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8F9FA"/>
                </a:solidFill>
                <a:tableStyleId>{B9D6E337-CC50-4495-881A-C854C0731174}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Отступ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3"/>
                        </a:rPr>
                        <a:t>Октет</a:t>
                      </a:r>
                      <a:endParaRPr sz="1050" b="1">
                        <a:solidFill>
                          <a:srgbClr val="0B0080"/>
                        </a:solidFill>
                      </a:endParaRPr>
                    </a:p>
                  </a:txBody>
                  <a:tcPr marL="53350" marR="53350" marT="26675" marB="26675" anchor="ctr"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0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2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3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3"/>
                        </a:rPr>
                        <a:t>Октет</a:t>
                      </a:r>
                      <a:endParaRPr sz="1050" b="1">
                        <a:solidFill>
                          <a:srgbClr val="0B0080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4"/>
                        </a:rPr>
                        <a:t>Бит</a:t>
                      </a:r>
                      <a:endParaRPr sz="1050" b="1">
                        <a:solidFill>
                          <a:srgbClr val="0B0080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0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2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3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4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5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6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7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0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2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3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4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5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6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7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0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2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3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4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5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6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7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0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2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3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4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5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6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7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0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0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Версия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Размер заголовка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5"/>
                        </a:rPr>
                        <a:t>Differentiated Services Code Point</a:t>
                      </a:r>
                      <a:endParaRPr sz="1050">
                        <a:solidFill>
                          <a:srgbClr val="0B0080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6"/>
                        </a:rPr>
                        <a:t>Explicit Congestion Notification</a:t>
                      </a:r>
                      <a:endParaRPr sz="1050">
                        <a:solidFill>
                          <a:srgbClr val="0B0080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Размер пакета (полный)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4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32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gridSpan="1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Идентификатор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Флаги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Смещение фрагмента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8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64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7"/>
                        </a:rPr>
                        <a:t>Время жизни</a:t>
                      </a:r>
                      <a:endParaRPr sz="1050">
                        <a:solidFill>
                          <a:srgbClr val="0B0080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8"/>
                        </a:rPr>
                        <a:t>Протокол</a:t>
                      </a:r>
                      <a:endParaRPr sz="1050">
                        <a:solidFill>
                          <a:srgbClr val="0B0080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9"/>
                        </a:rPr>
                        <a:t>Контрольная сумма</a:t>
                      </a: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 заголовка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12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96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gridSpan="3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IP-адрес источника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16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128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gridSpan="3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IP-адрес назначения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20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160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gridSpan="3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Опции (если размер заголовка &gt; 5)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20 или 24+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 b="1">
                          <a:solidFill>
                            <a:srgbClr val="202122"/>
                          </a:solidFill>
                        </a:rPr>
                        <a:t>160 или 192+</a:t>
                      </a:r>
                      <a:endParaRPr sz="1050" b="1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CF0"/>
                    </a:solidFill>
                  </a:tcPr>
                </a:tc>
                <a:tc gridSpan="3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Данные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L="53350" marR="53350" marT="26675" marB="26675" anchor="ctr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Структура заголовка пакета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827950"/>
            <a:ext cx="7386826" cy="416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Структура заголовка пакета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7950"/>
            <a:ext cx="8839202" cy="3749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2800"/>
            <a:ext cx="9144001" cy="43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ДЖАМШУТКА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11700" y="1178725"/>
            <a:ext cx="8520600" cy="3582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i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Мальчик сказал маме: “Я хочу кушать”. Мама отправила его к папе.</a:t>
            </a:r>
            <a:endParaRPr sz="1900" i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i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Мальчик сказал папе: “Я хочу кушать”. Папа отправил его к маме.</a:t>
            </a:r>
            <a:endParaRPr sz="1900" i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i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Мальчик сказал маме: “Я хочу кушать”. Мама отправила его к папе.</a:t>
            </a:r>
            <a:endParaRPr sz="1900" i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i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бегал так мальчик, пока в один момент не упал.</a:t>
            </a:r>
            <a:endParaRPr sz="1900" i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900" i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Что случилось с мальчиком?)</a:t>
            </a:r>
            <a:endParaRPr sz="20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Маршрутизация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311700" y="1178725"/>
            <a:ext cx="8520600" cy="3582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Маршрутизация</a:t>
            </a:r>
            <a:r>
              <a:rPr lang="ru" sz="17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 - это процесс выбора маршрута следования пакета. Маршрутизация может быть статической или динамической. Маршрутизация работает в сети, состоящей из маршрутизаторов, на третьем уровне модели OSI. Маршрутизатором, или шлюзом, называется узел сети с несколькими IP-интерфейсами (содержащими свой MAC-адрес и IP-адрес), подключенными к разным IP-сетям, осуществляющий на основе решения задачи маршрутизации перенаправления пакетов из одной сети в другую для доставки от отправителя к получателю.</a:t>
            </a:r>
            <a:endParaRPr sz="17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7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Маршрутизаторы представляют собой либо специализированные вычислительные машины, либо компьютеры с несколькими IP-интерфейсами, работа которых управляется специальным программным обеспечением.</a:t>
            </a:r>
            <a:endParaRPr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Маршрутизация в IP-сетях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311700" y="1178725"/>
            <a:ext cx="8520600" cy="3582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9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маршрутизации маршрутизатор должен владеть следующей информацией:</a:t>
            </a:r>
            <a:endParaRPr sz="19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lang="ru" sz="19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Адрес назначения</a:t>
            </a:r>
            <a:endParaRPr sz="19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lang="ru" sz="19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Соседний маршрутизатор, от которого он может узнать об удаленных сетях</a:t>
            </a:r>
            <a:endParaRPr sz="19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lang="ru" sz="19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Доступные пути ко всем удаленным сетям</a:t>
            </a:r>
            <a:endParaRPr sz="19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lang="ru" sz="19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Наилучший путь к каждой удаленной сети</a:t>
            </a:r>
            <a:endParaRPr sz="19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lang="ru" sz="19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Методы обслуживания и проверки информации о маршрутизации</a:t>
            </a:r>
            <a:endParaRPr sz="19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 IP-маршрутизации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75" y="1667425"/>
            <a:ext cx="8429625" cy="22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 IP-маршрутизации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181650"/>
            <a:ext cx="7973675" cy="349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 IP-маршрутизации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50" y="1323975"/>
            <a:ext cx="8058249" cy="326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" name="Google Shape;180;p31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 IP-маршрутизации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575" y="1114975"/>
            <a:ext cx="57150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7775" y="2467525"/>
            <a:ext cx="3928452" cy="25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8" name="Google Shape;188;p32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Статическая маршрутизация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32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Стати́ческая маршрутиза́ция — вид маршрутизации, при котором маршруты указываются в явном виде при конфигурации маршрутизатора. Вся маршрутизация при этом происходит без участия каких-либо протоколов маршрутизации.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При задании статического маршрута указывается: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Адрес сети (на которую маршрутизируется трафик), маска сети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Адрес шлюза (узла), который способствует дальнейшей маршрутизации (или подключен к маршрутизируемой сети напрямую)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(опционально) метрика (иногда именуется также «ценой») маршрута. При наличии нескольких маршрутов на одну и ту же сеть некоторые маршрутизаторы выбирают маршрут с минимальной метрикой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5" name="Google Shape;195;p33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Статическая маршрутизация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33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Достоинства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Лёгкость отладки и конфигурирования в малых сетях.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Отсутствие дополнительных накладных расходов (из-за отсутствия протоколов маршрутизации)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Мгновенная готовность (не требуется интервал для конфигурирования/подстройки)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Низкая нагрузка на процессор маршрутизатора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Предсказуемость в каждый момент времени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2" name="Google Shape;202;p34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Статическая маршрутизация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34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Недостатки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Очень плохое масштабирование (добавление (N+1)-ой сети потребует сделать 2*(N+1) записей о маршрутах, причём на большинстве маршрутизаторов таблица маршрутов будет различной, при N&gt;3-4 процесс конфигурирования становится весьма трудоёмким).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Низкая устойчивость в ситуациях, когда обрыв происходит между устройствами второго уровня и порт маршрутизатора не получает статус down.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Отсутствие динамического балансирования нагрузки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Необходимость в ведении отдельной документации к маршрутам, проблема синхронизации документации и реальных маршрутов.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9" name="Google Shape;209;p35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Динамическая маршрутизация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Динамическая маршрутизация — вид маршрутизации, при котором таблица маршрутизации редактируется программно. В случае UNIX-систем демонами маршрутизации; в других системах — служебными программами, которые называются иначе, но фактически играют ту же роль.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Преимущества протоколов динамической маршрутизации: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автоматическое построение таблиц маршрутизации;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отказоустойчивость сети;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возможность балансировки трафика;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масштабирование сети.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Недостатки: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более низкая безопасность;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использование ресурсов ЦП, ОЗУ маршрутизаторов.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Классификация протоколов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p36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Все протоколы динамической маршрутизации можно разделить на две большие группы: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внешние EGP — Exterior Gateway Protocol;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внутренние IGP — Interior Gateway Protocol.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Автономная система (AS - Autonobous System) — это система IP-сетей и маршрутизаторов, управляемых одним или несколькими операторами, имеющими единую политику маршрутизации с Интернетом.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Протоколы внутренней маршрутизации используются внутри автономной системы, а внешние — для соединения автономных систем между собой.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3" name="Google Shape;223;p37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Отличния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" name="Google Shape;224;p37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 свою очередь, внутренние протоколы маршрутизации подразделяются на: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Distance-Vector (RIP, EIGRP) - дистанционно-векторные;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Link State (OSPF, IS-IS) - отслеживающие состояние канала.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Коренные различия между этими двумя видами состоят в следующем: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типе информации, которой обмениваются роутеры: таблицы маршрутизации у Distance-Vector и таблицы топологии у Link State;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процессе выбора лучшего маршрута;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количестве информации о сети, которое “держит в голове” каждый роутер: Distance-Vector знает только своих соседей, Link State имеет представление обо всей сети.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0" name="Google Shape;230;p38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 RIP - Routing Information Protocol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1" name="Google Shape;231;p38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RIP - протокол маршрутной информации -  протокол дистанционно-векторной маршрутизации, который оперирует транзитными участками в качестве метрики. Алгоритм маршрутизации RIP (алгоритм Беллмана — Форда) был впервые разработан в 1969 году, как основной для сети ARPANET.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Характеристики протокола: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RIPv1 и RIPv2 используют UDP порт 520.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RIPng использует UDP порт 521.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передачи сообщений RIPv1 в адресе получателя используется широковещательный адрес 255.255.255.255, а RIPv2 — мультикаст адрес 224.0.0.9.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7" name="Google Shape;237;p39"/>
          <p:cNvSpPr txBox="1">
            <a:spLocks noGrp="1"/>
          </p:cNvSpPr>
          <p:nvPr>
            <p:ph type="title"/>
          </p:nvPr>
        </p:nvSpPr>
        <p:spPr>
          <a:xfrm>
            <a:off x="311700" y="37930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Уфанет, RIP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8" name="Google Shape;238;p39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3336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 сети Уфанет используется для анонсирования маршрутной информации на серые квартальные сети клиентов ЮЛ VPN с D-Link DGS-36xx на: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Cisco-76xx через интерфейс 3024-3031, выделенный под линки между Cisco 76xx и DGS-36xx в стеке кварталов. Cisco-76xx анонсирует данный маршрут по iBGP на route-рефлекторы (cmir-core и cdc-core). Ретранслирует запрос на сервер DH1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9" name="Google Shape;239;p39" descr="https://pp.userapi.com/c848536/v848536554/133ed4/cFQb9RheLh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625" y="1048300"/>
            <a:ext cx="4700670" cy="38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40"/>
          <p:cNvSpPr txBox="1">
            <a:spLocks noGrp="1"/>
          </p:cNvSpPr>
          <p:nvPr>
            <p:ph type="title"/>
          </p:nvPr>
        </p:nvSpPr>
        <p:spPr>
          <a:xfrm>
            <a:off x="311700" y="37930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Уфанет, RIP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6" name="Google Shape;246;p40" descr="https://pp.userapi.com/c848536/v848536554/133edc/hTQodbA2JC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048300"/>
            <a:ext cx="5957175" cy="379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2" name="Google Shape;252;p41"/>
          <p:cNvSpPr txBox="1">
            <a:spLocks noGrp="1"/>
          </p:cNvSpPr>
          <p:nvPr>
            <p:ph type="title"/>
          </p:nvPr>
        </p:nvSpPr>
        <p:spPr>
          <a:xfrm>
            <a:off x="311700" y="15070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Revolution 5000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" name="Google Shape;253;p41"/>
          <p:cNvSpPr txBox="1">
            <a:spLocks noGrp="1"/>
          </p:cNvSpPr>
          <p:nvPr>
            <p:ph type="body" idx="1"/>
          </p:nvPr>
        </p:nvSpPr>
        <p:spPr>
          <a:xfrm>
            <a:off x="311625" y="828675"/>
            <a:ext cx="2984100" cy="40692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Revolution 5000. В схеме работы клиентов IPN via Revolution 5000. 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Устройство rwr5k.client по RIP анонсирует информацию о маршруте на сеть клиента устройству rwr5k.base, 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который в свою очередь перераспределяет маршрут (так же по RIP) на Cisco-7606 в vrf Dipn1, при этом rwr5k.base анонсирует для всех rwr5k.client маршрут по-умолчанию через себя.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4" name="Google Shape;25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525" y="766350"/>
            <a:ext cx="5153025" cy="412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" name="Google Shape;260;p42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 - Open Shortest Path First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1" name="Google Shape;261;p42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OSPF (англ. Open Shortest Path First) — протокол динамической маршрутизации, основанный на технологии отслеживания состояния канала (link-state technology) и использующий для нахождения кратчайшего пути алгоритм Дейкстры.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 Link-state протоколах каждый маршрутизатор должен непросто знать самые лучшие маршруты во все удалённые сети, но и иметь в памяти полную карту сети со всеми существующими связями между другими маршрутизаторами в том числе. Это достигается за счет построения специальной базы LSDB.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OSPF инкапсулируется в IP. Номер протокола 89.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передачи пакетов использует мультикаст адреса: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224.0.0.5 все маршрутизаторы OSPF;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224.0.0.6 все DR.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7" name="Google Shape;267;p43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 - Open Shortest Path First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" name="Google Shape;268;p43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Базовые термины: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Канал/интерфейс (link/interface) — соединение маршрутизатора и одной из подключенных к нему сетей. При обсуждении OSPF термины интерфейс и канал (link) часто употребляются как синонимы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Метрика (metric) — условный показатель расстояния до сети назначения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Стоимость (cost) — условный показатель "стоимости" пересылки данных по каналу. В OSPF зависит от пропускной способности интерфейса (bandwidth)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Автономная система (autonomous system) — группа маршрутизаторов, обменивающаяся маршрутизирующей информацией с помощью одного протокола маршрутизации (определение соответствует тому, как этот термин используется в протоколах IGP)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4" name="Google Shape;274;p44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Базовые термины OSPF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5" name="Google Shape;275;p44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Идентификатор маршрутизатора (router ID, RID) — уникальное 32-битовое число, которое уникально идентифицирует маршрутизатор в пределах одной автономной системы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Зона (area) — совокупность сетей и маршрутизаторов, имеющих один и тот же идентификатор зоны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Объявление о состоянии канала (link-state advertisement, LSA) — единица данных, которая описывает локальное состояние маршрутизатора или сети. Например, для маршрутизатора LSA включает описание состояния каналов и отношений соседства. Множество всех LSA, описывающих маршрутизаторы и сети, образуют базу данных состояния каналов (LSDB).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База данных состояния каналов (link state database, LSDB) — список всех записей о состоянии каналов (LSA). Встречается также термин топологическая база данных (topological database), употребляется как синоним базы данных состояния каналов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1" name="Google Shape;281;p45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Соседи OSPF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Google Shape;282;p45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Соседи (neighbours) — два маршрутизатора, интерфейсы которых находятся в одном широковещательном сегменте (и на которых включен OSPF на этих интерфейсах)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Отношения соседства (adjacency) — взаимосвязь между соседними маршрутизаторами, установленная с целью синхронизации информации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Hello-протокол (hello protocol) — протокол, использующийся для установки и поддержания соседских отношений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База данных соседей (neighbours database) — список всех соседей (также используется термин neighbour table)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8" name="Google Shape;288;p46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Пакеты OSPF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9" name="Google Shape;289;p46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Hello — пакеты, которые используются для обнаружения соседей, установки отношений соседства и мониторинга их доступности (keepalive)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DBD (Database Description) — пакеты, которые описывают содержание LSDB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LSR (Link State Request) — пакеты, с помощью которых запрашивается полная информация об LSA, которых недостает в LSDB локального маршрутизатора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LSU (Link State Update) — пакеты, которые передают полную информацию, которая содержится в LSA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LSAck — пакеты, с помощью которых подтверждается получение других пакетов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5" name="Google Shape;295;p47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Терминология протокола OSPF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6" name="Google Shape;296;p47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При запуске процесса OSPF на любом маршрутизаторе, обязательно должен быть выбран Router ID. Router ID — это уникальное имя маршрутизатора, по которому он известен в AS. В зависимости от реализации, Router ID может выбираться по-разному: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минимальный IP-адрес или максимальный IP-адрес, который назначен на интерфейсах маршрутизатора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также обычно есть способ задания Router ID вручную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главное, чтобы Router ID был уникален в AS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После изменения Router ID, процесс OSPF должен быть перезагружен, а все LSA, которые сгенерировал этот маршрутизатор, должны быть удалены из AS, до перезагрузки.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2" name="Google Shape;302;p48"/>
          <p:cNvSpPr txBox="1">
            <a:spLocks noGrp="1"/>
          </p:cNvSpPr>
          <p:nvPr>
            <p:ph type="title"/>
          </p:nvPr>
        </p:nvSpPr>
        <p:spPr>
          <a:xfrm>
            <a:off x="311700" y="2840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отношения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3" name="Google Shape;303;p48"/>
          <p:cNvSpPr txBox="1">
            <a:spLocks noGrp="1"/>
          </p:cNvSpPr>
          <p:nvPr>
            <p:ph type="body" idx="1"/>
          </p:nvPr>
        </p:nvSpPr>
        <p:spPr>
          <a:xfrm>
            <a:off x="311700" y="1057275"/>
            <a:ext cx="8520600" cy="37797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Различают понятия сосед и отношения соседства: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 (neighbor) — два маршрутизатора, которые находятся в одном широковещательном сегменте и у которых совпали нужные поля в hello-пакетах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Отношения соседства (adjacency или full adjacency) — два соседа, которые завершили процесс синхронизации LSDB между собой.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9" name="Google Shape;309;p49"/>
          <p:cNvSpPr txBox="1">
            <a:spLocks noGrp="1"/>
          </p:cNvSpPr>
          <p:nvPr>
            <p:ph type="title"/>
          </p:nvPr>
        </p:nvSpPr>
        <p:spPr>
          <a:xfrm>
            <a:off x="311700" y="2840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соседство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0" name="Google Shape;310;p49"/>
          <p:cNvSpPr txBox="1">
            <a:spLocks noGrp="1"/>
          </p:cNvSpPr>
          <p:nvPr>
            <p:ph type="body" idx="1"/>
          </p:nvPr>
        </p:nvSpPr>
        <p:spPr>
          <a:xfrm>
            <a:off x="311700" y="1057275"/>
            <a:ext cx="8520600" cy="37797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необходимо чтобы в hello-пакетах совпали значения таких полей: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Hello Interval — частота отправки сообщений Hello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Router Dead Interval — период времени, по прохождению которого, сосед считается недоступным, если не было Hello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Area ID — так как в OSPF граница зоны проходит через маршрутизатор, то маршрутизаторы в одном широковещательном сегменте, должны быть в одной зоне (подробнее про зоны ниже)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Authentication — пароль использующийся для аутентификации и тип аутентификации. Маршрутизаторы не обязательно должны использовать аутентификацию, но если она используется, то пароли и тип должны совпадать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Stub area flag — не обязательный флаг, который устанавливается на всех маршрутизаторах, которые принадлежат тупиковой зоне (stub area)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у маршрутизаторов должны совпадать сеть и маска сети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50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7" name="Google Shape;317;p50"/>
          <p:cNvSpPr txBox="1">
            <a:spLocks noGrp="1"/>
          </p:cNvSpPr>
          <p:nvPr>
            <p:ph type="body" idx="1"/>
          </p:nvPr>
        </p:nvSpPr>
        <p:spPr>
          <a:xfrm>
            <a:off x="311700" y="3619500"/>
            <a:ext cx="8520600" cy="12936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2) Поднимается ветер: маршрутизатор рассылает Hello-пакеты на мультикастный адрес 224.0.0.5 со всех интерфейсов, где запущен OSPF. TTL таких сообщений равен одному, поэтому их получат только маршрутизаторы, находящиеся в том же сегменте сети. R1 переходит в состояние INIT.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8" name="Google Shape;318;p50"/>
          <p:cNvPicPr preferRelativeResize="0"/>
          <p:nvPr/>
        </p:nvPicPr>
        <p:blipFill rotWithShape="1">
          <a:blip r:embed="rId3">
            <a:alphaModFix/>
          </a:blip>
          <a:srcRect t="5063" b="4684"/>
          <a:stretch/>
        </p:blipFill>
        <p:spPr>
          <a:xfrm>
            <a:off x="1726925" y="757375"/>
            <a:ext cx="5537890" cy="28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4" name="Google Shape;324;p51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5" name="Google Shape;325;p51"/>
          <p:cNvSpPr txBox="1">
            <a:spLocks noGrp="1"/>
          </p:cNvSpPr>
          <p:nvPr>
            <p:ph type="body" idx="1"/>
          </p:nvPr>
        </p:nvSpPr>
        <p:spPr>
          <a:xfrm>
            <a:off x="311700" y="3619500"/>
            <a:ext cx="8520600" cy="12936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2) Поднимается ветер: маршрутизатор рассылает Hello-пакеты на мультикастный адрес 224.0.0.5 со всех интерфейсов, где запущен OSPF. TTL таких сообщений равен одному, поэтому их получат только маршрутизаторы, находящиеся в том же сегменте сети. R1 переходит в состояние INIT.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6" name="Google Shape;326;p51"/>
          <p:cNvPicPr preferRelativeResize="0"/>
          <p:nvPr/>
        </p:nvPicPr>
        <p:blipFill rotWithShape="1">
          <a:blip r:embed="rId3">
            <a:alphaModFix/>
          </a:blip>
          <a:srcRect t="5063" b="4684"/>
          <a:stretch/>
        </p:blipFill>
        <p:spPr>
          <a:xfrm>
            <a:off x="1726925" y="757375"/>
            <a:ext cx="5537890" cy="28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2" name="Google Shape;332;p52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3" name="Google Shape;333;p52"/>
          <p:cNvSpPr txBox="1">
            <a:spLocks noGrp="1"/>
          </p:cNvSpPr>
          <p:nvPr>
            <p:ph type="body" idx="1"/>
          </p:nvPr>
        </p:nvSpPr>
        <p:spPr>
          <a:xfrm>
            <a:off x="311700" y="3619500"/>
            <a:ext cx="8520600" cy="12936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2) Поднимается ветер: маршрутизатор рассылает Hello-пакеты на мультикастный адрес 224.0.0.5 со всех интерфейсов, где запущен OSPF. TTL таких сообщений равен одному, поэтому их получат только маршрутизаторы, находящиеся в том же сегменте сети. R1 переходит в состояние INIT.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4" name="Google Shape;334;p52"/>
          <p:cNvPicPr preferRelativeResize="0"/>
          <p:nvPr/>
        </p:nvPicPr>
        <p:blipFill rotWithShape="1">
          <a:blip r:embed="rId3">
            <a:alphaModFix/>
          </a:blip>
          <a:srcRect t="5063" b="4684"/>
          <a:stretch/>
        </p:blipFill>
        <p:spPr>
          <a:xfrm>
            <a:off x="1726925" y="757375"/>
            <a:ext cx="5537890" cy="28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0" name="Google Shape;340;p53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1" name="Google Shape;341;p53"/>
          <p:cNvSpPr txBox="1">
            <a:spLocks noGrp="1"/>
          </p:cNvSpPr>
          <p:nvPr>
            <p:ph type="body" idx="1"/>
          </p:nvPr>
        </p:nvSpPr>
        <p:spPr>
          <a:xfrm>
            <a:off x="311700" y="3695700"/>
            <a:ext cx="8520600" cy="12936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Нас интересуют пока первые четыре или точнее вообще только Router ID и Neighbors.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Сообщение Hello от маршрутизатора R1 несёт в себе его Router ID и не содержит Neighbors, потому что у него их пока нет.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После получения этого мультикастного сообщения маршрутизатор R2 добавляет R1 в свою таблицу соседей (если совпали все необходимые параметры)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2" name="Google Shape;34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875" y="686350"/>
            <a:ext cx="5361852" cy="30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8" name="Google Shape;348;p54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9" name="Google Shape;349;p54"/>
          <p:cNvSpPr txBox="1">
            <a:spLocks noGrp="1"/>
          </p:cNvSpPr>
          <p:nvPr>
            <p:ph type="body" idx="1"/>
          </p:nvPr>
        </p:nvSpPr>
        <p:spPr>
          <a:xfrm>
            <a:off x="311700" y="4048125"/>
            <a:ext cx="8520600" cy="9411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отправляет на R1 уже юникастом новое сообщение Hello, где содержится Router ID этого маршрутизатора, а в списке Neigbors перечислены все его соседи. В числе прочих соседей в этом списке есть Router ID R1, то есть R2 уже считает его соседом.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0" name="Google Shape;35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350" y="753025"/>
            <a:ext cx="5752226" cy="322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6" name="Google Shape;356;p55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7" name="Google Shape;357;p55"/>
          <p:cNvSpPr txBox="1">
            <a:spLocks noGrp="1"/>
          </p:cNvSpPr>
          <p:nvPr>
            <p:ph type="body" idx="1"/>
          </p:nvPr>
        </p:nvSpPr>
        <p:spPr>
          <a:xfrm>
            <a:off x="311700" y="4048125"/>
            <a:ext cx="8520600" cy="9411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Теперь R1 и R2 друг у друга во взаимных соседях — это означает, что между ними установлены отношения смежности и маршрутизатор R1 переходит в состояние TWO WAY. 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8" name="Google Shape;35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638" y="924475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4" name="Google Shape;364;p56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5" name="Google Shape;365;p56"/>
          <p:cNvSpPr txBox="1">
            <a:spLocks noGrp="1"/>
          </p:cNvSpPr>
          <p:nvPr>
            <p:ph type="body" idx="1"/>
          </p:nvPr>
        </p:nvSpPr>
        <p:spPr>
          <a:xfrm>
            <a:off x="311700" y="828675"/>
            <a:ext cx="8520600" cy="41604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4) Затишье перед бурей. Далее все переходят в состояние EXSTART. Здесь все соседи решают между собой, кто босс. Им становится маршрутизатор с наибольшим Router ID — R2.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5) Когда выбран Батька, соседи переходят в состояние Exchange и обмениваются DBD-сообщениями (или DD) — Data Base Description, которые содержат описание LSDB (Link State Data Base), мол, я знаю про вот такие подсети.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Тут надо пояснить, что такое LSDB. Если перевести на русский дословно: база данных о состоянии линков. В изначальном состоянии маршрутизатор знает только о тех линках (интерфейсах), на которых запущен процесс OSPF. По ходу пьесы, каждый маршрутизатор собирает всю информацию о сети и составляет топологию. Именно она и будет являться LSDB, которая должна быть одинакова на всех членах зоны.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Первым отсылает свою DBD маршрутизатор, выбранный главным на данном интерфейсе — 2.2.2.2. Следом за ним то же делает и 1.1.1.1.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1" name="Google Shape;371;p57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2" name="Google Shape;372;p57"/>
          <p:cNvSpPr txBox="1">
            <a:spLocks noGrp="1"/>
          </p:cNvSpPr>
          <p:nvPr>
            <p:ph type="body" idx="1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Первым отсылает свою DBD маршрутизатор, выбранный главным на данном интерфейсе — 2.2.2.2. Следом за ним то же делает и 1.1.1.1.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3" name="Google Shape;37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638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9" name="Google Shape;379;p58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0" name="Google Shape;380;p58"/>
          <p:cNvSpPr txBox="1">
            <a:spLocks noGrp="1"/>
          </p:cNvSpPr>
          <p:nvPr>
            <p:ph type="body" idx="1"/>
          </p:nvPr>
        </p:nvSpPr>
        <p:spPr>
          <a:xfrm>
            <a:off x="311625" y="3895725"/>
            <a:ext cx="8520600" cy="1143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6) Получив сообщение, маршрутизаторы R1 и R2 отправляют подтверждение о приёме DBD (LSAck), а затем сравнивают новую информацию с той, что содержится у них в LSDB и, если есть отличия, посылают LSR (Link State Request) друг другу, тем самым переходя в новое состояние LOADING. В LSR они говорят — “Я про вот эту сеть ничего не знаю. Расскажи мне подробнее”.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1" name="Google Shape;38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563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7" name="Google Shape;387;p59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" name="Google Shape;388;p59"/>
          <p:cNvSpPr txBox="1">
            <a:spLocks noGrp="1"/>
          </p:cNvSpPr>
          <p:nvPr>
            <p:ph type="body" idx="1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7) R2, получив LSR от R1, высылает LSU (Link State Update), которые содержат в себе LSA (Link State Advertisement) c детальной информацией о нужных подсетях.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9" name="Google Shape;38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638" y="905425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60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6" name="Google Shape;396;p60"/>
          <p:cNvSpPr txBox="1">
            <a:spLocks noGrp="1"/>
          </p:cNvSpPr>
          <p:nvPr>
            <p:ph type="body" idx="1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вот, как только R1 получит последнюю порцию данных о всех подсетях и сформирует свою LSDB, он переходит в своё конечное состояние FULL STATE.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7" name="Google Shape;39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563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3" name="Google Shape;403;p61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61"/>
          <p:cNvSpPr txBox="1">
            <a:spLocks noGrp="1"/>
          </p:cNvSpPr>
          <p:nvPr>
            <p:ph type="body" idx="1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вот, как только R1 получит последнюю порцию данных о всех подсетях и сформирует свою LSDB, он переходит в своё конечное состояние FULL STATE.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5" name="Google Shape;40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563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1" name="Google Shape;411;p62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" name="Google Shape;412;p62"/>
          <p:cNvSpPr txBox="1">
            <a:spLocks noGrp="1"/>
          </p:cNvSpPr>
          <p:nvPr>
            <p:ph type="body" idx="1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вот, как только R1 получит последнюю порцию данных о всех подсетях и сформирует свою LSDB, он переходит в своё конечное состояние FULL STATE.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3" name="Google Shape;41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563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9" name="Google Shape;419;p63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0" name="Google Shape;420;p63"/>
          <p:cNvSpPr txBox="1">
            <a:spLocks noGrp="1"/>
          </p:cNvSpPr>
          <p:nvPr>
            <p:ph type="body" idx="1"/>
          </p:nvPr>
        </p:nvSpPr>
        <p:spPr>
          <a:xfrm>
            <a:off x="311625" y="1057275"/>
            <a:ext cx="8520600" cy="38403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 тому моменту, как все маршрутизаторы зоны придут к состоянию Full State на всех на них должна быть полностью одинаковая LSDB — они же одну и ту же сеть изучали. То есть фактически это означает, что маршрутизатор знает всю вашу сеть, что, как и куда подключено.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8) Итак, сейчас у нас все маршрутизаторы знают всё о сети, но это знание не помогает в маршрутизации.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Следующим шагом OSPF, используя алгоритм Дейкстры (или его ещё называют SPF — Shortest Path First), вычисляет кратчайший маршрут до каждого маршрутизатора в зоне — он ведь знает всю топологию. В этом ему помогают метрики. Чем она ниже, тем маршрут лучше. Метрика — это стоимость движения по маршруту.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6" name="Google Shape;426;p64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7" name="Google Shape;427;p64"/>
          <p:cNvSpPr txBox="1">
            <a:spLocks noGrp="1"/>
          </p:cNvSpPr>
          <p:nvPr>
            <p:ph type="body" idx="1"/>
          </p:nvPr>
        </p:nvSpPr>
        <p:spPr>
          <a:xfrm>
            <a:off x="311625" y="3548125"/>
            <a:ext cx="8520600" cy="14619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Например, в такой сети из R1 в R3 можно добраться напрямую или через R2.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Естественно первый вариант будет стоить меньше. Но это при условии, что у вас везде одинаковый тип интерфейсов. А если, например, между R1 и R3 у вас модемное соединение в 56к или крайне нестабильный GPRS линк? Тогда у них будет очень высокая стоимость и OSPF предпочтёт более длинный, но быстрый путь.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Найденный путь потом добавляется в таблицу маршрутизации.</a:t>
            </a:r>
            <a:endParaRPr sz="15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8" name="Google Shape;428;p64"/>
          <p:cNvPicPr preferRelativeResize="0"/>
          <p:nvPr/>
        </p:nvPicPr>
        <p:blipFill rotWithShape="1">
          <a:blip r:embed="rId3">
            <a:alphaModFix/>
          </a:blip>
          <a:srcRect t="9641"/>
          <a:stretch/>
        </p:blipFill>
        <p:spPr>
          <a:xfrm>
            <a:off x="1848563" y="762000"/>
            <a:ext cx="5446724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4" name="Google Shape;434;p65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5" name="Google Shape;435;p65"/>
          <p:cNvSpPr txBox="1">
            <a:spLocks noGrp="1"/>
          </p:cNvSpPr>
          <p:nvPr>
            <p:ph type="body" idx="1"/>
          </p:nvPr>
        </p:nvSpPr>
        <p:spPr>
          <a:xfrm>
            <a:off x="311625" y="1057275"/>
            <a:ext cx="8520600" cy="38403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Теперь каждые 10 секунд каждый маршрутизатор будет отправлять Hello-пакеты, а каждые 30 минут рассылаются LSA — это типа данные уже считаются устаревшими, надо бы обновить, даже если изменений не было.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Но топология может поменяться. Разумеется, было бы несколько странно ждать 40 секунд (Dead Interval) и только потом начинать перестраивать таблицу. Это было бы простительно ещё RIP’у, но не протоколу, который используется в огромном количестве современных сетей. Итак, как только падает какой-либо из линков (или несколько), маршрутизатор изменяет свою LSDB и генерирует LSU, присваивая ей номер больше, чем он был прежде (у каждой LSDB есть номер, который берётся из последнего полученного LSA).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1" name="Google Shape;441;p66"/>
          <p:cNvSpPr txBox="1">
            <a:spLocks noGrp="1"/>
          </p:cNvSpPr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2" name="Google Shape;442;p66"/>
          <p:cNvSpPr txBox="1">
            <a:spLocks noGrp="1"/>
          </p:cNvSpPr>
          <p:nvPr>
            <p:ph type="body" idx="1"/>
          </p:nvPr>
        </p:nvSpPr>
        <p:spPr>
          <a:xfrm>
            <a:off x="311625" y="695325"/>
            <a:ext cx="8520600" cy="44103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Это LSU сообщение рассылается на мультикастовый адрес 224.0.0.5. Маршрутизаторы получившие его, проверяют номер LSA, содержащихся в LSU.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1) Если номер больше, чем номер текущей LSA маршрутизатора — LSDB меняется. (Версия LSDB старая, информация новая),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2) Если номер такой же, ничего не происходит. Этот маршрутизатор уже получил данный LSA по какому-то другому пути,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3) Если номер полученного LSA меньше локальной LSDB, это означает, что у маршрутизатора уже более актуальная информация, и он посылает новый LSA (на основе своей LSDB) отправителю прежнего.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После произведённых (или непроизведённых) действий соседу, от которого пришёл LSU пересылаются LSAck (мол, «посылку получили — всё в порядке»), а другим соседям отправляется изначальный LSU без изменений. На данном маршрутизаторе снова запускается алгоритм SPF и, при необходимости, обновляется таблица маршрутизации.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 общем, всё это происходит в целях поддержания актуальности информации на всех устройствах — LSDB должна быть одинаковой у всех.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8" name="Google Shape;448;p67"/>
          <p:cNvSpPr txBox="1">
            <a:spLocks noGrp="1"/>
          </p:cNvSpPr>
          <p:nvPr>
            <p:ph type="title"/>
          </p:nvPr>
        </p:nvSpPr>
        <p:spPr>
          <a:xfrm>
            <a:off x="311700" y="3983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 OSPF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49" name="Google Shape;449;p67" descr="https://pp.userapi.com/c848536/v848536554/133efd/RpJ1T-0Wr3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50" y="2352750"/>
            <a:ext cx="8504400" cy="175173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7"/>
          <p:cNvSpPr txBox="1">
            <a:spLocks noGrp="1"/>
          </p:cNvSpPr>
          <p:nvPr>
            <p:ph type="body" idx="1"/>
          </p:nvPr>
        </p:nvSpPr>
        <p:spPr>
          <a:xfrm>
            <a:off x="311700" y="2000250"/>
            <a:ext cx="8504400" cy="6573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show ip ospf neighbor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68"/>
          <p:cNvSpPr txBox="1">
            <a:spLocks noGrp="1"/>
          </p:cNvSpPr>
          <p:nvPr>
            <p:ph type="title"/>
          </p:nvPr>
        </p:nvSpPr>
        <p:spPr>
          <a:xfrm>
            <a:off x="311700" y="3983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show ip ospf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57" name="Google Shape;457;p68" descr="https://pp.userapi.com/c848536/v848536554/133ee4/k_n8OSI-IPc.jpg"/>
          <p:cNvPicPr preferRelativeResize="0"/>
          <p:nvPr/>
        </p:nvPicPr>
        <p:blipFill rotWithShape="1">
          <a:blip r:embed="rId3">
            <a:alphaModFix/>
          </a:blip>
          <a:srcRect t="1992" b="52932"/>
          <a:stretch/>
        </p:blipFill>
        <p:spPr>
          <a:xfrm>
            <a:off x="1304925" y="1115700"/>
            <a:ext cx="6543675" cy="36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3" name="Google Shape;463;p69"/>
          <p:cNvSpPr txBox="1">
            <a:spLocks noGrp="1"/>
          </p:cNvSpPr>
          <p:nvPr>
            <p:ph type="title"/>
          </p:nvPr>
        </p:nvSpPr>
        <p:spPr>
          <a:xfrm>
            <a:off x="311700" y="2459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show ip ospf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64" name="Google Shape;464;p69" descr="https://pp.userapi.com/c848536/v848536554/133ee4/k_n8OSI-IPc.jpg"/>
          <p:cNvPicPr preferRelativeResize="0"/>
          <p:nvPr/>
        </p:nvPicPr>
        <p:blipFill rotWithShape="1">
          <a:blip r:embed="rId3">
            <a:alphaModFix/>
          </a:blip>
          <a:srcRect t="47168"/>
          <a:stretch/>
        </p:blipFill>
        <p:spPr>
          <a:xfrm>
            <a:off x="1409700" y="892925"/>
            <a:ext cx="6191249" cy="40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0" name="Google Shape;470;p70"/>
          <p:cNvSpPr txBox="1">
            <a:spLocks noGrp="1"/>
          </p:cNvSpPr>
          <p:nvPr>
            <p:ph type="title"/>
          </p:nvPr>
        </p:nvSpPr>
        <p:spPr>
          <a:xfrm>
            <a:off x="311700" y="4745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Информация о настройках OSPF на интерфейсах: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71" name="Google Shape;471;p70" descr="https://pp.userapi.com/c848536/v848536554/133ef5/6CF0dYZFk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372150"/>
            <a:ext cx="8123900" cy="30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77" name="Google Shape;477;p71" descr="https://pp.userapi.com/c848536/v848536554/133eed/VoXQc5kTkt4.jpg"/>
          <p:cNvPicPr preferRelativeResize="0"/>
          <p:nvPr/>
        </p:nvPicPr>
        <p:blipFill rotWithShape="1">
          <a:blip r:embed="rId3">
            <a:alphaModFix/>
          </a:blip>
          <a:srcRect b="41836"/>
          <a:stretch/>
        </p:blipFill>
        <p:spPr>
          <a:xfrm>
            <a:off x="1111175" y="146200"/>
            <a:ext cx="6901801" cy="485442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71"/>
          <p:cNvSpPr txBox="1">
            <a:spLocks noGrp="1"/>
          </p:cNvSpPr>
          <p:nvPr>
            <p:ph type="title"/>
          </p:nvPr>
        </p:nvSpPr>
        <p:spPr>
          <a:xfrm>
            <a:off x="311700" y="93550"/>
            <a:ext cx="8520600" cy="6114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База данных состояния каналов: show ip ospf database</a:t>
            </a:r>
            <a:endParaRPr sz="24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4" name="Google Shape;484;p72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BGP, кратко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5" name="Google Shape;485;p72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BGP (Border Gateway Protocol) — это основной протокол динамической маршрутизации, который используется в Интернете.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Маршрутизаторы, использующие протокол BGP, обмениваются информацией о доступности сетей. Вместе с информацией о сетях передаются различные атрибуты этих сетей, с помощью которых BGP выбирает лучший маршрут и настраиваются политики маршрутизации.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Один из основных атрибутов, который передается с информацией о маршруте — это список автономных систем, через которые прошла эта информация. Эта информация позволяет BGP определять где находится сеть относительно автономных систем, исключать петли маршрутизации, а также может быть использована при настройке политик.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1" name="Google Shape;491;p73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BGP, кратко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2" name="Google Shape;492;p73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Маршрутизация осуществляется пошагово от одной автономной системы к другой. Все политики BGP настраиваются, в основном, по отношению к внешним/соседним автономным системам. То есть, описываются правила взаимодействия с ними.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Так как BGP оперирует большими объемами данных (текущий размер таблицы для IPv4 более 450 тысяч маршрутов), то принципы его настройки и работы отличаются от внутренних протоколов динамической маршрутизации (IGP).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8" name="Google Shape;498;p74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Терминология протокола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9" name="Google Shape;499;p74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Внутренний протокол маршрутизации (interior gateway protocol) – протокол, который используется для передачи информации о маршрутах внутри автономной системы.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Внешний протокол маршрутизации (exterior gateway protocol) – протокол, который используется для передачи информации о маршрутах между автономными системами.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Автономная система (autonomous system, AS) — набор маршрутизаторов, имеющих единые правила маршрутизации, управляемых одной технической администрацией и работающих на одном из протоколов IGP (для внутренней маршрутизации AS может использовать и несколько IGP).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Транзитная автономная система (transit AS) — автономная система, через которую передается трафик других автономных систем.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5" name="Google Shape;505;p75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Терминология протокола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6" name="Google Shape;506;p75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Путь (path) — последовательность состоящая из номеров автономных систем через которые нужно пройти для достижения сети назначения.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Атрибуты пути (path attributes, PA) — характеристики пути, которые позволяют выбрать лучший путь.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BGP speaker — маршрутизатор, на котором работает протокол BGP.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Соседи (neighbor, peer) — любые два маршрутизатора, между которыми открыто TCP-соединение для обмена информацией о маршрутизации.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Информация сетевого уровня о доступности сети (Network Layer Reachability Information, NLRI) — IP-префикс и длина префикса.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2" name="Google Shape;512;p76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Описание протокола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3" name="Google Shape;513;p76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BGP выбирает лучшие маршруты не на основании технических характеристик пути (пропускной способности, задержки и т.п.), а на основании политик. В локальных сетях наибольшее значение имеет скорость сходимости сети, время реагирования на изменения. И маршрутизаторы, которые используют внутренние протоколы динамической маршрутизации, при выборе маршрута, как правило, сравнивают какие-то технические характеристики пути, например, пропускную способность линков.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При выборе между каналами двух провайдеров, зачастую имеет значение не то, у какого канала лучше технические характеристики, а какие-то внутренние правила компании. Например, использование какого канала обходится компании дешевле. Поэтому в BGP выбор лучшего маршрута осуществляется на основании политик, которые настраиваются с использованием фильтров, анонсирования маршрутов, и изменения атрибутов.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9" name="Google Shape;519;p77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Основные характеристики протокола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0" name="Google Shape;520;p77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BGP это path-vector протокол с такими общими характеристиками: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Использует TCP для передачи данных, это обеспечивает надежную доставку обновлений протокола (порт 179)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Отправляет обновления только после изменений в сети (нет периодических обновлений)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Периодически отправляет keepalive-сообщения для проверки TCP-соединения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Метрика протокола называется path vector или атрибуты (attributes)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6" name="Google Shape;526;p78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Описание работы протокола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7" name="Google Shape;527;p78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99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Таблица соседей (neighbor table) — список всех соседей BGP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Таблица BGP (BGP table, forwarding database, topology database):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Список сетей, полученных от каждого соседа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Может содержать несколько путей к destination сетям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Атрибуты BGP для каждого пути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Таблица маршрутизации — список лучших путей к сетя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3" name="Google Shape;533;p79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BGP, походу не кратко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34" name="Google Shape;534;p79" descr="Inside BG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219750"/>
            <a:ext cx="6837851" cy="34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0" name="Google Shape;540;p80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Отношения соседства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1" name="Google Shape;541;p80"/>
          <p:cNvSpPr txBox="1">
            <a:spLocks noGrp="1"/>
          </p:cNvSpPr>
          <p:nvPr>
            <p:ph type="body" idx="1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того чтобы установить отношения соседства, в BGP надо настроить вручную каждого соседа.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Когда указывается сосед локального маршрутизатора, обязательно указывается автономная система соседа. По этой информации BGP определяет тип соседа: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Внутренний BGP сосед (iBGP-сосед) — сосед, который находится в той же автономной системе, что и локальный маршрутизатор. iBGP-соседи не обязательно должны быть непосредственно соединены.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lang="ru" sz="1600" b="1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Внешний BGP сосед (eBGP-сосед) — сосед, который находится в автономной системе отличной от локального маршрутизатора. По умолчанию, eBGP-соседи должны быть непосредственно соединены.</a:t>
            </a:r>
            <a:endParaRPr sz="1600"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7" name="Google Shape;547;p81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 Looking Glass Ufanet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48" name="Google Shape;548;p81" descr="https://pp.userapi.com/c848536/v848536554/133f05/w9515ux_89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750" y="1086400"/>
            <a:ext cx="5692500" cy="37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4" name="Google Shape;554;p82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55" name="Google Shape;555;p82" descr="https://pp.userapi.com/c848536/v848536554/133f14/uVaYcNBmshQ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05450"/>
            <a:ext cx="8113975" cy="36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1" name="Google Shape;561;p83"/>
          <p:cNvSpPr txBox="1">
            <a:spLocks noGrp="1"/>
          </p:cNvSpPr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</a:t>
            </a:r>
            <a:endParaRPr sz="2700" b="1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62" name="Google Shape;562;p83" descr="https://pp.userapi.com/c848536/v848536554/133f0d/Q20iMPkAx0I.jpg"/>
          <p:cNvPicPr preferRelativeResize="0"/>
          <p:nvPr/>
        </p:nvPicPr>
        <p:blipFill rotWithShape="1">
          <a:blip r:embed="rId3">
            <a:alphaModFix/>
          </a:blip>
          <a:srcRect b="26916"/>
          <a:stretch/>
        </p:blipFill>
        <p:spPr>
          <a:xfrm>
            <a:off x="1998113" y="1038775"/>
            <a:ext cx="5147770" cy="39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4332</Words>
  <Application>Microsoft Office PowerPoint</Application>
  <PresentationFormat>Экран (16:9)</PresentationFormat>
  <Paragraphs>437</Paragraphs>
  <Slides>73</Slides>
  <Notes>70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73</vt:i4>
      </vt:variant>
    </vt:vector>
  </HeadingPairs>
  <TitlesOfParts>
    <vt:vector size="79" baseType="lpstr">
      <vt:lpstr>Arial</vt:lpstr>
      <vt:lpstr>Calibri</vt:lpstr>
      <vt:lpstr>Courier New</vt:lpstr>
      <vt:lpstr>Times New Roman</vt:lpstr>
      <vt:lpstr>Trebuchet MS</vt:lpstr>
      <vt:lpstr>Simple Light</vt:lpstr>
      <vt:lpstr>«ИНТЕГРАЦИЯ ПРОГРАММИРОВАНИЯ И ЭКСПЛУАТАЦИИ (DevOps)»</vt:lpstr>
      <vt:lpstr>Презентация PowerPoint</vt:lpstr>
      <vt:lpstr>Презентация PowerPoint</vt:lpstr>
      <vt:lpstr>IP</vt:lpstr>
      <vt:lpstr>IP</vt:lpstr>
      <vt:lpstr>IP</vt:lpstr>
      <vt:lpstr>IP</vt:lpstr>
      <vt:lpstr>IP</vt:lpstr>
      <vt:lpstr>Списки зарезервированных сетей, которые не предназначены для глобальной (В Интернет) маршрутизации</vt:lpstr>
      <vt:lpstr>Зарезервированные сети, которые могут маршрутизироваться глобально</vt:lpstr>
      <vt:lpstr>Структура заголовка пакета</vt:lpstr>
      <vt:lpstr>Структура заголовка пакета</vt:lpstr>
      <vt:lpstr>Структура заголовка пакета</vt:lpstr>
      <vt:lpstr>Презентация PowerPoint</vt:lpstr>
      <vt:lpstr>ДЖАМШУТКА</vt:lpstr>
      <vt:lpstr>Маршрутизация</vt:lpstr>
      <vt:lpstr>Маршрутизация в IP-сетях</vt:lpstr>
      <vt:lpstr>Процесс IP-маршрутизации</vt:lpstr>
      <vt:lpstr>Процесс IP-маршрутизации</vt:lpstr>
      <vt:lpstr>Процесс IP-маршрутизации</vt:lpstr>
      <vt:lpstr>Процесс IP-маршрутизации</vt:lpstr>
      <vt:lpstr>Статическая маршрутизация</vt:lpstr>
      <vt:lpstr>Статическая маршрутизация</vt:lpstr>
      <vt:lpstr>Статическая маршрутизация</vt:lpstr>
      <vt:lpstr>Динамическая маршрутизация</vt:lpstr>
      <vt:lpstr>Классификация протоколов</vt:lpstr>
      <vt:lpstr>Отличния</vt:lpstr>
      <vt:lpstr> RIP - Routing Information Protocol</vt:lpstr>
      <vt:lpstr>Работа в сети Уфанет, RIP</vt:lpstr>
      <vt:lpstr>Работа в сети Уфанет, RIP</vt:lpstr>
      <vt:lpstr>Revolution 5000</vt:lpstr>
      <vt:lpstr>OSPF - Open Shortest Path First</vt:lpstr>
      <vt:lpstr>OSPF - Open Shortest Path First</vt:lpstr>
      <vt:lpstr>Базовые термины OSPF</vt:lpstr>
      <vt:lpstr>Соседи OSPF</vt:lpstr>
      <vt:lpstr>Пакеты OSPF</vt:lpstr>
      <vt:lpstr>Терминология протокола OSPF</vt:lpstr>
      <vt:lpstr>OSPF, отношения</vt:lpstr>
      <vt:lpstr>OSPF, соседство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OSPF, пример</vt:lpstr>
      <vt:lpstr>Работа в сети Уфанет OSPF</vt:lpstr>
      <vt:lpstr>show ip ospf</vt:lpstr>
      <vt:lpstr>show ip ospf</vt:lpstr>
      <vt:lpstr>Информация о настройках OSPF на интерфейсах:</vt:lpstr>
      <vt:lpstr>База данных состояния каналов: show ip ospf database</vt:lpstr>
      <vt:lpstr>BGP, кратко</vt:lpstr>
      <vt:lpstr>BGP, кратко</vt:lpstr>
      <vt:lpstr>Терминология протокола</vt:lpstr>
      <vt:lpstr>Терминология протокола</vt:lpstr>
      <vt:lpstr>Описание протокола</vt:lpstr>
      <vt:lpstr>Основные характеристики протокола</vt:lpstr>
      <vt:lpstr>Описание работы протокола</vt:lpstr>
      <vt:lpstr>BGP, походу не кратко</vt:lpstr>
      <vt:lpstr>Отношения соседства</vt:lpstr>
      <vt:lpstr> Looking Glass Ufanet</vt:lpstr>
      <vt:lpstr>Работа в сети Уфанет</vt:lpstr>
      <vt:lpstr>Работа в сети Уфанет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«ИНТЕГРАЦИЯ ПРОГРАММИРОВАНИЯ И ЭКСПЛУАТАЦИИ (DevOps)»</dc:title>
  <cp:lastModifiedBy>Пользователь</cp:lastModifiedBy>
  <cp:revision>1</cp:revision>
  <dcterms:modified xsi:type="dcterms:W3CDTF">2025-10-06T09:49:37Z</dcterms:modified>
</cp:coreProperties>
</file>